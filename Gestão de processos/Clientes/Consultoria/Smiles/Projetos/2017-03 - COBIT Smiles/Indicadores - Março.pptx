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80" r:id="rId3"/>
    <p:sldId id="281" r:id="rId4"/>
    <p:sldId id="277" r:id="rId5"/>
    <p:sldId id="262" r:id="rId6"/>
    <p:sldId id="268" r:id="rId7"/>
    <p:sldId id="279" r:id="rId8"/>
    <p:sldId id="278" r:id="rId9"/>
    <p:sldId id="274" r:id="rId10"/>
    <p:sldId id="275" r:id="rId11"/>
    <p:sldId id="267" r:id="rId12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8" autoAdjust="0"/>
    <p:restoredTop sz="94280" autoAdjust="0"/>
  </p:normalViewPr>
  <p:slideViewPr>
    <p:cSldViewPr>
      <p:cViewPr varScale="1">
        <p:scale>
          <a:sx n="100" d="100"/>
          <a:sy n="100" d="100"/>
        </p:scale>
        <p:origin x="798" y="7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milescorp-my.sharepoint.com/personal/rodrigo_rothstein_smiles_com_br/Documents/2017/Processos/Indicadores%20de%20Processos%20-%202017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400" b="1" i="0" baseline="0" dirty="0">
                <a:effectLst/>
              </a:rPr>
              <a:t>GMUD por Categoria</a:t>
            </a:r>
            <a:endParaRPr lang="pt-BR" sz="1400" dirty="0">
              <a:effectLst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GMUD!$C$2</c:f>
              <c:strCache>
                <c:ptCount val="1"/>
                <c:pt idx="0">
                  <c:v>None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9FFF-434A-8123-22546D1E8CA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856-404C-9053-98C851129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GMUD!$B$3:$B$14</c:f>
              <c:numCache>
                <c:formatCode>mmm\-yy</c:formatCode>
                <c:ptCount val="12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</c:numCache>
            </c:numRef>
          </c:cat>
          <c:val>
            <c:numRef>
              <c:f>GMUD!$C$3:$C$14</c:f>
              <c:numCache>
                <c:formatCode>0%</c:formatCode>
                <c:ptCount val="12"/>
                <c:pt idx="0">
                  <c:v>1.7543859649122806E-2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FF-434A-8123-22546D1E8CA1}"/>
            </c:ext>
          </c:extLst>
        </c:ser>
        <c:ser>
          <c:idx val="1"/>
          <c:order val="1"/>
          <c:tx>
            <c:strRef>
              <c:f>GMUD!$D$2</c:f>
              <c:strCache>
                <c:ptCount val="1"/>
                <c:pt idx="0">
                  <c:v>Emergencial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GMUD!$B$3:$B$14</c:f>
              <c:numCache>
                <c:formatCode>mmm\-yy</c:formatCode>
                <c:ptCount val="12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</c:numCache>
            </c:numRef>
          </c:cat>
          <c:val>
            <c:numRef>
              <c:f>GMUD!$D$3:$D$14</c:f>
              <c:numCache>
                <c:formatCode>0%</c:formatCode>
                <c:ptCount val="12"/>
                <c:pt idx="0">
                  <c:v>0.33333333333333331</c:v>
                </c:pt>
                <c:pt idx="1">
                  <c:v>0.27910000000000001</c:v>
                </c:pt>
                <c:pt idx="2">
                  <c:v>0.30769999999999997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FF-434A-8123-22546D1E8CA1}"/>
            </c:ext>
          </c:extLst>
        </c:ser>
        <c:ser>
          <c:idx val="2"/>
          <c:order val="2"/>
          <c:tx>
            <c:strRef>
              <c:f>GMUD!$E$2</c:f>
              <c:strCache>
                <c:ptCount val="1"/>
                <c:pt idx="0">
                  <c:v>Informativa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GMUD!$B$3:$B$14</c:f>
              <c:numCache>
                <c:formatCode>mmm\-yy</c:formatCode>
                <c:ptCount val="12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</c:numCache>
            </c:numRef>
          </c:cat>
          <c:val>
            <c:numRef>
              <c:f>GMUD!$E$3:$E$14</c:f>
              <c:numCache>
                <c:formatCode>0%</c:formatCode>
                <c:ptCount val="12"/>
                <c:pt idx="0">
                  <c:v>3.5087719298245612E-2</c:v>
                </c:pt>
                <c:pt idx="1">
                  <c:v>2.3300000000000001E-2</c:v>
                </c:pt>
                <c:pt idx="2">
                  <c:v>7.6899999999999996E-2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FFF-434A-8123-22546D1E8CA1}"/>
            </c:ext>
          </c:extLst>
        </c:ser>
        <c:ser>
          <c:idx val="3"/>
          <c:order val="3"/>
          <c:tx>
            <c:strRef>
              <c:f>GMUD!$F$2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9FFF-434A-8123-22546D1E8CA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856-404C-9053-98C85112944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GMUD!$B$3:$B$14</c:f>
              <c:numCache>
                <c:formatCode>mmm\-yy</c:formatCode>
                <c:ptCount val="12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</c:numCache>
            </c:numRef>
          </c:cat>
          <c:val>
            <c:numRef>
              <c:f>GMUD!$F$3:$F$14</c:f>
              <c:numCache>
                <c:formatCode>0%</c:formatCode>
                <c:ptCount val="12"/>
                <c:pt idx="0">
                  <c:v>0.10526315789473684</c:v>
                </c:pt>
                <c:pt idx="1">
                  <c:v>0.1163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FFF-434A-8123-22546D1E8CA1}"/>
            </c:ext>
          </c:extLst>
        </c:ser>
        <c:ser>
          <c:idx val="4"/>
          <c:order val="4"/>
          <c:tx>
            <c:strRef>
              <c:f>GMUD!$G$2</c:f>
              <c:strCache>
                <c:ptCount val="1"/>
                <c:pt idx="0">
                  <c:v>Pré-aprovada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GMUD!$B$3:$B$14</c:f>
              <c:numCache>
                <c:formatCode>mmm\-yy</c:formatCode>
                <c:ptCount val="12"/>
                <c:pt idx="0">
                  <c:v>42736</c:v>
                </c:pt>
                <c:pt idx="1">
                  <c:v>42767</c:v>
                </c:pt>
                <c:pt idx="2">
                  <c:v>42795</c:v>
                </c:pt>
                <c:pt idx="3">
                  <c:v>42826</c:v>
                </c:pt>
                <c:pt idx="4">
                  <c:v>42856</c:v>
                </c:pt>
                <c:pt idx="5">
                  <c:v>42887</c:v>
                </c:pt>
                <c:pt idx="6">
                  <c:v>42917</c:v>
                </c:pt>
                <c:pt idx="7">
                  <c:v>42948</c:v>
                </c:pt>
                <c:pt idx="8">
                  <c:v>42979</c:v>
                </c:pt>
                <c:pt idx="9">
                  <c:v>43009</c:v>
                </c:pt>
                <c:pt idx="10">
                  <c:v>43040</c:v>
                </c:pt>
                <c:pt idx="11">
                  <c:v>43070</c:v>
                </c:pt>
              </c:numCache>
            </c:numRef>
          </c:cat>
          <c:val>
            <c:numRef>
              <c:f>GMUD!$G$3:$G$14</c:f>
              <c:numCache>
                <c:formatCode>0%</c:formatCode>
                <c:ptCount val="12"/>
                <c:pt idx="0">
                  <c:v>0.50877192982456143</c:v>
                </c:pt>
                <c:pt idx="1">
                  <c:v>0.58140000000000003</c:v>
                </c:pt>
                <c:pt idx="2">
                  <c:v>0.61539999999999995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FF-434A-8123-22546D1E8C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419714304"/>
        <c:axId val="417577072"/>
      </c:barChart>
      <c:dateAx>
        <c:axId val="419714304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7577072"/>
        <c:crosses val="autoZero"/>
        <c:auto val="1"/>
        <c:lblOffset val="100"/>
        <c:baseTimeUnit val="months"/>
      </c:dateAx>
      <c:valAx>
        <c:axId val="417577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97143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 dirty="0" err="1"/>
              <a:t>Issues</a:t>
            </a:r>
            <a:r>
              <a:rPr lang="pt-BR" b="1" dirty="0"/>
              <a:t> Criados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6.9787680459687904E-2"/>
          <c:y val="0.2356777543511348"/>
          <c:w val="0.89818510947941221"/>
          <c:h val="0.42549260159485736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GMUD!$C$51</c:f>
              <c:strCache>
                <c:ptCount val="1"/>
                <c:pt idx="0">
                  <c:v>Resolvido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GMUD!$C$52:$C$60</c:f>
              <c:numCache>
                <c:formatCode>0</c:formatCode>
                <c:ptCount val="9"/>
                <c:pt idx="0">
                  <c:v>6</c:v>
                </c:pt>
                <c:pt idx="1">
                  <c:v>4</c:v>
                </c:pt>
                <c:pt idx="2" formatCode="General">
                  <c:v>7</c:v>
                </c:pt>
                <c:pt idx="3" formatCode="General">
                  <c:v>1</c:v>
                </c:pt>
                <c:pt idx="4" formatCode="General">
                  <c:v>4</c:v>
                </c:pt>
                <c:pt idx="5" formatCode="General">
                  <c:v>6</c:v>
                </c:pt>
                <c:pt idx="6" formatCode="General">
                  <c:v>8</c:v>
                </c:pt>
                <c:pt idx="7" formatCode="General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BE-4ABE-807F-F8CE67691D16}"/>
            </c:ext>
          </c:extLst>
        </c:ser>
        <c:ser>
          <c:idx val="1"/>
          <c:order val="1"/>
          <c:tx>
            <c:strRef>
              <c:f>GMUD!$D$51</c:f>
              <c:strCache>
                <c:ptCount val="1"/>
                <c:pt idx="0">
                  <c:v>Análise GM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GMUD!$D$52:$D$60</c:f>
              <c:numCache>
                <c:formatCode>General</c:formatCode>
                <c:ptCount val="9"/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BE-4ABE-807F-F8CE67691D16}"/>
            </c:ext>
          </c:extLst>
        </c:ser>
        <c:ser>
          <c:idx val="2"/>
          <c:order val="2"/>
          <c:tx>
            <c:strRef>
              <c:f>GMUD!$E$51</c:f>
              <c:strCache>
                <c:ptCount val="1"/>
                <c:pt idx="0">
                  <c:v>Reprovado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GMUD!$E$52:$E$60</c:f>
              <c:numCache>
                <c:formatCode>0</c:formatCode>
                <c:ptCount val="9"/>
                <c:pt idx="1">
                  <c:v>1</c:v>
                </c:pt>
                <c:pt idx="2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EBE-4ABE-807F-F8CE67691D16}"/>
            </c:ext>
          </c:extLst>
        </c:ser>
        <c:ser>
          <c:idx val="3"/>
          <c:order val="3"/>
          <c:tx>
            <c:strRef>
              <c:f>GMUD!$F$51</c:f>
              <c:strCache>
                <c:ptCount val="1"/>
                <c:pt idx="0">
                  <c:v>Análise CAB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GMUD!$F$52:$F$60</c:f>
              <c:numCache>
                <c:formatCode>General</c:formatCode>
                <c:ptCount val="9"/>
                <c:pt idx="4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EBE-4ABE-807F-F8CE67691D16}"/>
            </c:ext>
          </c:extLst>
        </c:ser>
        <c:ser>
          <c:idx val="4"/>
          <c:order val="4"/>
          <c:tx>
            <c:strRef>
              <c:f>GMUD!$G$51</c:f>
              <c:strCache>
                <c:ptCount val="1"/>
                <c:pt idx="0">
                  <c:v>Análise eCAB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GMUD!$G$52:$G$60</c:f>
              <c:numCache>
                <c:formatCode>0</c:formatCode>
                <c:ptCount val="9"/>
                <c:pt idx="1">
                  <c:v>2</c:v>
                </c:pt>
                <c:pt idx="2" formatCode="General">
                  <c:v>2</c:v>
                </c:pt>
                <c:pt idx="6" formatCode="General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EBE-4ABE-807F-F8CE67691D16}"/>
            </c:ext>
          </c:extLst>
        </c:ser>
        <c:ser>
          <c:idx val="5"/>
          <c:order val="5"/>
          <c:tx>
            <c:strRef>
              <c:f>GMUD!$H$51</c:f>
              <c:strCache>
                <c:ptCount val="1"/>
                <c:pt idx="0">
                  <c:v>Aprovada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GMUD!$H$52:$H$60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6">
                  <c:v>5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EBE-4ABE-807F-F8CE67691D16}"/>
            </c:ext>
          </c:extLst>
        </c:ser>
        <c:ser>
          <c:idx val="6"/>
          <c:order val="6"/>
          <c:tx>
            <c:strRef>
              <c:f>GMUD!$I$51</c:f>
              <c:strCache>
                <c:ptCount val="1"/>
                <c:pt idx="0">
                  <c:v>Em implementação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GMUD!$I$52:$I$60</c:f>
              <c:numCache>
                <c:formatCode>General</c:formatCode>
                <c:ptCount val="9"/>
                <c:pt idx="0">
                  <c:v>1</c:v>
                </c:pt>
                <c:pt idx="1">
                  <c:v>1</c:v>
                </c:pt>
                <c:pt idx="2">
                  <c:v>4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BE-4ABE-807F-F8CE67691D16}"/>
            </c:ext>
          </c:extLst>
        </c:ser>
        <c:ser>
          <c:idx val="7"/>
          <c:order val="7"/>
          <c:tx>
            <c:strRef>
              <c:f>GMUD!$J$51</c:f>
              <c:strCache>
                <c:ptCount val="1"/>
                <c:pt idx="0">
                  <c:v>Aberta</c:v>
                </c:pt>
              </c:strCache>
            </c:strRef>
          </c:tx>
          <c:spPr>
            <a:solidFill>
              <a:schemeClr val="accent2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numRef>
              <c:f>GMUD!$B$52:$B$60</c:f>
              <c:numCache>
                <c:formatCode>d\-mmm</c:formatCode>
                <c:ptCount val="9"/>
                <c:pt idx="0">
                  <c:v>42744</c:v>
                </c:pt>
                <c:pt idx="1">
                  <c:v>42751</c:v>
                </c:pt>
                <c:pt idx="2">
                  <c:v>42758</c:v>
                </c:pt>
                <c:pt idx="3">
                  <c:v>42765</c:v>
                </c:pt>
                <c:pt idx="4">
                  <c:v>42772</c:v>
                </c:pt>
                <c:pt idx="5">
                  <c:v>42779</c:v>
                </c:pt>
                <c:pt idx="6">
                  <c:v>42786</c:v>
                </c:pt>
                <c:pt idx="7">
                  <c:v>42793</c:v>
                </c:pt>
                <c:pt idx="8">
                  <c:v>42800</c:v>
                </c:pt>
              </c:numCache>
            </c:numRef>
          </c:cat>
          <c:val>
            <c:numRef>
              <c:f>GMUD!$J$52:$J$60</c:f>
              <c:numCache>
                <c:formatCode>General</c:formatCode>
                <c:ptCount val="9"/>
                <c:pt idx="0">
                  <c:v>1</c:v>
                </c:pt>
                <c:pt idx="8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EBE-4ABE-807F-F8CE67691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10620592"/>
        <c:axId val="431562256"/>
      </c:barChart>
      <c:dateAx>
        <c:axId val="410620592"/>
        <c:scaling>
          <c:orientation val="minMax"/>
        </c:scaling>
        <c:delete val="0"/>
        <c:axPos val="b"/>
        <c:numFmt formatCode="d\-m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31562256"/>
        <c:crosses val="autoZero"/>
        <c:auto val="1"/>
        <c:lblOffset val="100"/>
        <c:baseTimeUnit val="days"/>
      </c:dateAx>
      <c:valAx>
        <c:axId val="4315622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10620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0857708660842142"/>
          <c:w val="0.98954014703630244"/>
          <c:h val="0.191422913391578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solidFill>
      <a:schemeClr val="bg1"/>
    </a:solidFill>
    <a:ln w="12700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/>
              <a:t>Incidentes</a:t>
            </a:r>
            <a:r>
              <a:rPr lang="pt-BR" b="1" baseline="0"/>
              <a:t> de SI </a:t>
            </a:r>
          </a:p>
          <a:p>
            <a:pPr>
              <a:defRPr/>
            </a:pPr>
            <a:r>
              <a:rPr lang="pt-BR" sz="1100" baseline="0"/>
              <a:t>(Abertos x Fechados)</a:t>
            </a:r>
            <a:endParaRPr lang="pt-BR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'Incidentes de SI'!$C$2</c:f>
              <c:strCache>
                <c:ptCount val="1"/>
                <c:pt idx="0">
                  <c:v>Qtde. Incidentes Abertos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SI'!$C$3:$C$16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5-42D1-9175-B2F9D97BD8DD}"/>
            </c:ext>
          </c:extLst>
        </c:ser>
        <c:ser>
          <c:idx val="1"/>
          <c:order val="1"/>
          <c:tx>
            <c:strRef>
              <c:f>'Incidentes de SI'!$D$2</c:f>
              <c:strCache>
                <c:ptCount val="1"/>
                <c:pt idx="0">
                  <c:v>Qtde. Incidentes Fechados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SI'!$D$3:$D$16</c:f>
              <c:numCache>
                <c:formatCode>General</c:formatCode>
                <c:ptCount val="14"/>
                <c:pt idx="0">
                  <c:v>2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F5-42D1-9175-B2F9D97BD8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6630320"/>
        <c:axId val="377955376"/>
      </c:barChart>
      <c:dateAx>
        <c:axId val="326630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7955376"/>
        <c:crosses val="autoZero"/>
        <c:auto val="1"/>
        <c:lblOffset val="100"/>
        <c:baseTimeUnit val="months"/>
      </c:dateAx>
      <c:valAx>
        <c:axId val="37795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66303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b="1"/>
              <a:t>Incidentes</a:t>
            </a:r>
            <a:r>
              <a:rPr lang="pt-BR" b="1" baseline="0"/>
              <a:t> de SI </a:t>
            </a:r>
          </a:p>
          <a:p>
            <a:pPr>
              <a:defRPr/>
            </a:pPr>
            <a:r>
              <a:rPr lang="pt-BR" sz="1100" baseline="0"/>
              <a:t>(Tempo Médio de Resolução em hs)</a:t>
            </a:r>
            <a:endParaRPr lang="pt-BR" sz="11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'Incidentes de SI'!$E$2</c:f>
              <c:strCache>
                <c:ptCount val="1"/>
                <c:pt idx="0">
                  <c:v>Tempo Médio de Resolução (hs)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'Incidentes de SI'!$B$3:$B$16</c:f>
              <c:numCache>
                <c:formatCode>mmm\-yy</c:formatCode>
                <c:ptCount val="14"/>
                <c:pt idx="0">
                  <c:v>42675</c:v>
                </c:pt>
                <c:pt idx="1">
                  <c:v>42705</c:v>
                </c:pt>
                <c:pt idx="2">
                  <c:v>42736</c:v>
                </c:pt>
                <c:pt idx="3">
                  <c:v>42767</c:v>
                </c:pt>
                <c:pt idx="4">
                  <c:v>42795</c:v>
                </c:pt>
                <c:pt idx="5">
                  <c:v>42826</c:v>
                </c:pt>
                <c:pt idx="6">
                  <c:v>42856</c:v>
                </c:pt>
                <c:pt idx="7">
                  <c:v>42887</c:v>
                </c:pt>
                <c:pt idx="8">
                  <c:v>42917</c:v>
                </c:pt>
                <c:pt idx="9">
                  <c:v>42948</c:v>
                </c:pt>
                <c:pt idx="10">
                  <c:v>42979</c:v>
                </c:pt>
                <c:pt idx="11">
                  <c:v>43009</c:v>
                </c:pt>
                <c:pt idx="12">
                  <c:v>43040</c:v>
                </c:pt>
                <c:pt idx="13">
                  <c:v>43070</c:v>
                </c:pt>
              </c:numCache>
            </c:numRef>
          </c:cat>
          <c:val>
            <c:numRef>
              <c:f>'Incidentes de SI'!$E$3:$E$16</c:f>
              <c:numCache>
                <c:formatCode>General</c:formatCode>
                <c:ptCount val="14"/>
                <c:pt idx="0">
                  <c:v>0.71</c:v>
                </c:pt>
                <c:pt idx="1">
                  <c:v>0.83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95-440A-9618-DFFEF3E904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26630320"/>
        <c:axId val="377955376"/>
      </c:barChart>
      <c:dateAx>
        <c:axId val="326630320"/>
        <c:scaling>
          <c:orientation val="minMax"/>
        </c:scaling>
        <c:delete val="0"/>
        <c:axPos val="b"/>
        <c:numFmt formatCode="mmm\-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77955376"/>
        <c:crosses val="autoZero"/>
        <c:auto val="1"/>
        <c:lblOffset val="100"/>
        <c:baseTimeUnit val="months"/>
      </c:dateAx>
      <c:valAx>
        <c:axId val="3779553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663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432578-ECD4-4743-8701-DC01EA1C043C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90639-6999-4C89-9048-178018A16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00310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3844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444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Demandas e Desenvolvimento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AI1 – Identificar Soluções Automatizadas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AI2 - Adquirir e manter aplicações de software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AI3 - Adquirir e manter infraestrutura tecnológica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AI4 - Desenvolver e manter manuais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da Segurança de Sistemas (política de senhas, segregação de funções em sistemas, práticas de desenvolvimento seguro)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DS5.5 - Assegurar Segurança de Sistemas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SPO4 - Segregação de Função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Infraestrutura para Segurança da Informação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DS5.8 - Gestão de chaves criptográficas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DS5.10 - Administração de Firewall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DS5.11 - Gestão de Certificados Digitais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DS11 - Gerenciar Copias de Segurança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Processo de Gestão de Instalações Físicas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DS12 - Gerenciar Instalações Físicas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90639-6999-4C89-9048-178018A166C4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056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817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8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3730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685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94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7122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1022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80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29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669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848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7B8A-66F7-46B2-AE17-BEC38B2EE158}" type="datetimeFigureOut">
              <a:rPr lang="pt-BR" smtClean="0"/>
              <a:t>14/03/2017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69C44-A1C2-4999-B939-351D3449FD7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354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hyperlink" Target="https://smiles.atlassian.net/browse/INCSI-8" TargetMode="Externa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miles.atlassian.net/browse/INCSI-7" TargetMode="External"/><Relationship Id="rId5" Type="http://schemas.openxmlformats.org/officeDocument/2006/relationships/hyperlink" Target="https://smiles.atlassian.net/browse/INCSI-6" TargetMode="External"/><Relationship Id="rId4" Type="http://schemas.openxmlformats.org/officeDocument/2006/relationships/hyperlink" Target="https://smiles.atlassian.net/browse/INCSI-5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hutterstock_392439580.jpg"/>
          <p:cNvPicPr>
            <a:picLocks noChangeAspect="1"/>
          </p:cNvPicPr>
          <p:nvPr/>
        </p:nvPicPr>
        <p:blipFill>
          <a:blip r:embed="rId3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69" t="31011" r="59843" b="28084"/>
          <a:stretch/>
        </p:blipFill>
        <p:spPr>
          <a:xfrm>
            <a:off x="3043175" y="1942232"/>
            <a:ext cx="3057654" cy="1259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850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75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75000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75000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Processos COBIT Smiles</a:t>
            </a:r>
            <a:endParaRPr lang="en-US" sz="1600" b="1" dirty="0">
              <a:solidFill>
                <a:srgbClr val="FF6600"/>
              </a:solidFill>
              <a:latin typeface="Nunito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37585" y="479827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Falta apenas validação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161764" y="771550"/>
            <a:ext cx="8514692" cy="373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AI6/AI7 - Gerenciamento de Mudança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DS1/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DS2*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 - Gerenciamento de Fornecedores Críticos de TI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DS5/ DS5.9.A/ DS5.9.B/</a:t>
            </a: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 DS5.8/DS5.10/DS5.11/ DS5.3/DS5.5</a:t>
            </a:r>
            <a:r>
              <a:rPr lang="pt-BR" sz="1600" dirty="0">
                <a:solidFill>
                  <a:schemeClr val="bg1">
                    <a:lumMod val="50000"/>
                  </a:schemeClr>
                </a:solidFill>
              </a:rPr>
              <a:t> – Assegurar a segurança do sistema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DS3 – Gerenciamento de Desempenho e Capacidade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ME1 – Monitorar Processos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65000"/>
                  </a:schemeClr>
                </a:solidFill>
              </a:rPr>
              <a:t>PO2 – Definir Arquitetura da Informação *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6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AI1/AI2/AI3/AI4 - Gestão de Demandas e Desenvolvimento de Sistemas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P04 - Gestão da Segurança de Sistemas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DS11 - Gestão de Infraestrutura para Segurança da Informação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bg1">
                    <a:lumMod val="75000"/>
                  </a:schemeClr>
                </a:solidFill>
              </a:rPr>
              <a:t>DS12 - Gestão de Instalações Físicas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6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55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Processos COBIT Smiles</a:t>
            </a:r>
            <a:endParaRPr lang="en-US" sz="1600" b="1" dirty="0">
              <a:solidFill>
                <a:srgbClr val="FF6600"/>
              </a:solidFill>
              <a:latin typeface="Nunito"/>
              <a:ea typeface="Calibri"/>
              <a:cs typeface="Calibri"/>
              <a:sym typeface="Calibri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8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771550"/>
            <a:ext cx="3610744" cy="373222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AI6/AI7 - Gerenciamento de Mudança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DS1/</a:t>
            </a: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DS2*</a:t>
            </a: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 - Gerenciamento de Fornecedores Críticos de TI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DS5 - Gerenciamento de Incidentes de SI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DS5.9.A - Gerenciamento de Antivírus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50000"/>
                  </a:schemeClr>
                </a:solidFill>
              </a:rPr>
              <a:t>DS5.9.B - Gerenciamento de Patches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1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DS3 – Gerenciamento de Desempenho e Capacidade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ME1 – Monitorar Processos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PO2 – Definir Arquitetura da Informação *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AI1/AI2/AI3/AI4 - Gestão de Demandas e Desenvolvimento de Sistemas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DS5.3/DS5.5/SP04.11 - Gestão da Segurança de Sistemas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DS5.8/DS5.10/DS5.11/DS11 - Gestão de Infraestrutura para Segurança da Informação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bg1">
                    <a:lumMod val="75000"/>
                  </a:schemeClr>
                </a:solidFill>
              </a:rPr>
              <a:t>DS12 - Gestão de Instalações Físicas</a:t>
            </a:r>
          </a:p>
          <a:p>
            <a:pPr marL="0" indent="0">
              <a:buNone/>
            </a:pPr>
            <a:endParaRPr lang="pt-BR" sz="11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37585" y="479827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Falta apenas validação</a:t>
            </a:r>
          </a:p>
        </p:txBody>
      </p:sp>
      <p:sp>
        <p:nvSpPr>
          <p:cNvPr id="6" name="Espaço Reservado para Conteúdo 2"/>
          <p:cNvSpPr txBox="1">
            <a:spLocks/>
          </p:cNvSpPr>
          <p:nvPr/>
        </p:nvSpPr>
        <p:spPr>
          <a:xfrm>
            <a:off x="4427984" y="771550"/>
            <a:ext cx="4248472" cy="3732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AI6/AI7 - Gerenciamento de Mudança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DS1/</a:t>
            </a: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DS2*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 - Gerenciamento de Fornecedores Críticos de TI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DS5/ DS5.9.A/ DS5.9.B/</a:t>
            </a: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 DS5.8/DS5.10/DS5.11/ DS5.3/DS5.5</a:t>
            </a:r>
            <a:r>
              <a:rPr lang="pt-BR" sz="1200" dirty="0">
                <a:solidFill>
                  <a:schemeClr val="bg1">
                    <a:lumMod val="50000"/>
                  </a:schemeClr>
                </a:solidFill>
              </a:rPr>
              <a:t> – Assegurar a segurança do sistema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DS3 – Gerenciamento de Desempenho e Capacidade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ME1 – Monitorar Processos *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65000"/>
                  </a:schemeClr>
                </a:solidFill>
              </a:rPr>
              <a:t>PO2 – Definir Arquitetura da Informação *</a:t>
            </a:r>
          </a:p>
          <a:p>
            <a:pPr>
              <a:buFont typeface="Wingdings" panose="05000000000000000000" pitchFamily="2" charset="2"/>
              <a:buChar char="q"/>
            </a:pPr>
            <a:endParaRPr lang="pt-BR" sz="12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AI1/AI2/AI3/AI4 - Gestão de Demandas e Desenvolvimento de Sistemas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P04 - Gestão da Segurança de Sistemas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DS11 - Gestão de Infraestrutura para Segurança da Informação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bg1">
                    <a:lumMod val="75000"/>
                  </a:schemeClr>
                </a:solidFill>
              </a:rPr>
              <a:t>DS12 - Gestão de Instalações Físicas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1813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Gráfico 8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5275591"/>
              </p:ext>
            </p:extLst>
          </p:nvPr>
        </p:nvGraphicFramePr>
        <p:xfrm>
          <a:off x="23452" y="528389"/>
          <a:ext cx="8941036" cy="24730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Gráfico 11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96020124"/>
              </p:ext>
            </p:extLst>
          </p:nvPr>
        </p:nvGraphicFramePr>
        <p:xfrm>
          <a:off x="107504" y="3046352"/>
          <a:ext cx="4361916" cy="19986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4" name="Conector reto 3"/>
          <p:cNvCxnSpPr/>
          <p:nvPr/>
        </p:nvCxnSpPr>
        <p:spPr>
          <a:xfrm>
            <a:off x="0" y="483518"/>
            <a:ext cx="9144000" cy="0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0" y="68947"/>
            <a:ext cx="37970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AI6/AI7 - Gerenciamento de Mudança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716016" y="3147814"/>
            <a:ext cx="4248472" cy="1800200"/>
          </a:xfrm>
          <a:prstGeom prst="rect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4725716" y="3147814"/>
            <a:ext cx="4238772" cy="1715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Fatos Relevantes</a:t>
            </a:r>
          </a:p>
          <a:p>
            <a:endParaRPr lang="pt-BR" sz="1050" dirty="0"/>
          </a:p>
          <a:p>
            <a:pPr marL="171450" indent="-171450">
              <a:buFontTx/>
              <a:buChar char="-"/>
            </a:pPr>
            <a:r>
              <a:rPr lang="pt-BR" sz="1050" dirty="0"/>
              <a:t>Excesso de GMUD parada em Governança;</a:t>
            </a:r>
          </a:p>
          <a:p>
            <a:pPr marL="171450" indent="-171450">
              <a:buFontTx/>
              <a:buChar char="-"/>
            </a:pPr>
            <a:r>
              <a:rPr lang="pt-BR" sz="1050" dirty="0"/>
              <a:t>Muitas </a:t>
            </a:r>
            <a:r>
              <a:rPr lang="pt-BR" sz="1050" dirty="0" err="1"/>
              <a:t>GMUDs</a:t>
            </a:r>
            <a:r>
              <a:rPr lang="pt-BR" sz="1050" dirty="0"/>
              <a:t> Emergenciais.</a:t>
            </a:r>
          </a:p>
          <a:p>
            <a:pPr marL="171450" indent="-171450">
              <a:buFontTx/>
              <a:buChar char="-"/>
            </a:pPr>
            <a:endParaRPr lang="pt-BR" sz="1050" dirty="0"/>
          </a:p>
          <a:p>
            <a:endParaRPr lang="pt-BR" sz="1050" dirty="0"/>
          </a:p>
          <a:p>
            <a:r>
              <a:rPr lang="pt-BR" sz="1050" b="1" dirty="0"/>
              <a:t>Próximos Passos...</a:t>
            </a:r>
          </a:p>
          <a:p>
            <a:endParaRPr lang="pt-BR" sz="1050" dirty="0"/>
          </a:p>
          <a:p>
            <a:r>
              <a:rPr lang="pt-BR" sz="1050" dirty="0"/>
              <a:t>- Revisar todas as </a:t>
            </a:r>
            <a:r>
              <a:rPr lang="pt-BR" sz="1050" dirty="0" err="1"/>
              <a:t>GMUDs</a:t>
            </a:r>
            <a:r>
              <a:rPr lang="pt-BR" sz="1050" dirty="0"/>
              <a:t> (aprovação, fechamento, </a:t>
            </a:r>
            <a:r>
              <a:rPr lang="pt-BR" sz="1050" dirty="0" err="1"/>
              <a:t>etc</a:t>
            </a:r>
            <a:r>
              <a:rPr lang="pt-BR" sz="1050" dirty="0"/>
              <a:t>).</a:t>
            </a:r>
          </a:p>
          <a:p>
            <a:endParaRPr lang="pt-BR" sz="1050" dirty="0"/>
          </a:p>
        </p:txBody>
      </p:sp>
      <p:sp>
        <p:nvSpPr>
          <p:cNvPr id="2" name="CaixaDeTexto 1"/>
          <p:cNvSpPr txBox="1"/>
          <p:nvPr/>
        </p:nvSpPr>
        <p:spPr>
          <a:xfrm>
            <a:off x="6444208" y="103733"/>
            <a:ext cx="280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Status atual:             Tendência:</a:t>
            </a:r>
          </a:p>
        </p:txBody>
      </p:sp>
      <p:sp>
        <p:nvSpPr>
          <p:cNvPr id="3" name="Elipse 2"/>
          <p:cNvSpPr/>
          <p:nvPr/>
        </p:nvSpPr>
        <p:spPr>
          <a:xfrm>
            <a:off x="7487868" y="132734"/>
            <a:ext cx="216024" cy="21602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8781419" y="145601"/>
            <a:ext cx="216024" cy="2160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984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DS1 - Gerenciamento de Fornecedores Críticos de TI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86" y="1131590"/>
            <a:ext cx="4405038" cy="309634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39186" y="871670"/>
            <a:ext cx="440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Setembro/2016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24325" y="880364"/>
            <a:ext cx="425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Outubro/2016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469071"/>
              </p:ext>
            </p:extLst>
          </p:nvPr>
        </p:nvGraphicFramePr>
        <p:xfrm>
          <a:off x="4624325" y="1142303"/>
          <a:ext cx="4357910" cy="3050160"/>
        </p:xfrm>
        <a:graphic>
          <a:graphicData uri="http://schemas.openxmlformats.org/drawingml/2006/table">
            <a:tbl>
              <a:tblPr/>
              <a:tblGrid>
                <a:gridCol w="805964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91991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81270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Revisão das Faturas</a:t>
                      </a:r>
                    </a:p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4815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8144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</a:p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 de formalização contratual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Pendente</a:t>
                      </a:r>
                    </a:p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Envio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Formalização Contratual </a:t>
                      </a:r>
                      <a:b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(Em Andamento)</a:t>
                      </a:r>
                    </a:p>
                  </a:txBody>
                  <a:tcPr marL="5349" marR="5349" marT="5349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6236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DS1 - Gerenciamento de Fornecedores Críticos de TI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50475" y="871670"/>
            <a:ext cx="440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Novembro/2016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35614" y="880364"/>
            <a:ext cx="425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Dezembro/2016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45463"/>
              </p:ext>
            </p:extLst>
          </p:nvPr>
        </p:nvGraphicFramePr>
        <p:xfrm>
          <a:off x="150475" y="1131590"/>
          <a:ext cx="4336414" cy="3035102"/>
        </p:xfrm>
        <a:graphic>
          <a:graphicData uri="http://schemas.openxmlformats.org/drawingml/2006/table">
            <a:tbl>
              <a:tblPr/>
              <a:tblGrid>
                <a:gridCol w="801988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89071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793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 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492488"/>
              </p:ext>
            </p:extLst>
          </p:nvPr>
        </p:nvGraphicFramePr>
        <p:xfrm>
          <a:off x="4583289" y="1131590"/>
          <a:ext cx="4336400" cy="3035102"/>
        </p:xfrm>
        <a:graphic>
          <a:graphicData uri="http://schemas.openxmlformats.org/drawingml/2006/table">
            <a:tbl>
              <a:tblPr/>
              <a:tblGrid>
                <a:gridCol w="801986">
                  <a:extLst>
                    <a:ext uri="{9D8B030D-6E8A-4147-A177-3AD203B41FA5}">
                      <a16:colId xmlns:a16="http://schemas.microsoft.com/office/drawing/2014/main" val="654045636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193877993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190376036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492091434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2731739232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3711035699"/>
                    </a:ext>
                  </a:extLst>
                </a:gridCol>
                <a:gridCol w="589069">
                  <a:extLst>
                    <a:ext uri="{9D8B030D-6E8A-4147-A177-3AD203B41FA5}">
                      <a16:colId xmlns:a16="http://schemas.microsoft.com/office/drawing/2014/main" val="2880311965"/>
                    </a:ext>
                  </a:extLst>
                </a:gridCol>
              </a:tblGrid>
              <a:tr h="379388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Fornecedor </a:t>
                      </a:r>
                      <a:b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Crítico de TI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Serviço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Principal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Reunião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Realizada?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SLA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Atingido?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Ata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Enviada?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Algum Ponto de Atenção?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037996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ALGAR TELECOM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 Internet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803640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ORACLE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Managed Cloud 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68869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LEVEL3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8770375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VIVO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Links MPLS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057867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CREDIBILIT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Suporte Ambiente </a:t>
                      </a:r>
                      <a:b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pt-BR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AWS Amazon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6038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Não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252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N/A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1474"/>
                  </a:ext>
                </a:extLst>
              </a:tr>
              <a:tr h="442619">
                <a:tc>
                  <a:txBody>
                    <a:bodyPr/>
                    <a:lstStyle/>
                    <a:p>
                      <a:pPr algn="l" fontAlgn="ctr"/>
                      <a:r>
                        <a:rPr lang="pt-BR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TIVIT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EDI</a:t>
                      </a:r>
                    </a:p>
                  </a:txBody>
                  <a:tcPr marL="47906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51C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FB4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Foram elaboradas as atas retroativas a Novembro.</a:t>
                      </a:r>
                    </a:p>
                  </a:txBody>
                  <a:tcPr marL="5323" marR="5323" marT="5323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8154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645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DS1 - Gerenciamento de Fornecedores Críticos de TI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0"/>
            <a:ext cx="9144000" cy="571500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150475" y="871670"/>
            <a:ext cx="44050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Janeiro/2017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635614" y="880364"/>
            <a:ext cx="425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b="1" dirty="0"/>
              <a:t>Fevereiro/2017</a:t>
            </a:r>
          </a:p>
        </p:txBody>
      </p:sp>
      <p:pic>
        <p:nvPicPr>
          <p:cNvPr id="2" name="Imagem 1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89" y="1133417"/>
            <a:ext cx="4322750" cy="3033275"/>
          </a:xfrm>
          <a:prstGeom prst="rect">
            <a:avLst/>
          </a:prstGeom>
        </p:spPr>
      </p:pic>
      <p:pic>
        <p:nvPicPr>
          <p:cNvPr id="4" name="Imagem 3" descr="Recorte de Tela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149" y="1132955"/>
            <a:ext cx="4337235" cy="3033737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37585" y="4798273"/>
            <a:ext cx="48245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* Dezembro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995936" y="4109163"/>
            <a:ext cx="547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5620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to 3"/>
          <p:cNvCxnSpPr/>
          <p:nvPr/>
        </p:nvCxnSpPr>
        <p:spPr>
          <a:xfrm>
            <a:off x="0" y="483518"/>
            <a:ext cx="9144000" cy="0"/>
          </a:xfrm>
          <a:prstGeom prst="line">
            <a:avLst/>
          </a:prstGeom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ângulo 5"/>
          <p:cNvSpPr/>
          <p:nvPr/>
        </p:nvSpPr>
        <p:spPr>
          <a:xfrm>
            <a:off x="0" y="68947"/>
            <a:ext cx="40456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DS5 - </a:t>
            </a:r>
            <a:r>
              <a:rPr lang="en-US" b="1" dirty="0" err="1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Gerenciamento</a:t>
            </a: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 de </a:t>
            </a:r>
            <a:r>
              <a:rPr lang="en-US" b="1" dirty="0" err="1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Incidentes</a:t>
            </a:r>
            <a:r>
              <a:rPr lang="en-US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 de SI</a:t>
            </a:r>
          </a:p>
        </p:txBody>
      </p:sp>
      <p:sp>
        <p:nvSpPr>
          <p:cNvPr id="2" name="CaixaDeTexto 1"/>
          <p:cNvSpPr txBox="1"/>
          <p:nvPr/>
        </p:nvSpPr>
        <p:spPr>
          <a:xfrm>
            <a:off x="6444208" y="103733"/>
            <a:ext cx="28083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Status atual:             Tendência:</a:t>
            </a:r>
          </a:p>
        </p:txBody>
      </p:sp>
      <p:sp>
        <p:nvSpPr>
          <p:cNvPr id="3" name="Elipse 2"/>
          <p:cNvSpPr/>
          <p:nvPr/>
        </p:nvSpPr>
        <p:spPr>
          <a:xfrm>
            <a:off x="7487868" y="132734"/>
            <a:ext cx="216024" cy="2160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Elipse 12"/>
          <p:cNvSpPr/>
          <p:nvPr/>
        </p:nvSpPr>
        <p:spPr>
          <a:xfrm>
            <a:off x="8781419" y="145601"/>
            <a:ext cx="216024" cy="21602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16" name="Gráfico 15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8193269"/>
              </p:ext>
            </p:extLst>
          </p:nvPr>
        </p:nvGraphicFramePr>
        <p:xfrm>
          <a:off x="161764" y="591530"/>
          <a:ext cx="4260473" cy="25562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Gráfico 16">
            <a:extLst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5462813"/>
              </p:ext>
            </p:extLst>
          </p:nvPr>
        </p:nvGraphicFramePr>
        <p:xfrm>
          <a:off x="4572000" y="591530"/>
          <a:ext cx="4320480" cy="2484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0" name="Tabela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659585"/>
              </p:ext>
            </p:extLst>
          </p:nvPr>
        </p:nvGraphicFramePr>
        <p:xfrm>
          <a:off x="162520" y="3255825"/>
          <a:ext cx="4409480" cy="1424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3056">
                  <a:extLst>
                    <a:ext uri="{9D8B030D-6E8A-4147-A177-3AD203B41FA5}">
                      <a16:colId xmlns:a16="http://schemas.microsoft.com/office/drawing/2014/main" val="76742858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1188134647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19818420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pt-BR" sz="105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</a:t>
                      </a: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pt-BR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Responsável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01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INCSI-5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Compartilhamento de Senha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Cunha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4123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/>
                        </a:rPr>
                        <a:t>INCSI-6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Perda de Celular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Daniel Braga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65467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6"/>
                        </a:rPr>
                        <a:t>INCSI-7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Incidente - Chat.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Romulo Gimenes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044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7"/>
                        </a:rPr>
                        <a:t>INCSI-8</a:t>
                      </a:r>
                      <a:endParaRPr lang="pt-BR" sz="105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675" marR="66675" marT="47625" marB="47625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Mudança no Ambiente Green para o Blue - Sem GMUD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/>
                      <a:r>
                        <a:rPr lang="pt-BR" sz="105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Nei Henckes (gerenciador da Crise)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78400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9865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DS5.9.A - Gerenciamento de Antivírus</a:t>
            </a:r>
          </a:p>
        </p:txBody>
      </p:sp>
      <p:pic>
        <p:nvPicPr>
          <p:cNvPr id="1026" name="Imagem 2" descr="image00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8" t="29844" r="3294" b="5175"/>
          <a:stretch/>
        </p:blipFill>
        <p:spPr bwMode="auto">
          <a:xfrm>
            <a:off x="166369" y="771550"/>
            <a:ext cx="6120680" cy="2952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545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552"/>
          <p:cNvSpPr txBox="1"/>
          <p:nvPr/>
        </p:nvSpPr>
        <p:spPr>
          <a:xfrm>
            <a:off x="161764" y="195486"/>
            <a:ext cx="8820472" cy="39604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>
              <a:buClr>
                <a:srgbClr val="595959"/>
              </a:buClr>
              <a:buSzPct val="25000"/>
            </a:pPr>
            <a:r>
              <a:rPr lang="pt-BR" b="1" dirty="0">
                <a:solidFill>
                  <a:srgbClr val="FF6600"/>
                </a:solidFill>
                <a:latin typeface="Nunito"/>
                <a:ea typeface="Calibri"/>
                <a:cs typeface="Calibri"/>
                <a:sym typeface="Calibri"/>
              </a:rPr>
              <a:t>DS5.9.B - Gerenciamento de Patches</a:t>
            </a:r>
          </a:p>
        </p:txBody>
      </p:sp>
      <p:pic>
        <p:nvPicPr>
          <p:cNvPr id="2050" name="Imagem 5" descr="image010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72" t="25844" r="14928" b="39228"/>
          <a:stretch/>
        </p:blipFill>
        <p:spPr bwMode="auto">
          <a:xfrm>
            <a:off x="1619672" y="548747"/>
            <a:ext cx="5868652" cy="1620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m 1" descr="Recorte de Tela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316" y="2126143"/>
            <a:ext cx="5792008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75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shutterstock_392439580.jpg"/>
          <p:cNvPicPr>
            <a:picLocks noChangeAspect="1"/>
          </p:cNvPicPr>
          <p:nvPr/>
        </p:nvPicPr>
        <p:blipFill>
          <a:blip r:embed="rId2">
            <a:extLst/>
          </a:blip>
          <a:srcRect l="29914" t="32232" r="29308" b="32233"/>
          <a:stretch>
            <a:fillRect/>
          </a:stretch>
        </p:blipFill>
        <p:spPr>
          <a:xfrm rot="127485">
            <a:off x="-616922" y="-188765"/>
            <a:ext cx="10493402" cy="60925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352"/>
                </a:moveTo>
                <a:lnTo>
                  <a:pt x="436" y="21600"/>
                </a:lnTo>
                <a:lnTo>
                  <a:pt x="21600" y="20248"/>
                </a:lnTo>
                <a:lnTo>
                  <a:pt x="21164" y="0"/>
                </a:lnTo>
                <a:lnTo>
                  <a:pt x="0" y="1352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91" t="6110" r="19124" b="1945"/>
          <a:stretch/>
        </p:blipFill>
        <p:spPr>
          <a:xfrm rot="16200000">
            <a:off x="2513814" y="-282078"/>
            <a:ext cx="4116373" cy="4680519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3470647" y="1735015"/>
            <a:ext cx="23182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2979553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3742</TotalTime>
  <Words>742</Words>
  <Application>Microsoft Office PowerPoint</Application>
  <PresentationFormat>Apresentação na tela (16:9)</PresentationFormat>
  <Paragraphs>286</Paragraphs>
  <Slides>11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Nunito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Karina Bernardo</dc:creator>
  <cp:lastModifiedBy>Rodrigo Possatto Rothstein</cp:lastModifiedBy>
  <cp:revision>47</cp:revision>
  <dcterms:created xsi:type="dcterms:W3CDTF">2016-08-09T16:16:53Z</dcterms:created>
  <dcterms:modified xsi:type="dcterms:W3CDTF">2017-03-14T18:47:50Z</dcterms:modified>
</cp:coreProperties>
</file>