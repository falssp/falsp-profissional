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0" r:id="rId4"/>
    <p:sldId id="265" r:id="rId5"/>
    <p:sldId id="264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z\Desktop\Projeto%20Assessment%20N1-v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z\Desktop\Projeto%20Assessment%20N1-v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Volume</a:t>
            </a:r>
            <a:r>
              <a:rPr lang="pt-BR" baseline="0" dirty="0"/>
              <a:t> N1 x N2</a:t>
            </a:r>
            <a:endParaRPr lang="pt-BR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Tabela!$B$20</c:f>
              <c:strCache>
                <c:ptCount val="1"/>
                <c:pt idx="0">
                  <c:v>Quantidade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prstMaterial="matte">
              <a:bevelT w="127000" h="63500"/>
            </a:sp3d>
          </c:spPr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38100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>
                <a:bevelT w="127000" h="63500"/>
              </a:sp3d>
            </c:spPr>
          </c:dPt>
          <c:dPt>
            <c:idx val="1"/>
            <c:bubble3D val="0"/>
            <c:spPr>
              <a:solidFill>
                <a:srgbClr val="0070C0"/>
              </a:solidFill>
              <a:ln w="38100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>
                <a:bevelT w="127000" h="63500"/>
              </a:sp3d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Tabela!$A$21:$A$22</c:f>
              <c:strCache>
                <c:ptCount val="2"/>
                <c:pt idx="0">
                  <c:v>N2</c:v>
                </c:pt>
                <c:pt idx="1">
                  <c:v>N1</c:v>
                </c:pt>
              </c:strCache>
            </c:strRef>
          </c:cat>
          <c:val>
            <c:numRef>
              <c:f>Tabela!$B$21:$B$22</c:f>
              <c:numCache>
                <c:formatCode>General</c:formatCode>
                <c:ptCount val="2"/>
                <c:pt idx="0">
                  <c:v>128</c:v>
                </c:pt>
                <c:pt idx="1">
                  <c:v>55</c:v>
                </c:pt>
              </c:numCache>
            </c:numRef>
          </c:val>
        </c:ser>
        <c:dLbls>
          <c:dLblPos val="ctr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 dirty="0"/>
              <a:t>Evolução Procedimentos N1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Tabela!$E$20</c:f>
              <c:strCache>
                <c:ptCount val="1"/>
                <c:pt idx="0">
                  <c:v>Quantidade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prstMaterial="matte">
              <a:bevelT w="127000" h="63500"/>
            </a:sp3d>
          </c:spPr>
          <c:dPt>
            <c:idx val="0"/>
            <c:bubble3D val="0"/>
            <c:spPr>
              <a:solidFill>
                <a:schemeClr val="accent3">
                  <a:lumMod val="50000"/>
                </a:schemeClr>
              </a:solidFill>
              <a:ln w="38100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>
                <a:bevelT w="127000" h="63500"/>
              </a:sp3d>
            </c:spPr>
          </c:dPt>
          <c:dPt>
            <c:idx val="1"/>
            <c:bubble3D val="0"/>
            <c:spPr>
              <a:solidFill>
                <a:schemeClr val="accent2">
                  <a:lumMod val="75000"/>
                </a:schemeClr>
              </a:solidFill>
              <a:ln w="38100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>
                <a:bevelT w="127000" h="63500"/>
              </a:sp3d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Tabela!$D$21:$D$22</c:f>
              <c:strCache>
                <c:ptCount val="2"/>
                <c:pt idx="0">
                  <c:v>Em validação</c:v>
                </c:pt>
                <c:pt idx="1">
                  <c:v>Não iniciado</c:v>
                </c:pt>
              </c:strCache>
            </c:strRef>
          </c:cat>
          <c:val>
            <c:numRef>
              <c:f>Tabela!$E$21:$E$22</c:f>
              <c:numCache>
                <c:formatCode>General</c:formatCode>
                <c:ptCount val="2"/>
                <c:pt idx="0">
                  <c:v>19</c:v>
                </c:pt>
                <c:pt idx="1">
                  <c:v>36</c:v>
                </c:pt>
              </c:numCache>
            </c:numRef>
          </c:val>
        </c:ser>
        <c:dLbls>
          <c:dLblPos val="ctr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Projeto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N1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15/07/2016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Luis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Savioli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605" y="5126499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11 </a:t>
            </a:r>
            <a:r>
              <a:rPr lang="pt-BR" dirty="0"/>
              <a:t>a </a:t>
            </a:r>
            <a:r>
              <a:rPr lang="pt-BR" dirty="0" smtClean="0"/>
              <a:t>15 </a:t>
            </a:r>
            <a:r>
              <a:rPr lang="pt-BR" dirty="0"/>
              <a:t>de Julho de 2016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Entrevistas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realizadas: 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Infraestrutura e Microinformática – Claudio Cunha. 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EDI: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Raul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Validação do levantamento das atividades de Suporte N1 e Suporte N2 – Luis Savioli e Nei Henckes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Mapeamento dos procedimentos operacionais realizados: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SIEBEL: Luis Savioli (6 procedimentos)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SIEBEL: André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(5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procedimentos)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EDI: Raul Souza (2 procedimentos)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SITE: Jonathas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(6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procedimentos)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Segundo informações do Daniel Borges, o mapeamento de alguns procedimentos listados somente será possível caso existam chamados abertos no JIRA para que o passo a passo possa ser executado.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Solicitamos ao Daniel que avaliasse a listagem de procedimentos N1 que se enquadram no cenário exibido. 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Verificar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a possibilidade de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simular estes procedimentos em ambiente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teste, como alternativa.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Validação do levantamento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das atividades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de Suporte N1 e Suporte N2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com Adriano.</a:t>
            </a: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Validação da proposta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 revisão do 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processo de Gerenciamento de Incidentes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contemplando o N1 com Luis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Savioli e Nei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Henckes.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Continuidade na elaboração dos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procedimentos operacionais (instruções de trabalho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).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Validação dos procedimentos operacionais elaborados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Timeline</a:t>
            </a:r>
            <a:r>
              <a:rPr lang="pt-BR" dirty="0"/>
              <a:t> do Projeto</a:t>
            </a:r>
          </a:p>
        </p:txBody>
      </p:sp>
      <p:graphicFrame>
        <p:nvGraphicFramePr>
          <p:cNvPr id="9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69676"/>
              </p:ext>
            </p:extLst>
          </p:nvPr>
        </p:nvGraphicFramePr>
        <p:xfrm>
          <a:off x="135640" y="794508"/>
          <a:ext cx="8873748" cy="5226780"/>
        </p:xfrm>
        <a:graphic>
          <a:graphicData uri="http://schemas.openxmlformats.org/drawingml/2006/table">
            <a:tbl>
              <a:tblPr firstRow="1" bandRow="1"/>
              <a:tblGrid>
                <a:gridCol w="1478958">
                  <a:extLst>
                    <a:ext uri="{9D8B030D-6E8A-4147-A177-3AD203B41FA5}">
                      <a16:colId xmlns="" xmlns:a16="http://schemas.microsoft.com/office/drawing/2014/main" val="1989880496"/>
                    </a:ext>
                  </a:extLst>
                </a:gridCol>
                <a:gridCol w="14789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789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7895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7895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7895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80619">
                <a:tc gridSpan="6">
                  <a:txBody>
                    <a:bodyPr/>
                    <a:lstStyle/>
                    <a:p>
                      <a:pPr algn="ctr"/>
                      <a:r>
                        <a:rPr lang="pt-BR" sz="1600" b="1" i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Projeto </a:t>
                      </a:r>
                      <a:r>
                        <a:rPr lang="pt-BR" sz="1600" b="1" i="1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Assessment</a:t>
                      </a:r>
                      <a:r>
                        <a:rPr lang="pt-BR" sz="1600" b="1" i="1" baseline="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 N1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601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Junho-16</a:t>
                      </a: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Julho-16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Agosto-16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1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29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a 02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04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08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15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18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25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78999"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96" name="Conector de seta reta 3"/>
          <p:cNvCxnSpPr/>
          <p:nvPr/>
        </p:nvCxnSpPr>
        <p:spPr>
          <a:xfrm>
            <a:off x="4572514" y="1845288"/>
            <a:ext cx="0" cy="4176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99" name="Rectangle 30"/>
          <p:cNvSpPr>
            <a:spLocks noChangeArrowheads="1"/>
          </p:cNvSpPr>
          <p:nvPr/>
        </p:nvSpPr>
        <p:spPr bwMode="auto">
          <a:xfrm>
            <a:off x="409489" y="2534823"/>
            <a:ext cx="11743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Mobilização da Equipe</a:t>
            </a: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 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e </a:t>
            </a:r>
            <a:r>
              <a:rPr kumimoji="0" lang="pt-BR" sz="1200" b="1" i="0" u="none" strike="noStrike" kern="0" cap="none" spc="0" normalizeH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Templates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00" name="Rectangle 107"/>
          <p:cNvSpPr>
            <a:spLocks/>
          </p:cNvSpPr>
          <p:nvPr/>
        </p:nvSpPr>
        <p:spPr bwMode="auto">
          <a:xfrm>
            <a:off x="467831" y="2246823"/>
            <a:ext cx="11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4 dias</a:t>
            </a:r>
          </a:p>
        </p:txBody>
      </p:sp>
      <p:sp>
        <p:nvSpPr>
          <p:cNvPr id="101" name="Rectangle 30"/>
          <p:cNvSpPr>
            <a:spLocks noChangeArrowheads="1"/>
          </p:cNvSpPr>
          <p:nvPr/>
        </p:nvSpPr>
        <p:spPr bwMode="auto">
          <a:xfrm>
            <a:off x="1301896" y="1833655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114" name="Rectangle 30"/>
          <p:cNvSpPr>
            <a:spLocks noChangeArrowheads="1"/>
          </p:cNvSpPr>
          <p:nvPr/>
        </p:nvSpPr>
        <p:spPr bwMode="auto">
          <a:xfrm>
            <a:off x="6255806" y="5703923"/>
            <a:ext cx="2749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Apresentação Executiva Final</a:t>
            </a:r>
          </a:p>
        </p:txBody>
      </p:sp>
      <p:sp>
        <p:nvSpPr>
          <p:cNvPr id="120" name="Rectangle 107"/>
          <p:cNvSpPr>
            <a:spLocks/>
          </p:cNvSpPr>
          <p:nvPr/>
        </p:nvSpPr>
        <p:spPr bwMode="auto">
          <a:xfrm>
            <a:off x="1613280" y="2760860"/>
            <a:ext cx="29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10 dias</a:t>
            </a:r>
          </a:p>
        </p:txBody>
      </p:sp>
      <p:sp>
        <p:nvSpPr>
          <p:cNvPr id="121" name="Rectangle 30"/>
          <p:cNvSpPr>
            <a:spLocks noChangeArrowheads="1"/>
          </p:cNvSpPr>
          <p:nvPr/>
        </p:nvSpPr>
        <p:spPr bwMode="auto">
          <a:xfrm>
            <a:off x="4529280" y="2766361"/>
            <a:ext cx="4264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Mapeamento de Atividades</a:t>
            </a:r>
          </a:p>
        </p:txBody>
      </p:sp>
      <p:sp>
        <p:nvSpPr>
          <p:cNvPr id="122" name="Isosceles Triangle 41"/>
          <p:cNvSpPr/>
          <p:nvPr/>
        </p:nvSpPr>
        <p:spPr>
          <a:xfrm>
            <a:off x="1635932" y="2169643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23" name="Rectangle 107"/>
          <p:cNvSpPr>
            <a:spLocks/>
          </p:cNvSpPr>
          <p:nvPr/>
        </p:nvSpPr>
        <p:spPr bwMode="auto">
          <a:xfrm>
            <a:off x="1624750" y="3274897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4" name="Rectangle 107"/>
          <p:cNvSpPr>
            <a:spLocks/>
          </p:cNvSpPr>
          <p:nvPr/>
        </p:nvSpPr>
        <p:spPr bwMode="auto">
          <a:xfrm>
            <a:off x="3124274" y="3788934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5" name="Rectangle 107"/>
          <p:cNvSpPr>
            <a:spLocks/>
          </p:cNvSpPr>
          <p:nvPr/>
        </p:nvSpPr>
        <p:spPr bwMode="auto">
          <a:xfrm>
            <a:off x="4572514" y="4302971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6" name="Rectangle 107"/>
          <p:cNvSpPr>
            <a:spLocks/>
          </p:cNvSpPr>
          <p:nvPr/>
        </p:nvSpPr>
        <p:spPr bwMode="auto">
          <a:xfrm>
            <a:off x="4576564" y="4817008"/>
            <a:ext cx="29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10 dias</a:t>
            </a:r>
          </a:p>
        </p:txBody>
      </p:sp>
      <p:sp>
        <p:nvSpPr>
          <p:cNvPr id="127" name="Rectangle 107"/>
          <p:cNvSpPr>
            <a:spLocks/>
          </p:cNvSpPr>
          <p:nvPr/>
        </p:nvSpPr>
        <p:spPr bwMode="auto">
          <a:xfrm>
            <a:off x="6062647" y="5319510"/>
            <a:ext cx="216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6 dias</a:t>
            </a:r>
          </a:p>
        </p:txBody>
      </p:sp>
      <p:sp>
        <p:nvSpPr>
          <p:cNvPr id="128" name="Rectangle 30"/>
          <p:cNvSpPr>
            <a:spLocks noChangeArrowheads="1"/>
          </p:cNvSpPr>
          <p:nvPr/>
        </p:nvSpPr>
        <p:spPr bwMode="auto">
          <a:xfrm>
            <a:off x="2344750" y="3269396"/>
            <a:ext cx="2988000" cy="276999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 err="1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Macro-Fluxo</a:t>
            </a: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 de Ger. De Incidentes (N1)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29" name="Rectangle 30"/>
          <p:cNvSpPr>
            <a:spLocks noChangeArrowheads="1"/>
          </p:cNvSpPr>
          <p:nvPr/>
        </p:nvSpPr>
        <p:spPr bwMode="auto">
          <a:xfrm>
            <a:off x="3827826" y="3770797"/>
            <a:ext cx="4264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Definição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de Critérios (N1 x N2)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0" name="Rectangle 30"/>
          <p:cNvSpPr>
            <a:spLocks noChangeArrowheads="1"/>
          </p:cNvSpPr>
          <p:nvPr/>
        </p:nvSpPr>
        <p:spPr bwMode="auto">
          <a:xfrm>
            <a:off x="5328032" y="4288491"/>
            <a:ext cx="3168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Classificação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das Atividades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1" name="Rectangle 30"/>
          <p:cNvSpPr>
            <a:spLocks noChangeArrowheads="1"/>
          </p:cNvSpPr>
          <p:nvPr/>
        </p:nvSpPr>
        <p:spPr bwMode="auto">
          <a:xfrm>
            <a:off x="2015992" y="4821705"/>
            <a:ext cx="2484000" cy="276999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Elaboração dos Procedimentos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2" name="Rectangle 30"/>
          <p:cNvSpPr>
            <a:spLocks noChangeArrowheads="1"/>
          </p:cNvSpPr>
          <p:nvPr/>
        </p:nvSpPr>
        <p:spPr bwMode="auto">
          <a:xfrm>
            <a:off x="2398092" y="5338828"/>
            <a:ext cx="36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Validação dos Procedimentos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3" name="Isosceles Triangle 41"/>
          <p:cNvSpPr/>
          <p:nvPr/>
        </p:nvSpPr>
        <p:spPr>
          <a:xfrm>
            <a:off x="8223412" y="5236042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smtClean="0"/>
              <a:t>Volumetria do Trabalho</a:t>
            </a:r>
            <a:endParaRPr lang="pt-BR" dirty="0"/>
          </a:p>
        </p:txBody>
      </p:sp>
      <p:graphicFrame>
        <p:nvGraphicFramePr>
          <p:cNvPr id="23" name="Gráfic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7165800"/>
              </p:ext>
            </p:extLst>
          </p:nvPr>
        </p:nvGraphicFramePr>
        <p:xfrm>
          <a:off x="179992" y="1254677"/>
          <a:ext cx="43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Gráfico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506064"/>
              </p:ext>
            </p:extLst>
          </p:nvPr>
        </p:nvGraphicFramePr>
        <p:xfrm>
          <a:off x="4644488" y="1254677"/>
          <a:ext cx="43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tângulo 1"/>
          <p:cNvSpPr/>
          <p:nvPr/>
        </p:nvSpPr>
        <p:spPr>
          <a:xfrm>
            <a:off x="3436977" y="6309320"/>
            <a:ext cx="2270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pt-BR" dirty="0" smtClean="0"/>
              <a:t>Dados até 15-07-2016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15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Apresentação na tela (4:3)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Cambria</vt:lpstr>
      <vt:lpstr>Gill Sans</vt:lpstr>
      <vt:lpstr>Helvetica</vt:lpstr>
      <vt:lpstr>Segoe UI</vt:lpstr>
      <vt:lpstr>Wingdings</vt:lpstr>
      <vt:lpstr>ヒラギノ角ゴ ProN W3</vt:lpstr>
      <vt:lpstr>Tema do Office</vt:lpstr>
      <vt:lpstr>Status Report Semanal</vt:lpstr>
      <vt:lpstr>Período 11 a 15 de Julho de 2016</vt:lpstr>
      <vt:lpstr>Timeline do Projeto</vt:lpstr>
      <vt:lpstr>Volumetria do Trabalho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2016-07-15T18:07:38Z</dcterms:modified>
</cp:coreProperties>
</file>