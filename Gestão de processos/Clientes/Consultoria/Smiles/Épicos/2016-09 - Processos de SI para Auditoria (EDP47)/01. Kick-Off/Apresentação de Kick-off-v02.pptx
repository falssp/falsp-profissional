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7" r:id="rId2"/>
    <p:sldId id="339" r:id="rId3"/>
    <p:sldId id="340" r:id="rId4"/>
    <p:sldId id="349" r:id="rId5"/>
    <p:sldId id="350" r:id="rId6"/>
    <p:sldId id="351" r:id="rId7"/>
    <p:sldId id="352" r:id="rId8"/>
    <p:sldId id="344" r:id="rId9"/>
    <p:sldId id="353" r:id="rId10"/>
    <p:sldId id="355" r:id="rId11"/>
    <p:sldId id="354" r:id="rId12"/>
    <p:sldId id="348" r:id="rId13"/>
  </p:sldIdLst>
  <p:sldSz cx="101171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8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462D"/>
    <a:srgbClr val="EE6829"/>
    <a:srgbClr val="000000"/>
    <a:srgbClr val="F57124"/>
    <a:srgbClr val="F68E1E"/>
    <a:srgbClr val="99CCFF"/>
    <a:srgbClr val="FF9900"/>
    <a:srgbClr val="FF6600"/>
    <a:srgbClr val="E28734"/>
    <a:srgbClr val="F4BC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75DCB02-9BB8-47FD-8907-85C794F793BA}" styleName="Estilo com Tema 1 - Ênfase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38B1855-1B75-4FBE-930C-398BA8C253C6}" styleName="Estilo com Tema 2 - Ênfase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0A1B5D5-9B99-4C35-A422-299274C87663}" styleName="Estilo Médio 1 - Ênfas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8FB837D-C827-4EFA-A057-4D05807E0F7C}" styleName="Estilo com Tema 1 - Ênfase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A488322-F2BA-4B5B-9748-0D474271808F}" styleName="Estilo Médio 3 - Ênfase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Estilo Médio 4 - Ênfas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Estilo com Tema 1 - Ênfase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Estilo com Tema 1 - Ênfase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Estilo com Tema 1 - Ênfase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29" autoAdjust="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222" y="66"/>
      </p:cViewPr>
      <p:guideLst>
        <p:guide orient="horz" pos="2160"/>
        <p:guide pos="318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7A7F7C8-D24C-4B7F-878A-2BA8E51A4FAE}" type="doc">
      <dgm:prSet loTypeId="urn:microsoft.com/office/officeart/2005/8/layout/hProcess9" loCatId="process" qsTypeId="urn:microsoft.com/office/officeart/2005/8/quickstyle/3d1" qsCatId="3D" csTypeId="urn:microsoft.com/office/officeart/2005/8/colors/accent4_2" csCatId="accent4" phldr="1"/>
      <dgm:spPr/>
    </dgm:pt>
    <dgm:pt modelId="{CA5B2AE2-C141-495D-9956-F696EFFAB54E}">
      <dgm:prSet phldrT="[Texto]" custT="1"/>
      <dgm:spPr/>
      <dgm:t>
        <a:bodyPr/>
        <a:lstStyle/>
        <a:p>
          <a:pPr algn="ctr"/>
          <a:r>
            <a:rPr lang="pt-BR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DS5.9.A - Gestão de Antivírus</a:t>
          </a:r>
        </a:p>
      </dgm:t>
    </dgm:pt>
    <dgm:pt modelId="{29C5DBDA-F1A0-478B-812B-77C8A31DB9F8}" type="parTrans" cxnId="{7E31BFDB-6CCB-43C8-B1A5-CAA0FB5B6CF0}">
      <dgm:prSet/>
      <dgm:spPr/>
      <dgm:t>
        <a:bodyPr/>
        <a:lstStyle/>
        <a:p>
          <a:endParaRPr lang="pt-BR" sz="1400" b="1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F81A5B6E-86A4-4FF0-B0FB-E3558A8EBCA2}" type="sibTrans" cxnId="{7E31BFDB-6CCB-43C8-B1A5-CAA0FB5B6CF0}">
      <dgm:prSet/>
      <dgm:spPr/>
      <dgm:t>
        <a:bodyPr/>
        <a:lstStyle/>
        <a:p>
          <a:endParaRPr lang="pt-BR" sz="1400" b="1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E2230E7D-285E-4B5E-B7D4-C93AB266C044}">
      <dgm:prSet phldrT="[Texto]" custT="1"/>
      <dgm:spPr/>
      <dgm:t>
        <a:bodyPr/>
        <a:lstStyle/>
        <a:p>
          <a:pPr algn="ctr"/>
          <a:r>
            <a:rPr lang="pt-BR" sz="14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DS5.9.B – Administrar Patches - Servidores das Bases</a:t>
          </a:r>
          <a:endParaRPr lang="pt-BR" sz="14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0404454A-8BE4-4F4D-B4FC-5ACC1235723E}" type="parTrans" cxnId="{BD6EFD8F-D8DB-444A-9154-82EA26D73ACE}">
      <dgm:prSet/>
      <dgm:spPr/>
      <dgm:t>
        <a:bodyPr/>
        <a:lstStyle/>
        <a:p>
          <a:endParaRPr lang="pt-BR" sz="14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DB51A406-3D42-42D1-9DE0-EB878003381A}" type="sibTrans" cxnId="{BD6EFD8F-D8DB-444A-9154-82EA26D73ACE}">
      <dgm:prSet/>
      <dgm:spPr/>
      <dgm:t>
        <a:bodyPr/>
        <a:lstStyle/>
        <a:p>
          <a:endParaRPr lang="pt-BR" sz="14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683BC75D-08A2-480C-A30E-E90132FB207B}">
      <dgm:prSet phldrT="[Texto]" custT="1"/>
      <dgm:spPr/>
      <dgm:t>
        <a:bodyPr/>
        <a:lstStyle/>
        <a:p>
          <a:pPr algn="ctr"/>
          <a:r>
            <a:rPr lang="pt-BR" sz="14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PO2 - Definir Arquitetura da Informação  </a:t>
          </a:r>
          <a:endParaRPr lang="pt-BR" sz="14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E4DF76C-2E1D-4602-BC97-35E02A5FC82E}" type="parTrans" cxnId="{895EB148-32F4-4145-9997-C38A2221B9E3}">
      <dgm:prSet/>
      <dgm:spPr/>
      <dgm:t>
        <a:bodyPr/>
        <a:lstStyle/>
        <a:p>
          <a:endParaRPr lang="pt-BR" sz="14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5583E328-0183-4851-9EC8-ADF95974AF23}" type="sibTrans" cxnId="{895EB148-32F4-4145-9997-C38A2221B9E3}">
      <dgm:prSet/>
      <dgm:spPr/>
      <dgm:t>
        <a:bodyPr/>
        <a:lstStyle/>
        <a:p>
          <a:endParaRPr lang="pt-BR" sz="14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65308407-8DDE-463F-9C1A-632147F090FB}">
      <dgm:prSet phldrT="[Texto]" custT="1"/>
      <dgm:spPr/>
      <dgm:t>
        <a:bodyPr/>
        <a:lstStyle/>
        <a:p>
          <a:pPr algn="ctr"/>
          <a:r>
            <a:rPr lang="pt-BR" sz="14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DS03 - Gerenciar o Desempenho e Capacidade </a:t>
          </a:r>
          <a:endParaRPr lang="pt-BR" sz="14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F671F650-DF47-42A2-8CCA-B00174A669A8}" type="parTrans" cxnId="{2C5A6E96-091E-4552-AB99-6C5EE77C3781}">
      <dgm:prSet/>
      <dgm:spPr/>
      <dgm:t>
        <a:bodyPr/>
        <a:lstStyle/>
        <a:p>
          <a:endParaRPr lang="pt-BR" sz="14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727E67A7-0FFC-45DB-875C-47FF4DB55EA1}" type="sibTrans" cxnId="{2C5A6E96-091E-4552-AB99-6C5EE77C3781}">
      <dgm:prSet/>
      <dgm:spPr/>
      <dgm:t>
        <a:bodyPr/>
        <a:lstStyle/>
        <a:p>
          <a:endParaRPr lang="pt-BR" sz="14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B019709B-03AF-4BB1-9052-3695D112C477}">
      <dgm:prSet phldrT="[Texto]" custT="1"/>
      <dgm:spPr/>
      <dgm:t>
        <a:bodyPr/>
        <a:lstStyle/>
        <a:p>
          <a:pPr algn="ctr"/>
          <a:r>
            <a:rPr lang="pt-BR" sz="14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M01 - Monitorar Processos </a:t>
          </a:r>
          <a:endParaRPr lang="pt-BR" sz="14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0A5434A-4915-4050-B062-FCD9FA7B128F}" type="parTrans" cxnId="{E4D11A5B-8662-4F7C-91CB-E8DE0130F141}">
      <dgm:prSet/>
      <dgm:spPr/>
      <dgm:t>
        <a:bodyPr/>
        <a:lstStyle/>
        <a:p>
          <a:endParaRPr lang="pt-BR" sz="14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63AAF044-FF37-4C50-BAA2-32FA3FA539B1}" type="sibTrans" cxnId="{E4D11A5B-8662-4F7C-91CB-E8DE0130F141}">
      <dgm:prSet/>
      <dgm:spPr/>
      <dgm:t>
        <a:bodyPr/>
        <a:lstStyle/>
        <a:p>
          <a:endParaRPr lang="pt-BR" sz="14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D689C638-0AC0-48DE-AAE6-EA918B133C73}" type="pres">
      <dgm:prSet presAssocID="{67A7F7C8-D24C-4B7F-878A-2BA8E51A4FAE}" presName="CompostProcess" presStyleCnt="0">
        <dgm:presLayoutVars>
          <dgm:dir/>
          <dgm:resizeHandles val="exact"/>
        </dgm:presLayoutVars>
      </dgm:prSet>
      <dgm:spPr/>
    </dgm:pt>
    <dgm:pt modelId="{27CFC22B-03F1-4AD0-9811-184DDF5812CD}" type="pres">
      <dgm:prSet presAssocID="{67A7F7C8-D24C-4B7F-878A-2BA8E51A4FAE}" presName="arrow" presStyleLbl="bgShp" presStyleIdx="0" presStyleCnt="1" custLinFactNeighborX="1690"/>
      <dgm:spPr/>
    </dgm:pt>
    <dgm:pt modelId="{A7EC4B33-AC65-4C34-8B64-C6744A0147D2}" type="pres">
      <dgm:prSet presAssocID="{67A7F7C8-D24C-4B7F-878A-2BA8E51A4FAE}" presName="linearProcess" presStyleCnt="0"/>
      <dgm:spPr/>
    </dgm:pt>
    <dgm:pt modelId="{6815F125-869F-44BB-B108-D00BF717A51C}" type="pres">
      <dgm:prSet presAssocID="{CA5B2AE2-C141-495D-9956-F696EFFAB54E}" presName="textNode" presStyleLbl="node1" presStyleIdx="0" presStyleCnt="5" custLinFactNeighborX="79836">
        <dgm:presLayoutVars>
          <dgm:bulletEnabled val="1"/>
        </dgm:presLayoutVars>
      </dgm:prSet>
      <dgm:spPr/>
    </dgm:pt>
    <dgm:pt modelId="{9FFF2D63-7AF7-4A73-9F38-49AD124D688D}" type="pres">
      <dgm:prSet presAssocID="{F81A5B6E-86A4-4FF0-B0FB-E3558A8EBCA2}" presName="sibTrans" presStyleCnt="0"/>
      <dgm:spPr/>
    </dgm:pt>
    <dgm:pt modelId="{A7C328C5-BCA5-4041-BDE5-99D22BD23150}" type="pres">
      <dgm:prSet presAssocID="{E2230E7D-285E-4B5E-B7D4-C93AB266C044}" presName="textNode" presStyleLbl="node1" presStyleIdx="1" presStyleCnt="5">
        <dgm:presLayoutVars>
          <dgm:bulletEnabled val="1"/>
        </dgm:presLayoutVars>
      </dgm:prSet>
      <dgm:spPr/>
    </dgm:pt>
    <dgm:pt modelId="{625091CA-B576-472C-88F2-C7EAFD3D8258}" type="pres">
      <dgm:prSet presAssocID="{DB51A406-3D42-42D1-9DE0-EB878003381A}" presName="sibTrans" presStyleCnt="0"/>
      <dgm:spPr/>
    </dgm:pt>
    <dgm:pt modelId="{BDD8E232-B872-494C-8218-22AA620F0E2C}" type="pres">
      <dgm:prSet presAssocID="{683BC75D-08A2-480C-A30E-E90132FB207B}" presName="textNode" presStyleLbl="node1" presStyleIdx="2" presStyleCnt="5">
        <dgm:presLayoutVars>
          <dgm:bulletEnabled val="1"/>
        </dgm:presLayoutVars>
      </dgm:prSet>
      <dgm:spPr/>
    </dgm:pt>
    <dgm:pt modelId="{D8DDEE08-2032-4283-8E1D-909D0DBCBB47}" type="pres">
      <dgm:prSet presAssocID="{5583E328-0183-4851-9EC8-ADF95974AF23}" presName="sibTrans" presStyleCnt="0"/>
      <dgm:spPr/>
    </dgm:pt>
    <dgm:pt modelId="{4BA9CBA4-3F35-4D3E-9E7B-97DC3E350422}" type="pres">
      <dgm:prSet presAssocID="{65308407-8DDE-463F-9C1A-632147F090FB}" presName="textNode" presStyleLbl="node1" presStyleIdx="3" presStyleCnt="5">
        <dgm:presLayoutVars>
          <dgm:bulletEnabled val="1"/>
        </dgm:presLayoutVars>
      </dgm:prSet>
      <dgm:spPr/>
    </dgm:pt>
    <dgm:pt modelId="{5B10BB3B-4C33-45AC-ABF9-A911329F9262}" type="pres">
      <dgm:prSet presAssocID="{727E67A7-0FFC-45DB-875C-47FF4DB55EA1}" presName="sibTrans" presStyleCnt="0"/>
      <dgm:spPr/>
    </dgm:pt>
    <dgm:pt modelId="{AC8D6610-37E3-4A4F-83DE-B347B656AAF9}" type="pres">
      <dgm:prSet presAssocID="{B019709B-03AF-4BB1-9052-3695D112C477}" presName="textNode" presStyleLbl="node1" presStyleIdx="4" presStyleCnt="5">
        <dgm:presLayoutVars>
          <dgm:bulletEnabled val="1"/>
        </dgm:presLayoutVars>
      </dgm:prSet>
      <dgm:spPr/>
    </dgm:pt>
  </dgm:ptLst>
  <dgm:cxnLst>
    <dgm:cxn modelId="{BD6EFD8F-D8DB-444A-9154-82EA26D73ACE}" srcId="{67A7F7C8-D24C-4B7F-878A-2BA8E51A4FAE}" destId="{E2230E7D-285E-4B5E-B7D4-C93AB266C044}" srcOrd="1" destOrd="0" parTransId="{0404454A-8BE4-4F4D-B4FC-5ACC1235723E}" sibTransId="{DB51A406-3D42-42D1-9DE0-EB878003381A}"/>
    <dgm:cxn modelId="{428631B0-5D85-46D3-BFC9-4F61A75F1F6F}" type="presOf" srcId="{67A7F7C8-D24C-4B7F-878A-2BA8E51A4FAE}" destId="{D689C638-0AC0-48DE-AAE6-EA918B133C73}" srcOrd="0" destOrd="0" presId="urn:microsoft.com/office/officeart/2005/8/layout/hProcess9"/>
    <dgm:cxn modelId="{EF875461-93F3-46D5-AF27-FB4FDEB17309}" type="presOf" srcId="{CA5B2AE2-C141-495D-9956-F696EFFAB54E}" destId="{6815F125-869F-44BB-B108-D00BF717A51C}" srcOrd="0" destOrd="0" presId="urn:microsoft.com/office/officeart/2005/8/layout/hProcess9"/>
    <dgm:cxn modelId="{BAE0DC0F-473D-4443-89BA-DFADF29FB4DF}" type="presOf" srcId="{E2230E7D-285E-4B5E-B7D4-C93AB266C044}" destId="{A7C328C5-BCA5-4041-BDE5-99D22BD23150}" srcOrd="0" destOrd="0" presId="urn:microsoft.com/office/officeart/2005/8/layout/hProcess9"/>
    <dgm:cxn modelId="{B373E6D3-365A-4EBC-B926-132CD6DC6AB1}" type="presOf" srcId="{65308407-8DDE-463F-9C1A-632147F090FB}" destId="{4BA9CBA4-3F35-4D3E-9E7B-97DC3E350422}" srcOrd="0" destOrd="0" presId="urn:microsoft.com/office/officeart/2005/8/layout/hProcess9"/>
    <dgm:cxn modelId="{7E31BFDB-6CCB-43C8-B1A5-CAA0FB5B6CF0}" srcId="{67A7F7C8-D24C-4B7F-878A-2BA8E51A4FAE}" destId="{CA5B2AE2-C141-495D-9956-F696EFFAB54E}" srcOrd="0" destOrd="0" parTransId="{29C5DBDA-F1A0-478B-812B-77C8A31DB9F8}" sibTransId="{F81A5B6E-86A4-4FF0-B0FB-E3558A8EBCA2}"/>
    <dgm:cxn modelId="{895EB148-32F4-4145-9997-C38A2221B9E3}" srcId="{67A7F7C8-D24C-4B7F-878A-2BA8E51A4FAE}" destId="{683BC75D-08A2-480C-A30E-E90132FB207B}" srcOrd="2" destOrd="0" parTransId="{4E4DF76C-2E1D-4602-BC97-35E02A5FC82E}" sibTransId="{5583E328-0183-4851-9EC8-ADF95974AF23}"/>
    <dgm:cxn modelId="{E3B4495F-D291-4F11-9C8F-B08B3C946132}" type="presOf" srcId="{B019709B-03AF-4BB1-9052-3695D112C477}" destId="{AC8D6610-37E3-4A4F-83DE-B347B656AAF9}" srcOrd="0" destOrd="0" presId="urn:microsoft.com/office/officeart/2005/8/layout/hProcess9"/>
    <dgm:cxn modelId="{E4D11A5B-8662-4F7C-91CB-E8DE0130F141}" srcId="{67A7F7C8-D24C-4B7F-878A-2BA8E51A4FAE}" destId="{B019709B-03AF-4BB1-9052-3695D112C477}" srcOrd="4" destOrd="0" parTransId="{80A5434A-4915-4050-B062-FCD9FA7B128F}" sibTransId="{63AAF044-FF37-4C50-BAA2-32FA3FA539B1}"/>
    <dgm:cxn modelId="{2C5A6E96-091E-4552-AB99-6C5EE77C3781}" srcId="{67A7F7C8-D24C-4B7F-878A-2BA8E51A4FAE}" destId="{65308407-8DDE-463F-9C1A-632147F090FB}" srcOrd="3" destOrd="0" parTransId="{F671F650-DF47-42A2-8CCA-B00174A669A8}" sibTransId="{727E67A7-0FFC-45DB-875C-47FF4DB55EA1}"/>
    <dgm:cxn modelId="{A760532C-CD48-4CC2-9D2D-0DECEE7F18DB}" type="presOf" srcId="{683BC75D-08A2-480C-A30E-E90132FB207B}" destId="{BDD8E232-B872-494C-8218-22AA620F0E2C}" srcOrd="0" destOrd="0" presId="urn:microsoft.com/office/officeart/2005/8/layout/hProcess9"/>
    <dgm:cxn modelId="{EE047D41-C93E-4022-8C1B-93E4186EA15C}" type="presParOf" srcId="{D689C638-0AC0-48DE-AAE6-EA918B133C73}" destId="{27CFC22B-03F1-4AD0-9811-184DDF5812CD}" srcOrd="0" destOrd="0" presId="urn:microsoft.com/office/officeart/2005/8/layout/hProcess9"/>
    <dgm:cxn modelId="{6AE8AB58-E16A-45C2-B976-ADB36B42C980}" type="presParOf" srcId="{D689C638-0AC0-48DE-AAE6-EA918B133C73}" destId="{A7EC4B33-AC65-4C34-8B64-C6744A0147D2}" srcOrd="1" destOrd="0" presId="urn:microsoft.com/office/officeart/2005/8/layout/hProcess9"/>
    <dgm:cxn modelId="{D2C96F92-D992-4AD3-8CE9-2444ADFE47FB}" type="presParOf" srcId="{A7EC4B33-AC65-4C34-8B64-C6744A0147D2}" destId="{6815F125-869F-44BB-B108-D00BF717A51C}" srcOrd="0" destOrd="0" presId="urn:microsoft.com/office/officeart/2005/8/layout/hProcess9"/>
    <dgm:cxn modelId="{B9DA0904-778E-46AE-A1F6-4C35BF5DF5DD}" type="presParOf" srcId="{A7EC4B33-AC65-4C34-8B64-C6744A0147D2}" destId="{9FFF2D63-7AF7-4A73-9F38-49AD124D688D}" srcOrd="1" destOrd="0" presId="urn:microsoft.com/office/officeart/2005/8/layout/hProcess9"/>
    <dgm:cxn modelId="{0490A4BB-244B-4D11-A71E-D4607EF0AD97}" type="presParOf" srcId="{A7EC4B33-AC65-4C34-8B64-C6744A0147D2}" destId="{A7C328C5-BCA5-4041-BDE5-99D22BD23150}" srcOrd="2" destOrd="0" presId="urn:microsoft.com/office/officeart/2005/8/layout/hProcess9"/>
    <dgm:cxn modelId="{0C58A250-3A2E-4A72-BFEA-CB3C5E36A9B5}" type="presParOf" srcId="{A7EC4B33-AC65-4C34-8B64-C6744A0147D2}" destId="{625091CA-B576-472C-88F2-C7EAFD3D8258}" srcOrd="3" destOrd="0" presId="urn:microsoft.com/office/officeart/2005/8/layout/hProcess9"/>
    <dgm:cxn modelId="{94E2A5FC-F734-4060-A8A7-B8A4A23A45AB}" type="presParOf" srcId="{A7EC4B33-AC65-4C34-8B64-C6744A0147D2}" destId="{BDD8E232-B872-494C-8218-22AA620F0E2C}" srcOrd="4" destOrd="0" presId="urn:microsoft.com/office/officeart/2005/8/layout/hProcess9"/>
    <dgm:cxn modelId="{0CB672C6-359F-4B44-AEBB-29AA63B1A758}" type="presParOf" srcId="{A7EC4B33-AC65-4C34-8B64-C6744A0147D2}" destId="{D8DDEE08-2032-4283-8E1D-909D0DBCBB47}" srcOrd="5" destOrd="0" presId="urn:microsoft.com/office/officeart/2005/8/layout/hProcess9"/>
    <dgm:cxn modelId="{6D3CBB64-C8A4-475C-8872-D6BD7CC439A0}" type="presParOf" srcId="{A7EC4B33-AC65-4C34-8B64-C6744A0147D2}" destId="{4BA9CBA4-3F35-4D3E-9E7B-97DC3E350422}" srcOrd="6" destOrd="0" presId="urn:microsoft.com/office/officeart/2005/8/layout/hProcess9"/>
    <dgm:cxn modelId="{44D97E2B-B35F-4F03-8F14-5686039DB6F3}" type="presParOf" srcId="{A7EC4B33-AC65-4C34-8B64-C6744A0147D2}" destId="{5B10BB3B-4C33-45AC-ABF9-A911329F9262}" srcOrd="7" destOrd="0" presId="urn:microsoft.com/office/officeart/2005/8/layout/hProcess9"/>
    <dgm:cxn modelId="{0029278B-C028-431D-BB74-D2F2215031F1}" type="presParOf" srcId="{A7EC4B33-AC65-4C34-8B64-C6744A0147D2}" destId="{AC8D6610-37E3-4A4F-83DE-B347B656AAF9}" srcOrd="8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CFC22B-03F1-4AD0-9811-184DDF5812CD}">
      <dsp:nvSpPr>
        <dsp:cNvPr id="0" name=""/>
        <dsp:cNvSpPr/>
      </dsp:nvSpPr>
      <dsp:spPr>
        <a:xfrm>
          <a:off x="891874" y="0"/>
          <a:ext cx="8483116" cy="2359358"/>
        </a:xfrm>
        <a:prstGeom prst="rightArrow">
          <a:avLst/>
        </a:prstGeom>
        <a:gradFill rotWithShape="0">
          <a:gsLst>
            <a:gs pos="0">
              <a:schemeClr val="accent4">
                <a:tint val="40000"/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tint val="40000"/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6815F125-869F-44BB-B108-D00BF717A51C}">
      <dsp:nvSpPr>
        <dsp:cNvPr id="0" name=""/>
        <dsp:cNvSpPr/>
      </dsp:nvSpPr>
      <dsp:spPr>
        <a:xfrm>
          <a:off x="237131" y="707807"/>
          <a:ext cx="1760168" cy="943743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DS5.9.A - Gestão de Antivírus</a:t>
          </a:r>
        </a:p>
      </dsp:txBody>
      <dsp:txXfrm>
        <a:off x="283201" y="753877"/>
        <a:ext cx="1668028" cy="851603"/>
      </dsp:txXfrm>
    </dsp:sp>
    <dsp:sp modelId="{A7C328C5-BCA5-4041-BDE5-99D22BD23150}">
      <dsp:nvSpPr>
        <dsp:cNvPr id="0" name=""/>
        <dsp:cNvSpPr/>
      </dsp:nvSpPr>
      <dsp:spPr>
        <a:xfrm>
          <a:off x="2056454" y="707807"/>
          <a:ext cx="1760168" cy="943743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DS5.9.B – Administrar Patches - Servidores das Bases</a:t>
          </a:r>
          <a:endParaRPr lang="pt-BR" sz="14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2102524" y="753877"/>
        <a:ext cx="1668028" cy="851603"/>
      </dsp:txXfrm>
    </dsp:sp>
    <dsp:sp modelId="{BDD8E232-B872-494C-8218-22AA620F0E2C}">
      <dsp:nvSpPr>
        <dsp:cNvPr id="0" name=""/>
        <dsp:cNvSpPr/>
      </dsp:nvSpPr>
      <dsp:spPr>
        <a:xfrm>
          <a:off x="4109984" y="707807"/>
          <a:ext cx="1760168" cy="943743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PO2 - Definir Arquitetura da Informação  </a:t>
          </a:r>
          <a:endParaRPr lang="pt-BR" sz="14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4156054" y="753877"/>
        <a:ext cx="1668028" cy="851603"/>
      </dsp:txXfrm>
    </dsp:sp>
    <dsp:sp modelId="{4BA9CBA4-3F35-4D3E-9E7B-97DC3E350422}">
      <dsp:nvSpPr>
        <dsp:cNvPr id="0" name=""/>
        <dsp:cNvSpPr/>
      </dsp:nvSpPr>
      <dsp:spPr>
        <a:xfrm>
          <a:off x="6163514" y="707807"/>
          <a:ext cx="1760168" cy="943743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DS03 - Gerenciar o Desempenho e Capacidade </a:t>
          </a:r>
          <a:endParaRPr lang="pt-BR" sz="14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6209584" y="753877"/>
        <a:ext cx="1668028" cy="851603"/>
      </dsp:txXfrm>
    </dsp:sp>
    <dsp:sp modelId="{AC8D6610-37E3-4A4F-83DE-B347B656AAF9}">
      <dsp:nvSpPr>
        <dsp:cNvPr id="0" name=""/>
        <dsp:cNvSpPr/>
      </dsp:nvSpPr>
      <dsp:spPr>
        <a:xfrm>
          <a:off x="8217044" y="707807"/>
          <a:ext cx="1760168" cy="943743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M01 - Monitorar Processos </a:t>
          </a:r>
          <a:endParaRPr lang="pt-BR" sz="14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8263114" y="753877"/>
        <a:ext cx="1668028" cy="8516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30/09/2016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685800"/>
            <a:ext cx="50577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8786" y="2130428"/>
            <a:ext cx="8599567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7571" y="3886200"/>
            <a:ext cx="708199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959D4-6A11-486D-B749-87BCA07FF591}" type="datetime1">
              <a:rPr lang="en-US" smtClean="0"/>
              <a:t>9/30/2016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74088-60D5-4C27-8C26-4C55B0AE93BE}" type="datetime1">
              <a:rPr lang="en-US" smtClean="0"/>
              <a:t>9/30/2016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184" y="4406903"/>
            <a:ext cx="8599567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9184" y="2906713"/>
            <a:ext cx="8599567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A53C5-BA6F-42EE-B848-F3D0057EDAD5}" type="datetime1">
              <a:rPr lang="en-US" smtClean="0"/>
              <a:t>9/30/2016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5857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2878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58837-4952-4B11-B021-471393E3D5C6}" type="datetime1">
              <a:rPr lang="en-US" smtClean="0"/>
              <a:t>9/30/2016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535113"/>
            <a:ext cx="447016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857" y="2174875"/>
            <a:ext cx="44701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39367" y="1535113"/>
            <a:ext cx="44719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39367" y="2174875"/>
            <a:ext cx="44719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5B09A-A573-467A-B71C-8123B5A168C3}" type="datetime1">
              <a:rPr lang="en-US" smtClean="0"/>
              <a:t>9/30/2016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6A762-4D7A-4A60-B361-0561C4BAA8C1}" type="datetime1">
              <a:rPr lang="en-US" smtClean="0"/>
              <a:t>9/30/2016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E7812-A9AF-4509-8267-EE36D97F6170}" type="datetime1">
              <a:rPr lang="en-US" smtClean="0"/>
              <a:t>9/30/2016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857" y="273050"/>
            <a:ext cx="332846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521" y="273053"/>
            <a:ext cx="565576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5857" y="1435103"/>
            <a:ext cx="332846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3899E-D0AF-4934-8DE7-BA875A98DCEA}" type="datetime1">
              <a:rPr lang="en-US" smtClean="0"/>
              <a:t>9/30/2016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030" y="4800600"/>
            <a:ext cx="607028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83030" y="612775"/>
            <a:ext cx="607028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030" y="5367338"/>
            <a:ext cx="607028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52944-44B7-41D7-AD1A-FD6903581FEF}" type="datetime1">
              <a:rPr lang="en-US" smtClean="0"/>
              <a:t>9/30/2016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AA64C-69FA-480F-B7E3-FE744768567F}" type="datetime1">
              <a:rPr lang="en-US" smtClean="0"/>
              <a:t>9/30/2016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34925" y="274641"/>
            <a:ext cx="227635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5857" y="274641"/>
            <a:ext cx="6660449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8FE86-EFE7-4175-8137-78DEB5E572A3}" type="datetime1">
              <a:rPr lang="en-US" smtClean="0"/>
              <a:t>9/30/2016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5857" y="274638"/>
            <a:ext cx="910542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600203"/>
            <a:ext cx="910542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857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D29DC0-6BD0-4B46-B6AE-0379CA6F938C}" type="datetime1">
              <a:rPr lang="en-US" smtClean="0"/>
              <a:t>9/30/2016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6689" y="6356353"/>
            <a:ext cx="3203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1" y="1"/>
            <a:ext cx="6375313" cy="6857999"/>
          </a:xfrm>
          <a:custGeom>
            <a:avLst/>
            <a:gdLst/>
            <a:ahLst/>
            <a:cxnLst/>
            <a:rect l="l" t="t" r="r" b="b"/>
            <a:pathLst>
              <a:path w="5762090" h="6857999">
                <a:moveTo>
                  <a:pt x="0" y="0"/>
                </a:moveTo>
                <a:lnTo>
                  <a:pt x="1920697" y="0"/>
                </a:lnTo>
                <a:lnTo>
                  <a:pt x="3279881" y="0"/>
                </a:lnTo>
                <a:lnTo>
                  <a:pt x="5200578" y="0"/>
                </a:lnTo>
                <a:lnTo>
                  <a:pt x="5255041" y="148787"/>
                </a:lnTo>
                <a:cubicBezTo>
                  <a:pt x="5571805" y="1057108"/>
                  <a:pt x="5762090" y="2221597"/>
                  <a:pt x="5762090" y="3491260"/>
                </a:cubicBezTo>
                <a:cubicBezTo>
                  <a:pt x="5762090" y="4760923"/>
                  <a:pt x="5571805" y="5925412"/>
                  <a:pt x="5255041" y="6833733"/>
                </a:cubicBezTo>
                <a:lnTo>
                  <a:pt x="5246158" y="6857999"/>
                </a:lnTo>
                <a:lnTo>
                  <a:pt x="3325461" y="6857999"/>
                </a:lnTo>
                <a:lnTo>
                  <a:pt x="1920697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F8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9338" y="2910000"/>
            <a:ext cx="2412841" cy="86124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61213" y="1460902"/>
            <a:ext cx="5959283" cy="46705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"/>
            <a:r>
              <a:rPr lang="pt-BR" sz="4000" b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Mapeamento dos </a:t>
            </a:r>
          </a:p>
          <a:p>
            <a:pPr marL="72000"/>
            <a:r>
              <a:rPr lang="pt-BR" sz="4000" b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Processos de TI para Auditoria</a:t>
            </a:r>
          </a:p>
          <a:p>
            <a:pPr marL="72000"/>
            <a:endParaRPr lang="pt-BR" sz="20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cs typeface="Gotham Rounded Book"/>
            </a:endParaRPr>
          </a:p>
          <a:p>
            <a:pPr marL="72000"/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Reunião de </a:t>
            </a:r>
            <a:r>
              <a:rPr lang="pt-BR" sz="2400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Kick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-Off da Iniciativa</a:t>
            </a:r>
          </a:p>
          <a:p>
            <a:pPr marL="72000"/>
            <a:endParaRPr lang="en-US" sz="11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endParaRPr 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r>
              <a:rPr lang="en-US" sz="1600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Setembro</a:t>
            </a:r>
            <a:r>
              <a:rPr lang="en-US" sz="16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/2016</a:t>
            </a:r>
          </a:p>
          <a:p>
            <a:pPr marL="72000"/>
            <a:r>
              <a:rPr lang="en-US" sz="1050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versão</a:t>
            </a:r>
            <a:r>
              <a:rPr lang="en-US" sz="105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1.0</a:t>
            </a: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5759" y="140070"/>
            <a:ext cx="1591323" cy="84069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2" name="Picture 2" descr="http://johnlatham.me/wp-content/uploads/2013/12/d9_flowchart1.jpg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152" y="4211392"/>
            <a:ext cx="4031744" cy="2681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53599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Mapeamento dos Processos de TI para Auditoria</a:t>
            </a: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8" name="Espaço Reservado para Número de Slide 10"/>
          <p:cNvSpPr>
            <a:spLocks noGrp="1"/>
          </p:cNvSpPr>
          <p:nvPr>
            <p:ph type="sldNum" sz="quarter" idx="12"/>
          </p:nvPr>
        </p:nvSpPr>
        <p:spPr>
          <a:xfrm>
            <a:off x="7250615" y="6356353"/>
            <a:ext cx="2360666" cy="365125"/>
          </a:xfrm>
        </p:spPr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10" name="Retângulo de cantos arredondados 6"/>
          <p:cNvSpPr/>
          <p:nvPr/>
        </p:nvSpPr>
        <p:spPr>
          <a:xfrm>
            <a:off x="4372093" y="1157735"/>
            <a:ext cx="6120000" cy="720000"/>
          </a:xfrm>
          <a:prstGeom prst="roundRect">
            <a:avLst>
              <a:gd name="adj" fmla="val 21097"/>
            </a:avLst>
          </a:prstGeom>
          <a:solidFill>
            <a:srgbClr val="F68E1E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Objetivo, Escopo e Entregáveis</a:t>
            </a:r>
          </a:p>
        </p:txBody>
      </p:sp>
      <p:sp>
        <p:nvSpPr>
          <p:cNvPr id="11" name="Retângulo de cantos arredondados 8"/>
          <p:cNvSpPr/>
          <p:nvPr/>
        </p:nvSpPr>
        <p:spPr>
          <a:xfrm>
            <a:off x="4372093" y="2190852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Equipe Envolvida</a:t>
            </a:r>
          </a:p>
        </p:txBody>
      </p:sp>
      <p:sp>
        <p:nvSpPr>
          <p:cNvPr id="13" name="Retângulo de cantos arredondados 9"/>
          <p:cNvSpPr/>
          <p:nvPr/>
        </p:nvSpPr>
        <p:spPr>
          <a:xfrm>
            <a:off x="4372093" y="3223969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Planejamento / Cronograma</a:t>
            </a:r>
          </a:p>
        </p:txBody>
      </p:sp>
      <p:pic>
        <p:nvPicPr>
          <p:cNvPr id="14" name="Picture 2" descr="http://intranet.reynosa.gob.mx/directorio/images/agenda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9525" y="2637852"/>
            <a:ext cx="2601578" cy="2339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/>
          <p:cNvSpPr/>
          <p:nvPr/>
        </p:nvSpPr>
        <p:spPr>
          <a:xfrm>
            <a:off x="412125" y="2530093"/>
            <a:ext cx="147065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Agenda</a:t>
            </a:r>
            <a:endParaRPr lang="pt-BR" sz="3200" dirty="0"/>
          </a:p>
        </p:txBody>
      </p:sp>
      <p:sp>
        <p:nvSpPr>
          <p:cNvPr id="15" name="Retângulo de cantos arredondados 9"/>
          <p:cNvSpPr/>
          <p:nvPr/>
        </p:nvSpPr>
        <p:spPr>
          <a:xfrm>
            <a:off x="4372093" y="4257086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Premissas e Riscos</a:t>
            </a:r>
          </a:p>
        </p:txBody>
      </p:sp>
      <p:sp>
        <p:nvSpPr>
          <p:cNvPr id="16" name="Retângulo de cantos arredondados 9"/>
          <p:cNvSpPr/>
          <p:nvPr/>
        </p:nvSpPr>
        <p:spPr>
          <a:xfrm>
            <a:off x="4372093" y="5290202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Próximos Passos</a:t>
            </a:r>
          </a:p>
        </p:txBody>
      </p:sp>
    </p:spTree>
    <p:extLst>
      <p:ext uri="{BB962C8B-B14F-4D97-AF65-F5344CB8AC3E}">
        <p14:creationId xmlns:p14="http://schemas.microsoft.com/office/powerpoint/2010/main" val="10926020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16"/>
          <p:cNvSpPr/>
          <p:nvPr/>
        </p:nvSpPr>
        <p:spPr>
          <a:xfrm>
            <a:off x="7315206" y="1746197"/>
            <a:ext cx="2472741" cy="4932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72000" lvl="1">
              <a:lnSpc>
                <a:spcPts val="2100"/>
              </a:lnSpc>
              <a:spcBef>
                <a:spcPts val="600"/>
              </a:spcBef>
            </a:pP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Principais Atividades</a:t>
            </a:r>
          </a:p>
          <a:p>
            <a:pPr marL="72000" lvl="1">
              <a:lnSpc>
                <a:spcPts val="2100"/>
              </a:lnSpc>
              <a:spcAft>
                <a:spcPts val="600"/>
              </a:spcAft>
            </a:pP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por processo:</a:t>
            </a:r>
          </a:p>
          <a:p>
            <a:pPr marL="360000" indent="-2880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200" b="1" dirty="0">
                <a:solidFill>
                  <a:schemeClr val="tx1"/>
                </a:solidFill>
              </a:rPr>
              <a:t>Entender o processo atual </a:t>
            </a:r>
            <a:r>
              <a:rPr lang="pt-BR" sz="1200" dirty="0">
                <a:solidFill>
                  <a:schemeClr val="tx1"/>
                </a:solidFill>
              </a:rPr>
              <a:t>e os </a:t>
            </a:r>
            <a:r>
              <a:rPr lang="pt-BR" sz="1200" b="1" dirty="0">
                <a:solidFill>
                  <a:schemeClr val="tx1"/>
                </a:solidFill>
              </a:rPr>
              <a:t>gaps ou pontos de atenção </a:t>
            </a:r>
            <a:r>
              <a:rPr lang="pt-BR" sz="1200" dirty="0">
                <a:solidFill>
                  <a:schemeClr val="tx1"/>
                </a:solidFill>
              </a:rPr>
              <a:t>já identificados;</a:t>
            </a:r>
          </a:p>
          <a:p>
            <a:pPr marL="360000" indent="-2880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200" dirty="0">
                <a:solidFill>
                  <a:schemeClr val="tx1"/>
                </a:solidFill>
              </a:rPr>
              <a:t>Realizar </a:t>
            </a:r>
            <a:r>
              <a:rPr lang="pt-BR" sz="1200" b="1" dirty="0">
                <a:solidFill>
                  <a:schemeClr val="tx1"/>
                </a:solidFill>
              </a:rPr>
              <a:t>entrevistas com os responsáveis </a:t>
            </a:r>
            <a:r>
              <a:rPr lang="pt-BR" sz="1200" dirty="0">
                <a:solidFill>
                  <a:schemeClr val="tx1"/>
                </a:solidFill>
              </a:rPr>
              <a:t>pelo processo;</a:t>
            </a:r>
          </a:p>
          <a:p>
            <a:pPr marL="360000" indent="-2880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200" b="1" dirty="0">
                <a:solidFill>
                  <a:schemeClr val="tx1"/>
                </a:solidFill>
              </a:rPr>
              <a:t>Mapear o processo </a:t>
            </a:r>
            <a:r>
              <a:rPr lang="pt-BR" sz="1200" dirty="0">
                <a:solidFill>
                  <a:schemeClr val="tx1"/>
                </a:solidFill>
              </a:rPr>
              <a:t>(elaborar fluxos e especificação);</a:t>
            </a:r>
          </a:p>
          <a:p>
            <a:pPr marL="360000" indent="-2880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200" b="1" dirty="0">
                <a:solidFill>
                  <a:schemeClr val="tx1"/>
                </a:solidFill>
              </a:rPr>
              <a:t>Validar com o responsável </a:t>
            </a:r>
            <a:r>
              <a:rPr lang="pt-BR" sz="1200" dirty="0">
                <a:solidFill>
                  <a:schemeClr val="tx1"/>
                </a:solidFill>
              </a:rPr>
              <a:t>pelo processo;</a:t>
            </a:r>
          </a:p>
          <a:p>
            <a:pPr marL="360000" indent="-2880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200" b="1" dirty="0">
                <a:solidFill>
                  <a:schemeClr val="tx1"/>
                </a:solidFill>
              </a:rPr>
              <a:t>Validar com a Gerência de Governança </a:t>
            </a:r>
            <a:r>
              <a:rPr lang="pt-BR" sz="1200" dirty="0">
                <a:solidFill>
                  <a:schemeClr val="tx1"/>
                </a:solidFill>
              </a:rPr>
              <a:t>de TI;</a:t>
            </a:r>
          </a:p>
          <a:p>
            <a:pPr marL="360000" indent="-2880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200" dirty="0">
                <a:solidFill>
                  <a:schemeClr val="tx1"/>
                </a:solidFill>
              </a:rPr>
              <a:t>Realizar </a:t>
            </a:r>
            <a:r>
              <a:rPr lang="pt-BR" sz="1200" b="1" dirty="0">
                <a:solidFill>
                  <a:schemeClr val="tx1"/>
                </a:solidFill>
              </a:rPr>
              <a:t>ajustes</a:t>
            </a:r>
            <a:r>
              <a:rPr lang="pt-BR" sz="1200" dirty="0">
                <a:solidFill>
                  <a:schemeClr val="tx1"/>
                </a:solidFill>
              </a:rPr>
              <a:t> no processo;</a:t>
            </a:r>
          </a:p>
          <a:p>
            <a:pPr marL="360000" indent="-2880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200" dirty="0">
                <a:solidFill>
                  <a:schemeClr val="tx1"/>
                </a:solidFill>
              </a:rPr>
              <a:t>Realizar </a:t>
            </a:r>
            <a:r>
              <a:rPr lang="pt-BR" sz="1200" b="1" dirty="0">
                <a:solidFill>
                  <a:schemeClr val="tx1"/>
                </a:solidFill>
              </a:rPr>
              <a:t>workshop</a:t>
            </a:r>
            <a:r>
              <a:rPr lang="pt-BR" sz="1200" dirty="0">
                <a:solidFill>
                  <a:schemeClr val="tx1"/>
                </a:solidFill>
              </a:rPr>
              <a:t> sobre o processo para operacionalização do mesmo.</a:t>
            </a:r>
          </a:p>
        </p:txBody>
      </p:sp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3997" y="6664320"/>
            <a:ext cx="1390844" cy="114316"/>
          </a:xfrm>
          <a:prstGeom prst="rect">
            <a:avLst/>
          </a:prstGeom>
        </p:spPr>
      </p:pic>
      <p:sp>
        <p:nvSpPr>
          <p:cNvPr id="10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Mapeamento dos Processos de TI para Auditoria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3811806" y="1746197"/>
            <a:ext cx="3528000" cy="4932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>
              <a:spcAft>
                <a:spcPts val="300"/>
              </a:spcAft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1">
              <a:lnSpc>
                <a:spcPts val="2100"/>
              </a:lnSpc>
              <a:spcAft>
                <a:spcPts val="300"/>
              </a:spcAft>
            </a:pP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21 Processos Selecionados:</a:t>
            </a:r>
          </a:p>
          <a:p>
            <a:pPr marL="252000" lvl="1" indent="-216000"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pt-B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AI1 – Identificar Soluções Automatizadas</a:t>
            </a:r>
          </a:p>
          <a:p>
            <a:pPr marL="252000" lvl="1" indent="-216000"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pt-B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AI2 - Adquirir e manter aplicações de software</a:t>
            </a:r>
          </a:p>
          <a:p>
            <a:pPr marL="252000" lvl="1" indent="-216000"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pt-B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AI3 - Adquirir e manter infraestrutura tecnológica</a:t>
            </a:r>
          </a:p>
          <a:p>
            <a:pPr marL="252000" lvl="1" indent="-216000"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pt-B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AI4 - Desenvolver e manter manuais de Sistemas</a:t>
            </a:r>
          </a:p>
          <a:p>
            <a:pPr marL="252000" lvl="1" indent="-216000"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pt-B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AI6 - Gerenciamento de Mudanças</a:t>
            </a:r>
          </a:p>
          <a:p>
            <a:pPr marL="252000" lvl="1" indent="-216000"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pt-B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AI7 - Gerenciamento, Instalação e Homologação</a:t>
            </a:r>
          </a:p>
          <a:p>
            <a:pPr marL="252000" lvl="1" indent="-216000"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pt-B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DS1 - Definir e Gerenciar Níveis de Serviço</a:t>
            </a:r>
          </a:p>
          <a:p>
            <a:pPr marL="252000" lvl="1" indent="-216000"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pt-B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DS2 - Gerenciar Serviços de Terceiros</a:t>
            </a:r>
          </a:p>
          <a:p>
            <a:pPr marL="252000" lvl="1" indent="-216000"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pt-B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DS3 - Gerenciar o Desempenho e Capacidade</a:t>
            </a:r>
          </a:p>
          <a:p>
            <a:pPr marL="252000" lvl="1" indent="-216000"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pt-B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DS5.3 - Gestão de Identidade	</a:t>
            </a:r>
          </a:p>
          <a:p>
            <a:pPr marL="252000" lvl="1" indent="-216000"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pt-B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DS5.5 - Assegurar Segurança de Sistemas</a:t>
            </a:r>
          </a:p>
          <a:p>
            <a:pPr marL="252000" lvl="1" indent="-216000"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pt-B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DS5.8 - Gestão de chaves criptográficas</a:t>
            </a:r>
          </a:p>
          <a:p>
            <a:pPr marL="252000" lvl="1" indent="-216000"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pt-B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DS8 - Gerenciar Service Desk e Incidentes</a:t>
            </a:r>
          </a:p>
          <a:p>
            <a:pPr marL="252000" lvl="1" indent="-216000"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pt-B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DS5.9.A - Gestão de Antivírus</a:t>
            </a:r>
          </a:p>
          <a:p>
            <a:pPr marL="252000" lvl="1" indent="-216000"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pt-B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DS5.9.B – Administrar Patches - Servidores das Bases</a:t>
            </a:r>
          </a:p>
          <a:p>
            <a:pPr marL="252000" lvl="1" indent="-216000"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pt-B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DS5.10 - Administração de Firewall</a:t>
            </a:r>
          </a:p>
          <a:p>
            <a:pPr marL="252000" lvl="1" indent="-216000"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pt-B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DS5.11 - Gestão de Certificados Digitais</a:t>
            </a:r>
          </a:p>
          <a:p>
            <a:pPr marL="252000" lvl="1" indent="-216000"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pt-B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DS 11 - Gerenciar Copias de Segurança</a:t>
            </a:r>
          </a:p>
          <a:p>
            <a:pPr marL="252000" lvl="1" indent="-216000"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pt-B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DS12 - Gerenciar Instalações Físicas</a:t>
            </a:r>
          </a:p>
          <a:p>
            <a:pPr marL="252000" lvl="1" indent="-216000"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pt-B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M1 - Monitorar Processos</a:t>
            </a:r>
          </a:p>
          <a:p>
            <a:pPr marL="252000" lvl="1" indent="-216000"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pt-B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PO2 - Definir Arquitetura da Informação</a:t>
            </a:r>
          </a:p>
        </p:txBody>
      </p:sp>
      <p:sp>
        <p:nvSpPr>
          <p:cNvPr id="13" name="Retângulo de cantos arredondados 14"/>
          <p:cNvSpPr/>
          <p:nvPr/>
        </p:nvSpPr>
        <p:spPr>
          <a:xfrm>
            <a:off x="3752171" y="1163292"/>
            <a:ext cx="6120000" cy="624278"/>
          </a:xfrm>
          <a:prstGeom prst="roundRec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Escopo</a:t>
            </a:r>
            <a:endParaRPr lang="pt-BR" sz="1600" i="1" dirty="0"/>
          </a:p>
        </p:txBody>
      </p:sp>
      <p:sp>
        <p:nvSpPr>
          <p:cNvPr id="14" name="Retângulo 13"/>
          <p:cNvSpPr/>
          <p:nvPr/>
        </p:nvSpPr>
        <p:spPr>
          <a:xfrm>
            <a:off x="432619" y="1746198"/>
            <a:ext cx="2612222" cy="3151841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8000" lvl="1" indent="-2880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Elaborar, documentar e operar Processos de TI simples e efetivos 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que estejam </a:t>
            </a: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aderentes aos controles de auditoria 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requeridos, de forma a </a:t>
            </a: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eliminar ou mitigar </a:t>
            </a:r>
            <a:r>
              <a:rPr lang="pt-BR" sz="1600" b="1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gaps ou </a:t>
            </a: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pontos de atenção</a:t>
            </a:r>
            <a:r>
              <a:rPr lang="pt-BR" sz="1600" b="1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já identificados.</a:t>
            </a:r>
          </a:p>
        </p:txBody>
      </p:sp>
      <p:sp>
        <p:nvSpPr>
          <p:cNvPr id="15" name="Retângulo de cantos arredondados 14"/>
          <p:cNvSpPr/>
          <p:nvPr/>
        </p:nvSpPr>
        <p:spPr>
          <a:xfrm>
            <a:off x="372984" y="1163292"/>
            <a:ext cx="2687982" cy="624278"/>
          </a:xfrm>
          <a:prstGeom prst="roundRec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Objetivo</a:t>
            </a:r>
            <a:endParaRPr lang="pt-BR" sz="1600" i="1" dirty="0"/>
          </a:p>
        </p:txBody>
      </p:sp>
      <p:sp>
        <p:nvSpPr>
          <p:cNvPr id="16" name="Seta: para a Direita 15"/>
          <p:cNvSpPr/>
          <p:nvPr/>
        </p:nvSpPr>
        <p:spPr>
          <a:xfrm>
            <a:off x="3274419" y="3076953"/>
            <a:ext cx="404194" cy="490330"/>
          </a:xfrm>
          <a:prstGeom prst="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050" name="Picture 2" descr="http://lanuevaeconomia.com/wp-content/uploads/2012/05/Objetivos-de-una-empresa.jpg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EFFFF"/>
              </a:clrFrom>
              <a:clrTo>
                <a:srgbClr val="FE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878" y="4842054"/>
            <a:ext cx="3333750" cy="2028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00804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0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Mapeamento dos Processos de TI para Auditoria</a:t>
            </a:r>
          </a:p>
        </p:txBody>
      </p:sp>
      <p:sp>
        <p:nvSpPr>
          <p:cNvPr id="14" name="Retângulo 13"/>
          <p:cNvSpPr/>
          <p:nvPr/>
        </p:nvSpPr>
        <p:spPr>
          <a:xfrm>
            <a:off x="432619" y="1746198"/>
            <a:ext cx="4744010" cy="4087932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8000" lvl="1" indent="-2880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Fluxo Macro e Fluxo Detalhado 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do processo em formato .</a:t>
            </a:r>
            <a:r>
              <a:rPr lang="pt-BR" sz="1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bpm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(</a:t>
            </a:r>
            <a:r>
              <a:rPr lang="pt-BR" sz="1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Bizagi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);</a:t>
            </a:r>
          </a:p>
          <a:p>
            <a:pPr marL="288000" lvl="1" indent="-2880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Documento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contendo e diretrizes, objetivo, escopo, conceitos, definições e descrições do Fluxo Macro e Fluxo Detalhado do processo (O que fazer? / Quem fazer?);</a:t>
            </a:r>
          </a:p>
          <a:p>
            <a:pPr marL="288000" lvl="1" indent="-2880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Matriz de Responsabilidades 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(RACI);</a:t>
            </a:r>
          </a:p>
          <a:p>
            <a:pPr marL="288000" lvl="1" indent="-2880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Indicadores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(mínimo 1 indicador);</a:t>
            </a:r>
          </a:p>
          <a:p>
            <a:pPr marL="288000" lvl="1" indent="-2880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Apresentação de treinamento 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do processo;</a:t>
            </a:r>
          </a:p>
          <a:p>
            <a:pPr marL="288000" lvl="1" indent="-2880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Publicação da documentação 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no </a:t>
            </a:r>
            <a:r>
              <a:rPr lang="pt-BR" sz="1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Confluence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</p:txBody>
      </p:sp>
      <p:sp>
        <p:nvSpPr>
          <p:cNvPr id="15" name="Retângulo de cantos arredondados 14"/>
          <p:cNvSpPr/>
          <p:nvPr/>
        </p:nvSpPr>
        <p:spPr>
          <a:xfrm>
            <a:off x="372984" y="1163292"/>
            <a:ext cx="4881596" cy="624278"/>
          </a:xfrm>
          <a:prstGeom prst="roundRec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Entregáveis</a:t>
            </a:r>
            <a:endParaRPr lang="pt-BR" sz="1600" i="1" dirty="0"/>
          </a:p>
        </p:txBody>
      </p:sp>
      <p:pic>
        <p:nvPicPr>
          <p:cNvPr id="18" name="Imagem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3683" y="1090675"/>
            <a:ext cx="2885549" cy="168753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4932" y="2989362"/>
            <a:ext cx="1997395" cy="15934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4727" y="4793945"/>
            <a:ext cx="3393863" cy="174497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351792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Mapeamento dos Processos de TI para Auditoria</a:t>
            </a: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8" name="Espaço Reservado para Número de Slide 10"/>
          <p:cNvSpPr>
            <a:spLocks noGrp="1"/>
          </p:cNvSpPr>
          <p:nvPr>
            <p:ph type="sldNum" sz="quarter" idx="12"/>
          </p:nvPr>
        </p:nvSpPr>
        <p:spPr>
          <a:xfrm>
            <a:off x="7250615" y="6356353"/>
            <a:ext cx="2360666" cy="365125"/>
          </a:xfrm>
        </p:spPr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10" name="Retângulo de cantos arredondados 6"/>
          <p:cNvSpPr/>
          <p:nvPr/>
        </p:nvSpPr>
        <p:spPr>
          <a:xfrm>
            <a:off x="4372093" y="1157735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Objetivo, Escopo e Entregáveis</a:t>
            </a:r>
          </a:p>
        </p:txBody>
      </p:sp>
      <p:sp>
        <p:nvSpPr>
          <p:cNvPr id="11" name="Retângulo de cantos arredondados 8"/>
          <p:cNvSpPr/>
          <p:nvPr/>
        </p:nvSpPr>
        <p:spPr>
          <a:xfrm>
            <a:off x="4372093" y="2190852"/>
            <a:ext cx="6120000" cy="720000"/>
          </a:xfrm>
          <a:prstGeom prst="roundRect">
            <a:avLst>
              <a:gd name="adj" fmla="val 21097"/>
            </a:avLst>
          </a:prstGeom>
          <a:solidFill>
            <a:srgbClr val="F68E1E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Equipe Envolvida</a:t>
            </a:r>
          </a:p>
        </p:txBody>
      </p:sp>
      <p:sp>
        <p:nvSpPr>
          <p:cNvPr id="13" name="Retângulo de cantos arredondados 9"/>
          <p:cNvSpPr/>
          <p:nvPr/>
        </p:nvSpPr>
        <p:spPr>
          <a:xfrm>
            <a:off x="4372093" y="3223969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Planejamento / Cronograma</a:t>
            </a:r>
          </a:p>
        </p:txBody>
      </p:sp>
      <p:pic>
        <p:nvPicPr>
          <p:cNvPr id="14" name="Picture 2" descr="http://intranet.reynosa.gob.mx/directorio/images/agenda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9525" y="2637852"/>
            <a:ext cx="2601578" cy="2339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/>
          <p:cNvSpPr/>
          <p:nvPr/>
        </p:nvSpPr>
        <p:spPr>
          <a:xfrm>
            <a:off x="412125" y="2530093"/>
            <a:ext cx="147065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Agenda</a:t>
            </a:r>
            <a:endParaRPr lang="pt-BR" sz="3200" dirty="0"/>
          </a:p>
        </p:txBody>
      </p:sp>
      <p:sp>
        <p:nvSpPr>
          <p:cNvPr id="15" name="Retângulo de cantos arredondados 9"/>
          <p:cNvSpPr/>
          <p:nvPr/>
        </p:nvSpPr>
        <p:spPr>
          <a:xfrm>
            <a:off x="4372093" y="4257086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Premissas e Riscos</a:t>
            </a:r>
          </a:p>
        </p:txBody>
      </p:sp>
      <p:sp>
        <p:nvSpPr>
          <p:cNvPr id="16" name="Retângulo de cantos arredondados 9"/>
          <p:cNvSpPr/>
          <p:nvPr/>
        </p:nvSpPr>
        <p:spPr>
          <a:xfrm>
            <a:off x="4372093" y="5290202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Próximos Passos</a:t>
            </a:r>
          </a:p>
        </p:txBody>
      </p:sp>
    </p:spTree>
    <p:extLst>
      <p:ext uri="{BB962C8B-B14F-4D97-AF65-F5344CB8AC3E}">
        <p14:creationId xmlns:p14="http://schemas.microsoft.com/office/powerpoint/2010/main" val="18742767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0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Mapeamento dos Processos de TI para Auditoria</a:t>
            </a:r>
          </a:p>
        </p:txBody>
      </p:sp>
      <p:sp>
        <p:nvSpPr>
          <p:cNvPr id="14" name="Retângulo 13"/>
          <p:cNvSpPr/>
          <p:nvPr/>
        </p:nvSpPr>
        <p:spPr>
          <a:xfrm>
            <a:off x="1102321" y="1961848"/>
            <a:ext cx="3031797" cy="40879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8000" lvl="1" indent="-2880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Execução: </a:t>
            </a: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Tânia Ferro</a:t>
            </a:r>
          </a:p>
          <a:p>
            <a:pPr marL="288000" lvl="1" indent="-2880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Validação e QA: </a:t>
            </a: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Jorge Maluf</a:t>
            </a:r>
          </a:p>
          <a:p>
            <a:pPr marL="288000" lvl="1" indent="-2880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Publicação: </a:t>
            </a: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André Santos</a:t>
            </a:r>
          </a:p>
        </p:txBody>
      </p:sp>
      <p:pic>
        <p:nvPicPr>
          <p:cNvPr id="18" name="Imagem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pic>
        <p:nvPicPr>
          <p:cNvPr id="16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0045" y="1034990"/>
            <a:ext cx="1800000" cy="642494"/>
          </a:xfrm>
          <a:prstGeom prst="rect">
            <a:avLst/>
          </a:prstGeom>
        </p:spPr>
      </p:pic>
      <p:pic>
        <p:nvPicPr>
          <p:cNvPr id="17" name="Imagem 16"/>
          <p:cNvPicPr>
            <a:picLocks noChangeAspect="1"/>
          </p:cNvPicPr>
          <p:nvPr/>
        </p:nvPicPr>
        <p:blipFill rotWithShape="1">
          <a:blip r:embed="rId5"/>
          <a:srcRect b="20107"/>
          <a:stretch/>
        </p:blipFill>
        <p:spPr>
          <a:xfrm>
            <a:off x="1718220" y="976372"/>
            <a:ext cx="1800000" cy="75973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19" name="Retângulo 18"/>
          <p:cNvSpPr/>
          <p:nvPr/>
        </p:nvSpPr>
        <p:spPr>
          <a:xfrm>
            <a:off x="5994146" y="1961848"/>
            <a:ext cx="3031797" cy="40879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8000" lvl="1" indent="-2880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Sponsors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: </a:t>
            </a: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Rodrigo </a:t>
            </a:r>
            <a:r>
              <a:rPr lang="pt-BR" sz="16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Rothstein</a:t>
            </a: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e Adriano Barbosa</a:t>
            </a:r>
          </a:p>
          <a:p>
            <a:pPr marL="288000" lvl="1" indent="-2880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Responsável (Facilitador): </a:t>
            </a: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Marcela Dias</a:t>
            </a:r>
          </a:p>
          <a:p>
            <a:pPr marL="288000" lvl="1" indent="-2880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Envolvidos: </a:t>
            </a:r>
          </a:p>
          <a:p>
            <a:pPr marL="745200" lvl="2" indent="-288000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Nei </a:t>
            </a:r>
            <a:r>
              <a:rPr lang="pt-BR" sz="16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Henckes</a:t>
            </a:r>
            <a:endParaRPr lang="pt-BR" sz="1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745200" lvl="2" indent="-288000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Cláudio Cunha</a:t>
            </a:r>
          </a:p>
          <a:p>
            <a:pPr marL="745200" lvl="2" indent="-288000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Daniel Borges</a:t>
            </a:r>
          </a:p>
          <a:p>
            <a:pPr marL="745200" lvl="2" indent="-288000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Leonardo </a:t>
            </a:r>
            <a:r>
              <a:rPr lang="pt-BR" sz="16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Cestarolli</a:t>
            </a:r>
            <a:endParaRPr lang="pt-BR" sz="1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745200" lvl="2" indent="-288000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Guilherme Affonso</a:t>
            </a:r>
          </a:p>
          <a:p>
            <a:pPr marL="745200" lvl="2" indent="-288000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Daniel </a:t>
            </a:r>
            <a:r>
              <a:rPr lang="pt-BR" sz="16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Mizobuchi</a:t>
            </a:r>
            <a:endParaRPr lang="pt-BR" sz="1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745200" lvl="2" indent="-288000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Daniel Braga</a:t>
            </a:r>
          </a:p>
          <a:p>
            <a:pPr marL="745200" lvl="2" indent="-288000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Gerentes de Projeto</a:t>
            </a:r>
          </a:p>
          <a:p>
            <a:pPr marL="745200" lvl="2" indent="-2880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pt-BR" sz="1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13432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Mapeamento dos Processos de TI para Auditoria</a:t>
            </a: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8" name="Espaço Reservado para Número de Slide 10"/>
          <p:cNvSpPr>
            <a:spLocks noGrp="1"/>
          </p:cNvSpPr>
          <p:nvPr>
            <p:ph type="sldNum" sz="quarter" idx="12"/>
          </p:nvPr>
        </p:nvSpPr>
        <p:spPr>
          <a:xfrm>
            <a:off x="7250615" y="6356353"/>
            <a:ext cx="2360666" cy="365125"/>
          </a:xfrm>
        </p:spPr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10" name="Retângulo de cantos arredondados 6"/>
          <p:cNvSpPr/>
          <p:nvPr/>
        </p:nvSpPr>
        <p:spPr>
          <a:xfrm>
            <a:off x="4372093" y="1157735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Objetivo, Escopo e Entregáveis</a:t>
            </a:r>
          </a:p>
        </p:txBody>
      </p:sp>
      <p:sp>
        <p:nvSpPr>
          <p:cNvPr id="11" name="Retângulo de cantos arredondados 8"/>
          <p:cNvSpPr/>
          <p:nvPr/>
        </p:nvSpPr>
        <p:spPr>
          <a:xfrm>
            <a:off x="4372093" y="2190852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Equipe Envolvida</a:t>
            </a:r>
          </a:p>
        </p:txBody>
      </p:sp>
      <p:sp>
        <p:nvSpPr>
          <p:cNvPr id="13" name="Retângulo de cantos arredondados 9"/>
          <p:cNvSpPr/>
          <p:nvPr/>
        </p:nvSpPr>
        <p:spPr>
          <a:xfrm>
            <a:off x="4372093" y="3223969"/>
            <a:ext cx="6120000" cy="720000"/>
          </a:xfrm>
          <a:prstGeom prst="roundRect">
            <a:avLst>
              <a:gd name="adj" fmla="val 21097"/>
            </a:avLst>
          </a:prstGeom>
          <a:solidFill>
            <a:srgbClr val="F68E1E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Planejamento / Cronograma</a:t>
            </a:r>
          </a:p>
        </p:txBody>
      </p:sp>
      <p:pic>
        <p:nvPicPr>
          <p:cNvPr id="14" name="Picture 2" descr="http://intranet.reynosa.gob.mx/directorio/images/agenda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9525" y="2637852"/>
            <a:ext cx="2601578" cy="2339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/>
          <p:cNvSpPr/>
          <p:nvPr/>
        </p:nvSpPr>
        <p:spPr>
          <a:xfrm>
            <a:off x="412125" y="2530093"/>
            <a:ext cx="147065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Agenda</a:t>
            </a:r>
            <a:endParaRPr lang="pt-BR" sz="3200" dirty="0"/>
          </a:p>
        </p:txBody>
      </p:sp>
      <p:sp>
        <p:nvSpPr>
          <p:cNvPr id="15" name="Retângulo de cantos arredondados 9"/>
          <p:cNvSpPr/>
          <p:nvPr/>
        </p:nvSpPr>
        <p:spPr>
          <a:xfrm>
            <a:off x="4372093" y="4257086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Premissas e Riscos</a:t>
            </a:r>
          </a:p>
        </p:txBody>
      </p:sp>
      <p:sp>
        <p:nvSpPr>
          <p:cNvPr id="16" name="Retângulo de cantos arredondados 9"/>
          <p:cNvSpPr/>
          <p:nvPr/>
        </p:nvSpPr>
        <p:spPr>
          <a:xfrm>
            <a:off x="4372093" y="5290202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Próximos Passos</a:t>
            </a:r>
          </a:p>
        </p:txBody>
      </p:sp>
    </p:spTree>
    <p:extLst>
      <p:ext uri="{BB962C8B-B14F-4D97-AF65-F5344CB8AC3E}">
        <p14:creationId xmlns:p14="http://schemas.microsoft.com/office/powerpoint/2010/main" val="7357786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23" name="Retângulo 22"/>
          <p:cNvSpPr/>
          <p:nvPr/>
        </p:nvSpPr>
        <p:spPr>
          <a:xfrm>
            <a:off x="0" y="1100671"/>
            <a:ext cx="10025854" cy="5248614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spcBef>
                <a:spcPts val="200"/>
              </a:spcBef>
              <a:spcAft>
                <a:spcPts val="200"/>
              </a:spcAft>
            </a:pPr>
            <a:r>
              <a:rPr lang="pt-BR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CRONOGRAMA</a:t>
            </a:r>
            <a:endParaRPr lang="pt-BR" sz="2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3" name="Espaço Reservado para Número de Slide 3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34" name="Imagem 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graphicFrame>
        <p:nvGraphicFramePr>
          <p:cNvPr id="8" name="Tabe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6706630"/>
              </p:ext>
            </p:extLst>
          </p:nvPr>
        </p:nvGraphicFramePr>
        <p:xfrm>
          <a:off x="163780" y="1699362"/>
          <a:ext cx="9594368" cy="44907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685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3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3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3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3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53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53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53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8531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8531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8531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85312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85312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Out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pt-BR" sz="1400" dirty="0" err="1"/>
                        <a:t>Nov</a:t>
                      </a:r>
                      <a:endParaRPr lang="pt-BR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Dez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3 - 7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10-14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17 - 21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24 - 28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1 - 4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7 - 11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14 - 18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21 - 25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28 - 30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1 - 2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5 - 9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12 - 16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19 – 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200" dirty="0"/>
                    </a:p>
                    <a:p>
                      <a:pPr algn="ctr"/>
                      <a:endParaRPr lang="pt-BR" sz="1200" dirty="0"/>
                    </a:p>
                    <a:p>
                      <a:pPr algn="ctr"/>
                      <a:endParaRPr lang="pt-BR" sz="1200" dirty="0"/>
                    </a:p>
                    <a:p>
                      <a:pPr algn="ctr"/>
                      <a:endParaRPr lang="pt-BR" sz="1200" dirty="0"/>
                    </a:p>
                    <a:p>
                      <a:pPr algn="ctr"/>
                      <a:endParaRPr lang="pt-BR" sz="1200" dirty="0"/>
                    </a:p>
                    <a:p>
                      <a:pPr algn="ctr"/>
                      <a:endParaRPr lang="pt-BR" sz="1200" dirty="0"/>
                    </a:p>
                    <a:p>
                      <a:pPr algn="ctr"/>
                      <a:endParaRPr lang="pt-BR" sz="1200" dirty="0"/>
                    </a:p>
                    <a:p>
                      <a:pPr algn="ctr"/>
                      <a:endParaRPr lang="pt-BR" sz="1200" dirty="0"/>
                    </a:p>
                    <a:p>
                      <a:pPr algn="ctr"/>
                      <a:endParaRPr lang="pt-BR" sz="1200" dirty="0"/>
                    </a:p>
                    <a:p>
                      <a:pPr algn="ctr"/>
                      <a:endParaRPr lang="pt-BR" sz="1200" dirty="0"/>
                    </a:p>
                    <a:p>
                      <a:pPr algn="ctr"/>
                      <a:endParaRPr lang="pt-BR" sz="1200" dirty="0"/>
                    </a:p>
                    <a:p>
                      <a:pPr algn="ctr"/>
                      <a:endParaRPr lang="pt-BR" sz="1200" dirty="0"/>
                    </a:p>
                    <a:p>
                      <a:pPr algn="ctr"/>
                      <a:endParaRPr lang="pt-BR" sz="1200" dirty="0"/>
                    </a:p>
                    <a:p>
                      <a:pPr algn="ctr"/>
                      <a:endParaRPr lang="pt-BR" sz="1200" dirty="0"/>
                    </a:p>
                    <a:p>
                      <a:pPr algn="ctr"/>
                      <a:endParaRPr lang="pt-BR" sz="1200" dirty="0"/>
                    </a:p>
                    <a:p>
                      <a:pPr algn="ctr"/>
                      <a:endParaRPr lang="pt-BR" sz="1200" dirty="0"/>
                    </a:p>
                    <a:p>
                      <a:pPr algn="ctr"/>
                      <a:endParaRPr lang="pt-BR" sz="1200" dirty="0"/>
                    </a:p>
                    <a:p>
                      <a:pPr algn="ctr"/>
                      <a:endParaRPr lang="pt-BR" sz="1200" dirty="0"/>
                    </a:p>
                    <a:p>
                      <a:pPr algn="ctr"/>
                      <a:endParaRPr lang="pt-BR" sz="1200" dirty="0"/>
                    </a:p>
                    <a:p>
                      <a:pPr algn="ctr"/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Rectangle 30"/>
          <p:cNvSpPr>
            <a:spLocks noChangeArrowheads="1"/>
          </p:cNvSpPr>
          <p:nvPr/>
        </p:nvSpPr>
        <p:spPr bwMode="auto">
          <a:xfrm>
            <a:off x="125461" y="2393214"/>
            <a:ext cx="83406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1" i="0" u="none" strike="noStrike" kern="0" cap="none" spc="0" normalizeH="0" baseline="0" noProof="0" dirty="0" err="1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Cambria" panose="02040503050406030204" pitchFamily="18" charset="0"/>
              </a:rPr>
              <a:t>Kick</a:t>
            </a:r>
            <a:r>
              <a:rPr kumimoji="0" lang="pt-BR" sz="1200" b="1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Cambria" panose="02040503050406030204" pitchFamily="18" charset="0"/>
              </a:rPr>
              <a:t>-Off</a:t>
            </a:r>
          </a:p>
        </p:txBody>
      </p:sp>
      <p:sp>
        <p:nvSpPr>
          <p:cNvPr id="12" name="Isosceles Triangle 41"/>
          <p:cNvSpPr/>
          <p:nvPr/>
        </p:nvSpPr>
        <p:spPr>
          <a:xfrm>
            <a:off x="213833" y="2729202"/>
            <a:ext cx="169671" cy="454936"/>
          </a:xfrm>
          <a:prstGeom prst="flowChartCollate">
            <a:avLst/>
          </a:prstGeom>
          <a:solidFill>
            <a:srgbClr val="C00000"/>
          </a:solidFill>
          <a:ln w="9525" cap="flat" cmpd="sng" algn="ctr">
            <a:solidFill>
              <a:srgbClr val="FFFFFF"/>
            </a:solidFill>
            <a:prstDash val="solid"/>
          </a:ln>
          <a:effectLst/>
        </p:spPr>
        <p:txBody>
          <a:bodyPr anchor="ctr"/>
          <a:lstStyle>
            <a:defPPr>
              <a:defRPr lang="pt-B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1F497D">
                  <a:lumMod val="50000"/>
                </a:srgbClr>
              </a:solidFill>
              <a:effectLst/>
              <a:uLnTx/>
              <a:uFillTx/>
              <a:latin typeface="Helvetica"/>
              <a:ea typeface="+mn-ea"/>
              <a:cs typeface="+mn-cs"/>
              <a:sym typeface="Gill Sans" charset="0"/>
            </a:endParaRPr>
          </a:p>
        </p:txBody>
      </p:sp>
      <p:sp>
        <p:nvSpPr>
          <p:cNvPr id="13" name="Rectangle 107"/>
          <p:cNvSpPr>
            <a:spLocks/>
          </p:cNvSpPr>
          <p:nvPr/>
        </p:nvSpPr>
        <p:spPr bwMode="auto">
          <a:xfrm>
            <a:off x="304102" y="3860061"/>
            <a:ext cx="8788606" cy="288000"/>
          </a:xfrm>
          <a:prstGeom prst="homePlat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  <a:scene3d>
            <a:camera prst="orthographicFront"/>
            <a:lightRig rig="threePt" dir="t"/>
          </a:scene3d>
          <a:sp3d>
            <a:bevelT/>
          </a:sp3d>
          <a:extLst/>
        </p:spPr>
        <p:txBody>
          <a:bodyPr lIns="0" tIns="0" rIns="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4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Mapeamento dos processos - 54</a:t>
            </a:r>
            <a:r>
              <a:rPr kumimoji="0" lang="pt-BR" sz="1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</a:rPr>
              <a:t> dias</a:t>
            </a:r>
          </a:p>
        </p:txBody>
      </p:sp>
      <p:sp>
        <p:nvSpPr>
          <p:cNvPr id="15" name="Rectangle 107"/>
          <p:cNvSpPr>
            <a:spLocks/>
          </p:cNvSpPr>
          <p:nvPr/>
        </p:nvSpPr>
        <p:spPr bwMode="auto">
          <a:xfrm>
            <a:off x="842567" y="4429419"/>
            <a:ext cx="8250141" cy="288000"/>
          </a:xfrm>
          <a:prstGeom prst="homePlat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  <a:scene3d>
            <a:camera prst="orthographicFront"/>
            <a:lightRig rig="threePt" dir="t"/>
          </a:scene3d>
          <a:sp3d>
            <a:bevelT/>
          </a:sp3d>
          <a:extLst/>
        </p:spPr>
        <p:txBody>
          <a:bodyPr lIns="0" tIns="0" rIns="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4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Validação dos processos mapeados - 49</a:t>
            </a:r>
            <a:r>
              <a:rPr kumimoji="0" lang="pt-BR" sz="1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</a:rPr>
              <a:t> dias</a:t>
            </a:r>
          </a:p>
        </p:txBody>
      </p:sp>
      <p:sp>
        <p:nvSpPr>
          <p:cNvPr id="16" name="TextBox 8"/>
          <p:cNvSpPr txBox="1"/>
          <p:nvPr/>
        </p:nvSpPr>
        <p:spPr>
          <a:xfrm>
            <a:off x="5722831" y="5915511"/>
            <a:ext cx="54610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cs typeface="Gotham Rounded Book"/>
              </a:rPr>
              <a:t>Apresentação</a:t>
            </a:r>
            <a:r>
              <a:rPr lang="en-US" sz="1400" dirty="0">
                <a:cs typeface="Gotham Rounded Book"/>
              </a:rPr>
              <a:t> final e </a:t>
            </a:r>
            <a:r>
              <a:rPr lang="en-US" sz="1400" dirty="0" err="1">
                <a:cs typeface="Gotham Rounded Book"/>
              </a:rPr>
              <a:t>termo</a:t>
            </a:r>
            <a:r>
              <a:rPr lang="en-US" sz="1400" dirty="0">
                <a:cs typeface="Gotham Rounded Book"/>
              </a:rPr>
              <a:t> de </a:t>
            </a:r>
            <a:r>
              <a:rPr lang="en-US" sz="1400" dirty="0" err="1">
                <a:cs typeface="Gotham Rounded Book"/>
              </a:rPr>
              <a:t>encerramento</a:t>
            </a:r>
            <a:endParaRPr lang="en-US" sz="1400" dirty="0">
              <a:cs typeface="Gotham Rounded Book"/>
            </a:endParaRPr>
          </a:p>
        </p:txBody>
      </p:sp>
      <p:sp>
        <p:nvSpPr>
          <p:cNvPr id="17" name="Octógono 16"/>
          <p:cNvSpPr/>
          <p:nvPr/>
        </p:nvSpPr>
        <p:spPr>
          <a:xfrm>
            <a:off x="9270129" y="5898525"/>
            <a:ext cx="411899" cy="321972"/>
          </a:xfrm>
          <a:prstGeom prst="octagon">
            <a:avLst/>
          </a:prstGeom>
          <a:solidFill>
            <a:schemeClr val="accent4"/>
          </a:solidFill>
          <a:ln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9" name="Rectangle 107"/>
          <p:cNvSpPr>
            <a:spLocks/>
          </p:cNvSpPr>
          <p:nvPr/>
        </p:nvSpPr>
        <p:spPr bwMode="auto">
          <a:xfrm>
            <a:off x="1470366" y="4996105"/>
            <a:ext cx="8250141" cy="288000"/>
          </a:xfrm>
          <a:prstGeom prst="homePlat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  <a:scene3d>
            <a:camera prst="orthographicFront"/>
            <a:lightRig rig="threePt" dir="t"/>
          </a:scene3d>
          <a:sp3d>
            <a:bevelT/>
          </a:sp3d>
          <a:extLst/>
        </p:spPr>
        <p:txBody>
          <a:bodyPr lIns="0" tIns="0" rIns="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4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Ajustes dos processos mapeados - 49</a:t>
            </a:r>
            <a:r>
              <a:rPr kumimoji="0" lang="pt-BR" sz="1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</a:rPr>
              <a:t> dias</a:t>
            </a:r>
          </a:p>
        </p:txBody>
      </p:sp>
      <p:sp>
        <p:nvSpPr>
          <p:cNvPr id="21" name="Rectangle 107"/>
          <p:cNvSpPr>
            <a:spLocks/>
          </p:cNvSpPr>
          <p:nvPr/>
        </p:nvSpPr>
        <p:spPr bwMode="auto">
          <a:xfrm>
            <a:off x="304103" y="3323728"/>
            <a:ext cx="8250141" cy="288000"/>
          </a:xfrm>
          <a:prstGeom prst="homePlat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  <a:scene3d>
            <a:camera prst="orthographicFront"/>
            <a:lightRig rig="threePt" dir="t"/>
          </a:scene3d>
          <a:sp3d>
            <a:bevelT/>
          </a:sp3d>
          <a:extLst/>
        </p:spPr>
        <p:txBody>
          <a:bodyPr lIns="0" tIns="0" rIns="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4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Entrevistas com os donos dos processos - 49</a:t>
            </a:r>
            <a:r>
              <a:rPr kumimoji="0" lang="pt-BR" sz="1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</a:rPr>
              <a:t> dias</a:t>
            </a:r>
          </a:p>
        </p:txBody>
      </p:sp>
      <p:sp>
        <p:nvSpPr>
          <p:cNvPr id="18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Mapeamento dos Processos de TI para Auditoria</a:t>
            </a:r>
          </a:p>
        </p:txBody>
      </p:sp>
      <p:sp>
        <p:nvSpPr>
          <p:cNvPr id="3" name="CaixaDeTexto 2"/>
          <p:cNvSpPr txBox="1"/>
          <p:nvPr/>
        </p:nvSpPr>
        <p:spPr>
          <a:xfrm rot="20550641">
            <a:off x="973678" y="3122505"/>
            <a:ext cx="7991349" cy="132343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8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EM ELABORAÇÃO</a:t>
            </a:r>
            <a:endParaRPr lang="pt-BR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336163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Mapeamento dos Processos de TI para Auditoria</a:t>
            </a: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8" name="Espaço Reservado para Número de Slide 10"/>
          <p:cNvSpPr>
            <a:spLocks noGrp="1"/>
          </p:cNvSpPr>
          <p:nvPr>
            <p:ph type="sldNum" sz="quarter" idx="12"/>
          </p:nvPr>
        </p:nvSpPr>
        <p:spPr>
          <a:xfrm>
            <a:off x="7250615" y="6356353"/>
            <a:ext cx="2360666" cy="365125"/>
          </a:xfrm>
        </p:spPr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10" name="Retângulo de cantos arredondados 6"/>
          <p:cNvSpPr/>
          <p:nvPr/>
        </p:nvSpPr>
        <p:spPr>
          <a:xfrm>
            <a:off x="4372093" y="1157735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Objetivo, Escopo e Entregáveis</a:t>
            </a:r>
          </a:p>
        </p:txBody>
      </p:sp>
      <p:sp>
        <p:nvSpPr>
          <p:cNvPr id="11" name="Retângulo de cantos arredondados 8"/>
          <p:cNvSpPr/>
          <p:nvPr/>
        </p:nvSpPr>
        <p:spPr>
          <a:xfrm>
            <a:off x="4372093" y="2190852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Equipe Envolvida</a:t>
            </a:r>
          </a:p>
        </p:txBody>
      </p:sp>
      <p:sp>
        <p:nvSpPr>
          <p:cNvPr id="13" name="Retângulo de cantos arredondados 9"/>
          <p:cNvSpPr/>
          <p:nvPr/>
        </p:nvSpPr>
        <p:spPr>
          <a:xfrm>
            <a:off x="4372093" y="3223969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Planejamento / Cronograma</a:t>
            </a:r>
          </a:p>
        </p:txBody>
      </p:sp>
      <p:pic>
        <p:nvPicPr>
          <p:cNvPr id="14" name="Picture 2" descr="http://intranet.reynosa.gob.mx/directorio/images/agenda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9525" y="2637852"/>
            <a:ext cx="2601578" cy="2339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/>
          <p:cNvSpPr/>
          <p:nvPr/>
        </p:nvSpPr>
        <p:spPr>
          <a:xfrm>
            <a:off x="412125" y="2530093"/>
            <a:ext cx="147065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Agenda</a:t>
            </a:r>
            <a:endParaRPr lang="pt-BR" sz="3200" dirty="0"/>
          </a:p>
        </p:txBody>
      </p:sp>
      <p:sp>
        <p:nvSpPr>
          <p:cNvPr id="15" name="Retângulo de cantos arredondados 9"/>
          <p:cNvSpPr/>
          <p:nvPr/>
        </p:nvSpPr>
        <p:spPr>
          <a:xfrm>
            <a:off x="4372093" y="4257086"/>
            <a:ext cx="6120000" cy="720000"/>
          </a:xfrm>
          <a:prstGeom prst="roundRect">
            <a:avLst>
              <a:gd name="adj" fmla="val 21097"/>
            </a:avLst>
          </a:prstGeom>
          <a:solidFill>
            <a:srgbClr val="F68E1E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Premissas e Riscos</a:t>
            </a:r>
          </a:p>
        </p:txBody>
      </p:sp>
      <p:sp>
        <p:nvSpPr>
          <p:cNvPr id="16" name="Retângulo de cantos arredondados 9"/>
          <p:cNvSpPr/>
          <p:nvPr/>
        </p:nvSpPr>
        <p:spPr>
          <a:xfrm>
            <a:off x="4372093" y="5290202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Próximos Passos</a:t>
            </a:r>
          </a:p>
        </p:txBody>
      </p:sp>
    </p:spTree>
    <p:extLst>
      <p:ext uri="{BB962C8B-B14F-4D97-AF65-F5344CB8AC3E}">
        <p14:creationId xmlns:p14="http://schemas.microsoft.com/office/powerpoint/2010/main" val="2367061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0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Mapeamento dos Processos de TI para Auditoria</a:t>
            </a:r>
          </a:p>
        </p:txBody>
      </p:sp>
      <p:sp>
        <p:nvSpPr>
          <p:cNvPr id="14" name="Retângulo 13"/>
          <p:cNvSpPr/>
          <p:nvPr/>
        </p:nvSpPr>
        <p:spPr>
          <a:xfrm>
            <a:off x="432618" y="1746198"/>
            <a:ext cx="4626745" cy="4087932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8000" lvl="1" indent="-2880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Cumprimento rigoroso das agendas 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com a consultoria.</a:t>
            </a:r>
          </a:p>
          <a:p>
            <a:pPr marL="288000" lvl="1" indent="-2880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Foco em processos simples, exequíveis e efetivos 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para atendimento aos </a:t>
            </a:r>
            <a:r>
              <a:rPr lang="pt-BR" sz="1600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gaps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e à realidade operacional da </a:t>
            </a:r>
            <a:r>
              <a:rPr lang="pt-BR" sz="1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Smiles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  <a:p>
            <a:pPr marL="288000" lvl="1" indent="-2880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b="1" i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Empowerment</a:t>
            </a:r>
            <a:r>
              <a:rPr lang="pt-BR" sz="1600" b="1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para o Facilitador 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auxiliar na mitigação de eventuais barreiras para a realização do trabalho.</a:t>
            </a:r>
          </a:p>
          <a:p>
            <a:pPr marL="288000" lvl="1" indent="-2880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Atitude colaborativa de todos 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os envolvidos, em razão dos prazos agressivos.</a:t>
            </a:r>
          </a:p>
          <a:p>
            <a:pPr marL="288000" lvl="1" indent="-2880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pt-BR" sz="1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5" name="Retângulo de cantos arredondados 14"/>
          <p:cNvSpPr/>
          <p:nvPr/>
        </p:nvSpPr>
        <p:spPr>
          <a:xfrm>
            <a:off x="372983" y="1163292"/>
            <a:ext cx="4688807" cy="624278"/>
          </a:xfrm>
          <a:prstGeom prst="roundRec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Premissas</a:t>
            </a:r>
          </a:p>
        </p:txBody>
      </p:sp>
      <p:pic>
        <p:nvPicPr>
          <p:cNvPr id="18" name="Imagem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4694" y="2241018"/>
            <a:ext cx="4851160" cy="2624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3417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Mapeamento dos Processos de TI para Auditoria</a:t>
            </a: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8" name="Espaço Reservado para Número de Slide 10"/>
          <p:cNvSpPr>
            <a:spLocks noGrp="1"/>
          </p:cNvSpPr>
          <p:nvPr>
            <p:ph type="sldNum" sz="quarter" idx="12"/>
          </p:nvPr>
        </p:nvSpPr>
        <p:spPr>
          <a:xfrm>
            <a:off x="7250615" y="6356353"/>
            <a:ext cx="2360666" cy="365125"/>
          </a:xfrm>
        </p:spPr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10" name="Retângulo de cantos arredondados 6"/>
          <p:cNvSpPr/>
          <p:nvPr/>
        </p:nvSpPr>
        <p:spPr>
          <a:xfrm>
            <a:off x="4372093" y="1157735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Objetivo, Escopo e Entregáveis</a:t>
            </a:r>
          </a:p>
        </p:txBody>
      </p:sp>
      <p:sp>
        <p:nvSpPr>
          <p:cNvPr id="11" name="Retângulo de cantos arredondados 8"/>
          <p:cNvSpPr/>
          <p:nvPr/>
        </p:nvSpPr>
        <p:spPr>
          <a:xfrm>
            <a:off x="4372093" y="2190852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Equipe Envolvida</a:t>
            </a:r>
          </a:p>
        </p:txBody>
      </p:sp>
      <p:sp>
        <p:nvSpPr>
          <p:cNvPr id="13" name="Retângulo de cantos arredondados 9"/>
          <p:cNvSpPr/>
          <p:nvPr/>
        </p:nvSpPr>
        <p:spPr>
          <a:xfrm>
            <a:off x="4372093" y="3223969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Planejamento / Cronograma</a:t>
            </a:r>
          </a:p>
        </p:txBody>
      </p:sp>
      <p:pic>
        <p:nvPicPr>
          <p:cNvPr id="14" name="Picture 2" descr="http://intranet.reynosa.gob.mx/directorio/images/agenda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9525" y="2637852"/>
            <a:ext cx="2601578" cy="2339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/>
          <p:cNvSpPr/>
          <p:nvPr/>
        </p:nvSpPr>
        <p:spPr>
          <a:xfrm>
            <a:off x="412125" y="2530093"/>
            <a:ext cx="147065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Agenda</a:t>
            </a:r>
            <a:endParaRPr lang="pt-BR" sz="3200" dirty="0"/>
          </a:p>
        </p:txBody>
      </p:sp>
      <p:sp>
        <p:nvSpPr>
          <p:cNvPr id="15" name="Retângulo de cantos arredondados 9"/>
          <p:cNvSpPr/>
          <p:nvPr/>
        </p:nvSpPr>
        <p:spPr>
          <a:xfrm>
            <a:off x="4372093" y="4257086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Premissas e Riscos</a:t>
            </a:r>
          </a:p>
        </p:txBody>
      </p:sp>
      <p:sp>
        <p:nvSpPr>
          <p:cNvPr id="16" name="Retângulo de cantos arredondados 9"/>
          <p:cNvSpPr/>
          <p:nvPr/>
        </p:nvSpPr>
        <p:spPr>
          <a:xfrm>
            <a:off x="4372093" y="5290202"/>
            <a:ext cx="6120000" cy="720000"/>
          </a:xfrm>
          <a:prstGeom prst="roundRect">
            <a:avLst>
              <a:gd name="adj" fmla="val 21097"/>
            </a:avLst>
          </a:prstGeom>
          <a:solidFill>
            <a:srgbClr val="F68E1E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Próximos Passos</a:t>
            </a:r>
          </a:p>
        </p:txBody>
      </p:sp>
    </p:spTree>
    <p:extLst>
      <p:ext uri="{BB962C8B-B14F-4D97-AF65-F5344CB8AC3E}">
        <p14:creationId xmlns:p14="http://schemas.microsoft.com/office/powerpoint/2010/main" val="27846418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graphicFrame>
        <p:nvGraphicFramePr>
          <p:cNvPr id="12" name="Diagrama 11"/>
          <p:cNvGraphicFramePr/>
          <p:nvPr>
            <p:extLst>
              <p:ext uri="{D42A27DB-BD31-4B8C-83A1-F6EECF244321}">
                <p14:modId xmlns:p14="http://schemas.microsoft.com/office/powerpoint/2010/main" val="1956339797"/>
              </p:ext>
            </p:extLst>
          </p:nvPr>
        </p:nvGraphicFramePr>
        <p:xfrm>
          <a:off x="19212" y="2288333"/>
          <a:ext cx="9980137" cy="23593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9" name="Espaço Reservado para Número de Slide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29" name="Imagem 2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10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Mapeamento dos Processos de TI para Auditoria</a:t>
            </a:r>
          </a:p>
        </p:txBody>
      </p:sp>
      <p:sp>
        <p:nvSpPr>
          <p:cNvPr id="3" name="Retângulo 2"/>
          <p:cNvSpPr/>
          <p:nvPr/>
        </p:nvSpPr>
        <p:spPr>
          <a:xfrm>
            <a:off x="329238" y="1168264"/>
            <a:ext cx="5175135" cy="46525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Bef>
                <a:spcPts val="200"/>
              </a:spcBef>
              <a:spcAft>
                <a:spcPts val="200"/>
              </a:spcAft>
            </a:pPr>
            <a:r>
              <a:rPr lang="pt-BR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PRÓXIMOS PASSOS</a:t>
            </a: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Início do Mapeamento dos seguintes processos:</a:t>
            </a: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/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Envolvidos:</a:t>
            </a:r>
          </a:p>
          <a:p>
            <a:pPr marL="342900" indent="-342900" algn="just">
              <a:buFontTx/>
              <a:buChar char="-"/>
            </a:pP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Daniel Borges</a:t>
            </a:r>
          </a:p>
          <a:p>
            <a:pPr marL="342900" indent="-342900" algn="just">
              <a:buFontTx/>
              <a:buChar char="-"/>
            </a:pP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Guilherme Affonso</a:t>
            </a:r>
          </a:p>
          <a:p>
            <a:pPr marL="342900" indent="-342900" algn="just">
              <a:buFontTx/>
              <a:buChar char="-"/>
            </a:pP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Leonardo </a:t>
            </a:r>
            <a:r>
              <a:rPr lang="pt-BR" sz="1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Cestarolli</a:t>
            </a:r>
            <a:endParaRPr lang="pt-BR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indent="-342900" algn="just">
              <a:buFontTx/>
              <a:buChar char="-"/>
            </a:pP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Daniel Braga</a:t>
            </a:r>
          </a:p>
        </p:txBody>
      </p:sp>
    </p:spTree>
    <p:extLst>
      <p:ext uri="{BB962C8B-B14F-4D97-AF65-F5344CB8AC3E}">
        <p14:creationId xmlns:p14="http://schemas.microsoft.com/office/powerpoint/2010/main" val="18371190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TM04033917[[fn=Berlim]]</Template>
  <TotalTime>3460</TotalTime>
  <Words>658</Words>
  <Application>Microsoft Office PowerPoint</Application>
  <PresentationFormat>Personalizar</PresentationFormat>
  <Paragraphs>192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20" baseType="lpstr">
      <vt:lpstr>Arial</vt:lpstr>
      <vt:lpstr>Calibri</vt:lpstr>
      <vt:lpstr>Cambria</vt:lpstr>
      <vt:lpstr>Gill Sans</vt:lpstr>
      <vt:lpstr>Gotham Rounded Book</vt:lpstr>
      <vt:lpstr>Helvetica</vt:lpstr>
      <vt:lpstr>Wingdings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cp:lastModifiedBy>Andre Santos</cp:lastModifiedBy>
  <cp:revision>14</cp:revision>
  <dcterms:created xsi:type="dcterms:W3CDTF">2014-01-24T21:35:00Z</dcterms:created>
  <dcterms:modified xsi:type="dcterms:W3CDTF">2016-09-30T19:40:36Z</dcterms:modified>
</cp:coreProperties>
</file>