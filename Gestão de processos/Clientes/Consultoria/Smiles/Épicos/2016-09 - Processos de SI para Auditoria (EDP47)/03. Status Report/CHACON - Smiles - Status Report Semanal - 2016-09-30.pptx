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5" r:id="rId4"/>
    <p:sldId id="264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30/09/2016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Rodrigo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Rothstein</a:t>
            </a:r>
            <a:endParaRPr lang="pt-BR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9460" y="3390641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26 </a:t>
            </a:r>
            <a:r>
              <a:rPr lang="pt-BR" dirty="0"/>
              <a:t>a </a:t>
            </a:r>
            <a:r>
              <a:rPr lang="pt-BR" dirty="0" smtClean="0"/>
              <a:t>30 </a:t>
            </a:r>
            <a:r>
              <a:rPr lang="pt-BR" dirty="0"/>
              <a:t>de </a:t>
            </a:r>
            <a:r>
              <a:rPr lang="pt-BR" dirty="0" smtClean="0"/>
              <a:t>Setembro </a:t>
            </a:r>
            <a:r>
              <a:rPr lang="pt-BR" dirty="0"/>
              <a:t>de 2016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Mapeado o processo de Gerenciamento de Incidentes de Segurança da Informação (objetivo, escopo, conceitos, diretrizes, relacionamento com outros processos, fluxo macro, fluxo detalhado, matriz raci e indicadores).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Atualizado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o processo de Gerenciamento de Incidentes de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TI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(objetivo, escopo, conceitos, diretrizes, relacionamento com outros processos, fluxo macro, fluxo detalhado, matriz raci e indicadores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).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Criado e validado o Termo de Responsabilidade por dispositivos móveis de prestadores de serviços.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Definido template para publicação dos processos de TI no Confluence.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Projeto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Assessment N1: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Courier New" panose="02070309020205020404" pitchFamily="49" charset="0"/>
              <a:buChar char="o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Pendência de devolutiva do Double Check dos procedimentos.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Courier New" panose="02070309020205020404" pitchFamily="49" charset="0"/>
              <a:buChar char="o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Pendência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de devolutiva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da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RFP Suporte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N1.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Falta de alinhamento da área de Tecnologia da Informação dos processos de TI que precisam ser mapeados para atender os requisitos da auditoria interna / externa.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Validação do Double Check com Adriano e Túlio.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Validação da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RFP Suporte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N1 com Adriano e Túlio.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Realizar Reunião de Kick-Off do projeto de Mapeamento dos Processos de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TI.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Validar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o processo de Gerenciamento de Incidentes de Segurança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Informação.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Definir o processo de Gerenciamento de Incidentes de Segurança da Informação na ferramenta Jira.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Validar o processo de Gerenciamento de Incidentes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 TI.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Mapear os processos de 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 </a:t>
            </a:r>
            <a:r>
              <a:rPr lang="pt-BR" sz="1050" kern="0" dirty="0">
                <a:solidFill>
                  <a:srgbClr val="080808"/>
                </a:solidFill>
                <a:latin typeface="Arial" charset="0"/>
                <a:cs typeface="Arial" charset="0"/>
              </a:rPr>
              <a:t>DS5.9.A - Gestão de 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antivírus e DS5.9.B </a:t>
            </a:r>
            <a:r>
              <a:rPr lang="pt-BR" sz="1050" kern="0" dirty="0">
                <a:solidFill>
                  <a:srgbClr val="080808"/>
                </a:solidFill>
                <a:latin typeface="Arial" charset="0"/>
                <a:cs typeface="Arial" charset="0"/>
              </a:rPr>
              <a:t>– Administrar Patches - Servidores das 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Bases.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Validar o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template para publicação dos processos de TI no Confluence.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26 </a:t>
            </a:r>
            <a:r>
              <a:rPr lang="pt-BR" dirty="0"/>
              <a:t>a </a:t>
            </a:r>
            <a:r>
              <a:rPr lang="pt-BR" dirty="0" smtClean="0"/>
              <a:t>30 </a:t>
            </a:r>
            <a:r>
              <a:rPr lang="pt-BR" dirty="0"/>
              <a:t>de </a:t>
            </a:r>
            <a:r>
              <a:rPr lang="pt-BR" dirty="0" smtClean="0"/>
              <a:t>Setembro </a:t>
            </a:r>
            <a:r>
              <a:rPr lang="pt-BR" dirty="0"/>
              <a:t>de 2016</a:t>
            </a:r>
          </a:p>
        </p:txBody>
      </p:sp>
      <p:graphicFrame>
        <p:nvGraphicFramePr>
          <p:cNvPr id="2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20758"/>
              </p:ext>
            </p:extLst>
          </p:nvPr>
        </p:nvGraphicFramePr>
        <p:xfrm>
          <a:off x="107504" y="999230"/>
          <a:ext cx="8856984" cy="5699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23">
                  <a:extLst>
                    <a:ext uri="{9D8B030D-6E8A-4147-A177-3AD203B41FA5}">
                      <a16:colId xmlns="" xmlns:a16="http://schemas.microsoft.com/office/drawing/2014/main" val="1989880496"/>
                    </a:ext>
                  </a:extLst>
                </a:gridCol>
                <a:gridCol w="11071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12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12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0712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07123"/>
                <a:gridCol w="1107123"/>
                <a:gridCol w="1107123"/>
              </a:tblGrid>
              <a:tr h="297136">
                <a:tc gridSpan="8">
                  <a:txBody>
                    <a:bodyPr/>
                    <a:lstStyle/>
                    <a:p>
                      <a:pPr algn="ctr"/>
                      <a:r>
                        <a:rPr lang="pt-BR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Macro Cronograma</a:t>
                      </a:r>
                      <a:endParaRPr lang="en-US" sz="1800" b="1" i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i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i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i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173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/>
                        <a:t>Setembro</a:t>
                      </a:r>
                      <a:r>
                        <a:rPr lang="en-US" sz="1600" b="1" dirty="0"/>
                        <a:t> / 2016</a:t>
                      </a:r>
                      <a:endParaRPr 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err="1"/>
                        <a:t>Outubro</a:t>
                      </a:r>
                      <a:r>
                        <a:rPr lang="en-US" sz="1600" b="1" kern="1200" dirty="0"/>
                        <a:t> / 2016</a:t>
                      </a:r>
                      <a:endParaRPr lang="en-US" sz="16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1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j-lt"/>
                        </a:rPr>
                        <a:t>05/09 a</a:t>
                      </a:r>
                      <a:r>
                        <a:rPr lang="en-US" sz="1200" baseline="0" dirty="0">
                          <a:latin typeface="+mj-lt"/>
                        </a:rPr>
                        <a:t> </a:t>
                      </a:r>
                      <a:r>
                        <a:rPr lang="en-US" sz="1200" dirty="0">
                          <a:latin typeface="+mj-lt"/>
                        </a:rPr>
                        <a:t>09/06</a:t>
                      </a:r>
                      <a:endParaRPr 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latin typeface="+mj-lt"/>
                        </a:rPr>
                        <a:t>12/09 a 16/09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latin typeface="+mj-lt"/>
                        </a:rPr>
                        <a:t>19/09 a</a:t>
                      </a:r>
                      <a:r>
                        <a:rPr lang="en-US" sz="1200" kern="1200" baseline="0" dirty="0">
                          <a:latin typeface="+mj-lt"/>
                        </a:rPr>
                        <a:t> 23/09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latin typeface="+mj-lt"/>
                        </a:rPr>
                        <a:t>26/09 a 30/09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latin typeface="+mj-lt"/>
                        </a:rPr>
                        <a:t>03/10 a 07/10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latin typeface="+mj-lt"/>
                        </a:rPr>
                        <a:t>10/10 a 14/10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latin typeface="+mj-lt"/>
                        </a:rPr>
                        <a:t>17/10 a 21/10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latin typeface="+mj-lt"/>
                        </a:rPr>
                        <a:t>24/10 a 28/10</a:t>
                      </a:r>
                      <a:endParaRPr 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1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Rectangle 107"/>
          <p:cNvSpPr>
            <a:spLocks/>
          </p:cNvSpPr>
          <p:nvPr/>
        </p:nvSpPr>
        <p:spPr bwMode="auto">
          <a:xfrm>
            <a:off x="107504" y="2060848"/>
            <a:ext cx="2232247" cy="468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100" kern="0" dirty="0" smtClean="0">
                <a:solidFill>
                  <a:schemeClr val="bg1"/>
                </a:solidFill>
              </a:rPr>
              <a:t>Atualização do processo Ger. de Incidentes de TI</a:t>
            </a:r>
            <a:endParaRPr lang="pt-BR" sz="1100" kern="0" dirty="0">
              <a:solidFill>
                <a:schemeClr val="bg1"/>
              </a:solidFill>
            </a:endParaRPr>
          </a:p>
        </p:txBody>
      </p:sp>
      <p:sp>
        <p:nvSpPr>
          <p:cNvPr id="31" name="Rectangle 107"/>
          <p:cNvSpPr>
            <a:spLocks/>
          </p:cNvSpPr>
          <p:nvPr/>
        </p:nvSpPr>
        <p:spPr bwMode="auto">
          <a:xfrm>
            <a:off x="1907705" y="2625012"/>
            <a:ext cx="2232247" cy="468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100" kern="0" dirty="0" smtClean="0">
                <a:solidFill>
                  <a:schemeClr val="bg1"/>
                </a:solidFill>
              </a:rPr>
              <a:t>Mapeamento do processo Ger. de Incidentes de SI</a:t>
            </a:r>
            <a:endParaRPr lang="pt-BR" sz="1100" kern="0" dirty="0">
              <a:solidFill>
                <a:schemeClr val="bg1"/>
              </a:solidFill>
            </a:endParaRPr>
          </a:p>
        </p:txBody>
      </p:sp>
      <p:sp>
        <p:nvSpPr>
          <p:cNvPr id="32" name="Rectangle 107"/>
          <p:cNvSpPr>
            <a:spLocks/>
          </p:cNvSpPr>
          <p:nvPr/>
        </p:nvSpPr>
        <p:spPr bwMode="auto">
          <a:xfrm>
            <a:off x="4572000" y="3057060"/>
            <a:ext cx="2268254" cy="468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Implementação no </a:t>
            </a:r>
            <a:r>
              <a:rPr lang="pt-BR" sz="1100" kern="0" dirty="0" err="1">
                <a:solidFill>
                  <a:schemeClr val="bg1"/>
                </a:solidFill>
              </a:rPr>
              <a:t>Jira</a:t>
            </a:r>
            <a:r>
              <a:rPr lang="pt-BR" sz="1100" kern="0" dirty="0">
                <a:solidFill>
                  <a:schemeClr val="bg1"/>
                </a:solidFill>
              </a:rPr>
              <a:t> de Ger. de Incidentes de SI</a:t>
            </a:r>
          </a:p>
        </p:txBody>
      </p:sp>
      <p:sp>
        <p:nvSpPr>
          <p:cNvPr id="33" name="Rectangle 107"/>
          <p:cNvSpPr>
            <a:spLocks/>
          </p:cNvSpPr>
          <p:nvPr/>
        </p:nvSpPr>
        <p:spPr bwMode="auto">
          <a:xfrm>
            <a:off x="4572001" y="3633124"/>
            <a:ext cx="2232247" cy="468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Mapeamento do processo Ger. de Antivírus</a:t>
            </a:r>
          </a:p>
        </p:txBody>
      </p:sp>
      <p:sp>
        <p:nvSpPr>
          <p:cNvPr id="34" name="Rectangle 107"/>
          <p:cNvSpPr>
            <a:spLocks/>
          </p:cNvSpPr>
          <p:nvPr/>
        </p:nvSpPr>
        <p:spPr bwMode="auto">
          <a:xfrm>
            <a:off x="4572001" y="4245252"/>
            <a:ext cx="2232247" cy="540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Mapeamento do processo Ger. de Patches</a:t>
            </a:r>
          </a:p>
        </p:txBody>
      </p:sp>
      <p:sp>
        <p:nvSpPr>
          <p:cNvPr id="36" name="Rectangle 107"/>
          <p:cNvSpPr>
            <a:spLocks/>
          </p:cNvSpPr>
          <p:nvPr/>
        </p:nvSpPr>
        <p:spPr bwMode="auto">
          <a:xfrm>
            <a:off x="6732241" y="4713244"/>
            <a:ext cx="2232247" cy="540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Mapeamento do processo Ger. de Capacidade e Desempenho</a:t>
            </a:r>
          </a:p>
        </p:txBody>
      </p:sp>
      <p:sp>
        <p:nvSpPr>
          <p:cNvPr id="37" name="Rectangle 107"/>
          <p:cNvSpPr>
            <a:spLocks/>
          </p:cNvSpPr>
          <p:nvPr/>
        </p:nvSpPr>
        <p:spPr bwMode="auto">
          <a:xfrm>
            <a:off x="6732240" y="5396798"/>
            <a:ext cx="2232247" cy="540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Mapeamento do processo Ger. de Monitorar</a:t>
            </a:r>
          </a:p>
        </p:txBody>
      </p:sp>
      <p:sp>
        <p:nvSpPr>
          <p:cNvPr id="38" name="Rectangle 30"/>
          <p:cNvSpPr>
            <a:spLocks noChangeArrowheads="1"/>
          </p:cNvSpPr>
          <p:nvPr/>
        </p:nvSpPr>
        <p:spPr bwMode="auto">
          <a:xfrm>
            <a:off x="4469756" y="1952784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39" name="Isosceles Triangle 41"/>
          <p:cNvSpPr/>
          <p:nvPr/>
        </p:nvSpPr>
        <p:spPr>
          <a:xfrm>
            <a:off x="4572000" y="2204864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cxnSp>
        <p:nvCxnSpPr>
          <p:cNvPr id="40" name="Conector de seta reta 3"/>
          <p:cNvCxnSpPr/>
          <p:nvPr/>
        </p:nvCxnSpPr>
        <p:spPr>
          <a:xfrm>
            <a:off x="4499992" y="2204864"/>
            <a:ext cx="0" cy="4176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41" name="Rectangle 107"/>
          <p:cNvSpPr>
            <a:spLocks/>
          </p:cNvSpPr>
          <p:nvPr/>
        </p:nvSpPr>
        <p:spPr bwMode="auto">
          <a:xfrm>
            <a:off x="5148064" y="6045452"/>
            <a:ext cx="3816423" cy="54000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/>
            <a:r>
              <a:rPr lang="pt-BR" sz="1100" kern="0" dirty="0">
                <a:solidFill>
                  <a:schemeClr val="bg1"/>
                </a:solidFill>
              </a:rPr>
              <a:t>Mapeamento do processo Ger. de </a:t>
            </a:r>
            <a:r>
              <a:rPr lang="pt-BR" sz="1100" kern="0" dirty="0" smtClean="0">
                <a:solidFill>
                  <a:schemeClr val="bg1"/>
                </a:solidFill>
              </a:rPr>
              <a:t>Mudanças</a:t>
            </a:r>
            <a:endParaRPr lang="pt-BR" sz="1100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6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PresentationFormat>Apresentação na tela (4:3)</PresentationFormat>
  <Paragraphs>86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Gill Sans</vt:lpstr>
      <vt:lpstr>Helvetica</vt:lpstr>
      <vt:lpstr>Segoe UI</vt:lpstr>
      <vt:lpstr>Wingdings</vt:lpstr>
      <vt:lpstr>Tema do Office</vt:lpstr>
      <vt:lpstr>Status Report Semanal</vt:lpstr>
      <vt:lpstr>Período 26 a 30 de Setembro de 2016</vt:lpstr>
      <vt:lpstr>Período 26 a 30 de Setembro de 2016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2015-07-21T09:22:26Z</dcterms:created>
  <dcterms:modified xsi:type="dcterms:W3CDTF">2016-10-01T01:26:15Z</dcterms:modified>
</cp:coreProperties>
</file>