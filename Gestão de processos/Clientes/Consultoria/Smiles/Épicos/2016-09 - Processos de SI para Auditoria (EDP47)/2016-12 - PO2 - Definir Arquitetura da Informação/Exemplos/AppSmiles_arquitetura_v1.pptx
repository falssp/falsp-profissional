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9" r:id="rId3"/>
    <p:sldId id="279" r:id="rId4"/>
    <p:sldId id="284" r:id="rId5"/>
    <p:sldId id="283" r:id="rId6"/>
    <p:sldId id="280" r:id="rId7"/>
    <p:sldId id="282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6600"/>
    <a:srgbClr val="FF9900"/>
    <a:srgbClr val="EE6829"/>
    <a:srgbClr val="E28734"/>
    <a:srgbClr val="F4BC71"/>
    <a:srgbClr val="D0462D"/>
    <a:srgbClr val="C3432A"/>
    <a:srgbClr val="FFFFFF"/>
    <a:srgbClr val="7D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32" autoAdjust="0"/>
    <p:restoredTop sz="99127" autoAdjust="0"/>
  </p:normalViewPr>
  <p:slideViewPr>
    <p:cSldViewPr snapToGrid="0" snapToObjects="1">
      <p:cViewPr varScale="1">
        <p:scale>
          <a:sx n="75" d="100"/>
          <a:sy n="75" d="100"/>
        </p:scale>
        <p:origin x="-14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7BDE4-BC76-49EA-BC9E-B99EAFE9EEE8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pt-BR"/>
        </a:p>
      </dgm:t>
    </dgm:pt>
    <dgm:pt modelId="{257D659C-34DC-4B32-841E-EA02A7A24B31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Objetivo</a:t>
          </a:r>
          <a:endParaRPr lang="pt-BR" sz="2800" b="1" dirty="0"/>
        </a:p>
      </dgm:t>
    </dgm:pt>
    <dgm:pt modelId="{FE38AABA-0DF7-49E6-B523-4EC8CDB597C2}" type="parTrans" cxnId="{7B19A6F5-5588-401D-A548-7DA6D30A628D}">
      <dgm:prSet/>
      <dgm:spPr/>
      <dgm:t>
        <a:bodyPr/>
        <a:lstStyle/>
        <a:p>
          <a:endParaRPr lang="pt-BR" sz="1200"/>
        </a:p>
      </dgm:t>
    </dgm:pt>
    <dgm:pt modelId="{91FF985B-B4FC-4964-9A62-87BFD8917C9D}" type="sibTrans" cxnId="{7B19A6F5-5588-401D-A548-7DA6D30A628D}">
      <dgm:prSet/>
      <dgm:spPr/>
      <dgm:t>
        <a:bodyPr/>
        <a:lstStyle/>
        <a:p>
          <a:endParaRPr lang="pt-BR" sz="1200"/>
        </a:p>
      </dgm:t>
    </dgm:pt>
    <dgm:pt modelId="{140F21A0-8FB3-48EB-8D27-D72F7E15352C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Funcionalidades do </a:t>
          </a:r>
          <a:r>
            <a:rPr lang="pt-BR" sz="2800" b="1" dirty="0" err="1" smtClean="0">
              <a:latin typeface="+mj-lt"/>
            </a:rPr>
            <a:t>App</a:t>
          </a:r>
          <a:endParaRPr lang="pt-BR" sz="2800" b="1" dirty="0"/>
        </a:p>
      </dgm:t>
    </dgm:pt>
    <dgm:pt modelId="{D86E4781-3A39-4CAA-A131-E93BCB14B30B}" type="parTrans" cxnId="{F205A363-B26B-4F4E-8013-322CB3B0A550}">
      <dgm:prSet/>
      <dgm:spPr/>
      <dgm:t>
        <a:bodyPr/>
        <a:lstStyle/>
        <a:p>
          <a:endParaRPr lang="pt-BR" sz="1200"/>
        </a:p>
      </dgm:t>
    </dgm:pt>
    <dgm:pt modelId="{E47F4C51-C553-4FB0-A84A-A151432B941B}" type="sibTrans" cxnId="{F205A363-B26B-4F4E-8013-322CB3B0A550}">
      <dgm:prSet/>
      <dgm:spPr/>
      <dgm:t>
        <a:bodyPr/>
        <a:lstStyle/>
        <a:p>
          <a:endParaRPr lang="pt-BR" sz="1200"/>
        </a:p>
      </dgm:t>
    </dgm:pt>
    <dgm:pt modelId="{D8D6B5A0-7743-4E48-BDD9-FE6A0C94896C}">
      <dgm:prSet phldrT="[Texto]" custT="1"/>
      <dgm:spPr/>
      <dgm:t>
        <a:bodyPr/>
        <a:lstStyle/>
        <a:p>
          <a:r>
            <a:rPr lang="pt-BR" sz="2800" b="1" dirty="0" smtClean="0"/>
            <a:t>Notificações </a:t>
          </a:r>
          <a:r>
            <a:rPr lang="pt-BR" sz="2800" b="1" dirty="0" err="1" smtClean="0"/>
            <a:t>Push</a:t>
          </a:r>
          <a:endParaRPr lang="pt-BR" sz="2800" b="1" dirty="0"/>
        </a:p>
      </dgm:t>
    </dgm:pt>
    <dgm:pt modelId="{DB24D5B4-58C5-436B-973A-181C30FB2132}" type="parTrans" cxnId="{E7D7EA08-0AAF-42FF-BD7D-26127FA566DB}">
      <dgm:prSet/>
      <dgm:spPr/>
      <dgm:t>
        <a:bodyPr/>
        <a:lstStyle/>
        <a:p>
          <a:endParaRPr lang="pt-BR" sz="1200"/>
        </a:p>
      </dgm:t>
    </dgm:pt>
    <dgm:pt modelId="{7B7D65D9-B4A4-49FB-A517-E85590C4B1BC}" type="sibTrans" cxnId="{E7D7EA08-0AAF-42FF-BD7D-26127FA566DB}">
      <dgm:prSet/>
      <dgm:spPr/>
      <dgm:t>
        <a:bodyPr/>
        <a:lstStyle/>
        <a:p>
          <a:endParaRPr lang="pt-BR" sz="1200"/>
        </a:p>
      </dgm:t>
    </dgm:pt>
    <dgm:pt modelId="{C5A51453-E096-4B7B-B698-D6806A123682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Arquitetura</a:t>
          </a:r>
          <a:endParaRPr lang="pt-BR" sz="2800" b="1" dirty="0"/>
        </a:p>
      </dgm:t>
    </dgm:pt>
    <dgm:pt modelId="{47B5F40A-E217-4B79-85DE-944A7BD538A0}" type="parTrans" cxnId="{E2B45931-1EE5-4011-A263-09E272D0D11A}">
      <dgm:prSet/>
      <dgm:spPr/>
      <dgm:t>
        <a:bodyPr/>
        <a:lstStyle/>
        <a:p>
          <a:endParaRPr lang="pt-BR" sz="1200"/>
        </a:p>
      </dgm:t>
    </dgm:pt>
    <dgm:pt modelId="{B8230339-D257-4AC7-B65A-4B4B23A72FE8}" type="sibTrans" cxnId="{E2B45931-1EE5-4011-A263-09E272D0D11A}">
      <dgm:prSet/>
      <dgm:spPr/>
      <dgm:t>
        <a:bodyPr/>
        <a:lstStyle/>
        <a:p>
          <a:endParaRPr lang="pt-BR" sz="1200"/>
        </a:p>
      </dgm:t>
    </dgm:pt>
    <dgm:pt modelId="{95ACF5FC-3696-45AA-BEB6-393D1C00181D}" type="pres">
      <dgm:prSet presAssocID="{CF47BDE4-BC76-49EA-BC9E-B99EAFE9EE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5089BDCB-F0C6-440F-BF36-3B6FBB9460CC}" type="pres">
      <dgm:prSet presAssocID="{257D659C-34DC-4B32-841E-EA02A7A24B3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89A280-2550-416A-939E-4F0D3DA1A7D9}" type="pres">
      <dgm:prSet presAssocID="{91FF985B-B4FC-4964-9A62-87BFD8917C9D}" presName="spacer" presStyleCnt="0"/>
      <dgm:spPr/>
    </dgm:pt>
    <dgm:pt modelId="{4D4C0BD4-97A5-439F-88F9-6847274DE992}" type="pres">
      <dgm:prSet presAssocID="{140F21A0-8FB3-48EB-8D27-D72F7E15352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A76E0B4-5C91-45A5-90BC-E708FEC5C8A9}" type="pres">
      <dgm:prSet presAssocID="{E47F4C51-C553-4FB0-A84A-A151432B941B}" presName="spacer" presStyleCnt="0"/>
      <dgm:spPr/>
    </dgm:pt>
    <dgm:pt modelId="{FBD3D3E1-B5DB-45F4-90B1-79D102C84DD8}" type="pres">
      <dgm:prSet presAssocID="{D8D6B5A0-7743-4E48-BDD9-FE6A0C94896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F9506B0-34C8-47FF-8FD7-FDFD83B242D4}" type="pres">
      <dgm:prSet presAssocID="{7B7D65D9-B4A4-49FB-A517-E85590C4B1BC}" presName="spacer" presStyleCnt="0"/>
      <dgm:spPr/>
    </dgm:pt>
    <dgm:pt modelId="{F387EFB4-A814-4FC9-807C-248D67A7B341}" type="pres">
      <dgm:prSet presAssocID="{C5A51453-E096-4B7B-B698-D6806A12368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86819E7-1685-491A-8BF5-49BB1B15CC47}" type="presOf" srcId="{C5A51453-E096-4B7B-B698-D6806A123682}" destId="{F387EFB4-A814-4FC9-807C-248D67A7B341}" srcOrd="0" destOrd="0" presId="urn:microsoft.com/office/officeart/2005/8/layout/vList2"/>
    <dgm:cxn modelId="{EF2B8503-205A-481A-A51D-66F8D96FB2E2}" type="presOf" srcId="{140F21A0-8FB3-48EB-8D27-D72F7E15352C}" destId="{4D4C0BD4-97A5-439F-88F9-6847274DE992}" srcOrd="0" destOrd="0" presId="urn:microsoft.com/office/officeart/2005/8/layout/vList2"/>
    <dgm:cxn modelId="{518745C5-BE15-4D2C-9357-05697A9653C5}" type="presOf" srcId="{257D659C-34DC-4B32-841E-EA02A7A24B31}" destId="{5089BDCB-F0C6-440F-BF36-3B6FBB9460CC}" srcOrd="0" destOrd="0" presId="urn:microsoft.com/office/officeart/2005/8/layout/vList2"/>
    <dgm:cxn modelId="{7B19A6F5-5588-401D-A548-7DA6D30A628D}" srcId="{CF47BDE4-BC76-49EA-BC9E-B99EAFE9EEE8}" destId="{257D659C-34DC-4B32-841E-EA02A7A24B31}" srcOrd="0" destOrd="0" parTransId="{FE38AABA-0DF7-49E6-B523-4EC8CDB597C2}" sibTransId="{91FF985B-B4FC-4964-9A62-87BFD8917C9D}"/>
    <dgm:cxn modelId="{E2B45931-1EE5-4011-A263-09E272D0D11A}" srcId="{CF47BDE4-BC76-49EA-BC9E-B99EAFE9EEE8}" destId="{C5A51453-E096-4B7B-B698-D6806A123682}" srcOrd="3" destOrd="0" parTransId="{47B5F40A-E217-4B79-85DE-944A7BD538A0}" sibTransId="{B8230339-D257-4AC7-B65A-4B4B23A72FE8}"/>
    <dgm:cxn modelId="{F205A363-B26B-4F4E-8013-322CB3B0A550}" srcId="{CF47BDE4-BC76-49EA-BC9E-B99EAFE9EEE8}" destId="{140F21A0-8FB3-48EB-8D27-D72F7E15352C}" srcOrd="1" destOrd="0" parTransId="{D86E4781-3A39-4CAA-A131-E93BCB14B30B}" sibTransId="{E47F4C51-C553-4FB0-A84A-A151432B941B}"/>
    <dgm:cxn modelId="{E7D7EA08-0AAF-42FF-BD7D-26127FA566DB}" srcId="{CF47BDE4-BC76-49EA-BC9E-B99EAFE9EEE8}" destId="{D8D6B5A0-7743-4E48-BDD9-FE6A0C94896C}" srcOrd="2" destOrd="0" parTransId="{DB24D5B4-58C5-436B-973A-181C30FB2132}" sibTransId="{7B7D65D9-B4A4-49FB-A517-E85590C4B1BC}"/>
    <dgm:cxn modelId="{4585897B-E031-4D1E-90FB-B66E640978C2}" type="presOf" srcId="{CF47BDE4-BC76-49EA-BC9E-B99EAFE9EEE8}" destId="{95ACF5FC-3696-45AA-BEB6-393D1C00181D}" srcOrd="0" destOrd="0" presId="urn:microsoft.com/office/officeart/2005/8/layout/vList2"/>
    <dgm:cxn modelId="{751EB6C4-55AE-435D-88B8-CF0A7F74EE08}" type="presOf" srcId="{D8D6B5A0-7743-4E48-BDD9-FE6A0C94896C}" destId="{FBD3D3E1-B5DB-45F4-90B1-79D102C84DD8}" srcOrd="0" destOrd="0" presId="urn:microsoft.com/office/officeart/2005/8/layout/vList2"/>
    <dgm:cxn modelId="{8735A55B-18F8-4456-8327-D7A6EA5D32E8}" type="presParOf" srcId="{95ACF5FC-3696-45AA-BEB6-393D1C00181D}" destId="{5089BDCB-F0C6-440F-BF36-3B6FBB9460CC}" srcOrd="0" destOrd="0" presId="urn:microsoft.com/office/officeart/2005/8/layout/vList2"/>
    <dgm:cxn modelId="{BA15929D-4551-459D-BDE6-08ECE33A1418}" type="presParOf" srcId="{95ACF5FC-3696-45AA-BEB6-393D1C00181D}" destId="{2089A280-2550-416A-939E-4F0D3DA1A7D9}" srcOrd="1" destOrd="0" presId="urn:microsoft.com/office/officeart/2005/8/layout/vList2"/>
    <dgm:cxn modelId="{F6EDF892-62A4-494A-A21F-6A8C6C0C7AE8}" type="presParOf" srcId="{95ACF5FC-3696-45AA-BEB6-393D1C00181D}" destId="{4D4C0BD4-97A5-439F-88F9-6847274DE992}" srcOrd="2" destOrd="0" presId="urn:microsoft.com/office/officeart/2005/8/layout/vList2"/>
    <dgm:cxn modelId="{21635B29-BBEE-4ACF-9AEE-4069A6B9C6B3}" type="presParOf" srcId="{95ACF5FC-3696-45AA-BEB6-393D1C00181D}" destId="{4A76E0B4-5C91-45A5-90BC-E708FEC5C8A9}" srcOrd="3" destOrd="0" presId="urn:microsoft.com/office/officeart/2005/8/layout/vList2"/>
    <dgm:cxn modelId="{C99DD1B0-A7F0-4394-A97F-46050B6EE177}" type="presParOf" srcId="{95ACF5FC-3696-45AA-BEB6-393D1C00181D}" destId="{FBD3D3E1-B5DB-45F4-90B1-79D102C84DD8}" srcOrd="4" destOrd="0" presId="urn:microsoft.com/office/officeart/2005/8/layout/vList2"/>
    <dgm:cxn modelId="{CB4466C8-E4D2-4113-BC5B-DFFD0AAAF6E9}" type="presParOf" srcId="{95ACF5FC-3696-45AA-BEB6-393D1C00181D}" destId="{5F9506B0-34C8-47FF-8FD7-FDFD83B242D4}" srcOrd="5" destOrd="0" presId="urn:microsoft.com/office/officeart/2005/8/layout/vList2"/>
    <dgm:cxn modelId="{2414D04E-3EAA-4436-A862-E3A5DEEE8F6C}" type="presParOf" srcId="{95ACF5FC-3696-45AA-BEB6-393D1C00181D}" destId="{F387EFB4-A814-4FC9-807C-248D67A7B3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91F057-E77B-45B5-9695-4E7D211154F3}" type="doc">
      <dgm:prSet loTypeId="urn:microsoft.com/office/officeart/2005/8/layout/vList2" loCatId="list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pt-BR"/>
        </a:p>
      </dgm:t>
    </dgm:pt>
    <dgm:pt modelId="{4AADBEF9-EFCA-4ED7-A664-5EDE3B01FF36}">
      <dgm:prSet phldrT="[Texto]" custT="1"/>
      <dgm:spPr/>
      <dgm:t>
        <a:bodyPr/>
        <a:lstStyle/>
        <a:p>
          <a:r>
            <a:rPr lang="pt-BR" sz="2400" b="1" dirty="0" smtClean="0"/>
            <a:t>Aplicativo Smiles</a:t>
          </a:r>
          <a:endParaRPr lang="pt-BR" sz="2400" b="1" dirty="0"/>
        </a:p>
      </dgm:t>
    </dgm:pt>
    <dgm:pt modelId="{8F0BCAD9-7DA7-432F-B3B0-5F75D4F161D5}" type="parTrans" cxnId="{75B7F89C-1871-43AE-8CDD-C720B20C6090}">
      <dgm:prSet/>
      <dgm:spPr/>
      <dgm:t>
        <a:bodyPr/>
        <a:lstStyle/>
        <a:p>
          <a:endParaRPr lang="pt-BR" sz="1600"/>
        </a:p>
      </dgm:t>
    </dgm:pt>
    <dgm:pt modelId="{BC404266-9B88-4A44-AC9C-31006CC44EC9}" type="sibTrans" cxnId="{75B7F89C-1871-43AE-8CDD-C720B20C6090}">
      <dgm:prSet/>
      <dgm:spPr/>
      <dgm:t>
        <a:bodyPr/>
        <a:lstStyle/>
        <a:p>
          <a:endParaRPr lang="pt-BR" sz="1600"/>
        </a:p>
      </dgm:t>
    </dgm:pt>
    <dgm:pt modelId="{46483D4F-C197-4C02-BC4E-979C5A5AF91C}">
      <dgm:prSet phldrT="[Texto]" custT="1"/>
      <dgm:spPr/>
      <dgm:t>
        <a:bodyPr/>
        <a:lstStyle/>
        <a:p>
          <a:r>
            <a:rPr lang="pt-BR" sz="2400" dirty="0" smtClean="0"/>
            <a:t>Criação do Aplicativo Smiles Mobile para </a:t>
          </a:r>
          <a:r>
            <a:rPr lang="pt-BR" sz="2400" b="1" u="sng" dirty="0" err="1" smtClean="0"/>
            <a:t>Android</a:t>
          </a:r>
          <a:r>
            <a:rPr lang="pt-BR" sz="2400" dirty="0" smtClean="0"/>
            <a:t> e </a:t>
          </a:r>
          <a:r>
            <a:rPr lang="pt-BR" sz="2400" b="1" u="sng" dirty="0" smtClean="0"/>
            <a:t>IOS</a:t>
          </a:r>
          <a:r>
            <a:rPr lang="pt-BR" sz="2400" dirty="0" smtClean="0"/>
            <a:t> (o desenvolvimento do </a:t>
          </a:r>
          <a:r>
            <a:rPr lang="pt-BR" sz="2400" dirty="0" err="1" smtClean="0"/>
            <a:t>App</a:t>
          </a:r>
          <a:r>
            <a:rPr lang="pt-BR" sz="2400" dirty="0" smtClean="0"/>
            <a:t> será feito pela .</a:t>
          </a:r>
          <a:r>
            <a:rPr lang="pt-BR" sz="2400" dirty="0" err="1" smtClean="0"/>
            <a:t>Mobi</a:t>
          </a:r>
          <a:r>
            <a:rPr lang="pt-BR" sz="2400" dirty="0" smtClean="0"/>
            <a:t>)</a:t>
          </a:r>
          <a:endParaRPr lang="pt-BR" sz="2400" dirty="0"/>
        </a:p>
      </dgm:t>
    </dgm:pt>
    <dgm:pt modelId="{C47DF8CC-F277-4687-94D3-2C97E7ED85B8}" type="parTrans" cxnId="{9D6F5A92-166E-4B5F-9E65-C264E17998EF}">
      <dgm:prSet/>
      <dgm:spPr/>
      <dgm:t>
        <a:bodyPr/>
        <a:lstStyle/>
        <a:p>
          <a:endParaRPr lang="pt-BR" sz="1600"/>
        </a:p>
      </dgm:t>
    </dgm:pt>
    <dgm:pt modelId="{56136672-1E7D-4353-9E9F-07B339B97B56}" type="sibTrans" cxnId="{9D6F5A92-166E-4B5F-9E65-C264E17998EF}">
      <dgm:prSet/>
      <dgm:spPr/>
      <dgm:t>
        <a:bodyPr/>
        <a:lstStyle/>
        <a:p>
          <a:endParaRPr lang="pt-BR" sz="1600"/>
        </a:p>
      </dgm:t>
    </dgm:pt>
    <dgm:pt modelId="{3855CC5E-7CD6-43D3-8D8F-D7955E7870DB}">
      <dgm:prSet phldrT="[Texto]" custT="1"/>
      <dgm:spPr/>
      <dgm:t>
        <a:bodyPr/>
        <a:lstStyle/>
        <a:p>
          <a:endParaRPr lang="pt-BR" sz="2400" dirty="0"/>
        </a:p>
      </dgm:t>
    </dgm:pt>
    <dgm:pt modelId="{8BD55EC1-13F4-4570-ADA7-C5EDC72647C1}" type="parTrans" cxnId="{63589ED2-5243-40CD-B86C-603010F2DC0F}">
      <dgm:prSet/>
      <dgm:spPr/>
      <dgm:t>
        <a:bodyPr/>
        <a:lstStyle/>
        <a:p>
          <a:endParaRPr lang="pt-BR"/>
        </a:p>
      </dgm:t>
    </dgm:pt>
    <dgm:pt modelId="{DB91BBED-FF2D-4C30-8111-836D983BBAAA}" type="sibTrans" cxnId="{63589ED2-5243-40CD-B86C-603010F2DC0F}">
      <dgm:prSet/>
      <dgm:spPr/>
      <dgm:t>
        <a:bodyPr/>
        <a:lstStyle/>
        <a:p>
          <a:endParaRPr lang="pt-BR"/>
        </a:p>
      </dgm:t>
    </dgm:pt>
    <dgm:pt modelId="{67EB501F-EC4E-4A3E-AC64-38B2D421E7ED}">
      <dgm:prSet phldrT="[Texto]" custT="1"/>
      <dgm:spPr/>
      <dgm:t>
        <a:bodyPr/>
        <a:lstStyle/>
        <a:p>
          <a:r>
            <a:rPr lang="pt-BR" sz="2400" b="1" dirty="0" smtClean="0"/>
            <a:t>Admistração de notificações PUSH</a:t>
          </a:r>
          <a:r>
            <a:rPr lang="pt-BR" sz="2400" dirty="0" smtClean="0"/>
            <a:t> </a:t>
          </a:r>
          <a:endParaRPr lang="pt-BR" sz="2400" dirty="0"/>
        </a:p>
      </dgm:t>
    </dgm:pt>
    <dgm:pt modelId="{D8B3E2FF-A011-4D73-8446-CA8B1579C3C5}" type="sibTrans" cxnId="{C6274032-B82A-4A0B-857F-7A1F4B68013C}">
      <dgm:prSet/>
      <dgm:spPr/>
      <dgm:t>
        <a:bodyPr/>
        <a:lstStyle/>
        <a:p>
          <a:endParaRPr lang="pt-BR" sz="1600"/>
        </a:p>
      </dgm:t>
    </dgm:pt>
    <dgm:pt modelId="{6DFF5754-38D6-4F07-93ED-AB9CF65C26E6}" type="parTrans" cxnId="{C6274032-B82A-4A0B-857F-7A1F4B68013C}">
      <dgm:prSet/>
      <dgm:spPr/>
      <dgm:t>
        <a:bodyPr/>
        <a:lstStyle/>
        <a:p>
          <a:endParaRPr lang="pt-BR" sz="1600"/>
        </a:p>
      </dgm:t>
    </dgm:pt>
    <dgm:pt modelId="{6DD3E961-3CB0-4A6D-8A32-DC5FA7D46AA7}">
      <dgm:prSet custT="1"/>
      <dgm:spPr/>
      <dgm:t>
        <a:bodyPr/>
        <a:lstStyle/>
        <a:p>
          <a:r>
            <a:rPr lang="pt-BR" sz="2400" dirty="0" smtClean="0"/>
            <a:t>Criação de uma aplicação BackOffice ou utilizar algum produto de mercado para administração de envio de notificações PUSH aos clientes com avisos gerais e promoções especificas com possibilidade de segmentações e agendamento de envios</a:t>
          </a:r>
        </a:p>
      </dgm:t>
    </dgm:pt>
    <dgm:pt modelId="{7806B6E0-8146-4E8E-8B1C-B25EE6E9A757}" type="sibTrans" cxnId="{332A2ED8-1181-4401-A1C5-1D793FB27C4D}">
      <dgm:prSet/>
      <dgm:spPr/>
      <dgm:t>
        <a:bodyPr/>
        <a:lstStyle/>
        <a:p>
          <a:endParaRPr lang="pt-BR"/>
        </a:p>
      </dgm:t>
    </dgm:pt>
    <dgm:pt modelId="{C6ECB5BC-4E61-470C-A1FB-B53D1671FDC0}" type="parTrans" cxnId="{332A2ED8-1181-4401-A1C5-1D793FB27C4D}">
      <dgm:prSet/>
      <dgm:spPr/>
      <dgm:t>
        <a:bodyPr/>
        <a:lstStyle/>
        <a:p>
          <a:endParaRPr lang="pt-BR"/>
        </a:p>
      </dgm:t>
    </dgm:pt>
    <dgm:pt modelId="{B461B90E-22A6-468D-B028-BD7F7F90E126}">
      <dgm:prSet phldrT="[Texto]" custT="1"/>
      <dgm:spPr/>
      <dgm:t>
        <a:bodyPr/>
        <a:lstStyle/>
        <a:p>
          <a:endParaRPr lang="pt-BR" sz="2400" dirty="0"/>
        </a:p>
      </dgm:t>
    </dgm:pt>
    <dgm:pt modelId="{91773DAC-6E4A-4818-990E-9A6328219163}" type="parTrans" cxnId="{89709B67-F4FD-415A-AC46-C23C1A1AB4B5}">
      <dgm:prSet/>
      <dgm:spPr/>
      <dgm:t>
        <a:bodyPr/>
        <a:lstStyle/>
        <a:p>
          <a:endParaRPr lang="pt-BR"/>
        </a:p>
      </dgm:t>
    </dgm:pt>
    <dgm:pt modelId="{45EFCD0B-2E0E-478B-B9E5-DFCE248F1766}" type="sibTrans" cxnId="{89709B67-F4FD-415A-AC46-C23C1A1AB4B5}">
      <dgm:prSet/>
      <dgm:spPr/>
      <dgm:t>
        <a:bodyPr/>
        <a:lstStyle/>
        <a:p>
          <a:endParaRPr lang="pt-BR"/>
        </a:p>
      </dgm:t>
    </dgm:pt>
    <dgm:pt modelId="{B4FD88D1-8052-47B1-BD28-52EA0810FA00}">
      <dgm:prSet phldrT="[Texto]" custT="1"/>
      <dgm:spPr/>
      <dgm:t>
        <a:bodyPr/>
        <a:lstStyle/>
        <a:p>
          <a:endParaRPr lang="pt-BR" sz="2400" dirty="0"/>
        </a:p>
      </dgm:t>
    </dgm:pt>
    <dgm:pt modelId="{EED7BDF9-08E4-41AE-A8B3-512CECA1A2EB}" type="parTrans" cxnId="{46A5D07F-07A8-4C53-A5AF-3EEFDBDE65B9}">
      <dgm:prSet/>
      <dgm:spPr/>
      <dgm:t>
        <a:bodyPr/>
        <a:lstStyle/>
        <a:p>
          <a:endParaRPr lang="pt-BR"/>
        </a:p>
      </dgm:t>
    </dgm:pt>
    <dgm:pt modelId="{18F7DD43-44E7-4023-89AD-D94272E2ECAF}" type="sibTrans" cxnId="{46A5D07F-07A8-4C53-A5AF-3EEFDBDE65B9}">
      <dgm:prSet/>
      <dgm:spPr/>
      <dgm:t>
        <a:bodyPr/>
        <a:lstStyle/>
        <a:p>
          <a:endParaRPr lang="pt-BR"/>
        </a:p>
      </dgm:t>
    </dgm:pt>
    <dgm:pt modelId="{08E6F0AD-69E5-4ECC-8B27-7CD276BAD9EE}">
      <dgm:prSet phldrT="[Texto]" custT="1"/>
      <dgm:spPr/>
      <dgm:t>
        <a:bodyPr/>
        <a:lstStyle/>
        <a:p>
          <a:endParaRPr lang="pt-BR" sz="2400" dirty="0"/>
        </a:p>
      </dgm:t>
    </dgm:pt>
    <dgm:pt modelId="{2BDDAE29-82A5-47A6-AB6A-B7E9410D459C}" type="parTrans" cxnId="{21B388BC-FB45-44E9-8550-9B6DF4C44354}">
      <dgm:prSet/>
      <dgm:spPr/>
      <dgm:t>
        <a:bodyPr/>
        <a:lstStyle/>
        <a:p>
          <a:endParaRPr lang="pt-BR"/>
        </a:p>
      </dgm:t>
    </dgm:pt>
    <dgm:pt modelId="{3DBA2D3D-4452-423C-8CE0-FCBC9E766837}" type="sibTrans" cxnId="{21B388BC-FB45-44E9-8550-9B6DF4C44354}">
      <dgm:prSet/>
      <dgm:spPr/>
      <dgm:t>
        <a:bodyPr/>
        <a:lstStyle/>
        <a:p>
          <a:endParaRPr lang="pt-BR"/>
        </a:p>
      </dgm:t>
    </dgm:pt>
    <dgm:pt modelId="{2E690263-3EAD-4CD9-BF51-F2E3B9F56AFE}">
      <dgm:prSet phldrT="[Texto]" custT="1"/>
      <dgm:spPr/>
      <dgm:t>
        <a:bodyPr/>
        <a:lstStyle/>
        <a:p>
          <a:endParaRPr lang="pt-BR" sz="2400" dirty="0"/>
        </a:p>
      </dgm:t>
    </dgm:pt>
    <dgm:pt modelId="{DB901E9D-ECF4-4B79-8616-1304C4483133}" type="parTrans" cxnId="{586A122E-F96B-4031-8728-F251630F1F79}">
      <dgm:prSet/>
      <dgm:spPr/>
      <dgm:t>
        <a:bodyPr/>
        <a:lstStyle/>
        <a:p>
          <a:endParaRPr lang="pt-BR"/>
        </a:p>
      </dgm:t>
    </dgm:pt>
    <dgm:pt modelId="{CCFBE6BD-E23A-4468-BD30-EA7DCB111E13}" type="sibTrans" cxnId="{586A122E-F96B-4031-8728-F251630F1F79}">
      <dgm:prSet/>
      <dgm:spPr/>
      <dgm:t>
        <a:bodyPr/>
        <a:lstStyle/>
        <a:p>
          <a:endParaRPr lang="pt-BR"/>
        </a:p>
      </dgm:t>
    </dgm:pt>
    <dgm:pt modelId="{05D1D9FB-348D-458D-B61A-36CF57952C86}">
      <dgm:prSet custT="1"/>
      <dgm:spPr/>
      <dgm:t>
        <a:bodyPr/>
        <a:lstStyle/>
        <a:p>
          <a:endParaRPr lang="pt-BR" sz="2400" dirty="0" smtClean="0"/>
        </a:p>
      </dgm:t>
    </dgm:pt>
    <dgm:pt modelId="{388612A4-294F-4BB7-9A9B-2CFF9F5FBB53}" type="parTrans" cxnId="{39FF09A3-2EE9-4617-8190-05763B4AE60D}">
      <dgm:prSet/>
      <dgm:spPr/>
      <dgm:t>
        <a:bodyPr/>
        <a:lstStyle/>
        <a:p>
          <a:endParaRPr lang="pt-BR"/>
        </a:p>
      </dgm:t>
    </dgm:pt>
    <dgm:pt modelId="{DF28B5B4-C7DB-4FE2-8FF3-6D081F909BDD}" type="sibTrans" cxnId="{39FF09A3-2EE9-4617-8190-05763B4AE60D}">
      <dgm:prSet/>
      <dgm:spPr/>
      <dgm:t>
        <a:bodyPr/>
        <a:lstStyle/>
        <a:p>
          <a:endParaRPr lang="pt-BR"/>
        </a:p>
      </dgm:t>
    </dgm:pt>
    <dgm:pt modelId="{9C7CF154-CF67-432F-A67C-2909E18FC146}" type="pres">
      <dgm:prSet presAssocID="{7C91F057-E77B-45B5-9695-4E7D211154F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0B297AFB-925F-43C0-925E-678E51CE7E2D}" type="pres">
      <dgm:prSet presAssocID="{4AADBEF9-EFCA-4ED7-A664-5EDE3B01FF3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BD7DA7-8C63-4503-BF2E-F7948E2106ED}" type="pres">
      <dgm:prSet presAssocID="{4AADBEF9-EFCA-4ED7-A664-5EDE3B01FF36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B2775B2-51FE-4294-B779-BE744D86E85C}" type="pres">
      <dgm:prSet presAssocID="{67EB501F-EC4E-4A3E-AC64-38B2D421E7E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6E5809A-904C-4D5D-AAD6-8B14267208C4}" type="pres">
      <dgm:prSet presAssocID="{67EB501F-EC4E-4A3E-AC64-38B2D421E7ED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1B070A6-BCB2-4630-9DDA-FE1802695F2D}" type="presOf" srcId="{6DD3E961-3CB0-4A6D-8A32-DC5FA7D46AA7}" destId="{E6E5809A-904C-4D5D-AAD6-8B14267208C4}" srcOrd="0" destOrd="1" presId="urn:microsoft.com/office/officeart/2005/8/layout/vList2"/>
    <dgm:cxn modelId="{89709B67-F4FD-415A-AC46-C23C1A1AB4B5}" srcId="{4AADBEF9-EFCA-4ED7-A664-5EDE3B01FF36}" destId="{B461B90E-22A6-468D-B028-BD7F7F90E126}" srcOrd="4" destOrd="0" parTransId="{91773DAC-6E4A-4818-990E-9A6328219163}" sibTransId="{45EFCD0B-2E0E-478B-B9E5-DFCE248F1766}"/>
    <dgm:cxn modelId="{BE486B22-B995-4F15-A594-1B4467981C7F}" type="presOf" srcId="{08E6F0AD-69E5-4ECC-8B27-7CD276BAD9EE}" destId="{69BD7DA7-8C63-4503-BF2E-F7948E2106ED}" srcOrd="0" destOrd="2" presId="urn:microsoft.com/office/officeart/2005/8/layout/vList2"/>
    <dgm:cxn modelId="{346B1FBB-F496-4EC6-AE5B-C8072077064A}" type="presOf" srcId="{B461B90E-22A6-468D-B028-BD7F7F90E126}" destId="{69BD7DA7-8C63-4503-BF2E-F7948E2106ED}" srcOrd="0" destOrd="4" presId="urn:microsoft.com/office/officeart/2005/8/layout/vList2"/>
    <dgm:cxn modelId="{63589ED2-5243-40CD-B86C-603010F2DC0F}" srcId="{67EB501F-EC4E-4A3E-AC64-38B2D421E7ED}" destId="{3855CC5E-7CD6-43D3-8D8F-D7955E7870DB}" srcOrd="2" destOrd="0" parTransId="{8BD55EC1-13F4-4570-ADA7-C5EDC72647C1}" sibTransId="{DB91BBED-FF2D-4C30-8111-836D983BBAAA}"/>
    <dgm:cxn modelId="{332A2ED8-1181-4401-A1C5-1D793FB27C4D}" srcId="{67EB501F-EC4E-4A3E-AC64-38B2D421E7ED}" destId="{6DD3E961-3CB0-4A6D-8A32-DC5FA7D46AA7}" srcOrd="1" destOrd="0" parTransId="{C6ECB5BC-4E61-470C-A1FB-B53D1671FDC0}" sibTransId="{7806B6E0-8146-4E8E-8B1C-B25EE6E9A757}"/>
    <dgm:cxn modelId="{A5503480-4DC9-4EEF-98DE-F793239CC68C}" type="presOf" srcId="{05D1D9FB-348D-458D-B61A-36CF57952C86}" destId="{E6E5809A-904C-4D5D-AAD6-8B14267208C4}" srcOrd="0" destOrd="0" presId="urn:microsoft.com/office/officeart/2005/8/layout/vList2"/>
    <dgm:cxn modelId="{98F502FE-1769-4369-ABC4-14FC16ABC275}" type="presOf" srcId="{2E690263-3EAD-4CD9-BF51-F2E3B9F56AFE}" destId="{69BD7DA7-8C63-4503-BF2E-F7948E2106ED}" srcOrd="0" destOrd="0" presId="urn:microsoft.com/office/officeart/2005/8/layout/vList2"/>
    <dgm:cxn modelId="{9D6F5A92-166E-4B5F-9E65-C264E17998EF}" srcId="{4AADBEF9-EFCA-4ED7-A664-5EDE3B01FF36}" destId="{46483D4F-C197-4C02-BC4E-979C5A5AF91C}" srcOrd="1" destOrd="0" parTransId="{C47DF8CC-F277-4687-94D3-2C97E7ED85B8}" sibTransId="{56136672-1E7D-4353-9E9F-07B339B97B56}"/>
    <dgm:cxn modelId="{75B7F89C-1871-43AE-8CDD-C720B20C6090}" srcId="{7C91F057-E77B-45B5-9695-4E7D211154F3}" destId="{4AADBEF9-EFCA-4ED7-A664-5EDE3B01FF36}" srcOrd="0" destOrd="0" parTransId="{8F0BCAD9-7DA7-432F-B3B0-5F75D4F161D5}" sibTransId="{BC404266-9B88-4A44-AC9C-31006CC44EC9}"/>
    <dgm:cxn modelId="{39FF09A3-2EE9-4617-8190-05763B4AE60D}" srcId="{67EB501F-EC4E-4A3E-AC64-38B2D421E7ED}" destId="{05D1D9FB-348D-458D-B61A-36CF57952C86}" srcOrd="0" destOrd="0" parTransId="{388612A4-294F-4BB7-9A9B-2CFF9F5FBB53}" sibTransId="{DF28B5B4-C7DB-4FE2-8FF3-6D081F909BDD}"/>
    <dgm:cxn modelId="{5D45C2BE-75F3-4CBB-809F-7F3ED73F90E1}" type="presOf" srcId="{7C91F057-E77B-45B5-9695-4E7D211154F3}" destId="{9C7CF154-CF67-432F-A67C-2909E18FC146}" srcOrd="0" destOrd="0" presId="urn:microsoft.com/office/officeart/2005/8/layout/vList2"/>
    <dgm:cxn modelId="{E6650DEE-2BDD-4C2C-935F-3063C04E1D8D}" type="presOf" srcId="{B4FD88D1-8052-47B1-BD28-52EA0810FA00}" destId="{69BD7DA7-8C63-4503-BF2E-F7948E2106ED}" srcOrd="0" destOrd="3" presId="urn:microsoft.com/office/officeart/2005/8/layout/vList2"/>
    <dgm:cxn modelId="{21B388BC-FB45-44E9-8550-9B6DF4C44354}" srcId="{4AADBEF9-EFCA-4ED7-A664-5EDE3B01FF36}" destId="{08E6F0AD-69E5-4ECC-8B27-7CD276BAD9EE}" srcOrd="2" destOrd="0" parTransId="{2BDDAE29-82A5-47A6-AB6A-B7E9410D459C}" sibTransId="{3DBA2D3D-4452-423C-8CE0-FCBC9E766837}"/>
    <dgm:cxn modelId="{46A5D07F-07A8-4C53-A5AF-3EEFDBDE65B9}" srcId="{4AADBEF9-EFCA-4ED7-A664-5EDE3B01FF36}" destId="{B4FD88D1-8052-47B1-BD28-52EA0810FA00}" srcOrd="3" destOrd="0" parTransId="{EED7BDF9-08E4-41AE-A8B3-512CECA1A2EB}" sibTransId="{18F7DD43-44E7-4023-89AD-D94272E2ECAF}"/>
    <dgm:cxn modelId="{0CCF1E2C-9BE9-4B39-878F-A4F177312FEB}" type="presOf" srcId="{4AADBEF9-EFCA-4ED7-A664-5EDE3B01FF36}" destId="{0B297AFB-925F-43C0-925E-678E51CE7E2D}" srcOrd="0" destOrd="0" presId="urn:microsoft.com/office/officeart/2005/8/layout/vList2"/>
    <dgm:cxn modelId="{B237811C-31BC-452D-8D49-AEE7190B86C2}" type="presOf" srcId="{46483D4F-C197-4C02-BC4E-979C5A5AF91C}" destId="{69BD7DA7-8C63-4503-BF2E-F7948E2106ED}" srcOrd="0" destOrd="1" presId="urn:microsoft.com/office/officeart/2005/8/layout/vList2"/>
    <dgm:cxn modelId="{FCE09093-17D0-4E04-8692-4AFC854B11B8}" type="presOf" srcId="{3855CC5E-7CD6-43D3-8D8F-D7955E7870DB}" destId="{E6E5809A-904C-4D5D-AAD6-8B14267208C4}" srcOrd="0" destOrd="2" presId="urn:microsoft.com/office/officeart/2005/8/layout/vList2"/>
    <dgm:cxn modelId="{586A122E-F96B-4031-8728-F251630F1F79}" srcId="{4AADBEF9-EFCA-4ED7-A664-5EDE3B01FF36}" destId="{2E690263-3EAD-4CD9-BF51-F2E3B9F56AFE}" srcOrd="0" destOrd="0" parTransId="{DB901E9D-ECF4-4B79-8616-1304C4483133}" sibTransId="{CCFBE6BD-E23A-4468-BD30-EA7DCB111E13}"/>
    <dgm:cxn modelId="{475EBE04-68DE-4F31-BB39-D1097EB744A8}" type="presOf" srcId="{67EB501F-EC4E-4A3E-AC64-38B2D421E7ED}" destId="{BB2775B2-51FE-4294-B779-BE744D86E85C}" srcOrd="0" destOrd="0" presId="urn:microsoft.com/office/officeart/2005/8/layout/vList2"/>
    <dgm:cxn modelId="{C6274032-B82A-4A0B-857F-7A1F4B68013C}" srcId="{7C91F057-E77B-45B5-9695-4E7D211154F3}" destId="{67EB501F-EC4E-4A3E-AC64-38B2D421E7ED}" srcOrd="1" destOrd="0" parTransId="{6DFF5754-38D6-4F07-93ED-AB9CF65C26E6}" sibTransId="{D8B3E2FF-A011-4D73-8446-CA8B1579C3C5}"/>
    <dgm:cxn modelId="{426D7CCE-1525-4ABB-A522-20D6AF2F7DE0}" type="presParOf" srcId="{9C7CF154-CF67-432F-A67C-2909E18FC146}" destId="{0B297AFB-925F-43C0-925E-678E51CE7E2D}" srcOrd="0" destOrd="0" presId="urn:microsoft.com/office/officeart/2005/8/layout/vList2"/>
    <dgm:cxn modelId="{1D164C14-1CFF-4CF7-9C67-5E5AE761447C}" type="presParOf" srcId="{9C7CF154-CF67-432F-A67C-2909E18FC146}" destId="{69BD7DA7-8C63-4503-BF2E-F7948E2106ED}" srcOrd="1" destOrd="0" presId="urn:microsoft.com/office/officeart/2005/8/layout/vList2"/>
    <dgm:cxn modelId="{1320A235-AAA7-477C-B1E3-62516F52C209}" type="presParOf" srcId="{9C7CF154-CF67-432F-A67C-2909E18FC146}" destId="{BB2775B2-51FE-4294-B779-BE744D86E85C}" srcOrd="2" destOrd="0" presId="urn:microsoft.com/office/officeart/2005/8/layout/vList2"/>
    <dgm:cxn modelId="{1DCBFE78-C90B-4F35-B234-8AA5715D4AB0}" type="presParOf" srcId="{9C7CF154-CF67-432F-A67C-2909E18FC146}" destId="{E6E5809A-904C-4D5D-AAD6-8B14267208C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9BDCB-F0C6-440F-BF36-3B6FBB9460CC}">
      <dsp:nvSpPr>
        <dsp:cNvPr id="0" name=""/>
        <dsp:cNvSpPr/>
      </dsp:nvSpPr>
      <dsp:spPr>
        <a:xfrm>
          <a:off x="0" y="27519"/>
          <a:ext cx="8459190" cy="898560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Objetivo</a:t>
          </a:r>
          <a:endParaRPr lang="pt-BR" sz="2800" b="1" kern="1200" dirty="0"/>
        </a:p>
      </dsp:txBody>
      <dsp:txXfrm>
        <a:off x="43864" y="71383"/>
        <a:ext cx="8371462" cy="810832"/>
      </dsp:txXfrm>
    </dsp:sp>
    <dsp:sp modelId="{4D4C0BD4-97A5-439F-88F9-6847274DE992}">
      <dsp:nvSpPr>
        <dsp:cNvPr id="0" name=""/>
        <dsp:cNvSpPr/>
      </dsp:nvSpPr>
      <dsp:spPr>
        <a:xfrm>
          <a:off x="0" y="1064319"/>
          <a:ext cx="8459190" cy="898560"/>
        </a:xfrm>
        <a:prstGeom prst="roundRect">
          <a:avLst/>
        </a:prstGeom>
        <a:solidFill>
          <a:schemeClr val="accent6">
            <a:shade val="50000"/>
            <a:hueOff val="-230847"/>
            <a:satOff val="15390"/>
            <a:lumOff val="200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Funcionalidades do </a:t>
          </a:r>
          <a:r>
            <a:rPr lang="pt-BR" sz="2800" b="1" kern="1200" dirty="0" err="1" smtClean="0">
              <a:latin typeface="+mj-lt"/>
            </a:rPr>
            <a:t>App</a:t>
          </a:r>
          <a:endParaRPr lang="pt-BR" sz="2800" b="1" kern="1200" dirty="0"/>
        </a:p>
      </dsp:txBody>
      <dsp:txXfrm>
        <a:off x="43864" y="1108183"/>
        <a:ext cx="8371462" cy="810832"/>
      </dsp:txXfrm>
    </dsp:sp>
    <dsp:sp modelId="{FBD3D3E1-B5DB-45F4-90B1-79D102C84DD8}">
      <dsp:nvSpPr>
        <dsp:cNvPr id="0" name=""/>
        <dsp:cNvSpPr/>
      </dsp:nvSpPr>
      <dsp:spPr>
        <a:xfrm>
          <a:off x="0" y="2101120"/>
          <a:ext cx="8459190" cy="898560"/>
        </a:xfrm>
        <a:prstGeom prst="roundRect">
          <a:avLst/>
        </a:prstGeom>
        <a:solidFill>
          <a:schemeClr val="accent6">
            <a:shade val="50000"/>
            <a:hueOff val="-461694"/>
            <a:satOff val="30780"/>
            <a:lumOff val="40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/>
            <a:t>Notificações </a:t>
          </a:r>
          <a:r>
            <a:rPr lang="pt-BR" sz="2800" b="1" kern="1200" dirty="0" err="1" smtClean="0"/>
            <a:t>Push</a:t>
          </a:r>
          <a:endParaRPr lang="pt-BR" sz="2800" b="1" kern="1200" dirty="0"/>
        </a:p>
      </dsp:txBody>
      <dsp:txXfrm>
        <a:off x="43864" y="2144984"/>
        <a:ext cx="8371462" cy="810832"/>
      </dsp:txXfrm>
    </dsp:sp>
    <dsp:sp modelId="{F387EFB4-A814-4FC9-807C-248D67A7B341}">
      <dsp:nvSpPr>
        <dsp:cNvPr id="0" name=""/>
        <dsp:cNvSpPr/>
      </dsp:nvSpPr>
      <dsp:spPr>
        <a:xfrm>
          <a:off x="0" y="3137920"/>
          <a:ext cx="8459190" cy="898560"/>
        </a:xfrm>
        <a:prstGeom prst="roundRect">
          <a:avLst/>
        </a:prstGeom>
        <a:solidFill>
          <a:schemeClr val="accent6">
            <a:shade val="50000"/>
            <a:hueOff val="-230847"/>
            <a:satOff val="15390"/>
            <a:lumOff val="200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Arquitetura</a:t>
          </a:r>
          <a:endParaRPr lang="pt-BR" sz="2800" b="1" kern="1200" dirty="0"/>
        </a:p>
      </dsp:txBody>
      <dsp:txXfrm>
        <a:off x="43864" y="3181784"/>
        <a:ext cx="8371462" cy="810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97AFB-925F-43C0-925E-678E51CE7E2D}">
      <dsp:nvSpPr>
        <dsp:cNvPr id="0" name=""/>
        <dsp:cNvSpPr/>
      </dsp:nvSpPr>
      <dsp:spPr>
        <a:xfrm>
          <a:off x="0" y="3870"/>
          <a:ext cx="8573984" cy="40864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/>
            <a:t>Aplicativo Smiles</a:t>
          </a:r>
          <a:endParaRPr lang="pt-BR" sz="2400" b="1" kern="1200" dirty="0"/>
        </a:p>
      </dsp:txBody>
      <dsp:txXfrm>
        <a:off x="19948" y="23818"/>
        <a:ext cx="8534088" cy="368747"/>
      </dsp:txXfrm>
    </dsp:sp>
    <dsp:sp modelId="{69BD7DA7-8C63-4503-BF2E-F7948E2106ED}">
      <dsp:nvSpPr>
        <dsp:cNvPr id="0" name=""/>
        <dsp:cNvSpPr/>
      </dsp:nvSpPr>
      <dsp:spPr>
        <a:xfrm>
          <a:off x="0" y="412514"/>
          <a:ext cx="8573984" cy="1677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22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kern="1200" dirty="0" smtClean="0"/>
            <a:t>Criação do Aplicativo Smiles Mobile para </a:t>
          </a:r>
          <a:r>
            <a:rPr lang="pt-BR" sz="2400" b="1" u="sng" kern="1200" dirty="0" err="1" smtClean="0"/>
            <a:t>Android</a:t>
          </a:r>
          <a:r>
            <a:rPr lang="pt-BR" sz="2400" kern="1200" dirty="0" smtClean="0"/>
            <a:t> e </a:t>
          </a:r>
          <a:r>
            <a:rPr lang="pt-BR" sz="2400" b="1" u="sng" kern="1200" dirty="0" smtClean="0"/>
            <a:t>IOS</a:t>
          </a:r>
          <a:r>
            <a:rPr lang="pt-BR" sz="2400" kern="1200" dirty="0" smtClean="0"/>
            <a:t> (o desenvolvimento do </a:t>
          </a:r>
          <a:r>
            <a:rPr lang="pt-BR" sz="2400" kern="1200" dirty="0" err="1" smtClean="0"/>
            <a:t>App</a:t>
          </a:r>
          <a:r>
            <a:rPr lang="pt-BR" sz="2400" kern="1200" dirty="0" smtClean="0"/>
            <a:t> será feito pela .</a:t>
          </a:r>
          <a:r>
            <a:rPr lang="pt-BR" sz="2400" kern="1200" dirty="0" err="1" smtClean="0"/>
            <a:t>Mobi</a:t>
          </a:r>
          <a:r>
            <a:rPr lang="pt-BR" sz="2400" kern="1200" dirty="0" smtClean="0"/>
            <a:t>)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</dsp:txBody>
      <dsp:txXfrm>
        <a:off x="0" y="412514"/>
        <a:ext cx="8573984" cy="1677324"/>
      </dsp:txXfrm>
    </dsp:sp>
    <dsp:sp modelId="{BB2775B2-51FE-4294-B779-BE744D86E85C}">
      <dsp:nvSpPr>
        <dsp:cNvPr id="0" name=""/>
        <dsp:cNvSpPr/>
      </dsp:nvSpPr>
      <dsp:spPr>
        <a:xfrm>
          <a:off x="0" y="2089838"/>
          <a:ext cx="8573984" cy="40864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/>
            <a:t>Admistração de notificações PUSH</a:t>
          </a:r>
          <a:r>
            <a:rPr lang="pt-BR" sz="2400" kern="1200" dirty="0" smtClean="0"/>
            <a:t> </a:t>
          </a:r>
          <a:endParaRPr lang="pt-BR" sz="2400" kern="1200" dirty="0"/>
        </a:p>
      </dsp:txBody>
      <dsp:txXfrm>
        <a:off x="19948" y="2109786"/>
        <a:ext cx="8534088" cy="368747"/>
      </dsp:txXfrm>
    </dsp:sp>
    <dsp:sp modelId="{E6E5809A-904C-4D5D-AAD6-8B14267208C4}">
      <dsp:nvSpPr>
        <dsp:cNvPr id="0" name=""/>
        <dsp:cNvSpPr/>
      </dsp:nvSpPr>
      <dsp:spPr>
        <a:xfrm>
          <a:off x="0" y="2498482"/>
          <a:ext cx="8573984" cy="156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22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 smtClean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kern="1200" dirty="0" smtClean="0"/>
            <a:t>Criação de uma aplicação BackOffice ou utilizar algum produto de mercado para administração de envio de notificações PUSH aos clientes com avisos gerais e promoções especificas com possibilidade de segmentações e agendamento de envios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</dsp:txBody>
      <dsp:txXfrm>
        <a:off x="0" y="2498482"/>
        <a:ext cx="8573984" cy="1561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259" y="2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1"/>
            <a:ext cx="5760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Arquitetura Projeto APP</a:t>
            </a:r>
            <a:endParaRPr lang="en-US" sz="2000" b="1" dirty="0" smtClean="0">
              <a:solidFill>
                <a:schemeClr val="bg1"/>
              </a:solidFill>
              <a:latin typeface="+mj-lt"/>
              <a:cs typeface="Gotham Rounded Book"/>
            </a:endParaRPr>
          </a:p>
          <a:p>
            <a:pPr algn="r"/>
            <a:r>
              <a:rPr lang="en-US" sz="16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Julho</a:t>
            </a:r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/2015</a:t>
            </a:r>
            <a:endParaRPr lang="en-US" sz="16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Agenda</a:t>
            </a:r>
            <a:endParaRPr lang="en-US" sz="32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3999137237"/>
              </p:ext>
            </p:extLst>
          </p:nvPr>
        </p:nvGraphicFramePr>
        <p:xfrm>
          <a:off x="352301" y="1397000"/>
          <a:ext cx="845919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583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Objetivo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892131620"/>
              </p:ext>
            </p:extLst>
          </p:nvPr>
        </p:nvGraphicFramePr>
        <p:xfrm>
          <a:off x="237507" y="1397000"/>
          <a:ext cx="857398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207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Funcionalidades do </a:t>
            </a:r>
            <a:r>
              <a:rPr lang="pt-BR" sz="32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App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537281"/>
              </p:ext>
            </p:extLst>
          </p:nvPr>
        </p:nvGraphicFramePr>
        <p:xfrm>
          <a:off x="1068776" y="965200"/>
          <a:ext cx="7122724" cy="5303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38848"/>
                <a:gridCol w="3583876"/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FASE 1 (Q1 - 2016)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FASE 2 (Q2 - 2016)</a:t>
                      </a:r>
                      <a:endParaRPr lang="pt-BR" sz="1400" dirty="0"/>
                    </a:p>
                  </a:txBody>
                  <a:tcPr/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lang="pt-BR" sz="1400" dirty="0" err="1" smtClean="0"/>
                        <a:t>Login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dirty="0" smtClean="0"/>
                        <a:t>Crédito retroativo</a:t>
                      </a:r>
                      <a:endParaRPr lang="pt-BR" sz="1400" b="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Home / Minha Conta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dirty="0" smtClean="0"/>
                        <a:t>Promoções</a:t>
                      </a:r>
                      <a:endParaRPr lang="pt-BR" sz="1400" b="0" dirty="0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Clube Smiles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Empresas Parceiras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Sobre o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Saldo e Extrato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Meus Voos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Emitir Bilhete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Comprar Milhas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Compartilhamentos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Tutorial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 smtClean="0"/>
                        <a:t>Passbook</a:t>
                      </a:r>
                      <a:r>
                        <a:rPr lang="pt-BR" sz="1400" dirty="0" smtClean="0"/>
                        <a:t>  / </a:t>
                      </a:r>
                      <a:r>
                        <a:rPr lang="pt-BR" sz="1400" i="0" dirty="0" smtClean="0"/>
                        <a:t>Samsung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 smtClean="0"/>
                        <a:t>Check</a:t>
                      </a:r>
                      <a:r>
                        <a:rPr lang="pt-BR" sz="1400" dirty="0" smtClean="0"/>
                        <a:t>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Solicitação de créditos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Busca e emissão de congêneres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Reativação de milhas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 smtClean="0"/>
                        <a:t>Whishlist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91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Notificações </a:t>
            </a:r>
            <a:r>
              <a:rPr lang="pt-BR" sz="3200" b="1" dirty="0" err="1" smtClean="0">
                <a:solidFill>
                  <a:schemeClr val="bg1"/>
                </a:solidFill>
                <a:latin typeface="+mj-lt"/>
                <a:cs typeface="Gotham Rounded Book"/>
              </a:rPr>
              <a:t>Push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64835"/>
              </p:ext>
            </p:extLst>
          </p:nvPr>
        </p:nvGraphicFramePr>
        <p:xfrm>
          <a:off x="362197" y="1586941"/>
          <a:ext cx="8419606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29793"/>
                <a:gridCol w="4589813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Funcionalidade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Origem</a:t>
                      </a:r>
                      <a:r>
                        <a:rPr lang="pt-BR" baseline="0" dirty="0" smtClean="0"/>
                        <a:t> da informação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smtClean="0"/>
                        <a:t>Suspensão do clube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Siebel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Aviso de Resgate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Siebel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Aviso de Acumulo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Siebel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*Aviso de expiração reserva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TIVIT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*</a:t>
                      </a:r>
                      <a:r>
                        <a:rPr lang="pt-BR" sz="1800" dirty="0" err="1" smtClean="0"/>
                        <a:t>Reacomodação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aseline="0" dirty="0" smtClean="0"/>
                        <a:t>Navitaire (Atendimento baixa uma planilha)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*Aviso Viagem (7 dias antes-</a:t>
                      </a:r>
                      <a:r>
                        <a:rPr lang="pt-BR" sz="1800" dirty="0" err="1" smtClean="0"/>
                        <a:t>check</a:t>
                      </a:r>
                      <a:r>
                        <a:rPr lang="pt-BR" sz="1800" dirty="0" smtClean="0"/>
                        <a:t> in)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?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*Aviso de troca de senha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?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362197" y="5334000"/>
            <a:ext cx="841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smtClean="0"/>
              <a:t>* Em avaliação com a equipe de CRM se as funcionalidades serão implementadas para desenhar a solução que atenda.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18480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101 Rectángulo redondeado"/>
          <p:cNvSpPr/>
          <p:nvPr/>
        </p:nvSpPr>
        <p:spPr>
          <a:xfrm>
            <a:off x="251520" y="1794810"/>
            <a:ext cx="8712968" cy="4697303"/>
          </a:xfrm>
          <a:prstGeom prst="roundRect">
            <a:avLst>
              <a:gd name="adj" fmla="val 0"/>
            </a:avLst>
          </a:prstGeom>
          <a:solidFill>
            <a:srgbClr val="DD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142" name="Retângulo 141"/>
          <p:cNvSpPr/>
          <p:nvPr/>
        </p:nvSpPr>
        <p:spPr>
          <a:xfrm>
            <a:off x="7384344" y="5613400"/>
            <a:ext cx="1572834" cy="8787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 103"/>
          <p:cNvSpPr/>
          <p:nvPr/>
        </p:nvSpPr>
        <p:spPr>
          <a:xfrm>
            <a:off x="7391654" y="4648200"/>
            <a:ext cx="1565524" cy="965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Retângulo 102"/>
          <p:cNvSpPr/>
          <p:nvPr/>
        </p:nvSpPr>
        <p:spPr>
          <a:xfrm>
            <a:off x="7391654" y="3683000"/>
            <a:ext cx="1565524" cy="965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0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cs typeface="Gotham Rounded Book"/>
              </a:rPr>
              <a:t>Arquitetura </a:t>
            </a:r>
            <a:endParaRPr lang="en-US" sz="3200" b="1" dirty="0">
              <a:solidFill>
                <a:schemeClr val="bg1"/>
              </a:solidFill>
              <a:cs typeface="Gotham Rounded Book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01881" y="1997839"/>
            <a:ext cx="66561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endParaRPr lang="pt-BR" dirty="0"/>
          </a:p>
        </p:txBody>
      </p:sp>
      <p:sp>
        <p:nvSpPr>
          <p:cNvPr id="38" name="95 Rectángulo redondeado"/>
          <p:cNvSpPr/>
          <p:nvPr/>
        </p:nvSpPr>
        <p:spPr>
          <a:xfrm>
            <a:off x="3658425" y="1957361"/>
            <a:ext cx="768440" cy="2939597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tx1"/>
                </a:solidFill>
                <a:latin typeface="+mj-lt"/>
              </a:rPr>
              <a:t>API Gateway</a:t>
            </a:r>
            <a:endParaRPr lang="es-CL" sz="1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0" name="61 Conector recto"/>
          <p:cNvCxnSpPr/>
          <p:nvPr/>
        </p:nvCxnSpPr>
        <p:spPr>
          <a:xfrm>
            <a:off x="3344826" y="1368522"/>
            <a:ext cx="32054" cy="5127154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95 Rectángulo redondeado"/>
          <p:cNvSpPr/>
          <p:nvPr/>
        </p:nvSpPr>
        <p:spPr>
          <a:xfrm>
            <a:off x="3648650" y="5464648"/>
            <a:ext cx="811740" cy="88343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AWS SNS</a:t>
            </a:r>
          </a:p>
        </p:txBody>
      </p:sp>
      <p:sp>
        <p:nvSpPr>
          <p:cNvPr id="47" name="95 Rectángulo redondeado"/>
          <p:cNvSpPr/>
          <p:nvPr/>
        </p:nvSpPr>
        <p:spPr>
          <a:xfrm>
            <a:off x="4996241" y="1946728"/>
            <a:ext cx="562406" cy="295445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OSB  </a:t>
            </a:r>
          </a:p>
        </p:txBody>
      </p:sp>
      <p:sp>
        <p:nvSpPr>
          <p:cNvPr id="48" name="95 Rectángulo redondeado"/>
          <p:cNvSpPr/>
          <p:nvPr/>
        </p:nvSpPr>
        <p:spPr>
          <a:xfrm>
            <a:off x="6168985" y="2494993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Microserviços</a:t>
            </a:r>
          </a:p>
        </p:txBody>
      </p:sp>
      <p:sp>
        <p:nvSpPr>
          <p:cNvPr id="52" name="AutoShape 2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63500" y="3047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3" name="AutoShape 4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215900" y="4571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4" name="AutoShape 10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520700" y="7619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5" name="AutoShape 12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673100" y="9143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713" y="1132408"/>
            <a:ext cx="11334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95 Rectángulo redondeado"/>
          <p:cNvSpPr/>
          <p:nvPr/>
        </p:nvSpPr>
        <p:spPr>
          <a:xfrm>
            <a:off x="7741743" y="5991552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Amadeus</a:t>
            </a:r>
          </a:p>
        </p:txBody>
      </p:sp>
      <p:sp>
        <p:nvSpPr>
          <p:cNvPr id="89" name="95 Rectángulo redondeado"/>
          <p:cNvSpPr/>
          <p:nvPr/>
        </p:nvSpPr>
        <p:spPr>
          <a:xfrm>
            <a:off x="7717462" y="4155790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Siebel Loyalty</a:t>
            </a:r>
          </a:p>
        </p:txBody>
      </p:sp>
      <p:sp>
        <p:nvSpPr>
          <p:cNvPr id="90" name="95 Rectángulo redondeado"/>
          <p:cNvSpPr/>
          <p:nvPr/>
        </p:nvSpPr>
        <p:spPr>
          <a:xfrm>
            <a:off x="7733367" y="5104609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err="1" smtClean="0">
                <a:solidFill>
                  <a:schemeClr val="bg1"/>
                </a:solidFill>
                <a:latin typeface="+mj-lt"/>
              </a:rPr>
              <a:t>NewSkies</a:t>
            </a:r>
            <a:endParaRPr lang="es-CL" sz="1000" dirty="0" smtClean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1" name="61 Conector recto"/>
          <p:cNvCxnSpPr/>
          <p:nvPr/>
        </p:nvCxnSpPr>
        <p:spPr>
          <a:xfrm>
            <a:off x="7359600" y="1408633"/>
            <a:ext cx="32054" cy="5127154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2" name="95 Rectángulo redondeado"/>
          <p:cNvSpPr/>
          <p:nvPr/>
        </p:nvSpPr>
        <p:spPr>
          <a:xfrm>
            <a:off x="5055939" y="5464649"/>
            <a:ext cx="942059" cy="88694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Smiles</a:t>
            </a:r>
          </a:p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BackOffice</a:t>
            </a:r>
            <a:endParaRPr lang="es-CL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4481743" y="5900956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</a:t>
            </a:r>
            <a:r>
              <a:rPr lang="pt-BR" sz="800" dirty="0" smtClean="0"/>
              <a:t>/</a:t>
            </a:r>
            <a:r>
              <a:rPr lang="pt-BR" sz="800" dirty="0" err="1" smtClean="0"/>
              <a:t>json</a:t>
            </a:r>
            <a:endParaRPr lang="pt-BR" sz="800" dirty="0"/>
          </a:p>
        </p:txBody>
      </p:sp>
      <p:sp>
        <p:nvSpPr>
          <p:cNvPr id="106" name="CaixaDeTexto 105"/>
          <p:cNvSpPr txBox="1"/>
          <p:nvPr/>
        </p:nvSpPr>
        <p:spPr>
          <a:xfrm>
            <a:off x="4909352" y="5208774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</a:t>
            </a:r>
            <a:r>
              <a:rPr lang="pt-BR" sz="800" dirty="0" smtClean="0"/>
              <a:t>/</a:t>
            </a:r>
            <a:r>
              <a:rPr lang="pt-BR" sz="800" dirty="0" err="1" smtClean="0"/>
              <a:t>rest</a:t>
            </a:r>
            <a:endParaRPr lang="pt-BR" sz="800" dirty="0"/>
          </a:p>
        </p:txBody>
      </p:sp>
      <p:sp>
        <p:nvSpPr>
          <p:cNvPr id="107" name="95 Rectángulo redondeado"/>
          <p:cNvSpPr/>
          <p:nvPr/>
        </p:nvSpPr>
        <p:spPr>
          <a:xfrm>
            <a:off x="7733367" y="1946728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err="1" smtClean="0">
                <a:solidFill>
                  <a:schemeClr val="bg1"/>
                </a:solidFill>
                <a:latin typeface="+mj-lt"/>
              </a:rPr>
              <a:t>ldap</a:t>
            </a:r>
            <a:endParaRPr lang="es-CL" sz="10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8" name="95 Rectángulo redondeado"/>
          <p:cNvSpPr/>
          <p:nvPr/>
        </p:nvSpPr>
        <p:spPr>
          <a:xfrm>
            <a:off x="7733364" y="2494883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Smiles </a:t>
            </a:r>
            <a:r>
              <a:rPr lang="es-CL" sz="1000" dirty="0" err="1" smtClean="0">
                <a:solidFill>
                  <a:schemeClr val="bg1"/>
                </a:solidFill>
                <a:latin typeface="+mj-lt"/>
              </a:rPr>
              <a:t>gateway</a:t>
            </a:r>
            <a:endParaRPr lang="es-CL" sz="10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9" name="95 Rectángulo redondeado"/>
          <p:cNvSpPr/>
          <p:nvPr/>
        </p:nvSpPr>
        <p:spPr>
          <a:xfrm>
            <a:off x="7733365" y="3063915"/>
            <a:ext cx="1003353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Smiles </a:t>
            </a:r>
            <a:r>
              <a:rPr lang="es-CL" sz="1000" dirty="0" err="1" smtClean="0">
                <a:solidFill>
                  <a:schemeClr val="bg1"/>
                </a:solidFill>
                <a:latin typeface="+mj-lt"/>
              </a:rPr>
              <a:t>pay</a:t>
            </a:r>
            <a:endParaRPr lang="es-CL" sz="1000" dirty="0" smtClean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046" name="Conector de seta reta 1045"/>
          <p:cNvCxnSpPr>
            <a:stCxn id="48" idx="3"/>
            <a:endCxn id="108" idx="1"/>
          </p:cNvCxnSpPr>
          <p:nvPr/>
        </p:nvCxnSpPr>
        <p:spPr>
          <a:xfrm flipV="1">
            <a:off x="7172338" y="2674903"/>
            <a:ext cx="561026" cy="110"/>
          </a:xfrm>
          <a:prstGeom prst="straightConnector1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angulado 1047"/>
          <p:cNvCxnSpPr>
            <a:stCxn id="48" idx="0"/>
            <a:endCxn id="107" idx="1"/>
          </p:cNvCxnSpPr>
          <p:nvPr/>
        </p:nvCxnSpPr>
        <p:spPr>
          <a:xfrm rot="5400000" flipH="1" flipV="1">
            <a:off x="7017892" y="1779519"/>
            <a:ext cx="368245" cy="1062705"/>
          </a:xfrm>
          <a:prstGeom prst="bentConnector2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angulado 1049"/>
          <p:cNvCxnSpPr>
            <a:stCxn id="48" idx="2"/>
            <a:endCxn id="109" idx="1"/>
          </p:cNvCxnSpPr>
          <p:nvPr/>
        </p:nvCxnSpPr>
        <p:spPr>
          <a:xfrm rot="16200000" flipH="1">
            <a:off x="7007562" y="2518132"/>
            <a:ext cx="388902" cy="1062703"/>
          </a:xfrm>
          <a:prstGeom prst="bentConnector2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de seta reta 1051"/>
          <p:cNvCxnSpPr>
            <a:endCxn id="89" idx="1"/>
          </p:cNvCxnSpPr>
          <p:nvPr/>
        </p:nvCxnSpPr>
        <p:spPr>
          <a:xfrm>
            <a:off x="5558647" y="4335810"/>
            <a:ext cx="2158815" cy="0"/>
          </a:xfrm>
          <a:prstGeom prst="straightConnector1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921" y="1406525"/>
            <a:ext cx="877681" cy="187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581" y="3869804"/>
            <a:ext cx="982223" cy="16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921" y="4837218"/>
            <a:ext cx="958516" cy="16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530" y="5764609"/>
            <a:ext cx="928696" cy="15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1" name="Conector angulado 110"/>
          <p:cNvCxnSpPr>
            <a:endCxn id="90" idx="1"/>
          </p:cNvCxnSpPr>
          <p:nvPr/>
        </p:nvCxnSpPr>
        <p:spPr>
          <a:xfrm>
            <a:off x="5558647" y="4515830"/>
            <a:ext cx="2174720" cy="768799"/>
          </a:xfrm>
          <a:prstGeom prst="bentConnector3">
            <a:avLst>
              <a:gd name="adj1" fmla="val 57884"/>
            </a:avLst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angulado 114"/>
          <p:cNvCxnSpPr>
            <a:endCxn id="88" idx="1"/>
          </p:cNvCxnSpPr>
          <p:nvPr/>
        </p:nvCxnSpPr>
        <p:spPr>
          <a:xfrm>
            <a:off x="5558647" y="4648200"/>
            <a:ext cx="2183096" cy="1523372"/>
          </a:xfrm>
          <a:prstGeom prst="bentConnector3">
            <a:avLst>
              <a:gd name="adj1" fmla="val 39238"/>
            </a:avLst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CaixaDeTexto 149"/>
          <p:cNvSpPr txBox="1"/>
          <p:nvPr/>
        </p:nvSpPr>
        <p:spPr>
          <a:xfrm>
            <a:off x="6760867" y="3986753"/>
            <a:ext cx="441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</a:p>
          <a:p>
            <a:r>
              <a:rPr lang="pt-BR" sz="800" dirty="0" err="1" smtClean="0"/>
              <a:t>soap</a:t>
            </a:r>
            <a:endParaRPr lang="pt-BR" sz="800" dirty="0"/>
          </a:p>
        </p:txBody>
      </p:sp>
      <p:sp>
        <p:nvSpPr>
          <p:cNvPr id="151" name="CaixaDeTexto 150"/>
          <p:cNvSpPr txBox="1"/>
          <p:nvPr/>
        </p:nvSpPr>
        <p:spPr>
          <a:xfrm>
            <a:off x="6802121" y="4920044"/>
            <a:ext cx="4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</a:p>
          <a:p>
            <a:r>
              <a:rPr lang="pt-BR" sz="800" dirty="0" err="1" smtClean="0"/>
              <a:t>soap</a:t>
            </a:r>
            <a:endParaRPr lang="pt-BR" sz="800" dirty="0"/>
          </a:p>
        </p:txBody>
      </p:sp>
      <p:sp>
        <p:nvSpPr>
          <p:cNvPr id="152" name="CaixaDeTexto 151"/>
          <p:cNvSpPr txBox="1"/>
          <p:nvPr/>
        </p:nvSpPr>
        <p:spPr>
          <a:xfrm>
            <a:off x="6777367" y="5850256"/>
            <a:ext cx="4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</a:p>
          <a:p>
            <a:r>
              <a:rPr lang="pt-BR" sz="800" dirty="0" err="1" smtClean="0"/>
              <a:t>soap</a:t>
            </a:r>
            <a:endParaRPr lang="pt-BR" sz="800" dirty="0"/>
          </a:p>
        </p:txBody>
      </p:sp>
      <p:sp>
        <p:nvSpPr>
          <p:cNvPr id="153" name="CaixaDeTexto 152"/>
          <p:cNvSpPr txBox="1"/>
          <p:nvPr/>
        </p:nvSpPr>
        <p:spPr>
          <a:xfrm>
            <a:off x="5997998" y="2884479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</a:t>
            </a:r>
            <a:r>
              <a:rPr lang="pt-BR" sz="800" dirty="0" smtClean="0"/>
              <a:t>/</a:t>
            </a:r>
          </a:p>
          <a:p>
            <a:r>
              <a:rPr lang="pt-BR" sz="800" dirty="0" err="1" smtClean="0"/>
              <a:t>rest</a:t>
            </a:r>
            <a:endParaRPr lang="pt-BR" sz="800" dirty="0"/>
          </a:p>
        </p:txBody>
      </p:sp>
      <p:sp>
        <p:nvSpPr>
          <p:cNvPr id="154" name="CaixaDeTexto 153"/>
          <p:cNvSpPr txBox="1"/>
          <p:nvPr/>
        </p:nvSpPr>
        <p:spPr>
          <a:xfrm>
            <a:off x="6707271" y="3254678"/>
            <a:ext cx="7455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  <a:r>
              <a:rPr lang="pt-BR" sz="800" dirty="0" err="1" smtClean="0"/>
              <a:t>soap</a:t>
            </a:r>
            <a:endParaRPr lang="pt-BR" sz="800" dirty="0" smtClean="0"/>
          </a:p>
        </p:txBody>
      </p:sp>
      <p:sp>
        <p:nvSpPr>
          <p:cNvPr id="155" name="CaixaDeTexto 154"/>
          <p:cNvSpPr txBox="1"/>
          <p:nvPr/>
        </p:nvSpPr>
        <p:spPr>
          <a:xfrm>
            <a:off x="7186881" y="2676441"/>
            <a:ext cx="506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</a:p>
          <a:p>
            <a:r>
              <a:rPr lang="pt-BR" sz="800" dirty="0" err="1" smtClean="0"/>
              <a:t>soap</a:t>
            </a:r>
            <a:endParaRPr lang="pt-BR" sz="800" dirty="0" smtClean="0"/>
          </a:p>
        </p:txBody>
      </p:sp>
      <p:sp>
        <p:nvSpPr>
          <p:cNvPr id="156" name="CaixaDeTexto 155"/>
          <p:cNvSpPr txBox="1"/>
          <p:nvPr/>
        </p:nvSpPr>
        <p:spPr>
          <a:xfrm>
            <a:off x="6734908" y="1915964"/>
            <a:ext cx="7455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err="1" smtClean="0"/>
              <a:t>ldaps</a:t>
            </a:r>
            <a:endParaRPr lang="pt-BR" sz="800" dirty="0" smtClean="0"/>
          </a:p>
        </p:txBody>
      </p:sp>
      <p:sp>
        <p:nvSpPr>
          <p:cNvPr id="159" name="95 Rectángulo redondeado"/>
          <p:cNvSpPr/>
          <p:nvPr/>
        </p:nvSpPr>
        <p:spPr>
          <a:xfrm>
            <a:off x="2441087" y="5479000"/>
            <a:ext cx="715336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Google GCM</a:t>
            </a:r>
          </a:p>
        </p:txBody>
      </p:sp>
      <p:sp>
        <p:nvSpPr>
          <p:cNvPr id="161" name="95 Rectángulo redondeado"/>
          <p:cNvSpPr/>
          <p:nvPr/>
        </p:nvSpPr>
        <p:spPr>
          <a:xfrm>
            <a:off x="1492470" y="5988047"/>
            <a:ext cx="715336" cy="36004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bg1"/>
                </a:solidFill>
                <a:latin typeface="+mj-lt"/>
              </a:rPr>
              <a:t>Apple APNS</a:t>
            </a:r>
          </a:p>
        </p:txBody>
      </p:sp>
      <p:cxnSp>
        <p:nvCxnSpPr>
          <p:cNvPr id="125" name="Conector de seta reta 124"/>
          <p:cNvCxnSpPr>
            <a:endCxn id="42" idx="3"/>
          </p:cNvCxnSpPr>
          <p:nvPr/>
        </p:nvCxnSpPr>
        <p:spPr>
          <a:xfrm flipH="1">
            <a:off x="4460390" y="5906367"/>
            <a:ext cx="595548" cy="1"/>
          </a:xfrm>
          <a:prstGeom prst="straightConnector1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61 Conector recto"/>
          <p:cNvCxnSpPr/>
          <p:nvPr/>
        </p:nvCxnSpPr>
        <p:spPr>
          <a:xfrm>
            <a:off x="2288341" y="1366334"/>
            <a:ext cx="32054" cy="5127154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29" name="Picture 17" descr="https://cloud.google.com/solutions/mobile/images/gcm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152" y="1309021"/>
            <a:ext cx="775271" cy="44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1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843" y="1305124"/>
            <a:ext cx="316591" cy="390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4" name="61 Conector recto"/>
          <p:cNvCxnSpPr/>
          <p:nvPr/>
        </p:nvCxnSpPr>
        <p:spPr>
          <a:xfrm>
            <a:off x="1345594" y="1360307"/>
            <a:ext cx="32054" cy="5127154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2" name="Conector de seta reta 131"/>
          <p:cNvCxnSpPr/>
          <p:nvPr/>
        </p:nvCxnSpPr>
        <p:spPr>
          <a:xfrm flipH="1">
            <a:off x="3156423" y="5613400"/>
            <a:ext cx="492227" cy="0"/>
          </a:xfrm>
          <a:prstGeom prst="straightConnector1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de seta reta 133"/>
          <p:cNvCxnSpPr>
            <a:endCxn id="161" idx="3"/>
          </p:cNvCxnSpPr>
          <p:nvPr/>
        </p:nvCxnSpPr>
        <p:spPr>
          <a:xfrm flipH="1">
            <a:off x="2207806" y="6168067"/>
            <a:ext cx="1440844" cy="0"/>
          </a:xfrm>
          <a:prstGeom prst="straightConnector1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3" name="Picture 2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24" y="2949575"/>
            <a:ext cx="4000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" name="Picture 25" descr="https://gun.io/static/uploads/ios42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24" y="2515331"/>
            <a:ext cx="424749" cy="2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7" descr="http://www.canon.pt/Images/Android-logo_tcm121-123268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85" y="2481053"/>
            <a:ext cx="336728" cy="33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" name="CaixaDeTexto 195"/>
          <p:cNvSpPr txBox="1"/>
          <p:nvPr/>
        </p:nvSpPr>
        <p:spPr>
          <a:xfrm>
            <a:off x="2441087" y="3316287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  <a:r>
              <a:rPr lang="pt-BR" sz="800" dirty="0" err="1" smtClean="0"/>
              <a:t>rest</a:t>
            </a:r>
            <a:endParaRPr lang="pt-BR" sz="800" dirty="0"/>
          </a:p>
        </p:txBody>
      </p:sp>
      <p:sp>
        <p:nvSpPr>
          <p:cNvPr id="175" name="CaixaDeTexto 174"/>
          <p:cNvSpPr txBox="1"/>
          <p:nvPr/>
        </p:nvSpPr>
        <p:spPr>
          <a:xfrm>
            <a:off x="282094" y="1372854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>
                <a:solidFill>
                  <a:schemeClr val="tx2"/>
                </a:solidFill>
              </a:rPr>
              <a:t>INTERNET</a:t>
            </a:r>
            <a:endParaRPr lang="pt-BR" sz="1400" b="1" dirty="0">
              <a:solidFill>
                <a:schemeClr val="tx2"/>
              </a:solidFill>
            </a:endParaRPr>
          </a:p>
        </p:txBody>
      </p:sp>
      <p:sp>
        <p:nvSpPr>
          <p:cNvPr id="209" name="CaixaDeTexto 208"/>
          <p:cNvSpPr txBox="1"/>
          <p:nvPr/>
        </p:nvSpPr>
        <p:spPr>
          <a:xfrm>
            <a:off x="1482687" y="5434228"/>
            <a:ext cx="6142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  <a:r>
              <a:rPr lang="pt-BR" sz="800" dirty="0" err="1" smtClean="0"/>
              <a:t>json</a:t>
            </a:r>
            <a:endParaRPr lang="pt-BR" sz="800" dirty="0"/>
          </a:p>
        </p:txBody>
      </p:sp>
      <p:sp>
        <p:nvSpPr>
          <p:cNvPr id="210" name="CaixaDeTexto 209"/>
          <p:cNvSpPr txBox="1"/>
          <p:nvPr/>
        </p:nvSpPr>
        <p:spPr>
          <a:xfrm>
            <a:off x="782836" y="5962150"/>
            <a:ext cx="6142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 err="1" smtClean="0"/>
              <a:t>https</a:t>
            </a:r>
            <a:r>
              <a:rPr lang="pt-BR" sz="800" dirty="0" smtClean="0"/>
              <a:t>/</a:t>
            </a:r>
            <a:r>
              <a:rPr lang="pt-BR" sz="800" dirty="0" err="1" smtClean="0"/>
              <a:t>json</a:t>
            </a:r>
            <a:endParaRPr lang="pt-BR" sz="800" dirty="0"/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983574" y="3254679"/>
            <a:ext cx="2665076" cy="1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do 13"/>
          <p:cNvCxnSpPr>
            <a:endCxn id="159" idx="1"/>
          </p:cNvCxnSpPr>
          <p:nvPr/>
        </p:nvCxnSpPr>
        <p:spPr>
          <a:xfrm rot="16200000" flipH="1">
            <a:off x="645283" y="3863216"/>
            <a:ext cx="1976020" cy="1615587"/>
          </a:xfrm>
          <a:prstGeom prst="bentConnector2">
            <a:avLst/>
          </a:prstGeom>
          <a:ln w="3175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>
            <a:endCxn id="161" idx="1"/>
          </p:cNvCxnSpPr>
          <p:nvPr/>
        </p:nvCxnSpPr>
        <p:spPr>
          <a:xfrm rot="16200000" flipH="1">
            <a:off x="-159749" y="4515848"/>
            <a:ext cx="2485068" cy="819370"/>
          </a:xfrm>
          <a:prstGeom prst="bentConnector2">
            <a:avLst/>
          </a:prstGeom>
          <a:ln w="3175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2" descr="C:\Users\JFERRERH\AppData\Local\Microsoft\Windows\Temporary Internet Files\Content.IE5\LX8E82E2\MC900433842[1]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189" y="6220741"/>
            <a:ext cx="254692" cy="25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de seta reta 10"/>
          <p:cNvCxnSpPr/>
          <p:nvPr/>
        </p:nvCxnSpPr>
        <p:spPr>
          <a:xfrm>
            <a:off x="4426865" y="3254680"/>
            <a:ext cx="569376" cy="0"/>
          </a:xfrm>
          <a:prstGeom prst="straightConnector1">
            <a:avLst/>
          </a:prstGeom>
          <a:ln w="3175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stCxn id="92" idx="0"/>
            <a:endCxn id="47" idx="2"/>
          </p:cNvCxnSpPr>
          <p:nvPr/>
        </p:nvCxnSpPr>
        <p:spPr>
          <a:xfrm rot="16200000" flipV="1">
            <a:off x="5120474" y="5058153"/>
            <a:ext cx="563466" cy="249525"/>
          </a:xfrm>
          <a:prstGeom prst="bentConnector3">
            <a:avLst/>
          </a:prstGeom>
          <a:ln w="31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endCxn id="48" idx="1"/>
          </p:cNvCxnSpPr>
          <p:nvPr/>
        </p:nvCxnSpPr>
        <p:spPr>
          <a:xfrm flipV="1">
            <a:off x="5558647" y="2675013"/>
            <a:ext cx="610338" cy="579667"/>
          </a:xfrm>
          <a:prstGeom prst="bentConnector3">
            <a:avLst/>
          </a:prstGeom>
          <a:ln w="3175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8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0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9"/>
            <a:ext cx="4935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cs typeface="Gotham Rounded Book"/>
              </a:rPr>
              <a:t>Arquitetura </a:t>
            </a:r>
            <a:endParaRPr lang="en-US" sz="3200" b="1" dirty="0">
              <a:solidFill>
                <a:schemeClr val="bg1"/>
              </a:solidFill>
              <a:cs typeface="Gotham Rounded Book"/>
            </a:endParaRPr>
          </a:p>
        </p:txBody>
      </p:sp>
      <p:sp>
        <p:nvSpPr>
          <p:cNvPr id="52" name="AutoShape 2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63500" y="3047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3" name="AutoShape 4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215900" y="4571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3" name="AutoShape 8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368300" y="6095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4" name="AutoShape 10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520700" y="7619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5" name="AutoShape 12" descr="data:image/jpeg;base64,/9j/4AAQSkZJRgABAQAAAQABAAD/2wCEAAkGBxMHEhAPERQWEhIWEhQWFRIXFRQUGBQWFBQWFhYYFRQYHCggGRsmGxUeIj0hJiksLi4uFyAzODMtQygtMS4BCgoKDg0OGxAQGywkICYsLDQ3LCwsLCwsLDQvLCwsLCw0LCwsLCwsLCwsLCwsLCwsLCwsLCwsLDQsLCwsLCwsLP/AABEIAOEA4QMBEQACEQEDEQH/xAAcAAEAAgMBAQEAAAAAAAAAAAAABgcEBQgDAgH/xABHEAACAQMBAwkEBQkFCQEAAAAAAQIDBBEFBhIhBxMiMUFRYXGBFBWCkTJzg6HRI0JSYnKSorHBFlNjssI0Q5OUo7PS0+EX/8QAGgEBAAMBAQEAAAAAAAAAAAAAAAMEBQIGAf/EADMRAQACAgECBQEHAwMFAAAAAAABAgMRBBIhBTFBUWETFCIygcHR8JGhsUJx4SMzQ2KS/9oADAMBAAIRAxEAPwC8QAAAAAAAAAAAAAAAAAAAAAAAAAAAAAAAAAAAAAAAAAAAAAAAAAAAAAAAAAAAAAAAAAAAAAAAAAAAAAAAAAAAAAAAAAAAAAAAAAAAAAAAAAAAAAAAAAAAAAAAAAAAAAAAAAAAAAAAAAAAAAAAAAAAAAAAAAAAAAAAAAAAAAAAAAAAAAAAAAAAAAAAAAAAAAAAAAAAAAAAAAAAAAAAAAAAAAAAAAMDV9Wp6QoSqt9Oe5FJZbeG/lhPid48dsk6qjy5a4q9VmHHaig+2S9F+JY+xZfhVjxDD8suhrdCt1VEvPK+98CO3Gy19EteXht5WZ0Jqaymmu9cSGYmPNYiYnvD6Pj6AAAAAAAAAAAAAAAAAAAAAAAAGk1faSlp+VFqcvPgvN9pbw8S+TvPaFHkc/Hi7R3lr9mdTqa7WnOT/J011LhFylnCx24Sb+RNysVMNIrHnKtweRfk5JtM9o/pv+folZnNdUvKNrHtV6qUX0beG79pUxKfniO6vPeNnw3Fqs3n1ef8YyTa0Y6+ndHFfSXaaXZi9F/d7UtTlDtHTWTqyVbbTtpJ2zypNeTIcnHreO8LGLm5Mc+yaaPtjGviNX95f1X4GZm4Ex3o2uN4pFu1/wCqVUqsayUotST6mjOms1nUtatotG4fZ8dAAAAAAAAAAAAAAAAAAAAfknu8XwXeCZ0hG1O1eM06TxHqcu2X4I1uLwtfev5sLneI/wCmnl/lXt7qLq5bfA1IiI8mN02yd7Lb2G073dZ0lJYnUXOT858Un5RwvQ8/zMv1Msz6R2eq4GD6OGK+s9201a/jpVGtcVPoUqcpvvaim8LxfV6latZtOoW5nUbc5Tvp3Mp1ajzOpOU5v9abcnjwyz0uOsUrFY9Hmsu8l5tPq/FcHe3H033G5G3E42RTucn3aK2KJZlvduHFM+7Q/RmJ3CV7ObUTsJLjmL64vqf4PxKmfjVywv8AF5eTDPfyWbp19DUYKpTeU+tdqfczDyY7Y7dNno8OauWvVVlEaUAAAAAAAAAAAAAAAAAAEM212g5lOjB9X0n3vuNTg8bf37MTxLm9P/Tr/PhWN7dubbZreXaGNjxzaeqz92YsXrt5Qt+uLnvVPq4dKWfPG78SK/Iy/TxzZpcbB15Ih0B1HnXolb8tmsezW9Gzi+lXnvT+qotSfzm4eiZd4OPqydXsr8m2qa91OuZs7Zf0zfGz6b6VQbczR6wrHW0Vsb2jcYG0f02ZbXYczVM9kdopadNPri+Eo96/Er8jBGWuvV3x89sF9+i2qFZXEYzi8xksp+DMC1ZrOpekraLRFo8nofHQAAAAAAAAAAAAAAAA12vah7uoyn+c+EfN9voT8fF9S8R6K3KzfSxzb1Uzq1468m2z0UR0xp5PvlvuUeu6+T5K7SiyeRbScRuL6S4yfNU3+rHEpteDlhfAzJ8QybmKR/u2eDj1E2WeZq+qvb7YW/2jvZ3FN0eaVOnTpKVScZKMVvSytxrO/KXb1YL/ABuRjxV1O9oMuKbz2RS+5NNStIuSpQq47KdSLfynu58lxLVebimfZD9nsh8k4NppxabTi004tPDTT4pp8MMtRO0c115v2OXwXF9iXW33JDbmapzT5K9Rkk/yCyup1ZZXg8Qaz6lT7fi+f5+bueJaX0+SzUV/cf8AFl/4H37fi+f5+bn7Hb4fsOTPUaf5tJ+VX8UfY5+L5R24N59mHd6Xc6E4q5pSpZeFJ4lFvuU4txz4ZyWcefHk/DKlm418f4o7LH5PNZ55O3k/GH+pf1+ZQ5+H/wAkLfhufzxT+SbmW2AAAAAAAAAAAAAAAABX3KHqOZc2nwiser4v+nyNnw/FqvV7vO+L5926I9FZ3tXBoypYaahp6jdRqMVmTaSS6228JL1I5nXm0MdduktmtKWiWtvbLH5OmlJrtm+M5esm36nncuT6l5t7tylemsVfu0et0tnberd1883TSyopOUnKSjGMU2uLbS6zmtZtOodTOu6PbI8o1vtXXdtRo3EJKnKo5VI0lFRi4ri41JPOZLsJMmC1I3L5W8T5JmQulAcs9KFnqbcVh1LalUml+nvVIZfi4wj8jU4eT7mpV80Rticl2mLW9QoJrMKOa8/s2txfvuPomS8nL045169nGOu7OijGW0Y2t25tdk50qdxzjnUi5KNOKk1FPGZZaxl/yZJTFa/4XNrRXzemyO2dvta6yt1VXNbm85w3V097GHl5fRYvjtT8RW0W8m71CyhqNOdCrHepzi4yXg+7ua689jRzW01ncPtqxaNSpLZfU/YKscTTcKjWf0t2TWfXH3noZj6uPv6w8zafoZtx6SvKlUVaMZLqaTXk1lHnZiYnUvTVtFoiYfZ8fQAAAAAAAAAAAAAH43jiBQ21GrSvqk55wnJtLzZ6jHjjHWKw8ZOSc+Sbz7ofeVXJ9bPl5X8NISLkq0h6xqNFy406CdeXdmDSprz32n8DM/lZOnHPy1sFI6nRBkLyneX3Wv8AZdPi++4qLwWYUk/Bvffwot8Sm7dSLNOo02HILo/s9vcXslxrVNyD/wAOjlNrzm5L4EOXfdor7GKNRtaRUSuWtt9Z9/393cp5g6jhTfWubpdCDXg8b3xGpgp00hVyTuy2OQnRvZLSreSXSuKmI/V0W4r5zc/kity77t0+yXFXUbWaVErmPlF1n35qN1WTzCEuZp/sUcxyvBz3pfEanGp00/3VMs7nS5OR3R/denUqjWJ3Ddd/sySVP+BRfxMpcm/Vkn4T466q3u2ur+4rG6uU8SjSah9ZPoU/45IjpXqtEO7TqNuddLlzW6u7B6Wnk8zya726E2BvPbLKi28uO9B/C+H8LRh8+nTmn57tfwy/Vxq79Nx/PySEptAAAAAAAAAAAAAABiatU5qhXl3Uqj+UGyTDG8lY+YQ8m3Thvb2if8Oe9SeWz1Fnj+PHZobnrIbtXEufkS0b2K0qXUl0ripw+rpZjH+JzfqjF5l936fZtceNV2sYpp3LO2Gqy2lv7m4h0+cq83RSecwjinSUe7ewpY75s1cFejH3Vck9VtOldnNKjolrb2seqlSjFv8ASkl0pessv1My9uq0ysxGo01fKPrXuHTrqtF4qOHN0+/nKvQi15Z3vhPuOvVaILTqNuZ7K0ldzp0KazOc4U4L9abUY/ezX3ERtT85dY6Pp8dJoULan9ClThBeKjFLL8X1+pj2tNpmZXIjTWbea1/Z+wurlPE1Tcaf1tToU+HhKSfkmKV6rRBM6jbmvZ7SXrNxbWccrnakYNrrUeucvSCb9DWvbopM+ypWOqzrCjSVGMYRWIxSSS6kksJIx1xVPL3q/N07Sxi+M5utNfq01uwT8HKefsy3xK7vv2RZp+7pVlrLDRtUljciq8+SSrv2tWPdWz84R/AzPE4+/Wfj9U/hH/btHz+kJyZrXAAAAAAAAAAAAAAYesw5y3uI99GovnBkuCdZaz8x/lX5derBeP8A1n/DnzUlxZ6ezyXH8mnhayvakKNNZnUnGEV3ym1FfeyDJMREzLUwxuYh07pdjHTKNG3h9CnTjCPlFJZfjwPOWtNpmZegiNRpHuVDW/cWnXNSLxUqLmaXHD36vRyvGMd6XwnWKnVeIfLTqNqa5I9F966lQys06CdeXDhmGFTXnvyjL4GX+Tbpx691fFG7bdIGYtKV5fdY52raWEXwhF16i/WlmnS+SU/3kXOJXvNkWWe2mn5FdG95X/PyWYW0HP7SeYU18t9+cUTcq+qa90eKNzt0EZqypvl91nelaafF9WbiovnTpL/O8eCLfEpuepDmntph8g2je03FxeyXRowVOD/xKnGTXioJL7Qk5d+0VfMNfVeBQTuZ+UrV/fWqXU08wpyVvDyo5Uv+o5v1Rp8Suqb91bLPdqbbsNGjN5C8eSCGLas++ql8oL8TN8Tn79Y+EvhMfctPz+iema1gAAAAAAAAAAAAAHzOO+mn1NNfM+xOp2+TG40571y3dvOcH1xk4vzTw/5Hqt9URaPV4rFE0maz6Tpt+SjSPb7/AJ5rMKEHP45ZjBf5n8Jn+IZOnHr3bvh1Oq3V7LvMRsqP5eNZ9pubexi+jRg6s12c5V4QT8VBN/aF7h087IM9u2ki5CNI9mtK1410q9Xdi/8ADo5j/wBxz+SOOXbd+n2dYY1XazW8cWVErlTavWP7QXl1d5zGpVfN/Vw6FPh2dGKfm2auCnTSIVck7svDkZ0X3Xp8KslidzJ1n+w+jSXlure+NlLlX6r69k2ONVTtvBXSOVtsta9/3t3d5zCVRqnx4c1TW5BruzGO9jvkzVwU6aQqZJ3Z0ByZaJ7i063pyWKk1z1Xv36uHh+MY7sfhM/NfrvMrNI1DZ7W6wtAs7q7eM06UnFPtm+FNes2l6kdY3OnU9nKtsm+ttvrbfFtvrbffk2aRqNKdp221pHLRcpDM5NnQHJlaezWMH/eTnP79xfdAxvELbza9oj91/wynTg37zM/p+iVlJoAAAAAAAAAAAAAAAFQcpWm+y3M5JdGolNeb4S+9N+p6Hg5OvBEe3Z5PxDH9LlTPpbv+/8AdLeSzSvYLPnWsTrzc/HcXRgvLg5fEZfPydWXXs3vD8fThiZ9UwqVFSTlJ4STbb6klxbZSXnK2tX09obqvcJNzuK7dOPbiTUKMPNRUY+hsYq/TxxtSvbqu6c0DTI6NbW9rHqpUoQz3uKScn4t5fqZNrdVplciNRpoOVXWfcum3MovFSquYp8cPeq5Umn3qG9L4TrFTqvEPlp1G3POhaW9YuLe0jwdWpGGV+bFvpSXlHL9DVtbprNvZUr3nTrChRjbxjTgt2MYqMUupKKwkvRGNM7XWt2rta99Z3NG1cY16lNwhKcnFR3+jJ7yTaai21w60j7XW+4p/RuRu8jWoe0St/Z41IOooznJyhFpyioumlxSx19petyq67bQxi77XsUEyouXzXVGnb6dB9KclWqpdkIZVOL858fsyzxabtv2R5LahUdtA1aQp3tqG80e0ldThCKzKUlFLvbeEvmWo1WNyyM8zaemPOXSmm2isKVKjHqhCMfPdWMnmsl+u02n1ekxUjHSKR6QyTh2AAAAAAAAAAAAAAARrbzR/elu5RWZ0syXjH85fJZ9C9wM/wBPJ0z5T/IZfi3G+rh6q+de/wCXr/PhWf8AbLUNOjGlTrJQhFRinSpPEYrCWd3uNHJwMVrTPfuz+P4pkikV7dmt1fbvUL+lUoTrR3KkJQnu04RbjJYklJLhlcPUijgY6zvuuR4he0eUIpZXMtOq0q1PG/TnGcN5KSUovKyu3iS5KdUTWXWPJqdpd/8ArWpx7bd+dGX9KhS+xU95XI5Hw0G1W2F3tUqUblw3ablKMacHBb0ljelmTy0uHqyTHx6453Dm+WbRpK+QrR/a7uteSXRoU92Lx/vKuVlPvUFL99EXLvqsV93eGNztehnLKt9u+VRbL3Ts6VuriUIRdSTq83uymt5QwoSy93D+JE2PDN424teKo2+XSr2WMP8AmJf+ok+yz7vn1Ia7UOWi/uU1RpUKGc9LE6sl5NtR+cWd14kesvk5fZA7i4qajUnXrTlVqzeZ1JPLk+r0SSxhcEkki5jxxWNQgtbfdlUKZbpVRz5Fo8k2ge0VXdSXQpfR8ajXD5J59UVufm6MfRHnP+Efh+L6uX6k+Vf8/wDC3jEbwAAAAAAAAAAAAAAAAAVNt9sz7BN1aa/IzeVj8yXbHy7v/h6Dhcn61Om34o/v8vJ+IcSeLk66/gn+3x+yv7mhgtTDjHka2tSwcTC5S7GlEhmFqltvGawcSnh0ZyWaL7l06gpLFSr+Xqd+aiTin4qCivRmRyL9WSV/HXVUovbqNjTqVqj3YU4SnOXdGKcpP5IgduSdW1CWsV691P6VarOo1+ipPMY+SWF6Grjp01iFa07liqJJpy9qdPJ1EPkyzaNLBNWqvkyaSHZvRamrVYUaazKT9Eu2T8ES3vXHWbWZturNeKU85dCaLpkNHo06FP6MV19sm+Lk/Nnnc2Wct5tL0ODDXDSKVZxGlAAAAAAAAAAAAAAAAADxu7aN5CVOot6Mlho6pe1LRavm4yY65KzS8biVSbYbJy0uTklvUm+jP+ku5/zPQ8blVzx8+zyXL4l+JbfnX3/dCLq2cSeYMeWJa2tQwcTVcpkZuyuh+/ry3tmsxlUTqfVw6U/LMU15tFXPP06TZf489doh04ljgYTVV5y36z7BYq1i8VLqe518eahiVV+X0Y/aE/Hp1XcZLahQqomr0qu3rC3Ooo4m8QyadElrRBkzabvQtEqarUjSpRcpPs7l2tvsXid2tXHXqtPZQm98tuikble2yOzFPZynhYlVklzlT/THuivv/lh8nkzmt8ezb4nEjBX3tPnP89G/Kq2AAAAAAAAAAAAAAAAAAAB8VqUa8XCaUotYcWsprxR9raazuHNqVvE1tG4lANpeT/nMzteK/um+K/Zk+vyfzNfB4jE9sv8AVgcnwe1J6uP/APM/pP7/ANVdajos7STjODjJdjTTNKsxaN1ncMz6lsdum8TE/Kccjuh8zK4vJLjhUYfdKp/p+8yvEsneKfm3/C46qzf8lnmU1VAcqmp++dQqRTzTt1zMe7fTzVfnvdH7M2ODh1Tqn1Z3LzxFumETjbt9he6FK3IZNGxc+w6iqvfkpvszyd19RxOouZp/pSXSa/Vh1+rwirm5mPH2jvPx+6TFxM+edz92Pnz/AKLY0PQqOhQ5ujHGfpTfGU8fpP8Ap1GPmz3yzu0tvBxseCuqR+frLZkKcAAAAAAAAAAAAAAAAAAAAAAAeF3Z071btSEZrukk/l3HdMlqTus6R5MVMkavETHy/LGyhp8FSpR3YJtpce1tvi/FjJktkt1WnuYsVMVeikah61c7st3G9h7uerOOGfDJwkVnS5KZPjO4UpNtyluNuUm8yb4ri28mtXxGlaxWK/3Y2Tw3Le02m/n8f8tpZcmFvSxzlSc/2VGCfzycW8Tv/prEf3/Z1Xwin+u8z/t2/dJ9L2ettKw6VKMZfpvpS/ellr0KeTk5cn4pXsPEw4u9K9/fzn+raECy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673100" y="9143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2" name="CaixaDeTexto 71"/>
          <p:cNvSpPr txBox="1"/>
          <p:nvPr/>
        </p:nvSpPr>
        <p:spPr>
          <a:xfrm>
            <a:off x="178130" y="1353924"/>
            <a:ext cx="87758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Avaliação de serviços de PUSH: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Amazon SNS para abstração do envio de notificações aos serviços das plataformas Android e Apple. </a:t>
            </a:r>
            <a:r>
              <a:rPr lang="pt-BR" b="1" i="1" dirty="0" smtClean="0"/>
              <a:t>(Necessário construção de Sistema para administração das campanhas)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mtClean="0"/>
              <a:t>Ferramenta da </a:t>
            </a:r>
            <a:r>
              <a:rPr lang="pt-BR" dirty="0" err="1" smtClean="0"/>
              <a:t>Responsys</a:t>
            </a:r>
            <a:r>
              <a:rPr lang="pt-BR" dirty="0" smtClean="0"/>
              <a:t> para envio de notificações e administração de campanhas.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Criação de contas no </a:t>
            </a:r>
            <a:r>
              <a:rPr lang="pt-BR" sz="2400" b="1" i="1" dirty="0" smtClean="0"/>
              <a:t>Google </a:t>
            </a:r>
            <a:r>
              <a:rPr lang="pt-BR" sz="2400" b="1" i="1" dirty="0" err="1" smtClean="0"/>
              <a:t>Cloud</a:t>
            </a:r>
            <a:r>
              <a:rPr lang="pt-BR" sz="2400" b="1" i="1" dirty="0" smtClean="0"/>
              <a:t> </a:t>
            </a:r>
            <a:r>
              <a:rPr lang="pt-BR" sz="2400" b="1" i="1" dirty="0" err="1" smtClean="0"/>
              <a:t>Messaging</a:t>
            </a:r>
            <a:r>
              <a:rPr lang="pt-BR" sz="2400" b="1" i="1" dirty="0" smtClean="0"/>
              <a:t> </a:t>
            </a:r>
            <a:r>
              <a:rPr lang="pt-BR" sz="2400" dirty="0" smtClean="0"/>
              <a:t>e </a:t>
            </a:r>
            <a:r>
              <a:rPr lang="pt-BR" sz="2400" b="1" i="1" dirty="0" smtClean="0"/>
              <a:t>Apple </a:t>
            </a:r>
            <a:r>
              <a:rPr lang="pt-BR" sz="2400" b="1" i="1" dirty="0" err="1" smtClean="0"/>
              <a:t>Push</a:t>
            </a:r>
            <a:r>
              <a:rPr lang="pt-BR" sz="2400" b="1" i="1" dirty="0" smtClean="0"/>
              <a:t> </a:t>
            </a:r>
            <a:r>
              <a:rPr lang="pt-BR" sz="2400" b="1" i="1" dirty="0" err="1" smtClean="0"/>
              <a:t>Notification</a:t>
            </a:r>
            <a:r>
              <a:rPr lang="pt-BR" sz="2400" b="1" i="1" dirty="0" smtClean="0"/>
              <a:t> Service</a:t>
            </a:r>
            <a:r>
              <a:rPr lang="pt-BR" sz="2400" dirty="0" smtClean="0"/>
              <a:t> para envio das mensagens aos respectivos aplicativos </a:t>
            </a:r>
            <a:r>
              <a:rPr lang="pt-BR" sz="2400" dirty="0" err="1" smtClean="0"/>
              <a:t>Android</a:t>
            </a:r>
            <a:r>
              <a:rPr lang="pt-BR" sz="2400" dirty="0" smtClean="0"/>
              <a:t> e 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 smtClean="0"/>
          </a:p>
          <a:p>
            <a:r>
              <a:rPr lang="pt-BR" sz="2400" b="1" dirty="0" smtClean="0"/>
              <a:t>VOLUMETRIA ESTIMADA: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9026"/>
              </p:ext>
            </p:extLst>
          </p:nvPr>
        </p:nvGraphicFramePr>
        <p:xfrm>
          <a:off x="952152" y="5185228"/>
          <a:ext cx="6725758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73583"/>
                <a:gridCol w="1638795"/>
                <a:gridCol w="20133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Processos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Txn</a:t>
                      </a:r>
                      <a:r>
                        <a:rPr lang="pt-BR" dirty="0" smtClean="0"/>
                        <a:t>/</a:t>
                      </a:r>
                      <a:r>
                        <a:rPr lang="pt-BR" dirty="0" err="1" smtClean="0"/>
                        <a:t>seg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Tamanho</a:t>
                      </a:r>
                      <a:r>
                        <a:rPr lang="pt-BR" baseline="0" dirty="0" smtClean="0"/>
                        <a:t> (Kb)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Consumo </a:t>
                      </a:r>
                      <a:r>
                        <a:rPr lang="pt-BR" baseline="0" dirty="0" smtClean="0"/>
                        <a:t>de serviços Smiles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Envio de mensagens PUSH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14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259" y="2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1"/>
            <a:ext cx="5141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Obrigado!!!</a:t>
            </a:r>
            <a:endParaRPr lang="en-US" sz="1600" b="1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3604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5050</TotalTime>
  <Words>335</Words>
  <Application>Microsoft Office PowerPoint</Application>
  <PresentationFormat>Apresentação na tela (4:3)</PresentationFormat>
  <Paragraphs>99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LEONARDO CESTAROLLI</cp:lastModifiedBy>
  <cp:revision>278</cp:revision>
  <dcterms:created xsi:type="dcterms:W3CDTF">2014-01-24T21:35:00Z</dcterms:created>
  <dcterms:modified xsi:type="dcterms:W3CDTF">2015-08-06T17:31:25Z</dcterms:modified>
</cp:coreProperties>
</file>