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7" r:id="rId2"/>
    <p:sldId id="403" r:id="rId3"/>
    <p:sldId id="340" r:id="rId4"/>
    <p:sldId id="370" r:id="rId5"/>
    <p:sldId id="402" r:id="rId6"/>
    <p:sldId id="375" r:id="rId7"/>
    <p:sldId id="399" r:id="rId8"/>
    <p:sldId id="401" r:id="rId9"/>
    <p:sldId id="373" r:id="rId10"/>
    <p:sldId id="371" r:id="rId11"/>
    <p:sldId id="380" r:id="rId12"/>
    <p:sldId id="351" r:id="rId13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25" userDrawn="1">
          <p15:clr>
            <a:srgbClr val="A4A3A4"/>
          </p15:clr>
        </p15:guide>
        <p15:guide id="2" pos="320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24" autoAdjust="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40" y="78"/>
      </p:cViewPr>
      <p:guideLst>
        <p:guide orient="horz" pos="3725"/>
        <p:guide pos="320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B6C1BA-4DD5-4F5D-B649-1899D4898AB9}" type="doc">
      <dgm:prSet loTypeId="urn:microsoft.com/office/officeart/2005/8/layout/list1" loCatId="list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9BCCE3DD-07D7-455A-AE6D-C9869313C302}">
      <dgm:prSet custT="1"/>
      <dgm:spPr/>
      <dgm:t>
        <a:bodyPr/>
        <a:lstStyle/>
        <a:p>
          <a:r>
            <a:rPr lang="pt-BR" sz="1600" dirty="0" smtClean="0"/>
            <a:t>% e </a:t>
          </a:r>
          <a:r>
            <a:rPr lang="pt-BR" sz="1600" dirty="0" err="1" smtClean="0"/>
            <a:t>qtd</a:t>
          </a:r>
          <a:r>
            <a:rPr lang="pt-BR" sz="1600" dirty="0" smtClean="0"/>
            <a:t>. de estações de trabalho e servidores elegíveis que foram atualizados os patches</a:t>
          </a:r>
          <a:endParaRPr lang="pt-BR" sz="1600" dirty="0"/>
        </a:p>
      </dgm:t>
    </dgm:pt>
    <dgm:pt modelId="{6BF077D8-E9FB-4773-9989-C491AA6A8FCB}" type="parTrans" cxnId="{0FD41319-F5D7-4A20-A9E2-D6F8D4F5BDEA}">
      <dgm:prSet/>
      <dgm:spPr/>
      <dgm:t>
        <a:bodyPr/>
        <a:lstStyle/>
        <a:p>
          <a:endParaRPr lang="pt-BR" sz="1600"/>
        </a:p>
      </dgm:t>
    </dgm:pt>
    <dgm:pt modelId="{2031BE1F-94C6-4C96-88B5-42FC7F51A239}" type="sibTrans" cxnId="{0FD41319-F5D7-4A20-A9E2-D6F8D4F5BDEA}">
      <dgm:prSet/>
      <dgm:spPr/>
      <dgm:t>
        <a:bodyPr/>
        <a:lstStyle/>
        <a:p>
          <a:endParaRPr lang="pt-BR" sz="1600"/>
        </a:p>
      </dgm:t>
    </dgm:pt>
    <dgm:pt modelId="{8B7214A1-89D8-4E7E-90D3-DD594890501F}">
      <dgm:prSet custT="1"/>
      <dgm:spPr/>
      <dgm:t>
        <a:bodyPr/>
        <a:lstStyle/>
        <a:p>
          <a:r>
            <a:rPr lang="pt-BR" sz="1600" dirty="0" smtClean="0"/>
            <a:t>% e </a:t>
          </a:r>
          <a:r>
            <a:rPr lang="pt-BR" sz="1600" dirty="0" err="1" smtClean="0"/>
            <a:t>qtd</a:t>
          </a:r>
          <a:r>
            <a:rPr lang="pt-BR" sz="1600" dirty="0" smtClean="0"/>
            <a:t>. de estações de trabalho e servidores elegíveis que NÃO foram atualizados os patches</a:t>
          </a:r>
          <a:endParaRPr lang="pt-BR" sz="1600" dirty="0"/>
        </a:p>
      </dgm:t>
    </dgm:pt>
    <dgm:pt modelId="{F599689D-D879-48B6-9C0A-70B3BC1EECCB}" type="parTrans" cxnId="{C6B9FBC5-1282-49F7-9D93-6C66FAACE99E}">
      <dgm:prSet/>
      <dgm:spPr/>
      <dgm:t>
        <a:bodyPr/>
        <a:lstStyle/>
        <a:p>
          <a:endParaRPr lang="pt-BR" sz="1600"/>
        </a:p>
      </dgm:t>
    </dgm:pt>
    <dgm:pt modelId="{123E0B19-3BC3-45A9-9B07-9030A2E12EB0}" type="sibTrans" cxnId="{C6B9FBC5-1282-49F7-9D93-6C66FAACE99E}">
      <dgm:prSet/>
      <dgm:spPr/>
      <dgm:t>
        <a:bodyPr/>
        <a:lstStyle/>
        <a:p>
          <a:endParaRPr lang="pt-BR" sz="1600"/>
        </a:p>
      </dgm:t>
    </dgm:pt>
    <dgm:pt modelId="{2C6C4C29-BA2E-4CD0-A892-634CFB040E97}" type="pres">
      <dgm:prSet presAssocID="{48B6C1BA-4DD5-4F5D-B649-1899D4898AB9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D945BE3D-B5AB-4EDD-9B8B-90B4B522BBDE}" type="pres">
      <dgm:prSet presAssocID="{9BCCE3DD-07D7-455A-AE6D-C9869313C302}" presName="parentLin" presStyleCnt="0"/>
      <dgm:spPr/>
    </dgm:pt>
    <dgm:pt modelId="{ED2634FC-8B8D-4F30-813B-A502D2CDB586}" type="pres">
      <dgm:prSet presAssocID="{9BCCE3DD-07D7-455A-AE6D-C9869313C302}" presName="parentLeftMargin" presStyleLbl="node1" presStyleIdx="0" presStyleCnt="2"/>
      <dgm:spPr/>
    </dgm:pt>
    <dgm:pt modelId="{5EED9F32-72AF-4B19-B144-8BB9A40316E3}" type="pres">
      <dgm:prSet presAssocID="{9BCCE3DD-07D7-455A-AE6D-C9869313C302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75DD6A9-13A6-46E2-9DE2-1645F0577916}" type="pres">
      <dgm:prSet presAssocID="{9BCCE3DD-07D7-455A-AE6D-C9869313C302}" presName="negativeSpace" presStyleCnt="0"/>
      <dgm:spPr/>
    </dgm:pt>
    <dgm:pt modelId="{C4C25958-55B8-4181-AAE8-A4BE46818BC1}" type="pres">
      <dgm:prSet presAssocID="{9BCCE3DD-07D7-455A-AE6D-C9869313C302}" presName="childText" presStyleLbl="conFgAcc1" presStyleIdx="0" presStyleCnt="2">
        <dgm:presLayoutVars>
          <dgm:bulletEnabled val="1"/>
        </dgm:presLayoutVars>
      </dgm:prSet>
      <dgm:spPr/>
    </dgm:pt>
    <dgm:pt modelId="{212517D8-15C0-4988-AB2E-30F8CAC43608}" type="pres">
      <dgm:prSet presAssocID="{2031BE1F-94C6-4C96-88B5-42FC7F51A239}" presName="spaceBetweenRectangles" presStyleCnt="0"/>
      <dgm:spPr/>
    </dgm:pt>
    <dgm:pt modelId="{5AADCD0A-0486-4314-8DCB-392C6DE4DCB5}" type="pres">
      <dgm:prSet presAssocID="{8B7214A1-89D8-4E7E-90D3-DD594890501F}" presName="parentLin" presStyleCnt="0"/>
      <dgm:spPr/>
    </dgm:pt>
    <dgm:pt modelId="{04988E7E-E592-47DA-A8C1-EEB654FD7CD8}" type="pres">
      <dgm:prSet presAssocID="{8B7214A1-89D8-4E7E-90D3-DD594890501F}" presName="parentLeftMargin" presStyleLbl="node1" presStyleIdx="0" presStyleCnt="2"/>
      <dgm:spPr/>
    </dgm:pt>
    <dgm:pt modelId="{5F7175BE-6B2B-47FD-AA5D-82F480F9E98C}" type="pres">
      <dgm:prSet presAssocID="{8B7214A1-89D8-4E7E-90D3-DD594890501F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C7C360-C771-4848-88A4-DE51715784FE}" type="pres">
      <dgm:prSet presAssocID="{8B7214A1-89D8-4E7E-90D3-DD594890501F}" presName="negativeSpace" presStyleCnt="0"/>
      <dgm:spPr/>
    </dgm:pt>
    <dgm:pt modelId="{17737D6A-72E0-4476-BF77-3F52CD741303}" type="pres">
      <dgm:prSet presAssocID="{8B7214A1-89D8-4E7E-90D3-DD594890501F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FC63F49-F883-4831-BC75-22AF2020B425}" type="presOf" srcId="{9BCCE3DD-07D7-455A-AE6D-C9869313C302}" destId="{ED2634FC-8B8D-4F30-813B-A502D2CDB586}" srcOrd="0" destOrd="0" presId="urn:microsoft.com/office/officeart/2005/8/layout/list1"/>
    <dgm:cxn modelId="{5898FC8C-455B-4462-8CBF-1BF28245ACA8}" type="presOf" srcId="{9BCCE3DD-07D7-455A-AE6D-C9869313C302}" destId="{5EED9F32-72AF-4B19-B144-8BB9A40316E3}" srcOrd="1" destOrd="0" presId="urn:microsoft.com/office/officeart/2005/8/layout/list1"/>
    <dgm:cxn modelId="{0293C65D-6C75-47FA-BF82-8F52CB0320B1}" type="presOf" srcId="{48B6C1BA-4DD5-4F5D-B649-1899D4898AB9}" destId="{2C6C4C29-BA2E-4CD0-A892-634CFB040E97}" srcOrd="0" destOrd="0" presId="urn:microsoft.com/office/officeart/2005/8/layout/list1"/>
    <dgm:cxn modelId="{C053D8E2-6671-44CA-94CD-761BE2915B2A}" type="presOf" srcId="{8B7214A1-89D8-4E7E-90D3-DD594890501F}" destId="{5F7175BE-6B2B-47FD-AA5D-82F480F9E98C}" srcOrd="1" destOrd="0" presId="urn:microsoft.com/office/officeart/2005/8/layout/list1"/>
    <dgm:cxn modelId="{C6B9FBC5-1282-49F7-9D93-6C66FAACE99E}" srcId="{48B6C1BA-4DD5-4F5D-B649-1899D4898AB9}" destId="{8B7214A1-89D8-4E7E-90D3-DD594890501F}" srcOrd="1" destOrd="0" parTransId="{F599689D-D879-48B6-9C0A-70B3BC1EECCB}" sibTransId="{123E0B19-3BC3-45A9-9B07-9030A2E12EB0}"/>
    <dgm:cxn modelId="{0FD41319-F5D7-4A20-A9E2-D6F8D4F5BDEA}" srcId="{48B6C1BA-4DD5-4F5D-B649-1899D4898AB9}" destId="{9BCCE3DD-07D7-455A-AE6D-C9869313C302}" srcOrd="0" destOrd="0" parTransId="{6BF077D8-E9FB-4773-9989-C491AA6A8FCB}" sibTransId="{2031BE1F-94C6-4C96-88B5-42FC7F51A239}"/>
    <dgm:cxn modelId="{7B742ECB-15C3-4DBC-9DA3-388557F0748F}" type="presOf" srcId="{8B7214A1-89D8-4E7E-90D3-DD594890501F}" destId="{04988E7E-E592-47DA-A8C1-EEB654FD7CD8}" srcOrd="0" destOrd="0" presId="urn:microsoft.com/office/officeart/2005/8/layout/list1"/>
    <dgm:cxn modelId="{F37D949D-4A5B-4826-B7C4-113C04C621D2}" type="presParOf" srcId="{2C6C4C29-BA2E-4CD0-A892-634CFB040E97}" destId="{D945BE3D-B5AB-4EDD-9B8B-90B4B522BBDE}" srcOrd="0" destOrd="0" presId="urn:microsoft.com/office/officeart/2005/8/layout/list1"/>
    <dgm:cxn modelId="{3E34D751-D2F7-4501-9A05-26733C48483D}" type="presParOf" srcId="{D945BE3D-B5AB-4EDD-9B8B-90B4B522BBDE}" destId="{ED2634FC-8B8D-4F30-813B-A502D2CDB586}" srcOrd="0" destOrd="0" presId="urn:microsoft.com/office/officeart/2005/8/layout/list1"/>
    <dgm:cxn modelId="{1399EC7B-394B-4E13-B9E6-DCAB281D857F}" type="presParOf" srcId="{D945BE3D-B5AB-4EDD-9B8B-90B4B522BBDE}" destId="{5EED9F32-72AF-4B19-B144-8BB9A40316E3}" srcOrd="1" destOrd="0" presId="urn:microsoft.com/office/officeart/2005/8/layout/list1"/>
    <dgm:cxn modelId="{6AFD0EE6-EF2B-4294-929A-EA8B61918B52}" type="presParOf" srcId="{2C6C4C29-BA2E-4CD0-A892-634CFB040E97}" destId="{E75DD6A9-13A6-46E2-9DE2-1645F0577916}" srcOrd="1" destOrd="0" presId="urn:microsoft.com/office/officeart/2005/8/layout/list1"/>
    <dgm:cxn modelId="{7B236CAE-53AF-46C2-B404-1CC2DDAA6494}" type="presParOf" srcId="{2C6C4C29-BA2E-4CD0-A892-634CFB040E97}" destId="{C4C25958-55B8-4181-AAE8-A4BE46818BC1}" srcOrd="2" destOrd="0" presId="urn:microsoft.com/office/officeart/2005/8/layout/list1"/>
    <dgm:cxn modelId="{28555E55-4B24-4601-9D73-BB16C1850991}" type="presParOf" srcId="{2C6C4C29-BA2E-4CD0-A892-634CFB040E97}" destId="{212517D8-15C0-4988-AB2E-30F8CAC43608}" srcOrd="3" destOrd="0" presId="urn:microsoft.com/office/officeart/2005/8/layout/list1"/>
    <dgm:cxn modelId="{6199572D-CDBD-4F1B-9072-C618B3D476DB}" type="presParOf" srcId="{2C6C4C29-BA2E-4CD0-A892-634CFB040E97}" destId="{5AADCD0A-0486-4314-8DCB-392C6DE4DCB5}" srcOrd="4" destOrd="0" presId="urn:microsoft.com/office/officeart/2005/8/layout/list1"/>
    <dgm:cxn modelId="{CDFCBD6E-68E4-4EF4-A251-96C546A61FD9}" type="presParOf" srcId="{5AADCD0A-0486-4314-8DCB-392C6DE4DCB5}" destId="{04988E7E-E592-47DA-A8C1-EEB654FD7CD8}" srcOrd="0" destOrd="0" presId="urn:microsoft.com/office/officeart/2005/8/layout/list1"/>
    <dgm:cxn modelId="{19450A6E-88BC-4EAA-AEA3-D6C7D73307F5}" type="presParOf" srcId="{5AADCD0A-0486-4314-8DCB-392C6DE4DCB5}" destId="{5F7175BE-6B2B-47FD-AA5D-82F480F9E98C}" srcOrd="1" destOrd="0" presId="urn:microsoft.com/office/officeart/2005/8/layout/list1"/>
    <dgm:cxn modelId="{6B1BAEE2-9125-4420-8E23-F4ED9525F9C9}" type="presParOf" srcId="{2C6C4C29-BA2E-4CD0-A892-634CFB040E97}" destId="{66C7C360-C771-4848-88A4-DE51715784FE}" srcOrd="5" destOrd="0" presId="urn:microsoft.com/office/officeart/2005/8/layout/list1"/>
    <dgm:cxn modelId="{0A9564D4-3B26-4FBA-9564-CC7E7EE64A48}" type="presParOf" srcId="{2C6C4C29-BA2E-4CD0-A892-634CFB040E97}" destId="{17737D6A-72E0-4476-BF77-3F52CD741303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C25958-55B8-4181-AAE8-A4BE46818BC1}">
      <dsp:nvSpPr>
        <dsp:cNvPr id="0" name=""/>
        <dsp:cNvSpPr/>
      </dsp:nvSpPr>
      <dsp:spPr>
        <a:xfrm>
          <a:off x="0" y="708567"/>
          <a:ext cx="7909976" cy="118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ED9F32-72AF-4B19-B144-8BB9A40316E3}">
      <dsp:nvSpPr>
        <dsp:cNvPr id="0" name=""/>
        <dsp:cNvSpPr/>
      </dsp:nvSpPr>
      <dsp:spPr>
        <a:xfrm>
          <a:off x="395498" y="14847"/>
          <a:ext cx="5536983" cy="1387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% e </a:t>
          </a:r>
          <a:r>
            <a:rPr lang="pt-BR" sz="1600" kern="1200" dirty="0" err="1" smtClean="0"/>
            <a:t>qtd</a:t>
          </a:r>
          <a:r>
            <a:rPr lang="pt-BR" sz="1600" kern="1200" dirty="0" smtClean="0"/>
            <a:t>. de estações de trabalho e servidores elegíveis que foram atualizados os patches</a:t>
          </a:r>
          <a:endParaRPr lang="pt-BR" sz="1600" kern="1200" dirty="0"/>
        </a:p>
      </dsp:txBody>
      <dsp:txXfrm>
        <a:off x="463227" y="82576"/>
        <a:ext cx="5401525" cy="1251982"/>
      </dsp:txXfrm>
    </dsp:sp>
    <dsp:sp modelId="{17737D6A-72E0-4476-BF77-3F52CD741303}">
      <dsp:nvSpPr>
        <dsp:cNvPr id="0" name=""/>
        <dsp:cNvSpPr/>
      </dsp:nvSpPr>
      <dsp:spPr>
        <a:xfrm>
          <a:off x="0" y="2840488"/>
          <a:ext cx="7909976" cy="118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F7175BE-6B2B-47FD-AA5D-82F480F9E98C}">
      <dsp:nvSpPr>
        <dsp:cNvPr id="0" name=""/>
        <dsp:cNvSpPr/>
      </dsp:nvSpPr>
      <dsp:spPr>
        <a:xfrm>
          <a:off x="395498" y="2146768"/>
          <a:ext cx="5536983" cy="138744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9285" tIns="0" rIns="209285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600" kern="1200" dirty="0" smtClean="0"/>
            <a:t>% e </a:t>
          </a:r>
          <a:r>
            <a:rPr lang="pt-BR" sz="1600" kern="1200" dirty="0" err="1" smtClean="0"/>
            <a:t>qtd</a:t>
          </a:r>
          <a:r>
            <a:rPr lang="pt-BR" sz="1600" kern="1200" dirty="0" smtClean="0"/>
            <a:t>. de estações de trabalho e servidores elegíveis que NÃO foram atualizados os patches</a:t>
          </a:r>
          <a:endParaRPr lang="pt-BR" sz="1600" kern="1200" dirty="0"/>
        </a:p>
      </dsp:txBody>
      <dsp:txXfrm>
        <a:off x="463227" y="2214497"/>
        <a:ext cx="5401525" cy="12519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28/11/2016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11/28/2016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4.emf"/><Relationship Id="rId7" Type="http://schemas.openxmlformats.org/officeDocument/2006/relationships/diagramQuickStyle" Target="../diagrams/quickStyle1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5.png"/><Relationship Id="rId9" Type="http://schemas.microsoft.com/office/2007/relationships/diagramDrawing" Target="../diagrams/drawing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.emf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26504" y="-27000"/>
            <a:ext cx="6408000" cy="6912000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 w="19050"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22" y="2910000"/>
            <a:ext cx="2412841" cy="8612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8449" y="2560832"/>
            <a:ext cx="5959283" cy="34394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2000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Gerenciamento de </a:t>
            </a:r>
            <a:r>
              <a:rPr lang="pt-BR" sz="4000" b="1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Patches</a:t>
            </a:r>
            <a:endParaRPr lang="pt-BR" sz="4000" b="1" dirty="0" smtClean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Workshop</a:t>
            </a:r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para implantação do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marL="72000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6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30.Nov.2016</a:t>
            </a:r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marL="72000"/>
            <a:r>
              <a:rPr lang="en-US" sz="105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05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en-US" sz="105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1</a:t>
            </a:r>
            <a:endParaRPr lang="en-US" sz="105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759" y="140070"/>
            <a:ext cx="1591323" cy="840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  <p:pic>
        <p:nvPicPr>
          <p:cNvPr id="2" name="Imagem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790" y="4025794"/>
            <a:ext cx="3318348" cy="285920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755064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3997" y="6664320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Objetivo e Escopo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5" name="Agrupar 4"/>
          <p:cNvGrpSpPr/>
          <p:nvPr/>
        </p:nvGrpSpPr>
        <p:grpSpPr>
          <a:xfrm>
            <a:off x="412741" y="1273484"/>
            <a:ext cx="9231937" cy="1193297"/>
            <a:chOff x="372984" y="1165964"/>
            <a:chExt cx="9231937" cy="900000"/>
          </a:xfrm>
        </p:grpSpPr>
        <p:sp>
          <p:nvSpPr>
            <p:cNvPr id="14" name="Retângulo 13"/>
            <p:cNvSpPr/>
            <p:nvPr/>
          </p:nvSpPr>
          <p:spPr>
            <a:xfrm>
              <a:off x="1653996" y="1165964"/>
              <a:ext cx="7950925" cy="9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Este processo tem como objetivo assegurar que medidas preventivas de detecção e corretivas sejam estabelecidas em relação a patches na </a:t>
              </a:r>
              <a:r>
                <a:rPr lang="pt-BR" sz="1400" dirty="0" err="1">
                  <a:solidFill>
                    <a:schemeClr val="tx1"/>
                  </a:solidFill>
                </a:rPr>
                <a:t>Smiles</a:t>
              </a:r>
              <a:r>
                <a:rPr lang="pt-BR" sz="1400" dirty="0">
                  <a:solidFill>
                    <a:schemeClr val="tx1"/>
                  </a:solidFill>
                </a:rPr>
                <a:t>.</a:t>
              </a:r>
            </a:p>
          </p:txBody>
        </p:sp>
        <p:sp>
          <p:nvSpPr>
            <p:cNvPr id="15" name="Retângulo de cantos arredondados 14"/>
            <p:cNvSpPr/>
            <p:nvPr/>
          </p:nvSpPr>
          <p:spPr>
            <a:xfrm>
              <a:off x="372984" y="1165964"/>
              <a:ext cx="1281013" cy="9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Objetivo</a:t>
              </a:r>
              <a:endParaRPr lang="pt-BR" sz="1600" i="1" dirty="0"/>
            </a:p>
          </p:txBody>
        </p:sp>
      </p:grpSp>
      <p:sp>
        <p:nvSpPr>
          <p:cNvPr id="16" name="Seta: para a Direita 15"/>
          <p:cNvSpPr/>
          <p:nvPr/>
        </p:nvSpPr>
        <p:spPr>
          <a:xfrm rot="5400000">
            <a:off x="9197416" y="2453334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2050" name="Picture 2" descr="http://lanuevaeconomia.com/wp-content/uploads/2012/05/Objetivos-de-una-empresa.jpg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EFFFF"/>
              </a:clrFrom>
              <a:clrTo>
                <a:srgbClr val="FE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2878" y="4964430"/>
            <a:ext cx="3111500" cy="189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Agrupar 3"/>
          <p:cNvGrpSpPr/>
          <p:nvPr/>
        </p:nvGrpSpPr>
        <p:grpSpPr>
          <a:xfrm>
            <a:off x="1693753" y="2942721"/>
            <a:ext cx="7950925" cy="2052362"/>
            <a:chOff x="1653996" y="2480605"/>
            <a:chExt cx="7950925" cy="1080000"/>
          </a:xfrm>
        </p:grpSpPr>
        <p:sp>
          <p:nvSpPr>
            <p:cNvPr id="18" name="Retângulo 17"/>
            <p:cNvSpPr/>
            <p:nvPr/>
          </p:nvSpPr>
          <p:spPr>
            <a:xfrm>
              <a:off x="2935008" y="2480605"/>
              <a:ext cx="6669913" cy="10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400" dirty="0">
                  <a:solidFill>
                    <a:schemeClr val="tx1"/>
                  </a:solidFill>
                </a:rPr>
                <a:t>O processo de Gerenciamento de Patches tem como escopo garantir de forma eficiente a atualização de patches nas estações de trabalho, Datacenter do Escritório Central e Datacenter da </a:t>
              </a:r>
              <a:r>
                <a:rPr lang="pt-BR" sz="1400" dirty="0" err="1">
                  <a:solidFill>
                    <a:schemeClr val="tx1"/>
                  </a:solidFill>
                </a:rPr>
                <a:t>Amazon</a:t>
              </a:r>
              <a:r>
                <a:rPr lang="pt-BR" sz="1400" dirty="0">
                  <a:solidFill>
                    <a:schemeClr val="tx1"/>
                  </a:solidFill>
                </a:rPr>
                <a:t>, considerando apenas os equipamentos com sistema operacional Microsoft Windows instalado.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 </a:t>
              </a:r>
            </a:p>
            <a:p>
              <a:r>
                <a:rPr lang="pt-BR" sz="1400" dirty="0">
                  <a:solidFill>
                    <a:schemeClr val="tx1"/>
                  </a:solidFill>
                </a:rPr>
                <a:t>Vale ressaltar, que todo o gerenciamento e manutenção dos serviços de TI relacionados ao Datacenter da Oracle é efetuado pelo próprio fornecedor conforme estabelecido em contrato.</a:t>
              </a:r>
            </a:p>
          </p:txBody>
        </p:sp>
        <p:sp>
          <p:nvSpPr>
            <p:cNvPr id="19" name="Retângulo de cantos arredondados 14"/>
            <p:cNvSpPr/>
            <p:nvPr/>
          </p:nvSpPr>
          <p:spPr>
            <a:xfrm>
              <a:off x="1653996" y="2480605"/>
              <a:ext cx="1281013" cy="108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Escopo</a:t>
              </a:r>
              <a:endParaRPr lang="pt-BR" sz="160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Resultado de imagem para indicador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307470"/>
            <a:ext cx="2149642" cy="329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Indicadores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2" name="Retângulo de cantos arredondados 14"/>
          <p:cNvSpPr/>
          <p:nvPr/>
        </p:nvSpPr>
        <p:spPr>
          <a:xfrm>
            <a:off x="4191196" y="1035537"/>
            <a:ext cx="542008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Indicadores de Desempenho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3" name="Imagem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272721976"/>
              </p:ext>
            </p:extLst>
          </p:nvPr>
        </p:nvGraphicFramePr>
        <p:xfrm>
          <a:off x="1694947" y="2251881"/>
          <a:ext cx="7909976" cy="4039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1961749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29231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sp>
        <p:nvSpPr>
          <p:cNvPr id="15" name="Retângulo de cantos arredondados 14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 de Atualização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1" name="Imagem 10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rcRect b="13042"/>
          <a:stretch/>
        </p:blipFill>
        <p:spPr bwMode="auto">
          <a:xfrm>
            <a:off x="157374" y="1702893"/>
            <a:ext cx="9868480" cy="39283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679001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Processo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pic>
        <p:nvPicPr>
          <p:cNvPr id="11" name="Imagem 10"/>
          <p:cNvPicPr/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75000"/>
                    </a14:imgEffect>
                  </a14:imgLayer>
                </a14:imgProps>
              </a:ext>
            </a:extLst>
          </a:blip>
          <a:srcRect b="11062"/>
          <a:stretch/>
        </p:blipFill>
        <p:spPr bwMode="auto">
          <a:xfrm>
            <a:off x="1063400" y="1565843"/>
            <a:ext cx="7990338" cy="45942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Retângulo de cantos arredondados 11"/>
          <p:cNvSpPr/>
          <p:nvPr/>
        </p:nvSpPr>
        <p:spPr>
          <a:xfrm>
            <a:off x="304102" y="1035537"/>
            <a:ext cx="4790185" cy="382446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Processo de Monitoração</a:t>
            </a:r>
            <a:endParaRPr lang="pt-B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1529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124753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3481759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7"/>
            <a:ext cx="9231937" cy="5534221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Periodicidade: trimestralmente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Atividade: Foram definidos três grupos de trabalho para validar a atualização de patches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lvl="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lvl="0" algn="just"/>
              <a:r>
                <a:rPr lang="pt-BR" sz="1600" b="1" dirty="0">
                  <a:solidFill>
                    <a:schemeClr val="tx1"/>
                  </a:solidFill>
                </a:rPr>
                <a:t>Primeiro grupo de trabalho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Deve ser aberto uma </a:t>
              </a: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(RFC).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Somente após aprovação formal do processo de Gerenciamento de Mudanças, deve instalar os patches em 10% dos equipamentos.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Após 10 dias uteis da instalação, se não ocorrer nenhum problema, deve instalar para o segundo grupo de trabalho.</a:t>
              </a:r>
            </a:p>
            <a:p>
              <a:pPr lvl="0" algn="just"/>
              <a:r>
                <a:rPr lang="pt-BR" sz="1600" b="1" dirty="0">
                  <a:solidFill>
                    <a:schemeClr val="tx1"/>
                  </a:solidFill>
                </a:rPr>
                <a:t>Segundo grupo de trabalho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Deve ser aberto uma </a:t>
              </a: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(RFC).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Somente após aprovação formal do processo de Gerenciamento de Mudanças, deve instalar os patches em 30% dos equipamentos.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Após 10 dias uteis da instalação, se não ocorrer nenhum problema, deve instalar para o terceiro grupo de trabalho.</a:t>
              </a:r>
            </a:p>
            <a:p>
              <a:pPr lvl="0" algn="just"/>
              <a:r>
                <a:rPr lang="pt-BR" sz="1600" b="1" dirty="0">
                  <a:solidFill>
                    <a:schemeClr val="tx1"/>
                  </a:solidFill>
                </a:rPr>
                <a:t>Terceiro grupo de trabalho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Deve ser aberto uma </a:t>
              </a:r>
              <a:r>
                <a:rPr lang="pt-BR" sz="1600" dirty="0" err="1">
                  <a:solidFill>
                    <a:schemeClr val="tx1"/>
                  </a:solidFill>
                </a:rPr>
                <a:t>Request</a:t>
              </a:r>
              <a:r>
                <a:rPr lang="pt-BR" sz="1600" dirty="0">
                  <a:solidFill>
                    <a:schemeClr val="tx1"/>
                  </a:solidFill>
                </a:rPr>
                <a:t> for </a:t>
              </a:r>
              <a:r>
                <a:rPr lang="pt-BR" sz="1600" dirty="0" err="1">
                  <a:solidFill>
                    <a:schemeClr val="tx1"/>
                  </a:solidFill>
                </a:rPr>
                <a:t>Change</a:t>
              </a:r>
              <a:r>
                <a:rPr lang="pt-BR" sz="1600" dirty="0">
                  <a:solidFill>
                    <a:schemeClr val="tx1"/>
                  </a:solidFill>
                </a:rPr>
                <a:t> (RFC).</a:t>
              </a:r>
            </a:p>
            <a:p>
              <a:pPr marL="285750" lvl="1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Somente após aprovação formal do processo de Gerenciamento de Mudanças, deve instalar os patches em 60% dos equipamentos.</a:t>
              </a:r>
            </a:p>
            <a:p>
              <a:pPr lvl="0" algn="just"/>
              <a:endParaRPr lang="pt-BR" sz="1600" dirty="0">
                <a:solidFill>
                  <a:schemeClr val="tx1"/>
                </a:solidFill>
              </a:endParaRP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Atualização do Antivírus</a:t>
              </a:r>
              <a:endParaRPr lang="pt-BR" i="1" dirty="0"/>
            </a:p>
          </p:txBody>
        </p:sp>
      </p:grpSp>
      <p:pic>
        <p:nvPicPr>
          <p:cNvPr id="15" name="Imagem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457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Diretrizes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32" name="Agrupar 4"/>
          <p:cNvGrpSpPr/>
          <p:nvPr/>
        </p:nvGrpSpPr>
        <p:grpSpPr>
          <a:xfrm>
            <a:off x="412741" y="880229"/>
            <a:ext cx="9231937" cy="2995736"/>
            <a:chOff x="372984" y="1165964"/>
            <a:chExt cx="9231937" cy="3600000"/>
          </a:xfrm>
        </p:grpSpPr>
        <p:sp>
          <p:nvSpPr>
            <p:cNvPr id="33" name="Retângulo 32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Periodicidade: trimestralmente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Atividade: A área de Segurança da Informação monitora os indicadores do processo de Gerenciamento de Patches com sistema operacional Windows</a:t>
              </a:r>
              <a:r>
                <a:rPr lang="pt-BR" sz="1600" dirty="0" smtClean="0">
                  <a:solidFill>
                    <a:schemeClr val="tx1"/>
                  </a:solidFill>
                </a:rPr>
                <a:t>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endParaRPr lang="pt-BR" sz="1600" dirty="0">
                <a:solidFill>
                  <a:schemeClr val="tx1"/>
                </a:solidFill>
              </a:endParaRP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Caso seja encontrado algum desvio relacionado ao Datacenter do Escritório Central ou Datacenter da </a:t>
              </a:r>
              <a:r>
                <a:rPr lang="pt-BR" sz="1600" dirty="0" err="1">
                  <a:solidFill>
                    <a:schemeClr val="tx1"/>
                  </a:solidFill>
                </a:rPr>
                <a:t>Amazon</a:t>
              </a:r>
              <a:r>
                <a:rPr lang="pt-BR" sz="1600" dirty="0">
                  <a:solidFill>
                    <a:schemeClr val="tx1"/>
                  </a:solidFill>
                </a:rPr>
                <a:t>, a área de Segurança da Informação deve abrir uma Solicitação na ferramenta </a:t>
              </a:r>
              <a:r>
                <a:rPr lang="pt-BR" sz="1600" dirty="0" err="1">
                  <a:solidFill>
                    <a:schemeClr val="tx1"/>
                  </a:solidFill>
                </a:rPr>
                <a:t>Jira</a:t>
              </a:r>
              <a:r>
                <a:rPr lang="pt-BR" sz="1600" dirty="0">
                  <a:solidFill>
                    <a:schemeClr val="tx1"/>
                  </a:solidFill>
                </a:rPr>
                <a:t> para a equipe de Infraestrutura realizar o tratamento.</a:t>
              </a:r>
            </a:p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>
                  <a:solidFill>
                    <a:schemeClr val="tx1"/>
                  </a:solidFill>
                </a:rPr>
                <a:t>Caso seja encontrado algum desvio relacionado a Estação de Trabalho, a área de Segurança da Informação deve abrir uma Solicitação na ferramenta </a:t>
              </a:r>
              <a:r>
                <a:rPr lang="pt-BR" sz="1600" dirty="0" err="1">
                  <a:solidFill>
                    <a:schemeClr val="tx1"/>
                  </a:solidFill>
                </a:rPr>
                <a:t>Jira</a:t>
              </a:r>
              <a:r>
                <a:rPr lang="pt-BR" sz="1600" dirty="0">
                  <a:solidFill>
                    <a:schemeClr val="tx1"/>
                  </a:solidFill>
                </a:rPr>
                <a:t> para a equipe de Field Service realizar o tratamento.</a:t>
              </a:r>
            </a:p>
          </p:txBody>
        </p:sp>
        <p:sp>
          <p:nvSpPr>
            <p:cNvPr id="34" name="Retângulo de cantos arredondados 33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Monitoração de Antivírus</a:t>
              </a:r>
              <a:endParaRPr lang="pt-BR" i="1" dirty="0"/>
            </a:p>
          </p:txBody>
        </p:sp>
      </p:grp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15" name="Agrupar 4"/>
          <p:cNvGrpSpPr/>
          <p:nvPr/>
        </p:nvGrpSpPr>
        <p:grpSpPr>
          <a:xfrm>
            <a:off x="412741" y="4019214"/>
            <a:ext cx="9231937" cy="1508130"/>
            <a:chOff x="372984" y="1165964"/>
            <a:chExt cx="9231937" cy="3600000"/>
          </a:xfrm>
        </p:grpSpPr>
        <p:sp>
          <p:nvSpPr>
            <p:cNvPr id="16" name="Retângulo 15"/>
            <p:cNvSpPr/>
            <p:nvPr/>
          </p:nvSpPr>
          <p:spPr>
            <a:xfrm>
              <a:off x="1653996" y="1165964"/>
              <a:ext cx="7950925" cy="360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 algn="just">
                <a:buFont typeface="Courier New" panose="02070309020205020404" pitchFamily="49" charset="0"/>
                <a:buChar char="o"/>
              </a:pPr>
              <a:r>
                <a:rPr lang="pt-BR" sz="1600" dirty="0" smtClean="0">
                  <a:solidFill>
                    <a:schemeClr val="tx1"/>
                  </a:solidFill>
                </a:rPr>
                <a:t>É de </a:t>
              </a:r>
              <a:r>
                <a:rPr lang="pt-BR" sz="1600" dirty="0">
                  <a:solidFill>
                    <a:schemeClr val="tx1"/>
                  </a:solidFill>
                </a:rPr>
                <a:t>responsabilidade da área de Infraestrutura de TI da </a:t>
              </a:r>
              <a:r>
                <a:rPr lang="pt-BR" sz="1600" dirty="0" err="1">
                  <a:solidFill>
                    <a:schemeClr val="tx1"/>
                  </a:solidFill>
                </a:rPr>
                <a:t>Smiles</a:t>
              </a:r>
              <a:r>
                <a:rPr lang="pt-BR" sz="1600" dirty="0">
                  <a:solidFill>
                    <a:schemeClr val="tx1"/>
                  </a:solidFill>
                </a:rPr>
                <a:t> a disponibilidade e manutenção de patches e suas respectivas atualizações.</a:t>
              </a:r>
            </a:p>
          </p:txBody>
        </p:sp>
        <p:sp>
          <p:nvSpPr>
            <p:cNvPr id="17" name="Retângulo de cantos arredondados 16"/>
            <p:cNvSpPr/>
            <p:nvPr/>
          </p:nvSpPr>
          <p:spPr>
            <a:xfrm>
              <a:off x="372984" y="1165964"/>
              <a:ext cx="1281013" cy="3600000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b="1" dirty="0" smtClean="0"/>
                <a:t>Ferramenta</a:t>
              </a:r>
              <a:endParaRPr lang="pt-BR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950696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Agenda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2" name="Imagem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8" name="Espaço Reservado para Número de Slide 10"/>
          <p:cNvSpPr>
            <a:spLocks noGrp="1"/>
          </p:cNvSpPr>
          <p:nvPr>
            <p:ph type="sldNum" sz="quarter" idx="12"/>
          </p:nvPr>
        </p:nvSpPr>
        <p:spPr>
          <a:xfrm>
            <a:off x="7250615" y="6356353"/>
            <a:ext cx="2360666" cy="365125"/>
          </a:xfrm>
        </p:spPr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10" name="Retângulo de cantos arredondados 6"/>
          <p:cNvSpPr/>
          <p:nvPr/>
        </p:nvSpPr>
        <p:spPr>
          <a:xfrm>
            <a:off x="4372093" y="1157735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Objetivo, Escopo e Indicadores</a:t>
            </a:r>
          </a:p>
        </p:txBody>
      </p:sp>
      <p:sp>
        <p:nvSpPr>
          <p:cNvPr id="11" name="Retângulo de cantos arredondados 8"/>
          <p:cNvSpPr/>
          <p:nvPr/>
        </p:nvSpPr>
        <p:spPr>
          <a:xfrm>
            <a:off x="4372093" y="2190852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Processo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3" name="Retângulo de cantos arredondados 9"/>
          <p:cNvSpPr/>
          <p:nvPr/>
        </p:nvSpPr>
        <p:spPr>
          <a:xfrm>
            <a:off x="4372093" y="3223969"/>
            <a:ext cx="6120000" cy="72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Diretrizes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pic>
        <p:nvPicPr>
          <p:cNvPr id="14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99525" y="2637852"/>
            <a:ext cx="2601578" cy="23392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tângulo 2"/>
          <p:cNvSpPr/>
          <p:nvPr/>
        </p:nvSpPr>
        <p:spPr>
          <a:xfrm>
            <a:off x="412125" y="2530093"/>
            <a:ext cx="14706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Agenda</a:t>
            </a:r>
            <a:endParaRPr lang="pt-BR" sz="3200" dirty="0"/>
          </a:p>
        </p:txBody>
      </p:sp>
      <p:sp>
        <p:nvSpPr>
          <p:cNvPr id="16" name="Retângulo de cantos arredondados 9"/>
          <p:cNvSpPr/>
          <p:nvPr/>
        </p:nvSpPr>
        <p:spPr>
          <a:xfrm>
            <a:off x="4372093" y="4070161"/>
            <a:ext cx="6120000" cy="72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36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Envolvidos</a:t>
            </a:r>
          </a:p>
        </p:txBody>
      </p:sp>
    </p:spTree>
    <p:extLst>
      <p:ext uri="{BB962C8B-B14F-4D97-AF65-F5344CB8AC3E}">
        <p14:creationId xmlns:p14="http://schemas.microsoft.com/office/powerpoint/2010/main" val="127188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0" name="TextBox 8"/>
          <p:cNvSpPr txBox="1"/>
          <p:nvPr/>
        </p:nvSpPr>
        <p:spPr>
          <a:xfrm>
            <a:off x="512216" y="92680"/>
            <a:ext cx="90927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Gerenciamento de </a:t>
            </a:r>
            <a:r>
              <a:rPr lang="pt-BR" sz="2400" dirty="0" smtClean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Patches</a:t>
            </a:r>
            <a:endParaRPr lang="pt-BR" sz="24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18" name="Imagem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074387" y="1837420"/>
            <a:ext cx="4584404" cy="4336730"/>
            <a:chOff x="304103" y="1786891"/>
            <a:chExt cx="4584404" cy="4336730"/>
          </a:xfrm>
        </p:grpSpPr>
        <p:sp>
          <p:nvSpPr>
            <p:cNvPr id="14" name="Retângulo 13"/>
            <p:cNvSpPr/>
            <p:nvPr/>
          </p:nvSpPr>
          <p:spPr>
            <a:xfrm>
              <a:off x="1856710" y="1786891"/>
              <a:ext cx="3031797" cy="159541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Execução: </a:t>
              </a:r>
              <a:r>
                <a:rPr lang="pt-BR" sz="1400" dirty="0">
                  <a:solidFill>
                    <a:schemeClr val="tx1"/>
                  </a:solidFill>
                </a:rPr>
                <a:t>Tânia Ferro</a:t>
              </a:r>
            </a:p>
            <a:p>
              <a:pPr marL="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Publicação: </a:t>
              </a:r>
              <a:r>
                <a:rPr lang="pt-BR" sz="1400" dirty="0">
                  <a:solidFill>
                    <a:schemeClr val="tx1"/>
                  </a:solidFill>
                </a:rPr>
                <a:t>André </a:t>
              </a:r>
              <a:r>
                <a:rPr lang="pt-BR" sz="1400" dirty="0" smtClean="0">
                  <a:solidFill>
                    <a:schemeClr val="tx1"/>
                  </a:solidFill>
                </a:rPr>
                <a:t>Santos / Felipe 		         Lima</a:t>
              </a:r>
              <a:endParaRPr lang="pt-BR" sz="1400" dirty="0">
                <a:solidFill>
                  <a:schemeClr val="tx1"/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QA: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Jorge Maluf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7" name="Imagem 16"/>
            <p:cNvPicPr>
              <a:picLocks noChangeAspect="1"/>
            </p:cNvPicPr>
            <p:nvPr/>
          </p:nvPicPr>
          <p:blipFill rotWithShape="1">
            <a:blip r:embed="rId4"/>
            <a:srcRect b="20107"/>
            <a:stretch/>
          </p:blipFill>
          <p:spPr>
            <a:xfrm>
              <a:off x="304103" y="2136647"/>
              <a:ext cx="1449811" cy="61192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/>
          </p:spPr>
        </p:pic>
        <p:sp>
          <p:nvSpPr>
            <p:cNvPr id="19" name="Retângulo 18"/>
            <p:cNvSpPr/>
            <p:nvPr/>
          </p:nvSpPr>
          <p:spPr>
            <a:xfrm>
              <a:off x="1856710" y="4435004"/>
              <a:ext cx="3031797" cy="1688617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i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Sponsors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Rodrigo </a:t>
              </a:r>
              <a:r>
                <a:rPr lang="pt-BR" sz="1600" b="1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Rothstein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</a:t>
              </a:r>
              <a:endParaRPr lang="pt-BR" sz="16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88000" lvl="1" indent="-288000">
                <a:lnSpc>
                  <a:spcPts val="2100"/>
                </a:lnSpc>
                <a:spcBef>
                  <a:spcPts val="600"/>
                </a:spcBef>
                <a:spcAft>
                  <a:spcPts val="600"/>
                </a:spcAft>
                <a:buFont typeface="Wingdings" panose="05000000000000000000" pitchFamily="2" charset="2"/>
                <a:buChar char="q"/>
              </a:pPr>
              <a:r>
                <a:rPr lang="pt-BR" sz="16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Ponto </a:t>
              </a:r>
              <a:r>
                <a:rPr lang="pt-BR" sz="16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Focal Auditoria: </a:t>
              </a:r>
              <a:r>
                <a:rPr lang="pt-BR" sz="1600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Marcela </a:t>
              </a:r>
              <a:r>
                <a:rPr lang="pt-BR" sz="16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Dias</a:t>
              </a: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16" name="Picture 3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066" y="5005200"/>
              <a:ext cx="1389848" cy="548224"/>
            </a:xfrm>
            <a:prstGeom prst="rect">
              <a:avLst/>
            </a:prstGeom>
          </p:spPr>
        </p:pic>
      </p:grpSp>
      <p:sp>
        <p:nvSpPr>
          <p:cNvPr id="13" name="Retângulo 12"/>
          <p:cNvSpPr/>
          <p:nvPr/>
        </p:nvSpPr>
        <p:spPr>
          <a:xfrm>
            <a:off x="304103" y="1067389"/>
            <a:ext cx="1779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spcBef>
                <a:spcPts val="200"/>
              </a:spcBef>
              <a:spcAft>
                <a:spcPts val="200"/>
              </a:spcAft>
            </a:pPr>
            <a:r>
              <a:rPr lang="pt-BR" sz="28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Envolvidos</a:t>
            </a:r>
          </a:p>
        </p:txBody>
      </p:sp>
      <p:grpSp>
        <p:nvGrpSpPr>
          <p:cNvPr id="3" name="Agrupar 2"/>
          <p:cNvGrpSpPr/>
          <p:nvPr/>
        </p:nvGrpSpPr>
        <p:grpSpPr>
          <a:xfrm>
            <a:off x="643007" y="1837420"/>
            <a:ext cx="3834369" cy="4336730"/>
            <a:chOff x="5665580" y="1786891"/>
            <a:chExt cx="3834369" cy="4336730"/>
          </a:xfrm>
        </p:grpSpPr>
        <p:sp>
          <p:nvSpPr>
            <p:cNvPr id="15" name="Retângulo 14"/>
            <p:cNvSpPr/>
            <p:nvPr/>
          </p:nvSpPr>
          <p:spPr>
            <a:xfrm>
              <a:off x="5665580" y="2409552"/>
              <a:ext cx="3829870" cy="3714069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pic>
          <p:nvPicPr>
            <p:cNvPr id="20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2613676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Retângulo de cantos arredondados 14"/>
            <p:cNvSpPr/>
            <p:nvPr/>
          </p:nvSpPr>
          <p:spPr>
            <a:xfrm>
              <a:off x="5665581" y="1786891"/>
              <a:ext cx="3834368" cy="624278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Papéis x Pessoas/Empresas</a:t>
              </a:r>
            </a:p>
          </p:txBody>
        </p:sp>
        <p:pic>
          <p:nvPicPr>
            <p:cNvPr id="22" name="Picture 2" descr="http://www.atsconline.com/images/icon-employee.png"/>
            <p:cNvPicPr>
              <a:picLocks noChangeAspect="1" noChangeArrowheads="1"/>
            </p:cNvPicPr>
            <p:nvPr/>
          </p:nvPicPr>
          <p:blipFill rotWithShape="1">
            <a:blip r:embed="rId6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24032"/>
            <a:stretch/>
          </p:blipFill>
          <p:spPr bwMode="auto">
            <a:xfrm>
              <a:off x="5810684" y="3848473"/>
              <a:ext cx="845458" cy="7686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CaixaDeTexto 24"/>
            <p:cNvSpPr txBox="1"/>
            <p:nvPr/>
          </p:nvSpPr>
          <p:spPr>
            <a:xfrm>
              <a:off x="6729147" y="2628657"/>
              <a:ext cx="2666646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Responsáveis pelo processo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  <a:r>
                <a:rPr lang="pt-BR" sz="1400" dirty="0"/>
                <a:t> </a:t>
              </a:r>
            </a:p>
            <a:p>
              <a:r>
                <a:rPr lang="pt-BR" sz="1400" dirty="0" smtClean="0"/>
                <a:t>Claudio Cunha</a:t>
              </a:r>
            </a:p>
            <a:p>
              <a:r>
                <a:rPr lang="pt-BR" sz="1400" dirty="0" smtClean="0"/>
                <a:t>Daniel Borges</a:t>
              </a:r>
            </a:p>
            <a:p>
              <a:r>
                <a:rPr lang="pt-BR" sz="1400" dirty="0" smtClean="0"/>
                <a:t>Marcela Dias</a:t>
              </a:r>
              <a:endParaRPr lang="pt-BR" sz="1400" dirty="0"/>
            </a:p>
          </p:txBody>
        </p:sp>
        <p:sp>
          <p:nvSpPr>
            <p:cNvPr id="26" name="CaixaDeTexto 25"/>
            <p:cNvSpPr txBox="1"/>
            <p:nvPr/>
          </p:nvSpPr>
          <p:spPr>
            <a:xfrm>
              <a:off x="6742473" y="3910249"/>
              <a:ext cx="266664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b="1" dirty="0" smtClean="0"/>
                <a:t>Gerente de Governança de TI (</a:t>
              </a:r>
              <a:r>
                <a:rPr lang="pt-BR" sz="1400" b="1" dirty="0" err="1" smtClean="0"/>
                <a:t>Smiles</a:t>
              </a:r>
              <a:r>
                <a:rPr lang="pt-BR" sz="1400" b="1" dirty="0"/>
                <a:t>)</a:t>
              </a:r>
            </a:p>
            <a:p>
              <a:r>
                <a:rPr lang="pt-BR" sz="1400" dirty="0" smtClean="0"/>
                <a:t>Rodrigo </a:t>
              </a:r>
              <a:r>
                <a:rPr lang="pt-BR" sz="1400" dirty="0" err="1" smtClean="0"/>
                <a:t>Rothstein</a:t>
              </a:r>
              <a:endParaRPr lang="pt-BR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3901343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5074</TotalTime>
  <Words>518</Words>
  <PresentationFormat>Personalizar</PresentationFormat>
  <Paragraphs>99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Gotham Rounded Book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2014-01-24T21:35:00Z</dcterms:created>
  <dcterms:modified xsi:type="dcterms:W3CDTF">2016-11-28T14:06:14Z</dcterms:modified>
</cp:coreProperties>
</file>