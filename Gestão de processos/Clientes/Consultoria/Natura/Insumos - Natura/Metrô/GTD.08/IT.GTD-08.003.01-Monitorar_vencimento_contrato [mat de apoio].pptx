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6" r:id="rId5"/>
    <p:sldId id="277" r:id="rId6"/>
    <p:sldId id="279" r:id="rId7"/>
    <p:sldId id="282" r:id="rId8"/>
    <p:sldId id="290" r:id="rId9"/>
    <p:sldId id="283" r:id="rId10"/>
    <p:sldId id="284" r:id="rId11"/>
    <p:sldId id="285" r:id="rId12"/>
    <p:sldId id="286" r:id="rId13"/>
    <p:sldId id="287" r:id="rId14"/>
    <p:sldId id="288" r:id="rId15"/>
    <p:sldId id="289" r:id="rId16"/>
    <p:sldId id="262" r:id="rId1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D6A9"/>
    <a:srgbClr val="E4C280"/>
    <a:srgbClr val="B4B53E"/>
    <a:srgbClr val="A59F7F"/>
    <a:srgbClr val="7F3D1A"/>
    <a:srgbClr val="A86E3E"/>
    <a:srgbClr val="333333"/>
    <a:srgbClr val="AA00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6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F13A13-2351-4A5E-955E-0BC32EEA7D37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310A47-54EA-49DE-98E0-8C02A97495C5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333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47AA01-5055-4B0F-BBA6-4573EE971BA3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196F9F-342E-4C32-9939-B49E64C3813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82533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5BAB19-E599-45EB-AA69-A6A1091CDE62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55CE-A335-485C-8D79-0497EC35F98E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9140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0A575-61F1-4E40-89ED-A19AA72A082F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210D90-9E73-4470-9484-5146575D4BA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781208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1351C0-153C-4658-B339-C14D4BFE514F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0693DF-CAD1-417A-9940-1C2532D940F3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821517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5AFCE2-018E-4647-BD7F-61A04C01020D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6E74CE-491C-4942-98AD-FBC1FEF83ECB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08131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13F20-84A5-40C5-A6C0-C46ADC23C5BE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E5DE1-8064-49C8-B979-6CF670490A6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81954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34E1C1-ECAD-4ED2-9C60-FC9B80D6B2AB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94E793-C06D-40D9-BE35-37BA171CD85D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19504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66E9A6-8B38-4696-9BC0-989532BCF2E1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C1378A-6F6A-493E-BCBA-7ED577020681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188816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715980-82B5-4A31-BB93-62CCFE41E7C9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CFE940-4CD4-4F1A-BBB2-B958830EA7AC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320163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C3CEE0-C6D6-4736-98CC-D8A63FD2BE0B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B05852-35E5-4BBD-A33C-DAE30D5C96E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11933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9BDF48-5CA4-4469-AFB5-61BC105CC0D9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4D7CC4-752E-4FAF-9258-2836486EB9D4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847896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3FE3913E-1FB7-4B3C-8626-4767150F0B12}" type="datetimeFigureOut">
              <a:rPr lang="en-US"/>
              <a:pPr>
                <a:defRPr/>
              </a:pPr>
              <a:t>10/8/2013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65E6C71E-FE65-4D15-8A3E-0869BDE3B3D6}" type="slidenum">
              <a:rPr lang="en-US"/>
              <a:pPr>
                <a:defRPr/>
              </a:pPr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times.natura.net/vpfin/dti/governancati/gct/Lists/CatalogoContratos/AllItems.aspx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times.natura.net/vpfin/dti/governancati/gct/Lists/Acompanhamento%20de%20Renovaes/Processos%20em%20Andamento.aspx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://times.natura.net/vpfin/dti/governancati/gct/Lists/CatalogoContratos/AllItems.aspx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 descr="img0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0" t="9000" r="4750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12"/>
          <p:cNvSpPr txBox="1">
            <a:spLocks noChangeArrowheads="1"/>
          </p:cNvSpPr>
          <p:nvPr/>
        </p:nvSpPr>
        <p:spPr bwMode="auto">
          <a:xfrm>
            <a:off x="1403648" y="3357563"/>
            <a:ext cx="433705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</a:rPr>
              <a:t>Monitorar vencimento </a:t>
            </a:r>
            <a:endParaRPr lang="pt-BR" sz="2000" dirty="0" smtClean="0">
              <a:solidFill>
                <a:schemeClr val="bg1"/>
              </a:solidFill>
              <a:latin typeface="Verdana" pitchFamily="34" charset="0"/>
            </a:endParaRPr>
          </a:p>
          <a:p>
            <a:pPr eaLnBrk="1" hangingPunct="1"/>
            <a:r>
              <a:rPr lang="pt-BR" sz="2000" dirty="0" smtClean="0">
                <a:solidFill>
                  <a:schemeClr val="bg1"/>
                </a:solidFill>
                <a:latin typeface="Verdana" pitchFamily="34" charset="0"/>
              </a:rPr>
              <a:t>do contrato</a:t>
            </a:r>
            <a:endParaRPr lang="pt-BR" sz="2600" b="1" dirty="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1714500" y="4208463"/>
            <a:ext cx="2428875" cy="292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300" dirty="0" err="1" smtClean="0">
                <a:solidFill>
                  <a:schemeClr val="bg1"/>
                </a:solidFill>
                <a:latin typeface="Verdana" pitchFamily="34" charset="0"/>
              </a:rPr>
              <a:t>Outubrol</a:t>
            </a:r>
            <a:r>
              <a:rPr lang="en-US" sz="1300" dirty="0" smtClean="0">
                <a:solidFill>
                  <a:schemeClr val="bg1"/>
                </a:solidFill>
                <a:latin typeface="Verdana" pitchFamily="34" charset="0"/>
              </a:rPr>
              <a:t>/2013</a:t>
            </a:r>
            <a:r>
              <a:rPr lang="en-US" sz="1300" dirty="0">
                <a:solidFill>
                  <a:schemeClr val="bg1"/>
                </a:solidFill>
                <a:latin typeface="Verdana" pitchFamily="34" charset="0"/>
              </a:rPr>
              <a:t>	</a:t>
            </a:r>
            <a:endParaRPr lang="pt-BR" sz="1300" dirty="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2053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A59F7F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endParaRPr lang="pt-BR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075" name="Text Box 12"/>
          <p:cNvSpPr txBox="1">
            <a:spLocks noChangeArrowheads="1"/>
          </p:cNvSpPr>
          <p:nvPr/>
        </p:nvSpPr>
        <p:spPr bwMode="auto">
          <a:xfrm>
            <a:off x="725488" y="1189038"/>
            <a:ext cx="158908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>
                <a:solidFill>
                  <a:srgbClr val="EDD6A9"/>
                </a:solidFill>
                <a:latin typeface="Verdana" pitchFamily="34" charset="0"/>
              </a:rPr>
              <a:t>Objetivo</a:t>
            </a:r>
          </a:p>
        </p:txBody>
      </p:sp>
      <p:pic>
        <p:nvPicPr>
          <p:cNvPr id="3076" name="Picture 4" descr="C:\Users\Takae\AppData\Local\Temp\Rar$DR00.065\logo1cor_branco_wmf\logo1cor_branco.wmf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4975" y="5810250"/>
            <a:ext cx="788988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750888" y="2000250"/>
            <a:ext cx="66786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O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objetivo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deste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documento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é </a:t>
            </a:r>
            <a:r>
              <a:rPr lang="en-US" sz="1600" dirty="0" err="1">
                <a:solidFill>
                  <a:schemeClr val="bg1"/>
                </a:solidFill>
                <a:latin typeface="Verdana" pitchFamily="34" charset="0"/>
              </a:rPr>
              <a:t>instruir</a:t>
            </a:r>
            <a:r>
              <a:rPr lang="en-US" sz="1600" dirty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como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monitorar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o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vencimento</a:t>
            </a:r>
            <a:r>
              <a:rPr lang="en-US" sz="1600" dirty="0" smtClean="0">
                <a:solidFill>
                  <a:schemeClr val="bg1"/>
                </a:solidFill>
                <a:latin typeface="Verdana" pitchFamily="34" charset="0"/>
              </a:rPr>
              <a:t> dos </a:t>
            </a:r>
            <a:r>
              <a:rPr lang="en-US" sz="1600" dirty="0" err="1" smtClean="0">
                <a:solidFill>
                  <a:schemeClr val="bg1"/>
                </a:solidFill>
                <a:latin typeface="Verdana" pitchFamily="34" charset="0"/>
              </a:rPr>
              <a:t>contratos</a:t>
            </a:r>
            <a:endParaRPr lang="en-US" sz="1600" dirty="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6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051" y="2132855"/>
            <a:ext cx="5768904" cy="3986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0901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Consultar Contratos a Vencer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68770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>
                <a:solidFill>
                  <a:srgbClr val="B4B53E"/>
                </a:solidFill>
              </a:rPr>
              <a:t>Painel Governança </a:t>
            </a:r>
            <a:r>
              <a:rPr lang="pt-BR" sz="1000" b="1" dirty="0" smtClean="0">
                <a:solidFill>
                  <a:srgbClr val="B4B53E"/>
                </a:solidFill>
              </a:rPr>
              <a:t>TD: </a:t>
            </a:r>
            <a:r>
              <a:rPr lang="pt-BR" sz="1000" b="1" dirty="0">
                <a:solidFill>
                  <a:srgbClr val="B4B53E"/>
                </a:solidFill>
                <a:hlinkClick r:id="rId3"/>
              </a:rPr>
              <a:t>http://times.natura.net/vpfin/dti/governancati/gct/Lists/CatalogoContratos/AllItems.aspx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dirty="0"/>
          </a:p>
        </p:txBody>
      </p:sp>
      <p:sp>
        <p:nvSpPr>
          <p:cNvPr id="4100" name="Text Box 4"/>
          <p:cNvSpPr txBox="1">
            <a:spLocks noChangeArrowheads="1"/>
          </p:cNvSpPr>
          <p:nvPr/>
        </p:nvSpPr>
        <p:spPr bwMode="auto">
          <a:xfrm>
            <a:off x="725488" y="1827401"/>
            <a:ext cx="2214562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1 – na guia superior efetuar um “clique”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na opção “Lista”</a:t>
            </a:r>
            <a:r>
              <a:rPr lang="pt-BR" sz="1000" i="1" dirty="0" smtClean="0">
                <a:solidFill>
                  <a:srgbClr val="333333"/>
                </a:solidFill>
                <a:latin typeface="Verdana" pitchFamily="34" charset="0"/>
              </a:rPr>
              <a:t>;</a:t>
            </a:r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i="1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2 – irá aparecer um painel onde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no modo de exibição atual deverá ser selecionada a opção “Contratos a Vencer”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3" name="Elipse 2"/>
          <p:cNvSpPr/>
          <p:nvPr/>
        </p:nvSpPr>
        <p:spPr>
          <a:xfrm>
            <a:off x="4834658" y="2288058"/>
            <a:ext cx="360362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" name="Elipse 17"/>
          <p:cNvSpPr/>
          <p:nvPr/>
        </p:nvSpPr>
        <p:spPr>
          <a:xfrm>
            <a:off x="5547408" y="3212976"/>
            <a:ext cx="1145862" cy="5032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4" name="Retângulo 3"/>
          <p:cNvSpPr/>
          <p:nvPr/>
        </p:nvSpPr>
        <p:spPr>
          <a:xfrm>
            <a:off x="4546179" y="1992655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  <p:sp>
        <p:nvSpPr>
          <p:cNvPr id="20" name="Retângulo 19"/>
          <p:cNvSpPr/>
          <p:nvPr/>
        </p:nvSpPr>
        <p:spPr>
          <a:xfrm>
            <a:off x="4943244" y="3131439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66" y="2924944"/>
            <a:ext cx="6004346" cy="309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3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serão apresentados todos os contratos com data de vencimento inferiores a 6 meses da data de consulta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4 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Verifique os contratos que não possuem um processo de aditivo de renovação para o ano corrente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7236296" y="2138605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</a:t>
            </a:r>
          </a:p>
        </p:txBody>
      </p:sp>
      <p:sp>
        <p:nvSpPr>
          <p:cNvPr id="3" name="Retângulo de cantos arredondados 2"/>
          <p:cNvSpPr/>
          <p:nvPr/>
        </p:nvSpPr>
        <p:spPr>
          <a:xfrm>
            <a:off x="7524328" y="2430993"/>
            <a:ext cx="1440160" cy="426179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0901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Consultar Contratos a Vencer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" name="Texto explicativo retangular com cantos arredondados 3"/>
          <p:cNvSpPr/>
          <p:nvPr/>
        </p:nvSpPr>
        <p:spPr>
          <a:xfrm>
            <a:off x="493783" y="3140968"/>
            <a:ext cx="1819728" cy="1728192"/>
          </a:xfrm>
          <a:prstGeom prst="wedgeRoundRectCallout">
            <a:avLst>
              <a:gd name="adj1" fmla="val 351090"/>
              <a:gd name="adj2" fmla="val -3920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Não possui processo de renovação para o ano corrente</a:t>
            </a:r>
            <a:endParaRPr lang="pt-BR" dirty="0"/>
          </a:p>
        </p:txBody>
      </p:sp>
      <p:sp>
        <p:nvSpPr>
          <p:cNvPr id="17" name="Texto explicativo retangular com cantos arredondados 16"/>
          <p:cNvSpPr/>
          <p:nvPr/>
        </p:nvSpPr>
        <p:spPr>
          <a:xfrm>
            <a:off x="493783" y="5021560"/>
            <a:ext cx="1819728" cy="1728192"/>
          </a:xfrm>
          <a:prstGeom prst="wedgeRoundRectCallout">
            <a:avLst>
              <a:gd name="adj1" fmla="val 342263"/>
              <a:gd name="adj2" fmla="val -85578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Possui processo de renovação para o ano corrente</a:t>
            </a:r>
            <a:endParaRPr lang="pt-BR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66" y="2924944"/>
            <a:ext cx="6004346" cy="309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5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para os contratos a vencer que não possuem processo de renovação em andamento, verificar o campo “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P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razo </a:t>
            </a:r>
            <a:r>
              <a:rPr lang="pt-BR" sz="1000" dirty="0" err="1" smtClean="0">
                <a:solidFill>
                  <a:srgbClr val="333333"/>
                </a:solidFill>
                <a:latin typeface="Verdana" pitchFamily="34" charset="0"/>
              </a:rPr>
              <a:t>Req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. Negociação” que indica quando deve ser iniciada a negociação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7236296" y="2138605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</a:t>
            </a:r>
            <a:endParaRPr lang="pt-BR" sz="32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3" name="Retângulo de cantos arredondados 2"/>
          <p:cNvSpPr/>
          <p:nvPr/>
        </p:nvSpPr>
        <p:spPr>
          <a:xfrm>
            <a:off x="6660232" y="2723380"/>
            <a:ext cx="1008112" cy="396940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09017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Consultar Contratos a Vencer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03901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49753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Criando Processo de Renovação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4099" name="Retângulo 45"/>
          <p:cNvSpPr>
            <a:spLocks noChangeArrowheads="1"/>
          </p:cNvSpPr>
          <p:nvPr/>
        </p:nvSpPr>
        <p:spPr bwMode="auto">
          <a:xfrm>
            <a:off x="795338" y="1125538"/>
            <a:ext cx="7809110" cy="11695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>
                <a:solidFill>
                  <a:srgbClr val="B4B53E"/>
                </a:solidFill>
              </a:rPr>
              <a:t>Painel </a:t>
            </a:r>
            <a:r>
              <a:rPr lang="pt-BR" sz="1000" b="1" dirty="0" smtClean="0">
                <a:solidFill>
                  <a:srgbClr val="B4B53E"/>
                </a:solidFill>
              </a:rPr>
              <a:t>Processos de Aditivos: </a:t>
            </a:r>
            <a:r>
              <a:rPr lang="pt-BR" sz="1000" b="1" dirty="0" smtClean="0">
                <a:solidFill>
                  <a:srgbClr val="B4B53E"/>
                </a:solidFill>
                <a:hlinkClick r:id="rId2"/>
              </a:rPr>
              <a:t>http://times.natura.net/vpfin/dti/governancati/gct/Lists/Acompanhamento%20de%20Renovaes/Processos%20em%20Andamento.aspx</a:t>
            </a:r>
            <a:endParaRPr lang="pt-BR" sz="1000" b="1" dirty="0" smtClean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endParaRPr lang="pt-BR" sz="10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57736"/>
            <a:ext cx="6563196" cy="422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24725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na barra de menu, escolha a opção Itens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2 – Selecione a opção “Novo Item!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4239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Criando processo de renovação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1700808"/>
            <a:ext cx="3629025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Elipse 9"/>
          <p:cNvSpPr/>
          <p:nvPr/>
        </p:nvSpPr>
        <p:spPr>
          <a:xfrm>
            <a:off x="5736332" y="1930401"/>
            <a:ext cx="360362" cy="2286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1" name="Elipse 10"/>
          <p:cNvSpPr/>
          <p:nvPr/>
        </p:nvSpPr>
        <p:spPr>
          <a:xfrm>
            <a:off x="3851919" y="2117406"/>
            <a:ext cx="572931" cy="95500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Retângulo 11"/>
          <p:cNvSpPr/>
          <p:nvPr/>
        </p:nvSpPr>
        <p:spPr>
          <a:xfrm>
            <a:off x="5447853" y="1634998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3275856" y="2780019"/>
            <a:ext cx="693008" cy="584775"/>
          </a:xfrm>
          <a:prstGeom prst="rect">
            <a:avLst/>
          </a:prstGeom>
          <a:noFill/>
        </p:spPr>
        <p:txBody>
          <a:bodyPr wrap="square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414655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66" y="1196752"/>
            <a:ext cx="63627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3631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3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No campo descrição da renovação, preencher conforme regra: 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i="1" dirty="0" smtClean="0">
                <a:solidFill>
                  <a:srgbClr val="333333"/>
                </a:solidFill>
                <a:latin typeface="Verdana" pitchFamily="34" charset="0"/>
              </a:rPr>
              <a:t>Nome Empresa + Ano Corrente + Descrição do Processo de Aditivo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4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– Selecionar SLC do contrato em questão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5 – Selecionar Status “Pendente Validação Gestor”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6 – Selecionar responsável na GCL pelo processo de aditivo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7 – Descrever no campo histórico que será enviado um </a:t>
            </a:r>
            <a:r>
              <a:rPr lang="pt-BR" sz="1000" dirty="0" err="1" smtClean="0">
                <a:solidFill>
                  <a:srgbClr val="333333"/>
                </a:solidFill>
                <a:latin typeface="Verdana" pitchFamily="34" charset="0"/>
              </a:rPr>
              <a:t>email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ao gestor solicitando posição sobre a renovação do contrato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8 – Clique no botão “Salvar” no final da página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423921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Criando processo de renovação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283968" y="1227128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3293432" y="1458361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347864" y="1725860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5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3445832" y="2010871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6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3310200" y="2405099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7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768735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Enviar </a:t>
            </a:r>
            <a:r>
              <a:rPr lang="pt-BR" sz="1000" dirty="0" err="1" smtClean="0">
                <a:solidFill>
                  <a:srgbClr val="333333"/>
                </a:solidFill>
                <a:latin typeface="Verdana" pitchFamily="34" charset="0"/>
              </a:rPr>
              <a:t>email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padrão ao gestor técnico questionando sobre a necessidade de renovação do contrato, de preferência seguindo o </a:t>
            </a:r>
            <a:r>
              <a:rPr lang="pt-BR" sz="1000" dirty="0" err="1" smtClean="0">
                <a:solidFill>
                  <a:srgbClr val="333333"/>
                </a:solidFill>
                <a:latin typeface="Verdana" pitchFamily="34" charset="0"/>
              </a:rPr>
              <a:t>template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abaixo: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3863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Enviar </a:t>
            </a:r>
            <a:r>
              <a:rPr lang="pt-BR" sz="2600" dirty="0" err="1" smtClean="0">
                <a:solidFill>
                  <a:srgbClr val="B4B53E"/>
                </a:solidFill>
                <a:latin typeface="Verdana" pitchFamily="34" charset="0"/>
              </a:rPr>
              <a:t>Email</a:t>
            </a:r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 ao Gestor Técnico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338" t="28082" r="25381" b="16096"/>
          <a:stretch/>
        </p:blipFill>
        <p:spPr bwMode="auto">
          <a:xfrm>
            <a:off x="174129" y="2218795"/>
            <a:ext cx="8257703" cy="34119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758380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81468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Amarrando Processo de Renovação ao Contrato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5" name="Retângulo 45"/>
          <p:cNvSpPr>
            <a:spLocks noChangeArrowheads="1"/>
          </p:cNvSpPr>
          <p:nvPr/>
        </p:nvSpPr>
        <p:spPr bwMode="auto">
          <a:xfrm>
            <a:off x="795338" y="1125538"/>
            <a:ext cx="68770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t-BR" sz="1000" b="1" dirty="0">
                <a:solidFill>
                  <a:srgbClr val="B4B53E"/>
                </a:solidFill>
              </a:rPr>
              <a:t>Utilizar o Internet Explorer ou </a:t>
            </a:r>
            <a:r>
              <a:rPr lang="pt-BR" sz="1000" b="1" dirty="0" err="1">
                <a:solidFill>
                  <a:srgbClr val="B4B53E"/>
                </a:solidFill>
              </a:rPr>
              <a:t>FireFox</a:t>
            </a:r>
            <a:r>
              <a:rPr lang="pt-BR" sz="1000" b="1" dirty="0">
                <a:solidFill>
                  <a:srgbClr val="B4B53E"/>
                </a:solidFill>
              </a:rPr>
              <a:t> para acesso à página Sharepoint da Governança de </a:t>
            </a:r>
            <a:r>
              <a:rPr lang="pt-BR" sz="1000" b="1" dirty="0" smtClean="0">
                <a:solidFill>
                  <a:srgbClr val="B4B53E"/>
                </a:solidFill>
              </a:rPr>
              <a:t>TD.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b="1" dirty="0">
              <a:solidFill>
                <a:srgbClr val="B4B53E"/>
              </a:solidFill>
            </a:endParaRPr>
          </a:p>
          <a:p>
            <a:r>
              <a:rPr lang="pt-BR" sz="1000" b="1" dirty="0">
                <a:solidFill>
                  <a:srgbClr val="B4B53E"/>
                </a:solidFill>
              </a:rPr>
              <a:t>Painel Governança </a:t>
            </a:r>
            <a:r>
              <a:rPr lang="pt-BR" sz="1000" b="1" dirty="0" smtClean="0">
                <a:solidFill>
                  <a:srgbClr val="B4B53E"/>
                </a:solidFill>
              </a:rPr>
              <a:t>TD: </a:t>
            </a:r>
            <a:r>
              <a:rPr lang="pt-BR" sz="1000" b="1" dirty="0">
                <a:solidFill>
                  <a:srgbClr val="B4B53E"/>
                </a:solidFill>
                <a:hlinkClick r:id="rId2"/>
              </a:rPr>
              <a:t>http://times.natura.net/vpfin/dti/governancati/gct/Lists/CatalogoContratos/AllItems.aspx</a:t>
            </a:r>
            <a:endParaRPr lang="pt-BR" sz="1000" b="1" dirty="0">
              <a:solidFill>
                <a:srgbClr val="B4B53E"/>
              </a:solidFill>
            </a:endParaRPr>
          </a:p>
          <a:p>
            <a:endParaRPr lang="pt-BR" sz="1000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74128" y="2060848"/>
            <a:ext cx="2459037" cy="861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Clique na seta ao lado do título do contrato para qual foi criado o processo de renovação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2 – Selecione a opção editar item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2260903"/>
            <a:ext cx="5619750" cy="2600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5148064" y="2780928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1" name="Elipse 10"/>
          <p:cNvSpPr/>
          <p:nvPr/>
        </p:nvSpPr>
        <p:spPr>
          <a:xfrm>
            <a:off x="4716016" y="2780926"/>
            <a:ext cx="360362" cy="5847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Elipse 11"/>
          <p:cNvSpPr/>
          <p:nvPr/>
        </p:nvSpPr>
        <p:spPr>
          <a:xfrm>
            <a:off x="2915814" y="3348839"/>
            <a:ext cx="1224137" cy="42445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2633165" y="3225715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  <a:endParaRPr lang="pt-BR" sz="32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8832448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2944" y="2780928"/>
            <a:ext cx="6877050" cy="369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098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814684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Amarrando Processo de Renovação ao Contrato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43446" y="952700"/>
            <a:ext cx="2459037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3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No campo processo de aditivo, selecione o registro criado no slide 7</a:t>
            </a:r>
          </a:p>
          <a:p>
            <a:pPr eaLnBrk="1" hangingPunct="1"/>
            <a:endParaRPr lang="pt-BR" sz="1000" dirty="0" smtClean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4 – clique no botão adicionar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5 – clique no botão “Salvar” no final da página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4421688" y="5584884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</a:p>
        </p:txBody>
      </p:sp>
      <p:sp>
        <p:nvSpPr>
          <p:cNvPr id="8" name="Elipse 7"/>
          <p:cNvSpPr/>
          <p:nvPr/>
        </p:nvSpPr>
        <p:spPr>
          <a:xfrm>
            <a:off x="4709720" y="5877272"/>
            <a:ext cx="130244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Retângulo 8"/>
          <p:cNvSpPr/>
          <p:nvPr/>
        </p:nvSpPr>
        <p:spPr>
          <a:xfrm>
            <a:off x="5993071" y="4941168"/>
            <a:ext cx="288032" cy="584775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32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4</a:t>
            </a:r>
            <a:endParaRPr lang="pt-BR" sz="32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0" name="Elipse 9"/>
          <p:cNvSpPr/>
          <p:nvPr/>
        </p:nvSpPr>
        <p:spPr>
          <a:xfrm>
            <a:off x="6281103" y="5233556"/>
            <a:ext cx="1302440" cy="4320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56595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3166" y="1196752"/>
            <a:ext cx="636270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23" name="Text Box 4"/>
          <p:cNvSpPr txBox="1">
            <a:spLocks noChangeArrowheads="1"/>
          </p:cNvSpPr>
          <p:nvPr/>
        </p:nvSpPr>
        <p:spPr bwMode="auto">
          <a:xfrm>
            <a:off x="174129" y="1196752"/>
            <a:ext cx="2459037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1 </a:t>
            </a:r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– 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Atualizar o campo ‘Status’ sempre que o mesmo mudar ao longo do processo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>
                <a:solidFill>
                  <a:srgbClr val="333333"/>
                </a:solidFill>
                <a:latin typeface="Verdana" pitchFamily="34" charset="0"/>
              </a:rPr>
              <a:t>2</a:t>
            </a:r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 – Atualizar o campo ‘Atribuído a’ sempre que o responsável pelo aditivo na GCL mudar ao longo do processo</a:t>
            </a:r>
          </a:p>
          <a:p>
            <a:pPr eaLnBrk="1" hangingPunct="1"/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  <a:p>
            <a:pPr eaLnBrk="1" hangingPunct="1"/>
            <a:r>
              <a:rPr lang="pt-BR" sz="1000" dirty="0" smtClean="0">
                <a:solidFill>
                  <a:srgbClr val="333333"/>
                </a:solidFill>
                <a:latin typeface="Verdana" pitchFamily="34" charset="0"/>
              </a:rPr>
              <a:t>3 – Atualizar o campo histórico com os eventos que forem ocorrendo ao longo do processo</a:t>
            </a:r>
            <a:endParaRPr lang="pt-BR" sz="1000" dirty="0">
              <a:solidFill>
                <a:srgbClr val="333333"/>
              </a:solidFill>
              <a:latin typeface="Verdana" pitchFamily="34" charset="0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25488" y="428625"/>
            <a:ext cx="550201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pt-BR" sz="2600" dirty="0" smtClean="0">
                <a:solidFill>
                  <a:srgbClr val="B4B53E"/>
                </a:solidFill>
                <a:latin typeface="Verdana" pitchFamily="34" charset="0"/>
              </a:rPr>
              <a:t>Atualizando Processo de Aditivo</a:t>
            </a:r>
            <a:endParaRPr lang="pt-BR" sz="2600" b="1" dirty="0">
              <a:solidFill>
                <a:srgbClr val="B4B53E"/>
              </a:solidFill>
              <a:latin typeface="Verdana" pitchFamily="34" charset="0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3347864" y="1725860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1</a:t>
            </a:r>
            <a:endParaRPr lang="pt-BR" sz="2000" b="1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3445832" y="2010871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2</a:t>
            </a:r>
          </a:p>
        </p:txBody>
      </p:sp>
      <p:sp>
        <p:nvSpPr>
          <p:cNvPr id="18" name="Retângulo 17"/>
          <p:cNvSpPr/>
          <p:nvPr/>
        </p:nvSpPr>
        <p:spPr>
          <a:xfrm>
            <a:off x="3310200" y="2405099"/>
            <a:ext cx="288032" cy="400110"/>
          </a:xfrm>
          <a:prstGeom prst="rect">
            <a:avLst/>
          </a:prstGeom>
          <a:noFill/>
        </p:spPr>
        <p:txBody>
          <a:bodyPr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>
              <a:defRPr/>
            </a:pPr>
            <a:r>
              <a:rPr lang="pt-BR" sz="2000" b="1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5448992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frame_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4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4F50E9EA426424A8E8E274C50F6FAAD" ma:contentTypeVersion="0" ma:contentTypeDescription="Crie um novo documento." ma:contentTypeScope="" ma:versionID="b084ed81fd98ca7061dbf55ce1617e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acb358bd3c4937f8c29cf3e1e721863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F7A595E-A8E8-43A6-AD1D-085708E4FA04}"/>
</file>

<file path=customXml/itemProps2.xml><?xml version="1.0" encoding="utf-8"?>
<ds:datastoreItem xmlns:ds="http://schemas.openxmlformats.org/officeDocument/2006/customXml" ds:itemID="{D74F2E16-A1FB-46F4-94E7-119DF7036D0E}"/>
</file>

<file path=customXml/itemProps3.xml><?xml version="1.0" encoding="utf-8"?>
<ds:datastoreItem xmlns:ds="http://schemas.openxmlformats.org/officeDocument/2006/customXml" ds:itemID="{C457900A-6049-43FB-B168-4B9BB02A7219}"/>
</file>

<file path=docProps/app.xml><?xml version="1.0" encoding="utf-8"?>
<Properties xmlns="http://schemas.openxmlformats.org/officeDocument/2006/extended-properties" xmlns:vt="http://schemas.openxmlformats.org/officeDocument/2006/docPropsVTypes">
  <Template>Apex</Template>
  <TotalTime>2971</TotalTime>
  <Words>515</Words>
  <Application>Microsoft Office PowerPoint</Application>
  <PresentationFormat>Apresentação na tela (4:3)</PresentationFormat>
  <Paragraphs>81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Aquela Mesmo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QualquerNome</dc:creator>
  <cp:lastModifiedBy>elima</cp:lastModifiedBy>
  <cp:revision>170</cp:revision>
  <dcterms:created xsi:type="dcterms:W3CDTF">2007-11-04T19:27:17Z</dcterms:created>
  <dcterms:modified xsi:type="dcterms:W3CDTF">2013-10-08T17:54:10Z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0x010100C4F50E9EA426424A8E8E274C50F6FAAD</vt:lpwstr>
  </property>
</Properties>
</file>