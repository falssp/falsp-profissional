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6" r:id="rId5"/>
    <p:sldId id="277" r:id="rId6"/>
    <p:sldId id="285" r:id="rId7"/>
    <p:sldId id="286" r:id="rId8"/>
    <p:sldId id="287" r:id="rId9"/>
    <p:sldId id="309" r:id="rId10"/>
    <p:sldId id="310" r:id="rId11"/>
    <p:sldId id="311" r:id="rId12"/>
    <p:sldId id="302" r:id="rId13"/>
    <p:sldId id="307" r:id="rId14"/>
    <p:sldId id="288" r:id="rId15"/>
    <p:sldId id="289" r:id="rId16"/>
    <p:sldId id="290" r:id="rId17"/>
    <p:sldId id="291" r:id="rId18"/>
    <p:sldId id="303" r:id="rId19"/>
    <p:sldId id="305" r:id="rId20"/>
    <p:sldId id="292" r:id="rId21"/>
    <p:sldId id="293" r:id="rId22"/>
    <p:sldId id="294" r:id="rId23"/>
    <p:sldId id="295" r:id="rId24"/>
    <p:sldId id="296" r:id="rId25"/>
    <p:sldId id="297" r:id="rId26"/>
    <p:sldId id="304" r:id="rId27"/>
    <p:sldId id="306" r:id="rId28"/>
    <p:sldId id="298" r:id="rId29"/>
    <p:sldId id="299" r:id="rId30"/>
    <p:sldId id="308" r:id="rId31"/>
    <p:sldId id="262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D6A9"/>
    <a:srgbClr val="E4C280"/>
    <a:srgbClr val="B4B53E"/>
    <a:srgbClr val="A59F7F"/>
    <a:srgbClr val="7F3D1A"/>
    <a:srgbClr val="A86E3E"/>
    <a:srgbClr val="333333"/>
    <a:srgbClr val="AA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90" d="100"/>
          <a:sy n="90" d="100"/>
        </p:scale>
        <p:origin x="-72" y="5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13A13-2351-4A5E-955E-0BC32EEA7D37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10A47-54EA-49DE-98E0-8C02A97495C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333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7AA01-5055-4B0F-BBA6-4573EE971BA3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6F9F-342E-4C32-9939-B49E64C3813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2533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BAB19-E599-45EB-AA69-A6A1091CDE62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D55CE-A335-485C-8D79-0497EC35F98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9140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0A575-61F1-4E40-89ED-A19AA72A082F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10D90-9E73-4470-9484-5146575D4BA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8120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351C0-153C-4658-B339-C14D4BFE514F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693DF-CAD1-417A-9940-1C2532D940F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2151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AFCE2-018E-4647-BD7F-61A04C01020D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E74CE-491C-4942-98AD-FBC1FEF83EC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081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13F20-84A5-40C5-A6C0-C46ADC23C5BE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E5DE1-8064-49C8-B979-6CF670490A6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8195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4E1C1-ECAD-4ED2-9C60-FC9B80D6B2AB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4E793-C06D-40D9-BE35-37BA171CD85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9504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6E9A6-8B38-4696-9BC0-989532BCF2E1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1378A-6F6A-493E-BCBA-7ED57702068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8881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15980-82B5-4A31-BB93-62CCFE41E7C9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FE940-4CD4-4F1A-BBB2-B958830EA7A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201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3CEE0-C6D6-4736-98CC-D8A63FD2BE0B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05852-35E5-4BBD-A33C-DAE30D5C96E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1933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9BDF48-5CA4-4469-AFB5-61BC105CC0D9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D7CC4-752E-4FAF-9258-2836486EB9D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789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3FE3913E-1FB7-4B3C-8626-4767150F0B12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65E6C71E-FE65-4D15-8A3E-0869BDE3B3D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equipes.natura.net/vptd/governanca/Contratos/_layouts/15/start.aspx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fge.caixa.gov.br/Cidadao/Crf/FgeCfSCriteriosPesquisa.asp" TargetMode="External"/><Relationship Id="rId2" Type="http://schemas.openxmlformats.org/officeDocument/2006/relationships/hyperlink" Target="http://www.receita.fazenda.gov.br/pessoajuridica/cnpj/cnpjreva/cnpjreva_solicitacao.asp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://www.receita.fazenda.gov.br/Aplicacoes/ATSPO/Certidao/CndConjuntaInter/InformaNICertidao.asp?Tipo=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ceita.fazenda.gov.br/pessoajuridica/cnpj/cnpjreva/cnpjreva_solicitacao.as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ceita.fazenda.gov.br/Legislacao/Ins/2011/in11832011.htm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eceita.fazenda.gov.br/Legislacao/Ins/2013/in13982013.htm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010.dataprev.gov.br/CWS/CONTEXTO/CNDFISCO/CNDFISCO.HTML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010.dataprev.gov.br/cws/contexto/cnd/cnd.html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010.dataprev.gov.br/cws/contexto/cnd/cnd.html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sifge.caixa.gov.br/Cidadao/Crf/FgeCfSCriteriosPesquisa.asp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eceita.fazenda.gov.br/Aplicacoes/ATSPO/Certidao/certaut/OptaAutenticidade.asp?origem=PF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www.receita.fazenda.gov.br/Aplicacoes/ATSPO/Certidao/CndConjuntaInter/InformaNICertidao.asp?Tipo=1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 descr="img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" t="9000" r="475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12"/>
          <p:cNvSpPr txBox="1">
            <a:spLocks noChangeArrowheads="1"/>
          </p:cNvSpPr>
          <p:nvPr/>
        </p:nvSpPr>
        <p:spPr bwMode="auto">
          <a:xfrm>
            <a:off x="1115616" y="3140968"/>
            <a:ext cx="433705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000" b="1" dirty="0" smtClean="0">
                <a:solidFill>
                  <a:schemeClr val="bg1"/>
                </a:solidFill>
                <a:latin typeface="Verdana" pitchFamily="34" charset="0"/>
              </a:rPr>
              <a:t>Homologar e Aprovar Cadastro do Potencial  Fornecedor</a:t>
            </a:r>
            <a:endParaRPr lang="pt-BR" sz="24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714500" y="4208463"/>
            <a:ext cx="24288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300" smtClean="0">
                <a:solidFill>
                  <a:schemeClr val="bg1"/>
                </a:solidFill>
                <a:latin typeface="Verdana" pitchFamily="34" charset="0"/>
              </a:rPr>
              <a:t>Novembro</a:t>
            </a:r>
            <a:r>
              <a:rPr lang="en-US" sz="1300" dirty="0" smtClean="0">
                <a:solidFill>
                  <a:schemeClr val="bg1"/>
                </a:solidFill>
                <a:latin typeface="Verdana" pitchFamily="34" charset="0"/>
              </a:rPr>
              <a:t>/2013</a:t>
            </a:r>
            <a:r>
              <a:rPr lang="en-US" sz="1300" dirty="0">
                <a:solidFill>
                  <a:schemeClr val="bg1"/>
                </a:solidFill>
                <a:latin typeface="Verdana" pitchFamily="34" charset="0"/>
              </a:rPr>
              <a:t>	</a:t>
            </a:r>
            <a:endParaRPr lang="pt-BR" sz="13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053" name="Picture 4" descr="C:\Users\Takae\AppData\Local\Temp\Rar$DR00.065\logo1cor_branco_wmf\logo1cor_branco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810250"/>
            <a:ext cx="7889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A59F7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pt-BR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075" name="Text Box 12"/>
          <p:cNvSpPr txBox="1">
            <a:spLocks noChangeArrowheads="1"/>
          </p:cNvSpPr>
          <p:nvPr/>
        </p:nvSpPr>
        <p:spPr bwMode="auto">
          <a:xfrm>
            <a:off x="725488" y="1189038"/>
            <a:ext cx="15890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>
                <a:solidFill>
                  <a:srgbClr val="EDD6A9"/>
                </a:solidFill>
                <a:latin typeface="Verdana" pitchFamily="34" charset="0"/>
              </a:rPr>
              <a:t>Objetivo</a:t>
            </a:r>
          </a:p>
        </p:txBody>
      </p:sp>
      <p:pic>
        <p:nvPicPr>
          <p:cNvPr id="3076" name="Picture 4" descr="C:\Users\Takae\AppData\Local\Temp\Rar$DR00.065\logo1cor_branco_wmf\logo1cor_branco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810250"/>
            <a:ext cx="7889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750888" y="2000250"/>
            <a:ext cx="66786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O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objetivo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deste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documento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é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instruir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como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homologar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e 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aprovar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o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cadastro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de um novo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parceiro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potencial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no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catalogo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de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fornecedores</a:t>
            </a:r>
            <a:endParaRPr lang="en-US" sz="16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83982" y="764704"/>
            <a:ext cx="8718351" cy="1915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400" dirty="0" smtClean="0">
                <a:solidFill>
                  <a:srgbClr val="333333"/>
                </a:solidFill>
                <a:latin typeface="Verdana" pitchFamily="34" charset="0"/>
              </a:rPr>
              <a:t>As solicitações de cadastro são enviadas por e-mail à área de Governança de TD -&gt; Contratos e Licenças para validação. Será avaliada a qualidade das informações postadas, como os detalhes dos serviços/produtos do fornecedor.</a:t>
            </a:r>
          </a:p>
          <a:p>
            <a:pPr eaLnBrk="1" hangingPunct="1"/>
            <a:endParaRPr lang="pt-BR" sz="1400" dirty="0">
              <a:solidFill>
                <a:srgbClr val="333333"/>
              </a:solidFill>
              <a:latin typeface="Verdana" pitchFamily="34" charset="0"/>
            </a:endParaRPr>
          </a:p>
          <a:p>
            <a:r>
              <a:rPr lang="pt-BR" sz="1400" b="1" dirty="0">
                <a:solidFill>
                  <a:srgbClr val="B4B53E"/>
                </a:solidFill>
              </a:rPr>
              <a:t>Utilizar o Internet Explorer ou </a:t>
            </a:r>
            <a:r>
              <a:rPr lang="pt-BR" sz="1400" b="1" dirty="0" err="1">
                <a:solidFill>
                  <a:srgbClr val="B4B53E"/>
                </a:solidFill>
              </a:rPr>
              <a:t>FireFox</a:t>
            </a:r>
            <a:r>
              <a:rPr lang="pt-BR" sz="1400" b="1" dirty="0">
                <a:solidFill>
                  <a:srgbClr val="B4B53E"/>
                </a:solidFill>
              </a:rPr>
              <a:t> para acesso à página Sharepoint da VP TD -&gt; Governança de TD -&gt; Contratos e Licenças -&gt; CATALOGO DE FORNECEDORES.</a:t>
            </a:r>
          </a:p>
          <a:p>
            <a:endParaRPr lang="pt-BR" sz="1050" b="1" dirty="0">
              <a:solidFill>
                <a:srgbClr val="B4B53E"/>
              </a:solidFill>
            </a:endParaRPr>
          </a:p>
          <a:p>
            <a:r>
              <a:rPr lang="pt-BR" sz="1200" dirty="0">
                <a:hlinkClick r:id="rId2"/>
              </a:rPr>
              <a:t>http://equipes.natura.net/vptd/governanca/Contratos/_layouts/15/start.aspx#/</a:t>
            </a:r>
            <a:r>
              <a:rPr lang="pt-BR" sz="1200" dirty="0" smtClean="0">
                <a:hlinkClick r:id="rId2"/>
              </a:rPr>
              <a:t>Lists/Catlogo%20de%20Fornecedores/AllItems.aspx</a:t>
            </a:r>
            <a:endParaRPr lang="pt-BR" sz="1200" dirty="0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95076" y="182403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Aprovar Cadastro de Fornecedor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4512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92696"/>
            <a:ext cx="8324707" cy="4240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95076" y="182403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Aprovar Cadastro de Fornecedor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2987824" y="4162736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76821" y="2027910"/>
            <a:ext cx="209092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200" b="1" u="sng" dirty="0" smtClean="0">
                <a:solidFill>
                  <a:srgbClr val="333333"/>
                </a:solidFill>
                <a:latin typeface="Verdana" pitchFamily="34" charset="0"/>
              </a:rPr>
              <a:t>PASSOS</a:t>
            </a:r>
          </a:p>
          <a:p>
            <a:pPr algn="just" eaLnBrk="1" hangingPunct="1"/>
            <a:endParaRPr lang="pt-BR" sz="1200" dirty="0" smtClean="0">
              <a:solidFill>
                <a:srgbClr val="333333"/>
              </a:solidFill>
              <a:latin typeface="Verdana" pitchFamily="34" charset="0"/>
            </a:endParaRPr>
          </a:p>
          <a:p>
            <a:r>
              <a:rPr lang="pt-BR" sz="1200" dirty="0" smtClean="0"/>
              <a:t>GCL:</a:t>
            </a:r>
          </a:p>
          <a:p>
            <a:endParaRPr lang="pt-BR" sz="1200" dirty="0"/>
          </a:p>
          <a:p>
            <a:r>
              <a:rPr lang="pt-BR" sz="1200" dirty="0" smtClean="0"/>
              <a:t>1) Selecionar o cadastro a ser avaliado com um “clique” no nome da empresa</a:t>
            </a:r>
            <a:endParaRPr lang="pt-BR" sz="1200" dirty="0"/>
          </a:p>
          <a:p>
            <a:r>
              <a:rPr lang="pt-BR" sz="1200" dirty="0"/>
              <a:t> </a:t>
            </a:r>
          </a:p>
          <a:p>
            <a:r>
              <a:rPr lang="pt-BR" sz="12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343222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182403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Aprovar Cadastro de Fornecedor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09848" y="1196752"/>
            <a:ext cx="2957711" cy="544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200" b="1" u="sng" dirty="0" smtClean="0">
                <a:solidFill>
                  <a:srgbClr val="333333"/>
                </a:solidFill>
                <a:latin typeface="Verdana" pitchFamily="34" charset="0"/>
              </a:rPr>
              <a:t>PASSOS</a:t>
            </a:r>
          </a:p>
          <a:p>
            <a:pPr algn="just" eaLnBrk="1" hangingPunct="1"/>
            <a:endParaRPr lang="pt-BR" sz="1200" dirty="0" smtClean="0">
              <a:solidFill>
                <a:srgbClr val="333333"/>
              </a:solidFill>
              <a:latin typeface="Verdana" pitchFamily="34" charset="0"/>
            </a:endParaRPr>
          </a:p>
          <a:p>
            <a:r>
              <a:rPr lang="pt-BR" sz="1200" dirty="0" smtClean="0"/>
              <a:t>GCL:</a:t>
            </a:r>
          </a:p>
          <a:p>
            <a:endParaRPr lang="pt-BR" sz="1200" dirty="0"/>
          </a:p>
          <a:p>
            <a:r>
              <a:rPr lang="pt-BR" sz="1200" dirty="0" smtClean="0"/>
              <a:t>1) De </a:t>
            </a:r>
            <a:r>
              <a:rPr lang="pt-BR" sz="1200" dirty="0"/>
              <a:t>posse do CNPJ do fornecedor fazer as seguintes consultas:</a:t>
            </a:r>
          </a:p>
          <a:p>
            <a:r>
              <a:rPr lang="pt-BR" sz="1200" dirty="0"/>
              <a:t> </a:t>
            </a:r>
          </a:p>
          <a:p>
            <a:r>
              <a:rPr lang="pt-BR" sz="1200" dirty="0" smtClean="0"/>
              <a:t>Consulta </a:t>
            </a:r>
            <a:r>
              <a:rPr lang="pt-BR" sz="1200" dirty="0"/>
              <a:t>Emissão de Comprovante de Inscrição e de Situação </a:t>
            </a:r>
            <a:r>
              <a:rPr lang="pt-BR" sz="1200" dirty="0" smtClean="0"/>
              <a:t>Cadastral:</a:t>
            </a:r>
          </a:p>
          <a:p>
            <a:r>
              <a:rPr lang="pt-BR" sz="1200" dirty="0">
                <a:hlinkClick r:id="rId2"/>
              </a:rPr>
              <a:t>http://</a:t>
            </a:r>
            <a:r>
              <a:rPr lang="pt-BR" sz="1200" dirty="0" smtClean="0">
                <a:hlinkClick r:id="rId2"/>
              </a:rPr>
              <a:t>www.receita.fazenda.gov.br/pessoajuridica/cnpj/cnpjreva/cnpjreva_solicitacao.asp</a:t>
            </a:r>
            <a:endParaRPr lang="pt-BR" sz="1200" dirty="0" smtClean="0"/>
          </a:p>
          <a:p>
            <a:endParaRPr lang="pt-BR" sz="1200" dirty="0"/>
          </a:p>
          <a:p>
            <a:r>
              <a:rPr lang="pt-BR" sz="1200" dirty="0" smtClean="0"/>
              <a:t>FGTS</a:t>
            </a:r>
            <a:r>
              <a:rPr lang="pt-BR" sz="1200" dirty="0"/>
              <a:t>:</a:t>
            </a:r>
          </a:p>
          <a:p>
            <a:r>
              <a:rPr lang="pt-BR" sz="1200" u="sng" dirty="0">
                <a:hlinkClick r:id="rId3"/>
              </a:rPr>
              <a:t>https://www.sifge.caixa.gov.br/Cidadao/Crf/FgeCfSCriteriosPesquisa.asp</a:t>
            </a:r>
            <a:endParaRPr lang="pt-BR" sz="1200" dirty="0"/>
          </a:p>
          <a:p>
            <a:r>
              <a:rPr lang="pt-BR" sz="1200" dirty="0"/>
              <a:t> </a:t>
            </a:r>
          </a:p>
          <a:p>
            <a:r>
              <a:rPr lang="pt-BR" sz="1200" dirty="0" smtClean="0"/>
              <a:t>Certidão </a:t>
            </a:r>
            <a:r>
              <a:rPr lang="pt-BR" sz="1200" dirty="0"/>
              <a:t>Conjunta de Débitos Relativos a Tributos Federais e à Dívida Ativa da União:</a:t>
            </a:r>
          </a:p>
          <a:p>
            <a:r>
              <a:rPr lang="pt-BR" sz="1200" u="sng" dirty="0">
                <a:hlinkClick r:id="rId4"/>
              </a:rPr>
              <a:t>http://</a:t>
            </a:r>
            <a:r>
              <a:rPr lang="pt-BR" sz="1200" u="sng" dirty="0" smtClean="0">
                <a:hlinkClick r:id="rId4"/>
              </a:rPr>
              <a:t>www.receita.fazenda.gov.br/Aplicacoes/ATSPO/Certidao/CndConjuntaInter/InformaNICertidao.asp?Tipo=1</a:t>
            </a:r>
            <a:endParaRPr lang="pt-BR" sz="1200" u="sng" dirty="0" smtClean="0"/>
          </a:p>
          <a:p>
            <a:endParaRPr lang="pt-BR" sz="1200" u="sng" dirty="0" smtClean="0"/>
          </a:p>
          <a:p>
            <a:r>
              <a:rPr lang="pt-BR" sz="1200" u="sng" dirty="0" smtClean="0"/>
              <a:t>2) Validar todos os campos preenchidos</a:t>
            </a:r>
          </a:p>
          <a:p>
            <a:endParaRPr lang="pt-BR" sz="1200" u="sng" dirty="0"/>
          </a:p>
          <a:p>
            <a:r>
              <a:rPr lang="pt-BR" sz="1200" u="sng" dirty="0" smtClean="0"/>
              <a:t>3) Aprovar ou Reprovar</a:t>
            </a:r>
            <a:endParaRPr lang="pt-BR" sz="1200" u="sng" dirty="0"/>
          </a:p>
          <a:p>
            <a:endParaRPr lang="pt-BR" sz="1200" dirty="0"/>
          </a:p>
          <a:p>
            <a:r>
              <a:rPr lang="pt-BR" sz="1200" dirty="0"/>
              <a:t> 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113" y="4336693"/>
            <a:ext cx="5628703" cy="2298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>
          <a:xfrm>
            <a:off x="3923928" y="5661248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283968" y="5722623"/>
            <a:ext cx="2952328" cy="128047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535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4" b="37397"/>
          <a:stretch/>
        </p:blipFill>
        <p:spPr bwMode="auto">
          <a:xfrm>
            <a:off x="107504" y="2026446"/>
            <a:ext cx="8892480" cy="3274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23528" y="980728"/>
            <a:ext cx="84969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smtClean="0"/>
              <a:t>Acesse o link abaixo e informe o CNPJ e click em consultar</a:t>
            </a:r>
            <a:endParaRPr lang="pt-BR" sz="1600" dirty="0" smtClean="0">
              <a:hlinkClick r:id="rId3"/>
            </a:endParaRPr>
          </a:p>
          <a:p>
            <a:r>
              <a:rPr lang="pt-BR" sz="1600" dirty="0" smtClean="0">
                <a:hlinkClick r:id="rId3"/>
              </a:rPr>
              <a:t>http</a:t>
            </a:r>
            <a:r>
              <a:rPr lang="pt-BR" sz="1600" dirty="0">
                <a:hlinkClick r:id="rId3"/>
              </a:rPr>
              <a:t>://</a:t>
            </a:r>
            <a:r>
              <a:rPr lang="pt-BR" sz="1600" dirty="0" smtClean="0">
                <a:hlinkClick r:id="rId3"/>
              </a:rPr>
              <a:t>www.receita.fazenda.gov.br/pessoajuridica/cnpj/cnpjreva/cnpjreva_solicitacao.asp</a:t>
            </a:r>
            <a:endParaRPr lang="pt-BR" sz="1600" dirty="0" smtClean="0"/>
          </a:p>
          <a:p>
            <a:endParaRPr lang="pt-BR" sz="1600" dirty="0"/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Informações Cadastrais do CNPJ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4" name="Elipse 3"/>
          <p:cNvSpPr/>
          <p:nvPr/>
        </p:nvSpPr>
        <p:spPr>
          <a:xfrm>
            <a:off x="323528" y="3776161"/>
            <a:ext cx="108012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1043608" y="4097564"/>
            <a:ext cx="108012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7339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44" b="6131"/>
          <a:stretch/>
        </p:blipFill>
        <p:spPr bwMode="auto">
          <a:xfrm>
            <a:off x="51589" y="576129"/>
            <a:ext cx="5976665" cy="6190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ângulo 1"/>
          <p:cNvSpPr/>
          <p:nvPr/>
        </p:nvSpPr>
        <p:spPr>
          <a:xfrm>
            <a:off x="5148064" y="6372036"/>
            <a:ext cx="3959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 smtClean="0"/>
              <a:t>Maiores Informações: </a:t>
            </a:r>
            <a:r>
              <a:rPr lang="pt-BR" sz="900" dirty="0" smtClean="0">
                <a:hlinkClick r:id="rId3"/>
              </a:rPr>
              <a:t>http</a:t>
            </a:r>
            <a:r>
              <a:rPr lang="pt-BR" sz="900" dirty="0">
                <a:hlinkClick r:id="rId3"/>
              </a:rPr>
              <a:t>://</a:t>
            </a:r>
            <a:r>
              <a:rPr lang="pt-BR" sz="900" dirty="0" smtClean="0">
                <a:hlinkClick r:id="rId3"/>
              </a:rPr>
              <a:t>www.receita.fazenda.gov.br/Legislacao/Ins/2011/in11832011.htm</a:t>
            </a:r>
            <a:endParaRPr lang="pt-BR" sz="900" dirty="0" smtClean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167064" y="2792177"/>
            <a:ext cx="3815408" cy="1869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TIPOS DE SITUAÇÕES </a:t>
            </a:r>
            <a:endParaRPr kumimoji="0" lang="pt-B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Art. 34. </a:t>
            </a:r>
            <a:r>
              <a:rPr kumimoji="0" lang="pt-B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 inscrição no CNPJ, da entidade ou do estabelecimento filial, pode ser enquadrada nas seguintes situações cadastrais: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 – ativa (apenas com estes status podemos seguir com o cadastro);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II - suspensa;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III - inapta;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IV - baixada; ou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V - nula. </a:t>
            </a: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Informações Cadastrais do CNPJ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3" name="Elipse 2"/>
          <p:cNvSpPr/>
          <p:nvPr/>
        </p:nvSpPr>
        <p:spPr>
          <a:xfrm>
            <a:off x="51589" y="5229200"/>
            <a:ext cx="631979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9973" y="2924944"/>
            <a:ext cx="1199659" cy="936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755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8452" y="551436"/>
            <a:ext cx="8908044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900" b="1" dirty="0">
                <a:latin typeface="Arial" pitchFamily="34" charset="0"/>
                <a:cs typeface="Arial" pitchFamily="34" charset="0"/>
              </a:rPr>
              <a:t>CAPÍTULO I </a:t>
            </a:r>
            <a:br>
              <a:rPr lang="pt-BR" sz="900" b="1" dirty="0">
                <a:latin typeface="Arial" pitchFamily="34" charset="0"/>
                <a:cs typeface="Arial" pitchFamily="34" charset="0"/>
              </a:rPr>
            </a:br>
            <a:r>
              <a:rPr lang="pt-BR" sz="900" b="1" dirty="0">
                <a:latin typeface="Arial" pitchFamily="34" charset="0"/>
                <a:cs typeface="Arial" pitchFamily="34" charset="0"/>
              </a:rPr>
              <a:t>DOS TIPOS DE SITUAÇÕES </a:t>
            </a:r>
            <a:endParaRPr lang="pt-BR" sz="900" dirty="0">
              <a:latin typeface="Arial" pitchFamily="34" charset="0"/>
              <a:cs typeface="Arial" pitchFamily="34" charset="0"/>
            </a:endParaRPr>
          </a:p>
          <a:p>
            <a:r>
              <a:rPr lang="pt-BR" sz="900" b="1" dirty="0">
                <a:latin typeface="Arial" pitchFamily="34" charset="0"/>
                <a:cs typeface="Arial" pitchFamily="34" charset="0"/>
              </a:rPr>
              <a:t>Art. 34. </a:t>
            </a:r>
            <a:r>
              <a:rPr lang="pt-BR" sz="900" dirty="0">
                <a:latin typeface="Arial" pitchFamily="34" charset="0"/>
                <a:cs typeface="Arial" pitchFamily="34" charset="0"/>
              </a:rPr>
              <a:t>A inscrição no CNPJ, da entidade ou do estabelecimento filial, pode ser enquadrada nas seguintes situações cadastrais: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I - ativa;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II - suspensa;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III - inapta;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IV - baixada; ou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V - nula. </a:t>
            </a:r>
          </a:p>
          <a:p>
            <a:endParaRPr lang="pt-BR" sz="900" b="1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900" b="1" dirty="0" smtClean="0">
                <a:latin typeface="Arial" pitchFamily="34" charset="0"/>
                <a:cs typeface="Arial" pitchFamily="34" charset="0"/>
              </a:rPr>
              <a:t>DA </a:t>
            </a:r>
            <a:r>
              <a:rPr lang="pt-BR" sz="900" b="1" dirty="0">
                <a:latin typeface="Arial" pitchFamily="34" charset="0"/>
                <a:cs typeface="Arial" pitchFamily="34" charset="0"/>
              </a:rPr>
              <a:t>SITUAÇÃO CADASTRAL ATIVA </a:t>
            </a:r>
            <a:endParaRPr lang="pt-BR" sz="900" dirty="0">
              <a:latin typeface="Arial" pitchFamily="34" charset="0"/>
              <a:cs typeface="Arial" pitchFamily="34" charset="0"/>
            </a:endParaRPr>
          </a:p>
          <a:p>
            <a:r>
              <a:rPr lang="pt-BR" sz="900" b="1" dirty="0">
                <a:latin typeface="Arial" pitchFamily="34" charset="0"/>
                <a:cs typeface="Arial" pitchFamily="34" charset="0"/>
              </a:rPr>
              <a:t>Art. 35. </a:t>
            </a:r>
            <a:r>
              <a:rPr lang="pt-BR" sz="900" dirty="0">
                <a:latin typeface="Arial" pitchFamily="34" charset="0"/>
                <a:cs typeface="Arial" pitchFamily="34" charset="0"/>
              </a:rPr>
              <a:t>A inscrição no CNPJ é enquadrada na situação cadastral ativa quando a entidade ou o estabelecimento filial, conforme o caso, não se enquadrar em nenhuma das situações cadastrais citadas nos incisos II a V do art. 34. </a:t>
            </a:r>
          </a:p>
          <a:p>
            <a:endParaRPr lang="pt-BR" sz="900" b="1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900" b="1" dirty="0" smtClean="0">
                <a:latin typeface="Arial" pitchFamily="34" charset="0"/>
                <a:cs typeface="Arial" pitchFamily="34" charset="0"/>
              </a:rPr>
              <a:t>DA </a:t>
            </a:r>
            <a:r>
              <a:rPr lang="pt-BR" sz="900" b="1" dirty="0">
                <a:latin typeface="Arial" pitchFamily="34" charset="0"/>
                <a:cs typeface="Arial" pitchFamily="34" charset="0"/>
              </a:rPr>
              <a:t>SITUAÇÃO CADASTRAL SUSPENSA </a:t>
            </a:r>
            <a:endParaRPr lang="pt-BR" sz="900" dirty="0">
              <a:latin typeface="Arial" pitchFamily="34" charset="0"/>
              <a:cs typeface="Arial" pitchFamily="34" charset="0"/>
            </a:endParaRPr>
          </a:p>
          <a:p>
            <a:r>
              <a:rPr lang="pt-BR" sz="900" b="1" dirty="0">
                <a:latin typeface="Arial" pitchFamily="34" charset="0"/>
                <a:cs typeface="Arial" pitchFamily="34" charset="0"/>
              </a:rPr>
              <a:t>Art. 36. </a:t>
            </a:r>
            <a:r>
              <a:rPr lang="pt-BR" sz="900" dirty="0">
                <a:latin typeface="Arial" pitchFamily="34" charset="0"/>
                <a:cs typeface="Arial" pitchFamily="34" charset="0"/>
              </a:rPr>
              <a:t>A inscrição no CNPJ é enquadrada na situação cadastral suspensa quando, conforme o caso, a entidade ou o estabelecimento filial: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I - domiciliada no exterior, encontrando-se na situação cadastral ativa, deixar de ser alcançada, temporariamente, pelas situações previstas no inciso XV do art. 5º ;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II - solicitar baixa de sua inscrição no CNPJ, enquanto a solicitação estiver em análise ou caso seja indeferida;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III - for intimada na forma do § 1º do art. 29;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IV - for intimada na forma do § 1º do art. 40;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V - apresentar indício de interposição fraudulenta de sócio ou titular, na situação prevista pelo § 2º do art. 3º do Decreto nº 3.724, de 10 de janeiro de 2001, enquanto o respectivo processo estiver em análise;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VI - interromper temporariamente suas atividades; 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VII - não reconstituir, no prazo de 210 (duzentos e dez) dias, a pluralidade de sócios do seu QSA; ou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VII - não reconstituir, no prazo de 210 (duzentos e dez) dias, a pluralidade de sócios do seu QSA; (</a:t>
            </a:r>
            <a:r>
              <a:rPr lang="pt-BR" sz="900" dirty="0">
                <a:latin typeface="Arial" pitchFamily="34" charset="0"/>
                <a:cs typeface="Arial" pitchFamily="34" charset="0"/>
                <a:hlinkClick r:id="rId2"/>
              </a:rPr>
              <a:t>Redação dada pela Instrução Normativa RFB nº 1.398, de 16 de setembro de 2013</a:t>
            </a:r>
            <a:r>
              <a:rPr lang="pt-BR" sz="900" dirty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VIII - tiver sua suspensão determinada por ordem judicial.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VIII - tiver sua suspensão determinada por ordem judicial; ou (</a:t>
            </a:r>
            <a:r>
              <a:rPr lang="pt-BR" sz="900" dirty="0">
                <a:latin typeface="Arial" pitchFamily="34" charset="0"/>
                <a:cs typeface="Arial" pitchFamily="34" charset="0"/>
                <a:hlinkClick r:id="rId2"/>
              </a:rPr>
              <a:t>Redação dada pela Instrução Normativa RFB nº 1.398, de 16 de setembro de 2013</a:t>
            </a:r>
            <a:r>
              <a:rPr lang="pt-BR" sz="900" dirty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pt-BR" sz="900" dirty="0">
                <a:latin typeface="Arial" pitchFamily="34" charset="0"/>
                <a:cs typeface="Arial" pitchFamily="34" charset="0"/>
              </a:rPr>
              <a:t>IX - possuir inconsistência(s) em seus dados cadastrais. (</a:t>
            </a:r>
            <a:r>
              <a:rPr lang="pt-BR" sz="900" dirty="0">
                <a:latin typeface="Arial" pitchFamily="34" charset="0"/>
                <a:cs typeface="Arial" pitchFamily="34" charset="0"/>
                <a:hlinkClick r:id="rId2"/>
              </a:rPr>
              <a:t>Incluído pela Instrução Normativa RFB nº 1.398, de 16 de setembro de 2013</a:t>
            </a:r>
            <a:r>
              <a:rPr lang="pt-BR" sz="900" dirty="0">
                <a:latin typeface="Arial" pitchFamily="34" charset="0"/>
                <a:cs typeface="Arial" pitchFamily="34" charset="0"/>
              </a:rPr>
              <a:t>)</a:t>
            </a:r>
          </a:p>
          <a:p>
            <a:endParaRPr lang="pt-BR" sz="900" b="1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900" b="1" dirty="0" smtClean="0"/>
              <a:t>DA </a:t>
            </a:r>
            <a:r>
              <a:rPr lang="pt-BR" sz="900" b="1" dirty="0"/>
              <a:t>SITUAÇÃO CADASTRAL INAPTA </a:t>
            </a:r>
            <a:endParaRPr lang="pt-BR" sz="900" dirty="0"/>
          </a:p>
          <a:p>
            <a:r>
              <a:rPr lang="pt-BR" sz="900" b="1" dirty="0"/>
              <a:t>Art. 37. </a:t>
            </a:r>
            <a:r>
              <a:rPr lang="pt-BR" sz="900" dirty="0"/>
              <a:t>Pode ser declarada inapta a inscrição no CNPJ da pessoa jurídica: </a:t>
            </a:r>
          </a:p>
          <a:p>
            <a:r>
              <a:rPr lang="pt-BR" sz="900" dirty="0"/>
              <a:t>I - omissa de declarações e demonstrativos: a que, estando obrigada, deixar de apresentar declarações e demonstrativos em 2 (dois) exercícios consecutivos; </a:t>
            </a:r>
          </a:p>
          <a:p>
            <a:r>
              <a:rPr lang="pt-BR" sz="900" dirty="0"/>
              <a:t>II - não localizada: a que não for localizada no endereço constante do CNPJ; ou </a:t>
            </a:r>
          </a:p>
          <a:p>
            <a:r>
              <a:rPr lang="pt-BR" sz="900" dirty="0"/>
              <a:t>III - com irregularidade em operações de comércio exterior: a que não comprovar a origem, a disponibilidade e a efetiva transferência, se for o caso, dos recursos empregados em operações de comércio exterior, na forma prevista em lei. </a:t>
            </a:r>
          </a:p>
          <a:p>
            <a:r>
              <a:rPr lang="pt-BR" sz="900" dirty="0"/>
              <a:t>Parágrafo único. O disposto neste artigo não se aplica à entidade domiciliada no exterior. </a:t>
            </a:r>
          </a:p>
          <a:p>
            <a:endParaRPr lang="pt-BR" sz="900" b="1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900" b="1" dirty="0" smtClean="0">
                <a:latin typeface="Arial" pitchFamily="34" charset="0"/>
                <a:cs typeface="Arial" pitchFamily="34" charset="0"/>
              </a:rPr>
              <a:t>DA </a:t>
            </a:r>
            <a:r>
              <a:rPr lang="pt-BR" sz="900" b="1" dirty="0">
                <a:latin typeface="Arial" pitchFamily="34" charset="0"/>
                <a:cs typeface="Arial" pitchFamily="34" charset="0"/>
              </a:rPr>
              <a:t>SITUAÇÃO CADASTRAL BAIXADA </a:t>
            </a:r>
            <a:endParaRPr lang="pt-BR" sz="900" dirty="0">
              <a:latin typeface="Arial" pitchFamily="34" charset="0"/>
              <a:cs typeface="Arial" pitchFamily="34" charset="0"/>
            </a:endParaRPr>
          </a:p>
          <a:p>
            <a:r>
              <a:rPr lang="pt-BR" sz="900" b="1" dirty="0">
                <a:latin typeface="Arial" pitchFamily="34" charset="0"/>
                <a:cs typeface="Arial" pitchFamily="34" charset="0"/>
              </a:rPr>
              <a:t>Art. 46. </a:t>
            </a:r>
            <a:r>
              <a:rPr lang="pt-BR" sz="900" dirty="0">
                <a:latin typeface="Arial" pitchFamily="34" charset="0"/>
                <a:cs typeface="Arial" pitchFamily="34" charset="0"/>
              </a:rPr>
              <a:t>A inscrição no CNPJ é enquadrada na situação cadastral baixada quando a entidade ou o estabelecimento filial, conforme o caso, tiver sua solicitação de baixa deferida, na forma do art. 25, ou na hipótese de baixa de ofício, conforme o art. 27. </a:t>
            </a:r>
          </a:p>
          <a:p>
            <a:endParaRPr lang="pt-BR" sz="900" b="1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900" b="1" dirty="0" smtClean="0">
                <a:latin typeface="Arial" pitchFamily="34" charset="0"/>
                <a:cs typeface="Arial" pitchFamily="34" charset="0"/>
              </a:rPr>
              <a:t>DA </a:t>
            </a:r>
            <a:r>
              <a:rPr lang="pt-BR" sz="900" b="1" dirty="0">
                <a:latin typeface="Arial" pitchFamily="34" charset="0"/>
                <a:cs typeface="Arial" pitchFamily="34" charset="0"/>
              </a:rPr>
              <a:t>SITUAÇÃO CADASTRAL NULA </a:t>
            </a:r>
            <a:endParaRPr lang="pt-BR" sz="900" dirty="0">
              <a:latin typeface="Arial" pitchFamily="34" charset="0"/>
              <a:cs typeface="Arial" pitchFamily="34" charset="0"/>
            </a:endParaRPr>
          </a:p>
          <a:p>
            <a:r>
              <a:rPr lang="pt-BR" sz="900" b="1" dirty="0">
                <a:latin typeface="Arial" pitchFamily="34" charset="0"/>
                <a:cs typeface="Arial" pitchFamily="34" charset="0"/>
              </a:rPr>
              <a:t>Art. 47. </a:t>
            </a:r>
            <a:r>
              <a:rPr lang="pt-BR" sz="900" dirty="0">
                <a:latin typeface="Arial" pitchFamily="34" charset="0"/>
                <a:cs typeface="Arial" pitchFamily="34" charset="0"/>
              </a:rPr>
              <a:t>A inscrição no CNPJ é enquadrada na situação cadastral nula quando for declarada a nulidade do ato de inscrição da entidade ou do estabelecimento filial, na forma do art. 33. </a:t>
            </a:r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Informações Gerais – Situação Cadastral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9751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971600" y="2456309"/>
            <a:ext cx="7128792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 sz="2600" b="1" dirty="0">
                <a:solidFill>
                  <a:srgbClr val="B4B53E"/>
                </a:solidFill>
                <a:latin typeface="Verdana" pitchFamily="34" charset="0"/>
              </a:rPr>
              <a:t>Consulta à Certidão Negativa de Débito (CND) / Certidão Positiva de Débito com Efeitos de Negativa (CPD-EN) </a:t>
            </a:r>
          </a:p>
        </p:txBody>
      </p:sp>
    </p:spTree>
    <p:extLst>
      <p:ext uri="{BB962C8B-B14F-4D97-AF65-F5344CB8AC3E}">
        <p14:creationId xmlns:p14="http://schemas.microsoft.com/office/powerpoint/2010/main" val="8649965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8452" y="1052736"/>
            <a:ext cx="890804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200" dirty="0"/>
              <a:t>Este serviço oferecido pela Secretaria da Receita Federal do Brasil - RFB possibilita ao contribuinte solicitar uma certidão que será emitida automaticamente, se não houver pendências nos sistemas da RFB</a:t>
            </a:r>
            <a:r>
              <a:rPr lang="pt-BR" sz="1200" dirty="0" smtClean="0"/>
              <a:t>.</a:t>
            </a:r>
          </a:p>
          <a:p>
            <a:endParaRPr lang="pt-BR" sz="1200" dirty="0"/>
          </a:p>
          <a:p>
            <a:r>
              <a:rPr lang="pt-BR" sz="1200" dirty="0"/>
              <a:t>Esta certidão comprova a regularidade do sujeito passivo em relação às contribuições previdenciárias e às contribuições devidas, por lei, a terceiros, incluindo as inscrições em Dívida ativa do INSS.</a:t>
            </a:r>
          </a:p>
          <a:p>
            <a:endParaRPr lang="pt-BR" sz="1200" dirty="0" smtClean="0"/>
          </a:p>
          <a:p>
            <a:r>
              <a:rPr lang="pt-BR" sz="1200" dirty="0" smtClean="0"/>
              <a:t>O </a:t>
            </a:r>
            <a:r>
              <a:rPr lang="pt-BR" sz="1200" dirty="0"/>
              <a:t>sistema está programado para expedir Certidão Negativa de Débitos - CND ou Certidão Positiva de Débitos, com efeitos de Negativa - CPD-EN, conforme a situação do sujeito passivo.</a:t>
            </a:r>
          </a:p>
          <a:p>
            <a:endParaRPr lang="pt-BR" sz="1200" dirty="0" smtClean="0"/>
          </a:p>
          <a:p>
            <a:r>
              <a:rPr lang="pt-BR" sz="1200" dirty="0" smtClean="0"/>
              <a:t>As </a:t>
            </a:r>
            <a:r>
              <a:rPr lang="pt-BR" sz="1200" dirty="0"/>
              <a:t>pendências nos sistemas da RFB que inviabilizam a emissão automática da certidão podem ser verificadas no link </a:t>
            </a:r>
            <a:r>
              <a:rPr lang="pt-BR" sz="1200" dirty="0">
                <a:hlinkClick r:id="rId2"/>
              </a:rPr>
              <a:t>"Verificação de Regularidades das Contribuições Previdenciárias"</a:t>
            </a:r>
            <a:r>
              <a:rPr lang="pt-BR" sz="1200" dirty="0"/>
              <a:t> </a:t>
            </a:r>
          </a:p>
          <a:p>
            <a:endParaRPr lang="pt-BR" sz="1200" dirty="0" smtClean="0"/>
          </a:p>
          <a:p>
            <a:r>
              <a:rPr lang="pt-BR" sz="1200" dirty="0" smtClean="0"/>
              <a:t>Para </a:t>
            </a:r>
            <a:r>
              <a:rPr lang="pt-BR" sz="1200" dirty="0"/>
              <a:t>solicitar a certidão, no link abaixo "Pedido de CND" informe o número do Cadastro Nacional de Pessoa Jurídica - CNPJ ou o número da matrícula CEI - Cadastro Específico do INSS e a finalidade.</a:t>
            </a:r>
          </a:p>
          <a:p>
            <a:endParaRPr lang="pt-BR" sz="1200" b="1" i="1" dirty="0" smtClean="0"/>
          </a:p>
          <a:p>
            <a:r>
              <a:rPr lang="pt-BR" sz="1200" b="1" i="1" dirty="0" smtClean="0"/>
              <a:t>A </a:t>
            </a:r>
            <a:r>
              <a:rPr lang="pt-BR" sz="1200" b="1" i="1" dirty="0"/>
              <a:t>CND ou CPD-EN será expedida e impressa (em papel A4 ou formulário contínuo) no ato do pedido, se não houver restrições. Caso queira consultar ou confirmar a autenticidade de uma certidão já expedida retorne ao link "Consulta à Certidão Negativa de Débito - CND ou CPD-EN" na página anterior.</a:t>
            </a:r>
            <a:endParaRPr lang="pt-BR" sz="1200" dirty="0"/>
          </a:p>
          <a:p>
            <a:endParaRPr lang="pt-BR" sz="1200" dirty="0" smtClean="0"/>
          </a:p>
          <a:p>
            <a:r>
              <a:rPr lang="pt-BR" sz="1200" dirty="0" smtClean="0"/>
              <a:t>Maiores detalhes: </a:t>
            </a:r>
            <a:r>
              <a:rPr lang="pt-BR" sz="1200" dirty="0"/>
              <a:t>http://www.dataprev.gov.br/servicos/cnd1.htm</a:t>
            </a:r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Informações Gerais – CND e CPD-EN 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1649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182403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7275" y="846672"/>
            <a:ext cx="832259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1200" dirty="0" smtClean="0"/>
              <a:t>Consulta </a:t>
            </a:r>
            <a:r>
              <a:rPr lang="pt-BR" sz="1200" dirty="0"/>
              <a:t>à Certidão Negativa de Débito (CND) / Certidão Positiva de Débito com Efeitos de Negativa (CPD-EN) no site:</a:t>
            </a:r>
          </a:p>
          <a:p>
            <a:pPr algn="ctr"/>
            <a:r>
              <a:rPr lang="pt-BR" sz="1200" u="sng" dirty="0">
                <a:hlinkClick r:id="rId2"/>
              </a:rPr>
              <a:t>http://www010.dataprev.gov.br/cws/contexto/cnd/cnd.html</a:t>
            </a:r>
            <a:endParaRPr lang="pt-BR" sz="1200" dirty="0"/>
          </a:p>
          <a:p>
            <a:pPr algn="ctr"/>
            <a:r>
              <a:rPr lang="pt-BR" sz="1200" dirty="0"/>
              <a:t> 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92" y="1570277"/>
            <a:ext cx="8803350" cy="4949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586301" y="3466874"/>
            <a:ext cx="2808312" cy="238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2214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128245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7275" y="685145"/>
            <a:ext cx="832259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1200" dirty="0"/>
              <a:t>Emissão de 2ª Via de Certidão Negativa de Débito </a:t>
            </a:r>
            <a:br>
              <a:rPr lang="pt-BR" sz="1200" dirty="0"/>
            </a:br>
            <a:r>
              <a:rPr lang="pt-BR" sz="1200" dirty="0" smtClean="0"/>
              <a:t>:</a:t>
            </a:r>
            <a:endParaRPr lang="pt-BR" sz="1200" dirty="0"/>
          </a:p>
          <a:p>
            <a:pPr algn="ctr"/>
            <a:r>
              <a:rPr lang="pt-BR" sz="1200" u="sng" dirty="0">
                <a:hlinkClick r:id="rId2"/>
              </a:rPr>
              <a:t>http://</a:t>
            </a:r>
            <a:r>
              <a:rPr lang="pt-BR" sz="1200" u="sng" dirty="0" smtClean="0">
                <a:hlinkClick r:id="rId2"/>
              </a:rPr>
              <a:t>www010.dataprev.gov.br/cws/contexto/cnd/cnd.html</a:t>
            </a:r>
            <a:endParaRPr lang="pt-BR" sz="1200" u="sng" dirty="0" smtClean="0"/>
          </a:p>
          <a:p>
            <a:pPr algn="ctr"/>
            <a:endParaRPr lang="pt-BR" sz="1200" u="sng" dirty="0" smtClean="0"/>
          </a:p>
          <a:p>
            <a:pPr algn="ctr"/>
            <a:r>
              <a:rPr lang="pt-BR" sz="1200" dirty="0"/>
              <a:t> </a:t>
            </a:r>
            <a:r>
              <a:rPr lang="pt-BR" sz="1200" dirty="0" smtClean="0"/>
              <a:t>Exemplo: Para CNPJ  da </a:t>
            </a:r>
            <a:r>
              <a:rPr lang="pt-BR" sz="1200" b="1" dirty="0" smtClean="0"/>
              <a:t>Empresa: </a:t>
            </a:r>
            <a:r>
              <a:rPr lang="pt-BR" sz="1200" b="1" dirty="0"/>
              <a:t>Natura Cosméticos </a:t>
            </a:r>
            <a:r>
              <a:rPr lang="pt-BR" sz="1200" b="1" dirty="0" smtClean="0"/>
              <a:t>S/A -  </a:t>
            </a:r>
            <a:r>
              <a:rPr lang="pt-BR" sz="1200" dirty="0" smtClean="0"/>
              <a:t>CNPJ: 71.673.990/0020-30</a:t>
            </a:r>
            <a:endParaRPr lang="pt-BR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70" y="1883461"/>
            <a:ext cx="7719070" cy="4339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059832" y="3284984"/>
            <a:ext cx="1080120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6372200" y="4725144"/>
            <a:ext cx="2160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Selecione a opção CNPJ e informe o Número do CNPJ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2017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218713" y="764704"/>
            <a:ext cx="8601759" cy="302433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195076" y="4042187"/>
            <a:ext cx="8601759" cy="25551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182403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7275" y="846672"/>
            <a:ext cx="832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1200" dirty="0" smtClean="0"/>
              <a:t>Neste exemplo não há certidão negativa de débito para este CNPJ. </a:t>
            </a:r>
            <a:r>
              <a:rPr lang="pt-BR" sz="1200" dirty="0"/>
              <a:t> 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514"/>
          <a:stretch/>
        </p:blipFill>
        <p:spPr bwMode="auto">
          <a:xfrm>
            <a:off x="410585" y="1279328"/>
            <a:ext cx="8279570" cy="22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259627" y="4191471"/>
            <a:ext cx="64807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Caso houvesse, haveria uma tela </a:t>
            </a:r>
            <a:r>
              <a:rPr lang="pt-BR" sz="1200" dirty="0" smtClean="0"/>
              <a:t> como a similar abaixo demonstrando as certidões espedidas e suas validades.</a:t>
            </a:r>
            <a:endParaRPr lang="pt-BR" sz="12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32" y="4908004"/>
            <a:ext cx="7600950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02017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182403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755" y="1275215"/>
            <a:ext cx="6743700" cy="528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77275" y="846672"/>
            <a:ext cx="832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1200" b="1" dirty="0" smtClean="0">
                <a:solidFill>
                  <a:srgbClr val="FF0000"/>
                </a:solidFill>
              </a:rPr>
              <a:t>Modelo de Certidão Positiva com Efeitos de Negativa</a:t>
            </a:r>
            <a:endParaRPr lang="pt-BR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1657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971600" y="2752472"/>
            <a:ext cx="712879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Consulta  </a:t>
            </a:r>
            <a:r>
              <a:rPr lang="pt-BR" sz="2600" b="1" dirty="0">
                <a:solidFill>
                  <a:srgbClr val="B4B53E"/>
                </a:solidFill>
                <a:latin typeface="Verdana" pitchFamily="34" charset="0"/>
              </a:rPr>
              <a:t>FGTS – Regularidade do Empregador</a:t>
            </a:r>
          </a:p>
        </p:txBody>
      </p:sp>
    </p:spTree>
    <p:extLst>
      <p:ext uri="{BB962C8B-B14F-4D97-AF65-F5344CB8AC3E}">
        <p14:creationId xmlns:p14="http://schemas.microsoft.com/office/powerpoint/2010/main" val="1165653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8452" y="539087"/>
            <a:ext cx="8908044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200" dirty="0"/>
              <a:t>O que é Consulta Regularidade do Empregador? </a:t>
            </a:r>
          </a:p>
          <a:p>
            <a:r>
              <a:rPr lang="pt-BR" sz="1200" dirty="0"/>
              <a:t>É consulta pública, via internet, da situação da empresa perante o Fundo de Garantia do Tempo de Serviço - FGTS. Se a empresa se encontra em situação regular, será possível a obtenção imediata do CRF com validade de 30 dias. Quando não for possível a obtenção do CRF, entre em contato com uma agência da CAIXA para verificar eventuais impedimentos, o que pode e deve ser feito antes do vencimento do certificado em vigor.</a:t>
            </a:r>
            <a:br>
              <a:rPr lang="pt-BR" sz="1200" dirty="0"/>
            </a:br>
            <a:r>
              <a:rPr lang="pt-BR" sz="1200" dirty="0"/>
              <a:t>O CRF é o único documento que comprova a regularidade da empresa perante o FGTS e é emitido exclusivamente pela CAIXA.</a:t>
            </a:r>
          </a:p>
          <a:p>
            <a:endParaRPr lang="pt-BR" sz="1200" b="1" dirty="0" smtClean="0"/>
          </a:p>
          <a:p>
            <a:r>
              <a:rPr lang="pt-BR" sz="1200" b="1" dirty="0" smtClean="0"/>
              <a:t>Tipos </a:t>
            </a:r>
            <a:r>
              <a:rPr lang="pt-BR" sz="1200" b="1" dirty="0"/>
              <a:t>de impedimentos que podem ser apresentados na Consulta Regularidade do Empregador:</a:t>
            </a:r>
            <a:endParaRPr lang="pt-BR" sz="1200" dirty="0"/>
          </a:p>
          <a:p>
            <a:r>
              <a:rPr lang="pt-BR" sz="1200" dirty="0"/>
              <a:t>Se sua empresa tiver algum desses impedimentos você deverá procurar uma agência da CAIXA para regularizar sua situação:</a:t>
            </a:r>
          </a:p>
          <a:p>
            <a:endParaRPr lang="pt-BR" sz="1200" u="sng" dirty="0" smtClean="0"/>
          </a:p>
          <a:p>
            <a:r>
              <a:rPr lang="pt-BR" sz="1200" u="sng" dirty="0" smtClean="0"/>
              <a:t>Débitos</a:t>
            </a:r>
            <a:r>
              <a:rPr lang="pt-BR" sz="1200" u="sng" dirty="0"/>
              <a:t/>
            </a:r>
            <a:br>
              <a:rPr lang="pt-BR" sz="1200" u="sng" dirty="0"/>
            </a:br>
            <a:r>
              <a:rPr lang="pt-BR" sz="1200" dirty="0"/>
              <a:t>- notificação;</a:t>
            </a:r>
            <a:br>
              <a:rPr lang="pt-BR" sz="1200" dirty="0"/>
            </a:br>
            <a:r>
              <a:rPr lang="pt-BR" sz="1200" dirty="0"/>
              <a:t>- débito confessado; </a:t>
            </a:r>
            <a:br>
              <a:rPr lang="pt-BR" sz="1200" dirty="0"/>
            </a:br>
            <a:r>
              <a:rPr lang="pt-BR" sz="1200" dirty="0"/>
              <a:t>- diferenças apuradas em recolhimentos já efetuados;</a:t>
            </a:r>
            <a:br>
              <a:rPr lang="pt-BR" sz="1200" dirty="0"/>
            </a:br>
            <a:r>
              <a:rPr lang="pt-BR" sz="1200" dirty="0"/>
              <a:t>- parcelamentos nas situações em atraso, rescindido ou formalizado com a 1ª parcela não paga; </a:t>
            </a:r>
            <a:br>
              <a:rPr lang="pt-BR" sz="1200" dirty="0"/>
            </a:br>
            <a:r>
              <a:rPr lang="pt-BR" sz="1200" dirty="0"/>
              <a:t>- Inscrições em Dívida Ativa, ajuizadas ou não. </a:t>
            </a:r>
          </a:p>
          <a:p>
            <a:endParaRPr lang="pt-BR" sz="1200" u="sng" dirty="0" smtClean="0"/>
          </a:p>
          <a:p>
            <a:r>
              <a:rPr lang="pt-BR" sz="1200" u="sng" dirty="0" smtClean="0"/>
              <a:t>Indícios </a:t>
            </a:r>
            <a:r>
              <a:rPr lang="pt-BR" sz="1200" u="sng" dirty="0"/>
              <a:t>de Irregularidades</a:t>
            </a:r>
            <a:r>
              <a:rPr lang="pt-BR" sz="1200" dirty="0"/>
              <a:t> </a:t>
            </a:r>
            <a:br>
              <a:rPr lang="pt-BR" sz="1200" dirty="0"/>
            </a:br>
            <a:r>
              <a:rPr lang="pt-BR" sz="1200" dirty="0"/>
              <a:t>- Recolhimento Parcial na competência; </a:t>
            </a:r>
            <a:br>
              <a:rPr lang="pt-BR" sz="1200" dirty="0"/>
            </a:br>
            <a:r>
              <a:rPr lang="pt-BR" sz="1200" dirty="0"/>
              <a:t>- Ausência de Recolhimento na competência; </a:t>
            </a:r>
            <a:br>
              <a:rPr lang="pt-BR" sz="1200" dirty="0"/>
            </a:br>
            <a:r>
              <a:rPr lang="pt-BR" sz="1200" dirty="0"/>
              <a:t>- Recolhimento após Encerramento das Atividades da empresa; </a:t>
            </a:r>
            <a:br>
              <a:rPr lang="pt-BR" sz="1200" dirty="0"/>
            </a:br>
            <a:r>
              <a:rPr lang="pt-BR" sz="1200" dirty="0"/>
              <a:t>- Divergência de Enquadramento de Contribuição Social;</a:t>
            </a:r>
            <a:br>
              <a:rPr lang="pt-BR" sz="1200" dirty="0"/>
            </a:br>
            <a:r>
              <a:rPr lang="pt-BR" sz="1200" dirty="0"/>
              <a:t>- Ausência de Parâmetros de Contribuição Social;</a:t>
            </a:r>
            <a:br>
              <a:rPr lang="pt-BR" sz="1200" dirty="0"/>
            </a:br>
            <a:r>
              <a:rPr lang="pt-BR" sz="1200" dirty="0"/>
              <a:t>- Existência de Notificação não Cadastrada.</a:t>
            </a:r>
          </a:p>
          <a:p>
            <a:endParaRPr lang="pt-BR" sz="1200" u="sng" dirty="0" smtClean="0"/>
          </a:p>
          <a:p>
            <a:r>
              <a:rPr lang="pt-BR" sz="1200" u="sng" dirty="0" smtClean="0"/>
              <a:t>Inconsistências </a:t>
            </a:r>
            <a:r>
              <a:rPr lang="pt-BR" sz="1200" u="sng" dirty="0"/>
              <a:t>Cadastrais</a:t>
            </a:r>
            <a:r>
              <a:rPr lang="pt-BR" sz="1200" dirty="0"/>
              <a:t> </a:t>
            </a:r>
            <a:br>
              <a:rPr lang="pt-BR" sz="1200" dirty="0"/>
            </a:br>
            <a:r>
              <a:rPr lang="pt-BR" sz="1200" dirty="0"/>
              <a:t>- Nos dados do Empregador. </a:t>
            </a:r>
          </a:p>
          <a:p>
            <a:endParaRPr lang="pt-BR" sz="1200" u="sng" dirty="0" smtClean="0"/>
          </a:p>
          <a:p>
            <a:r>
              <a:rPr lang="pt-BR" sz="1200" u="sng" dirty="0" smtClean="0"/>
              <a:t>Inadimplência </a:t>
            </a:r>
            <a:r>
              <a:rPr lang="pt-BR" sz="1200" u="sng" dirty="0"/>
              <a:t>Fomento</a:t>
            </a:r>
            <a:r>
              <a:rPr lang="pt-BR" sz="1200" dirty="0"/>
              <a:t> </a:t>
            </a:r>
            <a:br>
              <a:rPr lang="pt-BR" sz="1200" dirty="0"/>
            </a:br>
            <a:r>
              <a:rPr lang="pt-BR" sz="1200" dirty="0"/>
              <a:t>- Contrato em atraso ou rescindido.</a:t>
            </a:r>
          </a:p>
          <a:p>
            <a:endParaRPr lang="pt-BR" sz="1200" dirty="0" smtClean="0"/>
          </a:p>
          <a:p>
            <a:r>
              <a:rPr lang="pt-BR" sz="1200" dirty="0" smtClean="0"/>
              <a:t>Maiores detalhes: </a:t>
            </a:r>
            <a:r>
              <a:rPr lang="pt-BR" sz="1200" dirty="0"/>
              <a:t>http://www.fgts.gov.br/perguntas/empregador/pergunta04.asp</a:t>
            </a:r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Informações Gerais – FGTS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4953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182403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Aprovar Cadastro de Fornecedor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95076" y="694437"/>
            <a:ext cx="84813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1200" dirty="0" smtClean="0"/>
              <a:t>Consulta  FGTS – Regularidade do Empregador</a:t>
            </a:r>
            <a:endParaRPr lang="pt-BR" sz="1200" dirty="0"/>
          </a:p>
          <a:p>
            <a:pPr algn="ctr"/>
            <a:r>
              <a:rPr lang="pt-BR" sz="1200" u="sng" dirty="0">
                <a:hlinkClick r:id="rId2"/>
              </a:rPr>
              <a:t>https://</a:t>
            </a:r>
            <a:r>
              <a:rPr lang="pt-BR" sz="1200" u="sng" dirty="0" smtClean="0">
                <a:hlinkClick r:id="rId2"/>
              </a:rPr>
              <a:t>www.sifge.caixa.gov.br/Cidadao/Crf/FgeCfSCriteriosPesquisa.asp</a:t>
            </a:r>
            <a:endParaRPr lang="pt-BR" sz="1200" u="sng" dirty="0" smtClean="0"/>
          </a:p>
          <a:p>
            <a:pPr algn="ctr"/>
            <a:r>
              <a:rPr lang="pt-BR" sz="1200" dirty="0" smtClean="0"/>
              <a:t>Neste exemplo deve ser informado apenas o CNPJ  Raiz: 71673990 e a UF: SP</a:t>
            </a:r>
            <a:r>
              <a:rPr lang="pt-BR" sz="1200" dirty="0"/>
              <a:t> 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86" b="25040"/>
          <a:stretch/>
        </p:blipFill>
        <p:spPr bwMode="auto">
          <a:xfrm>
            <a:off x="1040689" y="1488023"/>
            <a:ext cx="7087720" cy="5266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ângulo 1"/>
          <p:cNvSpPr/>
          <p:nvPr/>
        </p:nvSpPr>
        <p:spPr>
          <a:xfrm>
            <a:off x="2496647" y="5602119"/>
            <a:ext cx="3312368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64585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182403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7275" y="846672"/>
            <a:ext cx="832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1200" dirty="0" smtClean="0"/>
              <a:t>Resultado da consulta do FGTS</a:t>
            </a:r>
            <a:endParaRPr lang="pt-BR" sz="1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82" b="12031"/>
          <a:stretch/>
        </p:blipFill>
        <p:spPr bwMode="auto">
          <a:xfrm>
            <a:off x="1547664" y="1412776"/>
            <a:ext cx="6048672" cy="5255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6876257" y="3573016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Selecione o CNPJ a ser consultado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0284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182403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7275" y="846672"/>
            <a:ext cx="832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1200" dirty="0" smtClean="0"/>
              <a:t>Resultado da consulta do FGTS</a:t>
            </a:r>
            <a:endParaRPr lang="pt-BR" sz="1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26" b="25969"/>
          <a:stretch/>
        </p:blipFill>
        <p:spPr bwMode="auto">
          <a:xfrm>
            <a:off x="1291253" y="1592626"/>
            <a:ext cx="6494636" cy="475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627784" y="5085184"/>
            <a:ext cx="2880320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3517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7275" y="548680"/>
            <a:ext cx="832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1200" dirty="0" smtClean="0"/>
              <a:t>Resultado da consulta do FGTS-Regularidade</a:t>
            </a:r>
            <a:endParaRPr lang="pt-BR" sz="12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9" r="47402" b="2382"/>
          <a:stretch/>
        </p:blipFill>
        <p:spPr bwMode="auto">
          <a:xfrm>
            <a:off x="611560" y="908720"/>
            <a:ext cx="5763384" cy="576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789446" y="6020422"/>
            <a:ext cx="3312368" cy="582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3517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7275" y="548680"/>
            <a:ext cx="832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1200" dirty="0" smtClean="0"/>
              <a:t>Resultado da consulta do FGTS-Regularidade</a:t>
            </a:r>
            <a:endParaRPr lang="pt-BR" sz="1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7" r="57007" b="8378"/>
          <a:stretch/>
        </p:blipFill>
        <p:spPr bwMode="auto">
          <a:xfrm>
            <a:off x="200350" y="1024203"/>
            <a:ext cx="5593858" cy="5657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763688" y="6474759"/>
            <a:ext cx="860032" cy="2066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5481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7275" y="548680"/>
            <a:ext cx="832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pt-BR" sz="1200" dirty="0" smtClean="0"/>
              <a:t>Resultado da consulta do FGTS-Regularidade</a:t>
            </a:r>
            <a:endParaRPr lang="pt-BR" sz="1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7" r="13969" b="16399"/>
          <a:stretch/>
        </p:blipFill>
        <p:spPr bwMode="auto">
          <a:xfrm>
            <a:off x="251520" y="1076675"/>
            <a:ext cx="8673278" cy="5520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64396" y="3521500"/>
            <a:ext cx="8494257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5481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971600" y="2752472"/>
            <a:ext cx="712879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Certidão </a:t>
            </a:r>
            <a:r>
              <a:rPr lang="pt-BR" sz="2600" b="1" dirty="0">
                <a:solidFill>
                  <a:srgbClr val="B4B53E"/>
                </a:solidFill>
                <a:latin typeface="Verdana" pitchFamily="34" charset="0"/>
              </a:rPr>
              <a:t>Conjunta de Débitos Relativos a Tributos Federais e à Dívida Ativa da União</a:t>
            </a:r>
          </a:p>
        </p:txBody>
      </p:sp>
    </p:spTree>
    <p:extLst>
      <p:ext uri="{BB962C8B-B14F-4D97-AF65-F5344CB8AC3E}">
        <p14:creationId xmlns:p14="http://schemas.microsoft.com/office/powerpoint/2010/main" val="20045730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8452" y="662201"/>
            <a:ext cx="8764028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Certidão Conjunta Negativa de Débitos relativos a Tributos Federais e à Dívida Ativa da União </a:t>
            </a:r>
            <a:endParaRPr kumimoji="0" lang="pt-B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Está disponível neste site a Certidão Conjunta Negativa, que somente será emitida quando for verificada a regularidade fiscal do sujeito passivo quanto aos tributos administrados pela Secretaria da Receita Federal do Brasil – RFB e quanto à Dívida Ativa da União administrada pela Procuradoria Geral da Fazenda Nacional – PGFN.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A regularidade fiscal, no âmbito da RFB, caracteriza-se pela não existência de pendências cadastrais, de débitos em nome do sujeito passivo e, ainda, de não constar como omisso quanto à entrega: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1000" dirty="0" smtClean="0">
                <a:latin typeface="Verdana" pitchFamily="34" charset="0"/>
                <a:cs typeface="Arial" pitchFamily="34" charset="0"/>
              </a:rPr>
              <a:t>a) </a:t>
            </a: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da Declaração de Ajuste Anual do Imposto de Renda das Pessoas Físicas (DIRPF);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1000" dirty="0" smtClean="0">
                <a:latin typeface="Verdana" pitchFamily="34" charset="0"/>
                <a:cs typeface="Arial" pitchFamily="34" charset="0"/>
              </a:rPr>
              <a:t>b) </a:t>
            </a: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da Declaração do Imposto sobre a Propriedade Territorial Rural (DITR), se estiver obrigada a sua apresentação;</a:t>
            </a:r>
            <a:b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</a:b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c) da Declaração do Imposto de Renda Retido na Fonte (DIRF), se estiver obrigada à sua apresentação.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Certidão Conjunta Positiva com Efeitos de Negativa relativos a Tributos Federais e à Dívida Ativa da União </a:t>
            </a:r>
            <a:endParaRPr kumimoji="0" lang="pt-B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Está disponível neste site a Certidão Positiva com Efeitos de Negativa relativos a Tributos Federais e à Dívida Ativa da União, para os contribuintes que possuam: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pt-B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Processos em Contencioso Administrativo: </a:t>
            </a:r>
            <a:endParaRPr kumimoji="0" lang="pt-B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- Em impugnação; </a:t>
            </a:r>
            <a:b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</a:b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- Em recurso de ofício; </a:t>
            </a:r>
            <a:b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</a:b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- Em recurso voluntário; </a:t>
            </a:r>
            <a:b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</a:br>
            <a:r>
              <a:rPr kumimoji="0" lang="pt-B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- Em recurso especial.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pt-B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pt-B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Parcelamento ativo sem parcelas em atraso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pt-B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pitchFamily="34" charset="0"/>
              </a:rPr>
              <a:t>Optantes do Refis/Paes nas situações: </a:t>
            </a:r>
          </a:p>
          <a:p>
            <a:pPr lvl="0" eaLnBrk="0" hangingPunct="0"/>
            <a:r>
              <a:rPr lang="pt-BR" sz="1000" dirty="0" smtClean="0"/>
              <a:t>	- Em </a:t>
            </a:r>
            <a:r>
              <a:rPr lang="pt-BR" sz="1000" dirty="0"/>
              <a:t>parcelamento, desde que não apresentem irregularidade de recolhimento; </a:t>
            </a:r>
            <a:br>
              <a:rPr lang="pt-BR" sz="1000" dirty="0"/>
            </a:br>
            <a:r>
              <a:rPr lang="pt-BR" sz="1000" dirty="0" smtClean="0"/>
              <a:t>	- </a:t>
            </a:r>
            <a:r>
              <a:rPr lang="pt-BR" sz="1000" dirty="0"/>
              <a:t>Liquidada.</a:t>
            </a:r>
            <a:endParaRPr lang="pt-BR" sz="1000" b="1" dirty="0">
              <a:latin typeface="Verdana" pitchFamily="34" charset="0"/>
              <a:cs typeface="Arial" pitchFamily="34" charset="0"/>
            </a:endParaRPr>
          </a:p>
          <a:p>
            <a:endParaRPr lang="pt-BR" sz="1000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/>
              <a:t>Débitos </a:t>
            </a:r>
            <a:r>
              <a:rPr lang="pt-BR" sz="1000" b="1" dirty="0"/>
              <a:t>de ITR suspensos por processo administrativo. </a:t>
            </a:r>
            <a:endParaRPr lang="pt-BR" sz="10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/>
              <a:t>Débitos </a:t>
            </a:r>
            <a:r>
              <a:rPr lang="pt-BR" sz="1000" b="1" dirty="0"/>
              <a:t>cuja a exigibilidade esteja suspensa por medida judicial , desde que tenha sido analisada há menos de 365 (trezentos e sessenta e cinco) dias pela RFB ou PGFN, conforme o caso. </a:t>
            </a:r>
            <a:endParaRPr lang="pt-BR" sz="10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/>
              <a:t>Havendo </a:t>
            </a:r>
            <a:r>
              <a:rPr lang="pt-BR" sz="1000" b="1" dirty="0"/>
              <a:t>débito cuja exigibilidade esteja suspensa por medida judicial e que a análise tenha sido feita há mais de 365 (trezentos e sessenta e cinco) dias, a certidão deverá ser solicitada na unidade da RFB ou da PGFN, conforme o caso. Veja: </a:t>
            </a:r>
            <a:r>
              <a:rPr lang="pt-BR" sz="1000" b="1" dirty="0">
                <a:hlinkClick r:id=""/>
              </a:rPr>
              <a:t>Documentação Necessária Pessoa Física </a:t>
            </a:r>
            <a:r>
              <a:rPr lang="pt-BR" sz="1000" b="1" dirty="0"/>
              <a:t>. </a:t>
            </a:r>
          </a:p>
          <a:p>
            <a:endParaRPr lang="pt-BR" sz="1000" b="1" dirty="0" smtClean="0"/>
          </a:p>
          <a:p>
            <a:r>
              <a:rPr lang="pt-BR" sz="1000" b="1" dirty="0" smtClean="0"/>
              <a:t>OBS</a:t>
            </a:r>
            <a:r>
              <a:rPr lang="pt-BR" sz="1000" b="1" dirty="0"/>
              <a:t>: </a:t>
            </a:r>
            <a:r>
              <a:rPr lang="pt-BR" sz="1000" dirty="0"/>
              <a:t>As Certidões Conjunta Negativa e Positiva com Efeitos de Negativa de Débitos Relativos a Tributos Federais e à Dívida Ativa da União, comprobatórias de regularidade fiscal perante a Fazenda Nacional, somente produzirão efeitos mediante </a:t>
            </a:r>
            <a:r>
              <a:rPr lang="pt-BR" sz="1000" dirty="0">
                <a:hlinkClick r:id="rId2"/>
              </a:rPr>
              <a:t>confirmação de autenticidade das certidões </a:t>
            </a:r>
            <a:r>
              <a:rPr lang="pt-BR" sz="1000" dirty="0"/>
              <a:t>nos endereços &lt;http://www.receita.fazenda.gov.br &gt; ou &lt;http://www.pgfn.fazenda.gov.br&gt;. </a:t>
            </a:r>
            <a:endParaRPr lang="pt-BR" sz="1000" dirty="0" smtClean="0"/>
          </a:p>
          <a:p>
            <a:endParaRPr lang="pt-BR" sz="1000" dirty="0"/>
          </a:p>
          <a:p>
            <a:r>
              <a:rPr lang="pt-BR" sz="1000" dirty="0" smtClean="0"/>
              <a:t>Maiores detalhes: </a:t>
            </a:r>
            <a:r>
              <a:rPr lang="pt-BR" sz="1000" dirty="0"/>
              <a:t>http://www.receita.fazenda.gov.br/GuiaContribuinte/cn_pf.htm#Informações </a:t>
            </a:r>
            <a:r>
              <a:rPr lang="pt-BR" sz="1000" dirty="0" smtClean="0"/>
              <a:t>Gerais</a:t>
            </a:r>
            <a:endParaRPr lang="pt-BR" sz="1000" dirty="0"/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Informações Gerais – CND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6544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95076" y="548680"/>
            <a:ext cx="86764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Certidão Conjunta de Débitos Relativos a Tributos Federais e à Dívida Ativa da União:</a:t>
            </a:r>
          </a:p>
          <a:p>
            <a:pPr algn="ctr"/>
            <a:r>
              <a:rPr lang="pt-BR" sz="1200" u="sng" dirty="0">
                <a:hlinkClick r:id="rId2"/>
              </a:rPr>
              <a:t>http://</a:t>
            </a:r>
            <a:r>
              <a:rPr lang="pt-BR" sz="1200" u="sng" dirty="0" smtClean="0">
                <a:hlinkClick r:id="rId2"/>
              </a:rPr>
              <a:t>www.receita.fazenda.gov.br/Aplicacoes/ATSPO/Certidao/CndConjuntaInter/InformaNICertidao.asp?Tipo=1</a:t>
            </a:r>
            <a:endParaRPr lang="pt-BR" sz="1200" u="sng" dirty="0" smtClean="0"/>
          </a:p>
          <a:p>
            <a:pPr algn="ctr"/>
            <a:endParaRPr lang="pt-BR" sz="1600" dirty="0" smtClean="0"/>
          </a:p>
          <a:p>
            <a:pPr algn="ctr"/>
            <a:r>
              <a:rPr lang="pt-BR" sz="1400" dirty="0" smtClean="0"/>
              <a:t>Informe o CNPJ a ser consultado, informe os caracteres de validação e click em CONSULTAR</a:t>
            </a:r>
            <a:endParaRPr lang="pt-BR" sz="1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1"/>
          <a:stretch/>
        </p:blipFill>
        <p:spPr bwMode="auto">
          <a:xfrm>
            <a:off x="311441" y="1664728"/>
            <a:ext cx="8653047" cy="4932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619672" y="3526766"/>
            <a:ext cx="122413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2856687" y="4149080"/>
            <a:ext cx="122413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2051720" y="5589240"/>
            <a:ext cx="5327099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 smtClean="0"/>
              <a:t>Informe o CNPJ Raiz e o caracteres de checagem</a:t>
            </a:r>
            <a:endParaRPr lang="pt-BR" dirty="0"/>
          </a:p>
        </p:txBody>
      </p:sp>
      <p:cxnSp>
        <p:nvCxnSpPr>
          <p:cNvPr id="7" name="Conector de seta reta 6"/>
          <p:cNvCxnSpPr/>
          <p:nvPr/>
        </p:nvCxnSpPr>
        <p:spPr>
          <a:xfrm flipV="1">
            <a:off x="2483768" y="4005064"/>
            <a:ext cx="0" cy="158417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V="1">
            <a:off x="3131840" y="4653136"/>
            <a:ext cx="0" cy="93610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6110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95076" y="548680"/>
            <a:ext cx="86764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Certidão Conjunta de Débitos Relativos a Tributos Federais e à Dívida Ativa da </a:t>
            </a:r>
            <a:r>
              <a:rPr lang="pt-BR" sz="1200" dirty="0" smtClean="0"/>
              <a:t>União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7" b="54505"/>
          <a:stretch/>
        </p:blipFill>
        <p:spPr bwMode="auto">
          <a:xfrm>
            <a:off x="319948" y="1364724"/>
            <a:ext cx="8643748" cy="2241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332827" y="2357505"/>
            <a:ext cx="1546772" cy="238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0154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95076" y="44624"/>
            <a:ext cx="86764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dirty="0" smtClean="0">
                <a:solidFill>
                  <a:srgbClr val="B4B53E"/>
                </a:solidFill>
                <a:latin typeface="Verdana" pitchFamily="34" charset="0"/>
              </a:rPr>
              <a:t>Fazendo a Homologação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95076" y="548680"/>
            <a:ext cx="867645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Certidão Conjunta de Débitos Relativos a Tributos Federais e à Dívida Ativa da </a:t>
            </a:r>
            <a:r>
              <a:rPr lang="pt-BR" sz="1200" dirty="0" smtClean="0"/>
              <a:t>União</a:t>
            </a:r>
          </a:p>
          <a:p>
            <a:pPr algn="ctr"/>
            <a:r>
              <a:rPr lang="pt-BR" sz="1400" dirty="0" smtClean="0"/>
              <a:t>Neste exemplo o CNPJ Consultado não apresenta débitos relativos a Dívida Ativa da União</a:t>
            </a:r>
            <a:endParaRPr lang="pt-BR" sz="1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21"/>
          <a:stretch/>
        </p:blipFill>
        <p:spPr bwMode="auto">
          <a:xfrm>
            <a:off x="536717" y="1340768"/>
            <a:ext cx="8355763" cy="5124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915816" y="3645024"/>
            <a:ext cx="4320480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60771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rame_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F50E9EA426424A8E8E274C50F6FAAD" ma:contentTypeVersion="0" ma:contentTypeDescription="Crie um novo documento." ma:contentTypeScope="" ma:versionID="b084ed81fd98ca7061dbf55ce1617e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314617-6F3E-4AE0-B43C-2153B18FBA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457900A-6049-43FB-B168-4B9BB02A7219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74F2E16-A1FB-46F4-94E7-119DF7036D0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3422</TotalTime>
  <Words>1023</Words>
  <Application>Microsoft Office PowerPoint</Application>
  <PresentationFormat>Apresentação na tela (4:3)</PresentationFormat>
  <Paragraphs>191</Paragraphs>
  <Slides>28</Slides>
  <Notes>0</Notes>
  <HiddenSlides>6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2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Aquela Mesmo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pcazella</dc:creator>
  <cp:lastModifiedBy>br89699</cp:lastModifiedBy>
  <cp:revision>213</cp:revision>
  <dcterms:created xsi:type="dcterms:W3CDTF">2007-11-04T19:27:17Z</dcterms:created>
  <dcterms:modified xsi:type="dcterms:W3CDTF">2013-11-18T15:16:28Z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0x010100C4F50E9EA426424A8E8E274C50F6FAAD</vt:lpwstr>
  </property>
</Properties>
</file>