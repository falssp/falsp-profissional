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6" r:id="rId5"/>
    <p:sldId id="277" r:id="rId6"/>
    <p:sldId id="279" r:id="rId7"/>
    <p:sldId id="282" r:id="rId8"/>
    <p:sldId id="283" r:id="rId9"/>
    <p:sldId id="286" r:id="rId10"/>
    <p:sldId id="285" r:id="rId11"/>
    <p:sldId id="262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D6A9"/>
    <a:srgbClr val="E4C280"/>
    <a:srgbClr val="B4B53E"/>
    <a:srgbClr val="A59F7F"/>
    <a:srgbClr val="7F3D1A"/>
    <a:srgbClr val="A86E3E"/>
    <a:srgbClr val="333333"/>
    <a:srgbClr val="AA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6" d="100"/>
          <a:sy n="76" d="100"/>
        </p:scale>
        <p:origin x="-1206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13A13-2351-4A5E-955E-0BC32EEA7D37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10A47-54EA-49DE-98E0-8C02A97495C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333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7AA01-5055-4B0F-BBA6-4573EE971BA3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6F9F-342E-4C32-9939-B49E64C3813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53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BAB19-E599-45EB-AA69-A6A1091CDE62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D55CE-A335-485C-8D79-0497EC35F98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9140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0A575-61F1-4E40-89ED-A19AA72A082F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10D90-9E73-4470-9484-5146575D4BA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8120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351C0-153C-4658-B339-C14D4BFE514F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693DF-CAD1-417A-9940-1C2532D940F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215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AFCE2-018E-4647-BD7F-61A04C01020D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E74CE-491C-4942-98AD-FBC1FEF83EC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081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3F20-84A5-40C5-A6C0-C46ADC23C5BE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E5DE1-8064-49C8-B979-6CF670490A6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819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4E1C1-ECAD-4ED2-9C60-FC9B80D6B2AB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4E793-C06D-40D9-BE35-37BA171CD85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9504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6E9A6-8B38-4696-9BC0-989532BCF2E1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1378A-6F6A-493E-BCBA-7ED57702068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8881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15980-82B5-4A31-BB93-62CCFE41E7C9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FE940-4CD4-4F1A-BBB2-B958830EA7A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01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3CEE0-C6D6-4736-98CC-D8A63FD2BE0B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05852-35E5-4BBD-A33C-DAE30D5C96E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193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BDF48-5CA4-4469-AFB5-61BC105CC0D9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D7CC4-752E-4FAF-9258-2836486EB9D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789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3FE3913E-1FB7-4B3C-8626-4767150F0B12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65E6C71E-FE65-4D15-8A3E-0869BDE3B3D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times.natura.net/vpfin/dti/governancati/gct/Lists/CatalogoContratos/AllItems.asp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file:///\\fs2k05br\Deptos\TI\GOVERNANCAE%20PMO\6.GCL\2-Governan&#231;a\Financeiro\2013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lientes2.workimage.com.br/NovoPortalFirefox/Default.aspx?ReturnUrl=/NovoPortalFirefox/USUARIOS.ASPX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 descr="img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" t="9000" r="475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12"/>
          <p:cNvSpPr txBox="1">
            <a:spLocks noChangeArrowheads="1"/>
          </p:cNvSpPr>
          <p:nvPr/>
        </p:nvSpPr>
        <p:spPr bwMode="auto">
          <a:xfrm>
            <a:off x="1187624" y="3357563"/>
            <a:ext cx="4337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</a:rPr>
              <a:t>Atualizar Base de Contratos e Transferir Fluxo Financeiro</a:t>
            </a:r>
            <a:endParaRPr lang="pt-BR" sz="26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714500" y="4208463"/>
            <a:ext cx="24288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300" dirty="0" err="1" smtClean="0">
                <a:solidFill>
                  <a:schemeClr val="bg1"/>
                </a:solidFill>
                <a:latin typeface="Verdana" pitchFamily="34" charset="0"/>
              </a:rPr>
              <a:t>Outubro</a:t>
            </a:r>
            <a:r>
              <a:rPr lang="en-US" sz="1300" dirty="0" smtClean="0">
                <a:solidFill>
                  <a:schemeClr val="bg1"/>
                </a:solidFill>
                <a:latin typeface="Verdana" pitchFamily="34" charset="0"/>
              </a:rPr>
              <a:t>/2013</a:t>
            </a:r>
            <a:r>
              <a:rPr lang="en-US" sz="1300" dirty="0">
                <a:solidFill>
                  <a:schemeClr val="bg1"/>
                </a:solidFill>
                <a:latin typeface="Verdana" pitchFamily="34" charset="0"/>
              </a:rPr>
              <a:t>	</a:t>
            </a:r>
            <a:endParaRPr lang="pt-BR" sz="13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053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A59F7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75" name="Text Box 12"/>
          <p:cNvSpPr txBox="1">
            <a:spLocks noChangeArrowheads="1"/>
          </p:cNvSpPr>
          <p:nvPr/>
        </p:nvSpPr>
        <p:spPr bwMode="auto">
          <a:xfrm>
            <a:off x="725488" y="1189038"/>
            <a:ext cx="15890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>
                <a:solidFill>
                  <a:srgbClr val="EDD6A9"/>
                </a:solidFill>
                <a:latin typeface="Verdana" pitchFamily="34" charset="0"/>
              </a:rPr>
              <a:t>Objetivo</a:t>
            </a:r>
          </a:p>
        </p:txBody>
      </p:sp>
      <p:pic>
        <p:nvPicPr>
          <p:cNvPr id="3076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750888" y="2000250"/>
            <a:ext cx="66786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O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objetivo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deste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documento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é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instruir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como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atualizar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a base de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contratos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e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transferir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o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fluxo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financeiro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para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o CSC</a:t>
            </a:r>
            <a:endParaRPr lang="en-US" sz="16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050" y="2061751"/>
            <a:ext cx="5067300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48338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Atualizar Base de Contratos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099" name="Retângulo 45"/>
          <p:cNvSpPr>
            <a:spLocks noChangeArrowheads="1"/>
          </p:cNvSpPr>
          <p:nvPr/>
        </p:nvSpPr>
        <p:spPr bwMode="auto">
          <a:xfrm>
            <a:off x="795338" y="1125538"/>
            <a:ext cx="68770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000" b="1" dirty="0">
                <a:solidFill>
                  <a:srgbClr val="B4B53E"/>
                </a:solidFill>
              </a:rPr>
              <a:t>Utilizar o Internet Explorer ou </a:t>
            </a:r>
            <a:r>
              <a:rPr lang="pt-BR" sz="1000" b="1" dirty="0" err="1">
                <a:solidFill>
                  <a:srgbClr val="B4B53E"/>
                </a:solidFill>
              </a:rPr>
              <a:t>FireFox</a:t>
            </a:r>
            <a:r>
              <a:rPr lang="pt-BR" sz="1000" b="1" dirty="0">
                <a:solidFill>
                  <a:srgbClr val="B4B53E"/>
                </a:solidFill>
              </a:rPr>
              <a:t> para acesso à página Sharepoint da Governança de </a:t>
            </a:r>
            <a:r>
              <a:rPr lang="pt-BR" sz="1000" b="1" dirty="0" smtClean="0">
                <a:solidFill>
                  <a:srgbClr val="B4B53E"/>
                </a:solidFill>
              </a:rPr>
              <a:t>TD.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b="1" dirty="0">
              <a:solidFill>
                <a:srgbClr val="B4B53E"/>
              </a:solidFill>
            </a:endParaRPr>
          </a:p>
          <a:p>
            <a:r>
              <a:rPr lang="pt-BR" sz="1000" b="1" dirty="0">
                <a:solidFill>
                  <a:srgbClr val="B4B53E"/>
                </a:solidFill>
              </a:rPr>
              <a:t>Painel Governança </a:t>
            </a:r>
            <a:r>
              <a:rPr lang="pt-BR" sz="1000" b="1" dirty="0" smtClean="0">
                <a:solidFill>
                  <a:srgbClr val="B4B53E"/>
                </a:solidFill>
              </a:rPr>
              <a:t>TD: </a:t>
            </a:r>
            <a:r>
              <a:rPr lang="pt-BR" sz="1000" b="1" dirty="0">
                <a:solidFill>
                  <a:srgbClr val="B4B53E"/>
                </a:solidFill>
                <a:hlinkClick r:id="rId3"/>
              </a:rPr>
              <a:t>http://times.natura.net/vpfin/dti/governancati/gct/Lists/CatalogoContratos/AllItems.aspx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dirty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725488" y="1827401"/>
            <a:ext cx="22145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1 – na guia superior efetuar um “clique”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na opção “Itens”</a:t>
            </a:r>
            <a:r>
              <a:rPr lang="pt-BR" sz="1000" i="1" dirty="0" smtClean="0">
                <a:solidFill>
                  <a:srgbClr val="333333"/>
                </a:solidFill>
                <a:latin typeface="Verdana" pitchFamily="34" charset="0"/>
              </a:rPr>
              <a:t>;</a:t>
            </a:r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2 – irá aparecer um painel onde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deverá ser selecionada a opção “novo item”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4834658" y="2288058"/>
            <a:ext cx="360362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2836350" y="2516658"/>
            <a:ext cx="655530" cy="7598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4546179" y="1992655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2795927" y="3276474"/>
            <a:ext cx="693008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4129" y="1196752"/>
            <a:ext cx="245903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3 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preencher o formulário com os dados do contrato e clique na opção Salvar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55007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Atualizar Catalogo de Contratos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130326"/>
            <a:ext cx="6073675" cy="4586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Elipse 9"/>
          <p:cNvSpPr/>
          <p:nvPr/>
        </p:nvSpPr>
        <p:spPr>
          <a:xfrm>
            <a:off x="2620326" y="2132856"/>
            <a:ext cx="655530" cy="7598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069747" y="2520501"/>
            <a:ext cx="693008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477393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Preparar o Fluxo Financeiro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099" name="Retângulo 45"/>
          <p:cNvSpPr>
            <a:spLocks noChangeArrowheads="1"/>
          </p:cNvSpPr>
          <p:nvPr/>
        </p:nvSpPr>
        <p:spPr bwMode="auto">
          <a:xfrm>
            <a:off x="795338" y="1125538"/>
            <a:ext cx="780911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B4B53E"/>
                </a:solidFill>
              </a:rPr>
              <a:t>Utilizar o </a:t>
            </a:r>
            <a:r>
              <a:rPr lang="pt-BR" sz="1400" b="1" dirty="0" smtClean="0">
                <a:solidFill>
                  <a:srgbClr val="B4B53E"/>
                </a:solidFill>
              </a:rPr>
              <a:t>Explorer para acessar a pasta </a:t>
            </a:r>
            <a:r>
              <a:rPr lang="pt-BR" sz="1400" dirty="0">
                <a:hlinkClick r:id="rId2" action="ppaction://hlinkfile"/>
              </a:rPr>
              <a:t>\\fs2k05br\Deptos\TI\GOVERNANCAE </a:t>
            </a:r>
            <a:r>
              <a:rPr lang="pt-BR" sz="1400" dirty="0" smtClean="0">
                <a:hlinkClick r:id="rId2" action="ppaction://hlinkfile"/>
              </a:rPr>
              <a:t>PMO\6.GCL\2-Governança\Financeiro\2013</a:t>
            </a:r>
            <a:endParaRPr lang="pt-BR" sz="1400" dirty="0" smtClean="0"/>
          </a:p>
          <a:p>
            <a:endParaRPr lang="pt-BR" sz="1400" b="1" dirty="0">
              <a:solidFill>
                <a:srgbClr val="B4B53E"/>
              </a:solidFill>
            </a:endParaRPr>
          </a:p>
          <a:p>
            <a:r>
              <a:rPr lang="pt-BR" sz="1400" b="1" dirty="0">
                <a:solidFill>
                  <a:srgbClr val="B4B53E"/>
                </a:solidFill>
              </a:rPr>
              <a:t>Realizar a coleta de todas as informações do Contrato, como: </a:t>
            </a:r>
          </a:p>
          <a:p>
            <a:r>
              <a:rPr lang="pt-BR" sz="1400" b="1" dirty="0">
                <a:solidFill>
                  <a:srgbClr val="B4B53E"/>
                </a:solidFill>
              </a:rPr>
              <a:t>•	Escopo / descrição do serviço;</a:t>
            </a:r>
          </a:p>
          <a:p>
            <a:r>
              <a:rPr lang="pt-BR" sz="1400" b="1" dirty="0">
                <a:solidFill>
                  <a:srgbClr val="B4B53E"/>
                </a:solidFill>
              </a:rPr>
              <a:t>•	Vigência;</a:t>
            </a:r>
          </a:p>
          <a:p>
            <a:r>
              <a:rPr lang="pt-BR" sz="1400" b="1" dirty="0">
                <a:solidFill>
                  <a:srgbClr val="B4B53E"/>
                </a:solidFill>
              </a:rPr>
              <a:t>•	Índice de Reajuste aplicado (IPC-A, IGP-M);</a:t>
            </a:r>
          </a:p>
          <a:p>
            <a:r>
              <a:rPr lang="pt-BR" sz="1400" b="1" dirty="0">
                <a:solidFill>
                  <a:srgbClr val="B4B53E"/>
                </a:solidFill>
              </a:rPr>
              <a:t>•	Valor Anual e Desembolsos;</a:t>
            </a:r>
          </a:p>
          <a:p>
            <a:r>
              <a:rPr lang="pt-BR" sz="1400" b="1" dirty="0">
                <a:solidFill>
                  <a:srgbClr val="B4B53E"/>
                </a:solidFill>
              </a:rPr>
              <a:t>•	Valor Mensal;</a:t>
            </a:r>
          </a:p>
          <a:p>
            <a:endParaRPr lang="pt-BR" sz="1400" b="1" dirty="0">
              <a:solidFill>
                <a:srgbClr val="B4B53E"/>
              </a:solidFill>
            </a:endParaRPr>
          </a:p>
          <a:p>
            <a:r>
              <a:rPr lang="pt-BR" sz="1400" b="1" dirty="0">
                <a:solidFill>
                  <a:srgbClr val="B4B53E"/>
                </a:solidFill>
              </a:rPr>
              <a:t>Após a obtenção das informações, as mesmas devem ser cadastradas em uma planilha Excel no Diretório da área de Governança: </a:t>
            </a:r>
          </a:p>
          <a:p>
            <a:endParaRPr lang="pt-BR" sz="1400" b="1" dirty="0">
              <a:solidFill>
                <a:srgbClr val="B4B53E"/>
              </a:solidFill>
            </a:endParaRPr>
          </a:p>
          <a:p>
            <a:r>
              <a:rPr lang="pt-BR" sz="1400" b="1" dirty="0">
                <a:solidFill>
                  <a:srgbClr val="B4B53E"/>
                </a:solidFill>
              </a:rPr>
              <a:t>\\fs2k05br\Deptos\TI\GOVERNANCAE PMO\6.GCL\2-Governança\Financeiro\2013</a:t>
            </a:r>
          </a:p>
          <a:p>
            <a:r>
              <a:rPr lang="pt-BR" sz="1400" b="1" dirty="0">
                <a:solidFill>
                  <a:srgbClr val="B4B53E"/>
                </a:solidFill>
              </a:rPr>
              <a:t>Planilha: Controle orçamento x </a:t>
            </a:r>
            <a:r>
              <a:rPr lang="pt-BR" sz="1400" b="1" dirty="0" err="1" smtClean="0">
                <a:solidFill>
                  <a:srgbClr val="B4B53E"/>
                </a:solidFill>
              </a:rPr>
              <a:t>pgto</a:t>
            </a:r>
            <a:endParaRPr lang="pt-BR" sz="1400" b="1" dirty="0">
              <a:solidFill>
                <a:srgbClr val="B4B53E"/>
              </a:solidFill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55576" y="5221649"/>
            <a:ext cx="504008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Considerando que o contrato está previsto no orçamento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1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Checar se as informações de classe de custo e centro de custo estão corretas</a:t>
            </a:r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2 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Revisar os valores de desembolso mensal e mês de reajuste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4725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2" descr="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849598"/>
            <a:ext cx="5064170" cy="494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688675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>
                <a:solidFill>
                  <a:srgbClr val="B4B53E"/>
                </a:solidFill>
                <a:latin typeface="Verdana" pitchFamily="34" charset="0"/>
              </a:rPr>
              <a:t>Transfere o Fluxo Financeiro para o CSC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099" name="Retângulo 45"/>
          <p:cNvSpPr>
            <a:spLocks noChangeArrowheads="1"/>
          </p:cNvSpPr>
          <p:nvPr/>
        </p:nvSpPr>
        <p:spPr bwMode="auto">
          <a:xfrm>
            <a:off x="795338" y="1125538"/>
            <a:ext cx="790472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000" b="1" dirty="0">
                <a:solidFill>
                  <a:srgbClr val="B4B53E"/>
                </a:solidFill>
              </a:rPr>
              <a:t>Utilizar o Internet Explorer ou </a:t>
            </a:r>
            <a:r>
              <a:rPr lang="pt-BR" sz="1000" b="1" dirty="0" err="1">
                <a:solidFill>
                  <a:srgbClr val="B4B53E"/>
                </a:solidFill>
              </a:rPr>
              <a:t>FireFox</a:t>
            </a:r>
            <a:r>
              <a:rPr lang="pt-BR" sz="1000" b="1" dirty="0">
                <a:solidFill>
                  <a:srgbClr val="B4B53E"/>
                </a:solidFill>
              </a:rPr>
              <a:t> para acesso à página Sharepoint da Governança de </a:t>
            </a:r>
            <a:r>
              <a:rPr lang="pt-BR" sz="1000" b="1" dirty="0" smtClean="0">
                <a:solidFill>
                  <a:srgbClr val="B4B53E"/>
                </a:solidFill>
              </a:rPr>
              <a:t>TD.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b="1" dirty="0">
              <a:solidFill>
                <a:srgbClr val="B4B53E"/>
              </a:solidFill>
            </a:endParaRPr>
          </a:p>
          <a:p>
            <a:r>
              <a:rPr lang="pt-BR" sz="1000" b="1" dirty="0" smtClean="0">
                <a:solidFill>
                  <a:srgbClr val="B4B53E"/>
                </a:solidFill>
              </a:rPr>
              <a:t>Portal GED: </a:t>
            </a:r>
            <a:r>
              <a:rPr lang="pt-BR" sz="1000" dirty="0">
                <a:hlinkClick r:id="rId3"/>
              </a:rPr>
              <a:t>https://clientes2.workimage.com.br/NovoPortalFirefox/Default.aspx?ReturnUrl=%</a:t>
            </a:r>
            <a:r>
              <a:rPr lang="pt-BR" sz="1000" dirty="0" smtClean="0">
                <a:hlinkClick r:id="rId3"/>
              </a:rPr>
              <a:t>2fNovoPortalFirefox%2fUSUARIOS.ASPX</a:t>
            </a:r>
            <a:endParaRPr lang="pt-BR" sz="1000" dirty="0" smtClean="0"/>
          </a:p>
          <a:p>
            <a:endParaRPr lang="pt-BR" sz="1000" dirty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725488" y="1827401"/>
            <a:ext cx="22145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1 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no menu principal do portal GED, selecionar a opção “solicitação de pagamento” dentro do menu “Processos”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3491880" y="5157192"/>
            <a:ext cx="2880320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3240591" y="4779732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6302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m 1" descr="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086185"/>
            <a:ext cx="7135713" cy="340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688675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Transfere o Fluxo Financeiro para o CSC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07976" y="4725144"/>
            <a:ext cx="50400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2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Preencher o formulário com os dados de pagamento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7884368" y="1844824"/>
            <a:ext cx="693008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771538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rame_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F50E9EA426424A8E8E274C50F6FAAD" ma:contentTypeVersion="0" ma:contentTypeDescription="Crie um novo documento." ma:contentTypeScope="" ma:versionID="b084ed81fd98ca7061dbf55ce1617e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5ED290-429E-445F-84D4-147DD3E913F7}"/>
</file>

<file path=customXml/itemProps2.xml><?xml version="1.0" encoding="utf-8"?>
<ds:datastoreItem xmlns:ds="http://schemas.openxmlformats.org/officeDocument/2006/customXml" ds:itemID="{D74F2E16-A1FB-46F4-94E7-119DF7036D0E}"/>
</file>

<file path=customXml/itemProps3.xml><?xml version="1.0" encoding="utf-8"?>
<ds:datastoreItem xmlns:ds="http://schemas.openxmlformats.org/officeDocument/2006/customXml" ds:itemID="{C457900A-6049-43FB-B168-4B9BB02A7219}"/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3018</TotalTime>
  <Words>246</Words>
  <Application>Microsoft Office PowerPoint</Application>
  <PresentationFormat>Apresentação na tela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Aquela Mesmo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QualquerNome</dc:creator>
  <cp:lastModifiedBy>elima</cp:lastModifiedBy>
  <cp:revision>179</cp:revision>
  <dcterms:created xsi:type="dcterms:W3CDTF">2007-11-04T19:27:17Z</dcterms:created>
  <dcterms:modified xsi:type="dcterms:W3CDTF">2013-10-08T18:14:57Z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0x010100C4F50E9EA426424A8E8E274C50F6FAAD</vt:lpwstr>
  </property>
</Properties>
</file>