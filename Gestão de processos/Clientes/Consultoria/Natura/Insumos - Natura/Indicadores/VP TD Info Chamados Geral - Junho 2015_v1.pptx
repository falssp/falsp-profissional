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84" r:id="rId3"/>
    <p:sldMasterId id="2147483691" r:id="rId4"/>
  </p:sldMasterIdLst>
  <p:notesMasterIdLst>
    <p:notesMasterId r:id="rId25"/>
  </p:notesMasterIdLst>
  <p:sldIdLst>
    <p:sldId id="342" r:id="rId5"/>
    <p:sldId id="392" r:id="rId6"/>
    <p:sldId id="394" r:id="rId7"/>
    <p:sldId id="396" r:id="rId8"/>
    <p:sldId id="395" r:id="rId9"/>
    <p:sldId id="397" r:id="rId10"/>
    <p:sldId id="393" r:id="rId11"/>
    <p:sldId id="398" r:id="rId12"/>
    <p:sldId id="399" r:id="rId13"/>
    <p:sldId id="400" r:id="rId14"/>
    <p:sldId id="401" r:id="rId15"/>
    <p:sldId id="402" r:id="rId16"/>
    <p:sldId id="403" r:id="rId17"/>
    <p:sldId id="404" r:id="rId18"/>
    <p:sldId id="405" r:id="rId19"/>
    <p:sldId id="406" r:id="rId20"/>
    <p:sldId id="407" r:id="rId21"/>
    <p:sldId id="408" r:id="rId22"/>
    <p:sldId id="409" r:id="rId23"/>
    <p:sldId id="410" r:id="rId24"/>
  </p:sldIdLst>
  <p:sldSz cx="9144000" cy="5145088"/>
  <p:notesSz cx="6858000" cy="9144000"/>
  <p:defaultTextStyle>
    <a:defPPr>
      <a:defRPr lang="pt-BR"/>
    </a:defPPr>
    <a:lvl1pPr marL="0" algn="l" defTabSz="91359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798" algn="l" defTabSz="91359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597" algn="l" defTabSz="91359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398" algn="l" defTabSz="91359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194" algn="l" defTabSz="91359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3993" algn="l" defTabSz="91359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0792" algn="l" defTabSz="91359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7591" algn="l" defTabSz="91359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4388" algn="l" defTabSz="91359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FF3300"/>
    <a:srgbClr val="6E6259"/>
    <a:srgbClr val="FFFF66"/>
    <a:srgbClr val="009999"/>
    <a:srgbClr val="FFFFCC"/>
    <a:srgbClr val="00AEC7"/>
    <a:srgbClr val="D9D9D6"/>
    <a:srgbClr val="7C6992"/>
    <a:srgbClr val="888B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0904" autoAdjust="0"/>
    <p:restoredTop sz="98046" autoAdjust="0"/>
  </p:normalViewPr>
  <p:slideViewPr>
    <p:cSldViewPr>
      <p:cViewPr>
        <p:scale>
          <a:sx n="60" d="100"/>
          <a:sy n="60" d="100"/>
        </p:scale>
        <p:origin x="-1422" y="-1092"/>
      </p:cViewPr>
      <p:guideLst>
        <p:guide orient="horz" pos="162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9DE6E5-E07D-4B09-8E65-F65F958CE3EF}" type="datetimeFigureOut">
              <a:rPr lang="pt-BR" smtClean="0"/>
              <a:t>10/07/2015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78FC1-7175-4FC0-9A71-4055CB28838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7628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59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798" algn="l" defTabSz="91359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597" algn="l" defTabSz="91359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398" algn="l" defTabSz="91359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194" algn="l" defTabSz="91359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3993" algn="l" defTabSz="91359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0792" algn="l" defTabSz="91359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7591" algn="l" defTabSz="91359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4388" algn="l" defTabSz="91359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345B2-DCA9-43EC-B83C-C037F76C940E}" type="slidenum">
              <a:rPr lang="pt-BR" smtClean="0">
                <a:solidFill>
                  <a:prstClr val="black"/>
                </a:solidFill>
              </a:rPr>
              <a:pPr/>
              <a:t>1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4738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8320"/>
            <a:ext cx="7772400" cy="1102859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5550"/>
            <a:ext cx="6400800" cy="13148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67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5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3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1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39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07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75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4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10/07/2015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70130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10/07/2015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932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6196"/>
            <a:ext cx="7772400" cy="102187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709"/>
            <a:ext cx="7772400" cy="112548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679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359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039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719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399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079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75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438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10/07/2015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9814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10/07/2015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9657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048"/>
            <a:ext cx="8229600" cy="857515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690"/>
            <a:ext cx="4040188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798" indent="0">
              <a:buNone/>
              <a:defRPr sz="2000" b="1"/>
            </a:lvl2pPr>
            <a:lvl3pPr marL="913597" indent="0">
              <a:buNone/>
              <a:defRPr sz="1800" b="1"/>
            </a:lvl3pPr>
            <a:lvl4pPr marL="1370398" indent="0">
              <a:buNone/>
              <a:defRPr sz="1600" b="1"/>
            </a:lvl4pPr>
            <a:lvl5pPr marL="1827194" indent="0">
              <a:buNone/>
              <a:defRPr sz="1600" b="1"/>
            </a:lvl5pPr>
            <a:lvl6pPr marL="2283993" indent="0">
              <a:buNone/>
              <a:defRPr sz="1600" b="1"/>
            </a:lvl6pPr>
            <a:lvl7pPr marL="2740792" indent="0">
              <a:buNone/>
              <a:defRPr sz="1600" b="1"/>
            </a:lvl7pPr>
            <a:lvl8pPr marL="3197591" indent="0">
              <a:buNone/>
              <a:defRPr sz="1600" b="1"/>
            </a:lvl8pPr>
            <a:lvl9pPr marL="3654388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667"/>
            <a:ext cx="4040188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32" y="1151690"/>
            <a:ext cx="4041775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798" indent="0">
              <a:buNone/>
              <a:defRPr sz="2000" b="1"/>
            </a:lvl2pPr>
            <a:lvl3pPr marL="913597" indent="0">
              <a:buNone/>
              <a:defRPr sz="1800" b="1"/>
            </a:lvl3pPr>
            <a:lvl4pPr marL="1370398" indent="0">
              <a:buNone/>
              <a:defRPr sz="1600" b="1"/>
            </a:lvl4pPr>
            <a:lvl5pPr marL="1827194" indent="0">
              <a:buNone/>
              <a:defRPr sz="1600" b="1"/>
            </a:lvl5pPr>
            <a:lvl6pPr marL="2283993" indent="0">
              <a:buNone/>
              <a:defRPr sz="1600" b="1"/>
            </a:lvl6pPr>
            <a:lvl7pPr marL="2740792" indent="0">
              <a:buNone/>
              <a:defRPr sz="1600" b="1"/>
            </a:lvl7pPr>
            <a:lvl8pPr marL="3197591" indent="0">
              <a:buNone/>
              <a:defRPr sz="1600" b="1"/>
            </a:lvl8pPr>
            <a:lvl9pPr marL="3654388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32" y="1631667"/>
            <a:ext cx="4041775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10/07/2015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54815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10/07/2015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796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10/07/2015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5565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2" y="204855"/>
            <a:ext cx="3008313" cy="8718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852"/>
            <a:ext cx="5111750" cy="439119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2" y="1076665"/>
            <a:ext cx="3008313" cy="3519383"/>
          </a:xfrm>
        </p:spPr>
        <p:txBody>
          <a:bodyPr/>
          <a:lstStyle>
            <a:lvl1pPr marL="0" indent="0">
              <a:buNone/>
              <a:defRPr sz="1400"/>
            </a:lvl1pPr>
            <a:lvl2pPr marL="456798" indent="0">
              <a:buNone/>
              <a:defRPr sz="1200"/>
            </a:lvl2pPr>
            <a:lvl3pPr marL="913597" indent="0">
              <a:buNone/>
              <a:defRPr sz="1000"/>
            </a:lvl3pPr>
            <a:lvl4pPr marL="1370398" indent="0">
              <a:buNone/>
              <a:defRPr sz="900"/>
            </a:lvl4pPr>
            <a:lvl5pPr marL="1827194" indent="0">
              <a:buNone/>
              <a:defRPr sz="900"/>
            </a:lvl5pPr>
            <a:lvl6pPr marL="2283993" indent="0">
              <a:buNone/>
              <a:defRPr sz="900"/>
            </a:lvl6pPr>
            <a:lvl7pPr marL="2740792" indent="0">
              <a:buNone/>
              <a:defRPr sz="900"/>
            </a:lvl7pPr>
            <a:lvl8pPr marL="3197591" indent="0">
              <a:buNone/>
              <a:defRPr sz="900"/>
            </a:lvl8pPr>
            <a:lvl9pPr marL="3654388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10/07/2015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5430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1563"/>
            <a:ext cx="5486400" cy="42518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726"/>
            <a:ext cx="5486400" cy="3087053"/>
          </a:xfrm>
        </p:spPr>
        <p:txBody>
          <a:bodyPr/>
          <a:lstStyle>
            <a:lvl1pPr marL="0" indent="0">
              <a:buNone/>
              <a:defRPr sz="3200"/>
            </a:lvl1pPr>
            <a:lvl2pPr marL="456798" indent="0">
              <a:buNone/>
              <a:defRPr sz="2800"/>
            </a:lvl2pPr>
            <a:lvl3pPr marL="913597" indent="0">
              <a:buNone/>
              <a:defRPr sz="2400"/>
            </a:lvl3pPr>
            <a:lvl4pPr marL="1370398" indent="0">
              <a:buNone/>
              <a:defRPr sz="2000"/>
            </a:lvl4pPr>
            <a:lvl5pPr marL="1827194" indent="0">
              <a:buNone/>
              <a:defRPr sz="2000"/>
            </a:lvl5pPr>
            <a:lvl6pPr marL="2283993" indent="0">
              <a:buNone/>
              <a:defRPr sz="2000"/>
            </a:lvl6pPr>
            <a:lvl7pPr marL="2740792" indent="0">
              <a:buNone/>
              <a:defRPr sz="2000"/>
            </a:lvl7pPr>
            <a:lvl8pPr marL="3197591" indent="0">
              <a:buNone/>
              <a:defRPr sz="2000"/>
            </a:lvl8pPr>
            <a:lvl9pPr marL="365438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6752"/>
            <a:ext cx="5486400" cy="603833"/>
          </a:xfrm>
        </p:spPr>
        <p:txBody>
          <a:bodyPr/>
          <a:lstStyle>
            <a:lvl1pPr marL="0" indent="0">
              <a:buNone/>
              <a:defRPr sz="1400"/>
            </a:lvl1pPr>
            <a:lvl2pPr marL="456798" indent="0">
              <a:buNone/>
              <a:defRPr sz="1200"/>
            </a:lvl2pPr>
            <a:lvl3pPr marL="913597" indent="0">
              <a:buNone/>
              <a:defRPr sz="1000"/>
            </a:lvl3pPr>
            <a:lvl4pPr marL="1370398" indent="0">
              <a:buNone/>
              <a:defRPr sz="900"/>
            </a:lvl4pPr>
            <a:lvl5pPr marL="1827194" indent="0">
              <a:buNone/>
              <a:defRPr sz="900"/>
            </a:lvl5pPr>
            <a:lvl6pPr marL="2283993" indent="0">
              <a:buNone/>
              <a:defRPr sz="900"/>
            </a:lvl6pPr>
            <a:lvl7pPr marL="2740792" indent="0">
              <a:buNone/>
              <a:defRPr sz="900"/>
            </a:lvl7pPr>
            <a:lvl8pPr marL="3197591" indent="0">
              <a:buNone/>
              <a:defRPr sz="900"/>
            </a:lvl8pPr>
            <a:lvl9pPr marL="3654388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10/07/2015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818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10/07/2015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2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154836"/>
            <a:ext cx="2057400" cy="329309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54836"/>
            <a:ext cx="6019800" cy="329309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10/07/2015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2961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8322"/>
            <a:ext cx="7772400" cy="1102859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5550"/>
            <a:ext cx="6400800" cy="13148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67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5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3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1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39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07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75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4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626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3128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6199"/>
            <a:ext cx="7772400" cy="1021871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712"/>
            <a:ext cx="7772400" cy="11254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679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359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039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719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399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079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75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438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4425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200522"/>
            <a:ext cx="4038600" cy="3395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200522"/>
            <a:ext cx="4038600" cy="3395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97839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691"/>
            <a:ext cx="4040188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798" indent="0">
              <a:buNone/>
              <a:defRPr sz="2000" b="1"/>
            </a:lvl2pPr>
            <a:lvl3pPr marL="913597" indent="0">
              <a:buNone/>
              <a:defRPr sz="1800" b="1"/>
            </a:lvl3pPr>
            <a:lvl4pPr marL="1370398" indent="0">
              <a:buNone/>
              <a:defRPr sz="1600" b="1"/>
            </a:lvl4pPr>
            <a:lvl5pPr marL="1827194" indent="0">
              <a:buNone/>
              <a:defRPr sz="1600" b="1"/>
            </a:lvl5pPr>
            <a:lvl6pPr marL="2283993" indent="0">
              <a:buNone/>
              <a:defRPr sz="1600" b="1"/>
            </a:lvl6pPr>
            <a:lvl7pPr marL="2740792" indent="0">
              <a:buNone/>
              <a:defRPr sz="1600" b="1"/>
            </a:lvl7pPr>
            <a:lvl8pPr marL="3197591" indent="0">
              <a:buNone/>
              <a:defRPr sz="1600" b="1"/>
            </a:lvl8pPr>
            <a:lvl9pPr marL="3654388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666"/>
            <a:ext cx="4040188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37" y="1151691"/>
            <a:ext cx="4041775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798" indent="0">
              <a:buNone/>
              <a:defRPr sz="2000" b="1"/>
            </a:lvl2pPr>
            <a:lvl3pPr marL="913597" indent="0">
              <a:buNone/>
              <a:defRPr sz="1800" b="1"/>
            </a:lvl3pPr>
            <a:lvl4pPr marL="1370398" indent="0">
              <a:buNone/>
              <a:defRPr sz="1600" b="1"/>
            </a:lvl4pPr>
            <a:lvl5pPr marL="1827194" indent="0">
              <a:buNone/>
              <a:defRPr sz="1600" b="1"/>
            </a:lvl5pPr>
            <a:lvl6pPr marL="2283993" indent="0">
              <a:buNone/>
              <a:defRPr sz="1600" b="1"/>
            </a:lvl6pPr>
            <a:lvl7pPr marL="2740792" indent="0">
              <a:buNone/>
              <a:defRPr sz="1600" b="1"/>
            </a:lvl7pPr>
            <a:lvl8pPr marL="3197591" indent="0">
              <a:buNone/>
              <a:defRPr sz="1600" b="1"/>
            </a:lvl8pPr>
            <a:lvl9pPr marL="3654388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37" y="1631666"/>
            <a:ext cx="4041775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7503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22407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77040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10" y="204854"/>
            <a:ext cx="3008313" cy="8718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855"/>
            <a:ext cx="5111750" cy="439119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10" y="1076665"/>
            <a:ext cx="3008313" cy="3519383"/>
          </a:xfrm>
        </p:spPr>
        <p:txBody>
          <a:bodyPr/>
          <a:lstStyle>
            <a:lvl1pPr marL="0" indent="0">
              <a:buNone/>
              <a:defRPr sz="1400"/>
            </a:lvl1pPr>
            <a:lvl2pPr marL="456798" indent="0">
              <a:buNone/>
              <a:defRPr sz="1200"/>
            </a:lvl2pPr>
            <a:lvl3pPr marL="913597" indent="0">
              <a:buNone/>
              <a:defRPr sz="1000"/>
            </a:lvl3pPr>
            <a:lvl4pPr marL="1370398" indent="0">
              <a:buNone/>
              <a:defRPr sz="900"/>
            </a:lvl4pPr>
            <a:lvl5pPr marL="1827194" indent="0">
              <a:buNone/>
              <a:defRPr sz="900"/>
            </a:lvl5pPr>
            <a:lvl6pPr marL="2283993" indent="0">
              <a:buNone/>
              <a:defRPr sz="900"/>
            </a:lvl6pPr>
            <a:lvl7pPr marL="2740792" indent="0">
              <a:buNone/>
              <a:defRPr sz="900"/>
            </a:lvl7pPr>
            <a:lvl8pPr marL="3197591" indent="0">
              <a:buNone/>
              <a:defRPr sz="900"/>
            </a:lvl8pPr>
            <a:lvl9pPr marL="3654388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48924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1563"/>
            <a:ext cx="5486400" cy="42518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726"/>
            <a:ext cx="5486400" cy="3087053"/>
          </a:xfrm>
        </p:spPr>
        <p:txBody>
          <a:bodyPr/>
          <a:lstStyle>
            <a:lvl1pPr marL="0" indent="0">
              <a:buNone/>
              <a:defRPr sz="3200"/>
            </a:lvl1pPr>
            <a:lvl2pPr marL="456798" indent="0">
              <a:buNone/>
              <a:defRPr sz="2800"/>
            </a:lvl2pPr>
            <a:lvl3pPr marL="913597" indent="0">
              <a:buNone/>
              <a:defRPr sz="2400"/>
            </a:lvl3pPr>
            <a:lvl4pPr marL="1370398" indent="0">
              <a:buNone/>
              <a:defRPr sz="2000"/>
            </a:lvl4pPr>
            <a:lvl5pPr marL="1827194" indent="0">
              <a:buNone/>
              <a:defRPr sz="2000"/>
            </a:lvl5pPr>
            <a:lvl6pPr marL="2283993" indent="0">
              <a:buNone/>
              <a:defRPr sz="2000"/>
            </a:lvl6pPr>
            <a:lvl7pPr marL="2740792" indent="0">
              <a:buNone/>
              <a:defRPr sz="2000"/>
            </a:lvl7pPr>
            <a:lvl8pPr marL="3197591" indent="0">
              <a:buNone/>
              <a:defRPr sz="2000"/>
            </a:lvl8pPr>
            <a:lvl9pPr marL="3654388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6756"/>
            <a:ext cx="5486400" cy="603833"/>
          </a:xfrm>
        </p:spPr>
        <p:txBody>
          <a:bodyPr/>
          <a:lstStyle>
            <a:lvl1pPr marL="0" indent="0">
              <a:buNone/>
              <a:defRPr sz="1400"/>
            </a:lvl1pPr>
            <a:lvl2pPr marL="456798" indent="0">
              <a:buNone/>
              <a:defRPr sz="1200"/>
            </a:lvl2pPr>
            <a:lvl3pPr marL="913597" indent="0">
              <a:buNone/>
              <a:defRPr sz="1000"/>
            </a:lvl3pPr>
            <a:lvl4pPr marL="1370398" indent="0">
              <a:buNone/>
              <a:defRPr sz="900"/>
            </a:lvl4pPr>
            <a:lvl5pPr marL="1827194" indent="0">
              <a:buNone/>
              <a:defRPr sz="900"/>
            </a:lvl5pPr>
            <a:lvl6pPr marL="2283993" indent="0">
              <a:buNone/>
              <a:defRPr sz="900"/>
            </a:lvl6pPr>
            <a:lvl7pPr marL="2740792" indent="0">
              <a:buNone/>
              <a:defRPr sz="900"/>
            </a:lvl7pPr>
            <a:lvl8pPr marL="3197591" indent="0">
              <a:buNone/>
              <a:defRPr sz="900"/>
            </a:lvl8pPr>
            <a:lvl9pPr marL="3654388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6879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93864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06046"/>
            <a:ext cx="2057400" cy="4389999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06046"/>
            <a:ext cx="6019800" cy="4389999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07175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909352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MPLATE SEM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56828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PLANEJA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80557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TERNA CA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05141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62009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44735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MPLATE SEM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94967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PLANEJA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6046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TERNA CA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11261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1721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25.xml"/><Relationship Id="rId7" Type="http://schemas.openxmlformats.org/officeDocument/2006/relationships/tags" Target="../tags/tag1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theme" Target="../theme/theme3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27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26.xml"/><Relationship Id="rId9" Type="http://schemas.openxmlformats.org/officeDocument/2006/relationships/tags" Target="../tags/tag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3" Type="http://schemas.openxmlformats.org/officeDocument/2006/relationships/slideLayout" Target="../slideLayouts/slideLayout30.xml"/><Relationship Id="rId7" Type="http://schemas.openxmlformats.org/officeDocument/2006/relationships/tags" Target="../tags/tag5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theme" Target="../theme/theme4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32.xml"/><Relationship Id="rId10" Type="http://schemas.openxmlformats.org/officeDocument/2006/relationships/tags" Target="../tags/tag8.xml"/><Relationship Id="rId4" Type="http://schemas.openxmlformats.org/officeDocument/2006/relationships/slideLayout" Target="../slideLayouts/slideLayout31.xml"/><Relationship Id="rId9" Type="http://schemas.openxmlformats.org/officeDocument/2006/relationships/tags" Target="../tags/tag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6048"/>
            <a:ext cx="8229600" cy="857515"/>
          </a:xfrm>
          <a:prstGeom prst="rect">
            <a:avLst/>
          </a:prstGeom>
        </p:spPr>
        <p:txBody>
          <a:bodyPr vert="horz" lIns="91358" tIns="45680" rIns="91358" bIns="4568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00521"/>
            <a:ext cx="8229600" cy="3395520"/>
          </a:xfrm>
          <a:prstGeom prst="rect">
            <a:avLst/>
          </a:prstGeom>
        </p:spPr>
        <p:txBody>
          <a:bodyPr vert="horz" lIns="91358" tIns="45680" rIns="91358" bIns="4568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8736"/>
            <a:ext cx="2133600" cy="273928"/>
          </a:xfrm>
          <a:prstGeom prst="rect">
            <a:avLst/>
          </a:prstGeom>
        </p:spPr>
        <p:txBody>
          <a:bodyPr vert="horz" lIns="91358" tIns="45680" rIns="91358" bIns="4568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E060FA-F017-416B-92AB-F93AA45D987F}" type="datetimeFigureOut">
              <a:rPr lang="pt-BR" smtClean="0"/>
              <a:t>10/07/2015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1" y="4768736"/>
            <a:ext cx="2895600" cy="273928"/>
          </a:xfrm>
          <a:prstGeom prst="rect">
            <a:avLst/>
          </a:prstGeom>
        </p:spPr>
        <p:txBody>
          <a:bodyPr vert="horz" lIns="91358" tIns="45680" rIns="91358" bIns="4568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8736"/>
            <a:ext cx="2133600" cy="273928"/>
          </a:xfrm>
          <a:prstGeom prst="rect">
            <a:avLst/>
          </a:prstGeom>
        </p:spPr>
        <p:txBody>
          <a:bodyPr vert="horz" lIns="91358" tIns="45680" rIns="91358" bIns="4568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9299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359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600" indent="-342600" algn="l" defTabSz="91359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298" indent="-285499" algn="l" defTabSz="91359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997" indent="-228398" algn="l" defTabSz="91359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796" indent="-228398" algn="l" defTabSz="91359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593" indent="-228398" algn="l" defTabSz="91359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2394" indent="-228398" algn="l" defTabSz="91359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192" indent="-228398" algn="l" defTabSz="91359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5990" indent="-228398" algn="l" defTabSz="91359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2788" indent="-228398" algn="l" defTabSz="91359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35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798" algn="l" defTabSz="9135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597" algn="l" defTabSz="9135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398" algn="l" defTabSz="9135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194" algn="l" defTabSz="9135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3993" algn="l" defTabSz="9135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0792" algn="l" defTabSz="9135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7591" algn="l" defTabSz="9135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388" algn="l" defTabSz="9135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6047"/>
            <a:ext cx="8229600" cy="857515"/>
          </a:xfrm>
          <a:prstGeom prst="rect">
            <a:avLst/>
          </a:prstGeom>
        </p:spPr>
        <p:txBody>
          <a:bodyPr vert="horz" lIns="91358" tIns="45680" rIns="91358" bIns="4568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00522"/>
            <a:ext cx="8229600" cy="3395520"/>
          </a:xfrm>
          <a:prstGeom prst="rect">
            <a:avLst/>
          </a:prstGeom>
        </p:spPr>
        <p:txBody>
          <a:bodyPr vert="horz" lIns="91358" tIns="45680" rIns="91358" bIns="4568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8742"/>
            <a:ext cx="2133600" cy="273929"/>
          </a:xfrm>
          <a:prstGeom prst="rect">
            <a:avLst/>
          </a:prstGeom>
        </p:spPr>
        <p:txBody>
          <a:bodyPr vert="horz" lIns="91358" tIns="45680" rIns="91358" bIns="4568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10/07/2015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1" y="4768742"/>
            <a:ext cx="2895600" cy="273929"/>
          </a:xfrm>
          <a:prstGeom prst="rect">
            <a:avLst/>
          </a:prstGeom>
        </p:spPr>
        <p:txBody>
          <a:bodyPr vert="horz" lIns="91358" tIns="45680" rIns="91358" bIns="4568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8742"/>
            <a:ext cx="2133600" cy="273929"/>
          </a:xfrm>
          <a:prstGeom prst="rect">
            <a:avLst/>
          </a:prstGeom>
        </p:spPr>
        <p:txBody>
          <a:bodyPr vert="horz" lIns="91358" tIns="45680" rIns="91358" bIns="4568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3662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359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600" indent="-342600" algn="l" defTabSz="913597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298" indent="-285499" algn="l" defTabSz="913597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997" indent="-228398" algn="l" defTabSz="913597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796" indent="-228398" algn="l" defTabSz="913597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593" indent="-228398" algn="l" defTabSz="913597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2394" indent="-228398" algn="l" defTabSz="91359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192" indent="-228398" algn="l" defTabSz="91359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5990" indent="-228398" algn="l" defTabSz="91359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2788" indent="-228398" algn="l" defTabSz="91359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35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798" algn="l" defTabSz="9135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597" algn="l" defTabSz="9135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398" algn="l" defTabSz="9135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194" algn="l" defTabSz="9135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3993" algn="l" defTabSz="9135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0792" algn="l" defTabSz="9135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7591" algn="l" defTabSz="9135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388" algn="l" defTabSz="91359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 userDrawn="1"/>
        </p:nvSpPr>
        <p:spPr bwMode="auto">
          <a:xfrm>
            <a:off x="-5417" y="4881613"/>
            <a:ext cx="9149423" cy="268004"/>
          </a:xfrm>
          <a:prstGeom prst="rect">
            <a:avLst/>
          </a:prstGeom>
          <a:solidFill>
            <a:schemeClr val="accent3">
              <a:alpha val="70000"/>
            </a:scheme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25695" tIns="30835" rIns="0" bIns="30835" numCol="1" rtlCol="0" anchor="ctr" anchorCtr="0" compatLnSpc="1">
            <a:prstTxWarp prst="textNoShape">
              <a:avLst/>
            </a:prstTxWarp>
          </a:bodyPr>
          <a:lstStyle/>
          <a:p>
            <a:pPr defTabSz="503194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pt-BR" sz="700" b="1" smtClean="0">
              <a:solidFill>
                <a:srgbClr val="000000"/>
              </a:solidFill>
            </a:endParaRPr>
          </a:p>
        </p:txBody>
      </p:sp>
      <p:sp>
        <p:nvSpPr>
          <p:cNvPr id="1119" name="AcnStamp_ID_1119" hidden="1"/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8701924" y="927002"/>
            <a:ext cx="443116" cy="202155"/>
          </a:xfrm>
          <a:prstGeom prst="leftRightArrow">
            <a:avLst>
              <a:gd name="adj1" fmla="val 100000"/>
              <a:gd name="adj2" fmla="val 0"/>
            </a:avLst>
          </a:prstGeom>
          <a:noFill/>
          <a:ln w="9525" algn="ctr">
            <a:noFill/>
            <a:miter lim="800000"/>
            <a:headEnd/>
            <a:tailEnd/>
          </a:ln>
          <a:effectLst>
            <a:prstShdw prst="shdw18" dist="17961" dir="13500000">
              <a:srgbClr val="FFFFCC">
                <a:gamma/>
                <a:shade val="60000"/>
                <a:invGamma/>
              </a:srgbClr>
            </a:prstShdw>
          </a:effectLst>
        </p:spPr>
        <p:txBody>
          <a:bodyPr wrap="none" lIns="0" tIns="22496" rIns="0" bIns="22496">
            <a:spAutoFit/>
          </a:bodyPr>
          <a:lstStyle/>
          <a:p>
            <a:pPr algn="r" defTabSz="809874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000" b="1" dirty="0">
                <a:solidFill>
                  <a:srgbClr val="000000"/>
                </a:solidFill>
                <a:ea typeface="MS PGothic" pitchFamily="34" charset="-128"/>
              </a:rPr>
              <a:t>DRAFT</a:t>
            </a:r>
          </a:p>
        </p:txBody>
      </p:sp>
      <p:cxnSp>
        <p:nvCxnSpPr>
          <p:cNvPr id="3078" name="AcnStpConnector_ID_1120" hidden="1"/>
          <p:cNvCxnSpPr>
            <a:cxnSpLocks noChangeShapeType="1"/>
            <a:stCxn id="1119" idx="2"/>
            <a:endCxn id="1119" idx="0"/>
          </p:cNvCxnSpPr>
          <p:nvPr>
            <p:custDataLst>
              <p:tags r:id="rId8"/>
            </p:custDataLst>
          </p:nvPr>
        </p:nvCxnSpPr>
        <p:spPr bwMode="gray">
          <a:xfrm>
            <a:off x="8701924" y="927002"/>
            <a:ext cx="443116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079" name="AcnStpConnector_ID_1121" hidden="1"/>
          <p:cNvCxnSpPr>
            <a:cxnSpLocks noChangeShapeType="1"/>
            <a:stCxn id="1119" idx="4"/>
            <a:endCxn id="1119" idx="6"/>
          </p:cNvCxnSpPr>
          <p:nvPr>
            <p:custDataLst>
              <p:tags r:id="rId9"/>
            </p:custDataLst>
          </p:nvPr>
        </p:nvCxnSpPr>
        <p:spPr bwMode="gray">
          <a:xfrm>
            <a:off x="8701924" y="1129157"/>
            <a:ext cx="443116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30" name="AcnFootnote_ID_1130" hidden="1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gray">
          <a:xfrm>
            <a:off x="241790" y="4600992"/>
            <a:ext cx="8343900" cy="34283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marL="476668" indent="-476668" defTabSz="809874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2125946" algn="l"/>
              </a:tabLst>
              <a:defRPr/>
            </a:pPr>
            <a:r>
              <a:rPr lang="pt-BR" sz="1000" dirty="0">
                <a:solidFill>
                  <a:srgbClr val="000000"/>
                </a:solidFill>
                <a:ea typeface="MS PGothic" pitchFamily="34" charset="-128"/>
              </a:rPr>
              <a:t>*	Footnote</a:t>
            </a:r>
          </a:p>
          <a:p>
            <a:pPr marL="476668" indent="-476668" defTabSz="809874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2125946" algn="l"/>
              </a:tabLst>
              <a:defRPr/>
            </a:pPr>
            <a:r>
              <a:rPr lang="pt-BR" sz="1000" dirty="0">
                <a:solidFill>
                  <a:srgbClr val="000000"/>
                </a:solidFill>
                <a:ea typeface="MS PGothic" pitchFamily="34" charset="-128"/>
              </a:rPr>
              <a:t>Source:	Source</a:t>
            </a:r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6591"/>
            <a:ext cx="8229600" cy="311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lvl="0" algn="r" defTabSz="809874" eaLnBrk="1" latinLnBrk="0" hangingPunct="1">
              <a:buNone/>
            </a:pP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735776"/>
            <a:ext cx="8229600" cy="3859491"/>
          </a:xfrm>
          <a:prstGeom prst="rect">
            <a:avLst/>
          </a:prstGeom>
        </p:spPr>
        <p:txBody>
          <a:bodyPr vert="horz" lIns="80984" tIns="40484" rIns="80984" bIns="40484" rtlCol="0">
            <a:normAutofit/>
          </a:bodyPr>
          <a:lstStyle/>
          <a:p>
            <a:pPr marL="303718" lvl="0" indent="-303718" defTabSz="809874" eaLnBrk="1" latinLnBrk="0" hangingPunct="1">
              <a:lnSpc>
                <a:spcPts val="1695"/>
              </a:lnSpc>
              <a:spcBef>
                <a:spcPts val="535"/>
              </a:spcBef>
              <a:spcAft>
                <a:spcPts val="535"/>
              </a:spcAft>
              <a:buFont typeface="Arial" pitchFamily="34" charset="0"/>
            </a:pPr>
            <a:r>
              <a:rPr lang="pt-BR" dirty="0" smtClean="0"/>
              <a:t>Clique para editar o texto mestre</a:t>
            </a:r>
          </a:p>
          <a:p>
            <a:pPr marL="658044" lvl="1" indent="-253100" defTabSz="809874" eaLnBrk="1" latinLnBrk="0" hangingPunct="1">
              <a:lnSpc>
                <a:spcPts val="1695"/>
              </a:lnSpc>
              <a:spcBef>
                <a:spcPts val="535"/>
              </a:spcBef>
              <a:spcAft>
                <a:spcPts val="535"/>
              </a:spcAft>
              <a:buFont typeface="Arial" pitchFamily="34" charset="0"/>
            </a:pPr>
            <a:r>
              <a:rPr lang="pt-BR" dirty="0" smtClean="0"/>
              <a:t>Segundo nível</a:t>
            </a:r>
          </a:p>
          <a:p>
            <a:pPr marL="1012355" lvl="2" indent="-202476" defTabSz="809874" eaLnBrk="1" latinLnBrk="0" hangingPunct="1">
              <a:lnSpc>
                <a:spcPts val="1695"/>
              </a:lnSpc>
              <a:spcBef>
                <a:spcPts val="535"/>
              </a:spcBef>
              <a:spcAft>
                <a:spcPts val="535"/>
              </a:spcAft>
              <a:buFont typeface="Arial" pitchFamily="34" charset="0"/>
              <a:buChar char="•"/>
            </a:pPr>
            <a:r>
              <a:rPr lang="pt-BR" dirty="0" smtClean="0"/>
              <a:t>Terceiro nível</a:t>
            </a:r>
          </a:p>
          <a:p>
            <a:pPr marL="1417291" lvl="3" indent="-202476" defTabSz="809874" eaLnBrk="1" latinLnBrk="0" hangingPunct="1">
              <a:lnSpc>
                <a:spcPts val="1695"/>
              </a:lnSpc>
              <a:spcBef>
                <a:spcPts val="535"/>
              </a:spcBef>
              <a:spcAft>
                <a:spcPts val="535"/>
              </a:spcAft>
              <a:buFont typeface="Arial" pitchFamily="34" charset="0"/>
            </a:pPr>
            <a:r>
              <a:rPr lang="pt-BR" dirty="0" smtClean="0"/>
              <a:t>Quarto nível</a:t>
            </a:r>
          </a:p>
          <a:p>
            <a:pPr marL="1822241" lvl="4" indent="-202476" defTabSz="809874" eaLnBrk="1" latinLnBrk="0" hangingPunct="1">
              <a:lnSpc>
                <a:spcPts val="1695"/>
              </a:lnSpc>
              <a:spcBef>
                <a:spcPts val="535"/>
              </a:spcBef>
              <a:spcAft>
                <a:spcPts val="535"/>
              </a:spcAft>
              <a:buFont typeface="Arial" pitchFamily="34" charset="0"/>
              <a:buChar char="»"/>
            </a:pPr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10" name="CaixaDeTexto 23"/>
          <p:cNvSpPr txBox="1"/>
          <p:nvPr userDrawn="1"/>
        </p:nvSpPr>
        <p:spPr>
          <a:xfrm>
            <a:off x="8444186" y="4939303"/>
            <a:ext cx="664318" cy="190458"/>
          </a:xfrm>
          <a:prstGeom prst="rect">
            <a:avLst/>
          </a:prstGeom>
          <a:noFill/>
        </p:spPr>
        <p:txBody>
          <a:bodyPr wrap="square" lIns="51384" tIns="25694" rIns="51384" bIns="25694" rtlCol="0">
            <a:spAutoFit/>
          </a:bodyPr>
          <a:lstStyle/>
          <a:p>
            <a:pPr algn="r" defTabSz="801368"/>
            <a:fld id="{84127208-933E-4CB5-A4D6-BB9F8A4745D6}" type="slidenum">
              <a:rPr lang="en-US" sz="900">
                <a:solidFill>
                  <a:srgbClr val="000000"/>
                </a:solidFill>
                <a:latin typeface="Gill Sans Std" pitchFamily="34" charset="0"/>
              </a:rPr>
              <a:pPr algn="r" defTabSz="801368"/>
              <a:t>‹nº›</a:t>
            </a:fld>
            <a:endParaRPr lang="en-US" sz="900" dirty="0">
              <a:solidFill>
                <a:srgbClr val="000000"/>
              </a:solidFill>
              <a:latin typeface="Gill Sans Std" pitchFamily="34" charset="0"/>
            </a:endParaRPr>
          </a:p>
        </p:txBody>
      </p:sp>
      <p:sp>
        <p:nvSpPr>
          <p:cNvPr id="11" name="Rectangle 5"/>
          <p:cNvSpPr>
            <a:spLocks noChangeArrowheads="1"/>
          </p:cNvSpPr>
          <p:nvPr userDrawn="1"/>
        </p:nvSpPr>
        <p:spPr bwMode="auto">
          <a:xfrm>
            <a:off x="-1960" y="4922122"/>
            <a:ext cx="6882716" cy="190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1576" tIns="40788" rIns="81576" bIns="40788" anchor="ctr"/>
          <a:lstStyle/>
          <a:p>
            <a:pPr defTabSz="801368">
              <a:defRPr/>
            </a:pPr>
            <a:endParaRPr lang="pt-BR" sz="800" b="1" dirty="0">
              <a:solidFill>
                <a:srgbClr val="62568B"/>
              </a:solidFill>
              <a:latin typeface="Gill Sans MT" pitchFamily="34" charset="0"/>
              <a:ea typeface="ヒラギノ角ゴ Pro W3"/>
              <a:cs typeface="ヒラギノ角ゴ Pro W3"/>
            </a:endParaRPr>
          </a:p>
        </p:txBody>
      </p:sp>
      <p:pic>
        <p:nvPicPr>
          <p:cNvPr id="6146" name="Picture 2" descr="E:\Users\cilima\Pictures\NAT_marca_lilas_tododia-01.jpg"/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2574" y="60930"/>
            <a:ext cx="445427" cy="445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5748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pt-BR" sz="2000" b="0" kern="1200" smtClean="0">
          <a:solidFill>
            <a:srgbClr val="62568B"/>
          </a:solidFill>
          <a:latin typeface="Gill Sans Std" pitchFamily="34" charset="0"/>
          <a:ea typeface="+mn-ea"/>
          <a:cs typeface="+mn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5pPr>
      <a:lvl6pPr marL="404957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6pPr>
      <a:lvl7pPr marL="809874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7pPr>
      <a:lvl8pPr marL="1214821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8pPr>
      <a:lvl9pPr marL="1619763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9pPr>
    </p:titleStyle>
    <p:bodyStyle>
      <a:lvl1pPr marL="202476" indent="-202476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Char char="•"/>
        <a:tabLst>
          <a:tab pos="2125946" algn="l"/>
        </a:tabLst>
        <a:defRPr lang="pt-BR" sz="1200" kern="1200" smtClean="0">
          <a:solidFill>
            <a:srgbClr val="000000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403545" indent="-199661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–"/>
        <a:tabLst>
          <a:tab pos="2125946" algn="l"/>
        </a:tabLst>
        <a:defRPr lang="pt-BR" sz="1200" kern="1200" smtClean="0">
          <a:solidFill>
            <a:srgbClr val="000000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606018" indent="-201067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-"/>
        <a:tabLst>
          <a:tab pos="2125946" algn="l"/>
        </a:tabLst>
        <a:defRPr lang="pt-BR" sz="1200" kern="1200" smtClean="0">
          <a:solidFill>
            <a:srgbClr val="000000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808474" indent="-201067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–"/>
        <a:tabLst>
          <a:tab pos="2125946" algn="l"/>
        </a:tabLst>
        <a:defRPr lang="pt-BR" sz="1200" kern="1200" smtClean="0">
          <a:solidFill>
            <a:srgbClr val="000000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010955" indent="-201067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2125946" algn="l"/>
        </a:tabLst>
        <a:defRPr lang="pt-BR" sz="1200" kern="1200" smtClean="0">
          <a:solidFill>
            <a:srgbClr val="000000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1415890" indent="-201067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2125946" algn="l"/>
        </a:tabLst>
        <a:defRPr sz="1200">
          <a:solidFill>
            <a:schemeClr val="tx1"/>
          </a:solidFill>
          <a:latin typeface="+mn-lt"/>
        </a:defRPr>
      </a:lvl6pPr>
      <a:lvl7pPr marL="1820838" indent="-201067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2125946" algn="l"/>
        </a:tabLst>
        <a:defRPr sz="1200">
          <a:solidFill>
            <a:schemeClr val="tx1"/>
          </a:solidFill>
          <a:latin typeface="+mn-lt"/>
        </a:defRPr>
      </a:lvl7pPr>
      <a:lvl8pPr marL="2225779" indent="-201067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2125946" algn="l"/>
        </a:tabLst>
        <a:defRPr sz="1200">
          <a:solidFill>
            <a:schemeClr val="tx1"/>
          </a:solidFill>
          <a:latin typeface="+mn-lt"/>
        </a:defRPr>
      </a:lvl8pPr>
      <a:lvl9pPr marL="2630718" indent="-201067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2125946" algn="l"/>
        </a:tabLst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80987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4957" algn="l" defTabSz="80987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09874" algn="l" defTabSz="80987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14821" algn="l" defTabSz="80987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19763" algn="l" defTabSz="80987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24709" algn="l" defTabSz="80987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29650" algn="l" defTabSz="80987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34591" algn="l" defTabSz="80987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39534" algn="l" defTabSz="80987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 userDrawn="1"/>
        </p:nvSpPr>
        <p:spPr bwMode="auto">
          <a:xfrm>
            <a:off x="-5418" y="4881613"/>
            <a:ext cx="9149423" cy="268004"/>
          </a:xfrm>
          <a:prstGeom prst="rect">
            <a:avLst/>
          </a:prstGeom>
          <a:solidFill>
            <a:schemeClr val="accent3">
              <a:alpha val="70000"/>
            </a:scheme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25698" tIns="30838" rIns="0" bIns="30838" numCol="1" rtlCol="0" anchor="ctr" anchorCtr="0" compatLnSpc="1">
            <a:prstTxWarp prst="textNoShape">
              <a:avLst/>
            </a:prstTxWarp>
          </a:bodyPr>
          <a:lstStyle/>
          <a:p>
            <a:pPr defTabSz="503244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pt-BR" sz="700" b="1" smtClean="0">
              <a:solidFill>
                <a:srgbClr val="000000"/>
              </a:solidFill>
            </a:endParaRPr>
          </a:p>
        </p:txBody>
      </p:sp>
      <p:sp>
        <p:nvSpPr>
          <p:cNvPr id="1119" name="AcnStamp_ID_1119" hidden="1"/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8701923" y="927002"/>
            <a:ext cx="443116" cy="202160"/>
          </a:xfrm>
          <a:prstGeom prst="leftRightArrow">
            <a:avLst>
              <a:gd name="adj1" fmla="val 100000"/>
              <a:gd name="adj2" fmla="val 0"/>
            </a:avLst>
          </a:prstGeom>
          <a:noFill/>
          <a:ln w="9525" algn="ctr">
            <a:noFill/>
            <a:miter lim="800000"/>
            <a:headEnd/>
            <a:tailEnd/>
          </a:ln>
          <a:effectLst>
            <a:prstShdw prst="shdw18" dist="17961" dir="13500000">
              <a:srgbClr val="FFFFCC">
                <a:gamma/>
                <a:shade val="60000"/>
                <a:invGamma/>
              </a:srgbClr>
            </a:prstShdw>
          </a:effectLst>
        </p:spPr>
        <p:txBody>
          <a:bodyPr wrap="none" lIns="0" tIns="22498" rIns="0" bIns="22498">
            <a:spAutoFit/>
          </a:bodyPr>
          <a:lstStyle/>
          <a:p>
            <a:pPr algn="r" defTabSz="809956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000" b="1" dirty="0">
                <a:solidFill>
                  <a:srgbClr val="000000"/>
                </a:solidFill>
                <a:ea typeface="MS PGothic" pitchFamily="34" charset="-128"/>
              </a:rPr>
              <a:t>DRAFT</a:t>
            </a:r>
          </a:p>
        </p:txBody>
      </p:sp>
      <p:cxnSp>
        <p:nvCxnSpPr>
          <p:cNvPr id="3078" name="AcnStpConnector_ID_1120" hidden="1"/>
          <p:cNvCxnSpPr>
            <a:cxnSpLocks noChangeShapeType="1"/>
            <a:stCxn id="1119" idx="2"/>
            <a:endCxn id="1119" idx="0"/>
          </p:cNvCxnSpPr>
          <p:nvPr>
            <p:custDataLst>
              <p:tags r:id="rId8"/>
            </p:custDataLst>
          </p:nvPr>
        </p:nvCxnSpPr>
        <p:spPr bwMode="gray">
          <a:xfrm>
            <a:off x="8701923" y="927002"/>
            <a:ext cx="443116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079" name="AcnStpConnector_ID_1121" hidden="1"/>
          <p:cNvCxnSpPr>
            <a:cxnSpLocks noChangeShapeType="1"/>
            <a:stCxn id="1119" idx="4"/>
            <a:endCxn id="1119" idx="6"/>
          </p:cNvCxnSpPr>
          <p:nvPr>
            <p:custDataLst>
              <p:tags r:id="rId9"/>
            </p:custDataLst>
          </p:nvPr>
        </p:nvCxnSpPr>
        <p:spPr bwMode="gray">
          <a:xfrm>
            <a:off x="8701923" y="1129162"/>
            <a:ext cx="443116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30" name="AcnFootnote_ID_1130" hidden="1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gray">
          <a:xfrm>
            <a:off x="241790" y="4600991"/>
            <a:ext cx="8343900" cy="34283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marL="476715" indent="-476715" defTabSz="809956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2126161" algn="l"/>
              </a:tabLst>
              <a:defRPr/>
            </a:pPr>
            <a:r>
              <a:rPr lang="pt-BR" sz="1000" dirty="0">
                <a:solidFill>
                  <a:srgbClr val="000000"/>
                </a:solidFill>
                <a:ea typeface="MS PGothic" pitchFamily="34" charset="-128"/>
              </a:rPr>
              <a:t>*	Footnote</a:t>
            </a:r>
          </a:p>
          <a:p>
            <a:pPr marL="476715" indent="-476715" defTabSz="809956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2126161" algn="l"/>
              </a:tabLst>
              <a:defRPr/>
            </a:pPr>
            <a:r>
              <a:rPr lang="pt-BR" sz="1000" dirty="0">
                <a:solidFill>
                  <a:srgbClr val="000000"/>
                </a:solidFill>
                <a:ea typeface="MS PGothic" pitchFamily="34" charset="-128"/>
              </a:rPr>
              <a:t>Source:	Source</a:t>
            </a:r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6591"/>
            <a:ext cx="8229600" cy="311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lvl="0" algn="r" defTabSz="809956" eaLnBrk="1" latinLnBrk="0" hangingPunct="1">
              <a:buNone/>
            </a:pP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735775"/>
            <a:ext cx="8229600" cy="3859491"/>
          </a:xfrm>
          <a:prstGeom prst="rect">
            <a:avLst/>
          </a:prstGeom>
        </p:spPr>
        <p:txBody>
          <a:bodyPr vert="horz" lIns="80992" tIns="40488" rIns="80992" bIns="40488" rtlCol="0">
            <a:normAutofit/>
          </a:bodyPr>
          <a:lstStyle/>
          <a:p>
            <a:pPr marL="303748" lvl="0" indent="-303748" defTabSz="809956" eaLnBrk="1" latinLnBrk="0" hangingPunct="1">
              <a:lnSpc>
                <a:spcPts val="1695"/>
              </a:lnSpc>
              <a:spcBef>
                <a:spcPts val="535"/>
              </a:spcBef>
              <a:spcAft>
                <a:spcPts val="535"/>
              </a:spcAft>
              <a:buFont typeface="Arial" pitchFamily="34" charset="0"/>
            </a:pPr>
            <a:r>
              <a:rPr lang="pt-BR" dirty="0" smtClean="0"/>
              <a:t>Clique para editar o texto mestre</a:t>
            </a:r>
          </a:p>
          <a:p>
            <a:pPr marL="658111" lvl="1" indent="-253125" defTabSz="809956" eaLnBrk="1" latinLnBrk="0" hangingPunct="1">
              <a:lnSpc>
                <a:spcPts val="1695"/>
              </a:lnSpc>
              <a:spcBef>
                <a:spcPts val="535"/>
              </a:spcBef>
              <a:spcAft>
                <a:spcPts val="535"/>
              </a:spcAft>
              <a:buFont typeface="Arial" pitchFamily="34" charset="0"/>
            </a:pPr>
            <a:r>
              <a:rPr lang="pt-BR" dirty="0" smtClean="0"/>
              <a:t>Segundo nível</a:t>
            </a:r>
          </a:p>
          <a:p>
            <a:pPr marL="1012456" lvl="2" indent="-202496" defTabSz="809956" eaLnBrk="1" latinLnBrk="0" hangingPunct="1">
              <a:lnSpc>
                <a:spcPts val="1695"/>
              </a:lnSpc>
              <a:spcBef>
                <a:spcPts val="535"/>
              </a:spcBef>
              <a:spcAft>
                <a:spcPts val="535"/>
              </a:spcAft>
              <a:buFont typeface="Arial" pitchFamily="34" charset="0"/>
              <a:buChar char="•"/>
            </a:pPr>
            <a:r>
              <a:rPr lang="pt-BR" dirty="0" smtClean="0"/>
              <a:t>Terceiro nível</a:t>
            </a:r>
          </a:p>
          <a:p>
            <a:pPr marL="1417433" lvl="3" indent="-202496" defTabSz="809956" eaLnBrk="1" latinLnBrk="0" hangingPunct="1">
              <a:lnSpc>
                <a:spcPts val="1695"/>
              </a:lnSpc>
              <a:spcBef>
                <a:spcPts val="535"/>
              </a:spcBef>
              <a:spcAft>
                <a:spcPts val="535"/>
              </a:spcAft>
              <a:buFont typeface="Arial" pitchFamily="34" charset="0"/>
            </a:pPr>
            <a:r>
              <a:rPr lang="pt-BR" dirty="0" smtClean="0"/>
              <a:t>Quarto nível</a:t>
            </a:r>
          </a:p>
          <a:p>
            <a:pPr marL="1822423" lvl="4" indent="-202496" defTabSz="809956" eaLnBrk="1" latinLnBrk="0" hangingPunct="1">
              <a:lnSpc>
                <a:spcPts val="1695"/>
              </a:lnSpc>
              <a:spcBef>
                <a:spcPts val="535"/>
              </a:spcBef>
              <a:spcAft>
                <a:spcPts val="535"/>
              </a:spcAft>
              <a:buFont typeface="Arial" pitchFamily="34" charset="0"/>
              <a:buChar char="»"/>
            </a:pPr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10" name="CaixaDeTexto 23"/>
          <p:cNvSpPr txBox="1"/>
          <p:nvPr userDrawn="1"/>
        </p:nvSpPr>
        <p:spPr>
          <a:xfrm>
            <a:off x="8444186" y="4939303"/>
            <a:ext cx="664318" cy="190458"/>
          </a:xfrm>
          <a:prstGeom prst="rect">
            <a:avLst/>
          </a:prstGeom>
          <a:noFill/>
        </p:spPr>
        <p:txBody>
          <a:bodyPr wrap="square" lIns="51389" tIns="25695" rIns="51389" bIns="25695" rtlCol="0">
            <a:spAutoFit/>
          </a:bodyPr>
          <a:lstStyle/>
          <a:p>
            <a:pPr algn="r" defTabSz="801448"/>
            <a:fld id="{84127208-933E-4CB5-A4D6-BB9F8A4745D6}" type="slidenum">
              <a:rPr lang="en-US" sz="900">
                <a:solidFill>
                  <a:srgbClr val="000000"/>
                </a:solidFill>
                <a:latin typeface="Gill Sans Std" pitchFamily="34" charset="0"/>
              </a:rPr>
              <a:pPr algn="r" defTabSz="801448"/>
              <a:t>‹nº›</a:t>
            </a:fld>
            <a:endParaRPr lang="en-US" sz="900" dirty="0">
              <a:solidFill>
                <a:srgbClr val="000000"/>
              </a:solidFill>
              <a:latin typeface="Gill Sans Std" pitchFamily="34" charset="0"/>
            </a:endParaRPr>
          </a:p>
        </p:txBody>
      </p:sp>
      <p:sp>
        <p:nvSpPr>
          <p:cNvPr id="11" name="Rectangle 5"/>
          <p:cNvSpPr>
            <a:spLocks noChangeArrowheads="1"/>
          </p:cNvSpPr>
          <p:nvPr userDrawn="1"/>
        </p:nvSpPr>
        <p:spPr bwMode="auto">
          <a:xfrm>
            <a:off x="-1960" y="4922122"/>
            <a:ext cx="6882716" cy="190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1584" tIns="40792" rIns="81584" bIns="40792" anchor="ctr"/>
          <a:lstStyle/>
          <a:p>
            <a:pPr defTabSz="801448">
              <a:defRPr/>
            </a:pPr>
            <a:endParaRPr lang="pt-BR" sz="800" b="1" dirty="0">
              <a:solidFill>
                <a:srgbClr val="62568B"/>
              </a:solidFill>
              <a:latin typeface="Gill Sans MT" pitchFamily="34" charset="0"/>
              <a:ea typeface="ヒラギノ角ゴ Pro W3"/>
              <a:cs typeface="ヒラギノ角ゴ Pro W3"/>
            </a:endParaRPr>
          </a:p>
        </p:txBody>
      </p:sp>
      <p:pic>
        <p:nvPicPr>
          <p:cNvPr id="6146" name="Picture 2" descr="E:\Users\cilima\Pictures\NAT_marca_lilas_tododia-01.jpg"/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2574" y="60930"/>
            <a:ext cx="445427" cy="445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4981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pt-BR" sz="2000" b="0" kern="1200" smtClean="0">
          <a:solidFill>
            <a:srgbClr val="62568B"/>
          </a:solidFill>
          <a:latin typeface="Gill Sans Std" pitchFamily="34" charset="0"/>
          <a:ea typeface="+mn-ea"/>
          <a:cs typeface="+mn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5pPr>
      <a:lvl6pPr marL="404995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6pPr>
      <a:lvl7pPr marL="809956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7pPr>
      <a:lvl8pPr marL="1214942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8pPr>
      <a:lvl9pPr marL="1619924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9pPr>
    </p:titleStyle>
    <p:bodyStyle>
      <a:lvl1pPr marL="202496" indent="-202496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Char char="•"/>
        <a:tabLst>
          <a:tab pos="2126161" algn="l"/>
        </a:tabLst>
        <a:defRPr lang="pt-BR" sz="1200" kern="1200" smtClean="0">
          <a:solidFill>
            <a:srgbClr val="000000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403586" indent="-199681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–"/>
        <a:tabLst>
          <a:tab pos="2126161" algn="l"/>
        </a:tabLst>
        <a:defRPr lang="pt-BR" sz="1200" kern="1200" smtClean="0">
          <a:solidFill>
            <a:srgbClr val="000000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606078" indent="-201087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-"/>
        <a:tabLst>
          <a:tab pos="2126161" algn="l"/>
        </a:tabLst>
        <a:defRPr lang="pt-BR" sz="1200" kern="1200" smtClean="0">
          <a:solidFill>
            <a:srgbClr val="000000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808555" indent="-201087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–"/>
        <a:tabLst>
          <a:tab pos="2126161" algn="l"/>
        </a:tabLst>
        <a:defRPr lang="pt-BR" sz="1200" kern="1200" smtClean="0">
          <a:solidFill>
            <a:srgbClr val="000000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011053" indent="-201087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2126161" algn="l"/>
        </a:tabLst>
        <a:defRPr lang="pt-BR" sz="1200" kern="1200" smtClean="0">
          <a:solidFill>
            <a:srgbClr val="000000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1416032" indent="-201087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2126161" algn="l"/>
        </a:tabLst>
        <a:defRPr sz="1200">
          <a:solidFill>
            <a:schemeClr val="tx1"/>
          </a:solidFill>
          <a:latin typeface="+mn-lt"/>
        </a:defRPr>
      </a:lvl6pPr>
      <a:lvl7pPr marL="1821020" indent="-201087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2126161" algn="l"/>
        </a:tabLst>
        <a:defRPr sz="1200">
          <a:solidFill>
            <a:schemeClr val="tx1"/>
          </a:solidFill>
          <a:latin typeface="+mn-lt"/>
        </a:defRPr>
      </a:lvl7pPr>
      <a:lvl8pPr marL="2226002" indent="-201087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2126161" algn="l"/>
        </a:tabLst>
        <a:defRPr sz="1200">
          <a:solidFill>
            <a:schemeClr val="tx1"/>
          </a:solidFill>
          <a:latin typeface="+mn-lt"/>
        </a:defRPr>
      </a:lvl8pPr>
      <a:lvl9pPr marL="2630981" indent="-201087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2126161" algn="l"/>
        </a:tabLst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80995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4995" algn="l" defTabSz="80995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09956" algn="l" defTabSz="80995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14942" algn="l" defTabSz="80995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19924" algn="l" defTabSz="80995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24912" algn="l" defTabSz="80995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29893" algn="l" defTabSz="80995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34875" algn="l" defTabSz="80995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39857" algn="l" defTabSz="80995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5" Type="http://schemas.openxmlformats.org/officeDocument/2006/relationships/slide" Target="slide4.xml"/><Relationship Id="rId4" Type="http://schemas.openxmlformats.org/officeDocument/2006/relationships/image" Target="../media/image1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6" Type="http://schemas.openxmlformats.org/officeDocument/2006/relationships/slide" Target="slide4.xml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emf"/><Relationship Id="rId4" Type="http://schemas.openxmlformats.org/officeDocument/2006/relationships/image" Target="../media/image27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 hidden="1"/>
          <p:cNvSpPr/>
          <p:nvPr/>
        </p:nvSpPr>
        <p:spPr>
          <a:xfrm>
            <a:off x="0" y="0"/>
            <a:ext cx="9144000" cy="51459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58" tIns="45680" rIns="91358" bIns="45680"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80" y="676485"/>
            <a:ext cx="514350" cy="3792120"/>
          </a:xfrm>
          <a:prstGeom prst="rect">
            <a:avLst/>
          </a:prstGeom>
        </p:spPr>
      </p:pic>
      <p:sp>
        <p:nvSpPr>
          <p:cNvPr id="42" name="CaixaDeTexto 41"/>
          <p:cNvSpPr txBox="1"/>
          <p:nvPr/>
        </p:nvSpPr>
        <p:spPr>
          <a:xfrm>
            <a:off x="1080186" y="1807231"/>
            <a:ext cx="7333829" cy="830916"/>
          </a:xfrm>
          <a:prstGeom prst="rect">
            <a:avLst/>
          </a:prstGeom>
          <a:noFill/>
        </p:spPr>
        <p:txBody>
          <a:bodyPr wrap="none" lIns="91358" tIns="45680" rIns="91358" bIns="45680" rtlCol="0">
            <a:spAutoFit/>
          </a:bodyPr>
          <a:lstStyle/>
          <a:p>
            <a:pPr algn="r"/>
            <a:r>
              <a:rPr lang="pt-BR" sz="3200" dirty="0" smtClean="0">
                <a:solidFill>
                  <a:prstClr val="white"/>
                </a:solidFill>
                <a:latin typeface="Gill Sans Std ExtraBold" pitchFamily="34" charset="0"/>
              </a:rPr>
              <a:t>VP TD Informação de Chamados</a:t>
            </a:r>
          </a:p>
          <a:p>
            <a:pPr algn="r"/>
            <a:r>
              <a:rPr lang="pt-BR" sz="1600" dirty="0" smtClean="0">
                <a:solidFill>
                  <a:prstClr val="white"/>
                </a:solidFill>
                <a:latin typeface="Gill Sans Std ExtraBold" pitchFamily="34" charset="0"/>
              </a:rPr>
              <a:t>Junho </a:t>
            </a:r>
            <a:r>
              <a:rPr lang="pt-BR" sz="1600" dirty="0">
                <a:solidFill>
                  <a:prstClr val="white"/>
                </a:solidFill>
                <a:latin typeface="Gill Sans Std ExtraBold" pitchFamily="34" charset="0"/>
              </a:rPr>
              <a:t>2015</a:t>
            </a:r>
          </a:p>
        </p:txBody>
      </p:sp>
      <p:grpSp>
        <p:nvGrpSpPr>
          <p:cNvPr id="43" name="Grupo 42"/>
          <p:cNvGrpSpPr/>
          <p:nvPr/>
        </p:nvGrpSpPr>
        <p:grpSpPr>
          <a:xfrm>
            <a:off x="7444046" y="3924140"/>
            <a:ext cx="933450" cy="854339"/>
            <a:chOff x="6775450" y="676275"/>
            <a:chExt cx="933450" cy="854075"/>
          </a:xfrm>
        </p:grpSpPr>
        <p:sp>
          <p:nvSpPr>
            <p:cNvPr id="44" name="Freeform 5"/>
            <p:cNvSpPr>
              <a:spLocks noEditPoints="1"/>
            </p:cNvSpPr>
            <p:nvPr/>
          </p:nvSpPr>
          <p:spPr bwMode="auto">
            <a:xfrm>
              <a:off x="6775450" y="1422400"/>
              <a:ext cx="63500" cy="107950"/>
            </a:xfrm>
            <a:custGeom>
              <a:avLst/>
              <a:gdLst>
                <a:gd name="T0" fmla="*/ 8 w 40"/>
                <a:gd name="T1" fmla="*/ 26 h 68"/>
                <a:gd name="T2" fmla="*/ 8 w 40"/>
                <a:gd name="T3" fmla="*/ 26 h 68"/>
                <a:gd name="T4" fmla="*/ 14 w 40"/>
                <a:gd name="T5" fmla="*/ 22 h 68"/>
                <a:gd name="T6" fmla="*/ 20 w 40"/>
                <a:gd name="T7" fmla="*/ 22 h 68"/>
                <a:gd name="T8" fmla="*/ 20 w 40"/>
                <a:gd name="T9" fmla="*/ 22 h 68"/>
                <a:gd name="T10" fmla="*/ 28 w 40"/>
                <a:gd name="T11" fmla="*/ 24 h 68"/>
                <a:gd name="T12" fmla="*/ 34 w 40"/>
                <a:gd name="T13" fmla="*/ 28 h 68"/>
                <a:gd name="T14" fmla="*/ 38 w 40"/>
                <a:gd name="T15" fmla="*/ 36 h 68"/>
                <a:gd name="T16" fmla="*/ 40 w 40"/>
                <a:gd name="T17" fmla="*/ 44 h 68"/>
                <a:gd name="T18" fmla="*/ 40 w 40"/>
                <a:gd name="T19" fmla="*/ 44 h 68"/>
                <a:gd name="T20" fmla="*/ 38 w 40"/>
                <a:gd name="T21" fmla="*/ 54 h 68"/>
                <a:gd name="T22" fmla="*/ 34 w 40"/>
                <a:gd name="T23" fmla="*/ 62 h 68"/>
                <a:gd name="T24" fmla="*/ 26 w 40"/>
                <a:gd name="T25" fmla="*/ 66 h 68"/>
                <a:gd name="T26" fmla="*/ 16 w 40"/>
                <a:gd name="T27" fmla="*/ 68 h 68"/>
                <a:gd name="T28" fmla="*/ 16 w 40"/>
                <a:gd name="T29" fmla="*/ 68 h 68"/>
                <a:gd name="T30" fmla="*/ 8 w 40"/>
                <a:gd name="T31" fmla="*/ 66 h 68"/>
                <a:gd name="T32" fmla="*/ 0 w 40"/>
                <a:gd name="T33" fmla="*/ 64 h 68"/>
                <a:gd name="T34" fmla="*/ 0 w 40"/>
                <a:gd name="T35" fmla="*/ 0 h 68"/>
                <a:gd name="T36" fmla="*/ 8 w 40"/>
                <a:gd name="T37" fmla="*/ 0 h 68"/>
                <a:gd name="T38" fmla="*/ 8 w 40"/>
                <a:gd name="T39" fmla="*/ 26 h 68"/>
                <a:gd name="T40" fmla="*/ 8 w 40"/>
                <a:gd name="T41" fmla="*/ 58 h 68"/>
                <a:gd name="T42" fmla="*/ 8 w 40"/>
                <a:gd name="T43" fmla="*/ 58 h 68"/>
                <a:gd name="T44" fmla="*/ 18 w 40"/>
                <a:gd name="T45" fmla="*/ 60 h 68"/>
                <a:gd name="T46" fmla="*/ 18 w 40"/>
                <a:gd name="T47" fmla="*/ 60 h 68"/>
                <a:gd name="T48" fmla="*/ 22 w 40"/>
                <a:gd name="T49" fmla="*/ 58 h 68"/>
                <a:gd name="T50" fmla="*/ 28 w 40"/>
                <a:gd name="T51" fmla="*/ 56 h 68"/>
                <a:gd name="T52" fmla="*/ 30 w 40"/>
                <a:gd name="T53" fmla="*/ 50 h 68"/>
                <a:gd name="T54" fmla="*/ 30 w 40"/>
                <a:gd name="T55" fmla="*/ 46 h 68"/>
                <a:gd name="T56" fmla="*/ 30 w 40"/>
                <a:gd name="T57" fmla="*/ 46 h 68"/>
                <a:gd name="T58" fmla="*/ 30 w 40"/>
                <a:gd name="T59" fmla="*/ 38 h 68"/>
                <a:gd name="T60" fmla="*/ 28 w 40"/>
                <a:gd name="T61" fmla="*/ 34 h 68"/>
                <a:gd name="T62" fmla="*/ 24 w 40"/>
                <a:gd name="T63" fmla="*/ 30 h 68"/>
                <a:gd name="T64" fmla="*/ 18 w 40"/>
                <a:gd name="T65" fmla="*/ 30 h 68"/>
                <a:gd name="T66" fmla="*/ 18 w 40"/>
                <a:gd name="T67" fmla="*/ 30 h 68"/>
                <a:gd name="T68" fmla="*/ 14 w 40"/>
                <a:gd name="T69" fmla="*/ 30 h 68"/>
                <a:gd name="T70" fmla="*/ 8 w 40"/>
                <a:gd name="T71" fmla="*/ 34 h 68"/>
                <a:gd name="T72" fmla="*/ 8 w 40"/>
                <a:gd name="T73" fmla="*/ 5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0" h="68">
                  <a:moveTo>
                    <a:pt x="8" y="26"/>
                  </a:moveTo>
                  <a:lnTo>
                    <a:pt x="8" y="26"/>
                  </a:lnTo>
                  <a:lnTo>
                    <a:pt x="14" y="22"/>
                  </a:lnTo>
                  <a:lnTo>
                    <a:pt x="20" y="22"/>
                  </a:lnTo>
                  <a:lnTo>
                    <a:pt x="20" y="22"/>
                  </a:lnTo>
                  <a:lnTo>
                    <a:pt x="28" y="24"/>
                  </a:lnTo>
                  <a:lnTo>
                    <a:pt x="34" y="28"/>
                  </a:lnTo>
                  <a:lnTo>
                    <a:pt x="38" y="36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38" y="54"/>
                  </a:lnTo>
                  <a:lnTo>
                    <a:pt x="34" y="62"/>
                  </a:lnTo>
                  <a:lnTo>
                    <a:pt x="26" y="66"/>
                  </a:lnTo>
                  <a:lnTo>
                    <a:pt x="16" y="68"/>
                  </a:lnTo>
                  <a:lnTo>
                    <a:pt x="16" y="68"/>
                  </a:lnTo>
                  <a:lnTo>
                    <a:pt x="8" y="66"/>
                  </a:lnTo>
                  <a:lnTo>
                    <a:pt x="0" y="64"/>
                  </a:lnTo>
                  <a:lnTo>
                    <a:pt x="0" y="0"/>
                  </a:lnTo>
                  <a:lnTo>
                    <a:pt x="8" y="0"/>
                  </a:lnTo>
                  <a:lnTo>
                    <a:pt x="8" y="26"/>
                  </a:lnTo>
                  <a:close/>
                  <a:moveTo>
                    <a:pt x="8" y="58"/>
                  </a:moveTo>
                  <a:lnTo>
                    <a:pt x="8" y="58"/>
                  </a:lnTo>
                  <a:lnTo>
                    <a:pt x="18" y="60"/>
                  </a:lnTo>
                  <a:lnTo>
                    <a:pt x="18" y="60"/>
                  </a:lnTo>
                  <a:lnTo>
                    <a:pt x="22" y="58"/>
                  </a:lnTo>
                  <a:lnTo>
                    <a:pt x="28" y="56"/>
                  </a:lnTo>
                  <a:lnTo>
                    <a:pt x="30" y="50"/>
                  </a:lnTo>
                  <a:lnTo>
                    <a:pt x="30" y="46"/>
                  </a:lnTo>
                  <a:lnTo>
                    <a:pt x="30" y="46"/>
                  </a:lnTo>
                  <a:lnTo>
                    <a:pt x="30" y="38"/>
                  </a:lnTo>
                  <a:lnTo>
                    <a:pt x="28" y="34"/>
                  </a:lnTo>
                  <a:lnTo>
                    <a:pt x="24" y="30"/>
                  </a:lnTo>
                  <a:lnTo>
                    <a:pt x="18" y="30"/>
                  </a:lnTo>
                  <a:lnTo>
                    <a:pt x="18" y="30"/>
                  </a:lnTo>
                  <a:lnTo>
                    <a:pt x="14" y="30"/>
                  </a:lnTo>
                  <a:lnTo>
                    <a:pt x="8" y="34"/>
                  </a:lnTo>
                  <a:lnTo>
                    <a:pt x="8" y="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  <p:sp>
          <p:nvSpPr>
            <p:cNvPr id="45" name="Freeform 6"/>
            <p:cNvSpPr>
              <a:spLocks noEditPoints="1"/>
            </p:cNvSpPr>
            <p:nvPr/>
          </p:nvSpPr>
          <p:spPr bwMode="auto">
            <a:xfrm>
              <a:off x="6851650" y="1457325"/>
              <a:ext cx="63500" cy="73025"/>
            </a:xfrm>
            <a:custGeom>
              <a:avLst/>
              <a:gdLst>
                <a:gd name="T0" fmla="*/ 38 w 40"/>
                <a:gd name="T1" fmla="*/ 40 h 46"/>
                <a:gd name="T2" fmla="*/ 38 w 40"/>
                <a:gd name="T3" fmla="*/ 40 h 46"/>
                <a:gd name="T4" fmla="*/ 30 w 40"/>
                <a:gd name="T5" fmla="*/ 44 h 46"/>
                <a:gd name="T6" fmla="*/ 20 w 40"/>
                <a:gd name="T7" fmla="*/ 46 h 46"/>
                <a:gd name="T8" fmla="*/ 20 w 40"/>
                <a:gd name="T9" fmla="*/ 46 h 46"/>
                <a:gd name="T10" fmla="*/ 12 w 40"/>
                <a:gd name="T11" fmla="*/ 44 h 46"/>
                <a:gd name="T12" fmla="*/ 4 w 40"/>
                <a:gd name="T13" fmla="*/ 38 h 46"/>
                <a:gd name="T14" fmla="*/ 0 w 40"/>
                <a:gd name="T15" fmla="*/ 32 h 46"/>
                <a:gd name="T16" fmla="*/ 0 w 40"/>
                <a:gd name="T17" fmla="*/ 22 h 46"/>
                <a:gd name="T18" fmla="*/ 0 w 40"/>
                <a:gd name="T19" fmla="*/ 22 h 46"/>
                <a:gd name="T20" fmla="*/ 0 w 40"/>
                <a:gd name="T21" fmla="*/ 14 h 46"/>
                <a:gd name="T22" fmla="*/ 6 w 40"/>
                <a:gd name="T23" fmla="*/ 6 h 46"/>
                <a:gd name="T24" fmla="*/ 12 w 40"/>
                <a:gd name="T25" fmla="*/ 2 h 46"/>
                <a:gd name="T26" fmla="*/ 20 w 40"/>
                <a:gd name="T27" fmla="*/ 0 h 46"/>
                <a:gd name="T28" fmla="*/ 20 w 40"/>
                <a:gd name="T29" fmla="*/ 0 h 46"/>
                <a:gd name="T30" fmla="*/ 28 w 40"/>
                <a:gd name="T31" fmla="*/ 2 h 46"/>
                <a:gd name="T32" fmla="*/ 34 w 40"/>
                <a:gd name="T33" fmla="*/ 6 h 46"/>
                <a:gd name="T34" fmla="*/ 38 w 40"/>
                <a:gd name="T35" fmla="*/ 14 h 46"/>
                <a:gd name="T36" fmla="*/ 40 w 40"/>
                <a:gd name="T37" fmla="*/ 24 h 46"/>
                <a:gd name="T38" fmla="*/ 8 w 40"/>
                <a:gd name="T39" fmla="*/ 24 h 46"/>
                <a:gd name="T40" fmla="*/ 8 w 40"/>
                <a:gd name="T41" fmla="*/ 24 h 46"/>
                <a:gd name="T42" fmla="*/ 10 w 40"/>
                <a:gd name="T43" fmla="*/ 30 h 46"/>
                <a:gd name="T44" fmla="*/ 12 w 40"/>
                <a:gd name="T45" fmla="*/ 34 h 46"/>
                <a:gd name="T46" fmla="*/ 18 w 40"/>
                <a:gd name="T47" fmla="*/ 36 h 46"/>
                <a:gd name="T48" fmla="*/ 24 w 40"/>
                <a:gd name="T49" fmla="*/ 38 h 46"/>
                <a:gd name="T50" fmla="*/ 24 w 40"/>
                <a:gd name="T51" fmla="*/ 38 h 46"/>
                <a:gd name="T52" fmla="*/ 30 w 40"/>
                <a:gd name="T53" fmla="*/ 36 h 46"/>
                <a:gd name="T54" fmla="*/ 38 w 40"/>
                <a:gd name="T55" fmla="*/ 32 h 46"/>
                <a:gd name="T56" fmla="*/ 38 w 40"/>
                <a:gd name="T57" fmla="*/ 40 h 46"/>
                <a:gd name="T58" fmla="*/ 30 w 40"/>
                <a:gd name="T59" fmla="*/ 18 h 46"/>
                <a:gd name="T60" fmla="*/ 30 w 40"/>
                <a:gd name="T61" fmla="*/ 18 h 46"/>
                <a:gd name="T62" fmla="*/ 30 w 40"/>
                <a:gd name="T63" fmla="*/ 14 h 46"/>
                <a:gd name="T64" fmla="*/ 28 w 40"/>
                <a:gd name="T65" fmla="*/ 10 h 46"/>
                <a:gd name="T66" fmla="*/ 24 w 40"/>
                <a:gd name="T67" fmla="*/ 8 h 46"/>
                <a:gd name="T68" fmla="*/ 20 w 40"/>
                <a:gd name="T69" fmla="*/ 8 h 46"/>
                <a:gd name="T70" fmla="*/ 20 w 40"/>
                <a:gd name="T71" fmla="*/ 8 h 46"/>
                <a:gd name="T72" fmla="*/ 16 w 40"/>
                <a:gd name="T73" fmla="*/ 8 h 46"/>
                <a:gd name="T74" fmla="*/ 12 w 40"/>
                <a:gd name="T75" fmla="*/ 10 h 46"/>
                <a:gd name="T76" fmla="*/ 10 w 40"/>
                <a:gd name="T77" fmla="*/ 14 h 46"/>
                <a:gd name="T78" fmla="*/ 8 w 40"/>
                <a:gd name="T79" fmla="*/ 18 h 46"/>
                <a:gd name="T80" fmla="*/ 30 w 40"/>
                <a:gd name="T81" fmla="*/ 18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" h="46">
                  <a:moveTo>
                    <a:pt x="38" y="40"/>
                  </a:moveTo>
                  <a:lnTo>
                    <a:pt x="38" y="40"/>
                  </a:lnTo>
                  <a:lnTo>
                    <a:pt x="30" y="44"/>
                  </a:lnTo>
                  <a:lnTo>
                    <a:pt x="20" y="46"/>
                  </a:lnTo>
                  <a:lnTo>
                    <a:pt x="20" y="46"/>
                  </a:lnTo>
                  <a:lnTo>
                    <a:pt x="12" y="44"/>
                  </a:lnTo>
                  <a:lnTo>
                    <a:pt x="4" y="38"/>
                  </a:lnTo>
                  <a:lnTo>
                    <a:pt x="0" y="3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4"/>
                  </a:lnTo>
                  <a:lnTo>
                    <a:pt x="6" y="6"/>
                  </a:lnTo>
                  <a:lnTo>
                    <a:pt x="12" y="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8" y="2"/>
                  </a:lnTo>
                  <a:lnTo>
                    <a:pt x="34" y="6"/>
                  </a:lnTo>
                  <a:lnTo>
                    <a:pt x="38" y="14"/>
                  </a:lnTo>
                  <a:lnTo>
                    <a:pt x="40" y="24"/>
                  </a:lnTo>
                  <a:lnTo>
                    <a:pt x="8" y="24"/>
                  </a:lnTo>
                  <a:lnTo>
                    <a:pt x="8" y="24"/>
                  </a:lnTo>
                  <a:lnTo>
                    <a:pt x="10" y="30"/>
                  </a:lnTo>
                  <a:lnTo>
                    <a:pt x="12" y="34"/>
                  </a:lnTo>
                  <a:lnTo>
                    <a:pt x="18" y="36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30" y="36"/>
                  </a:lnTo>
                  <a:lnTo>
                    <a:pt x="38" y="32"/>
                  </a:lnTo>
                  <a:lnTo>
                    <a:pt x="38" y="40"/>
                  </a:lnTo>
                  <a:close/>
                  <a:moveTo>
                    <a:pt x="30" y="18"/>
                  </a:moveTo>
                  <a:lnTo>
                    <a:pt x="30" y="18"/>
                  </a:lnTo>
                  <a:lnTo>
                    <a:pt x="30" y="14"/>
                  </a:lnTo>
                  <a:lnTo>
                    <a:pt x="28" y="10"/>
                  </a:lnTo>
                  <a:lnTo>
                    <a:pt x="24" y="8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16" y="8"/>
                  </a:lnTo>
                  <a:lnTo>
                    <a:pt x="12" y="10"/>
                  </a:lnTo>
                  <a:lnTo>
                    <a:pt x="10" y="14"/>
                  </a:lnTo>
                  <a:lnTo>
                    <a:pt x="8" y="18"/>
                  </a:lnTo>
                  <a:lnTo>
                    <a:pt x="30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  <p:sp>
          <p:nvSpPr>
            <p:cNvPr id="46" name="Freeform 7"/>
            <p:cNvSpPr>
              <a:spLocks/>
            </p:cNvSpPr>
            <p:nvPr/>
          </p:nvSpPr>
          <p:spPr bwMode="auto">
            <a:xfrm>
              <a:off x="6927850" y="1457325"/>
              <a:ext cx="101600" cy="69850"/>
            </a:xfrm>
            <a:custGeom>
              <a:avLst/>
              <a:gdLst>
                <a:gd name="T0" fmla="*/ 10 w 64"/>
                <a:gd name="T1" fmla="*/ 0 h 44"/>
                <a:gd name="T2" fmla="*/ 10 w 64"/>
                <a:gd name="T3" fmla="*/ 6 h 44"/>
                <a:gd name="T4" fmla="*/ 10 w 64"/>
                <a:gd name="T5" fmla="*/ 6 h 44"/>
                <a:gd name="T6" fmla="*/ 16 w 64"/>
                <a:gd name="T7" fmla="*/ 2 h 44"/>
                <a:gd name="T8" fmla="*/ 22 w 64"/>
                <a:gd name="T9" fmla="*/ 0 h 44"/>
                <a:gd name="T10" fmla="*/ 22 w 64"/>
                <a:gd name="T11" fmla="*/ 0 h 44"/>
                <a:gd name="T12" fmla="*/ 30 w 64"/>
                <a:gd name="T13" fmla="*/ 2 h 44"/>
                <a:gd name="T14" fmla="*/ 36 w 64"/>
                <a:gd name="T15" fmla="*/ 8 h 44"/>
                <a:gd name="T16" fmla="*/ 36 w 64"/>
                <a:gd name="T17" fmla="*/ 8 h 44"/>
                <a:gd name="T18" fmla="*/ 42 w 64"/>
                <a:gd name="T19" fmla="*/ 2 h 44"/>
                <a:gd name="T20" fmla="*/ 46 w 64"/>
                <a:gd name="T21" fmla="*/ 0 h 44"/>
                <a:gd name="T22" fmla="*/ 50 w 64"/>
                <a:gd name="T23" fmla="*/ 0 h 44"/>
                <a:gd name="T24" fmla="*/ 50 w 64"/>
                <a:gd name="T25" fmla="*/ 0 h 44"/>
                <a:gd name="T26" fmla="*/ 56 w 64"/>
                <a:gd name="T27" fmla="*/ 0 h 44"/>
                <a:gd name="T28" fmla="*/ 60 w 64"/>
                <a:gd name="T29" fmla="*/ 4 h 44"/>
                <a:gd name="T30" fmla="*/ 64 w 64"/>
                <a:gd name="T31" fmla="*/ 10 h 44"/>
                <a:gd name="T32" fmla="*/ 64 w 64"/>
                <a:gd name="T33" fmla="*/ 18 h 44"/>
                <a:gd name="T34" fmla="*/ 64 w 64"/>
                <a:gd name="T35" fmla="*/ 44 h 44"/>
                <a:gd name="T36" fmla="*/ 56 w 64"/>
                <a:gd name="T37" fmla="*/ 44 h 44"/>
                <a:gd name="T38" fmla="*/ 56 w 64"/>
                <a:gd name="T39" fmla="*/ 18 h 44"/>
                <a:gd name="T40" fmla="*/ 56 w 64"/>
                <a:gd name="T41" fmla="*/ 18 h 44"/>
                <a:gd name="T42" fmla="*/ 56 w 64"/>
                <a:gd name="T43" fmla="*/ 14 h 44"/>
                <a:gd name="T44" fmla="*/ 54 w 64"/>
                <a:gd name="T45" fmla="*/ 10 h 44"/>
                <a:gd name="T46" fmla="*/ 50 w 64"/>
                <a:gd name="T47" fmla="*/ 8 h 44"/>
                <a:gd name="T48" fmla="*/ 46 w 64"/>
                <a:gd name="T49" fmla="*/ 8 h 44"/>
                <a:gd name="T50" fmla="*/ 46 w 64"/>
                <a:gd name="T51" fmla="*/ 8 h 44"/>
                <a:gd name="T52" fmla="*/ 42 w 64"/>
                <a:gd name="T53" fmla="*/ 8 h 44"/>
                <a:gd name="T54" fmla="*/ 38 w 64"/>
                <a:gd name="T55" fmla="*/ 12 h 44"/>
                <a:gd name="T56" fmla="*/ 38 w 64"/>
                <a:gd name="T57" fmla="*/ 44 h 44"/>
                <a:gd name="T58" fmla="*/ 28 w 64"/>
                <a:gd name="T59" fmla="*/ 44 h 44"/>
                <a:gd name="T60" fmla="*/ 28 w 64"/>
                <a:gd name="T61" fmla="*/ 18 h 44"/>
                <a:gd name="T62" fmla="*/ 28 w 64"/>
                <a:gd name="T63" fmla="*/ 18 h 44"/>
                <a:gd name="T64" fmla="*/ 28 w 64"/>
                <a:gd name="T65" fmla="*/ 12 h 44"/>
                <a:gd name="T66" fmla="*/ 26 w 64"/>
                <a:gd name="T67" fmla="*/ 10 h 44"/>
                <a:gd name="T68" fmla="*/ 24 w 64"/>
                <a:gd name="T69" fmla="*/ 8 h 44"/>
                <a:gd name="T70" fmla="*/ 20 w 64"/>
                <a:gd name="T71" fmla="*/ 8 h 44"/>
                <a:gd name="T72" fmla="*/ 20 w 64"/>
                <a:gd name="T73" fmla="*/ 8 h 44"/>
                <a:gd name="T74" fmla="*/ 14 w 64"/>
                <a:gd name="T75" fmla="*/ 8 h 44"/>
                <a:gd name="T76" fmla="*/ 10 w 64"/>
                <a:gd name="T77" fmla="*/ 12 h 44"/>
                <a:gd name="T78" fmla="*/ 10 w 64"/>
                <a:gd name="T79" fmla="*/ 44 h 44"/>
                <a:gd name="T80" fmla="*/ 0 w 64"/>
                <a:gd name="T81" fmla="*/ 44 h 44"/>
                <a:gd name="T82" fmla="*/ 0 w 64"/>
                <a:gd name="T83" fmla="*/ 0 h 44"/>
                <a:gd name="T84" fmla="*/ 10 w 64"/>
                <a:gd name="T85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4" h="44">
                  <a:moveTo>
                    <a:pt x="10" y="0"/>
                  </a:moveTo>
                  <a:lnTo>
                    <a:pt x="10" y="6"/>
                  </a:lnTo>
                  <a:lnTo>
                    <a:pt x="10" y="6"/>
                  </a:lnTo>
                  <a:lnTo>
                    <a:pt x="16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30" y="2"/>
                  </a:lnTo>
                  <a:lnTo>
                    <a:pt x="36" y="8"/>
                  </a:lnTo>
                  <a:lnTo>
                    <a:pt x="36" y="8"/>
                  </a:lnTo>
                  <a:lnTo>
                    <a:pt x="42" y="2"/>
                  </a:lnTo>
                  <a:lnTo>
                    <a:pt x="46" y="0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56" y="0"/>
                  </a:lnTo>
                  <a:lnTo>
                    <a:pt x="60" y="4"/>
                  </a:lnTo>
                  <a:lnTo>
                    <a:pt x="64" y="10"/>
                  </a:lnTo>
                  <a:lnTo>
                    <a:pt x="64" y="18"/>
                  </a:lnTo>
                  <a:lnTo>
                    <a:pt x="64" y="44"/>
                  </a:lnTo>
                  <a:lnTo>
                    <a:pt x="56" y="44"/>
                  </a:lnTo>
                  <a:lnTo>
                    <a:pt x="56" y="18"/>
                  </a:lnTo>
                  <a:lnTo>
                    <a:pt x="56" y="18"/>
                  </a:lnTo>
                  <a:lnTo>
                    <a:pt x="56" y="14"/>
                  </a:lnTo>
                  <a:lnTo>
                    <a:pt x="54" y="10"/>
                  </a:lnTo>
                  <a:lnTo>
                    <a:pt x="50" y="8"/>
                  </a:lnTo>
                  <a:lnTo>
                    <a:pt x="46" y="8"/>
                  </a:lnTo>
                  <a:lnTo>
                    <a:pt x="46" y="8"/>
                  </a:lnTo>
                  <a:lnTo>
                    <a:pt x="42" y="8"/>
                  </a:lnTo>
                  <a:lnTo>
                    <a:pt x="38" y="12"/>
                  </a:lnTo>
                  <a:lnTo>
                    <a:pt x="38" y="44"/>
                  </a:lnTo>
                  <a:lnTo>
                    <a:pt x="28" y="44"/>
                  </a:lnTo>
                  <a:lnTo>
                    <a:pt x="28" y="18"/>
                  </a:lnTo>
                  <a:lnTo>
                    <a:pt x="28" y="18"/>
                  </a:lnTo>
                  <a:lnTo>
                    <a:pt x="28" y="12"/>
                  </a:lnTo>
                  <a:lnTo>
                    <a:pt x="26" y="10"/>
                  </a:lnTo>
                  <a:lnTo>
                    <a:pt x="24" y="8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14" y="8"/>
                  </a:lnTo>
                  <a:lnTo>
                    <a:pt x="10" y="12"/>
                  </a:lnTo>
                  <a:lnTo>
                    <a:pt x="10" y="44"/>
                  </a:lnTo>
                  <a:lnTo>
                    <a:pt x="0" y="44"/>
                  </a:lnTo>
                  <a:lnTo>
                    <a:pt x="0" y="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  <p:sp>
          <p:nvSpPr>
            <p:cNvPr id="47" name="Freeform 8"/>
            <p:cNvSpPr>
              <a:spLocks noEditPoints="1"/>
            </p:cNvSpPr>
            <p:nvPr/>
          </p:nvSpPr>
          <p:spPr bwMode="auto">
            <a:xfrm>
              <a:off x="7089775" y="1457325"/>
              <a:ext cx="63500" cy="73025"/>
            </a:xfrm>
            <a:custGeom>
              <a:avLst/>
              <a:gdLst>
                <a:gd name="T0" fmla="*/ 40 w 40"/>
                <a:gd name="T1" fmla="*/ 40 h 46"/>
                <a:gd name="T2" fmla="*/ 40 w 40"/>
                <a:gd name="T3" fmla="*/ 40 h 46"/>
                <a:gd name="T4" fmla="*/ 32 w 40"/>
                <a:gd name="T5" fmla="*/ 44 h 46"/>
                <a:gd name="T6" fmla="*/ 22 w 40"/>
                <a:gd name="T7" fmla="*/ 46 h 46"/>
                <a:gd name="T8" fmla="*/ 22 w 40"/>
                <a:gd name="T9" fmla="*/ 46 h 46"/>
                <a:gd name="T10" fmla="*/ 12 w 40"/>
                <a:gd name="T11" fmla="*/ 44 h 46"/>
                <a:gd name="T12" fmla="*/ 6 w 40"/>
                <a:gd name="T13" fmla="*/ 38 h 46"/>
                <a:gd name="T14" fmla="*/ 2 w 40"/>
                <a:gd name="T15" fmla="*/ 32 h 46"/>
                <a:gd name="T16" fmla="*/ 0 w 40"/>
                <a:gd name="T17" fmla="*/ 22 h 46"/>
                <a:gd name="T18" fmla="*/ 0 w 40"/>
                <a:gd name="T19" fmla="*/ 22 h 46"/>
                <a:gd name="T20" fmla="*/ 2 w 40"/>
                <a:gd name="T21" fmla="*/ 14 h 46"/>
                <a:gd name="T22" fmla="*/ 6 w 40"/>
                <a:gd name="T23" fmla="*/ 6 h 46"/>
                <a:gd name="T24" fmla="*/ 12 w 40"/>
                <a:gd name="T25" fmla="*/ 2 h 46"/>
                <a:gd name="T26" fmla="*/ 22 w 40"/>
                <a:gd name="T27" fmla="*/ 0 h 46"/>
                <a:gd name="T28" fmla="*/ 22 w 40"/>
                <a:gd name="T29" fmla="*/ 0 h 46"/>
                <a:gd name="T30" fmla="*/ 28 w 40"/>
                <a:gd name="T31" fmla="*/ 2 h 46"/>
                <a:gd name="T32" fmla="*/ 36 w 40"/>
                <a:gd name="T33" fmla="*/ 6 h 46"/>
                <a:gd name="T34" fmla="*/ 38 w 40"/>
                <a:gd name="T35" fmla="*/ 14 h 46"/>
                <a:gd name="T36" fmla="*/ 40 w 40"/>
                <a:gd name="T37" fmla="*/ 24 h 46"/>
                <a:gd name="T38" fmla="*/ 10 w 40"/>
                <a:gd name="T39" fmla="*/ 24 h 46"/>
                <a:gd name="T40" fmla="*/ 10 w 40"/>
                <a:gd name="T41" fmla="*/ 24 h 46"/>
                <a:gd name="T42" fmla="*/ 10 w 40"/>
                <a:gd name="T43" fmla="*/ 30 h 46"/>
                <a:gd name="T44" fmla="*/ 14 w 40"/>
                <a:gd name="T45" fmla="*/ 34 h 46"/>
                <a:gd name="T46" fmla="*/ 18 w 40"/>
                <a:gd name="T47" fmla="*/ 36 h 46"/>
                <a:gd name="T48" fmla="*/ 24 w 40"/>
                <a:gd name="T49" fmla="*/ 38 h 46"/>
                <a:gd name="T50" fmla="*/ 24 w 40"/>
                <a:gd name="T51" fmla="*/ 38 h 46"/>
                <a:gd name="T52" fmla="*/ 32 w 40"/>
                <a:gd name="T53" fmla="*/ 36 h 46"/>
                <a:gd name="T54" fmla="*/ 40 w 40"/>
                <a:gd name="T55" fmla="*/ 32 h 46"/>
                <a:gd name="T56" fmla="*/ 40 w 40"/>
                <a:gd name="T57" fmla="*/ 40 h 46"/>
                <a:gd name="T58" fmla="*/ 32 w 40"/>
                <a:gd name="T59" fmla="*/ 18 h 46"/>
                <a:gd name="T60" fmla="*/ 32 w 40"/>
                <a:gd name="T61" fmla="*/ 18 h 46"/>
                <a:gd name="T62" fmla="*/ 30 w 40"/>
                <a:gd name="T63" fmla="*/ 14 h 46"/>
                <a:gd name="T64" fmla="*/ 28 w 40"/>
                <a:gd name="T65" fmla="*/ 10 h 46"/>
                <a:gd name="T66" fmla="*/ 26 w 40"/>
                <a:gd name="T67" fmla="*/ 8 h 46"/>
                <a:gd name="T68" fmla="*/ 22 w 40"/>
                <a:gd name="T69" fmla="*/ 8 h 46"/>
                <a:gd name="T70" fmla="*/ 22 w 40"/>
                <a:gd name="T71" fmla="*/ 8 h 46"/>
                <a:gd name="T72" fmla="*/ 16 w 40"/>
                <a:gd name="T73" fmla="*/ 8 h 46"/>
                <a:gd name="T74" fmla="*/ 14 w 40"/>
                <a:gd name="T75" fmla="*/ 10 h 46"/>
                <a:gd name="T76" fmla="*/ 10 w 40"/>
                <a:gd name="T77" fmla="*/ 14 h 46"/>
                <a:gd name="T78" fmla="*/ 10 w 40"/>
                <a:gd name="T79" fmla="*/ 18 h 46"/>
                <a:gd name="T80" fmla="*/ 32 w 40"/>
                <a:gd name="T81" fmla="*/ 18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" h="46">
                  <a:moveTo>
                    <a:pt x="40" y="40"/>
                  </a:moveTo>
                  <a:lnTo>
                    <a:pt x="40" y="40"/>
                  </a:lnTo>
                  <a:lnTo>
                    <a:pt x="32" y="44"/>
                  </a:lnTo>
                  <a:lnTo>
                    <a:pt x="22" y="46"/>
                  </a:lnTo>
                  <a:lnTo>
                    <a:pt x="22" y="46"/>
                  </a:lnTo>
                  <a:lnTo>
                    <a:pt x="12" y="44"/>
                  </a:lnTo>
                  <a:lnTo>
                    <a:pt x="6" y="38"/>
                  </a:lnTo>
                  <a:lnTo>
                    <a:pt x="2" y="3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14"/>
                  </a:lnTo>
                  <a:lnTo>
                    <a:pt x="6" y="6"/>
                  </a:lnTo>
                  <a:lnTo>
                    <a:pt x="12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8" y="2"/>
                  </a:lnTo>
                  <a:lnTo>
                    <a:pt x="36" y="6"/>
                  </a:lnTo>
                  <a:lnTo>
                    <a:pt x="38" y="14"/>
                  </a:lnTo>
                  <a:lnTo>
                    <a:pt x="40" y="24"/>
                  </a:lnTo>
                  <a:lnTo>
                    <a:pt x="10" y="24"/>
                  </a:lnTo>
                  <a:lnTo>
                    <a:pt x="10" y="24"/>
                  </a:lnTo>
                  <a:lnTo>
                    <a:pt x="10" y="30"/>
                  </a:lnTo>
                  <a:lnTo>
                    <a:pt x="14" y="34"/>
                  </a:lnTo>
                  <a:lnTo>
                    <a:pt x="18" y="36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32" y="36"/>
                  </a:lnTo>
                  <a:lnTo>
                    <a:pt x="40" y="32"/>
                  </a:lnTo>
                  <a:lnTo>
                    <a:pt x="40" y="40"/>
                  </a:lnTo>
                  <a:close/>
                  <a:moveTo>
                    <a:pt x="32" y="18"/>
                  </a:moveTo>
                  <a:lnTo>
                    <a:pt x="32" y="18"/>
                  </a:lnTo>
                  <a:lnTo>
                    <a:pt x="30" y="14"/>
                  </a:lnTo>
                  <a:lnTo>
                    <a:pt x="28" y="10"/>
                  </a:lnTo>
                  <a:lnTo>
                    <a:pt x="26" y="8"/>
                  </a:lnTo>
                  <a:lnTo>
                    <a:pt x="22" y="8"/>
                  </a:lnTo>
                  <a:lnTo>
                    <a:pt x="22" y="8"/>
                  </a:lnTo>
                  <a:lnTo>
                    <a:pt x="16" y="8"/>
                  </a:lnTo>
                  <a:lnTo>
                    <a:pt x="14" y="10"/>
                  </a:lnTo>
                  <a:lnTo>
                    <a:pt x="10" y="14"/>
                  </a:lnTo>
                  <a:lnTo>
                    <a:pt x="10" y="18"/>
                  </a:lnTo>
                  <a:lnTo>
                    <a:pt x="32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  <p:sp>
          <p:nvSpPr>
            <p:cNvPr id="48" name="Freeform 9"/>
            <p:cNvSpPr>
              <a:spLocks/>
            </p:cNvSpPr>
            <p:nvPr/>
          </p:nvSpPr>
          <p:spPr bwMode="auto">
            <a:xfrm>
              <a:off x="7165975" y="1457325"/>
              <a:ext cx="47625" cy="73025"/>
            </a:xfrm>
            <a:custGeom>
              <a:avLst/>
              <a:gdLst>
                <a:gd name="T0" fmla="*/ 28 w 30"/>
                <a:gd name="T1" fmla="*/ 12 h 46"/>
                <a:gd name="T2" fmla="*/ 28 w 30"/>
                <a:gd name="T3" fmla="*/ 12 h 46"/>
                <a:gd name="T4" fmla="*/ 20 w 30"/>
                <a:gd name="T5" fmla="*/ 8 h 46"/>
                <a:gd name="T6" fmla="*/ 14 w 30"/>
                <a:gd name="T7" fmla="*/ 8 h 46"/>
                <a:gd name="T8" fmla="*/ 14 w 30"/>
                <a:gd name="T9" fmla="*/ 8 h 46"/>
                <a:gd name="T10" fmla="*/ 10 w 30"/>
                <a:gd name="T11" fmla="*/ 8 h 46"/>
                <a:gd name="T12" fmla="*/ 8 w 30"/>
                <a:gd name="T13" fmla="*/ 12 h 46"/>
                <a:gd name="T14" fmla="*/ 8 w 30"/>
                <a:gd name="T15" fmla="*/ 12 h 46"/>
                <a:gd name="T16" fmla="*/ 12 w 30"/>
                <a:gd name="T17" fmla="*/ 14 h 46"/>
                <a:gd name="T18" fmla="*/ 20 w 30"/>
                <a:gd name="T19" fmla="*/ 20 h 46"/>
                <a:gd name="T20" fmla="*/ 20 w 30"/>
                <a:gd name="T21" fmla="*/ 20 h 46"/>
                <a:gd name="T22" fmla="*/ 28 w 30"/>
                <a:gd name="T23" fmla="*/ 26 h 46"/>
                <a:gd name="T24" fmla="*/ 30 w 30"/>
                <a:gd name="T25" fmla="*/ 30 h 46"/>
                <a:gd name="T26" fmla="*/ 30 w 30"/>
                <a:gd name="T27" fmla="*/ 32 h 46"/>
                <a:gd name="T28" fmla="*/ 30 w 30"/>
                <a:gd name="T29" fmla="*/ 32 h 46"/>
                <a:gd name="T30" fmla="*/ 28 w 30"/>
                <a:gd name="T31" fmla="*/ 38 h 46"/>
                <a:gd name="T32" fmla="*/ 26 w 30"/>
                <a:gd name="T33" fmla="*/ 42 h 46"/>
                <a:gd name="T34" fmla="*/ 20 w 30"/>
                <a:gd name="T35" fmla="*/ 44 h 46"/>
                <a:gd name="T36" fmla="*/ 16 w 30"/>
                <a:gd name="T37" fmla="*/ 46 h 46"/>
                <a:gd name="T38" fmla="*/ 16 w 30"/>
                <a:gd name="T39" fmla="*/ 46 h 46"/>
                <a:gd name="T40" fmla="*/ 8 w 30"/>
                <a:gd name="T41" fmla="*/ 44 h 46"/>
                <a:gd name="T42" fmla="*/ 0 w 30"/>
                <a:gd name="T43" fmla="*/ 42 h 46"/>
                <a:gd name="T44" fmla="*/ 0 w 30"/>
                <a:gd name="T45" fmla="*/ 32 h 46"/>
                <a:gd name="T46" fmla="*/ 0 w 30"/>
                <a:gd name="T47" fmla="*/ 32 h 46"/>
                <a:gd name="T48" fmla="*/ 8 w 30"/>
                <a:gd name="T49" fmla="*/ 36 h 46"/>
                <a:gd name="T50" fmla="*/ 14 w 30"/>
                <a:gd name="T51" fmla="*/ 38 h 46"/>
                <a:gd name="T52" fmla="*/ 14 w 30"/>
                <a:gd name="T53" fmla="*/ 38 h 46"/>
                <a:gd name="T54" fmla="*/ 18 w 30"/>
                <a:gd name="T55" fmla="*/ 36 h 46"/>
                <a:gd name="T56" fmla="*/ 20 w 30"/>
                <a:gd name="T57" fmla="*/ 34 h 46"/>
                <a:gd name="T58" fmla="*/ 20 w 30"/>
                <a:gd name="T59" fmla="*/ 34 h 46"/>
                <a:gd name="T60" fmla="*/ 20 w 30"/>
                <a:gd name="T61" fmla="*/ 30 h 46"/>
                <a:gd name="T62" fmla="*/ 18 w 30"/>
                <a:gd name="T63" fmla="*/ 28 h 46"/>
                <a:gd name="T64" fmla="*/ 10 w 30"/>
                <a:gd name="T65" fmla="*/ 24 h 46"/>
                <a:gd name="T66" fmla="*/ 4 w 30"/>
                <a:gd name="T67" fmla="*/ 20 h 46"/>
                <a:gd name="T68" fmla="*/ 0 w 30"/>
                <a:gd name="T69" fmla="*/ 16 h 46"/>
                <a:gd name="T70" fmla="*/ 0 w 30"/>
                <a:gd name="T71" fmla="*/ 12 h 46"/>
                <a:gd name="T72" fmla="*/ 0 w 30"/>
                <a:gd name="T73" fmla="*/ 12 h 46"/>
                <a:gd name="T74" fmla="*/ 0 w 30"/>
                <a:gd name="T75" fmla="*/ 6 h 46"/>
                <a:gd name="T76" fmla="*/ 4 w 30"/>
                <a:gd name="T77" fmla="*/ 2 h 46"/>
                <a:gd name="T78" fmla="*/ 8 w 30"/>
                <a:gd name="T79" fmla="*/ 0 h 46"/>
                <a:gd name="T80" fmla="*/ 14 w 30"/>
                <a:gd name="T81" fmla="*/ 0 h 46"/>
                <a:gd name="T82" fmla="*/ 14 w 30"/>
                <a:gd name="T83" fmla="*/ 0 h 46"/>
                <a:gd name="T84" fmla="*/ 20 w 30"/>
                <a:gd name="T85" fmla="*/ 0 h 46"/>
                <a:gd name="T86" fmla="*/ 28 w 30"/>
                <a:gd name="T87" fmla="*/ 4 h 46"/>
                <a:gd name="T88" fmla="*/ 28 w 30"/>
                <a:gd name="T89" fmla="*/ 1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0" h="46">
                  <a:moveTo>
                    <a:pt x="28" y="12"/>
                  </a:moveTo>
                  <a:lnTo>
                    <a:pt x="28" y="12"/>
                  </a:lnTo>
                  <a:lnTo>
                    <a:pt x="20" y="8"/>
                  </a:lnTo>
                  <a:lnTo>
                    <a:pt x="14" y="8"/>
                  </a:lnTo>
                  <a:lnTo>
                    <a:pt x="14" y="8"/>
                  </a:lnTo>
                  <a:lnTo>
                    <a:pt x="10" y="8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12" y="14"/>
                  </a:lnTo>
                  <a:lnTo>
                    <a:pt x="20" y="20"/>
                  </a:lnTo>
                  <a:lnTo>
                    <a:pt x="20" y="20"/>
                  </a:lnTo>
                  <a:lnTo>
                    <a:pt x="28" y="26"/>
                  </a:lnTo>
                  <a:lnTo>
                    <a:pt x="30" y="30"/>
                  </a:lnTo>
                  <a:lnTo>
                    <a:pt x="30" y="32"/>
                  </a:lnTo>
                  <a:lnTo>
                    <a:pt x="30" y="32"/>
                  </a:lnTo>
                  <a:lnTo>
                    <a:pt x="28" y="38"/>
                  </a:lnTo>
                  <a:lnTo>
                    <a:pt x="26" y="42"/>
                  </a:lnTo>
                  <a:lnTo>
                    <a:pt x="20" y="44"/>
                  </a:lnTo>
                  <a:lnTo>
                    <a:pt x="16" y="46"/>
                  </a:lnTo>
                  <a:lnTo>
                    <a:pt x="16" y="46"/>
                  </a:lnTo>
                  <a:lnTo>
                    <a:pt x="8" y="44"/>
                  </a:lnTo>
                  <a:lnTo>
                    <a:pt x="0" y="42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8" y="36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8" y="36"/>
                  </a:lnTo>
                  <a:lnTo>
                    <a:pt x="20" y="34"/>
                  </a:lnTo>
                  <a:lnTo>
                    <a:pt x="20" y="34"/>
                  </a:lnTo>
                  <a:lnTo>
                    <a:pt x="20" y="30"/>
                  </a:lnTo>
                  <a:lnTo>
                    <a:pt x="18" y="28"/>
                  </a:lnTo>
                  <a:lnTo>
                    <a:pt x="10" y="24"/>
                  </a:lnTo>
                  <a:lnTo>
                    <a:pt x="4" y="20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6"/>
                  </a:lnTo>
                  <a:lnTo>
                    <a:pt x="4" y="2"/>
                  </a:lnTo>
                  <a:lnTo>
                    <a:pt x="8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20" y="0"/>
                  </a:lnTo>
                  <a:lnTo>
                    <a:pt x="28" y="4"/>
                  </a:lnTo>
                  <a:lnTo>
                    <a:pt x="28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  <p:sp>
          <p:nvSpPr>
            <p:cNvPr id="49" name="Freeform 10"/>
            <p:cNvSpPr>
              <a:spLocks/>
            </p:cNvSpPr>
            <p:nvPr/>
          </p:nvSpPr>
          <p:spPr bwMode="auto">
            <a:xfrm>
              <a:off x="7219950" y="1444625"/>
              <a:ext cx="50800" cy="85725"/>
            </a:xfrm>
            <a:custGeom>
              <a:avLst/>
              <a:gdLst>
                <a:gd name="T0" fmla="*/ 16 w 32"/>
                <a:gd name="T1" fmla="*/ 8 h 54"/>
                <a:gd name="T2" fmla="*/ 30 w 32"/>
                <a:gd name="T3" fmla="*/ 8 h 54"/>
                <a:gd name="T4" fmla="*/ 30 w 32"/>
                <a:gd name="T5" fmla="*/ 16 h 54"/>
                <a:gd name="T6" fmla="*/ 16 w 32"/>
                <a:gd name="T7" fmla="*/ 16 h 54"/>
                <a:gd name="T8" fmla="*/ 16 w 32"/>
                <a:gd name="T9" fmla="*/ 40 h 54"/>
                <a:gd name="T10" fmla="*/ 16 w 32"/>
                <a:gd name="T11" fmla="*/ 40 h 54"/>
                <a:gd name="T12" fmla="*/ 16 w 32"/>
                <a:gd name="T13" fmla="*/ 42 h 54"/>
                <a:gd name="T14" fmla="*/ 18 w 32"/>
                <a:gd name="T15" fmla="*/ 44 h 54"/>
                <a:gd name="T16" fmla="*/ 22 w 32"/>
                <a:gd name="T17" fmla="*/ 46 h 54"/>
                <a:gd name="T18" fmla="*/ 22 w 32"/>
                <a:gd name="T19" fmla="*/ 46 h 54"/>
                <a:gd name="T20" fmla="*/ 28 w 32"/>
                <a:gd name="T21" fmla="*/ 46 h 54"/>
                <a:gd name="T22" fmla="*/ 32 w 32"/>
                <a:gd name="T23" fmla="*/ 42 h 54"/>
                <a:gd name="T24" fmla="*/ 32 w 32"/>
                <a:gd name="T25" fmla="*/ 50 h 54"/>
                <a:gd name="T26" fmla="*/ 32 w 32"/>
                <a:gd name="T27" fmla="*/ 50 h 54"/>
                <a:gd name="T28" fmla="*/ 22 w 32"/>
                <a:gd name="T29" fmla="*/ 54 h 54"/>
                <a:gd name="T30" fmla="*/ 22 w 32"/>
                <a:gd name="T31" fmla="*/ 54 h 54"/>
                <a:gd name="T32" fmla="*/ 16 w 32"/>
                <a:gd name="T33" fmla="*/ 52 h 54"/>
                <a:gd name="T34" fmla="*/ 10 w 32"/>
                <a:gd name="T35" fmla="*/ 50 h 54"/>
                <a:gd name="T36" fmla="*/ 8 w 32"/>
                <a:gd name="T37" fmla="*/ 46 h 54"/>
                <a:gd name="T38" fmla="*/ 8 w 32"/>
                <a:gd name="T39" fmla="*/ 40 h 54"/>
                <a:gd name="T40" fmla="*/ 8 w 32"/>
                <a:gd name="T41" fmla="*/ 16 h 54"/>
                <a:gd name="T42" fmla="*/ 0 w 32"/>
                <a:gd name="T43" fmla="*/ 16 h 54"/>
                <a:gd name="T44" fmla="*/ 0 w 32"/>
                <a:gd name="T45" fmla="*/ 16 h 54"/>
                <a:gd name="T46" fmla="*/ 16 w 32"/>
                <a:gd name="T47" fmla="*/ 0 h 54"/>
                <a:gd name="T48" fmla="*/ 16 w 32"/>
                <a:gd name="T49" fmla="*/ 8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2" h="54">
                  <a:moveTo>
                    <a:pt x="16" y="8"/>
                  </a:moveTo>
                  <a:lnTo>
                    <a:pt x="30" y="8"/>
                  </a:lnTo>
                  <a:lnTo>
                    <a:pt x="30" y="16"/>
                  </a:lnTo>
                  <a:lnTo>
                    <a:pt x="16" y="16"/>
                  </a:lnTo>
                  <a:lnTo>
                    <a:pt x="16" y="40"/>
                  </a:lnTo>
                  <a:lnTo>
                    <a:pt x="16" y="40"/>
                  </a:lnTo>
                  <a:lnTo>
                    <a:pt x="16" y="42"/>
                  </a:lnTo>
                  <a:lnTo>
                    <a:pt x="18" y="44"/>
                  </a:lnTo>
                  <a:lnTo>
                    <a:pt x="22" y="46"/>
                  </a:lnTo>
                  <a:lnTo>
                    <a:pt x="22" y="46"/>
                  </a:lnTo>
                  <a:lnTo>
                    <a:pt x="28" y="46"/>
                  </a:lnTo>
                  <a:lnTo>
                    <a:pt x="32" y="42"/>
                  </a:lnTo>
                  <a:lnTo>
                    <a:pt x="32" y="50"/>
                  </a:lnTo>
                  <a:lnTo>
                    <a:pt x="32" y="50"/>
                  </a:lnTo>
                  <a:lnTo>
                    <a:pt x="22" y="54"/>
                  </a:lnTo>
                  <a:lnTo>
                    <a:pt x="22" y="54"/>
                  </a:lnTo>
                  <a:lnTo>
                    <a:pt x="16" y="52"/>
                  </a:lnTo>
                  <a:lnTo>
                    <a:pt x="10" y="50"/>
                  </a:lnTo>
                  <a:lnTo>
                    <a:pt x="8" y="46"/>
                  </a:lnTo>
                  <a:lnTo>
                    <a:pt x="8" y="40"/>
                  </a:lnTo>
                  <a:lnTo>
                    <a:pt x="8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16" y="0"/>
                  </a:lnTo>
                  <a:lnTo>
                    <a:pt x="16" y="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  <p:sp>
          <p:nvSpPr>
            <p:cNvPr id="50" name="Freeform 11"/>
            <p:cNvSpPr>
              <a:spLocks noEditPoints="1"/>
            </p:cNvSpPr>
            <p:nvPr/>
          </p:nvSpPr>
          <p:spPr bwMode="auto">
            <a:xfrm>
              <a:off x="7277100" y="1457325"/>
              <a:ext cx="60325" cy="73025"/>
            </a:xfrm>
            <a:custGeom>
              <a:avLst/>
              <a:gdLst>
                <a:gd name="T0" fmla="*/ 38 w 38"/>
                <a:gd name="T1" fmla="*/ 42 h 46"/>
                <a:gd name="T2" fmla="*/ 38 w 38"/>
                <a:gd name="T3" fmla="*/ 42 h 46"/>
                <a:gd name="T4" fmla="*/ 32 w 38"/>
                <a:gd name="T5" fmla="*/ 46 h 46"/>
                <a:gd name="T6" fmla="*/ 28 w 38"/>
                <a:gd name="T7" fmla="*/ 46 h 46"/>
                <a:gd name="T8" fmla="*/ 28 w 38"/>
                <a:gd name="T9" fmla="*/ 46 h 46"/>
                <a:gd name="T10" fmla="*/ 24 w 38"/>
                <a:gd name="T11" fmla="*/ 44 h 46"/>
                <a:gd name="T12" fmla="*/ 22 w 38"/>
                <a:gd name="T13" fmla="*/ 42 h 46"/>
                <a:gd name="T14" fmla="*/ 22 w 38"/>
                <a:gd name="T15" fmla="*/ 42 h 46"/>
                <a:gd name="T16" fmla="*/ 16 w 38"/>
                <a:gd name="T17" fmla="*/ 44 h 46"/>
                <a:gd name="T18" fmla="*/ 10 w 38"/>
                <a:gd name="T19" fmla="*/ 46 h 46"/>
                <a:gd name="T20" fmla="*/ 10 w 38"/>
                <a:gd name="T21" fmla="*/ 46 h 46"/>
                <a:gd name="T22" fmla="*/ 6 w 38"/>
                <a:gd name="T23" fmla="*/ 44 h 46"/>
                <a:gd name="T24" fmla="*/ 2 w 38"/>
                <a:gd name="T25" fmla="*/ 42 h 46"/>
                <a:gd name="T26" fmla="*/ 0 w 38"/>
                <a:gd name="T27" fmla="*/ 40 h 46"/>
                <a:gd name="T28" fmla="*/ 0 w 38"/>
                <a:gd name="T29" fmla="*/ 36 h 46"/>
                <a:gd name="T30" fmla="*/ 0 w 38"/>
                <a:gd name="T31" fmla="*/ 36 h 46"/>
                <a:gd name="T32" fmla="*/ 0 w 38"/>
                <a:gd name="T33" fmla="*/ 30 h 46"/>
                <a:gd name="T34" fmla="*/ 4 w 38"/>
                <a:gd name="T35" fmla="*/ 26 h 46"/>
                <a:gd name="T36" fmla="*/ 14 w 38"/>
                <a:gd name="T37" fmla="*/ 20 h 46"/>
                <a:gd name="T38" fmla="*/ 22 w 38"/>
                <a:gd name="T39" fmla="*/ 18 h 46"/>
                <a:gd name="T40" fmla="*/ 22 w 38"/>
                <a:gd name="T41" fmla="*/ 16 h 46"/>
                <a:gd name="T42" fmla="*/ 22 w 38"/>
                <a:gd name="T43" fmla="*/ 16 h 46"/>
                <a:gd name="T44" fmla="*/ 22 w 38"/>
                <a:gd name="T45" fmla="*/ 12 h 46"/>
                <a:gd name="T46" fmla="*/ 20 w 38"/>
                <a:gd name="T47" fmla="*/ 10 h 46"/>
                <a:gd name="T48" fmla="*/ 18 w 38"/>
                <a:gd name="T49" fmla="*/ 8 h 46"/>
                <a:gd name="T50" fmla="*/ 14 w 38"/>
                <a:gd name="T51" fmla="*/ 8 h 46"/>
                <a:gd name="T52" fmla="*/ 14 w 38"/>
                <a:gd name="T53" fmla="*/ 8 h 46"/>
                <a:gd name="T54" fmla="*/ 6 w 38"/>
                <a:gd name="T55" fmla="*/ 10 h 46"/>
                <a:gd name="T56" fmla="*/ 0 w 38"/>
                <a:gd name="T57" fmla="*/ 16 h 46"/>
                <a:gd name="T58" fmla="*/ 0 w 38"/>
                <a:gd name="T59" fmla="*/ 6 h 46"/>
                <a:gd name="T60" fmla="*/ 0 w 38"/>
                <a:gd name="T61" fmla="*/ 6 h 46"/>
                <a:gd name="T62" fmla="*/ 6 w 38"/>
                <a:gd name="T63" fmla="*/ 2 h 46"/>
                <a:gd name="T64" fmla="*/ 14 w 38"/>
                <a:gd name="T65" fmla="*/ 0 h 46"/>
                <a:gd name="T66" fmla="*/ 14 w 38"/>
                <a:gd name="T67" fmla="*/ 0 h 46"/>
                <a:gd name="T68" fmla="*/ 20 w 38"/>
                <a:gd name="T69" fmla="*/ 0 h 46"/>
                <a:gd name="T70" fmla="*/ 26 w 38"/>
                <a:gd name="T71" fmla="*/ 4 h 46"/>
                <a:gd name="T72" fmla="*/ 30 w 38"/>
                <a:gd name="T73" fmla="*/ 8 h 46"/>
                <a:gd name="T74" fmla="*/ 30 w 38"/>
                <a:gd name="T75" fmla="*/ 14 h 46"/>
                <a:gd name="T76" fmla="*/ 30 w 38"/>
                <a:gd name="T77" fmla="*/ 38 h 46"/>
                <a:gd name="T78" fmla="*/ 30 w 38"/>
                <a:gd name="T79" fmla="*/ 38 h 46"/>
                <a:gd name="T80" fmla="*/ 32 w 38"/>
                <a:gd name="T81" fmla="*/ 38 h 46"/>
                <a:gd name="T82" fmla="*/ 32 w 38"/>
                <a:gd name="T83" fmla="*/ 40 h 46"/>
                <a:gd name="T84" fmla="*/ 32 w 38"/>
                <a:gd name="T85" fmla="*/ 40 h 46"/>
                <a:gd name="T86" fmla="*/ 38 w 38"/>
                <a:gd name="T87" fmla="*/ 38 h 46"/>
                <a:gd name="T88" fmla="*/ 38 w 38"/>
                <a:gd name="T89" fmla="*/ 42 h 46"/>
                <a:gd name="T90" fmla="*/ 22 w 38"/>
                <a:gd name="T91" fmla="*/ 24 h 46"/>
                <a:gd name="T92" fmla="*/ 22 w 38"/>
                <a:gd name="T93" fmla="*/ 24 h 46"/>
                <a:gd name="T94" fmla="*/ 12 w 38"/>
                <a:gd name="T95" fmla="*/ 28 h 46"/>
                <a:gd name="T96" fmla="*/ 10 w 38"/>
                <a:gd name="T97" fmla="*/ 30 h 46"/>
                <a:gd name="T98" fmla="*/ 8 w 38"/>
                <a:gd name="T99" fmla="*/ 34 h 46"/>
                <a:gd name="T100" fmla="*/ 8 w 38"/>
                <a:gd name="T101" fmla="*/ 34 h 46"/>
                <a:gd name="T102" fmla="*/ 10 w 38"/>
                <a:gd name="T103" fmla="*/ 38 h 46"/>
                <a:gd name="T104" fmla="*/ 14 w 38"/>
                <a:gd name="T105" fmla="*/ 40 h 46"/>
                <a:gd name="T106" fmla="*/ 14 w 38"/>
                <a:gd name="T107" fmla="*/ 40 h 46"/>
                <a:gd name="T108" fmla="*/ 18 w 38"/>
                <a:gd name="T109" fmla="*/ 38 h 46"/>
                <a:gd name="T110" fmla="*/ 22 w 38"/>
                <a:gd name="T111" fmla="*/ 36 h 46"/>
                <a:gd name="T112" fmla="*/ 22 w 38"/>
                <a:gd name="T113" fmla="*/ 24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8" h="46">
                  <a:moveTo>
                    <a:pt x="38" y="42"/>
                  </a:moveTo>
                  <a:lnTo>
                    <a:pt x="38" y="42"/>
                  </a:lnTo>
                  <a:lnTo>
                    <a:pt x="32" y="46"/>
                  </a:lnTo>
                  <a:lnTo>
                    <a:pt x="28" y="46"/>
                  </a:lnTo>
                  <a:lnTo>
                    <a:pt x="28" y="46"/>
                  </a:lnTo>
                  <a:lnTo>
                    <a:pt x="24" y="44"/>
                  </a:lnTo>
                  <a:lnTo>
                    <a:pt x="22" y="42"/>
                  </a:lnTo>
                  <a:lnTo>
                    <a:pt x="22" y="42"/>
                  </a:lnTo>
                  <a:lnTo>
                    <a:pt x="16" y="44"/>
                  </a:lnTo>
                  <a:lnTo>
                    <a:pt x="10" y="46"/>
                  </a:lnTo>
                  <a:lnTo>
                    <a:pt x="10" y="46"/>
                  </a:lnTo>
                  <a:lnTo>
                    <a:pt x="6" y="44"/>
                  </a:lnTo>
                  <a:lnTo>
                    <a:pt x="2" y="42"/>
                  </a:lnTo>
                  <a:lnTo>
                    <a:pt x="0" y="40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0" y="30"/>
                  </a:lnTo>
                  <a:lnTo>
                    <a:pt x="4" y="26"/>
                  </a:lnTo>
                  <a:lnTo>
                    <a:pt x="14" y="20"/>
                  </a:lnTo>
                  <a:lnTo>
                    <a:pt x="22" y="18"/>
                  </a:lnTo>
                  <a:lnTo>
                    <a:pt x="22" y="16"/>
                  </a:lnTo>
                  <a:lnTo>
                    <a:pt x="22" y="16"/>
                  </a:lnTo>
                  <a:lnTo>
                    <a:pt x="22" y="12"/>
                  </a:lnTo>
                  <a:lnTo>
                    <a:pt x="20" y="10"/>
                  </a:lnTo>
                  <a:lnTo>
                    <a:pt x="18" y="8"/>
                  </a:lnTo>
                  <a:lnTo>
                    <a:pt x="14" y="8"/>
                  </a:lnTo>
                  <a:lnTo>
                    <a:pt x="14" y="8"/>
                  </a:lnTo>
                  <a:lnTo>
                    <a:pt x="6" y="10"/>
                  </a:lnTo>
                  <a:lnTo>
                    <a:pt x="0" y="16"/>
                  </a:lnTo>
                  <a:lnTo>
                    <a:pt x="0" y="6"/>
                  </a:lnTo>
                  <a:lnTo>
                    <a:pt x="0" y="6"/>
                  </a:lnTo>
                  <a:lnTo>
                    <a:pt x="6" y="2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20" y="0"/>
                  </a:lnTo>
                  <a:lnTo>
                    <a:pt x="26" y="4"/>
                  </a:lnTo>
                  <a:lnTo>
                    <a:pt x="30" y="8"/>
                  </a:lnTo>
                  <a:lnTo>
                    <a:pt x="30" y="14"/>
                  </a:lnTo>
                  <a:lnTo>
                    <a:pt x="30" y="38"/>
                  </a:lnTo>
                  <a:lnTo>
                    <a:pt x="30" y="38"/>
                  </a:lnTo>
                  <a:lnTo>
                    <a:pt x="32" y="38"/>
                  </a:lnTo>
                  <a:lnTo>
                    <a:pt x="32" y="40"/>
                  </a:lnTo>
                  <a:lnTo>
                    <a:pt x="32" y="40"/>
                  </a:lnTo>
                  <a:lnTo>
                    <a:pt x="38" y="38"/>
                  </a:lnTo>
                  <a:lnTo>
                    <a:pt x="38" y="42"/>
                  </a:lnTo>
                  <a:close/>
                  <a:moveTo>
                    <a:pt x="22" y="24"/>
                  </a:moveTo>
                  <a:lnTo>
                    <a:pt x="22" y="24"/>
                  </a:lnTo>
                  <a:lnTo>
                    <a:pt x="12" y="28"/>
                  </a:lnTo>
                  <a:lnTo>
                    <a:pt x="10" y="30"/>
                  </a:lnTo>
                  <a:lnTo>
                    <a:pt x="8" y="34"/>
                  </a:lnTo>
                  <a:lnTo>
                    <a:pt x="8" y="34"/>
                  </a:lnTo>
                  <a:lnTo>
                    <a:pt x="10" y="38"/>
                  </a:lnTo>
                  <a:lnTo>
                    <a:pt x="14" y="40"/>
                  </a:lnTo>
                  <a:lnTo>
                    <a:pt x="14" y="40"/>
                  </a:lnTo>
                  <a:lnTo>
                    <a:pt x="18" y="38"/>
                  </a:lnTo>
                  <a:lnTo>
                    <a:pt x="22" y="36"/>
                  </a:lnTo>
                  <a:lnTo>
                    <a:pt x="22" y="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  <p:sp>
          <p:nvSpPr>
            <p:cNvPr id="51" name="Freeform 12"/>
            <p:cNvSpPr>
              <a:spLocks/>
            </p:cNvSpPr>
            <p:nvPr/>
          </p:nvSpPr>
          <p:spPr bwMode="auto">
            <a:xfrm>
              <a:off x="7350125" y="1457325"/>
              <a:ext cx="50800" cy="69850"/>
            </a:xfrm>
            <a:custGeom>
              <a:avLst/>
              <a:gdLst>
                <a:gd name="T0" fmla="*/ 8 w 32"/>
                <a:gd name="T1" fmla="*/ 0 h 44"/>
                <a:gd name="T2" fmla="*/ 8 w 32"/>
                <a:gd name="T3" fmla="*/ 10 h 44"/>
                <a:gd name="T4" fmla="*/ 8 w 32"/>
                <a:gd name="T5" fmla="*/ 10 h 44"/>
                <a:gd name="T6" fmla="*/ 8 w 32"/>
                <a:gd name="T7" fmla="*/ 10 h 44"/>
                <a:gd name="T8" fmla="*/ 14 w 32"/>
                <a:gd name="T9" fmla="*/ 2 h 44"/>
                <a:gd name="T10" fmla="*/ 18 w 32"/>
                <a:gd name="T11" fmla="*/ 0 h 44"/>
                <a:gd name="T12" fmla="*/ 22 w 32"/>
                <a:gd name="T13" fmla="*/ 0 h 44"/>
                <a:gd name="T14" fmla="*/ 22 w 32"/>
                <a:gd name="T15" fmla="*/ 0 h 44"/>
                <a:gd name="T16" fmla="*/ 26 w 32"/>
                <a:gd name="T17" fmla="*/ 2 h 44"/>
                <a:gd name="T18" fmla="*/ 32 w 32"/>
                <a:gd name="T19" fmla="*/ 4 h 44"/>
                <a:gd name="T20" fmla="*/ 28 w 32"/>
                <a:gd name="T21" fmla="*/ 12 h 44"/>
                <a:gd name="T22" fmla="*/ 28 w 32"/>
                <a:gd name="T23" fmla="*/ 12 h 44"/>
                <a:gd name="T24" fmla="*/ 22 w 32"/>
                <a:gd name="T25" fmla="*/ 10 h 44"/>
                <a:gd name="T26" fmla="*/ 20 w 32"/>
                <a:gd name="T27" fmla="*/ 8 h 44"/>
                <a:gd name="T28" fmla="*/ 20 w 32"/>
                <a:gd name="T29" fmla="*/ 8 h 44"/>
                <a:gd name="T30" fmla="*/ 14 w 32"/>
                <a:gd name="T31" fmla="*/ 10 h 44"/>
                <a:gd name="T32" fmla="*/ 12 w 32"/>
                <a:gd name="T33" fmla="*/ 12 h 44"/>
                <a:gd name="T34" fmla="*/ 10 w 32"/>
                <a:gd name="T35" fmla="*/ 16 h 44"/>
                <a:gd name="T36" fmla="*/ 8 w 32"/>
                <a:gd name="T37" fmla="*/ 22 h 44"/>
                <a:gd name="T38" fmla="*/ 8 w 32"/>
                <a:gd name="T39" fmla="*/ 44 h 44"/>
                <a:gd name="T40" fmla="*/ 0 w 32"/>
                <a:gd name="T41" fmla="*/ 44 h 44"/>
                <a:gd name="T42" fmla="*/ 0 w 32"/>
                <a:gd name="T43" fmla="*/ 0 h 44"/>
                <a:gd name="T44" fmla="*/ 8 w 32"/>
                <a:gd name="T45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2" h="44">
                  <a:moveTo>
                    <a:pt x="8" y="0"/>
                  </a:moveTo>
                  <a:lnTo>
                    <a:pt x="8" y="10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14" y="2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6" y="2"/>
                  </a:lnTo>
                  <a:lnTo>
                    <a:pt x="32" y="4"/>
                  </a:lnTo>
                  <a:lnTo>
                    <a:pt x="28" y="12"/>
                  </a:lnTo>
                  <a:lnTo>
                    <a:pt x="28" y="12"/>
                  </a:lnTo>
                  <a:lnTo>
                    <a:pt x="22" y="10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14" y="10"/>
                  </a:lnTo>
                  <a:lnTo>
                    <a:pt x="12" y="12"/>
                  </a:lnTo>
                  <a:lnTo>
                    <a:pt x="10" y="16"/>
                  </a:lnTo>
                  <a:lnTo>
                    <a:pt x="8" y="22"/>
                  </a:lnTo>
                  <a:lnTo>
                    <a:pt x="8" y="44"/>
                  </a:lnTo>
                  <a:lnTo>
                    <a:pt x="0" y="44"/>
                  </a:lnTo>
                  <a:lnTo>
                    <a:pt x="0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  <p:sp>
          <p:nvSpPr>
            <p:cNvPr id="52" name="Freeform 13"/>
            <p:cNvSpPr>
              <a:spLocks noEditPoints="1"/>
            </p:cNvSpPr>
            <p:nvPr/>
          </p:nvSpPr>
          <p:spPr bwMode="auto">
            <a:xfrm>
              <a:off x="7454900" y="1422400"/>
              <a:ext cx="63500" cy="107950"/>
            </a:xfrm>
            <a:custGeom>
              <a:avLst/>
              <a:gdLst>
                <a:gd name="T0" fmla="*/ 8 w 40"/>
                <a:gd name="T1" fmla="*/ 26 h 68"/>
                <a:gd name="T2" fmla="*/ 8 w 40"/>
                <a:gd name="T3" fmla="*/ 26 h 68"/>
                <a:gd name="T4" fmla="*/ 14 w 40"/>
                <a:gd name="T5" fmla="*/ 22 h 68"/>
                <a:gd name="T6" fmla="*/ 20 w 40"/>
                <a:gd name="T7" fmla="*/ 22 h 68"/>
                <a:gd name="T8" fmla="*/ 20 w 40"/>
                <a:gd name="T9" fmla="*/ 22 h 68"/>
                <a:gd name="T10" fmla="*/ 28 w 40"/>
                <a:gd name="T11" fmla="*/ 24 h 68"/>
                <a:gd name="T12" fmla="*/ 34 w 40"/>
                <a:gd name="T13" fmla="*/ 28 h 68"/>
                <a:gd name="T14" fmla="*/ 38 w 40"/>
                <a:gd name="T15" fmla="*/ 36 h 68"/>
                <a:gd name="T16" fmla="*/ 40 w 40"/>
                <a:gd name="T17" fmla="*/ 44 h 68"/>
                <a:gd name="T18" fmla="*/ 40 w 40"/>
                <a:gd name="T19" fmla="*/ 44 h 68"/>
                <a:gd name="T20" fmla="*/ 38 w 40"/>
                <a:gd name="T21" fmla="*/ 54 h 68"/>
                <a:gd name="T22" fmla="*/ 32 w 40"/>
                <a:gd name="T23" fmla="*/ 62 h 68"/>
                <a:gd name="T24" fmla="*/ 26 w 40"/>
                <a:gd name="T25" fmla="*/ 66 h 68"/>
                <a:gd name="T26" fmla="*/ 16 w 40"/>
                <a:gd name="T27" fmla="*/ 68 h 68"/>
                <a:gd name="T28" fmla="*/ 16 w 40"/>
                <a:gd name="T29" fmla="*/ 68 h 68"/>
                <a:gd name="T30" fmla="*/ 6 w 40"/>
                <a:gd name="T31" fmla="*/ 66 h 68"/>
                <a:gd name="T32" fmla="*/ 0 w 40"/>
                <a:gd name="T33" fmla="*/ 64 h 68"/>
                <a:gd name="T34" fmla="*/ 0 w 40"/>
                <a:gd name="T35" fmla="*/ 0 h 68"/>
                <a:gd name="T36" fmla="*/ 8 w 40"/>
                <a:gd name="T37" fmla="*/ 0 h 68"/>
                <a:gd name="T38" fmla="*/ 8 w 40"/>
                <a:gd name="T39" fmla="*/ 26 h 68"/>
                <a:gd name="T40" fmla="*/ 8 w 40"/>
                <a:gd name="T41" fmla="*/ 58 h 68"/>
                <a:gd name="T42" fmla="*/ 8 w 40"/>
                <a:gd name="T43" fmla="*/ 58 h 68"/>
                <a:gd name="T44" fmla="*/ 16 w 40"/>
                <a:gd name="T45" fmla="*/ 60 h 68"/>
                <a:gd name="T46" fmla="*/ 16 w 40"/>
                <a:gd name="T47" fmla="*/ 60 h 68"/>
                <a:gd name="T48" fmla="*/ 22 w 40"/>
                <a:gd name="T49" fmla="*/ 58 h 68"/>
                <a:gd name="T50" fmla="*/ 26 w 40"/>
                <a:gd name="T51" fmla="*/ 56 h 68"/>
                <a:gd name="T52" fmla="*/ 30 w 40"/>
                <a:gd name="T53" fmla="*/ 50 h 68"/>
                <a:gd name="T54" fmla="*/ 30 w 40"/>
                <a:gd name="T55" fmla="*/ 46 h 68"/>
                <a:gd name="T56" fmla="*/ 30 w 40"/>
                <a:gd name="T57" fmla="*/ 46 h 68"/>
                <a:gd name="T58" fmla="*/ 30 w 40"/>
                <a:gd name="T59" fmla="*/ 38 h 68"/>
                <a:gd name="T60" fmla="*/ 26 w 40"/>
                <a:gd name="T61" fmla="*/ 34 h 68"/>
                <a:gd name="T62" fmla="*/ 22 w 40"/>
                <a:gd name="T63" fmla="*/ 30 h 68"/>
                <a:gd name="T64" fmla="*/ 18 w 40"/>
                <a:gd name="T65" fmla="*/ 30 h 68"/>
                <a:gd name="T66" fmla="*/ 18 w 40"/>
                <a:gd name="T67" fmla="*/ 30 h 68"/>
                <a:gd name="T68" fmla="*/ 12 w 40"/>
                <a:gd name="T69" fmla="*/ 30 h 68"/>
                <a:gd name="T70" fmla="*/ 8 w 40"/>
                <a:gd name="T71" fmla="*/ 34 h 68"/>
                <a:gd name="T72" fmla="*/ 8 w 40"/>
                <a:gd name="T73" fmla="*/ 5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0" h="68">
                  <a:moveTo>
                    <a:pt x="8" y="26"/>
                  </a:moveTo>
                  <a:lnTo>
                    <a:pt x="8" y="26"/>
                  </a:lnTo>
                  <a:lnTo>
                    <a:pt x="14" y="22"/>
                  </a:lnTo>
                  <a:lnTo>
                    <a:pt x="20" y="22"/>
                  </a:lnTo>
                  <a:lnTo>
                    <a:pt x="20" y="22"/>
                  </a:lnTo>
                  <a:lnTo>
                    <a:pt x="28" y="24"/>
                  </a:lnTo>
                  <a:lnTo>
                    <a:pt x="34" y="28"/>
                  </a:lnTo>
                  <a:lnTo>
                    <a:pt x="38" y="36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38" y="54"/>
                  </a:lnTo>
                  <a:lnTo>
                    <a:pt x="32" y="62"/>
                  </a:lnTo>
                  <a:lnTo>
                    <a:pt x="26" y="66"/>
                  </a:lnTo>
                  <a:lnTo>
                    <a:pt x="16" y="68"/>
                  </a:lnTo>
                  <a:lnTo>
                    <a:pt x="16" y="68"/>
                  </a:lnTo>
                  <a:lnTo>
                    <a:pt x="6" y="66"/>
                  </a:lnTo>
                  <a:lnTo>
                    <a:pt x="0" y="64"/>
                  </a:lnTo>
                  <a:lnTo>
                    <a:pt x="0" y="0"/>
                  </a:lnTo>
                  <a:lnTo>
                    <a:pt x="8" y="0"/>
                  </a:lnTo>
                  <a:lnTo>
                    <a:pt x="8" y="26"/>
                  </a:lnTo>
                  <a:close/>
                  <a:moveTo>
                    <a:pt x="8" y="58"/>
                  </a:moveTo>
                  <a:lnTo>
                    <a:pt x="8" y="58"/>
                  </a:lnTo>
                  <a:lnTo>
                    <a:pt x="16" y="60"/>
                  </a:lnTo>
                  <a:lnTo>
                    <a:pt x="16" y="60"/>
                  </a:lnTo>
                  <a:lnTo>
                    <a:pt x="22" y="58"/>
                  </a:lnTo>
                  <a:lnTo>
                    <a:pt x="26" y="56"/>
                  </a:lnTo>
                  <a:lnTo>
                    <a:pt x="30" y="50"/>
                  </a:lnTo>
                  <a:lnTo>
                    <a:pt x="30" y="46"/>
                  </a:lnTo>
                  <a:lnTo>
                    <a:pt x="30" y="46"/>
                  </a:lnTo>
                  <a:lnTo>
                    <a:pt x="30" y="38"/>
                  </a:lnTo>
                  <a:lnTo>
                    <a:pt x="26" y="34"/>
                  </a:lnTo>
                  <a:lnTo>
                    <a:pt x="22" y="30"/>
                  </a:lnTo>
                  <a:lnTo>
                    <a:pt x="18" y="30"/>
                  </a:lnTo>
                  <a:lnTo>
                    <a:pt x="18" y="30"/>
                  </a:lnTo>
                  <a:lnTo>
                    <a:pt x="12" y="30"/>
                  </a:lnTo>
                  <a:lnTo>
                    <a:pt x="8" y="34"/>
                  </a:lnTo>
                  <a:lnTo>
                    <a:pt x="8" y="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  <p:sp>
          <p:nvSpPr>
            <p:cNvPr id="53" name="Freeform 14"/>
            <p:cNvSpPr>
              <a:spLocks noEditPoints="1"/>
            </p:cNvSpPr>
            <p:nvPr/>
          </p:nvSpPr>
          <p:spPr bwMode="auto">
            <a:xfrm>
              <a:off x="7527925" y="1457325"/>
              <a:ext cx="63500" cy="73025"/>
            </a:xfrm>
            <a:custGeom>
              <a:avLst/>
              <a:gdLst>
                <a:gd name="T0" fmla="*/ 40 w 40"/>
                <a:gd name="T1" fmla="*/ 40 h 46"/>
                <a:gd name="T2" fmla="*/ 40 w 40"/>
                <a:gd name="T3" fmla="*/ 40 h 46"/>
                <a:gd name="T4" fmla="*/ 32 w 40"/>
                <a:gd name="T5" fmla="*/ 44 h 46"/>
                <a:gd name="T6" fmla="*/ 22 w 40"/>
                <a:gd name="T7" fmla="*/ 46 h 46"/>
                <a:gd name="T8" fmla="*/ 22 w 40"/>
                <a:gd name="T9" fmla="*/ 46 h 46"/>
                <a:gd name="T10" fmla="*/ 14 w 40"/>
                <a:gd name="T11" fmla="*/ 44 h 46"/>
                <a:gd name="T12" fmla="*/ 6 w 40"/>
                <a:gd name="T13" fmla="*/ 38 h 46"/>
                <a:gd name="T14" fmla="*/ 2 w 40"/>
                <a:gd name="T15" fmla="*/ 32 h 46"/>
                <a:gd name="T16" fmla="*/ 0 w 40"/>
                <a:gd name="T17" fmla="*/ 22 h 46"/>
                <a:gd name="T18" fmla="*/ 0 w 40"/>
                <a:gd name="T19" fmla="*/ 22 h 46"/>
                <a:gd name="T20" fmla="*/ 2 w 40"/>
                <a:gd name="T21" fmla="*/ 14 h 46"/>
                <a:gd name="T22" fmla="*/ 6 w 40"/>
                <a:gd name="T23" fmla="*/ 6 h 46"/>
                <a:gd name="T24" fmla="*/ 14 w 40"/>
                <a:gd name="T25" fmla="*/ 2 h 46"/>
                <a:gd name="T26" fmla="*/ 22 w 40"/>
                <a:gd name="T27" fmla="*/ 0 h 46"/>
                <a:gd name="T28" fmla="*/ 22 w 40"/>
                <a:gd name="T29" fmla="*/ 0 h 46"/>
                <a:gd name="T30" fmla="*/ 30 w 40"/>
                <a:gd name="T31" fmla="*/ 2 h 46"/>
                <a:gd name="T32" fmla="*/ 36 w 40"/>
                <a:gd name="T33" fmla="*/ 6 h 46"/>
                <a:gd name="T34" fmla="*/ 40 w 40"/>
                <a:gd name="T35" fmla="*/ 14 h 46"/>
                <a:gd name="T36" fmla="*/ 40 w 40"/>
                <a:gd name="T37" fmla="*/ 24 h 46"/>
                <a:gd name="T38" fmla="*/ 10 w 40"/>
                <a:gd name="T39" fmla="*/ 24 h 46"/>
                <a:gd name="T40" fmla="*/ 10 w 40"/>
                <a:gd name="T41" fmla="*/ 24 h 46"/>
                <a:gd name="T42" fmla="*/ 12 w 40"/>
                <a:gd name="T43" fmla="*/ 30 h 46"/>
                <a:gd name="T44" fmla="*/ 14 w 40"/>
                <a:gd name="T45" fmla="*/ 34 h 46"/>
                <a:gd name="T46" fmla="*/ 18 w 40"/>
                <a:gd name="T47" fmla="*/ 36 h 46"/>
                <a:gd name="T48" fmla="*/ 24 w 40"/>
                <a:gd name="T49" fmla="*/ 38 h 46"/>
                <a:gd name="T50" fmla="*/ 24 w 40"/>
                <a:gd name="T51" fmla="*/ 38 h 46"/>
                <a:gd name="T52" fmla="*/ 32 w 40"/>
                <a:gd name="T53" fmla="*/ 36 h 46"/>
                <a:gd name="T54" fmla="*/ 40 w 40"/>
                <a:gd name="T55" fmla="*/ 32 h 46"/>
                <a:gd name="T56" fmla="*/ 40 w 40"/>
                <a:gd name="T57" fmla="*/ 40 h 46"/>
                <a:gd name="T58" fmla="*/ 32 w 40"/>
                <a:gd name="T59" fmla="*/ 18 h 46"/>
                <a:gd name="T60" fmla="*/ 32 w 40"/>
                <a:gd name="T61" fmla="*/ 18 h 46"/>
                <a:gd name="T62" fmla="*/ 32 w 40"/>
                <a:gd name="T63" fmla="*/ 14 h 46"/>
                <a:gd name="T64" fmla="*/ 30 w 40"/>
                <a:gd name="T65" fmla="*/ 10 h 46"/>
                <a:gd name="T66" fmla="*/ 26 w 40"/>
                <a:gd name="T67" fmla="*/ 8 h 46"/>
                <a:gd name="T68" fmla="*/ 22 w 40"/>
                <a:gd name="T69" fmla="*/ 8 h 46"/>
                <a:gd name="T70" fmla="*/ 22 w 40"/>
                <a:gd name="T71" fmla="*/ 8 h 46"/>
                <a:gd name="T72" fmla="*/ 18 w 40"/>
                <a:gd name="T73" fmla="*/ 8 h 46"/>
                <a:gd name="T74" fmla="*/ 14 w 40"/>
                <a:gd name="T75" fmla="*/ 10 h 46"/>
                <a:gd name="T76" fmla="*/ 12 w 40"/>
                <a:gd name="T77" fmla="*/ 14 h 46"/>
                <a:gd name="T78" fmla="*/ 10 w 40"/>
                <a:gd name="T79" fmla="*/ 18 h 46"/>
                <a:gd name="T80" fmla="*/ 32 w 40"/>
                <a:gd name="T81" fmla="*/ 18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" h="46">
                  <a:moveTo>
                    <a:pt x="40" y="40"/>
                  </a:moveTo>
                  <a:lnTo>
                    <a:pt x="40" y="40"/>
                  </a:lnTo>
                  <a:lnTo>
                    <a:pt x="32" y="44"/>
                  </a:lnTo>
                  <a:lnTo>
                    <a:pt x="22" y="46"/>
                  </a:lnTo>
                  <a:lnTo>
                    <a:pt x="22" y="46"/>
                  </a:lnTo>
                  <a:lnTo>
                    <a:pt x="14" y="44"/>
                  </a:lnTo>
                  <a:lnTo>
                    <a:pt x="6" y="38"/>
                  </a:lnTo>
                  <a:lnTo>
                    <a:pt x="2" y="3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14"/>
                  </a:lnTo>
                  <a:lnTo>
                    <a:pt x="6" y="6"/>
                  </a:lnTo>
                  <a:lnTo>
                    <a:pt x="14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30" y="2"/>
                  </a:lnTo>
                  <a:lnTo>
                    <a:pt x="36" y="6"/>
                  </a:lnTo>
                  <a:lnTo>
                    <a:pt x="40" y="14"/>
                  </a:lnTo>
                  <a:lnTo>
                    <a:pt x="40" y="24"/>
                  </a:lnTo>
                  <a:lnTo>
                    <a:pt x="10" y="24"/>
                  </a:lnTo>
                  <a:lnTo>
                    <a:pt x="10" y="24"/>
                  </a:lnTo>
                  <a:lnTo>
                    <a:pt x="12" y="30"/>
                  </a:lnTo>
                  <a:lnTo>
                    <a:pt x="14" y="34"/>
                  </a:lnTo>
                  <a:lnTo>
                    <a:pt x="18" y="36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32" y="36"/>
                  </a:lnTo>
                  <a:lnTo>
                    <a:pt x="40" y="32"/>
                  </a:lnTo>
                  <a:lnTo>
                    <a:pt x="40" y="40"/>
                  </a:lnTo>
                  <a:close/>
                  <a:moveTo>
                    <a:pt x="32" y="18"/>
                  </a:moveTo>
                  <a:lnTo>
                    <a:pt x="32" y="18"/>
                  </a:lnTo>
                  <a:lnTo>
                    <a:pt x="32" y="14"/>
                  </a:lnTo>
                  <a:lnTo>
                    <a:pt x="30" y="10"/>
                  </a:lnTo>
                  <a:lnTo>
                    <a:pt x="26" y="8"/>
                  </a:lnTo>
                  <a:lnTo>
                    <a:pt x="22" y="8"/>
                  </a:lnTo>
                  <a:lnTo>
                    <a:pt x="22" y="8"/>
                  </a:lnTo>
                  <a:lnTo>
                    <a:pt x="18" y="8"/>
                  </a:lnTo>
                  <a:lnTo>
                    <a:pt x="14" y="10"/>
                  </a:lnTo>
                  <a:lnTo>
                    <a:pt x="12" y="14"/>
                  </a:lnTo>
                  <a:lnTo>
                    <a:pt x="10" y="18"/>
                  </a:lnTo>
                  <a:lnTo>
                    <a:pt x="32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  <p:sp>
          <p:nvSpPr>
            <p:cNvPr id="54" name="Freeform 15"/>
            <p:cNvSpPr>
              <a:spLocks/>
            </p:cNvSpPr>
            <p:nvPr/>
          </p:nvSpPr>
          <p:spPr bwMode="auto">
            <a:xfrm>
              <a:off x="7607300" y="1457325"/>
              <a:ext cx="101600" cy="69850"/>
            </a:xfrm>
            <a:custGeom>
              <a:avLst/>
              <a:gdLst>
                <a:gd name="T0" fmla="*/ 8 w 64"/>
                <a:gd name="T1" fmla="*/ 0 h 44"/>
                <a:gd name="T2" fmla="*/ 8 w 64"/>
                <a:gd name="T3" fmla="*/ 6 h 44"/>
                <a:gd name="T4" fmla="*/ 8 w 64"/>
                <a:gd name="T5" fmla="*/ 6 h 44"/>
                <a:gd name="T6" fmla="*/ 16 w 64"/>
                <a:gd name="T7" fmla="*/ 2 h 44"/>
                <a:gd name="T8" fmla="*/ 22 w 64"/>
                <a:gd name="T9" fmla="*/ 0 h 44"/>
                <a:gd name="T10" fmla="*/ 22 w 64"/>
                <a:gd name="T11" fmla="*/ 0 h 44"/>
                <a:gd name="T12" fmla="*/ 30 w 64"/>
                <a:gd name="T13" fmla="*/ 2 h 44"/>
                <a:gd name="T14" fmla="*/ 34 w 64"/>
                <a:gd name="T15" fmla="*/ 8 h 44"/>
                <a:gd name="T16" fmla="*/ 34 w 64"/>
                <a:gd name="T17" fmla="*/ 8 h 44"/>
                <a:gd name="T18" fmla="*/ 42 w 64"/>
                <a:gd name="T19" fmla="*/ 2 h 44"/>
                <a:gd name="T20" fmla="*/ 46 w 64"/>
                <a:gd name="T21" fmla="*/ 0 h 44"/>
                <a:gd name="T22" fmla="*/ 50 w 64"/>
                <a:gd name="T23" fmla="*/ 0 h 44"/>
                <a:gd name="T24" fmla="*/ 50 w 64"/>
                <a:gd name="T25" fmla="*/ 0 h 44"/>
                <a:gd name="T26" fmla="*/ 56 w 64"/>
                <a:gd name="T27" fmla="*/ 0 h 44"/>
                <a:gd name="T28" fmla="*/ 60 w 64"/>
                <a:gd name="T29" fmla="*/ 4 h 44"/>
                <a:gd name="T30" fmla="*/ 64 w 64"/>
                <a:gd name="T31" fmla="*/ 10 h 44"/>
                <a:gd name="T32" fmla="*/ 64 w 64"/>
                <a:gd name="T33" fmla="*/ 18 h 44"/>
                <a:gd name="T34" fmla="*/ 64 w 64"/>
                <a:gd name="T35" fmla="*/ 44 h 44"/>
                <a:gd name="T36" fmla="*/ 56 w 64"/>
                <a:gd name="T37" fmla="*/ 44 h 44"/>
                <a:gd name="T38" fmla="*/ 56 w 64"/>
                <a:gd name="T39" fmla="*/ 18 h 44"/>
                <a:gd name="T40" fmla="*/ 56 w 64"/>
                <a:gd name="T41" fmla="*/ 18 h 44"/>
                <a:gd name="T42" fmla="*/ 54 w 64"/>
                <a:gd name="T43" fmla="*/ 14 h 44"/>
                <a:gd name="T44" fmla="*/ 52 w 64"/>
                <a:gd name="T45" fmla="*/ 10 h 44"/>
                <a:gd name="T46" fmla="*/ 50 w 64"/>
                <a:gd name="T47" fmla="*/ 8 h 44"/>
                <a:gd name="T48" fmla="*/ 46 w 64"/>
                <a:gd name="T49" fmla="*/ 8 h 44"/>
                <a:gd name="T50" fmla="*/ 46 w 64"/>
                <a:gd name="T51" fmla="*/ 8 h 44"/>
                <a:gd name="T52" fmla="*/ 42 w 64"/>
                <a:gd name="T53" fmla="*/ 8 h 44"/>
                <a:gd name="T54" fmla="*/ 36 w 64"/>
                <a:gd name="T55" fmla="*/ 12 h 44"/>
                <a:gd name="T56" fmla="*/ 36 w 64"/>
                <a:gd name="T57" fmla="*/ 44 h 44"/>
                <a:gd name="T58" fmla="*/ 28 w 64"/>
                <a:gd name="T59" fmla="*/ 44 h 44"/>
                <a:gd name="T60" fmla="*/ 28 w 64"/>
                <a:gd name="T61" fmla="*/ 18 h 44"/>
                <a:gd name="T62" fmla="*/ 28 w 64"/>
                <a:gd name="T63" fmla="*/ 18 h 44"/>
                <a:gd name="T64" fmla="*/ 26 w 64"/>
                <a:gd name="T65" fmla="*/ 12 h 44"/>
                <a:gd name="T66" fmla="*/ 26 w 64"/>
                <a:gd name="T67" fmla="*/ 10 h 44"/>
                <a:gd name="T68" fmla="*/ 22 w 64"/>
                <a:gd name="T69" fmla="*/ 8 h 44"/>
                <a:gd name="T70" fmla="*/ 20 w 64"/>
                <a:gd name="T71" fmla="*/ 8 h 44"/>
                <a:gd name="T72" fmla="*/ 20 w 64"/>
                <a:gd name="T73" fmla="*/ 8 h 44"/>
                <a:gd name="T74" fmla="*/ 14 w 64"/>
                <a:gd name="T75" fmla="*/ 8 h 44"/>
                <a:gd name="T76" fmla="*/ 8 w 64"/>
                <a:gd name="T77" fmla="*/ 12 h 44"/>
                <a:gd name="T78" fmla="*/ 8 w 64"/>
                <a:gd name="T79" fmla="*/ 44 h 44"/>
                <a:gd name="T80" fmla="*/ 0 w 64"/>
                <a:gd name="T81" fmla="*/ 44 h 44"/>
                <a:gd name="T82" fmla="*/ 0 w 64"/>
                <a:gd name="T83" fmla="*/ 0 h 44"/>
                <a:gd name="T84" fmla="*/ 8 w 64"/>
                <a:gd name="T85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4" h="44">
                  <a:moveTo>
                    <a:pt x="8" y="0"/>
                  </a:moveTo>
                  <a:lnTo>
                    <a:pt x="8" y="6"/>
                  </a:lnTo>
                  <a:lnTo>
                    <a:pt x="8" y="6"/>
                  </a:lnTo>
                  <a:lnTo>
                    <a:pt x="16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30" y="2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42" y="2"/>
                  </a:lnTo>
                  <a:lnTo>
                    <a:pt x="46" y="0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56" y="0"/>
                  </a:lnTo>
                  <a:lnTo>
                    <a:pt x="60" y="4"/>
                  </a:lnTo>
                  <a:lnTo>
                    <a:pt x="64" y="10"/>
                  </a:lnTo>
                  <a:lnTo>
                    <a:pt x="64" y="18"/>
                  </a:lnTo>
                  <a:lnTo>
                    <a:pt x="64" y="44"/>
                  </a:lnTo>
                  <a:lnTo>
                    <a:pt x="56" y="44"/>
                  </a:lnTo>
                  <a:lnTo>
                    <a:pt x="56" y="18"/>
                  </a:lnTo>
                  <a:lnTo>
                    <a:pt x="56" y="18"/>
                  </a:lnTo>
                  <a:lnTo>
                    <a:pt x="54" y="14"/>
                  </a:lnTo>
                  <a:lnTo>
                    <a:pt x="52" y="10"/>
                  </a:lnTo>
                  <a:lnTo>
                    <a:pt x="50" y="8"/>
                  </a:lnTo>
                  <a:lnTo>
                    <a:pt x="46" y="8"/>
                  </a:lnTo>
                  <a:lnTo>
                    <a:pt x="46" y="8"/>
                  </a:lnTo>
                  <a:lnTo>
                    <a:pt x="42" y="8"/>
                  </a:lnTo>
                  <a:lnTo>
                    <a:pt x="36" y="12"/>
                  </a:lnTo>
                  <a:lnTo>
                    <a:pt x="36" y="44"/>
                  </a:lnTo>
                  <a:lnTo>
                    <a:pt x="28" y="44"/>
                  </a:lnTo>
                  <a:lnTo>
                    <a:pt x="28" y="18"/>
                  </a:lnTo>
                  <a:lnTo>
                    <a:pt x="28" y="18"/>
                  </a:lnTo>
                  <a:lnTo>
                    <a:pt x="26" y="12"/>
                  </a:lnTo>
                  <a:lnTo>
                    <a:pt x="26" y="10"/>
                  </a:lnTo>
                  <a:lnTo>
                    <a:pt x="22" y="8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14" y="8"/>
                  </a:lnTo>
                  <a:lnTo>
                    <a:pt x="8" y="12"/>
                  </a:lnTo>
                  <a:lnTo>
                    <a:pt x="8" y="44"/>
                  </a:lnTo>
                  <a:lnTo>
                    <a:pt x="0" y="44"/>
                  </a:lnTo>
                  <a:lnTo>
                    <a:pt x="0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  <p:sp>
          <p:nvSpPr>
            <p:cNvPr id="55" name="Freeform 16"/>
            <p:cNvSpPr>
              <a:spLocks/>
            </p:cNvSpPr>
            <p:nvPr/>
          </p:nvSpPr>
          <p:spPr bwMode="auto">
            <a:xfrm>
              <a:off x="6775450" y="1209675"/>
              <a:ext cx="165100" cy="142875"/>
            </a:xfrm>
            <a:custGeom>
              <a:avLst/>
              <a:gdLst>
                <a:gd name="T0" fmla="*/ 52 w 104"/>
                <a:gd name="T1" fmla="*/ 0 h 90"/>
                <a:gd name="T2" fmla="*/ 52 w 104"/>
                <a:gd name="T3" fmla="*/ 0 h 90"/>
                <a:gd name="T4" fmla="*/ 42 w 104"/>
                <a:gd name="T5" fmla="*/ 0 h 90"/>
                <a:gd name="T6" fmla="*/ 32 w 104"/>
                <a:gd name="T7" fmla="*/ 2 h 90"/>
                <a:gd name="T8" fmla="*/ 24 w 104"/>
                <a:gd name="T9" fmla="*/ 6 h 90"/>
                <a:gd name="T10" fmla="*/ 16 w 104"/>
                <a:gd name="T11" fmla="*/ 10 h 90"/>
                <a:gd name="T12" fmla="*/ 10 w 104"/>
                <a:gd name="T13" fmla="*/ 16 h 90"/>
                <a:gd name="T14" fmla="*/ 4 w 104"/>
                <a:gd name="T15" fmla="*/ 24 h 90"/>
                <a:gd name="T16" fmla="*/ 2 w 104"/>
                <a:gd name="T17" fmla="*/ 32 h 90"/>
                <a:gd name="T18" fmla="*/ 0 w 104"/>
                <a:gd name="T19" fmla="*/ 40 h 90"/>
                <a:gd name="T20" fmla="*/ 0 w 104"/>
                <a:gd name="T21" fmla="*/ 90 h 90"/>
                <a:gd name="T22" fmla="*/ 22 w 104"/>
                <a:gd name="T23" fmla="*/ 90 h 90"/>
                <a:gd name="T24" fmla="*/ 22 w 104"/>
                <a:gd name="T25" fmla="*/ 38 h 90"/>
                <a:gd name="T26" fmla="*/ 22 w 104"/>
                <a:gd name="T27" fmla="*/ 38 h 90"/>
                <a:gd name="T28" fmla="*/ 26 w 104"/>
                <a:gd name="T29" fmla="*/ 26 h 90"/>
                <a:gd name="T30" fmla="*/ 32 w 104"/>
                <a:gd name="T31" fmla="*/ 16 h 90"/>
                <a:gd name="T32" fmla="*/ 40 w 104"/>
                <a:gd name="T33" fmla="*/ 10 h 90"/>
                <a:gd name="T34" fmla="*/ 52 w 104"/>
                <a:gd name="T35" fmla="*/ 8 h 90"/>
                <a:gd name="T36" fmla="*/ 52 w 104"/>
                <a:gd name="T37" fmla="*/ 8 h 90"/>
                <a:gd name="T38" fmla="*/ 64 w 104"/>
                <a:gd name="T39" fmla="*/ 10 h 90"/>
                <a:gd name="T40" fmla="*/ 72 w 104"/>
                <a:gd name="T41" fmla="*/ 16 h 90"/>
                <a:gd name="T42" fmla="*/ 78 w 104"/>
                <a:gd name="T43" fmla="*/ 26 h 90"/>
                <a:gd name="T44" fmla="*/ 80 w 104"/>
                <a:gd name="T45" fmla="*/ 38 h 90"/>
                <a:gd name="T46" fmla="*/ 80 w 104"/>
                <a:gd name="T47" fmla="*/ 90 h 90"/>
                <a:gd name="T48" fmla="*/ 104 w 104"/>
                <a:gd name="T49" fmla="*/ 90 h 90"/>
                <a:gd name="T50" fmla="*/ 104 w 104"/>
                <a:gd name="T51" fmla="*/ 40 h 90"/>
                <a:gd name="T52" fmla="*/ 104 w 104"/>
                <a:gd name="T53" fmla="*/ 40 h 90"/>
                <a:gd name="T54" fmla="*/ 102 w 104"/>
                <a:gd name="T55" fmla="*/ 32 h 90"/>
                <a:gd name="T56" fmla="*/ 100 w 104"/>
                <a:gd name="T57" fmla="*/ 24 h 90"/>
                <a:gd name="T58" fmla="*/ 94 w 104"/>
                <a:gd name="T59" fmla="*/ 16 h 90"/>
                <a:gd name="T60" fmla="*/ 88 w 104"/>
                <a:gd name="T61" fmla="*/ 10 h 90"/>
                <a:gd name="T62" fmla="*/ 80 w 104"/>
                <a:gd name="T63" fmla="*/ 6 h 90"/>
                <a:gd name="T64" fmla="*/ 72 w 104"/>
                <a:gd name="T65" fmla="*/ 2 h 90"/>
                <a:gd name="T66" fmla="*/ 62 w 104"/>
                <a:gd name="T67" fmla="*/ 0 h 90"/>
                <a:gd name="T68" fmla="*/ 52 w 104"/>
                <a:gd name="T69" fmla="*/ 0 h 90"/>
                <a:gd name="T70" fmla="*/ 52 w 104"/>
                <a:gd name="T71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4" h="90">
                  <a:moveTo>
                    <a:pt x="52" y="0"/>
                  </a:moveTo>
                  <a:lnTo>
                    <a:pt x="52" y="0"/>
                  </a:lnTo>
                  <a:lnTo>
                    <a:pt x="42" y="0"/>
                  </a:lnTo>
                  <a:lnTo>
                    <a:pt x="32" y="2"/>
                  </a:lnTo>
                  <a:lnTo>
                    <a:pt x="24" y="6"/>
                  </a:lnTo>
                  <a:lnTo>
                    <a:pt x="16" y="10"/>
                  </a:lnTo>
                  <a:lnTo>
                    <a:pt x="10" y="16"/>
                  </a:lnTo>
                  <a:lnTo>
                    <a:pt x="4" y="24"/>
                  </a:lnTo>
                  <a:lnTo>
                    <a:pt x="2" y="32"/>
                  </a:lnTo>
                  <a:lnTo>
                    <a:pt x="0" y="40"/>
                  </a:lnTo>
                  <a:lnTo>
                    <a:pt x="0" y="90"/>
                  </a:lnTo>
                  <a:lnTo>
                    <a:pt x="22" y="90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26" y="26"/>
                  </a:lnTo>
                  <a:lnTo>
                    <a:pt x="32" y="16"/>
                  </a:lnTo>
                  <a:lnTo>
                    <a:pt x="40" y="10"/>
                  </a:lnTo>
                  <a:lnTo>
                    <a:pt x="52" y="8"/>
                  </a:lnTo>
                  <a:lnTo>
                    <a:pt x="52" y="8"/>
                  </a:lnTo>
                  <a:lnTo>
                    <a:pt x="64" y="10"/>
                  </a:lnTo>
                  <a:lnTo>
                    <a:pt x="72" y="16"/>
                  </a:lnTo>
                  <a:lnTo>
                    <a:pt x="78" y="26"/>
                  </a:lnTo>
                  <a:lnTo>
                    <a:pt x="80" y="38"/>
                  </a:lnTo>
                  <a:lnTo>
                    <a:pt x="80" y="90"/>
                  </a:lnTo>
                  <a:lnTo>
                    <a:pt x="104" y="90"/>
                  </a:lnTo>
                  <a:lnTo>
                    <a:pt x="104" y="40"/>
                  </a:lnTo>
                  <a:lnTo>
                    <a:pt x="104" y="40"/>
                  </a:lnTo>
                  <a:lnTo>
                    <a:pt x="102" y="32"/>
                  </a:lnTo>
                  <a:lnTo>
                    <a:pt x="100" y="24"/>
                  </a:lnTo>
                  <a:lnTo>
                    <a:pt x="94" y="16"/>
                  </a:lnTo>
                  <a:lnTo>
                    <a:pt x="88" y="10"/>
                  </a:lnTo>
                  <a:lnTo>
                    <a:pt x="80" y="6"/>
                  </a:lnTo>
                  <a:lnTo>
                    <a:pt x="72" y="2"/>
                  </a:lnTo>
                  <a:lnTo>
                    <a:pt x="62" y="0"/>
                  </a:lnTo>
                  <a:lnTo>
                    <a:pt x="52" y="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  <p:sp>
          <p:nvSpPr>
            <p:cNvPr id="56" name="Freeform 17"/>
            <p:cNvSpPr>
              <a:spLocks/>
            </p:cNvSpPr>
            <p:nvPr/>
          </p:nvSpPr>
          <p:spPr bwMode="auto">
            <a:xfrm>
              <a:off x="7264400" y="1209675"/>
              <a:ext cx="161925" cy="146050"/>
            </a:xfrm>
            <a:custGeom>
              <a:avLst/>
              <a:gdLst>
                <a:gd name="T0" fmla="*/ 50 w 102"/>
                <a:gd name="T1" fmla="*/ 92 h 92"/>
                <a:gd name="T2" fmla="*/ 50 w 102"/>
                <a:gd name="T3" fmla="*/ 92 h 92"/>
                <a:gd name="T4" fmla="*/ 62 w 102"/>
                <a:gd name="T5" fmla="*/ 92 h 92"/>
                <a:gd name="T6" fmla="*/ 70 w 102"/>
                <a:gd name="T7" fmla="*/ 88 h 92"/>
                <a:gd name="T8" fmla="*/ 80 w 102"/>
                <a:gd name="T9" fmla="*/ 86 h 92"/>
                <a:gd name="T10" fmla="*/ 88 w 102"/>
                <a:gd name="T11" fmla="*/ 80 h 92"/>
                <a:gd name="T12" fmla="*/ 94 w 102"/>
                <a:gd name="T13" fmla="*/ 74 h 92"/>
                <a:gd name="T14" fmla="*/ 98 w 102"/>
                <a:gd name="T15" fmla="*/ 68 h 92"/>
                <a:gd name="T16" fmla="*/ 102 w 102"/>
                <a:gd name="T17" fmla="*/ 60 h 92"/>
                <a:gd name="T18" fmla="*/ 102 w 102"/>
                <a:gd name="T19" fmla="*/ 52 h 92"/>
                <a:gd name="T20" fmla="*/ 102 w 102"/>
                <a:gd name="T21" fmla="*/ 0 h 92"/>
                <a:gd name="T22" fmla="*/ 80 w 102"/>
                <a:gd name="T23" fmla="*/ 0 h 92"/>
                <a:gd name="T24" fmla="*/ 80 w 102"/>
                <a:gd name="T25" fmla="*/ 54 h 92"/>
                <a:gd name="T26" fmla="*/ 80 w 102"/>
                <a:gd name="T27" fmla="*/ 54 h 92"/>
                <a:gd name="T28" fmla="*/ 78 w 102"/>
                <a:gd name="T29" fmla="*/ 66 h 92"/>
                <a:gd name="T30" fmla="*/ 72 w 102"/>
                <a:gd name="T31" fmla="*/ 74 h 92"/>
                <a:gd name="T32" fmla="*/ 62 w 102"/>
                <a:gd name="T33" fmla="*/ 80 h 92"/>
                <a:gd name="T34" fmla="*/ 50 w 102"/>
                <a:gd name="T35" fmla="*/ 84 h 92"/>
                <a:gd name="T36" fmla="*/ 50 w 102"/>
                <a:gd name="T37" fmla="*/ 84 h 92"/>
                <a:gd name="T38" fmla="*/ 40 w 102"/>
                <a:gd name="T39" fmla="*/ 80 h 92"/>
                <a:gd name="T40" fmla="*/ 30 w 102"/>
                <a:gd name="T41" fmla="*/ 74 h 92"/>
                <a:gd name="T42" fmla="*/ 24 w 102"/>
                <a:gd name="T43" fmla="*/ 66 h 92"/>
                <a:gd name="T44" fmla="*/ 22 w 102"/>
                <a:gd name="T45" fmla="*/ 54 h 92"/>
                <a:gd name="T46" fmla="*/ 22 w 102"/>
                <a:gd name="T47" fmla="*/ 0 h 92"/>
                <a:gd name="T48" fmla="*/ 0 w 102"/>
                <a:gd name="T49" fmla="*/ 0 h 92"/>
                <a:gd name="T50" fmla="*/ 0 w 102"/>
                <a:gd name="T51" fmla="*/ 52 h 92"/>
                <a:gd name="T52" fmla="*/ 0 w 102"/>
                <a:gd name="T53" fmla="*/ 52 h 92"/>
                <a:gd name="T54" fmla="*/ 0 w 102"/>
                <a:gd name="T55" fmla="*/ 60 h 92"/>
                <a:gd name="T56" fmla="*/ 4 w 102"/>
                <a:gd name="T57" fmla="*/ 68 h 92"/>
                <a:gd name="T58" fmla="*/ 8 w 102"/>
                <a:gd name="T59" fmla="*/ 74 h 92"/>
                <a:gd name="T60" fmla="*/ 14 w 102"/>
                <a:gd name="T61" fmla="*/ 80 h 92"/>
                <a:gd name="T62" fmla="*/ 22 w 102"/>
                <a:gd name="T63" fmla="*/ 86 h 92"/>
                <a:gd name="T64" fmla="*/ 30 w 102"/>
                <a:gd name="T65" fmla="*/ 88 h 92"/>
                <a:gd name="T66" fmla="*/ 40 w 102"/>
                <a:gd name="T67" fmla="*/ 92 h 92"/>
                <a:gd name="T68" fmla="*/ 50 w 102"/>
                <a:gd name="T69" fmla="*/ 92 h 92"/>
                <a:gd name="T70" fmla="*/ 50 w 102"/>
                <a:gd name="T71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2" h="92">
                  <a:moveTo>
                    <a:pt x="50" y="92"/>
                  </a:moveTo>
                  <a:lnTo>
                    <a:pt x="50" y="92"/>
                  </a:lnTo>
                  <a:lnTo>
                    <a:pt x="62" y="92"/>
                  </a:lnTo>
                  <a:lnTo>
                    <a:pt x="70" y="88"/>
                  </a:lnTo>
                  <a:lnTo>
                    <a:pt x="80" y="86"/>
                  </a:lnTo>
                  <a:lnTo>
                    <a:pt x="88" y="80"/>
                  </a:lnTo>
                  <a:lnTo>
                    <a:pt x="94" y="74"/>
                  </a:lnTo>
                  <a:lnTo>
                    <a:pt x="98" y="68"/>
                  </a:lnTo>
                  <a:lnTo>
                    <a:pt x="102" y="60"/>
                  </a:lnTo>
                  <a:lnTo>
                    <a:pt x="102" y="52"/>
                  </a:lnTo>
                  <a:lnTo>
                    <a:pt x="102" y="0"/>
                  </a:lnTo>
                  <a:lnTo>
                    <a:pt x="80" y="0"/>
                  </a:lnTo>
                  <a:lnTo>
                    <a:pt x="80" y="54"/>
                  </a:lnTo>
                  <a:lnTo>
                    <a:pt x="80" y="54"/>
                  </a:lnTo>
                  <a:lnTo>
                    <a:pt x="78" y="66"/>
                  </a:lnTo>
                  <a:lnTo>
                    <a:pt x="72" y="74"/>
                  </a:lnTo>
                  <a:lnTo>
                    <a:pt x="62" y="80"/>
                  </a:lnTo>
                  <a:lnTo>
                    <a:pt x="50" y="84"/>
                  </a:lnTo>
                  <a:lnTo>
                    <a:pt x="50" y="84"/>
                  </a:lnTo>
                  <a:lnTo>
                    <a:pt x="40" y="80"/>
                  </a:lnTo>
                  <a:lnTo>
                    <a:pt x="30" y="74"/>
                  </a:lnTo>
                  <a:lnTo>
                    <a:pt x="24" y="66"/>
                  </a:lnTo>
                  <a:lnTo>
                    <a:pt x="22" y="54"/>
                  </a:lnTo>
                  <a:lnTo>
                    <a:pt x="22" y="0"/>
                  </a:lnTo>
                  <a:lnTo>
                    <a:pt x="0" y="0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0" y="60"/>
                  </a:lnTo>
                  <a:lnTo>
                    <a:pt x="4" y="68"/>
                  </a:lnTo>
                  <a:lnTo>
                    <a:pt x="8" y="74"/>
                  </a:lnTo>
                  <a:lnTo>
                    <a:pt x="14" y="80"/>
                  </a:lnTo>
                  <a:lnTo>
                    <a:pt x="22" y="86"/>
                  </a:lnTo>
                  <a:lnTo>
                    <a:pt x="30" y="88"/>
                  </a:lnTo>
                  <a:lnTo>
                    <a:pt x="40" y="92"/>
                  </a:lnTo>
                  <a:lnTo>
                    <a:pt x="50" y="92"/>
                  </a:lnTo>
                  <a:lnTo>
                    <a:pt x="50" y="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  <p:sp>
          <p:nvSpPr>
            <p:cNvPr id="57" name="Freeform 18"/>
            <p:cNvSpPr>
              <a:spLocks/>
            </p:cNvSpPr>
            <p:nvPr/>
          </p:nvSpPr>
          <p:spPr bwMode="auto">
            <a:xfrm>
              <a:off x="6965950" y="1209675"/>
              <a:ext cx="165100" cy="146050"/>
            </a:xfrm>
            <a:custGeom>
              <a:avLst/>
              <a:gdLst>
                <a:gd name="T0" fmla="*/ 102 w 104"/>
                <a:gd name="T1" fmla="*/ 36 h 92"/>
                <a:gd name="T2" fmla="*/ 96 w 104"/>
                <a:gd name="T3" fmla="*/ 22 h 92"/>
                <a:gd name="T4" fmla="*/ 84 w 104"/>
                <a:gd name="T5" fmla="*/ 10 h 92"/>
                <a:gd name="T6" fmla="*/ 70 w 104"/>
                <a:gd name="T7" fmla="*/ 2 h 92"/>
                <a:gd name="T8" fmla="*/ 52 w 104"/>
                <a:gd name="T9" fmla="*/ 0 h 92"/>
                <a:gd name="T10" fmla="*/ 42 w 104"/>
                <a:gd name="T11" fmla="*/ 2 h 92"/>
                <a:gd name="T12" fmla="*/ 22 w 104"/>
                <a:gd name="T13" fmla="*/ 8 h 92"/>
                <a:gd name="T14" fmla="*/ 8 w 104"/>
                <a:gd name="T15" fmla="*/ 20 h 92"/>
                <a:gd name="T16" fmla="*/ 0 w 104"/>
                <a:gd name="T17" fmla="*/ 38 h 92"/>
                <a:gd name="T18" fmla="*/ 0 w 104"/>
                <a:gd name="T19" fmla="*/ 46 h 92"/>
                <a:gd name="T20" fmla="*/ 4 w 104"/>
                <a:gd name="T21" fmla="*/ 64 h 92"/>
                <a:gd name="T22" fmla="*/ 14 w 104"/>
                <a:gd name="T23" fmla="*/ 78 h 92"/>
                <a:gd name="T24" fmla="*/ 30 w 104"/>
                <a:gd name="T25" fmla="*/ 88 h 92"/>
                <a:gd name="T26" fmla="*/ 50 w 104"/>
                <a:gd name="T27" fmla="*/ 92 h 92"/>
                <a:gd name="T28" fmla="*/ 62 w 104"/>
                <a:gd name="T29" fmla="*/ 90 h 92"/>
                <a:gd name="T30" fmla="*/ 74 w 104"/>
                <a:gd name="T31" fmla="*/ 76 h 92"/>
                <a:gd name="T32" fmla="*/ 70 w 104"/>
                <a:gd name="T33" fmla="*/ 78 h 92"/>
                <a:gd name="T34" fmla="*/ 52 w 104"/>
                <a:gd name="T35" fmla="*/ 80 h 92"/>
                <a:gd name="T36" fmla="*/ 44 w 104"/>
                <a:gd name="T37" fmla="*/ 80 h 92"/>
                <a:gd name="T38" fmla="*/ 32 w 104"/>
                <a:gd name="T39" fmla="*/ 74 h 92"/>
                <a:gd name="T40" fmla="*/ 24 w 104"/>
                <a:gd name="T41" fmla="*/ 56 h 92"/>
                <a:gd name="T42" fmla="*/ 24 w 104"/>
                <a:gd name="T43" fmla="*/ 46 h 92"/>
                <a:gd name="T44" fmla="*/ 28 w 104"/>
                <a:gd name="T45" fmla="*/ 22 h 92"/>
                <a:gd name="T46" fmla="*/ 36 w 104"/>
                <a:gd name="T47" fmla="*/ 12 h 92"/>
                <a:gd name="T48" fmla="*/ 52 w 104"/>
                <a:gd name="T49" fmla="*/ 8 h 92"/>
                <a:gd name="T50" fmla="*/ 60 w 104"/>
                <a:gd name="T51" fmla="*/ 10 h 92"/>
                <a:gd name="T52" fmla="*/ 72 w 104"/>
                <a:gd name="T53" fmla="*/ 16 h 92"/>
                <a:gd name="T54" fmla="*/ 78 w 104"/>
                <a:gd name="T55" fmla="*/ 26 h 92"/>
                <a:gd name="T56" fmla="*/ 82 w 104"/>
                <a:gd name="T57" fmla="*/ 52 h 92"/>
                <a:gd name="T58" fmla="*/ 82 w 104"/>
                <a:gd name="T59" fmla="*/ 80 h 92"/>
                <a:gd name="T60" fmla="*/ 104 w 104"/>
                <a:gd name="T61" fmla="*/ 90 h 92"/>
                <a:gd name="T62" fmla="*/ 104 w 104"/>
                <a:gd name="T63" fmla="*/ 50 h 92"/>
                <a:gd name="T64" fmla="*/ 102 w 104"/>
                <a:gd name="T65" fmla="*/ 3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04" h="92">
                  <a:moveTo>
                    <a:pt x="102" y="36"/>
                  </a:moveTo>
                  <a:lnTo>
                    <a:pt x="102" y="36"/>
                  </a:lnTo>
                  <a:lnTo>
                    <a:pt x="100" y="28"/>
                  </a:lnTo>
                  <a:lnTo>
                    <a:pt x="96" y="22"/>
                  </a:lnTo>
                  <a:lnTo>
                    <a:pt x="92" y="16"/>
                  </a:lnTo>
                  <a:lnTo>
                    <a:pt x="84" y="10"/>
                  </a:lnTo>
                  <a:lnTo>
                    <a:pt x="78" y="6"/>
                  </a:lnTo>
                  <a:lnTo>
                    <a:pt x="70" y="2"/>
                  </a:lnTo>
                  <a:lnTo>
                    <a:pt x="62" y="2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42" y="2"/>
                  </a:lnTo>
                  <a:lnTo>
                    <a:pt x="32" y="4"/>
                  </a:lnTo>
                  <a:lnTo>
                    <a:pt x="22" y="8"/>
                  </a:lnTo>
                  <a:lnTo>
                    <a:pt x="16" y="14"/>
                  </a:lnTo>
                  <a:lnTo>
                    <a:pt x="8" y="20"/>
                  </a:lnTo>
                  <a:lnTo>
                    <a:pt x="4" y="28"/>
                  </a:lnTo>
                  <a:lnTo>
                    <a:pt x="0" y="38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0" y="56"/>
                  </a:lnTo>
                  <a:lnTo>
                    <a:pt x="4" y="64"/>
                  </a:lnTo>
                  <a:lnTo>
                    <a:pt x="8" y="72"/>
                  </a:lnTo>
                  <a:lnTo>
                    <a:pt x="14" y="78"/>
                  </a:lnTo>
                  <a:lnTo>
                    <a:pt x="22" y="84"/>
                  </a:lnTo>
                  <a:lnTo>
                    <a:pt x="30" y="88"/>
                  </a:lnTo>
                  <a:lnTo>
                    <a:pt x="40" y="92"/>
                  </a:lnTo>
                  <a:lnTo>
                    <a:pt x="50" y="92"/>
                  </a:lnTo>
                  <a:lnTo>
                    <a:pt x="50" y="92"/>
                  </a:lnTo>
                  <a:lnTo>
                    <a:pt x="62" y="90"/>
                  </a:lnTo>
                  <a:lnTo>
                    <a:pt x="74" y="84"/>
                  </a:lnTo>
                  <a:lnTo>
                    <a:pt x="74" y="76"/>
                  </a:lnTo>
                  <a:lnTo>
                    <a:pt x="74" y="76"/>
                  </a:lnTo>
                  <a:lnTo>
                    <a:pt x="70" y="78"/>
                  </a:lnTo>
                  <a:lnTo>
                    <a:pt x="62" y="80"/>
                  </a:lnTo>
                  <a:lnTo>
                    <a:pt x="52" y="80"/>
                  </a:lnTo>
                  <a:lnTo>
                    <a:pt x="52" y="80"/>
                  </a:lnTo>
                  <a:lnTo>
                    <a:pt x="44" y="80"/>
                  </a:lnTo>
                  <a:lnTo>
                    <a:pt x="38" y="78"/>
                  </a:lnTo>
                  <a:lnTo>
                    <a:pt x="32" y="74"/>
                  </a:lnTo>
                  <a:lnTo>
                    <a:pt x="30" y="68"/>
                  </a:lnTo>
                  <a:lnTo>
                    <a:pt x="24" y="56"/>
                  </a:lnTo>
                  <a:lnTo>
                    <a:pt x="24" y="46"/>
                  </a:lnTo>
                  <a:lnTo>
                    <a:pt x="24" y="46"/>
                  </a:lnTo>
                  <a:lnTo>
                    <a:pt x="24" y="36"/>
                  </a:lnTo>
                  <a:lnTo>
                    <a:pt x="28" y="22"/>
                  </a:lnTo>
                  <a:lnTo>
                    <a:pt x="32" y="18"/>
                  </a:lnTo>
                  <a:lnTo>
                    <a:pt x="36" y="12"/>
                  </a:lnTo>
                  <a:lnTo>
                    <a:pt x="44" y="10"/>
                  </a:lnTo>
                  <a:lnTo>
                    <a:pt x="52" y="8"/>
                  </a:lnTo>
                  <a:lnTo>
                    <a:pt x="52" y="8"/>
                  </a:lnTo>
                  <a:lnTo>
                    <a:pt x="60" y="10"/>
                  </a:lnTo>
                  <a:lnTo>
                    <a:pt x="68" y="12"/>
                  </a:lnTo>
                  <a:lnTo>
                    <a:pt x="72" y="16"/>
                  </a:lnTo>
                  <a:lnTo>
                    <a:pt x="76" y="20"/>
                  </a:lnTo>
                  <a:lnTo>
                    <a:pt x="78" y="26"/>
                  </a:lnTo>
                  <a:lnTo>
                    <a:pt x="80" y="34"/>
                  </a:lnTo>
                  <a:lnTo>
                    <a:pt x="82" y="52"/>
                  </a:lnTo>
                  <a:lnTo>
                    <a:pt x="82" y="52"/>
                  </a:lnTo>
                  <a:lnTo>
                    <a:pt x="82" y="80"/>
                  </a:lnTo>
                  <a:lnTo>
                    <a:pt x="82" y="90"/>
                  </a:lnTo>
                  <a:lnTo>
                    <a:pt x="104" y="90"/>
                  </a:lnTo>
                  <a:lnTo>
                    <a:pt x="104" y="50"/>
                  </a:lnTo>
                  <a:lnTo>
                    <a:pt x="104" y="50"/>
                  </a:lnTo>
                  <a:lnTo>
                    <a:pt x="102" y="36"/>
                  </a:lnTo>
                  <a:lnTo>
                    <a:pt x="102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  <p:sp>
          <p:nvSpPr>
            <p:cNvPr id="58" name="Freeform 19"/>
            <p:cNvSpPr>
              <a:spLocks/>
            </p:cNvSpPr>
            <p:nvPr/>
          </p:nvSpPr>
          <p:spPr bwMode="auto">
            <a:xfrm>
              <a:off x="7543800" y="1209675"/>
              <a:ext cx="165100" cy="146050"/>
            </a:xfrm>
            <a:custGeom>
              <a:avLst/>
              <a:gdLst>
                <a:gd name="T0" fmla="*/ 102 w 104"/>
                <a:gd name="T1" fmla="*/ 36 h 92"/>
                <a:gd name="T2" fmla="*/ 96 w 104"/>
                <a:gd name="T3" fmla="*/ 22 h 92"/>
                <a:gd name="T4" fmla="*/ 84 w 104"/>
                <a:gd name="T5" fmla="*/ 10 h 92"/>
                <a:gd name="T6" fmla="*/ 70 w 104"/>
                <a:gd name="T7" fmla="*/ 2 h 92"/>
                <a:gd name="T8" fmla="*/ 52 w 104"/>
                <a:gd name="T9" fmla="*/ 0 h 92"/>
                <a:gd name="T10" fmla="*/ 40 w 104"/>
                <a:gd name="T11" fmla="*/ 2 h 92"/>
                <a:gd name="T12" fmla="*/ 22 w 104"/>
                <a:gd name="T13" fmla="*/ 8 h 92"/>
                <a:gd name="T14" fmla="*/ 8 w 104"/>
                <a:gd name="T15" fmla="*/ 20 h 92"/>
                <a:gd name="T16" fmla="*/ 0 w 104"/>
                <a:gd name="T17" fmla="*/ 38 h 92"/>
                <a:gd name="T18" fmla="*/ 0 w 104"/>
                <a:gd name="T19" fmla="*/ 46 h 92"/>
                <a:gd name="T20" fmla="*/ 4 w 104"/>
                <a:gd name="T21" fmla="*/ 64 h 92"/>
                <a:gd name="T22" fmla="*/ 14 w 104"/>
                <a:gd name="T23" fmla="*/ 78 h 92"/>
                <a:gd name="T24" fmla="*/ 30 w 104"/>
                <a:gd name="T25" fmla="*/ 88 h 92"/>
                <a:gd name="T26" fmla="*/ 50 w 104"/>
                <a:gd name="T27" fmla="*/ 92 h 92"/>
                <a:gd name="T28" fmla="*/ 62 w 104"/>
                <a:gd name="T29" fmla="*/ 90 h 92"/>
                <a:gd name="T30" fmla="*/ 72 w 104"/>
                <a:gd name="T31" fmla="*/ 76 h 92"/>
                <a:gd name="T32" fmla="*/ 68 w 104"/>
                <a:gd name="T33" fmla="*/ 78 h 92"/>
                <a:gd name="T34" fmla="*/ 52 w 104"/>
                <a:gd name="T35" fmla="*/ 80 h 92"/>
                <a:gd name="T36" fmla="*/ 44 w 104"/>
                <a:gd name="T37" fmla="*/ 80 h 92"/>
                <a:gd name="T38" fmla="*/ 32 w 104"/>
                <a:gd name="T39" fmla="*/ 74 h 92"/>
                <a:gd name="T40" fmla="*/ 24 w 104"/>
                <a:gd name="T41" fmla="*/ 56 h 92"/>
                <a:gd name="T42" fmla="*/ 24 w 104"/>
                <a:gd name="T43" fmla="*/ 46 h 92"/>
                <a:gd name="T44" fmla="*/ 28 w 104"/>
                <a:gd name="T45" fmla="*/ 22 h 92"/>
                <a:gd name="T46" fmla="*/ 36 w 104"/>
                <a:gd name="T47" fmla="*/ 12 h 92"/>
                <a:gd name="T48" fmla="*/ 52 w 104"/>
                <a:gd name="T49" fmla="*/ 8 h 92"/>
                <a:gd name="T50" fmla="*/ 60 w 104"/>
                <a:gd name="T51" fmla="*/ 10 h 92"/>
                <a:gd name="T52" fmla="*/ 72 w 104"/>
                <a:gd name="T53" fmla="*/ 16 h 92"/>
                <a:gd name="T54" fmla="*/ 78 w 104"/>
                <a:gd name="T55" fmla="*/ 26 h 92"/>
                <a:gd name="T56" fmla="*/ 80 w 104"/>
                <a:gd name="T57" fmla="*/ 52 h 92"/>
                <a:gd name="T58" fmla="*/ 80 w 104"/>
                <a:gd name="T59" fmla="*/ 80 h 92"/>
                <a:gd name="T60" fmla="*/ 104 w 104"/>
                <a:gd name="T61" fmla="*/ 90 h 92"/>
                <a:gd name="T62" fmla="*/ 104 w 104"/>
                <a:gd name="T63" fmla="*/ 50 h 92"/>
                <a:gd name="T64" fmla="*/ 102 w 104"/>
                <a:gd name="T65" fmla="*/ 3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04" h="92">
                  <a:moveTo>
                    <a:pt x="102" y="36"/>
                  </a:moveTo>
                  <a:lnTo>
                    <a:pt x="102" y="36"/>
                  </a:lnTo>
                  <a:lnTo>
                    <a:pt x="100" y="28"/>
                  </a:lnTo>
                  <a:lnTo>
                    <a:pt x="96" y="22"/>
                  </a:lnTo>
                  <a:lnTo>
                    <a:pt x="90" y="16"/>
                  </a:lnTo>
                  <a:lnTo>
                    <a:pt x="84" y="10"/>
                  </a:lnTo>
                  <a:lnTo>
                    <a:pt x="78" y="6"/>
                  </a:lnTo>
                  <a:lnTo>
                    <a:pt x="70" y="2"/>
                  </a:lnTo>
                  <a:lnTo>
                    <a:pt x="60" y="2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40" y="2"/>
                  </a:lnTo>
                  <a:lnTo>
                    <a:pt x="32" y="4"/>
                  </a:lnTo>
                  <a:lnTo>
                    <a:pt x="22" y="8"/>
                  </a:lnTo>
                  <a:lnTo>
                    <a:pt x="14" y="14"/>
                  </a:lnTo>
                  <a:lnTo>
                    <a:pt x="8" y="20"/>
                  </a:lnTo>
                  <a:lnTo>
                    <a:pt x="4" y="28"/>
                  </a:lnTo>
                  <a:lnTo>
                    <a:pt x="0" y="38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0" y="56"/>
                  </a:lnTo>
                  <a:lnTo>
                    <a:pt x="4" y="64"/>
                  </a:lnTo>
                  <a:lnTo>
                    <a:pt x="8" y="72"/>
                  </a:lnTo>
                  <a:lnTo>
                    <a:pt x="14" y="78"/>
                  </a:lnTo>
                  <a:lnTo>
                    <a:pt x="20" y="84"/>
                  </a:lnTo>
                  <a:lnTo>
                    <a:pt x="30" y="88"/>
                  </a:lnTo>
                  <a:lnTo>
                    <a:pt x="38" y="92"/>
                  </a:lnTo>
                  <a:lnTo>
                    <a:pt x="50" y="92"/>
                  </a:lnTo>
                  <a:lnTo>
                    <a:pt x="50" y="92"/>
                  </a:lnTo>
                  <a:lnTo>
                    <a:pt x="62" y="90"/>
                  </a:lnTo>
                  <a:lnTo>
                    <a:pt x="72" y="84"/>
                  </a:lnTo>
                  <a:lnTo>
                    <a:pt x="72" y="76"/>
                  </a:lnTo>
                  <a:lnTo>
                    <a:pt x="72" y="76"/>
                  </a:lnTo>
                  <a:lnTo>
                    <a:pt x="68" y="78"/>
                  </a:lnTo>
                  <a:lnTo>
                    <a:pt x="62" y="80"/>
                  </a:lnTo>
                  <a:lnTo>
                    <a:pt x="52" y="80"/>
                  </a:lnTo>
                  <a:lnTo>
                    <a:pt x="52" y="80"/>
                  </a:lnTo>
                  <a:lnTo>
                    <a:pt x="44" y="80"/>
                  </a:lnTo>
                  <a:lnTo>
                    <a:pt x="38" y="78"/>
                  </a:lnTo>
                  <a:lnTo>
                    <a:pt x="32" y="74"/>
                  </a:lnTo>
                  <a:lnTo>
                    <a:pt x="28" y="68"/>
                  </a:lnTo>
                  <a:lnTo>
                    <a:pt x="24" y="56"/>
                  </a:lnTo>
                  <a:lnTo>
                    <a:pt x="24" y="46"/>
                  </a:lnTo>
                  <a:lnTo>
                    <a:pt x="24" y="46"/>
                  </a:lnTo>
                  <a:lnTo>
                    <a:pt x="24" y="36"/>
                  </a:lnTo>
                  <a:lnTo>
                    <a:pt x="28" y="22"/>
                  </a:lnTo>
                  <a:lnTo>
                    <a:pt x="32" y="18"/>
                  </a:lnTo>
                  <a:lnTo>
                    <a:pt x="36" y="12"/>
                  </a:lnTo>
                  <a:lnTo>
                    <a:pt x="42" y="10"/>
                  </a:lnTo>
                  <a:lnTo>
                    <a:pt x="52" y="8"/>
                  </a:lnTo>
                  <a:lnTo>
                    <a:pt x="52" y="8"/>
                  </a:lnTo>
                  <a:lnTo>
                    <a:pt x="60" y="10"/>
                  </a:lnTo>
                  <a:lnTo>
                    <a:pt x="66" y="12"/>
                  </a:lnTo>
                  <a:lnTo>
                    <a:pt x="72" y="16"/>
                  </a:lnTo>
                  <a:lnTo>
                    <a:pt x="76" y="20"/>
                  </a:lnTo>
                  <a:lnTo>
                    <a:pt x="78" y="26"/>
                  </a:lnTo>
                  <a:lnTo>
                    <a:pt x="80" y="34"/>
                  </a:lnTo>
                  <a:lnTo>
                    <a:pt x="80" y="52"/>
                  </a:lnTo>
                  <a:lnTo>
                    <a:pt x="80" y="52"/>
                  </a:lnTo>
                  <a:lnTo>
                    <a:pt x="80" y="80"/>
                  </a:lnTo>
                  <a:lnTo>
                    <a:pt x="80" y="90"/>
                  </a:lnTo>
                  <a:lnTo>
                    <a:pt x="104" y="90"/>
                  </a:lnTo>
                  <a:lnTo>
                    <a:pt x="104" y="50"/>
                  </a:lnTo>
                  <a:lnTo>
                    <a:pt x="104" y="50"/>
                  </a:lnTo>
                  <a:lnTo>
                    <a:pt x="102" y="36"/>
                  </a:lnTo>
                  <a:lnTo>
                    <a:pt x="102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  <p:sp>
          <p:nvSpPr>
            <p:cNvPr id="59" name="Freeform 20"/>
            <p:cNvSpPr>
              <a:spLocks/>
            </p:cNvSpPr>
            <p:nvPr/>
          </p:nvSpPr>
          <p:spPr bwMode="auto">
            <a:xfrm>
              <a:off x="7165975" y="1146175"/>
              <a:ext cx="73025" cy="228600"/>
            </a:xfrm>
            <a:custGeom>
              <a:avLst/>
              <a:gdLst>
                <a:gd name="T0" fmla="*/ 22 w 46"/>
                <a:gd name="T1" fmla="*/ 110 h 144"/>
                <a:gd name="T2" fmla="*/ 22 w 46"/>
                <a:gd name="T3" fmla="*/ 110 h 144"/>
                <a:gd name="T4" fmla="*/ 22 w 46"/>
                <a:gd name="T5" fmla="*/ 54 h 144"/>
                <a:gd name="T6" fmla="*/ 42 w 46"/>
                <a:gd name="T7" fmla="*/ 54 h 144"/>
                <a:gd name="T8" fmla="*/ 42 w 46"/>
                <a:gd name="T9" fmla="*/ 40 h 144"/>
                <a:gd name="T10" fmla="*/ 22 w 46"/>
                <a:gd name="T11" fmla="*/ 40 h 144"/>
                <a:gd name="T12" fmla="*/ 22 w 46"/>
                <a:gd name="T13" fmla="*/ 40 h 144"/>
                <a:gd name="T14" fmla="*/ 22 w 46"/>
                <a:gd name="T15" fmla="*/ 0 h 144"/>
                <a:gd name="T16" fmla="*/ 0 w 46"/>
                <a:gd name="T17" fmla="*/ 0 h 144"/>
                <a:gd name="T18" fmla="*/ 0 w 46"/>
                <a:gd name="T19" fmla="*/ 0 h 144"/>
                <a:gd name="T20" fmla="*/ 0 w 46"/>
                <a:gd name="T21" fmla="*/ 110 h 144"/>
                <a:gd name="T22" fmla="*/ 0 w 46"/>
                <a:gd name="T23" fmla="*/ 110 h 144"/>
                <a:gd name="T24" fmla="*/ 2 w 46"/>
                <a:gd name="T25" fmla="*/ 124 h 144"/>
                <a:gd name="T26" fmla="*/ 6 w 46"/>
                <a:gd name="T27" fmla="*/ 134 h 144"/>
                <a:gd name="T28" fmla="*/ 14 w 46"/>
                <a:gd name="T29" fmla="*/ 140 h 144"/>
                <a:gd name="T30" fmla="*/ 24 w 46"/>
                <a:gd name="T31" fmla="*/ 144 h 144"/>
                <a:gd name="T32" fmla="*/ 32 w 46"/>
                <a:gd name="T33" fmla="*/ 144 h 144"/>
                <a:gd name="T34" fmla="*/ 40 w 46"/>
                <a:gd name="T35" fmla="*/ 144 h 144"/>
                <a:gd name="T36" fmla="*/ 46 w 46"/>
                <a:gd name="T37" fmla="*/ 144 h 144"/>
                <a:gd name="T38" fmla="*/ 46 w 46"/>
                <a:gd name="T39" fmla="*/ 136 h 144"/>
                <a:gd name="T40" fmla="*/ 46 w 46"/>
                <a:gd name="T41" fmla="*/ 136 h 144"/>
                <a:gd name="T42" fmla="*/ 42 w 46"/>
                <a:gd name="T43" fmla="*/ 138 h 144"/>
                <a:gd name="T44" fmla="*/ 34 w 46"/>
                <a:gd name="T45" fmla="*/ 136 h 144"/>
                <a:gd name="T46" fmla="*/ 30 w 46"/>
                <a:gd name="T47" fmla="*/ 134 h 144"/>
                <a:gd name="T48" fmla="*/ 26 w 46"/>
                <a:gd name="T49" fmla="*/ 128 h 144"/>
                <a:gd name="T50" fmla="*/ 24 w 46"/>
                <a:gd name="T51" fmla="*/ 120 h 144"/>
                <a:gd name="T52" fmla="*/ 22 w 46"/>
                <a:gd name="T53" fmla="*/ 110 h 144"/>
                <a:gd name="T54" fmla="*/ 22 w 46"/>
                <a:gd name="T55" fmla="*/ 11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6" h="144">
                  <a:moveTo>
                    <a:pt x="22" y="110"/>
                  </a:moveTo>
                  <a:lnTo>
                    <a:pt x="22" y="110"/>
                  </a:lnTo>
                  <a:lnTo>
                    <a:pt x="22" y="54"/>
                  </a:lnTo>
                  <a:lnTo>
                    <a:pt x="42" y="54"/>
                  </a:lnTo>
                  <a:lnTo>
                    <a:pt x="42" y="40"/>
                  </a:lnTo>
                  <a:lnTo>
                    <a:pt x="22" y="40"/>
                  </a:lnTo>
                  <a:lnTo>
                    <a:pt x="22" y="40"/>
                  </a:lnTo>
                  <a:lnTo>
                    <a:pt x="2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2" y="124"/>
                  </a:lnTo>
                  <a:lnTo>
                    <a:pt x="6" y="134"/>
                  </a:lnTo>
                  <a:lnTo>
                    <a:pt x="14" y="140"/>
                  </a:lnTo>
                  <a:lnTo>
                    <a:pt x="24" y="144"/>
                  </a:lnTo>
                  <a:lnTo>
                    <a:pt x="32" y="144"/>
                  </a:lnTo>
                  <a:lnTo>
                    <a:pt x="40" y="144"/>
                  </a:lnTo>
                  <a:lnTo>
                    <a:pt x="46" y="144"/>
                  </a:lnTo>
                  <a:lnTo>
                    <a:pt x="46" y="136"/>
                  </a:lnTo>
                  <a:lnTo>
                    <a:pt x="46" y="136"/>
                  </a:lnTo>
                  <a:lnTo>
                    <a:pt x="42" y="138"/>
                  </a:lnTo>
                  <a:lnTo>
                    <a:pt x="34" y="136"/>
                  </a:lnTo>
                  <a:lnTo>
                    <a:pt x="30" y="134"/>
                  </a:lnTo>
                  <a:lnTo>
                    <a:pt x="26" y="128"/>
                  </a:lnTo>
                  <a:lnTo>
                    <a:pt x="24" y="120"/>
                  </a:lnTo>
                  <a:lnTo>
                    <a:pt x="22" y="110"/>
                  </a:lnTo>
                  <a:lnTo>
                    <a:pt x="22" y="1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  <p:sp>
          <p:nvSpPr>
            <p:cNvPr id="60" name="Freeform 21"/>
            <p:cNvSpPr>
              <a:spLocks/>
            </p:cNvSpPr>
            <p:nvPr/>
          </p:nvSpPr>
          <p:spPr bwMode="auto">
            <a:xfrm>
              <a:off x="7461250" y="1209675"/>
              <a:ext cx="79375" cy="142875"/>
            </a:xfrm>
            <a:custGeom>
              <a:avLst/>
              <a:gdLst>
                <a:gd name="T0" fmla="*/ 22 w 50"/>
                <a:gd name="T1" fmla="*/ 36 h 90"/>
                <a:gd name="T2" fmla="*/ 22 w 50"/>
                <a:gd name="T3" fmla="*/ 36 h 90"/>
                <a:gd name="T4" fmla="*/ 22 w 50"/>
                <a:gd name="T5" fmla="*/ 90 h 90"/>
                <a:gd name="T6" fmla="*/ 0 w 50"/>
                <a:gd name="T7" fmla="*/ 90 h 90"/>
                <a:gd name="T8" fmla="*/ 0 w 50"/>
                <a:gd name="T9" fmla="*/ 90 h 90"/>
                <a:gd name="T10" fmla="*/ 0 w 50"/>
                <a:gd name="T11" fmla="*/ 36 h 90"/>
                <a:gd name="T12" fmla="*/ 0 w 50"/>
                <a:gd name="T13" fmla="*/ 36 h 90"/>
                <a:gd name="T14" fmla="*/ 0 w 50"/>
                <a:gd name="T15" fmla="*/ 28 h 90"/>
                <a:gd name="T16" fmla="*/ 2 w 50"/>
                <a:gd name="T17" fmla="*/ 22 h 90"/>
                <a:gd name="T18" fmla="*/ 4 w 50"/>
                <a:gd name="T19" fmla="*/ 16 h 90"/>
                <a:gd name="T20" fmla="*/ 8 w 50"/>
                <a:gd name="T21" fmla="*/ 12 h 90"/>
                <a:gd name="T22" fmla="*/ 16 w 50"/>
                <a:gd name="T23" fmla="*/ 6 h 90"/>
                <a:gd name="T24" fmla="*/ 24 w 50"/>
                <a:gd name="T25" fmla="*/ 2 h 90"/>
                <a:gd name="T26" fmla="*/ 34 w 50"/>
                <a:gd name="T27" fmla="*/ 0 h 90"/>
                <a:gd name="T28" fmla="*/ 42 w 50"/>
                <a:gd name="T29" fmla="*/ 0 h 90"/>
                <a:gd name="T30" fmla="*/ 50 w 50"/>
                <a:gd name="T31" fmla="*/ 2 h 90"/>
                <a:gd name="T32" fmla="*/ 50 w 50"/>
                <a:gd name="T33" fmla="*/ 10 h 90"/>
                <a:gd name="T34" fmla="*/ 50 w 50"/>
                <a:gd name="T35" fmla="*/ 10 h 90"/>
                <a:gd name="T36" fmla="*/ 46 w 50"/>
                <a:gd name="T37" fmla="*/ 8 h 90"/>
                <a:gd name="T38" fmla="*/ 36 w 50"/>
                <a:gd name="T39" fmla="*/ 10 h 90"/>
                <a:gd name="T40" fmla="*/ 32 w 50"/>
                <a:gd name="T41" fmla="*/ 12 h 90"/>
                <a:gd name="T42" fmla="*/ 26 w 50"/>
                <a:gd name="T43" fmla="*/ 16 h 90"/>
                <a:gd name="T44" fmla="*/ 24 w 50"/>
                <a:gd name="T45" fmla="*/ 24 h 90"/>
                <a:gd name="T46" fmla="*/ 22 w 50"/>
                <a:gd name="T47" fmla="*/ 36 h 90"/>
                <a:gd name="T48" fmla="*/ 22 w 50"/>
                <a:gd name="T49" fmla="*/ 36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0" h="90">
                  <a:moveTo>
                    <a:pt x="22" y="36"/>
                  </a:moveTo>
                  <a:lnTo>
                    <a:pt x="22" y="36"/>
                  </a:lnTo>
                  <a:lnTo>
                    <a:pt x="22" y="90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0" y="28"/>
                  </a:lnTo>
                  <a:lnTo>
                    <a:pt x="2" y="22"/>
                  </a:lnTo>
                  <a:lnTo>
                    <a:pt x="4" y="16"/>
                  </a:lnTo>
                  <a:lnTo>
                    <a:pt x="8" y="12"/>
                  </a:lnTo>
                  <a:lnTo>
                    <a:pt x="16" y="6"/>
                  </a:lnTo>
                  <a:lnTo>
                    <a:pt x="24" y="2"/>
                  </a:lnTo>
                  <a:lnTo>
                    <a:pt x="34" y="0"/>
                  </a:lnTo>
                  <a:lnTo>
                    <a:pt x="42" y="0"/>
                  </a:lnTo>
                  <a:lnTo>
                    <a:pt x="50" y="2"/>
                  </a:lnTo>
                  <a:lnTo>
                    <a:pt x="50" y="10"/>
                  </a:lnTo>
                  <a:lnTo>
                    <a:pt x="50" y="10"/>
                  </a:lnTo>
                  <a:lnTo>
                    <a:pt x="46" y="8"/>
                  </a:lnTo>
                  <a:lnTo>
                    <a:pt x="36" y="10"/>
                  </a:lnTo>
                  <a:lnTo>
                    <a:pt x="32" y="12"/>
                  </a:lnTo>
                  <a:lnTo>
                    <a:pt x="26" y="16"/>
                  </a:lnTo>
                  <a:lnTo>
                    <a:pt x="24" y="24"/>
                  </a:lnTo>
                  <a:lnTo>
                    <a:pt x="22" y="36"/>
                  </a:lnTo>
                  <a:lnTo>
                    <a:pt x="22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  <p:sp>
          <p:nvSpPr>
            <p:cNvPr id="61" name="Freeform 22"/>
            <p:cNvSpPr>
              <a:spLocks noEditPoints="1"/>
            </p:cNvSpPr>
            <p:nvPr/>
          </p:nvSpPr>
          <p:spPr bwMode="auto">
            <a:xfrm>
              <a:off x="6937375" y="676275"/>
              <a:ext cx="603250" cy="425450"/>
            </a:xfrm>
            <a:custGeom>
              <a:avLst/>
              <a:gdLst>
                <a:gd name="T0" fmla="*/ 368 w 380"/>
                <a:gd name="T1" fmla="*/ 100 h 268"/>
                <a:gd name="T2" fmla="*/ 328 w 380"/>
                <a:gd name="T3" fmla="*/ 104 h 268"/>
                <a:gd name="T4" fmla="*/ 296 w 380"/>
                <a:gd name="T5" fmla="*/ 104 h 268"/>
                <a:gd name="T6" fmla="*/ 300 w 380"/>
                <a:gd name="T7" fmla="*/ 42 h 268"/>
                <a:gd name="T8" fmla="*/ 272 w 380"/>
                <a:gd name="T9" fmla="*/ 8 h 268"/>
                <a:gd name="T10" fmla="*/ 230 w 380"/>
                <a:gd name="T11" fmla="*/ 0 h 268"/>
                <a:gd name="T12" fmla="*/ 194 w 380"/>
                <a:gd name="T13" fmla="*/ 20 h 268"/>
                <a:gd name="T14" fmla="*/ 164 w 380"/>
                <a:gd name="T15" fmla="*/ 78 h 268"/>
                <a:gd name="T16" fmla="*/ 140 w 380"/>
                <a:gd name="T17" fmla="*/ 66 h 268"/>
                <a:gd name="T18" fmla="*/ 88 w 380"/>
                <a:gd name="T19" fmla="*/ 28 h 268"/>
                <a:gd name="T20" fmla="*/ 46 w 380"/>
                <a:gd name="T21" fmla="*/ 34 h 268"/>
                <a:gd name="T22" fmla="*/ 26 w 380"/>
                <a:gd name="T23" fmla="*/ 60 h 268"/>
                <a:gd name="T24" fmla="*/ 32 w 380"/>
                <a:gd name="T25" fmla="*/ 108 h 268"/>
                <a:gd name="T26" fmla="*/ 62 w 380"/>
                <a:gd name="T27" fmla="*/ 154 h 268"/>
                <a:gd name="T28" fmla="*/ 10 w 380"/>
                <a:gd name="T29" fmla="*/ 146 h 268"/>
                <a:gd name="T30" fmla="*/ 0 w 380"/>
                <a:gd name="T31" fmla="*/ 158 h 268"/>
                <a:gd name="T32" fmla="*/ 20 w 380"/>
                <a:gd name="T33" fmla="*/ 194 h 268"/>
                <a:gd name="T34" fmla="*/ 80 w 380"/>
                <a:gd name="T35" fmla="*/ 230 h 268"/>
                <a:gd name="T36" fmla="*/ 94 w 380"/>
                <a:gd name="T37" fmla="*/ 242 h 268"/>
                <a:gd name="T38" fmla="*/ 124 w 380"/>
                <a:gd name="T39" fmla="*/ 264 h 268"/>
                <a:gd name="T40" fmla="*/ 182 w 380"/>
                <a:gd name="T41" fmla="*/ 268 h 268"/>
                <a:gd name="T42" fmla="*/ 208 w 380"/>
                <a:gd name="T43" fmla="*/ 260 h 268"/>
                <a:gd name="T44" fmla="*/ 230 w 380"/>
                <a:gd name="T45" fmla="*/ 260 h 268"/>
                <a:gd name="T46" fmla="*/ 272 w 380"/>
                <a:gd name="T47" fmla="*/ 254 h 268"/>
                <a:gd name="T48" fmla="*/ 326 w 380"/>
                <a:gd name="T49" fmla="*/ 222 h 268"/>
                <a:gd name="T50" fmla="*/ 322 w 380"/>
                <a:gd name="T51" fmla="*/ 212 h 268"/>
                <a:gd name="T52" fmla="*/ 304 w 380"/>
                <a:gd name="T53" fmla="*/ 206 h 268"/>
                <a:gd name="T54" fmla="*/ 350 w 380"/>
                <a:gd name="T55" fmla="*/ 178 h 268"/>
                <a:gd name="T56" fmla="*/ 380 w 380"/>
                <a:gd name="T57" fmla="*/ 130 h 268"/>
                <a:gd name="T58" fmla="*/ 376 w 380"/>
                <a:gd name="T59" fmla="*/ 106 h 268"/>
                <a:gd name="T60" fmla="*/ 272 w 380"/>
                <a:gd name="T61" fmla="*/ 220 h 268"/>
                <a:gd name="T62" fmla="*/ 302 w 380"/>
                <a:gd name="T63" fmla="*/ 228 h 268"/>
                <a:gd name="T64" fmla="*/ 282 w 380"/>
                <a:gd name="T65" fmla="*/ 242 h 268"/>
                <a:gd name="T66" fmla="*/ 224 w 380"/>
                <a:gd name="T67" fmla="*/ 250 h 268"/>
                <a:gd name="T68" fmla="*/ 200 w 380"/>
                <a:gd name="T69" fmla="*/ 246 h 268"/>
                <a:gd name="T70" fmla="*/ 188 w 380"/>
                <a:gd name="T71" fmla="*/ 254 h 268"/>
                <a:gd name="T72" fmla="*/ 152 w 380"/>
                <a:gd name="T73" fmla="*/ 260 h 268"/>
                <a:gd name="T74" fmla="*/ 118 w 380"/>
                <a:gd name="T75" fmla="*/ 250 h 268"/>
                <a:gd name="T76" fmla="*/ 124 w 380"/>
                <a:gd name="T77" fmla="*/ 230 h 268"/>
                <a:gd name="T78" fmla="*/ 72 w 380"/>
                <a:gd name="T79" fmla="*/ 216 h 268"/>
                <a:gd name="T80" fmla="*/ 30 w 380"/>
                <a:gd name="T81" fmla="*/ 188 h 268"/>
                <a:gd name="T82" fmla="*/ 26 w 380"/>
                <a:gd name="T83" fmla="*/ 170 h 268"/>
                <a:gd name="T84" fmla="*/ 60 w 380"/>
                <a:gd name="T85" fmla="*/ 172 h 268"/>
                <a:gd name="T86" fmla="*/ 102 w 380"/>
                <a:gd name="T87" fmla="*/ 174 h 268"/>
                <a:gd name="T88" fmla="*/ 92 w 380"/>
                <a:gd name="T89" fmla="*/ 156 h 268"/>
                <a:gd name="T90" fmla="*/ 52 w 380"/>
                <a:gd name="T91" fmla="*/ 96 h 268"/>
                <a:gd name="T92" fmla="*/ 66 w 380"/>
                <a:gd name="T93" fmla="*/ 68 h 268"/>
                <a:gd name="T94" fmla="*/ 88 w 380"/>
                <a:gd name="T95" fmla="*/ 64 h 268"/>
                <a:gd name="T96" fmla="*/ 124 w 380"/>
                <a:gd name="T97" fmla="*/ 92 h 268"/>
                <a:gd name="T98" fmla="*/ 168 w 380"/>
                <a:gd name="T99" fmla="*/ 134 h 268"/>
                <a:gd name="T100" fmla="*/ 184 w 380"/>
                <a:gd name="T101" fmla="*/ 116 h 268"/>
                <a:gd name="T102" fmla="*/ 210 w 380"/>
                <a:gd name="T103" fmla="*/ 50 h 268"/>
                <a:gd name="T104" fmla="*/ 242 w 380"/>
                <a:gd name="T105" fmla="*/ 40 h 268"/>
                <a:gd name="T106" fmla="*/ 268 w 380"/>
                <a:gd name="T107" fmla="*/ 54 h 268"/>
                <a:gd name="T108" fmla="*/ 270 w 380"/>
                <a:gd name="T109" fmla="*/ 96 h 268"/>
                <a:gd name="T110" fmla="*/ 252 w 380"/>
                <a:gd name="T111" fmla="*/ 152 h 268"/>
                <a:gd name="T112" fmla="*/ 260 w 380"/>
                <a:gd name="T113" fmla="*/ 158 h 268"/>
                <a:gd name="T114" fmla="*/ 322 w 380"/>
                <a:gd name="T115" fmla="*/ 132 h 268"/>
                <a:gd name="T116" fmla="*/ 352 w 380"/>
                <a:gd name="T117" fmla="*/ 132 h 268"/>
                <a:gd name="T118" fmla="*/ 354 w 380"/>
                <a:gd name="T119" fmla="*/ 154 h 268"/>
                <a:gd name="T120" fmla="*/ 314 w 380"/>
                <a:gd name="T121" fmla="*/ 188 h 268"/>
                <a:gd name="T122" fmla="*/ 266 w 380"/>
                <a:gd name="T123" fmla="*/ 214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80" h="268">
                  <a:moveTo>
                    <a:pt x="376" y="106"/>
                  </a:moveTo>
                  <a:lnTo>
                    <a:pt x="376" y="106"/>
                  </a:lnTo>
                  <a:lnTo>
                    <a:pt x="372" y="102"/>
                  </a:lnTo>
                  <a:lnTo>
                    <a:pt x="368" y="100"/>
                  </a:lnTo>
                  <a:lnTo>
                    <a:pt x="362" y="98"/>
                  </a:lnTo>
                  <a:lnTo>
                    <a:pt x="356" y="98"/>
                  </a:lnTo>
                  <a:lnTo>
                    <a:pt x="342" y="100"/>
                  </a:lnTo>
                  <a:lnTo>
                    <a:pt x="328" y="104"/>
                  </a:lnTo>
                  <a:lnTo>
                    <a:pt x="302" y="116"/>
                  </a:lnTo>
                  <a:lnTo>
                    <a:pt x="290" y="120"/>
                  </a:lnTo>
                  <a:lnTo>
                    <a:pt x="290" y="120"/>
                  </a:lnTo>
                  <a:lnTo>
                    <a:pt x="296" y="104"/>
                  </a:lnTo>
                  <a:lnTo>
                    <a:pt x="300" y="86"/>
                  </a:lnTo>
                  <a:lnTo>
                    <a:pt x="302" y="64"/>
                  </a:lnTo>
                  <a:lnTo>
                    <a:pt x="302" y="52"/>
                  </a:lnTo>
                  <a:lnTo>
                    <a:pt x="300" y="42"/>
                  </a:lnTo>
                  <a:lnTo>
                    <a:pt x="296" y="32"/>
                  </a:lnTo>
                  <a:lnTo>
                    <a:pt x="290" y="22"/>
                  </a:lnTo>
                  <a:lnTo>
                    <a:pt x="282" y="14"/>
                  </a:lnTo>
                  <a:lnTo>
                    <a:pt x="272" y="8"/>
                  </a:lnTo>
                  <a:lnTo>
                    <a:pt x="260" y="4"/>
                  </a:lnTo>
                  <a:lnTo>
                    <a:pt x="244" y="0"/>
                  </a:lnTo>
                  <a:lnTo>
                    <a:pt x="244" y="0"/>
                  </a:lnTo>
                  <a:lnTo>
                    <a:pt x="230" y="0"/>
                  </a:lnTo>
                  <a:lnTo>
                    <a:pt x="220" y="2"/>
                  </a:lnTo>
                  <a:lnTo>
                    <a:pt x="210" y="6"/>
                  </a:lnTo>
                  <a:lnTo>
                    <a:pt x="202" y="12"/>
                  </a:lnTo>
                  <a:lnTo>
                    <a:pt x="194" y="20"/>
                  </a:lnTo>
                  <a:lnTo>
                    <a:pt x="186" y="28"/>
                  </a:lnTo>
                  <a:lnTo>
                    <a:pt x="176" y="44"/>
                  </a:lnTo>
                  <a:lnTo>
                    <a:pt x="168" y="62"/>
                  </a:lnTo>
                  <a:lnTo>
                    <a:pt x="164" y="78"/>
                  </a:lnTo>
                  <a:lnTo>
                    <a:pt x="160" y="94"/>
                  </a:lnTo>
                  <a:lnTo>
                    <a:pt x="160" y="94"/>
                  </a:lnTo>
                  <a:lnTo>
                    <a:pt x="150" y="80"/>
                  </a:lnTo>
                  <a:lnTo>
                    <a:pt x="140" y="66"/>
                  </a:lnTo>
                  <a:lnTo>
                    <a:pt x="124" y="50"/>
                  </a:lnTo>
                  <a:lnTo>
                    <a:pt x="108" y="38"/>
                  </a:lnTo>
                  <a:lnTo>
                    <a:pt x="98" y="32"/>
                  </a:lnTo>
                  <a:lnTo>
                    <a:pt x="88" y="28"/>
                  </a:lnTo>
                  <a:lnTo>
                    <a:pt x="78" y="26"/>
                  </a:lnTo>
                  <a:lnTo>
                    <a:pt x="68" y="26"/>
                  </a:lnTo>
                  <a:lnTo>
                    <a:pt x="58" y="30"/>
                  </a:lnTo>
                  <a:lnTo>
                    <a:pt x="46" y="34"/>
                  </a:lnTo>
                  <a:lnTo>
                    <a:pt x="46" y="34"/>
                  </a:lnTo>
                  <a:lnTo>
                    <a:pt x="36" y="42"/>
                  </a:lnTo>
                  <a:lnTo>
                    <a:pt x="30" y="50"/>
                  </a:lnTo>
                  <a:lnTo>
                    <a:pt x="26" y="60"/>
                  </a:lnTo>
                  <a:lnTo>
                    <a:pt x="24" y="70"/>
                  </a:lnTo>
                  <a:lnTo>
                    <a:pt x="24" y="80"/>
                  </a:lnTo>
                  <a:lnTo>
                    <a:pt x="24" y="88"/>
                  </a:lnTo>
                  <a:lnTo>
                    <a:pt x="32" y="108"/>
                  </a:lnTo>
                  <a:lnTo>
                    <a:pt x="42" y="126"/>
                  </a:lnTo>
                  <a:lnTo>
                    <a:pt x="52" y="140"/>
                  </a:lnTo>
                  <a:lnTo>
                    <a:pt x="62" y="154"/>
                  </a:lnTo>
                  <a:lnTo>
                    <a:pt x="62" y="154"/>
                  </a:lnTo>
                  <a:lnTo>
                    <a:pt x="52" y="150"/>
                  </a:lnTo>
                  <a:lnTo>
                    <a:pt x="30" y="146"/>
                  </a:lnTo>
                  <a:lnTo>
                    <a:pt x="20" y="144"/>
                  </a:lnTo>
                  <a:lnTo>
                    <a:pt x="10" y="146"/>
                  </a:lnTo>
                  <a:lnTo>
                    <a:pt x="6" y="148"/>
                  </a:lnTo>
                  <a:lnTo>
                    <a:pt x="2" y="150"/>
                  </a:lnTo>
                  <a:lnTo>
                    <a:pt x="0" y="152"/>
                  </a:lnTo>
                  <a:lnTo>
                    <a:pt x="0" y="158"/>
                  </a:lnTo>
                  <a:lnTo>
                    <a:pt x="0" y="158"/>
                  </a:lnTo>
                  <a:lnTo>
                    <a:pt x="2" y="170"/>
                  </a:lnTo>
                  <a:lnTo>
                    <a:pt x="10" y="182"/>
                  </a:lnTo>
                  <a:lnTo>
                    <a:pt x="20" y="194"/>
                  </a:lnTo>
                  <a:lnTo>
                    <a:pt x="32" y="206"/>
                  </a:lnTo>
                  <a:lnTo>
                    <a:pt x="48" y="214"/>
                  </a:lnTo>
                  <a:lnTo>
                    <a:pt x="64" y="222"/>
                  </a:lnTo>
                  <a:lnTo>
                    <a:pt x="80" y="230"/>
                  </a:lnTo>
                  <a:lnTo>
                    <a:pt x="94" y="234"/>
                  </a:lnTo>
                  <a:lnTo>
                    <a:pt x="94" y="234"/>
                  </a:lnTo>
                  <a:lnTo>
                    <a:pt x="94" y="238"/>
                  </a:lnTo>
                  <a:lnTo>
                    <a:pt x="94" y="242"/>
                  </a:lnTo>
                  <a:lnTo>
                    <a:pt x="96" y="248"/>
                  </a:lnTo>
                  <a:lnTo>
                    <a:pt x="100" y="254"/>
                  </a:lnTo>
                  <a:lnTo>
                    <a:pt x="110" y="258"/>
                  </a:lnTo>
                  <a:lnTo>
                    <a:pt x="124" y="264"/>
                  </a:lnTo>
                  <a:lnTo>
                    <a:pt x="146" y="266"/>
                  </a:lnTo>
                  <a:lnTo>
                    <a:pt x="146" y="266"/>
                  </a:lnTo>
                  <a:lnTo>
                    <a:pt x="166" y="268"/>
                  </a:lnTo>
                  <a:lnTo>
                    <a:pt x="182" y="268"/>
                  </a:lnTo>
                  <a:lnTo>
                    <a:pt x="192" y="266"/>
                  </a:lnTo>
                  <a:lnTo>
                    <a:pt x="200" y="264"/>
                  </a:lnTo>
                  <a:lnTo>
                    <a:pt x="206" y="262"/>
                  </a:lnTo>
                  <a:lnTo>
                    <a:pt x="208" y="260"/>
                  </a:lnTo>
                  <a:lnTo>
                    <a:pt x="210" y="256"/>
                  </a:lnTo>
                  <a:lnTo>
                    <a:pt x="210" y="256"/>
                  </a:lnTo>
                  <a:lnTo>
                    <a:pt x="214" y="258"/>
                  </a:lnTo>
                  <a:lnTo>
                    <a:pt x="230" y="260"/>
                  </a:lnTo>
                  <a:lnTo>
                    <a:pt x="250" y="260"/>
                  </a:lnTo>
                  <a:lnTo>
                    <a:pt x="260" y="258"/>
                  </a:lnTo>
                  <a:lnTo>
                    <a:pt x="272" y="254"/>
                  </a:lnTo>
                  <a:lnTo>
                    <a:pt x="272" y="254"/>
                  </a:lnTo>
                  <a:lnTo>
                    <a:pt x="288" y="248"/>
                  </a:lnTo>
                  <a:lnTo>
                    <a:pt x="306" y="238"/>
                  </a:lnTo>
                  <a:lnTo>
                    <a:pt x="322" y="226"/>
                  </a:lnTo>
                  <a:lnTo>
                    <a:pt x="326" y="222"/>
                  </a:lnTo>
                  <a:lnTo>
                    <a:pt x="326" y="216"/>
                  </a:lnTo>
                  <a:lnTo>
                    <a:pt x="326" y="216"/>
                  </a:lnTo>
                  <a:lnTo>
                    <a:pt x="324" y="214"/>
                  </a:lnTo>
                  <a:lnTo>
                    <a:pt x="322" y="212"/>
                  </a:lnTo>
                  <a:lnTo>
                    <a:pt x="312" y="210"/>
                  </a:lnTo>
                  <a:lnTo>
                    <a:pt x="304" y="210"/>
                  </a:lnTo>
                  <a:lnTo>
                    <a:pt x="302" y="208"/>
                  </a:lnTo>
                  <a:lnTo>
                    <a:pt x="304" y="206"/>
                  </a:lnTo>
                  <a:lnTo>
                    <a:pt x="304" y="206"/>
                  </a:lnTo>
                  <a:lnTo>
                    <a:pt x="320" y="200"/>
                  </a:lnTo>
                  <a:lnTo>
                    <a:pt x="334" y="190"/>
                  </a:lnTo>
                  <a:lnTo>
                    <a:pt x="350" y="178"/>
                  </a:lnTo>
                  <a:lnTo>
                    <a:pt x="362" y="166"/>
                  </a:lnTo>
                  <a:lnTo>
                    <a:pt x="372" y="152"/>
                  </a:lnTo>
                  <a:lnTo>
                    <a:pt x="380" y="136"/>
                  </a:lnTo>
                  <a:lnTo>
                    <a:pt x="380" y="130"/>
                  </a:lnTo>
                  <a:lnTo>
                    <a:pt x="380" y="122"/>
                  </a:lnTo>
                  <a:lnTo>
                    <a:pt x="378" y="114"/>
                  </a:lnTo>
                  <a:lnTo>
                    <a:pt x="376" y="106"/>
                  </a:lnTo>
                  <a:lnTo>
                    <a:pt x="376" y="106"/>
                  </a:lnTo>
                  <a:close/>
                  <a:moveTo>
                    <a:pt x="266" y="214"/>
                  </a:moveTo>
                  <a:lnTo>
                    <a:pt x="266" y="214"/>
                  </a:lnTo>
                  <a:lnTo>
                    <a:pt x="268" y="218"/>
                  </a:lnTo>
                  <a:lnTo>
                    <a:pt x="272" y="220"/>
                  </a:lnTo>
                  <a:lnTo>
                    <a:pt x="284" y="224"/>
                  </a:lnTo>
                  <a:lnTo>
                    <a:pt x="296" y="224"/>
                  </a:lnTo>
                  <a:lnTo>
                    <a:pt x="300" y="226"/>
                  </a:lnTo>
                  <a:lnTo>
                    <a:pt x="302" y="228"/>
                  </a:lnTo>
                  <a:lnTo>
                    <a:pt x="302" y="228"/>
                  </a:lnTo>
                  <a:lnTo>
                    <a:pt x="298" y="232"/>
                  </a:lnTo>
                  <a:lnTo>
                    <a:pt x="292" y="238"/>
                  </a:lnTo>
                  <a:lnTo>
                    <a:pt x="282" y="242"/>
                  </a:lnTo>
                  <a:lnTo>
                    <a:pt x="268" y="246"/>
                  </a:lnTo>
                  <a:lnTo>
                    <a:pt x="254" y="250"/>
                  </a:lnTo>
                  <a:lnTo>
                    <a:pt x="240" y="250"/>
                  </a:lnTo>
                  <a:lnTo>
                    <a:pt x="224" y="250"/>
                  </a:lnTo>
                  <a:lnTo>
                    <a:pt x="212" y="248"/>
                  </a:lnTo>
                  <a:lnTo>
                    <a:pt x="212" y="248"/>
                  </a:lnTo>
                  <a:lnTo>
                    <a:pt x="206" y="246"/>
                  </a:lnTo>
                  <a:lnTo>
                    <a:pt x="200" y="246"/>
                  </a:lnTo>
                  <a:lnTo>
                    <a:pt x="200" y="246"/>
                  </a:lnTo>
                  <a:lnTo>
                    <a:pt x="198" y="246"/>
                  </a:lnTo>
                  <a:lnTo>
                    <a:pt x="194" y="248"/>
                  </a:lnTo>
                  <a:lnTo>
                    <a:pt x="188" y="254"/>
                  </a:lnTo>
                  <a:lnTo>
                    <a:pt x="184" y="258"/>
                  </a:lnTo>
                  <a:lnTo>
                    <a:pt x="176" y="260"/>
                  </a:lnTo>
                  <a:lnTo>
                    <a:pt x="166" y="262"/>
                  </a:lnTo>
                  <a:lnTo>
                    <a:pt x="152" y="260"/>
                  </a:lnTo>
                  <a:lnTo>
                    <a:pt x="152" y="260"/>
                  </a:lnTo>
                  <a:lnTo>
                    <a:pt x="134" y="258"/>
                  </a:lnTo>
                  <a:lnTo>
                    <a:pt x="122" y="254"/>
                  </a:lnTo>
                  <a:lnTo>
                    <a:pt x="118" y="250"/>
                  </a:lnTo>
                  <a:lnTo>
                    <a:pt x="118" y="246"/>
                  </a:lnTo>
                  <a:lnTo>
                    <a:pt x="124" y="240"/>
                  </a:lnTo>
                  <a:lnTo>
                    <a:pt x="126" y="236"/>
                  </a:lnTo>
                  <a:lnTo>
                    <a:pt x="124" y="230"/>
                  </a:lnTo>
                  <a:lnTo>
                    <a:pt x="124" y="230"/>
                  </a:lnTo>
                  <a:lnTo>
                    <a:pt x="118" y="228"/>
                  </a:lnTo>
                  <a:lnTo>
                    <a:pt x="106" y="224"/>
                  </a:lnTo>
                  <a:lnTo>
                    <a:pt x="72" y="216"/>
                  </a:lnTo>
                  <a:lnTo>
                    <a:pt x="56" y="208"/>
                  </a:lnTo>
                  <a:lnTo>
                    <a:pt x="40" y="200"/>
                  </a:lnTo>
                  <a:lnTo>
                    <a:pt x="34" y="194"/>
                  </a:lnTo>
                  <a:lnTo>
                    <a:pt x="30" y="188"/>
                  </a:lnTo>
                  <a:lnTo>
                    <a:pt x="26" y="182"/>
                  </a:lnTo>
                  <a:lnTo>
                    <a:pt x="24" y="174"/>
                  </a:lnTo>
                  <a:lnTo>
                    <a:pt x="24" y="174"/>
                  </a:lnTo>
                  <a:lnTo>
                    <a:pt x="26" y="170"/>
                  </a:lnTo>
                  <a:lnTo>
                    <a:pt x="28" y="168"/>
                  </a:lnTo>
                  <a:lnTo>
                    <a:pt x="36" y="168"/>
                  </a:lnTo>
                  <a:lnTo>
                    <a:pt x="46" y="170"/>
                  </a:lnTo>
                  <a:lnTo>
                    <a:pt x="60" y="172"/>
                  </a:lnTo>
                  <a:lnTo>
                    <a:pt x="86" y="178"/>
                  </a:lnTo>
                  <a:lnTo>
                    <a:pt x="96" y="178"/>
                  </a:lnTo>
                  <a:lnTo>
                    <a:pt x="100" y="176"/>
                  </a:lnTo>
                  <a:lnTo>
                    <a:pt x="102" y="174"/>
                  </a:lnTo>
                  <a:lnTo>
                    <a:pt x="102" y="174"/>
                  </a:lnTo>
                  <a:lnTo>
                    <a:pt x="102" y="172"/>
                  </a:lnTo>
                  <a:lnTo>
                    <a:pt x="100" y="168"/>
                  </a:lnTo>
                  <a:lnTo>
                    <a:pt x="92" y="156"/>
                  </a:lnTo>
                  <a:lnTo>
                    <a:pt x="68" y="128"/>
                  </a:lnTo>
                  <a:lnTo>
                    <a:pt x="58" y="112"/>
                  </a:lnTo>
                  <a:lnTo>
                    <a:pt x="54" y="104"/>
                  </a:lnTo>
                  <a:lnTo>
                    <a:pt x="52" y="96"/>
                  </a:lnTo>
                  <a:lnTo>
                    <a:pt x="52" y="88"/>
                  </a:lnTo>
                  <a:lnTo>
                    <a:pt x="54" y="82"/>
                  </a:lnTo>
                  <a:lnTo>
                    <a:pt x="58" y="74"/>
                  </a:lnTo>
                  <a:lnTo>
                    <a:pt x="66" y="68"/>
                  </a:lnTo>
                  <a:lnTo>
                    <a:pt x="66" y="68"/>
                  </a:lnTo>
                  <a:lnTo>
                    <a:pt x="74" y="64"/>
                  </a:lnTo>
                  <a:lnTo>
                    <a:pt x="82" y="62"/>
                  </a:lnTo>
                  <a:lnTo>
                    <a:pt x="88" y="64"/>
                  </a:lnTo>
                  <a:lnTo>
                    <a:pt x="96" y="66"/>
                  </a:lnTo>
                  <a:lnTo>
                    <a:pt x="104" y="70"/>
                  </a:lnTo>
                  <a:lnTo>
                    <a:pt x="110" y="76"/>
                  </a:lnTo>
                  <a:lnTo>
                    <a:pt x="124" y="92"/>
                  </a:lnTo>
                  <a:lnTo>
                    <a:pt x="148" y="122"/>
                  </a:lnTo>
                  <a:lnTo>
                    <a:pt x="158" y="132"/>
                  </a:lnTo>
                  <a:lnTo>
                    <a:pt x="164" y="134"/>
                  </a:lnTo>
                  <a:lnTo>
                    <a:pt x="168" y="134"/>
                  </a:lnTo>
                  <a:lnTo>
                    <a:pt x="168" y="134"/>
                  </a:lnTo>
                  <a:lnTo>
                    <a:pt x="172" y="132"/>
                  </a:lnTo>
                  <a:lnTo>
                    <a:pt x="176" y="128"/>
                  </a:lnTo>
                  <a:lnTo>
                    <a:pt x="184" y="116"/>
                  </a:lnTo>
                  <a:lnTo>
                    <a:pt x="194" y="82"/>
                  </a:lnTo>
                  <a:lnTo>
                    <a:pt x="200" y="64"/>
                  </a:lnTo>
                  <a:lnTo>
                    <a:pt x="204" y="56"/>
                  </a:lnTo>
                  <a:lnTo>
                    <a:pt x="210" y="50"/>
                  </a:lnTo>
                  <a:lnTo>
                    <a:pt x="216" y="44"/>
                  </a:lnTo>
                  <a:lnTo>
                    <a:pt x="222" y="40"/>
                  </a:lnTo>
                  <a:lnTo>
                    <a:pt x="232" y="40"/>
                  </a:lnTo>
                  <a:lnTo>
                    <a:pt x="242" y="40"/>
                  </a:lnTo>
                  <a:lnTo>
                    <a:pt x="242" y="40"/>
                  </a:lnTo>
                  <a:lnTo>
                    <a:pt x="254" y="44"/>
                  </a:lnTo>
                  <a:lnTo>
                    <a:pt x="262" y="48"/>
                  </a:lnTo>
                  <a:lnTo>
                    <a:pt x="268" y="54"/>
                  </a:lnTo>
                  <a:lnTo>
                    <a:pt x="272" y="60"/>
                  </a:lnTo>
                  <a:lnTo>
                    <a:pt x="274" y="68"/>
                  </a:lnTo>
                  <a:lnTo>
                    <a:pt x="274" y="78"/>
                  </a:lnTo>
                  <a:lnTo>
                    <a:pt x="270" y="96"/>
                  </a:lnTo>
                  <a:lnTo>
                    <a:pt x="264" y="114"/>
                  </a:lnTo>
                  <a:lnTo>
                    <a:pt x="256" y="132"/>
                  </a:lnTo>
                  <a:lnTo>
                    <a:pt x="252" y="146"/>
                  </a:lnTo>
                  <a:lnTo>
                    <a:pt x="252" y="152"/>
                  </a:lnTo>
                  <a:lnTo>
                    <a:pt x="254" y="156"/>
                  </a:lnTo>
                  <a:lnTo>
                    <a:pt x="254" y="156"/>
                  </a:lnTo>
                  <a:lnTo>
                    <a:pt x="256" y="158"/>
                  </a:lnTo>
                  <a:lnTo>
                    <a:pt x="260" y="158"/>
                  </a:lnTo>
                  <a:lnTo>
                    <a:pt x="274" y="156"/>
                  </a:lnTo>
                  <a:lnTo>
                    <a:pt x="288" y="148"/>
                  </a:lnTo>
                  <a:lnTo>
                    <a:pt x="306" y="140"/>
                  </a:lnTo>
                  <a:lnTo>
                    <a:pt x="322" y="132"/>
                  </a:lnTo>
                  <a:lnTo>
                    <a:pt x="338" y="128"/>
                  </a:lnTo>
                  <a:lnTo>
                    <a:pt x="344" y="128"/>
                  </a:lnTo>
                  <a:lnTo>
                    <a:pt x="348" y="128"/>
                  </a:lnTo>
                  <a:lnTo>
                    <a:pt x="352" y="132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4" y="146"/>
                  </a:lnTo>
                  <a:lnTo>
                    <a:pt x="354" y="154"/>
                  </a:lnTo>
                  <a:lnTo>
                    <a:pt x="350" y="160"/>
                  </a:lnTo>
                  <a:lnTo>
                    <a:pt x="344" y="166"/>
                  </a:lnTo>
                  <a:lnTo>
                    <a:pt x="330" y="178"/>
                  </a:lnTo>
                  <a:lnTo>
                    <a:pt x="314" y="188"/>
                  </a:lnTo>
                  <a:lnTo>
                    <a:pt x="282" y="202"/>
                  </a:lnTo>
                  <a:lnTo>
                    <a:pt x="270" y="208"/>
                  </a:lnTo>
                  <a:lnTo>
                    <a:pt x="268" y="210"/>
                  </a:lnTo>
                  <a:lnTo>
                    <a:pt x="266" y="214"/>
                  </a:lnTo>
                  <a:lnTo>
                    <a:pt x="266" y="2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7978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3"/>
            <a:ext cx="9144000" cy="65309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lIns="91358" tIns="45680" rIns="91358" bIns="45680" rtlCol="0">
            <a:spAutoFit/>
          </a:bodyPr>
          <a:lstStyle>
            <a:defPPr>
              <a:defRPr lang="pt-BR"/>
            </a:defPPr>
            <a:lvl1pPr>
              <a:defRPr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defRPr>
            </a:lvl1pPr>
          </a:lstStyle>
          <a:p>
            <a:r>
              <a:rPr lang="pt-BR" dirty="0"/>
              <a:t>PROCESSOS E PERFORMANCE </a:t>
            </a:r>
          </a:p>
          <a:p>
            <a:r>
              <a:rPr lang="pt-BR" dirty="0" smtClean="0">
                <a:latin typeface="Gill Sans Std Light" pitchFamily="34" charset="0"/>
              </a:rPr>
              <a:t>Visão Volumetria por VP e Diretoria</a:t>
            </a:r>
            <a:endParaRPr lang="pt-BR" dirty="0">
              <a:latin typeface="Gill Sans Std Light" pitchFamily="34" charset="0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5292080" y="844352"/>
            <a:ext cx="3528392" cy="2800686"/>
          </a:xfrm>
          <a:prstGeom prst="rect">
            <a:avLst/>
          </a:prstGeom>
        </p:spPr>
        <p:txBody>
          <a:bodyPr wrap="square" lIns="91358" tIns="45680" rIns="91358" bIns="4568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pt-BR" sz="1100" dirty="0" smtClean="0">
                <a:solidFill>
                  <a:srgbClr val="5F5F5F"/>
                </a:solidFill>
                <a:latin typeface="Gill Sans Std" pitchFamily="34" charset="0"/>
              </a:rPr>
              <a:t>Volumetria total de chamados abertos, organizados por Vice-Presidência Natura.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pt-BR" sz="1100" dirty="0" smtClean="0">
                <a:solidFill>
                  <a:srgbClr val="5F5F5F"/>
                </a:solidFill>
                <a:latin typeface="Gill Sans Std" pitchFamily="34" charset="0"/>
              </a:rPr>
              <a:t>Meses referência: </a:t>
            </a:r>
            <a:r>
              <a:rPr lang="pt-BR" sz="1100" dirty="0" err="1" smtClean="0">
                <a:solidFill>
                  <a:srgbClr val="5F5F5F"/>
                </a:solidFill>
                <a:latin typeface="Gill Sans Std" pitchFamily="34" charset="0"/>
              </a:rPr>
              <a:t>Abr</a:t>
            </a:r>
            <a:r>
              <a:rPr lang="pt-BR" sz="1100" dirty="0" smtClean="0">
                <a:solidFill>
                  <a:srgbClr val="5F5F5F"/>
                </a:solidFill>
                <a:latin typeface="Gill Sans Std" pitchFamily="34" charset="0"/>
              </a:rPr>
              <a:t>, Mai e </a:t>
            </a:r>
            <a:r>
              <a:rPr lang="pt-BR" sz="1100" dirty="0" err="1" smtClean="0">
                <a:solidFill>
                  <a:srgbClr val="5F5F5F"/>
                </a:solidFill>
                <a:latin typeface="Gill Sans Std" pitchFamily="34" charset="0"/>
              </a:rPr>
              <a:t>Jun</a:t>
            </a:r>
            <a:r>
              <a:rPr lang="pt-BR" sz="1100" dirty="0" smtClean="0">
                <a:solidFill>
                  <a:srgbClr val="5F5F5F"/>
                </a:solidFill>
                <a:latin typeface="Gill Sans Std" pitchFamily="34" charset="0"/>
              </a:rPr>
              <a:t> de 2015.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pt-BR" sz="1100" dirty="0" smtClean="0">
                <a:solidFill>
                  <a:srgbClr val="5F5F5F"/>
                </a:solidFill>
                <a:latin typeface="Gill Sans Std" pitchFamily="34" charset="0"/>
              </a:rPr>
              <a:t>Meses de Jan, </a:t>
            </a:r>
            <a:r>
              <a:rPr lang="pt-BR" sz="1100" dirty="0" err="1" smtClean="0">
                <a:solidFill>
                  <a:srgbClr val="5F5F5F"/>
                </a:solidFill>
                <a:latin typeface="Gill Sans Std" pitchFamily="34" charset="0"/>
              </a:rPr>
              <a:t>Fev</a:t>
            </a:r>
            <a:r>
              <a:rPr lang="pt-BR" sz="1100" dirty="0" smtClean="0">
                <a:solidFill>
                  <a:srgbClr val="5F5F5F"/>
                </a:solidFill>
                <a:latin typeface="Gill Sans Std" pitchFamily="34" charset="0"/>
              </a:rPr>
              <a:t> e Mar não considerados na massa, devido a dados inconsistentes (estabilização BES).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pt-BR" sz="1100" dirty="0" smtClean="0">
                <a:solidFill>
                  <a:srgbClr val="5F5F5F"/>
                </a:solidFill>
                <a:latin typeface="Gill Sans Std" pitchFamily="34" charset="0"/>
              </a:rPr>
              <a:t>As áreas foram identificadas a partir de informação cruzada do usuário final afetado nos chamados (CA SDM) e planilha de </a:t>
            </a:r>
            <a:r>
              <a:rPr lang="pt-BR" sz="1100" dirty="0" err="1" smtClean="0">
                <a:solidFill>
                  <a:srgbClr val="5F5F5F"/>
                </a:solidFill>
                <a:latin typeface="Gill Sans Std" pitchFamily="34" charset="0"/>
              </a:rPr>
              <a:t>head-count</a:t>
            </a:r>
            <a:r>
              <a:rPr lang="pt-BR" sz="1100" dirty="0" smtClean="0">
                <a:solidFill>
                  <a:srgbClr val="5F5F5F"/>
                </a:solidFill>
                <a:latin typeface="Gill Sans Std" pitchFamily="34" charset="0"/>
              </a:rPr>
              <a:t> RH Brasil. Eventual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pt-BR" sz="1100" dirty="0" smtClean="0">
                <a:solidFill>
                  <a:srgbClr val="5F5F5F"/>
                </a:solidFill>
                <a:latin typeface="Gill Sans Std" pitchFamily="34" charset="0"/>
              </a:rPr>
              <a:t>1.305 usuários não identificados. Não foram encontrados na planilha de </a:t>
            </a:r>
            <a:r>
              <a:rPr lang="pt-BR" sz="1100" dirty="0" err="1" smtClean="0">
                <a:solidFill>
                  <a:srgbClr val="5F5F5F"/>
                </a:solidFill>
                <a:latin typeface="Gill Sans Std" pitchFamily="34" charset="0"/>
              </a:rPr>
              <a:t>head-count</a:t>
            </a:r>
            <a:r>
              <a:rPr lang="pt-BR" sz="1100" dirty="0" smtClean="0">
                <a:solidFill>
                  <a:srgbClr val="5F5F5F"/>
                </a:solidFill>
                <a:latin typeface="Gill Sans Std" pitchFamily="34" charset="0"/>
              </a:rPr>
              <a:t>, e portanto, não fora possível correlacionar sua área.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pt-BR" sz="1100" dirty="0" smtClean="0">
                <a:solidFill>
                  <a:srgbClr val="5F5F5F"/>
                </a:solidFill>
                <a:latin typeface="Gill Sans Std" pitchFamily="34" charset="0"/>
              </a:rPr>
              <a:t>Os 1.305 usuários não identificados, abriram 4.809 chamados, correspondendo a 6% do total, portanto, a margem de ‘erro’ na observação desses dados devem ser de 6% para mais ou para menos.</a:t>
            </a:r>
          </a:p>
          <a:p>
            <a:endParaRPr lang="pt-BR" sz="11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844352"/>
            <a:ext cx="4657725" cy="375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Retângulo 14"/>
          <p:cNvSpPr/>
          <p:nvPr/>
        </p:nvSpPr>
        <p:spPr>
          <a:xfrm>
            <a:off x="5300031" y="3652664"/>
            <a:ext cx="3528392" cy="1107915"/>
          </a:xfrm>
          <a:prstGeom prst="rect">
            <a:avLst/>
          </a:prstGeom>
        </p:spPr>
        <p:txBody>
          <a:bodyPr wrap="square" lIns="91358" tIns="45680" rIns="91358" bIns="45680">
            <a:spAutoFit/>
          </a:bodyPr>
          <a:lstStyle/>
          <a:p>
            <a:endParaRPr lang="pt-BR" sz="1100" dirty="0" smtClean="0">
              <a:solidFill>
                <a:srgbClr val="5F5F5F"/>
              </a:solidFill>
              <a:latin typeface="Gill Sans Std" pitchFamily="34" charset="0"/>
            </a:endParaRPr>
          </a:p>
          <a:p>
            <a:r>
              <a:rPr lang="pt-BR" sz="1100" u="sng" dirty="0" smtClean="0">
                <a:solidFill>
                  <a:srgbClr val="5F5F5F"/>
                </a:solidFill>
                <a:latin typeface="Gill Sans Std" pitchFamily="34" charset="0"/>
              </a:rPr>
              <a:t>Dados adicionais: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pt-BR" sz="1100" dirty="0" smtClean="0">
                <a:solidFill>
                  <a:srgbClr val="5F5F5F"/>
                </a:solidFill>
                <a:latin typeface="Gill Sans Std" pitchFamily="34" charset="0"/>
                <a:hlinkClick r:id="rId3" action="ppaction://hlinksldjump"/>
              </a:rPr>
              <a:t>Volumetria de chamados sem ‘Monitoração TD’ e sem ‘Experiência CN’</a:t>
            </a:r>
            <a:r>
              <a:rPr lang="pt-BR" sz="1100" dirty="0" smtClean="0">
                <a:solidFill>
                  <a:srgbClr val="5F5F5F"/>
                </a:solidFill>
                <a:latin typeface="Gill Sans Std" pitchFamily="34" charset="0"/>
              </a:rPr>
              <a:t/>
            </a:r>
            <a:br>
              <a:rPr lang="pt-BR" sz="1100" dirty="0" smtClean="0">
                <a:solidFill>
                  <a:srgbClr val="5F5F5F"/>
                </a:solidFill>
                <a:latin typeface="Gill Sans Std" pitchFamily="34" charset="0"/>
              </a:rPr>
            </a:br>
            <a:endParaRPr lang="pt-BR" sz="1100" dirty="0" smtClean="0">
              <a:solidFill>
                <a:srgbClr val="5F5F5F"/>
              </a:solidFill>
              <a:latin typeface="Gill Sans Std" pitchFamily="34" charset="0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pt-BR" sz="1100" dirty="0" smtClean="0">
                <a:solidFill>
                  <a:srgbClr val="5F5F5F"/>
                </a:solidFill>
                <a:latin typeface="Gill Sans Std" pitchFamily="34" charset="0"/>
                <a:hlinkClick r:id="rId4" action="ppaction://hlinksldjump"/>
              </a:rPr>
              <a:t>Volumetria por VP e Diretoria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38473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3"/>
            <a:ext cx="9144000" cy="65309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lIns="91358" tIns="45680" rIns="91358" bIns="45680" rtlCol="0">
            <a:spAutoFit/>
          </a:bodyPr>
          <a:lstStyle>
            <a:defPPr>
              <a:defRPr lang="pt-BR"/>
            </a:defPPr>
            <a:lvl1pPr>
              <a:defRPr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defRPr>
            </a:lvl1pPr>
          </a:lstStyle>
          <a:p>
            <a:r>
              <a:rPr lang="pt-BR" dirty="0"/>
              <a:t>PROCESSOS E PERFORMANCE </a:t>
            </a:r>
          </a:p>
          <a:p>
            <a:r>
              <a:rPr lang="pt-BR" dirty="0" smtClean="0">
                <a:latin typeface="Gill Sans Std Light" pitchFamily="34" charset="0"/>
              </a:rPr>
              <a:t>Visão Volumetria por VP e Diretoria</a:t>
            </a:r>
            <a:endParaRPr lang="pt-BR" dirty="0">
              <a:latin typeface="Gill Sans Std Light" pitchFamily="34" charset="0"/>
            </a:endParaRPr>
          </a:p>
        </p:txBody>
      </p:sp>
      <p:sp>
        <p:nvSpPr>
          <p:cNvPr id="12" name="Seta para a direita 11">
            <a:hlinkClick r:id="rId2" action="ppaction://hlinksldjump"/>
          </p:cNvPr>
          <p:cNvSpPr/>
          <p:nvPr/>
        </p:nvSpPr>
        <p:spPr>
          <a:xfrm rot="10800000">
            <a:off x="8365261" y="145974"/>
            <a:ext cx="576064" cy="3611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084229"/>
            <a:ext cx="2880320" cy="3322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1" y="1084229"/>
            <a:ext cx="2880320" cy="3322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9" y="1084229"/>
            <a:ext cx="2880319" cy="3322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tângulo 5"/>
          <p:cNvSpPr/>
          <p:nvPr/>
        </p:nvSpPr>
        <p:spPr>
          <a:xfrm>
            <a:off x="179512" y="752599"/>
            <a:ext cx="287370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Geral</a:t>
            </a:r>
            <a:endParaRPr lang="pt-BR" dirty="0"/>
          </a:p>
        </p:txBody>
      </p:sp>
      <p:sp>
        <p:nvSpPr>
          <p:cNvPr id="14" name="Retângulo 13"/>
          <p:cNvSpPr/>
          <p:nvPr/>
        </p:nvSpPr>
        <p:spPr>
          <a:xfrm>
            <a:off x="3131840" y="783377"/>
            <a:ext cx="287370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200" dirty="0" smtClean="0">
                <a:solidFill>
                  <a:srgbClr val="5F5F5F"/>
                </a:solidFill>
                <a:latin typeface="Gill Sans Std" pitchFamily="34" charset="0"/>
              </a:rPr>
              <a:t>Visão usuário – sem ‘Monitoração TD’</a:t>
            </a:r>
            <a:endParaRPr lang="pt-BR" sz="1600" dirty="0"/>
          </a:p>
        </p:txBody>
      </p:sp>
      <p:sp>
        <p:nvSpPr>
          <p:cNvPr id="16" name="Retângulo 15"/>
          <p:cNvSpPr/>
          <p:nvPr/>
        </p:nvSpPr>
        <p:spPr>
          <a:xfrm>
            <a:off x="6090781" y="679565"/>
            <a:ext cx="2873707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050" dirty="0" smtClean="0">
                <a:solidFill>
                  <a:srgbClr val="5F5F5F"/>
                </a:solidFill>
                <a:latin typeface="Gill Sans Std" pitchFamily="34" charset="0"/>
              </a:rPr>
              <a:t>Visão usuário – </a:t>
            </a:r>
            <a:br>
              <a:rPr lang="pt-BR" sz="1050" dirty="0" smtClean="0">
                <a:solidFill>
                  <a:srgbClr val="5F5F5F"/>
                </a:solidFill>
                <a:latin typeface="Gill Sans Std" pitchFamily="34" charset="0"/>
              </a:rPr>
            </a:br>
            <a:r>
              <a:rPr lang="pt-BR" sz="1050" dirty="0" smtClean="0">
                <a:solidFill>
                  <a:srgbClr val="5F5F5F"/>
                </a:solidFill>
                <a:latin typeface="Gill Sans Std" pitchFamily="34" charset="0"/>
              </a:rPr>
              <a:t>sem ‘Monitoração TD’ e sem ‘Experiência CN’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776320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3"/>
            <a:ext cx="9144000" cy="65309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lIns="91358" tIns="45680" rIns="91358" bIns="45680" rtlCol="0">
            <a:spAutoFit/>
          </a:bodyPr>
          <a:lstStyle>
            <a:defPPr>
              <a:defRPr lang="pt-BR"/>
            </a:defPPr>
            <a:lvl1pPr>
              <a:defRPr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defRPr>
            </a:lvl1pPr>
          </a:lstStyle>
          <a:p>
            <a:r>
              <a:rPr lang="pt-BR" dirty="0"/>
              <a:t>PROCESSOS E PERFORMANCE </a:t>
            </a:r>
          </a:p>
          <a:p>
            <a:r>
              <a:rPr lang="pt-BR" dirty="0" smtClean="0">
                <a:latin typeface="Gill Sans Std Light" pitchFamily="34" charset="0"/>
              </a:rPr>
              <a:t>Visão Volumetria por VP e Diretoria</a:t>
            </a:r>
            <a:endParaRPr lang="pt-BR" dirty="0">
              <a:latin typeface="Gill Sans Std Light" pitchFamily="34" charset="0"/>
            </a:endParaRPr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916360"/>
            <a:ext cx="8027800" cy="3283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tângulo 2"/>
          <p:cNvSpPr/>
          <p:nvPr/>
        </p:nvSpPr>
        <p:spPr>
          <a:xfrm>
            <a:off x="611560" y="4406424"/>
            <a:ext cx="8027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>
                <a:solidFill>
                  <a:srgbClr val="5F5F5F"/>
                </a:solidFill>
                <a:latin typeface="Gill Sans Std" pitchFamily="34" charset="0"/>
              </a:rPr>
              <a:t>Detalhes das Diretorias por Vice Presidência nos próximos Slides.</a:t>
            </a:r>
            <a:endParaRPr lang="pt-BR" dirty="0">
              <a:solidFill>
                <a:srgbClr val="5F5F5F"/>
              </a:solidFill>
              <a:latin typeface="Gill Sans St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769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667634"/>
            <a:ext cx="8064896" cy="208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796070"/>
            <a:ext cx="8064896" cy="1131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980900"/>
            <a:ext cx="8064896" cy="11154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0" y="3"/>
            <a:ext cx="9144000" cy="65309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lIns="91358" tIns="45680" rIns="91358" bIns="45680" rtlCol="0">
            <a:spAutoFit/>
          </a:bodyPr>
          <a:lstStyle>
            <a:defPPr>
              <a:defRPr lang="pt-BR"/>
            </a:defPPr>
            <a:lvl1pPr>
              <a:defRPr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defRPr>
            </a:lvl1pPr>
          </a:lstStyle>
          <a:p>
            <a:r>
              <a:rPr lang="pt-BR" dirty="0"/>
              <a:t>PROCESSOS E PERFORMANCE </a:t>
            </a:r>
          </a:p>
          <a:p>
            <a:r>
              <a:rPr lang="pt-BR" dirty="0" smtClean="0">
                <a:latin typeface="Gill Sans Std Light" pitchFamily="34" charset="0"/>
              </a:rPr>
              <a:t>Visão Volumetria por VP e Diretoria</a:t>
            </a:r>
            <a:endParaRPr lang="pt-BR" dirty="0">
              <a:latin typeface="Gill Sans Std Light" pitchFamily="34" charset="0"/>
            </a:endParaRPr>
          </a:p>
        </p:txBody>
      </p:sp>
      <p:sp>
        <p:nvSpPr>
          <p:cNvPr id="13" name="Seta para a direita 12">
            <a:hlinkClick r:id="rId5" action="ppaction://hlinksldjump"/>
          </p:cNvPr>
          <p:cNvSpPr/>
          <p:nvPr/>
        </p:nvSpPr>
        <p:spPr>
          <a:xfrm rot="10800000">
            <a:off x="8365261" y="145974"/>
            <a:ext cx="576064" cy="3611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5867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/>
          <p:cNvSpPr txBox="1"/>
          <p:nvPr/>
        </p:nvSpPr>
        <p:spPr>
          <a:xfrm>
            <a:off x="0" y="3"/>
            <a:ext cx="9144000" cy="65309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lIns="91358" tIns="45680" rIns="91358" bIns="45680" rtlCol="0">
            <a:spAutoFit/>
          </a:bodyPr>
          <a:lstStyle>
            <a:defPPr>
              <a:defRPr lang="pt-BR"/>
            </a:defPPr>
            <a:lvl1pPr>
              <a:defRPr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defRPr>
            </a:lvl1pPr>
          </a:lstStyle>
          <a:p>
            <a:r>
              <a:rPr lang="pt-BR" dirty="0"/>
              <a:t>PROCESSOS E PERFORMANCE </a:t>
            </a:r>
          </a:p>
          <a:p>
            <a:r>
              <a:rPr lang="pt-BR" dirty="0" smtClean="0">
                <a:latin typeface="Gill Sans Std Light" pitchFamily="34" charset="0"/>
              </a:rPr>
              <a:t>Visão Volumetria por VP e Diretoria</a:t>
            </a:r>
            <a:endParaRPr lang="pt-BR" dirty="0">
              <a:latin typeface="Gill Sans Std Light" pitchFamily="34" charset="0"/>
            </a:endParaRPr>
          </a:p>
        </p:txBody>
      </p:sp>
      <p:sp>
        <p:nvSpPr>
          <p:cNvPr id="13" name="Seta para a direita 12">
            <a:hlinkClick r:id="rId2" action="ppaction://hlinksldjump"/>
          </p:cNvPr>
          <p:cNvSpPr/>
          <p:nvPr/>
        </p:nvSpPr>
        <p:spPr>
          <a:xfrm rot="10800000">
            <a:off x="8365261" y="145974"/>
            <a:ext cx="576064" cy="3611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772344"/>
            <a:ext cx="8064896" cy="2383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220616"/>
            <a:ext cx="8064896" cy="1412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9984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772344"/>
            <a:ext cx="8064896" cy="85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658363"/>
            <a:ext cx="8064896" cy="100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324" y="2704695"/>
            <a:ext cx="8064896" cy="1147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712" y="3889057"/>
            <a:ext cx="8064896" cy="100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CaixaDeTexto 10"/>
          <p:cNvSpPr txBox="1"/>
          <p:nvPr/>
        </p:nvSpPr>
        <p:spPr>
          <a:xfrm>
            <a:off x="0" y="3"/>
            <a:ext cx="9144000" cy="65309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lIns="91358" tIns="45680" rIns="91358" bIns="45680" rtlCol="0">
            <a:spAutoFit/>
          </a:bodyPr>
          <a:lstStyle>
            <a:defPPr>
              <a:defRPr lang="pt-BR"/>
            </a:defPPr>
            <a:lvl1pPr>
              <a:defRPr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defRPr>
            </a:lvl1pPr>
          </a:lstStyle>
          <a:p>
            <a:r>
              <a:rPr lang="pt-BR" dirty="0"/>
              <a:t>PROCESSOS E PERFORMANCE </a:t>
            </a:r>
          </a:p>
          <a:p>
            <a:r>
              <a:rPr lang="pt-BR" dirty="0" smtClean="0">
                <a:latin typeface="Gill Sans Std Light" pitchFamily="34" charset="0"/>
              </a:rPr>
              <a:t>Visão Volumetria por VP e Diretoria</a:t>
            </a:r>
            <a:endParaRPr lang="pt-BR" dirty="0">
              <a:latin typeface="Gill Sans Std Light" pitchFamily="34" charset="0"/>
            </a:endParaRPr>
          </a:p>
        </p:txBody>
      </p:sp>
      <p:sp>
        <p:nvSpPr>
          <p:cNvPr id="12" name="Seta para a direita 11">
            <a:hlinkClick r:id="rId6" action="ppaction://hlinksldjump"/>
          </p:cNvPr>
          <p:cNvSpPr/>
          <p:nvPr/>
        </p:nvSpPr>
        <p:spPr>
          <a:xfrm rot="10800000">
            <a:off x="8365261" y="145974"/>
            <a:ext cx="576064" cy="3611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7250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0" y="3"/>
            <a:ext cx="9144000" cy="65309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lIns="91358" tIns="45680" rIns="91358" bIns="45680" rtlCol="0">
            <a:spAutoFit/>
          </a:bodyPr>
          <a:lstStyle>
            <a:defPPr>
              <a:defRPr lang="pt-BR"/>
            </a:defPPr>
            <a:lvl1pPr>
              <a:defRPr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defRPr>
            </a:lvl1pPr>
          </a:lstStyle>
          <a:p>
            <a:r>
              <a:rPr lang="pt-BR" dirty="0"/>
              <a:t>PROCESSOS E PERFORMANCE </a:t>
            </a:r>
          </a:p>
          <a:p>
            <a:r>
              <a:rPr lang="pt-BR" dirty="0" smtClean="0">
                <a:latin typeface="Gill Sans Std Light" pitchFamily="34" charset="0"/>
              </a:rPr>
              <a:t>Visão Volumetria por VP e Diretoria</a:t>
            </a:r>
            <a:endParaRPr lang="pt-BR" dirty="0">
              <a:latin typeface="Gill Sans Std Light" pitchFamily="34" charset="0"/>
            </a:endParaRPr>
          </a:p>
        </p:txBody>
      </p:sp>
      <p:sp>
        <p:nvSpPr>
          <p:cNvPr id="12" name="Seta para a direita 11">
            <a:hlinkClick r:id="rId2" action="ppaction://hlinksldjump"/>
          </p:cNvPr>
          <p:cNvSpPr/>
          <p:nvPr/>
        </p:nvSpPr>
        <p:spPr>
          <a:xfrm rot="10800000">
            <a:off x="8365261" y="145974"/>
            <a:ext cx="576064" cy="3611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31" y="844352"/>
            <a:ext cx="8286760" cy="1870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181" y="2756764"/>
            <a:ext cx="8286760" cy="668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31" y="3460673"/>
            <a:ext cx="8293210" cy="1405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2374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0" y="3"/>
            <a:ext cx="9144000" cy="65309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lIns="91358" tIns="45680" rIns="91358" bIns="45680" rtlCol="0">
            <a:spAutoFit/>
          </a:bodyPr>
          <a:lstStyle>
            <a:defPPr>
              <a:defRPr lang="pt-BR"/>
            </a:defPPr>
            <a:lvl1pPr>
              <a:defRPr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defRPr>
            </a:lvl1pPr>
          </a:lstStyle>
          <a:p>
            <a:r>
              <a:rPr lang="pt-BR" dirty="0"/>
              <a:t>PROCESSOS E PERFORMANCE </a:t>
            </a:r>
          </a:p>
          <a:p>
            <a:r>
              <a:rPr lang="pt-BR" dirty="0" smtClean="0">
                <a:latin typeface="Gill Sans Std Light" pitchFamily="34" charset="0"/>
              </a:rPr>
              <a:t>Visão Volumetria por VP e Diretoria</a:t>
            </a:r>
            <a:endParaRPr lang="pt-BR" dirty="0">
              <a:latin typeface="Gill Sans Std Light" pitchFamily="34" charset="0"/>
            </a:endParaRPr>
          </a:p>
        </p:txBody>
      </p:sp>
      <p:sp>
        <p:nvSpPr>
          <p:cNvPr id="12" name="Seta para a direita 11">
            <a:hlinkClick r:id="rId2" action="ppaction://hlinksldjump"/>
          </p:cNvPr>
          <p:cNvSpPr/>
          <p:nvPr/>
        </p:nvSpPr>
        <p:spPr>
          <a:xfrm rot="10800000">
            <a:off x="8365261" y="145974"/>
            <a:ext cx="576064" cy="3611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181" y="744866"/>
            <a:ext cx="8276538" cy="2680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179" y="3449341"/>
            <a:ext cx="8279540" cy="648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181" y="4127196"/>
            <a:ext cx="8276537" cy="802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8378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0" y="3"/>
            <a:ext cx="9144000" cy="65309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lIns="91358" tIns="45680" rIns="91358" bIns="45680" rtlCol="0">
            <a:spAutoFit/>
          </a:bodyPr>
          <a:lstStyle>
            <a:defPPr>
              <a:defRPr lang="pt-BR"/>
            </a:defPPr>
            <a:lvl1pPr>
              <a:defRPr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defRPr>
            </a:lvl1pPr>
          </a:lstStyle>
          <a:p>
            <a:r>
              <a:rPr lang="pt-BR" dirty="0"/>
              <a:t>PROCESSOS E PERFORMANCE </a:t>
            </a:r>
          </a:p>
          <a:p>
            <a:r>
              <a:rPr lang="pt-BR" dirty="0" smtClean="0">
                <a:latin typeface="Gill Sans Std Light" pitchFamily="34" charset="0"/>
              </a:rPr>
              <a:t>Visão Volumetria por VP e Diretoria</a:t>
            </a:r>
            <a:endParaRPr lang="pt-BR" dirty="0">
              <a:latin typeface="Gill Sans Std Light" pitchFamily="34" charset="0"/>
            </a:endParaRPr>
          </a:p>
        </p:txBody>
      </p:sp>
      <p:sp>
        <p:nvSpPr>
          <p:cNvPr id="12" name="Seta para a direita 11">
            <a:hlinkClick r:id="rId2" action="ppaction://hlinksldjump"/>
          </p:cNvPr>
          <p:cNvSpPr/>
          <p:nvPr/>
        </p:nvSpPr>
        <p:spPr>
          <a:xfrm rot="10800000">
            <a:off x="8365261" y="145974"/>
            <a:ext cx="576064" cy="3611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182" y="772344"/>
            <a:ext cx="8263638" cy="173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182" y="2572544"/>
            <a:ext cx="8263636" cy="1117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8742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0" y="3"/>
            <a:ext cx="9144000" cy="65309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lIns="91358" tIns="45680" rIns="91358" bIns="45680" rtlCol="0">
            <a:spAutoFit/>
          </a:bodyPr>
          <a:lstStyle>
            <a:defPPr>
              <a:defRPr lang="pt-BR"/>
            </a:defPPr>
            <a:lvl1pPr>
              <a:defRPr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defRPr>
            </a:lvl1pPr>
          </a:lstStyle>
          <a:p>
            <a:r>
              <a:rPr lang="pt-BR" dirty="0"/>
              <a:t>PROCESSOS E PERFORMANCE </a:t>
            </a:r>
          </a:p>
          <a:p>
            <a:r>
              <a:rPr lang="pt-BR" dirty="0" smtClean="0">
                <a:latin typeface="Gill Sans Std Light" pitchFamily="34" charset="0"/>
              </a:rPr>
              <a:t>Visão Volumetria por VP e Diretoria</a:t>
            </a:r>
            <a:endParaRPr lang="pt-BR" dirty="0">
              <a:latin typeface="Gill Sans Std Light" pitchFamily="34" charset="0"/>
            </a:endParaRPr>
          </a:p>
        </p:txBody>
      </p:sp>
      <p:sp>
        <p:nvSpPr>
          <p:cNvPr id="12" name="Seta para a direita 11">
            <a:hlinkClick r:id="rId2" action="ppaction://hlinksldjump"/>
          </p:cNvPr>
          <p:cNvSpPr/>
          <p:nvPr/>
        </p:nvSpPr>
        <p:spPr>
          <a:xfrm rot="10800000">
            <a:off x="8365261" y="145974"/>
            <a:ext cx="576064" cy="3611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41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183" y="1204392"/>
            <a:ext cx="8263636" cy="811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184" y="2081747"/>
            <a:ext cx="8263634" cy="648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185" y="2816500"/>
            <a:ext cx="8263632" cy="802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4100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0" y="3"/>
            <a:ext cx="9144000" cy="65309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lIns="91358" tIns="45680" rIns="91358" bIns="45680" rtlCol="0">
            <a:spAutoFit/>
          </a:bodyPr>
          <a:lstStyle>
            <a:defPPr>
              <a:defRPr lang="pt-BR"/>
            </a:defPPr>
            <a:lvl1pPr>
              <a:defRPr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defRPr>
            </a:lvl1pPr>
          </a:lstStyle>
          <a:p>
            <a:r>
              <a:rPr lang="pt-BR" dirty="0"/>
              <a:t>PROCESSOS E PERFORMANCE </a:t>
            </a:r>
          </a:p>
          <a:p>
            <a:r>
              <a:rPr lang="pt-BR" dirty="0" smtClean="0">
                <a:latin typeface="Gill Sans Std Light" pitchFamily="34" charset="0"/>
              </a:rPr>
              <a:t>Visão SLA por VP e Diretoria</a:t>
            </a:r>
            <a:endParaRPr lang="pt-BR" dirty="0">
              <a:latin typeface="Gill Sans Std Light" pitchFamily="34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56" y="988368"/>
            <a:ext cx="9041288" cy="29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etângulo 12"/>
          <p:cNvSpPr/>
          <p:nvPr/>
        </p:nvSpPr>
        <p:spPr>
          <a:xfrm>
            <a:off x="2512343" y="4299719"/>
            <a:ext cx="1296144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050" dirty="0" smtClean="0">
                <a:solidFill>
                  <a:srgbClr val="5F5F5F"/>
                </a:solidFill>
                <a:latin typeface="Gill Sans Std" pitchFamily="34" charset="0"/>
              </a:rPr>
              <a:t>Abertura e Resolução dentro do mês</a:t>
            </a:r>
            <a:endParaRPr lang="pt-BR" sz="1050" dirty="0">
              <a:solidFill>
                <a:srgbClr val="5F5F5F"/>
              </a:solidFill>
              <a:latin typeface="Gill Sans Std" pitchFamily="34" charset="0"/>
            </a:endParaRPr>
          </a:p>
        </p:txBody>
      </p:sp>
      <p:cxnSp>
        <p:nvCxnSpPr>
          <p:cNvPr id="5" name="Conector de seta reta 4"/>
          <p:cNvCxnSpPr>
            <a:stCxn id="13" idx="0"/>
          </p:cNvCxnSpPr>
          <p:nvPr/>
        </p:nvCxnSpPr>
        <p:spPr>
          <a:xfrm flipV="1">
            <a:off x="3160415" y="4120262"/>
            <a:ext cx="0" cy="17945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ângulo 5"/>
          <p:cNvSpPr/>
          <p:nvPr/>
        </p:nvSpPr>
        <p:spPr>
          <a:xfrm>
            <a:off x="2743225" y="1060376"/>
            <a:ext cx="792088" cy="2952328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/>
          <p:cNvSpPr/>
          <p:nvPr/>
        </p:nvSpPr>
        <p:spPr>
          <a:xfrm>
            <a:off x="4619625" y="4299719"/>
            <a:ext cx="129614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050" dirty="0" smtClean="0">
                <a:solidFill>
                  <a:srgbClr val="5F5F5F"/>
                </a:solidFill>
                <a:latin typeface="Gill Sans Std" pitchFamily="34" charset="0"/>
              </a:rPr>
              <a:t>Abertura </a:t>
            </a:r>
            <a:r>
              <a:rPr lang="pt-BR" sz="1050" dirty="0">
                <a:solidFill>
                  <a:srgbClr val="5F5F5F"/>
                </a:solidFill>
                <a:latin typeface="Gill Sans Std" pitchFamily="34" charset="0"/>
              </a:rPr>
              <a:t>em qualquer mês e resolução mês corrente.</a:t>
            </a:r>
          </a:p>
        </p:txBody>
      </p:sp>
      <p:cxnSp>
        <p:nvCxnSpPr>
          <p:cNvPr id="16" name="Conector de seta reta 15"/>
          <p:cNvCxnSpPr>
            <a:stCxn id="15" idx="0"/>
          </p:cNvCxnSpPr>
          <p:nvPr/>
        </p:nvCxnSpPr>
        <p:spPr>
          <a:xfrm flipV="1">
            <a:off x="5267697" y="4120263"/>
            <a:ext cx="0" cy="17945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tângulo 16"/>
          <p:cNvSpPr/>
          <p:nvPr/>
        </p:nvSpPr>
        <p:spPr>
          <a:xfrm>
            <a:off x="4850507" y="1060376"/>
            <a:ext cx="792088" cy="2952328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/>
          <p:cNvSpPr/>
          <p:nvPr/>
        </p:nvSpPr>
        <p:spPr>
          <a:xfrm>
            <a:off x="6535266" y="4280669"/>
            <a:ext cx="160856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050" dirty="0">
                <a:solidFill>
                  <a:srgbClr val="5F5F5F"/>
                </a:solidFill>
                <a:latin typeface="Gill Sans Std" pitchFamily="34" charset="0"/>
              </a:rPr>
              <a:t>Abertos no mês e </a:t>
            </a:r>
            <a:r>
              <a:rPr lang="pt-BR" sz="1050" dirty="0" err="1" smtClean="0">
                <a:solidFill>
                  <a:srgbClr val="5F5F5F"/>
                </a:solidFill>
                <a:latin typeface="Gill Sans Std" pitchFamily="34" charset="0"/>
              </a:rPr>
              <a:t>Vol</a:t>
            </a:r>
            <a:r>
              <a:rPr lang="pt-BR" sz="1050" dirty="0" smtClean="0">
                <a:solidFill>
                  <a:srgbClr val="5F5F5F"/>
                </a:solidFill>
                <a:latin typeface="Gill Sans Std" pitchFamily="34" charset="0"/>
              </a:rPr>
              <a:t> </a:t>
            </a:r>
            <a:r>
              <a:rPr lang="pt-BR" sz="1050" dirty="0">
                <a:solidFill>
                  <a:srgbClr val="5F5F5F"/>
                </a:solidFill>
                <a:latin typeface="Gill Sans Std" pitchFamily="34" charset="0"/>
              </a:rPr>
              <a:t>de resolução total. A diferença com a "abertura mês", é o </a:t>
            </a:r>
            <a:r>
              <a:rPr lang="pt-BR" sz="1050" dirty="0" err="1">
                <a:solidFill>
                  <a:srgbClr val="5F5F5F"/>
                </a:solidFill>
                <a:latin typeface="Gill Sans Std" pitchFamily="34" charset="0"/>
              </a:rPr>
              <a:t>backlog</a:t>
            </a:r>
            <a:r>
              <a:rPr lang="pt-BR" sz="1050" dirty="0">
                <a:solidFill>
                  <a:srgbClr val="5F5F5F"/>
                </a:solidFill>
                <a:latin typeface="Gill Sans Std" pitchFamily="34" charset="0"/>
              </a:rPr>
              <a:t>.</a:t>
            </a:r>
          </a:p>
        </p:txBody>
      </p:sp>
      <p:cxnSp>
        <p:nvCxnSpPr>
          <p:cNvPr id="19" name="Conector de seta reta 18"/>
          <p:cNvCxnSpPr>
            <a:stCxn id="18" idx="0"/>
            <a:endCxn id="20" idx="2"/>
          </p:cNvCxnSpPr>
          <p:nvPr/>
        </p:nvCxnSpPr>
        <p:spPr>
          <a:xfrm flipH="1" flipV="1">
            <a:off x="7334783" y="4012704"/>
            <a:ext cx="4763" cy="26796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tângulo 19"/>
          <p:cNvSpPr/>
          <p:nvPr/>
        </p:nvSpPr>
        <p:spPr>
          <a:xfrm>
            <a:off x="6938739" y="1060376"/>
            <a:ext cx="792088" cy="2952328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2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0" y="3"/>
            <a:ext cx="9144000" cy="65309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lIns="91358" tIns="45680" rIns="91358" bIns="45680" rtlCol="0">
            <a:spAutoFit/>
          </a:bodyPr>
          <a:lstStyle>
            <a:defPPr>
              <a:defRPr lang="pt-BR"/>
            </a:defPPr>
            <a:lvl1pPr>
              <a:defRPr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defRPr>
            </a:lvl1pPr>
          </a:lstStyle>
          <a:p>
            <a:r>
              <a:rPr lang="pt-BR" dirty="0"/>
              <a:t>PROCESSOS E PERFORMANCE </a:t>
            </a:r>
          </a:p>
          <a:p>
            <a:r>
              <a:rPr lang="pt-BR" dirty="0" smtClean="0">
                <a:latin typeface="Gill Sans Std Light" pitchFamily="34" charset="0"/>
              </a:rPr>
              <a:t>Visão SLA por VP e Diretoria</a:t>
            </a:r>
            <a:endParaRPr lang="pt-BR" dirty="0">
              <a:latin typeface="Gill Sans Std Light" pitchFamily="34" charset="0"/>
            </a:endParaRPr>
          </a:p>
        </p:txBody>
      </p:sp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46" y="988368"/>
            <a:ext cx="9041289" cy="3022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tângulo 6"/>
          <p:cNvSpPr/>
          <p:nvPr/>
        </p:nvSpPr>
        <p:spPr>
          <a:xfrm>
            <a:off x="2521868" y="4318769"/>
            <a:ext cx="1296144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050" dirty="0" smtClean="0">
                <a:solidFill>
                  <a:srgbClr val="5F5F5F"/>
                </a:solidFill>
                <a:latin typeface="Gill Sans Std" pitchFamily="34" charset="0"/>
              </a:rPr>
              <a:t>Abertura e Resolução dentro do mês</a:t>
            </a:r>
            <a:endParaRPr lang="pt-BR" sz="1050" dirty="0">
              <a:solidFill>
                <a:srgbClr val="5F5F5F"/>
              </a:solidFill>
              <a:latin typeface="Gill Sans Std" pitchFamily="34" charset="0"/>
            </a:endParaRPr>
          </a:p>
        </p:txBody>
      </p:sp>
      <p:cxnSp>
        <p:nvCxnSpPr>
          <p:cNvPr id="8" name="Conector de seta reta 7"/>
          <p:cNvCxnSpPr>
            <a:stCxn id="7" idx="0"/>
          </p:cNvCxnSpPr>
          <p:nvPr/>
        </p:nvCxnSpPr>
        <p:spPr>
          <a:xfrm flipV="1">
            <a:off x="3169940" y="4139312"/>
            <a:ext cx="0" cy="17945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8"/>
          <p:cNvSpPr/>
          <p:nvPr/>
        </p:nvSpPr>
        <p:spPr>
          <a:xfrm>
            <a:off x="2752750" y="1079426"/>
            <a:ext cx="792088" cy="2952328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4629150" y="4318769"/>
            <a:ext cx="129614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050" dirty="0" smtClean="0">
                <a:solidFill>
                  <a:srgbClr val="5F5F5F"/>
                </a:solidFill>
                <a:latin typeface="Gill Sans Std" pitchFamily="34" charset="0"/>
              </a:rPr>
              <a:t>Abertura </a:t>
            </a:r>
            <a:r>
              <a:rPr lang="pt-BR" sz="1050" dirty="0">
                <a:solidFill>
                  <a:srgbClr val="5F5F5F"/>
                </a:solidFill>
                <a:latin typeface="Gill Sans Std" pitchFamily="34" charset="0"/>
              </a:rPr>
              <a:t>em qualquer mês e resolução mês corrente.</a:t>
            </a:r>
          </a:p>
        </p:txBody>
      </p:sp>
      <p:cxnSp>
        <p:nvCxnSpPr>
          <p:cNvPr id="13" name="Conector de seta reta 12"/>
          <p:cNvCxnSpPr>
            <a:stCxn id="10" idx="0"/>
          </p:cNvCxnSpPr>
          <p:nvPr/>
        </p:nvCxnSpPr>
        <p:spPr>
          <a:xfrm flipV="1">
            <a:off x="5277222" y="4139313"/>
            <a:ext cx="0" cy="17945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>
          <a:xfrm>
            <a:off x="4860032" y="1079426"/>
            <a:ext cx="792088" cy="2952328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/>
          <p:cNvSpPr/>
          <p:nvPr/>
        </p:nvSpPr>
        <p:spPr>
          <a:xfrm>
            <a:off x="6544791" y="4299719"/>
            <a:ext cx="160856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050" dirty="0">
                <a:solidFill>
                  <a:srgbClr val="5F5F5F"/>
                </a:solidFill>
                <a:latin typeface="Gill Sans Std" pitchFamily="34" charset="0"/>
              </a:rPr>
              <a:t>Abertos no mês e </a:t>
            </a:r>
            <a:r>
              <a:rPr lang="pt-BR" sz="1050" dirty="0" err="1" smtClean="0">
                <a:solidFill>
                  <a:srgbClr val="5F5F5F"/>
                </a:solidFill>
                <a:latin typeface="Gill Sans Std" pitchFamily="34" charset="0"/>
              </a:rPr>
              <a:t>Vol</a:t>
            </a:r>
            <a:r>
              <a:rPr lang="pt-BR" sz="1050" dirty="0" smtClean="0">
                <a:solidFill>
                  <a:srgbClr val="5F5F5F"/>
                </a:solidFill>
                <a:latin typeface="Gill Sans Std" pitchFamily="34" charset="0"/>
              </a:rPr>
              <a:t> </a:t>
            </a:r>
            <a:r>
              <a:rPr lang="pt-BR" sz="1050" dirty="0">
                <a:solidFill>
                  <a:srgbClr val="5F5F5F"/>
                </a:solidFill>
                <a:latin typeface="Gill Sans Std" pitchFamily="34" charset="0"/>
              </a:rPr>
              <a:t>de resolução total. A diferença com a "abertura mês", é o </a:t>
            </a:r>
            <a:r>
              <a:rPr lang="pt-BR" sz="1050" dirty="0" err="1">
                <a:solidFill>
                  <a:srgbClr val="5F5F5F"/>
                </a:solidFill>
                <a:latin typeface="Gill Sans Std" pitchFamily="34" charset="0"/>
              </a:rPr>
              <a:t>backlog</a:t>
            </a:r>
            <a:r>
              <a:rPr lang="pt-BR" sz="1050" dirty="0">
                <a:solidFill>
                  <a:srgbClr val="5F5F5F"/>
                </a:solidFill>
                <a:latin typeface="Gill Sans Std" pitchFamily="34" charset="0"/>
              </a:rPr>
              <a:t>.</a:t>
            </a:r>
          </a:p>
        </p:txBody>
      </p:sp>
      <p:cxnSp>
        <p:nvCxnSpPr>
          <p:cNvPr id="16" name="Conector de seta reta 15"/>
          <p:cNvCxnSpPr>
            <a:stCxn id="15" idx="0"/>
            <a:endCxn id="17" idx="2"/>
          </p:cNvCxnSpPr>
          <p:nvPr/>
        </p:nvCxnSpPr>
        <p:spPr>
          <a:xfrm flipH="1" flipV="1">
            <a:off x="7344308" y="4031754"/>
            <a:ext cx="4763" cy="26796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tângulo 16"/>
          <p:cNvSpPr/>
          <p:nvPr/>
        </p:nvSpPr>
        <p:spPr>
          <a:xfrm>
            <a:off x="6948264" y="1079426"/>
            <a:ext cx="792088" cy="2952328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8886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0" y="3"/>
            <a:ext cx="9144000" cy="65309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lIns="91358" tIns="45680" rIns="91358" bIns="45680" rtlCol="0">
            <a:spAutoFit/>
          </a:bodyPr>
          <a:lstStyle>
            <a:defPPr>
              <a:defRPr lang="pt-BR"/>
            </a:defPPr>
            <a:lvl1pPr>
              <a:defRPr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defRPr>
            </a:lvl1pPr>
          </a:lstStyle>
          <a:p>
            <a:r>
              <a:rPr lang="pt-BR" dirty="0"/>
              <a:t>PROCESSOS E PERFORMANCE </a:t>
            </a:r>
          </a:p>
          <a:p>
            <a:r>
              <a:rPr lang="pt-BR" dirty="0" smtClean="0">
                <a:latin typeface="Gill Sans Std Light" pitchFamily="34" charset="0"/>
              </a:rPr>
              <a:t>Visão SLA por VP e Diretoria</a:t>
            </a:r>
            <a:endParaRPr lang="pt-BR" dirty="0">
              <a:latin typeface="Gill Sans Std Light" pitchFamily="34" charset="0"/>
            </a:endParaRPr>
          </a:p>
        </p:txBody>
      </p:sp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81" y="999356"/>
            <a:ext cx="9041288" cy="29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tângulo 6"/>
          <p:cNvSpPr/>
          <p:nvPr/>
        </p:nvSpPr>
        <p:spPr>
          <a:xfrm>
            <a:off x="2531393" y="4318769"/>
            <a:ext cx="1296144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050" dirty="0" smtClean="0">
                <a:solidFill>
                  <a:srgbClr val="5F5F5F"/>
                </a:solidFill>
                <a:latin typeface="Gill Sans Std" pitchFamily="34" charset="0"/>
              </a:rPr>
              <a:t>Abertura e Resolução dentro do mês</a:t>
            </a:r>
            <a:endParaRPr lang="pt-BR" sz="1050" dirty="0">
              <a:solidFill>
                <a:srgbClr val="5F5F5F"/>
              </a:solidFill>
              <a:latin typeface="Gill Sans Std" pitchFamily="34" charset="0"/>
            </a:endParaRPr>
          </a:p>
        </p:txBody>
      </p:sp>
      <p:cxnSp>
        <p:nvCxnSpPr>
          <p:cNvPr id="8" name="Conector de seta reta 7"/>
          <p:cNvCxnSpPr>
            <a:stCxn id="7" idx="0"/>
          </p:cNvCxnSpPr>
          <p:nvPr/>
        </p:nvCxnSpPr>
        <p:spPr>
          <a:xfrm flipV="1">
            <a:off x="3179465" y="4139312"/>
            <a:ext cx="0" cy="17945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8"/>
          <p:cNvSpPr/>
          <p:nvPr/>
        </p:nvSpPr>
        <p:spPr>
          <a:xfrm>
            <a:off x="2762275" y="1079426"/>
            <a:ext cx="792088" cy="2952328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4638675" y="4318769"/>
            <a:ext cx="129614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050" dirty="0" smtClean="0">
                <a:solidFill>
                  <a:srgbClr val="5F5F5F"/>
                </a:solidFill>
                <a:latin typeface="Gill Sans Std" pitchFamily="34" charset="0"/>
              </a:rPr>
              <a:t>Abertura </a:t>
            </a:r>
            <a:r>
              <a:rPr lang="pt-BR" sz="1050" dirty="0">
                <a:solidFill>
                  <a:srgbClr val="5F5F5F"/>
                </a:solidFill>
                <a:latin typeface="Gill Sans Std" pitchFamily="34" charset="0"/>
              </a:rPr>
              <a:t>em qualquer mês e resolução mês corrente.</a:t>
            </a:r>
          </a:p>
        </p:txBody>
      </p:sp>
      <p:cxnSp>
        <p:nvCxnSpPr>
          <p:cNvPr id="13" name="Conector de seta reta 12"/>
          <p:cNvCxnSpPr>
            <a:stCxn id="10" idx="0"/>
          </p:cNvCxnSpPr>
          <p:nvPr/>
        </p:nvCxnSpPr>
        <p:spPr>
          <a:xfrm flipV="1">
            <a:off x="5286747" y="4139313"/>
            <a:ext cx="0" cy="17945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>
          <a:xfrm>
            <a:off x="4869557" y="1079426"/>
            <a:ext cx="792088" cy="2952328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/>
          <p:cNvSpPr/>
          <p:nvPr/>
        </p:nvSpPr>
        <p:spPr>
          <a:xfrm>
            <a:off x="6554316" y="4299719"/>
            <a:ext cx="160856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050" dirty="0">
                <a:solidFill>
                  <a:srgbClr val="5F5F5F"/>
                </a:solidFill>
                <a:latin typeface="Gill Sans Std" pitchFamily="34" charset="0"/>
              </a:rPr>
              <a:t>Abertos no mês e </a:t>
            </a:r>
            <a:r>
              <a:rPr lang="pt-BR" sz="1050" dirty="0" err="1" smtClean="0">
                <a:solidFill>
                  <a:srgbClr val="5F5F5F"/>
                </a:solidFill>
                <a:latin typeface="Gill Sans Std" pitchFamily="34" charset="0"/>
              </a:rPr>
              <a:t>Vol</a:t>
            </a:r>
            <a:r>
              <a:rPr lang="pt-BR" sz="1050" dirty="0" smtClean="0">
                <a:solidFill>
                  <a:srgbClr val="5F5F5F"/>
                </a:solidFill>
                <a:latin typeface="Gill Sans Std" pitchFamily="34" charset="0"/>
              </a:rPr>
              <a:t> </a:t>
            </a:r>
            <a:r>
              <a:rPr lang="pt-BR" sz="1050" dirty="0">
                <a:solidFill>
                  <a:srgbClr val="5F5F5F"/>
                </a:solidFill>
                <a:latin typeface="Gill Sans Std" pitchFamily="34" charset="0"/>
              </a:rPr>
              <a:t>de resolução total. A diferença com a "abertura mês", é o </a:t>
            </a:r>
            <a:r>
              <a:rPr lang="pt-BR" sz="1050" dirty="0" err="1">
                <a:solidFill>
                  <a:srgbClr val="5F5F5F"/>
                </a:solidFill>
                <a:latin typeface="Gill Sans Std" pitchFamily="34" charset="0"/>
              </a:rPr>
              <a:t>backlog</a:t>
            </a:r>
            <a:r>
              <a:rPr lang="pt-BR" sz="1050" dirty="0">
                <a:solidFill>
                  <a:srgbClr val="5F5F5F"/>
                </a:solidFill>
                <a:latin typeface="Gill Sans Std" pitchFamily="34" charset="0"/>
              </a:rPr>
              <a:t>.</a:t>
            </a:r>
          </a:p>
        </p:txBody>
      </p:sp>
      <p:cxnSp>
        <p:nvCxnSpPr>
          <p:cNvPr id="16" name="Conector de seta reta 15"/>
          <p:cNvCxnSpPr>
            <a:stCxn id="15" idx="0"/>
            <a:endCxn id="17" idx="2"/>
          </p:cNvCxnSpPr>
          <p:nvPr/>
        </p:nvCxnSpPr>
        <p:spPr>
          <a:xfrm flipH="1" flipV="1">
            <a:off x="7353833" y="4031754"/>
            <a:ext cx="4763" cy="26796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tângulo 16"/>
          <p:cNvSpPr/>
          <p:nvPr/>
        </p:nvSpPr>
        <p:spPr>
          <a:xfrm>
            <a:off x="6957789" y="1079426"/>
            <a:ext cx="792088" cy="2952328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8886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0" y="3"/>
            <a:ext cx="9144000" cy="65309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lIns="91358" tIns="45680" rIns="91358" bIns="45680" rtlCol="0">
            <a:spAutoFit/>
          </a:bodyPr>
          <a:lstStyle>
            <a:defPPr>
              <a:defRPr lang="pt-BR"/>
            </a:defPPr>
            <a:lvl1pPr>
              <a:defRPr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defRPr>
            </a:lvl1pPr>
          </a:lstStyle>
          <a:p>
            <a:r>
              <a:rPr lang="pt-BR" dirty="0"/>
              <a:t>PROCESSOS E PERFORMANCE </a:t>
            </a:r>
          </a:p>
          <a:p>
            <a:r>
              <a:rPr lang="pt-BR" dirty="0" smtClean="0">
                <a:latin typeface="Gill Sans Std Light" pitchFamily="34" charset="0"/>
              </a:rPr>
              <a:t>Visão </a:t>
            </a:r>
            <a:r>
              <a:rPr lang="pt-BR" dirty="0" err="1" smtClean="0">
                <a:latin typeface="Gill Sans Std Light" pitchFamily="34" charset="0"/>
              </a:rPr>
              <a:t>Aging</a:t>
            </a:r>
            <a:r>
              <a:rPr lang="pt-BR" dirty="0" smtClean="0">
                <a:latin typeface="Gill Sans Std Light" pitchFamily="34" charset="0"/>
              </a:rPr>
              <a:t> por VP e Diretoria</a:t>
            </a:r>
            <a:endParaRPr lang="pt-BR" dirty="0">
              <a:latin typeface="Gill Sans Std Light" pitchFamily="34" charset="0"/>
            </a:endParaRPr>
          </a:p>
        </p:txBody>
      </p:sp>
      <p:pic>
        <p:nvPicPr>
          <p:cNvPr id="1433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521" y="844352"/>
            <a:ext cx="8732958" cy="3454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tângulo 6"/>
          <p:cNvSpPr/>
          <p:nvPr/>
        </p:nvSpPr>
        <p:spPr>
          <a:xfrm>
            <a:off x="3251473" y="4515743"/>
            <a:ext cx="1296144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050" dirty="0" smtClean="0">
                <a:solidFill>
                  <a:srgbClr val="5F5F5F"/>
                </a:solidFill>
                <a:latin typeface="Gill Sans Std" pitchFamily="34" charset="0"/>
              </a:rPr>
              <a:t>Abertura e Resolução dentro do mês</a:t>
            </a:r>
            <a:endParaRPr lang="pt-BR" sz="1050" dirty="0">
              <a:solidFill>
                <a:srgbClr val="5F5F5F"/>
              </a:solidFill>
              <a:latin typeface="Gill Sans Std" pitchFamily="34" charset="0"/>
            </a:endParaRPr>
          </a:p>
        </p:txBody>
      </p:sp>
      <p:cxnSp>
        <p:nvCxnSpPr>
          <p:cNvPr id="8" name="Conector de seta reta 7"/>
          <p:cNvCxnSpPr>
            <a:stCxn id="7" idx="0"/>
            <a:endCxn id="9" idx="2"/>
          </p:cNvCxnSpPr>
          <p:nvPr/>
        </p:nvCxnSpPr>
        <p:spPr>
          <a:xfrm flipH="1" flipV="1">
            <a:off x="3895353" y="4354711"/>
            <a:ext cx="4192" cy="16103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8"/>
          <p:cNvSpPr/>
          <p:nvPr/>
        </p:nvSpPr>
        <p:spPr>
          <a:xfrm>
            <a:off x="3434730" y="916360"/>
            <a:ext cx="921246" cy="3438351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5004048" y="4556418"/>
            <a:ext cx="129614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900" dirty="0" smtClean="0">
                <a:solidFill>
                  <a:srgbClr val="5F5F5F"/>
                </a:solidFill>
                <a:latin typeface="Gill Sans Std" pitchFamily="34" charset="0"/>
              </a:rPr>
              <a:t>Abertura </a:t>
            </a:r>
            <a:r>
              <a:rPr lang="pt-BR" sz="900" dirty="0">
                <a:solidFill>
                  <a:srgbClr val="5F5F5F"/>
                </a:solidFill>
                <a:latin typeface="Gill Sans Std" pitchFamily="34" charset="0"/>
              </a:rPr>
              <a:t>em qualquer mês e resolução mês corrente.</a:t>
            </a:r>
          </a:p>
        </p:txBody>
      </p:sp>
      <p:cxnSp>
        <p:nvCxnSpPr>
          <p:cNvPr id="13" name="Conector de seta reta 12"/>
          <p:cNvCxnSpPr>
            <a:stCxn id="10" idx="0"/>
            <a:endCxn id="14" idx="2"/>
          </p:cNvCxnSpPr>
          <p:nvPr/>
        </p:nvCxnSpPr>
        <p:spPr>
          <a:xfrm flipV="1">
            <a:off x="5652120" y="4354710"/>
            <a:ext cx="0" cy="20170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>
          <a:xfrm>
            <a:off x="5148064" y="926901"/>
            <a:ext cx="1008112" cy="3427809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/>
          <p:cNvSpPr/>
          <p:nvPr/>
        </p:nvSpPr>
        <p:spPr>
          <a:xfrm>
            <a:off x="6651797" y="4518501"/>
            <a:ext cx="16741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900" dirty="0">
                <a:solidFill>
                  <a:srgbClr val="5F5F5F"/>
                </a:solidFill>
                <a:latin typeface="Gill Sans Std" pitchFamily="34" charset="0"/>
              </a:rPr>
              <a:t>Abertos no mês e </a:t>
            </a:r>
            <a:r>
              <a:rPr lang="pt-BR" sz="900" dirty="0" err="1" smtClean="0">
                <a:solidFill>
                  <a:srgbClr val="5F5F5F"/>
                </a:solidFill>
                <a:latin typeface="Gill Sans Std" pitchFamily="34" charset="0"/>
              </a:rPr>
              <a:t>Vol</a:t>
            </a:r>
            <a:r>
              <a:rPr lang="pt-BR" sz="900" dirty="0" smtClean="0">
                <a:solidFill>
                  <a:srgbClr val="5F5F5F"/>
                </a:solidFill>
                <a:latin typeface="Gill Sans Std" pitchFamily="34" charset="0"/>
              </a:rPr>
              <a:t> </a:t>
            </a:r>
            <a:r>
              <a:rPr lang="pt-BR" sz="900" dirty="0">
                <a:solidFill>
                  <a:srgbClr val="5F5F5F"/>
                </a:solidFill>
                <a:latin typeface="Gill Sans Std" pitchFamily="34" charset="0"/>
              </a:rPr>
              <a:t>de resolução total. A diferença com a "abertura mês", é o </a:t>
            </a:r>
            <a:r>
              <a:rPr lang="pt-BR" sz="900" dirty="0" err="1">
                <a:solidFill>
                  <a:srgbClr val="5F5F5F"/>
                </a:solidFill>
                <a:latin typeface="Gill Sans Std" pitchFamily="34" charset="0"/>
              </a:rPr>
              <a:t>backlog</a:t>
            </a:r>
            <a:r>
              <a:rPr lang="pt-BR" sz="900" dirty="0">
                <a:solidFill>
                  <a:srgbClr val="5F5F5F"/>
                </a:solidFill>
                <a:latin typeface="Gill Sans Std" pitchFamily="34" charset="0"/>
              </a:rPr>
              <a:t>.</a:t>
            </a:r>
          </a:p>
        </p:txBody>
      </p:sp>
      <p:cxnSp>
        <p:nvCxnSpPr>
          <p:cNvPr id="16" name="Conector de seta reta 15"/>
          <p:cNvCxnSpPr>
            <a:stCxn id="15" idx="0"/>
            <a:endCxn id="17" idx="2"/>
          </p:cNvCxnSpPr>
          <p:nvPr/>
        </p:nvCxnSpPr>
        <p:spPr>
          <a:xfrm flipV="1">
            <a:off x="7488869" y="4354709"/>
            <a:ext cx="788" cy="16379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tângulo 16"/>
          <p:cNvSpPr/>
          <p:nvPr/>
        </p:nvSpPr>
        <p:spPr>
          <a:xfrm>
            <a:off x="6948263" y="936426"/>
            <a:ext cx="1082787" cy="3418283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9920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0" y="3"/>
            <a:ext cx="9144000" cy="65309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lIns="91358" tIns="45680" rIns="91358" bIns="45680" rtlCol="0">
            <a:spAutoFit/>
          </a:bodyPr>
          <a:lstStyle>
            <a:defPPr>
              <a:defRPr lang="pt-BR"/>
            </a:defPPr>
            <a:lvl1pPr>
              <a:defRPr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defRPr>
            </a:lvl1pPr>
          </a:lstStyle>
          <a:p>
            <a:r>
              <a:rPr lang="pt-BR" dirty="0"/>
              <a:t>PROCESSOS E PERFORMANCE </a:t>
            </a:r>
          </a:p>
          <a:p>
            <a:r>
              <a:rPr lang="pt-BR" dirty="0" smtClean="0">
                <a:latin typeface="Gill Sans Std Light" pitchFamily="34" charset="0"/>
              </a:rPr>
              <a:t>Visão </a:t>
            </a:r>
            <a:r>
              <a:rPr lang="pt-BR" dirty="0" err="1" smtClean="0">
                <a:latin typeface="Gill Sans Std Light" pitchFamily="34" charset="0"/>
              </a:rPr>
              <a:t>Aging</a:t>
            </a:r>
            <a:r>
              <a:rPr lang="pt-BR" dirty="0" smtClean="0">
                <a:latin typeface="Gill Sans Std Light" pitchFamily="34" charset="0"/>
              </a:rPr>
              <a:t> por VP e Diretoria</a:t>
            </a:r>
            <a:endParaRPr lang="pt-BR" dirty="0">
              <a:latin typeface="Gill Sans Std Light" pitchFamily="34" charset="0"/>
            </a:endParaRPr>
          </a:p>
        </p:txBody>
      </p:sp>
      <p:pic>
        <p:nvPicPr>
          <p:cNvPr id="1638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996" y="839441"/>
            <a:ext cx="8732958" cy="3477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tângulo 5"/>
          <p:cNvSpPr/>
          <p:nvPr/>
        </p:nvSpPr>
        <p:spPr>
          <a:xfrm>
            <a:off x="3457972" y="4530601"/>
            <a:ext cx="1296144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050" dirty="0" smtClean="0">
                <a:solidFill>
                  <a:srgbClr val="5F5F5F"/>
                </a:solidFill>
                <a:latin typeface="Gill Sans Std" pitchFamily="34" charset="0"/>
              </a:rPr>
              <a:t>Abertura e Resolução dentro do mês</a:t>
            </a:r>
            <a:endParaRPr lang="pt-BR" sz="1050" dirty="0">
              <a:solidFill>
                <a:srgbClr val="5F5F5F"/>
              </a:solidFill>
              <a:latin typeface="Gill Sans Std" pitchFamily="34" charset="0"/>
            </a:endParaRPr>
          </a:p>
        </p:txBody>
      </p:sp>
      <p:cxnSp>
        <p:nvCxnSpPr>
          <p:cNvPr id="7" name="Conector de seta reta 6"/>
          <p:cNvCxnSpPr>
            <a:stCxn id="6" idx="0"/>
            <a:endCxn id="8" idx="2"/>
          </p:cNvCxnSpPr>
          <p:nvPr/>
        </p:nvCxnSpPr>
        <p:spPr>
          <a:xfrm flipH="1" flipV="1">
            <a:off x="4101852" y="4369569"/>
            <a:ext cx="4192" cy="16103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 7"/>
          <p:cNvSpPr/>
          <p:nvPr/>
        </p:nvSpPr>
        <p:spPr>
          <a:xfrm>
            <a:off x="3641229" y="931218"/>
            <a:ext cx="921246" cy="3438351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5210547" y="4571276"/>
            <a:ext cx="129614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900" dirty="0" smtClean="0">
                <a:solidFill>
                  <a:srgbClr val="5F5F5F"/>
                </a:solidFill>
                <a:latin typeface="Gill Sans Std" pitchFamily="34" charset="0"/>
              </a:rPr>
              <a:t>Abertura </a:t>
            </a:r>
            <a:r>
              <a:rPr lang="pt-BR" sz="900" dirty="0">
                <a:solidFill>
                  <a:srgbClr val="5F5F5F"/>
                </a:solidFill>
                <a:latin typeface="Gill Sans Std" pitchFamily="34" charset="0"/>
              </a:rPr>
              <a:t>em qualquer mês e resolução mês corrente.</a:t>
            </a:r>
          </a:p>
        </p:txBody>
      </p:sp>
      <p:cxnSp>
        <p:nvCxnSpPr>
          <p:cNvPr id="10" name="Conector de seta reta 9"/>
          <p:cNvCxnSpPr>
            <a:stCxn id="9" idx="0"/>
            <a:endCxn id="12" idx="2"/>
          </p:cNvCxnSpPr>
          <p:nvPr/>
        </p:nvCxnSpPr>
        <p:spPr>
          <a:xfrm flipV="1">
            <a:off x="5858619" y="4369568"/>
            <a:ext cx="0" cy="20170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tângulo 11"/>
          <p:cNvSpPr/>
          <p:nvPr/>
        </p:nvSpPr>
        <p:spPr>
          <a:xfrm>
            <a:off x="5354563" y="941759"/>
            <a:ext cx="1008112" cy="3427809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6763046" y="4533359"/>
            <a:ext cx="16741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900" dirty="0">
                <a:solidFill>
                  <a:srgbClr val="5F5F5F"/>
                </a:solidFill>
                <a:latin typeface="Gill Sans Std" pitchFamily="34" charset="0"/>
              </a:rPr>
              <a:t>Abertos no mês e </a:t>
            </a:r>
            <a:r>
              <a:rPr lang="pt-BR" sz="900" dirty="0" err="1" smtClean="0">
                <a:solidFill>
                  <a:srgbClr val="5F5F5F"/>
                </a:solidFill>
                <a:latin typeface="Gill Sans Std" pitchFamily="34" charset="0"/>
              </a:rPr>
              <a:t>Vol</a:t>
            </a:r>
            <a:r>
              <a:rPr lang="pt-BR" sz="900" dirty="0" smtClean="0">
                <a:solidFill>
                  <a:srgbClr val="5F5F5F"/>
                </a:solidFill>
                <a:latin typeface="Gill Sans Std" pitchFamily="34" charset="0"/>
              </a:rPr>
              <a:t> </a:t>
            </a:r>
            <a:r>
              <a:rPr lang="pt-BR" sz="900" dirty="0">
                <a:solidFill>
                  <a:srgbClr val="5F5F5F"/>
                </a:solidFill>
                <a:latin typeface="Gill Sans Std" pitchFamily="34" charset="0"/>
              </a:rPr>
              <a:t>de resolução total. A diferença com a "abertura mês", é o </a:t>
            </a:r>
            <a:r>
              <a:rPr lang="pt-BR" sz="900" dirty="0" err="1">
                <a:solidFill>
                  <a:srgbClr val="5F5F5F"/>
                </a:solidFill>
                <a:latin typeface="Gill Sans Std" pitchFamily="34" charset="0"/>
              </a:rPr>
              <a:t>backlog</a:t>
            </a:r>
            <a:r>
              <a:rPr lang="pt-BR" sz="900" dirty="0">
                <a:solidFill>
                  <a:srgbClr val="5F5F5F"/>
                </a:solidFill>
                <a:latin typeface="Gill Sans Std" pitchFamily="34" charset="0"/>
              </a:rPr>
              <a:t>.</a:t>
            </a:r>
          </a:p>
        </p:txBody>
      </p:sp>
      <p:cxnSp>
        <p:nvCxnSpPr>
          <p:cNvPr id="14" name="Conector de seta reta 13"/>
          <p:cNvCxnSpPr>
            <a:stCxn id="13" idx="0"/>
            <a:endCxn id="15" idx="2"/>
          </p:cNvCxnSpPr>
          <p:nvPr/>
        </p:nvCxnSpPr>
        <p:spPr>
          <a:xfrm flipH="1" flipV="1">
            <a:off x="7594240" y="4369567"/>
            <a:ext cx="5878" cy="16379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tângulo 14"/>
          <p:cNvSpPr/>
          <p:nvPr/>
        </p:nvSpPr>
        <p:spPr>
          <a:xfrm>
            <a:off x="7088087" y="951284"/>
            <a:ext cx="1012305" cy="3418283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9171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0" y="3"/>
            <a:ext cx="9144000" cy="65309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lIns="91358" tIns="45680" rIns="91358" bIns="45680" rtlCol="0">
            <a:spAutoFit/>
          </a:bodyPr>
          <a:lstStyle>
            <a:defPPr>
              <a:defRPr lang="pt-BR"/>
            </a:defPPr>
            <a:lvl1pPr>
              <a:defRPr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defRPr>
            </a:lvl1pPr>
          </a:lstStyle>
          <a:p>
            <a:r>
              <a:rPr lang="pt-BR" dirty="0"/>
              <a:t>PROCESSOS E PERFORMANCE </a:t>
            </a:r>
          </a:p>
          <a:p>
            <a:r>
              <a:rPr lang="pt-BR" dirty="0" smtClean="0">
                <a:latin typeface="Gill Sans Std Light" pitchFamily="34" charset="0"/>
              </a:rPr>
              <a:t>Visão </a:t>
            </a:r>
            <a:r>
              <a:rPr lang="pt-BR" dirty="0" err="1" smtClean="0">
                <a:latin typeface="Gill Sans Std Light" pitchFamily="34" charset="0"/>
              </a:rPr>
              <a:t>Aging</a:t>
            </a:r>
            <a:r>
              <a:rPr lang="pt-BR" dirty="0" smtClean="0">
                <a:latin typeface="Gill Sans Std Light" pitchFamily="34" charset="0"/>
              </a:rPr>
              <a:t> por VP e Diretoria</a:t>
            </a:r>
            <a:endParaRPr lang="pt-BR" dirty="0">
              <a:latin typeface="Gill Sans Std Light" pitchFamily="34" charset="0"/>
            </a:endParaRPr>
          </a:p>
        </p:txBody>
      </p:sp>
      <p:pic>
        <p:nvPicPr>
          <p:cNvPr id="15361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530" y="852225"/>
            <a:ext cx="8732958" cy="343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tângulo 5"/>
          <p:cNvSpPr/>
          <p:nvPr/>
        </p:nvSpPr>
        <p:spPr>
          <a:xfrm>
            <a:off x="3255665" y="4530601"/>
            <a:ext cx="1296144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050" dirty="0" smtClean="0">
                <a:solidFill>
                  <a:srgbClr val="5F5F5F"/>
                </a:solidFill>
                <a:latin typeface="Gill Sans Std" pitchFamily="34" charset="0"/>
              </a:rPr>
              <a:t>Abertura e Resolução dentro do mês</a:t>
            </a:r>
            <a:endParaRPr lang="pt-BR" sz="1050" dirty="0">
              <a:solidFill>
                <a:srgbClr val="5F5F5F"/>
              </a:solidFill>
              <a:latin typeface="Gill Sans Std" pitchFamily="34" charset="0"/>
            </a:endParaRPr>
          </a:p>
        </p:txBody>
      </p:sp>
      <p:cxnSp>
        <p:nvCxnSpPr>
          <p:cNvPr id="7" name="Conector de seta reta 6"/>
          <p:cNvCxnSpPr>
            <a:stCxn id="6" idx="0"/>
            <a:endCxn id="8" idx="2"/>
          </p:cNvCxnSpPr>
          <p:nvPr/>
        </p:nvCxnSpPr>
        <p:spPr>
          <a:xfrm flipH="1" flipV="1">
            <a:off x="3899545" y="4369569"/>
            <a:ext cx="4192" cy="16103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 7"/>
          <p:cNvSpPr/>
          <p:nvPr/>
        </p:nvSpPr>
        <p:spPr>
          <a:xfrm>
            <a:off x="3438922" y="931218"/>
            <a:ext cx="921246" cy="3438351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5084440" y="4571276"/>
            <a:ext cx="129614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900" dirty="0" smtClean="0">
                <a:solidFill>
                  <a:srgbClr val="5F5F5F"/>
                </a:solidFill>
                <a:latin typeface="Gill Sans Std" pitchFamily="34" charset="0"/>
              </a:rPr>
              <a:t>Abertura </a:t>
            </a:r>
            <a:r>
              <a:rPr lang="pt-BR" sz="900" dirty="0">
                <a:solidFill>
                  <a:srgbClr val="5F5F5F"/>
                </a:solidFill>
                <a:latin typeface="Gill Sans Std" pitchFamily="34" charset="0"/>
              </a:rPr>
              <a:t>em qualquer mês e resolução mês corrente.</a:t>
            </a:r>
          </a:p>
        </p:txBody>
      </p:sp>
      <p:cxnSp>
        <p:nvCxnSpPr>
          <p:cNvPr id="10" name="Conector de seta reta 9"/>
          <p:cNvCxnSpPr>
            <a:stCxn id="9" idx="0"/>
            <a:endCxn id="12" idx="2"/>
          </p:cNvCxnSpPr>
          <p:nvPr/>
        </p:nvCxnSpPr>
        <p:spPr>
          <a:xfrm flipH="1" flipV="1">
            <a:off x="5728320" y="4369568"/>
            <a:ext cx="4192" cy="20170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tângulo 11"/>
          <p:cNvSpPr/>
          <p:nvPr/>
        </p:nvSpPr>
        <p:spPr>
          <a:xfrm>
            <a:off x="5152256" y="941759"/>
            <a:ext cx="1152128" cy="3427809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6757713" y="4533359"/>
            <a:ext cx="16741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900" dirty="0">
                <a:solidFill>
                  <a:srgbClr val="5F5F5F"/>
                </a:solidFill>
                <a:latin typeface="Gill Sans Std" pitchFamily="34" charset="0"/>
              </a:rPr>
              <a:t>Abertos no mês e </a:t>
            </a:r>
            <a:r>
              <a:rPr lang="pt-BR" sz="900" dirty="0" err="1" smtClean="0">
                <a:solidFill>
                  <a:srgbClr val="5F5F5F"/>
                </a:solidFill>
                <a:latin typeface="Gill Sans Std" pitchFamily="34" charset="0"/>
              </a:rPr>
              <a:t>Vol</a:t>
            </a:r>
            <a:r>
              <a:rPr lang="pt-BR" sz="900" dirty="0" smtClean="0">
                <a:solidFill>
                  <a:srgbClr val="5F5F5F"/>
                </a:solidFill>
                <a:latin typeface="Gill Sans Std" pitchFamily="34" charset="0"/>
              </a:rPr>
              <a:t> </a:t>
            </a:r>
            <a:r>
              <a:rPr lang="pt-BR" sz="900" dirty="0">
                <a:solidFill>
                  <a:srgbClr val="5F5F5F"/>
                </a:solidFill>
                <a:latin typeface="Gill Sans Std" pitchFamily="34" charset="0"/>
              </a:rPr>
              <a:t>de resolução total. A diferença com a "abertura mês", é o </a:t>
            </a:r>
            <a:r>
              <a:rPr lang="pt-BR" sz="900" dirty="0" err="1">
                <a:solidFill>
                  <a:srgbClr val="5F5F5F"/>
                </a:solidFill>
                <a:latin typeface="Gill Sans Std" pitchFamily="34" charset="0"/>
              </a:rPr>
              <a:t>backlog</a:t>
            </a:r>
            <a:r>
              <a:rPr lang="pt-BR" sz="900" dirty="0">
                <a:solidFill>
                  <a:srgbClr val="5F5F5F"/>
                </a:solidFill>
                <a:latin typeface="Gill Sans Std" pitchFamily="34" charset="0"/>
              </a:rPr>
              <a:t>.</a:t>
            </a:r>
          </a:p>
        </p:txBody>
      </p:sp>
      <p:cxnSp>
        <p:nvCxnSpPr>
          <p:cNvPr id="14" name="Conector de seta reta 13"/>
          <p:cNvCxnSpPr>
            <a:stCxn id="13" idx="0"/>
            <a:endCxn id="15" idx="2"/>
          </p:cNvCxnSpPr>
          <p:nvPr/>
        </p:nvCxnSpPr>
        <p:spPr>
          <a:xfrm flipH="1" flipV="1">
            <a:off x="7588908" y="4369567"/>
            <a:ext cx="5877" cy="16379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tângulo 14"/>
          <p:cNvSpPr/>
          <p:nvPr/>
        </p:nvSpPr>
        <p:spPr>
          <a:xfrm>
            <a:off x="7048848" y="951284"/>
            <a:ext cx="1080120" cy="3418283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9171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0" y="3"/>
            <a:ext cx="9144000" cy="65309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lIns="91358" tIns="45680" rIns="91358" bIns="45680" rtlCol="0">
            <a:spAutoFit/>
          </a:bodyPr>
          <a:lstStyle>
            <a:defPPr>
              <a:defRPr lang="pt-BR"/>
            </a:defPPr>
            <a:lvl1pPr>
              <a:defRPr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defRPr>
            </a:lvl1pPr>
          </a:lstStyle>
          <a:p>
            <a:r>
              <a:rPr lang="pt-BR" dirty="0"/>
              <a:t>PROCESSOS E PERFORMANCE </a:t>
            </a:r>
          </a:p>
          <a:p>
            <a:r>
              <a:rPr lang="pt-BR" dirty="0" smtClean="0">
                <a:latin typeface="Gill Sans Std Light" pitchFamily="34" charset="0"/>
              </a:rPr>
              <a:t>Visão </a:t>
            </a:r>
            <a:r>
              <a:rPr lang="pt-BR" dirty="0" err="1" smtClean="0">
                <a:latin typeface="Gill Sans Std Light" pitchFamily="34" charset="0"/>
              </a:rPr>
              <a:t>Aging</a:t>
            </a:r>
            <a:r>
              <a:rPr lang="pt-BR" dirty="0" smtClean="0">
                <a:latin typeface="Gill Sans Std Light" pitchFamily="34" charset="0"/>
              </a:rPr>
              <a:t> </a:t>
            </a:r>
            <a:r>
              <a:rPr lang="pt-BR" smtClean="0">
                <a:latin typeface="Gill Sans Std Light" pitchFamily="34" charset="0"/>
              </a:rPr>
              <a:t>por Prioridade de VP O&amp;L</a:t>
            </a:r>
            <a:endParaRPr lang="pt-BR" dirty="0">
              <a:latin typeface="Gill Sans Std Light" pitchFamily="34" charset="0"/>
            </a:endParaRPr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41113"/>
            <a:ext cx="9144000" cy="2661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5904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0" y="3"/>
            <a:ext cx="9144000" cy="65309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lIns="91358" tIns="45680" rIns="91358" bIns="45680" rtlCol="0">
            <a:spAutoFit/>
          </a:bodyPr>
          <a:lstStyle>
            <a:defPPr>
              <a:defRPr lang="pt-BR"/>
            </a:defPPr>
            <a:lvl1pPr>
              <a:defRPr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defRPr>
            </a:lvl1pPr>
          </a:lstStyle>
          <a:p>
            <a:r>
              <a:rPr lang="pt-BR" dirty="0"/>
              <a:t>PROCESSOS E PERFORMANCE </a:t>
            </a:r>
          </a:p>
          <a:p>
            <a:r>
              <a:rPr lang="pt-BR" dirty="0" smtClean="0">
                <a:latin typeface="Gill Sans Std Light" pitchFamily="34" charset="0"/>
              </a:rPr>
              <a:t>Visão </a:t>
            </a:r>
            <a:r>
              <a:rPr lang="pt-BR" dirty="0" err="1" smtClean="0">
                <a:latin typeface="Gill Sans Std Light" pitchFamily="34" charset="0"/>
              </a:rPr>
              <a:t>Aging</a:t>
            </a:r>
            <a:r>
              <a:rPr lang="pt-BR" dirty="0" smtClean="0">
                <a:latin typeface="Gill Sans Std Light" pitchFamily="34" charset="0"/>
              </a:rPr>
              <a:t> </a:t>
            </a:r>
            <a:r>
              <a:rPr lang="pt-BR" smtClean="0">
                <a:latin typeface="Gill Sans Std Light" pitchFamily="34" charset="0"/>
              </a:rPr>
              <a:t>por Prioridade de VP O&amp;L</a:t>
            </a:r>
            <a:endParaRPr lang="pt-BR" dirty="0">
              <a:latin typeface="Gill Sans Std Light" pitchFamily="34" charset="0"/>
            </a:endParaRPr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50524"/>
            <a:ext cx="9144000" cy="2639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48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0" y="3"/>
            <a:ext cx="9144000" cy="65309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lIns="91358" tIns="45680" rIns="91358" bIns="45680" rtlCol="0">
            <a:spAutoFit/>
          </a:bodyPr>
          <a:lstStyle>
            <a:defPPr>
              <a:defRPr lang="pt-BR"/>
            </a:defPPr>
            <a:lvl1pPr>
              <a:defRPr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defRPr>
            </a:lvl1pPr>
          </a:lstStyle>
          <a:p>
            <a:r>
              <a:rPr lang="pt-BR" dirty="0"/>
              <a:t>PROCESSOS E PERFORMANCE </a:t>
            </a:r>
          </a:p>
          <a:p>
            <a:r>
              <a:rPr lang="pt-BR" dirty="0" smtClean="0">
                <a:latin typeface="Gill Sans Std Light" pitchFamily="34" charset="0"/>
              </a:rPr>
              <a:t>Visão </a:t>
            </a:r>
            <a:r>
              <a:rPr lang="pt-BR" dirty="0" err="1" smtClean="0">
                <a:latin typeface="Gill Sans Std Light" pitchFamily="34" charset="0"/>
              </a:rPr>
              <a:t>Aging</a:t>
            </a:r>
            <a:r>
              <a:rPr lang="pt-BR" dirty="0" smtClean="0">
                <a:latin typeface="Gill Sans Std Light" pitchFamily="34" charset="0"/>
              </a:rPr>
              <a:t> </a:t>
            </a:r>
            <a:r>
              <a:rPr lang="pt-BR" smtClean="0">
                <a:latin typeface="Gill Sans Std Light" pitchFamily="34" charset="0"/>
              </a:rPr>
              <a:t>por Prioridade de VP O&amp;L</a:t>
            </a:r>
            <a:endParaRPr lang="pt-BR" dirty="0">
              <a:latin typeface="Gill Sans Std Light" pitchFamily="34" charset="0"/>
            </a:endParaRPr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50524"/>
            <a:ext cx="9144000" cy="2639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48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amp"/>
  <p:tag name="DATE" val="14/3/2007 15:50: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Footnote"/>
  <p:tag name="DATE" val="5/8/2009 7:25:30 P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amp"/>
  <p:tag name="DATE" val="14/3/2007 15:50:3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Footnote"/>
  <p:tag name="DATE" val="5/8/2009 7:25:30 PM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o Office">
  <a:themeElements>
    <a:clrScheme name="Hiperlin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4F71"/>
      </a:hlink>
      <a:folHlink>
        <a:srgbClr val="00AAF6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76200">
          <a:solidFill>
            <a:srgbClr val="D4BA2E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rgbClr val="5F5F5F"/>
            </a:solidFill>
            <a:latin typeface="Gill Sans Std" pitchFamily="34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40_6096">
  <a:themeElements>
    <a:clrScheme name="6096 5">
      <a:dk1>
        <a:srgbClr val="000000"/>
      </a:dk1>
      <a:lt1>
        <a:srgbClr val="B2B2B2"/>
      </a:lt1>
      <a:dk2>
        <a:srgbClr val="000000"/>
      </a:dk2>
      <a:lt2>
        <a:srgbClr val="969696"/>
      </a:lt2>
      <a:accent1>
        <a:srgbClr val="006699"/>
      </a:accent1>
      <a:accent2>
        <a:srgbClr val="FF6600"/>
      </a:accent2>
      <a:accent3>
        <a:srgbClr val="D5D5D5"/>
      </a:accent3>
      <a:accent4>
        <a:srgbClr val="000000"/>
      </a:accent4>
      <a:accent5>
        <a:srgbClr val="AAB8CA"/>
      </a:accent5>
      <a:accent6>
        <a:srgbClr val="E75C00"/>
      </a:accent6>
      <a:hlink>
        <a:srgbClr val="663399"/>
      </a:hlink>
      <a:folHlink>
        <a:srgbClr val="FF0000"/>
      </a:folHlink>
    </a:clrScheme>
    <a:fontScheme name="609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096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6699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336633"/>
        </a:accent1>
        <a:accent2>
          <a:srgbClr val="336666"/>
        </a:accent2>
        <a:accent3>
          <a:srgbClr val="FFFFFF"/>
        </a:accent3>
        <a:accent4>
          <a:srgbClr val="000000"/>
        </a:accent4>
        <a:accent5>
          <a:srgbClr val="ADB8AD"/>
        </a:accent5>
        <a:accent6>
          <a:srgbClr val="2D5C5C"/>
        </a:accent6>
        <a:hlink>
          <a:srgbClr val="9900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CCCC33"/>
        </a:accent1>
        <a:accent2>
          <a:srgbClr val="66CC00"/>
        </a:accent2>
        <a:accent3>
          <a:srgbClr val="FFFFFF"/>
        </a:accent3>
        <a:accent4>
          <a:srgbClr val="000000"/>
        </a:accent4>
        <a:accent5>
          <a:srgbClr val="E2E2AD"/>
        </a:accent5>
        <a:accent6>
          <a:srgbClr val="5CB900"/>
        </a:accent6>
        <a:hlink>
          <a:srgbClr val="0099CC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5">
        <a:dk1>
          <a:srgbClr val="000000"/>
        </a:dk1>
        <a:lt1>
          <a:srgbClr val="B2B2B2"/>
        </a:lt1>
        <a:dk2>
          <a:srgbClr val="000000"/>
        </a:dk2>
        <a:lt2>
          <a:srgbClr val="969696"/>
        </a:lt2>
        <a:accent1>
          <a:srgbClr val="006699"/>
        </a:accent1>
        <a:accent2>
          <a:srgbClr val="FF6600"/>
        </a:accent2>
        <a:accent3>
          <a:srgbClr val="D5D5D5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1_6096">
  <a:themeElements>
    <a:clrScheme name="6096 5">
      <a:dk1>
        <a:srgbClr val="000000"/>
      </a:dk1>
      <a:lt1>
        <a:srgbClr val="B2B2B2"/>
      </a:lt1>
      <a:dk2>
        <a:srgbClr val="000000"/>
      </a:dk2>
      <a:lt2>
        <a:srgbClr val="969696"/>
      </a:lt2>
      <a:accent1>
        <a:srgbClr val="006699"/>
      </a:accent1>
      <a:accent2>
        <a:srgbClr val="FF6600"/>
      </a:accent2>
      <a:accent3>
        <a:srgbClr val="D5D5D5"/>
      </a:accent3>
      <a:accent4>
        <a:srgbClr val="000000"/>
      </a:accent4>
      <a:accent5>
        <a:srgbClr val="AAB8CA"/>
      </a:accent5>
      <a:accent6>
        <a:srgbClr val="E75C00"/>
      </a:accent6>
      <a:hlink>
        <a:srgbClr val="663399"/>
      </a:hlink>
      <a:folHlink>
        <a:srgbClr val="FF0000"/>
      </a:folHlink>
    </a:clrScheme>
    <a:fontScheme name="609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096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6699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336633"/>
        </a:accent1>
        <a:accent2>
          <a:srgbClr val="336666"/>
        </a:accent2>
        <a:accent3>
          <a:srgbClr val="FFFFFF"/>
        </a:accent3>
        <a:accent4>
          <a:srgbClr val="000000"/>
        </a:accent4>
        <a:accent5>
          <a:srgbClr val="ADB8AD"/>
        </a:accent5>
        <a:accent6>
          <a:srgbClr val="2D5C5C"/>
        </a:accent6>
        <a:hlink>
          <a:srgbClr val="9900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CCCC33"/>
        </a:accent1>
        <a:accent2>
          <a:srgbClr val="66CC00"/>
        </a:accent2>
        <a:accent3>
          <a:srgbClr val="FFFFFF"/>
        </a:accent3>
        <a:accent4>
          <a:srgbClr val="000000"/>
        </a:accent4>
        <a:accent5>
          <a:srgbClr val="E2E2AD"/>
        </a:accent5>
        <a:accent6>
          <a:srgbClr val="5CB900"/>
        </a:accent6>
        <a:hlink>
          <a:srgbClr val="0099CC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5">
        <a:dk1>
          <a:srgbClr val="000000"/>
        </a:dk1>
        <a:lt1>
          <a:srgbClr val="B2B2B2"/>
        </a:lt1>
        <a:dk2>
          <a:srgbClr val="000000"/>
        </a:dk2>
        <a:lt2>
          <a:srgbClr val="969696"/>
        </a:lt2>
        <a:accent1>
          <a:srgbClr val="006699"/>
        </a:accent1>
        <a:accent2>
          <a:srgbClr val="FF6600"/>
        </a:accent2>
        <a:accent3>
          <a:srgbClr val="D5D5D5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24773</TotalTime>
  <Words>569</Words>
  <Application>Microsoft Office PowerPoint</Application>
  <PresentationFormat>Personalizar</PresentationFormat>
  <Paragraphs>73</Paragraphs>
  <Slides>20</Slides>
  <Notes>1</Notes>
  <HiddenSlides>1</HiddenSlides>
  <MMClips>0</MMClips>
  <ScaleCrop>false</ScaleCrop>
  <HeadingPairs>
    <vt:vector size="4" baseType="variant">
      <vt:variant>
        <vt:lpstr>Tema</vt:lpstr>
      </vt:variant>
      <vt:variant>
        <vt:i4>4</vt:i4>
      </vt:variant>
      <vt:variant>
        <vt:lpstr>Títulos de slides</vt:lpstr>
      </vt:variant>
      <vt:variant>
        <vt:i4>20</vt:i4>
      </vt:variant>
    </vt:vector>
  </HeadingPairs>
  <TitlesOfParts>
    <vt:vector size="24" baseType="lpstr">
      <vt:lpstr>Tema do Office</vt:lpstr>
      <vt:lpstr>1_Tema do Office</vt:lpstr>
      <vt:lpstr>40_6096</vt:lpstr>
      <vt:lpstr>41_6096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Natura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BR92457</dc:creator>
  <cp:lastModifiedBy>br93826</cp:lastModifiedBy>
  <cp:revision>499</cp:revision>
  <dcterms:created xsi:type="dcterms:W3CDTF">2014-10-02T13:42:42Z</dcterms:created>
  <dcterms:modified xsi:type="dcterms:W3CDTF">2015-07-10T20:50:13Z</dcterms:modified>
</cp:coreProperties>
</file>