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4"/>
    <p:sldMasterId id="2147483742" r:id="rId5"/>
  </p:sldMasterIdLst>
  <p:notesMasterIdLst>
    <p:notesMasterId r:id="rId22"/>
  </p:notesMasterIdLst>
  <p:sldIdLst>
    <p:sldId id="487" r:id="rId6"/>
    <p:sldId id="492" r:id="rId7"/>
    <p:sldId id="493" r:id="rId8"/>
    <p:sldId id="511" r:id="rId9"/>
    <p:sldId id="512" r:id="rId10"/>
    <p:sldId id="496" r:id="rId11"/>
    <p:sldId id="495" r:id="rId12"/>
    <p:sldId id="497" r:id="rId13"/>
    <p:sldId id="498" r:id="rId14"/>
    <p:sldId id="510" r:id="rId15"/>
    <p:sldId id="509" r:id="rId16"/>
    <p:sldId id="505" r:id="rId17"/>
    <p:sldId id="513" r:id="rId18"/>
    <p:sldId id="503" r:id="rId19"/>
    <p:sldId id="501" r:id="rId20"/>
    <p:sldId id="499" r:id="rId21"/>
  </p:sldIdLst>
  <p:sldSz cx="9144000" cy="5143500" type="screen16x9"/>
  <p:notesSz cx="6858000" cy="9144000"/>
  <p:embeddedFontLst>
    <p:embeddedFont>
      <p:font typeface="Helvetica" panose="020B0604020202020204" pitchFamily="34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Kartika" panose="02020503030404060203" pitchFamily="18" charset="0"/>
      <p:regular r:id="rId33"/>
      <p:bold r:id="rId34"/>
    </p:embeddedFont>
  </p:embeddedFontLst>
  <p:defaultTextStyle>
    <a:lvl1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1pPr>
    <a:lvl2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2pPr>
    <a:lvl3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3pPr>
    <a:lvl4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4pPr>
    <a:lvl5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5pPr>
    <a:lvl6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6pPr>
    <a:lvl7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7pPr>
    <a:lvl8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8pPr>
    <a:lvl9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2338">
          <p15:clr>
            <a:srgbClr val="A4A3A4"/>
          </p15:clr>
        </p15:guide>
        <p15:guide id="2" orient="horz" pos="323">
          <p15:clr>
            <a:srgbClr val="A4A3A4"/>
          </p15:clr>
        </p15:guide>
        <p15:guide id="3" orient="horz" pos="1107">
          <p15:clr>
            <a:srgbClr val="A4A3A4"/>
          </p15:clr>
        </p15:guide>
        <p15:guide id="4" orient="horz" pos="623">
          <p15:clr>
            <a:srgbClr val="A4A3A4"/>
          </p15:clr>
        </p15:guide>
        <p15:guide id="5" pos="2885">
          <p15:clr>
            <a:srgbClr val="A4A3A4"/>
          </p15:clr>
        </p15:guide>
        <p15:guide id="6" pos="413">
          <p15:clr>
            <a:srgbClr val="A4A3A4"/>
          </p15:clr>
        </p15:guide>
        <p15:guide id="7" pos="51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E5000"/>
    <a:srgbClr val="FFFFFE"/>
    <a:srgbClr val="4F5F6D"/>
    <a:srgbClr val="576A78"/>
    <a:srgbClr val="455765"/>
    <a:srgbClr val="FFFFFF"/>
    <a:srgbClr val="272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AD2E9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CDACA"/>
          </a:solidFill>
        </a:fill>
      </a:tcStyle>
    </a:wholeTbl>
    <a:band2H>
      <a:tcTxStyle/>
      <a:tcStyle>
        <a:tcBdr/>
        <a:fill>
          <a:solidFill>
            <a:srgbClr val="E7EDE7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D0CEE9"/>
          </a:solidFill>
        </a:fill>
      </a:tcStyle>
    </a:wholeTbl>
    <a:band2H>
      <a:tcTxStyle/>
      <a:tcStyle>
        <a:tcBdr/>
        <a:fill>
          <a:solidFill>
            <a:srgbClr val="E9E8F4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65C1"/>
          </a:solidFill>
        </a:fill>
      </a:tcStyle>
    </a:firstCol>
    <a:la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65C1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CCC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solidFill>
            <a:srgbClr val="352E2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solidFill>
            <a:srgbClr val="352E26">
              <a:alpha val="20000"/>
            </a:srgbClr>
          </a:solidFill>
        </a:fill>
      </a:tcStyle>
    </a:firstCol>
    <a:la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508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872" autoAdjust="0"/>
  </p:normalViewPr>
  <p:slideViewPr>
    <p:cSldViewPr snapToGrid="0" snapToObjects="1" showGuides="1">
      <p:cViewPr varScale="1">
        <p:scale>
          <a:sx n="83" d="100"/>
          <a:sy n="83" d="100"/>
        </p:scale>
        <p:origin x="716" y="56"/>
      </p:cViewPr>
      <p:guideLst>
        <p:guide orient="horz" pos="2338"/>
        <p:guide orient="horz" pos="323"/>
        <p:guide orient="horz" pos="1107"/>
        <p:guide orient="horz" pos="623"/>
        <p:guide pos="2885"/>
        <p:guide pos="413"/>
        <p:guide pos="51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12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61941665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1pPr>
    <a:lvl2pPr indent="85705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2pPr>
    <a:lvl3pPr indent="171410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3pPr>
    <a:lvl4pPr indent="257114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4pPr>
    <a:lvl5pPr indent="34281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5pPr>
    <a:lvl6pPr indent="428521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6pPr>
    <a:lvl7pPr indent="51422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7pPr>
    <a:lvl8pPr indent="599930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8pPr>
    <a:lvl9pPr indent="68563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0098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/>
          </p:nvPr>
        </p:nvSpPr>
        <p:spPr>
          <a:xfrm>
            <a:off x="238126" y="3519488"/>
            <a:ext cx="8667750" cy="8001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xfrm>
            <a:off x="238126" y="4319592"/>
            <a:ext cx="8667750" cy="8239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72666769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xfrm>
            <a:off x="619129" y="0"/>
            <a:ext cx="3833813" cy="24384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defTabSz="309488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619129" y="2509843"/>
            <a:ext cx="3833813" cy="26336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81994802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633415" y="1"/>
            <a:ext cx="7877175" cy="1123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67811353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633415" y="91679"/>
            <a:ext cx="7877175" cy="9405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xfrm>
            <a:off x="633415" y="1032273"/>
            <a:ext cx="7877175" cy="378380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38068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76136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714202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952270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190339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5453234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633415" y="91679"/>
            <a:ext cx="7877175" cy="9405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633416" y="1032273"/>
            <a:ext cx="3833813" cy="378380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09500" indent="-209500" defTabSz="309488">
              <a:spcBef>
                <a:spcPts val="1688"/>
              </a:spcBef>
              <a:buSzPct val="75000"/>
              <a:buFontTx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19000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628498" indent="-209500" defTabSz="309488">
              <a:spcBef>
                <a:spcPts val="1688"/>
              </a:spcBef>
              <a:buSzPct val="75000"/>
              <a:buFontTx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837999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047499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2501227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xfrm>
            <a:off x="633415" y="666756"/>
            <a:ext cx="7877175" cy="38147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38068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76136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714202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952270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190339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0248984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84430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31553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1534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pPr lvl="0">
              <a:defRPr sz="1800" b="0" cap="none"/>
            </a:pPr>
            <a:r>
              <a:rPr sz="3600" b="1" cap="all"/>
              <a:t>Clique para editar o estilo do título mestre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xfrm>
            <a:off x="722313" y="2180040"/>
            <a:ext cx="7772400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13"/>
              </a:spcBef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888888"/>
                </a:solidFill>
              </a:rPr>
              <a:t>Clique para editar os estilos do texto mestre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306125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38600" cy="394335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500"/>
            </a:lvl1pPr>
            <a:lvl2pPr marL="707922" indent="-299815">
              <a:spcBef>
                <a:spcPts val="600"/>
              </a:spcBef>
              <a:defRPr sz="2500"/>
            </a:lvl2pPr>
            <a:lvl3pPr marL="1101040" indent="-284825">
              <a:spcBef>
                <a:spcPts val="600"/>
              </a:spcBef>
              <a:defRPr sz="2500"/>
            </a:lvl3pPr>
            <a:lvl4pPr marL="1542264" indent="-317945">
              <a:spcBef>
                <a:spcPts val="600"/>
              </a:spcBef>
              <a:defRPr sz="2500"/>
            </a:lvl4pPr>
            <a:lvl5pPr marL="1950373" indent="-317945">
              <a:spcBef>
                <a:spcPts val="600"/>
              </a:spcBef>
              <a:defRPr sz="2500"/>
            </a:lvl5pPr>
          </a:lstStyle>
          <a:p>
            <a:pPr lvl="0">
              <a:defRPr sz="1800"/>
            </a:pPr>
            <a:r>
              <a:rPr sz="2500"/>
              <a:t>Clique para editar os estilos do texto mestre</a:t>
            </a:r>
          </a:p>
          <a:p>
            <a:pPr lvl="1">
              <a:defRPr sz="1800"/>
            </a:pPr>
            <a:r>
              <a:rPr sz="2500"/>
              <a:t>Segundo nível</a:t>
            </a:r>
          </a:p>
          <a:p>
            <a:pPr lvl="2">
              <a:defRPr sz="1800"/>
            </a:pPr>
            <a:r>
              <a:rPr sz="2500"/>
              <a:t>Terceiro nível</a:t>
            </a:r>
          </a:p>
          <a:p>
            <a:pPr lvl="3">
              <a:defRPr sz="1800"/>
            </a:pPr>
            <a:r>
              <a:rPr sz="2500"/>
              <a:t>Quarto nível</a:t>
            </a:r>
          </a:p>
          <a:p>
            <a:pPr lvl="4">
              <a:defRPr sz="1800"/>
            </a:pPr>
            <a:r>
              <a:rPr sz="2500"/>
              <a:t>Quinto nível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85168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57201" y="192614"/>
            <a:ext cx="8229601" cy="88399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88"/>
              </a:spcBef>
              <a:buSzTx/>
              <a:buFontTx/>
              <a:buNone/>
              <a:defRPr sz="2100" b="1"/>
            </a:lvl1pPr>
          </a:lstStyle>
          <a:p>
            <a:pPr lvl="0">
              <a:defRPr sz="1800" b="0"/>
            </a:pPr>
            <a:r>
              <a:rPr sz="2100" b="1"/>
              <a:t>Clique para editar os estilos do texto mestre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0326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457203" y="2"/>
            <a:ext cx="3008313" cy="107632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pPr lvl="0">
              <a:defRPr sz="1800" b="0"/>
            </a:pPr>
            <a:r>
              <a:rPr sz="1800" b="1"/>
              <a:t>Clique para editar o estilo do título mestre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3575051" y="204792"/>
            <a:ext cx="5111750" cy="4938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15924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1792289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pPr lvl="0">
              <a:defRPr sz="1800" b="0"/>
            </a:pPr>
            <a:r>
              <a:rPr sz="1800" b="1"/>
              <a:t>Clique para editar o estilo do título mestre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1792289" y="4025508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63"/>
              </a:spcBef>
              <a:buSzTx/>
              <a:buFontTx/>
              <a:buNone/>
              <a:defRPr sz="1200"/>
            </a:lvl1pPr>
          </a:lstStyle>
          <a:p>
            <a:pPr lvl="0">
              <a:defRPr sz="1800"/>
            </a:pPr>
            <a:r>
              <a:rPr sz="1200"/>
              <a:t>Clique para editar os estilos do texto mestre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67684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613413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6629401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240169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828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97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1" y="69057"/>
            <a:ext cx="8229601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0811" tIns="40811" rIns="40811" bIns="40811" anchor="ctr"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1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0811" tIns="40811" rIns="40811" bIns="40811"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777640"/>
            <a:ext cx="2133601" cy="253092"/>
          </a:xfrm>
          <a:prstGeom prst="rect">
            <a:avLst/>
          </a:prstGeom>
          <a:ln w="12700">
            <a:miter lim="400000"/>
          </a:ln>
        </p:spPr>
        <p:txBody>
          <a:bodyPr lIns="40811" tIns="40811" rIns="40811" bIns="40811" anchor="ctr">
            <a:spAutoFit/>
          </a:bodyPr>
          <a:lstStyle>
            <a:lvl1pPr algn="r">
              <a:defRPr sz="11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77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2" r:id="rId7"/>
    <p:sldLayoutId id="2147483683" r:id="rId8"/>
    <p:sldLayoutId id="2147483686" r:id="rId9"/>
    <p:sldLayoutId id="2147483687" r:id="rId10"/>
    <p:sldLayoutId id="2147483688" r:id="rId11"/>
    <p:sldLayoutId id="2147483689" r:id="rId12"/>
    <p:sldLayoutId id="2147483692" r:id="rId13"/>
    <p:sldLayoutId id="2147483693" r:id="rId14"/>
    <p:sldLayoutId id="2147483694" r:id="rId15"/>
    <p:sldLayoutId id="2147483695" r:id="rId16"/>
  </p:sldLayoutIdLst>
  <p:transition spd="med"/>
  <p:txStyles>
    <p:titleStyle>
      <a:lvl1pPr algn="ctr">
        <a:defRPr sz="3900">
          <a:latin typeface="Calibri"/>
          <a:ea typeface="Calibri"/>
          <a:cs typeface="Calibri"/>
          <a:sym typeface="Calibri"/>
        </a:defRPr>
      </a:lvl1pPr>
      <a:lvl2pPr algn="ctr">
        <a:defRPr sz="3900">
          <a:latin typeface="Calibri"/>
          <a:ea typeface="Calibri"/>
          <a:cs typeface="Calibri"/>
          <a:sym typeface="Calibri"/>
        </a:defRPr>
      </a:lvl2pPr>
      <a:lvl3pPr algn="ctr">
        <a:defRPr sz="3900">
          <a:latin typeface="Calibri"/>
          <a:ea typeface="Calibri"/>
          <a:cs typeface="Calibri"/>
          <a:sym typeface="Calibri"/>
        </a:defRPr>
      </a:lvl3pPr>
      <a:lvl4pPr algn="ctr">
        <a:defRPr sz="3900">
          <a:latin typeface="Calibri"/>
          <a:ea typeface="Calibri"/>
          <a:cs typeface="Calibri"/>
          <a:sym typeface="Calibri"/>
        </a:defRPr>
      </a:lvl4pPr>
      <a:lvl5pPr algn="ctr">
        <a:defRPr sz="3900">
          <a:latin typeface="Calibri"/>
          <a:ea typeface="Calibri"/>
          <a:cs typeface="Calibri"/>
          <a:sym typeface="Calibri"/>
        </a:defRPr>
      </a:lvl5pPr>
      <a:lvl6pPr indent="408108" algn="ctr">
        <a:defRPr sz="3900">
          <a:latin typeface="Calibri"/>
          <a:ea typeface="Calibri"/>
          <a:cs typeface="Calibri"/>
          <a:sym typeface="Calibri"/>
        </a:defRPr>
      </a:lvl6pPr>
      <a:lvl7pPr indent="816216" algn="ctr">
        <a:defRPr sz="3900">
          <a:latin typeface="Calibri"/>
          <a:ea typeface="Calibri"/>
          <a:cs typeface="Calibri"/>
          <a:sym typeface="Calibri"/>
        </a:defRPr>
      </a:lvl7pPr>
      <a:lvl8pPr indent="1224321" algn="ctr">
        <a:defRPr sz="3900">
          <a:latin typeface="Calibri"/>
          <a:ea typeface="Calibri"/>
          <a:cs typeface="Calibri"/>
          <a:sym typeface="Calibri"/>
        </a:defRPr>
      </a:lvl8pPr>
      <a:lvl9pPr indent="1632428" algn="ctr">
        <a:defRPr sz="3900">
          <a:latin typeface="Calibri"/>
          <a:ea typeface="Calibri"/>
          <a:cs typeface="Calibri"/>
          <a:sym typeface="Calibri"/>
        </a:defRPr>
      </a:lvl9pPr>
    </p:titleStyle>
    <p:bodyStyle>
      <a:lvl1pPr marL="306081" indent="-306081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1pPr>
      <a:lvl2pPr marL="697435" indent="-289331">
        <a:spcBef>
          <a:spcPts val="675"/>
        </a:spcBef>
        <a:buSzPct val="100000"/>
        <a:buFont typeface="Arial"/>
        <a:buChar char="–"/>
        <a:defRPr sz="2800">
          <a:latin typeface="Calibri"/>
          <a:ea typeface="Calibri"/>
          <a:cs typeface="Calibri"/>
          <a:sym typeface="Calibri"/>
        </a:defRPr>
      </a:lvl2pPr>
      <a:lvl3pPr marL="1088287" indent="-272071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3pPr>
      <a:lvl4pPr marL="1547405" indent="-323086">
        <a:spcBef>
          <a:spcPts val="675"/>
        </a:spcBef>
        <a:buSzPct val="100000"/>
        <a:buFont typeface="Arial"/>
        <a:buChar char="–"/>
        <a:defRPr sz="2800">
          <a:latin typeface="Calibri"/>
          <a:ea typeface="Calibri"/>
          <a:cs typeface="Calibri"/>
          <a:sym typeface="Calibri"/>
        </a:defRPr>
      </a:lvl4pPr>
      <a:lvl5pPr marL="1955514" indent="-323086">
        <a:spcBef>
          <a:spcPts val="675"/>
        </a:spcBef>
        <a:buSzPct val="100000"/>
        <a:buFont typeface="Arial"/>
        <a:buChar char="»"/>
        <a:defRPr sz="2800">
          <a:latin typeface="Calibri"/>
          <a:ea typeface="Calibri"/>
          <a:cs typeface="Calibri"/>
          <a:sym typeface="Calibri"/>
        </a:defRPr>
      </a:lvl5pPr>
      <a:lvl6pPr marL="2363623" indent="-323086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6pPr>
      <a:lvl7pPr marL="2771729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7pPr>
      <a:lvl8pPr marL="3179836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8pPr>
      <a:lvl9pPr marL="3587942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9pPr>
    </p:bodyStyle>
    <p:otherStyle>
      <a:lvl1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1pPr>
      <a:lvl2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2pPr>
      <a:lvl3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3pPr>
      <a:lvl4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4pPr>
      <a:lvl5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5pPr>
      <a:lvl6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46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60" r:id="rId2"/>
  </p:sldLayoutIdLst>
  <p:txStyles>
    <p:titleStyle>
      <a:lvl1pPr algn="ctr" defTabSz="408027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21" indent="-306021" algn="l" defTabSz="408027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63043" indent="-255016" algn="l" defTabSz="408027" rtl="0" eaLnBrk="1" latinLnBrk="0" hangingPunct="1">
        <a:spcBef>
          <a:spcPct val="20000"/>
        </a:spcBef>
        <a:buFont typeface="Arial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068" indent="-204013" algn="l" defTabSz="408027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093" indent="-204013" algn="l" defTabSz="408027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119" indent="-204013" algn="l" defTabSz="408027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149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176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0202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8228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027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053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080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108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136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162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189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4215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-2" y="700336"/>
            <a:ext cx="4991102" cy="3691717"/>
          </a:xfrm>
          <a:prstGeom prst="rect">
            <a:avLst/>
          </a:prstGeom>
          <a:solidFill>
            <a:srgbClr val="FE5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s-ES_tradnl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45171" y="989013"/>
            <a:ext cx="4326827" cy="21621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FFFFFE"/>
                </a:solidFill>
                <a:latin typeface="Gill Sans Std" pitchFamily="34" charset="0"/>
              </a:rPr>
              <a:t>MELHORIA CONTÍNUA DOS SERVIÇOS DE TD</a:t>
            </a:r>
          </a:p>
          <a:p>
            <a:pPr algn="ctr"/>
            <a:endParaRPr lang="pt-BR" sz="2400" b="1" dirty="0" smtClean="0">
              <a:solidFill>
                <a:srgbClr val="FFFFFE"/>
              </a:solidFill>
              <a:latin typeface="Gill Sans Std" pitchFamily="34" charset="0"/>
            </a:endParaRPr>
          </a:p>
          <a:p>
            <a:pPr algn="ctr"/>
            <a: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  <a:t>LANÇAMENTO </a:t>
            </a:r>
            <a:b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</a:br>
            <a: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  <a:t>DO PROJETO</a:t>
            </a:r>
            <a:endParaRPr lang="pt-BR" sz="2800" dirty="0">
              <a:solidFill>
                <a:srgbClr val="FFFFFE"/>
              </a:solidFill>
              <a:latin typeface="Gill Sans Std Light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021870" y="3361787"/>
            <a:ext cx="2793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rgbClr val="FFFFFE"/>
                </a:solidFill>
                <a:latin typeface="Gill Sans Std" pitchFamily="34" charset="0"/>
              </a:rPr>
              <a:t>VP Tecnologia Digital</a:t>
            </a:r>
            <a:endParaRPr lang="pt-BR" sz="2000" dirty="0">
              <a:solidFill>
                <a:srgbClr val="FFFFFE"/>
              </a:solidFill>
              <a:latin typeface="Gill Sans Std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361529" y="3976521"/>
            <a:ext cx="1490148" cy="25170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/>
          <a:p>
            <a:pPr algn="r" defTabSz="816277"/>
            <a:r>
              <a:rPr lang="pt-BR" sz="1100" smtClean="0">
                <a:solidFill>
                  <a:srgbClr val="FFFFFE"/>
                </a:solidFill>
                <a:latin typeface="Gill Sans Std" pitchFamily="34" charset="0"/>
              </a:rPr>
              <a:t>22 </a:t>
            </a:r>
            <a:r>
              <a:rPr lang="pt-BR" sz="1100" dirty="0" smtClean="0">
                <a:solidFill>
                  <a:srgbClr val="FFFFFE"/>
                </a:solidFill>
                <a:latin typeface="Gill Sans Std" pitchFamily="34" charset="0"/>
              </a:rPr>
              <a:t>Junho 2015</a:t>
            </a:r>
            <a:endParaRPr lang="pt-BR" sz="1100" b="1" i="1" dirty="0">
              <a:solidFill>
                <a:srgbClr val="FFFFFE"/>
              </a:solidFill>
              <a:latin typeface="Gill Sans Std" pitchFamily="34" charset="0"/>
            </a:endParaRPr>
          </a:p>
        </p:txBody>
      </p:sp>
      <p:pic>
        <p:nvPicPr>
          <p:cNvPr id="20" name="image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9260" y="3502758"/>
            <a:ext cx="802805" cy="7326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489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RETROSPECTIVA…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-1" y="1439863"/>
            <a:ext cx="9117505" cy="609600"/>
            <a:chOff x="-1" y="2931297"/>
            <a:chExt cx="9117505" cy="609600"/>
          </a:xfrm>
        </p:grpSpPr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9609" y="2931297"/>
              <a:ext cx="1607895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6" t="27583" r="48486" b="14379"/>
            <a:stretch/>
          </p:blipFill>
          <p:spPr bwMode="auto">
            <a:xfrm>
              <a:off x="-1" y="3102518"/>
              <a:ext cx="8313557" cy="353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3" name="Retângulo 42"/>
          <p:cNvSpPr/>
          <p:nvPr/>
        </p:nvSpPr>
        <p:spPr>
          <a:xfrm>
            <a:off x="3051597" y="2253329"/>
            <a:ext cx="30608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7294" algn="ctr"/>
            <a:r>
              <a:rPr lang="pt-BR" sz="1800" dirty="0" smtClean="0">
                <a:latin typeface="Gill Sans Std" pitchFamily="34" charset="0"/>
              </a:rPr>
              <a:t>evoluções e entregas </a:t>
            </a:r>
            <a:br>
              <a:rPr lang="pt-BR" sz="1800" dirty="0" smtClean="0">
                <a:latin typeface="Gill Sans Std" pitchFamily="34" charset="0"/>
              </a:rPr>
            </a:br>
            <a:r>
              <a:rPr lang="pt-BR" sz="1800" dirty="0" smtClean="0">
                <a:latin typeface="Gill Sans Std" pitchFamily="34" charset="0"/>
              </a:rPr>
              <a:t>de negócio relevantes</a:t>
            </a:r>
            <a:endParaRPr lang="pt-BR" sz="1800" dirty="0">
              <a:latin typeface="Gill Sans Std" pitchFamily="34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22918" y="1159418"/>
            <a:ext cx="13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/>
              <a:t>2012-2013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3864805" y="1159418"/>
            <a:ext cx="13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/>
              <a:t>2014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302145" y="2249047"/>
            <a:ext cx="2542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7294" algn="ctr"/>
            <a:r>
              <a:rPr lang="pt-BR" sz="1800" dirty="0" smtClean="0">
                <a:latin typeface="Gill Sans Std" pitchFamily="34" charset="0"/>
              </a:rPr>
              <a:t>TD é definido como um processo de negócio</a:t>
            </a:r>
            <a:endParaRPr lang="pt-BR" sz="1800" dirty="0">
              <a:latin typeface="Gill Sans Std" pitchFamily="34" charset="0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6156482" y="2255265"/>
            <a:ext cx="1945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7294" algn="ctr"/>
            <a:r>
              <a:rPr lang="pt-BR" sz="1800" dirty="0" smtClean="0">
                <a:latin typeface="Gill Sans Std" pitchFamily="34" charset="0"/>
              </a:rPr>
              <a:t>produtividade</a:t>
            </a:r>
            <a:br>
              <a:rPr lang="pt-BR" sz="1800" dirty="0" smtClean="0">
                <a:latin typeface="Gill Sans Std" pitchFamily="34" charset="0"/>
              </a:rPr>
            </a:br>
            <a:r>
              <a:rPr lang="pt-BR" sz="1800" dirty="0" smtClean="0">
                <a:latin typeface="Gill Sans Std" pitchFamily="34" charset="0"/>
              </a:rPr>
              <a:t>da operação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365887" y="1159418"/>
            <a:ext cx="139552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 smtClean="0"/>
              <a:t>2015</a:t>
            </a:r>
            <a:endParaRPr lang="pt-BR" dirty="0"/>
          </a:p>
        </p:txBody>
      </p:sp>
      <p:cxnSp>
        <p:nvCxnSpPr>
          <p:cNvPr id="10" name="Conector reto 9"/>
          <p:cNvCxnSpPr>
            <a:stCxn id="44" idx="2"/>
          </p:cNvCxnSpPr>
          <p:nvPr/>
        </p:nvCxnSpPr>
        <p:spPr>
          <a:xfrm>
            <a:off x="1520682" y="1528750"/>
            <a:ext cx="0" cy="21591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5" idx="2"/>
          </p:cNvCxnSpPr>
          <p:nvPr/>
        </p:nvCxnSpPr>
        <p:spPr>
          <a:xfrm>
            <a:off x="4562569" y="1528750"/>
            <a:ext cx="0" cy="1743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48" idx="2"/>
          </p:cNvCxnSpPr>
          <p:nvPr/>
        </p:nvCxnSpPr>
        <p:spPr>
          <a:xfrm>
            <a:off x="7063651" y="1544139"/>
            <a:ext cx="0" cy="1590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1359840" y="3333262"/>
            <a:ext cx="349107" cy="2487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Seta para baixo 51"/>
          <p:cNvSpPr/>
          <p:nvPr/>
        </p:nvSpPr>
        <p:spPr>
          <a:xfrm>
            <a:off x="4407472" y="3343085"/>
            <a:ext cx="349107" cy="2487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Seta para baixo 52"/>
          <p:cNvSpPr/>
          <p:nvPr/>
        </p:nvSpPr>
        <p:spPr>
          <a:xfrm>
            <a:off x="7022454" y="3343085"/>
            <a:ext cx="349107" cy="2487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/>
          <p:cNvSpPr txBox="1"/>
          <p:nvPr/>
        </p:nvSpPr>
        <p:spPr>
          <a:xfrm>
            <a:off x="334881" y="3610291"/>
            <a:ext cx="2399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 smtClean="0">
                <a:latin typeface="Gill Sans Std" pitchFamily="34" charset="0"/>
              </a:rPr>
              <a:t>desenho e implementação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3786864" y="3578329"/>
            <a:ext cx="155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 smtClean="0">
                <a:latin typeface="Gill Sans Std" pitchFamily="34" charset="0"/>
              </a:rPr>
              <a:t>novo modo de operar TD</a:t>
            </a:r>
            <a:endParaRPr lang="pt-BR" sz="1800" dirty="0">
              <a:latin typeface="Gill Sans Std" pitchFamily="34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3959099" y="4302788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800" i="1" dirty="0" smtClean="0">
                <a:solidFill>
                  <a:schemeClr val="accent1">
                    <a:lumMod val="50000"/>
                  </a:schemeClr>
                </a:solidFill>
                <a:latin typeface="Gill Sans Std" pitchFamily="34" charset="0"/>
              </a:rPr>
              <a:t>nasce o BES</a:t>
            </a:r>
            <a:endParaRPr lang="pt-BR" sz="1800" i="1" dirty="0">
              <a:solidFill>
                <a:schemeClr val="accent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6250273" y="3711575"/>
            <a:ext cx="18934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i="1" dirty="0" smtClean="0">
                <a:solidFill>
                  <a:schemeClr val="accent1"/>
                </a:solidFill>
                <a:latin typeface="Gill Sans Std" pitchFamily="34" charset="0"/>
              </a:rPr>
              <a:t>nasce a melhoria </a:t>
            </a:r>
            <a:br>
              <a:rPr lang="pt-BR" sz="2000" i="1" dirty="0" smtClean="0">
                <a:solidFill>
                  <a:schemeClr val="accent1"/>
                </a:solidFill>
                <a:latin typeface="Gill Sans Std" pitchFamily="34" charset="0"/>
              </a:rPr>
            </a:br>
            <a:r>
              <a:rPr lang="pt-BR" sz="2000" i="1" dirty="0" smtClean="0">
                <a:solidFill>
                  <a:schemeClr val="accent1"/>
                </a:solidFill>
                <a:latin typeface="Gill Sans Std" pitchFamily="34" charset="0"/>
              </a:rPr>
              <a:t>dos serviços</a:t>
            </a:r>
            <a:endParaRPr lang="pt-BR" sz="2000" i="1" dirty="0">
              <a:solidFill>
                <a:schemeClr val="accent1"/>
              </a:solidFill>
              <a:latin typeface="Gill Sans Std" pitchFamily="34" charset="0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878795" y="4356545"/>
            <a:ext cx="1435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800" i="1" dirty="0">
                <a:solidFill>
                  <a:schemeClr val="accent1">
                    <a:lumMod val="50000"/>
                  </a:schemeClr>
                </a:solidFill>
                <a:latin typeface="Gill Sans Std" pitchFamily="34" charset="0"/>
              </a:rPr>
              <a:t>nasce o Metrô</a:t>
            </a:r>
          </a:p>
        </p:txBody>
      </p:sp>
    </p:spTree>
    <p:extLst>
      <p:ext uri="{BB962C8B-B14F-4D97-AF65-F5344CB8AC3E}">
        <p14:creationId xmlns:p14="http://schemas.microsoft.com/office/powerpoint/2010/main" val="82987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  <p:bldP spid="51" grpId="0" animBg="1"/>
      <p:bldP spid="52" grpId="0" animBg="1"/>
      <p:bldP spid="53" grpId="0" animBg="1"/>
      <p:bldP spid="54" grpId="0"/>
      <p:bldP spid="62" grpId="0"/>
      <p:bldP spid="67" grpId="0"/>
      <p:bldP spid="68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1781173" y="1446069"/>
            <a:ext cx="6397627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b="1" dirty="0" smtClean="0">
                <a:latin typeface="Gill Sans Std" pitchFamily="34" charset="0"/>
              </a:rPr>
              <a:t>ganhos de </a:t>
            </a:r>
            <a:r>
              <a:rPr lang="pt-BR" b="1" dirty="0">
                <a:latin typeface="Gill Sans Std" pitchFamily="34" charset="0"/>
              </a:rPr>
              <a:t>sinergia </a:t>
            </a:r>
            <a:r>
              <a:rPr lang="pt-BR" dirty="0"/>
              <a:t>entre </a:t>
            </a:r>
            <a:r>
              <a:rPr lang="pt-BR" dirty="0" smtClean="0"/>
              <a:t>as áreas e</a:t>
            </a:r>
          </a:p>
          <a:p>
            <a:pPr>
              <a:defRPr/>
            </a:pPr>
            <a:r>
              <a:rPr lang="pt-BR" b="1" dirty="0" smtClean="0">
                <a:latin typeface="Gill Sans Std" pitchFamily="34" charset="0"/>
              </a:rPr>
              <a:t>melhoria </a:t>
            </a:r>
            <a:r>
              <a:rPr lang="pt-BR" b="1" dirty="0">
                <a:latin typeface="Gill Sans Std" pitchFamily="34" charset="0"/>
              </a:rPr>
              <a:t>efetiva da qualidade</a:t>
            </a:r>
            <a:r>
              <a:rPr lang="pt-BR" dirty="0">
                <a:latin typeface="Gill Sans Std" pitchFamily="34" charset="0"/>
              </a:rPr>
              <a:t> </a:t>
            </a:r>
            <a:r>
              <a:rPr lang="pt-BR" dirty="0"/>
              <a:t>dos </a:t>
            </a:r>
            <a:r>
              <a:rPr lang="pt-BR" dirty="0" smtClean="0"/>
              <a:t>nossos serviços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O QUE QUEREMOS ALCANÇAR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41" name="Picture 2" descr="http://f1banter.files.wordpress.com/2010/03/a_pit_stop_for_kim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400" y="2467099"/>
            <a:ext cx="2912400" cy="163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tângulo 41"/>
          <p:cNvSpPr/>
          <p:nvPr/>
        </p:nvSpPr>
        <p:spPr>
          <a:xfrm>
            <a:off x="321073" y="2565273"/>
            <a:ext cx="4660271" cy="7254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ctr"/>
            <a:r>
              <a:rPr lang="pt-BR" sz="2000" b="1" dirty="0">
                <a:solidFill>
                  <a:schemeClr val="accent1"/>
                </a:solidFill>
              </a:rPr>
              <a:t>e</a:t>
            </a:r>
            <a:r>
              <a:rPr lang="pt-BR" sz="2000" b="1" dirty="0" smtClean="0">
                <a:solidFill>
                  <a:schemeClr val="accent1"/>
                </a:solidFill>
              </a:rPr>
              <a:t>volução </a:t>
            </a:r>
            <a:r>
              <a:rPr lang="pt-BR" sz="2000" b="1" dirty="0">
                <a:solidFill>
                  <a:schemeClr val="accent1"/>
                </a:solidFill>
              </a:rPr>
              <a:t>– e não revolução – é a tônica </a:t>
            </a:r>
            <a:r>
              <a:rPr lang="pt-BR" sz="2000" b="1" dirty="0" smtClean="0">
                <a:solidFill>
                  <a:schemeClr val="accent1"/>
                </a:solidFill>
              </a:rPr>
              <a:t>desta transformação</a:t>
            </a:r>
            <a:r>
              <a:rPr lang="pt-BR" b="1" dirty="0" smtClean="0">
                <a:solidFill>
                  <a:schemeClr val="accent1"/>
                </a:solidFill>
                <a:latin typeface="Gill Sans Std Light" pitchFamily="34" charset="0"/>
              </a:rPr>
              <a:t>!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441656" y="3317638"/>
            <a:ext cx="4416093" cy="6331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1500" b="1" dirty="0" smtClean="0">
                <a:solidFill>
                  <a:schemeClr val="accent1"/>
                </a:solidFill>
                <a:latin typeface="Gill Sans Std Light" pitchFamily="34" charset="0"/>
              </a:rPr>
              <a:t>não é sobre Tecnologia...</a:t>
            </a:r>
          </a:p>
          <a:p>
            <a:pPr algn="r"/>
            <a:r>
              <a:rPr lang="pt-BR" b="1" dirty="0">
                <a:solidFill>
                  <a:schemeClr val="accent1"/>
                </a:solidFill>
                <a:latin typeface="Gill Sans Std Light" pitchFamily="34" charset="0"/>
              </a:rPr>
              <a:t>é</a:t>
            </a:r>
            <a:r>
              <a:rPr lang="pt-BR" b="1" dirty="0" smtClean="0">
                <a:solidFill>
                  <a:schemeClr val="accent1"/>
                </a:solidFill>
                <a:latin typeface="Gill Sans Std Light" pitchFamily="34" charset="0"/>
              </a:rPr>
              <a:t> sobre Negócios!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2863"/>
            <a:ext cx="160789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06183" y="1086674"/>
            <a:ext cx="13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/>
              <a:t>2015-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6623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FOCOS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43" name="Text Placeholder 17"/>
          <p:cNvSpPr txBox="1">
            <a:spLocks/>
          </p:cNvSpPr>
          <p:nvPr/>
        </p:nvSpPr>
        <p:spPr>
          <a:xfrm>
            <a:off x="453958" y="1457792"/>
            <a:ext cx="8384844" cy="2961808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_desenvolver </a:t>
            </a:r>
            <a:r>
              <a:rPr lang="pt-BR" sz="1800" dirty="0"/>
              <a:t>e manter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práticas baseadas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em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processos</a:t>
            </a:r>
            <a:endParaRPr lang="pt-BR" sz="1800" dirty="0" smtClean="0">
              <a:solidFill>
                <a:srgbClr val="C00000"/>
              </a:solidFill>
              <a:latin typeface="Gill Sans Std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pt-BR" sz="1800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evolução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permanente dos resultados </a:t>
            </a:r>
            <a:r>
              <a:rPr lang="pt-BR" sz="1800" dirty="0" smtClean="0"/>
              <a:t>dos Serviços </a:t>
            </a:r>
            <a:r>
              <a:rPr lang="pt-BR" sz="1800" dirty="0"/>
              <a:t>de </a:t>
            </a:r>
            <a:r>
              <a:rPr lang="pt-BR" sz="1800" dirty="0" smtClean="0"/>
              <a:t>TD - eficiência </a:t>
            </a:r>
            <a:r>
              <a:rPr lang="pt-BR" sz="1800" dirty="0"/>
              <a:t>e eficácia de </a:t>
            </a:r>
            <a:r>
              <a:rPr lang="pt-BR" sz="1800" dirty="0" smtClean="0"/>
              <a:t>nossos profissionais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pt-BR" sz="1800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_aumentar </a:t>
            </a:r>
            <a:r>
              <a:rPr lang="pt-BR" sz="1800" dirty="0"/>
              <a:t>de forma gradual e sustentável a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contribuição da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TD para a estratégia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de negócios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Natura</a:t>
            </a:r>
            <a:endParaRPr lang="pt-BR" sz="2400" dirty="0">
              <a:solidFill>
                <a:srgbClr val="C00000"/>
              </a:solidFill>
              <a:latin typeface="Gill Sans Std" pitchFamily="34" charset="0"/>
            </a:endParaRPr>
          </a:p>
        </p:txBody>
      </p:sp>
      <p:sp>
        <p:nvSpPr>
          <p:cNvPr id="10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66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FORÇAS CONTRÁRIAS…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893247" y="1211882"/>
            <a:ext cx="45264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  <a:t>orientação insuficiente </a:t>
            </a:r>
            <a:b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  <a:t>para implantar</a:t>
            </a:r>
            <a:endParaRPr lang="pt-BR" sz="3200" dirty="0">
              <a:solidFill>
                <a:schemeClr val="accent1">
                  <a:lumMod val="60000"/>
                  <a:lumOff val="4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546341" y="1565825"/>
            <a:ext cx="366063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rgbClr val="FF0000"/>
                </a:solidFill>
                <a:latin typeface="Gill Sans Std" pitchFamily="34" charset="0"/>
              </a:rPr>
              <a:t>f</a:t>
            </a:r>
            <a:r>
              <a:rPr lang="pt-BR" sz="4400" b="1" dirty="0" smtClean="0">
                <a:solidFill>
                  <a:srgbClr val="FF0000"/>
                </a:solidFill>
                <a:latin typeface="Gill Sans Std" pitchFamily="34" charset="0"/>
              </a:rPr>
              <a:t>alta de tempo</a:t>
            </a:r>
            <a:endParaRPr lang="pt-BR" sz="4000" dirty="0"/>
          </a:p>
        </p:txBody>
      </p:sp>
      <p:sp>
        <p:nvSpPr>
          <p:cNvPr id="21" name="Retângulo 20"/>
          <p:cNvSpPr/>
          <p:nvPr/>
        </p:nvSpPr>
        <p:spPr>
          <a:xfrm>
            <a:off x="5320963" y="2823145"/>
            <a:ext cx="288252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  <a:t>falta de apoio </a:t>
            </a:r>
            <a:b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  <a:t>da liderança</a:t>
            </a: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208295" y="3255091"/>
            <a:ext cx="284372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schemeClr val="accent2"/>
                </a:solidFill>
                <a:latin typeface="Gill Sans Std" pitchFamily="34" charset="0"/>
              </a:rPr>
              <a:t>	</a:t>
            </a:r>
            <a: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  <a:t>maturidade </a:t>
            </a:r>
            <a:b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  <a:t>do time</a:t>
            </a:r>
            <a:endParaRPr lang="pt-BR" sz="2800" dirty="0">
              <a:solidFill>
                <a:schemeClr val="accent2"/>
              </a:solidFill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pic>
        <p:nvPicPr>
          <p:cNvPr id="1028" name="Picture 4" descr="http://static5.eeiplatform.com/files/gartn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467" y="4155056"/>
            <a:ext cx="936086" cy="70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34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E MAIS…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320478" y="1510618"/>
            <a:ext cx="8505364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60363" algn="just" eaLnBrk="0" hangingPunct="0"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_dúvidas sobre a </a:t>
            </a:r>
            <a:r>
              <a:rPr lang="pt-BR" sz="2400" kern="1200" dirty="0">
                <a:solidFill>
                  <a:srgbClr val="CC00FF"/>
                </a:solidFill>
                <a:latin typeface="Gill Sans Std" pitchFamily="34" charset="0"/>
                <a:ea typeface="+mn-ea"/>
                <a:cs typeface="Gill Sans Std Light"/>
              </a:rPr>
              <a:t>propriedade e autoridade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dos processos</a:t>
            </a:r>
            <a:endParaRPr lang="pt-BR" sz="20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falta de </a:t>
            </a:r>
            <a:r>
              <a:rPr lang="pt-BR" sz="2200" i="1" kern="1200" dirty="0">
                <a:solidFill>
                  <a:srgbClr val="C00000"/>
                </a:solidFill>
                <a:latin typeface="Gill Sans Std" pitchFamily="34" charset="0"/>
                <a:ea typeface="+mn-ea"/>
                <a:cs typeface="Gill Sans Std Light"/>
              </a:rPr>
              <a:t>revisão periódica 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dos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processos</a:t>
            </a:r>
            <a:endParaRPr lang="pt-BR" sz="20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92075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dificuldade para </a:t>
            </a:r>
            <a:r>
              <a:rPr lang="pt-BR" sz="2000" kern="1200" dirty="0" smtClean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manter </a:t>
            </a:r>
            <a:r>
              <a:rPr lang="pt-BR" sz="2200" b="1" kern="1200" dirty="0" smtClean="0">
                <a:solidFill>
                  <a:srgbClr val="0070C0"/>
                </a:solidFill>
                <a:latin typeface="Gill Sans Std" pitchFamily="34" charset="0"/>
                <a:ea typeface="+mn-ea"/>
                <a:cs typeface="Gill Sans Std Light"/>
              </a:rPr>
              <a:t>disciplina de execução</a:t>
            </a:r>
            <a:endParaRPr lang="pt-BR" sz="2200" b="1" kern="1200" dirty="0">
              <a:solidFill>
                <a:srgbClr val="0070C0"/>
              </a:solidFill>
              <a:latin typeface="Gill Sans Std" pitchFamily="34" charset="0"/>
              <a:ea typeface="+mn-ea"/>
              <a:cs typeface="Gill Sans Std Light"/>
            </a:endParaRPr>
          </a:p>
          <a:p>
            <a:pPr marL="1079500" algn="just" eaLnBrk="0" hangingPunct="0"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algn="ctr" eaLnBrk="0" hangingPunct="0"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hábitos, usos e costumes e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a</a:t>
            </a:r>
          </a:p>
          <a:p>
            <a:pPr algn="ctr" eaLnBrk="0" hangingPunct="0">
              <a:defRPr/>
            </a:pPr>
            <a:r>
              <a:rPr lang="pt-BR" sz="2800" kern="1200" dirty="0" smtClean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natural </a:t>
            </a:r>
            <a:r>
              <a:rPr lang="pt-BR" sz="2800" kern="1200" dirty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resistência às </a:t>
            </a:r>
            <a:r>
              <a:rPr lang="pt-BR" sz="2800" kern="1200" dirty="0" smtClean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mudanças</a:t>
            </a:r>
            <a:endParaRPr lang="pt-BR" sz="2800" kern="1200" dirty="0">
              <a:solidFill>
                <a:schemeClr val="accent1"/>
              </a:solidFill>
              <a:latin typeface="Gill Sans Std" pitchFamily="34" charset="0"/>
              <a:ea typeface="+mn-ea"/>
              <a:cs typeface="Gill Sans Std Light"/>
            </a:endParaRPr>
          </a:p>
        </p:txBody>
      </p:sp>
      <p:sp>
        <p:nvSpPr>
          <p:cNvPr id="10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86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7971762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err="1"/>
              <a:t>Tstee</a:t>
            </a:r>
            <a:r>
              <a:rPr lang="pt-BR" dirty="0"/>
              <a:t> sua </a:t>
            </a:r>
            <a:r>
              <a:rPr lang="pt-BR" dirty="0" err="1"/>
              <a:t>rnisêtecsia</a:t>
            </a:r>
            <a:r>
              <a:rPr lang="pt-BR" dirty="0"/>
              <a:t> a </a:t>
            </a:r>
            <a:r>
              <a:rPr lang="pt-BR" dirty="0" err="1" smtClean="0"/>
              <a:t>mdunaças</a:t>
            </a:r>
            <a:r>
              <a:rPr lang="pt-BR" dirty="0" smtClean="0"/>
              <a:t>...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>
                <a:latin typeface="Gill Sans Std Light" pitchFamily="34" charset="0"/>
              </a:rPr>
              <a:t>SOMOS TODOS APEGADOS AOS NOSSOS HÁBITOS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71600" y="1744330"/>
            <a:ext cx="7452320" cy="2932469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Leia as cores das palavras, não as palavras!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251" b="1" i="1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verde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cinza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laranja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roxo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roxo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branco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verde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verde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branco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cinza</a:t>
            </a:r>
            <a:endParaRPr kumimoji="0" lang="pt-BR" sz="2251" b="1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3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3565127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É difícil mudar</a:t>
            </a:r>
            <a:r>
              <a:rPr lang="pt-BR" dirty="0"/>
              <a:t>?</a:t>
            </a:r>
          </a:p>
        </p:txBody>
      </p:sp>
      <p:sp>
        <p:nvSpPr>
          <p:cNvPr id="5" name="Shape 721"/>
          <p:cNvSpPr/>
          <p:nvPr/>
        </p:nvSpPr>
        <p:spPr>
          <a:xfrm>
            <a:off x="308113" y="985837"/>
            <a:ext cx="278083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4272612" y="370106"/>
            <a:ext cx="2584220" cy="1938974"/>
            <a:chOff x="3404198" y="872416"/>
            <a:chExt cx="2349291" cy="1762704"/>
          </a:xfrm>
        </p:grpSpPr>
        <p:pic>
          <p:nvPicPr>
            <p:cNvPr id="14" name="Espaço Reservado para Conteúdo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4198" y="872416"/>
              <a:ext cx="2148295" cy="1762704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6200000">
              <a:off x="5055051" y="1586654"/>
              <a:ext cx="1089099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0070C0"/>
                  </a:solidFill>
                </a:rPr>
                <a:t>Pessoas</a:t>
              </a:r>
              <a:endParaRPr lang="pt-BR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6855829" y="2145017"/>
            <a:ext cx="1925508" cy="1364149"/>
            <a:chOff x="6217359" y="3060811"/>
            <a:chExt cx="2819137" cy="19972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20" name="CaixaDeTexto 19"/>
            <p:cNvSpPr txBox="1"/>
            <p:nvPr/>
          </p:nvSpPr>
          <p:spPr>
            <a:xfrm rot="18175943">
              <a:off x="7347624" y="3685130"/>
              <a:ext cx="1671364" cy="49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bg1"/>
                  </a:solidFill>
                </a:rPr>
                <a:t>Produtos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4682889" y="3482690"/>
            <a:ext cx="1424335" cy="1314772"/>
            <a:chOff x="3450735" y="4636391"/>
            <a:chExt cx="2085370" cy="1924957"/>
          </a:xfrm>
        </p:grpSpPr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23" name="CaixaDeTexto 22"/>
            <p:cNvSpPr txBox="1"/>
            <p:nvPr/>
          </p:nvSpPr>
          <p:spPr>
            <a:xfrm rot="17730074">
              <a:off x="3206885" y="5392443"/>
              <a:ext cx="1742854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7A5724"/>
                  </a:solidFill>
                </a:rPr>
                <a:t>Parceiros</a:t>
              </a:r>
              <a:endParaRPr lang="pt-BR" sz="1600" b="1" dirty="0">
                <a:solidFill>
                  <a:srgbClr val="7A5724"/>
                </a:solidFill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2374683" y="2165783"/>
            <a:ext cx="1802439" cy="1252254"/>
            <a:chOff x="262642" y="3095899"/>
            <a:chExt cx="2638952" cy="1833425"/>
          </a:xfrm>
        </p:grpSpPr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26" name="CaixaDeTexto 25"/>
            <p:cNvSpPr txBox="1"/>
            <p:nvPr/>
          </p:nvSpPr>
          <p:spPr>
            <a:xfrm rot="19767345">
              <a:off x="884034" y="4140583"/>
              <a:ext cx="2017560" cy="49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Processos</a:t>
              </a:r>
              <a:endPara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7" name="Setas cruzadas 26"/>
          <p:cNvSpPr/>
          <p:nvPr/>
        </p:nvSpPr>
        <p:spPr>
          <a:xfrm>
            <a:off x="5084313" y="2325134"/>
            <a:ext cx="915203" cy="923062"/>
          </a:xfrm>
          <a:prstGeom prst="quadArrow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8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3679427" cy="41621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É possível melhorar sem mudar</a:t>
            </a:r>
            <a:r>
              <a:rPr lang="pt-BR" dirty="0"/>
              <a:t>?</a:t>
            </a: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3985798" y="2421028"/>
            <a:ext cx="4681952" cy="1816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  <a:t>“Fazer sempre as mesmas coisas,</a:t>
            </a:r>
            <a:b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</a:br>
            <a: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  <a:t>esperando resultados diferentes é </a:t>
            </a:r>
            <a:r>
              <a:rPr lang="pt-BR" sz="2400" b="1" i="1" dirty="0" smtClean="0">
                <a:solidFill>
                  <a:schemeClr val="accent5"/>
                </a:solidFill>
                <a:latin typeface="Gill Sans Std" pitchFamily="34" charset="0"/>
              </a:rPr>
              <a:t>insanidade!</a:t>
            </a:r>
            <a:r>
              <a:rPr lang="pt-BR" sz="2400" i="1" dirty="0" smtClean="0">
                <a:solidFill>
                  <a:schemeClr val="accent5"/>
                </a:solidFill>
                <a:latin typeface="Gill Sans Std" pitchFamily="34" charset="0"/>
              </a:rPr>
              <a:t>”</a:t>
            </a:r>
            <a:endParaRPr lang="pt-BR" sz="2400" dirty="0">
              <a:solidFill>
                <a:schemeClr val="accent5"/>
              </a:solidFill>
              <a:latin typeface="Gill Sans Std" pitchFamily="34" charset="0"/>
            </a:endParaRPr>
          </a:p>
          <a:p>
            <a:pPr algn="r"/>
            <a:endParaRPr lang="pt-BR" sz="2401" dirty="0">
              <a:solidFill>
                <a:schemeClr val="accent5"/>
              </a:solidFill>
              <a:latin typeface="Gill Sans Std" pitchFamily="34" charset="0"/>
            </a:endParaRPr>
          </a:p>
          <a:p>
            <a:pPr algn="r"/>
            <a:r>
              <a:rPr lang="pt-BR" sz="1600" i="1" dirty="0" smtClean="0">
                <a:solidFill>
                  <a:schemeClr val="accent5"/>
                </a:solidFill>
                <a:latin typeface="Gill Sans Std" pitchFamily="34" charset="0"/>
              </a:rPr>
              <a:t>Albert </a:t>
            </a:r>
            <a:r>
              <a:rPr lang="pt-BR" sz="1600" i="1" dirty="0">
                <a:solidFill>
                  <a:schemeClr val="accent5"/>
                </a:solidFill>
                <a:latin typeface="Gill Sans Std" pitchFamily="34" charset="0"/>
              </a:rPr>
              <a:t>Einstein</a:t>
            </a:r>
            <a:endParaRPr lang="pt-BR" sz="1600" b="1" i="1" dirty="0">
              <a:solidFill>
                <a:schemeClr val="accent5"/>
              </a:solidFill>
              <a:latin typeface="Gill Sans Std" pitchFamily="34" charset="0"/>
            </a:endParaRPr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944" y="1671589"/>
            <a:ext cx="2817443" cy="299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" descr="http://2.bp.blogspot.com/-lBTxgsITso4/UOgbH_IFD4I/AAAAAAAABTY/XEMvo-MD-20/s1600/SejaVoceMesm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936" y="1671589"/>
            <a:ext cx="2990862" cy="299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8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HIPÓTESES PARA TESTAR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394219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6141450" y="50409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Catálogo de Ofertas e </a:t>
            </a:r>
            <a:r>
              <a:rPr lang="pt-BR" sz="1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Serviços</a:t>
            </a:r>
            <a:endParaRPr kumimoji="0" lang="pt-BR" sz="1600" b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112230" y="367250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Eficácia </a:t>
            </a: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dos controles 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de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Mudanças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6810918" y="271114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Gestão do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Conhecimento</a:t>
            </a:r>
            <a:endParaRPr kumimoji="0" lang="pt-BR" sz="1600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922988" y="391962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Demandas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 e Insumos para Projetos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491460" y="244053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Prazos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/>
            </a:r>
            <a:b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</a:b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SLA, OLA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,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UC</a:t>
            </a:r>
            <a:endParaRPr kumimoji="0" lang="pt-B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3343729" y="4030598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Indicadores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que suportam a Decisão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847005" y="115177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Tratamento de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Incidentes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e Requisições</a:t>
            </a:r>
          </a:p>
        </p:txBody>
      </p:sp>
      <p:sp>
        <p:nvSpPr>
          <p:cNvPr id="22" name="Seta para a esquerda 21"/>
          <p:cNvSpPr/>
          <p:nvPr/>
        </p:nvSpPr>
        <p:spPr>
          <a:xfrm rot="1661700">
            <a:off x="3008108" y="1567700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3" name="Seta para a esquerda 22"/>
          <p:cNvSpPr/>
          <p:nvPr/>
        </p:nvSpPr>
        <p:spPr>
          <a:xfrm rot="19181624">
            <a:off x="3044945" y="3350882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4" name="Seta para a esquerda 23"/>
          <p:cNvSpPr/>
          <p:nvPr/>
        </p:nvSpPr>
        <p:spPr>
          <a:xfrm>
            <a:off x="2641293" y="2671166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5" name="Seta para a direita 24"/>
          <p:cNvSpPr/>
          <p:nvPr/>
        </p:nvSpPr>
        <p:spPr>
          <a:xfrm rot="672241">
            <a:off x="6328180" y="2935737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6" name="Seta para a direita 25"/>
          <p:cNvSpPr/>
          <p:nvPr/>
        </p:nvSpPr>
        <p:spPr>
          <a:xfrm rot="1924002">
            <a:off x="5633671" y="3571695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7" name="Seta para a esquerda 26"/>
          <p:cNvSpPr/>
          <p:nvPr/>
        </p:nvSpPr>
        <p:spPr>
          <a:xfrm rot="16926708">
            <a:off x="4258774" y="3611778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7042660" y="164500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Problemas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e </a:t>
            </a:r>
            <a:r>
              <a:rPr kumimoji="0" lang="pt-BR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Root Cause </a:t>
            </a:r>
            <a:r>
              <a:rPr kumimoji="0" lang="pt-BR" sz="16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Analysis</a:t>
            </a:r>
            <a:endParaRPr kumimoji="0" lang="pt-BR" sz="1600" b="0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33" name="Seta para a direita 32"/>
          <p:cNvSpPr/>
          <p:nvPr/>
        </p:nvSpPr>
        <p:spPr>
          <a:xfrm rot="20038822">
            <a:off x="6537813" y="1991763"/>
            <a:ext cx="320672" cy="298845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19" y="1338573"/>
            <a:ext cx="2089259" cy="192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eta para a direita 34"/>
          <p:cNvSpPr/>
          <p:nvPr/>
        </p:nvSpPr>
        <p:spPr>
          <a:xfrm rot="19496181">
            <a:off x="5709605" y="1081926"/>
            <a:ext cx="320672" cy="29884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30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2" grpId="0" animBg="1"/>
      <p:bldP spid="33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DESAFIOS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81023" y="1358174"/>
            <a:ext cx="33131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2800" b="1" dirty="0">
                <a:solidFill>
                  <a:schemeClr val="accent2"/>
                </a:solidFill>
                <a:latin typeface="Gill Sans Std" pitchFamily="34" charset="0"/>
              </a:rPr>
              <a:t>qualidade e </a:t>
            </a:r>
            <a: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  <a:t>conformidade </a:t>
            </a:r>
            <a:b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</a:br>
            <a: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  <a:t>(</a:t>
            </a:r>
            <a:r>
              <a:rPr lang="pt-BR" sz="2800" b="1" i="1" dirty="0" smtClean="0">
                <a:solidFill>
                  <a:schemeClr val="accent2"/>
                </a:solidFill>
                <a:latin typeface="Gill Sans Std" pitchFamily="34" charset="0"/>
              </a:rPr>
              <a:t>Metrô)</a:t>
            </a:r>
            <a:endParaRPr lang="pt-BR" sz="2800" dirty="0">
              <a:solidFill>
                <a:schemeClr val="accent2"/>
              </a:solidFill>
              <a:latin typeface="Gill Sans Std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058018" y="1171270"/>
            <a:ext cx="4196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2400" b="1" dirty="0">
                <a:solidFill>
                  <a:srgbClr val="00B0F0"/>
                </a:solidFill>
                <a:latin typeface="Gill Sans Std" pitchFamily="34" charset="0"/>
              </a:rPr>
              <a:t>priorização das </a:t>
            </a:r>
            <a: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  <a:t/>
            </a:r>
            <a:b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</a:br>
            <a: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  <a:t>oportunidades de </a:t>
            </a:r>
            <a:r>
              <a:rPr lang="pt-BR" sz="2400" b="1" dirty="0">
                <a:solidFill>
                  <a:srgbClr val="00B0F0"/>
                </a:solidFill>
                <a:latin typeface="Gill Sans Std" pitchFamily="34" charset="0"/>
              </a:rPr>
              <a:t>melhorias</a:t>
            </a:r>
            <a:r>
              <a:rPr lang="pt-BR" sz="2400" dirty="0">
                <a:solidFill>
                  <a:srgbClr val="00B0F0"/>
                </a:solidFill>
                <a:latin typeface="Gill Sans Std" pitchFamily="34" charset="0"/>
              </a:rPr>
              <a:t> 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84359" y="2472549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l">
              <a:spcAft>
                <a:spcPts val="1200"/>
              </a:spcAft>
              <a:tabLst>
                <a:tab pos="1619250" algn="l"/>
                <a:tab pos="7448550" algn="l"/>
              </a:tabLst>
            </a:pPr>
            <a:r>
              <a:rPr lang="pt-BR" sz="3600" b="1" dirty="0">
                <a:solidFill>
                  <a:srgbClr val="CC00FF"/>
                </a:solidFill>
                <a:latin typeface="Gill Sans Std" pitchFamily="34" charset="0"/>
              </a:rPr>
              <a:t>PDCA</a:t>
            </a:r>
            <a:endParaRPr lang="pt-BR" sz="3600" dirty="0">
              <a:solidFill>
                <a:srgbClr val="CC00FF"/>
              </a:solidFill>
              <a:latin typeface="Gill Sans Std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21073" y="33140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3600" b="1" dirty="0">
                <a:solidFill>
                  <a:srgbClr val="FF0000"/>
                </a:solidFill>
                <a:latin typeface="Gill Sans Std" pitchFamily="34" charset="0"/>
              </a:rPr>
              <a:t>atitudes e </a:t>
            </a:r>
            <a:r>
              <a:rPr lang="pt-BR" sz="3600" b="1" dirty="0" smtClean="0">
                <a:solidFill>
                  <a:srgbClr val="FF0000"/>
                </a:solidFill>
                <a:latin typeface="Gill Sans Std" pitchFamily="34" charset="0"/>
              </a:rPr>
              <a:t>comportamentos</a:t>
            </a:r>
            <a:endParaRPr lang="pt-BR" sz="3200" dirty="0"/>
          </a:p>
        </p:txBody>
      </p:sp>
      <p:sp>
        <p:nvSpPr>
          <p:cNvPr id="7" name="Retângulo 6"/>
          <p:cNvSpPr/>
          <p:nvPr/>
        </p:nvSpPr>
        <p:spPr>
          <a:xfrm>
            <a:off x="5470531" y="2436474"/>
            <a:ext cx="35665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  <a:t>qualidade </a:t>
            </a:r>
            <a:b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</a:br>
            <a: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  <a:t>inegociável </a:t>
            </a:r>
            <a:endParaRPr lang="pt-BR" sz="2400" dirty="0"/>
          </a:p>
        </p:txBody>
      </p:sp>
      <p:sp>
        <p:nvSpPr>
          <p:cNvPr id="10" name="Retângulo 9"/>
          <p:cNvSpPr/>
          <p:nvPr/>
        </p:nvSpPr>
        <p:spPr>
          <a:xfrm>
            <a:off x="4893073" y="3467099"/>
            <a:ext cx="30921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600" dirty="0">
                <a:latin typeface="Gill Sans Std" pitchFamily="34" charset="0"/>
              </a:rPr>
              <a:t>	</a:t>
            </a:r>
            <a:r>
              <a:rPr lang="pt-BR" sz="3600" b="1" dirty="0">
                <a:solidFill>
                  <a:srgbClr val="0070C0"/>
                </a:solidFill>
                <a:latin typeface="Gill Sans Std" pitchFamily="34" charset="0"/>
              </a:rPr>
              <a:t>indicadores </a:t>
            </a:r>
            <a: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  <a:t/>
            </a:r>
            <a:b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</a:br>
            <a: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  <a:t>e </a:t>
            </a:r>
            <a:r>
              <a:rPr lang="pt-BR" sz="3600" b="1" dirty="0">
                <a:solidFill>
                  <a:srgbClr val="0070C0"/>
                </a:solidFill>
                <a:latin typeface="Gill Sans Std" pitchFamily="34" charset="0"/>
              </a:rPr>
              <a:t>ação</a:t>
            </a:r>
            <a:endParaRPr lang="pt-BR" sz="3200" dirty="0"/>
          </a:p>
        </p:txBody>
      </p:sp>
      <p:sp>
        <p:nvSpPr>
          <p:cNvPr id="1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8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94" b="9605"/>
          <a:stretch/>
        </p:blipFill>
        <p:spPr bwMode="auto">
          <a:xfrm>
            <a:off x="-6823" y="3592997"/>
            <a:ext cx="9147600" cy="1552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83" b="-1"/>
          <a:stretch/>
        </p:blipFill>
        <p:spPr bwMode="auto">
          <a:xfrm>
            <a:off x="-5023" y="2332936"/>
            <a:ext cx="9149024" cy="1252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03"/>
          <a:stretch/>
        </p:blipFill>
        <p:spPr bwMode="auto">
          <a:xfrm>
            <a:off x="2173" y="1047860"/>
            <a:ext cx="9149024" cy="127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ill Sans Std Light" pitchFamily="34" charset="0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3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9864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2930387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93" y="674275"/>
            <a:ext cx="6548710" cy="377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14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TIMELINE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722313" y="1526837"/>
            <a:ext cx="7591425" cy="2845907"/>
            <a:chOff x="3501" y="1427"/>
            <a:chExt cx="8298" cy="6208"/>
          </a:xfrm>
        </p:grpSpPr>
        <p:sp>
          <p:nvSpPr>
            <p:cNvPr id="16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-1999596" y="1526839"/>
            <a:ext cx="192" cy="2845914"/>
            <a:chOff x="1248" y="768"/>
            <a:chExt cx="192" cy="3216"/>
          </a:xfrm>
        </p:grpSpPr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1509712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064786" y="1504105"/>
            <a:ext cx="10202" cy="2982145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4598989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>
            <a:off x="6074185" y="1526837"/>
            <a:ext cx="10703" cy="295941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7600156" y="1526837"/>
            <a:ext cx="23019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AutoShape 29"/>
          <p:cNvSpPr>
            <a:spLocks noChangeArrowheads="1"/>
          </p:cNvSpPr>
          <p:nvPr/>
        </p:nvSpPr>
        <p:spPr bwMode="auto">
          <a:xfrm>
            <a:off x="1023007" y="1933687"/>
            <a:ext cx="1255465" cy="311150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Planejamento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 e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 </a:t>
            </a:r>
            <a:r>
              <a:rPr kumimoji="0" lang="en-US" sz="1100" b="1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Estratégia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35" name="AutoShape 31"/>
          <p:cNvSpPr>
            <a:spLocks noChangeArrowheads="1"/>
          </p:cNvSpPr>
          <p:nvPr/>
        </p:nvSpPr>
        <p:spPr bwMode="auto">
          <a:xfrm>
            <a:off x="1508626" y="2354998"/>
            <a:ext cx="3567430" cy="217545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Assessment</a:t>
            </a:r>
          </a:p>
        </p:txBody>
      </p:sp>
      <p:grpSp>
        <p:nvGrpSpPr>
          <p:cNvPr id="36" name="Group 40"/>
          <p:cNvGrpSpPr>
            <a:grpSpLocks/>
          </p:cNvGrpSpPr>
          <p:nvPr/>
        </p:nvGrpSpPr>
        <p:grpSpPr bwMode="auto">
          <a:xfrm>
            <a:off x="8085138" y="1526837"/>
            <a:ext cx="192087" cy="2845907"/>
            <a:chOff x="1248" y="768"/>
            <a:chExt cx="192" cy="3216"/>
          </a:xfrm>
        </p:grpSpPr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722313" y="4372744"/>
            <a:ext cx="7597775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  <a:cs typeface="Arial" pitchFamily="34" charset="0"/>
              </a:rPr>
              <a:t> 10 semanas</a:t>
            </a:r>
          </a:p>
        </p:txBody>
      </p:sp>
      <p:sp>
        <p:nvSpPr>
          <p:cNvPr id="41" name="AutoShape 32"/>
          <p:cNvSpPr>
            <a:spLocks noChangeArrowheads="1"/>
          </p:cNvSpPr>
          <p:nvPr/>
        </p:nvSpPr>
        <p:spPr bwMode="auto">
          <a:xfrm>
            <a:off x="3851099" y="2801392"/>
            <a:ext cx="3457205" cy="317052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en-US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Plano de </a:t>
            </a:r>
            <a:r>
              <a:rPr lang="en-US" sz="1100" b="1" kern="0" dirty="0" err="1">
                <a:solidFill>
                  <a:sysClr val="windowText" lastClr="000000"/>
                </a:solidFill>
                <a:latin typeface="Gill Sans Std" pitchFamily="34" charset="0"/>
              </a:rPr>
              <a:t>Ação</a:t>
            </a:r>
            <a:endParaRPr lang="en-US" sz="1100" b="1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sp>
        <p:nvSpPr>
          <p:cNvPr id="42" name="AutoShape 34"/>
          <p:cNvSpPr>
            <a:spLocks noChangeArrowheads="1"/>
          </p:cNvSpPr>
          <p:nvPr/>
        </p:nvSpPr>
        <p:spPr bwMode="auto">
          <a:xfrm>
            <a:off x="6130057" y="3724672"/>
            <a:ext cx="1538287" cy="404813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lvl="0" algn="ctr">
              <a:lnSpc>
                <a:spcPct val="90000"/>
              </a:lnSpc>
            </a:pPr>
            <a:r>
              <a:rPr lang="pt-BR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Workshop </a:t>
            </a:r>
            <a:r>
              <a:rPr lang="pt-BR" sz="1100" b="1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- </a:t>
            </a:r>
            <a:r>
              <a:rPr lang="pt-BR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Processo de Melhoria </a:t>
            </a:r>
            <a:r>
              <a:rPr lang="pt-BR" sz="1100" b="1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Contínua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43" name="TextBox 29"/>
          <p:cNvSpPr txBox="1">
            <a:spLocks noChangeArrowheads="1"/>
          </p:cNvSpPr>
          <p:nvPr/>
        </p:nvSpPr>
        <p:spPr bwMode="auto">
          <a:xfrm>
            <a:off x="375444" y="1211718"/>
            <a:ext cx="134458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09/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Jun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/2015</a:t>
            </a: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7546181" y="1195049"/>
            <a:ext cx="120228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18/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Ago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/2015</a:t>
            </a:r>
          </a:p>
        </p:txBody>
      </p:sp>
      <p:sp>
        <p:nvSpPr>
          <p:cNvPr id="45" name="Texto explicativo retangular 44"/>
          <p:cNvSpPr/>
          <p:nvPr/>
        </p:nvSpPr>
        <p:spPr>
          <a:xfrm>
            <a:off x="4013969" y="1996480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Riscos e </a:t>
            </a:r>
            <a:r>
              <a:rPr lang="pt-BR" sz="1050" kern="0" dirty="0" err="1" smtClean="0">
                <a:solidFill>
                  <a:sysClr val="windowText" lastClr="000000"/>
                </a:solidFill>
                <a:latin typeface="Gill Sans Std" pitchFamily="34" charset="0"/>
              </a:rPr>
              <a:t>GAPs</a:t>
            </a:r>
            <a:endParaRPr lang="pt-BR" sz="1050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sp>
        <p:nvSpPr>
          <p:cNvPr id="46" name="Texto explicativo retangular 45"/>
          <p:cNvSpPr/>
          <p:nvPr/>
        </p:nvSpPr>
        <p:spPr>
          <a:xfrm>
            <a:off x="5184010" y="2362785"/>
            <a:ext cx="1008112" cy="265737"/>
          </a:xfrm>
          <a:prstGeom prst="wedgeRectCallout">
            <a:avLst>
              <a:gd name="adj1" fmla="val -60190"/>
              <a:gd name="adj2" fmla="val 11846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i="1" kern="0" dirty="0" err="1">
                <a:solidFill>
                  <a:sysClr val="windowText" lastClr="000000"/>
                </a:solidFill>
                <a:latin typeface="Gill Sans Std" pitchFamily="34" charset="0"/>
              </a:rPr>
              <a:t>Quick-Wins</a:t>
            </a:r>
            <a:r>
              <a:rPr lang="pt-BR" sz="1050" i="1" kern="0" dirty="0">
                <a:solidFill>
                  <a:sysClr val="windowText" lastClr="000000"/>
                </a:solidFill>
                <a:latin typeface="Gill Sans Std" pitchFamily="34" charset="0"/>
              </a:rPr>
              <a:t>!</a:t>
            </a:r>
          </a:p>
        </p:txBody>
      </p:sp>
      <p:sp>
        <p:nvSpPr>
          <p:cNvPr id="47" name="Texto explicativo retangular 46"/>
          <p:cNvSpPr/>
          <p:nvPr/>
        </p:nvSpPr>
        <p:spPr>
          <a:xfrm>
            <a:off x="5543697" y="3170903"/>
            <a:ext cx="1008112" cy="265737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Indicadores</a:t>
            </a:r>
            <a:endParaRPr lang="pt-BR" sz="1050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cxnSp>
        <p:nvCxnSpPr>
          <p:cNvPr id="4" name="Conector reto 3"/>
          <p:cNvCxnSpPr/>
          <p:nvPr/>
        </p:nvCxnSpPr>
        <p:spPr>
          <a:xfrm flipH="1">
            <a:off x="2294940" y="1211718"/>
            <a:ext cx="2582" cy="3388038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2315224" y="1009479"/>
            <a:ext cx="134458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Lançamento do Projeto</a:t>
            </a:r>
          </a:p>
        </p:txBody>
      </p:sp>
      <p:sp>
        <p:nvSpPr>
          <p:cNvPr id="49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2" name="Estrela de 5 pontas 1"/>
          <p:cNvSpPr/>
          <p:nvPr/>
        </p:nvSpPr>
        <p:spPr>
          <a:xfrm>
            <a:off x="7824750" y="3751282"/>
            <a:ext cx="269006" cy="286247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Group 40"/>
          <p:cNvGrpSpPr>
            <a:grpSpLocks/>
          </p:cNvGrpSpPr>
          <p:nvPr/>
        </p:nvGrpSpPr>
        <p:grpSpPr bwMode="auto">
          <a:xfrm>
            <a:off x="722313" y="1536964"/>
            <a:ext cx="192087" cy="2845907"/>
            <a:chOff x="1248" y="768"/>
            <a:chExt cx="192" cy="3216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4626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>
            <a:off x="308113" y="985837"/>
            <a:ext cx="2377937" cy="3176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smtClean="0">
                <a:latin typeface="Gill Sans Std Light" pitchFamily="34" charset="0"/>
              </a:rPr>
              <a:t>#TAMOJUNTO</a:t>
            </a:r>
            <a:endParaRPr lang="en-US" sz="2800" dirty="0" smtClean="0">
              <a:latin typeface="Gill Sans Std Light" pitchFamily="34" charset="0"/>
            </a:endParaRP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13" name="Espaço Reservado para Conteúdo 4" descr="Barco furad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0232" y="512763"/>
            <a:ext cx="5776346" cy="43179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4" name="Texto explicativo em elipse 13"/>
          <p:cNvSpPr/>
          <p:nvPr/>
        </p:nvSpPr>
        <p:spPr bwMode="auto">
          <a:xfrm>
            <a:off x="6315477" y="561197"/>
            <a:ext cx="2304256" cy="1647653"/>
          </a:xfrm>
          <a:prstGeom prst="wedgeEllipseCallout">
            <a:avLst>
              <a:gd name="adj1" fmla="val -51996"/>
              <a:gd name="adj2" fmla="val 5528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Mas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eu não </a:t>
            </a: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tenho</a:t>
            </a:r>
          </a:p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nada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com </a:t>
            </a: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isso.</a:t>
            </a:r>
          </a:p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O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FURO É DO SEU</a:t>
            </a:r>
          </a:p>
          <a:p>
            <a:pPr algn="ctr">
              <a:defRPr/>
            </a:pP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LADO DO BARCO!</a:t>
            </a:r>
          </a:p>
        </p:txBody>
      </p:sp>
      <p:sp>
        <p:nvSpPr>
          <p:cNvPr id="16" name="Texto explicativo em elipse 15"/>
          <p:cNvSpPr/>
          <p:nvPr/>
        </p:nvSpPr>
        <p:spPr bwMode="auto">
          <a:xfrm>
            <a:off x="3102521" y="797362"/>
            <a:ext cx="1928812" cy="1428750"/>
          </a:xfrm>
          <a:prstGeom prst="wedgeEllipseCallout">
            <a:avLst>
              <a:gd name="adj1" fmla="val 77945"/>
              <a:gd name="adj2" fmla="val 594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Me ajuda.</a:t>
            </a:r>
            <a:b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</a:b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Precisamos sair</a:t>
            </a:r>
            <a:b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</a:b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dessa</a:t>
            </a:r>
          </a:p>
          <a:p>
            <a:pPr algn="ctr">
              <a:defRPr/>
            </a:pPr>
            <a:r>
              <a:rPr lang="pt-BR" sz="1600" b="1" dirty="0">
                <a:solidFill>
                  <a:schemeClr val="accent5"/>
                </a:solidFill>
                <a:latin typeface="Gill Sans Std Light" pitchFamily="34" charset="0"/>
              </a:rPr>
              <a:t>s</a:t>
            </a:r>
            <a:r>
              <a:rPr lang="pt-BR" sz="1600" b="1" dirty="0" smtClean="0">
                <a:solidFill>
                  <a:schemeClr val="accent5"/>
                </a:solidFill>
                <a:latin typeface="Gill Sans Std Light" pitchFamily="34" charset="0"/>
              </a:rPr>
              <a:t>ituação!</a:t>
            </a:r>
            <a:endParaRPr lang="pt-BR" sz="1400" b="1" dirty="0">
              <a:solidFill>
                <a:schemeClr val="accent5"/>
              </a:solidFill>
              <a:latin typeface="Gill Sans Std Light" pitchFamily="34" charset="0"/>
            </a:endParaRPr>
          </a:p>
        </p:txBody>
      </p:sp>
      <p:sp>
        <p:nvSpPr>
          <p:cNvPr id="1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0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290066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OBRIGADO!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91" y="1331308"/>
            <a:ext cx="3150491" cy="1373095"/>
          </a:xfrm>
          <a:prstGeom prst="rect">
            <a:avLst/>
          </a:prstGeom>
        </p:spPr>
      </p:pic>
      <p:sp>
        <p:nvSpPr>
          <p:cNvPr id="29" name="Retângulo 28"/>
          <p:cNvSpPr/>
          <p:nvPr/>
        </p:nvSpPr>
        <p:spPr>
          <a:xfrm>
            <a:off x="3208778" y="3502310"/>
            <a:ext cx="2321469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#pegaprasi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792252" y="3028946"/>
            <a:ext cx="2509020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#tamojunto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4572000" y="3022311"/>
            <a:ext cx="3627917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#foconoresultado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2046762" y="4346695"/>
            <a:ext cx="30235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semmelindre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210471" y="3794697"/>
            <a:ext cx="2893742" cy="58477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menosémais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5028157" y="3944023"/>
            <a:ext cx="3733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promessaédívida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06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">
  <a:themeElements>
    <a:clrScheme name="Default">
      <a:dk1>
        <a:srgbClr val="352E26"/>
      </a:dk1>
      <a:lt1>
        <a:srgbClr val="000000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73729"/>
      </a:dk2>
      <a:lt2>
        <a:srgbClr val="EEECE1"/>
      </a:lt2>
      <a:accent1>
        <a:srgbClr val="FE5000"/>
      </a:accent1>
      <a:accent2>
        <a:srgbClr val="F2A900"/>
      </a:accent2>
      <a:accent3>
        <a:srgbClr val="C5B9AC"/>
      </a:accent3>
      <a:accent4>
        <a:srgbClr val="A39382"/>
      </a:accent4>
      <a:accent5>
        <a:srgbClr val="7A6856"/>
      </a:accent5>
      <a:accent6>
        <a:srgbClr val="6E6259"/>
      </a:accent6>
      <a:hlink>
        <a:srgbClr val="435663"/>
      </a:hlink>
      <a:folHlink>
        <a:srgbClr val="502B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asta" ma:contentTypeID="0x012000394C6B6E98BB744CB3DA01B0193D4435" ma:contentTypeVersion="0" ma:contentTypeDescription="Crie uma nova pasta." ma:contentTypeScope="" ma:versionID="657fc9f4e1d6e0a93dba3e12b9504fd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ceae06c93b83b44ce5ec9c260e78d7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Contagem de Itens Filhos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Contagem de Elementos Filho da Pasta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ListForm</Display>
  <Edit>ListForm</Edit>
  <New>ListForm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E4097F-0D39-4760-AACA-5727CB180B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BEED66-6E83-4822-8F47-F09BDC2590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77C7B-5D11-4A7D-BE2A-BA001E9087EB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sharepoint/v3"/>
    <ds:schemaRef ds:uri="http://purl.org/dc/dcmitype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3176</TotalTime>
  <Words>639</Words>
  <Application>Microsoft Office PowerPoint</Application>
  <PresentationFormat>Apresentação na tela (16:9)</PresentationFormat>
  <Paragraphs>152</Paragraphs>
  <Slides>16</Slides>
  <Notes>1</Notes>
  <HiddenSlides>2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Gill Sans Std</vt:lpstr>
      <vt:lpstr>Gill Sans Std Light</vt:lpstr>
      <vt:lpstr>Helvetica</vt:lpstr>
      <vt:lpstr>Tahoma</vt:lpstr>
      <vt:lpstr>Helvetica Neue</vt:lpstr>
      <vt:lpstr>Helvetica Light</vt:lpstr>
      <vt:lpstr>Calibri</vt:lpstr>
      <vt:lpstr>Arial</vt:lpstr>
      <vt:lpstr>Kartika</vt:lpstr>
      <vt:lpstr>1_Default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gilsonmanfio@natura.net;marcusmaeques@natua.net;HENRIQUEGHERARDI@natura.net</dc:creator>
  <cp:lastModifiedBy>Adolpho Chacon</cp:lastModifiedBy>
  <cp:revision>437</cp:revision>
  <dcterms:modified xsi:type="dcterms:W3CDTF">2015-08-04T11:55:19Z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0x012000394C6B6E98BB744CB3DA01B0193D4435</vt:lpwstr>
  </property>
</Properties>
</file>