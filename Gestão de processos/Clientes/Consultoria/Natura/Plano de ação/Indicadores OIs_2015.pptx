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952" r:id="rId4"/>
  </p:sldMasterIdLst>
  <p:notesMasterIdLst>
    <p:notesMasterId r:id="rId10"/>
  </p:notesMasterIdLst>
  <p:handoutMasterIdLst>
    <p:handoutMasterId r:id="rId11"/>
  </p:handoutMasterIdLst>
  <p:sldIdLst>
    <p:sldId id="3444" r:id="rId5"/>
    <p:sldId id="3447" r:id="rId6"/>
    <p:sldId id="3445" r:id="rId7"/>
    <p:sldId id="3446" r:id="rId8"/>
    <p:sldId id="3448" r:id="rId9"/>
  </p:sldIdLst>
  <p:sldSz cx="16256000" cy="9145588"/>
  <p:notesSz cx="6797675" cy="9982200"/>
  <p:defaultTextStyle>
    <a:defPPr>
      <a:defRPr lang="pt-BR"/>
    </a:defPPr>
    <a:lvl1pPr marL="0" algn="l" defTabSz="1425906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1pPr>
    <a:lvl2pPr marL="712936" algn="l" defTabSz="1425906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2pPr>
    <a:lvl3pPr marL="1425906" algn="l" defTabSz="1425906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3pPr>
    <a:lvl4pPr marL="2138856" algn="l" defTabSz="1425906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4pPr>
    <a:lvl5pPr marL="2851789" algn="l" defTabSz="1425906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5pPr>
    <a:lvl6pPr marL="3564754" algn="l" defTabSz="1425906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6pPr>
    <a:lvl7pPr marL="4277713" algn="l" defTabSz="1425906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7pPr>
    <a:lvl8pPr marL="4990659" algn="l" defTabSz="1425906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8pPr>
    <a:lvl9pPr marL="5703608" algn="l" defTabSz="1425906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  <a:srgbClr val="FFFFFF"/>
    <a:srgbClr val="CCECFF"/>
    <a:srgbClr val="CCFFFF"/>
    <a:srgbClr val="CCC0DA"/>
    <a:srgbClr val="FFFF00"/>
    <a:srgbClr val="62568B"/>
    <a:srgbClr val="86A44A"/>
    <a:srgbClr val="CDC8DE"/>
    <a:srgbClr val="EDF1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Estilo Médio 1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Estilo Médio 1 - Ênfas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59" autoAdjust="0"/>
    <p:restoredTop sz="99112" autoAdjust="0"/>
  </p:normalViewPr>
  <p:slideViewPr>
    <p:cSldViewPr>
      <p:cViewPr>
        <p:scale>
          <a:sx n="70" d="100"/>
          <a:sy n="70" d="100"/>
        </p:scale>
        <p:origin x="-456" y="-84"/>
      </p:cViewPr>
      <p:guideLst>
        <p:guide orient="horz" pos="4195"/>
        <p:guide pos="2262"/>
      </p:guideLst>
    </p:cSldViewPr>
  </p:slideViewPr>
  <p:outlineViewPr>
    <p:cViewPr>
      <p:scale>
        <a:sx n="33" d="100"/>
        <a:sy n="33" d="100"/>
      </p:scale>
      <p:origin x="0" y="1578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howGuides="1">
      <p:cViewPr varScale="1">
        <p:scale>
          <a:sx n="48" d="100"/>
          <a:sy n="48" d="100"/>
        </p:scale>
        <p:origin x="-2988" y="-114"/>
      </p:cViewPr>
      <p:guideLst>
        <p:guide orient="horz" pos="3144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3FB739-17A0-4E52-BBD7-E644B2EDBDA2}" type="datetimeFigureOut">
              <a:rPr lang="pt-BR" smtClean="0"/>
              <a:t>02/06/2015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9482138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49688" y="9482138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862ED5-D228-4ECC-88BB-9351BE3DAF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64354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911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911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1699C7-48F2-4252-B10C-724663DF5BEF}" type="datetimeFigureOut">
              <a:rPr lang="pt-BR" smtClean="0"/>
              <a:t>02/06/2015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71438" y="747713"/>
            <a:ext cx="6654800" cy="37449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79768" y="4741545"/>
            <a:ext cx="5438140" cy="449199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1" y="9481358"/>
            <a:ext cx="2945659" cy="49911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50444" y="9481358"/>
            <a:ext cx="2945659" cy="49911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82272-1339-4175-9DEB-3773CC33C633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6692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42590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712936" algn="l" defTabSz="142590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425906" algn="l" defTabSz="142590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2138856" algn="l" defTabSz="142590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851789" algn="l" defTabSz="142590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3564754" algn="l" defTabSz="142590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4277713" algn="l" defTabSz="142590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4990659" algn="l" defTabSz="142590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5703608" algn="l" defTabSz="142590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 txBox="1">
            <a:spLocks noGrp="1" noChangeArrowheads="1"/>
          </p:cNvSpPr>
          <p:nvPr/>
        </p:nvSpPr>
        <p:spPr bwMode="auto">
          <a:xfrm>
            <a:off x="3852018" y="9483093"/>
            <a:ext cx="2945659" cy="4991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375" tIns="47188" rIns="94375" bIns="47188" anchor="b"/>
          <a:lstStyle/>
          <a:p>
            <a:pPr algn="r" eaLnBrk="0" hangingPunct="0"/>
            <a:fld id="{853C977C-563F-441C-B5A9-DE967EDED136}" type="slidenum">
              <a:rPr lang="en-US" sz="1200" b="1">
                <a:solidFill>
                  <a:srgbClr val="000000"/>
                </a:solidFill>
              </a:rPr>
              <a:pPr algn="r" eaLnBrk="0" hangingPunct="0"/>
              <a:t>1</a:t>
            </a:fld>
            <a:endParaRPr lang="en-US" sz="1200" b="1" dirty="0">
              <a:solidFill>
                <a:srgbClr val="000000"/>
              </a:solidFill>
            </a:endParaRPr>
          </a:p>
        </p:txBody>
      </p:sp>
      <p:sp>
        <p:nvSpPr>
          <p:cNvPr id="53251" name="Rectangle 7"/>
          <p:cNvSpPr txBox="1">
            <a:spLocks noGrp="1" noChangeArrowheads="1"/>
          </p:cNvSpPr>
          <p:nvPr/>
        </p:nvSpPr>
        <p:spPr bwMode="auto">
          <a:xfrm>
            <a:off x="3853592" y="9486560"/>
            <a:ext cx="2944085" cy="495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9" tIns="45006" rIns="90009" bIns="45006" anchor="b"/>
          <a:lstStyle/>
          <a:p>
            <a:pPr algn="r" defTabSz="901152" eaLnBrk="0" hangingPunct="0"/>
            <a:fld id="{BE9973BE-E7E0-411C-BB3C-9B0766355CC4}" type="slidenum">
              <a:rPr lang="pt-BR" sz="1200" b="1">
                <a:solidFill>
                  <a:srgbClr val="000000"/>
                </a:solidFill>
                <a:latin typeface="Tahoma" pitchFamily="34" charset="0"/>
              </a:rPr>
              <a:pPr algn="r" defTabSz="901152" eaLnBrk="0" hangingPunct="0"/>
              <a:t>1</a:t>
            </a:fld>
            <a:endParaRPr lang="pt-BR" sz="1200" b="1" dirty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5325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82550" y="750888"/>
            <a:ext cx="6642100" cy="3738562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4786" y="4738082"/>
            <a:ext cx="4988108" cy="4493723"/>
          </a:xfrm>
          <a:noFill/>
        </p:spPr>
        <p:txBody>
          <a:bodyPr wrap="square" lIns="90009" tIns="45006" rIns="90009" bIns="45006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dirty="0" smtClean="0"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 txBox="1">
            <a:spLocks noGrp="1" noChangeArrowheads="1"/>
          </p:cNvSpPr>
          <p:nvPr/>
        </p:nvSpPr>
        <p:spPr bwMode="auto">
          <a:xfrm>
            <a:off x="3852018" y="9483093"/>
            <a:ext cx="2945659" cy="4991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375" tIns="47188" rIns="94375" bIns="47188" anchor="b"/>
          <a:lstStyle/>
          <a:p>
            <a:pPr algn="r" eaLnBrk="0" hangingPunct="0"/>
            <a:fld id="{853C977C-563F-441C-B5A9-DE967EDED136}" type="slidenum">
              <a:rPr lang="en-US" sz="1200" b="1">
                <a:solidFill>
                  <a:srgbClr val="000000"/>
                </a:solidFill>
              </a:rPr>
              <a:pPr algn="r" eaLnBrk="0" hangingPunct="0"/>
              <a:t>2</a:t>
            </a:fld>
            <a:endParaRPr lang="en-US" sz="1200" b="1" dirty="0">
              <a:solidFill>
                <a:srgbClr val="000000"/>
              </a:solidFill>
            </a:endParaRPr>
          </a:p>
        </p:txBody>
      </p:sp>
      <p:sp>
        <p:nvSpPr>
          <p:cNvPr id="53251" name="Rectangle 7"/>
          <p:cNvSpPr txBox="1">
            <a:spLocks noGrp="1" noChangeArrowheads="1"/>
          </p:cNvSpPr>
          <p:nvPr/>
        </p:nvSpPr>
        <p:spPr bwMode="auto">
          <a:xfrm>
            <a:off x="3853592" y="9486560"/>
            <a:ext cx="2944085" cy="495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9" tIns="45006" rIns="90009" bIns="45006" anchor="b"/>
          <a:lstStyle/>
          <a:p>
            <a:pPr algn="r" defTabSz="901152" eaLnBrk="0" hangingPunct="0"/>
            <a:fld id="{BE9973BE-E7E0-411C-BB3C-9B0766355CC4}" type="slidenum">
              <a:rPr lang="pt-BR" sz="1200" b="1">
                <a:solidFill>
                  <a:srgbClr val="000000"/>
                </a:solidFill>
                <a:latin typeface="Tahoma" pitchFamily="34" charset="0"/>
              </a:rPr>
              <a:pPr algn="r" defTabSz="901152" eaLnBrk="0" hangingPunct="0"/>
              <a:t>2</a:t>
            </a:fld>
            <a:endParaRPr lang="pt-BR" sz="1200" b="1" dirty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5325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82550" y="750888"/>
            <a:ext cx="6642100" cy="3738562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4786" y="4738082"/>
            <a:ext cx="4988108" cy="4493723"/>
          </a:xfrm>
          <a:noFill/>
        </p:spPr>
        <p:txBody>
          <a:bodyPr wrap="square" lIns="90009" tIns="45006" rIns="90009" bIns="45006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dirty="0" smtClean="0"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 txBox="1">
            <a:spLocks noGrp="1" noChangeArrowheads="1"/>
          </p:cNvSpPr>
          <p:nvPr/>
        </p:nvSpPr>
        <p:spPr bwMode="auto">
          <a:xfrm>
            <a:off x="3852018" y="9483093"/>
            <a:ext cx="2945659" cy="4991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375" tIns="47188" rIns="94375" bIns="47188" anchor="b"/>
          <a:lstStyle/>
          <a:p>
            <a:pPr algn="r" eaLnBrk="0" hangingPunct="0"/>
            <a:fld id="{853C977C-563F-441C-B5A9-DE967EDED136}" type="slidenum">
              <a:rPr lang="en-US" sz="1200" b="1">
                <a:solidFill>
                  <a:srgbClr val="000000"/>
                </a:solidFill>
              </a:rPr>
              <a:pPr algn="r" eaLnBrk="0" hangingPunct="0"/>
              <a:t>3</a:t>
            </a:fld>
            <a:endParaRPr lang="en-US" sz="1200" b="1" dirty="0">
              <a:solidFill>
                <a:srgbClr val="000000"/>
              </a:solidFill>
            </a:endParaRPr>
          </a:p>
        </p:txBody>
      </p:sp>
      <p:sp>
        <p:nvSpPr>
          <p:cNvPr id="53251" name="Rectangle 7"/>
          <p:cNvSpPr txBox="1">
            <a:spLocks noGrp="1" noChangeArrowheads="1"/>
          </p:cNvSpPr>
          <p:nvPr/>
        </p:nvSpPr>
        <p:spPr bwMode="auto">
          <a:xfrm>
            <a:off x="3853592" y="9486560"/>
            <a:ext cx="2944085" cy="495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9" tIns="45006" rIns="90009" bIns="45006" anchor="b"/>
          <a:lstStyle/>
          <a:p>
            <a:pPr algn="r" defTabSz="901152" eaLnBrk="0" hangingPunct="0"/>
            <a:fld id="{BE9973BE-E7E0-411C-BB3C-9B0766355CC4}" type="slidenum">
              <a:rPr lang="pt-BR" sz="1200" b="1">
                <a:solidFill>
                  <a:srgbClr val="000000"/>
                </a:solidFill>
                <a:latin typeface="Tahoma" pitchFamily="34" charset="0"/>
              </a:rPr>
              <a:pPr algn="r" defTabSz="901152" eaLnBrk="0" hangingPunct="0"/>
              <a:t>3</a:t>
            </a:fld>
            <a:endParaRPr lang="pt-BR" sz="1200" b="1" dirty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5325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82550" y="750888"/>
            <a:ext cx="6642100" cy="3738562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4786" y="4738082"/>
            <a:ext cx="4988108" cy="4493723"/>
          </a:xfrm>
          <a:noFill/>
        </p:spPr>
        <p:txBody>
          <a:bodyPr wrap="square" lIns="90009" tIns="45006" rIns="90009" bIns="45006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dirty="0" smtClean="0"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 txBox="1">
            <a:spLocks noGrp="1" noChangeArrowheads="1"/>
          </p:cNvSpPr>
          <p:nvPr/>
        </p:nvSpPr>
        <p:spPr bwMode="auto">
          <a:xfrm>
            <a:off x="3852018" y="9483093"/>
            <a:ext cx="2945659" cy="4991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375" tIns="47188" rIns="94375" bIns="47188" anchor="b"/>
          <a:lstStyle/>
          <a:p>
            <a:pPr algn="r" eaLnBrk="0" hangingPunct="0"/>
            <a:fld id="{853C977C-563F-441C-B5A9-DE967EDED136}" type="slidenum">
              <a:rPr lang="en-US" sz="1200" b="1">
                <a:solidFill>
                  <a:srgbClr val="000000"/>
                </a:solidFill>
              </a:rPr>
              <a:pPr algn="r" eaLnBrk="0" hangingPunct="0"/>
              <a:t>4</a:t>
            </a:fld>
            <a:endParaRPr lang="en-US" sz="1200" b="1" dirty="0">
              <a:solidFill>
                <a:srgbClr val="000000"/>
              </a:solidFill>
            </a:endParaRPr>
          </a:p>
        </p:txBody>
      </p:sp>
      <p:sp>
        <p:nvSpPr>
          <p:cNvPr id="53251" name="Rectangle 7"/>
          <p:cNvSpPr txBox="1">
            <a:spLocks noGrp="1" noChangeArrowheads="1"/>
          </p:cNvSpPr>
          <p:nvPr/>
        </p:nvSpPr>
        <p:spPr bwMode="auto">
          <a:xfrm>
            <a:off x="3853592" y="9486560"/>
            <a:ext cx="2944085" cy="495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9" tIns="45006" rIns="90009" bIns="45006" anchor="b"/>
          <a:lstStyle/>
          <a:p>
            <a:pPr algn="r" defTabSz="901152" eaLnBrk="0" hangingPunct="0"/>
            <a:fld id="{BE9973BE-E7E0-411C-BB3C-9B0766355CC4}" type="slidenum">
              <a:rPr lang="pt-BR" sz="1200" b="1">
                <a:solidFill>
                  <a:srgbClr val="000000"/>
                </a:solidFill>
                <a:latin typeface="Tahoma" pitchFamily="34" charset="0"/>
              </a:rPr>
              <a:pPr algn="r" defTabSz="901152" eaLnBrk="0" hangingPunct="0"/>
              <a:t>4</a:t>
            </a:fld>
            <a:endParaRPr lang="pt-BR" sz="1200" b="1" dirty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5325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82550" y="750888"/>
            <a:ext cx="6642100" cy="3738562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4786" y="4738082"/>
            <a:ext cx="4988108" cy="4493723"/>
          </a:xfrm>
          <a:noFill/>
        </p:spPr>
        <p:txBody>
          <a:bodyPr wrap="square" lIns="90009" tIns="45006" rIns="90009" bIns="45006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dirty="0" smtClean="0"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 txBox="1">
            <a:spLocks noGrp="1" noChangeArrowheads="1"/>
          </p:cNvSpPr>
          <p:nvPr/>
        </p:nvSpPr>
        <p:spPr bwMode="auto">
          <a:xfrm>
            <a:off x="3852018" y="9483093"/>
            <a:ext cx="2945659" cy="4991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375" tIns="47188" rIns="94375" bIns="47188" anchor="b"/>
          <a:lstStyle/>
          <a:p>
            <a:pPr algn="r" eaLnBrk="0" hangingPunct="0"/>
            <a:fld id="{853C977C-563F-441C-B5A9-DE967EDED136}" type="slidenum">
              <a:rPr lang="en-US" sz="1200" b="1">
                <a:solidFill>
                  <a:srgbClr val="000000"/>
                </a:solidFill>
              </a:rPr>
              <a:pPr algn="r" eaLnBrk="0" hangingPunct="0"/>
              <a:t>5</a:t>
            </a:fld>
            <a:endParaRPr lang="en-US" sz="1200" b="1" dirty="0">
              <a:solidFill>
                <a:srgbClr val="000000"/>
              </a:solidFill>
            </a:endParaRPr>
          </a:p>
        </p:txBody>
      </p:sp>
      <p:sp>
        <p:nvSpPr>
          <p:cNvPr id="53251" name="Rectangle 7"/>
          <p:cNvSpPr txBox="1">
            <a:spLocks noGrp="1" noChangeArrowheads="1"/>
          </p:cNvSpPr>
          <p:nvPr/>
        </p:nvSpPr>
        <p:spPr bwMode="auto">
          <a:xfrm>
            <a:off x="3853592" y="9486560"/>
            <a:ext cx="2944085" cy="495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9" tIns="45006" rIns="90009" bIns="45006" anchor="b"/>
          <a:lstStyle/>
          <a:p>
            <a:pPr algn="r" defTabSz="901152" eaLnBrk="0" hangingPunct="0"/>
            <a:fld id="{BE9973BE-E7E0-411C-BB3C-9B0766355CC4}" type="slidenum">
              <a:rPr lang="pt-BR" sz="1200" b="1">
                <a:solidFill>
                  <a:srgbClr val="000000"/>
                </a:solidFill>
                <a:latin typeface="Tahoma" pitchFamily="34" charset="0"/>
              </a:rPr>
              <a:pPr algn="r" defTabSz="901152" eaLnBrk="0" hangingPunct="0"/>
              <a:t>5</a:t>
            </a:fld>
            <a:endParaRPr lang="pt-BR" sz="1200" b="1" dirty="0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5325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82550" y="750888"/>
            <a:ext cx="6642100" cy="3738562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4786" y="4738082"/>
            <a:ext cx="4988108" cy="4493723"/>
          </a:xfrm>
          <a:noFill/>
        </p:spPr>
        <p:txBody>
          <a:bodyPr wrap="square" lIns="90009" tIns="45006" rIns="90009" bIns="45006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dirty="0" smtClean="0"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44066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MPLATE SEM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23507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PLANEJAM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88059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NTERNA CA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71464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0613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29"/>
          <p:cNvSpPr>
            <a:spLocks noGrp="1" noChangeArrowheads="1"/>
          </p:cNvSpPr>
          <p:nvPr>
            <p:ph type="title"/>
          </p:nvPr>
        </p:nvSpPr>
        <p:spPr bwMode="auto">
          <a:xfrm>
            <a:off x="495152" y="122762"/>
            <a:ext cx="14630400" cy="677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pt-BR" smtClean="0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03437921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4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3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 bwMode="auto">
          <a:xfrm>
            <a:off x="-9640" y="8677250"/>
            <a:ext cx="16265640" cy="476387"/>
          </a:xfrm>
          <a:prstGeom prst="rect">
            <a:avLst/>
          </a:prstGeom>
          <a:solidFill>
            <a:schemeClr val="accent3">
              <a:alpha val="70000"/>
            </a:scheme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8953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tabLst/>
            </a:pPr>
            <a:endParaRPr kumimoji="0" lang="pt-BR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19" name="AcnStamp_ID_1119" hidden="1"/>
          <p:cNvSpPr>
            <a:spLocks noChangeArrowheads="1"/>
          </p:cNvSpPr>
          <p:nvPr>
            <p:custDataLst>
              <p:tags r:id="rId8"/>
            </p:custDataLst>
          </p:nvPr>
        </p:nvSpPr>
        <p:spPr bwMode="gray">
          <a:xfrm>
            <a:off x="15520463" y="1647781"/>
            <a:ext cx="737381" cy="342450"/>
          </a:xfrm>
          <a:prstGeom prst="leftRightArrow">
            <a:avLst>
              <a:gd name="adj1" fmla="val 100000"/>
              <a:gd name="adj2" fmla="val 0"/>
            </a:avLst>
          </a:prstGeom>
          <a:noFill/>
          <a:ln w="9525" algn="ctr">
            <a:noFill/>
            <a:miter lim="800000"/>
            <a:headEnd/>
            <a:tailEnd/>
          </a:ln>
          <a:effectLst>
            <a:prstShdw prst="shdw18" dist="17961" dir="13500000">
              <a:srgbClr val="FFFFCC">
                <a:gamma/>
                <a:shade val="60000"/>
                <a:invGamma/>
              </a:srgbClr>
            </a:prstShdw>
          </a:effectLst>
        </p:spPr>
        <p:txBody>
          <a:bodyPr wrap="none" lIns="0" tIns="40029" rIns="0" bIns="40029">
            <a:spAutoFit/>
          </a:bodyPr>
          <a:lstStyle/>
          <a:p>
            <a:pPr algn="r" defTabSz="144104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pt-BR" sz="1700" b="1" dirty="0">
                <a:solidFill>
                  <a:srgbClr val="000000"/>
                </a:solidFill>
                <a:ea typeface="MS PGothic" pitchFamily="34" charset="-128"/>
              </a:rPr>
              <a:t>DRAFT</a:t>
            </a:r>
          </a:p>
        </p:txBody>
      </p:sp>
      <p:cxnSp>
        <p:nvCxnSpPr>
          <p:cNvPr id="3078" name="AcnStpConnector_ID_1120" hidden="1"/>
          <p:cNvCxnSpPr>
            <a:cxnSpLocks noChangeShapeType="1"/>
            <a:stCxn id="1119" idx="2"/>
            <a:endCxn id="1119" idx="0"/>
          </p:cNvCxnSpPr>
          <p:nvPr>
            <p:custDataLst>
              <p:tags r:id="rId9"/>
            </p:custDataLst>
          </p:nvPr>
        </p:nvCxnSpPr>
        <p:spPr bwMode="gray">
          <a:xfrm>
            <a:off x="15520463" y="1647781"/>
            <a:ext cx="737381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cxnSp>
        <p:nvCxnSpPr>
          <p:cNvPr id="3079" name="AcnStpConnector_ID_1121" hidden="1"/>
          <p:cNvCxnSpPr>
            <a:cxnSpLocks noChangeShapeType="1"/>
            <a:stCxn id="1119" idx="4"/>
            <a:endCxn id="1119" idx="6"/>
          </p:cNvCxnSpPr>
          <p:nvPr>
            <p:custDataLst>
              <p:tags r:id="rId10"/>
            </p:custDataLst>
          </p:nvPr>
        </p:nvCxnSpPr>
        <p:spPr bwMode="gray">
          <a:xfrm>
            <a:off x="15520463" y="1990231"/>
            <a:ext cx="737381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</p:cxnSp>
      <p:sp>
        <p:nvSpPr>
          <p:cNvPr id="1130" name="AcnFootnote_ID_1130" hidden="1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gray">
          <a:xfrm>
            <a:off x="429849" y="8212285"/>
            <a:ext cx="14833600" cy="57554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0" tIns="0" rIns="0" bIns="0" anchor="b">
            <a:spAutoFit/>
          </a:bodyPr>
          <a:lstStyle/>
          <a:p>
            <a:pPr marL="848154" indent="-848154" defTabSz="144104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tabLst>
                <a:tab pos="3782781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*	Footnote</a:t>
            </a:r>
          </a:p>
          <a:p>
            <a:pPr marL="848154" indent="-848154" defTabSz="144104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tabLst>
                <a:tab pos="3782781" algn="l"/>
              </a:tabLst>
              <a:defRPr/>
            </a:pPr>
            <a:r>
              <a:rPr lang="pt-BR" sz="1700" dirty="0">
                <a:solidFill>
                  <a:srgbClr val="000000"/>
                </a:solidFill>
                <a:ea typeface="MS PGothic" pitchFamily="34" charset="-128"/>
              </a:rPr>
              <a:t>Source:	Source</a:t>
            </a:r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12800" y="367223"/>
            <a:ext cx="146304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marL="0" lvl="0" algn="r" defTabSz="1441040" eaLnBrk="1" latinLnBrk="0" hangingPunct="1">
              <a:buNone/>
            </a:pP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12800" y="1307866"/>
            <a:ext cx="14630400" cy="6860391"/>
          </a:xfrm>
          <a:prstGeom prst="rect">
            <a:avLst/>
          </a:prstGeom>
        </p:spPr>
        <p:txBody>
          <a:bodyPr vert="horz" lIns="144099" tIns="72036" rIns="144099" bIns="72036" rtlCol="0">
            <a:normAutofit/>
          </a:bodyPr>
          <a:lstStyle/>
          <a:p>
            <a:pPr marL="540419" lvl="0" indent="-540419" defTabSz="1441040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Clique para editar o texto mestre</a:t>
            </a:r>
          </a:p>
          <a:p>
            <a:pPr marL="1170885" lvl="1" indent="-450350" defTabSz="1441040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Segundo nível</a:t>
            </a:r>
          </a:p>
          <a:p>
            <a:pPr marL="1801324" lvl="2" indent="-360272" defTabSz="1441040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  <a:buChar char="•"/>
            </a:pPr>
            <a:r>
              <a:rPr lang="pt-BR" dirty="0" smtClean="0"/>
              <a:t>Terceiro nível</a:t>
            </a:r>
          </a:p>
          <a:p>
            <a:pPr marL="2521840" lvl="3" indent="-360272" defTabSz="1441040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</a:pPr>
            <a:r>
              <a:rPr lang="pt-BR" dirty="0" smtClean="0"/>
              <a:t>Quarto nível</a:t>
            </a:r>
          </a:p>
          <a:p>
            <a:pPr marL="3242384" lvl="4" indent="-360272" defTabSz="1441040" eaLnBrk="1" latinLnBrk="0" hangingPunct="1">
              <a:lnSpc>
                <a:spcPts val="3013"/>
              </a:lnSpc>
              <a:spcBef>
                <a:spcPts val="951"/>
              </a:spcBef>
              <a:spcAft>
                <a:spcPts val="951"/>
              </a:spcAft>
              <a:buFont typeface="Arial" pitchFamily="34" charset="0"/>
              <a:buChar char="»"/>
            </a:pPr>
            <a:r>
              <a:rPr lang="pt-BR" dirty="0" smtClean="0"/>
              <a:t>Quinto nível</a:t>
            </a:r>
            <a:endParaRPr lang="pt-BR" dirty="0"/>
          </a:p>
        </p:txBody>
      </p:sp>
      <p:sp>
        <p:nvSpPr>
          <p:cNvPr id="10" name="CaixaDeTexto 23"/>
          <p:cNvSpPr txBox="1"/>
          <p:nvPr/>
        </p:nvSpPr>
        <p:spPr>
          <a:xfrm>
            <a:off x="15011886" y="8779797"/>
            <a:ext cx="1181010" cy="338546"/>
          </a:xfrm>
          <a:prstGeom prst="rect">
            <a:avLst/>
          </a:prstGeom>
          <a:noFill/>
        </p:spPr>
        <p:txBody>
          <a:bodyPr wrap="square" lIns="91431" tIns="45716" rIns="91431" bIns="45716" rtlCol="0">
            <a:spAutoFit/>
          </a:bodyPr>
          <a:lstStyle/>
          <a:p>
            <a:pPr algn="r"/>
            <a:fld id="{84127208-933E-4CB5-A4D6-BB9F8A4745D6}" type="slidenum">
              <a:rPr lang="en-US" sz="1600">
                <a:solidFill>
                  <a:srgbClr val="000000"/>
                </a:solidFill>
                <a:latin typeface="Gill Sans Std" pitchFamily="34" charset="0"/>
              </a:rPr>
              <a:pPr algn="r"/>
              <a:t>‹nº›</a:t>
            </a:fld>
            <a:endParaRPr lang="en-US" sz="1600" dirty="0">
              <a:solidFill>
                <a:srgbClr val="000000"/>
              </a:solidFill>
              <a:latin typeface="Gill Sans Std" pitchFamily="34" charset="0"/>
            </a:endParaRP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-3484" y="8749258"/>
            <a:ext cx="12235940" cy="3389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45152" tIns="72576" rIns="145152" bIns="72576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pt-BR" sz="1400" b="1" kern="1200" dirty="0">
              <a:solidFill>
                <a:srgbClr val="62568B"/>
              </a:solidFill>
              <a:latin typeface="Gill Sans MT" pitchFamily="34" charset="0"/>
              <a:ea typeface="ヒラギノ角ゴ Pro W3"/>
              <a:cs typeface="ヒラギノ角ゴ Pro W3"/>
            </a:endParaRPr>
          </a:p>
        </p:txBody>
      </p:sp>
      <p:pic>
        <p:nvPicPr>
          <p:cNvPr id="6146" name="Picture 2" descr="E:\Users\cilima\Pictures\NAT_marca_lilas_tododia-01.jpg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29018" y="108298"/>
            <a:ext cx="791870" cy="791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6415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0513" r:id="rId1"/>
    <p:sldLayoutId id="2147489380" r:id="rId2"/>
    <p:sldLayoutId id="2147489381" r:id="rId3"/>
    <p:sldLayoutId id="2147489382" r:id="rId4"/>
    <p:sldLayoutId id="2147490560" r:id="rId5"/>
    <p:sldLayoutId id="2147490561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pt-BR" sz="3600" b="0" kern="1200" smtClean="0">
          <a:solidFill>
            <a:srgbClr val="62568B"/>
          </a:solidFill>
          <a:latin typeface="Gill Sans Std" pitchFamily="34" charset="0"/>
          <a:ea typeface="+mn-ea"/>
          <a:cs typeface="+mn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5pPr>
      <a:lvl6pPr marL="720553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6pPr>
      <a:lvl7pPr marL="1441040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7pPr>
      <a:lvl8pPr marL="2161577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8pPr>
      <a:lvl9pPr marL="2882109" algn="l" rtl="0" eaLnBrk="0" fontAlgn="base" hangingPunct="0">
        <a:spcBef>
          <a:spcPct val="0"/>
        </a:spcBef>
        <a:spcAft>
          <a:spcPct val="0"/>
        </a:spcAft>
        <a:defRPr>
          <a:solidFill>
            <a:schemeClr val="tx1"/>
          </a:solidFill>
          <a:latin typeface="Arial" charset="0"/>
        </a:defRPr>
      </a:lvl9pPr>
    </p:titleStyle>
    <p:bodyStyle>
      <a:lvl1pPr marL="360272" indent="-360272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Char char="•"/>
        <a:tabLst>
          <a:tab pos="3782781" algn="l"/>
        </a:tabLst>
        <a:defRPr lang="pt-BR" sz="2100" kern="1200" smtClean="0">
          <a:solidFill>
            <a:srgbClr val="000000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718041" indent="-355266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–"/>
        <a:tabLst>
          <a:tab pos="3782781" algn="l"/>
        </a:tabLst>
        <a:defRPr lang="pt-BR" sz="2100" kern="1200" smtClean="0">
          <a:solidFill>
            <a:srgbClr val="000000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078313" indent="-357765" algn="l" rtl="0" eaLnBrk="0" fontAlgn="base" hangingPunct="0">
        <a:spcBef>
          <a:spcPct val="30000"/>
        </a:spcBef>
        <a:spcAft>
          <a:spcPct val="0"/>
        </a:spcAft>
        <a:buClr>
          <a:schemeClr val="tx1"/>
        </a:buClr>
        <a:buFont typeface="Arial" charset="0"/>
        <a:buChar char="-"/>
        <a:tabLst>
          <a:tab pos="3782781" algn="l"/>
        </a:tabLst>
        <a:defRPr lang="pt-BR" sz="2100" kern="1200" smtClean="0">
          <a:solidFill>
            <a:srgbClr val="000000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438550" indent="-35776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–"/>
        <a:tabLst>
          <a:tab pos="3782781" algn="l"/>
        </a:tabLst>
        <a:defRPr lang="pt-BR" sz="2100" kern="1200" smtClean="0">
          <a:solidFill>
            <a:srgbClr val="000000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1798831" indent="-35776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82781" algn="l"/>
        </a:tabLst>
        <a:defRPr lang="pt-BR" sz="2100" kern="1200" smtClean="0">
          <a:solidFill>
            <a:srgbClr val="000000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19347" indent="-35776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82781" algn="l"/>
        </a:tabLst>
        <a:defRPr sz="2200">
          <a:solidFill>
            <a:schemeClr val="tx1"/>
          </a:solidFill>
          <a:latin typeface="+mn-lt"/>
        </a:defRPr>
      </a:lvl6pPr>
      <a:lvl7pPr marL="3239890" indent="-35776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82781" algn="l"/>
        </a:tabLst>
        <a:defRPr sz="2200">
          <a:solidFill>
            <a:schemeClr val="tx1"/>
          </a:solidFill>
          <a:latin typeface="+mn-lt"/>
        </a:defRPr>
      </a:lvl7pPr>
      <a:lvl8pPr marL="3960417" indent="-35776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82781" algn="l"/>
        </a:tabLst>
        <a:defRPr sz="2200">
          <a:solidFill>
            <a:schemeClr val="tx1"/>
          </a:solidFill>
          <a:latin typeface="+mn-lt"/>
        </a:defRPr>
      </a:lvl8pPr>
      <a:lvl9pPr marL="4680939" indent="-357765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•"/>
        <a:tabLst>
          <a:tab pos="3782781" algn="l"/>
        </a:tabLst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441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720553" algn="l" defTabSz="1441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441040" algn="l" defTabSz="1441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2161577" algn="l" defTabSz="1441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882109" algn="l" defTabSz="1441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602647" algn="l" defTabSz="1441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323171" algn="l" defTabSz="1441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5043702" algn="l" defTabSz="1441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764230" algn="l" defTabSz="1441040" rtl="0" eaLnBrk="1" latinLnBrk="0" hangingPunct="1"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wmf"/><Relationship Id="rId5" Type="http://schemas.openxmlformats.org/officeDocument/2006/relationships/package" Target="../embeddings/Planilha_do_Microsoft_Excel1.xlsx"/><Relationship Id="rId4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495152" y="122762"/>
            <a:ext cx="15231788" cy="553998"/>
          </a:xfrm>
        </p:spPr>
        <p:txBody>
          <a:bodyPr/>
          <a:lstStyle/>
          <a:p>
            <a:pPr eaLnBrk="1" hangingPunct="1"/>
            <a:r>
              <a:rPr lang="pt-BR" dirty="0" smtClean="0"/>
              <a:t>Incidente &amp; Indicadores - </a:t>
            </a:r>
            <a:r>
              <a:rPr lang="pt-BR" dirty="0" err="1" smtClean="0"/>
              <a:t>OIs</a:t>
            </a:r>
            <a:endParaRPr lang="pt-BR" dirty="0"/>
          </a:p>
        </p:txBody>
      </p:sp>
      <p:cxnSp>
        <p:nvCxnSpPr>
          <p:cNvPr id="5" name="Conector reto 4"/>
          <p:cNvCxnSpPr/>
          <p:nvPr/>
        </p:nvCxnSpPr>
        <p:spPr bwMode="auto">
          <a:xfrm>
            <a:off x="3303464" y="1044402"/>
            <a:ext cx="0" cy="6267198"/>
          </a:xfrm>
          <a:prstGeom prst="line">
            <a:avLst/>
          </a:prstGeom>
          <a:noFill/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" name="CaixaDeTexto 5"/>
          <p:cNvSpPr txBox="1"/>
          <p:nvPr/>
        </p:nvSpPr>
        <p:spPr>
          <a:xfrm>
            <a:off x="63105" y="1044402"/>
            <a:ext cx="324036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Entrada</a:t>
            </a:r>
            <a:endParaRPr lang="pt-BR" dirty="0"/>
          </a:p>
        </p:txBody>
      </p:sp>
      <p:cxnSp>
        <p:nvCxnSpPr>
          <p:cNvPr id="11" name="Conector reto 10"/>
          <p:cNvCxnSpPr/>
          <p:nvPr/>
        </p:nvCxnSpPr>
        <p:spPr bwMode="auto">
          <a:xfrm>
            <a:off x="7479928" y="802263"/>
            <a:ext cx="0" cy="6509337"/>
          </a:xfrm>
          <a:prstGeom prst="line">
            <a:avLst/>
          </a:prstGeom>
          <a:noFill/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CaixaDeTexto 11"/>
          <p:cNvSpPr txBox="1"/>
          <p:nvPr/>
        </p:nvSpPr>
        <p:spPr>
          <a:xfrm>
            <a:off x="3375472" y="1044402"/>
            <a:ext cx="4104456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Tratamento</a:t>
            </a:r>
            <a:endParaRPr lang="pt-BR" dirty="0"/>
          </a:p>
        </p:txBody>
      </p:sp>
      <p:cxnSp>
        <p:nvCxnSpPr>
          <p:cNvPr id="22" name="Conector reto 21"/>
          <p:cNvCxnSpPr/>
          <p:nvPr/>
        </p:nvCxnSpPr>
        <p:spPr bwMode="auto">
          <a:xfrm>
            <a:off x="207120" y="1583011"/>
            <a:ext cx="15625736" cy="0"/>
          </a:xfrm>
          <a:prstGeom prst="line">
            <a:avLst/>
          </a:prstGeom>
          <a:noFill/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6" name="Fluxograma: Processo predefinido 25"/>
          <p:cNvSpPr/>
          <p:nvPr/>
        </p:nvSpPr>
        <p:spPr bwMode="auto">
          <a:xfrm>
            <a:off x="1668576" y="2977451"/>
            <a:ext cx="1224136" cy="613519"/>
          </a:xfrm>
          <a:prstGeom prst="flowChartPredefinedProcess">
            <a:avLst/>
          </a:prstGeom>
          <a:noFill/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8953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tabLst/>
            </a:pPr>
            <a:r>
              <a:rPr kumimoji="0" lang="pt-B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Registro CA</a:t>
            </a:r>
          </a:p>
        </p:txBody>
      </p:sp>
      <p:sp>
        <p:nvSpPr>
          <p:cNvPr id="27" name="Fluxograma: Processo predefinido 26"/>
          <p:cNvSpPr/>
          <p:nvPr/>
        </p:nvSpPr>
        <p:spPr bwMode="auto">
          <a:xfrm>
            <a:off x="3548068" y="4076793"/>
            <a:ext cx="1224136" cy="613519"/>
          </a:xfrm>
          <a:prstGeom prst="flowChartPredefinedProcess">
            <a:avLst/>
          </a:prstGeom>
          <a:noFill/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8953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tabLst/>
            </a:pPr>
            <a:r>
              <a:rPr kumimoji="0" lang="pt-B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Atualização CA</a:t>
            </a:r>
          </a:p>
        </p:txBody>
      </p:sp>
      <p:sp>
        <p:nvSpPr>
          <p:cNvPr id="28" name="Fluxograma: Processo predefinido 27"/>
          <p:cNvSpPr/>
          <p:nvPr/>
        </p:nvSpPr>
        <p:spPr bwMode="auto">
          <a:xfrm>
            <a:off x="4011413" y="2401485"/>
            <a:ext cx="1224136" cy="613519"/>
          </a:xfrm>
          <a:prstGeom prst="flowChartPredefinedProcess">
            <a:avLst/>
          </a:prstGeom>
          <a:noFill/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8953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tabLst/>
            </a:pPr>
            <a:r>
              <a:rPr kumimoji="0" lang="pt-B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Registro ITSM</a:t>
            </a:r>
          </a:p>
        </p:txBody>
      </p:sp>
      <p:sp>
        <p:nvSpPr>
          <p:cNvPr id="29" name="Fluxograma: Processo predefinido 28"/>
          <p:cNvSpPr/>
          <p:nvPr/>
        </p:nvSpPr>
        <p:spPr bwMode="auto">
          <a:xfrm>
            <a:off x="6065233" y="2879155"/>
            <a:ext cx="1224136" cy="613519"/>
          </a:xfrm>
          <a:prstGeom prst="flowChartPredefinedProcess">
            <a:avLst/>
          </a:prstGeom>
          <a:noFill/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8953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tabLst/>
            </a:pPr>
            <a:r>
              <a:rPr kumimoji="0" lang="pt-B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Atualização ITSM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7479928" y="1044399"/>
            <a:ext cx="3087276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Saída</a:t>
            </a:r>
            <a:endParaRPr lang="pt-BR" dirty="0"/>
          </a:p>
        </p:txBody>
      </p:sp>
      <p:sp>
        <p:nvSpPr>
          <p:cNvPr id="31" name="CaixaDeTexto 30"/>
          <p:cNvSpPr txBox="1"/>
          <p:nvPr/>
        </p:nvSpPr>
        <p:spPr>
          <a:xfrm>
            <a:off x="10567204" y="1044400"/>
            <a:ext cx="4761596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Controles</a:t>
            </a:r>
            <a:endParaRPr lang="pt-BR" dirty="0"/>
          </a:p>
        </p:txBody>
      </p:sp>
      <p:cxnSp>
        <p:nvCxnSpPr>
          <p:cNvPr id="32" name="Conector reto 31"/>
          <p:cNvCxnSpPr/>
          <p:nvPr/>
        </p:nvCxnSpPr>
        <p:spPr bwMode="auto">
          <a:xfrm>
            <a:off x="10576272" y="802263"/>
            <a:ext cx="0" cy="7570979"/>
          </a:xfrm>
          <a:prstGeom prst="line">
            <a:avLst/>
          </a:prstGeom>
          <a:noFill/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1682" y="4749513"/>
            <a:ext cx="432235" cy="707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39" y="5195208"/>
            <a:ext cx="432235" cy="707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5" name="CaixaDeTexto 34"/>
          <p:cNvSpPr txBox="1"/>
          <p:nvPr/>
        </p:nvSpPr>
        <p:spPr>
          <a:xfrm>
            <a:off x="3752942" y="5470454"/>
            <a:ext cx="9707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/>
              <a:t>SD</a:t>
            </a:r>
            <a:endParaRPr lang="pt-BR" sz="1600" dirty="0"/>
          </a:p>
        </p:txBody>
      </p:sp>
      <p:pic>
        <p:nvPicPr>
          <p:cNvPr id="4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9916" y="1781558"/>
            <a:ext cx="432235" cy="707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5472" y="6097749"/>
            <a:ext cx="432235" cy="707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1231" y="5953733"/>
            <a:ext cx="432235" cy="707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4" name="CaixaDeTexto 33"/>
          <p:cNvSpPr txBox="1"/>
          <p:nvPr/>
        </p:nvSpPr>
        <p:spPr>
          <a:xfrm>
            <a:off x="5941460" y="6179936"/>
            <a:ext cx="12504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err="1" smtClean="0"/>
              <a:t>Coord</a:t>
            </a:r>
            <a:r>
              <a:rPr lang="pt-BR" sz="1600" dirty="0" smtClean="0"/>
              <a:t> OI</a:t>
            </a:r>
            <a:endParaRPr lang="pt-BR" sz="1600" dirty="0"/>
          </a:p>
        </p:txBody>
      </p:sp>
      <p:sp>
        <p:nvSpPr>
          <p:cNvPr id="37" name="CaixaDeTexto 36"/>
          <p:cNvSpPr txBox="1"/>
          <p:nvPr/>
        </p:nvSpPr>
        <p:spPr>
          <a:xfrm>
            <a:off x="3667366" y="6375033"/>
            <a:ext cx="1035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/>
              <a:t>N1 / N2</a:t>
            </a:r>
            <a:endParaRPr lang="pt-BR" sz="1600" dirty="0"/>
          </a:p>
        </p:txBody>
      </p:sp>
      <p:cxnSp>
        <p:nvCxnSpPr>
          <p:cNvPr id="44" name="Conector de seta reta 43"/>
          <p:cNvCxnSpPr>
            <a:stCxn id="36" idx="0"/>
          </p:cNvCxnSpPr>
          <p:nvPr/>
        </p:nvCxnSpPr>
        <p:spPr bwMode="auto">
          <a:xfrm flipH="1" flipV="1">
            <a:off x="4535407" y="4690312"/>
            <a:ext cx="1659068" cy="325327"/>
          </a:xfrm>
          <a:prstGeom prst="straightConnector1">
            <a:avLst/>
          </a:prstGeom>
          <a:noFill/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8" name="Conector de seta reta 47"/>
          <p:cNvCxnSpPr>
            <a:stCxn id="36" idx="0"/>
            <a:endCxn id="28" idx="2"/>
          </p:cNvCxnSpPr>
          <p:nvPr/>
        </p:nvCxnSpPr>
        <p:spPr bwMode="auto">
          <a:xfrm flipH="1" flipV="1">
            <a:off x="4623481" y="3015004"/>
            <a:ext cx="1570994" cy="2000635"/>
          </a:xfrm>
          <a:prstGeom prst="straightConnector1">
            <a:avLst/>
          </a:prstGeom>
          <a:noFill/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4" name="Conector de seta reta 53"/>
          <p:cNvCxnSpPr>
            <a:stCxn id="36" idx="0"/>
            <a:endCxn id="29" idx="2"/>
          </p:cNvCxnSpPr>
          <p:nvPr/>
        </p:nvCxnSpPr>
        <p:spPr bwMode="auto">
          <a:xfrm flipV="1">
            <a:off x="6194475" y="3492674"/>
            <a:ext cx="482826" cy="1522965"/>
          </a:xfrm>
          <a:prstGeom prst="straightConnector1">
            <a:avLst/>
          </a:prstGeom>
          <a:noFill/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0" name="Conector de seta reta 59"/>
          <p:cNvCxnSpPr>
            <a:stCxn id="39" idx="0"/>
            <a:endCxn id="27" idx="2"/>
          </p:cNvCxnSpPr>
          <p:nvPr/>
        </p:nvCxnSpPr>
        <p:spPr bwMode="auto">
          <a:xfrm flipH="1" flipV="1">
            <a:off x="4160136" y="4690312"/>
            <a:ext cx="123921" cy="504896"/>
          </a:xfrm>
          <a:prstGeom prst="straightConnector1">
            <a:avLst/>
          </a:prstGeom>
          <a:noFill/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2" name="Seta para cima e para baixo 61"/>
          <p:cNvSpPr/>
          <p:nvPr/>
        </p:nvSpPr>
        <p:spPr bwMode="auto">
          <a:xfrm>
            <a:off x="6194474" y="5531864"/>
            <a:ext cx="179030" cy="648072"/>
          </a:xfrm>
          <a:prstGeom prst="upDownArrow">
            <a:avLst/>
          </a:prstGeom>
          <a:noFill/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8953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tabLst/>
            </a:pPr>
            <a:endParaRPr kumimoji="0" lang="pt-BR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6" name="CaixaDeTexto 35"/>
          <p:cNvSpPr txBox="1"/>
          <p:nvPr/>
        </p:nvSpPr>
        <p:spPr>
          <a:xfrm>
            <a:off x="5826903" y="5015639"/>
            <a:ext cx="7351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/>
              <a:t>NCC</a:t>
            </a:r>
            <a:endParaRPr lang="pt-BR" sz="1600" dirty="0"/>
          </a:p>
        </p:txBody>
      </p:sp>
      <p:sp>
        <p:nvSpPr>
          <p:cNvPr id="68" name="Seta para cima e para baixo 67"/>
          <p:cNvSpPr/>
          <p:nvPr/>
        </p:nvSpPr>
        <p:spPr bwMode="auto">
          <a:xfrm rot="4169362">
            <a:off x="5145544" y="4822880"/>
            <a:ext cx="159295" cy="1225279"/>
          </a:xfrm>
          <a:prstGeom prst="upDownArrow">
            <a:avLst/>
          </a:prstGeom>
          <a:noFill/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8953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tabLst/>
            </a:pPr>
            <a:endParaRPr kumimoji="0" lang="pt-BR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9" name="Seta para cima e para baixo 68"/>
          <p:cNvSpPr/>
          <p:nvPr/>
        </p:nvSpPr>
        <p:spPr bwMode="auto">
          <a:xfrm rot="3595946">
            <a:off x="5022489" y="5099829"/>
            <a:ext cx="174809" cy="1627828"/>
          </a:xfrm>
          <a:prstGeom prst="upDownArrow">
            <a:avLst/>
          </a:prstGeom>
          <a:noFill/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8953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tabLst/>
            </a:pPr>
            <a:endParaRPr kumimoji="0" lang="pt-BR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70" name="Conector de seta reta 69"/>
          <p:cNvCxnSpPr>
            <a:stCxn id="42" idx="0"/>
          </p:cNvCxnSpPr>
          <p:nvPr/>
        </p:nvCxnSpPr>
        <p:spPr bwMode="auto">
          <a:xfrm flipV="1">
            <a:off x="3591590" y="4690312"/>
            <a:ext cx="216117" cy="1407437"/>
          </a:xfrm>
          <a:prstGeom prst="straightConnector1">
            <a:avLst/>
          </a:prstGeom>
          <a:noFill/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4" name="CaixaDeTexto 13"/>
          <p:cNvSpPr txBox="1"/>
          <p:nvPr/>
        </p:nvSpPr>
        <p:spPr>
          <a:xfrm>
            <a:off x="567160" y="2095705"/>
            <a:ext cx="9707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/>
              <a:t>Usuário</a:t>
            </a:r>
            <a:endParaRPr lang="pt-BR" sz="1600" dirty="0"/>
          </a:p>
        </p:txBody>
      </p:sp>
      <p:pic>
        <p:nvPicPr>
          <p:cNvPr id="7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511" y="2670411"/>
            <a:ext cx="432235" cy="707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9" name="CaixaDeTexto 78"/>
          <p:cNvSpPr txBox="1"/>
          <p:nvPr/>
        </p:nvSpPr>
        <p:spPr>
          <a:xfrm>
            <a:off x="479514" y="2945657"/>
            <a:ext cx="9707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/>
              <a:t>SD</a:t>
            </a:r>
            <a:endParaRPr lang="pt-BR" sz="1600" dirty="0"/>
          </a:p>
        </p:txBody>
      </p:sp>
      <p:pic>
        <p:nvPicPr>
          <p:cNvPr id="8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37" y="3649477"/>
            <a:ext cx="432235" cy="707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1" name="CaixaDeTexto 80"/>
          <p:cNvSpPr txBox="1"/>
          <p:nvPr/>
        </p:nvSpPr>
        <p:spPr>
          <a:xfrm>
            <a:off x="324836" y="3966978"/>
            <a:ext cx="12504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err="1" smtClean="0"/>
              <a:t>Coord</a:t>
            </a:r>
            <a:r>
              <a:rPr lang="pt-BR" sz="1600" dirty="0" smtClean="0"/>
              <a:t> OI</a:t>
            </a:r>
            <a:endParaRPr lang="pt-BR" sz="1600" dirty="0"/>
          </a:p>
        </p:txBody>
      </p:sp>
      <p:pic>
        <p:nvPicPr>
          <p:cNvPr id="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4527" y="4136154"/>
            <a:ext cx="432235" cy="707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3" name="CaixaDeTexto 82"/>
          <p:cNvSpPr txBox="1"/>
          <p:nvPr/>
        </p:nvSpPr>
        <p:spPr>
          <a:xfrm>
            <a:off x="1639748" y="4402280"/>
            <a:ext cx="7351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/>
              <a:t>NCC</a:t>
            </a:r>
            <a:endParaRPr lang="pt-BR" sz="1600" dirty="0"/>
          </a:p>
        </p:txBody>
      </p:sp>
      <p:cxnSp>
        <p:nvCxnSpPr>
          <p:cNvPr id="84" name="Conector de seta reta 83"/>
          <p:cNvCxnSpPr>
            <a:stCxn id="40" idx="2"/>
            <a:endCxn id="26" idx="0"/>
          </p:cNvCxnSpPr>
          <p:nvPr/>
        </p:nvCxnSpPr>
        <p:spPr bwMode="auto">
          <a:xfrm>
            <a:off x="1466034" y="2488851"/>
            <a:ext cx="814610" cy="488600"/>
          </a:xfrm>
          <a:prstGeom prst="straightConnector1">
            <a:avLst/>
          </a:prstGeom>
          <a:noFill/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7" name="Conector de seta reta 86"/>
          <p:cNvCxnSpPr>
            <a:endCxn id="26" idx="1"/>
          </p:cNvCxnSpPr>
          <p:nvPr/>
        </p:nvCxnSpPr>
        <p:spPr bwMode="auto">
          <a:xfrm>
            <a:off x="1359154" y="3114934"/>
            <a:ext cx="309422" cy="169277"/>
          </a:xfrm>
          <a:prstGeom prst="straightConnector1">
            <a:avLst/>
          </a:prstGeom>
          <a:noFill/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0" name="Conector de seta reta 89"/>
          <p:cNvCxnSpPr>
            <a:stCxn id="80" idx="3"/>
          </p:cNvCxnSpPr>
          <p:nvPr/>
        </p:nvCxnSpPr>
        <p:spPr bwMode="auto">
          <a:xfrm flipV="1">
            <a:off x="1575272" y="3590970"/>
            <a:ext cx="352686" cy="412154"/>
          </a:xfrm>
          <a:prstGeom prst="straightConnector1">
            <a:avLst/>
          </a:prstGeom>
          <a:noFill/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3" name="Conector de seta reta 92"/>
          <p:cNvCxnSpPr>
            <a:stCxn id="82" idx="0"/>
            <a:endCxn id="26" idx="2"/>
          </p:cNvCxnSpPr>
          <p:nvPr/>
        </p:nvCxnSpPr>
        <p:spPr bwMode="auto">
          <a:xfrm flipH="1" flipV="1">
            <a:off x="2280644" y="3590970"/>
            <a:ext cx="1" cy="545184"/>
          </a:xfrm>
          <a:prstGeom prst="straightConnector1">
            <a:avLst/>
          </a:prstGeom>
          <a:noFill/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7" name="CaixaDeTexto 96"/>
          <p:cNvSpPr txBox="1"/>
          <p:nvPr/>
        </p:nvSpPr>
        <p:spPr>
          <a:xfrm>
            <a:off x="2056783" y="5170344"/>
            <a:ext cx="11420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err="1" smtClean="0"/>
              <a:t>Monitoring</a:t>
            </a:r>
            <a:endParaRPr lang="pt-BR" sz="1600" dirty="0"/>
          </a:p>
        </p:txBody>
      </p:sp>
      <p:cxnSp>
        <p:nvCxnSpPr>
          <p:cNvPr id="98" name="Conector de seta reta 97"/>
          <p:cNvCxnSpPr>
            <a:stCxn id="97" idx="0"/>
          </p:cNvCxnSpPr>
          <p:nvPr/>
        </p:nvCxnSpPr>
        <p:spPr bwMode="auto">
          <a:xfrm flipV="1">
            <a:off x="2627830" y="3590970"/>
            <a:ext cx="0" cy="1579374"/>
          </a:xfrm>
          <a:prstGeom prst="straightConnector1">
            <a:avLst/>
          </a:prstGeom>
          <a:noFill/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03" name="Fluxograma: Processo predefinido 102"/>
          <p:cNvSpPr/>
          <p:nvPr/>
        </p:nvSpPr>
        <p:spPr bwMode="auto">
          <a:xfrm>
            <a:off x="8920088" y="3071065"/>
            <a:ext cx="1224136" cy="613519"/>
          </a:xfrm>
          <a:prstGeom prst="flowChartPredefinedProcess">
            <a:avLst/>
          </a:prstGeom>
          <a:noFill/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8953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tabLst/>
            </a:pPr>
            <a:r>
              <a:rPr kumimoji="0" lang="pt-B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Resolução CA</a:t>
            </a:r>
          </a:p>
        </p:txBody>
      </p:sp>
      <p:sp>
        <p:nvSpPr>
          <p:cNvPr id="104" name="Fluxograma: Processo predefinido 103"/>
          <p:cNvSpPr/>
          <p:nvPr/>
        </p:nvSpPr>
        <p:spPr bwMode="auto">
          <a:xfrm>
            <a:off x="8084820" y="5327548"/>
            <a:ext cx="1224136" cy="613519"/>
          </a:xfrm>
          <a:prstGeom prst="flowChartPredefinedProcess">
            <a:avLst/>
          </a:prstGeom>
          <a:noFill/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8953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tabLst/>
            </a:pPr>
            <a:r>
              <a:rPr kumimoji="0" lang="pt-BR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Resolução ITSM</a:t>
            </a:r>
          </a:p>
        </p:txBody>
      </p:sp>
      <p:pic>
        <p:nvPicPr>
          <p:cNvPr id="10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0840" y="4243094"/>
            <a:ext cx="432235" cy="707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6" name="CaixaDeTexto 105"/>
          <p:cNvSpPr txBox="1"/>
          <p:nvPr/>
        </p:nvSpPr>
        <p:spPr>
          <a:xfrm>
            <a:off x="9632734" y="4520378"/>
            <a:ext cx="1035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/>
              <a:t>N1 / N2</a:t>
            </a:r>
            <a:endParaRPr lang="pt-BR" sz="1600" dirty="0"/>
          </a:p>
        </p:txBody>
      </p:sp>
      <p:pic>
        <p:nvPicPr>
          <p:cNvPr id="10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6265" y="2772594"/>
            <a:ext cx="432235" cy="707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8" name="CaixaDeTexto 107"/>
          <p:cNvSpPr txBox="1"/>
          <p:nvPr/>
        </p:nvSpPr>
        <p:spPr>
          <a:xfrm>
            <a:off x="7661268" y="3047840"/>
            <a:ext cx="9707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/>
              <a:t>SD</a:t>
            </a:r>
            <a:endParaRPr lang="pt-BR" sz="1600" dirty="0"/>
          </a:p>
        </p:txBody>
      </p:sp>
      <p:pic>
        <p:nvPicPr>
          <p:cNvPr id="10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0771" y="4239189"/>
            <a:ext cx="432235" cy="707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0" name="CaixaDeTexto 109"/>
          <p:cNvSpPr txBox="1"/>
          <p:nvPr/>
        </p:nvSpPr>
        <p:spPr>
          <a:xfrm>
            <a:off x="8055992" y="4505315"/>
            <a:ext cx="7351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/>
              <a:t>NCC</a:t>
            </a:r>
            <a:endParaRPr lang="pt-BR" sz="1600" dirty="0"/>
          </a:p>
        </p:txBody>
      </p:sp>
      <p:sp>
        <p:nvSpPr>
          <p:cNvPr id="111" name="Seta para cima e para baixo 110"/>
          <p:cNvSpPr/>
          <p:nvPr/>
        </p:nvSpPr>
        <p:spPr bwMode="auto">
          <a:xfrm rot="20260764">
            <a:off x="8384875" y="3538905"/>
            <a:ext cx="179470" cy="705649"/>
          </a:xfrm>
          <a:prstGeom prst="upDownArrow">
            <a:avLst/>
          </a:prstGeom>
          <a:noFill/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8953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tabLst/>
            </a:pPr>
            <a:endParaRPr kumimoji="0" lang="pt-BR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2" name="Seta para cima e para baixo 111"/>
          <p:cNvSpPr/>
          <p:nvPr/>
        </p:nvSpPr>
        <p:spPr bwMode="auto">
          <a:xfrm rot="16200000">
            <a:off x="9058057" y="4395483"/>
            <a:ext cx="157888" cy="407678"/>
          </a:xfrm>
          <a:prstGeom prst="upDownArrow">
            <a:avLst/>
          </a:prstGeom>
          <a:noFill/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8953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tabLst/>
            </a:pPr>
            <a:endParaRPr kumimoji="0" lang="pt-BR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13" name="Conector de seta reta 112"/>
          <p:cNvCxnSpPr>
            <a:stCxn id="105" idx="0"/>
            <a:endCxn id="103" idx="2"/>
          </p:cNvCxnSpPr>
          <p:nvPr/>
        </p:nvCxnSpPr>
        <p:spPr bwMode="auto">
          <a:xfrm flipH="1" flipV="1">
            <a:off x="9532156" y="3684584"/>
            <a:ext cx="24802" cy="558510"/>
          </a:xfrm>
          <a:prstGeom prst="straightConnector1">
            <a:avLst/>
          </a:prstGeom>
          <a:noFill/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17" name="Conector de seta reta 116"/>
          <p:cNvCxnSpPr>
            <a:endCxn id="103" idx="1"/>
          </p:cNvCxnSpPr>
          <p:nvPr/>
        </p:nvCxnSpPr>
        <p:spPr bwMode="auto">
          <a:xfrm>
            <a:off x="8408500" y="3199572"/>
            <a:ext cx="511588" cy="178253"/>
          </a:xfrm>
          <a:prstGeom prst="straightConnector1">
            <a:avLst/>
          </a:prstGeom>
          <a:noFill/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0" name="Conector de seta reta 119"/>
          <p:cNvCxnSpPr>
            <a:stCxn id="109" idx="2"/>
            <a:endCxn id="104" idx="0"/>
          </p:cNvCxnSpPr>
          <p:nvPr/>
        </p:nvCxnSpPr>
        <p:spPr bwMode="auto">
          <a:xfrm flipH="1">
            <a:off x="8696888" y="4946482"/>
            <a:ext cx="1" cy="381066"/>
          </a:xfrm>
          <a:prstGeom prst="straightConnector1">
            <a:avLst/>
          </a:prstGeom>
          <a:noFill/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36" name="CaixaDeTexto 135"/>
          <p:cNvSpPr txBox="1"/>
          <p:nvPr/>
        </p:nvSpPr>
        <p:spPr>
          <a:xfrm>
            <a:off x="10668222" y="2343448"/>
            <a:ext cx="1909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/>
              <a:t>Relatórios Operacionais CA SDM - GPI</a:t>
            </a:r>
            <a:endParaRPr lang="pt-BR" sz="1600" dirty="0"/>
          </a:p>
        </p:txBody>
      </p:sp>
      <p:sp>
        <p:nvSpPr>
          <p:cNvPr id="137" name="CaixaDeTexto 136"/>
          <p:cNvSpPr txBox="1"/>
          <p:nvPr/>
        </p:nvSpPr>
        <p:spPr>
          <a:xfrm>
            <a:off x="10668222" y="4503688"/>
            <a:ext cx="16661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/>
              <a:t>Controle </a:t>
            </a:r>
            <a:r>
              <a:rPr lang="pt-BR" sz="1600" dirty="0" err="1" smtClean="0"/>
              <a:t>OIs</a:t>
            </a:r>
            <a:r>
              <a:rPr lang="pt-BR" sz="1600" dirty="0" smtClean="0"/>
              <a:t> - GPI</a:t>
            </a:r>
            <a:endParaRPr lang="pt-BR" sz="1600" dirty="0"/>
          </a:p>
        </p:txBody>
      </p:sp>
      <p:sp>
        <p:nvSpPr>
          <p:cNvPr id="138" name="CaixaDeTexto 137"/>
          <p:cNvSpPr txBox="1"/>
          <p:nvPr/>
        </p:nvSpPr>
        <p:spPr>
          <a:xfrm>
            <a:off x="10668222" y="7444403"/>
            <a:ext cx="26750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err="1" smtClean="0"/>
              <a:t>Dashboard</a:t>
            </a:r>
            <a:r>
              <a:rPr lang="pt-BR" sz="1600" dirty="0" smtClean="0"/>
              <a:t> Disponibilidade / Performance - GPI</a:t>
            </a:r>
            <a:endParaRPr lang="pt-BR" sz="1600" dirty="0"/>
          </a:p>
        </p:txBody>
      </p:sp>
      <p:sp>
        <p:nvSpPr>
          <p:cNvPr id="140" name="Octógono 139"/>
          <p:cNvSpPr/>
          <p:nvPr/>
        </p:nvSpPr>
        <p:spPr bwMode="auto">
          <a:xfrm>
            <a:off x="2496761" y="2529274"/>
            <a:ext cx="395951" cy="405429"/>
          </a:xfrm>
          <a:prstGeom prst="octagon">
            <a:avLst/>
          </a:prstGeom>
          <a:noFill/>
          <a:ln w="22225" cap="flat" cmpd="sng" algn="ctr">
            <a:solidFill>
              <a:srgbClr val="3333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8953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tabLst/>
            </a:pPr>
            <a:r>
              <a:rPr kumimoji="0" lang="pt-BR" sz="1600" b="1" i="0" u="none" strike="noStrike" cap="none" normalizeH="0" baseline="0" dirty="0" smtClean="0">
                <a:ln>
                  <a:noFill/>
                </a:ln>
                <a:solidFill>
                  <a:srgbClr val="3333CC"/>
                </a:solidFill>
                <a:effectLst/>
                <a:latin typeface="Arial" charset="0"/>
              </a:rPr>
              <a:t>1 </a:t>
            </a:r>
          </a:p>
        </p:txBody>
      </p:sp>
      <p:sp>
        <p:nvSpPr>
          <p:cNvPr id="141" name="Octógono 140"/>
          <p:cNvSpPr/>
          <p:nvPr/>
        </p:nvSpPr>
        <p:spPr bwMode="auto">
          <a:xfrm>
            <a:off x="11394530" y="1794866"/>
            <a:ext cx="395951" cy="405429"/>
          </a:xfrm>
          <a:prstGeom prst="octagon">
            <a:avLst/>
          </a:prstGeom>
          <a:noFill/>
          <a:ln w="22225" cap="flat" cmpd="sng" algn="ctr">
            <a:solidFill>
              <a:srgbClr val="3333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8953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tabLst/>
            </a:pPr>
            <a:r>
              <a:rPr kumimoji="0" lang="pt-BR" sz="1600" b="1" i="0" u="none" strike="noStrike" cap="none" normalizeH="0" baseline="0" dirty="0" smtClean="0">
                <a:ln>
                  <a:noFill/>
                </a:ln>
                <a:solidFill>
                  <a:srgbClr val="3333CC"/>
                </a:solidFill>
                <a:effectLst/>
                <a:latin typeface="Arial" charset="0"/>
              </a:rPr>
              <a:t>1 </a:t>
            </a:r>
          </a:p>
        </p:txBody>
      </p:sp>
      <p:sp>
        <p:nvSpPr>
          <p:cNvPr id="142" name="Octógono 141"/>
          <p:cNvSpPr/>
          <p:nvPr/>
        </p:nvSpPr>
        <p:spPr bwMode="auto">
          <a:xfrm>
            <a:off x="4839598" y="4127974"/>
            <a:ext cx="395951" cy="405429"/>
          </a:xfrm>
          <a:prstGeom prst="octagon">
            <a:avLst/>
          </a:prstGeom>
          <a:noFill/>
          <a:ln w="22225" cap="flat" cmpd="sng" algn="ctr">
            <a:solidFill>
              <a:srgbClr val="3333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8953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tabLst/>
            </a:pPr>
            <a:r>
              <a:rPr kumimoji="0" lang="pt-BR" sz="1600" b="1" i="0" u="none" strike="noStrike" cap="none" normalizeH="0" baseline="0" dirty="0" smtClean="0">
                <a:ln>
                  <a:noFill/>
                </a:ln>
                <a:solidFill>
                  <a:srgbClr val="3333CC"/>
                </a:solidFill>
                <a:effectLst/>
                <a:latin typeface="Arial" charset="0"/>
              </a:rPr>
              <a:t>1 </a:t>
            </a:r>
          </a:p>
        </p:txBody>
      </p:sp>
      <p:sp>
        <p:nvSpPr>
          <p:cNvPr id="143" name="Octógono 142"/>
          <p:cNvSpPr/>
          <p:nvPr/>
        </p:nvSpPr>
        <p:spPr bwMode="auto">
          <a:xfrm>
            <a:off x="11394529" y="3906590"/>
            <a:ext cx="395951" cy="405429"/>
          </a:xfrm>
          <a:prstGeom prst="octagon">
            <a:avLst/>
          </a:prstGeom>
          <a:noFill/>
          <a:ln w="22225" cap="flat" cmpd="sng" algn="ctr">
            <a:solidFill>
              <a:srgbClr val="3333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8953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tabLst/>
            </a:pPr>
            <a:r>
              <a:rPr kumimoji="0" lang="pt-BR" sz="1600" b="1" i="0" u="none" strike="noStrike" cap="none" normalizeH="0" baseline="0" dirty="0" smtClean="0">
                <a:ln>
                  <a:noFill/>
                </a:ln>
                <a:solidFill>
                  <a:srgbClr val="3333CC"/>
                </a:solidFill>
                <a:effectLst/>
                <a:latin typeface="Arial" charset="0"/>
              </a:rPr>
              <a:t>2 </a:t>
            </a:r>
          </a:p>
        </p:txBody>
      </p:sp>
      <p:sp>
        <p:nvSpPr>
          <p:cNvPr id="144" name="Octógono 143"/>
          <p:cNvSpPr/>
          <p:nvPr/>
        </p:nvSpPr>
        <p:spPr bwMode="auto">
          <a:xfrm>
            <a:off x="7760001" y="4895455"/>
            <a:ext cx="395951" cy="405429"/>
          </a:xfrm>
          <a:prstGeom prst="octagon">
            <a:avLst/>
          </a:prstGeom>
          <a:noFill/>
          <a:ln w="22225" cap="flat" cmpd="sng" algn="ctr">
            <a:solidFill>
              <a:srgbClr val="3333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8953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tabLst/>
            </a:pPr>
            <a:r>
              <a:rPr kumimoji="0" lang="pt-BR" sz="1600" b="1" i="0" u="none" strike="noStrike" cap="none" normalizeH="0" baseline="0" dirty="0" smtClean="0">
                <a:ln>
                  <a:noFill/>
                </a:ln>
                <a:solidFill>
                  <a:srgbClr val="3333CC"/>
                </a:solidFill>
                <a:effectLst/>
                <a:latin typeface="Arial" charset="0"/>
              </a:rPr>
              <a:t>2 </a:t>
            </a:r>
          </a:p>
        </p:txBody>
      </p:sp>
      <p:sp>
        <p:nvSpPr>
          <p:cNvPr id="145" name="Octógono 144"/>
          <p:cNvSpPr/>
          <p:nvPr/>
        </p:nvSpPr>
        <p:spPr bwMode="auto">
          <a:xfrm>
            <a:off x="8791135" y="2609575"/>
            <a:ext cx="395951" cy="405429"/>
          </a:xfrm>
          <a:prstGeom prst="octagon">
            <a:avLst/>
          </a:prstGeom>
          <a:noFill/>
          <a:ln w="22225" cap="flat" cmpd="sng" algn="ctr">
            <a:solidFill>
              <a:srgbClr val="3333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8953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tabLst/>
            </a:pPr>
            <a:r>
              <a:rPr kumimoji="0" lang="pt-BR" sz="1600" b="1" i="0" u="none" strike="noStrike" cap="none" normalizeH="0" baseline="0" dirty="0" smtClean="0">
                <a:ln>
                  <a:noFill/>
                </a:ln>
                <a:solidFill>
                  <a:srgbClr val="3333CC"/>
                </a:solidFill>
                <a:effectLst/>
                <a:latin typeface="Arial" charset="0"/>
              </a:rPr>
              <a:t>1 </a:t>
            </a:r>
          </a:p>
        </p:txBody>
      </p:sp>
      <p:sp>
        <p:nvSpPr>
          <p:cNvPr id="1033" name="Texto explicativo retangular 1032"/>
          <p:cNvSpPr/>
          <p:nvPr/>
        </p:nvSpPr>
        <p:spPr bwMode="auto">
          <a:xfrm>
            <a:off x="5826902" y="1997581"/>
            <a:ext cx="1462467" cy="707293"/>
          </a:xfrm>
          <a:prstGeom prst="wedgeRectCallout">
            <a:avLst>
              <a:gd name="adj1" fmla="val -29232"/>
              <a:gd name="adj2" fmla="val 66359"/>
            </a:avLst>
          </a:prstGeom>
          <a:noFill/>
          <a:ln w="6350" cap="flat" cmpd="sng" algn="ctr">
            <a:solidFill>
              <a:schemeClr val="bg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8953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tabLst/>
            </a:pPr>
            <a:r>
              <a:rPr kumimoji="0" lang="pt-BR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. Comunicação</a:t>
            </a:r>
          </a:p>
          <a:p>
            <a:pPr marL="0" marR="0" indent="0" algn="l" defTabSz="8953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tabLst/>
            </a:pPr>
            <a:r>
              <a:rPr lang="pt-BR" sz="1200" dirty="0" smtClean="0">
                <a:latin typeface="Arial" charset="0"/>
              </a:rPr>
              <a:t>. Escalonamento</a:t>
            </a:r>
            <a:r>
              <a:rPr kumimoji="0" lang="pt-BR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/>
            </a:r>
            <a:br>
              <a:rPr kumimoji="0" lang="pt-BR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</a:br>
            <a:r>
              <a:rPr kumimoji="0" lang="pt-BR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. Apuração impacto</a:t>
            </a:r>
          </a:p>
        </p:txBody>
      </p:sp>
      <p:sp>
        <p:nvSpPr>
          <p:cNvPr id="148" name="Texto explicativo retangular 147"/>
          <p:cNvSpPr/>
          <p:nvPr/>
        </p:nvSpPr>
        <p:spPr bwMode="auto">
          <a:xfrm>
            <a:off x="3902474" y="1781557"/>
            <a:ext cx="1462467" cy="516345"/>
          </a:xfrm>
          <a:prstGeom prst="wedgeRectCallout">
            <a:avLst>
              <a:gd name="adj1" fmla="val -29232"/>
              <a:gd name="adj2" fmla="val 66359"/>
            </a:avLst>
          </a:prstGeom>
          <a:noFill/>
          <a:ln w="6350" cap="flat" cmpd="sng" algn="ctr">
            <a:solidFill>
              <a:schemeClr val="bg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8953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tabLst/>
            </a:pPr>
            <a:r>
              <a:rPr kumimoji="0" lang="pt-BR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. Comunicação</a:t>
            </a:r>
          </a:p>
          <a:p>
            <a:pPr marL="0" marR="0" indent="0" algn="l" defTabSz="8953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tabLst/>
            </a:pPr>
            <a:r>
              <a:rPr lang="pt-BR" sz="1200" dirty="0" smtClean="0">
                <a:latin typeface="Arial" charset="0"/>
              </a:rPr>
              <a:t>. Escalonamento</a:t>
            </a:r>
            <a:endParaRPr kumimoji="0" lang="pt-BR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9" name="Texto explicativo retangular 148"/>
          <p:cNvSpPr/>
          <p:nvPr/>
        </p:nvSpPr>
        <p:spPr bwMode="auto">
          <a:xfrm>
            <a:off x="3359605" y="3479887"/>
            <a:ext cx="1507289" cy="497687"/>
          </a:xfrm>
          <a:prstGeom prst="wedgeRectCallout">
            <a:avLst>
              <a:gd name="adj1" fmla="val -29232"/>
              <a:gd name="adj2" fmla="val 66359"/>
            </a:avLst>
          </a:prstGeom>
          <a:noFill/>
          <a:ln w="6350" cap="flat" cmpd="sng" algn="ctr">
            <a:solidFill>
              <a:schemeClr val="bg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8953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tabLst/>
            </a:pPr>
            <a:r>
              <a:rPr lang="pt-BR" sz="1200" dirty="0" smtClean="0">
                <a:latin typeface="Arial" charset="0"/>
              </a:rPr>
              <a:t>Prioridade, categoria, Pai x Filho</a:t>
            </a:r>
            <a:endParaRPr kumimoji="0" lang="pt-BR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03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7622" y="3744981"/>
            <a:ext cx="2939906" cy="3161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4" name="Octógono 153"/>
          <p:cNvSpPr/>
          <p:nvPr/>
        </p:nvSpPr>
        <p:spPr bwMode="auto">
          <a:xfrm>
            <a:off x="11394528" y="6906171"/>
            <a:ext cx="395951" cy="405429"/>
          </a:xfrm>
          <a:prstGeom prst="octagon">
            <a:avLst/>
          </a:prstGeom>
          <a:noFill/>
          <a:ln w="22225" cap="flat" cmpd="sng" algn="ctr">
            <a:solidFill>
              <a:srgbClr val="3333C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8953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tabLst/>
            </a:pPr>
            <a:r>
              <a:rPr kumimoji="0" lang="pt-BR" sz="1600" b="1" i="0" u="none" strike="noStrike" cap="none" normalizeH="0" baseline="0" dirty="0" smtClean="0">
                <a:ln>
                  <a:noFill/>
                </a:ln>
                <a:solidFill>
                  <a:srgbClr val="3333CC"/>
                </a:solidFill>
                <a:effectLst/>
                <a:latin typeface="Arial" charset="0"/>
              </a:rPr>
              <a:t>2 </a:t>
            </a:r>
          </a:p>
        </p:txBody>
      </p:sp>
      <p:pic>
        <p:nvPicPr>
          <p:cNvPr id="1038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13312576" y="7012700"/>
            <a:ext cx="2260678" cy="1360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6512" y="1708314"/>
            <a:ext cx="2592288" cy="1802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4" name="Conector de seta reta 73"/>
          <p:cNvCxnSpPr/>
          <p:nvPr/>
        </p:nvCxnSpPr>
        <p:spPr bwMode="auto">
          <a:xfrm flipV="1">
            <a:off x="4815631" y="7804283"/>
            <a:ext cx="1" cy="272592"/>
          </a:xfrm>
          <a:prstGeom prst="straightConnector1">
            <a:avLst/>
          </a:prstGeom>
          <a:noFill/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5" name="Seta para cima e para baixo 74"/>
          <p:cNvSpPr/>
          <p:nvPr/>
        </p:nvSpPr>
        <p:spPr bwMode="auto">
          <a:xfrm rot="16200000">
            <a:off x="4865786" y="8090459"/>
            <a:ext cx="157888" cy="407678"/>
          </a:xfrm>
          <a:prstGeom prst="upDownArrow">
            <a:avLst/>
          </a:prstGeom>
          <a:noFill/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8953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tabLst/>
            </a:pPr>
            <a:endParaRPr kumimoji="0" lang="pt-BR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5247586" y="7804283"/>
            <a:ext cx="13355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>
                    <a:lumMod val="75000"/>
                  </a:schemeClr>
                </a:solidFill>
              </a:rPr>
              <a:t>ação</a:t>
            </a:r>
            <a:endParaRPr lang="pt-BR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5" name="CaixaDeTexto 84"/>
          <p:cNvSpPr txBox="1"/>
          <p:nvPr/>
        </p:nvSpPr>
        <p:spPr>
          <a:xfrm>
            <a:off x="5247680" y="8092180"/>
            <a:ext cx="1728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bg1">
                    <a:lumMod val="75000"/>
                  </a:schemeClr>
                </a:solidFill>
              </a:rPr>
              <a:t>comunicação</a:t>
            </a:r>
            <a:endParaRPr lang="pt-BR" sz="20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Retângulo 9"/>
          <p:cNvSpPr/>
          <p:nvPr/>
        </p:nvSpPr>
        <p:spPr bwMode="auto">
          <a:xfrm>
            <a:off x="4500174" y="7692971"/>
            <a:ext cx="2691722" cy="853911"/>
          </a:xfrm>
          <a:prstGeom prst="rect">
            <a:avLst/>
          </a:prstGeom>
          <a:noFill/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8953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tabLst/>
            </a:pPr>
            <a:endParaRPr kumimoji="0" lang="pt-BR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7" name="Conector de seta reta 16"/>
          <p:cNvCxnSpPr/>
          <p:nvPr/>
        </p:nvCxnSpPr>
        <p:spPr bwMode="auto">
          <a:xfrm>
            <a:off x="4866894" y="8004338"/>
            <a:ext cx="281675" cy="0"/>
          </a:xfrm>
          <a:prstGeom prst="straightConnector1">
            <a:avLst/>
          </a:prstGeom>
          <a:noFill/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114032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495152" y="122762"/>
            <a:ext cx="15231788" cy="553998"/>
          </a:xfrm>
        </p:spPr>
        <p:txBody>
          <a:bodyPr/>
          <a:lstStyle/>
          <a:p>
            <a:pPr eaLnBrk="1" hangingPunct="1"/>
            <a:r>
              <a:rPr lang="pt-BR" dirty="0" smtClean="0"/>
              <a:t>Lista de </a:t>
            </a:r>
            <a:r>
              <a:rPr lang="pt-BR" dirty="0" err="1" smtClean="0"/>
              <a:t>GAPs</a:t>
            </a:r>
            <a:endParaRPr lang="pt-BR" dirty="0"/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103544"/>
              </p:ext>
            </p:extLst>
          </p:nvPr>
        </p:nvGraphicFramePr>
        <p:xfrm>
          <a:off x="783184" y="1404442"/>
          <a:ext cx="14401600" cy="1309767"/>
        </p:xfrm>
        <a:graphic>
          <a:graphicData uri="http://schemas.openxmlformats.org/drawingml/2006/table">
            <a:tbl>
              <a:tblPr/>
              <a:tblGrid>
                <a:gridCol w="1003143"/>
                <a:gridCol w="4737063"/>
                <a:gridCol w="3998638"/>
                <a:gridCol w="2582164"/>
                <a:gridCol w="2080592"/>
              </a:tblGrid>
              <a:tr h="28122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Gill Sans Std" pitchFamily="34" charset="0"/>
                        </a:rPr>
                        <a:t>Item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Gill Sans Std" pitchFamily="34" charset="0"/>
                        </a:rPr>
                        <a:t>Descrição do GAP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Gill Sans Std" pitchFamily="34" charset="0"/>
                        </a:rPr>
                        <a:t>Impacto do GAP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Gill Sans Std" pitchFamily="34" charset="0"/>
                        </a:rPr>
                        <a:t>Endereçado?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Gill Sans Std" pitchFamily="34" charset="0"/>
                        </a:rPr>
                        <a:t>Status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66852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 Std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 Std" pitchFamily="34" charset="0"/>
                        </a:rPr>
                        <a:t>Controle duplicado ITSM x CA SDM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Gill Sans Std" pitchFamily="34" charset="0"/>
                        </a:rPr>
                        <a:t>retrabalho, 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 Std" pitchFamily="34" charset="0"/>
                        </a:rPr>
                        <a:t>controle e gestão complexas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 Std" pitchFamily="34" charset="0"/>
                        </a:rPr>
                        <a:t>Sim &gt; GAP </a:t>
                      </a:r>
                      <a:r>
                        <a:rPr lang="pt-BR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ill Sans Std" pitchFamily="34" charset="0"/>
                        </a:rPr>
                        <a:t>Assessment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 Std" pitchFamily="34" charset="0"/>
                        </a:rPr>
                        <a:t> QA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 Std" pitchFamily="34" charset="0"/>
                        </a:rPr>
                        <a:t>Parado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169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Gill Sans Std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 Std" pitchFamily="34" charset="0"/>
                        </a:rPr>
                        <a:t>Tempo de comunicação de incidente SEV0 e 1 não eficientes para </a:t>
                      </a:r>
                      <a:r>
                        <a:rPr lang="pt-BR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ill Sans Std" pitchFamily="34" charset="0"/>
                        </a:rPr>
                        <a:t>Ois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Gill Sans Std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 Std" pitchFamily="34" charset="0"/>
                        </a:rPr>
                        <a:t>falta de visibilidade de SEV0 e 1; tempo de resposta e escalonamento impactados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 Std" pitchFamily="34" charset="0"/>
                        </a:rPr>
                        <a:t>Não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Gill Sans Std" pitchFamily="34" charset="0"/>
                        </a:rPr>
                        <a:t> </a:t>
                      </a:r>
                      <a:r>
                        <a:rPr lang="pt-BR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Gill Sans Std" pitchFamily="34" charset="0"/>
                        </a:rPr>
                        <a:t>...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Gill Sans Std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2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495152" y="122762"/>
            <a:ext cx="15231788" cy="553998"/>
          </a:xfrm>
        </p:spPr>
        <p:txBody>
          <a:bodyPr/>
          <a:lstStyle/>
          <a:p>
            <a:pPr eaLnBrk="1" hangingPunct="1"/>
            <a:r>
              <a:rPr lang="pt-BR" dirty="0" smtClean="0"/>
              <a:t>Plano de Ação – Incidentes &amp; Indicadores </a:t>
            </a:r>
            <a:r>
              <a:rPr lang="pt-BR" dirty="0" err="1" smtClean="0"/>
              <a:t>OIs</a:t>
            </a:r>
            <a:endParaRPr lang="pt-BR" dirty="0"/>
          </a:p>
        </p:txBody>
      </p:sp>
      <p:pic>
        <p:nvPicPr>
          <p:cNvPr id="2059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144" y="1620466"/>
            <a:ext cx="14776132" cy="3742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0" name="Objeto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4125382"/>
              </p:ext>
            </p:extLst>
          </p:nvPr>
        </p:nvGraphicFramePr>
        <p:xfrm>
          <a:off x="14742076" y="7813154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Planilha" showAsIcon="1" r:id="rId5" imgW="914400" imgH="771480" progId="Excel.Sheet.12">
                  <p:embed/>
                </p:oleObj>
              </mc:Choice>
              <mc:Fallback>
                <p:oleObj name="Planilha" showAsIcon="1" r:id="rId5" imgW="914400" imgH="77148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742076" y="7813154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04827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495152" y="122762"/>
            <a:ext cx="15231788" cy="553998"/>
          </a:xfrm>
        </p:spPr>
        <p:txBody>
          <a:bodyPr/>
          <a:lstStyle/>
          <a:p>
            <a:pPr eaLnBrk="1" hangingPunct="1"/>
            <a:r>
              <a:rPr lang="pt-BR" dirty="0" smtClean="0"/>
              <a:t>Lista de Relatórios Operacionais que serão disponibilizados para as </a:t>
            </a:r>
            <a:r>
              <a:rPr lang="pt-BR" dirty="0" err="1" smtClean="0"/>
              <a:t>OIs</a:t>
            </a:r>
            <a:endParaRPr lang="pt-BR" dirty="0"/>
          </a:p>
        </p:txBody>
      </p:sp>
      <p:graphicFrame>
        <p:nvGraphicFramePr>
          <p:cNvPr id="7" name="Tabe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3481928"/>
              </p:ext>
            </p:extLst>
          </p:nvPr>
        </p:nvGraphicFramePr>
        <p:xfrm>
          <a:off x="1359248" y="1332434"/>
          <a:ext cx="12673408" cy="5328595"/>
        </p:xfrm>
        <a:graphic>
          <a:graphicData uri="http://schemas.openxmlformats.org/drawingml/2006/table">
            <a:tbl>
              <a:tblPr/>
              <a:tblGrid>
                <a:gridCol w="12673408"/>
              </a:tblGrid>
              <a:tr h="413750">
                <a:tc>
                  <a:txBody>
                    <a:bodyPr/>
                    <a:lstStyle/>
                    <a:p>
                      <a:pPr algn="l" fontAlgn="b"/>
                      <a:r>
                        <a:rPr lang="es-ES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. Tickets </a:t>
                      </a:r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abiertos por </a:t>
                      </a:r>
                      <a:r>
                        <a:rPr lang="es-E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dia</a:t>
                      </a:r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y severidad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3750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. Incidentes </a:t>
                      </a:r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por severidade - </a:t>
                      </a:r>
                      <a:r>
                        <a:rPr lang="pt-BR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Acum</a:t>
                      </a:r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Anual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3750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. Incidentes </a:t>
                      </a:r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por país - </a:t>
                      </a:r>
                      <a:r>
                        <a:rPr lang="pt-BR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Acum</a:t>
                      </a:r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Anual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3750">
                <a:tc>
                  <a:txBody>
                    <a:bodyPr/>
                    <a:lstStyle/>
                    <a:p>
                      <a:pPr algn="l" fontAlgn="b"/>
                      <a:r>
                        <a:rPr lang="es-ES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. Horas </a:t>
                      </a:r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(</a:t>
                      </a:r>
                      <a:r>
                        <a:rPr lang="es-ES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promédio</a:t>
                      </a:r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) Indisponibilidad - Capacitación, Separación, Facturación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3750">
                <a:tc>
                  <a:txBody>
                    <a:bodyPr/>
                    <a:lstStyle/>
                    <a:p>
                      <a:pPr algn="l" fontAlgn="b"/>
                      <a:r>
                        <a:rPr lang="es-ES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. Horas </a:t>
                      </a:r>
                      <a:r>
                        <a:rPr lang="es-E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(totales) Indisponibilidad - Capacitación, Separación, Facturación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3750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. % </a:t>
                      </a:r>
                      <a:r>
                        <a:rPr lang="pt-BR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Disponibilidad</a:t>
                      </a:r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- </a:t>
                      </a:r>
                      <a:r>
                        <a:rPr lang="pt-BR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Capacitación</a:t>
                      </a:r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, </a:t>
                      </a:r>
                      <a:r>
                        <a:rPr lang="pt-BR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Separación</a:t>
                      </a:r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, </a:t>
                      </a:r>
                      <a:r>
                        <a:rPr lang="pt-BR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Facturación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3750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. % </a:t>
                      </a:r>
                      <a:r>
                        <a:rPr lang="pt-BR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Disponibilidad</a:t>
                      </a:r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- </a:t>
                      </a:r>
                      <a:r>
                        <a:rPr lang="pt-BR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Capacitación</a:t>
                      </a:r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, </a:t>
                      </a:r>
                      <a:r>
                        <a:rPr lang="pt-BR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Separación</a:t>
                      </a:r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, </a:t>
                      </a:r>
                      <a:r>
                        <a:rPr lang="pt-BR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Facturación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018595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. </a:t>
                      </a:r>
                      <a:r>
                        <a:rPr lang="pt-BR" sz="2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Disponibilidad</a:t>
                      </a:r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: Nueva </a:t>
                      </a:r>
                      <a:r>
                        <a:rPr lang="pt-BR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Visión</a:t>
                      </a:r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/>
                      </a:r>
                      <a:b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</a:br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</a:t>
                      </a:r>
                      <a:r>
                        <a:rPr lang="pt-BR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.</a:t>
                      </a:r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Incidentes Críticos Mês (CA SDM e não ITSM)</a:t>
                      </a:r>
                      <a:b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</a:br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</a:t>
                      </a:r>
                      <a:r>
                        <a:rPr lang="pt-BR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.</a:t>
                      </a:r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Disponibilidade de </a:t>
                      </a:r>
                      <a:r>
                        <a:rPr lang="pt-BR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Capacitacion</a:t>
                      </a:r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, </a:t>
                      </a:r>
                      <a:r>
                        <a:rPr lang="pt-BR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Separacion</a:t>
                      </a:r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y </a:t>
                      </a:r>
                      <a:r>
                        <a:rPr lang="pt-BR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Facturacion</a:t>
                      </a:r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diária (mês)</a:t>
                      </a:r>
                      <a:b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</a:br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</a:t>
                      </a:r>
                      <a:r>
                        <a:rPr lang="pt-BR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.</a:t>
                      </a:r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tabela de real x resultado por país</a:t>
                      </a:r>
                      <a:b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</a:br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</a:t>
                      </a:r>
                      <a:r>
                        <a:rPr lang="pt-BR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.</a:t>
                      </a:r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tabela de </a:t>
                      </a:r>
                      <a:r>
                        <a:rPr lang="pt-BR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disponibilidad</a:t>
                      </a:r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em </a:t>
                      </a:r>
                      <a:r>
                        <a:rPr lang="pt-BR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la</a:t>
                      </a:r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</a:t>
                      </a:r>
                      <a:r>
                        <a:rPr lang="pt-BR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Capacitacion</a:t>
                      </a:r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, </a:t>
                      </a:r>
                      <a:r>
                        <a:rPr lang="pt-BR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Separacion</a:t>
                      </a:r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y </a:t>
                      </a:r>
                      <a:r>
                        <a:rPr lang="pt-BR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Facturacion</a:t>
                      </a:r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- Mês / Ano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13750">
                <a:tc>
                  <a:txBody>
                    <a:bodyPr/>
                    <a:lstStyle/>
                    <a:p>
                      <a:pPr algn="l" fontAlgn="b"/>
                      <a:r>
                        <a:rPr lang="pt-BR" sz="2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. Gráfico </a:t>
                      </a:r>
                      <a:r>
                        <a:rPr lang="pt-B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por sistema: criar relatório no BO com os filtros por grupo e por país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5680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495152" y="122762"/>
            <a:ext cx="15231788" cy="553998"/>
          </a:xfrm>
        </p:spPr>
        <p:txBody>
          <a:bodyPr/>
          <a:lstStyle/>
          <a:p>
            <a:pPr eaLnBrk="1" hangingPunct="1"/>
            <a:r>
              <a:rPr lang="pt-BR" dirty="0" smtClean="0"/>
              <a:t>Plano de Ação – </a:t>
            </a:r>
            <a:r>
              <a:rPr lang="pt-BR" dirty="0" err="1" smtClean="0"/>
              <a:t>Ways</a:t>
            </a:r>
            <a:r>
              <a:rPr lang="pt-BR" dirty="0" smtClean="0"/>
              <a:t> </a:t>
            </a:r>
            <a:r>
              <a:rPr lang="pt-BR" dirty="0" err="1" smtClean="0"/>
              <a:t>of</a:t>
            </a:r>
            <a:r>
              <a:rPr lang="pt-BR" dirty="0" smtClean="0"/>
              <a:t> </a:t>
            </a:r>
            <a:r>
              <a:rPr lang="pt-BR" dirty="0" err="1" smtClean="0"/>
              <a:t>Working</a:t>
            </a:r>
            <a:endParaRPr lang="pt-BR" dirty="0"/>
          </a:p>
        </p:txBody>
      </p:sp>
      <p:sp>
        <p:nvSpPr>
          <p:cNvPr id="6" name="Título 3"/>
          <p:cNvSpPr txBox="1">
            <a:spLocks/>
          </p:cNvSpPr>
          <p:nvPr/>
        </p:nvSpPr>
        <p:spPr bwMode="auto">
          <a:xfrm>
            <a:off x="2869026" y="4212754"/>
            <a:ext cx="12855524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pt-BR" sz="3600" b="0" kern="1200" smtClean="0">
                <a:solidFill>
                  <a:srgbClr val="62568B"/>
                </a:solidFill>
                <a:latin typeface="Gill Sans Std" pitchFamily="34" charset="0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5pPr>
            <a:lvl6pPr marL="720553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144104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2161577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2882109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571500" indent="-571500" eaLnBrk="1" hangingPunct="1">
              <a:buFont typeface="Wingdings" pitchFamily="2" charset="2"/>
              <a:buChar char="Ø"/>
            </a:pPr>
            <a:r>
              <a:rPr lang="pt-BR" sz="2000" dirty="0">
                <a:solidFill>
                  <a:schemeClr val="tx1"/>
                </a:solidFill>
              </a:rPr>
              <a:t>02 meses de </a:t>
            </a:r>
            <a:r>
              <a:rPr lang="pt-BR" sz="2000" dirty="0" smtClean="0">
                <a:solidFill>
                  <a:schemeClr val="tx1"/>
                </a:solidFill>
              </a:rPr>
              <a:t>transição para GPI, com início em Junho</a:t>
            </a:r>
          </a:p>
          <a:p>
            <a:pPr marL="571500" indent="-571500" eaLnBrk="1" hangingPunct="1">
              <a:buFont typeface="Wingdings" pitchFamily="2" charset="2"/>
              <a:buChar char="Ø"/>
            </a:pPr>
            <a:r>
              <a:rPr lang="pt-BR" sz="2000" dirty="0" smtClean="0">
                <a:solidFill>
                  <a:schemeClr val="tx1"/>
                </a:solidFill>
              </a:rPr>
              <a:t>Necessário criar rituais (ou aproveitar existentes) de alinhamento e ajuste do plano com </a:t>
            </a:r>
            <a:r>
              <a:rPr lang="pt-BR" sz="2000" dirty="0" err="1" smtClean="0">
                <a:solidFill>
                  <a:schemeClr val="tx1"/>
                </a:solidFill>
              </a:rPr>
              <a:t>Coord</a:t>
            </a:r>
            <a:r>
              <a:rPr lang="pt-BR" sz="2000" dirty="0" smtClean="0">
                <a:solidFill>
                  <a:schemeClr val="tx1"/>
                </a:solidFill>
              </a:rPr>
              <a:t> </a:t>
            </a:r>
            <a:r>
              <a:rPr lang="pt-BR" sz="2000" dirty="0" err="1" smtClean="0">
                <a:solidFill>
                  <a:schemeClr val="tx1"/>
                </a:solidFill>
              </a:rPr>
              <a:t>Ois</a:t>
            </a:r>
            <a:endParaRPr lang="pt-BR" sz="2000" dirty="0" smtClean="0">
              <a:solidFill>
                <a:schemeClr val="tx1"/>
              </a:solidFill>
            </a:endParaRPr>
          </a:p>
          <a:p>
            <a:pPr marL="571500" indent="-571500" eaLnBrk="1" hangingPunct="1">
              <a:buFont typeface="Wingdings" pitchFamily="2" charset="2"/>
              <a:buChar char="Ø"/>
            </a:pPr>
            <a:r>
              <a:rPr lang="pt-BR" sz="2000" dirty="0" smtClean="0">
                <a:solidFill>
                  <a:schemeClr val="tx1"/>
                </a:solidFill>
              </a:rPr>
              <a:t>Importante: Obter validação dos </a:t>
            </a:r>
            <a:r>
              <a:rPr lang="pt-BR" sz="2000" dirty="0" err="1" smtClean="0">
                <a:solidFill>
                  <a:schemeClr val="tx1"/>
                </a:solidFill>
              </a:rPr>
              <a:t>Coord</a:t>
            </a:r>
            <a:r>
              <a:rPr lang="pt-BR" sz="2000" dirty="0" smtClean="0">
                <a:solidFill>
                  <a:schemeClr val="tx1"/>
                </a:solidFill>
              </a:rPr>
              <a:t> </a:t>
            </a:r>
            <a:r>
              <a:rPr lang="pt-BR" sz="2000" dirty="0" err="1" smtClean="0">
                <a:solidFill>
                  <a:schemeClr val="tx1"/>
                </a:solidFill>
              </a:rPr>
              <a:t>OIs</a:t>
            </a:r>
            <a:r>
              <a:rPr lang="pt-BR" sz="2000" dirty="0" smtClean="0">
                <a:solidFill>
                  <a:schemeClr val="tx1"/>
                </a:solidFill>
              </a:rPr>
              <a:t> para os tempos de Indisponibilidade e Performance.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017" y="3060626"/>
            <a:ext cx="14190151" cy="538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Seta para baixo 2"/>
          <p:cNvSpPr/>
          <p:nvPr/>
        </p:nvSpPr>
        <p:spPr bwMode="auto">
          <a:xfrm rot="18861723">
            <a:off x="2243019" y="3771475"/>
            <a:ext cx="524747" cy="504056"/>
          </a:xfrm>
          <a:prstGeom prst="downArrow">
            <a:avLst/>
          </a:prstGeom>
          <a:noFill/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8953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tabLst/>
            </a:pPr>
            <a:endParaRPr kumimoji="0" lang="pt-BR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Título 3"/>
          <p:cNvSpPr txBox="1">
            <a:spLocks/>
          </p:cNvSpPr>
          <p:nvPr/>
        </p:nvSpPr>
        <p:spPr bwMode="auto">
          <a:xfrm>
            <a:off x="855192" y="1188418"/>
            <a:ext cx="13897544" cy="129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pt-BR" sz="3600" b="0" kern="1200" smtClean="0">
                <a:solidFill>
                  <a:srgbClr val="62568B"/>
                </a:solidFill>
                <a:latin typeface="Gill Sans Std" pitchFamily="34" charset="0"/>
                <a:ea typeface="+mn-ea"/>
                <a:cs typeface="+mn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5pPr>
            <a:lvl6pPr marL="720553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1441040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2161577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2882109"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571500" indent="-571500" eaLnBrk="1" hangingPunct="1">
              <a:buFont typeface="Wingdings" pitchFamily="2" charset="2"/>
              <a:buChar char="Ø"/>
            </a:pPr>
            <a:r>
              <a:rPr lang="pt-BR" sz="2800" dirty="0" smtClean="0">
                <a:solidFill>
                  <a:schemeClr val="tx1"/>
                </a:solidFill>
              </a:rPr>
              <a:t>Status </a:t>
            </a:r>
            <a:r>
              <a:rPr lang="pt-BR" sz="2800" dirty="0" err="1" smtClean="0">
                <a:solidFill>
                  <a:schemeClr val="tx1"/>
                </a:solidFill>
              </a:rPr>
              <a:t>report</a:t>
            </a:r>
            <a:r>
              <a:rPr lang="pt-BR" sz="2800" dirty="0" smtClean="0">
                <a:solidFill>
                  <a:schemeClr val="tx1"/>
                </a:solidFill>
              </a:rPr>
              <a:t> gerencial a cada quinze dias para dar visibilidade do progresso</a:t>
            </a:r>
          </a:p>
          <a:p>
            <a:pPr marL="571500" indent="-571500" eaLnBrk="1" hangingPunct="1">
              <a:buFont typeface="Wingdings" pitchFamily="2" charset="2"/>
              <a:buChar char="Ø"/>
            </a:pPr>
            <a:r>
              <a:rPr lang="pt-BR" sz="2800" dirty="0" smtClean="0">
                <a:solidFill>
                  <a:schemeClr val="tx1"/>
                </a:solidFill>
              </a:rPr>
              <a:t>Identificação de </a:t>
            </a:r>
            <a:r>
              <a:rPr lang="pt-BR" sz="2800" dirty="0" err="1" smtClean="0">
                <a:solidFill>
                  <a:schemeClr val="tx1"/>
                </a:solidFill>
              </a:rPr>
              <a:t>GAPs</a:t>
            </a:r>
            <a:r>
              <a:rPr lang="pt-BR" sz="2800" dirty="0" smtClean="0">
                <a:solidFill>
                  <a:schemeClr val="tx1"/>
                </a:solidFill>
              </a:rPr>
              <a:t> e endereçamento </a:t>
            </a:r>
            <a:r>
              <a:rPr lang="pt-BR" sz="2800" i="1" dirty="0" smtClean="0">
                <a:solidFill>
                  <a:schemeClr val="tx1"/>
                </a:solidFill>
              </a:rPr>
              <a:t>“</a:t>
            </a:r>
            <a:r>
              <a:rPr lang="pt-BR" sz="2800" i="1" dirty="0" err="1" smtClean="0">
                <a:solidFill>
                  <a:schemeClr val="tx1"/>
                </a:solidFill>
              </a:rPr>
              <a:t>on</a:t>
            </a:r>
            <a:r>
              <a:rPr lang="pt-BR" sz="2800" i="1" dirty="0" smtClean="0">
                <a:solidFill>
                  <a:schemeClr val="tx1"/>
                </a:solidFill>
              </a:rPr>
              <a:t> </a:t>
            </a:r>
            <a:r>
              <a:rPr lang="pt-BR" sz="2800" i="1" dirty="0" err="1" smtClean="0">
                <a:solidFill>
                  <a:schemeClr val="tx1"/>
                </a:solidFill>
              </a:rPr>
              <a:t>the</a:t>
            </a:r>
            <a:r>
              <a:rPr lang="pt-BR" sz="2800" i="1" dirty="0" smtClean="0">
                <a:solidFill>
                  <a:schemeClr val="tx1"/>
                </a:solidFill>
              </a:rPr>
              <a:t> </a:t>
            </a:r>
            <a:r>
              <a:rPr lang="pt-BR" sz="2800" i="1" dirty="0" err="1" smtClean="0">
                <a:solidFill>
                  <a:schemeClr val="tx1"/>
                </a:solidFill>
              </a:rPr>
              <a:t>fly</a:t>
            </a:r>
            <a:r>
              <a:rPr lang="pt-BR" sz="2800" i="1" dirty="0" smtClean="0">
                <a:solidFill>
                  <a:schemeClr val="tx1"/>
                </a:solidFill>
              </a:rPr>
              <a:t>”</a:t>
            </a:r>
          </a:p>
          <a:p>
            <a:pPr marL="571500" indent="-571500" eaLnBrk="1" hangingPunct="1">
              <a:buFont typeface="Wingdings" pitchFamily="2" charset="2"/>
              <a:buChar char="Ø"/>
            </a:pPr>
            <a:r>
              <a:rPr lang="pt-BR" sz="2800" dirty="0" smtClean="0">
                <a:solidFill>
                  <a:schemeClr val="tx1"/>
                </a:solidFill>
              </a:rPr>
              <a:t>Documentação dos rituais e processos para garantir integridade e continuidade do trabalho</a:t>
            </a:r>
          </a:p>
        </p:txBody>
      </p:sp>
    </p:spTree>
    <p:extLst>
      <p:ext uri="{BB962C8B-B14F-4D97-AF65-F5344CB8AC3E}">
        <p14:creationId xmlns:p14="http://schemas.microsoft.com/office/powerpoint/2010/main" val="3885974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amp"/>
  <p:tag name="DATE" val="14/3/2007 15:50:3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StpConnector"/>
  <p:tag name="DATE" val="14/3/2007 15:50:3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TYLE" val="AcnFootnote"/>
  <p:tag name="DATE" val="5/8/2009 7:25:30 PM"/>
</p:tagLst>
</file>

<file path=ppt/theme/theme1.xml><?xml version="1.0" encoding="utf-8"?>
<a:theme xmlns:a="http://schemas.openxmlformats.org/drawingml/2006/main" name="40_6096">
  <a:themeElements>
    <a:clrScheme name="6096 5">
      <a:dk1>
        <a:srgbClr val="000000"/>
      </a:dk1>
      <a:lt1>
        <a:srgbClr val="B2B2B2"/>
      </a:lt1>
      <a:dk2>
        <a:srgbClr val="000000"/>
      </a:dk2>
      <a:lt2>
        <a:srgbClr val="969696"/>
      </a:lt2>
      <a:accent1>
        <a:srgbClr val="006699"/>
      </a:accent1>
      <a:accent2>
        <a:srgbClr val="FF6600"/>
      </a:accent2>
      <a:accent3>
        <a:srgbClr val="D5D5D5"/>
      </a:accent3>
      <a:accent4>
        <a:srgbClr val="000000"/>
      </a:accent4>
      <a:accent5>
        <a:srgbClr val="AAB8CA"/>
      </a:accent5>
      <a:accent6>
        <a:srgbClr val="E75C00"/>
      </a:accent6>
      <a:hlink>
        <a:srgbClr val="663399"/>
      </a:hlink>
      <a:folHlink>
        <a:srgbClr val="FF0000"/>
      </a:folHlink>
    </a:clrScheme>
    <a:fontScheme name="609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17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45720" tIns="54864" rIns="0" bIns="54864" numCol="1" anchor="ctr" anchorCtr="0" compatLnSpc="1">
        <a:prstTxWarp prst="textNoShape">
          <a:avLst/>
        </a:prstTxWarp>
      </a:bodyPr>
      <a:lstStyle>
        <a:defPPr marL="0" marR="0" indent="0" algn="l" defTabSz="895350" rtl="0" eaLnBrk="0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Tx/>
          <a:buNone/>
          <a:tabLst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6096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2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006699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3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336633"/>
        </a:accent1>
        <a:accent2>
          <a:srgbClr val="336666"/>
        </a:accent2>
        <a:accent3>
          <a:srgbClr val="FFFFFF"/>
        </a:accent3>
        <a:accent4>
          <a:srgbClr val="000000"/>
        </a:accent4>
        <a:accent5>
          <a:srgbClr val="ADB8AD"/>
        </a:accent5>
        <a:accent6>
          <a:srgbClr val="2D5C5C"/>
        </a:accent6>
        <a:hlink>
          <a:srgbClr val="990033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4">
        <a:dk1>
          <a:srgbClr val="000000"/>
        </a:dk1>
        <a:lt1>
          <a:srgbClr val="FFFFFF"/>
        </a:lt1>
        <a:dk2>
          <a:srgbClr val="F8F8F8"/>
        </a:dk2>
        <a:lt2>
          <a:srgbClr val="C0C0C0"/>
        </a:lt2>
        <a:accent1>
          <a:srgbClr val="CCCC33"/>
        </a:accent1>
        <a:accent2>
          <a:srgbClr val="66CC00"/>
        </a:accent2>
        <a:accent3>
          <a:srgbClr val="FFFFFF"/>
        </a:accent3>
        <a:accent4>
          <a:srgbClr val="000000"/>
        </a:accent4>
        <a:accent5>
          <a:srgbClr val="E2E2AD"/>
        </a:accent5>
        <a:accent6>
          <a:srgbClr val="5CB900"/>
        </a:accent6>
        <a:hlink>
          <a:srgbClr val="0099CC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096 5">
        <a:dk1>
          <a:srgbClr val="000000"/>
        </a:dk1>
        <a:lt1>
          <a:srgbClr val="B2B2B2"/>
        </a:lt1>
        <a:dk2>
          <a:srgbClr val="000000"/>
        </a:dk2>
        <a:lt2>
          <a:srgbClr val="969696"/>
        </a:lt2>
        <a:accent1>
          <a:srgbClr val="006699"/>
        </a:accent1>
        <a:accent2>
          <a:srgbClr val="FF6600"/>
        </a:accent2>
        <a:accent3>
          <a:srgbClr val="D5D5D5"/>
        </a:accent3>
        <a:accent4>
          <a:srgbClr val="000000"/>
        </a:accent4>
        <a:accent5>
          <a:srgbClr val="AAB8CA"/>
        </a:accent5>
        <a:accent6>
          <a:srgbClr val="E75C00"/>
        </a:accent6>
        <a:hlink>
          <a:srgbClr val="663399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ListForm</Display>
  <Edit>ListForm</Edit>
  <New>ListForm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Pasta" ma:contentTypeID="0x012000BAA5ED8EE6388645B769626151DBEE91" ma:contentTypeVersion="0" ma:contentTypeDescription="Crie uma nova pasta." ma:contentTypeScope="" ma:versionID="c362ef125ec5f6e96bd642d33998fa8a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9ceae06c93b83b44ce5ec9c260e78d74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ItemChildCount" minOccurs="0"/>
                <xsd:element ref="ns1:FolderChild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ItemChildCount" ma:index="3" nillable="true" ma:displayName="Contagem de Itens Filhos" ma:hidden="true" ma:list="Docs" ma:internalName="ItemChildCount" ma:readOnly="true" ma:showField="ItemChildCount">
      <xsd:simpleType>
        <xsd:restriction base="dms:Lookup"/>
      </xsd:simpleType>
    </xsd:element>
    <xsd:element name="FolderChildCount" ma:index="4" nillable="true" ma:displayName="Contagem de Elementos Filho da Pasta" ma:hidden="true" ma:list="Docs" ma:internalName="FolderChildCount" ma:readOnly="true" ma:showField="FolderChildCount">
      <xsd:simpleType>
        <xsd:restriction base="dms:Lookup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9B8FB9-CA55-4FE3-979B-7DC49693F7E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5BCBDA6-2E36-4CB7-B64B-EBB9C7049DE9}">
  <ds:schemaRefs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schemas.microsoft.com/sharepoint/v3"/>
    <ds:schemaRef ds:uri="http://purl.org/dc/dcmitype/"/>
    <ds:schemaRef ds:uri="http://purl.org/dc/elements/1.1/"/>
    <ds:schemaRef ds:uri="http://www.w3.org/XML/1998/namespace"/>
    <ds:schemaRef ds:uri="http://schemas.microsoft.com/office/infopath/2007/PartnerControl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7C9E1019-BF80-48D8-AEA7-3A4187FBED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46715</TotalTime>
  <Words>336</Words>
  <Application>Microsoft Office PowerPoint</Application>
  <PresentationFormat>Personalizar</PresentationFormat>
  <Paragraphs>84</Paragraphs>
  <Slides>5</Slides>
  <Notes>5</Notes>
  <HiddenSlides>0</HiddenSlides>
  <MMClips>0</MMClips>
  <ScaleCrop>false</ScaleCrop>
  <HeadingPairs>
    <vt:vector size="6" baseType="variant">
      <vt:variant>
        <vt:lpstr>Tema</vt:lpstr>
      </vt:variant>
      <vt:variant>
        <vt:i4>1</vt:i4>
      </vt:variant>
      <vt:variant>
        <vt:lpstr>Servidores OLE incorporados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40_6096</vt:lpstr>
      <vt:lpstr>Planilha do Microsoft Excel</vt:lpstr>
      <vt:lpstr>Incidente &amp; Indicadores - OIs</vt:lpstr>
      <vt:lpstr>Lista de GAPs</vt:lpstr>
      <vt:lpstr>Plano de Ação – Incidentes &amp; Indicadores OIs</vt:lpstr>
      <vt:lpstr>Lista de Relatórios Operacionais que serão disponibilizados para as OIs</vt:lpstr>
      <vt:lpstr>Plano de Ação – Ways of Working</vt:lpstr>
    </vt:vector>
  </TitlesOfParts>
  <Company>Natura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BR92449</dc:creator>
  <cp:lastModifiedBy>br93826</cp:lastModifiedBy>
  <cp:revision>2772</cp:revision>
  <cp:lastPrinted>2014-05-15T19:48:27Z</cp:lastPrinted>
  <dcterms:created xsi:type="dcterms:W3CDTF">2013-06-28T13:33:22Z</dcterms:created>
  <dcterms:modified xsi:type="dcterms:W3CDTF">2015-06-02T20:17:05Z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0x012000BAA5ED8EE6388645B769626151DBEE91</vt:lpwstr>
  </property>
</Properties>
</file>