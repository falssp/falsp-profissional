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07" autoAdjust="0"/>
    <p:restoredTop sz="94660"/>
  </p:normalViewPr>
  <p:slideViewPr>
    <p:cSldViewPr snapToGrid="0">
      <p:cViewPr varScale="1">
        <p:scale>
          <a:sx n="76" d="100"/>
          <a:sy n="76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9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19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09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5834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91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90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31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99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14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71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19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4AEB6-8221-4248-BF00-843388EBE327}" type="datetimeFigureOut">
              <a:rPr lang="pt-BR" smtClean="0"/>
              <a:t>15/07/2015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47A11-500C-4C0B-9D23-995BE03A7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44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4968940" y="5501927"/>
            <a:ext cx="1847519" cy="120932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endParaRPr lang="pt-BR" dirty="0">
              <a:solidFill>
                <a:schemeClr val="tx1"/>
              </a:solidFill>
              <a:latin typeface="Gill Sans Std" pitchFamily="34" charset="0"/>
            </a:endParaRPr>
          </a:p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visão segmentada de TD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Retângulo de cantos arredondados 2"/>
          <p:cNvSpPr/>
          <p:nvPr/>
        </p:nvSpPr>
        <p:spPr>
          <a:xfrm>
            <a:off x="7395611" y="5499996"/>
            <a:ext cx="2079115" cy="123198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falta de dono e indefinição de papéis e responsabilidades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385707" y="2201737"/>
            <a:ext cx="1820438" cy="11866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corrupção do processo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9531730" y="4117906"/>
            <a:ext cx="2109569" cy="13070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Gill Sans Std" pitchFamily="34" charset="0"/>
              </a:rPr>
              <a:t>Processos mal definidos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2604918" y="5512604"/>
            <a:ext cx="1780278" cy="113816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conflitos entre áreas e com o negócios</a:t>
            </a:r>
          </a:p>
        </p:txBody>
      </p:sp>
      <p:sp>
        <p:nvSpPr>
          <p:cNvPr id="8" name="Retângulo de cantos arredondados 7"/>
          <p:cNvSpPr/>
          <p:nvPr/>
        </p:nvSpPr>
        <p:spPr>
          <a:xfrm>
            <a:off x="1178752" y="620370"/>
            <a:ext cx="1820438" cy="12165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atuação segmentada</a:t>
            </a:r>
          </a:p>
        </p:txBody>
      </p:sp>
      <p:sp>
        <p:nvSpPr>
          <p:cNvPr id="10" name="Retângulo de cantos arredondados 9"/>
          <p:cNvSpPr/>
          <p:nvPr/>
        </p:nvSpPr>
        <p:spPr>
          <a:xfrm>
            <a:off x="8805642" y="620370"/>
            <a:ext cx="2181967" cy="117817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falta apropriação do processo e responsabilidades/ aversão ao processo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3636546" y="216656"/>
            <a:ext cx="1820438" cy="12093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falta de confiança na execução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188045" y="216656"/>
            <a:ext cx="1886536" cy="12093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falta de planejamento integral da entrega</a:t>
            </a: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4968940" y="2843336"/>
            <a:ext cx="1944315" cy="127457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 Capacitação</a:t>
            </a:r>
          </a:p>
          <a:p>
            <a:pPr algn="ctr"/>
            <a:r>
              <a:rPr lang="pt-BR" dirty="0" err="1" smtClean="0">
                <a:solidFill>
                  <a:schemeClr val="tx1"/>
                </a:solidFill>
                <a:latin typeface="Gill Sans Std" pitchFamily="34" charset="0"/>
              </a:rPr>
              <a:t>Treinanento</a:t>
            </a:r>
            <a:endParaRPr lang="pt-BR" dirty="0" smtClean="0">
              <a:solidFill>
                <a:schemeClr val="tx1"/>
              </a:solidFill>
              <a:latin typeface="Gill Sans Std" pitchFamily="34" charset="0"/>
            </a:endParaRPr>
          </a:p>
          <a:p>
            <a:pPr algn="ctr"/>
            <a:r>
              <a:rPr lang="pt-BR" dirty="0">
                <a:solidFill>
                  <a:schemeClr val="tx1"/>
                </a:solidFill>
                <a:latin typeface="Gill Sans Std" pitchFamily="34" charset="0"/>
              </a:rPr>
              <a:t>e</a:t>
            </a:r>
            <a:endParaRPr lang="pt-BR" dirty="0" smtClean="0">
              <a:solidFill>
                <a:schemeClr val="tx1"/>
              </a:solidFill>
              <a:latin typeface="Gill Sans Std" pitchFamily="34" charset="0"/>
            </a:endParaRPr>
          </a:p>
          <a:p>
            <a:pPr algn="ctr"/>
            <a:r>
              <a:rPr lang="pt-BR" dirty="0" smtClean="0">
                <a:solidFill>
                  <a:schemeClr val="tx1"/>
                </a:solidFill>
                <a:latin typeface="Gill Sans Std" pitchFamily="34" charset="0"/>
              </a:rPr>
              <a:t>Divulgação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495349" y="4117906"/>
            <a:ext cx="2109569" cy="125223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Entregas de Baixa Qualidade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9531730" y="2201737"/>
            <a:ext cx="2158780" cy="129980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pt-BR" sz="1600" dirty="0" smtClean="0">
                <a:solidFill>
                  <a:schemeClr val="tx1"/>
                </a:solidFill>
              </a:rPr>
              <a:t>dificuldade de entendimento dos processos/percepção que o processo é burocrático</a:t>
            </a: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33" name="Seta em curva para a esquerda 32"/>
          <p:cNvSpPr/>
          <p:nvPr/>
        </p:nvSpPr>
        <p:spPr>
          <a:xfrm rot="16200000">
            <a:off x="6805075" y="3917666"/>
            <a:ext cx="594892" cy="241964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4" name="Seta em curva para baixo 33"/>
          <p:cNvSpPr/>
          <p:nvPr/>
        </p:nvSpPr>
        <p:spPr>
          <a:xfrm rot="8486476">
            <a:off x="2449454" y="2145511"/>
            <a:ext cx="2592200" cy="754739"/>
          </a:xfrm>
          <a:prstGeom prst="curvedDownArrow">
            <a:avLst>
              <a:gd name="adj1" fmla="val 22478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5" name="Seta em curva para baixo 34"/>
          <p:cNvSpPr/>
          <p:nvPr/>
        </p:nvSpPr>
        <p:spPr>
          <a:xfrm rot="16527591">
            <a:off x="8523589" y="3647513"/>
            <a:ext cx="1365811" cy="425172"/>
          </a:xfrm>
          <a:prstGeom prst="curvedDownArrow">
            <a:avLst>
              <a:gd name="adj1" fmla="val 22478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Seta em curva para baixo 35"/>
          <p:cNvSpPr/>
          <p:nvPr/>
        </p:nvSpPr>
        <p:spPr>
          <a:xfrm rot="14896903">
            <a:off x="8494962" y="2292140"/>
            <a:ext cx="1217375" cy="466511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7" name="Seta em curva para baixo 36"/>
          <p:cNvSpPr/>
          <p:nvPr/>
        </p:nvSpPr>
        <p:spPr>
          <a:xfrm rot="11419129">
            <a:off x="7184793" y="1626019"/>
            <a:ext cx="1655607" cy="466511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8" name="Seta em curva para baixo 37"/>
          <p:cNvSpPr/>
          <p:nvPr/>
        </p:nvSpPr>
        <p:spPr>
          <a:xfrm rot="10800000">
            <a:off x="4903879" y="1494627"/>
            <a:ext cx="2009376" cy="514815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9" name="Seta em curva para baixo 38"/>
          <p:cNvSpPr/>
          <p:nvPr/>
        </p:nvSpPr>
        <p:spPr>
          <a:xfrm rot="9872602">
            <a:off x="3003724" y="1669912"/>
            <a:ext cx="1471319" cy="544997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0" name="Seta em curva para baixo 39"/>
          <p:cNvSpPr/>
          <p:nvPr/>
        </p:nvSpPr>
        <p:spPr>
          <a:xfrm rot="7625960">
            <a:off x="2144592" y="2251572"/>
            <a:ext cx="1158567" cy="514815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1" name="Seta em curva para baixo 40"/>
          <p:cNvSpPr/>
          <p:nvPr/>
        </p:nvSpPr>
        <p:spPr>
          <a:xfrm rot="4757383">
            <a:off x="1709421" y="3598412"/>
            <a:ext cx="2009376" cy="514815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2" name="Seta em curva para baixo 41"/>
          <p:cNvSpPr/>
          <p:nvPr/>
        </p:nvSpPr>
        <p:spPr>
          <a:xfrm>
            <a:off x="3417608" y="4900197"/>
            <a:ext cx="2511408" cy="514815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3" name="Seta em curva para baixo 42"/>
          <p:cNvSpPr/>
          <p:nvPr/>
        </p:nvSpPr>
        <p:spPr>
          <a:xfrm rot="2376633">
            <a:off x="2705772" y="4886759"/>
            <a:ext cx="863791" cy="381694"/>
          </a:xfrm>
          <a:prstGeom prst="curvedDownArrow">
            <a:avLst>
              <a:gd name="adj1" fmla="val 22478"/>
              <a:gd name="adj2" fmla="val 5364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5" name="Seta para a direita 44"/>
          <p:cNvSpPr/>
          <p:nvPr/>
        </p:nvSpPr>
        <p:spPr>
          <a:xfrm rot="21195115">
            <a:off x="6982274" y="3241868"/>
            <a:ext cx="2389930" cy="1106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Seta em curva para baixo 45"/>
          <p:cNvSpPr/>
          <p:nvPr/>
        </p:nvSpPr>
        <p:spPr>
          <a:xfrm rot="10800000">
            <a:off x="6262677" y="6492091"/>
            <a:ext cx="1301155" cy="296157"/>
          </a:xfrm>
          <a:prstGeom prst="curvedDownArrow">
            <a:avLst>
              <a:gd name="adj1" fmla="val 22478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7" name="Seta em curva para baixo 46"/>
          <p:cNvSpPr/>
          <p:nvPr/>
        </p:nvSpPr>
        <p:spPr>
          <a:xfrm rot="5400000">
            <a:off x="8946461" y="3521344"/>
            <a:ext cx="5295538" cy="710187"/>
          </a:xfrm>
          <a:prstGeom prst="curvedDownArrow">
            <a:avLst>
              <a:gd name="adj1" fmla="val 22478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8" name="Seta em curva para baixo 47"/>
          <p:cNvSpPr/>
          <p:nvPr/>
        </p:nvSpPr>
        <p:spPr>
          <a:xfrm rot="20130973">
            <a:off x="8344701" y="4876033"/>
            <a:ext cx="1301155" cy="499469"/>
          </a:xfrm>
          <a:prstGeom prst="curvedDownArrow">
            <a:avLst>
              <a:gd name="adj1" fmla="val 22478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9" name="Seta em curva para baixo 48"/>
          <p:cNvSpPr/>
          <p:nvPr/>
        </p:nvSpPr>
        <p:spPr>
          <a:xfrm rot="15231192">
            <a:off x="-1766411" y="3253311"/>
            <a:ext cx="5618660" cy="1819938"/>
          </a:xfrm>
          <a:prstGeom prst="curvedDownArrow">
            <a:avLst>
              <a:gd name="adj1" fmla="val 12423"/>
              <a:gd name="adj2" fmla="val 19543"/>
              <a:gd name="adj3" fmla="val 210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0" name="Seta em curva para baixo 49"/>
          <p:cNvSpPr/>
          <p:nvPr/>
        </p:nvSpPr>
        <p:spPr>
          <a:xfrm rot="10800000">
            <a:off x="4102232" y="6474128"/>
            <a:ext cx="1301155" cy="314120"/>
          </a:xfrm>
          <a:prstGeom prst="curvedDownArrow">
            <a:avLst>
              <a:gd name="adj1" fmla="val 22478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2" name="Seta para a direita 51"/>
          <p:cNvSpPr/>
          <p:nvPr/>
        </p:nvSpPr>
        <p:spPr>
          <a:xfrm rot="14419764">
            <a:off x="4375577" y="2065393"/>
            <a:ext cx="1516743" cy="1290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Seta para a direita 52"/>
          <p:cNvSpPr/>
          <p:nvPr/>
        </p:nvSpPr>
        <p:spPr>
          <a:xfrm rot="9122214" flipV="1">
            <a:off x="2896103" y="4051233"/>
            <a:ext cx="2125139" cy="89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12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de cantos arredondados 25"/>
          <p:cNvSpPr/>
          <p:nvPr/>
        </p:nvSpPr>
        <p:spPr>
          <a:xfrm>
            <a:off x="301128" y="265810"/>
            <a:ext cx="1820438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rgbClr val="00B050"/>
                </a:solidFill>
                <a:latin typeface="Gill Sans Std" pitchFamily="34" charset="0"/>
              </a:rPr>
              <a:t>corrupção do processo</a:t>
            </a:r>
          </a:p>
        </p:txBody>
      </p:sp>
      <p:sp>
        <p:nvSpPr>
          <p:cNvPr id="56" name="Retângulo 55"/>
          <p:cNvSpPr/>
          <p:nvPr/>
        </p:nvSpPr>
        <p:spPr>
          <a:xfrm>
            <a:off x="301128" y="21180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“Os processos foram validados dentro das áreas, mas não nos fóruns de melhoria”</a:t>
            </a:r>
            <a:endParaRPr lang="pt-BR" dirty="0"/>
          </a:p>
        </p:txBody>
      </p:sp>
      <p:sp>
        <p:nvSpPr>
          <p:cNvPr id="60" name="Retângulo 59"/>
          <p:cNvSpPr/>
          <p:nvPr/>
        </p:nvSpPr>
        <p:spPr>
          <a:xfrm>
            <a:off x="301128" y="3210273"/>
            <a:ext cx="3123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 gente peca muito no básico”</a:t>
            </a:r>
            <a:endParaRPr lang="pt-BR" dirty="0"/>
          </a:p>
        </p:txBody>
      </p:sp>
      <p:sp>
        <p:nvSpPr>
          <p:cNvPr id="61" name="Retângulo 60"/>
          <p:cNvSpPr/>
          <p:nvPr/>
        </p:nvSpPr>
        <p:spPr>
          <a:xfrm>
            <a:off x="301128" y="2802646"/>
            <a:ext cx="4031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“As pessoas não atualizam os resultados”</a:t>
            </a:r>
            <a:endParaRPr lang="pt-BR" dirty="0"/>
          </a:p>
        </p:txBody>
      </p:sp>
      <p:sp>
        <p:nvSpPr>
          <p:cNvPr id="62" name="Retângulo 61"/>
          <p:cNvSpPr/>
          <p:nvPr/>
        </p:nvSpPr>
        <p:spPr>
          <a:xfrm>
            <a:off x="301128" y="14333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“São raros os casos que conseguimos entregar de forma correta.”</a:t>
            </a:r>
            <a:endParaRPr lang="pt-BR" dirty="0"/>
          </a:p>
        </p:txBody>
      </p:sp>
      <p:sp>
        <p:nvSpPr>
          <p:cNvPr id="64" name="Retângulo 63"/>
          <p:cNvSpPr/>
          <p:nvPr/>
        </p:nvSpPr>
        <p:spPr>
          <a:xfrm>
            <a:off x="202295" y="5473013"/>
            <a:ext cx="5546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“Não fazemos discussões técnicas dentro da companhia.”</a:t>
            </a:r>
            <a:endParaRPr lang="pt-BR" dirty="0"/>
          </a:p>
        </p:txBody>
      </p:sp>
      <p:sp>
        <p:nvSpPr>
          <p:cNvPr id="65" name="Retângulo 64"/>
          <p:cNvSpPr/>
          <p:nvPr/>
        </p:nvSpPr>
        <p:spPr>
          <a:xfrm>
            <a:off x="2121566" y="6936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 gente tem que provar que não está com problemas.”</a:t>
            </a:r>
          </a:p>
          <a:p>
            <a:r>
              <a:rPr lang="pt-BR" dirty="0" smtClean="0"/>
              <a:t>“Reconhece muito pouco nosso time.”</a:t>
            </a:r>
            <a:endParaRPr lang="pt-BR" dirty="0"/>
          </a:p>
        </p:txBody>
      </p:sp>
      <p:sp>
        <p:nvSpPr>
          <p:cNvPr id="66" name="Retângulo 65"/>
          <p:cNvSpPr/>
          <p:nvPr/>
        </p:nvSpPr>
        <p:spPr>
          <a:xfrm>
            <a:off x="297456" y="3617900"/>
            <a:ext cx="3796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 gente entrega produção sem teste.”</a:t>
            </a:r>
            <a:endParaRPr lang="pt-BR" dirty="0"/>
          </a:p>
        </p:txBody>
      </p:sp>
      <p:sp>
        <p:nvSpPr>
          <p:cNvPr id="67" name="Retângulo 66"/>
          <p:cNvSpPr/>
          <p:nvPr/>
        </p:nvSpPr>
        <p:spPr>
          <a:xfrm>
            <a:off x="3949899" y="3244334"/>
            <a:ext cx="4292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 gente não executa o que planeja.” &gt; Foco</a:t>
            </a:r>
            <a:endParaRPr lang="pt-BR" dirty="0"/>
          </a:p>
        </p:txBody>
      </p:sp>
      <p:sp>
        <p:nvSpPr>
          <p:cNvPr id="68" name="Retângulo 67"/>
          <p:cNvSpPr/>
          <p:nvPr/>
        </p:nvSpPr>
        <p:spPr>
          <a:xfrm>
            <a:off x="6397128" y="914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 processo do Metrô contempla, mas não atende.” &gt; Descolamento do Metrô &gt; “Ou muda ou pratica o processo.”</a:t>
            </a:r>
            <a:endParaRPr lang="pt-BR" dirty="0"/>
          </a:p>
        </p:txBody>
      </p:sp>
      <p:sp>
        <p:nvSpPr>
          <p:cNvPr id="69" name="Retângulo 68"/>
          <p:cNvSpPr/>
          <p:nvPr/>
        </p:nvSpPr>
        <p:spPr>
          <a:xfrm>
            <a:off x="4391863" y="2873138"/>
            <a:ext cx="5369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Metrô – “Algo fantástico, mas não são 100% utilizados”.</a:t>
            </a:r>
            <a:endParaRPr lang="pt-BR" dirty="0"/>
          </a:p>
        </p:txBody>
      </p:sp>
      <p:sp>
        <p:nvSpPr>
          <p:cNvPr id="70" name="Retângulo 69"/>
          <p:cNvSpPr/>
          <p:nvPr/>
        </p:nvSpPr>
        <p:spPr>
          <a:xfrm>
            <a:off x="6096000" y="15704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“Todas as </a:t>
            </a:r>
            <a:r>
              <a:rPr lang="pt-BR" dirty="0" err="1" smtClean="0"/>
              <a:t>SMs</a:t>
            </a:r>
            <a:r>
              <a:rPr lang="pt-BR" dirty="0" smtClean="0"/>
              <a:t> tem que ser implorada para ser aprovadas.” &gt; Vêm dos últimos três anos</a:t>
            </a:r>
            <a:endParaRPr lang="pt-BR" dirty="0"/>
          </a:p>
        </p:txBody>
      </p:sp>
      <p:sp>
        <p:nvSpPr>
          <p:cNvPr id="71" name="Retângulo 70"/>
          <p:cNvSpPr/>
          <p:nvPr/>
        </p:nvSpPr>
        <p:spPr>
          <a:xfrm>
            <a:off x="297456" y="419424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 BES virou colapso porque saiu da HP para a Natura sem processos técnicos.”</a:t>
            </a:r>
            <a:endParaRPr lang="pt-BR" dirty="0"/>
          </a:p>
        </p:txBody>
      </p:sp>
      <p:sp>
        <p:nvSpPr>
          <p:cNvPr id="72" name="Retângulo 71"/>
          <p:cNvSpPr/>
          <p:nvPr/>
        </p:nvSpPr>
        <p:spPr>
          <a:xfrm>
            <a:off x="8575336" y="5299542"/>
            <a:ext cx="3519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“Não temos equalizador de CMDB.”</a:t>
            </a:r>
            <a:endParaRPr lang="pt-BR" dirty="0"/>
          </a:p>
        </p:txBody>
      </p:sp>
      <p:sp>
        <p:nvSpPr>
          <p:cNvPr id="73" name="Retângulo 72"/>
          <p:cNvSpPr/>
          <p:nvPr/>
        </p:nvSpPr>
        <p:spPr>
          <a:xfrm>
            <a:off x="6439253" y="2330201"/>
            <a:ext cx="5409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 gente se engana mostrando números de problemas.”</a:t>
            </a:r>
            <a:endParaRPr lang="pt-BR" dirty="0"/>
          </a:p>
        </p:txBody>
      </p:sp>
      <p:sp>
        <p:nvSpPr>
          <p:cNvPr id="74" name="Retângulo 73"/>
          <p:cNvSpPr/>
          <p:nvPr/>
        </p:nvSpPr>
        <p:spPr>
          <a:xfrm>
            <a:off x="5719837" y="354791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“Não temos estrutura para atender as </a:t>
            </a:r>
            <a:r>
              <a:rPr lang="pt-BR" dirty="0" err="1" smtClean="0"/>
              <a:t>CNs</a:t>
            </a:r>
            <a:r>
              <a:rPr lang="pt-BR" dirty="0" smtClean="0"/>
              <a:t> internamente.” &gt; Sistema de </a:t>
            </a:r>
            <a:r>
              <a:rPr lang="pt-BR" dirty="0" err="1" smtClean="0"/>
              <a:t>call</a:t>
            </a:r>
            <a:r>
              <a:rPr lang="pt-BR" dirty="0" smtClean="0"/>
              <a:t> center</a:t>
            </a:r>
            <a:endParaRPr lang="pt-BR" dirty="0"/>
          </a:p>
        </p:txBody>
      </p:sp>
      <p:sp>
        <p:nvSpPr>
          <p:cNvPr id="76" name="Retângulo 75"/>
          <p:cNvSpPr/>
          <p:nvPr/>
        </p:nvSpPr>
        <p:spPr>
          <a:xfrm>
            <a:off x="6095999" y="4194249"/>
            <a:ext cx="585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“Meu time perde dois dias para fazer indicadores semanais.”</a:t>
            </a:r>
            <a:endParaRPr lang="pt-BR" dirty="0"/>
          </a:p>
        </p:txBody>
      </p:sp>
      <p:sp>
        <p:nvSpPr>
          <p:cNvPr id="77" name="Retângulo 76"/>
          <p:cNvSpPr/>
          <p:nvPr/>
        </p:nvSpPr>
        <p:spPr>
          <a:xfrm>
            <a:off x="188411" y="4858369"/>
            <a:ext cx="11825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Metrô &gt; “Foi uma excelente inciativa com engajamento, mas precisamos de um novo modelo ou novo conceito. Precisamos de muitos ajustes. Praticamente ninguém segue os processos.”</a:t>
            </a:r>
            <a:endParaRPr lang="pt-BR" dirty="0"/>
          </a:p>
        </p:txBody>
      </p:sp>
      <p:sp>
        <p:nvSpPr>
          <p:cNvPr id="78" name="Retângulo 77"/>
          <p:cNvSpPr/>
          <p:nvPr/>
        </p:nvSpPr>
        <p:spPr>
          <a:xfrm>
            <a:off x="6358746" y="586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 CA não está muito bem aproveitado.” &gt; Atropelamento na entrada</a:t>
            </a:r>
            <a:endParaRPr lang="pt-BR" dirty="0"/>
          </a:p>
        </p:txBody>
      </p:sp>
      <p:sp>
        <p:nvSpPr>
          <p:cNvPr id="79" name="Retângulo 78"/>
          <p:cNvSpPr/>
          <p:nvPr/>
        </p:nvSpPr>
        <p:spPr>
          <a:xfrm>
            <a:off x="2396004" y="0"/>
            <a:ext cx="37266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“Se não tem resposta e ninguém é punido por nada...”</a:t>
            </a:r>
            <a:endParaRPr lang="pt-BR" dirty="0"/>
          </a:p>
        </p:txBody>
      </p:sp>
      <p:sp>
        <p:nvSpPr>
          <p:cNvPr id="80" name="Retângulo 79"/>
          <p:cNvSpPr/>
          <p:nvPr/>
        </p:nvSpPr>
        <p:spPr>
          <a:xfrm>
            <a:off x="6439253" y="569362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 rede informal é mais efetiva que o processo” &gt; Elefante branco</a:t>
            </a:r>
            <a:endParaRPr lang="pt-BR" dirty="0"/>
          </a:p>
        </p:txBody>
      </p:sp>
      <p:sp>
        <p:nvSpPr>
          <p:cNvPr id="81" name="Retângulo 80"/>
          <p:cNvSpPr/>
          <p:nvPr/>
        </p:nvSpPr>
        <p:spPr>
          <a:xfrm>
            <a:off x="202295" y="58485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“As pessoas mudam e levam o conhecimento.” “As que chegam implantam o seu processo. Não procuram os ritos da Natura.”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596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180431" y="236404"/>
            <a:ext cx="2109569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>
                <a:solidFill>
                  <a:srgbClr val="00B050"/>
                </a:solidFill>
              </a:rPr>
              <a:t>P</a:t>
            </a:r>
            <a:r>
              <a:rPr lang="pt-BR" dirty="0" smtClean="0">
                <a:solidFill>
                  <a:srgbClr val="00B050"/>
                </a:solidFill>
              </a:rPr>
              <a:t>rocessos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0" y="1304876"/>
            <a:ext cx="5675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“Documentação a gente tem, mas não sei se está didática”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0" y="1628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“Ele é muito como um quadro, mas gera burocracia, pois as pessoas não seguem.” &gt; Metrô &gt; Difícil fazer ele funcionar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2412797" y="236404"/>
            <a:ext cx="5925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“Temos uma série de documentos, mas eles são superficiais.”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2511169" y="616251"/>
            <a:ext cx="3765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“Navegar nas documentações é ruim.”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6869105" y="695514"/>
            <a:ext cx="4494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“Precisa estruturar a base para poder evoluir.”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2412797" y="982357"/>
            <a:ext cx="310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“Não há governança para isso.”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869105" y="101196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“Processo é algo mais importante para fazer gestão.” &gt; Acontece na Natura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0" y="227437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“Processo não pode simples ou complexo! Precisa-se encontrar o equilíbrio.”</a:t>
            </a:r>
          </a:p>
          <a:p>
            <a:r>
              <a:rPr lang="pt-BR" dirty="0" smtClean="0"/>
              <a:t>“A Natura vivenciava processo de provedores devido a contratos.”</a:t>
            </a:r>
          </a:p>
          <a:p>
            <a:r>
              <a:rPr lang="pt-BR" dirty="0" smtClean="0"/>
              <a:t>“Temos um cenário ‘pós-apolítico’, mas demos passos importantes, isso sem contar o lado financeiro.”</a:t>
            </a:r>
          </a:p>
          <a:p>
            <a:r>
              <a:rPr lang="pt-BR" dirty="0" smtClean="0"/>
              <a:t>“Hoje em dia temos reuniões quinzenais onde são notórias as evoluções absurdas que fizemos.”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5860473" y="158574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“Fazemos pouca analise em cima de indicador, mas elaboramos muitos.”</a:t>
            </a:r>
            <a:endParaRPr lang="pt-BR" dirty="0"/>
          </a:p>
        </p:txBody>
      </p:sp>
      <p:sp>
        <p:nvSpPr>
          <p:cNvPr id="15" name="Retângulo 14"/>
          <p:cNvSpPr/>
          <p:nvPr/>
        </p:nvSpPr>
        <p:spPr>
          <a:xfrm>
            <a:off x="6453936" y="2274372"/>
            <a:ext cx="4604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“Não temos indicador de SLA de atendimento.”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6276431" y="2752979"/>
            <a:ext cx="5625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“Estamos evoluindo no processo de gestão de mudanças.”</a:t>
            </a:r>
            <a:endParaRPr lang="pt-BR" dirty="0"/>
          </a:p>
        </p:txBody>
      </p:sp>
      <p:sp>
        <p:nvSpPr>
          <p:cNvPr id="17" name="Retângulo 16"/>
          <p:cNvSpPr/>
          <p:nvPr/>
        </p:nvSpPr>
        <p:spPr>
          <a:xfrm>
            <a:off x="5515313" y="32120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“Precisamos de pessoas capacidades para fazer as analises dos processos.”</a:t>
            </a:r>
            <a:endParaRPr lang="pt-BR" dirty="0"/>
          </a:p>
        </p:txBody>
      </p:sp>
      <p:sp>
        <p:nvSpPr>
          <p:cNvPr id="18" name="Retângulo 17"/>
          <p:cNvSpPr/>
          <p:nvPr/>
        </p:nvSpPr>
        <p:spPr>
          <a:xfrm>
            <a:off x="-44313" y="4617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“Se localizar algo equivocado ‘em cima’ da hora fica a pergunta: O que fazemos? Resposta: Derruba-se a SM.”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0" y="52824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“Processos quantitativos e não qualitativos.” &gt; Precisamos evoluir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6083525" y="3877313"/>
            <a:ext cx="6011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“Todas as torres tem indicadores operacionais.” &gt; Daily </a:t>
            </a:r>
            <a:r>
              <a:rPr lang="pt-BR" dirty="0" err="1" smtClean="0"/>
              <a:t>Report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0" y="5928825"/>
            <a:ext cx="5413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“Cuidar de uma CN é o importante do ‘Experiência CN’.”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38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110329" y="361655"/>
            <a:ext cx="1607822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pt-BR" dirty="0" smtClean="0">
                <a:solidFill>
                  <a:srgbClr val="FF0000"/>
                </a:solidFill>
                <a:latin typeface="Gill Sans Std" pitchFamily="34" charset="0"/>
              </a:rPr>
              <a:t>conflitos entre áreas e com o negócios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718151" y="361655"/>
            <a:ext cx="5850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“Área de BI não atende. Ela fica focada na área de negócios.”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718151" y="730987"/>
            <a:ext cx="3508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“Há problemas em todos os níveis.”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1718151" y="104075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“Não fazemos controles e absorvemos a demanda. Isso gera problemas de comunicação e qualidade.”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110329" y="158582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“Sofremos por passivos a serem tratados, porém preocupo-me que o novo nasça da melhor forma possível.”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110329" y="21725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“Vamos cuidar do passado, porém não quero continuar ‘enxugando gelo’”.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7240081" y="701207"/>
            <a:ext cx="4777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“Temos problemas com qualidade de requisitos.”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6342110" y="1627528"/>
            <a:ext cx="5021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</a:t>
            </a:r>
            <a:r>
              <a:rPr lang="pt-BR" dirty="0" err="1" smtClean="0"/>
              <a:t>GRPs</a:t>
            </a:r>
            <a:r>
              <a:rPr lang="pt-BR" dirty="0" smtClean="0"/>
              <a:t> não conhecem Natura.” &gt; Exceto Dani </a:t>
            </a:r>
            <a:r>
              <a:rPr lang="pt-BR" dirty="0" err="1" smtClean="0"/>
              <a:t>Langer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5805054" y="207133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“Se ocorre um problemas crítico os projetos são parados e, nós temos que explicar os atrasos.”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52320" y="29201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“Toda cadeia de entrega de projetos é um ponto de bastante preocupação. O desafio remete as atitudes das pessoas.”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6342110" y="2812988"/>
            <a:ext cx="377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Bom senso &gt; “Não existe caminho ‘B’.”</a:t>
            </a:r>
            <a:endParaRPr lang="pt-BR" dirty="0"/>
          </a:p>
        </p:txBody>
      </p:sp>
      <p:sp>
        <p:nvSpPr>
          <p:cNvPr id="15" name="Retângulo 14"/>
          <p:cNvSpPr/>
          <p:nvPr/>
        </p:nvSpPr>
        <p:spPr>
          <a:xfrm>
            <a:off x="5805054" y="3243355"/>
            <a:ext cx="6063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“Existe a insatisfação com TD porque a gente não faz o básico.”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152320" y="361268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“Qualidade muito ruim e sem previsão de resolução de problemas. O problema está de cima para baixo”.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175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364990" y="367652"/>
            <a:ext cx="1820438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rgbClr val="00B050"/>
                </a:solidFill>
                <a:latin typeface="Gill Sans Std" pitchFamily="34" charset="0"/>
              </a:rPr>
              <a:t>atuação segmentada</a:t>
            </a:r>
          </a:p>
        </p:txBody>
      </p:sp>
      <p:sp>
        <p:nvSpPr>
          <p:cNvPr id="3" name="Retângulo 2"/>
          <p:cNvSpPr/>
          <p:nvPr/>
        </p:nvSpPr>
        <p:spPr>
          <a:xfrm>
            <a:off x="2185428" y="3676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“Cada departamento funciona como uma empresa independente.”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185428" y="1013983"/>
            <a:ext cx="5124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“Os contratos deveriam ser de acordo com a matriz.”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21673" y="138331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“Não conseguimos entregar um serviço, pois as pessoas não têm ‘noção’ de negócio.”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733309" y="138331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DI &gt; “Se preocupa com o ‘manter’ e ‘deixa de lado’ os projetos.”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6609624" y="644651"/>
            <a:ext cx="5042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“Minha equipe de SAP tem de ser dona do projeto.”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221673" y="207581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Foco maior &gt; DI &gt; “Eles não se sentem donos. Vejo coisas absurdas acontecendo.”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6091277" y="2075812"/>
            <a:ext cx="535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“Meu time tem direcionamento de gestão de serviços.”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7050033" y="2537477"/>
            <a:ext cx="2462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“Domínio sobre o todo.”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609624" y="299914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“As pessoas se melindram, pois não seguem uma escalada gerencial.”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221673" y="2768309"/>
            <a:ext cx="5643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“Não há vendedor no Brasil oferecendo serviços para </a:t>
            </a:r>
            <a:r>
              <a:rPr lang="pt-BR" dirty="0" err="1" smtClean="0"/>
              <a:t>OIs</a:t>
            </a:r>
            <a:r>
              <a:rPr lang="pt-BR" dirty="0" smtClean="0"/>
              <a:t>”.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221673" y="317628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 empresa não está preparada para receber más notícias. As </a:t>
            </a:r>
            <a:r>
              <a:rPr lang="pt-BR" dirty="0" err="1" smtClean="0"/>
              <a:t>OIs</a:t>
            </a:r>
            <a:r>
              <a:rPr lang="pt-BR" dirty="0" smtClean="0"/>
              <a:t> sim”.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515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367921" y="308815"/>
            <a:ext cx="1772230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falta de dono e indefinição de papéis e responsabilidades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4903" y="228499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Enquanto a gente não cobrar de forma ‘diferente’ a gente não vai melhorar”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67921" y="14309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“Bem estruturado, mas assumimos responsabilidades que não são nossas.” &gt; Gera carga excessiva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404539" y="2059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“Alguns processos têm dono e outros não.” &gt; 2013 &gt; Processo de melhoria continua (Rose) &gt; Henrique + Agenor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2467660" y="8522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“Não existe um comprometimento das pessoas.” &gt; Processo de melhoria continua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464903" y="2954389"/>
            <a:ext cx="4420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“As pessoas não assumem responsabilidade.”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464903" y="33467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“Tirei todo meu conhecimento técnico e passei para meu fornecedor. Essa decisão certa ou errada foi da Natura (2006).”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6871854" y="1363945"/>
            <a:ext cx="53201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“Conseguimos engajar as pessoas caso as pessoas saibam seus papéis.” &gt; Não é meu é da Natura &gt; “Não tem a visão do negócio e do impacto.”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6871854" y="2380610"/>
            <a:ext cx="5214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“Precisamos integrar com os projetos (SAP) do Brasil”.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5070764" y="27027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 gente não criou os processos e não definiu responsabilidade”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7868575" y="3037465"/>
            <a:ext cx="4126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Indefinição de Papéis e Responsabilidades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6136652" y="4039232"/>
            <a:ext cx="5949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Não criamos os  processos e não definimos responsabilidades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566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284926" y="329291"/>
            <a:ext cx="2158780" cy="1299802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pt-BR" sz="1600" dirty="0" smtClean="0">
                <a:solidFill>
                  <a:srgbClr val="FF0000"/>
                </a:solidFill>
              </a:rPr>
              <a:t>dificuldade de entendimento dos processos/percepção que o processo é burocrático</a:t>
            </a:r>
            <a:endParaRPr lang="pt-BR" sz="1600" dirty="0">
              <a:solidFill>
                <a:srgbClr val="FF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558009" y="248937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</a:t>
            </a:r>
            <a:r>
              <a:rPr lang="pt-BR" b="1" dirty="0" smtClean="0"/>
              <a:t>Coloquei</a:t>
            </a:r>
            <a:r>
              <a:rPr lang="pt-BR" dirty="0" smtClean="0"/>
              <a:t> para mim a responsabilidade e tenho patrocínio, mas isso gera etapas que burocratizam o projeto.”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612233" y="221126"/>
            <a:ext cx="4113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“Feedbacks positivos, mas preocupantes.”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612233" y="11946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“Não temos capacidade/configuração/gestão de confiança para utilização das ferramentas.” &gt; Incidente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510009" y="553766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“Somos auditados e, por isso criamos documentação para ISO 9000, mas derivamos nos preparar a 20.000.”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6725731" y="620017"/>
            <a:ext cx="5588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“Fazer funcionar o processo sem burocratizar o caminho.”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10009" y="457981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“Não temos muitas burocracias. As pessoas não querem seguir processos.”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6217799" y="488141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“As pessoas não conseguem seguir os processos pela correria do dia-a-dia.”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5992716" y="6013788"/>
            <a:ext cx="5927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“Existem muitos controles que talvez não sejam necessários.”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5430008" y="34373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“Temos muitas informações, mas somos muito reativos.” &gt; Natura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4249" y="3575800"/>
            <a:ext cx="4286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Dificuldade de Entendimento dos processos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41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318430" y="238124"/>
            <a:ext cx="1468901" cy="91674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endParaRPr lang="pt-BR" dirty="0">
              <a:solidFill>
                <a:srgbClr val="FF0000"/>
              </a:solidFill>
              <a:latin typeface="Gill Sans Std" pitchFamily="34" charset="0"/>
            </a:endParaRPr>
          </a:p>
          <a:p>
            <a:pPr algn="ctr"/>
            <a:r>
              <a:rPr lang="pt-BR" dirty="0" smtClean="0">
                <a:solidFill>
                  <a:srgbClr val="FF0000"/>
                </a:solidFill>
                <a:latin typeface="Gill Sans Std" pitchFamily="34" charset="0"/>
              </a:rPr>
              <a:t>visão segmentada de TD</a:t>
            </a:r>
          </a:p>
          <a:p>
            <a:pPr algn="ctr"/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258542" y="2630973"/>
            <a:ext cx="324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</a:t>
            </a:r>
            <a:r>
              <a:rPr lang="pt-BR" dirty="0" err="1" smtClean="0"/>
              <a:t>Labs</a:t>
            </a:r>
            <a:r>
              <a:rPr lang="pt-BR" dirty="0" smtClean="0"/>
              <a:t> é o menor dos problemas”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258542" y="4353470"/>
            <a:ext cx="3309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“O SPI na Natura é uma mentira.”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973146" y="238124"/>
            <a:ext cx="4598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“Em nenhum modelo é bom ter exclusividade.”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1155903" y="1592085"/>
            <a:ext cx="4704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“Precisa definir as entradas e saídas do projeto.”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5951148" y="2185117"/>
            <a:ext cx="5786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 Natura aprendeu com as experiências.” &gt; GRP O&amp;L  + DA 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3895684" y="31341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 time de TD ainda não é um time. As pessoas não sentem parte integrante do time.” &gt; Interesse comum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445039" y="5760895"/>
            <a:ext cx="484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“Perco tempo em trabalhar com coisas paralelas.”</a:t>
            </a:r>
            <a:endParaRPr lang="pt-BR" dirty="0"/>
          </a:p>
        </p:txBody>
      </p:sp>
      <p:sp>
        <p:nvSpPr>
          <p:cNvPr id="15" name="Retângulo 14"/>
          <p:cNvSpPr/>
          <p:nvPr/>
        </p:nvSpPr>
        <p:spPr>
          <a:xfrm>
            <a:off x="5796504" y="454488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“Precisamos de alguém para desafiar os times técnicos.” &gt; Ninguém está agrupando os fatos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7009948" y="1071040"/>
            <a:ext cx="3694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“Acho que nossa TD tem que evoluir.”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98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252321" y="232377"/>
            <a:ext cx="2181967" cy="117817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pt-BR" dirty="0" smtClean="0">
                <a:solidFill>
                  <a:schemeClr val="tx2"/>
                </a:solidFill>
                <a:latin typeface="Gill Sans Std" pitchFamily="34" charset="0"/>
              </a:rPr>
              <a:t>falta apropriação do processo e responsabilidades/ aversão ao processo</a:t>
            </a:r>
          </a:p>
        </p:txBody>
      </p:sp>
      <p:sp>
        <p:nvSpPr>
          <p:cNvPr id="3" name="Retângulo 2"/>
          <p:cNvSpPr/>
          <p:nvPr/>
        </p:nvSpPr>
        <p:spPr>
          <a:xfrm>
            <a:off x="3128519" y="811172"/>
            <a:ext cx="3800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“Isso pode colocar a Natura em risco.”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881883" y="2700392"/>
            <a:ext cx="5062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“Falta de comprometimento das pessoas.” &gt; DA X DI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881883" y="509823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“As entradas estão definidas, porém usuários não estão condicionados a seguir.”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977883" y="3160649"/>
            <a:ext cx="48906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“Tudo que vem da NCC é critico, pois somente tratamos incidentes críticos. Nós paramos a empresa.”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48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194198" y="285551"/>
            <a:ext cx="1820438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pt-BR" dirty="0" smtClean="0">
                <a:solidFill>
                  <a:srgbClr val="00B050"/>
                </a:solidFill>
                <a:latin typeface="Gill Sans Std" pitchFamily="34" charset="0"/>
              </a:rPr>
              <a:t>falta de confiança na execução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2272145" y="285551"/>
            <a:ext cx="86725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“O volume de quem responde é baixo devido ao número de chamados.”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864183" y="13036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“No fundo a empresa está sofrendo.” &gt; Usuário final não percebe melhora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194198" y="27596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“É um processo que leva a problemas.” &gt; Teste diferente de produção (Homologação)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3772700" y="34983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 stress/temperatura alto é constante.” &gt; Generalização dos fatos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6404917" y="219188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Acredita &gt; Insiste &gt; Reclama &gt; Desiste &gt; “Você é parte da solução e não do problema.”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19651" y="547357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“Estamos sofrendo demais e errando no básico pelas mudanças de seis meses atrás”.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8526991" y="1422188"/>
            <a:ext cx="3266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 gente se sente incompetente”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0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383708" y="282336"/>
            <a:ext cx="1603717" cy="86516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rgbClr val="FF0000"/>
                </a:solidFill>
                <a:latin typeface="Gill Sans Std" pitchFamily="34" charset="0"/>
              </a:rPr>
              <a:t>falta de treinamento</a:t>
            </a:r>
          </a:p>
        </p:txBody>
      </p:sp>
      <p:sp>
        <p:nvSpPr>
          <p:cNvPr id="3" name="Retângulo 2"/>
          <p:cNvSpPr/>
          <p:nvPr/>
        </p:nvSpPr>
        <p:spPr>
          <a:xfrm>
            <a:off x="2161309" y="28233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 má qualidade se dá pelo pouco conhecimento técnico e falta de comunicação.”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740898" y="270778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“Acho que investe pouco em treinamento. Precisamos melhorar muito.” &gt; “Mas como se capacita um profissional de TD.” (fora da academia)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489812" y="145957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“As pessoas não tem conhecimento para fazer os processos técnicos.”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489812" y="444072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 conhecimento não fica com a gente.” &gt; Processos / Instruções de trabalho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5403735" y="369589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“Não sei o que a governança faz. Qual a responsabilidade?” &gt; Facilitador de processos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994591" y="2193782"/>
            <a:ext cx="4505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Falta avaliação de perfil/Certificações/Idiomas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586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de cantos arredondados 1"/>
          <p:cNvSpPr/>
          <p:nvPr/>
        </p:nvSpPr>
        <p:spPr>
          <a:xfrm>
            <a:off x="287749" y="311382"/>
            <a:ext cx="1886536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pt-BR" dirty="0" smtClean="0">
                <a:solidFill>
                  <a:srgbClr val="00B050"/>
                </a:solidFill>
                <a:latin typeface="Gill Sans Std" pitchFamily="34" charset="0"/>
              </a:rPr>
              <a:t>falta de planejamento integral da entrega</a:t>
            </a:r>
          </a:p>
        </p:txBody>
      </p:sp>
      <p:sp>
        <p:nvSpPr>
          <p:cNvPr id="3" name="Retângulo 2"/>
          <p:cNvSpPr/>
          <p:nvPr/>
        </p:nvSpPr>
        <p:spPr>
          <a:xfrm>
            <a:off x="286140" y="4765806"/>
            <a:ext cx="5809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“A gente não tem equilíbrio. As coisas são sempre urgentes”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07282" y="6891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“De todas as experiências profissionais que já tive a Natura é onde mais vejo dificuldades.”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87749" y="55273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Gestão de riscos &gt; Carteira de projetos &gt; “Não temos um bom planejamento de execuções.”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0" y="25119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 satisfação não é ligada aos projetos, mas ao dia-a-dia.” &gt; “Não temos um processo que mede o imediatismo.”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66543" y="3670291"/>
            <a:ext cx="5962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“O problema é cultural do negócio.” &gt; GRP ‘tirador de pedido’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79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470543" y="32235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“Os projetos estão todos jogados. A Natura não tem visão de </a:t>
            </a:r>
            <a:r>
              <a:rPr lang="pt-BR" dirty="0" err="1" smtClean="0"/>
              <a:t>projetização</a:t>
            </a:r>
            <a:r>
              <a:rPr lang="pt-BR" dirty="0" smtClean="0"/>
              <a:t>.”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4696822" y="443351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“A carga de negócios é muito grande (não tem filtro de qualidade) vamos muito atrás de prazo/custo).”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116251" y="18510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Final &gt; Planejamento (pouco e mal) &gt; Sofrimento na operação (“As pessoas não entendem o que se pede.”)</a:t>
            </a:r>
            <a:endParaRPr lang="pt-BR" dirty="0"/>
          </a:p>
        </p:txBody>
      </p:sp>
      <p:sp>
        <p:nvSpPr>
          <p:cNvPr id="5" name="Retângulo de cantos arredondados 4"/>
          <p:cNvSpPr/>
          <p:nvPr/>
        </p:nvSpPr>
        <p:spPr>
          <a:xfrm>
            <a:off x="391446" y="336105"/>
            <a:ext cx="2109569" cy="91440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dirty="0" smtClean="0">
                <a:solidFill>
                  <a:srgbClr val="00B050"/>
                </a:solidFill>
              </a:rPr>
              <a:t>Entregas de Baixa Qualidade</a:t>
            </a:r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232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1778</Words>
  <Application>Microsoft Office PowerPoint</Application>
  <PresentationFormat>Widescreen</PresentationFormat>
  <Paragraphs>148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Gill Sans Std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Sergio Bertasi</dc:creator>
  <cp:lastModifiedBy>Sergio Bertasi</cp:lastModifiedBy>
  <cp:revision>31</cp:revision>
  <dcterms:created xsi:type="dcterms:W3CDTF">2015-07-15T14:39:41Z</dcterms:created>
  <dcterms:modified xsi:type="dcterms:W3CDTF">2015-07-15T20:43:29Z</dcterms:modified>
</cp:coreProperties>
</file>