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sldIdLst>
    <p:sldId id="400" r:id="rId2"/>
    <p:sldId id="435" r:id="rId3"/>
    <p:sldId id="401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70" r:id="rId37"/>
    <p:sldId id="471" r:id="rId38"/>
    <p:sldId id="472" r:id="rId39"/>
    <p:sldId id="473" r:id="rId40"/>
    <p:sldId id="474" r:id="rId41"/>
    <p:sldId id="475" r:id="rId42"/>
    <p:sldId id="476" r:id="rId43"/>
    <p:sldId id="478" r:id="rId44"/>
    <p:sldId id="480" r:id="rId45"/>
    <p:sldId id="481" r:id="rId46"/>
    <p:sldId id="482" r:id="rId47"/>
    <p:sldId id="484" r:id="rId48"/>
    <p:sldId id="485" r:id="rId49"/>
    <p:sldId id="486" r:id="rId50"/>
    <p:sldId id="487" r:id="rId51"/>
    <p:sldId id="488" r:id="rId52"/>
    <p:sldId id="489" r:id="rId53"/>
    <p:sldId id="490" r:id="rId54"/>
    <p:sldId id="492" r:id="rId55"/>
    <p:sldId id="650" r:id="rId56"/>
    <p:sldId id="493" r:id="rId57"/>
    <p:sldId id="494" r:id="rId58"/>
    <p:sldId id="495" r:id="rId59"/>
    <p:sldId id="496" r:id="rId60"/>
    <p:sldId id="498" r:id="rId61"/>
    <p:sldId id="500" r:id="rId62"/>
    <p:sldId id="506" r:id="rId63"/>
    <p:sldId id="509" r:id="rId64"/>
    <p:sldId id="508" r:id="rId65"/>
    <p:sldId id="510" r:id="rId66"/>
    <p:sldId id="651" r:id="rId67"/>
    <p:sldId id="513" r:id="rId68"/>
    <p:sldId id="514" r:id="rId69"/>
    <p:sldId id="515" r:id="rId70"/>
    <p:sldId id="516" r:id="rId71"/>
    <p:sldId id="517" r:id="rId72"/>
    <p:sldId id="518" r:id="rId73"/>
    <p:sldId id="521" r:id="rId74"/>
    <p:sldId id="522" r:id="rId75"/>
    <p:sldId id="533" r:id="rId76"/>
    <p:sldId id="537" r:id="rId77"/>
    <p:sldId id="525" r:id="rId78"/>
    <p:sldId id="542" r:id="rId79"/>
    <p:sldId id="614" r:id="rId80"/>
    <p:sldId id="617" r:id="rId81"/>
    <p:sldId id="638" r:id="rId82"/>
    <p:sldId id="652" r:id="rId83"/>
    <p:sldId id="653" r:id="rId84"/>
    <p:sldId id="654" r:id="rId85"/>
    <p:sldId id="661" r:id="rId86"/>
    <p:sldId id="656" r:id="rId87"/>
    <p:sldId id="657" r:id="rId88"/>
    <p:sldId id="658" r:id="rId89"/>
    <p:sldId id="659" r:id="rId90"/>
    <p:sldId id="660" r:id="rId91"/>
    <p:sldId id="399" r:id="rId92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9" autoAdjust="0"/>
  </p:normalViewPr>
  <p:slideViewPr>
    <p:cSldViewPr>
      <p:cViewPr varScale="1">
        <p:scale>
          <a:sx n="67" d="100"/>
          <a:sy n="67" d="100"/>
        </p:scale>
        <p:origin x="11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A41AA-4A84-6E4A-91EE-AEC572B0BAF1}" type="doc">
      <dgm:prSet loTypeId="urn:microsoft.com/office/officeart/2005/8/layout/cycle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71F720-7117-004B-AC5A-D460988AC984}">
      <dgm:prSet phldrT="[Text]"/>
      <dgm:spPr/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2 . </a:t>
          </a:r>
          <a:r>
            <a:rPr lang="pt-BR" b="1" dirty="0" smtClean="0">
              <a:solidFill>
                <a:schemeClr val="tx2"/>
              </a:solidFill>
            </a:rPr>
            <a:t>Mapear o fluxo de valor</a:t>
          </a:r>
          <a:endParaRPr lang="en-US" b="1" dirty="0">
            <a:solidFill>
              <a:schemeClr val="tx2"/>
            </a:solidFill>
          </a:endParaRPr>
        </a:p>
      </dgm:t>
    </dgm:pt>
    <dgm:pt modelId="{E6E49262-40D7-CC47-AEFD-8625D438D955}" type="parTrans" cxnId="{08F8BC26-EC53-4641-A828-108085846251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A5A0B763-67E6-7149-AA39-98A17CDBCEE7}" type="sibTrans" cxnId="{08F8BC26-EC53-4641-A828-108085846251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40BD9AED-FEE8-954D-9926-024544EC9666}">
      <dgm:prSet phldrT="[Text]"/>
      <dgm:spPr/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3. </a:t>
          </a:r>
          <a:r>
            <a:rPr lang="pt-BR" b="1" dirty="0" smtClean="0">
              <a:solidFill>
                <a:schemeClr val="tx2"/>
              </a:solidFill>
            </a:rPr>
            <a:t>Criar o fluxo</a:t>
          </a:r>
          <a:endParaRPr lang="en-US" b="1" dirty="0">
            <a:solidFill>
              <a:schemeClr val="tx2"/>
            </a:solidFill>
          </a:endParaRPr>
        </a:p>
      </dgm:t>
    </dgm:pt>
    <dgm:pt modelId="{1FC73B00-25B9-FC45-8391-E0F3AD71D04F}" type="parTrans" cxnId="{A786F11D-1DE9-ED48-9AB3-724D69640BFE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94E82BC8-943E-0B4D-8832-1599FFDF9912}" type="sibTrans" cxnId="{A786F11D-1DE9-ED48-9AB3-724D69640BFE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D753ADCD-ACB4-8A45-88F7-A4EEB8E0532E}">
      <dgm:prSet phldrT="[Text]"/>
      <dgm:spPr/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4. </a:t>
          </a:r>
          <a:r>
            <a:rPr lang="pt-BR" b="1" dirty="0" smtClean="0">
              <a:solidFill>
                <a:schemeClr val="tx2"/>
              </a:solidFill>
            </a:rPr>
            <a:t>Estabelecer o </a:t>
          </a:r>
          <a:r>
            <a:rPr lang="pt-BR" b="1" dirty="0" err="1" smtClean="0">
              <a:solidFill>
                <a:schemeClr val="tx2"/>
              </a:solidFill>
            </a:rPr>
            <a:t>pull</a:t>
          </a:r>
          <a:endParaRPr lang="en-US" b="1" dirty="0">
            <a:solidFill>
              <a:schemeClr val="tx2"/>
            </a:solidFill>
          </a:endParaRPr>
        </a:p>
      </dgm:t>
    </dgm:pt>
    <dgm:pt modelId="{2BDBBD6A-D329-6049-99FA-3DD1EE33198C}" type="parTrans" cxnId="{D4F9FDDD-FA5E-384C-B5C9-F282C83BE866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10A9ADBC-E1A0-9E47-ADD2-D859C51ECF16}" type="sibTrans" cxnId="{D4F9FDDD-FA5E-384C-B5C9-F282C83BE866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85B2FDBE-6BD3-7C40-A2F1-DFC503BD50D1}">
      <dgm:prSet phldrT="[Text]"/>
      <dgm:spPr/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5. </a:t>
          </a:r>
          <a:r>
            <a:rPr lang="pt-BR" b="1" dirty="0" smtClean="0">
              <a:solidFill>
                <a:schemeClr val="tx2"/>
              </a:solidFill>
            </a:rPr>
            <a:t>Perseguir a perfeição</a:t>
          </a:r>
          <a:endParaRPr lang="en-US" b="1" dirty="0">
            <a:solidFill>
              <a:schemeClr val="tx2"/>
            </a:solidFill>
          </a:endParaRPr>
        </a:p>
      </dgm:t>
    </dgm:pt>
    <dgm:pt modelId="{A4E3003B-C95C-854A-B970-DE762608509F}" type="parTrans" cxnId="{E66A0064-8C3E-D043-A21B-DF807DCAC3F3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EA885432-9A5B-F445-8DA4-82DFE64F787A}" type="sibTrans" cxnId="{E66A0064-8C3E-D043-A21B-DF807DCAC3F3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0D4EB425-15DF-A345-B049-C353F7F15009}">
      <dgm:prSet phldrT="[Text]"/>
      <dgm:spPr/>
      <dgm:t>
        <a:bodyPr/>
        <a:lstStyle/>
        <a:p>
          <a:r>
            <a:rPr lang="en-US" b="1" dirty="0" smtClean="0">
              <a:solidFill>
                <a:schemeClr val="tx2"/>
              </a:solidFill>
            </a:rPr>
            <a:t>1 . </a:t>
          </a:r>
          <a:r>
            <a:rPr lang="pt-BR" b="1" dirty="0" smtClean="0">
              <a:solidFill>
                <a:schemeClr val="tx2"/>
              </a:solidFill>
            </a:rPr>
            <a:t>Identificar o valor</a:t>
          </a:r>
          <a:endParaRPr lang="en-US" b="1" dirty="0">
            <a:solidFill>
              <a:schemeClr val="tx2"/>
            </a:solidFill>
          </a:endParaRPr>
        </a:p>
      </dgm:t>
    </dgm:pt>
    <dgm:pt modelId="{75C801C6-61A3-C94A-A73A-BD1878CE4DC9}" type="parTrans" cxnId="{FEAEF22B-753C-234D-9317-88FC1616C7BC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7A877A4A-FE50-844A-B9AB-61FDA46B3D3C}" type="sibTrans" cxnId="{FEAEF22B-753C-234D-9317-88FC1616C7BC}">
      <dgm:prSet/>
      <dgm:spPr/>
      <dgm:t>
        <a:bodyPr/>
        <a:lstStyle/>
        <a:p>
          <a:endParaRPr lang="en-US" b="1">
            <a:solidFill>
              <a:schemeClr val="tx2"/>
            </a:solidFill>
          </a:endParaRPr>
        </a:p>
      </dgm:t>
    </dgm:pt>
    <dgm:pt modelId="{BED6F8E2-DD01-F345-A383-2532A1279DAE}" type="pres">
      <dgm:prSet presAssocID="{291A41AA-4A84-6E4A-91EE-AEC572B0BAF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67DF7A4-DAA7-4C4C-B355-38F3BECD05CC}" type="pres">
      <dgm:prSet presAssocID="{FD71F720-7117-004B-AC5A-D460988AC984}" presName="dummy" presStyleCnt="0"/>
      <dgm:spPr/>
    </dgm:pt>
    <dgm:pt modelId="{A5EB7728-0CFE-F34C-8556-C51AA098C843}" type="pres">
      <dgm:prSet presAssocID="{FD71F720-7117-004B-AC5A-D460988AC984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504AC8-1DC3-A849-B9E9-2A8E165C9557}" type="pres">
      <dgm:prSet presAssocID="{A5A0B763-67E6-7149-AA39-98A17CDBCEE7}" presName="sibTrans" presStyleLbl="node1" presStyleIdx="0" presStyleCnt="5"/>
      <dgm:spPr/>
      <dgm:t>
        <a:bodyPr/>
        <a:lstStyle/>
        <a:p>
          <a:endParaRPr lang="en-US"/>
        </a:p>
      </dgm:t>
    </dgm:pt>
    <dgm:pt modelId="{DCAB9AE5-BE30-154B-AD9D-49661E06F67E}" type="pres">
      <dgm:prSet presAssocID="{40BD9AED-FEE8-954D-9926-024544EC9666}" presName="dummy" presStyleCnt="0"/>
      <dgm:spPr/>
    </dgm:pt>
    <dgm:pt modelId="{A702634D-C9AD-CD45-8D8D-F56172639FA1}" type="pres">
      <dgm:prSet presAssocID="{40BD9AED-FEE8-954D-9926-024544EC9666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7D77B8-9690-1249-AEF5-5A417D6C28FD}" type="pres">
      <dgm:prSet presAssocID="{94E82BC8-943E-0B4D-8832-1599FFDF9912}" presName="sibTrans" presStyleLbl="node1" presStyleIdx="1" presStyleCnt="5"/>
      <dgm:spPr/>
      <dgm:t>
        <a:bodyPr/>
        <a:lstStyle/>
        <a:p>
          <a:endParaRPr lang="en-US"/>
        </a:p>
      </dgm:t>
    </dgm:pt>
    <dgm:pt modelId="{08E7205A-5F8C-3148-ABDC-8025D7AC39EC}" type="pres">
      <dgm:prSet presAssocID="{D753ADCD-ACB4-8A45-88F7-A4EEB8E0532E}" presName="dummy" presStyleCnt="0"/>
      <dgm:spPr/>
    </dgm:pt>
    <dgm:pt modelId="{9521A6B6-F2AB-9044-92C6-BF6E78C6D5AF}" type="pres">
      <dgm:prSet presAssocID="{D753ADCD-ACB4-8A45-88F7-A4EEB8E0532E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67F3B0-F862-D44A-B074-8F02C3C74A8D}" type="pres">
      <dgm:prSet presAssocID="{10A9ADBC-E1A0-9E47-ADD2-D859C51ECF16}" presName="sibTrans" presStyleLbl="node1" presStyleIdx="2" presStyleCnt="5" custLinFactNeighborX="-3341" custLinFactNeighborY="513"/>
      <dgm:spPr/>
      <dgm:t>
        <a:bodyPr/>
        <a:lstStyle/>
        <a:p>
          <a:endParaRPr lang="en-US"/>
        </a:p>
      </dgm:t>
    </dgm:pt>
    <dgm:pt modelId="{ECC6629C-BA1F-E44B-9FEF-30D5A9FDAC92}" type="pres">
      <dgm:prSet presAssocID="{85B2FDBE-6BD3-7C40-A2F1-DFC503BD50D1}" presName="dummy" presStyleCnt="0"/>
      <dgm:spPr/>
    </dgm:pt>
    <dgm:pt modelId="{AC947444-7A7C-D941-AEFF-1C47B13DAC47}" type="pres">
      <dgm:prSet presAssocID="{85B2FDBE-6BD3-7C40-A2F1-DFC503BD50D1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C9C02B-5727-044D-B31C-27C5D4C512FC}" type="pres">
      <dgm:prSet presAssocID="{EA885432-9A5B-F445-8DA4-82DFE64F787A}" presName="sibTrans" presStyleLbl="node1" presStyleIdx="3" presStyleCnt="5"/>
      <dgm:spPr/>
      <dgm:t>
        <a:bodyPr/>
        <a:lstStyle/>
        <a:p>
          <a:endParaRPr lang="en-US"/>
        </a:p>
      </dgm:t>
    </dgm:pt>
    <dgm:pt modelId="{3E565B5C-4F13-CB42-8907-9BC95A49F4E4}" type="pres">
      <dgm:prSet presAssocID="{0D4EB425-15DF-A345-B049-C353F7F15009}" presName="dummy" presStyleCnt="0"/>
      <dgm:spPr/>
    </dgm:pt>
    <dgm:pt modelId="{5C02828A-D26C-2A42-884E-029B4EEF308E}" type="pres">
      <dgm:prSet presAssocID="{0D4EB425-15DF-A345-B049-C353F7F15009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2C2CF4-93A5-F142-BC70-BC682063016D}" type="pres">
      <dgm:prSet presAssocID="{7A877A4A-FE50-844A-B9AB-61FDA46B3D3C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53B2EAF8-8387-46FE-A3F4-EEFE48190845}" type="presOf" srcId="{40BD9AED-FEE8-954D-9926-024544EC9666}" destId="{A702634D-C9AD-CD45-8D8D-F56172639FA1}" srcOrd="0" destOrd="0" presId="urn:microsoft.com/office/officeart/2005/8/layout/cycle1"/>
    <dgm:cxn modelId="{D4F9FDDD-FA5E-384C-B5C9-F282C83BE866}" srcId="{291A41AA-4A84-6E4A-91EE-AEC572B0BAF1}" destId="{D753ADCD-ACB4-8A45-88F7-A4EEB8E0532E}" srcOrd="2" destOrd="0" parTransId="{2BDBBD6A-D329-6049-99FA-3DD1EE33198C}" sibTransId="{10A9ADBC-E1A0-9E47-ADD2-D859C51ECF16}"/>
    <dgm:cxn modelId="{0EE5BD35-7672-40C9-BB05-7AD5139167B6}" type="presOf" srcId="{A5A0B763-67E6-7149-AA39-98A17CDBCEE7}" destId="{F0504AC8-1DC3-A849-B9E9-2A8E165C9557}" srcOrd="0" destOrd="0" presId="urn:microsoft.com/office/officeart/2005/8/layout/cycle1"/>
    <dgm:cxn modelId="{E66A0064-8C3E-D043-A21B-DF807DCAC3F3}" srcId="{291A41AA-4A84-6E4A-91EE-AEC572B0BAF1}" destId="{85B2FDBE-6BD3-7C40-A2F1-DFC503BD50D1}" srcOrd="3" destOrd="0" parTransId="{A4E3003B-C95C-854A-B970-DE762608509F}" sibTransId="{EA885432-9A5B-F445-8DA4-82DFE64F787A}"/>
    <dgm:cxn modelId="{3FB7B037-E27D-48B4-9647-A086297AF1C7}" type="presOf" srcId="{94E82BC8-943E-0B4D-8832-1599FFDF9912}" destId="{E87D77B8-9690-1249-AEF5-5A417D6C28FD}" srcOrd="0" destOrd="0" presId="urn:microsoft.com/office/officeart/2005/8/layout/cycle1"/>
    <dgm:cxn modelId="{8028E80D-9EAD-4983-9D0B-1B61312D40B1}" type="presOf" srcId="{EA885432-9A5B-F445-8DA4-82DFE64F787A}" destId="{47C9C02B-5727-044D-B31C-27C5D4C512FC}" srcOrd="0" destOrd="0" presId="urn:microsoft.com/office/officeart/2005/8/layout/cycle1"/>
    <dgm:cxn modelId="{8B653A6F-9AF0-4735-B9E4-8FB4BD807A13}" type="presOf" srcId="{10A9ADBC-E1A0-9E47-ADD2-D859C51ECF16}" destId="{C167F3B0-F862-D44A-B074-8F02C3C74A8D}" srcOrd="0" destOrd="0" presId="urn:microsoft.com/office/officeart/2005/8/layout/cycle1"/>
    <dgm:cxn modelId="{ED3F643B-022D-4710-BA66-EB58FB48D39B}" type="presOf" srcId="{D753ADCD-ACB4-8A45-88F7-A4EEB8E0532E}" destId="{9521A6B6-F2AB-9044-92C6-BF6E78C6D5AF}" srcOrd="0" destOrd="0" presId="urn:microsoft.com/office/officeart/2005/8/layout/cycle1"/>
    <dgm:cxn modelId="{FEAEF22B-753C-234D-9317-88FC1616C7BC}" srcId="{291A41AA-4A84-6E4A-91EE-AEC572B0BAF1}" destId="{0D4EB425-15DF-A345-B049-C353F7F15009}" srcOrd="4" destOrd="0" parTransId="{75C801C6-61A3-C94A-A73A-BD1878CE4DC9}" sibTransId="{7A877A4A-FE50-844A-B9AB-61FDA46B3D3C}"/>
    <dgm:cxn modelId="{08F8BC26-EC53-4641-A828-108085846251}" srcId="{291A41AA-4A84-6E4A-91EE-AEC572B0BAF1}" destId="{FD71F720-7117-004B-AC5A-D460988AC984}" srcOrd="0" destOrd="0" parTransId="{E6E49262-40D7-CC47-AEFD-8625D438D955}" sibTransId="{A5A0B763-67E6-7149-AA39-98A17CDBCEE7}"/>
    <dgm:cxn modelId="{7A498854-D719-40A1-A0A7-F4ACFD949C5F}" type="presOf" srcId="{291A41AA-4A84-6E4A-91EE-AEC572B0BAF1}" destId="{BED6F8E2-DD01-F345-A383-2532A1279DAE}" srcOrd="0" destOrd="0" presId="urn:microsoft.com/office/officeart/2005/8/layout/cycle1"/>
    <dgm:cxn modelId="{385382ED-F91E-4689-AA1A-7273716AE23A}" type="presOf" srcId="{0D4EB425-15DF-A345-B049-C353F7F15009}" destId="{5C02828A-D26C-2A42-884E-029B4EEF308E}" srcOrd="0" destOrd="0" presId="urn:microsoft.com/office/officeart/2005/8/layout/cycle1"/>
    <dgm:cxn modelId="{664E829B-F983-453A-B5B1-908B0CE5BDAF}" type="presOf" srcId="{7A877A4A-FE50-844A-B9AB-61FDA46B3D3C}" destId="{D62C2CF4-93A5-F142-BC70-BC682063016D}" srcOrd="0" destOrd="0" presId="urn:microsoft.com/office/officeart/2005/8/layout/cycle1"/>
    <dgm:cxn modelId="{A786F11D-1DE9-ED48-9AB3-724D69640BFE}" srcId="{291A41AA-4A84-6E4A-91EE-AEC572B0BAF1}" destId="{40BD9AED-FEE8-954D-9926-024544EC9666}" srcOrd="1" destOrd="0" parTransId="{1FC73B00-25B9-FC45-8391-E0F3AD71D04F}" sibTransId="{94E82BC8-943E-0B4D-8832-1599FFDF9912}"/>
    <dgm:cxn modelId="{7110DFA4-3A42-4CD9-902F-F9A38598C787}" type="presOf" srcId="{FD71F720-7117-004B-AC5A-D460988AC984}" destId="{A5EB7728-0CFE-F34C-8556-C51AA098C843}" srcOrd="0" destOrd="0" presId="urn:microsoft.com/office/officeart/2005/8/layout/cycle1"/>
    <dgm:cxn modelId="{AD3395E4-6E90-4CC7-962E-9F52C94828CD}" type="presOf" srcId="{85B2FDBE-6BD3-7C40-A2F1-DFC503BD50D1}" destId="{AC947444-7A7C-D941-AEFF-1C47B13DAC47}" srcOrd="0" destOrd="0" presId="urn:microsoft.com/office/officeart/2005/8/layout/cycle1"/>
    <dgm:cxn modelId="{0ADD775A-1474-45D6-A435-A1684E85E506}" type="presParOf" srcId="{BED6F8E2-DD01-F345-A383-2532A1279DAE}" destId="{B67DF7A4-DAA7-4C4C-B355-38F3BECD05CC}" srcOrd="0" destOrd="0" presId="urn:microsoft.com/office/officeart/2005/8/layout/cycle1"/>
    <dgm:cxn modelId="{A5DF9A26-7A49-4D70-9452-4F03D65DA51D}" type="presParOf" srcId="{BED6F8E2-DD01-F345-A383-2532A1279DAE}" destId="{A5EB7728-0CFE-F34C-8556-C51AA098C843}" srcOrd="1" destOrd="0" presId="urn:microsoft.com/office/officeart/2005/8/layout/cycle1"/>
    <dgm:cxn modelId="{25F5E90F-3471-48DE-9773-4D8B54242A1D}" type="presParOf" srcId="{BED6F8E2-DD01-F345-A383-2532A1279DAE}" destId="{F0504AC8-1DC3-A849-B9E9-2A8E165C9557}" srcOrd="2" destOrd="0" presId="urn:microsoft.com/office/officeart/2005/8/layout/cycle1"/>
    <dgm:cxn modelId="{1B4EB410-4DAD-4EA7-B848-3C2D9F365C9B}" type="presParOf" srcId="{BED6F8E2-DD01-F345-A383-2532A1279DAE}" destId="{DCAB9AE5-BE30-154B-AD9D-49661E06F67E}" srcOrd="3" destOrd="0" presId="urn:microsoft.com/office/officeart/2005/8/layout/cycle1"/>
    <dgm:cxn modelId="{77DDA996-32F3-4172-8751-37A76CFBC93A}" type="presParOf" srcId="{BED6F8E2-DD01-F345-A383-2532A1279DAE}" destId="{A702634D-C9AD-CD45-8D8D-F56172639FA1}" srcOrd="4" destOrd="0" presId="urn:microsoft.com/office/officeart/2005/8/layout/cycle1"/>
    <dgm:cxn modelId="{97CE4EF7-3069-4FE1-A0E0-DF4CFDEB91E1}" type="presParOf" srcId="{BED6F8E2-DD01-F345-A383-2532A1279DAE}" destId="{E87D77B8-9690-1249-AEF5-5A417D6C28FD}" srcOrd="5" destOrd="0" presId="urn:microsoft.com/office/officeart/2005/8/layout/cycle1"/>
    <dgm:cxn modelId="{E0DC3C1E-20FE-4FCD-A2F0-B738DA7C4AFB}" type="presParOf" srcId="{BED6F8E2-DD01-F345-A383-2532A1279DAE}" destId="{08E7205A-5F8C-3148-ABDC-8025D7AC39EC}" srcOrd="6" destOrd="0" presId="urn:microsoft.com/office/officeart/2005/8/layout/cycle1"/>
    <dgm:cxn modelId="{BE9C5337-9DB6-495D-860B-80FFB0237D7B}" type="presParOf" srcId="{BED6F8E2-DD01-F345-A383-2532A1279DAE}" destId="{9521A6B6-F2AB-9044-92C6-BF6E78C6D5AF}" srcOrd="7" destOrd="0" presId="urn:microsoft.com/office/officeart/2005/8/layout/cycle1"/>
    <dgm:cxn modelId="{FB746F2D-A50F-40F4-97F6-1E89FFCA7966}" type="presParOf" srcId="{BED6F8E2-DD01-F345-A383-2532A1279DAE}" destId="{C167F3B0-F862-D44A-B074-8F02C3C74A8D}" srcOrd="8" destOrd="0" presId="urn:microsoft.com/office/officeart/2005/8/layout/cycle1"/>
    <dgm:cxn modelId="{1071DB20-4261-474C-A6C5-83C571501880}" type="presParOf" srcId="{BED6F8E2-DD01-F345-A383-2532A1279DAE}" destId="{ECC6629C-BA1F-E44B-9FEF-30D5A9FDAC92}" srcOrd="9" destOrd="0" presId="urn:microsoft.com/office/officeart/2005/8/layout/cycle1"/>
    <dgm:cxn modelId="{CA5D7E5E-2E6E-476B-9652-BFB50A356BE0}" type="presParOf" srcId="{BED6F8E2-DD01-F345-A383-2532A1279DAE}" destId="{AC947444-7A7C-D941-AEFF-1C47B13DAC47}" srcOrd="10" destOrd="0" presId="urn:microsoft.com/office/officeart/2005/8/layout/cycle1"/>
    <dgm:cxn modelId="{769ECDD0-5B49-41B2-9E84-09F35EFB503C}" type="presParOf" srcId="{BED6F8E2-DD01-F345-A383-2532A1279DAE}" destId="{47C9C02B-5727-044D-B31C-27C5D4C512FC}" srcOrd="11" destOrd="0" presId="urn:microsoft.com/office/officeart/2005/8/layout/cycle1"/>
    <dgm:cxn modelId="{8B77F084-9B7D-4663-90AE-FC0775B89757}" type="presParOf" srcId="{BED6F8E2-DD01-F345-A383-2532A1279DAE}" destId="{3E565B5C-4F13-CB42-8907-9BC95A49F4E4}" srcOrd="12" destOrd="0" presId="urn:microsoft.com/office/officeart/2005/8/layout/cycle1"/>
    <dgm:cxn modelId="{F5F708F7-DA47-4BDF-ABE3-C644C449C65A}" type="presParOf" srcId="{BED6F8E2-DD01-F345-A383-2532A1279DAE}" destId="{5C02828A-D26C-2A42-884E-029B4EEF308E}" srcOrd="13" destOrd="0" presId="urn:microsoft.com/office/officeart/2005/8/layout/cycle1"/>
    <dgm:cxn modelId="{F365AD82-2D52-4A4D-BC8D-34A5A69BCC4D}" type="presParOf" srcId="{BED6F8E2-DD01-F345-A383-2532A1279DAE}" destId="{D62C2CF4-93A5-F142-BC70-BC682063016D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B7728-0CFE-F34C-8556-C51AA098C843}">
      <dsp:nvSpPr>
        <dsp:cNvPr id="0" name=""/>
        <dsp:cNvSpPr/>
      </dsp:nvSpPr>
      <dsp:spPr>
        <a:xfrm>
          <a:off x="3401499" y="33118"/>
          <a:ext cx="1152600" cy="115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2 . </a:t>
          </a:r>
          <a:r>
            <a:rPr lang="pt-BR" sz="1800" b="1" kern="1200" dirty="0" smtClean="0">
              <a:solidFill>
                <a:schemeClr val="tx2"/>
              </a:solidFill>
            </a:rPr>
            <a:t>Mapear o fluxo de valor</a:t>
          </a:r>
          <a:endParaRPr lang="en-US" sz="1800" b="1" kern="1200" dirty="0">
            <a:solidFill>
              <a:schemeClr val="tx2"/>
            </a:solidFill>
          </a:endParaRPr>
        </a:p>
      </dsp:txBody>
      <dsp:txXfrm>
        <a:off x="3401499" y="33118"/>
        <a:ext cx="1152600" cy="1152600"/>
      </dsp:txXfrm>
    </dsp:sp>
    <dsp:sp modelId="{F0504AC8-1DC3-A849-B9E9-2A8E165C9557}">
      <dsp:nvSpPr>
        <dsp:cNvPr id="0" name=""/>
        <dsp:cNvSpPr/>
      </dsp:nvSpPr>
      <dsp:spPr>
        <a:xfrm>
          <a:off x="690156" y="-227"/>
          <a:ext cx="4321442" cy="4321442"/>
        </a:xfrm>
        <a:prstGeom prst="circularArrow">
          <a:avLst>
            <a:gd name="adj1" fmla="val 5201"/>
            <a:gd name="adj2" fmla="val 335973"/>
            <a:gd name="adj3" fmla="val 21292999"/>
            <a:gd name="adj4" fmla="val 19766451"/>
            <a:gd name="adj5" fmla="val 606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02634D-C9AD-CD45-8D8D-F56172639FA1}">
      <dsp:nvSpPr>
        <dsp:cNvPr id="0" name=""/>
        <dsp:cNvSpPr/>
      </dsp:nvSpPr>
      <dsp:spPr>
        <a:xfrm>
          <a:off x="4097975" y="2176651"/>
          <a:ext cx="1152600" cy="115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3. </a:t>
          </a:r>
          <a:r>
            <a:rPr lang="pt-BR" sz="1800" b="1" kern="1200" dirty="0" smtClean="0">
              <a:solidFill>
                <a:schemeClr val="tx2"/>
              </a:solidFill>
            </a:rPr>
            <a:t>Criar o fluxo</a:t>
          </a:r>
          <a:endParaRPr lang="en-US" sz="1800" b="1" kern="1200" dirty="0">
            <a:solidFill>
              <a:schemeClr val="tx2"/>
            </a:solidFill>
          </a:endParaRPr>
        </a:p>
      </dsp:txBody>
      <dsp:txXfrm>
        <a:off x="4097975" y="2176651"/>
        <a:ext cx="1152600" cy="1152600"/>
      </dsp:txXfrm>
    </dsp:sp>
    <dsp:sp modelId="{E87D77B8-9690-1249-AEF5-5A417D6C28FD}">
      <dsp:nvSpPr>
        <dsp:cNvPr id="0" name=""/>
        <dsp:cNvSpPr/>
      </dsp:nvSpPr>
      <dsp:spPr>
        <a:xfrm>
          <a:off x="690156" y="-227"/>
          <a:ext cx="4321442" cy="4321442"/>
        </a:xfrm>
        <a:prstGeom prst="circularArrow">
          <a:avLst>
            <a:gd name="adj1" fmla="val 5201"/>
            <a:gd name="adj2" fmla="val 335973"/>
            <a:gd name="adj3" fmla="val 4014447"/>
            <a:gd name="adj4" fmla="val 2253663"/>
            <a:gd name="adj5" fmla="val 606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21A6B6-F2AB-9044-92C6-BF6E78C6D5AF}">
      <dsp:nvSpPr>
        <dsp:cNvPr id="0" name=""/>
        <dsp:cNvSpPr/>
      </dsp:nvSpPr>
      <dsp:spPr>
        <a:xfrm>
          <a:off x="2274577" y="3501427"/>
          <a:ext cx="1152600" cy="115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4. </a:t>
          </a:r>
          <a:r>
            <a:rPr lang="pt-BR" sz="1800" b="1" kern="1200" dirty="0" smtClean="0">
              <a:solidFill>
                <a:schemeClr val="tx2"/>
              </a:solidFill>
            </a:rPr>
            <a:t>Estabelecer o </a:t>
          </a:r>
          <a:r>
            <a:rPr lang="pt-BR" sz="1800" b="1" kern="1200" dirty="0" err="1" smtClean="0">
              <a:solidFill>
                <a:schemeClr val="tx2"/>
              </a:solidFill>
            </a:rPr>
            <a:t>pull</a:t>
          </a:r>
          <a:endParaRPr lang="en-US" sz="1800" b="1" kern="1200" dirty="0">
            <a:solidFill>
              <a:schemeClr val="tx2"/>
            </a:solidFill>
          </a:endParaRPr>
        </a:p>
      </dsp:txBody>
      <dsp:txXfrm>
        <a:off x="2274577" y="3501427"/>
        <a:ext cx="1152600" cy="1152600"/>
      </dsp:txXfrm>
    </dsp:sp>
    <dsp:sp modelId="{C167F3B0-F862-D44A-B074-8F02C3C74A8D}">
      <dsp:nvSpPr>
        <dsp:cNvPr id="0" name=""/>
        <dsp:cNvSpPr/>
      </dsp:nvSpPr>
      <dsp:spPr>
        <a:xfrm>
          <a:off x="545776" y="21941"/>
          <a:ext cx="4321442" cy="4321442"/>
        </a:xfrm>
        <a:prstGeom prst="circularArrow">
          <a:avLst>
            <a:gd name="adj1" fmla="val 5201"/>
            <a:gd name="adj2" fmla="val 335973"/>
            <a:gd name="adj3" fmla="val 8210364"/>
            <a:gd name="adj4" fmla="val 6449581"/>
            <a:gd name="adj5" fmla="val 606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947444-7A7C-D941-AEFF-1C47B13DAC47}">
      <dsp:nvSpPr>
        <dsp:cNvPr id="0" name=""/>
        <dsp:cNvSpPr/>
      </dsp:nvSpPr>
      <dsp:spPr>
        <a:xfrm>
          <a:off x="451178" y="2176651"/>
          <a:ext cx="1152600" cy="115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5. </a:t>
          </a:r>
          <a:r>
            <a:rPr lang="pt-BR" sz="1800" b="1" kern="1200" dirty="0" smtClean="0">
              <a:solidFill>
                <a:schemeClr val="tx2"/>
              </a:solidFill>
            </a:rPr>
            <a:t>Perseguir a perfeição</a:t>
          </a:r>
          <a:endParaRPr lang="en-US" sz="1800" b="1" kern="1200" dirty="0">
            <a:solidFill>
              <a:schemeClr val="tx2"/>
            </a:solidFill>
          </a:endParaRPr>
        </a:p>
      </dsp:txBody>
      <dsp:txXfrm>
        <a:off x="451178" y="2176651"/>
        <a:ext cx="1152600" cy="1152600"/>
      </dsp:txXfrm>
    </dsp:sp>
    <dsp:sp modelId="{47C9C02B-5727-044D-B31C-27C5D4C512FC}">
      <dsp:nvSpPr>
        <dsp:cNvPr id="0" name=""/>
        <dsp:cNvSpPr/>
      </dsp:nvSpPr>
      <dsp:spPr>
        <a:xfrm>
          <a:off x="690156" y="-227"/>
          <a:ext cx="4321442" cy="4321442"/>
        </a:xfrm>
        <a:prstGeom prst="circularArrow">
          <a:avLst>
            <a:gd name="adj1" fmla="val 5201"/>
            <a:gd name="adj2" fmla="val 335973"/>
            <a:gd name="adj3" fmla="val 12297576"/>
            <a:gd name="adj4" fmla="val 10771028"/>
            <a:gd name="adj5" fmla="val 606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C02828A-D26C-2A42-884E-029B4EEF308E}">
      <dsp:nvSpPr>
        <dsp:cNvPr id="0" name=""/>
        <dsp:cNvSpPr/>
      </dsp:nvSpPr>
      <dsp:spPr>
        <a:xfrm>
          <a:off x="1147655" y="33118"/>
          <a:ext cx="1152600" cy="115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/>
              </a:solidFill>
            </a:rPr>
            <a:t>1 . </a:t>
          </a:r>
          <a:r>
            <a:rPr lang="pt-BR" sz="1800" b="1" kern="1200" dirty="0" smtClean="0">
              <a:solidFill>
                <a:schemeClr val="tx2"/>
              </a:solidFill>
            </a:rPr>
            <a:t>Identificar o valor</a:t>
          </a:r>
          <a:endParaRPr lang="en-US" sz="1800" b="1" kern="1200" dirty="0">
            <a:solidFill>
              <a:schemeClr val="tx2"/>
            </a:solidFill>
          </a:endParaRPr>
        </a:p>
      </dsp:txBody>
      <dsp:txXfrm>
        <a:off x="1147655" y="33118"/>
        <a:ext cx="1152600" cy="1152600"/>
      </dsp:txXfrm>
    </dsp:sp>
    <dsp:sp modelId="{D62C2CF4-93A5-F142-BC70-BC682063016D}">
      <dsp:nvSpPr>
        <dsp:cNvPr id="0" name=""/>
        <dsp:cNvSpPr/>
      </dsp:nvSpPr>
      <dsp:spPr>
        <a:xfrm>
          <a:off x="690156" y="-227"/>
          <a:ext cx="4321442" cy="4321442"/>
        </a:xfrm>
        <a:prstGeom prst="circularArrow">
          <a:avLst>
            <a:gd name="adj1" fmla="val 5201"/>
            <a:gd name="adj2" fmla="val 335973"/>
            <a:gd name="adj3" fmla="val 16865436"/>
            <a:gd name="adj4" fmla="val 15198591"/>
            <a:gd name="adj5" fmla="val 606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6E840-118A-4228-B588-9ED35868DB50}" type="datetimeFigureOut">
              <a:rPr lang="pt-BR" smtClean="0"/>
              <a:t>26/06/2015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730B6-C218-43B1-9CC9-88526DF8EF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404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9014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4090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3204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1361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1445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5028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5620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064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7718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6476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1499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6101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449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8604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0394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225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2701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3995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1939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811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0194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1366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63940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9627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05320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51107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79835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06171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89498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1405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67366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3018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34295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32222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6550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2894844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41575695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pt-BR" smtClean="0"/>
          </a:p>
          <a:p>
            <a:pPr eaLnBrk="1" hangingPunct="1"/>
            <a:endParaRPr lang="en-US" altLang="pt-BR" smtClean="0"/>
          </a:p>
        </p:txBody>
      </p:sp>
    </p:spTree>
    <p:extLst>
      <p:ext uri="{BB962C8B-B14F-4D97-AF65-F5344CB8AC3E}">
        <p14:creationId xmlns:p14="http://schemas.microsoft.com/office/powerpoint/2010/main" val="3724654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424667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60738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575561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187281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31999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9088" y="534988"/>
            <a:ext cx="3429000" cy="257175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7084" y="3269456"/>
            <a:ext cx="6711949" cy="305395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pt-BR" smtClean="0"/>
          </a:p>
        </p:txBody>
      </p:sp>
    </p:spTree>
    <p:extLst>
      <p:ext uri="{BB962C8B-B14F-4D97-AF65-F5344CB8AC3E}">
        <p14:creationId xmlns:p14="http://schemas.microsoft.com/office/powerpoint/2010/main" val="26188180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839083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90516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135269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824001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724239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482307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90258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672431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7483795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886270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6169907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8666802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036068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77009589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061889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5179484" y="6513910"/>
            <a:ext cx="39624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/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es-ES" altLang="pt-BR">
                <a:solidFill>
                  <a:schemeClr val="tx1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6206466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Notas</a:t>
            </a:r>
            <a:r>
              <a:rPr lang="en-US" b="1" dirty="0" smtClean="0"/>
              <a:t> </a:t>
            </a:r>
            <a:r>
              <a:rPr lang="en-US" b="1" dirty="0" err="1" smtClean="0"/>
              <a:t>para</a:t>
            </a:r>
            <a:r>
              <a:rPr lang="en-US" b="1" dirty="0" smtClean="0"/>
              <a:t> </a:t>
            </a:r>
            <a:r>
              <a:rPr lang="en-US" b="1" dirty="0" err="1" smtClean="0"/>
              <a:t>Instrutores</a:t>
            </a:r>
            <a:r>
              <a:rPr lang="en-US" b="1" dirty="0" smtClean="0"/>
              <a:t>:</a:t>
            </a:r>
          </a:p>
          <a:p>
            <a:endParaRPr lang="en-US" b="1" dirty="0" smtClean="0"/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Versão 1.0 – Junho/13 – Primeira versão publicada.</a:t>
            </a:r>
          </a:p>
          <a:p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Versão 1.1 – Julho/13 – Adicionados</a:t>
            </a:r>
            <a:r>
              <a:rPr lang="pt-B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exercícios e revisão geral.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Versão 1.2 – Dezembro/14 –  Revisado</a:t>
            </a:r>
            <a:r>
              <a:rPr lang="pt-B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layout do material.</a:t>
            </a: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08B16-E63F-B043-BD6C-C2E672D5AD5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3529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defTabSz="954999">
              <a:defRPr/>
            </a:pPr>
            <a:r>
              <a:rPr lang="en-US" b="1" dirty="0" err="1" smtClean="0">
                <a:latin typeface="Calibri" charset="0"/>
              </a:rPr>
              <a:t>Notas</a:t>
            </a:r>
            <a:r>
              <a:rPr lang="en-US" b="1" dirty="0" smtClean="0">
                <a:latin typeface="Calibri" charset="0"/>
              </a:rPr>
              <a:t> para </a:t>
            </a:r>
            <a:r>
              <a:rPr lang="en-US" b="1" dirty="0" err="1" smtClean="0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</a:p>
          <a:p>
            <a:pPr algn="just">
              <a:defRPr/>
            </a:pPr>
            <a:endParaRPr lang="en-US" sz="1300" dirty="0"/>
          </a:p>
          <a:p>
            <a:pPr algn="just"/>
            <a:r>
              <a:rPr lang="nl-NL" sz="1400" dirty="0" smtClean="0"/>
              <a:t>Lean aborda como tornar sua organização mais eficiente e capaz de responder as demandas atuais externas. </a:t>
            </a:r>
          </a:p>
          <a:p>
            <a:pPr algn="just"/>
            <a:endParaRPr lang="nl-NL" sz="1400" dirty="0" smtClean="0"/>
          </a:p>
          <a:p>
            <a:pPr algn="just"/>
            <a:r>
              <a:rPr lang="nl-NL" sz="1400" dirty="0" smtClean="0"/>
              <a:t>Este exame é baseado nos cinco princípios Lean, na importância do Gerenciamento Lean, na psicologia da mudança numa abordagem Lean e no conteúdo dos projetos de Lean IT</a:t>
            </a:r>
            <a:r>
              <a:rPr lang="pt-BR" sz="1400" dirty="0" smtClean="0"/>
              <a:t>.</a:t>
            </a:r>
          </a:p>
          <a:p>
            <a:pPr algn="just">
              <a:defRPr/>
            </a:pPr>
            <a:endParaRPr lang="en-US" sz="13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06392D-EEFC-4071-881F-E2EFD4DB4A4E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4596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As raízes do pensamento </a:t>
            </a:r>
            <a:r>
              <a:rPr lang="pt-BR" sz="1900" dirty="0" err="1" smtClean="0"/>
              <a:t>Lean</a:t>
            </a:r>
            <a:r>
              <a:rPr lang="pt-BR" sz="1900" dirty="0" smtClean="0"/>
              <a:t> podem ser rastreadas até o fundador da companhia Toyota , </a:t>
            </a:r>
            <a:r>
              <a:rPr lang="pt-BR" sz="1900" dirty="0" err="1" smtClean="0"/>
              <a:t>Sakichi</a:t>
            </a:r>
            <a:r>
              <a:rPr lang="pt-BR" sz="1900" dirty="0" smtClean="0"/>
              <a:t> </a:t>
            </a:r>
            <a:r>
              <a:rPr lang="pt-BR" sz="1900" dirty="0" err="1" smtClean="0"/>
              <a:t>Toyoda</a:t>
            </a:r>
            <a:r>
              <a:rPr lang="pt-BR" sz="1900" dirty="0" smtClean="0"/>
              <a:t> (1867-1930).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O conceito de “eficiência da produção aumentado de forma consistente e eliminando o desperdício completamente“, bem como o respeito pela humanidade foi passada por ele a seu filho </a:t>
            </a:r>
            <a:r>
              <a:rPr lang="pt-BR" sz="1900" dirty="0" err="1" smtClean="0"/>
              <a:t>Kiichiro</a:t>
            </a:r>
            <a:r>
              <a:rPr lang="pt-BR" sz="1900" dirty="0" smtClean="0"/>
              <a:t> </a:t>
            </a:r>
            <a:r>
              <a:rPr lang="pt-BR" sz="1900" dirty="0" err="1" smtClean="0"/>
              <a:t>Toyoda</a:t>
            </a:r>
            <a:r>
              <a:rPr lang="pt-BR" sz="1900" dirty="0" smtClean="0"/>
              <a:t> (1894-1952). </a:t>
            </a:r>
            <a:r>
              <a:rPr lang="pt-BR" sz="1500" dirty="0" smtClean="0"/>
              <a:t> </a:t>
            </a:r>
            <a:r>
              <a:rPr lang="pt-BR" sz="2000" dirty="0" smtClean="0"/>
              <a:t>(Fonte: </a:t>
            </a:r>
            <a:r>
              <a:rPr lang="pt-BR" sz="2000" dirty="0" err="1" smtClean="0"/>
              <a:t>Ohno</a:t>
            </a:r>
            <a:r>
              <a:rPr lang="pt-BR" sz="2000" dirty="0" smtClean="0"/>
              <a:t>, 1988) 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5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O Sistema Toyota de Produção (STP) foi finalmente desenvolvido por </a:t>
            </a:r>
            <a:r>
              <a:rPr lang="pt-BR" sz="1900" dirty="0" err="1" smtClean="0"/>
              <a:t>Taiichi</a:t>
            </a:r>
            <a:r>
              <a:rPr lang="pt-BR" sz="1900" dirty="0" smtClean="0"/>
              <a:t> </a:t>
            </a:r>
            <a:r>
              <a:rPr lang="pt-BR" sz="1900" dirty="0" err="1" smtClean="0"/>
              <a:t>Ohno</a:t>
            </a:r>
            <a:r>
              <a:rPr lang="pt-BR" sz="1900" dirty="0" smtClean="0"/>
              <a:t>, </a:t>
            </a:r>
            <a:r>
              <a:rPr lang="pt-BR" sz="1900" dirty="0" err="1" smtClean="0"/>
              <a:t>Shigeo</a:t>
            </a:r>
            <a:r>
              <a:rPr lang="pt-BR" sz="1900" dirty="0" smtClean="0"/>
              <a:t> </a:t>
            </a:r>
            <a:r>
              <a:rPr lang="pt-BR" sz="1900" dirty="0" err="1" smtClean="0"/>
              <a:t>Shingo</a:t>
            </a:r>
            <a:r>
              <a:rPr lang="pt-BR" sz="1900" dirty="0" smtClean="0"/>
              <a:t> e </a:t>
            </a:r>
            <a:r>
              <a:rPr lang="pt-BR" sz="1900" dirty="0" err="1" smtClean="0"/>
              <a:t>Eiji</a:t>
            </a:r>
            <a:r>
              <a:rPr lang="pt-BR" sz="1900" dirty="0" smtClean="0"/>
              <a:t> </a:t>
            </a:r>
            <a:r>
              <a:rPr lang="pt-BR" sz="1900" dirty="0" err="1" smtClean="0"/>
              <a:t>Toyoda</a:t>
            </a:r>
            <a:r>
              <a:rPr lang="pt-BR" sz="1900" dirty="0" smtClean="0"/>
              <a:t>, entre 1948 e 1975. O verdadeiro destaque do pensamento </a:t>
            </a:r>
            <a:r>
              <a:rPr lang="pt-BR" sz="1900" dirty="0" err="1" smtClean="0"/>
              <a:t>Lean</a:t>
            </a:r>
            <a:r>
              <a:rPr lang="pt-BR" sz="1900" dirty="0" smtClean="0"/>
              <a:t> no STP foi apenas demonstrado ao mundo quando as economias e organizações em todo o mundo estavam tentando se recuperar partir da crise global do petróleo de 1973.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Enquanto a maioria das empresas experimentava uma lenta recuperação da crise no período de 1974-1977, a Toyota estava se recuperando significativamente melhor. </a:t>
            </a:r>
          </a:p>
          <a:p>
            <a:pPr marL="309524" indent="-309524">
              <a:buFont typeface="Arial"/>
              <a:buChar char="•"/>
            </a:pPr>
            <a:endParaRPr lang="pt-BR" sz="1900" dirty="0" smtClean="0">
              <a:latin typeface="Arial" charset="0"/>
            </a:endParaRPr>
          </a:p>
          <a:p>
            <a:pPr marL="309524" indent="-309524">
              <a:buFont typeface="Arial"/>
              <a:buChar char="•"/>
            </a:pPr>
            <a:r>
              <a:rPr lang="pt-BR" sz="1300" dirty="0" err="1" smtClean="0"/>
              <a:t>Taiichi</a:t>
            </a:r>
            <a:r>
              <a:rPr lang="pt-BR" sz="1300" dirty="0" smtClean="0"/>
              <a:t> </a:t>
            </a:r>
            <a:r>
              <a:rPr lang="pt-BR" sz="1300" dirty="0" err="1" smtClean="0"/>
              <a:t>Ohno</a:t>
            </a:r>
            <a:r>
              <a:rPr lang="pt-BR" sz="1300" dirty="0" smtClean="0"/>
              <a:t> é considerado o criador do Sistema Toyota de Produção e o pai do Sistema </a:t>
            </a:r>
            <a:r>
              <a:rPr lang="pt-BR" sz="1300" dirty="0" err="1" smtClean="0"/>
              <a:t>Kanban</a:t>
            </a:r>
            <a:r>
              <a:rPr lang="pt-BR" sz="1300" dirty="0" smtClean="0"/>
              <a:t>.</a:t>
            </a:r>
          </a:p>
          <a:p>
            <a:pPr marL="309524" indent="-309524">
              <a:buFont typeface="Arial"/>
              <a:buChar char="•"/>
            </a:pPr>
            <a:endParaRPr lang="pt-BR" sz="1300" dirty="0" smtClean="0"/>
          </a:p>
          <a:p>
            <a:pPr marL="309524" indent="-309524">
              <a:buFont typeface="Arial"/>
              <a:buChar char="•"/>
            </a:pPr>
            <a:r>
              <a:rPr lang="pt-BR" sz="1300" dirty="0" smtClean="0"/>
              <a:t>Em 1988, escreveu e publicou um livro (O Sistema Toyota de Produção: Além da Produção em Larga Escala) que traz as inovações que caracterizam o sistema dentro do contexto histórico em que foram surgindo e sendo implementadas. Ele mostra, também, quais eram os problemas da produção em massa na indústria automobilística e como a Toyota veio a superá-los.</a:t>
            </a:r>
            <a:endParaRPr lang="en-US" sz="19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A chave para o sucesso do Sistema Toyota de Produção foi o estudo da linha do tempo (</a:t>
            </a:r>
            <a:r>
              <a:rPr lang="pt-BR" sz="1900" i="1" dirty="0" err="1" smtClean="0"/>
              <a:t>timeline</a:t>
            </a:r>
            <a:r>
              <a:rPr lang="pt-BR" sz="1900" dirty="0" smtClean="0"/>
              <a:t>) entre o pedido do cliente e a </a:t>
            </a:r>
            <a:r>
              <a:rPr lang="pt-BR" sz="1900" dirty="0" smtClean="0">
                <a:solidFill>
                  <a:srgbClr val="FF0000"/>
                </a:solidFill>
              </a:rPr>
              <a:t>receita gerada / dinheiro ganho </a:t>
            </a:r>
            <a:r>
              <a:rPr lang="pt-BR" sz="1900" dirty="0" smtClean="0"/>
              <a:t>no final da linha de produção.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O principal objetivo era reduzir a linha do tempo, removendo “resíduos sem valor agregado " (</a:t>
            </a:r>
            <a:r>
              <a:rPr lang="pt-BR" sz="1900" dirty="0" err="1" smtClean="0"/>
              <a:t>Ohno</a:t>
            </a:r>
            <a:r>
              <a:rPr lang="pt-BR" sz="1900" dirty="0" smtClean="0"/>
              <a:t>, 1988). 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Este capítulo trata uma descrição resumida da história do Sistema Toyota de Produção que iniciou o pensamento </a:t>
            </a:r>
            <a:r>
              <a:rPr lang="pt-BR" sz="1900" dirty="0" err="1" smtClean="0"/>
              <a:t>Lean</a:t>
            </a:r>
            <a:r>
              <a:rPr lang="pt-BR" sz="1900" dirty="0" smtClean="0"/>
              <a:t>, as práticas </a:t>
            </a:r>
            <a:r>
              <a:rPr lang="pt-BR" sz="1900" dirty="0" err="1" smtClean="0"/>
              <a:t>Lean</a:t>
            </a:r>
            <a:r>
              <a:rPr lang="pt-BR" sz="1900" dirty="0" smtClean="0"/>
              <a:t> e os fatores decisivos para o seu desenvolvimento.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900" dirty="0" smtClean="0"/>
              <a:t>Além disso, serão discutidas diferentes abordagens para o </a:t>
            </a:r>
            <a:r>
              <a:rPr lang="pt-BR" sz="1900" dirty="0" err="1" smtClean="0"/>
              <a:t>Lean</a:t>
            </a:r>
            <a:r>
              <a:rPr lang="pt-BR" sz="1900" dirty="0" smtClean="0"/>
              <a:t> IT e TI em </a:t>
            </a:r>
            <a:r>
              <a:rPr lang="pt-BR" sz="1900" dirty="0" err="1" smtClean="0"/>
              <a:t>Lean</a:t>
            </a:r>
            <a:r>
              <a:rPr lang="pt-BR" sz="1900" dirty="0" smtClean="0"/>
              <a:t>, o </a:t>
            </a:r>
            <a:r>
              <a:rPr lang="pt-BR" sz="1900" i="1" dirty="0" smtClean="0"/>
              <a:t>business case</a:t>
            </a:r>
            <a:r>
              <a:rPr lang="pt-BR" sz="1900" dirty="0" smtClean="0"/>
              <a:t> para adoção </a:t>
            </a:r>
            <a:r>
              <a:rPr lang="pt-BR" sz="1900" dirty="0" err="1" smtClean="0"/>
              <a:t>Lean</a:t>
            </a:r>
            <a:r>
              <a:rPr lang="pt-BR" sz="1900" dirty="0" smtClean="0"/>
              <a:t> e os princípios por trás da abordagem </a:t>
            </a:r>
            <a:r>
              <a:rPr lang="pt-BR" sz="1900" dirty="0" err="1" smtClean="0"/>
              <a:t>Lean</a:t>
            </a:r>
            <a:r>
              <a:rPr lang="pt-BR" sz="1900" dirty="0" smtClean="0"/>
              <a:t>.</a:t>
            </a:r>
            <a:endParaRPr lang="pt-BR" sz="19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marL="309524" indent="-309524" algn="just">
              <a:buFont typeface="Arial" pitchFamily="34" charset="0"/>
              <a:buChar char="•"/>
            </a:pPr>
            <a:r>
              <a:rPr lang="pt-BR" sz="1900" dirty="0" smtClean="0"/>
              <a:t>Quais foram as razões para Toyota para desenvolver o seu sistema, e por que vir a ser tão bem sucedida?</a:t>
            </a:r>
          </a:p>
          <a:p>
            <a:pPr marL="309524" indent="-309524" algn="just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 algn="just">
              <a:buFont typeface="Arial" pitchFamily="34" charset="0"/>
              <a:buChar char="•"/>
            </a:pPr>
            <a:r>
              <a:rPr lang="pt-BR" sz="1900" dirty="0" smtClean="0"/>
              <a:t>O STP e suas partes constituintes foram estruturados e retratados por Jon Miller, em 2007, no formato de uma casa.</a:t>
            </a:r>
          </a:p>
          <a:p>
            <a:pPr marL="309524" indent="-309524" algn="just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 algn="just">
              <a:buFont typeface="Arial" pitchFamily="34" charset="0"/>
              <a:buChar char="•"/>
            </a:pPr>
            <a:r>
              <a:rPr lang="pt-BR" sz="1900" dirty="0" smtClean="0"/>
              <a:t>Em seu livro "Sistema Toyota de Produção, além da produção em larga escala“, </a:t>
            </a:r>
            <a:r>
              <a:rPr lang="pt-BR" sz="1900" dirty="0" err="1" smtClean="0"/>
              <a:t>Taiichi</a:t>
            </a:r>
            <a:r>
              <a:rPr lang="pt-BR" sz="1900" dirty="0" smtClean="0"/>
              <a:t> </a:t>
            </a:r>
            <a:r>
              <a:rPr lang="pt-BR" sz="1900" dirty="0" err="1" smtClean="0"/>
              <a:t>Ohno</a:t>
            </a:r>
            <a:r>
              <a:rPr lang="pt-BR" sz="1900" dirty="0" smtClean="0"/>
              <a:t> descreve os fatores decisivos para o desenvolvimento do STP. </a:t>
            </a:r>
          </a:p>
          <a:p>
            <a:pPr marL="309524" indent="-309524">
              <a:buFont typeface="Arial"/>
              <a:buChar char="•"/>
            </a:pPr>
            <a:endParaRPr lang="en-US" sz="19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marL="309524" indent="-309524" algn="just">
              <a:buFont typeface="Arial" pitchFamily="34" charset="0"/>
              <a:buChar char="•"/>
            </a:pPr>
            <a:r>
              <a:rPr lang="pt-BR" sz="1900" dirty="0" smtClean="0"/>
              <a:t>Quais foram as razões para Toyota para desenvolver o seu sistema, e por que vir a ser tão bem sucedida?</a:t>
            </a:r>
          </a:p>
          <a:p>
            <a:pPr marL="309524" indent="-309524" algn="just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 algn="just">
              <a:buFont typeface="Arial" pitchFamily="34" charset="0"/>
              <a:buChar char="•"/>
            </a:pPr>
            <a:r>
              <a:rPr lang="pt-BR" sz="1900" dirty="0" smtClean="0"/>
              <a:t>O STP e suas partes constituintes foram estruturados e retratados por Jon Miller, em 2007, no formato de uma casa.</a:t>
            </a:r>
          </a:p>
          <a:p>
            <a:pPr marL="309524" indent="-309524" algn="just">
              <a:buFont typeface="Arial" pitchFamily="34" charset="0"/>
              <a:buChar char="•"/>
            </a:pPr>
            <a:endParaRPr lang="pt-BR" sz="1900" dirty="0" smtClean="0"/>
          </a:p>
          <a:p>
            <a:pPr marL="309524" indent="-309524" algn="just">
              <a:buFont typeface="Arial" pitchFamily="34" charset="0"/>
              <a:buChar char="•"/>
            </a:pPr>
            <a:r>
              <a:rPr lang="pt-BR" sz="1900" dirty="0" smtClean="0"/>
              <a:t>Em seu livro "Sistema Toyota de Produção, além da produção em larga escala“, </a:t>
            </a:r>
            <a:r>
              <a:rPr lang="pt-BR" sz="1900" dirty="0" err="1" smtClean="0"/>
              <a:t>Taiichi</a:t>
            </a:r>
            <a:r>
              <a:rPr lang="pt-BR" sz="1900" dirty="0" smtClean="0"/>
              <a:t> </a:t>
            </a:r>
            <a:r>
              <a:rPr lang="pt-BR" sz="1900" dirty="0" err="1" smtClean="0"/>
              <a:t>Ohno</a:t>
            </a:r>
            <a:r>
              <a:rPr lang="pt-BR" sz="1900" dirty="0" smtClean="0"/>
              <a:t> descreve os fatores decisivos para o desenvolvimento do STP. </a:t>
            </a:r>
          </a:p>
          <a:p>
            <a:pPr marL="309524" indent="-309524">
              <a:buFont typeface="Arial"/>
              <a:buChar char="•"/>
            </a:pPr>
            <a:endParaRPr lang="en-US" sz="19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/>
            <a:r>
              <a:rPr lang="pt-BR" sz="1200" dirty="0" smtClean="0"/>
              <a:t>1.1.3 - Just-In-Time e </a:t>
            </a:r>
            <a:r>
              <a:rPr lang="pt-BR" sz="1200" dirty="0" err="1" smtClean="0"/>
              <a:t>Jidoka</a:t>
            </a:r>
            <a:r>
              <a:rPr lang="pt-BR" sz="1200" dirty="0" smtClean="0"/>
              <a:t> (ou automação) </a:t>
            </a:r>
          </a:p>
          <a:p>
            <a:pPr algn="just"/>
            <a:endParaRPr lang="pt-BR" sz="1200" dirty="0" smtClean="0"/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smtClean="0"/>
              <a:t>A chave para “Just-in-Time” em um processo de produção é que as peças necessárias para a produção só são entregues no momento em que são necessárias, apenas na quantidade certa e com a qualidade exigida pelo cliente.</a:t>
            </a:r>
          </a:p>
          <a:p>
            <a:pPr marL="185715" indent="-185715" algn="just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smtClean="0"/>
              <a:t>Isto pode ser muito complexo em um processo de produção em grande escala constituído por milhares de peças diferentes. </a:t>
            </a:r>
          </a:p>
          <a:p>
            <a:pPr marL="185715" indent="-185715" algn="just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smtClean="0"/>
              <a:t>A fim de suportar a tarefa acima mencionado de Just-in-Time "uma ideia de senso comum" foi necessária. </a:t>
            </a:r>
          </a:p>
          <a:p>
            <a:pPr marL="185715" indent="-185715" algn="just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smtClean="0"/>
              <a:t>Como saber qual peça necessária deve ser produzida e entregue, onde e quando? </a:t>
            </a:r>
          </a:p>
          <a:p>
            <a:pPr marL="185715" indent="-185715" algn="just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smtClean="0"/>
              <a:t>O senso comum acabou por ser o "</a:t>
            </a:r>
            <a:r>
              <a:rPr lang="pt-BR" sz="1200" dirty="0" err="1" smtClean="0"/>
              <a:t>Kanban</a:t>
            </a:r>
            <a:r>
              <a:rPr lang="pt-BR" sz="1200" dirty="0" smtClean="0"/>
              <a:t>" significando </a:t>
            </a:r>
            <a:r>
              <a:rPr lang="pt-BR" sz="1200" dirty="0" smtClean="0">
                <a:solidFill>
                  <a:srgbClr val="FF0000"/>
                </a:solidFill>
              </a:rPr>
              <a:t>sinal / farol ou painel de sinais / faróis. </a:t>
            </a:r>
          </a:p>
          <a:p>
            <a:pPr marL="185715" indent="-185715" algn="just">
              <a:buFont typeface="Arial" pitchFamily="34" charset="0"/>
              <a:buChar char="•"/>
            </a:pPr>
            <a:endParaRPr lang="pt-BR" sz="1200" dirty="0" smtClean="0">
              <a:solidFill>
                <a:srgbClr val="FF0000"/>
              </a:solidFill>
            </a:endParaRPr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smtClean="0"/>
              <a:t>A chave para a ideia é a reversão da maneira como as peças são transferidas, entregues e utilizadas. Um processo de produção, pode voltar a um processo anterior fornecendo o número correto de peças utilizados como entrada e controle, quando se esgotarem todas as peças, o mesmo aviso é levado ao seu ponto de partida, onde se converte num novo pedido para mais peças, etc.</a:t>
            </a:r>
          </a:p>
          <a:p>
            <a:pPr marL="185715" indent="-185715" algn="just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 algn="just">
              <a:buFont typeface="Arial" pitchFamily="34" charset="0"/>
              <a:buChar char="•"/>
            </a:pPr>
            <a:r>
              <a:rPr lang="pt-BR" sz="1200" dirty="0" err="1" smtClean="0"/>
              <a:t>Kanban</a:t>
            </a:r>
            <a:r>
              <a:rPr lang="pt-BR" sz="1200" dirty="0" smtClean="0"/>
              <a:t> são "os meios utilizados para fornecer informações de produção entre a solicitação e o recebimento do pedido de produção“. (</a:t>
            </a:r>
            <a:r>
              <a:rPr lang="pt-BR" sz="1200" dirty="0" err="1" smtClean="0"/>
              <a:t>Ohno</a:t>
            </a:r>
            <a:r>
              <a:rPr lang="pt-BR" sz="1200" dirty="0" smtClean="0"/>
              <a:t>, 1988).</a:t>
            </a:r>
            <a:endParaRPr lang="pt-BR" sz="12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r>
              <a:rPr lang="pt-BR" sz="1200" dirty="0" smtClean="0"/>
              <a:t>1.1.3 - Just-In-Time e </a:t>
            </a:r>
            <a:r>
              <a:rPr lang="pt-BR" sz="1200" dirty="0" err="1" smtClean="0"/>
              <a:t>Jidoka</a:t>
            </a:r>
            <a:r>
              <a:rPr lang="pt-BR" sz="1200" dirty="0" smtClean="0"/>
              <a:t> (ou automação) </a:t>
            </a:r>
          </a:p>
          <a:p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O segundo pilar é chamado de </a:t>
            </a:r>
            <a:r>
              <a:rPr lang="pt-BR" sz="1200" b="1" dirty="0" err="1" smtClean="0"/>
              <a:t>Jidoka</a:t>
            </a:r>
            <a:r>
              <a:rPr lang="pt-BR" sz="1200" dirty="0" smtClean="0"/>
              <a:t> ou "automação“, significando automação com um toque humano.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Com técnicas tradicionais de produção em massa, a produção de peças defeituosas é aceita como parte de saída padrão de um processo de produção. Além disso, qualquer defeito ou objeto estranho que entra no sistema pode parar o processo de produção.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Portanto a Toyota desenvolveu a “automação”, máquinas que podem de forma independente prevenir tais problemas (</a:t>
            </a:r>
            <a:r>
              <a:rPr lang="pt-BR" sz="1200" dirty="0" err="1" smtClean="0"/>
              <a:t>Ohno</a:t>
            </a:r>
            <a:r>
              <a:rPr lang="pt-BR" sz="1200" dirty="0" smtClean="0"/>
              <a:t>, 1988). 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As características chave são uma parada automática do dispositivo que impede a produção de produtos defeituosos e a necessidade de um operador somente quando uma máquina está em "estado de parada". A automação ajuda a reduzir o desperdício de superprodução.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Qualquer ação que impeça problemas, identifique problemas imediatamente e ajude as pessoas a descobrirem e resolverem problemas rapidamente, é </a:t>
            </a:r>
            <a:r>
              <a:rPr lang="pt-BR" sz="1200" b="1" dirty="0" err="1" smtClean="0"/>
              <a:t>Jidoka</a:t>
            </a:r>
            <a:r>
              <a:rPr lang="pt-BR" sz="1200" dirty="0" smtClean="0"/>
              <a:t>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No STP, automação corresponde as habilidades, talentos individuais e Just-In-Time para o trabalho em equipe são envolvidos.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Nas palavras de </a:t>
            </a:r>
            <a:r>
              <a:rPr lang="pt-BR" sz="1200" dirty="0" err="1" smtClean="0"/>
              <a:t>Ohno</a:t>
            </a:r>
            <a:r>
              <a:rPr lang="pt-BR" sz="1200" dirty="0" smtClean="0"/>
              <a:t> "Um time campeão combina o bom trabalho em equipe com habilidades individuais"</a:t>
            </a:r>
            <a:endParaRPr lang="en-US" sz="18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r>
              <a:rPr lang="pt-BR" sz="1200" dirty="0" smtClean="0"/>
              <a:t>1.1.4 - Fluxo de Produção </a:t>
            </a:r>
          </a:p>
          <a:p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O objetivo principal é reduzir custos, uma vez que é o único caminho disponível para aumentar os lucros.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Este princípio da indústria automobilística aplica-se a qualquer tipo de negócio em períodos de recessão ou baixo crescimento económico.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Em 1947, o Sr. </a:t>
            </a:r>
            <a:r>
              <a:rPr lang="pt-BR" sz="1200" dirty="0" err="1" smtClean="0"/>
              <a:t>Ohno</a:t>
            </a:r>
            <a:r>
              <a:rPr lang="pt-BR" sz="1200" dirty="0" smtClean="0"/>
              <a:t> foi encarregado de uma oficina mecânica. Afim de ajudar a atingir a meta da empresa em “Seguir a América”, ele veio com a ideia de ter um operador cuidando de muitas máquinas.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O primeiro passo foi a criação de um "Sistema de Fluxo“ a fim de estabelecer o fluxo de produção. A Toyota teve que romper com a tradição de ter empregos fixos para os operadores. </a:t>
            </a:r>
          </a:p>
          <a:p>
            <a:pPr marL="185715" indent="-185715">
              <a:buFont typeface="Arial" pitchFamily="34" charset="0"/>
              <a:buChar char="•"/>
            </a:pPr>
            <a:endParaRPr lang="pt-BR" sz="1200" dirty="0" smtClean="0"/>
          </a:p>
          <a:p>
            <a:pPr marL="185715" indent="-185715">
              <a:buFont typeface="Arial" pitchFamily="34" charset="0"/>
              <a:buChar char="•"/>
            </a:pPr>
            <a:r>
              <a:rPr lang="pt-BR" sz="1200" dirty="0" smtClean="0"/>
              <a:t>O segundo passo foi a introdução de máquinas em linhas paralelas que permitiam aos operadores operar mais de uma máquina.</a:t>
            </a:r>
            <a:endParaRPr lang="pt-BR" sz="12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/>
            <a:r>
              <a:rPr lang="pt-BR" sz="1300" dirty="0" smtClean="0"/>
              <a:t>1.1.5 - Uma breve introdução aos 5 princípios </a:t>
            </a:r>
            <a:r>
              <a:rPr lang="pt-BR" sz="1300" dirty="0" err="1" smtClean="0"/>
              <a:t>Lean</a:t>
            </a:r>
            <a:endParaRPr lang="pt-BR" sz="1300" dirty="0" smtClean="0"/>
          </a:p>
          <a:p>
            <a:pPr algn="just"/>
            <a:endParaRPr lang="pt-BR" sz="1300" dirty="0" smtClean="0"/>
          </a:p>
          <a:p>
            <a:pPr algn="just"/>
            <a:r>
              <a:rPr lang="pt-BR" sz="1300" b="0" dirty="0" smtClean="0"/>
              <a:t>Os 5 princípios </a:t>
            </a:r>
            <a:r>
              <a:rPr lang="pt-BR" sz="1300" b="0" dirty="0" err="1" smtClean="0"/>
              <a:t>Lean</a:t>
            </a:r>
            <a:r>
              <a:rPr lang="pt-BR" sz="1300" b="0" dirty="0" smtClean="0"/>
              <a:t>, </a:t>
            </a:r>
            <a:r>
              <a:rPr lang="pt-BR" sz="1300" dirty="0" smtClean="0"/>
              <a:t>também conhecidos como “Os 5 passos para orientar a implementação de técnicas </a:t>
            </a:r>
            <a:r>
              <a:rPr lang="pt-BR" sz="1300" dirty="0" err="1" smtClean="0"/>
              <a:t>Lean</a:t>
            </a:r>
            <a:r>
              <a:rPr lang="pt-BR" sz="1300" dirty="0" smtClean="0"/>
              <a:t>“, são: </a:t>
            </a:r>
          </a:p>
          <a:p>
            <a:pPr marL="309524" indent="-309524">
              <a:buFont typeface="Arial"/>
              <a:buChar char="•"/>
            </a:pPr>
            <a:endParaRPr lang="pt-BR" sz="1300" dirty="0" smtClean="0"/>
          </a:p>
          <a:p>
            <a:pPr marL="309524" indent="-309524">
              <a:buFont typeface="Arial"/>
              <a:buChar char="•"/>
            </a:pPr>
            <a:endParaRPr lang="pt-BR" sz="1300" dirty="0" smtClean="0"/>
          </a:p>
          <a:p>
            <a:pPr lvl="2"/>
            <a:r>
              <a:rPr lang="pt-BR" sz="1300" dirty="0" smtClean="0"/>
              <a:t>Identificar o valor;</a:t>
            </a:r>
          </a:p>
          <a:p>
            <a:pPr lvl="2"/>
            <a:r>
              <a:rPr lang="pt-BR" sz="1300" dirty="0" smtClean="0"/>
              <a:t>Mapear o fluxo de valor;</a:t>
            </a:r>
          </a:p>
          <a:p>
            <a:pPr lvl="2"/>
            <a:r>
              <a:rPr lang="pt-BR" sz="1300" dirty="0" smtClean="0"/>
              <a:t>Criar o fluxo;</a:t>
            </a:r>
          </a:p>
          <a:p>
            <a:pPr lvl="2"/>
            <a:r>
              <a:rPr lang="pt-BR" sz="1300" dirty="0" smtClean="0"/>
              <a:t>Estabelecer o </a:t>
            </a:r>
            <a:r>
              <a:rPr lang="pt-BR" sz="1300" dirty="0" err="1" smtClean="0"/>
              <a:t>pull</a:t>
            </a:r>
            <a:r>
              <a:rPr lang="pt-BR" sz="1300" dirty="0" smtClean="0"/>
              <a:t>;</a:t>
            </a:r>
          </a:p>
          <a:p>
            <a:pPr lvl="2"/>
            <a:r>
              <a:rPr lang="pt-BR" sz="1300" dirty="0" smtClean="0"/>
              <a:t>Perseguir a perfeição;</a:t>
            </a:r>
            <a:endParaRPr lang="pt-BR" sz="130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>
              <a:buAutoNum type="arabicPeriod"/>
            </a:pPr>
            <a:r>
              <a:rPr lang="pt-BR" dirty="0" smtClean="0"/>
              <a:t>Identificar Valor: </a:t>
            </a:r>
            <a:r>
              <a:rPr lang="pt-BR" b="0" dirty="0" smtClean="0"/>
              <a:t>Especifica o valor do ponto de vista do cliente final por tipo de produto;</a:t>
            </a:r>
          </a:p>
          <a:p>
            <a:pPr algn="just">
              <a:buAutoNum type="arabicPeriod"/>
            </a:pPr>
            <a:endParaRPr lang="pt-BR" sz="1050" dirty="0" smtClean="0"/>
          </a:p>
          <a:p>
            <a:pPr algn="just">
              <a:buAutoNum type="arabicPeriod"/>
            </a:pPr>
            <a:r>
              <a:rPr lang="pt-BR" dirty="0" smtClean="0"/>
              <a:t>Mapear o Fluxo de valor: </a:t>
            </a:r>
            <a:r>
              <a:rPr lang="pt-BR" b="0" dirty="0" smtClean="0"/>
              <a:t>Identifica todas as etapas da cadeia de valor para cada tipo de produto, eliminando sempre que possível, os passos que não criam valor;</a:t>
            </a:r>
          </a:p>
          <a:p>
            <a:pPr algn="just">
              <a:buAutoNum type="arabicPeriod"/>
            </a:pPr>
            <a:endParaRPr lang="pt-BR" sz="1050" dirty="0" smtClean="0"/>
          </a:p>
          <a:p>
            <a:pPr algn="just">
              <a:buAutoNum type="arabicPeriod"/>
            </a:pPr>
            <a:r>
              <a:rPr lang="pt-BR" dirty="0" smtClean="0"/>
              <a:t>Criar o Fluxo: </a:t>
            </a:r>
            <a:r>
              <a:rPr lang="pt-BR" b="0" dirty="0" smtClean="0"/>
              <a:t>Faz com que os passos de criação de valor ocorram em sequência justa de modo que o produto flua perfeitamente para o cliente;</a:t>
            </a:r>
          </a:p>
          <a:p>
            <a:pPr algn="just">
              <a:buAutoNum type="arabicPeriod"/>
            </a:pPr>
            <a:endParaRPr lang="pt-BR" sz="1050" i="1" dirty="0" smtClean="0"/>
          </a:p>
          <a:p>
            <a:pPr algn="just">
              <a:buAutoNum type="arabicPeriod"/>
            </a:pPr>
            <a:r>
              <a:rPr lang="pt-BR" dirty="0" smtClean="0"/>
              <a:t>Estabelecer</a:t>
            </a:r>
            <a:r>
              <a:rPr lang="pt-BR" i="1" dirty="0" smtClean="0"/>
              <a:t> </a:t>
            </a:r>
            <a:r>
              <a:rPr lang="pt-BR" i="1" dirty="0" err="1" smtClean="0"/>
              <a:t>Pull</a:t>
            </a:r>
            <a:r>
              <a:rPr lang="pt-BR" i="1" dirty="0" smtClean="0"/>
              <a:t>:  </a:t>
            </a:r>
            <a:r>
              <a:rPr lang="pt-BR" b="0" dirty="0" smtClean="0"/>
              <a:t>Assim que o fluxo é introduzido, permite os clientes tirarem valor da próxima atividade corrente;</a:t>
            </a:r>
          </a:p>
          <a:p>
            <a:pPr algn="just">
              <a:buAutoNum type="arabicPeriod"/>
            </a:pPr>
            <a:endParaRPr lang="pt-BR" sz="1050" dirty="0" smtClean="0"/>
          </a:p>
          <a:p>
            <a:pPr algn="just">
              <a:buAutoNum type="arabicPeriod"/>
            </a:pPr>
            <a:r>
              <a:rPr lang="pt-BR" dirty="0" smtClean="0"/>
              <a:t>Perseguir a Perfeição: </a:t>
            </a:r>
            <a:r>
              <a:rPr lang="pt-BR" b="0" dirty="0" smtClean="0"/>
              <a:t>Com o valor especificado, fluxos de valor identificados, passos desperdiçados removidos, fluxos e </a:t>
            </a:r>
            <a:r>
              <a:rPr lang="pt-BR" b="0" i="1" dirty="0" err="1" smtClean="0"/>
              <a:t>pull</a:t>
            </a:r>
            <a:r>
              <a:rPr lang="pt-BR" b="0" dirty="0" smtClean="0"/>
              <a:t> introduzidos, deve-se começar o processo novamente e continuar até que um estado de perfeição seja atingido, quando o valor perfeito for criado sem desperdício.</a:t>
            </a:r>
          </a:p>
          <a:p>
            <a:pPr marL="0" indent="0" algn="just">
              <a:buNone/>
            </a:pPr>
            <a:endParaRPr lang="pt-BR" b="0" dirty="0" smtClean="0"/>
          </a:p>
          <a:p>
            <a:pPr marL="0" indent="0" algn="just">
              <a:buNone/>
            </a:pPr>
            <a:r>
              <a:rPr lang="pt-BR" b="0" dirty="0" smtClean="0"/>
              <a:t> (fonte: </a:t>
            </a:r>
            <a:r>
              <a:rPr lang="pt-BR" b="0" i="1" dirty="0" smtClean="0"/>
              <a:t>The </a:t>
            </a:r>
            <a:r>
              <a:rPr lang="pt-BR" b="0" i="1" dirty="0" err="1" smtClean="0"/>
              <a:t>Lean</a:t>
            </a:r>
            <a:r>
              <a:rPr lang="pt-BR" b="0" i="1" dirty="0" smtClean="0"/>
              <a:t> Enterprise </a:t>
            </a:r>
            <a:r>
              <a:rPr lang="pt-BR" b="0" i="1" dirty="0" err="1" smtClean="0"/>
              <a:t>Institute</a:t>
            </a:r>
            <a:r>
              <a:rPr lang="pt-BR" b="0" i="1" dirty="0" smtClean="0"/>
              <a:t> [LIE]</a:t>
            </a:r>
            <a:r>
              <a:rPr lang="pt-BR" b="0" dirty="0" smtClean="0"/>
              <a:t>) </a:t>
            </a:r>
            <a:endParaRPr lang="pt-BR" b="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>
              <a:lnSpc>
                <a:spcPct val="200000"/>
              </a:lnSpc>
            </a:pPr>
            <a:r>
              <a:rPr lang="pt-BR" b="0" dirty="0" err="1" smtClean="0"/>
              <a:t>Lean</a:t>
            </a:r>
            <a:r>
              <a:rPr lang="pt-BR" b="0" dirty="0" smtClean="0"/>
              <a:t> não serve apenas para produção;</a:t>
            </a:r>
          </a:p>
          <a:p>
            <a:pPr algn="just">
              <a:lnSpc>
                <a:spcPct val="200000"/>
              </a:lnSpc>
            </a:pPr>
            <a:endParaRPr lang="pt-BR" b="0" dirty="0" smtClean="0"/>
          </a:p>
          <a:p>
            <a:pPr algn="just">
              <a:lnSpc>
                <a:spcPct val="200000"/>
              </a:lnSpc>
            </a:pPr>
            <a:r>
              <a:rPr lang="pt-BR" b="0" dirty="0" smtClean="0"/>
              <a:t>O </a:t>
            </a:r>
            <a:r>
              <a:rPr lang="pt-BR" b="0" dirty="0" err="1" smtClean="0"/>
              <a:t>Lean</a:t>
            </a:r>
            <a:r>
              <a:rPr lang="pt-BR" b="0" dirty="0" smtClean="0"/>
              <a:t>  pode desempenhar um papel benéfico em muita áreas, entre elas a TI, onde poderá reduzir os custos fazendo tudo mais rápido, </a:t>
            </a:r>
            <a:r>
              <a:rPr lang="pt-BR" b="0" dirty="0" err="1" smtClean="0"/>
              <a:t>melhoree</a:t>
            </a:r>
            <a:r>
              <a:rPr lang="pt-BR" b="0" dirty="0" smtClean="0"/>
              <a:t> sem desperdício. </a:t>
            </a:r>
            <a:endParaRPr lang="pt-BR" b="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/>
            <a:r>
              <a:rPr lang="pt-BR" b="0" dirty="0" smtClean="0"/>
              <a:t>1.2.2 – O papel crescente da TI em </a:t>
            </a:r>
            <a:r>
              <a:rPr lang="pt-BR" b="0" dirty="0" err="1" smtClean="0"/>
              <a:t>Lean</a:t>
            </a:r>
            <a:endParaRPr lang="pt-BR" b="0" dirty="0" smtClean="0"/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O papel da TI no Negócio chegou a um ponto em que quando a TI para, o Negócio para, e quando a TI está até um pouco abaixo do ideal, a empresa paga o preço.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pt-BR" sz="1100" dirty="0" smtClean="0"/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Em seu artigo “The </a:t>
            </a:r>
            <a:r>
              <a:rPr lang="pt-BR" dirty="0" err="1" smtClean="0"/>
              <a:t>increasing</a:t>
            </a:r>
            <a:r>
              <a:rPr lang="pt-BR" dirty="0" smtClean="0"/>
              <a:t> role </a:t>
            </a:r>
            <a:r>
              <a:rPr lang="pt-BR" dirty="0" err="1" smtClean="0"/>
              <a:t>of</a:t>
            </a:r>
            <a:r>
              <a:rPr lang="pt-BR" dirty="0" smtClean="0"/>
              <a:t> IT in </a:t>
            </a:r>
            <a:r>
              <a:rPr lang="pt-BR" dirty="0" err="1" smtClean="0"/>
              <a:t>Lean</a:t>
            </a:r>
            <a:r>
              <a:rPr lang="pt-BR" dirty="0" smtClean="0"/>
              <a:t> Manufacturing", Gordon </a:t>
            </a:r>
            <a:r>
              <a:rPr lang="pt-BR" dirty="0" err="1" smtClean="0"/>
              <a:t>Benzie</a:t>
            </a:r>
            <a:r>
              <a:rPr lang="pt-BR" dirty="0" smtClean="0"/>
              <a:t> (2012) descreve diferentes formas em que a TI pode suportar a produção </a:t>
            </a:r>
            <a:r>
              <a:rPr lang="pt-BR" dirty="0" err="1" smtClean="0"/>
              <a:t>Lean</a:t>
            </a:r>
            <a:r>
              <a:rPr lang="pt-BR" dirty="0" smtClean="0"/>
              <a:t>. As três primeiras  foram identificados em uma pesquisa realizada pela (IDC):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 smtClean="0"/>
              <a:t>Integração de TI:  automação de processo de apoio para evitar entradas manuais e sobreposição de requisitos. Também conhecido como ambiente  “mais ” sem papel;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 smtClean="0"/>
              <a:t>Centralização do gerenciamento reduzindo dados redundantes e inconsistentes;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 smtClean="0"/>
              <a:t>TI possibilitando projetos em processos de negócios (reengenharia).</a:t>
            </a:r>
          </a:p>
          <a:p>
            <a:pPr lvl="1" algn="just">
              <a:lnSpc>
                <a:spcPct val="160000"/>
              </a:lnSpc>
              <a:buFont typeface="Courier New" panose="02070309020205020404" pitchFamily="49" charset="0"/>
              <a:buChar char="o"/>
            </a:pPr>
            <a:endParaRPr lang="pt-BR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/>
            <a:r>
              <a:rPr lang="pt-BR" b="0" dirty="0" smtClean="0"/>
              <a:t>1.2.2 – O papel crescente da TI em </a:t>
            </a:r>
            <a:r>
              <a:rPr lang="pt-BR" b="0" dirty="0" err="1" smtClean="0"/>
              <a:t>Lean</a:t>
            </a:r>
            <a:endParaRPr lang="pt-BR" b="0" dirty="0" smtClean="0"/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Gordon adicionou o quarto item:</a:t>
            </a:r>
          </a:p>
          <a:p>
            <a:pPr marL="914400" lvl="2" indent="0" algn="just">
              <a:lnSpc>
                <a:spcPct val="200000"/>
              </a:lnSpc>
              <a:buNone/>
            </a:pPr>
            <a:r>
              <a:rPr lang="pt-BR" dirty="0" smtClean="0"/>
              <a:t>A TI possibilita a replicação de melhorias de processos em vários locais da empresa. </a:t>
            </a:r>
          </a:p>
          <a:p>
            <a:pPr lvl="2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pt-BR" sz="1000" dirty="0" smtClean="0"/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A TI parece desempenhar um papel cada vez importante no </a:t>
            </a:r>
            <a:r>
              <a:rPr lang="pt-BR" dirty="0" err="1" smtClean="0"/>
              <a:t>Lean</a:t>
            </a:r>
            <a:r>
              <a:rPr lang="pt-BR" dirty="0" smtClean="0"/>
              <a:t>. Quando o </a:t>
            </a:r>
            <a:r>
              <a:rPr lang="pt-BR" dirty="0" err="1" smtClean="0"/>
              <a:t>Lean</a:t>
            </a:r>
            <a:r>
              <a:rPr lang="pt-BR" dirty="0" smtClean="0"/>
              <a:t> é aplicado as operações de TI em desenvolvimentos e demais áreas, a qualidade e eficiência são muito melhorados. 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pt-BR" dirty="0" smtClean="0"/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Exemplos incluem: desenvolvimento de aplicações de software e configuração de sistemas livre de bugs, operações de </a:t>
            </a:r>
            <a:r>
              <a:rPr lang="pt-BR" dirty="0" err="1" smtClean="0"/>
              <a:t>service</a:t>
            </a:r>
            <a:r>
              <a:rPr lang="pt-BR" dirty="0" smtClean="0"/>
              <a:t> </a:t>
            </a:r>
            <a:r>
              <a:rPr lang="pt-BR" dirty="0" err="1" smtClean="0"/>
              <a:t>desks</a:t>
            </a:r>
            <a:r>
              <a:rPr lang="pt-BR" dirty="0" smtClean="0"/>
              <a:t> impecáveis, inícios eficiente de novos funcionários, gerenciamento de problemas oportunos, padrões reforçados de segurança etc.</a:t>
            </a:r>
          </a:p>
          <a:p>
            <a:pPr lvl="1" algn="just">
              <a:lnSpc>
                <a:spcPct val="160000"/>
              </a:lnSpc>
              <a:buFont typeface="Courier New" panose="02070309020205020404" pitchFamily="49" charset="0"/>
              <a:buChar char="o"/>
            </a:pPr>
            <a:endParaRPr lang="pt-BR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>
              <a:lnSpc>
                <a:spcPct val="200000"/>
              </a:lnSpc>
            </a:pPr>
            <a:r>
              <a:rPr lang="pt-BR" sz="2000" b="0" dirty="0" smtClean="0"/>
              <a:t>No pensamento </a:t>
            </a:r>
            <a:r>
              <a:rPr lang="pt-BR" sz="2000" b="0" dirty="0" err="1" smtClean="0"/>
              <a:t>Lean</a:t>
            </a:r>
            <a:r>
              <a:rPr lang="pt-BR" sz="2000" b="0" dirty="0" smtClean="0"/>
              <a:t>, o cliente desempenha um papel central. </a:t>
            </a:r>
          </a:p>
          <a:p>
            <a:pPr algn="just">
              <a:lnSpc>
                <a:spcPct val="200000"/>
              </a:lnSpc>
            </a:pPr>
            <a:endParaRPr lang="pt-BR" sz="2000" b="0" dirty="0" smtClean="0"/>
          </a:p>
          <a:p>
            <a:pPr algn="just">
              <a:lnSpc>
                <a:spcPct val="200000"/>
              </a:lnSpc>
            </a:pPr>
            <a:r>
              <a:rPr lang="pt-BR" sz="2000" b="0" dirty="0" smtClean="0"/>
              <a:t>Sem olhar para um produto ou serviço, “como o cliente olharia”, nunca poderia haver uma transformação </a:t>
            </a:r>
            <a:r>
              <a:rPr lang="pt-BR" sz="2000" b="0" dirty="0" err="1" smtClean="0"/>
              <a:t>Lean</a:t>
            </a:r>
            <a:r>
              <a:rPr lang="pt-BR" sz="2000" b="0" dirty="0" smtClean="0"/>
              <a:t>.</a:t>
            </a:r>
            <a:endParaRPr lang="nl-NL" sz="2000" b="0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r>
              <a:rPr lang="pt-BR" b="0" dirty="0" smtClean="0"/>
              <a:t>Com o passar do tempo, algumas dessas perguntas que surgiram em 1996 estão sendo tratadas: 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Em alguns aeroportos, viajantes de negócios passam por verificação de íris e senha, onde eles próprios realizam a checagem do próprio passaporte e verificação de segurança; 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Check-in é hoje feito de uma forma de “</a:t>
            </a:r>
            <a:r>
              <a:rPr lang="pt-BR" dirty="0" err="1" smtClean="0"/>
              <a:t>auto-serviço</a:t>
            </a:r>
            <a:r>
              <a:rPr lang="pt-BR" dirty="0" smtClean="0"/>
              <a:t>” através da internet ou no aeroporto com bases eletrônicas de check-in, incluindo etiquetagem de bagagem e despacho;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Viagens na Europa dentro da área chamada “Tratado de </a:t>
            </a:r>
            <a:r>
              <a:rPr lang="pt-BR" dirty="0" err="1" smtClean="0"/>
              <a:t>Schengen</a:t>
            </a:r>
            <a:r>
              <a:rPr lang="pt-BR" dirty="0" smtClean="0"/>
              <a:t>” estão sem imigração (e principalmente, sem alfândega); 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Em viagens de trem de Amsterdam para Paris há apenas uma verificação de passaporte realizada por qualquer uma das autoridades francesa ou holandesa, a qual é reconhecida pela outra.</a:t>
            </a:r>
            <a:endParaRPr lang="nl-NL" dirty="0" smtClean="0"/>
          </a:p>
          <a:p>
            <a:pPr marL="309524" indent="-309524" algn="just">
              <a:buFont typeface="Arial" pitchFamily="34" charset="0"/>
              <a:buChar char="•"/>
            </a:pPr>
            <a:endParaRPr lang="pt-BR" sz="1900" dirty="0" err="1" smtClean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/>
            <a:r>
              <a:rPr lang="pt-BR" sz="1900" b="0" dirty="0" smtClean="0"/>
              <a:t>Antes de adotar uma transformação </a:t>
            </a:r>
            <a:r>
              <a:rPr lang="pt-BR" sz="1900" b="0" dirty="0" err="1" smtClean="0"/>
              <a:t>Lean</a:t>
            </a:r>
            <a:r>
              <a:rPr lang="pt-BR" sz="1900" b="0" dirty="0" smtClean="0"/>
              <a:t>, precisamos entender os princípios fundamentais do </a:t>
            </a:r>
            <a:r>
              <a:rPr lang="pt-BR" sz="1900" b="0" dirty="0" err="1" smtClean="0"/>
              <a:t>Lean</a:t>
            </a:r>
            <a:r>
              <a:rPr lang="pt-BR" sz="1900" b="0" dirty="0" smtClean="0"/>
              <a:t>. </a:t>
            </a:r>
          </a:p>
          <a:p>
            <a:pPr algn="just"/>
            <a:endParaRPr lang="pt-BR" b="0" dirty="0" smtClean="0"/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Uma cultura melhorada de transparência quando "problemas" são vistos como oportunidades para melhorar e crescimento; 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O alinhamento das metas de toda a organização com a alta gestão, associados, acionistas e para a comunidade em geral; 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Sustentação de resultados em termos de melhoria da qualidade, tempo de entrega mais rápido, redução de custos e melhora na moral geral; </a:t>
            </a:r>
          </a:p>
          <a:p>
            <a:pPr lvl="1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Menos “apagar incêndio” e maior foco proativo na melhoria dos processos que impactam o cliente na qualidade e serviço.</a:t>
            </a:r>
            <a:endParaRPr lang="pt-BR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>
                <a:latin typeface="Calibri" charset="0"/>
              </a:rPr>
              <a:t>Notas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endParaRPr lang="en-US" b="1" dirty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endParaRPr lang="en-US" dirty="0">
              <a:latin typeface="Calibri" charset="0"/>
            </a:endParaRPr>
          </a:p>
          <a:p>
            <a:pPr algn="just"/>
            <a:r>
              <a:rPr lang="pt-BR" b="0" dirty="0" smtClean="0"/>
              <a:t>Em média, cerca de 5% do tempo é gasto em atividades de agregação de valor em um processo típico. </a:t>
            </a:r>
          </a:p>
          <a:p>
            <a:pPr algn="just"/>
            <a:endParaRPr lang="pt-BR" b="0" dirty="0" smtClean="0"/>
          </a:p>
          <a:p>
            <a:pPr algn="just"/>
            <a:r>
              <a:rPr lang="pt-BR" b="0" dirty="0" smtClean="0"/>
              <a:t>Alguns exemplos: 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Projetando produtos; 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Processamento de pedidos de clientes; 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Produzindo Produtos; 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Entregando produtos;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Processando pedidos de clientes; </a:t>
            </a:r>
          </a:p>
          <a:p>
            <a:pPr lvl="1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Melhorando a qualidade do produto.</a:t>
            </a:r>
            <a:endParaRPr lang="pt-BR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6CBF33-1717-7046-BB54-A75C92AF988B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8588930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 smtClean="0">
                <a:latin typeface="Calibri" charset="0"/>
              </a:rPr>
              <a:t>Notas</a:t>
            </a:r>
            <a:r>
              <a:rPr lang="en-US" b="1" dirty="0" smtClean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/>
            </a:r>
            <a:b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</a:b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marL="309524" indent="-309524">
              <a:buFont typeface="Arial" pitchFamily="34" charset="0"/>
              <a:buChar char="•"/>
            </a:pPr>
            <a:r>
              <a:rPr lang="pt-BR" sz="1200" dirty="0" smtClean="0"/>
              <a:t>Gerenciamento </a:t>
            </a:r>
            <a:r>
              <a:rPr lang="pt-BR" sz="1200" dirty="0" err="1" smtClean="0"/>
              <a:t>Lean</a:t>
            </a:r>
            <a:r>
              <a:rPr lang="pt-BR" sz="1200" dirty="0" smtClean="0"/>
              <a:t> é uma parte muito importante do pensamento </a:t>
            </a:r>
            <a:r>
              <a:rPr lang="pt-BR" sz="1200" dirty="0" err="1" smtClean="0"/>
              <a:t>Lean</a:t>
            </a:r>
            <a:r>
              <a:rPr lang="pt-BR" sz="1200" dirty="0" smtClean="0"/>
              <a:t>. Todos os esforços de planejamento e implementação do </a:t>
            </a:r>
            <a:r>
              <a:rPr lang="pt-BR" sz="1200" dirty="0" err="1" smtClean="0"/>
              <a:t>Lean</a:t>
            </a:r>
            <a:r>
              <a:rPr lang="pt-BR" sz="1200" dirty="0" smtClean="0"/>
              <a:t> em uma organização será perdida se as iniciativas de </a:t>
            </a:r>
            <a:r>
              <a:rPr lang="pt-BR" sz="1200" dirty="0" err="1" smtClean="0"/>
              <a:t>Lean</a:t>
            </a:r>
            <a:r>
              <a:rPr lang="pt-BR" sz="1200" dirty="0" smtClean="0"/>
              <a:t> não forem institucionalizadas na organização e na cultura organizacional.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2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200" dirty="0" smtClean="0"/>
              <a:t>A maioria das implementações </a:t>
            </a:r>
            <a:r>
              <a:rPr lang="pt-BR" sz="1200" dirty="0" err="1" smtClean="0"/>
              <a:t>Lean</a:t>
            </a:r>
            <a:r>
              <a:rPr lang="pt-BR" sz="1200" dirty="0" smtClean="0"/>
              <a:t> falham se a forma como as pessoas, processos e os produtos gerenciados não for alterada. As necessidades </a:t>
            </a:r>
            <a:r>
              <a:rPr lang="pt-BR" sz="1200" dirty="0" err="1" smtClean="0"/>
              <a:t>Lean</a:t>
            </a:r>
            <a:r>
              <a:rPr lang="pt-BR" sz="1200" dirty="0" smtClean="0"/>
              <a:t> precisam ser abordadas de uma forma holística e, portanto, projetos </a:t>
            </a:r>
            <a:r>
              <a:rPr lang="pt-BR" sz="1200" dirty="0" err="1" smtClean="0"/>
              <a:t>Lean</a:t>
            </a:r>
            <a:r>
              <a:rPr lang="pt-BR" sz="1200" dirty="0" smtClean="0"/>
              <a:t> focando apenas nos processos e procedimentos correntes irão perder o ponto.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2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200" dirty="0" smtClean="0"/>
              <a:t>Gerenciamento </a:t>
            </a:r>
            <a:r>
              <a:rPr lang="pt-BR" sz="1200" dirty="0" err="1" smtClean="0"/>
              <a:t>Lean</a:t>
            </a:r>
            <a:r>
              <a:rPr lang="pt-BR" sz="1200" dirty="0" smtClean="0"/>
              <a:t> significa liderança, orientação “na operação” e a criação de um novo sistema de gestão que seja capaz de enfrentar e conduzir a melhoria contínua e a transformação. Muitas vezes, as transformações </a:t>
            </a:r>
            <a:r>
              <a:rPr lang="pt-BR" sz="1200" dirty="0" err="1" smtClean="0"/>
              <a:t>Lean</a:t>
            </a:r>
            <a:r>
              <a:rPr lang="pt-BR" sz="1200" dirty="0" smtClean="0"/>
              <a:t> falham porque a Liderança e a Gestão não entendem realmente e não abraçam os princípios e práticas </a:t>
            </a:r>
            <a:r>
              <a:rPr lang="pt-BR" sz="1200" dirty="0" err="1" smtClean="0"/>
              <a:t>Lean</a:t>
            </a:r>
            <a:r>
              <a:rPr lang="pt-BR" sz="1200" dirty="0" smtClean="0"/>
              <a:t>. 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200" dirty="0" smtClean="0"/>
          </a:p>
          <a:p>
            <a:pPr marL="309524" indent="-309524">
              <a:buFont typeface="Arial" pitchFamily="34" charset="0"/>
              <a:buChar char="•"/>
            </a:pPr>
            <a:r>
              <a:rPr lang="pt-BR" sz="1200" dirty="0" smtClean="0"/>
              <a:t>Para ser sustentável, o </a:t>
            </a:r>
            <a:r>
              <a:rPr lang="pt-BR" sz="1200" dirty="0" err="1" smtClean="0"/>
              <a:t>Lean</a:t>
            </a:r>
            <a:r>
              <a:rPr lang="pt-BR" sz="1200" dirty="0" smtClean="0"/>
              <a:t> IT deve ser aplicado na estratégia, sistemas e nos níveis operacionais da organização. Sem participação da liderança, esforços </a:t>
            </a:r>
            <a:r>
              <a:rPr lang="pt-BR" sz="1200" dirty="0" err="1" smtClean="0"/>
              <a:t>Lean</a:t>
            </a:r>
            <a:r>
              <a:rPr lang="pt-BR" sz="1200" dirty="0" smtClean="0"/>
              <a:t> se focariam, principalmente, em melhorias específicas em nível operacional.</a:t>
            </a:r>
            <a:endParaRPr lang="pt-BR" sz="1200" dirty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E999DFB-5903-2B42-B4EA-05CFFFC2F8EF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6904835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 smtClean="0">
                <a:latin typeface="Calibri" charset="0"/>
              </a:rPr>
              <a:t>Notas</a:t>
            </a:r>
            <a:r>
              <a:rPr lang="en-US" b="1" dirty="0" smtClean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/>
            </a:r>
            <a:b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</a:b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algn="just"/>
            <a:r>
              <a:rPr lang="pt-BR" sz="2000" b="0" dirty="0" smtClean="0"/>
              <a:t>Até os líderes demonstrarem de forma consistente a aplicação </a:t>
            </a:r>
            <a:r>
              <a:rPr lang="pt-BR" sz="2000" b="0" dirty="0" err="1" smtClean="0"/>
              <a:t>Lean</a:t>
            </a:r>
            <a:r>
              <a:rPr lang="pt-BR" sz="2000" b="0" dirty="0" smtClean="0"/>
              <a:t> na forma como encaram o seu trabalho, o resto da organização só verá o </a:t>
            </a:r>
            <a:r>
              <a:rPr lang="pt-BR" sz="2000" b="0" dirty="0" err="1" smtClean="0"/>
              <a:t>Lean</a:t>
            </a:r>
            <a:r>
              <a:rPr lang="pt-BR" sz="2000" b="0" dirty="0" smtClean="0"/>
              <a:t> como um "programa" temporário que é susceptível de desaparecer ao longo do tempo. </a:t>
            </a:r>
          </a:p>
          <a:p>
            <a:pPr algn="just"/>
            <a:endParaRPr lang="pt-BR" sz="2000" b="0" dirty="0" smtClean="0"/>
          </a:p>
          <a:p>
            <a:pPr algn="just"/>
            <a:r>
              <a:rPr lang="pt-BR" sz="2000" b="0" dirty="0" smtClean="0"/>
              <a:t>Isso significa que a liderança deve compreender profundamente e ser capaz de ensinar os princípios e métodos </a:t>
            </a:r>
            <a:r>
              <a:rPr lang="pt-BR" sz="2000" b="0" dirty="0" err="1" smtClean="0"/>
              <a:t>Lean</a:t>
            </a:r>
            <a:r>
              <a:rPr lang="pt-BR" sz="2000" b="0" dirty="0" smtClean="0"/>
              <a:t>, e estar diretamente envolvida em projetos </a:t>
            </a:r>
            <a:r>
              <a:rPr lang="pt-BR" sz="2000" b="0" dirty="0" err="1" smtClean="0"/>
              <a:t>Kaizen</a:t>
            </a:r>
            <a:r>
              <a:rPr lang="pt-BR" sz="2000" b="0" dirty="0" smtClean="0"/>
              <a:t>.</a:t>
            </a:r>
          </a:p>
          <a:p>
            <a:pPr marL="309524" indent="-309524">
              <a:buFont typeface="Arial" pitchFamily="34" charset="0"/>
              <a:buChar char="•"/>
            </a:pPr>
            <a:endParaRPr lang="pt-BR" sz="1200" dirty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E999DFB-5903-2B42-B4EA-05CFFFC2F8EF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6904835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028950" y="857250"/>
            <a:ext cx="3086100" cy="2314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b="1" dirty="0" err="1" smtClean="0">
                <a:latin typeface="Calibri" charset="0"/>
              </a:rPr>
              <a:t>Notas</a:t>
            </a:r>
            <a:r>
              <a:rPr lang="en-US" b="1" dirty="0" smtClean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para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err="1">
                <a:latin typeface="Calibri" charset="0"/>
              </a:rPr>
              <a:t>Instrutores</a:t>
            </a:r>
            <a:r>
              <a:rPr lang="en-US" b="1" dirty="0" smtClean="0">
                <a:latin typeface="Calibri" charset="0"/>
              </a:rPr>
              <a:t>: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/>
            </a:r>
            <a:b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</a:br>
            <a:endParaRPr lang="pt-BR" sz="1200" kern="1200" dirty="0" smtClean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marL="0" indent="0" algn="ctr">
              <a:buNone/>
            </a:pPr>
            <a:r>
              <a:rPr lang="pt-BR" sz="2000" dirty="0" err="1" smtClean="0"/>
              <a:t>Lean</a:t>
            </a:r>
            <a:r>
              <a:rPr lang="pt-BR" sz="2000" dirty="0" smtClean="0"/>
              <a:t> não é um Projeto!</a:t>
            </a:r>
          </a:p>
          <a:p>
            <a:pPr marL="0" indent="0" algn="just">
              <a:buNone/>
            </a:pPr>
            <a:endParaRPr lang="pt-BR" sz="2000" dirty="0" smtClean="0"/>
          </a:p>
          <a:p>
            <a:pPr algn="just"/>
            <a:r>
              <a:rPr lang="pt-BR" b="0" dirty="0" smtClean="0"/>
              <a:t>A essência </a:t>
            </a:r>
            <a:r>
              <a:rPr lang="pt-BR" b="0" dirty="0" err="1" smtClean="0"/>
              <a:t>Lean</a:t>
            </a:r>
            <a:r>
              <a:rPr lang="pt-BR" b="0" dirty="0" smtClean="0"/>
              <a:t> é a internalização de um modo de pensar, onde todo o trabalho é visto como um processo de melhoria contínua. </a:t>
            </a:r>
          </a:p>
          <a:p>
            <a:pPr algn="just"/>
            <a:endParaRPr lang="pt-BR" b="0" dirty="0" smtClean="0"/>
          </a:p>
          <a:p>
            <a:pPr algn="just"/>
            <a:r>
              <a:rPr lang="pt-BR" b="0" dirty="0" smtClean="0"/>
              <a:t>Em seu livro "The complete </a:t>
            </a:r>
            <a:r>
              <a:rPr lang="pt-BR" b="0" dirty="0" err="1" smtClean="0"/>
              <a:t>Lean</a:t>
            </a:r>
            <a:r>
              <a:rPr lang="pt-BR" b="0" dirty="0" smtClean="0"/>
              <a:t> Enterprise", </a:t>
            </a:r>
            <a:r>
              <a:rPr lang="pt-BR" b="0" dirty="0" err="1" smtClean="0"/>
              <a:t>Keyte</a:t>
            </a:r>
            <a:r>
              <a:rPr lang="pt-BR" b="0" dirty="0" smtClean="0"/>
              <a:t> &amp; </a:t>
            </a:r>
            <a:r>
              <a:rPr lang="pt-BR" b="0" dirty="0" err="1" smtClean="0"/>
              <a:t>Locher</a:t>
            </a:r>
            <a:r>
              <a:rPr lang="pt-BR" b="0" dirty="0" smtClean="0"/>
              <a:t> (2004) propõem as cinco fases de uma implementação </a:t>
            </a:r>
            <a:r>
              <a:rPr lang="pt-BR" b="0" dirty="0" err="1" smtClean="0"/>
              <a:t>Lean</a:t>
            </a:r>
            <a:r>
              <a:rPr lang="pt-BR" b="0" dirty="0" smtClean="0"/>
              <a:t>: </a:t>
            </a:r>
          </a:p>
          <a:p>
            <a:pPr lvl="1" algn="just">
              <a:buFont typeface="Courier New"/>
              <a:buChar char="o"/>
            </a:pPr>
            <a:r>
              <a:rPr lang="pt-BR" dirty="0" smtClean="0"/>
              <a:t>1. Avaliar o estado atual </a:t>
            </a:r>
          </a:p>
          <a:p>
            <a:pPr lvl="1" algn="just">
              <a:buFont typeface="Courier New"/>
              <a:buChar char="o"/>
            </a:pPr>
            <a:r>
              <a:rPr lang="pt-BR" dirty="0" smtClean="0"/>
              <a:t>2. Projetar o estado atual </a:t>
            </a:r>
          </a:p>
          <a:p>
            <a:pPr lvl="1" algn="just">
              <a:buFont typeface="Courier New"/>
              <a:buChar char="o"/>
            </a:pPr>
            <a:r>
              <a:rPr lang="pt-BR" dirty="0" smtClean="0"/>
              <a:t>3. Implementar pensamento </a:t>
            </a:r>
            <a:r>
              <a:rPr lang="pt-BR" dirty="0" err="1" smtClean="0"/>
              <a:t>Lean</a:t>
            </a:r>
            <a:r>
              <a:rPr lang="pt-BR" dirty="0" smtClean="0"/>
              <a:t> (em nível funcional) </a:t>
            </a:r>
          </a:p>
          <a:p>
            <a:pPr lvl="1" algn="just">
              <a:buFont typeface="Courier New"/>
              <a:buChar char="o"/>
            </a:pPr>
            <a:r>
              <a:rPr lang="pt-BR" dirty="0" smtClean="0"/>
              <a:t>4. Projetar o estado futuro </a:t>
            </a:r>
          </a:p>
          <a:p>
            <a:pPr lvl="1" algn="just">
              <a:buFont typeface="Courier New"/>
              <a:buChar char="o"/>
            </a:pPr>
            <a:r>
              <a:rPr lang="pt-BR" dirty="0" smtClean="0"/>
              <a:t>5. Implementar o estado futuro</a:t>
            </a:r>
            <a:endParaRPr lang="pt-BR" dirty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E999DFB-5903-2B42-B4EA-05CFFFC2F8EF}" type="slidenum">
              <a:rPr lang="en-US" sz="120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6904835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912976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99534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875034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060419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50327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463693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019951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700956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788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05600" y="6550025"/>
            <a:ext cx="2324100" cy="23177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CHACON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Consultoria Ilimitada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1425702"/>
            <a:ext cx="8773013" cy="1483486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0" y="0"/>
            <a:ext cx="9144000" cy="76200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05600" y="6550025"/>
            <a:ext cx="2324100" cy="23177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CHACON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Consultoria Ilimitada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1425702"/>
            <a:ext cx="8773013" cy="1483486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05600" y="6550025"/>
            <a:ext cx="2324100" cy="23177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CHACON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Consultoria Ilimitada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1425702"/>
            <a:ext cx="8773013" cy="1483486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6/26/2015</a:t>
            </a:fld>
            <a:endParaRPr lang="en-US" smtClean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6" name="Slide Number Placeholder 3"/>
          <p:cNvSpPr txBox="1">
            <a:spLocks/>
          </p:cNvSpPr>
          <p:nvPr userDrawn="1"/>
        </p:nvSpPr>
        <p:spPr>
          <a:xfrm>
            <a:off x="6705600" y="6550025"/>
            <a:ext cx="2324100" cy="23177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CHACON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Consultoria Ilimitada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6/26/2015</a:t>
            </a:fld>
            <a:endParaRPr lang="en-US" smtClean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6705600" y="6550025"/>
            <a:ext cx="2324100" cy="23177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CHACON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Consultoria Ilimitada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75000"/>
              </a:schemeClr>
            </a:gs>
            <a:gs pos="88000">
              <a:schemeClr val="bg1"/>
            </a:gs>
            <a:gs pos="13000">
              <a:schemeClr val="bg1">
                <a:lumMod val="95000"/>
              </a:schemeClr>
            </a:gs>
            <a:gs pos="2000">
              <a:schemeClr val="tx1">
                <a:lumMod val="50000"/>
                <a:lumOff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05600" y="6550025"/>
            <a:ext cx="2324100" cy="23177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CHACON </a:t>
            </a:r>
            <a:r>
              <a:rPr lang="pt-BR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</a:t>
            </a:r>
            <a:r>
              <a:rPr lang="pt-BR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Consultoria Ilimitada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>
      <a:lvl1pPr marL="171450" indent="0">
        <a:defRPr sz="2800">
          <a:solidFill>
            <a:schemeClr val="tx2"/>
          </a:solidFill>
          <a:latin typeface="Segoe UI Semibold" panose="020B07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marL="171450"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Workshop – Conceitos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Picture 10" descr="http://www.hci-itil.com/ITIL_v3/images/ITIL_v3_circl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91677"/>
            <a:ext cx="2029779" cy="20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852" y="1200132"/>
            <a:ext cx="1768505" cy="1692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6096000" y="1600200"/>
            <a:ext cx="1866124" cy="1886188"/>
            <a:chOff x="6332981" y="1908202"/>
            <a:chExt cx="2732192" cy="2761569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2131" y="2995420"/>
              <a:ext cx="1131993" cy="605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 descr="https://youthsectorconnect.com/wp-content/uploads/2014/11/PCI-Logo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981" y="1908202"/>
              <a:ext cx="2732192" cy="2761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http://www.techweekeurope.co.uk/wp-content/uploads/2010/10/pci-dss-l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32804"/>
            <a:ext cx="2504695" cy="168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45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ITIL® - Agenda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990600"/>
            <a:ext cx="8604956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História da ITIL®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Conceitos </a:t>
            </a:r>
            <a:r>
              <a:rPr lang="pt-BR" sz="2800" dirty="0">
                <a:solidFill>
                  <a:schemeClr val="tx2"/>
                </a:solidFill>
              </a:rPr>
              <a:t>e princípios ITIL®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Erros </a:t>
            </a:r>
            <a:r>
              <a:rPr lang="pt-BR" sz="2800" dirty="0">
                <a:solidFill>
                  <a:schemeClr val="tx2"/>
                </a:solidFill>
              </a:rPr>
              <a:t>e acertos </a:t>
            </a:r>
            <a:r>
              <a:rPr lang="pt-BR" sz="2800" dirty="0" smtClean="0">
                <a:solidFill>
                  <a:schemeClr val="tx2"/>
                </a:solidFill>
              </a:rPr>
              <a:t>de abordagem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O </a:t>
            </a:r>
            <a:r>
              <a:rPr lang="pt-BR" sz="2800" dirty="0">
                <a:solidFill>
                  <a:schemeClr val="tx2"/>
                </a:solidFill>
              </a:rPr>
              <a:t>que </a:t>
            </a:r>
            <a:r>
              <a:rPr lang="pt-BR" sz="2800" dirty="0" smtClean="0">
                <a:solidFill>
                  <a:schemeClr val="tx2"/>
                </a:solidFill>
              </a:rPr>
              <a:t>evitar</a:t>
            </a:r>
          </a:p>
        </p:txBody>
      </p:sp>
      <p:pic>
        <p:nvPicPr>
          <p:cNvPr id="6" name="Picture 10" descr="http://www.hci-itil.com/ITIL_v3/images/ITIL_v3_circl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911" y="2412421"/>
            <a:ext cx="3619502" cy="361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43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75000"/>
              </a:schemeClr>
            </a:gs>
            <a:gs pos="88000">
              <a:schemeClr val="bg1"/>
            </a:gs>
            <a:gs pos="13000">
              <a:schemeClr val="bg1">
                <a:lumMod val="95000"/>
              </a:schemeClr>
            </a:gs>
            <a:gs pos="2000">
              <a:schemeClr val="tx1">
                <a:lumMod val="50000"/>
                <a:lumOff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9072" y="-30480"/>
            <a:ext cx="7288527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Qual a motivação da ITIL® - História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79073" y="990600"/>
            <a:ext cx="50765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0" i="0" dirty="0" smtClean="0">
                <a:solidFill>
                  <a:schemeClr val="tx2"/>
                </a:solidFill>
              </a:rPr>
              <a:t>A </a:t>
            </a:r>
            <a:r>
              <a:rPr lang="pt-BR" sz="2400" dirty="0" smtClean="0">
                <a:solidFill>
                  <a:schemeClr val="tx2"/>
                </a:solidFill>
              </a:rPr>
              <a:t>ITIL</a:t>
            </a:r>
            <a:r>
              <a:rPr lang="pt-BR" sz="2400" baseline="30000" dirty="0" smtClean="0">
                <a:solidFill>
                  <a:schemeClr val="tx2"/>
                </a:solidFill>
              </a:rPr>
              <a:t>®</a:t>
            </a:r>
            <a:r>
              <a:rPr lang="pt-BR" sz="2400" dirty="0" smtClean="0">
                <a:solidFill>
                  <a:schemeClr val="tx2"/>
                </a:solidFill>
              </a:rPr>
              <a:t> </a:t>
            </a:r>
            <a:r>
              <a:rPr lang="pt-BR" sz="2400" b="0" dirty="0">
                <a:solidFill>
                  <a:schemeClr val="tx2"/>
                </a:solidFill>
              </a:rPr>
              <a:t>– </a:t>
            </a:r>
            <a:r>
              <a:rPr lang="pt-BR" sz="2400" i="1" dirty="0" smtClean="0">
                <a:solidFill>
                  <a:schemeClr val="tx2"/>
                </a:solidFill>
              </a:rPr>
              <a:t>Information Technology Infrastructure Library</a:t>
            </a:r>
            <a:r>
              <a:rPr lang="pt-BR" sz="2400" b="0" i="1" dirty="0" smtClean="0">
                <a:solidFill>
                  <a:schemeClr val="tx2"/>
                </a:solidFill>
              </a:rPr>
              <a:t> </a:t>
            </a:r>
            <a:r>
              <a:rPr lang="pt-BR" sz="2400" b="0" dirty="0" smtClean="0">
                <a:solidFill>
                  <a:schemeClr val="tx2"/>
                </a:solidFill>
              </a:rPr>
              <a:t>– </a:t>
            </a:r>
            <a:r>
              <a:rPr lang="pt-BR" sz="2400" b="0" i="0" dirty="0" smtClean="0">
                <a:solidFill>
                  <a:schemeClr val="tx2"/>
                </a:solidFill>
              </a:rPr>
              <a:t>foi patrocinada pelo governo britânico no início dos anos 80.</a:t>
            </a:r>
          </a:p>
          <a:p>
            <a:pPr algn="just"/>
            <a:r>
              <a:rPr lang="pt-BR" sz="2400" b="0" i="0" dirty="0" smtClean="0">
                <a:solidFill>
                  <a:schemeClr val="tx2"/>
                </a:solidFill>
              </a:rPr>
              <a:t> </a:t>
            </a:r>
          </a:p>
          <a:p>
            <a:pPr algn="just"/>
            <a:r>
              <a:rPr lang="pt-BR" sz="2400" b="0" i="0" dirty="0" smtClean="0">
                <a:solidFill>
                  <a:schemeClr val="tx2"/>
                </a:solidFill>
              </a:rPr>
              <a:t>Preocupados com a crescente dependência dos negócios em relação à tecnologia e sistemas e buscando um melhor uso dos recursos de TI, </a:t>
            </a:r>
            <a:r>
              <a:rPr lang="pt-BR" sz="2400" dirty="0" smtClean="0">
                <a:solidFill>
                  <a:schemeClr val="tx2"/>
                </a:solidFill>
              </a:rPr>
              <a:t>The Crown</a:t>
            </a:r>
            <a:r>
              <a:rPr lang="pt-BR" sz="2400" b="0" i="0" dirty="0" smtClean="0">
                <a:solidFill>
                  <a:schemeClr val="tx2"/>
                </a:solidFill>
              </a:rPr>
              <a:t> – a dona da ITIL</a:t>
            </a:r>
            <a:r>
              <a:rPr lang="pt-BR" sz="2400" baseline="30000" dirty="0" smtClean="0">
                <a:solidFill>
                  <a:schemeClr val="tx2"/>
                </a:solidFill>
              </a:rPr>
              <a:t>®</a:t>
            </a:r>
            <a:r>
              <a:rPr lang="pt-BR" sz="2400" dirty="0" smtClean="0">
                <a:solidFill>
                  <a:schemeClr val="tx2"/>
                </a:solidFill>
              </a:rPr>
              <a:t> </a:t>
            </a:r>
            <a:r>
              <a:rPr lang="pt-BR" sz="2400" b="0" i="0" dirty="0">
                <a:solidFill>
                  <a:schemeClr val="tx2"/>
                </a:solidFill>
              </a:rPr>
              <a:t>–</a:t>
            </a:r>
            <a:r>
              <a:rPr lang="pt-BR" sz="2400" dirty="0" smtClean="0">
                <a:solidFill>
                  <a:schemeClr val="tx2"/>
                </a:solidFill>
              </a:rPr>
              <a:t> </a:t>
            </a:r>
            <a:r>
              <a:rPr lang="pt-BR" sz="2400" b="0" i="0" dirty="0" smtClean="0">
                <a:solidFill>
                  <a:schemeClr val="tx2"/>
                </a:solidFill>
              </a:rPr>
              <a:t>patrocinou uma pesquisa de melhores práticas pela CCTA (</a:t>
            </a:r>
            <a:r>
              <a:rPr lang="pt-BR" sz="2400" b="0" i="1" dirty="0" smtClean="0">
                <a:solidFill>
                  <a:schemeClr val="tx2"/>
                </a:solidFill>
              </a:rPr>
              <a:t>Central Computer and Telecommunications Agency</a:t>
            </a:r>
            <a:r>
              <a:rPr lang="pt-BR" sz="2400" b="0" i="0" dirty="0" smtClean="0">
                <a:solidFill>
                  <a:schemeClr val="tx2"/>
                </a:solidFill>
              </a:rPr>
              <a:t>).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970" y="1710680"/>
            <a:ext cx="3522429" cy="3240360"/>
          </a:xfrm>
          <a:prstGeom prst="rect">
            <a:avLst/>
          </a:prstGeom>
          <a:solidFill>
            <a:srgbClr val="7E0000"/>
          </a:solidFill>
        </p:spPr>
      </p:pic>
    </p:spTree>
    <p:extLst>
      <p:ext uri="{BB962C8B-B14F-4D97-AF65-F5344CB8AC3E}">
        <p14:creationId xmlns:p14="http://schemas.microsoft.com/office/powerpoint/2010/main" val="1209764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553200" y="6313527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FEEC8F1-97A6-45CB-9E97-E8115C00C657}" type="slidenum">
              <a:rPr lang="pt-BR" smtClean="0"/>
              <a:pPr>
                <a:defRPr/>
              </a:pPr>
              <a:t>4</a:t>
            </a:fld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-15240"/>
            <a:ext cx="5420664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Qual a motivação da ITIL® - Estória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990600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3200" b="1" i="0" dirty="0" smtClean="0">
                <a:solidFill>
                  <a:schemeClr val="tx2"/>
                </a:solidFill>
              </a:rPr>
              <a:t>A Lenda</a:t>
            </a:r>
          </a:p>
          <a:p>
            <a:pPr marL="358775" indent="0" defTabSz="622300">
              <a:buClr>
                <a:schemeClr val="tx1">
                  <a:lumMod val="50000"/>
                  <a:lumOff val="50000"/>
                </a:schemeClr>
              </a:buClr>
              <a:buNone/>
              <a:defRPr/>
            </a:pPr>
            <a:r>
              <a:rPr lang="en-US" sz="2200" dirty="0" smtClean="0">
                <a:solidFill>
                  <a:schemeClr val="tx2"/>
                </a:solidFill>
              </a:rPr>
              <a:t/>
            </a:r>
            <a:br>
              <a:rPr lang="en-US" sz="2200" dirty="0" smtClean="0">
                <a:solidFill>
                  <a:schemeClr val="tx2"/>
                </a:solidFill>
              </a:rPr>
            </a:br>
            <a:endParaRPr lang="en-US" sz="2200" dirty="0" smtClean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 smtClean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 smtClean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 smtClean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 smtClean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 smtClean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en-US" sz="2200" dirty="0">
              <a:solidFill>
                <a:schemeClr val="tx2"/>
              </a:solidFill>
            </a:endParaRPr>
          </a:p>
          <a:p>
            <a:pPr marL="715963" indent="-357188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200" b="1" i="0" dirty="0" smtClean="0">
                <a:solidFill>
                  <a:schemeClr val="tx2"/>
                </a:solidFill>
              </a:rPr>
              <a:t>Teria a Argentina estimulado a transformação da GITIM em ITIL®?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55576" y="1695203"/>
            <a:ext cx="475252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0" i="0" dirty="0" smtClean="0">
                <a:solidFill>
                  <a:schemeClr val="tx2"/>
                </a:solidFill>
              </a:rPr>
              <a:t>A invasão das Falklands pelo governo argentino do Gal. Galtieri em 1982 provocou uma reação imediata da Coroa. As ilhas foram invadidas em março de 1982, mas o governo britânico recuperou a posse em junho de 1982.</a:t>
            </a:r>
          </a:p>
          <a:p>
            <a:pPr algn="just"/>
            <a:endParaRPr lang="pt-BR" sz="1000" b="0" i="0" dirty="0" smtClean="0">
              <a:solidFill>
                <a:schemeClr val="tx2"/>
              </a:solidFill>
            </a:endParaRPr>
          </a:p>
          <a:p>
            <a:pPr algn="just"/>
            <a:r>
              <a:rPr lang="pt-BR" sz="2000" b="0" i="0" dirty="0" smtClean="0">
                <a:solidFill>
                  <a:schemeClr val="tx2"/>
                </a:solidFill>
              </a:rPr>
              <a:t>Mais de £ 2.000.000.000,00 foram gastos nesta guerra. Por que tanto dinheiro? Falhas de TI!</a:t>
            </a:r>
          </a:p>
          <a:p>
            <a:pPr algn="just"/>
            <a:endParaRPr lang="pt-BR" sz="2000" b="0" i="0" dirty="0" smtClean="0">
              <a:solidFill>
                <a:schemeClr val="tx2"/>
              </a:solidFill>
            </a:endParaRPr>
          </a:p>
          <a:p>
            <a:pPr algn="just"/>
            <a:r>
              <a:rPr lang="pt-BR" sz="2000" b="0" i="0" dirty="0" smtClean="0">
                <a:solidFill>
                  <a:schemeClr val="tx2"/>
                </a:solidFill>
              </a:rPr>
              <a:t>Surge a ITIL</a:t>
            </a:r>
            <a:r>
              <a:rPr lang="pt-BR" sz="2000" b="0" i="0" baseline="30000" dirty="0" smtClean="0">
                <a:solidFill>
                  <a:schemeClr val="tx2"/>
                </a:solidFill>
              </a:rPr>
              <a:t>®</a:t>
            </a:r>
            <a:r>
              <a:rPr lang="pt-BR" sz="2000" b="0" i="0" dirty="0" smtClean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059" y="1695203"/>
            <a:ext cx="3107421" cy="31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8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439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Os gestores da ITIL® - CCTA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70959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Subordinada </a:t>
            </a:r>
            <a:r>
              <a:rPr lang="en-US" sz="2800" b="0" i="0" dirty="0" smtClean="0">
                <a:solidFill>
                  <a:schemeClr val="tx2"/>
                </a:solidFill>
              </a:rPr>
              <a:t>ao </a:t>
            </a:r>
            <a:r>
              <a:rPr lang="en-US" sz="2800" i="0" dirty="0" smtClean="0">
                <a:solidFill>
                  <a:schemeClr val="tx2"/>
                </a:solidFill>
              </a:rPr>
              <a:t>HM Treasury </a:t>
            </a:r>
            <a:r>
              <a:rPr lang="en-US" sz="2800" b="0" i="0" dirty="0" smtClean="0">
                <a:solidFill>
                  <a:schemeClr val="tx2"/>
                </a:solidFill>
              </a:rPr>
              <a:t>– </a:t>
            </a:r>
            <a:r>
              <a:rPr lang="en-US" sz="2800" b="0" dirty="0" smtClean="0">
                <a:solidFill>
                  <a:schemeClr val="tx2"/>
                </a:solidFill>
              </a:rPr>
              <a:t>Her </a:t>
            </a:r>
            <a:r>
              <a:rPr lang="en-US" sz="2800" b="0" dirty="0">
                <a:solidFill>
                  <a:schemeClr val="tx2"/>
                </a:solidFill>
              </a:rPr>
              <a:t>Majesty's </a:t>
            </a:r>
            <a:r>
              <a:rPr lang="en-US" sz="2800" b="0" dirty="0" smtClean="0">
                <a:solidFill>
                  <a:schemeClr val="tx2"/>
                </a:solidFill>
              </a:rPr>
              <a:t>Treasury</a:t>
            </a:r>
            <a:r>
              <a:rPr lang="en-US" sz="2800" b="0" i="0" dirty="0" smtClean="0">
                <a:solidFill>
                  <a:schemeClr val="tx2"/>
                </a:solidFill>
              </a:rPr>
              <a:t> – um departamento do governo britânico responsável por desenvolver e executar as políticas econômicas e de finanças públicas do governo, a </a:t>
            </a:r>
            <a:r>
              <a:rPr lang="pt-BR" sz="2800" i="0" dirty="0" smtClean="0">
                <a:solidFill>
                  <a:schemeClr val="tx2"/>
                </a:solidFill>
              </a:rPr>
              <a:t>CCTA</a:t>
            </a:r>
            <a:r>
              <a:rPr lang="pt-BR" sz="2800" b="0" i="0" dirty="0" smtClean="0">
                <a:solidFill>
                  <a:schemeClr val="tx2"/>
                </a:solidFill>
              </a:rPr>
              <a:t> </a:t>
            </a:r>
            <a:r>
              <a:rPr lang="pt-BR" sz="2800" b="0" i="0" dirty="0">
                <a:solidFill>
                  <a:schemeClr val="tx2"/>
                </a:solidFill>
              </a:rPr>
              <a:t>– </a:t>
            </a:r>
            <a:r>
              <a:rPr lang="en-US" sz="2800" b="0" dirty="0">
                <a:solidFill>
                  <a:schemeClr val="tx2"/>
                </a:solidFill>
              </a:rPr>
              <a:t>Central Computer and Telecommunications Agency </a:t>
            </a:r>
            <a:r>
              <a:rPr lang="en-US" sz="2800" b="0" i="0" dirty="0">
                <a:solidFill>
                  <a:schemeClr val="tx2"/>
                </a:solidFill>
              </a:rPr>
              <a:t>– </a:t>
            </a:r>
            <a:r>
              <a:rPr lang="en-US" sz="2800" b="0" i="0" dirty="0" smtClean="0">
                <a:solidFill>
                  <a:schemeClr val="tx2"/>
                </a:solidFill>
              </a:rPr>
              <a:t>era responsável, entre outras coisas, por:</a:t>
            </a:r>
          </a:p>
          <a:p>
            <a:pPr marL="715963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200" b="0" i="0" dirty="0" smtClean="0">
                <a:solidFill>
                  <a:schemeClr val="tx2"/>
                </a:solidFill>
              </a:rPr>
              <a:t>Desenvolver a profissionalização da TI no governo britânico;</a:t>
            </a:r>
          </a:p>
          <a:p>
            <a:pPr marL="715963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200" b="0" i="0" dirty="0" smtClean="0">
                <a:solidFill>
                  <a:schemeClr val="tx2"/>
                </a:solidFill>
              </a:rPr>
              <a:t>Gerir o conhecimento sobre práticas bem sucedidas de desenvolvimento e implementação de TI e SI e;</a:t>
            </a:r>
          </a:p>
          <a:p>
            <a:pPr marL="715963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200" b="0" i="0" dirty="0" smtClean="0">
                <a:solidFill>
                  <a:schemeClr val="tx2"/>
                </a:solidFill>
              </a:rPr>
              <a:t>Orientar o governo sobre as oportunidades de uso da TI para obter ganhos de eficiência, aumento da segurança e mitigação de riscos.</a:t>
            </a:r>
            <a:endParaRPr lang="pt-BR" sz="2200" b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40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0"/>
            <a:ext cx="538560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Os gestores da ITIL® - OGC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51520" y="12588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O </a:t>
            </a:r>
            <a:r>
              <a:rPr lang="pt-BR" sz="2800" i="0" dirty="0" smtClean="0">
                <a:solidFill>
                  <a:schemeClr val="tx2"/>
                </a:solidFill>
              </a:rPr>
              <a:t>OGC</a:t>
            </a:r>
            <a:r>
              <a:rPr lang="pt-BR" sz="2800" b="0" i="0" dirty="0" smtClean="0">
                <a:solidFill>
                  <a:schemeClr val="tx2"/>
                </a:solidFill>
              </a:rPr>
              <a:t> – </a:t>
            </a:r>
            <a:r>
              <a:rPr lang="pt-BR" sz="2800" b="0" dirty="0" smtClean="0">
                <a:solidFill>
                  <a:schemeClr val="tx2"/>
                </a:solidFill>
              </a:rPr>
              <a:t>Office </a:t>
            </a:r>
            <a:r>
              <a:rPr lang="en-US" sz="2800" b="0" dirty="0" smtClean="0">
                <a:solidFill>
                  <a:schemeClr val="tx2"/>
                </a:solidFill>
              </a:rPr>
              <a:t>of Government Commerce</a:t>
            </a:r>
            <a:r>
              <a:rPr lang="pt-BR" sz="2800" b="0" i="0" dirty="0" smtClean="0">
                <a:solidFill>
                  <a:schemeClr val="tx2"/>
                </a:solidFill>
              </a:rPr>
              <a:t> – incorpora em 2000 a </a:t>
            </a:r>
            <a:r>
              <a:rPr lang="pt-BR" sz="2800" i="0" dirty="0" smtClean="0">
                <a:solidFill>
                  <a:schemeClr val="tx2"/>
                </a:solidFill>
              </a:rPr>
              <a:t>CCTA</a:t>
            </a:r>
            <a:r>
              <a:rPr lang="pt-BR" sz="2800" b="0" i="0" dirty="0" smtClean="0">
                <a:solidFill>
                  <a:schemeClr val="tx2"/>
                </a:solidFill>
              </a:rPr>
              <a:t> – </a:t>
            </a:r>
            <a:r>
              <a:rPr lang="en-US" sz="2800" b="0" dirty="0">
                <a:solidFill>
                  <a:schemeClr val="tx2"/>
                </a:solidFill>
              </a:rPr>
              <a:t>Central Computer and Telecommunications </a:t>
            </a:r>
            <a:r>
              <a:rPr lang="en-US" sz="2800" b="0" dirty="0" smtClean="0">
                <a:solidFill>
                  <a:schemeClr val="tx2"/>
                </a:solidFill>
              </a:rPr>
              <a:t>Agency </a:t>
            </a:r>
            <a:r>
              <a:rPr lang="en-US" sz="2800" b="0" i="0" dirty="0" smtClean="0">
                <a:solidFill>
                  <a:schemeClr val="tx2"/>
                </a:solidFill>
              </a:rPr>
              <a:t>– </a:t>
            </a:r>
            <a:r>
              <a:rPr lang="pt-BR" sz="2800" b="0" i="0" dirty="0" smtClean="0">
                <a:solidFill>
                  <a:schemeClr val="tx2"/>
                </a:solidFill>
              </a:rPr>
              <a:t>responsável pela consolidação da ITIL®.</a:t>
            </a:r>
          </a:p>
          <a:p>
            <a:pPr marL="715963" lvl="1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i="0" dirty="0" smtClean="0">
                <a:solidFill>
                  <a:schemeClr val="tx2"/>
                </a:solidFill>
              </a:rPr>
              <a:t>Objetivo:</a:t>
            </a:r>
            <a:r>
              <a:rPr lang="pt-BR" sz="2800" b="0" i="0" dirty="0" smtClean="0">
                <a:solidFill>
                  <a:schemeClr val="tx2"/>
                </a:solidFill>
              </a:rPr>
              <a:t> O </a:t>
            </a:r>
            <a:r>
              <a:rPr lang="pt-BR" sz="2800" i="0" dirty="0" smtClean="0">
                <a:solidFill>
                  <a:schemeClr val="tx2"/>
                </a:solidFill>
              </a:rPr>
              <a:t>OGC </a:t>
            </a:r>
            <a:r>
              <a:rPr lang="pt-BR" sz="2800" b="0" i="0" dirty="0" smtClean="0">
                <a:solidFill>
                  <a:schemeClr val="tx2"/>
                </a:solidFill>
              </a:rPr>
              <a:t>é uma organização independente do </a:t>
            </a:r>
            <a:r>
              <a:rPr lang="pt-BR" sz="2800" i="0" dirty="0" smtClean="0">
                <a:solidFill>
                  <a:schemeClr val="tx2"/>
                </a:solidFill>
              </a:rPr>
              <a:t>HM Treasury</a:t>
            </a:r>
            <a:r>
              <a:rPr lang="pt-BR" sz="2800" b="0" i="0" dirty="0" smtClean="0">
                <a:solidFill>
                  <a:schemeClr val="tx2"/>
                </a:solidFill>
              </a:rPr>
              <a:t>, estabelecida para auxiliar o governo a obter o melhor valor pelo dinheiro gasto. O </a:t>
            </a:r>
            <a:r>
              <a:rPr lang="pt-BR" sz="2800" i="0" dirty="0" smtClean="0">
                <a:solidFill>
                  <a:schemeClr val="tx2"/>
                </a:solidFill>
              </a:rPr>
              <a:t>OGC</a:t>
            </a:r>
            <a:r>
              <a:rPr lang="pt-BR" sz="2800" b="0" i="0" dirty="0" smtClean="0">
                <a:solidFill>
                  <a:schemeClr val="tx2"/>
                </a:solidFill>
              </a:rPr>
              <a:t> trabalha com outros departamentos do governo e organizações do setor público.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017" y="4724400"/>
            <a:ext cx="1796237" cy="81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99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0"/>
            <a:ext cx="538560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Os gestores da ITIL® - itSMF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990600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O </a:t>
            </a:r>
            <a:r>
              <a:rPr lang="pt-BR" sz="2800" i="0" dirty="0" smtClean="0">
                <a:solidFill>
                  <a:schemeClr val="tx2"/>
                </a:solidFill>
              </a:rPr>
              <a:t>itSMF</a:t>
            </a:r>
            <a:r>
              <a:rPr lang="pt-BR" sz="2800" b="0" i="0" dirty="0" smtClean="0">
                <a:solidFill>
                  <a:schemeClr val="tx2"/>
                </a:solidFill>
              </a:rPr>
              <a:t> – </a:t>
            </a:r>
            <a:r>
              <a:rPr lang="pt-BR" sz="2800" b="0" dirty="0" smtClean="0">
                <a:solidFill>
                  <a:schemeClr val="tx2"/>
                </a:solidFill>
              </a:rPr>
              <a:t>Information Technology Service Management  Forum</a:t>
            </a:r>
            <a:r>
              <a:rPr lang="pt-BR" sz="2800" b="0" i="0" dirty="0" smtClean="0">
                <a:solidFill>
                  <a:schemeClr val="tx2"/>
                </a:solidFill>
              </a:rPr>
              <a:t> – foi constituído em 1991 como uma organização de fomento a ITIL®, visando:</a:t>
            </a:r>
          </a:p>
          <a:p>
            <a:pPr marL="715963" lvl="1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b="0" i="0" dirty="0" smtClean="0">
                <a:solidFill>
                  <a:schemeClr val="tx2"/>
                </a:solidFill>
              </a:rPr>
              <a:t>Agrupar os usuários de ITIL para juntos trocarem experiências e aprenderem uns com os outros;</a:t>
            </a:r>
          </a:p>
          <a:p>
            <a:pPr marL="715963" lvl="1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b="0" i="0" dirty="0" smtClean="0">
                <a:solidFill>
                  <a:schemeClr val="tx2"/>
                </a:solidFill>
              </a:rPr>
              <a:t>Realizar eventos para divulgação das melhores práticas, exposição de soluções da indústria e capacitação profissional;</a:t>
            </a:r>
          </a:p>
          <a:p>
            <a:pPr marL="715963" lvl="1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b="0" i="0" dirty="0" smtClean="0">
                <a:solidFill>
                  <a:schemeClr val="tx2"/>
                </a:solidFill>
              </a:rPr>
              <a:t>Certificar publicações, auxiliando o OGC na manutenção de uma biblioteca única e íntegra.</a:t>
            </a:r>
          </a:p>
          <a:p>
            <a:pPr marL="357188" lvl="1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400" b="0" i="0" dirty="0">
                <a:solidFill>
                  <a:schemeClr val="tx2"/>
                </a:solidFill>
              </a:rPr>
              <a:t>Os capítulos do </a:t>
            </a:r>
            <a:r>
              <a:rPr lang="pt-BR" sz="2400" i="0" dirty="0">
                <a:solidFill>
                  <a:schemeClr val="tx2"/>
                </a:solidFill>
              </a:rPr>
              <a:t>itSMF</a:t>
            </a:r>
            <a:r>
              <a:rPr lang="pt-BR" sz="2400" b="0" i="0" dirty="0">
                <a:solidFill>
                  <a:schemeClr val="tx2"/>
                </a:solidFill>
              </a:rPr>
              <a:t> </a:t>
            </a:r>
            <a:r>
              <a:rPr lang="pt-BR" sz="2400" b="0" i="0" dirty="0" smtClean="0">
                <a:solidFill>
                  <a:schemeClr val="tx2"/>
                </a:solidFill>
              </a:rPr>
              <a:t>continuam atuantes em vários países</a:t>
            </a:r>
            <a:r>
              <a:rPr lang="pt-BR" sz="2400" b="0" i="0" dirty="0">
                <a:solidFill>
                  <a:schemeClr val="tx2"/>
                </a:solidFill>
              </a:rPr>
              <a:t>. No Brasil, infelizmente, </a:t>
            </a:r>
            <a:r>
              <a:rPr lang="pt-BR" sz="2400" b="0" i="0" dirty="0" smtClean="0">
                <a:solidFill>
                  <a:schemeClr val="tx2"/>
                </a:solidFill>
              </a:rPr>
              <a:t>perdeu o foco e abandonou seus princípios.</a:t>
            </a:r>
            <a:endParaRPr lang="pt-BR" sz="2400" b="0" i="0" dirty="0">
              <a:solidFill>
                <a:schemeClr val="tx2"/>
              </a:solidFill>
            </a:endParaRPr>
          </a:p>
        </p:txBody>
      </p:sp>
      <p:pic>
        <p:nvPicPr>
          <p:cNvPr id="6" name="Picture 2" descr="http://www.itsmf.com/images/globalhomepage/itSMF_log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334000"/>
            <a:ext cx="17716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29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7646" y="0"/>
            <a:ext cx="531359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Os gestores da ITIL® - Cabinet Office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67646" y="1219200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O </a:t>
            </a:r>
            <a:r>
              <a:rPr lang="pt-BR" sz="2800" i="0" dirty="0" smtClean="0">
                <a:solidFill>
                  <a:schemeClr val="tx2"/>
                </a:solidFill>
              </a:rPr>
              <a:t>Cabinet Office</a:t>
            </a:r>
            <a:r>
              <a:rPr lang="pt-BR" sz="2800" b="0" i="0" dirty="0" smtClean="0">
                <a:solidFill>
                  <a:schemeClr val="tx2"/>
                </a:solidFill>
              </a:rPr>
              <a:t> auxilia o Primeiro Ministro britânico  e seu gabinete (deputados e assessores) a assegurar o efetivo funcionamento do governo, através da definição de práticas de gestão em parceria com o </a:t>
            </a:r>
            <a:r>
              <a:rPr lang="en-US" sz="2800" dirty="0" smtClean="0">
                <a:solidFill>
                  <a:schemeClr val="tx2"/>
                </a:solidFill>
              </a:rPr>
              <a:t>HM Treasury</a:t>
            </a:r>
            <a:r>
              <a:rPr lang="en-US" sz="2800" b="0" i="0" dirty="0" smtClean="0">
                <a:solidFill>
                  <a:schemeClr val="tx2"/>
                </a:solidFill>
              </a:rPr>
              <a:t>. </a:t>
            </a:r>
          </a:p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Em 2010, o </a:t>
            </a:r>
            <a:r>
              <a:rPr lang="pt-BR" sz="2800" i="0" dirty="0" smtClean="0">
                <a:solidFill>
                  <a:schemeClr val="tx2"/>
                </a:solidFill>
              </a:rPr>
              <a:t>Cabinet Office</a:t>
            </a:r>
            <a:r>
              <a:rPr lang="pt-BR" sz="2800" b="0" i="0" dirty="0" smtClean="0">
                <a:solidFill>
                  <a:schemeClr val="tx2"/>
                </a:solidFill>
              </a:rPr>
              <a:t> assumiu a guarda pela propriedade intelectual da ITIL® - </a:t>
            </a:r>
            <a:r>
              <a:rPr lang="pt-BR" sz="2800" dirty="0" smtClean="0">
                <a:solidFill>
                  <a:schemeClr val="tx2"/>
                </a:solidFill>
              </a:rPr>
              <a:t>Crown Copyright</a:t>
            </a:r>
            <a:r>
              <a:rPr lang="pt-BR" sz="2800" b="0" i="0" dirty="0" smtClean="0">
                <a:solidFill>
                  <a:schemeClr val="tx2"/>
                </a:solidFill>
              </a:rPr>
              <a:t> - e é o responsável por sua gestão, tendo substituído o OGC</a:t>
            </a:r>
            <a:r>
              <a:rPr lang="en-US" sz="2800" b="0" i="0" dirty="0" smtClean="0">
                <a:solidFill>
                  <a:schemeClr val="tx2"/>
                </a:solidFill>
              </a:rPr>
              <a:t>.</a:t>
            </a:r>
            <a:endParaRPr lang="pt-BR" sz="2400" b="0" i="0" dirty="0">
              <a:solidFill>
                <a:schemeClr val="tx2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80060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57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7882" y="31709"/>
            <a:ext cx="648072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Os gestores da ITIL® 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- </a:t>
            </a:r>
            <a:r>
              <a:rPr lang="pt-BR" sz="2400" b="1" dirty="0" smtClean="0">
                <a:solidFill>
                  <a:schemeClr val="bg1"/>
                </a:solidFill>
                <a:latin typeface="+mj-lt"/>
              </a:rPr>
              <a:t>APMG-International</a:t>
            </a:r>
            <a:endParaRPr lang="pt-BR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307402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A </a:t>
            </a:r>
            <a:r>
              <a:rPr lang="pt-BR" sz="2800" i="0" dirty="0" smtClean="0">
                <a:solidFill>
                  <a:schemeClr val="tx2"/>
                </a:solidFill>
              </a:rPr>
              <a:t>APMG-International</a:t>
            </a:r>
            <a:r>
              <a:rPr lang="pt-BR" sz="2800" b="0" i="0" dirty="0" smtClean="0">
                <a:solidFill>
                  <a:schemeClr val="tx2"/>
                </a:solidFill>
              </a:rPr>
              <a:t> é uma organização do </a:t>
            </a:r>
            <a:r>
              <a:rPr lang="pt-BR" sz="2800" b="0" dirty="0" smtClean="0">
                <a:solidFill>
                  <a:schemeClr val="tx2"/>
                </a:solidFill>
              </a:rPr>
              <a:t>APM Group Ltd que foi</a:t>
            </a:r>
            <a:r>
              <a:rPr lang="pt-BR" sz="2800" b="0" i="0" dirty="0" smtClean="0">
                <a:solidFill>
                  <a:schemeClr val="tx2"/>
                </a:solidFill>
              </a:rPr>
              <a:t> credenciada pelo </a:t>
            </a:r>
            <a:r>
              <a:rPr lang="pt-BR" sz="2800" i="0" dirty="0" smtClean="0">
                <a:solidFill>
                  <a:schemeClr val="tx2"/>
                </a:solidFill>
              </a:rPr>
              <a:t>Cabinet Office</a:t>
            </a:r>
            <a:r>
              <a:rPr lang="pt-BR" sz="2800" b="0" i="0" dirty="0" smtClean="0">
                <a:solidFill>
                  <a:schemeClr val="tx2"/>
                </a:solidFill>
              </a:rPr>
              <a:t> britânico para gerir, entre outros, o conteúdo e os esquemas de qualificação em ITIL® V3.</a:t>
            </a:r>
          </a:p>
          <a:p>
            <a:pPr marL="357188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b="0" i="0" dirty="0" smtClean="0">
                <a:solidFill>
                  <a:schemeClr val="tx2"/>
                </a:solidFill>
              </a:rPr>
              <a:t>Atuou basicamente em duas frentes:</a:t>
            </a:r>
          </a:p>
          <a:p>
            <a:pPr marL="715963" lvl="1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Acreditação</a:t>
            </a:r>
            <a:r>
              <a:rPr lang="pt-BR" b="0" i="0" dirty="0" smtClean="0">
                <a:solidFill>
                  <a:schemeClr val="tx2"/>
                </a:solidFill>
              </a:rPr>
              <a:t>: provê suporte e garante a qualidade das organizações de treinamento e consultoria, por meio de processos de definição, avaliação e aceite de conteúdos e conhecimento.</a:t>
            </a:r>
            <a:endParaRPr lang="en-US" b="0" i="0" dirty="0" smtClean="0">
              <a:solidFill>
                <a:schemeClr val="tx2"/>
              </a:solidFill>
            </a:endParaRPr>
          </a:p>
          <a:p>
            <a:pPr marL="715963" lvl="1" indent="-358775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Certificação</a:t>
            </a:r>
            <a:r>
              <a:rPr lang="pt-BR" b="0" i="0" dirty="0" smtClean="0">
                <a:solidFill>
                  <a:schemeClr val="tx2"/>
                </a:solidFill>
              </a:rPr>
              <a:t>: mantém o portfólio de certificações oficiais  para diversas melhores práticas internacionalmente reconhecidas e estabelece os esquemas de certificação.</a:t>
            </a:r>
            <a:endParaRPr lang="pt-BR" sz="2400" b="0" i="0" dirty="0">
              <a:solidFill>
                <a:schemeClr val="tx2"/>
              </a:solidFill>
            </a:endParaRPr>
          </a:p>
        </p:txBody>
      </p:sp>
      <p:pic>
        <p:nvPicPr>
          <p:cNvPr id="3076" name="Picture 4" descr="http://www.brasport.com.br/APMG-International_Logo_(no_strapline)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608" y="5416003"/>
            <a:ext cx="2576637" cy="37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59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7402" y="-30480"/>
            <a:ext cx="648072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Os gestores da ITIL® 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- AXELOS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307402" y="914400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57188" indent="-357188" algn="just" defTabSz="622300" fontAlgn="ba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800" b="0" i="0">
                <a:solidFill>
                  <a:srgbClr val="7E0000"/>
                </a:solidFill>
              </a:defRPr>
            </a:lvl1pPr>
            <a:lvl2pPr marL="715963" lvl="1" indent="-358775" algn="just" defTabSz="622300" fontAlgn="base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i="0">
                <a:solidFill>
                  <a:srgbClr val="7E0000"/>
                </a:solidFill>
              </a:defRPr>
            </a:lvl2pPr>
            <a:lvl3pPr marL="989013" indent="-274638" fontAlgn="base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/>
            </a:lvl3pPr>
            <a:lvl4pPr marL="1252538" indent="-263525" fontAlgn="base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/>
            </a:lvl4pPr>
            <a:lvl5pPr marL="1528763" indent="-276225" fontAlgn="base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pt-BR" dirty="0">
                <a:solidFill>
                  <a:schemeClr val="tx2"/>
                </a:solidFill>
              </a:rPr>
              <a:t>O </a:t>
            </a:r>
            <a:r>
              <a:rPr lang="pt-BR" dirty="0" err="1">
                <a:solidFill>
                  <a:schemeClr val="tx2"/>
                </a:solidFill>
              </a:rPr>
              <a:t>Cabinet</a:t>
            </a:r>
            <a:r>
              <a:rPr lang="pt-BR" dirty="0">
                <a:solidFill>
                  <a:schemeClr val="tx2"/>
                </a:solidFill>
              </a:rPr>
              <a:t> Office auxilia o Primeiro Ministro britânico  e seu gabinete (deputados e assessores) a assegurar o efetivo funcionamento do governo, através da definição de práticas de gestão em parceria com o </a:t>
            </a:r>
            <a:r>
              <a:rPr lang="en-US" dirty="0">
                <a:solidFill>
                  <a:schemeClr val="tx2"/>
                </a:solidFill>
              </a:rPr>
              <a:t>HM Treasury. 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pt-BR" dirty="0" smtClean="0">
                <a:solidFill>
                  <a:schemeClr val="tx2"/>
                </a:solidFill>
              </a:rPr>
              <a:t>AXELOS é uma joint venture entre o </a:t>
            </a:r>
            <a:r>
              <a:rPr lang="pt-BR" i="1" dirty="0" smtClean="0">
                <a:solidFill>
                  <a:schemeClr val="tx2"/>
                </a:solidFill>
              </a:rPr>
              <a:t>Cabinet Office</a:t>
            </a:r>
            <a:r>
              <a:rPr lang="pt-BR" dirty="0" smtClean="0">
                <a:solidFill>
                  <a:schemeClr val="tx2"/>
                </a:solidFill>
              </a:rPr>
              <a:t> e a Capita, constituída para gerenciar o portfólio de melhores práticas, incluindo ITIL® e o PRINCE2®.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pt-BR" dirty="0" smtClean="0">
                <a:solidFill>
                  <a:schemeClr val="tx2"/>
                </a:solidFill>
              </a:rPr>
              <a:t>Tem por objetivo fomentar as melhores práticas no mundo, estabelecendo uma abordagem inovadora e de alta qualidade para o desenvolvimento e a manutenção das estruturas de capacitação e conteúdo.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pt-BR" dirty="0" smtClean="0">
                <a:solidFill>
                  <a:schemeClr val="tx2"/>
                </a:solidFill>
              </a:rPr>
              <a:t>É hoje, a dona da ITIL®.</a:t>
            </a:r>
            <a:endParaRPr lang="pt-BR" dirty="0">
              <a:solidFill>
                <a:schemeClr val="tx2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574" y="5250574"/>
            <a:ext cx="1378826" cy="137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4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30480"/>
            <a:ext cx="5363188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179512" y="3056884"/>
            <a:ext cx="4100890" cy="2873523"/>
            <a:chOff x="299296" y="3445146"/>
            <a:chExt cx="4100890" cy="2873523"/>
          </a:xfrm>
        </p:grpSpPr>
        <p:pic>
          <p:nvPicPr>
            <p:cNvPr id="7176" name="Picture 8" descr="http://3.bp.blogspot.com/_XFm1xi-L2Q0/TAmv9yac3wI/AAAAAAAAAAs/7YbFMavzR0A/s1600/ITIL_v2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296" y="3445146"/>
              <a:ext cx="4100890" cy="2556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CaixaDeTexto 11"/>
            <p:cNvSpPr txBox="1"/>
            <p:nvPr/>
          </p:nvSpPr>
          <p:spPr>
            <a:xfrm>
              <a:off x="3740957" y="5949337"/>
              <a:ext cx="659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i="0" dirty="0" smtClean="0">
                  <a:solidFill>
                    <a:schemeClr val="tx2"/>
                  </a:solidFill>
                </a:rPr>
                <a:t>V.2</a:t>
              </a:r>
              <a:endParaRPr lang="pt-BR" i="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4869439" y="1450324"/>
            <a:ext cx="4124960" cy="4339165"/>
            <a:chOff x="5019040" y="1751804"/>
            <a:chExt cx="4124960" cy="4339165"/>
          </a:xfrm>
        </p:grpSpPr>
        <p:pic>
          <p:nvPicPr>
            <p:cNvPr id="7178" name="Picture 10" descr="http://www.hci-itil.com/ITIL_v3/images/ITIL_v3_circle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9040" y="1751804"/>
              <a:ext cx="3981452" cy="39814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CaixaDeTexto 12"/>
            <p:cNvSpPr txBox="1"/>
            <p:nvPr/>
          </p:nvSpPr>
          <p:spPr>
            <a:xfrm>
              <a:off x="7775848" y="5444638"/>
              <a:ext cx="13681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i="0" dirty="0" smtClean="0">
                  <a:solidFill>
                    <a:schemeClr val="tx2"/>
                  </a:solidFill>
                </a:rPr>
                <a:t>V3</a:t>
              </a:r>
              <a:br>
                <a:rPr lang="pt-BR" i="0" dirty="0" smtClean="0">
                  <a:solidFill>
                    <a:schemeClr val="tx2"/>
                  </a:solidFill>
                </a:rPr>
              </a:br>
              <a:r>
                <a:rPr lang="pt-BR" i="0" dirty="0" smtClean="0">
                  <a:solidFill>
                    <a:schemeClr val="tx2"/>
                  </a:solidFill>
                </a:rPr>
                <a:t>edição 2011</a:t>
              </a:r>
              <a:endParaRPr lang="pt-BR" i="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622200" y="1066800"/>
            <a:ext cx="3215513" cy="1332148"/>
            <a:chOff x="755576" y="1448780"/>
            <a:chExt cx="3215513" cy="1332148"/>
          </a:xfrm>
        </p:grpSpPr>
        <p:pic>
          <p:nvPicPr>
            <p:cNvPr id="7180" name="Picture 12" descr="http://www.dominiojovem.com.br/wp-content/uploads/2011/05/livro2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1448780"/>
              <a:ext cx="3035493" cy="1332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aixaDeTexto 2"/>
            <p:cNvSpPr txBox="1"/>
            <p:nvPr/>
          </p:nvSpPr>
          <p:spPr>
            <a:xfrm>
              <a:off x="3311860" y="1484784"/>
              <a:ext cx="659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i="0" dirty="0" smtClean="0">
                  <a:solidFill>
                    <a:schemeClr val="tx2"/>
                  </a:solidFill>
                </a:rPr>
                <a:t>V.1</a:t>
              </a:r>
              <a:endParaRPr lang="pt-BR" i="0" dirty="0">
                <a:solidFill>
                  <a:schemeClr val="tx2"/>
                </a:solidFill>
              </a:endParaRPr>
            </a:p>
          </p:txBody>
        </p:sp>
        <p:pic>
          <p:nvPicPr>
            <p:cNvPr id="7182" name="Picture 14" descr="https://encrypted-tbn2.gstatic.com/images?q=tbn:ANd9GcS2_ytXc1blSxIPeZh3QSMABj7PwZW0lzNs4UH4pNr-xu65TICUSQ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2303" y="1583835"/>
              <a:ext cx="1062038" cy="1062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641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7943" y="31709"/>
            <a:ext cx="538560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V.0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97463" y="990600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A precursora da ITIL® surgiu em 1979 e não foi chamada de ITIL, mas sim de </a:t>
            </a:r>
            <a:r>
              <a:rPr lang="pt-BR" sz="3200" i="0" dirty="0" smtClean="0">
                <a:solidFill>
                  <a:schemeClr val="tx2"/>
                </a:solidFill>
              </a:rPr>
              <a:t>GITIM</a:t>
            </a:r>
            <a:r>
              <a:rPr lang="pt-BR" sz="3200" b="0" i="0" dirty="0" smtClean="0">
                <a:solidFill>
                  <a:schemeClr val="tx2"/>
                </a:solidFill>
              </a:rPr>
              <a:t> </a:t>
            </a:r>
            <a:r>
              <a:rPr lang="pt-BR" sz="3200" b="0" i="0" dirty="0">
                <a:solidFill>
                  <a:schemeClr val="tx2"/>
                </a:solidFill>
              </a:rPr>
              <a:t>– </a:t>
            </a:r>
            <a:r>
              <a:rPr lang="pt-BR" sz="3200" b="0" i="1" dirty="0">
                <a:solidFill>
                  <a:schemeClr val="tx2"/>
                </a:solidFill>
              </a:rPr>
              <a:t>Government Information Technology Infrastructure </a:t>
            </a:r>
            <a:r>
              <a:rPr lang="pt-BR" sz="3200" b="0" i="1" dirty="0" smtClean="0">
                <a:solidFill>
                  <a:schemeClr val="tx2"/>
                </a:solidFill>
              </a:rPr>
              <a:t>Management</a:t>
            </a:r>
            <a:r>
              <a:rPr lang="pt-BR" sz="3200" b="0" dirty="0" smtClean="0">
                <a:solidFill>
                  <a:schemeClr val="tx2"/>
                </a:solidFill>
              </a:rPr>
              <a:t> –</a:t>
            </a:r>
            <a:r>
              <a:rPr lang="pt-BR" sz="3200" b="0" i="0" dirty="0" smtClean="0">
                <a:solidFill>
                  <a:schemeClr val="tx2"/>
                </a:solidFill>
              </a:rPr>
              <a:t> e era bem  diferente da ITIL como a conhecemos, mas com o mesmo objetivo: documentar as melhores práticas de gerenciamento da TI.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dirty="0" smtClean="0">
                <a:solidFill>
                  <a:schemeClr val="tx2"/>
                </a:solidFill>
              </a:rPr>
              <a:t>Provocou interesse em órgãos governamentais britânicos, mas era tida como coisa “pra inglês ver”. </a:t>
            </a:r>
            <a:endParaRPr lang="en-US" sz="2200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20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0"/>
            <a:ext cx="531359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V.1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A versão 1, lançada em 1982 e completada em 1986, consolidou o nome ITIL® - </a:t>
            </a:r>
            <a:r>
              <a:rPr lang="pt-BR" sz="3200" i="1" dirty="0" smtClean="0">
                <a:solidFill>
                  <a:schemeClr val="tx2"/>
                </a:solidFill>
              </a:rPr>
              <a:t>Information Technology Infrastructure Library</a:t>
            </a:r>
            <a:r>
              <a:rPr lang="pt-BR" sz="3200" b="0" i="0" dirty="0" smtClean="0">
                <a:solidFill>
                  <a:schemeClr val="tx2"/>
                </a:solidFill>
              </a:rPr>
              <a:t>.</a:t>
            </a: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Era composta por 40 livros.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 smtClean="0">
                <a:solidFill>
                  <a:schemeClr val="tx2"/>
                </a:solidFill>
              </a:rPr>
              <a:t>Da GITIM a expressão </a:t>
            </a:r>
            <a:r>
              <a:rPr lang="pt-BR" sz="2200" dirty="0" smtClean="0">
                <a:solidFill>
                  <a:schemeClr val="tx2"/>
                </a:solidFill>
              </a:rPr>
              <a:t>Government</a:t>
            </a:r>
            <a:r>
              <a:rPr lang="pt-BR" sz="2200" b="0" i="0" dirty="0" smtClean="0">
                <a:solidFill>
                  <a:schemeClr val="tx2"/>
                </a:solidFill>
              </a:rPr>
              <a:t> foi eliminada e, infelizmente, a expressão M</a:t>
            </a:r>
            <a:r>
              <a:rPr lang="pt-BR" sz="2200" dirty="0" smtClean="0">
                <a:solidFill>
                  <a:schemeClr val="tx2"/>
                </a:solidFill>
              </a:rPr>
              <a:t>anagement</a:t>
            </a:r>
            <a:r>
              <a:rPr lang="pt-BR" sz="2200" b="0" i="0" dirty="0" smtClean="0">
                <a:solidFill>
                  <a:schemeClr val="tx2"/>
                </a:solidFill>
              </a:rPr>
              <a:t> foi substituída por L</a:t>
            </a:r>
            <a:r>
              <a:rPr lang="pt-BR" sz="2200" dirty="0" smtClean="0">
                <a:solidFill>
                  <a:schemeClr val="tx2"/>
                </a:solidFill>
              </a:rPr>
              <a:t>ibrary</a:t>
            </a:r>
            <a:r>
              <a:rPr lang="pt-BR" sz="2200" b="0" i="0" dirty="0" smtClean="0">
                <a:solidFill>
                  <a:schemeClr val="tx2"/>
                </a:solidFill>
              </a:rPr>
              <a:t>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 smtClean="0">
                <a:solidFill>
                  <a:schemeClr val="tx2"/>
                </a:solidFill>
              </a:rPr>
              <a:t>Despertou o interesse não apenas de órgãos do governo, mas também de grandes empresas de TIC, com a IBM, a Siemens e a  Microsoft.</a:t>
            </a:r>
            <a:endParaRPr lang="en-US" sz="2200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51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0"/>
            <a:ext cx="538560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V.2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28600" y="12588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A versão 2 foi consolidada em 1999. Fruto de uma completa revisão da V.1, a biblioteca ganhou ares de </a:t>
            </a:r>
            <a:r>
              <a:rPr lang="pt-BR" sz="3200" b="0" i="1" dirty="0" smtClean="0">
                <a:solidFill>
                  <a:schemeClr val="tx2"/>
                </a:solidFill>
              </a:rPr>
              <a:t>framework</a:t>
            </a:r>
            <a:r>
              <a:rPr lang="pt-BR" sz="3200" b="0" i="0" dirty="0" smtClean="0">
                <a:solidFill>
                  <a:schemeClr val="tx2"/>
                </a:solidFill>
              </a:rPr>
              <a:t> e passou a ser largamente aceita como o “conjunto de melhores práticas para o </a:t>
            </a:r>
            <a:r>
              <a:rPr lang="pt-BR" sz="3200" i="0" dirty="0" smtClean="0">
                <a:solidFill>
                  <a:schemeClr val="tx2"/>
                </a:solidFill>
              </a:rPr>
              <a:t>Gerenciamento de Serviços de TI</a:t>
            </a:r>
            <a:r>
              <a:rPr lang="pt-BR" sz="3200" b="0" i="0" dirty="0" smtClean="0">
                <a:solidFill>
                  <a:schemeClr val="tx2"/>
                </a:solidFill>
              </a:rPr>
              <a:t>”.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 smtClean="0">
                <a:solidFill>
                  <a:schemeClr val="tx2"/>
                </a:solidFill>
              </a:rPr>
              <a:t>No Brasil, a ITIL começou a ganhar força com a V.2, pela adesão das subsidiárias das multinacionais aqui instaladas e pela chegada ao mercado de empresas de consultoria e qualificação especializadas como a </a:t>
            </a:r>
            <a:r>
              <a:rPr lang="pt-BR" sz="2200" b="0" dirty="0" smtClean="0">
                <a:solidFill>
                  <a:schemeClr val="tx2"/>
                </a:solidFill>
              </a:rPr>
              <a:t>Quint Wellington Redwood Academy, Pink Elephant </a:t>
            </a:r>
            <a:r>
              <a:rPr lang="pt-BR" sz="2200" b="0" i="0" dirty="0" smtClean="0">
                <a:solidFill>
                  <a:schemeClr val="tx2"/>
                </a:solidFill>
              </a:rPr>
              <a:t>e </a:t>
            </a:r>
            <a:r>
              <a:rPr lang="pt-BR" sz="2200" b="0" dirty="0" smtClean="0">
                <a:solidFill>
                  <a:schemeClr val="tx2"/>
                </a:solidFill>
              </a:rPr>
              <a:t>Fox IT</a:t>
            </a:r>
            <a:r>
              <a:rPr lang="pt-BR" sz="2200" b="0" i="0" dirty="0" smtClean="0">
                <a:solidFill>
                  <a:schemeClr val="tx2"/>
                </a:solidFill>
              </a:rPr>
              <a:t>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>
                <a:solidFill>
                  <a:schemeClr val="tx2"/>
                </a:solidFill>
              </a:rPr>
              <a:t>A V.2 popularizou os programas de qualificação </a:t>
            </a:r>
            <a:r>
              <a:rPr lang="pt-BR" sz="2200" b="0" i="0" dirty="0" smtClean="0">
                <a:solidFill>
                  <a:schemeClr val="tx2"/>
                </a:solidFill>
              </a:rPr>
              <a:t>e certificação.</a:t>
            </a:r>
            <a:endParaRPr lang="en-US" sz="2200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71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1629" y="31709"/>
            <a:ext cx="5410944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V.2</a:t>
            </a:r>
          </a:p>
        </p:txBody>
      </p:sp>
      <p:sp>
        <p:nvSpPr>
          <p:cNvPr id="6" name="Rectangle 25"/>
          <p:cNvSpPr>
            <a:spLocks noChangeArrowheads="1"/>
          </p:cNvSpPr>
          <p:nvPr/>
        </p:nvSpPr>
        <p:spPr bwMode="auto">
          <a:xfrm>
            <a:off x="252779" y="838200"/>
            <a:ext cx="4928821" cy="340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4" rIns="91429" bIns="45714"/>
          <a:lstStyle/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>
                <a:solidFill>
                  <a:schemeClr val="tx2"/>
                </a:solidFill>
              </a:rPr>
              <a:t>Suporte a </a:t>
            </a:r>
            <a:r>
              <a:rPr lang="pt-BR" sz="2200" b="1" i="0" dirty="0" smtClean="0">
                <a:solidFill>
                  <a:schemeClr val="tx2"/>
                </a:solidFill>
              </a:rPr>
              <a:t>Serviços</a:t>
            </a: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 smtClean="0">
                <a:solidFill>
                  <a:schemeClr val="tx2"/>
                </a:solidFill>
              </a:rPr>
              <a:t>Entrega </a:t>
            </a:r>
            <a:r>
              <a:rPr lang="pt-BR" sz="2200" b="1" i="0" dirty="0">
                <a:solidFill>
                  <a:schemeClr val="tx2"/>
                </a:solidFill>
              </a:rPr>
              <a:t>de </a:t>
            </a:r>
            <a:r>
              <a:rPr lang="pt-BR" sz="2200" b="1" i="0" dirty="0" smtClean="0">
                <a:solidFill>
                  <a:schemeClr val="tx2"/>
                </a:solidFill>
              </a:rPr>
              <a:t>Serviços</a:t>
            </a:r>
          </a:p>
          <a:p>
            <a:pPr marL="357188" indent="-357188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>
                <a:solidFill>
                  <a:schemeClr val="tx2"/>
                </a:solidFill>
              </a:rPr>
              <a:t>Planejamento para </a:t>
            </a:r>
            <a:r>
              <a:rPr lang="pt-BR" sz="2200" b="1" i="0" dirty="0" smtClean="0">
                <a:solidFill>
                  <a:schemeClr val="tx2"/>
                </a:solidFill>
              </a:rPr>
              <a:t>Implementação do Gerenciamento </a:t>
            </a:r>
            <a:r>
              <a:rPr lang="pt-BR" sz="2200" b="1" i="0" dirty="0">
                <a:solidFill>
                  <a:schemeClr val="tx2"/>
                </a:solidFill>
              </a:rPr>
              <a:t>de Serviços de TI </a:t>
            </a: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>
                <a:solidFill>
                  <a:schemeClr val="tx2"/>
                </a:solidFill>
              </a:rPr>
              <a:t>Perspectiva do Negócio</a:t>
            </a: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>
                <a:solidFill>
                  <a:schemeClr val="tx2"/>
                </a:solidFill>
              </a:rPr>
              <a:t>Gerenciamento da </a:t>
            </a:r>
            <a:r>
              <a:rPr lang="pt-BR" sz="2200" b="1" i="0" dirty="0" smtClean="0">
                <a:solidFill>
                  <a:schemeClr val="tx2"/>
                </a:solidFill>
              </a:rPr>
              <a:t>Infraestrutura</a:t>
            </a:r>
            <a:endParaRPr lang="pt-BR" sz="2200" b="1" i="0" dirty="0">
              <a:solidFill>
                <a:schemeClr val="tx2"/>
              </a:solidFill>
            </a:endParaRP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>
                <a:solidFill>
                  <a:schemeClr val="tx2"/>
                </a:solidFill>
              </a:rPr>
              <a:t>Gerenciamento da </a:t>
            </a:r>
            <a:r>
              <a:rPr lang="pt-BR" sz="2200" b="1" i="0" dirty="0" smtClean="0">
                <a:solidFill>
                  <a:schemeClr val="tx2"/>
                </a:solidFill>
              </a:rPr>
              <a:t>Segurança</a:t>
            </a: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r>
              <a:rPr lang="pt-BR" sz="2200" b="1" i="0" dirty="0" smtClean="0">
                <a:solidFill>
                  <a:schemeClr val="tx2"/>
                </a:solidFill>
              </a:rPr>
              <a:t>Gerenciamento </a:t>
            </a:r>
            <a:r>
              <a:rPr lang="pt-BR" sz="2200" b="1" i="0" dirty="0">
                <a:solidFill>
                  <a:schemeClr val="tx2"/>
                </a:solidFill>
              </a:rPr>
              <a:t>de Aplicações</a:t>
            </a: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endParaRPr lang="pt-BR" sz="2200" b="1" i="0" dirty="0">
              <a:solidFill>
                <a:schemeClr val="tx2"/>
              </a:solidFill>
            </a:endParaRP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endParaRPr lang="pt-BR" sz="2200" b="1" i="0" dirty="0">
              <a:solidFill>
                <a:schemeClr val="tx2"/>
              </a:solidFill>
            </a:endParaRPr>
          </a:p>
          <a:p>
            <a:pPr marL="216000" indent="-358775" algn="just" defTabSz="614363" eaLnBrk="1" hangingPunct="1"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/>
            </a:pPr>
            <a:endParaRPr lang="pt-BR" sz="2200" b="1" i="0" dirty="0">
              <a:solidFill>
                <a:schemeClr val="tx2"/>
              </a:solidFill>
            </a:endParaRPr>
          </a:p>
        </p:txBody>
      </p:sp>
      <p:pic>
        <p:nvPicPr>
          <p:cNvPr id="7" name="Picture 27" descr="Planni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629" y="4028430"/>
            <a:ext cx="1811338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8" descr="Business Perspectiv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64692" y="4044305"/>
            <a:ext cx="1811337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9" descr="Service Support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9135" y="1396212"/>
            <a:ext cx="1811338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0" descr="Service Delivery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36754" y="1382960"/>
            <a:ext cx="1811338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1" descr="ICT Infrastructur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679192" y="4044305"/>
            <a:ext cx="1811337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2" descr="Securty Mgmt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36554" y="4044305"/>
            <a:ext cx="1811338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3" descr="Application Mgmt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189154" y="4044305"/>
            <a:ext cx="1811338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758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2764" y="107909"/>
            <a:ext cx="531359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V.3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i="0" dirty="0" smtClean="0">
                <a:solidFill>
                  <a:schemeClr val="tx2"/>
                </a:solidFill>
              </a:rPr>
              <a:t>Ciclo de Vida do Serviço</a:t>
            </a:r>
            <a:r>
              <a:rPr lang="pt-BR" sz="3200" b="0" i="0" dirty="0" smtClean="0">
                <a:solidFill>
                  <a:schemeClr val="tx2"/>
                </a:solidFill>
              </a:rPr>
              <a:t> e não mais “biblioteca da infraestrutura” foi o mote da V.3. Lançada em 2007, foi a maior evolução da ITIL®, pois agregou conceitos de outros modelos de melhores práticas (</a:t>
            </a:r>
            <a:r>
              <a:rPr lang="pt-BR" sz="3200" b="0" dirty="0" smtClean="0">
                <a:solidFill>
                  <a:schemeClr val="tx2"/>
                </a:solidFill>
              </a:rPr>
              <a:t>Project Mgt, CobiT, ISO/IEC</a:t>
            </a:r>
            <a:r>
              <a:rPr lang="pt-BR" sz="3200" b="0" i="0" dirty="0" smtClean="0">
                <a:solidFill>
                  <a:schemeClr val="tx2"/>
                </a:solidFill>
              </a:rPr>
              <a:t>...) e estabeleceu o “valor para o negócio” e a “melhoria contínua” como as razões para se gerenciar serviços.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 smtClean="0">
                <a:solidFill>
                  <a:schemeClr val="tx2"/>
                </a:solidFill>
              </a:rPr>
              <a:t>Durante algum tempo, por incrível que pareça, alguns pensaram haver duas ITIL, a V.2 e a V.3... Muitos </a:t>
            </a:r>
            <a:r>
              <a:rPr lang="pt-BR" sz="2200" b="0" dirty="0" smtClean="0">
                <a:solidFill>
                  <a:schemeClr val="tx2"/>
                </a:solidFill>
              </a:rPr>
              <a:t>viajaram com mapas velhos</a:t>
            </a:r>
            <a:r>
              <a:rPr lang="pt-BR" sz="2200" b="0" i="0" dirty="0" smtClean="0">
                <a:solidFill>
                  <a:schemeClr val="tx2"/>
                </a:solidFill>
              </a:rPr>
              <a:t>.</a:t>
            </a:r>
            <a:endParaRPr lang="en-US" sz="2200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107909"/>
            <a:ext cx="538560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V.3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257" y="990600"/>
            <a:ext cx="8358187" cy="493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365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4333" y="152400"/>
            <a:ext cx="531359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2011 Edition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64333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Uma </a:t>
            </a:r>
            <a:r>
              <a:rPr lang="pt-BR" sz="3200" i="0" dirty="0" smtClean="0">
                <a:solidFill>
                  <a:schemeClr val="tx2"/>
                </a:solidFill>
              </a:rPr>
              <a:t>profunda e completa revisão</a:t>
            </a:r>
            <a:r>
              <a:rPr lang="pt-BR" sz="3200" b="0" i="0" dirty="0" smtClean="0">
                <a:solidFill>
                  <a:schemeClr val="tx2"/>
                </a:solidFill>
              </a:rPr>
              <a:t> da V.3 deu origem à </a:t>
            </a:r>
            <a:r>
              <a:rPr lang="pt-BR" sz="3200" b="1" i="1" dirty="0" smtClean="0">
                <a:solidFill>
                  <a:schemeClr val="tx2"/>
                </a:solidFill>
              </a:rPr>
              <a:t>2011 Edition</a:t>
            </a:r>
            <a:r>
              <a:rPr lang="pt-BR" sz="3200" b="0" i="0" dirty="0" smtClean="0">
                <a:solidFill>
                  <a:schemeClr val="tx2"/>
                </a:solidFill>
              </a:rPr>
              <a:t>, a versão atual da ITIL®.</a:t>
            </a: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Novos processos foram incorporados, modelos e exemplos foram melhorados e simplificados, erros foram corrigidos e a terminologia foi uniformizada. 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>
                <a:solidFill>
                  <a:schemeClr val="tx2"/>
                </a:solidFill>
              </a:rPr>
              <a:t>Os processos da </a:t>
            </a:r>
            <a:r>
              <a:rPr lang="pt-BR" sz="2200" i="0" dirty="0">
                <a:solidFill>
                  <a:schemeClr val="tx2"/>
                </a:solidFill>
              </a:rPr>
              <a:t>Estratégia do Serviço</a:t>
            </a:r>
            <a:r>
              <a:rPr lang="pt-BR" sz="2200" b="0" i="0" dirty="0">
                <a:solidFill>
                  <a:schemeClr val="tx2"/>
                </a:solidFill>
              </a:rPr>
              <a:t> foram os mais revisados, para melhor compreensão. </a:t>
            </a:r>
            <a:r>
              <a:rPr lang="pt-BR" sz="2200" b="0" i="0" dirty="0" smtClean="0">
                <a:solidFill>
                  <a:schemeClr val="tx2"/>
                </a:solidFill>
              </a:rPr>
              <a:t>A resistência era (é?) significativa</a:t>
            </a:r>
            <a:r>
              <a:rPr lang="pt-BR" sz="2200" b="0" i="0" dirty="0">
                <a:solidFill>
                  <a:schemeClr val="tx2"/>
                </a:solidFill>
              </a:rPr>
              <a:t>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0" i="0" dirty="0" smtClean="0">
                <a:solidFill>
                  <a:schemeClr val="tx2"/>
                </a:solidFill>
              </a:rPr>
              <a:t>A </a:t>
            </a:r>
            <a:r>
              <a:rPr lang="pt-BR" sz="2200" b="0" dirty="0" smtClean="0">
                <a:solidFill>
                  <a:schemeClr val="tx2"/>
                </a:solidFill>
              </a:rPr>
              <a:t>2011 Edition</a:t>
            </a:r>
            <a:r>
              <a:rPr lang="pt-BR" sz="2200" b="0" i="0" dirty="0" smtClean="0">
                <a:solidFill>
                  <a:schemeClr val="tx2"/>
                </a:solidFill>
              </a:rPr>
              <a:t> parece muito maior, pois a </a:t>
            </a:r>
            <a:r>
              <a:rPr lang="pt-BR" sz="2200" b="0" i="0" dirty="0">
                <a:solidFill>
                  <a:schemeClr val="tx2"/>
                </a:solidFill>
              </a:rPr>
              <a:t>fonte de impressão </a:t>
            </a:r>
            <a:r>
              <a:rPr lang="pt-BR" sz="2200" b="0" i="0" dirty="0" smtClean="0">
                <a:solidFill>
                  <a:schemeClr val="tx2"/>
                </a:solidFill>
              </a:rPr>
              <a:t>aumentou...</a:t>
            </a:r>
            <a:endParaRPr lang="en-US" sz="2200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0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www.itsmonlinesolutionsbookshop.com/Media/Covers/Tumbs/978011331323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838200"/>
            <a:ext cx="7629415" cy="537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107909"/>
            <a:ext cx="5313592" cy="654091"/>
          </a:xfrm>
        </p:spPr>
        <p:txBody>
          <a:bodyPr wrap="square" lIns="0" tIns="0" rIns="0" bIns="0" anchor="ctr">
            <a:no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ITIL® - A 2011 Edition</a:t>
            </a:r>
          </a:p>
        </p:txBody>
      </p:sp>
    </p:spTree>
    <p:extLst>
      <p:ext uri="{BB962C8B-B14F-4D97-AF65-F5344CB8AC3E}">
        <p14:creationId xmlns:p14="http://schemas.microsoft.com/office/powerpoint/2010/main" val="9588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1139" y="107909"/>
            <a:ext cx="615964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A evolução da ITIL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®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Rectangle 4"/>
          <p:cNvSpPr txBox="1">
            <a:spLocks noChangeArrowheads="1"/>
          </p:cNvSpPr>
          <p:nvPr/>
        </p:nvSpPr>
        <p:spPr bwMode="auto">
          <a:xfrm>
            <a:off x="264925" y="990600"/>
            <a:ext cx="8604956" cy="560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Sendo a ITIL® um guia de referência...</a:t>
            </a: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dirty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i="0" dirty="0" smtClean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dirty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i="0" dirty="0" smtClean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dirty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i="0" dirty="0" smtClean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dirty="0" smtClean="0">
              <a:solidFill>
                <a:schemeClr val="tx2"/>
              </a:solidFill>
            </a:endParaRPr>
          </a:p>
          <a:p>
            <a:pPr marL="0" indent="0" algn="just">
              <a:buClr>
                <a:schemeClr val="tx1">
                  <a:lumMod val="50000"/>
                  <a:lumOff val="50000"/>
                </a:schemeClr>
              </a:buClr>
              <a:buNone/>
            </a:pPr>
            <a:r>
              <a:rPr lang="pt-BR" sz="3200" dirty="0" smtClean="0">
                <a:solidFill>
                  <a:schemeClr val="tx2"/>
                </a:solidFill>
              </a:rPr>
              <a:t>                                                    ...qual versão adotar?</a:t>
            </a:r>
            <a:endParaRPr lang="en-US" sz="2200" i="0" dirty="0" smtClean="0">
              <a:solidFill>
                <a:schemeClr val="tx2"/>
              </a:solidFill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79512" y="1767452"/>
            <a:ext cx="8712968" cy="3888432"/>
            <a:chOff x="179512" y="2311828"/>
            <a:chExt cx="8712968" cy="3888432"/>
          </a:xfrm>
          <a:noFill/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81490" y="3069277"/>
              <a:ext cx="1449145" cy="197990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051720" y="2848398"/>
              <a:ext cx="1818409" cy="2421659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CaixaDeTexto 7"/>
            <p:cNvSpPr txBox="1"/>
            <p:nvPr/>
          </p:nvSpPr>
          <p:spPr>
            <a:xfrm>
              <a:off x="179512" y="5049180"/>
              <a:ext cx="16235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i="0" dirty="0">
                  <a:solidFill>
                    <a:schemeClr val="tx2"/>
                  </a:solidFill>
                  <a:latin typeface="Arial" charset="0"/>
                </a:rPr>
                <a:t>ITIL </a:t>
              </a:r>
              <a:r>
                <a:rPr lang="pt-BR" i="0" dirty="0" smtClean="0">
                  <a:solidFill>
                    <a:schemeClr val="tx2"/>
                  </a:solidFill>
                  <a:latin typeface="Arial" charset="0"/>
                </a:rPr>
                <a:t>V1</a:t>
              </a:r>
              <a:endParaRPr lang="pt-BR" i="0" dirty="0">
                <a:solidFill>
                  <a:schemeClr val="tx2"/>
                </a:solidFill>
                <a:latin typeface="Arial" charset="0"/>
              </a:endParaRP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2153677" y="5264687"/>
              <a:ext cx="1623579" cy="369332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i="0" dirty="0">
                  <a:solidFill>
                    <a:schemeClr val="tx2"/>
                  </a:solidFill>
                  <a:latin typeface="Arial" charset="0"/>
                </a:rPr>
                <a:t>ITIL </a:t>
              </a:r>
              <a:r>
                <a:rPr lang="pt-BR" i="0" dirty="0" smtClean="0">
                  <a:solidFill>
                    <a:schemeClr val="tx2"/>
                  </a:solidFill>
                  <a:latin typeface="Arial" charset="0"/>
                </a:rPr>
                <a:t>V2</a:t>
              </a:r>
              <a:endParaRPr lang="pt-BR" i="0" dirty="0">
                <a:solidFill>
                  <a:schemeClr val="tx2"/>
                </a:solidFill>
                <a:latin typeface="Arial" charset="0"/>
              </a:endParaRP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4443348" y="5480180"/>
              <a:ext cx="16235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i="0" dirty="0">
                  <a:solidFill>
                    <a:schemeClr val="tx2"/>
                  </a:solidFill>
                  <a:latin typeface="Arial" charset="0"/>
                </a:rPr>
                <a:t>ITIL </a:t>
              </a:r>
              <a:r>
                <a:rPr lang="pt-BR" i="0" dirty="0" smtClean="0">
                  <a:solidFill>
                    <a:schemeClr val="tx2"/>
                  </a:solidFill>
                  <a:latin typeface="Arial" charset="0"/>
                </a:rPr>
                <a:t>V3</a:t>
              </a:r>
              <a:endParaRPr lang="pt-BR" i="0" dirty="0">
                <a:solidFill>
                  <a:schemeClr val="tx2"/>
                </a:solidFill>
                <a:latin typeface="Arial" charset="0"/>
              </a:endParaRPr>
            </a:p>
          </p:txBody>
        </p:sp>
        <p:pic>
          <p:nvPicPr>
            <p:cNvPr id="10242" name="Picture 2" descr="http://www.virtualimobiliaria.com.br/aluguel/outros/marau/GUIA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795" y="2311828"/>
              <a:ext cx="2279685" cy="3494798"/>
            </a:xfrm>
            <a:prstGeom prst="rect">
              <a:avLst/>
            </a:prstGeom>
            <a:grpFill/>
            <a:extLst/>
          </p:spPr>
        </p:pic>
        <p:sp>
          <p:nvSpPr>
            <p:cNvPr id="13" name="CaixaDeTexto 12"/>
            <p:cNvSpPr txBox="1"/>
            <p:nvPr/>
          </p:nvSpPr>
          <p:spPr>
            <a:xfrm>
              <a:off x="6952280" y="5830928"/>
              <a:ext cx="1623580" cy="369332"/>
            </a:xfrm>
            <a:prstGeom prst="rect">
              <a:avLst/>
            </a:prstGeom>
            <a:grpFill/>
            <a:ln>
              <a:noFill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i="0" dirty="0">
                  <a:solidFill>
                    <a:schemeClr val="tx2"/>
                  </a:solidFill>
                  <a:latin typeface="Arial" charset="0"/>
                </a:rPr>
                <a:t>ITIL </a:t>
              </a:r>
              <a:r>
                <a:rPr lang="pt-BR" i="0" dirty="0" smtClean="0">
                  <a:solidFill>
                    <a:schemeClr val="tx2"/>
                  </a:solidFill>
                  <a:latin typeface="Arial" charset="0"/>
                </a:rPr>
                <a:t>2011</a:t>
              </a:r>
              <a:endParaRPr lang="pt-BR" i="0" dirty="0">
                <a:solidFill>
                  <a:schemeClr val="tx2"/>
                </a:solidFill>
                <a:latin typeface="Arial" charset="0"/>
              </a:endParaRPr>
            </a:p>
          </p:txBody>
        </p:sp>
        <p:pic>
          <p:nvPicPr>
            <p:cNvPr id="10246" name="Picture 6" descr="http://www.pousadadaspalmeiras.com.br/_en/_pics/_revistas_grandes/rev_guia_quatro_rodas_2007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7388" y="2546279"/>
              <a:ext cx="2095500" cy="2944178"/>
            </a:xfrm>
            <a:prstGeom prst="rect">
              <a:avLst/>
            </a:prstGeom>
            <a:grpFill/>
            <a:extLst/>
          </p:spPr>
        </p:pic>
      </p:grpSp>
    </p:spTree>
    <p:extLst>
      <p:ext uri="{BB962C8B-B14F-4D97-AF65-F5344CB8AC3E}">
        <p14:creationId xmlns:p14="http://schemas.microsoft.com/office/powerpoint/2010/main" val="252784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107909"/>
            <a:ext cx="687527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Conceitos 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ITIL® - Gerenciamento </a:t>
            </a:r>
            <a:r>
              <a:rPr lang="pt-BR" sz="2800" b="1" dirty="0">
                <a:solidFill>
                  <a:schemeClr val="bg1"/>
                </a:solidFill>
                <a:latin typeface="+mj-lt"/>
              </a:rPr>
              <a:t>de Serviço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421160"/>
            <a:ext cx="8604956" cy="1935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“</a:t>
            </a:r>
            <a:r>
              <a:rPr lang="pt-BR" sz="3200" b="0" dirty="0" smtClean="0">
                <a:solidFill>
                  <a:schemeClr val="tx2"/>
                </a:solidFill>
              </a:rPr>
              <a:t>Um </a:t>
            </a:r>
            <a:r>
              <a:rPr lang="pt-BR" sz="3200" b="0" dirty="0">
                <a:solidFill>
                  <a:schemeClr val="tx2"/>
                </a:solidFill>
              </a:rPr>
              <a:t>conjunto especializado de habilidades </a:t>
            </a:r>
            <a:r>
              <a:rPr lang="pt-BR" sz="3200" b="0" dirty="0" smtClean="0">
                <a:solidFill>
                  <a:schemeClr val="tx2"/>
                </a:solidFill>
              </a:rPr>
              <a:t>organizadas em processos, </a:t>
            </a:r>
            <a:r>
              <a:rPr lang="pt-BR" sz="3200" b="0" dirty="0">
                <a:solidFill>
                  <a:schemeClr val="tx2"/>
                </a:solidFill>
              </a:rPr>
              <a:t>para fornecer valor aos clientes na forma de </a:t>
            </a:r>
            <a:r>
              <a:rPr lang="pt-BR" sz="3200" b="0" dirty="0" smtClean="0">
                <a:solidFill>
                  <a:schemeClr val="tx2"/>
                </a:solidFill>
              </a:rPr>
              <a:t>serviços</a:t>
            </a:r>
            <a:r>
              <a:rPr lang="pt-BR" sz="3200" b="0" i="0" dirty="0" smtClean="0">
                <a:solidFill>
                  <a:schemeClr val="tx2"/>
                </a:solidFill>
              </a:rPr>
              <a:t>.”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295060" y="3527407"/>
            <a:ext cx="8587920" cy="1730393"/>
            <a:chOff x="-468560" y="3686655"/>
            <a:chExt cx="9446712" cy="1903433"/>
          </a:xfrm>
        </p:grpSpPr>
        <p:pic>
          <p:nvPicPr>
            <p:cNvPr id="17410" name="Picture 2" descr="http://f1banter.files.wordpress.com/2010/03/a_pit_stop_for_kimi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6982" y="3695181"/>
              <a:ext cx="3371170" cy="1894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14" name="Picture 6" descr="http://g1.globo.com/Noticias/SaoPaulo/foto/0,,15144733,00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68560" y="3695181"/>
              <a:ext cx="3433585" cy="1892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16" name="Picture 8" descr="http://www.osetoreletrico.com.br/web/images/stories/Edicao53_jun2010/istock_000006463146medium.jp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5025" y="3686655"/>
              <a:ext cx="2647609" cy="18995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1660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76200"/>
            <a:ext cx="5233485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Conceitos ITIL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® - Serviço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223019"/>
            <a:ext cx="8604956" cy="4491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 smtClean="0">
                <a:solidFill>
                  <a:schemeClr val="tx2"/>
                </a:solidFill>
              </a:rPr>
              <a:t>“</a:t>
            </a:r>
            <a:r>
              <a:rPr lang="pt-BR" sz="3200" b="0" dirty="0" smtClean="0">
                <a:solidFill>
                  <a:schemeClr val="tx2"/>
                </a:solidFill>
              </a:rPr>
              <a:t>Um </a:t>
            </a:r>
            <a:r>
              <a:rPr lang="pt-BR" sz="3200" b="0" dirty="0">
                <a:solidFill>
                  <a:schemeClr val="tx2"/>
                </a:solidFill>
              </a:rPr>
              <a:t>meio de fornecer valor  aos </a:t>
            </a:r>
            <a:r>
              <a:rPr lang="pt-BR" sz="3200" b="0" dirty="0" smtClean="0">
                <a:solidFill>
                  <a:schemeClr val="tx2"/>
                </a:solidFill>
              </a:rPr>
              <a:t>clientes, </a:t>
            </a:r>
            <a:r>
              <a:rPr lang="pt-BR" sz="3200" b="0" dirty="0">
                <a:solidFill>
                  <a:schemeClr val="tx2"/>
                </a:solidFill>
              </a:rPr>
              <a:t>facilitando a obtenção de resultados que eles desejam, sem que tenham que arcar com a propriedade de determinados custos e </a:t>
            </a:r>
            <a:r>
              <a:rPr lang="pt-BR" sz="3200" b="0" dirty="0" smtClean="0">
                <a:solidFill>
                  <a:schemeClr val="tx2"/>
                </a:solidFill>
              </a:rPr>
              <a:t>riscos</a:t>
            </a:r>
            <a:r>
              <a:rPr lang="pt-BR" sz="3200" b="0" i="0" dirty="0" smtClean="0">
                <a:solidFill>
                  <a:schemeClr val="tx2"/>
                </a:solidFill>
              </a:rPr>
              <a:t>.”</a:t>
            </a: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b="0" i="0" dirty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b="0" i="0" dirty="0" smtClean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b="0" i="0" dirty="0">
              <a:solidFill>
                <a:schemeClr val="tx2"/>
              </a:solidFill>
            </a:endParaRP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2200" b="0" i="0" dirty="0" smtClean="0">
              <a:solidFill>
                <a:schemeClr val="tx2"/>
              </a:solidFill>
            </a:endParaRPr>
          </a:p>
          <a:p>
            <a:pPr algn="ctr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i="0" dirty="0" smtClean="0">
                <a:solidFill>
                  <a:schemeClr val="tx2"/>
                </a:solidFill>
              </a:rPr>
              <a:t>Serviços de TI são compostos por tecnologia, pessoas e processos.</a:t>
            </a:r>
          </a:p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endParaRPr lang="pt-BR" sz="3200" b="0" i="0" dirty="0" smtClean="0">
              <a:solidFill>
                <a:schemeClr val="tx2"/>
              </a:solidFill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291276" y="3333177"/>
            <a:ext cx="8643674" cy="1696023"/>
            <a:chOff x="264671" y="4062883"/>
            <a:chExt cx="8643674" cy="1696023"/>
          </a:xfrm>
        </p:grpSpPr>
        <p:pic>
          <p:nvPicPr>
            <p:cNvPr id="16386" name="Picture 2" descr="http://www.revolucaodigital.net/wp-content/uploads/2013/03/iphone-6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671" y="4068855"/>
              <a:ext cx="2003073" cy="1669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90" name="Picture 6" descr="http://revistahometheater.uol.com.br/hotsites/tvpaga/wp-content/uploads/ilust_02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6740" y="4083809"/>
              <a:ext cx="2150645" cy="1650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92" name="Picture 8" descr="http://www.mercashop.com.br/imagens/produtos/-Sistema-Gerencial-Gestor-SYS-para-emissao-de-NF-e-Nota-Fiscal-Eletronica-Programa-para-Emissao-de_00439_ad1_g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0495" y="4068855"/>
              <a:ext cx="2221742" cy="1684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94" name="Picture 10" descr="http://us.123rf.com/400wm/400/400/maxxyustas/maxxyustas1301/maxxyustas130100002/17156143-e-commerce-shopping-cart-and-credit-cards-on-laptop-3d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6980" y="4062883"/>
              <a:ext cx="2261365" cy="16960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431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76200"/>
            <a:ext cx="531359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Conceitos ITIL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® - Valor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3200" b="0" i="0" dirty="0">
                <a:solidFill>
                  <a:schemeClr val="tx2"/>
                </a:solidFill>
              </a:rPr>
              <a:t>“</a:t>
            </a:r>
            <a:r>
              <a:rPr lang="pt-BR" sz="3200" b="0" dirty="0">
                <a:solidFill>
                  <a:schemeClr val="tx2"/>
                </a:solidFill>
              </a:rPr>
              <a:t>O valor </a:t>
            </a:r>
            <a:r>
              <a:rPr lang="pt-BR" sz="3200" b="0" dirty="0" smtClean="0">
                <a:solidFill>
                  <a:schemeClr val="tx2"/>
                </a:solidFill>
              </a:rPr>
              <a:t>de um Serviço </a:t>
            </a:r>
            <a:r>
              <a:rPr lang="pt-BR" sz="3200" b="0" dirty="0">
                <a:solidFill>
                  <a:schemeClr val="tx2"/>
                </a:solidFill>
              </a:rPr>
              <a:t>de TI é criado por uma combinação </a:t>
            </a:r>
            <a:r>
              <a:rPr lang="pt-BR" sz="3200" b="0" dirty="0" smtClean="0">
                <a:solidFill>
                  <a:schemeClr val="tx2"/>
                </a:solidFill>
              </a:rPr>
              <a:t>de </a:t>
            </a:r>
            <a:r>
              <a:rPr lang="pt-BR" sz="3200" dirty="0" smtClean="0">
                <a:solidFill>
                  <a:schemeClr val="tx2"/>
                </a:solidFill>
              </a:rPr>
              <a:t>Utilidade </a:t>
            </a:r>
            <a:r>
              <a:rPr lang="pt-BR" sz="3200" dirty="0">
                <a:solidFill>
                  <a:schemeClr val="tx2"/>
                </a:solidFill>
              </a:rPr>
              <a:t>e </a:t>
            </a:r>
            <a:r>
              <a:rPr lang="pt-BR" sz="3200" dirty="0" smtClean="0">
                <a:solidFill>
                  <a:schemeClr val="tx2"/>
                </a:solidFill>
              </a:rPr>
              <a:t>Garantia</a:t>
            </a:r>
            <a:r>
              <a:rPr lang="pt-BR" sz="3200" b="0" i="0" dirty="0" smtClean="0">
                <a:solidFill>
                  <a:schemeClr val="tx2"/>
                </a:solidFill>
              </a:rPr>
              <a:t>.”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1" i="0" dirty="0">
                <a:solidFill>
                  <a:schemeClr val="tx2"/>
                </a:solidFill>
              </a:rPr>
              <a:t>Utilidade</a:t>
            </a:r>
            <a:r>
              <a:rPr lang="pt-BR" sz="2200" b="0" i="0" dirty="0">
                <a:solidFill>
                  <a:schemeClr val="tx2"/>
                </a:solidFill>
              </a:rPr>
              <a:t>: Funcionalidade oferecida por um produto ou serviço para atender a uma necessidade em particular. A utilidade pode ser resumida como "o que o serviço faz" e pode ser usada para determinar se um serviço é </a:t>
            </a:r>
            <a:r>
              <a:rPr lang="pt-BR" sz="2200" b="0" i="0" dirty="0" smtClean="0">
                <a:solidFill>
                  <a:schemeClr val="tx2"/>
                </a:solidFill>
              </a:rPr>
              <a:t>"</a:t>
            </a:r>
            <a:r>
              <a:rPr lang="pt-BR" sz="2200" i="0" dirty="0">
                <a:solidFill>
                  <a:schemeClr val="tx2"/>
                </a:solidFill>
              </a:rPr>
              <a:t>adequado ao propósito</a:t>
            </a:r>
            <a:r>
              <a:rPr lang="pt-BR" sz="2200" b="0" i="0" dirty="0" smtClean="0">
                <a:solidFill>
                  <a:schemeClr val="tx2"/>
                </a:solidFill>
              </a:rPr>
              <a:t>".</a:t>
            </a:r>
          </a:p>
          <a:p>
            <a:pPr marL="715963" indent="-358775" algn="just"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200" b="1" i="0" dirty="0">
                <a:solidFill>
                  <a:schemeClr val="tx2"/>
                </a:solidFill>
              </a:rPr>
              <a:t>Garantia</a:t>
            </a:r>
            <a:r>
              <a:rPr lang="pt-BR" sz="2200" b="0" i="0" dirty="0">
                <a:solidFill>
                  <a:schemeClr val="tx2"/>
                </a:solidFill>
              </a:rPr>
              <a:t>: Confiança de que </a:t>
            </a:r>
            <a:r>
              <a:rPr lang="pt-BR" sz="2200" b="0" i="0" dirty="0" smtClean="0">
                <a:solidFill>
                  <a:schemeClr val="tx2"/>
                </a:solidFill>
              </a:rPr>
              <a:t>um produto </a:t>
            </a:r>
            <a:r>
              <a:rPr lang="pt-BR" sz="2200" b="0" i="0" dirty="0">
                <a:solidFill>
                  <a:schemeClr val="tx2"/>
                </a:solidFill>
              </a:rPr>
              <a:t>ou serviço atenderá aos </a:t>
            </a:r>
            <a:r>
              <a:rPr lang="pt-BR" sz="2200" b="0" i="0" dirty="0" smtClean="0">
                <a:solidFill>
                  <a:schemeClr val="tx2"/>
                </a:solidFill>
              </a:rPr>
              <a:t>requisitos acordados. Habilidade </a:t>
            </a:r>
            <a:r>
              <a:rPr lang="pt-BR" sz="2200" b="0" i="0" dirty="0">
                <a:solidFill>
                  <a:schemeClr val="tx2"/>
                </a:solidFill>
              </a:rPr>
              <a:t>de um serviço de estar disponível </a:t>
            </a:r>
            <a:r>
              <a:rPr lang="pt-BR" sz="2200" b="0" i="0" dirty="0" smtClean="0">
                <a:solidFill>
                  <a:schemeClr val="tx2"/>
                </a:solidFill>
              </a:rPr>
              <a:t>quando necessário</a:t>
            </a:r>
            <a:r>
              <a:rPr lang="pt-BR" sz="2200" b="0" i="0" dirty="0">
                <a:solidFill>
                  <a:schemeClr val="tx2"/>
                </a:solidFill>
              </a:rPr>
              <a:t>, fornecer a capacidade requerida </a:t>
            </a:r>
            <a:r>
              <a:rPr lang="pt-BR" sz="2200" b="0" i="0" dirty="0" smtClean="0">
                <a:solidFill>
                  <a:schemeClr val="tx2"/>
                </a:solidFill>
              </a:rPr>
              <a:t>e fornecer </a:t>
            </a:r>
            <a:r>
              <a:rPr lang="pt-BR" sz="2200" b="0" i="0" dirty="0">
                <a:solidFill>
                  <a:schemeClr val="tx2"/>
                </a:solidFill>
              </a:rPr>
              <a:t>a confiabilidade requerida em termos </a:t>
            </a:r>
            <a:r>
              <a:rPr lang="pt-BR" sz="2200" b="0" i="0" dirty="0" smtClean="0">
                <a:solidFill>
                  <a:schemeClr val="tx2"/>
                </a:solidFill>
              </a:rPr>
              <a:t>de continuidade </a:t>
            </a:r>
            <a:r>
              <a:rPr lang="pt-BR" sz="2200" b="0" i="0" dirty="0">
                <a:solidFill>
                  <a:schemeClr val="tx2"/>
                </a:solidFill>
              </a:rPr>
              <a:t>e segurança. A garantia pode </a:t>
            </a:r>
            <a:r>
              <a:rPr lang="pt-BR" sz="2200" b="0" i="0" dirty="0" smtClean="0">
                <a:solidFill>
                  <a:schemeClr val="tx2"/>
                </a:solidFill>
              </a:rPr>
              <a:t>ser resumida </a:t>
            </a:r>
            <a:r>
              <a:rPr lang="pt-BR" sz="2200" b="0" i="0" dirty="0">
                <a:solidFill>
                  <a:schemeClr val="tx2"/>
                </a:solidFill>
              </a:rPr>
              <a:t>em "como o serviço é entregue" e pode </a:t>
            </a:r>
            <a:r>
              <a:rPr lang="pt-BR" sz="2200" b="0" i="0" dirty="0" smtClean="0">
                <a:solidFill>
                  <a:schemeClr val="tx2"/>
                </a:solidFill>
              </a:rPr>
              <a:t>ser usada </a:t>
            </a:r>
            <a:r>
              <a:rPr lang="pt-BR" sz="2200" b="0" i="0" dirty="0">
                <a:solidFill>
                  <a:schemeClr val="tx2"/>
                </a:solidFill>
              </a:rPr>
              <a:t>para determinar se um serviço é "</a:t>
            </a:r>
            <a:r>
              <a:rPr lang="pt-BR" sz="2200" i="0" dirty="0">
                <a:solidFill>
                  <a:schemeClr val="tx2"/>
                </a:solidFill>
              </a:rPr>
              <a:t>adequado </a:t>
            </a:r>
            <a:r>
              <a:rPr lang="pt-BR" sz="2200" i="0" dirty="0" smtClean="0">
                <a:solidFill>
                  <a:schemeClr val="tx2"/>
                </a:solidFill>
              </a:rPr>
              <a:t>ao uso</a:t>
            </a:r>
            <a:r>
              <a:rPr lang="pt-BR" sz="2200" b="0" i="0" dirty="0">
                <a:solidFill>
                  <a:schemeClr val="tx2"/>
                </a:solidFill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5936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2641" y="15240"/>
            <a:ext cx="8207075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Conceitos 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ITIL® - Componentes </a:t>
            </a:r>
            <a:r>
              <a:rPr lang="pt-BR" sz="2800" b="1" dirty="0">
                <a:solidFill>
                  <a:schemeClr val="bg1"/>
                </a:solidFill>
                <a:latin typeface="+mj-lt"/>
              </a:rPr>
              <a:t>do Gerenciamento</a:t>
            </a:r>
          </a:p>
        </p:txBody>
      </p:sp>
      <p:pic>
        <p:nvPicPr>
          <p:cNvPr id="10" name="Espaço Reservado para Conteúdo 2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196" y="838928"/>
            <a:ext cx="2599437" cy="2132872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 rot="19969883">
            <a:off x="3830346" y="2566694"/>
            <a:ext cx="1326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rgbClr val="0070C0"/>
                </a:solidFill>
              </a:rPr>
              <a:t>Pessoas</a:t>
            </a:r>
            <a:endParaRPr lang="pt-BR" sz="2000" b="1" dirty="0">
              <a:solidFill>
                <a:srgbClr val="0070C0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6217359" y="2496841"/>
            <a:ext cx="2819137" cy="2126469"/>
            <a:chOff x="6217359" y="2931593"/>
            <a:chExt cx="2819137" cy="2126469"/>
          </a:xfrm>
        </p:grpSpPr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15" name="CaixaDeTexto 14"/>
            <p:cNvSpPr txBox="1"/>
            <p:nvPr/>
          </p:nvSpPr>
          <p:spPr>
            <a:xfrm rot="18175943">
              <a:off x="7729901" y="3471355"/>
              <a:ext cx="1479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 smtClean="0">
                  <a:solidFill>
                    <a:schemeClr val="bg1"/>
                  </a:solidFill>
                </a:rPr>
                <a:t>Produtos</a:t>
              </a:r>
              <a:endParaRPr lang="pt-BR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3450735" y="4201639"/>
            <a:ext cx="2085370" cy="1924957"/>
            <a:chOff x="3450735" y="4636391"/>
            <a:chExt cx="2085370" cy="1924957"/>
          </a:xfrm>
        </p:grpSpPr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7730074">
              <a:off x="3395158" y="5319390"/>
              <a:ext cx="1479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 smtClean="0">
                  <a:solidFill>
                    <a:srgbClr val="7A5724"/>
                  </a:solidFill>
                </a:rPr>
                <a:t>Parceiros</a:t>
              </a:r>
              <a:endParaRPr lang="pt-BR" sz="2000" b="1" dirty="0">
                <a:solidFill>
                  <a:srgbClr val="7A5724"/>
                </a:solidFill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262642" y="2661147"/>
            <a:ext cx="2605979" cy="1833425"/>
            <a:chOff x="262642" y="3095899"/>
            <a:chExt cx="2605979" cy="1833425"/>
          </a:xfrm>
        </p:grpSpPr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17" name="CaixaDeTexto 16"/>
            <p:cNvSpPr txBox="1"/>
            <p:nvPr/>
          </p:nvSpPr>
          <p:spPr>
            <a:xfrm rot="19767345">
              <a:off x="1326301" y="4140907"/>
              <a:ext cx="1542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Processos</a:t>
              </a:r>
              <a:endParaRPr lang="pt-BR" sz="20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9" name="Setas cruzadas 8"/>
          <p:cNvSpPr/>
          <p:nvPr/>
        </p:nvSpPr>
        <p:spPr>
          <a:xfrm>
            <a:off x="3893925" y="2922240"/>
            <a:ext cx="1218135" cy="1228595"/>
          </a:xfrm>
          <a:prstGeom prst="quadArrow">
            <a:avLst/>
          </a:prstGeom>
          <a:solidFill>
            <a:srgbClr val="7E000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116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107909"/>
            <a:ext cx="534959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>
                <a:solidFill>
                  <a:schemeClr val="bg1"/>
                </a:solidFill>
                <a:latin typeface="+mj-lt"/>
              </a:rPr>
              <a:t>Erros 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dos Fornecedores e Gestores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066800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Ferramentas desenvolvidas por profissionais não capacitados direcionaram e limitaram implantações.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A capacitação foi limitada pelo </a:t>
            </a:r>
            <a:r>
              <a:rPr lang="pt-BR" dirty="0" smtClean="0">
                <a:solidFill>
                  <a:schemeClr val="tx2"/>
                </a:solidFill>
              </a:rPr>
              <a:t>Syllabus</a:t>
            </a:r>
            <a:r>
              <a:rPr lang="pt-BR" i="0" dirty="0" smtClean="0">
                <a:solidFill>
                  <a:schemeClr val="tx2"/>
                </a:solidFill>
              </a:rPr>
              <a:t>, com foco direcionado apenas a </a:t>
            </a:r>
            <a:r>
              <a:rPr lang="pt-BR" dirty="0" smtClean="0">
                <a:solidFill>
                  <a:schemeClr val="tx2"/>
                </a:solidFill>
              </a:rPr>
              <a:t>Service Support e Service Delivery</a:t>
            </a:r>
            <a:r>
              <a:rPr lang="pt-BR" i="0" dirty="0" smtClean="0">
                <a:solidFill>
                  <a:schemeClr val="tx2"/>
                </a:solidFill>
              </a:rPr>
              <a:t>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O itSMF_BR foi dominado por vaidades e ambições, em detrimento do fomento à indústria ITSM.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A tradução da ITIL V3 para o idioma Português Brasileiro foi realizada por voluntários, mas não foi efetivada.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Certificação tornou-se uma mercadoria, banalizada. Muitos foram mal formados e estão desacreditando a ITIL® no mercado, corrompendo o poder </a:t>
            </a:r>
            <a:r>
              <a:rPr lang="pt-BR" dirty="0">
                <a:solidFill>
                  <a:schemeClr val="tx2"/>
                </a:solidFill>
              </a:rPr>
              <a:t>da </a:t>
            </a:r>
            <a:r>
              <a:rPr lang="pt-BR" dirty="0" smtClean="0">
                <a:solidFill>
                  <a:schemeClr val="tx2"/>
                </a:solidFill>
              </a:rPr>
              <a:t>ITIL®.</a:t>
            </a:r>
            <a:endParaRPr lang="pt-BR" i="0" dirty="0" smtClean="0">
              <a:solidFill>
                <a:schemeClr val="tx2"/>
              </a:solidFill>
            </a:endParaRP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pt-BR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52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" y="107909"/>
            <a:ext cx="8138160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Catálogo de Serviços x Classificação de Chamados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990600"/>
            <a:ext cx="8604956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Uma leitura limitada e equivocada da ITIL –  consequência das limitações do Syllabus  – fez com que desenvolvedores de ferramentas e consultores compreendessem e disseminassem o Catálogo de Serviços como sendo uma estrutura de pedidos, uma lista de atendimentos de um Service Desk.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Na ITIL V2 Catálogo de Serviços ocupava menos de uma página do livro </a:t>
            </a:r>
            <a:r>
              <a:rPr lang="pt-BR" i="1" dirty="0" smtClean="0">
                <a:solidFill>
                  <a:schemeClr val="tx2"/>
                </a:solidFill>
              </a:rPr>
              <a:t>Service Delivery</a:t>
            </a:r>
            <a:r>
              <a:rPr lang="pt-BR" i="0" dirty="0" smtClean="0">
                <a:solidFill>
                  <a:schemeClr val="tx2"/>
                </a:solidFill>
              </a:rPr>
              <a:t>. Mas havia muito sobre Catálogo em </a:t>
            </a:r>
            <a:r>
              <a:rPr lang="pt-BR" i="1" dirty="0" smtClean="0">
                <a:solidFill>
                  <a:schemeClr val="tx2"/>
                </a:solidFill>
              </a:rPr>
              <a:t>Planing to Implement ITSM </a:t>
            </a:r>
            <a:r>
              <a:rPr lang="pt-BR" dirty="0" smtClean="0">
                <a:solidFill>
                  <a:schemeClr val="tx2"/>
                </a:solidFill>
              </a:rPr>
              <a:t>e </a:t>
            </a:r>
            <a:r>
              <a:rPr lang="pt-BR" i="1" dirty="0" smtClean="0">
                <a:solidFill>
                  <a:schemeClr val="tx2"/>
                </a:solidFill>
              </a:rPr>
              <a:t>Business Perspective</a:t>
            </a:r>
            <a:r>
              <a:rPr lang="pt-BR" i="0" dirty="0" smtClean="0">
                <a:solidFill>
                  <a:schemeClr val="tx2"/>
                </a:solidFill>
              </a:rPr>
              <a:t>. Mas nós não lemos estes livros, não é?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dirty="0" smtClean="0">
                <a:solidFill>
                  <a:schemeClr val="tx2"/>
                </a:solidFill>
              </a:rPr>
              <a:t>Na V3, Catálogo de Serviços ganhou status de Processo. E é preciso corrigir a abordagem.</a:t>
            </a:r>
            <a:endParaRPr lang="pt-BR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8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76200"/>
            <a:ext cx="534959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Catálogo de Serviços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6" y="1718717"/>
            <a:ext cx="9016998" cy="3539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102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107909"/>
            <a:ext cx="725627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Gerenciar a Demanda é atender pedidos?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186880"/>
            <a:ext cx="8604956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O Gerenciamento da Demanda em ITIL poderia ter tido o nome tropicalizado. Talvez Gerenciar “Consumo de Serviços” ou “Dinâmica dos Serviços” tivesse sido mais adequado, pois nos habituamos a definir Demandas como pedidos de soluções (ou sistemas) por parte do negócio.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dirty="0" smtClean="0">
                <a:solidFill>
                  <a:schemeClr val="tx2"/>
                </a:solidFill>
              </a:rPr>
              <a:t>Gerenciar Demandas é estimar, registrar, controlar e influenciar o consumo dos serviços, para adequar a capacidade e os investimentos. ITIL define o processo de </a:t>
            </a:r>
            <a:r>
              <a:rPr lang="pt-BR" b="1" dirty="0" smtClean="0">
                <a:solidFill>
                  <a:schemeClr val="tx2"/>
                </a:solidFill>
              </a:rPr>
              <a:t>Gerenciamento do Portfolio de Serviços</a:t>
            </a:r>
            <a:r>
              <a:rPr lang="pt-BR" dirty="0" smtClean="0">
                <a:solidFill>
                  <a:schemeClr val="tx2"/>
                </a:solidFill>
              </a:rPr>
              <a:t> como a estrutura para Serviços Novos (</a:t>
            </a:r>
            <a:r>
              <a:rPr lang="pt-BR" i="1" dirty="0" smtClean="0">
                <a:solidFill>
                  <a:schemeClr val="tx2"/>
                </a:solidFill>
              </a:rPr>
              <a:t>service pipeline</a:t>
            </a:r>
            <a:r>
              <a:rPr lang="pt-BR" dirty="0" smtClean="0">
                <a:solidFill>
                  <a:schemeClr val="tx2"/>
                </a:solidFill>
              </a:rPr>
              <a:t>) e Alterados (</a:t>
            </a:r>
            <a:r>
              <a:rPr lang="pt-BR" i="1" dirty="0" smtClean="0">
                <a:solidFill>
                  <a:schemeClr val="tx2"/>
                </a:solidFill>
              </a:rPr>
              <a:t>service catalogue e retired services</a:t>
            </a:r>
            <a:r>
              <a:rPr lang="pt-BR" dirty="0" smtClean="0">
                <a:solidFill>
                  <a:schemeClr val="tx2"/>
                </a:solidFill>
              </a:rPr>
              <a:t>). </a:t>
            </a:r>
            <a:endParaRPr lang="pt-BR" i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68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5404" y="31709"/>
            <a:ext cx="534959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Gerenciando a Demanda – Exemplo 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7" y="1250237"/>
            <a:ext cx="8962449" cy="438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110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76200"/>
            <a:ext cx="801827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Gerenciamento de Mudanças X Gestão de Projetos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28600" y="1186880"/>
            <a:ext cx="8604956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Mudança é o ato de implantar artefatos de projetos ou projeto é um modo estruturado de construir, testar e implantar mudanças?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dirty="0" smtClean="0">
                <a:solidFill>
                  <a:schemeClr val="tx2"/>
                </a:solidFill>
              </a:rPr>
              <a:t>A opção por </a:t>
            </a:r>
            <a:r>
              <a:rPr lang="pt-BR" i="1" dirty="0" smtClean="0">
                <a:solidFill>
                  <a:schemeClr val="tx2"/>
                </a:solidFill>
              </a:rPr>
              <a:t>projetizar</a:t>
            </a:r>
            <a:r>
              <a:rPr lang="pt-BR" dirty="0" smtClean="0">
                <a:solidFill>
                  <a:schemeClr val="tx2"/>
                </a:solidFill>
              </a:rPr>
              <a:t> a empresa é válida, mas agilidade será sempre um requerimento dos negócios e rituais diferentes para mudanças (padrão, menor, significativa...) privilegiam a agilidade.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dirty="0" smtClean="0">
                <a:solidFill>
                  <a:schemeClr val="tx2"/>
                </a:solidFill>
              </a:rPr>
              <a:t>Deveríamos utilizar técnicas e métodos de gerenciamento de projetos para o que justifica um projeto (mudança maior?), mantendo no processo de Ger. de Mudanças os gatilhos para “Serviços Novos ou Alterados” (Portfólio), s</a:t>
            </a:r>
            <a:r>
              <a:rPr lang="pt-BR" i="0" dirty="0" smtClean="0">
                <a:solidFill>
                  <a:schemeClr val="tx2"/>
                </a:solidFill>
              </a:rPr>
              <a:t>em abrir mão do controle.</a:t>
            </a:r>
          </a:p>
        </p:txBody>
      </p:sp>
    </p:spTree>
    <p:extLst>
      <p:ext uri="{BB962C8B-B14F-4D97-AF65-F5344CB8AC3E}">
        <p14:creationId xmlns:p14="http://schemas.microsoft.com/office/powerpoint/2010/main" val="1344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16" y="31709"/>
            <a:ext cx="534959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Mudança ou “</a:t>
            </a:r>
            <a:r>
              <a:rPr lang="pt-BR" sz="2800" b="1" dirty="0" err="1" smtClean="0">
                <a:solidFill>
                  <a:schemeClr val="bg1"/>
                </a:solidFill>
                <a:latin typeface="+mj-lt"/>
              </a:rPr>
              <a:t>Liberança</a:t>
            </a:r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”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395536" y="3221074"/>
            <a:ext cx="1296144" cy="122413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Eu quero “A”</a:t>
            </a:r>
            <a:endParaRPr lang="pt-BR" b="1" dirty="0"/>
          </a:p>
        </p:txBody>
      </p:sp>
      <p:sp>
        <p:nvSpPr>
          <p:cNvPr id="8" name="Seta para a direita 7"/>
          <p:cNvSpPr/>
          <p:nvPr/>
        </p:nvSpPr>
        <p:spPr>
          <a:xfrm rot="20512965">
            <a:off x="1870616" y="2650137"/>
            <a:ext cx="1639416" cy="43204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Projeto Sistemas</a:t>
            </a:r>
            <a:endParaRPr lang="pt-BR" sz="1400" b="1" dirty="0"/>
          </a:p>
        </p:txBody>
      </p:sp>
      <p:sp>
        <p:nvSpPr>
          <p:cNvPr id="9" name="Seta para a direita 8"/>
          <p:cNvSpPr/>
          <p:nvPr/>
        </p:nvSpPr>
        <p:spPr>
          <a:xfrm>
            <a:off x="2123728" y="3589498"/>
            <a:ext cx="1639416" cy="43204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Projeto Infra</a:t>
            </a:r>
            <a:endParaRPr lang="pt-BR" sz="1400" b="1" dirty="0"/>
          </a:p>
        </p:txBody>
      </p:sp>
      <p:sp>
        <p:nvSpPr>
          <p:cNvPr id="10" name="Seta para a direita 9"/>
          <p:cNvSpPr/>
          <p:nvPr/>
        </p:nvSpPr>
        <p:spPr>
          <a:xfrm rot="1100372">
            <a:off x="1870815" y="4451074"/>
            <a:ext cx="1639416" cy="43204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Projeto Rede</a:t>
            </a:r>
            <a:endParaRPr lang="pt-BR" sz="1400" b="1" dirty="0"/>
          </a:p>
        </p:txBody>
      </p:sp>
      <p:sp>
        <p:nvSpPr>
          <p:cNvPr id="11" name="Elipse 10"/>
          <p:cNvSpPr/>
          <p:nvPr/>
        </p:nvSpPr>
        <p:spPr>
          <a:xfrm>
            <a:off x="3855368" y="2090494"/>
            <a:ext cx="720080" cy="64807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2" name="Elipse 11"/>
          <p:cNvSpPr/>
          <p:nvPr/>
        </p:nvSpPr>
        <p:spPr>
          <a:xfrm>
            <a:off x="5547712" y="2090494"/>
            <a:ext cx="720080" cy="64807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3" name="Elipse 12"/>
          <p:cNvSpPr/>
          <p:nvPr/>
        </p:nvSpPr>
        <p:spPr>
          <a:xfrm>
            <a:off x="4714488" y="1602613"/>
            <a:ext cx="720080" cy="64807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4" name="Elipse 13"/>
          <p:cNvSpPr/>
          <p:nvPr/>
        </p:nvSpPr>
        <p:spPr>
          <a:xfrm>
            <a:off x="4930904" y="3174218"/>
            <a:ext cx="720080" cy="64807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5" name="Elipse 14"/>
          <p:cNvSpPr/>
          <p:nvPr/>
        </p:nvSpPr>
        <p:spPr>
          <a:xfrm>
            <a:off x="3995936" y="3427728"/>
            <a:ext cx="720080" cy="64807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6" name="Elipse 15"/>
          <p:cNvSpPr/>
          <p:nvPr/>
        </p:nvSpPr>
        <p:spPr>
          <a:xfrm>
            <a:off x="3795544" y="4601586"/>
            <a:ext cx="720080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7" name="Elipse 16"/>
          <p:cNvSpPr/>
          <p:nvPr/>
        </p:nvSpPr>
        <p:spPr>
          <a:xfrm>
            <a:off x="4714488" y="4925622"/>
            <a:ext cx="720080" cy="64807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8" name="Elipse 17"/>
          <p:cNvSpPr/>
          <p:nvPr/>
        </p:nvSpPr>
        <p:spPr>
          <a:xfrm>
            <a:off x="5724128" y="3697510"/>
            <a:ext cx="720080" cy="64807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19" name="Elipse 18"/>
          <p:cNvSpPr/>
          <p:nvPr/>
        </p:nvSpPr>
        <p:spPr>
          <a:xfrm>
            <a:off x="5729808" y="1143000"/>
            <a:ext cx="720080" cy="648072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/>
              <a:t>MUD</a:t>
            </a:r>
            <a:endParaRPr lang="pt-BR" sz="1100" b="1" dirty="0"/>
          </a:p>
        </p:txBody>
      </p:sp>
      <p:sp>
        <p:nvSpPr>
          <p:cNvPr id="20" name="Elipse 19"/>
          <p:cNvSpPr/>
          <p:nvPr/>
        </p:nvSpPr>
        <p:spPr>
          <a:xfrm>
            <a:off x="6948264" y="2856480"/>
            <a:ext cx="1905312" cy="189808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 smtClean="0"/>
              <a:t>Onde está “A”?</a:t>
            </a:r>
            <a:endParaRPr lang="pt-BR" sz="2800" b="1" dirty="0"/>
          </a:p>
        </p:txBody>
      </p:sp>
      <p:pic>
        <p:nvPicPr>
          <p:cNvPr id="3075" name="Picture 3" descr="C:\Users\Adolpho Chacon\AppData\Local\Microsoft\Windows\INetCache\IE\CJ3KZM62\MC900432537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791" y="1926649"/>
            <a:ext cx="847921" cy="97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77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107909"/>
            <a:ext cx="534959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Incidentes em TI ou em Serviços?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287524" y="952341"/>
            <a:ext cx="860495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Muitas ferramentas trazem estruturas de classificação claramente orientadas a suportar componentes de TI, sem qualquer relação ao impacto nos serviços de negócios. Isto só tem valor se você atua apenas em </a:t>
            </a:r>
            <a:r>
              <a:rPr lang="pt-BR" i="1" dirty="0" smtClean="0">
                <a:solidFill>
                  <a:schemeClr val="tx2"/>
                </a:solidFill>
              </a:rPr>
              <a:t>field service</a:t>
            </a:r>
            <a:r>
              <a:rPr lang="pt-BR" i="0" dirty="0" smtClean="0">
                <a:solidFill>
                  <a:schemeClr val="tx2"/>
                </a:solidFill>
              </a:rPr>
              <a:t> de informática e </a:t>
            </a:r>
            <a:r>
              <a:rPr lang="pt-BR" i="1" dirty="0" smtClean="0">
                <a:solidFill>
                  <a:schemeClr val="tx2"/>
                </a:solidFill>
              </a:rPr>
              <a:t>office automation</a:t>
            </a:r>
            <a:r>
              <a:rPr lang="pt-BR" i="0" dirty="0" smtClean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142728" y="2925901"/>
            <a:ext cx="23042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tx2"/>
                </a:solidFill>
              </a:rPr>
              <a:t>Hardware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Servidor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Impressora</a:t>
            </a:r>
          </a:p>
          <a:p>
            <a:r>
              <a:rPr lang="pt-BR" sz="2000" b="1" dirty="0" smtClean="0">
                <a:solidFill>
                  <a:schemeClr val="tx2"/>
                </a:solidFill>
              </a:rPr>
              <a:t>Software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Office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Windows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Linux</a:t>
            </a:r>
          </a:p>
          <a:p>
            <a:r>
              <a:rPr lang="pt-BR" sz="2000" b="1" dirty="0" smtClean="0">
                <a:solidFill>
                  <a:schemeClr val="tx2"/>
                </a:solidFill>
              </a:rPr>
              <a:t>Rede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Router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Link</a:t>
            </a:r>
            <a:endParaRPr lang="pt-BR" sz="2000" b="1" dirty="0">
              <a:solidFill>
                <a:schemeClr val="tx2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5625226" y="2990755"/>
            <a:ext cx="33663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tx2"/>
                </a:solidFill>
              </a:rPr>
              <a:t>Faturamento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Sistema Travado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Não imprime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Sem conexão Sefaz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Valores divergentes</a:t>
            </a:r>
          </a:p>
          <a:p>
            <a:r>
              <a:rPr lang="pt-BR" sz="2000" b="1" dirty="0" smtClean="0">
                <a:solidFill>
                  <a:schemeClr val="tx2"/>
                </a:solidFill>
              </a:rPr>
              <a:t>E-mail Marketing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Não recebe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Não envia</a:t>
            </a:r>
          </a:p>
          <a:p>
            <a:pPr lvl="1"/>
            <a:r>
              <a:rPr lang="pt-BR" sz="2000" b="1" dirty="0" smtClean="0">
                <a:solidFill>
                  <a:schemeClr val="tx2"/>
                </a:solidFill>
              </a:rPr>
              <a:t>Não anexa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99384" y="3824823"/>
            <a:ext cx="16919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b="1" dirty="0" smtClean="0">
                <a:solidFill>
                  <a:schemeClr val="tx2"/>
                </a:solidFill>
              </a:rPr>
              <a:t>e/ou</a:t>
            </a:r>
            <a:endParaRPr lang="pt-BR" sz="5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93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096" y="107909"/>
            <a:ext cx="7350704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Ger. da Configuração do Serviço e Ger. de Ativos.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914400"/>
            <a:ext cx="8604956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Ativos são patrimônio da organização. Devem ser controlados para fins contábeis e de conformidade legal.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dirty="0" smtClean="0">
                <a:solidFill>
                  <a:schemeClr val="tx2"/>
                </a:solidFill>
              </a:rPr>
              <a:t>Ativos do serviço são recursos e capacidades relacionados ao gerenciamento do ciclo de vida de um ou mais serviços. Relacionamentos fazem a diferença.</a:t>
            </a:r>
            <a:endParaRPr lang="pt-BR" i="0" dirty="0" smtClean="0">
              <a:solidFill>
                <a:schemeClr val="tx2"/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5512212" y="4466599"/>
            <a:ext cx="2732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/>
                </a:solidFill>
              </a:rPr>
              <a:t>O serviço Faturamento depende criticamente destes servidores.</a:t>
            </a:r>
            <a:br>
              <a:rPr lang="pt-BR" b="1" dirty="0" smtClean="0">
                <a:solidFill>
                  <a:schemeClr val="tx2"/>
                </a:solidFill>
              </a:rPr>
            </a:br>
            <a:r>
              <a:rPr lang="pt-BR" b="1" dirty="0" smtClean="0">
                <a:solidFill>
                  <a:schemeClr val="tx2"/>
                </a:solidFill>
              </a:rPr>
              <a:t>Não depende de cadeiras.</a:t>
            </a:r>
            <a:endParaRPr lang="pt-BR" b="1" dirty="0">
              <a:solidFill>
                <a:schemeClr val="tx2"/>
              </a:solidFill>
            </a:endParaRPr>
          </a:p>
        </p:txBody>
      </p:sp>
      <p:pic>
        <p:nvPicPr>
          <p:cNvPr id="4110" name="Picture 14" descr="https://encrypted-tbn2.gstatic.com/images?q=tbn:ANd9GcSisSvBYU-DbVUfOZWlt-pkLjX8CRIHNrbMz_1V0njqLs3-V1qk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106" y="3140992"/>
            <a:ext cx="2361570" cy="132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" name="Grupo 47"/>
          <p:cNvGrpSpPr/>
          <p:nvPr/>
        </p:nvGrpSpPr>
        <p:grpSpPr>
          <a:xfrm>
            <a:off x="-391067" y="2786608"/>
            <a:ext cx="3586126" cy="3435362"/>
            <a:chOff x="-391067" y="3140968"/>
            <a:chExt cx="3586126" cy="3435362"/>
          </a:xfrm>
        </p:grpSpPr>
        <p:pic>
          <p:nvPicPr>
            <p:cNvPr id="19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609" y="3140968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4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332" y="3686096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927" y="3621336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329" y="4378500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524" y="5429628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803" y="4797492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543" y="4204040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4139" y="3981440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0" descr="https://encrypted-tbn1.gstatic.com/images?q=tbn:ANd9GcTQ5LQnEZY3jKqcMd3jJJMFZs7sVij9hHdlXsU0LxqD57U5sSsJuw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275" y="4244612"/>
              <a:ext cx="544168" cy="544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https://encrypted-tbn1.gstatic.com/images?q=tbn:ANd9GcTQ5LQnEZY3jKqcMd3jJJMFZs7sVij9hHdlXsU0LxqD57U5sSsJuw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609" y="4894372"/>
              <a:ext cx="544168" cy="544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CaixaDeTexto 12"/>
            <p:cNvSpPr txBox="1"/>
            <p:nvPr/>
          </p:nvSpPr>
          <p:spPr>
            <a:xfrm>
              <a:off x="599459" y="5929999"/>
              <a:ext cx="24018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 smtClean="0">
                  <a:solidFill>
                    <a:schemeClr val="tx2"/>
                  </a:solidFill>
                </a:rPr>
                <a:t>297 cadeiras e 53 servidores são ativos!</a:t>
              </a:r>
              <a:endParaRPr lang="pt-BR" b="1" dirty="0">
                <a:solidFill>
                  <a:schemeClr val="tx2"/>
                </a:solidFill>
              </a:endParaRPr>
            </a:p>
          </p:txBody>
        </p:sp>
        <p:pic>
          <p:nvPicPr>
            <p:cNvPr id="29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927" y="5394743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764" y="5447532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653" y="4941180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15" y="5595084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91067" y="4894372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9831" y="4198484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0" descr="https://encrypted-tbn1.gstatic.com/images?q=tbn:ANd9GcTQ5LQnEZY3jKqcMd3jJJMFZs7sVij9hHdlXsU0LxqD57U5sSsJuw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300528"/>
              <a:ext cx="544168" cy="544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https://encrypted-tbn3.gstatic.com/images?q=tbn:ANd9GcSID8EyiCjvtW3TMW6SA98hLPPWWEBj-diIDCneMilz6SBbfJtbI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3302" y="3462788"/>
              <a:ext cx="714595" cy="53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2" name="Grupo 21"/>
            <p:cNvGrpSpPr/>
            <p:nvPr/>
          </p:nvGrpSpPr>
          <p:grpSpPr>
            <a:xfrm>
              <a:off x="2534145" y="4405462"/>
              <a:ext cx="544168" cy="803346"/>
              <a:chOff x="3288582" y="3981440"/>
              <a:chExt cx="544168" cy="803346"/>
            </a:xfrm>
          </p:grpSpPr>
          <p:pic>
            <p:nvPicPr>
              <p:cNvPr id="36" name="Picture 10" descr="https://encrypted-tbn1.gstatic.com/images?q=tbn:ANd9GcTQ5LQnEZY3jKqcMd3jJJMFZs7sVij9hHdlXsU0LxqD57U5sSsJuw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88582" y="3981440"/>
                <a:ext cx="544168" cy="544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CaixaDeTexto 13"/>
              <p:cNvSpPr txBox="1"/>
              <p:nvPr/>
            </p:nvSpPr>
            <p:spPr>
              <a:xfrm>
                <a:off x="3308638" y="4569342"/>
                <a:ext cx="50405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 smtClean="0">
                    <a:solidFill>
                      <a:schemeClr val="tx2"/>
                    </a:solidFill>
                  </a:rPr>
                  <a:t>12.A</a:t>
                </a:r>
                <a:endParaRPr lang="pt-BR" sz="8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28" name="Grupo 27"/>
            <p:cNvGrpSpPr/>
            <p:nvPr/>
          </p:nvGrpSpPr>
          <p:grpSpPr>
            <a:xfrm>
              <a:off x="2650891" y="5166456"/>
              <a:ext cx="544168" cy="790214"/>
              <a:chOff x="3880594" y="3994572"/>
              <a:chExt cx="544168" cy="790214"/>
            </a:xfrm>
          </p:grpSpPr>
          <p:pic>
            <p:nvPicPr>
              <p:cNvPr id="38" name="Picture 10" descr="https://encrypted-tbn1.gstatic.com/images?q=tbn:ANd9GcTQ5LQnEZY3jKqcMd3jJJMFZs7sVij9hHdlXsU0LxqD57U5sSsJuw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0594" y="3994572"/>
                <a:ext cx="544168" cy="544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CaixaDeTexto 41"/>
              <p:cNvSpPr txBox="1"/>
              <p:nvPr/>
            </p:nvSpPr>
            <p:spPr>
              <a:xfrm>
                <a:off x="3900650" y="4569342"/>
                <a:ext cx="50405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 smtClean="0">
                    <a:solidFill>
                      <a:schemeClr val="tx2"/>
                    </a:solidFill>
                  </a:rPr>
                  <a:t>182.K</a:t>
                </a:r>
                <a:endParaRPr lang="pt-BR" sz="800" dirty="0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46" name="Grupo 45"/>
            <p:cNvGrpSpPr/>
            <p:nvPr/>
          </p:nvGrpSpPr>
          <p:grpSpPr>
            <a:xfrm>
              <a:off x="1900822" y="4663447"/>
              <a:ext cx="544168" cy="803346"/>
              <a:chOff x="5008326" y="3981440"/>
              <a:chExt cx="544168" cy="803346"/>
            </a:xfrm>
          </p:grpSpPr>
          <p:pic>
            <p:nvPicPr>
              <p:cNvPr id="40" name="Picture 10" descr="https://encrypted-tbn1.gstatic.com/images?q=tbn:ANd9GcTQ5LQnEZY3jKqcMd3jJJMFZs7sVij9hHdlXsU0LxqD57U5sSsJuw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08326" y="3981440"/>
                <a:ext cx="544168" cy="5441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4" name="CaixaDeTexto 43"/>
              <p:cNvSpPr txBox="1"/>
              <p:nvPr/>
            </p:nvSpPr>
            <p:spPr>
              <a:xfrm>
                <a:off x="5028382" y="4569342"/>
                <a:ext cx="50405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800" dirty="0" smtClean="0">
                    <a:solidFill>
                      <a:schemeClr val="tx2"/>
                    </a:solidFill>
                  </a:rPr>
                  <a:t>140.Bx</a:t>
                </a:r>
                <a:endParaRPr lang="pt-BR" sz="800" dirty="0">
                  <a:solidFill>
                    <a:schemeClr val="tx2"/>
                  </a:solidFill>
                </a:endParaRPr>
              </a:p>
            </p:txBody>
          </p:sp>
        </p:grpSp>
        <p:pic>
          <p:nvPicPr>
            <p:cNvPr id="52" name="Picture 10" descr="https://encrypted-tbn1.gstatic.com/images?q=tbn:ANd9GcTQ5LQnEZY3jKqcMd3jJJMFZs7sVij9hHdlXsU0LxqD57U5sSsJuw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8794" y="3462788"/>
              <a:ext cx="544168" cy="544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7" name="Lágrima 46"/>
          <p:cNvSpPr/>
          <p:nvPr/>
        </p:nvSpPr>
        <p:spPr>
          <a:xfrm rot="826788">
            <a:off x="1832357" y="4036357"/>
            <a:ext cx="2112674" cy="1540664"/>
          </a:xfrm>
          <a:prstGeom prst="teardrop">
            <a:avLst>
              <a:gd name="adj" fmla="val 200000"/>
            </a:avLst>
          </a:prstGeom>
          <a:noFill/>
          <a:ln>
            <a:solidFill>
              <a:srgbClr val="A5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551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76200"/>
            <a:ext cx="540835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Questões que não calam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1826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“Quanto tempo demora para implantar ITIL®?”</a:t>
            </a:r>
          </a:p>
          <a:p>
            <a:pPr marL="717550" indent="0" algn="just" defTabSz="622300">
              <a:buClr>
                <a:schemeClr val="tx1">
                  <a:lumMod val="50000"/>
                  <a:lumOff val="50000"/>
                </a:schemeClr>
              </a:buClr>
              <a:buNone/>
              <a:defRPr/>
            </a:pPr>
            <a:r>
              <a:rPr lang="pt-BR" sz="2200" i="0" dirty="0" smtClean="0">
                <a:solidFill>
                  <a:schemeClr val="tx2"/>
                </a:solidFill>
              </a:rPr>
              <a:t>ITIL® não se implanta! ITIL® é um guia de referência para melhoria contínua de serviços, baseada em processos. Implante processos!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“É possível adotar a ITIL para gerenciar tecnologia?”</a:t>
            </a:r>
          </a:p>
          <a:p>
            <a:pPr marL="717550" indent="0" algn="just" defTabSz="622300">
              <a:buClr>
                <a:schemeClr val="tx1">
                  <a:lumMod val="50000"/>
                  <a:lumOff val="50000"/>
                </a:schemeClr>
              </a:buClr>
              <a:buNone/>
              <a:defRPr/>
            </a:pPr>
            <a:r>
              <a:rPr lang="pt-BR" sz="2200" i="0" dirty="0">
                <a:solidFill>
                  <a:schemeClr val="tx2"/>
                </a:solidFill>
              </a:rPr>
              <a:t>Sim, mas não faz sentido. Sem definir os Serviços e demonstrar os resultados da </a:t>
            </a:r>
            <a:r>
              <a:rPr lang="pt-BR" sz="2200" i="0" dirty="0" smtClean="0">
                <a:solidFill>
                  <a:schemeClr val="tx2"/>
                </a:solidFill>
              </a:rPr>
              <a:t>melhoria nos serviços, </a:t>
            </a:r>
            <a:r>
              <a:rPr lang="pt-BR" sz="2200" i="0" dirty="0">
                <a:solidFill>
                  <a:schemeClr val="tx2"/>
                </a:solidFill>
              </a:rPr>
              <a:t>você continuará sendo percebido quando falhar</a:t>
            </a:r>
            <a:r>
              <a:rPr lang="pt-BR" sz="2200" i="0" dirty="0" smtClean="0">
                <a:solidFill>
                  <a:schemeClr val="tx2"/>
                </a:solidFill>
              </a:rPr>
              <a:t>. Seu cliente não quer saber da capacidade do servidor ou da </a:t>
            </a:r>
            <a:r>
              <a:rPr lang="pt-BR" sz="2200" dirty="0" smtClean="0">
                <a:solidFill>
                  <a:schemeClr val="tx2"/>
                </a:solidFill>
              </a:rPr>
              <a:t>linguagem</a:t>
            </a:r>
            <a:r>
              <a:rPr lang="pt-BR" sz="2200" i="0" dirty="0" smtClean="0">
                <a:solidFill>
                  <a:schemeClr val="tx2"/>
                </a:solidFill>
              </a:rPr>
              <a:t> do sistema. Quer saber do serviço!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“O que é melhor, ITIL®, CobiT, Lean IT ou ISO/IEC?”</a:t>
            </a:r>
          </a:p>
          <a:p>
            <a:pPr marL="717550" indent="0" algn="just" defTabSz="622300">
              <a:buClr>
                <a:schemeClr val="tx1">
                  <a:lumMod val="50000"/>
                  <a:lumOff val="50000"/>
                </a:schemeClr>
              </a:buClr>
              <a:buNone/>
              <a:defRPr/>
            </a:pPr>
            <a:r>
              <a:rPr lang="pt-BR" sz="2200" i="0" dirty="0" smtClean="0">
                <a:solidFill>
                  <a:schemeClr val="tx2"/>
                </a:solidFill>
              </a:rPr>
              <a:t>São </a:t>
            </a:r>
            <a:r>
              <a:rPr lang="pt-BR" sz="2200" i="0" dirty="0">
                <a:solidFill>
                  <a:schemeClr val="tx2"/>
                </a:solidFill>
              </a:rPr>
              <a:t>modelos excelentes, mas </a:t>
            </a:r>
            <a:r>
              <a:rPr lang="pt-BR" sz="2200" i="0" dirty="0" smtClean="0">
                <a:solidFill>
                  <a:schemeClr val="tx2"/>
                </a:solidFill>
              </a:rPr>
              <a:t>com diferentes objetivos. ITIL </a:t>
            </a:r>
            <a:r>
              <a:rPr lang="pt-BR" sz="2200" i="0" dirty="0">
                <a:solidFill>
                  <a:schemeClr val="tx2"/>
                </a:solidFill>
              </a:rPr>
              <a:t>para melhorar </a:t>
            </a:r>
            <a:r>
              <a:rPr lang="pt-BR" sz="2200" i="0" dirty="0" smtClean="0">
                <a:solidFill>
                  <a:schemeClr val="tx2"/>
                </a:solidFill>
              </a:rPr>
              <a:t>os serviços</a:t>
            </a:r>
            <a:r>
              <a:rPr lang="pt-BR" sz="2200" i="0" dirty="0">
                <a:solidFill>
                  <a:schemeClr val="tx2"/>
                </a:solidFill>
              </a:rPr>
              <a:t>, CobiT para garantir </a:t>
            </a:r>
            <a:r>
              <a:rPr lang="pt-BR" sz="2200" i="0" dirty="0" smtClean="0">
                <a:solidFill>
                  <a:schemeClr val="tx2"/>
                </a:solidFill>
              </a:rPr>
              <a:t>conformidade, </a:t>
            </a:r>
            <a:r>
              <a:rPr lang="pt-BR" sz="2200" i="0" dirty="0">
                <a:solidFill>
                  <a:schemeClr val="tx2"/>
                </a:solidFill>
              </a:rPr>
              <a:t>Lean IT para reduzir custos e eliminar </a:t>
            </a:r>
            <a:r>
              <a:rPr lang="pt-BR" sz="2200" i="0" dirty="0" smtClean="0">
                <a:solidFill>
                  <a:schemeClr val="tx2"/>
                </a:solidFill>
              </a:rPr>
              <a:t>desperdícios, ISO para certificação...</a:t>
            </a:r>
            <a:endParaRPr lang="pt-BR" sz="2200" i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37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7524" y="107909"/>
            <a:ext cx="5688632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O que </a:t>
            </a:r>
            <a:r>
              <a:rPr lang="pt-BR" sz="2800" b="1" dirty="0">
                <a:solidFill>
                  <a:schemeClr val="bg1"/>
                </a:solidFill>
                <a:latin typeface="+mj-lt"/>
              </a:rPr>
              <a:t>evitar quando se opta por ITIL®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1258888"/>
            <a:ext cx="860495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Tentar fazer tudo de uma só vez.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Definir um projeto finito e “passageiro”.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Focar em processos isolados e não em gerenciamento.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Implantar processos </a:t>
            </a:r>
            <a:r>
              <a:rPr lang="pt-BR" i="0" dirty="0">
                <a:solidFill>
                  <a:schemeClr val="tx2"/>
                </a:solidFill>
              </a:rPr>
              <a:t>sem </a:t>
            </a:r>
            <a:r>
              <a:rPr lang="pt-BR" i="0" dirty="0" smtClean="0">
                <a:solidFill>
                  <a:schemeClr val="tx2"/>
                </a:solidFill>
              </a:rPr>
              <a:t>definir e produzir indicadores.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Ignorar melhores práticas em uso ou implantação.</a:t>
            </a:r>
            <a:endParaRPr lang="pt-BR" i="0" dirty="0">
              <a:solidFill>
                <a:schemeClr val="tx2"/>
              </a:solidFill>
            </a:endParaRP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Sub capacitar os profissionais.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Esquecer de comprometer a Direção.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Não gerenciar efetivamente o conhecimento.</a:t>
            </a:r>
          </a:p>
          <a:p>
            <a:pPr marL="715963" indent="-357188" algn="just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i="0" dirty="0" smtClean="0">
                <a:solidFill>
                  <a:schemeClr val="tx2"/>
                </a:solidFill>
              </a:rPr>
              <a:t>Acreditar que ITIL é sobre TI, pois ITIL é sobre negócios!</a:t>
            </a:r>
          </a:p>
        </p:txBody>
      </p:sp>
    </p:spTree>
    <p:extLst>
      <p:ext uri="{BB962C8B-B14F-4D97-AF65-F5344CB8AC3E}">
        <p14:creationId xmlns:p14="http://schemas.microsoft.com/office/powerpoint/2010/main" val="153822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</a:t>
            </a:r>
            <a:r>
              <a:rPr lang="pt-BR" dirty="0" smtClean="0"/>
              <a:t>– Agenda</a:t>
            </a:r>
            <a:endParaRPr dirty="0"/>
          </a:p>
        </p:txBody>
      </p:sp>
      <p:pic>
        <p:nvPicPr>
          <p:cNvPr id="71682" name="Picture 2" descr="http://4.bp.blogspot.com/-Xp4dlSdotDo/T4tQToX07jI/AAAAAAAAARQ/HAzcBAjOukw/s1600/cobit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455905"/>
            <a:ext cx="3132656" cy="403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990600"/>
            <a:ext cx="8604956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Benefícios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Valor 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Estrutura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Princípios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Habilitadores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Evolução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Produtos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Conceitos</a:t>
            </a:r>
          </a:p>
        </p:txBody>
      </p:sp>
    </p:spTree>
    <p:extLst>
      <p:ext uri="{BB962C8B-B14F-4D97-AF65-F5344CB8AC3E}">
        <p14:creationId xmlns:p14="http://schemas.microsoft.com/office/powerpoint/2010/main" val="56703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65213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</a:t>
            </a:r>
            <a:r>
              <a:rPr lang="pt-BR" altLang="pt-BR" sz="2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informação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é o principal recurso de qualquer organização.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informações são criadas, usadas, mantidas, divulgadas e destruídas.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tecnologia desempenha um papel importante nessas ações.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tecnologia está presente em todos os aspectos da vida profissional e pessoal.</a:t>
            </a:r>
          </a:p>
          <a:p>
            <a:pPr marL="342900" indent="-342900" algn="just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endParaRPr lang="en-US" altLang="pt-BR" sz="2600" kern="1200" dirty="0">
              <a:latin typeface="+mn-lt"/>
              <a:ea typeface="+mn-ea"/>
              <a:cs typeface="+mn-cs"/>
            </a:endParaRPr>
          </a:p>
          <a:p>
            <a:pPr marL="342900" indent="-342900" algn="just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600" kern="1200" dirty="0">
                <a:latin typeface="+mn-lt"/>
                <a:ea typeface="+mn-ea"/>
                <a:cs typeface="+mn-cs"/>
              </a:rPr>
              <a:t>Quais benefícios a informação e a tecnologia trazem para as organizações? </a:t>
            </a:r>
            <a:endParaRPr lang="en-US" altLang="pt-BR" sz="26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A Informação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801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989013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just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600" kern="1200" dirty="0">
                <a:latin typeface="+mn-lt"/>
                <a:ea typeface="+mn-ea"/>
                <a:cs typeface="+mn-cs"/>
              </a:rPr>
              <a:t>As organizações e seus executivos se esforçam para: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Manter informações de qualidade para subsidiar as decisões.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Gerar valor dos investimentos habilitados por TI, ou seja, atingir metas estratégicas e realizar os benefícios por meio do uso eficaz e inovador de TI.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Alcançar excelência operacional com a aplicação confiável e eficiente da tecnologia.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Manter os riscos relacionados à TI em um nível aceitável.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Otimizar os custos de serviços e tecnologias de TI.</a:t>
            </a:r>
          </a:p>
          <a:p>
            <a:pPr marL="342900" indent="-342900" algn="just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600" kern="1200" dirty="0" smtClean="0">
                <a:latin typeface="+mn-lt"/>
                <a:ea typeface="+mn-ea"/>
                <a:cs typeface="+mn-cs"/>
              </a:rPr>
              <a:t>Como </a:t>
            </a:r>
            <a:r>
              <a:rPr lang="pt-BR" sz="2600" kern="1200" dirty="0">
                <a:latin typeface="+mn-lt"/>
                <a:ea typeface="+mn-ea"/>
                <a:cs typeface="+mn-cs"/>
              </a:rPr>
              <a:t>esses benefícios podem ser realizados para criar valor para todas as pessoas da organização?</a:t>
            </a:r>
          </a:p>
          <a:p>
            <a:pPr marL="342900" indent="-342900" algn="just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endParaRPr lang="en-AU" sz="26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Benefícios para a Organização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0158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1"/>
          <p:cNvSpPr>
            <a:spLocks noGrp="1"/>
          </p:cNvSpPr>
          <p:nvPr>
            <p:ph idx="4294967295"/>
          </p:nvPr>
        </p:nvSpPr>
        <p:spPr>
          <a:xfrm>
            <a:off x="304800" y="10668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Entregar valor às partes interessadas requer governança e gerenciamento dos ativos de informação e tecnologia (TI).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diretorias, os executivos e gestores das organizações precisam tratar a TI como qualquer outra parte importante da organização.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requisitos externos de conformidade legal, regulatória e contratual relativos ao uso de informação e tecnologia pelas organizações estão aumentando, ameaçando o valor caso não sejam cumpridos.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COBIT 5 se propõe oferecer uma estrutura abrangente (boas práticas) que ajuda as organizações a atingirem suas metas e entregarem valor com estratégias eficazes de governança e gerenciamento de TI.</a:t>
            </a:r>
          </a:p>
        </p:txBody>
      </p:sp>
      <p:sp>
        <p:nvSpPr>
          <p:cNvPr id="4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Valor para as Partes Interessadas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421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1"/>
          <p:cNvSpPr>
            <a:spLocks noGrp="1"/>
          </p:cNvSpPr>
          <p:nvPr>
            <p:ph idx="4294967295"/>
          </p:nvPr>
        </p:nvSpPr>
        <p:spPr>
          <a:xfrm>
            <a:off x="381000" y="8382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estrutura do COBIT 5 ajuda as organizações a criarem o melhor valor possível com o uso de TI, mantendo o equilíbrio entre a realização dos benefícios e a otimização dos níveis de risco e do emprego de recursos.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endParaRPr lang="pt-BR" alt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COBIT 5 permite que a informação e tecnologias relacionadas sejam governadas e geridas de maneira holística em toda a empresa, envolvendo completamente todas as áreas da organização, de acordo com os interesses relativos à TI das partes interessadas internas e externas.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endParaRPr lang="pt-BR" alt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</a:t>
            </a:r>
            <a:r>
              <a:rPr lang="pt-BR" altLang="pt-BR" sz="2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princípios e habilitadores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do COBIT 5 são gerais e úteis as organizações de qualquer porte, sejam elas comerciais, sem fins lucrativos ou do setor público.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A Estrutura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306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Princípios</a:t>
            </a:r>
            <a:endParaRPr dirty="0"/>
          </a:p>
        </p:txBody>
      </p:sp>
      <p:grpSp>
        <p:nvGrpSpPr>
          <p:cNvPr id="3" name="Grupo 2"/>
          <p:cNvGrpSpPr/>
          <p:nvPr/>
        </p:nvGrpSpPr>
        <p:grpSpPr>
          <a:xfrm>
            <a:off x="1926837" y="914400"/>
            <a:ext cx="5235864" cy="5508927"/>
            <a:chOff x="1649304" y="635318"/>
            <a:chExt cx="5759450" cy="6059820"/>
          </a:xfrm>
        </p:grpSpPr>
        <p:grpSp>
          <p:nvGrpSpPr>
            <p:cNvPr id="14340" name="Grupo 1"/>
            <p:cNvGrpSpPr>
              <a:grpSpLocks/>
            </p:cNvGrpSpPr>
            <p:nvPr/>
          </p:nvGrpSpPr>
          <p:grpSpPr bwMode="auto">
            <a:xfrm>
              <a:off x="1649304" y="635318"/>
              <a:ext cx="5759450" cy="5643562"/>
              <a:chOff x="1971675" y="881063"/>
              <a:chExt cx="5759598" cy="5643562"/>
            </a:xfrm>
          </p:grpSpPr>
          <p:pic>
            <p:nvPicPr>
              <p:cNvPr id="14341" name="Picture 1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1675" y="881063"/>
                <a:ext cx="5759598" cy="5643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42" name="CaixaDeTexto 1"/>
              <p:cNvSpPr txBox="1">
                <a:spLocks noChangeArrowheads="1"/>
              </p:cNvSpPr>
              <p:nvPr/>
            </p:nvSpPr>
            <p:spPr bwMode="auto">
              <a:xfrm>
                <a:off x="1996381" y="2768519"/>
                <a:ext cx="1627717" cy="7109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1200" dirty="0">
                    <a:solidFill>
                      <a:schemeClr val="bg1"/>
                    </a:solidFill>
                  </a:rPr>
                  <a:t>5. Separar governança de gerenciamento</a:t>
                </a:r>
              </a:p>
            </p:txBody>
          </p:sp>
          <p:sp>
            <p:nvSpPr>
              <p:cNvPr id="14343" name="CaixaDeTexto 6"/>
              <p:cNvSpPr txBox="1">
                <a:spLocks noChangeArrowheads="1"/>
              </p:cNvSpPr>
              <p:nvPr/>
            </p:nvSpPr>
            <p:spPr bwMode="auto">
              <a:xfrm>
                <a:off x="4210852" y="1105319"/>
                <a:ext cx="1367163" cy="1117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buClr>
                    <a:srgbClr val="000000"/>
                  </a:buClr>
                  <a:buSzPct val="100000"/>
                </a:pPr>
                <a:r>
                  <a:rPr lang="pt-BR" altLang="pt-BR" sz="1200" dirty="0">
                    <a:solidFill>
                      <a:schemeClr val="bg1"/>
                    </a:solidFill>
                  </a:rPr>
                  <a:t>1. Satisfazer as necessidades das partes interessadas</a:t>
                </a:r>
              </a:p>
            </p:txBody>
          </p:sp>
          <p:sp>
            <p:nvSpPr>
              <p:cNvPr id="14344" name="CaixaDeTexto 7"/>
              <p:cNvSpPr txBox="1">
                <a:spLocks noChangeArrowheads="1"/>
              </p:cNvSpPr>
              <p:nvPr/>
            </p:nvSpPr>
            <p:spPr bwMode="auto">
              <a:xfrm>
                <a:off x="6300192" y="2865802"/>
                <a:ext cx="1316038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1200">
                    <a:solidFill>
                      <a:schemeClr val="bg1"/>
                    </a:solidFill>
                  </a:rPr>
                  <a:t>2. Envolver todas as áreas da empresa</a:t>
                </a:r>
              </a:p>
            </p:txBody>
          </p:sp>
          <p:sp>
            <p:nvSpPr>
              <p:cNvPr id="14345" name="CaixaDeTexto 8"/>
              <p:cNvSpPr txBox="1">
                <a:spLocks noChangeArrowheads="1"/>
              </p:cNvSpPr>
              <p:nvPr/>
            </p:nvSpPr>
            <p:spPr bwMode="auto">
              <a:xfrm>
                <a:off x="2940505" y="5148942"/>
                <a:ext cx="131445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1200">
                    <a:solidFill>
                      <a:schemeClr val="bg1"/>
                    </a:solidFill>
                  </a:rPr>
                  <a:t>4. Possibilitar uma abordagem holística</a:t>
                </a:r>
              </a:p>
            </p:txBody>
          </p:sp>
          <p:sp>
            <p:nvSpPr>
              <p:cNvPr id="14346" name="CaixaDeTexto 9"/>
              <p:cNvSpPr txBox="1">
                <a:spLocks noChangeArrowheads="1"/>
              </p:cNvSpPr>
              <p:nvPr/>
            </p:nvSpPr>
            <p:spPr bwMode="auto">
              <a:xfrm>
                <a:off x="5479076" y="5229200"/>
                <a:ext cx="1316037" cy="830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1200">
                    <a:solidFill>
                      <a:schemeClr val="bg1"/>
                    </a:solidFill>
                  </a:rPr>
                  <a:t>3. Empregar uma estrutura única e integrada</a:t>
                </a:r>
              </a:p>
            </p:txBody>
          </p:sp>
          <p:sp>
            <p:nvSpPr>
              <p:cNvPr id="14347" name="CaixaDeTexto 12"/>
              <p:cNvSpPr txBox="1">
                <a:spLocks noChangeArrowheads="1"/>
              </p:cNvSpPr>
              <p:nvPr/>
            </p:nvSpPr>
            <p:spPr bwMode="auto">
              <a:xfrm>
                <a:off x="4127030" y="3350860"/>
                <a:ext cx="1495089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1800" dirty="0">
                    <a:solidFill>
                      <a:schemeClr val="bg1"/>
                    </a:solidFill>
                  </a:rPr>
                  <a:t>Princípios do</a:t>
                </a:r>
              </a:p>
              <a:p>
                <a:pPr algn="ctr" eaLnBrk="1" hangingPunct="1"/>
                <a:r>
                  <a:rPr lang="pt-BR" altLang="pt-BR" sz="1800" dirty="0">
                    <a:solidFill>
                      <a:schemeClr val="bg1"/>
                    </a:solidFill>
                  </a:rPr>
                  <a:t>COBIT 5</a:t>
                </a:r>
              </a:p>
            </p:txBody>
          </p:sp>
        </p:grpSp>
        <p:sp>
          <p:nvSpPr>
            <p:cNvPr id="14339" name="Rectangle 6"/>
            <p:cNvSpPr>
              <a:spLocks noChangeArrowheads="1"/>
            </p:cNvSpPr>
            <p:nvPr/>
          </p:nvSpPr>
          <p:spPr bwMode="auto">
            <a:xfrm>
              <a:off x="1960563" y="6424295"/>
              <a:ext cx="5256213" cy="27084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1000" dirty="0">
                  <a:solidFill>
                    <a:schemeClr val="bg1"/>
                  </a:solidFill>
                </a:rPr>
                <a:t>Fonte:  COBIT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5,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figura</a:t>
              </a:r>
              <a:r>
                <a:rPr lang="en-US" altLang="pt-BR" sz="1000" dirty="0">
                  <a:solidFill>
                    <a:schemeClr val="bg1"/>
                  </a:solidFill>
                </a:rPr>
                <a:t> 2. © 2012 ISACA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Todos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direitos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reservados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62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762000" y="1016158"/>
            <a:ext cx="7459980" cy="5055393"/>
            <a:chOff x="1319213" y="1504950"/>
            <a:chExt cx="6781800" cy="4595812"/>
          </a:xfrm>
        </p:grpSpPr>
        <p:pic>
          <p:nvPicPr>
            <p:cNvPr id="1536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9213" y="1504950"/>
              <a:ext cx="6781800" cy="4371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64" name="Rectangle 7"/>
            <p:cNvSpPr>
              <a:spLocks noChangeArrowheads="1"/>
            </p:cNvSpPr>
            <p:nvPr/>
          </p:nvSpPr>
          <p:spPr bwMode="auto">
            <a:xfrm>
              <a:off x="2587769" y="5876925"/>
              <a:ext cx="5381625" cy="223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1000" dirty="0">
                  <a:solidFill>
                    <a:schemeClr val="tx2"/>
                  </a:solidFill>
                </a:rPr>
                <a:t>Fonte:  COBIT</a:t>
              </a:r>
              <a:r>
                <a:rPr lang="en-US" altLang="pt-BR" sz="1000" baseline="30000" dirty="0">
                  <a:solidFill>
                    <a:schemeClr val="tx2"/>
                  </a:solidFill>
                </a:rPr>
                <a:t>®</a:t>
              </a:r>
              <a:r>
                <a:rPr lang="en-US" altLang="pt-BR" sz="1000" dirty="0">
                  <a:solidFill>
                    <a:schemeClr val="tx2"/>
                  </a:solidFill>
                </a:rPr>
                <a:t> 5, </a:t>
              </a:r>
              <a:r>
                <a:rPr lang="en-US" altLang="pt-BR" sz="1000" dirty="0" err="1">
                  <a:solidFill>
                    <a:schemeClr val="tx2"/>
                  </a:solidFill>
                </a:rPr>
                <a:t>figura</a:t>
              </a:r>
              <a:r>
                <a:rPr lang="en-US" altLang="pt-BR" sz="1000" dirty="0">
                  <a:solidFill>
                    <a:schemeClr val="tx2"/>
                  </a:solidFill>
                </a:rPr>
                <a:t> 12. © 2012 ISACA</a:t>
              </a:r>
              <a:r>
                <a:rPr lang="en-US" altLang="pt-BR" sz="1000" baseline="30000" dirty="0">
                  <a:solidFill>
                    <a:schemeClr val="tx2"/>
                  </a:solidFill>
                </a:rPr>
                <a:t>®</a:t>
              </a:r>
              <a:r>
                <a:rPr lang="en-US" altLang="pt-BR" sz="1000" dirty="0">
                  <a:solidFill>
                    <a:schemeClr val="tx2"/>
                  </a:solidFill>
                </a:rPr>
                <a:t>  </a:t>
              </a:r>
              <a:r>
                <a:rPr lang="en-US" altLang="pt-BR" sz="1000" dirty="0" err="1">
                  <a:solidFill>
                    <a:schemeClr val="tx2"/>
                  </a:solidFill>
                </a:rPr>
                <a:t>Todos</a:t>
              </a:r>
              <a:r>
                <a:rPr lang="en-US" altLang="pt-BR" sz="1000" dirty="0">
                  <a:solidFill>
                    <a:schemeClr val="tx2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tx2"/>
                  </a:solidFill>
                </a:rPr>
                <a:t>os</a:t>
              </a:r>
              <a:r>
                <a:rPr lang="en-US" altLang="pt-BR" sz="1000" dirty="0">
                  <a:solidFill>
                    <a:schemeClr val="tx2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tx2"/>
                  </a:solidFill>
                </a:rPr>
                <a:t>direitos</a:t>
              </a:r>
              <a:r>
                <a:rPr lang="en-US" altLang="pt-BR" sz="1000" dirty="0">
                  <a:solidFill>
                    <a:schemeClr val="tx2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tx2"/>
                  </a:solidFill>
                </a:rPr>
                <a:t>reservados</a:t>
              </a:r>
              <a:r>
                <a:rPr lang="en-US" altLang="pt-BR" sz="1000" dirty="0">
                  <a:solidFill>
                    <a:schemeClr val="tx2"/>
                  </a:solidFill>
                </a:rPr>
                <a:t>.</a:t>
              </a:r>
            </a:p>
          </p:txBody>
        </p:sp>
        <p:sp>
          <p:nvSpPr>
            <p:cNvPr id="15365" name="CaixaDeTexto 5"/>
            <p:cNvSpPr txBox="1">
              <a:spLocks noChangeArrowheads="1"/>
            </p:cNvSpPr>
            <p:nvPr/>
          </p:nvSpPr>
          <p:spPr bwMode="auto">
            <a:xfrm>
              <a:off x="2136775" y="2306438"/>
              <a:ext cx="1447800" cy="27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 dirty="0">
                  <a:solidFill>
                    <a:schemeClr val="tx2"/>
                  </a:solidFill>
                </a:rPr>
                <a:t>2. Processos</a:t>
              </a:r>
            </a:p>
          </p:txBody>
        </p:sp>
        <p:sp>
          <p:nvSpPr>
            <p:cNvPr id="15366" name="CaixaDeTexto 6"/>
            <p:cNvSpPr txBox="1">
              <a:spLocks noChangeArrowheads="1"/>
            </p:cNvSpPr>
            <p:nvPr/>
          </p:nvSpPr>
          <p:spPr bwMode="auto">
            <a:xfrm>
              <a:off x="3795713" y="2200573"/>
              <a:ext cx="1933575" cy="475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>
                  <a:solidFill>
                    <a:schemeClr val="tx2"/>
                  </a:solidFill>
                </a:rPr>
                <a:t>3. Estruturas organizacionais</a:t>
              </a:r>
            </a:p>
          </p:txBody>
        </p:sp>
        <p:sp>
          <p:nvSpPr>
            <p:cNvPr id="15367" name="CaixaDeTexto 7"/>
            <p:cNvSpPr txBox="1">
              <a:spLocks noChangeArrowheads="1"/>
            </p:cNvSpPr>
            <p:nvPr/>
          </p:nvSpPr>
          <p:spPr bwMode="auto">
            <a:xfrm>
              <a:off x="5780088" y="2209305"/>
              <a:ext cx="1797050" cy="475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>
                  <a:solidFill>
                    <a:schemeClr val="tx2"/>
                  </a:solidFill>
                </a:rPr>
                <a:t>4. Cultura, ética e comportamento</a:t>
              </a:r>
            </a:p>
          </p:txBody>
        </p:sp>
        <p:sp>
          <p:nvSpPr>
            <p:cNvPr id="15368" name="CaixaDeTexto 8"/>
            <p:cNvSpPr txBox="1">
              <a:spLocks noChangeArrowheads="1"/>
            </p:cNvSpPr>
            <p:nvPr/>
          </p:nvSpPr>
          <p:spPr bwMode="auto">
            <a:xfrm>
              <a:off x="2903106" y="3423246"/>
              <a:ext cx="3763962" cy="27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 dirty="0">
                  <a:solidFill>
                    <a:schemeClr val="tx2"/>
                  </a:solidFill>
                </a:rPr>
                <a:t>1. Princípios, políticas e estruturas</a:t>
              </a:r>
            </a:p>
          </p:txBody>
        </p:sp>
        <p:sp>
          <p:nvSpPr>
            <p:cNvPr id="15369" name="CaixaDeTexto 9"/>
            <p:cNvSpPr txBox="1">
              <a:spLocks noChangeArrowheads="1"/>
            </p:cNvSpPr>
            <p:nvPr/>
          </p:nvSpPr>
          <p:spPr bwMode="auto">
            <a:xfrm>
              <a:off x="2047875" y="4619426"/>
              <a:ext cx="1654175" cy="27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>
                  <a:solidFill>
                    <a:schemeClr val="tx2"/>
                  </a:solidFill>
                </a:rPr>
                <a:t>5. Informações</a:t>
              </a:r>
            </a:p>
          </p:txBody>
        </p:sp>
        <p:sp>
          <p:nvSpPr>
            <p:cNvPr id="15370" name="CaixaDeTexto 10"/>
            <p:cNvSpPr txBox="1">
              <a:spLocks noChangeArrowheads="1"/>
            </p:cNvSpPr>
            <p:nvPr/>
          </p:nvSpPr>
          <p:spPr bwMode="auto">
            <a:xfrm>
              <a:off x="3743325" y="4437856"/>
              <a:ext cx="2095500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 dirty="0">
                  <a:solidFill>
                    <a:schemeClr val="tx2"/>
                  </a:solidFill>
                </a:rPr>
                <a:t>6. Infraestrutura </a:t>
              </a:r>
              <a:br>
                <a:rPr lang="pt-BR" altLang="pt-BR" sz="1400" dirty="0">
                  <a:solidFill>
                    <a:schemeClr val="tx2"/>
                  </a:solidFill>
                </a:rPr>
              </a:br>
              <a:r>
                <a:rPr lang="pt-BR" altLang="pt-BR" sz="1400" dirty="0">
                  <a:solidFill>
                    <a:schemeClr val="tx2"/>
                  </a:solidFill>
                </a:rPr>
                <a:t>de </a:t>
              </a:r>
              <a:r>
                <a:rPr lang="pt-BR" altLang="pt-BR" sz="1400" dirty="0" smtClean="0">
                  <a:solidFill>
                    <a:schemeClr val="tx2"/>
                  </a:solidFill>
                </a:rPr>
                <a:t>serviços</a:t>
              </a:r>
              <a:br>
                <a:rPr lang="pt-BR" altLang="pt-BR" sz="1400" dirty="0" smtClean="0">
                  <a:solidFill>
                    <a:schemeClr val="tx2"/>
                  </a:solidFill>
                </a:rPr>
              </a:br>
              <a:r>
                <a:rPr lang="pt-BR" altLang="pt-BR" sz="1400" dirty="0" smtClean="0">
                  <a:solidFill>
                    <a:schemeClr val="tx2"/>
                  </a:solidFill>
                </a:rPr>
                <a:t>e </a:t>
              </a:r>
              <a:r>
                <a:rPr lang="pt-BR" altLang="pt-BR" sz="1400" dirty="0">
                  <a:solidFill>
                    <a:schemeClr val="tx2"/>
                  </a:solidFill>
                </a:rPr>
                <a:t>aplicações</a:t>
              </a:r>
            </a:p>
          </p:txBody>
        </p:sp>
        <p:sp>
          <p:nvSpPr>
            <p:cNvPr id="15371" name="CaixaDeTexto 11"/>
            <p:cNvSpPr txBox="1">
              <a:spLocks noChangeArrowheads="1"/>
            </p:cNvSpPr>
            <p:nvPr/>
          </p:nvSpPr>
          <p:spPr bwMode="auto">
            <a:xfrm>
              <a:off x="5788025" y="4437856"/>
              <a:ext cx="1790700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>
                  <a:solidFill>
                    <a:schemeClr val="tx2"/>
                  </a:solidFill>
                </a:rPr>
                <a:t>7. Pessoas, habilidades e competências</a:t>
              </a:r>
            </a:p>
          </p:txBody>
        </p:sp>
        <p:sp>
          <p:nvSpPr>
            <p:cNvPr id="15372" name="CaixaDeTexto 12"/>
            <p:cNvSpPr txBox="1">
              <a:spLocks noChangeArrowheads="1"/>
            </p:cNvSpPr>
            <p:nvPr/>
          </p:nvSpPr>
          <p:spPr bwMode="auto">
            <a:xfrm>
              <a:off x="4191000" y="5262166"/>
              <a:ext cx="1447800" cy="335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800" dirty="0">
                  <a:solidFill>
                    <a:schemeClr val="bg1"/>
                  </a:solidFill>
                </a:rPr>
                <a:t>Recursos</a:t>
              </a:r>
              <a:endParaRPr lang="pt-BR" altLang="pt-BR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Habilitadores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60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1"/>
          <p:cNvSpPr>
            <a:spLocks noGrp="1"/>
          </p:cNvSpPr>
          <p:nvPr>
            <p:ph idx="4294967295"/>
          </p:nvPr>
        </p:nvSpPr>
        <p:spPr>
          <a:xfrm>
            <a:off x="323850" y="1524000"/>
            <a:ext cx="83629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pt-BR" altLang="pt-BR" sz="3200" dirty="0">
                <a:latin typeface="+mn-lt"/>
              </a:rPr>
              <a:t>O COBIT 5 reúne os </a:t>
            </a:r>
            <a:r>
              <a:rPr lang="pt-BR" altLang="pt-BR" sz="3200" b="1" dirty="0">
                <a:latin typeface="+mn-lt"/>
              </a:rPr>
              <a:t>cinco princípios</a:t>
            </a:r>
            <a:r>
              <a:rPr lang="pt-BR" altLang="pt-BR" sz="3200" dirty="0">
                <a:latin typeface="+mn-lt"/>
              </a:rPr>
              <a:t> que possibilitam às organizações desenvolverem uma estrutura de governança e gerenciamento eficaz, com base em um conjunto holístico de </a:t>
            </a:r>
            <a:r>
              <a:rPr lang="pt-BR" altLang="pt-BR" sz="3200" b="1" dirty="0">
                <a:latin typeface="+mn-lt"/>
              </a:rPr>
              <a:t>sete habilitadores</a:t>
            </a:r>
            <a:r>
              <a:rPr lang="pt-BR" altLang="pt-BR" sz="3200" dirty="0">
                <a:latin typeface="+mn-lt"/>
              </a:rPr>
              <a:t> que otimizam o investimento e o uso de informação e tecnologia em benefício das partes interessadas.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Em síntese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348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/>
        </p:nvGrpSpPr>
        <p:grpSpPr>
          <a:xfrm>
            <a:off x="369022" y="821333"/>
            <a:ext cx="8319659" cy="5597088"/>
            <a:chOff x="1457325" y="1441452"/>
            <a:chExt cx="6875752" cy="4625698"/>
          </a:xfrm>
        </p:grpSpPr>
        <p:grpSp>
          <p:nvGrpSpPr>
            <p:cNvPr id="2" name="Group 31"/>
            <p:cNvGrpSpPr>
              <a:grpSpLocks/>
            </p:cNvGrpSpPr>
            <p:nvPr/>
          </p:nvGrpSpPr>
          <p:grpSpPr bwMode="auto">
            <a:xfrm>
              <a:off x="2016225" y="1554670"/>
              <a:ext cx="5922491" cy="3505204"/>
              <a:chOff x="1265" y="1121"/>
              <a:chExt cx="3293" cy="1905"/>
            </a:xfrm>
            <a:solidFill>
              <a:srgbClr val="92D050"/>
            </a:solidFill>
          </p:grpSpPr>
          <p:sp>
            <p:nvSpPr>
              <p:cNvPr id="29" name="Rectangle 3"/>
              <p:cNvSpPr>
                <a:spLocks noChangeArrowheads="1"/>
              </p:cNvSpPr>
              <p:nvPr/>
            </p:nvSpPr>
            <p:spPr bwMode="auto">
              <a:xfrm>
                <a:off x="1265" y="1121"/>
                <a:ext cx="3293" cy="1905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>
                  <a:defRPr/>
                </a:pPr>
                <a:endParaRPr lang="nl-BE"/>
              </a:p>
            </p:txBody>
          </p:sp>
          <p:sp>
            <p:nvSpPr>
              <p:cNvPr id="30" name="Text Box 4"/>
              <p:cNvSpPr txBox="1">
                <a:spLocks noChangeArrowheads="1"/>
              </p:cNvSpPr>
              <p:nvPr/>
            </p:nvSpPr>
            <p:spPr bwMode="auto">
              <a:xfrm>
                <a:off x="1291" y="1193"/>
                <a:ext cx="1590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GB" sz="2000" b="1" dirty="0">
                    <a:solidFill>
                      <a:schemeClr val="bg1"/>
                    </a:solidFill>
                    <a:cs typeface="Arial" charset="0"/>
                  </a:rPr>
                  <a:t>Governance of Enterprise IT</a:t>
                </a:r>
              </a:p>
            </p:txBody>
          </p:sp>
          <p:sp>
            <p:nvSpPr>
              <p:cNvPr id="31" name="Text Box 6"/>
              <p:cNvSpPr txBox="1">
                <a:spLocks noChangeArrowheads="1"/>
              </p:cNvSpPr>
              <p:nvPr/>
            </p:nvSpPr>
            <p:spPr bwMode="auto">
              <a:xfrm>
                <a:off x="4024" y="2821"/>
                <a:ext cx="515" cy="19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GB" sz="2000" b="1" dirty="0">
                    <a:solidFill>
                      <a:schemeClr val="bg1"/>
                    </a:solidFill>
                    <a:cs typeface="Arial" charset="0"/>
                  </a:rPr>
                  <a:t>COBIT 5</a:t>
                </a:r>
              </a:p>
            </p:txBody>
          </p:sp>
        </p:grpSp>
        <p:grpSp>
          <p:nvGrpSpPr>
            <p:cNvPr id="3" name="Group 31"/>
            <p:cNvGrpSpPr>
              <a:grpSpLocks/>
            </p:cNvGrpSpPr>
            <p:nvPr/>
          </p:nvGrpSpPr>
          <p:grpSpPr bwMode="auto">
            <a:xfrm>
              <a:off x="2016125" y="2160592"/>
              <a:ext cx="4984348" cy="2895603"/>
              <a:chOff x="1257" y="1119"/>
              <a:chExt cx="3250" cy="1905"/>
            </a:xfrm>
          </p:grpSpPr>
          <p:sp>
            <p:nvSpPr>
              <p:cNvPr id="19489" name="Rectangle 3"/>
              <p:cNvSpPr>
                <a:spLocks noChangeArrowheads="1"/>
              </p:cNvSpPr>
              <p:nvPr/>
            </p:nvSpPr>
            <p:spPr bwMode="auto">
              <a:xfrm>
                <a:off x="1257" y="1119"/>
                <a:ext cx="3220" cy="19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nl-BE" altLang="pt-BR"/>
              </a:p>
            </p:txBody>
          </p:sp>
          <p:sp>
            <p:nvSpPr>
              <p:cNvPr id="19490" name="Text Box 4"/>
              <p:cNvSpPr txBox="1">
                <a:spLocks noChangeArrowheads="1"/>
              </p:cNvSpPr>
              <p:nvPr/>
            </p:nvSpPr>
            <p:spPr bwMode="auto">
              <a:xfrm>
                <a:off x="1359" y="1269"/>
                <a:ext cx="10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600" dirty="0" err="1">
                    <a:solidFill>
                      <a:schemeClr val="bg1"/>
                    </a:solidFill>
                    <a:cs typeface="Arial" charset="0"/>
                  </a:rPr>
                  <a:t>Governança</a:t>
                </a:r>
                <a:r>
                  <a:rPr lang="en-GB" altLang="pt-BR" sz="1600" dirty="0">
                    <a:solidFill>
                      <a:schemeClr val="bg1"/>
                    </a:solidFill>
                    <a:cs typeface="Arial" charset="0"/>
                  </a:rPr>
                  <a:t> de TI</a:t>
                </a:r>
              </a:p>
            </p:txBody>
          </p:sp>
          <p:sp>
            <p:nvSpPr>
              <p:cNvPr id="19491" name="Text Box 6"/>
              <p:cNvSpPr txBox="1">
                <a:spLocks noChangeArrowheads="1"/>
              </p:cNvSpPr>
              <p:nvPr/>
            </p:nvSpPr>
            <p:spPr bwMode="auto">
              <a:xfrm>
                <a:off x="3740" y="2806"/>
                <a:ext cx="76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C</a:t>
                </a:r>
                <a:r>
                  <a:rPr lang="en-GB" altLang="pt-BR" sz="1200" dirty="0" smtClean="0">
                    <a:solidFill>
                      <a:schemeClr val="tx1"/>
                    </a:solidFill>
                    <a:cs typeface="Arial" charset="0"/>
                  </a:rPr>
                  <a:t>OBI</a:t>
                </a:r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T 4.0/4.1</a:t>
                </a:r>
                <a:endParaRPr lang="en-GB" altLang="pt-BR" sz="1400" dirty="0">
                  <a:solidFill>
                    <a:schemeClr val="tx1"/>
                  </a:solidFill>
                  <a:cs typeface="Arial" charset="0"/>
                </a:endParaRPr>
              </a:p>
            </p:txBody>
          </p:sp>
        </p:grpSp>
        <p:grpSp>
          <p:nvGrpSpPr>
            <p:cNvPr id="4" name="Group 30"/>
            <p:cNvGrpSpPr>
              <a:grpSpLocks/>
            </p:cNvGrpSpPr>
            <p:nvPr/>
          </p:nvGrpSpPr>
          <p:grpSpPr bwMode="auto">
            <a:xfrm>
              <a:off x="2016125" y="2824168"/>
              <a:ext cx="3816350" cy="2232027"/>
              <a:chOff x="1257" y="1618"/>
              <a:chExt cx="2404" cy="1406"/>
            </a:xfrm>
          </p:grpSpPr>
          <p:sp>
            <p:nvSpPr>
              <p:cNvPr id="19486" name="Rectangle 8"/>
              <p:cNvSpPr>
                <a:spLocks noChangeArrowheads="1"/>
              </p:cNvSpPr>
              <p:nvPr/>
            </p:nvSpPr>
            <p:spPr bwMode="auto">
              <a:xfrm>
                <a:off x="1257" y="1618"/>
                <a:ext cx="2404" cy="1406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nl-BE" altLang="pt-BR"/>
              </a:p>
            </p:txBody>
          </p:sp>
          <p:sp>
            <p:nvSpPr>
              <p:cNvPr id="19487" name="Text Box 9"/>
              <p:cNvSpPr txBox="1">
                <a:spLocks noChangeArrowheads="1"/>
              </p:cNvSpPr>
              <p:nvPr/>
            </p:nvSpPr>
            <p:spPr bwMode="auto">
              <a:xfrm>
                <a:off x="1372" y="1728"/>
                <a:ext cx="89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600" dirty="0" err="1">
                    <a:solidFill>
                      <a:schemeClr val="bg1"/>
                    </a:solidFill>
                    <a:cs typeface="Arial" charset="0"/>
                  </a:rPr>
                  <a:t>Gerenciamento</a:t>
                </a:r>
                <a:endParaRPr lang="en-GB" altLang="pt-BR" sz="1600" dirty="0">
                  <a:solidFill>
                    <a:schemeClr val="bg1"/>
                  </a:solidFill>
                  <a:cs typeface="Arial" charset="0"/>
                </a:endParaRPr>
              </a:p>
            </p:txBody>
          </p:sp>
          <p:sp>
            <p:nvSpPr>
              <p:cNvPr id="19488" name="Text Box 11"/>
              <p:cNvSpPr txBox="1">
                <a:spLocks noChangeArrowheads="1"/>
              </p:cNvSpPr>
              <p:nvPr/>
            </p:nvSpPr>
            <p:spPr bwMode="auto">
              <a:xfrm>
                <a:off x="3048" y="2801"/>
                <a:ext cx="485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C</a:t>
                </a:r>
                <a:r>
                  <a:rPr lang="en-GB" altLang="pt-BR" sz="1200" dirty="0" smtClean="0">
                    <a:solidFill>
                      <a:schemeClr val="tx1"/>
                    </a:solidFill>
                    <a:cs typeface="Arial" charset="0"/>
                  </a:rPr>
                  <a:t>OBI</a:t>
                </a:r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T 3</a:t>
                </a:r>
                <a:endParaRPr lang="en-GB" altLang="pt-BR" sz="1400" dirty="0">
                  <a:solidFill>
                    <a:schemeClr val="tx1"/>
                  </a:solidFill>
                  <a:cs typeface="Arial" charset="0"/>
                </a:endParaRPr>
              </a:p>
            </p:txBody>
          </p:sp>
        </p:grpSp>
        <p:grpSp>
          <p:nvGrpSpPr>
            <p:cNvPr id="5" name="Group 29"/>
            <p:cNvGrpSpPr>
              <a:grpSpLocks/>
            </p:cNvGrpSpPr>
            <p:nvPr/>
          </p:nvGrpSpPr>
          <p:grpSpPr bwMode="auto">
            <a:xfrm>
              <a:off x="2016125" y="3471869"/>
              <a:ext cx="2592388" cy="1584326"/>
              <a:chOff x="1257" y="2026"/>
              <a:chExt cx="1633" cy="998"/>
            </a:xfrm>
          </p:grpSpPr>
          <p:sp>
            <p:nvSpPr>
              <p:cNvPr id="19483" name="Rectangle 13"/>
              <p:cNvSpPr>
                <a:spLocks noChangeArrowheads="1"/>
              </p:cNvSpPr>
              <p:nvPr/>
            </p:nvSpPr>
            <p:spPr bwMode="auto">
              <a:xfrm>
                <a:off x="1257" y="2026"/>
                <a:ext cx="1633" cy="998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nl-BE" altLang="pt-BR"/>
              </a:p>
            </p:txBody>
          </p:sp>
          <p:sp>
            <p:nvSpPr>
              <p:cNvPr id="19484" name="Text Box 14"/>
              <p:cNvSpPr txBox="1">
                <a:spLocks noChangeArrowheads="1"/>
              </p:cNvSpPr>
              <p:nvPr/>
            </p:nvSpPr>
            <p:spPr bwMode="auto">
              <a:xfrm>
                <a:off x="1355" y="2099"/>
                <a:ext cx="57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600" dirty="0" err="1">
                    <a:solidFill>
                      <a:schemeClr val="bg1"/>
                    </a:solidFill>
                    <a:cs typeface="Arial" charset="0"/>
                  </a:rPr>
                  <a:t>Controle</a:t>
                </a:r>
                <a:endParaRPr lang="en-GB" altLang="pt-BR" sz="1600" dirty="0">
                  <a:solidFill>
                    <a:schemeClr val="bg1"/>
                  </a:solidFill>
                  <a:cs typeface="Arial" charset="0"/>
                </a:endParaRPr>
              </a:p>
            </p:txBody>
          </p:sp>
          <p:sp>
            <p:nvSpPr>
              <p:cNvPr id="19485" name="Text Box 16"/>
              <p:cNvSpPr txBox="1">
                <a:spLocks noChangeArrowheads="1"/>
              </p:cNvSpPr>
              <p:nvPr/>
            </p:nvSpPr>
            <p:spPr bwMode="auto">
              <a:xfrm>
                <a:off x="2277" y="2801"/>
                <a:ext cx="485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C</a:t>
                </a:r>
                <a:r>
                  <a:rPr lang="en-GB" altLang="pt-BR" sz="1200" dirty="0" smtClean="0">
                    <a:solidFill>
                      <a:schemeClr val="tx1"/>
                    </a:solidFill>
                    <a:cs typeface="Arial" charset="0"/>
                  </a:rPr>
                  <a:t>OBI</a:t>
                </a:r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T 2</a:t>
                </a:r>
                <a:endParaRPr lang="en-GB" altLang="pt-BR" sz="1400" dirty="0">
                  <a:solidFill>
                    <a:schemeClr val="tx1"/>
                  </a:solidFill>
                  <a:cs typeface="Arial" charset="0"/>
                </a:endParaRPr>
              </a:p>
            </p:txBody>
          </p:sp>
        </p:grpSp>
        <p:grpSp>
          <p:nvGrpSpPr>
            <p:cNvPr id="6" name="Group 28"/>
            <p:cNvGrpSpPr>
              <a:grpSpLocks/>
            </p:cNvGrpSpPr>
            <p:nvPr/>
          </p:nvGrpSpPr>
          <p:grpSpPr bwMode="auto">
            <a:xfrm>
              <a:off x="2016125" y="4048131"/>
              <a:ext cx="1366838" cy="1008064"/>
              <a:chOff x="1257" y="2389"/>
              <a:chExt cx="861" cy="635"/>
            </a:xfrm>
          </p:grpSpPr>
          <p:sp>
            <p:nvSpPr>
              <p:cNvPr id="19480" name="Rectangle 20"/>
              <p:cNvSpPr>
                <a:spLocks noChangeArrowheads="1"/>
              </p:cNvSpPr>
              <p:nvPr/>
            </p:nvSpPr>
            <p:spPr bwMode="auto">
              <a:xfrm>
                <a:off x="1257" y="2389"/>
                <a:ext cx="861" cy="635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endParaRPr lang="en-GB" altLang="pt-BR">
                  <a:cs typeface="Arial" charset="0"/>
                </a:endParaRPr>
              </a:p>
            </p:txBody>
          </p:sp>
          <p:sp>
            <p:nvSpPr>
              <p:cNvPr id="19481" name="Text Box 21"/>
              <p:cNvSpPr txBox="1">
                <a:spLocks noChangeArrowheads="1"/>
              </p:cNvSpPr>
              <p:nvPr/>
            </p:nvSpPr>
            <p:spPr bwMode="auto">
              <a:xfrm>
                <a:off x="1430" y="2453"/>
                <a:ext cx="44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600" dirty="0">
                    <a:solidFill>
                      <a:schemeClr val="bg1"/>
                    </a:solidFill>
                    <a:cs typeface="Arial" charset="0"/>
                  </a:rPr>
                  <a:t>Auditoria</a:t>
                </a:r>
              </a:p>
            </p:txBody>
          </p:sp>
          <p:sp>
            <p:nvSpPr>
              <p:cNvPr id="19482" name="Text Box 25"/>
              <p:cNvSpPr txBox="1">
                <a:spLocks noChangeArrowheads="1"/>
              </p:cNvSpPr>
              <p:nvPr/>
            </p:nvSpPr>
            <p:spPr bwMode="auto">
              <a:xfrm>
                <a:off x="1431" y="2801"/>
                <a:ext cx="485" cy="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C</a:t>
                </a:r>
                <a:r>
                  <a:rPr lang="en-GB" altLang="pt-BR" sz="1200" dirty="0" smtClean="0">
                    <a:solidFill>
                      <a:schemeClr val="tx1"/>
                    </a:solidFill>
                    <a:cs typeface="Arial" charset="0"/>
                  </a:rPr>
                  <a:t>OBI</a:t>
                </a:r>
                <a:r>
                  <a:rPr lang="en-GB" altLang="pt-BR" sz="1400" dirty="0" smtClean="0">
                    <a:solidFill>
                      <a:schemeClr val="tx1"/>
                    </a:solidFill>
                    <a:cs typeface="Arial" charset="0"/>
                  </a:rPr>
                  <a:t>T 1</a:t>
                </a:r>
                <a:endParaRPr lang="en-GB" altLang="pt-BR" sz="1400" dirty="0">
                  <a:solidFill>
                    <a:schemeClr val="tx1"/>
                  </a:solidFill>
                  <a:cs typeface="Arial" charset="0"/>
                </a:endParaRPr>
              </a:p>
            </p:txBody>
          </p:sp>
        </p:grp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1457325" y="1441452"/>
              <a:ext cx="6667505" cy="4171955"/>
              <a:chOff x="905" y="747"/>
              <a:chExt cx="4200" cy="2628"/>
            </a:xfrm>
          </p:grpSpPr>
          <p:sp>
            <p:nvSpPr>
              <p:cNvPr id="19473" name="Text Box 5"/>
              <p:cNvSpPr txBox="1">
                <a:spLocks noChangeArrowheads="1"/>
              </p:cNvSpPr>
              <p:nvPr/>
            </p:nvSpPr>
            <p:spPr bwMode="auto">
              <a:xfrm>
                <a:off x="3678" y="3103"/>
                <a:ext cx="66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dirty="0">
                    <a:solidFill>
                      <a:schemeClr val="tx2"/>
                    </a:solidFill>
                    <a:cs typeface="Arial" charset="0"/>
                  </a:rPr>
                  <a:t>2005/7</a:t>
                </a:r>
              </a:p>
            </p:txBody>
          </p:sp>
          <p:sp>
            <p:nvSpPr>
              <p:cNvPr id="19474" name="Text Box 10"/>
              <p:cNvSpPr txBox="1">
                <a:spLocks noChangeArrowheads="1"/>
              </p:cNvSpPr>
              <p:nvPr/>
            </p:nvSpPr>
            <p:spPr bwMode="auto">
              <a:xfrm>
                <a:off x="3016" y="3103"/>
                <a:ext cx="51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dirty="0">
                    <a:solidFill>
                      <a:schemeClr val="tx2"/>
                    </a:solidFill>
                    <a:cs typeface="Arial" charset="0"/>
                  </a:rPr>
                  <a:t>2000</a:t>
                </a:r>
              </a:p>
            </p:txBody>
          </p:sp>
          <p:sp>
            <p:nvSpPr>
              <p:cNvPr id="19475" name="Text Box 15"/>
              <p:cNvSpPr txBox="1">
                <a:spLocks noChangeArrowheads="1"/>
              </p:cNvSpPr>
              <p:nvPr/>
            </p:nvSpPr>
            <p:spPr bwMode="auto">
              <a:xfrm>
                <a:off x="2230" y="3103"/>
                <a:ext cx="51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dirty="0">
                    <a:solidFill>
                      <a:schemeClr val="tx2"/>
                    </a:solidFill>
                    <a:cs typeface="Arial" charset="0"/>
                  </a:rPr>
                  <a:t>1998</a:t>
                </a:r>
              </a:p>
            </p:txBody>
          </p:sp>
          <p:sp>
            <p:nvSpPr>
              <p:cNvPr id="19476" name="Text Box 19"/>
              <p:cNvSpPr txBox="1">
                <a:spLocks noChangeArrowheads="1"/>
              </p:cNvSpPr>
              <p:nvPr/>
            </p:nvSpPr>
            <p:spPr bwMode="auto">
              <a:xfrm flipV="1">
                <a:off x="905" y="1231"/>
                <a:ext cx="256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r>
                  <a:rPr lang="en-US" altLang="pt-BR" sz="2000" dirty="0">
                    <a:solidFill>
                      <a:schemeClr val="tx2"/>
                    </a:solidFill>
                    <a:cs typeface="Arial" charset="0"/>
                  </a:rPr>
                  <a:t> </a:t>
                </a:r>
                <a:r>
                  <a:rPr lang="en-US" altLang="pt-BR" sz="2000" dirty="0" err="1">
                    <a:solidFill>
                      <a:schemeClr val="tx2"/>
                    </a:solidFill>
                    <a:cs typeface="Arial" charset="0"/>
                  </a:rPr>
                  <a:t>Evolução</a:t>
                </a:r>
                <a:r>
                  <a:rPr lang="en-US" altLang="pt-BR" sz="2000" dirty="0">
                    <a:solidFill>
                      <a:schemeClr val="tx2"/>
                    </a:solidFill>
                    <a:cs typeface="Arial" charset="0"/>
                  </a:rPr>
                  <a:t> do </a:t>
                </a:r>
                <a:r>
                  <a:rPr lang="en-US" altLang="pt-BR" sz="2000" dirty="0" err="1">
                    <a:solidFill>
                      <a:schemeClr val="tx2"/>
                    </a:solidFill>
                    <a:cs typeface="Arial" charset="0"/>
                  </a:rPr>
                  <a:t>escopo</a:t>
                </a:r>
                <a:r>
                  <a:rPr lang="en-US" altLang="pt-BR" sz="2000" dirty="0">
                    <a:solidFill>
                      <a:schemeClr val="tx2"/>
                    </a:solidFill>
                    <a:cs typeface="Arial" charset="0"/>
                  </a:rPr>
                  <a:t> </a:t>
                </a:r>
              </a:p>
            </p:txBody>
          </p:sp>
          <p:sp>
            <p:nvSpPr>
              <p:cNvPr id="19477" name="Line 22"/>
              <p:cNvSpPr>
                <a:spLocks noChangeShapeType="1"/>
              </p:cNvSpPr>
              <p:nvPr/>
            </p:nvSpPr>
            <p:spPr bwMode="auto">
              <a:xfrm flipV="1">
                <a:off x="1239" y="747"/>
                <a:ext cx="0" cy="22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pt-BR"/>
              </a:p>
            </p:txBody>
          </p:sp>
          <p:sp>
            <p:nvSpPr>
              <p:cNvPr id="19478" name="Line 23"/>
              <p:cNvSpPr>
                <a:spLocks noChangeShapeType="1"/>
              </p:cNvSpPr>
              <p:nvPr/>
            </p:nvSpPr>
            <p:spPr bwMode="auto">
              <a:xfrm>
                <a:off x="1239" y="3042"/>
                <a:ext cx="38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pt-BR"/>
              </a:p>
            </p:txBody>
          </p:sp>
          <p:sp>
            <p:nvSpPr>
              <p:cNvPr id="19479" name="Text Box 24"/>
              <p:cNvSpPr txBox="1">
                <a:spLocks noChangeArrowheads="1"/>
              </p:cNvSpPr>
              <p:nvPr/>
            </p:nvSpPr>
            <p:spPr bwMode="auto">
              <a:xfrm>
                <a:off x="1358" y="3103"/>
                <a:ext cx="51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en-GB" altLang="pt-BR" dirty="0">
                    <a:solidFill>
                      <a:schemeClr val="tx2"/>
                    </a:solidFill>
                    <a:cs typeface="Arial" charset="0"/>
                  </a:rPr>
                  <a:t>1996</a:t>
                </a:r>
              </a:p>
            </p:txBody>
          </p:sp>
        </p:grpSp>
        <p:sp>
          <p:nvSpPr>
            <p:cNvPr id="19465" name="Text Box 5"/>
            <p:cNvSpPr txBox="1">
              <a:spLocks noChangeArrowheads="1"/>
            </p:cNvSpPr>
            <p:nvPr/>
          </p:nvSpPr>
          <p:spPr bwMode="auto">
            <a:xfrm>
              <a:off x="7081981" y="5181607"/>
              <a:ext cx="1251096" cy="432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pt-BR" dirty="0" smtClean="0">
                  <a:solidFill>
                    <a:schemeClr val="tx2"/>
                  </a:solidFill>
                  <a:cs typeface="Arial" charset="0"/>
                </a:rPr>
                <a:t>2012…</a:t>
              </a:r>
              <a:endParaRPr lang="en-GB" altLang="pt-BR" dirty="0">
                <a:solidFill>
                  <a:schemeClr val="tx2"/>
                </a:solidFill>
                <a:cs typeface="Arial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7400" y="2667004"/>
              <a:ext cx="1066800" cy="6858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467" name="TextBox 34"/>
            <p:cNvSpPr txBox="1">
              <a:spLocks noChangeArrowheads="1"/>
            </p:cNvSpPr>
            <p:nvPr/>
          </p:nvSpPr>
          <p:spPr bwMode="auto">
            <a:xfrm>
              <a:off x="5867400" y="2819404"/>
              <a:ext cx="1066800" cy="447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1600" dirty="0">
                  <a:solidFill>
                    <a:schemeClr val="bg1"/>
                  </a:solidFill>
                </a:rPr>
                <a:t>Val IT 2.0</a:t>
              </a:r>
            </a:p>
            <a:p>
              <a:pPr algn="ctr" eaLnBrk="1" hangingPunct="1"/>
              <a:r>
                <a:rPr lang="en-US" altLang="pt-BR" sz="1000" dirty="0">
                  <a:solidFill>
                    <a:schemeClr val="bg1"/>
                  </a:solidFill>
                </a:rPr>
                <a:t>(2008)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5943600" y="3657605"/>
              <a:ext cx="914400" cy="685801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469" name="TextBox 37"/>
            <p:cNvSpPr txBox="1">
              <a:spLocks noChangeArrowheads="1"/>
            </p:cNvSpPr>
            <p:nvPr/>
          </p:nvSpPr>
          <p:spPr bwMode="auto">
            <a:xfrm>
              <a:off x="5943600" y="3810005"/>
              <a:ext cx="914400" cy="447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pt-BR" sz="1600">
                  <a:solidFill>
                    <a:schemeClr val="bg1"/>
                  </a:solidFill>
                </a:rPr>
                <a:t>Risk IT</a:t>
              </a:r>
            </a:p>
            <a:p>
              <a:pPr algn="ctr" eaLnBrk="1" hangingPunct="1"/>
              <a:r>
                <a:rPr lang="en-US" altLang="pt-BR" sz="1000">
                  <a:solidFill>
                    <a:schemeClr val="bg1"/>
                  </a:solidFill>
                </a:rPr>
                <a:t>(2009)</a:t>
              </a:r>
            </a:p>
          </p:txBody>
        </p:sp>
        <p:sp>
          <p:nvSpPr>
            <p:cNvPr id="19472" name="Rectangle 40"/>
            <p:cNvSpPr>
              <a:spLocks noChangeArrowheads="1"/>
            </p:cNvSpPr>
            <p:nvPr/>
          </p:nvSpPr>
          <p:spPr bwMode="auto">
            <a:xfrm>
              <a:off x="3060704" y="5863661"/>
              <a:ext cx="3775075" cy="203489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pt-BR" sz="1000" dirty="0">
                  <a:solidFill>
                    <a:schemeClr val="bg1"/>
                  </a:solidFill>
                </a:rPr>
                <a:t>© 2012 ISACA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Todos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direitos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reservados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.</a:t>
              </a:r>
            </a:p>
          </p:txBody>
        </p:sp>
      </p:grpSp>
      <p:sp>
        <p:nvSpPr>
          <p:cNvPr id="40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</a:t>
            </a:r>
            <a:r>
              <a:rPr lang="pt-BR" dirty="0" smtClean="0"/>
              <a:t>– </a:t>
            </a:r>
            <a:r>
              <a:rPr lang="pt-BR" dirty="0"/>
              <a:t>A Evolução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80735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1"/>
          <p:cNvSpPr>
            <a:spLocks noGrp="1"/>
          </p:cNvSpPr>
          <p:nvPr>
            <p:ph idx="4294967295"/>
          </p:nvPr>
        </p:nvSpPr>
        <p:spPr>
          <a:xfrm>
            <a:off x="457200" y="9144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pt-BR" sz="2400" b="1" dirty="0">
                <a:latin typeface="+mn-lt"/>
              </a:rPr>
              <a:t>COBIT 5</a:t>
            </a:r>
            <a:r>
              <a:rPr lang="en-US" altLang="pt-BR" sz="2400" dirty="0" smtClean="0">
                <a:latin typeface="+mn-lt"/>
              </a:rPr>
              <a:t>: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altLang="pt-BR" sz="2400" dirty="0">
              <a:latin typeface="+mn-lt"/>
            </a:endParaRP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Contém o sumário executivo e a descrição completa de todos os componentes da estrutura do COBIT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5: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cinco princípios do COBIT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5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sete habilitadores do COBIT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5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Uma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introdução às orientações de implementação oferecidas pela ISACA (Implementação do COBIT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5)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Uma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introdução ao Programa de Avaliação do COBIT (não específico do COBIT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5)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abordagem de capacidade de processos adotada pela ISACA para o COBIT 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endParaRPr lang="en-US" alt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Conteúdo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355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529670" y="1136544"/>
            <a:ext cx="8149748" cy="4883256"/>
            <a:chOff x="900113" y="1700213"/>
            <a:chExt cx="7408862" cy="3668863"/>
          </a:xfrm>
        </p:grpSpPr>
        <p:sp>
          <p:nvSpPr>
            <p:cNvPr id="21507" name="Rectangle 6"/>
            <p:cNvSpPr>
              <a:spLocks noChangeArrowheads="1"/>
            </p:cNvSpPr>
            <p:nvPr/>
          </p:nvSpPr>
          <p:spPr bwMode="auto">
            <a:xfrm>
              <a:off x="1942595" y="5160963"/>
              <a:ext cx="5318417" cy="208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200" dirty="0"/>
                <a:t>Fonte:  COBIT</a:t>
              </a:r>
              <a:r>
                <a:rPr lang="pt-BR" altLang="pt-BR" sz="1200" baseline="30000" dirty="0"/>
                <a:t>®</a:t>
              </a:r>
              <a:r>
                <a:rPr lang="pt-BR" altLang="pt-BR" sz="1200" dirty="0"/>
                <a:t> 5, figura 11. © 2012 ISACA</a:t>
              </a:r>
              <a:r>
                <a:rPr lang="pt-BR" altLang="pt-BR" sz="1200" baseline="30000" dirty="0"/>
                <a:t>®</a:t>
              </a:r>
              <a:r>
                <a:rPr lang="pt-BR" altLang="pt-BR" sz="1200" dirty="0"/>
                <a:t>  Todos os direitos reservados.</a:t>
              </a:r>
            </a:p>
          </p:txBody>
        </p:sp>
        <p:grpSp>
          <p:nvGrpSpPr>
            <p:cNvPr id="21508" name="Group 182"/>
            <p:cNvGrpSpPr>
              <a:grpSpLocks/>
            </p:cNvGrpSpPr>
            <p:nvPr/>
          </p:nvGrpSpPr>
          <p:grpSpPr bwMode="auto">
            <a:xfrm>
              <a:off x="900113" y="1700213"/>
              <a:ext cx="7408862" cy="3382962"/>
              <a:chOff x="914400" y="1676400"/>
              <a:chExt cx="7409184" cy="3382900"/>
            </a:xfrm>
          </p:grpSpPr>
          <p:grpSp>
            <p:nvGrpSpPr>
              <p:cNvPr id="21509" name="Group 23"/>
              <p:cNvGrpSpPr>
                <a:grpSpLocks/>
              </p:cNvGrpSpPr>
              <p:nvPr/>
            </p:nvGrpSpPr>
            <p:grpSpPr bwMode="auto">
              <a:xfrm>
                <a:off x="914400" y="1676400"/>
                <a:ext cx="7409184" cy="3382900"/>
                <a:chOff x="942335" y="1969262"/>
                <a:chExt cx="7409184" cy="3382900"/>
              </a:xfrm>
            </p:grpSpPr>
            <p:sp>
              <p:nvSpPr>
                <p:cNvPr id="21512" name="Freeform 106"/>
                <p:cNvSpPr>
                  <a:spLocks/>
                </p:cNvSpPr>
                <p:nvPr/>
              </p:nvSpPr>
              <p:spPr bwMode="auto">
                <a:xfrm>
                  <a:off x="942335" y="3600451"/>
                  <a:ext cx="7332090" cy="1266317"/>
                </a:xfrm>
                <a:custGeom>
                  <a:avLst/>
                  <a:gdLst>
                    <a:gd name="T0" fmla="*/ 2147483647 w 4441"/>
                    <a:gd name="T1" fmla="*/ 2147483647 h 767"/>
                    <a:gd name="T2" fmla="*/ 2147483647 w 4441"/>
                    <a:gd name="T3" fmla="*/ 2147483647 h 767"/>
                    <a:gd name="T4" fmla="*/ 2147483647 w 4441"/>
                    <a:gd name="T5" fmla="*/ 2147483647 h 767"/>
                    <a:gd name="T6" fmla="*/ 2147483647 w 4441"/>
                    <a:gd name="T7" fmla="*/ 2147483647 h 767"/>
                    <a:gd name="T8" fmla="*/ 2147483647 w 4441"/>
                    <a:gd name="T9" fmla="*/ 2147483647 h 767"/>
                    <a:gd name="T10" fmla="*/ 2147483647 w 4441"/>
                    <a:gd name="T11" fmla="*/ 2147483647 h 767"/>
                    <a:gd name="T12" fmla="*/ 2147483647 w 4441"/>
                    <a:gd name="T13" fmla="*/ 2147483647 h 767"/>
                    <a:gd name="T14" fmla="*/ 2147483647 w 4441"/>
                    <a:gd name="T15" fmla="*/ 2147483647 h 767"/>
                    <a:gd name="T16" fmla="*/ 2147483647 w 4441"/>
                    <a:gd name="T17" fmla="*/ 2147483647 h 767"/>
                    <a:gd name="T18" fmla="*/ 2147483647 w 4441"/>
                    <a:gd name="T19" fmla="*/ 2147483647 h 767"/>
                    <a:gd name="T20" fmla="*/ 2147483647 w 4441"/>
                    <a:gd name="T21" fmla="*/ 2147483647 h 767"/>
                    <a:gd name="T22" fmla="*/ 2147483647 w 4441"/>
                    <a:gd name="T23" fmla="*/ 2147483647 h 767"/>
                    <a:gd name="T24" fmla="*/ 2147483647 w 4441"/>
                    <a:gd name="T25" fmla="*/ 2147483647 h 767"/>
                    <a:gd name="T26" fmla="*/ 2147483647 w 4441"/>
                    <a:gd name="T27" fmla="*/ 2147483647 h 767"/>
                    <a:gd name="T28" fmla="*/ 2147483647 w 4441"/>
                    <a:gd name="T29" fmla="*/ 2147483647 h 767"/>
                    <a:gd name="T30" fmla="*/ 2147483647 w 4441"/>
                    <a:gd name="T31" fmla="*/ 2147483647 h 767"/>
                    <a:gd name="T32" fmla="*/ 2147483647 w 4441"/>
                    <a:gd name="T33" fmla="*/ 2147483647 h 767"/>
                    <a:gd name="T34" fmla="*/ 2147483647 w 4441"/>
                    <a:gd name="T35" fmla="*/ 0 h 767"/>
                    <a:gd name="T36" fmla="*/ 2147483647 w 4441"/>
                    <a:gd name="T37" fmla="*/ 0 h 767"/>
                    <a:gd name="T38" fmla="*/ 2147483647 w 4441"/>
                    <a:gd name="T39" fmla="*/ 2147483647 h 767"/>
                    <a:gd name="T40" fmla="*/ 2147483647 w 4441"/>
                    <a:gd name="T41" fmla="*/ 2147483647 h 767"/>
                    <a:gd name="T42" fmla="*/ 2147483647 w 4441"/>
                    <a:gd name="T43" fmla="*/ 2147483647 h 767"/>
                    <a:gd name="T44" fmla="*/ 2147483647 w 4441"/>
                    <a:gd name="T45" fmla="*/ 2147483647 h 767"/>
                    <a:gd name="T46" fmla="*/ 2147483647 w 4441"/>
                    <a:gd name="T47" fmla="*/ 2147483647 h 767"/>
                    <a:gd name="T48" fmla="*/ 2147483647 w 4441"/>
                    <a:gd name="T49" fmla="*/ 2147483647 h 767"/>
                    <a:gd name="T50" fmla="*/ 0 w 4441"/>
                    <a:gd name="T51" fmla="*/ 2147483647 h 767"/>
                    <a:gd name="T52" fmla="*/ 0 w 4441"/>
                    <a:gd name="T53" fmla="*/ 2147483647 h 767"/>
                    <a:gd name="T54" fmla="*/ 0 w 4441"/>
                    <a:gd name="T55" fmla="*/ 2147483647 h 767"/>
                    <a:gd name="T56" fmla="*/ 2147483647 w 4441"/>
                    <a:gd name="T57" fmla="*/ 2147483647 h 767"/>
                    <a:gd name="T58" fmla="*/ 2147483647 w 4441"/>
                    <a:gd name="T59" fmla="*/ 2147483647 h 767"/>
                    <a:gd name="T60" fmla="*/ 2147483647 w 4441"/>
                    <a:gd name="T61" fmla="*/ 2147483647 h 767"/>
                    <a:gd name="T62" fmla="*/ 2147483647 w 4441"/>
                    <a:gd name="T63" fmla="*/ 2147483647 h 767"/>
                    <a:gd name="T64" fmla="*/ 2147483647 w 4441"/>
                    <a:gd name="T65" fmla="*/ 2147483647 h 767"/>
                    <a:gd name="T66" fmla="*/ 2147483647 w 4441"/>
                    <a:gd name="T67" fmla="*/ 2147483647 h 767"/>
                    <a:gd name="T68" fmla="*/ 2147483647 w 4441"/>
                    <a:gd name="T69" fmla="*/ 2147483647 h 767"/>
                    <a:gd name="T70" fmla="*/ 2147483647 w 4441"/>
                    <a:gd name="T71" fmla="*/ 2147483647 h 76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41"/>
                    <a:gd name="T109" fmla="*/ 0 h 767"/>
                    <a:gd name="T110" fmla="*/ 4441 w 4441"/>
                    <a:gd name="T111" fmla="*/ 767 h 76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41" h="767">
                      <a:moveTo>
                        <a:pt x="177" y="767"/>
                      </a:moveTo>
                      <a:lnTo>
                        <a:pt x="4266" y="767"/>
                      </a:lnTo>
                      <a:lnTo>
                        <a:pt x="4283" y="766"/>
                      </a:lnTo>
                      <a:lnTo>
                        <a:pt x="4300" y="763"/>
                      </a:lnTo>
                      <a:lnTo>
                        <a:pt x="4317" y="758"/>
                      </a:lnTo>
                      <a:lnTo>
                        <a:pt x="4334" y="753"/>
                      </a:lnTo>
                      <a:lnTo>
                        <a:pt x="4350" y="746"/>
                      </a:lnTo>
                      <a:lnTo>
                        <a:pt x="4363" y="736"/>
                      </a:lnTo>
                      <a:lnTo>
                        <a:pt x="4377" y="726"/>
                      </a:lnTo>
                      <a:lnTo>
                        <a:pt x="4390" y="715"/>
                      </a:lnTo>
                      <a:lnTo>
                        <a:pt x="4401" y="703"/>
                      </a:lnTo>
                      <a:lnTo>
                        <a:pt x="4411" y="689"/>
                      </a:lnTo>
                      <a:lnTo>
                        <a:pt x="4420" y="674"/>
                      </a:lnTo>
                      <a:lnTo>
                        <a:pt x="4427" y="659"/>
                      </a:lnTo>
                      <a:lnTo>
                        <a:pt x="4434" y="642"/>
                      </a:lnTo>
                      <a:lnTo>
                        <a:pt x="4439" y="626"/>
                      </a:lnTo>
                      <a:lnTo>
                        <a:pt x="4441" y="609"/>
                      </a:lnTo>
                      <a:lnTo>
                        <a:pt x="4441" y="590"/>
                      </a:lnTo>
                      <a:lnTo>
                        <a:pt x="4441" y="177"/>
                      </a:lnTo>
                      <a:lnTo>
                        <a:pt x="4441" y="159"/>
                      </a:lnTo>
                      <a:lnTo>
                        <a:pt x="4439" y="142"/>
                      </a:lnTo>
                      <a:lnTo>
                        <a:pt x="4434" y="124"/>
                      </a:lnTo>
                      <a:lnTo>
                        <a:pt x="4427" y="108"/>
                      </a:lnTo>
                      <a:lnTo>
                        <a:pt x="4420" y="93"/>
                      </a:lnTo>
                      <a:lnTo>
                        <a:pt x="4411" y="78"/>
                      </a:lnTo>
                      <a:lnTo>
                        <a:pt x="4401" y="65"/>
                      </a:lnTo>
                      <a:lnTo>
                        <a:pt x="4390" y="52"/>
                      </a:lnTo>
                      <a:lnTo>
                        <a:pt x="4377" y="40"/>
                      </a:lnTo>
                      <a:lnTo>
                        <a:pt x="4363" y="30"/>
                      </a:lnTo>
                      <a:lnTo>
                        <a:pt x="4350" y="21"/>
                      </a:lnTo>
                      <a:lnTo>
                        <a:pt x="4334" y="14"/>
                      </a:lnTo>
                      <a:lnTo>
                        <a:pt x="4317" y="8"/>
                      </a:lnTo>
                      <a:lnTo>
                        <a:pt x="4300" y="4"/>
                      </a:lnTo>
                      <a:lnTo>
                        <a:pt x="4283" y="0"/>
                      </a:lnTo>
                      <a:lnTo>
                        <a:pt x="4266" y="0"/>
                      </a:lnTo>
                      <a:lnTo>
                        <a:pt x="177" y="0"/>
                      </a:lnTo>
                      <a:lnTo>
                        <a:pt x="158" y="0"/>
                      </a:lnTo>
                      <a:lnTo>
                        <a:pt x="141" y="4"/>
                      </a:lnTo>
                      <a:lnTo>
                        <a:pt x="124" y="8"/>
                      </a:lnTo>
                      <a:lnTo>
                        <a:pt x="107" y="14"/>
                      </a:lnTo>
                      <a:lnTo>
                        <a:pt x="93" y="21"/>
                      </a:lnTo>
                      <a:lnTo>
                        <a:pt x="78" y="30"/>
                      </a:lnTo>
                      <a:lnTo>
                        <a:pt x="64" y="40"/>
                      </a:lnTo>
                      <a:lnTo>
                        <a:pt x="52" y="52"/>
                      </a:lnTo>
                      <a:lnTo>
                        <a:pt x="40" y="65"/>
                      </a:lnTo>
                      <a:lnTo>
                        <a:pt x="30" y="78"/>
                      </a:lnTo>
                      <a:lnTo>
                        <a:pt x="21" y="93"/>
                      </a:lnTo>
                      <a:lnTo>
                        <a:pt x="14" y="108"/>
                      </a:lnTo>
                      <a:lnTo>
                        <a:pt x="7" y="124"/>
                      </a:lnTo>
                      <a:lnTo>
                        <a:pt x="4" y="142"/>
                      </a:lnTo>
                      <a:lnTo>
                        <a:pt x="0" y="159"/>
                      </a:lnTo>
                      <a:lnTo>
                        <a:pt x="0" y="177"/>
                      </a:lnTo>
                      <a:lnTo>
                        <a:pt x="0" y="590"/>
                      </a:lnTo>
                      <a:lnTo>
                        <a:pt x="0" y="609"/>
                      </a:lnTo>
                      <a:lnTo>
                        <a:pt x="4" y="626"/>
                      </a:lnTo>
                      <a:lnTo>
                        <a:pt x="7" y="642"/>
                      </a:lnTo>
                      <a:lnTo>
                        <a:pt x="14" y="659"/>
                      </a:lnTo>
                      <a:lnTo>
                        <a:pt x="21" y="674"/>
                      </a:lnTo>
                      <a:lnTo>
                        <a:pt x="30" y="689"/>
                      </a:lnTo>
                      <a:lnTo>
                        <a:pt x="40" y="703"/>
                      </a:lnTo>
                      <a:lnTo>
                        <a:pt x="52" y="715"/>
                      </a:lnTo>
                      <a:lnTo>
                        <a:pt x="64" y="726"/>
                      </a:lnTo>
                      <a:lnTo>
                        <a:pt x="78" y="736"/>
                      </a:lnTo>
                      <a:lnTo>
                        <a:pt x="93" y="746"/>
                      </a:lnTo>
                      <a:lnTo>
                        <a:pt x="107" y="753"/>
                      </a:lnTo>
                      <a:lnTo>
                        <a:pt x="124" y="758"/>
                      </a:lnTo>
                      <a:lnTo>
                        <a:pt x="141" y="763"/>
                      </a:lnTo>
                      <a:lnTo>
                        <a:pt x="158" y="766"/>
                      </a:lnTo>
                      <a:lnTo>
                        <a:pt x="177" y="76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13" name="Freeform 107"/>
                <p:cNvSpPr>
                  <a:spLocks/>
                </p:cNvSpPr>
                <p:nvPr/>
              </p:nvSpPr>
              <p:spPr bwMode="auto">
                <a:xfrm>
                  <a:off x="969899" y="3600451"/>
                  <a:ext cx="7332090" cy="1266317"/>
                </a:xfrm>
                <a:custGeom>
                  <a:avLst/>
                  <a:gdLst>
                    <a:gd name="T0" fmla="*/ 2147483647 w 4441"/>
                    <a:gd name="T1" fmla="*/ 2147483647 h 767"/>
                    <a:gd name="T2" fmla="*/ 2147483647 w 4441"/>
                    <a:gd name="T3" fmla="*/ 2147483647 h 767"/>
                    <a:gd name="T4" fmla="*/ 2147483647 w 4441"/>
                    <a:gd name="T5" fmla="*/ 2147483647 h 767"/>
                    <a:gd name="T6" fmla="*/ 2147483647 w 4441"/>
                    <a:gd name="T7" fmla="*/ 2147483647 h 767"/>
                    <a:gd name="T8" fmla="*/ 2147483647 w 4441"/>
                    <a:gd name="T9" fmla="*/ 2147483647 h 767"/>
                    <a:gd name="T10" fmla="*/ 2147483647 w 4441"/>
                    <a:gd name="T11" fmla="*/ 2147483647 h 767"/>
                    <a:gd name="T12" fmla="*/ 2147483647 w 4441"/>
                    <a:gd name="T13" fmla="*/ 2147483647 h 767"/>
                    <a:gd name="T14" fmla="*/ 2147483647 w 4441"/>
                    <a:gd name="T15" fmla="*/ 2147483647 h 767"/>
                    <a:gd name="T16" fmla="*/ 2147483647 w 4441"/>
                    <a:gd name="T17" fmla="*/ 2147483647 h 767"/>
                    <a:gd name="T18" fmla="*/ 2147483647 w 4441"/>
                    <a:gd name="T19" fmla="*/ 2147483647 h 767"/>
                    <a:gd name="T20" fmla="*/ 2147483647 w 4441"/>
                    <a:gd name="T21" fmla="*/ 2147483647 h 767"/>
                    <a:gd name="T22" fmla="*/ 2147483647 w 4441"/>
                    <a:gd name="T23" fmla="*/ 2147483647 h 767"/>
                    <a:gd name="T24" fmla="*/ 2147483647 w 4441"/>
                    <a:gd name="T25" fmla="*/ 2147483647 h 767"/>
                    <a:gd name="T26" fmla="*/ 2147483647 w 4441"/>
                    <a:gd name="T27" fmla="*/ 2147483647 h 767"/>
                    <a:gd name="T28" fmla="*/ 2147483647 w 4441"/>
                    <a:gd name="T29" fmla="*/ 2147483647 h 767"/>
                    <a:gd name="T30" fmla="*/ 2147483647 w 4441"/>
                    <a:gd name="T31" fmla="*/ 2147483647 h 767"/>
                    <a:gd name="T32" fmla="*/ 2147483647 w 4441"/>
                    <a:gd name="T33" fmla="*/ 2147483647 h 767"/>
                    <a:gd name="T34" fmla="*/ 2147483647 w 4441"/>
                    <a:gd name="T35" fmla="*/ 0 h 767"/>
                    <a:gd name="T36" fmla="*/ 2147483647 w 4441"/>
                    <a:gd name="T37" fmla="*/ 0 h 767"/>
                    <a:gd name="T38" fmla="*/ 2147483647 w 4441"/>
                    <a:gd name="T39" fmla="*/ 2147483647 h 767"/>
                    <a:gd name="T40" fmla="*/ 2147483647 w 4441"/>
                    <a:gd name="T41" fmla="*/ 2147483647 h 767"/>
                    <a:gd name="T42" fmla="*/ 2147483647 w 4441"/>
                    <a:gd name="T43" fmla="*/ 2147483647 h 767"/>
                    <a:gd name="T44" fmla="*/ 2147483647 w 4441"/>
                    <a:gd name="T45" fmla="*/ 2147483647 h 767"/>
                    <a:gd name="T46" fmla="*/ 2147483647 w 4441"/>
                    <a:gd name="T47" fmla="*/ 2147483647 h 767"/>
                    <a:gd name="T48" fmla="*/ 2147483647 w 4441"/>
                    <a:gd name="T49" fmla="*/ 2147483647 h 767"/>
                    <a:gd name="T50" fmla="*/ 0 w 4441"/>
                    <a:gd name="T51" fmla="*/ 2147483647 h 767"/>
                    <a:gd name="T52" fmla="*/ 0 w 4441"/>
                    <a:gd name="T53" fmla="*/ 2147483647 h 767"/>
                    <a:gd name="T54" fmla="*/ 0 w 4441"/>
                    <a:gd name="T55" fmla="*/ 2147483647 h 767"/>
                    <a:gd name="T56" fmla="*/ 2147483647 w 4441"/>
                    <a:gd name="T57" fmla="*/ 2147483647 h 767"/>
                    <a:gd name="T58" fmla="*/ 2147483647 w 4441"/>
                    <a:gd name="T59" fmla="*/ 2147483647 h 767"/>
                    <a:gd name="T60" fmla="*/ 2147483647 w 4441"/>
                    <a:gd name="T61" fmla="*/ 2147483647 h 767"/>
                    <a:gd name="T62" fmla="*/ 2147483647 w 4441"/>
                    <a:gd name="T63" fmla="*/ 2147483647 h 767"/>
                    <a:gd name="T64" fmla="*/ 2147483647 w 4441"/>
                    <a:gd name="T65" fmla="*/ 2147483647 h 767"/>
                    <a:gd name="T66" fmla="*/ 2147483647 w 4441"/>
                    <a:gd name="T67" fmla="*/ 2147483647 h 767"/>
                    <a:gd name="T68" fmla="*/ 2147483647 w 4441"/>
                    <a:gd name="T69" fmla="*/ 2147483647 h 767"/>
                    <a:gd name="T70" fmla="*/ 2147483647 w 4441"/>
                    <a:gd name="T71" fmla="*/ 2147483647 h 76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41"/>
                    <a:gd name="T109" fmla="*/ 0 h 767"/>
                    <a:gd name="T110" fmla="*/ 4441 w 4441"/>
                    <a:gd name="T111" fmla="*/ 767 h 76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41" h="767">
                      <a:moveTo>
                        <a:pt x="177" y="767"/>
                      </a:moveTo>
                      <a:lnTo>
                        <a:pt x="4266" y="767"/>
                      </a:lnTo>
                      <a:lnTo>
                        <a:pt x="4283" y="766"/>
                      </a:lnTo>
                      <a:lnTo>
                        <a:pt x="4300" y="763"/>
                      </a:lnTo>
                      <a:lnTo>
                        <a:pt x="4317" y="758"/>
                      </a:lnTo>
                      <a:lnTo>
                        <a:pt x="4334" y="753"/>
                      </a:lnTo>
                      <a:lnTo>
                        <a:pt x="4350" y="746"/>
                      </a:lnTo>
                      <a:lnTo>
                        <a:pt x="4363" y="736"/>
                      </a:lnTo>
                      <a:lnTo>
                        <a:pt x="4377" y="726"/>
                      </a:lnTo>
                      <a:lnTo>
                        <a:pt x="4390" y="715"/>
                      </a:lnTo>
                      <a:lnTo>
                        <a:pt x="4401" y="703"/>
                      </a:lnTo>
                      <a:lnTo>
                        <a:pt x="4411" y="689"/>
                      </a:lnTo>
                      <a:lnTo>
                        <a:pt x="4420" y="674"/>
                      </a:lnTo>
                      <a:lnTo>
                        <a:pt x="4427" y="659"/>
                      </a:lnTo>
                      <a:lnTo>
                        <a:pt x="4434" y="642"/>
                      </a:lnTo>
                      <a:lnTo>
                        <a:pt x="4439" y="626"/>
                      </a:lnTo>
                      <a:lnTo>
                        <a:pt x="4441" y="609"/>
                      </a:lnTo>
                      <a:lnTo>
                        <a:pt x="4441" y="590"/>
                      </a:lnTo>
                      <a:lnTo>
                        <a:pt x="4441" y="177"/>
                      </a:lnTo>
                      <a:lnTo>
                        <a:pt x="4441" y="159"/>
                      </a:lnTo>
                      <a:lnTo>
                        <a:pt x="4439" y="142"/>
                      </a:lnTo>
                      <a:lnTo>
                        <a:pt x="4434" y="124"/>
                      </a:lnTo>
                      <a:lnTo>
                        <a:pt x="4427" y="108"/>
                      </a:lnTo>
                      <a:lnTo>
                        <a:pt x="4420" y="93"/>
                      </a:lnTo>
                      <a:lnTo>
                        <a:pt x="4411" y="78"/>
                      </a:lnTo>
                      <a:lnTo>
                        <a:pt x="4401" y="65"/>
                      </a:lnTo>
                      <a:lnTo>
                        <a:pt x="4390" y="52"/>
                      </a:lnTo>
                      <a:lnTo>
                        <a:pt x="4377" y="40"/>
                      </a:lnTo>
                      <a:lnTo>
                        <a:pt x="4363" y="30"/>
                      </a:lnTo>
                      <a:lnTo>
                        <a:pt x="4350" y="21"/>
                      </a:lnTo>
                      <a:lnTo>
                        <a:pt x="4334" y="14"/>
                      </a:lnTo>
                      <a:lnTo>
                        <a:pt x="4317" y="8"/>
                      </a:lnTo>
                      <a:lnTo>
                        <a:pt x="4300" y="4"/>
                      </a:lnTo>
                      <a:lnTo>
                        <a:pt x="4283" y="0"/>
                      </a:lnTo>
                      <a:lnTo>
                        <a:pt x="4266" y="0"/>
                      </a:lnTo>
                      <a:lnTo>
                        <a:pt x="177" y="0"/>
                      </a:lnTo>
                      <a:lnTo>
                        <a:pt x="158" y="0"/>
                      </a:lnTo>
                      <a:lnTo>
                        <a:pt x="141" y="4"/>
                      </a:lnTo>
                      <a:lnTo>
                        <a:pt x="124" y="8"/>
                      </a:lnTo>
                      <a:lnTo>
                        <a:pt x="107" y="14"/>
                      </a:lnTo>
                      <a:lnTo>
                        <a:pt x="93" y="21"/>
                      </a:lnTo>
                      <a:lnTo>
                        <a:pt x="78" y="30"/>
                      </a:lnTo>
                      <a:lnTo>
                        <a:pt x="64" y="40"/>
                      </a:lnTo>
                      <a:lnTo>
                        <a:pt x="52" y="52"/>
                      </a:lnTo>
                      <a:lnTo>
                        <a:pt x="40" y="65"/>
                      </a:lnTo>
                      <a:lnTo>
                        <a:pt x="30" y="78"/>
                      </a:lnTo>
                      <a:lnTo>
                        <a:pt x="21" y="93"/>
                      </a:lnTo>
                      <a:lnTo>
                        <a:pt x="14" y="108"/>
                      </a:lnTo>
                      <a:lnTo>
                        <a:pt x="7" y="124"/>
                      </a:lnTo>
                      <a:lnTo>
                        <a:pt x="4" y="142"/>
                      </a:lnTo>
                      <a:lnTo>
                        <a:pt x="0" y="159"/>
                      </a:lnTo>
                      <a:lnTo>
                        <a:pt x="0" y="177"/>
                      </a:lnTo>
                      <a:lnTo>
                        <a:pt x="0" y="590"/>
                      </a:lnTo>
                      <a:lnTo>
                        <a:pt x="0" y="609"/>
                      </a:lnTo>
                      <a:lnTo>
                        <a:pt x="4" y="626"/>
                      </a:lnTo>
                      <a:lnTo>
                        <a:pt x="7" y="642"/>
                      </a:lnTo>
                      <a:lnTo>
                        <a:pt x="14" y="659"/>
                      </a:lnTo>
                      <a:lnTo>
                        <a:pt x="21" y="674"/>
                      </a:lnTo>
                      <a:lnTo>
                        <a:pt x="30" y="689"/>
                      </a:lnTo>
                      <a:lnTo>
                        <a:pt x="40" y="703"/>
                      </a:lnTo>
                      <a:lnTo>
                        <a:pt x="52" y="715"/>
                      </a:lnTo>
                      <a:lnTo>
                        <a:pt x="64" y="726"/>
                      </a:lnTo>
                      <a:lnTo>
                        <a:pt x="78" y="736"/>
                      </a:lnTo>
                      <a:lnTo>
                        <a:pt x="93" y="746"/>
                      </a:lnTo>
                      <a:lnTo>
                        <a:pt x="107" y="753"/>
                      </a:lnTo>
                      <a:lnTo>
                        <a:pt x="124" y="758"/>
                      </a:lnTo>
                      <a:lnTo>
                        <a:pt x="141" y="763"/>
                      </a:lnTo>
                      <a:lnTo>
                        <a:pt x="158" y="766"/>
                      </a:lnTo>
                      <a:lnTo>
                        <a:pt x="177" y="767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14" name="Rectangle 112"/>
                <p:cNvSpPr>
                  <a:spLocks noChangeArrowheads="1"/>
                </p:cNvSpPr>
                <p:nvPr/>
              </p:nvSpPr>
              <p:spPr bwMode="auto">
                <a:xfrm>
                  <a:off x="2726563" y="3687954"/>
                  <a:ext cx="39349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 </a:t>
                  </a:r>
                  <a:endParaRPr lang="pt-BR" altLang="pt-BR" sz="1200"/>
                </a:p>
              </p:txBody>
            </p:sp>
            <p:sp>
              <p:nvSpPr>
                <p:cNvPr id="21515" name="Freeform 114"/>
                <p:cNvSpPr>
                  <a:spLocks/>
                </p:cNvSpPr>
                <p:nvPr/>
              </p:nvSpPr>
              <p:spPr bwMode="auto">
                <a:xfrm>
                  <a:off x="1080454" y="4123460"/>
                  <a:ext cx="1905083" cy="536565"/>
                </a:xfrm>
                <a:custGeom>
                  <a:avLst/>
                  <a:gdLst>
                    <a:gd name="T0" fmla="*/ 2147483647 w 1154"/>
                    <a:gd name="T1" fmla="*/ 2147483647 h 325"/>
                    <a:gd name="T2" fmla="*/ 2147483647 w 1154"/>
                    <a:gd name="T3" fmla="*/ 2147483647 h 325"/>
                    <a:gd name="T4" fmla="*/ 2147483647 w 1154"/>
                    <a:gd name="T5" fmla="*/ 2147483647 h 325"/>
                    <a:gd name="T6" fmla="*/ 2147483647 w 1154"/>
                    <a:gd name="T7" fmla="*/ 2147483647 h 325"/>
                    <a:gd name="T8" fmla="*/ 2147483647 w 1154"/>
                    <a:gd name="T9" fmla="*/ 2147483647 h 325"/>
                    <a:gd name="T10" fmla="*/ 2147483647 w 1154"/>
                    <a:gd name="T11" fmla="*/ 2147483647 h 325"/>
                    <a:gd name="T12" fmla="*/ 2147483647 w 1154"/>
                    <a:gd name="T13" fmla="*/ 2147483647 h 325"/>
                    <a:gd name="T14" fmla="*/ 2147483647 w 1154"/>
                    <a:gd name="T15" fmla="*/ 2147483647 h 325"/>
                    <a:gd name="T16" fmla="*/ 2147483647 w 1154"/>
                    <a:gd name="T17" fmla="*/ 2147483647 h 325"/>
                    <a:gd name="T18" fmla="*/ 2147483647 w 1154"/>
                    <a:gd name="T19" fmla="*/ 2147483647 h 325"/>
                    <a:gd name="T20" fmla="*/ 2147483647 w 1154"/>
                    <a:gd name="T21" fmla="*/ 2147483647 h 325"/>
                    <a:gd name="T22" fmla="*/ 2147483647 w 1154"/>
                    <a:gd name="T23" fmla="*/ 2147483647 h 325"/>
                    <a:gd name="T24" fmla="*/ 2147483647 w 1154"/>
                    <a:gd name="T25" fmla="*/ 2147483647 h 325"/>
                    <a:gd name="T26" fmla="*/ 2147483647 w 1154"/>
                    <a:gd name="T27" fmla="*/ 2147483647 h 325"/>
                    <a:gd name="T28" fmla="*/ 2147483647 w 1154"/>
                    <a:gd name="T29" fmla="*/ 2147483647 h 325"/>
                    <a:gd name="T30" fmla="*/ 2147483647 w 1154"/>
                    <a:gd name="T31" fmla="*/ 2147483647 h 325"/>
                    <a:gd name="T32" fmla="*/ 2147483647 w 1154"/>
                    <a:gd name="T33" fmla="*/ 2147483647 h 325"/>
                    <a:gd name="T34" fmla="*/ 2147483647 w 1154"/>
                    <a:gd name="T35" fmla="*/ 2147483647 h 325"/>
                    <a:gd name="T36" fmla="*/ 2147483647 w 1154"/>
                    <a:gd name="T37" fmla="*/ 2147483647 h 325"/>
                    <a:gd name="T38" fmla="*/ 2147483647 w 1154"/>
                    <a:gd name="T39" fmla="*/ 2147483647 h 325"/>
                    <a:gd name="T40" fmla="*/ 2147483647 w 1154"/>
                    <a:gd name="T41" fmla="*/ 2147483647 h 325"/>
                    <a:gd name="T42" fmla="*/ 2147483647 w 1154"/>
                    <a:gd name="T43" fmla="*/ 2147483647 h 325"/>
                    <a:gd name="T44" fmla="*/ 2147483647 w 1154"/>
                    <a:gd name="T45" fmla="*/ 2147483647 h 325"/>
                    <a:gd name="T46" fmla="*/ 2147483647 w 1154"/>
                    <a:gd name="T47" fmla="*/ 2147483647 h 325"/>
                    <a:gd name="T48" fmla="*/ 2147483647 w 1154"/>
                    <a:gd name="T49" fmla="*/ 2147483647 h 325"/>
                    <a:gd name="T50" fmla="*/ 2147483647 w 1154"/>
                    <a:gd name="T51" fmla="*/ 2147483647 h 325"/>
                    <a:gd name="T52" fmla="*/ 2147483647 w 1154"/>
                    <a:gd name="T53" fmla="*/ 2147483647 h 325"/>
                    <a:gd name="T54" fmla="*/ 2147483647 w 1154"/>
                    <a:gd name="T55" fmla="*/ 2147483647 h 325"/>
                    <a:gd name="T56" fmla="*/ 2147483647 w 1154"/>
                    <a:gd name="T57" fmla="*/ 2147483647 h 325"/>
                    <a:gd name="T58" fmla="*/ 2147483647 w 1154"/>
                    <a:gd name="T59" fmla="*/ 0 h 325"/>
                    <a:gd name="T60" fmla="*/ 2147483647 w 1154"/>
                    <a:gd name="T61" fmla="*/ 0 h 325"/>
                    <a:gd name="T62" fmla="*/ 2147483647 w 1154"/>
                    <a:gd name="T63" fmla="*/ 0 h 325"/>
                    <a:gd name="T64" fmla="*/ 2147483647 w 1154"/>
                    <a:gd name="T65" fmla="*/ 0 h 325"/>
                    <a:gd name="T66" fmla="*/ 2147483647 w 1154"/>
                    <a:gd name="T67" fmla="*/ 2147483647 h 325"/>
                    <a:gd name="T68" fmla="*/ 2147483647 w 1154"/>
                    <a:gd name="T69" fmla="*/ 2147483647 h 325"/>
                    <a:gd name="T70" fmla="*/ 2147483647 w 1154"/>
                    <a:gd name="T71" fmla="*/ 2147483647 h 325"/>
                    <a:gd name="T72" fmla="*/ 2147483647 w 1154"/>
                    <a:gd name="T73" fmla="*/ 2147483647 h 325"/>
                    <a:gd name="T74" fmla="*/ 2147483647 w 1154"/>
                    <a:gd name="T75" fmla="*/ 2147483647 h 325"/>
                    <a:gd name="T76" fmla="*/ 2147483647 w 1154"/>
                    <a:gd name="T77" fmla="*/ 2147483647 h 325"/>
                    <a:gd name="T78" fmla="*/ 2147483647 w 1154"/>
                    <a:gd name="T79" fmla="*/ 2147483647 h 325"/>
                    <a:gd name="T80" fmla="*/ 2147483647 w 1154"/>
                    <a:gd name="T81" fmla="*/ 2147483647 h 325"/>
                    <a:gd name="T82" fmla="*/ 2147483647 w 1154"/>
                    <a:gd name="T83" fmla="*/ 2147483647 h 325"/>
                    <a:gd name="T84" fmla="*/ 2147483647 w 1154"/>
                    <a:gd name="T85" fmla="*/ 2147483647 h 325"/>
                    <a:gd name="T86" fmla="*/ 2147483647 w 1154"/>
                    <a:gd name="T87" fmla="*/ 2147483647 h 325"/>
                    <a:gd name="T88" fmla="*/ 2147483647 w 1154"/>
                    <a:gd name="T89" fmla="*/ 2147483647 h 325"/>
                    <a:gd name="T90" fmla="*/ 0 w 1154"/>
                    <a:gd name="T91" fmla="*/ 2147483647 h 325"/>
                    <a:gd name="T92" fmla="*/ 2147483647 w 1154"/>
                    <a:gd name="T93" fmla="*/ 2147483647 h 325"/>
                    <a:gd name="T94" fmla="*/ 2147483647 w 1154"/>
                    <a:gd name="T95" fmla="*/ 2147483647 h 325"/>
                    <a:gd name="T96" fmla="*/ 2147483647 w 1154"/>
                    <a:gd name="T97" fmla="*/ 2147483647 h 325"/>
                    <a:gd name="T98" fmla="*/ 2147483647 w 1154"/>
                    <a:gd name="T99" fmla="*/ 2147483647 h 325"/>
                    <a:gd name="T100" fmla="*/ 2147483647 w 1154"/>
                    <a:gd name="T101" fmla="*/ 2147483647 h 325"/>
                    <a:gd name="T102" fmla="*/ 2147483647 w 1154"/>
                    <a:gd name="T103" fmla="*/ 2147483647 h 325"/>
                    <a:gd name="T104" fmla="*/ 2147483647 w 1154"/>
                    <a:gd name="T105" fmla="*/ 2147483647 h 325"/>
                    <a:gd name="T106" fmla="*/ 2147483647 w 1154"/>
                    <a:gd name="T107" fmla="*/ 2147483647 h 325"/>
                    <a:gd name="T108" fmla="*/ 2147483647 w 1154"/>
                    <a:gd name="T109" fmla="*/ 2147483647 h 325"/>
                    <a:gd name="T110" fmla="*/ 2147483647 w 1154"/>
                    <a:gd name="T111" fmla="*/ 2147483647 h 325"/>
                    <a:gd name="T112" fmla="*/ 2147483647 w 1154"/>
                    <a:gd name="T113" fmla="*/ 2147483647 h 325"/>
                    <a:gd name="T114" fmla="*/ 2147483647 w 1154"/>
                    <a:gd name="T115" fmla="*/ 2147483647 h 325"/>
                    <a:gd name="T116" fmla="*/ 2147483647 w 1154"/>
                    <a:gd name="T117" fmla="*/ 2147483647 h 325"/>
                    <a:gd name="T118" fmla="*/ 2147483647 w 1154"/>
                    <a:gd name="T119" fmla="*/ 2147483647 h 325"/>
                    <a:gd name="T120" fmla="*/ 2147483647 w 1154"/>
                    <a:gd name="T121" fmla="*/ 2147483647 h 325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154"/>
                    <a:gd name="T184" fmla="*/ 0 h 325"/>
                    <a:gd name="T185" fmla="*/ 1154 w 1154"/>
                    <a:gd name="T186" fmla="*/ 325 h 325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154" h="325">
                      <a:moveTo>
                        <a:pt x="162" y="325"/>
                      </a:moveTo>
                      <a:lnTo>
                        <a:pt x="992" y="325"/>
                      </a:lnTo>
                      <a:lnTo>
                        <a:pt x="1008" y="324"/>
                      </a:lnTo>
                      <a:lnTo>
                        <a:pt x="1024" y="321"/>
                      </a:lnTo>
                      <a:lnTo>
                        <a:pt x="1040" y="318"/>
                      </a:lnTo>
                      <a:lnTo>
                        <a:pt x="1055" y="311"/>
                      </a:lnTo>
                      <a:lnTo>
                        <a:pt x="1068" y="305"/>
                      </a:lnTo>
                      <a:lnTo>
                        <a:pt x="1082" y="297"/>
                      </a:lnTo>
                      <a:lnTo>
                        <a:pt x="1107" y="277"/>
                      </a:lnTo>
                      <a:lnTo>
                        <a:pt x="1126" y="253"/>
                      </a:lnTo>
                      <a:lnTo>
                        <a:pt x="1134" y="240"/>
                      </a:lnTo>
                      <a:lnTo>
                        <a:pt x="1141" y="226"/>
                      </a:lnTo>
                      <a:lnTo>
                        <a:pt x="1146" y="211"/>
                      </a:lnTo>
                      <a:lnTo>
                        <a:pt x="1150" y="195"/>
                      </a:lnTo>
                      <a:lnTo>
                        <a:pt x="1152" y="179"/>
                      </a:lnTo>
                      <a:lnTo>
                        <a:pt x="1154" y="163"/>
                      </a:lnTo>
                      <a:lnTo>
                        <a:pt x="1152" y="145"/>
                      </a:lnTo>
                      <a:lnTo>
                        <a:pt x="1150" y="129"/>
                      </a:lnTo>
                      <a:lnTo>
                        <a:pt x="1146" y="114"/>
                      </a:lnTo>
                      <a:lnTo>
                        <a:pt x="1141" y="100"/>
                      </a:lnTo>
                      <a:lnTo>
                        <a:pt x="1134" y="85"/>
                      </a:lnTo>
                      <a:lnTo>
                        <a:pt x="1126" y="71"/>
                      </a:lnTo>
                      <a:lnTo>
                        <a:pt x="1107" y="48"/>
                      </a:lnTo>
                      <a:lnTo>
                        <a:pt x="1082" y="28"/>
                      </a:lnTo>
                      <a:lnTo>
                        <a:pt x="1068" y="19"/>
                      </a:lnTo>
                      <a:lnTo>
                        <a:pt x="1055" y="13"/>
                      </a:lnTo>
                      <a:lnTo>
                        <a:pt x="1040" y="8"/>
                      </a:lnTo>
                      <a:lnTo>
                        <a:pt x="1024" y="3"/>
                      </a:lnTo>
                      <a:lnTo>
                        <a:pt x="1008" y="0"/>
                      </a:lnTo>
                      <a:lnTo>
                        <a:pt x="992" y="0"/>
                      </a:lnTo>
                      <a:lnTo>
                        <a:pt x="162" y="0"/>
                      </a:lnTo>
                      <a:lnTo>
                        <a:pt x="145" y="0"/>
                      </a:lnTo>
                      <a:lnTo>
                        <a:pt x="129" y="3"/>
                      </a:lnTo>
                      <a:lnTo>
                        <a:pt x="113" y="8"/>
                      </a:lnTo>
                      <a:lnTo>
                        <a:pt x="99" y="13"/>
                      </a:lnTo>
                      <a:lnTo>
                        <a:pt x="85" y="19"/>
                      </a:lnTo>
                      <a:lnTo>
                        <a:pt x="71" y="28"/>
                      </a:lnTo>
                      <a:lnTo>
                        <a:pt x="47" y="48"/>
                      </a:lnTo>
                      <a:lnTo>
                        <a:pt x="27" y="71"/>
                      </a:lnTo>
                      <a:lnTo>
                        <a:pt x="19" y="85"/>
                      </a:lnTo>
                      <a:lnTo>
                        <a:pt x="12" y="100"/>
                      </a:lnTo>
                      <a:lnTo>
                        <a:pt x="7" y="114"/>
                      </a:lnTo>
                      <a:lnTo>
                        <a:pt x="3" y="129"/>
                      </a:lnTo>
                      <a:lnTo>
                        <a:pt x="1" y="145"/>
                      </a:lnTo>
                      <a:lnTo>
                        <a:pt x="0" y="163"/>
                      </a:lnTo>
                      <a:lnTo>
                        <a:pt x="1" y="179"/>
                      </a:lnTo>
                      <a:lnTo>
                        <a:pt x="3" y="195"/>
                      </a:lnTo>
                      <a:lnTo>
                        <a:pt x="7" y="211"/>
                      </a:lnTo>
                      <a:lnTo>
                        <a:pt x="12" y="226"/>
                      </a:lnTo>
                      <a:lnTo>
                        <a:pt x="19" y="240"/>
                      </a:lnTo>
                      <a:lnTo>
                        <a:pt x="27" y="253"/>
                      </a:lnTo>
                      <a:lnTo>
                        <a:pt x="47" y="277"/>
                      </a:lnTo>
                      <a:lnTo>
                        <a:pt x="71" y="297"/>
                      </a:lnTo>
                      <a:lnTo>
                        <a:pt x="85" y="305"/>
                      </a:lnTo>
                      <a:lnTo>
                        <a:pt x="99" y="311"/>
                      </a:lnTo>
                      <a:lnTo>
                        <a:pt x="113" y="318"/>
                      </a:lnTo>
                      <a:lnTo>
                        <a:pt x="129" y="321"/>
                      </a:lnTo>
                      <a:lnTo>
                        <a:pt x="145" y="324"/>
                      </a:lnTo>
                      <a:lnTo>
                        <a:pt x="162" y="325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19" name="Rectangle 118"/>
                <p:cNvSpPr>
                  <a:spLocks noChangeArrowheads="1"/>
                </p:cNvSpPr>
                <p:nvPr/>
              </p:nvSpPr>
              <p:spPr bwMode="auto">
                <a:xfrm>
                  <a:off x="1524384" y="4354335"/>
                  <a:ext cx="1017222" cy="277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dirty="0" smtClean="0">
                      <a:solidFill>
                        <a:srgbClr val="FFFFFF"/>
                      </a:solidFill>
                    </a:rPr>
                    <a:t>Guia para</a:t>
                  </a:r>
                </a:p>
                <a:p>
                  <a:pPr algn="ctr" eaLnBrk="1" hangingPunct="1"/>
                  <a:r>
                    <a:rPr lang="pt-BR" altLang="pt-BR" sz="1200" dirty="0" smtClean="0">
                      <a:solidFill>
                        <a:srgbClr val="FFFFFF"/>
                      </a:solidFill>
                    </a:rPr>
                    <a:t>Implementação</a:t>
                  </a:r>
                  <a:endParaRPr lang="pt-BR" altLang="pt-BR" sz="1200" dirty="0">
                    <a:solidFill>
                      <a:srgbClr val="A5C249"/>
                    </a:solidFill>
                  </a:endParaRPr>
                </a:p>
              </p:txBody>
            </p:sp>
            <p:sp>
              <p:nvSpPr>
                <p:cNvPr id="21520" name="Freeform 120"/>
                <p:cNvSpPr>
                  <a:spLocks/>
                </p:cNvSpPr>
                <p:nvPr/>
              </p:nvSpPr>
              <p:spPr bwMode="auto">
                <a:xfrm>
                  <a:off x="6852411" y="4110610"/>
                  <a:ext cx="1345565" cy="564642"/>
                </a:xfrm>
                <a:custGeom>
                  <a:avLst/>
                  <a:gdLst>
                    <a:gd name="T0" fmla="*/ 2147483647 w 815"/>
                    <a:gd name="T1" fmla="*/ 2147483647 h 342"/>
                    <a:gd name="T2" fmla="*/ 2147483647 w 815"/>
                    <a:gd name="T3" fmla="*/ 2147483647 h 342"/>
                    <a:gd name="T4" fmla="*/ 2147483647 w 815"/>
                    <a:gd name="T5" fmla="*/ 2147483647 h 342"/>
                    <a:gd name="T6" fmla="*/ 2147483647 w 815"/>
                    <a:gd name="T7" fmla="*/ 2147483647 h 342"/>
                    <a:gd name="T8" fmla="*/ 2147483647 w 815"/>
                    <a:gd name="T9" fmla="*/ 2147483647 h 342"/>
                    <a:gd name="T10" fmla="*/ 2147483647 w 815"/>
                    <a:gd name="T11" fmla="*/ 2147483647 h 342"/>
                    <a:gd name="T12" fmla="*/ 2147483647 w 815"/>
                    <a:gd name="T13" fmla="*/ 2147483647 h 342"/>
                    <a:gd name="T14" fmla="*/ 2147483647 w 815"/>
                    <a:gd name="T15" fmla="*/ 2147483647 h 342"/>
                    <a:gd name="T16" fmla="*/ 2147483647 w 815"/>
                    <a:gd name="T17" fmla="*/ 2147483647 h 342"/>
                    <a:gd name="T18" fmla="*/ 2147483647 w 815"/>
                    <a:gd name="T19" fmla="*/ 2147483647 h 342"/>
                    <a:gd name="T20" fmla="*/ 2147483647 w 815"/>
                    <a:gd name="T21" fmla="*/ 2147483647 h 342"/>
                    <a:gd name="T22" fmla="*/ 2147483647 w 815"/>
                    <a:gd name="T23" fmla="*/ 2147483647 h 342"/>
                    <a:gd name="T24" fmla="*/ 2147483647 w 815"/>
                    <a:gd name="T25" fmla="*/ 2147483647 h 342"/>
                    <a:gd name="T26" fmla="*/ 2147483647 w 815"/>
                    <a:gd name="T27" fmla="*/ 2147483647 h 342"/>
                    <a:gd name="T28" fmla="*/ 2147483647 w 815"/>
                    <a:gd name="T29" fmla="*/ 2147483647 h 342"/>
                    <a:gd name="T30" fmla="*/ 2147483647 w 815"/>
                    <a:gd name="T31" fmla="*/ 2147483647 h 342"/>
                    <a:gd name="T32" fmla="*/ 2147483647 w 815"/>
                    <a:gd name="T33" fmla="*/ 0 h 342"/>
                    <a:gd name="T34" fmla="*/ 2147483647 w 815"/>
                    <a:gd name="T35" fmla="*/ 0 h 342"/>
                    <a:gd name="T36" fmla="*/ 2147483647 w 815"/>
                    <a:gd name="T37" fmla="*/ 2147483647 h 342"/>
                    <a:gd name="T38" fmla="*/ 2147483647 w 815"/>
                    <a:gd name="T39" fmla="*/ 2147483647 h 342"/>
                    <a:gd name="T40" fmla="*/ 2147483647 w 815"/>
                    <a:gd name="T41" fmla="*/ 2147483647 h 342"/>
                    <a:gd name="T42" fmla="*/ 2147483647 w 815"/>
                    <a:gd name="T43" fmla="*/ 2147483647 h 342"/>
                    <a:gd name="T44" fmla="*/ 2147483647 w 815"/>
                    <a:gd name="T45" fmla="*/ 2147483647 h 342"/>
                    <a:gd name="T46" fmla="*/ 2147483647 w 815"/>
                    <a:gd name="T47" fmla="*/ 2147483647 h 342"/>
                    <a:gd name="T48" fmla="*/ 2147483647 w 815"/>
                    <a:gd name="T49" fmla="*/ 2147483647 h 342"/>
                    <a:gd name="T50" fmla="*/ 0 w 815"/>
                    <a:gd name="T51" fmla="*/ 2147483647 h 342"/>
                    <a:gd name="T52" fmla="*/ 2147483647 w 815"/>
                    <a:gd name="T53" fmla="*/ 2147483647 h 342"/>
                    <a:gd name="T54" fmla="*/ 2147483647 w 815"/>
                    <a:gd name="T55" fmla="*/ 2147483647 h 342"/>
                    <a:gd name="T56" fmla="*/ 2147483647 w 815"/>
                    <a:gd name="T57" fmla="*/ 2147483647 h 342"/>
                    <a:gd name="T58" fmla="*/ 2147483647 w 815"/>
                    <a:gd name="T59" fmla="*/ 2147483647 h 342"/>
                    <a:gd name="T60" fmla="*/ 2147483647 w 815"/>
                    <a:gd name="T61" fmla="*/ 2147483647 h 342"/>
                    <a:gd name="T62" fmla="*/ 2147483647 w 815"/>
                    <a:gd name="T63" fmla="*/ 2147483647 h 342"/>
                    <a:gd name="T64" fmla="*/ 2147483647 w 815"/>
                    <a:gd name="T65" fmla="*/ 2147483647 h 342"/>
                    <a:gd name="T66" fmla="*/ 2147483647 w 815"/>
                    <a:gd name="T67" fmla="*/ 2147483647 h 342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815"/>
                    <a:gd name="T103" fmla="*/ 0 h 342"/>
                    <a:gd name="T104" fmla="*/ 815 w 815"/>
                    <a:gd name="T105" fmla="*/ 342 h 342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815" h="342">
                      <a:moveTo>
                        <a:pt x="171" y="342"/>
                      </a:moveTo>
                      <a:lnTo>
                        <a:pt x="645" y="342"/>
                      </a:lnTo>
                      <a:lnTo>
                        <a:pt x="662" y="340"/>
                      </a:lnTo>
                      <a:lnTo>
                        <a:pt x="679" y="338"/>
                      </a:lnTo>
                      <a:lnTo>
                        <a:pt x="695" y="334"/>
                      </a:lnTo>
                      <a:lnTo>
                        <a:pt x="711" y="328"/>
                      </a:lnTo>
                      <a:lnTo>
                        <a:pt x="726" y="321"/>
                      </a:lnTo>
                      <a:lnTo>
                        <a:pt x="741" y="312"/>
                      </a:lnTo>
                      <a:lnTo>
                        <a:pt x="753" y="302"/>
                      </a:lnTo>
                      <a:lnTo>
                        <a:pt x="766" y="291"/>
                      </a:lnTo>
                      <a:lnTo>
                        <a:pt x="777" y="280"/>
                      </a:lnTo>
                      <a:lnTo>
                        <a:pt x="787" y="266"/>
                      </a:lnTo>
                      <a:lnTo>
                        <a:pt x="795" y="252"/>
                      </a:lnTo>
                      <a:lnTo>
                        <a:pt x="803" y="236"/>
                      </a:lnTo>
                      <a:lnTo>
                        <a:pt x="808" y="222"/>
                      </a:lnTo>
                      <a:lnTo>
                        <a:pt x="813" y="205"/>
                      </a:lnTo>
                      <a:lnTo>
                        <a:pt x="815" y="188"/>
                      </a:lnTo>
                      <a:lnTo>
                        <a:pt x="815" y="171"/>
                      </a:lnTo>
                      <a:lnTo>
                        <a:pt x="815" y="153"/>
                      </a:lnTo>
                      <a:lnTo>
                        <a:pt x="813" y="136"/>
                      </a:lnTo>
                      <a:lnTo>
                        <a:pt x="808" y="120"/>
                      </a:lnTo>
                      <a:lnTo>
                        <a:pt x="803" y="104"/>
                      </a:lnTo>
                      <a:lnTo>
                        <a:pt x="795" y="89"/>
                      </a:lnTo>
                      <a:lnTo>
                        <a:pt x="787" y="75"/>
                      </a:lnTo>
                      <a:lnTo>
                        <a:pt x="777" y="62"/>
                      </a:lnTo>
                      <a:lnTo>
                        <a:pt x="766" y="49"/>
                      </a:lnTo>
                      <a:lnTo>
                        <a:pt x="753" y="38"/>
                      </a:lnTo>
                      <a:lnTo>
                        <a:pt x="741" y="28"/>
                      </a:lnTo>
                      <a:lnTo>
                        <a:pt x="726" y="20"/>
                      </a:lnTo>
                      <a:lnTo>
                        <a:pt x="711" y="12"/>
                      </a:lnTo>
                      <a:lnTo>
                        <a:pt x="695" y="7"/>
                      </a:lnTo>
                      <a:lnTo>
                        <a:pt x="679" y="2"/>
                      </a:lnTo>
                      <a:lnTo>
                        <a:pt x="662" y="0"/>
                      </a:lnTo>
                      <a:lnTo>
                        <a:pt x="645" y="0"/>
                      </a:lnTo>
                      <a:lnTo>
                        <a:pt x="171" y="0"/>
                      </a:lnTo>
                      <a:lnTo>
                        <a:pt x="153" y="0"/>
                      </a:lnTo>
                      <a:lnTo>
                        <a:pt x="137" y="2"/>
                      </a:lnTo>
                      <a:lnTo>
                        <a:pt x="121" y="7"/>
                      </a:lnTo>
                      <a:lnTo>
                        <a:pt x="105" y="12"/>
                      </a:lnTo>
                      <a:lnTo>
                        <a:pt x="90" y="20"/>
                      </a:lnTo>
                      <a:lnTo>
                        <a:pt x="75" y="28"/>
                      </a:lnTo>
                      <a:lnTo>
                        <a:pt x="63" y="38"/>
                      </a:lnTo>
                      <a:lnTo>
                        <a:pt x="50" y="49"/>
                      </a:lnTo>
                      <a:lnTo>
                        <a:pt x="39" y="62"/>
                      </a:lnTo>
                      <a:lnTo>
                        <a:pt x="29" y="75"/>
                      </a:lnTo>
                      <a:lnTo>
                        <a:pt x="21" y="89"/>
                      </a:lnTo>
                      <a:lnTo>
                        <a:pt x="13" y="104"/>
                      </a:lnTo>
                      <a:lnTo>
                        <a:pt x="8" y="120"/>
                      </a:lnTo>
                      <a:lnTo>
                        <a:pt x="3" y="136"/>
                      </a:lnTo>
                      <a:lnTo>
                        <a:pt x="1" y="153"/>
                      </a:lnTo>
                      <a:lnTo>
                        <a:pt x="0" y="171"/>
                      </a:lnTo>
                      <a:lnTo>
                        <a:pt x="1" y="188"/>
                      </a:lnTo>
                      <a:lnTo>
                        <a:pt x="3" y="205"/>
                      </a:lnTo>
                      <a:lnTo>
                        <a:pt x="8" y="222"/>
                      </a:lnTo>
                      <a:lnTo>
                        <a:pt x="13" y="236"/>
                      </a:lnTo>
                      <a:lnTo>
                        <a:pt x="21" y="252"/>
                      </a:lnTo>
                      <a:lnTo>
                        <a:pt x="29" y="266"/>
                      </a:lnTo>
                      <a:lnTo>
                        <a:pt x="39" y="280"/>
                      </a:lnTo>
                      <a:lnTo>
                        <a:pt x="50" y="291"/>
                      </a:lnTo>
                      <a:lnTo>
                        <a:pt x="63" y="302"/>
                      </a:lnTo>
                      <a:lnTo>
                        <a:pt x="75" y="312"/>
                      </a:lnTo>
                      <a:lnTo>
                        <a:pt x="90" y="321"/>
                      </a:lnTo>
                      <a:lnTo>
                        <a:pt x="105" y="328"/>
                      </a:lnTo>
                      <a:lnTo>
                        <a:pt x="121" y="334"/>
                      </a:lnTo>
                      <a:lnTo>
                        <a:pt x="137" y="338"/>
                      </a:lnTo>
                      <a:lnTo>
                        <a:pt x="153" y="340"/>
                      </a:lnTo>
                      <a:lnTo>
                        <a:pt x="171" y="342"/>
                      </a:lnTo>
                      <a:close/>
                    </a:path>
                  </a:pathLst>
                </a:custGeom>
                <a:solidFill>
                  <a:srgbClr val="285EA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21" name="Rectangle 123"/>
                <p:cNvSpPr>
                  <a:spLocks noChangeArrowheads="1"/>
                </p:cNvSpPr>
                <p:nvPr/>
              </p:nvSpPr>
              <p:spPr bwMode="auto">
                <a:xfrm>
                  <a:off x="7038890" y="4243863"/>
                  <a:ext cx="918124" cy="277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200" i="1" dirty="0">
                      <a:solidFill>
                        <a:srgbClr val="FFFFFF"/>
                      </a:solidFill>
                    </a:rPr>
                    <a:t>Outros Guias</a:t>
                  </a:r>
                </a:p>
                <a:p>
                  <a:pPr eaLnBrk="1" hangingPunct="1"/>
                  <a:r>
                    <a:rPr lang="pt-BR" altLang="pt-BR" sz="1200" i="1" dirty="0">
                      <a:solidFill>
                        <a:srgbClr val="FFFFFF"/>
                      </a:solidFill>
                    </a:rPr>
                    <a:t>Profissionais </a:t>
                  </a:r>
                  <a:endParaRPr lang="pt-BR" altLang="pt-BR" sz="1200" i="1" dirty="0"/>
                </a:p>
              </p:txBody>
            </p:sp>
            <p:sp>
              <p:nvSpPr>
                <p:cNvPr id="21522" name="Freeform 125"/>
                <p:cNvSpPr>
                  <a:spLocks/>
                </p:cNvSpPr>
                <p:nvPr/>
              </p:nvSpPr>
              <p:spPr bwMode="auto">
                <a:xfrm>
                  <a:off x="969899" y="4967479"/>
                  <a:ext cx="7381620" cy="384683"/>
                </a:xfrm>
                <a:custGeom>
                  <a:avLst/>
                  <a:gdLst>
                    <a:gd name="T0" fmla="*/ 2147483647 w 4471"/>
                    <a:gd name="T1" fmla="*/ 2147483647 h 233"/>
                    <a:gd name="T2" fmla="*/ 2147483647 w 4471"/>
                    <a:gd name="T3" fmla="*/ 2147483647 h 233"/>
                    <a:gd name="T4" fmla="*/ 2147483647 w 4471"/>
                    <a:gd name="T5" fmla="*/ 2147483647 h 233"/>
                    <a:gd name="T6" fmla="*/ 2147483647 w 4471"/>
                    <a:gd name="T7" fmla="*/ 2147483647 h 233"/>
                    <a:gd name="T8" fmla="*/ 2147483647 w 4471"/>
                    <a:gd name="T9" fmla="*/ 2147483647 h 233"/>
                    <a:gd name="T10" fmla="*/ 2147483647 w 4471"/>
                    <a:gd name="T11" fmla="*/ 2147483647 h 233"/>
                    <a:gd name="T12" fmla="*/ 2147483647 w 4471"/>
                    <a:gd name="T13" fmla="*/ 2147483647 h 233"/>
                    <a:gd name="T14" fmla="*/ 2147483647 w 4471"/>
                    <a:gd name="T15" fmla="*/ 2147483647 h 233"/>
                    <a:gd name="T16" fmla="*/ 2147483647 w 4471"/>
                    <a:gd name="T17" fmla="*/ 2147483647 h 233"/>
                    <a:gd name="T18" fmla="*/ 2147483647 w 4471"/>
                    <a:gd name="T19" fmla="*/ 2147483647 h 233"/>
                    <a:gd name="T20" fmla="*/ 2147483647 w 4471"/>
                    <a:gd name="T21" fmla="*/ 2147483647 h 233"/>
                    <a:gd name="T22" fmla="*/ 2147483647 w 4471"/>
                    <a:gd name="T23" fmla="*/ 2147483647 h 233"/>
                    <a:gd name="T24" fmla="*/ 2147483647 w 4471"/>
                    <a:gd name="T25" fmla="*/ 2147483647 h 233"/>
                    <a:gd name="T26" fmla="*/ 2147483647 w 4471"/>
                    <a:gd name="T27" fmla="*/ 2147483647 h 233"/>
                    <a:gd name="T28" fmla="*/ 2147483647 w 4471"/>
                    <a:gd name="T29" fmla="*/ 2147483647 h 233"/>
                    <a:gd name="T30" fmla="*/ 2147483647 w 4471"/>
                    <a:gd name="T31" fmla="*/ 2147483647 h 233"/>
                    <a:gd name="T32" fmla="*/ 2147483647 w 4471"/>
                    <a:gd name="T33" fmla="*/ 2147483647 h 233"/>
                    <a:gd name="T34" fmla="*/ 2147483647 w 4471"/>
                    <a:gd name="T35" fmla="*/ 2147483647 h 233"/>
                    <a:gd name="T36" fmla="*/ 2147483647 w 4471"/>
                    <a:gd name="T37" fmla="*/ 0 h 233"/>
                    <a:gd name="T38" fmla="*/ 2147483647 w 4471"/>
                    <a:gd name="T39" fmla="*/ 0 h 233"/>
                    <a:gd name="T40" fmla="*/ 2147483647 w 4471"/>
                    <a:gd name="T41" fmla="*/ 2147483647 h 233"/>
                    <a:gd name="T42" fmla="*/ 2147483647 w 4471"/>
                    <a:gd name="T43" fmla="*/ 2147483647 h 233"/>
                    <a:gd name="T44" fmla="*/ 2147483647 w 4471"/>
                    <a:gd name="T45" fmla="*/ 2147483647 h 233"/>
                    <a:gd name="T46" fmla="*/ 2147483647 w 4471"/>
                    <a:gd name="T47" fmla="*/ 2147483647 h 233"/>
                    <a:gd name="T48" fmla="*/ 2147483647 w 4471"/>
                    <a:gd name="T49" fmla="*/ 2147483647 h 233"/>
                    <a:gd name="T50" fmla="*/ 2147483647 w 4471"/>
                    <a:gd name="T51" fmla="*/ 2147483647 h 233"/>
                    <a:gd name="T52" fmla="*/ 2147483647 w 4471"/>
                    <a:gd name="T53" fmla="*/ 2147483647 h 233"/>
                    <a:gd name="T54" fmla="*/ 0 w 4471"/>
                    <a:gd name="T55" fmla="*/ 2147483647 h 233"/>
                    <a:gd name="T56" fmla="*/ 2147483647 w 4471"/>
                    <a:gd name="T57" fmla="*/ 2147483647 h 233"/>
                    <a:gd name="T58" fmla="*/ 2147483647 w 4471"/>
                    <a:gd name="T59" fmla="*/ 2147483647 h 233"/>
                    <a:gd name="T60" fmla="*/ 2147483647 w 4471"/>
                    <a:gd name="T61" fmla="*/ 2147483647 h 233"/>
                    <a:gd name="T62" fmla="*/ 2147483647 w 4471"/>
                    <a:gd name="T63" fmla="*/ 2147483647 h 233"/>
                    <a:gd name="T64" fmla="*/ 2147483647 w 4471"/>
                    <a:gd name="T65" fmla="*/ 2147483647 h 233"/>
                    <a:gd name="T66" fmla="*/ 2147483647 w 4471"/>
                    <a:gd name="T67" fmla="*/ 2147483647 h 233"/>
                    <a:gd name="T68" fmla="*/ 2147483647 w 4471"/>
                    <a:gd name="T69" fmla="*/ 2147483647 h 233"/>
                    <a:gd name="T70" fmla="*/ 2147483647 w 4471"/>
                    <a:gd name="T71" fmla="*/ 2147483647 h 233"/>
                    <a:gd name="T72" fmla="*/ 2147483647 w 4471"/>
                    <a:gd name="T73" fmla="*/ 2147483647 h 233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4471"/>
                    <a:gd name="T112" fmla="*/ 0 h 233"/>
                    <a:gd name="T113" fmla="*/ 4471 w 4471"/>
                    <a:gd name="T114" fmla="*/ 233 h 233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4471" h="233">
                      <a:moveTo>
                        <a:pt x="116" y="233"/>
                      </a:moveTo>
                      <a:lnTo>
                        <a:pt x="4355" y="233"/>
                      </a:lnTo>
                      <a:lnTo>
                        <a:pt x="4378" y="230"/>
                      </a:lnTo>
                      <a:lnTo>
                        <a:pt x="4400" y="223"/>
                      </a:lnTo>
                      <a:lnTo>
                        <a:pt x="4420" y="213"/>
                      </a:lnTo>
                      <a:lnTo>
                        <a:pt x="4437" y="198"/>
                      </a:lnTo>
                      <a:lnTo>
                        <a:pt x="4451" y="181"/>
                      </a:lnTo>
                      <a:lnTo>
                        <a:pt x="4462" y="161"/>
                      </a:lnTo>
                      <a:lnTo>
                        <a:pt x="4468" y="140"/>
                      </a:lnTo>
                      <a:lnTo>
                        <a:pt x="4471" y="116"/>
                      </a:lnTo>
                      <a:lnTo>
                        <a:pt x="4468" y="93"/>
                      </a:lnTo>
                      <a:lnTo>
                        <a:pt x="4462" y="70"/>
                      </a:lnTo>
                      <a:lnTo>
                        <a:pt x="4451" y="51"/>
                      </a:lnTo>
                      <a:lnTo>
                        <a:pt x="4437" y="33"/>
                      </a:lnTo>
                      <a:lnTo>
                        <a:pt x="4420" y="20"/>
                      </a:lnTo>
                      <a:lnTo>
                        <a:pt x="4400" y="8"/>
                      </a:lnTo>
                      <a:lnTo>
                        <a:pt x="4378" y="2"/>
                      </a:lnTo>
                      <a:lnTo>
                        <a:pt x="4355" y="0"/>
                      </a:lnTo>
                      <a:lnTo>
                        <a:pt x="116" y="0"/>
                      </a:lnTo>
                      <a:lnTo>
                        <a:pt x="93" y="2"/>
                      </a:lnTo>
                      <a:lnTo>
                        <a:pt x="72" y="8"/>
                      </a:lnTo>
                      <a:lnTo>
                        <a:pt x="52" y="20"/>
                      </a:lnTo>
                      <a:lnTo>
                        <a:pt x="35" y="33"/>
                      </a:lnTo>
                      <a:lnTo>
                        <a:pt x="20" y="51"/>
                      </a:lnTo>
                      <a:lnTo>
                        <a:pt x="10" y="70"/>
                      </a:lnTo>
                      <a:lnTo>
                        <a:pt x="2" y="93"/>
                      </a:lnTo>
                      <a:lnTo>
                        <a:pt x="0" y="116"/>
                      </a:lnTo>
                      <a:lnTo>
                        <a:pt x="2" y="140"/>
                      </a:lnTo>
                      <a:lnTo>
                        <a:pt x="10" y="161"/>
                      </a:lnTo>
                      <a:lnTo>
                        <a:pt x="20" y="181"/>
                      </a:lnTo>
                      <a:lnTo>
                        <a:pt x="35" y="198"/>
                      </a:lnTo>
                      <a:lnTo>
                        <a:pt x="52" y="213"/>
                      </a:lnTo>
                      <a:lnTo>
                        <a:pt x="72" y="223"/>
                      </a:lnTo>
                      <a:lnTo>
                        <a:pt x="93" y="230"/>
                      </a:lnTo>
                      <a:lnTo>
                        <a:pt x="116" y="23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25" name="Rectangle 128"/>
                <p:cNvSpPr>
                  <a:spLocks noChangeArrowheads="1"/>
                </p:cNvSpPr>
                <p:nvPr/>
              </p:nvSpPr>
              <p:spPr bwMode="auto">
                <a:xfrm>
                  <a:off x="3733673" y="5054982"/>
                  <a:ext cx="2031530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chemeClr val="tx2"/>
                      </a:solidFill>
                    </a:rPr>
                    <a:t>Ambiente Colaborativo on-line</a:t>
                  </a:r>
                </a:p>
              </p:txBody>
            </p:sp>
            <p:sp>
              <p:nvSpPr>
                <p:cNvPr id="21526" name="Freeform 129"/>
                <p:cNvSpPr>
                  <a:spLocks/>
                </p:cNvSpPr>
                <p:nvPr/>
              </p:nvSpPr>
              <p:spPr bwMode="auto">
                <a:xfrm>
                  <a:off x="942335" y="2543829"/>
                  <a:ext cx="7332090" cy="936117"/>
                </a:xfrm>
                <a:custGeom>
                  <a:avLst/>
                  <a:gdLst>
                    <a:gd name="T0" fmla="*/ 2147483647 w 4441"/>
                    <a:gd name="T1" fmla="*/ 2147483647 h 567"/>
                    <a:gd name="T2" fmla="*/ 2147483647 w 4441"/>
                    <a:gd name="T3" fmla="*/ 2147483647 h 567"/>
                    <a:gd name="T4" fmla="*/ 2147483647 w 4441"/>
                    <a:gd name="T5" fmla="*/ 2147483647 h 567"/>
                    <a:gd name="T6" fmla="*/ 2147483647 w 4441"/>
                    <a:gd name="T7" fmla="*/ 2147483647 h 567"/>
                    <a:gd name="T8" fmla="*/ 2147483647 w 4441"/>
                    <a:gd name="T9" fmla="*/ 2147483647 h 567"/>
                    <a:gd name="T10" fmla="*/ 2147483647 w 4441"/>
                    <a:gd name="T11" fmla="*/ 2147483647 h 567"/>
                    <a:gd name="T12" fmla="*/ 2147483647 w 4441"/>
                    <a:gd name="T13" fmla="*/ 2147483647 h 567"/>
                    <a:gd name="T14" fmla="*/ 2147483647 w 4441"/>
                    <a:gd name="T15" fmla="*/ 2147483647 h 567"/>
                    <a:gd name="T16" fmla="*/ 2147483647 w 4441"/>
                    <a:gd name="T17" fmla="*/ 2147483647 h 567"/>
                    <a:gd name="T18" fmla="*/ 2147483647 w 4441"/>
                    <a:gd name="T19" fmla="*/ 2147483647 h 567"/>
                    <a:gd name="T20" fmla="*/ 2147483647 w 4441"/>
                    <a:gd name="T21" fmla="*/ 2147483647 h 567"/>
                    <a:gd name="T22" fmla="*/ 2147483647 w 4441"/>
                    <a:gd name="T23" fmla="*/ 2147483647 h 567"/>
                    <a:gd name="T24" fmla="*/ 2147483647 w 4441"/>
                    <a:gd name="T25" fmla="*/ 2147483647 h 567"/>
                    <a:gd name="T26" fmla="*/ 2147483647 w 4441"/>
                    <a:gd name="T27" fmla="*/ 2147483647 h 567"/>
                    <a:gd name="T28" fmla="*/ 2147483647 w 4441"/>
                    <a:gd name="T29" fmla="*/ 2147483647 h 567"/>
                    <a:gd name="T30" fmla="*/ 2147483647 w 4441"/>
                    <a:gd name="T31" fmla="*/ 2147483647 h 567"/>
                    <a:gd name="T32" fmla="*/ 2147483647 w 4441"/>
                    <a:gd name="T33" fmla="*/ 2147483647 h 567"/>
                    <a:gd name="T34" fmla="*/ 2147483647 w 4441"/>
                    <a:gd name="T35" fmla="*/ 2147483647 h 567"/>
                    <a:gd name="T36" fmla="*/ 2147483647 w 4441"/>
                    <a:gd name="T37" fmla="*/ 0 h 567"/>
                    <a:gd name="T38" fmla="*/ 2147483647 w 4441"/>
                    <a:gd name="T39" fmla="*/ 2147483647 h 567"/>
                    <a:gd name="T40" fmla="*/ 2147483647 w 4441"/>
                    <a:gd name="T41" fmla="*/ 2147483647 h 567"/>
                    <a:gd name="T42" fmla="*/ 2147483647 w 4441"/>
                    <a:gd name="T43" fmla="*/ 2147483647 h 567"/>
                    <a:gd name="T44" fmla="*/ 2147483647 w 4441"/>
                    <a:gd name="T45" fmla="*/ 2147483647 h 567"/>
                    <a:gd name="T46" fmla="*/ 2147483647 w 4441"/>
                    <a:gd name="T47" fmla="*/ 2147483647 h 567"/>
                    <a:gd name="T48" fmla="*/ 2147483647 w 4441"/>
                    <a:gd name="T49" fmla="*/ 2147483647 h 567"/>
                    <a:gd name="T50" fmla="*/ 2147483647 w 4441"/>
                    <a:gd name="T51" fmla="*/ 2147483647 h 567"/>
                    <a:gd name="T52" fmla="*/ 0 w 4441"/>
                    <a:gd name="T53" fmla="*/ 2147483647 h 567"/>
                    <a:gd name="T54" fmla="*/ 0 w 4441"/>
                    <a:gd name="T55" fmla="*/ 2147483647 h 567"/>
                    <a:gd name="T56" fmla="*/ 2147483647 w 4441"/>
                    <a:gd name="T57" fmla="*/ 2147483647 h 567"/>
                    <a:gd name="T58" fmla="*/ 2147483647 w 4441"/>
                    <a:gd name="T59" fmla="*/ 2147483647 h 567"/>
                    <a:gd name="T60" fmla="*/ 2147483647 w 4441"/>
                    <a:gd name="T61" fmla="*/ 2147483647 h 567"/>
                    <a:gd name="T62" fmla="*/ 2147483647 w 4441"/>
                    <a:gd name="T63" fmla="*/ 2147483647 h 567"/>
                    <a:gd name="T64" fmla="*/ 2147483647 w 4441"/>
                    <a:gd name="T65" fmla="*/ 2147483647 h 567"/>
                    <a:gd name="T66" fmla="*/ 2147483647 w 4441"/>
                    <a:gd name="T67" fmla="*/ 2147483647 h 567"/>
                    <a:gd name="T68" fmla="*/ 2147483647 w 4441"/>
                    <a:gd name="T69" fmla="*/ 2147483647 h 567"/>
                    <a:gd name="T70" fmla="*/ 2147483647 w 4441"/>
                    <a:gd name="T71" fmla="*/ 2147483647 h 56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41"/>
                    <a:gd name="T109" fmla="*/ 0 h 567"/>
                    <a:gd name="T110" fmla="*/ 4441 w 4441"/>
                    <a:gd name="T111" fmla="*/ 567 h 56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41" h="567">
                      <a:moveTo>
                        <a:pt x="177" y="567"/>
                      </a:moveTo>
                      <a:lnTo>
                        <a:pt x="4266" y="567"/>
                      </a:lnTo>
                      <a:lnTo>
                        <a:pt x="4283" y="566"/>
                      </a:lnTo>
                      <a:lnTo>
                        <a:pt x="4300" y="563"/>
                      </a:lnTo>
                      <a:lnTo>
                        <a:pt x="4317" y="560"/>
                      </a:lnTo>
                      <a:lnTo>
                        <a:pt x="4334" y="553"/>
                      </a:lnTo>
                      <a:lnTo>
                        <a:pt x="4350" y="546"/>
                      </a:lnTo>
                      <a:lnTo>
                        <a:pt x="4363" y="537"/>
                      </a:lnTo>
                      <a:lnTo>
                        <a:pt x="4377" y="527"/>
                      </a:lnTo>
                      <a:lnTo>
                        <a:pt x="4390" y="515"/>
                      </a:lnTo>
                      <a:lnTo>
                        <a:pt x="4401" y="503"/>
                      </a:lnTo>
                      <a:lnTo>
                        <a:pt x="4411" y="489"/>
                      </a:lnTo>
                      <a:lnTo>
                        <a:pt x="4420" y="474"/>
                      </a:lnTo>
                      <a:lnTo>
                        <a:pt x="4427" y="459"/>
                      </a:lnTo>
                      <a:lnTo>
                        <a:pt x="4434" y="443"/>
                      </a:lnTo>
                      <a:lnTo>
                        <a:pt x="4439" y="426"/>
                      </a:lnTo>
                      <a:lnTo>
                        <a:pt x="4441" y="408"/>
                      </a:lnTo>
                      <a:lnTo>
                        <a:pt x="4441" y="390"/>
                      </a:lnTo>
                      <a:lnTo>
                        <a:pt x="4441" y="177"/>
                      </a:lnTo>
                      <a:lnTo>
                        <a:pt x="4441" y="158"/>
                      </a:lnTo>
                      <a:lnTo>
                        <a:pt x="4439" y="141"/>
                      </a:lnTo>
                      <a:lnTo>
                        <a:pt x="4434" y="124"/>
                      </a:lnTo>
                      <a:lnTo>
                        <a:pt x="4427" y="107"/>
                      </a:lnTo>
                      <a:lnTo>
                        <a:pt x="4420" y="93"/>
                      </a:lnTo>
                      <a:lnTo>
                        <a:pt x="4411" y="78"/>
                      </a:lnTo>
                      <a:lnTo>
                        <a:pt x="4401" y="64"/>
                      </a:lnTo>
                      <a:lnTo>
                        <a:pt x="4390" y="52"/>
                      </a:lnTo>
                      <a:lnTo>
                        <a:pt x="4377" y="39"/>
                      </a:lnTo>
                      <a:lnTo>
                        <a:pt x="4363" y="29"/>
                      </a:lnTo>
                      <a:lnTo>
                        <a:pt x="4350" y="21"/>
                      </a:lnTo>
                      <a:lnTo>
                        <a:pt x="4334" y="13"/>
                      </a:lnTo>
                      <a:lnTo>
                        <a:pt x="4317" y="7"/>
                      </a:lnTo>
                      <a:lnTo>
                        <a:pt x="4300" y="3"/>
                      </a:lnTo>
                      <a:lnTo>
                        <a:pt x="4283" y="1"/>
                      </a:lnTo>
                      <a:lnTo>
                        <a:pt x="4266" y="0"/>
                      </a:lnTo>
                      <a:lnTo>
                        <a:pt x="177" y="0"/>
                      </a:lnTo>
                      <a:lnTo>
                        <a:pt x="158" y="1"/>
                      </a:lnTo>
                      <a:lnTo>
                        <a:pt x="141" y="3"/>
                      </a:lnTo>
                      <a:lnTo>
                        <a:pt x="124" y="7"/>
                      </a:lnTo>
                      <a:lnTo>
                        <a:pt x="107" y="13"/>
                      </a:lnTo>
                      <a:lnTo>
                        <a:pt x="93" y="21"/>
                      </a:lnTo>
                      <a:lnTo>
                        <a:pt x="78" y="29"/>
                      </a:lnTo>
                      <a:lnTo>
                        <a:pt x="64" y="39"/>
                      </a:lnTo>
                      <a:lnTo>
                        <a:pt x="52" y="52"/>
                      </a:lnTo>
                      <a:lnTo>
                        <a:pt x="40" y="64"/>
                      </a:lnTo>
                      <a:lnTo>
                        <a:pt x="30" y="78"/>
                      </a:lnTo>
                      <a:lnTo>
                        <a:pt x="21" y="93"/>
                      </a:lnTo>
                      <a:lnTo>
                        <a:pt x="14" y="107"/>
                      </a:lnTo>
                      <a:lnTo>
                        <a:pt x="7" y="124"/>
                      </a:lnTo>
                      <a:lnTo>
                        <a:pt x="4" y="141"/>
                      </a:lnTo>
                      <a:lnTo>
                        <a:pt x="0" y="158"/>
                      </a:lnTo>
                      <a:lnTo>
                        <a:pt x="0" y="177"/>
                      </a:lnTo>
                      <a:lnTo>
                        <a:pt x="0" y="390"/>
                      </a:lnTo>
                      <a:lnTo>
                        <a:pt x="0" y="408"/>
                      </a:lnTo>
                      <a:lnTo>
                        <a:pt x="4" y="426"/>
                      </a:lnTo>
                      <a:lnTo>
                        <a:pt x="7" y="443"/>
                      </a:lnTo>
                      <a:lnTo>
                        <a:pt x="14" y="459"/>
                      </a:lnTo>
                      <a:lnTo>
                        <a:pt x="21" y="474"/>
                      </a:lnTo>
                      <a:lnTo>
                        <a:pt x="30" y="489"/>
                      </a:lnTo>
                      <a:lnTo>
                        <a:pt x="40" y="503"/>
                      </a:lnTo>
                      <a:lnTo>
                        <a:pt x="52" y="515"/>
                      </a:lnTo>
                      <a:lnTo>
                        <a:pt x="64" y="527"/>
                      </a:lnTo>
                      <a:lnTo>
                        <a:pt x="78" y="537"/>
                      </a:lnTo>
                      <a:lnTo>
                        <a:pt x="93" y="546"/>
                      </a:lnTo>
                      <a:lnTo>
                        <a:pt x="107" y="553"/>
                      </a:lnTo>
                      <a:lnTo>
                        <a:pt x="124" y="560"/>
                      </a:lnTo>
                      <a:lnTo>
                        <a:pt x="141" y="563"/>
                      </a:lnTo>
                      <a:lnTo>
                        <a:pt x="158" y="566"/>
                      </a:lnTo>
                      <a:lnTo>
                        <a:pt x="177" y="56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27" name="Freeform 130"/>
                <p:cNvSpPr>
                  <a:spLocks/>
                </p:cNvSpPr>
                <p:nvPr/>
              </p:nvSpPr>
              <p:spPr bwMode="auto">
                <a:xfrm>
                  <a:off x="969899" y="2542159"/>
                  <a:ext cx="7332090" cy="936117"/>
                </a:xfrm>
                <a:custGeom>
                  <a:avLst/>
                  <a:gdLst>
                    <a:gd name="T0" fmla="*/ 2147483647 w 4441"/>
                    <a:gd name="T1" fmla="*/ 2147483647 h 567"/>
                    <a:gd name="T2" fmla="*/ 2147483647 w 4441"/>
                    <a:gd name="T3" fmla="*/ 2147483647 h 567"/>
                    <a:gd name="T4" fmla="*/ 2147483647 w 4441"/>
                    <a:gd name="T5" fmla="*/ 2147483647 h 567"/>
                    <a:gd name="T6" fmla="*/ 2147483647 w 4441"/>
                    <a:gd name="T7" fmla="*/ 2147483647 h 567"/>
                    <a:gd name="T8" fmla="*/ 2147483647 w 4441"/>
                    <a:gd name="T9" fmla="*/ 2147483647 h 567"/>
                    <a:gd name="T10" fmla="*/ 2147483647 w 4441"/>
                    <a:gd name="T11" fmla="*/ 2147483647 h 567"/>
                    <a:gd name="T12" fmla="*/ 2147483647 w 4441"/>
                    <a:gd name="T13" fmla="*/ 2147483647 h 567"/>
                    <a:gd name="T14" fmla="*/ 2147483647 w 4441"/>
                    <a:gd name="T15" fmla="*/ 2147483647 h 567"/>
                    <a:gd name="T16" fmla="*/ 2147483647 w 4441"/>
                    <a:gd name="T17" fmla="*/ 2147483647 h 567"/>
                    <a:gd name="T18" fmla="*/ 2147483647 w 4441"/>
                    <a:gd name="T19" fmla="*/ 2147483647 h 567"/>
                    <a:gd name="T20" fmla="*/ 2147483647 w 4441"/>
                    <a:gd name="T21" fmla="*/ 2147483647 h 567"/>
                    <a:gd name="T22" fmla="*/ 2147483647 w 4441"/>
                    <a:gd name="T23" fmla="*/ 2147483647 h 567"/>
                    <a:gd name="T24" fmla="*/ 2147483647 w 4441"/>
                    <a:gd name="T25" fmla="*/ 2147483647 h 567"/>
                    <a:gd name="T26" fmla="*/ 2147483647 w 4441"/>
                    <a:gd name="T27" fmla="*/ 2147483647 h 567"/>
                    <a:gd name="T28" fmla="*/ 2147483647 w 4441"/>
                    <a:gd name="T29" fmla="*/ 2147483647 h 567"/>
                    <a:gd name="T30" fmla="*/ 2147483647 w 4441"/>
                    <a:gd name="T31" fmla="*/ 2147483647 h 567"/>
                    <a:gd name="T32" fmla="*/ 2147483647 w 4441"/>
                    <a:gd name="T33" fmla="*/ 2147483647 h 567"/>
                    <a:gd name="T34" fmla="*/ 2147483647 w 4441"/>
                    <a:gd name="T35" fmla="*/ 2147483647 h 567"/>
                    <a:gd name="T36" fmla="*/ 2147483647 w 4441"/>
                    <a:gd name="T37" fmla="*/ 0 h 567"/>
                    <a:gd name="T38" fmla="*/ 2147483647 w 4441"/>
                    <a:gd name="T39" fmla="*/ 2147483647 h 567"/>
                    <a:gd name="T40" fmla="*/ 2147483647 w 4441"/>
                    <a:gd name="T41" fmla="*/ 2147483647 h 567"/>
                    <a:gd name="T42" fmla="*/ 2147483647 w 4441"/>
                    <a:gd name="T43" fmla="*/ 2147483647 h 567"/>
                    <a:gd name="T44" fmla="*/ 2147483647 w 4441"/>
                    <a:gd name="T45" fmla="*/ 2147483647 h 567"/>
                    <a:gd name="T46" fmla="*/ 2147483647 w 4441"/>
                    <a:gd name="T47" fmla="*/ 2147483647 h 567"/>
                    <a:gd name="T48" fmla="*/ 2147483647 w 4441"/>
                    <a:gd name="T49" fmla="*/ 2147483647 h 567"/>
                    <a:gd name="T50" fmla="*/ 2147483647 w 4441"/>
                    <a:gd name="T51" fmla="*/ 2147483647 h 567"/>
                    <a:gd name="T52" fmla="*/ 0 w 4441"/>
                    <a:gd name="T53" fmla="*/ 2147483647 h 567"/>
                    <a:gd name="T54" fmla="*/ 0 w 4441"/>
                    <a:gd name="T55" fmla="*/ 2147483647 h 567"/>
                    <a:gd name="T56" fmla="*/ 2147483647 w 4441"/>
                    <a:gd name="T57" fmla="*/ 2147483647 h 567"/>
                    <a:gd name="T58" fmla="*/ 2147483647 w 4441"/>
                    <a:gd name="T59" fmla="*/ 2147483647 h 567"/>
                    <a:gd name="T60" fmla="*/ 2147483647 w 4441"/>
                    <a:gd name="T61" fmla="*/ 2147483647 h 567"/>
                    <a:gd name="T62" fmla="*/ 2147483647 w 4441"/>
                    <a:gd name="T63" fmla="*/ 2147483647 h 567"/>
                    <a:gd name="T64" fmla="*/ 2147483647 w 4441"/>
                    <a:gd name="T65" fmla="*/ 2147483647 h 567"/>
                    <a:gd name="T66" fmla="*/ 2147483647 w 4441"/>
                    <a:gd name="T67" fmla="*/ 2147483647 h 567"/>
                    <a:gd name="T68" fmla="*/ 2147483647 w 4441"/>
                    <a:gd name="T69" fmla="*/ 2147483647 h 567"/>
                    <a:gd name="T70" fmla="*/ 2147483647 w 4441"/>
                    <a:gd name="T71" fmla="*/ 2147483647 h 56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41"/>
                    <a:gd name="T109" fmla="*/ 0 h 567"/>
                    <a:gd name="T110" fmla="*/ 4441 w 4441"/>
                    <a:gd name="T111" fmla="*/ 567 h 56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41" h="567">
                      <a:moveTo>
                        <a:pt x="177" y="567"/>
                      </a:moveTo>
                      <a:lnTo>
                        <a:pt x="4266" y="567"/>
                      </a:lnTo>
                      <a:lnTo>
                        <a:pt x="4283" y="566"/>
                      </a:lnTo>
                      <a:lnTo>
                        <a:pt x="4300" y="563"/>
                      </a:lnTo>
                      <a:lnTo>
                        <a:pt x="4317" y="560"/>
                      </a:lnTo>
                      <a:lnTo>
                        <a:pt x="4334" y="553"/>
                      </a:lnTo>
                      <a:lnTo>
                        <a:pt x="4350" y="546"/>
                      </a:lnTo>
                      <a:lnTo>
                        <a:pt x="4363" y="537"/>
                      </a:lnTo>
                      <a:lnTo>
                        <a:pt x="4377" y="527"/>
                      </a:lnTo>
                      <a:lnTo>
                        <a:pt x="4390" y="515"/>
                      </a:lnTo>
                      <a:lnTo>
                        <a:pt x="4401" y="503"/>
                      </a:lnTo>
                      <a:lnTo>
                        <a:pt x="4411" y="489"/>
                      </a:lnTo>
                      <a:lnTo>
                        <a:pt x="4420" y="474"/>
                      </a:lnTo>
                      <a:lnTo>
                        <a:pt x="4427" y="459"/>
                      </a:lnTo>
                      <a:lnTo>
                        <a:pt x="4434" y="443"/>
                      </a:lnTo>
                      <a:lnTo>
                        <a:pt x="4439" y="426"/>
                      </a:lnTo>
                      <a:lnTo>
                        <a:pt x="4441" y="408"/>
                      </a:lnTo>
                      <a:lnTo>
                        <a:pt x="4441" y="390"/>
                      </a:lnTo>
                      <a:lnTo>
                        <a:pt x="4441" y="177"/>
                      </a:lnTo>
                      <a:lnTo>
                        <a:pt x="4441" y="158"/>
                      </a:lnTo>
                      <a:lnTo>
                        <a:pt x="4439" y="141"/>
                      </a:lnTo>
                      <a:lnTo>
                        <a:pt x="4434" y="124"/>
                      </a:lnTo>
                      <a:lnTo>
                        <a:pt x="4427" y="107"/>
                      </a:lnTo>
                      <a:lnTo>
                        <a:pt x="4420" y="93"/>
                      </a:lnTo>
                      <a:lnTo>
                        <a:pt x="4411" y="78"/>
                      </a:lnTo>
                      <a:lnTo>
                        <a:pt x="4401" y="64"/>
                      </a:lnTo>
                      <a:lnTo>
                        <a:pt x="4390" y="52"/>
                      </a:lnTo>
                      <a:lnTo>
                        <a:pt x="4377" y="39"/>
                      </a:lnTo>
                      <a:lnTo>
                        <a:pt x="4363" y="29"/>
                      </a:lnTo>
                      <a:lnTo>
                        <a:pt x="4350" y="21"/>
                      </a:lnTo>
                      <a:lnTo>
                        <a:pt x="4334" y="13"/>
                      </a:lnTo>
                      <a:lnTo>
                        <a:pt x="4317" y="7"/>
                      </a:lnTo>
                      <a:lnTo>
                        <a:pt x="4300" y="3"/>
                      </a:lnTo>
                      <a:lnTo>
                        <a:pt x="4283" y="1"/>
                      </a:lnTo>
                      <a:lnTo>
                        <a:pt x="4266" y="0"/>
                      </a:lnTo>
                      <a:lnTo>
                        <a:pt x="177" y="0"/>
                      </a:lnTo>
                      <a:lnTo>
                        <a:pt x="158" y="1"/>
                      </a:lnTo>
                      <a:lnTo>
                        <a:pt x="141" y="3"/>
                      </a:lnTo>
                      <a:lnTo>
                        <a:pt x="124" y="7"/>
                      </a:lnTo>
                      <a:lnTo>
                        <a:pt x="107" y="13"/>
                      </a:lnTo>
                      <a:lnTo>
                        <a:pt x="93" y="21"/>
                      </a:lnTo>
                      <a:lnTo>
                        <a:pt x="78" y="29"/>
                      </a:lnTo>
                      <a:lnTo>
                        <a:pt x="64" y="39"/>
                      </a:lnTo>
                      <a:lnTo>
                        <a:pt x="52" y="52"/>
                      </a:lnTo>
                      <a:lnTo>
                        <a:pt x="40" y="64"/>
                      </a:lnTo>
                      <a:lnTo>
                        <a:pt x="30" y="78"/>
                      </a:lnTo>
                      <a:lnTo>
                        <a:pt x="21" y="93"/>
                      </a:lnTo>
                      <a:lnTo>
                        <a:pt x="14" y="107"/>
                      </a:lnTo>
                      <a:lnTo>
                        <a:pt x="7" y="124"/>
                      </a:lnTo>
                      <a:lnTo>
                        <a:pt x="4" y="141"/>
                      </a:lnTo>
                      <a:lnTo>
                        <a:pt x="0" y="158"/>
                      </a:lnTo>
                      <a:lnTo>
                        <a:pt x="0" y="177"/>
                      </a:lnTo>
                      <a:lnTo>
                        <a:pt x="0" y="390"/>
                      </a:lnTo>
                      <a:lnTo>
                        <a:pt x="0" y="408"/>
                      </a:lnTo>
                      <a:lnTo>
                        <a:pt x="4" y="426"/>
                      </a:lnTo>
                      <a:lnTo>
                        <a:pt x="7" y="443"/>
                      </a:lnTo>
                      <a:lnTo>
                        <a:pt x="14" y="459"/>
                      </a:lnTo>
                      <a:lnTo>
                        <a:pt x="21" y="474"/>
                      </a:lnTo>
                      <a:lnTo>
                        <a:pt x="30" y="489"/>
                      </a:lnTo>
                      <a:lnTo>
                        <a:pt x="40" y="503"/>
                      </a:lnTo>
                      <a:lnTo>
                        <a:pt x="52" y="515"/>
                      </a:lnTo>
                      <a:lnTo>
                        <a:pt x="64" y="527"/>
                      </a:lnTo>
                      <a:lnTo>
                        <a:pt x="78" y="537"/>
                      </a:lnTo>
                      <a:lnTo>
                        <a:pt x="93" y="546"/>
                      </a:lnTo>
                      <a:lnTo>
                        <a:pt x="107" y="553"/>
                      </a:lnTo>
                      <a:lnTo>
                        <a:pt x="124" y="560"/>
                      </a:lnTo>
                      <a:lnTo>
                        <a:pt x="141" y="563"/>
                      </a:lnTo>
                      <a:lnTo>
                        <a:pt x="158" y="566"/>
                      </a:lnTo>
                      <a:lnTo>
                        <a:pt x="177" y="567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28" name="Rectangle 133"/>
                <p:cNvSpPr>
                  <a:spLocks noChangeArrowheads="1"/>
                </p:cNvSpPr>
                <p:nvPr/>
              </p:nvSpPr>
              <p:spPr bwMode="auto">
                <a:xfrm>
                  <a:off x="1219199" y="2628011"/>
                  <a:ext cx="3712273" cy="1618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400" dirty="0">
                      <a:solidFill>
                        <a:schemeClr val="tx2"/>
                      </a:solidFill>
                    </a:rPr>
                    <a:t>Guias de Habilitadores do COBIT</a:t>
                  </a:r>
                  <a:r>
                    <a:rPr lang="pt-BR" altLang="pt-BR" sz="1400" baseline="30000" dirty="0">
                      <a:solidFill>
                        <a:schemeClr val="tx2"/>
                      </a:solidFill>
                    </a:rPr>
                    <a:t>®</a:t>
                  </a:r>
                  <a:r>
                    <a:rPr lang="pt-BR" altLang="pt-BR" sz="1400" dirty="0">
                      <a:solidFill>
                        <a:schemeClr val="tx2"/>
                      </a:solidFill>
                    </a:rPr>
                    <a:t> 5</a:t>
                  </a:r>
                </a:p>
              </p:txBody>
            </p:sp>
            <p:sp>
              <p:nvSpPr>
                <p:cNvPr id="21529" name="Freeform 134"/>
                <p:cNvSpPr>
                  <a:spLocks/>
                </p:cNvSpPr>
                <p:nvPr/>
              </p:nvSpPr>
              <p:spPr bwMode="auto">
                <a:xfrm>
                  <a:off x="1080454" y="2918569"/>
                  <a:ext cx="1905083" cy="454017"/>
                </a:xfrm>
                <a:custGeom>
                  <a:avLst/>
                  <a:gdLst>
                    <a:gd name="T0" fmla="*/ 2147483647 w 1154"/>
                    <a:gd name="T1" fmla="*/ 2147483647 h 275"/>
                    <a:gd name="T2" fmla="*/ 2147483647 w 1154"/>
                    <a:gd name="T3" fmla="*/ 2147483647 h 275"/>
                    <a:gd name="T4" fmla="*/ 2147483647 w 1154"/>
                    <a:gd name="T5" fmla="*/ 2147483647 h 275"/>
                    <a:gd name="T6" fmla="*/ 2147483647 w 1154"/>
                    <a:gd name="T7" fmla="*/ 2147483647 h 275"/>
                    <a:gd name="T8" fmla="*/ 2147483647 w 1154"/>
                    <a:gd name="T9" fmla="*/ 2147483647 h 275"/>
                    <a:gd name="T10" fmla="*/ 2147483647 w 1154"/>
                    <a:gd name="T11" fmla="*/ 2147483647 h 275"/>
                    <a:gd name="T12" fmla="*/ 2147483647 w 1154"/>
                    <a:gd name="T13" fmla="*/ 2147483647 h 275"/>
                    <a:gd name="T14" fmla="*/ 2147483647 w 1154"/>
                    <a:gd name="T15" fmla="*/ 2147483647 h 275"/>
                    <a:gd name="T16" fmla="*/ 2147483647 w 1154"/>
                    <a:gd name="T17" fmla="*/ 2147483647 h 275"/>
                    <a:gd name="T18" fmla="*/ 2147483647 w 1154"/>
                    <a:gd name="T19" fmla="*/ 2147483647 h 275"/>
                    <a:gd name="T20" fmla="*/ 2147483647 w 1154"/>
                    <a:gd name="T21" fmla="*/ 2147483647 h 275"/>
                    <a:gd name="T22" fmla="*/ 2147483647 w 1154"/>
                    <a:gd name="T23" fmla="*/ 2147483647 h 275"/>
                    <a:gd name="T24" fmla="*/ 2147483647 w 1154"/>
                    <a:gd name="T25" fmla="*/ 2147483647 h 275"/>
                    <a:gd name="T26" fmla="*/ 2147483647 w 1154"/>
                    <a:gd name="T27" fmla="*/ 2147483647 h 275"/>
                    <a:gd name="T28" fmla="*/ 2147483647 w 1154"/>
                    <a:gd name="T29" fmla="*/ 2147483647 h 275"/>
                    <a:gd name="T30" fmla="*/ 2147483647 w 1154"/>
                    <a:gd name="T31" fmla="*/ 2147483647 h 275"/>
                    <a:gd name="T32" fmla="*/ 2147483647 w 1154"/>
                    <a:gd name="T33" fmla="*/ 2147483647 h 275"/>
                    <a:gd name="T34" fmla="*/ 2147483647 w 1154"/>
                    <a:gd name="T35" fmla="*/ 2147483647 h 275"/>
                    <a:gd name="T36" fmla="*/ 2147483647 w 1154"/>
                    <a:gd name="T37" fmla="*/ 2147483647 h 275"/>
                    <a:gd name="T38" fmla="*/ 2147483647 w 1154"/>
                    <a:gd name="T39" fmla="*/ 2147483647 h 275"/>
                    <a:gd name="T40" fmla="*/ 2147483647 w 1154"/>
                    <a:gd name="T41" fmla="*/ 2147483647 h 275"/>
                    <a:gd name="T42" fmla="*/ 2147483647 w 1154"/>
                    <a:gd name="T43" fmla="*/ 2147483647 h 275"/>
                    <a:gd name="T44" fmla="*/ 2147483647 w 1154"/>
                    <a:gd name="T45" fmla="*/ 2147483647 h 275"/>
                    <a:gd name="T46" fmla="*/ 2147483647 w 1154"/>
                    <a:gd name="T47" fmla="*/ 2147483647 h 275"/>
                    <a:gd name="T48" fmla="*/ 2147483647 w 1154"/>
                    <a:gd name="T49" fmla="*/ 2147483647 h 275"/>
                    <a:gd name="T50" fmla="*/ 2147483647 w 1154"/>
                    <a:gd name="T51" fmla="*/ 0 h 275"/>
                    <a:gd name="T52" fmla="*/ 2147483647 w 1154"/>
                    <a:gd name="T53" fmla="*/ 0 h 275"/>
                    <a:gd name="T54" fmla="*/ 2147483647 w 1154"/>
                    <a:gd name="T55" fmla="*/ 0 h 275"/>
                    <a:gd name="T56" fmla="*/ 2147483647 w 1154"/>
                    <a:gd name="T57" fmla="*/ 0 h 275"/>
                    <a:gd name="T58" fmla="*/ 2147483647 w 1154"/>
                    <a:gd name="T59" fmla="*/ 2147483647 h 275"/>
                    <a:gd name="T60" fmla="*/ 2147483647 w 1154"/>
                    <a:gd name="T61" fmla="*/ 2147483647 h 275"/>
                    <a:gd name="T62" fmla="*/ 2147483647 w 1154"/>
                    <a:gd name="T63" fmla="*/ 2147483647 h 275"/>
                    <a:gd name="T64" fmla="*/ 2147483647 w 1154"/>
                    <a:gd name="T65" fmla="*/ 2147483647 h 275"/>
                    <a:gd name="T66" fmla="*/ 2147483647 w 1154"/>
                    <a:gd name="T67" fmla="*/ 2147483647 h 275"/>
                    <a:gd name="T68" fmla="*/ 2147483647 w 1154"/>
                    <a:gd name="T69" fmla="*/ 2147483647 h 275"/>
                    <a:gd name="T70" fmla="*/ 2147483647 w 1154"/>
                    <a:gd name="T71" fmla="*/ 2147483647 h 275"/>
                    <a:gd name="T72" fmla="*/ 2147483647 w 1154"/>
                    <a:gd name="T73" fmla="*/ 2147483647 h 275"/>
                    <a:gd name="T74" fmla="*/ 2147483647 w 1154"/>
                    <a:gd name="T75" fmla="*/ 2147483647 h 275"/>
                    <a:gd name="T76" fmla="*/ 2147483647 w 1154"/>
                    <a:gd name="T77" fmla="*/ 2147483647 h 275"/>
                    <a:gd name="T78" fmla="*/ 0 w 1154"/>
                    <a:gd name="T79" fmla="*/ 2147483647 h 275"/>
                    <a:gd name="T80" fmla="*/ 2147483647 w 1154"/>
                    <a:gd name="T81" fmla="*/ 2147483647 h 275"/>
                    <a:gd name="T82" fmla="*/ 2147483647 w 1154"/>
                    <a:gd name="T83" fmla="*/ 2147483647 h 275"/>
                    <a:gd name="T84" fmla="*/ 2147483647 w 1154"/>
                    <a:gd name="T85" fmla="*/ 2147483647 h 275"/>
                    <a:gd name="T86" fmla="*/ 2147483647 w 1154"/>
                    <a:gd name="T87" fmla="*/ 2147483647 h 275"/>
                    <a:gd name="T88" fmla="*/ 2147483647 w 1154"/>
                    <a:gd name="T89" fmla="*/ 2147483647 h 275"/>
                    <a:gd name="T90" fmla="*/ 2147483647 w 1154"/>
                    <a:gd name="T91" fmla="*/ 2147483647 h 275"/>
                    <a:gd name="T92" fmla="*/ 2147483647 w 1154"/>
                    <a:gd name="T93" fmla="*/ 2147483647 h 275"/>
                    <a:gd name="T94" fmla="*/ 2147483647 w 1154"/>
                    <a:gd name="T95" fmla="*/ 2147483647 h 275"/>
                    <a:gd name="T96" fmla="*/ 2147483647 w 1154"/>
                    <a:gd name="T97" fmla="*/ 2147483647 h 275"/>
                    <a:gd name="T98" fmla="*/ 2147483647 w 1154"/>
                    <a:gd name="T99" fmla="*/ 2147483647 h 275"/>
                    <a:gd name="T100" fmla="*/ 2147483647 w 1154"/>
                    <a:gd name="T101" fmla="*/ 2147483647 h 275"/>
                    <a:gd name="T102" fmla="*/ 2147483647 w 1154"/>
                    <a:gd name="T103" fmla="*/ 2147483647 h 275"/>
                    <a:gd name="T104" fmla="*/ 2147483647 w 1154"/>
                    <a:gd name="T105" fmla="*/ 2147483647 h 275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1154"/>
                    <a:gd name="T160" fmla="*/ 0 h 275"/>
                    <a:gd name="T161" fmla="*/ 1154 w 1154"/>
                    <a:gd name="T162" fmla="*/ 275 h 275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1154" h="275">
                      <a:moveTo>
                        <a:pt x="137" y="275"/>
                      </a:moveTo>
                      <a:lnTo>
                        <a:pt x="1016" y="275"/>
                      </a:lnTo>
                      <a:lnTo>
                        <a:pt x="1030" y="273"/>
                      </a:lnTo>
                      <a:lnTo>
                        <a:pt x="1044" y="272"/>
                      </a:lnTo>
                      <a:lnTo>
                        <a:pt x="1057" y="268"/>
                      </a:lnTo>
                      <a:lnTo>
                        <a:pt x="1070" y="263"/>
                      </a:lnTo>
                      <a:lnTo>
                        <a:pt x="1093" y="251"/>
                      </a:lnTo>
                      <a:lnTo>
                        <a:pt x="1113" y="234"/>
                      </a:lnTo>
                      <a:lnTo>
                        <a:pt x="1130" y="214"/>
                      </a:lnTo>
                      <a:lnTo>
                        <a:pt x="1142" y="190"/>
                      </a:lnTo>
                      <a:lnTo>
                        <a:pt x="1147" y="178"/>
                      </a:lnTo>
                      <a:lnTo>
                        <a:pt x="1151" y="164"/>
                      </a:lnTo>
                      <a:lnTo>
                        <a:pt x="1152" y="151"/>
                      </a:lnTo>
                      <a:lnTo>
                        <a:pt x="1154" y="137"/>
                      </a:lnTo>
                      <a:lnTo>
                        <a:pt x="1152" y="123"/>
                      </a:lnTo>
                      <a:lnTo>
                        <a:pt x="1151" y="110"/>
                      </a:lnTo>
                      <a:lnTo>
                        <a:pt x="1147" y="96"/>
                      </a:lnTo>
                      <a:lnTo>
                        <a:pt x="1142" y="84"/>
                      </a:lnTo>
                      <a:lnTo>
                        <a:pt x="1130" y="60"/>
                      </a:lnTo>
                      <a:lnTo>
                        <a:pt x="1113" y="39"/>
                      </a:lnTo>
                      <a:lnTo>
                        <a:pt x="1093" y="23"/>
                      </a:lnTo>
                      <a:lnTo>
                        <a:pt x="1070" y="11"/>
                      </a:lnTo>
                      <a:lnTo>
                        <a:pt x="1057" y="6"/>
                      </a:lnTo>
                      <a:lnTo>
                        <a:pt x="1044" y="2"/>
                      </a:lnTo>
                      <a:lnTo>
                        <a:pt x="1030" y="0"/>
                      </a:lnTo>
                      <a:lnTo>
                        <a:pt x="1016" y="0"/>
                      </a:lnTo>
                      <a:lnTo>
                        <a:pt x="137" y="0"/>
                      </a:lnTo>
                      <a:lnTo>
                        <a:pt x="123" y="0"/>
                      </a:lnTo>
                      <a:lnTo>
                        <a:pt x="110" y="2"/>
                      </a:lnTo>
                      <a:lnTo>
                        <a:pt x="96" y="6"/>
                      </a:lnTo>
                      <a:lnTo>
                        <a:pt x="84" y="11"/>
                      </a:lnTo>
                      <a:lnTo>
                        <a:pt x="60" y="23"/>
                      </a:lnTo>
                      <a:lnTo>
                        <a:pt x="40" y="39"/>
                      </a:lnTo>
                      <a:lnTo>
                        <a:pt x="23" y="60"/>
                      </a:lnTo>
                      <a:lnTo>
                        <a:pt x="11" y="84"/>
                      </a:lnTo>
                      <a:lnTo>
                        <a:pt x="6" y="96"/>
                      </a:lnTo>
                      <a:lnTo>
                        <a:pt x="2" y="110"/>
                      </a:lnTo>
                      <a:lnTo>
                        <a:pt x="1" y="123"/>
                      </a:lnTo>
                      <a:lnTo>
                        <a:pt x="0" y="137"/>
                      </a:lnTo>
                      <a:lnTo>
                        <a:pt x="1" y="151"/>
                      </a:lnTo>
                      <a:lnTo>
                        <a:pt x="2" y="164"/>
                      </a:lnTo>
                      <a:lnTo>
                        <a:pt x="6" y="178"/>
                      </a:lnTo>
                      <a:lnTo>
                        <a:pt x="11" y="190"/>
                      </a:lnTo>
                      <a:lnTo>
                        <a:pt x="23" y="214"/>
                      </a:lnTo>
                      <a:lnTo>
                        <a:pt x="40" y="234"/>
                      </a:lnTo>
                      <a:lnTo>
                        <a:pt x="60" y="251"/>
                      </a:lnTo>
                      <a:lnTo>
                        <a:pt x="84" y="263"/>
                      </a:lnTo>
                      <a:lnTo>
                        <a:pt x="96" y="268"/>
                      </a:lnTo>
                      <a:lnTo>
                        <a:pt x="110" y="272"/>
                      </a:lnTo>
                      <a:lnTo>
                        <a:pt x="123" y="273"/>
                      </a:lnTo>
                      <a:lnTo>
                        <a:pt x="137" y="275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grpSp>
              <p:nvGrpSpPr>
                <p:cNvPr id="21530" name="Group 42"/>
                <p:cNvGrpSpPr>
                  <a:grpSpLocks/>
                </p:cNvGrpSpPr>
                <p:nvPr/>
              </p:nvGrpSpPr>
              <p:grpSpPr bwMode="auto">
                <a:xfrm>
                  <a:off x="1774952" y="2964815"/>
                  <a:ext cx="655802" cy="163505"/>
                  <a:chOff x="1774952" y="2964815"/>
                  <a:chExt cx="655802" cy="163505"/>
                </a:xfrm>
              </p:grpSpPr>
              <p:sp>
                <p:nvSpPr>
                  <p:cNvPr id="21563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1774952" y="2989580"/>
                    <a:ext cx="655802" cy="1387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 dirty="0" smtClean="0">
                        <a:solidFill>
                          <a:srgbClr val="FFFFFF"/>
                        </a:solidFill>
                      </a:rPr>
                      <a:t>COBIT® 5</a:t>
                    </a:r>
                    <a:endParaRPr lang="pt-BR" altLang="pt-BR" sz="1200" dirty="0"/>
                  </a:p>
                </p:txBody>
              </p:sp>
              <p:sp>
                <p:nvSpPr>
                  <p:cNvPr id="21564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2169541" y="2964815"/>
                    <a:ext cx="59" cy="13874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200" dirty="0"/>
                  </a:p>
                </p:txBody>
              </p:sp>
            </p:grpSp>
            <p:sp>
              <p:nvSpPr>
                <p:cNvPr id="21531" name="Rectangle 140"/>
                <p:cNvSpPr>
                  <a:spLocks noChangeArrowheads="1"/>
                </p:cNvSpPr>
                <p:nvPr/>
              </p:nvSpPr>
              <p:spPr bwMode="auto">
                <a:xfrm>
                  <a:off x="1212209" y="3144774"/>
                  <a:ext cx="1630763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200" dirty="0">
                      <a:solidFill>
                        <a:srgbClr val="FFFFFF"/>
                      </a:solidFill>
                    </a:rPr>
                    <a:t>Processos </a:t>
                  </a:r>
                  <a:r>
                    <a:rPr lang="pt-BR" altLang="pt-BR" sz="1200" dirty="0">
                      <a:solidFill>
                        <a:schemeClr val="bg1"/>
                      </a:solidFill>
                    </a:rPr>
                    <a:t>Habilitadores</a:t>
                  </a:r>
                </a:p>
              </p:txBody>
            </p:sp>
            <p:sp>
              <p:nvSpPr>
                <p:cNvPr id="21532" name="Freeform 141"/>
                <p:cNvSpPr>
                  <a:spLocks/>
                </p:cNvSpPr>
                <p:nvPr/>
              </p:nvSpPr>
              <p:spPr bwMode="auto">
                <a:xfrm>
                  <a:off x="6852411" y="2918587"/>
                  <a:ext cx="1291082" cy="454025"/>
                </a:xfrm>
                <a:custGeom>
                  <a:avLst/>
                  <a:gdLst>
                    <a:gd name="T0" fmla="*/ 2147483647 w 782"/>
                    <a:gd name="T1" fmla="*/ 2147483647 h 275"/>
                    <a:gd name="T2" fmla="*/ 2147483647 w 782"/>
                    <a:gd name="T3" fmla="*/ 2147483647 h 275"/>
                    <a:gd name="T4" fmla="*/ 2147483647 w 782"/>
                    <a:gd name="T5" fmla="*/ 2147483647 h 275"/>
                    <a:gd name="T6" fmla="*/ 2147483647 w 782"/>
                    <a:gd name="T7" fmla="*/ 2147483647 h 275"/>
                    <a:gd name="T8" fmla="*/ 2147483647 w 782"/>
                    <a:gd name="T9" fmla="*/ 2147483647 h 275"/>
                    <a:gd name="T10" fmla="*/ 2147483647 w 782"/>
                    <a:gd name="T11" fmla="*/ 2147483647 h 275"/>
                    <a:gd name="T12" fmla="*/ 2147483647 w 782"/>
                    <a:gd name="T13" fmla="*/ 2147483647 h 275"/>
                    <a:gd name="T14" fmla="*/ 2147483647 w 782"/>
                    <a:gd name="T15" fmla="*/ 2147483647 h 275"/>
                    <a:gd name="T16" fmla="*/ 2147483647 w 782"/>
                    <a:gd name="T17" fmla="*/ 2147483647 h 275"/>
                    <a:gd name="T18" fmla="*/ 2147483647 w 782"/>
                    <a:gd name="T19" fmla="*/ 2147483647 h 275"/>
                    <a:gd name="T20" fmla="*/ 2147483647 w 782"/>
                    <a:gd name="T21" fmla="*/ 2147483647 h 275"/>
                    <a:gd name="T22" fmla="*/ 2147483647 w 782"/>
                    <a:gd name="T23" fmla="*/ 2147483647 h 275"/>
                    <a:gd name="T24" fmla="*/ 2147483647 w 782"/>
                    <a:gd name="T25" fmla="*/ 2147483647 h 275"/>
                    <a:gd name="T26" fmla="*/ 2147483647 w 782"/>
                    <a:gd name="T27" fmla="*/ 2147483647 h 275"/>
                    <a:gd name="T28" fmla="*/ 2147483647 w 782"/>
                    <a:gd name="T29" fmla="*/ 2147483647 h 275"/>
                    <a:gd name="T30" fmla="*/ 2147483647 w 782"/>
                    <a:gd name="T31" fmla="*/ 2147483647 h 275"/>
                    <a:gd name="T32" fmla="*/ 2147483647 w 782"/>
                    <a:gd name="T33" fmla="*/ 2147483647 h 275"/>
                    <a:gd name="T34" fmla="*/ 2147483647 w 782"/>
                    <a:gd name="T35" fmla="*/ 2147483647 h 275"/>
                    <a:gd name="T36" fmla="*/ 2147483647 w 782"/>
                    <a:gd name="T37" fmla="*/ 2147483647 h 275"/>
                    <a:gd name="T38" fmla="*/ 2147483647 w 782"/>
                    <a:gd name="T39" fmla="*/ 2147483647 h 275"/>
                    <a:gd name="T40" fmla="*/ 2147483647 w 782"/>
                    <a:gd name="T41" fmla="*/ 2147483647 h 275"/>
                    <a:gd name="T42" fmla="*/ 2147483647 w 782"/>
                    <a:gd name="T43" fmla="*/ 2147483647 h 275"/>
                    <a:gd name="T44" fmla="*/ 2147483647 w 782"/>
                    <a:gd name="T45" fmla="*/ 2147483647 h 275"/>
                    <a:gd name="T46" fmla="*/ 2147483647 w 782"/>
                    <a:gd name="T47" fmla="*/ 2147483647 h 275"/>
                    <a:gd name="T48" fmla="*/ 2147483647 w 782"/>
                    <a:gd name="T49" fmla="*/ 2147483647 h 275"/>
                    <a:gd name="T50" fmla="*/ 2147483647 w 782"/>
                    <a:gd name="T51" fmla="*/ 2147483647 h 275"/>
                    <a:gd name="T52" fmla="*/ 2147483647 w 782"/>
                    <a:gd name="T53" fmla="*/ 0 h 275"/>
                    <a:gd name="T54" fmla="*/ 2147483647 w 782"/>
                    <a:gd name="T55" fmla="*/ 0 h 275"/>
                    <a:gd name="T56" fmla="*/ 2147483647 w 782"/>
                    <a:gd name="T57" fmla="*/ 2147483647 h 275"/>
                    <a:gd name="T58" fmla="*/ 2147483647 w 782"/>
                    <a:gd name="T59" fmla="*/ 2147483647 h 275"/>
                    <a:gd name="T60" fmla="*/ 2147483647 w 782"/>
                    <a:gd name="T61" fmla="*/ 2147483647 h 275"/>
                    <a:gd name="T62" fmla="*/ 2147483647 w 782"/>
                    <a:gd name="T63" fmla="*/ 2147483647 h 275"/>
                    <a:gd name="T64" fmla="*/ 2147483647 w 782"/>
                    <a:gd name="T65" fmla="*/ 2147483647 h 275"/>
                    <a:gd name="T66" fmla="*/ 2147483647 w 782"/>
                    <a:gd name="T67" fmla="*/ 2147483647 h 275"/>
                    <a:gd name="T68" fmla="*/ 2147483647 w 782"/>
                    <a:gd name="T69" fmla="*/ 2147483647 h 275"/>
                    <a:gd name="T70" fmla="*/ 2147483647 w 782"/>
                    <a:gd name="T71" fmla="*/ 2147483647 h 275"/>
                    <a:gd name="T72" fmla="*/ 2147483647 w 782"/>
                    <a:gd name="T73" fmla="*/ 2147483647 h 275"/>
                    <a:gd name="T74" fmla="*/ 2147483647 w 782"/>
                    <a:gd name="T75" fmla="*/ 2147483647 h 275"/>
                    <a:gd name="T76" fmla="*/ 2147483647 w 782"/>
                    <a:gd name="T77" fmla="*/ 2147483647 h 275"/>
                    <a:gd name="T78" fmla="*/ 0 w 782"/>
                    <a:gd name="T79" fmla="*/ 2147483647 h 275"/>
                    <a:gd name="T80" fmla="*/ 2147483647 w 782"/>
                    <a:gd name="T81" fmla="*/ 2147483647 h 275"/>
                    <a:gd name="T82" fmla="*/ 2147483647 w 782"/>
                    <a:gd name="T83" fmla="*/ 2147483647 h 275"/>
                    <a:gd name="T84" fmla="*/ 2147483647 w 782"/>
                    <a:gd name="T85" fmla="*/ 2147483647 h 275"/>
                    <a:gd name="T86" fmla="*/ 2147483647 w 782"/>
                    <a:gd name="T87" fmla="*/ 2147483647 h 275"/>
                    <a:gd name="T88" fmla="*/ 2147483647 w 782"/>
                    <a:gd name="T89" fmla="*/ 2147483647 h 275"/>
                    <a:gd name="T90" fmla="*/ 2147483647 w 782"/>
                    <a:gd name="T91" fmla="*/ 2147483647 h 275"/>
                    <a:gd name="T92" fmla="*/ 2147483647 w 782"/>
                    <a:gd name="T93" fmla="*/ 2147483647 h 275"/>
                    <a:gd name="T94" fmla="*/ 2147483647 w 782"/>
                    <a:gd name="T95" fmla="*/ 2147483647 h 275"/>
                    <a:gd name="T96" fmla="*/ 2147483647 w 782"/>
                    <a:gd name="T97" fmla="*/ 2147483647 h 275"/>
                    <a:gd name="T98" fmla="*/ 2147483647 w 782"/>
                    <a:gd name="T99" fmla="*/ 2147483647 h 275"/>
                    <a:gd name="T100" fmla="*/ 2147483647 w 782"/>
                    <a:gd name="T101" fmla="*/ 2147483647 h 275"/>
                    <a:gd name="T102" fmla="*/ 2147483647 w 782"/>
                    <a:gd name="T103" fmla="*/ 2147483647 h 275"/>
                    <a:gd name="T104" fmla="*/ 2147483647 w 782"/>
                    <a:gd name="T105" fmla="*/ 2147483647 h 275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782"/>
                    <a:gd name="T160" fmla="*/ 0 h 275"/>
                    <a:gd name="T161" fmla="*/ 782 w 782"/>
                    <a:gd name="T162" fmla="*/ 275 h 275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782" h="275">
                      <a:moveTo>
                        <a:pt x="137" y="275"/>
                      </a:moveTo>
                      <a:lnTo>
                        <a:pt x="645" y="275"/>
                      </a:lnTo>
                      <a:lnTo>
                        <a:pt x="659" y="273"/>
                      </a:lnTo>
                      <a:lnTo>
                        <a:pt x="673" y="272"/>
                      </a:lnTo>
                      <a:lnTo>
                        <a:pt x="685" y="268"/>
                      </a:lnTo>
                      <a:lnTo>
                        <a:pt x="698" y="263"/>
                      </a:lnTo>
                      <a:lnTo>
                        <a:pt x="721" y="251"/>
                      </a:lnTo>
                      <a:lnTo>
                        <a:pt x="742" y="234"/>
                      </a:lnTo>
                      <a:lnTo>
                        <a:pt x="758" y="214"/>
                      </a:lnTo>
                      <a:lnTo>
                        <a:pt x="771" y="190"/>
                      </a:lnTo>
                      <a:lnTo>
                        <a:pt x="775" y="178"/>
                      </a:lnTo>
                      <a:lnTo>
                        <a:pt x="779" y="164"/>
                      </a:lnTo>
                      <a:lnTo>
                        <a:pt x="782" y="151"/>
                      </a:lnTo>
                      <a:lnTo>
                        <a:pt x="782" y="137"/>
                      </a:lnTo>
                      <a:lnTo>
                        <a:pt x="782" y="123"/>
                      </a:lnTo>
                      <a:lnTo>
                        <a:pt x="779" y="110"/>
                      </a:lnTo>
                      <a:lnTo>
                        <a:pt x="775" y="96"/>
                      </a:lnTo>
                      <a:lnTo>
                        <a:pt x="771" y="84"/>
                      </a:lnTo>
                      <a:lnTo>
                        <a:pt x="758" y="60"/>
                      </a:lnTo>
                      <a:lnTo>
                        <a:pt x="742" y="40"/>
                      </a:lnTo>
                      <a:lnTo>
                        <a:pt x="721" y="23"/>
                      </a:lnTo>
                      <a:lnTo>
                        <a:pt x="698" y="11"/>
                      </a:lnTo>
                      <a:lnTo>
                        <a:pt x="685" y="6"/>
                      </a:lnTo>
                      <a:lnTo>
                        <a:pt x="673" y="2"/>
                      </a:lnTo>
                      <a:lnTo>
                        <a:pt x="659" y="1"/>
                      </a:lnTo>
                      <a:lnTo>
                        <a:pt x="645" y="0"/>
                      </a:lnTo>
                      <a:lnTo>
                        <a:pt x="137" y="0"/>
                      </a:lnTo>
                      <a:lnTo>
                        <a:pt x="123" y="1"/>
                      </a:lnTo>
                      <a:lnTo>
                        <a:pt x="110" y="2"/>
                      </a:lnTo>
                      <a:lnTo>
                        <a:pt x="96" y="6"/>
                      </a:lnTo>
                      <a:lnTo>
                        <a:pt x="84" y="11"/>
                      </a:lnTo>
                      <a:lnTo>
                        <a:pt x="60" y="23"/>
                      </a:lnTo>
                      <a:lnTo>
                        <a:pt x="40" y="40"/>
                      </a:lnTo>
                      <a:lnTo>
                        <a:pt x="23" y="60"/>
                      </a:lnTo>
                      <a:lnTo>
                        <a:pt x="11" y="84"/>
                      </a:lnTo>
                      <a:lnTo>
                        <a:pt x="6" y="96"/>
                      </a:lnTo>
                      <a:lnTo>
                        <a:pt x="3" y="110"/>
                      </a:lnTo>
                      <a:lnTo>
                        <a:pt x="1" y="123"/>
                      </a:lnTo>
                      <a:lnTo>
                        <a:pt x="0" y="137"/>
                      </a:lnTo>
                      <a:lnTo>
                        <a:pt x="1" y="151"/>
                      </a:lnTo>
                      <a:lnTo>
                        <a:pt x="3" y="164"/>
                      </a:lnTo>
                      <a:lnTo>
                        <a:pt x="6" y="178"/>
                      </a:lnTo>
                      <a:lnTo>
                        <a:pt x="11" y="190"/>
                      </a:lnTo>
                      <a:lnTo>
                        <a:pt x="23" y="214"/>
                      </a:lnTo>
                      <a:lnTo>
                        <a:pt x="40" y="234"/>
                      </a:lnTo>
                      <a:lnTo>
                        <a:pt x="60" y="251"/>
                      </a:lnTo>
                      <a:lnTo>
                        <a:pt x="84" y="263"/>
                      </a:lnTo>
                      <a:lnTo>
                        <a:pt x="96" y="268"/>
                      </a:lnTo>
                      <a:lnTo>
                        <a:pt x="110" y="272"/>
                      </a:lnTo>
                      <a:lnTo>
                        <a:pt x="123" y="273"/>
                      </a:lnTo>
                      <a:lnTo>
                        <a:pt x="137" y="275"/>
                      </a:lnTo>
                      <a:close/>
                    </a:path>
                  </a:pathLst>
                </a:custGeom>
                <a:solidFill>
                  <a:srgbClr val="285EA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33" name="Rectangle 142"/>
                <p:cNvSpPr>
                  <a:spLocks noChangeArrowheads="1"/>
                </p:cNvSpPr>
                <p:nvPr/>
              </p:nvSpPr>
              <p:spPr bwMode="auto">
                <a:xfrm>
                  <a:off x="7095108" y="2989580"/>
                  <a:ext cx="926868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200" i="1">
                      <a:solidFill>
                        <a:srgbClr val="FFFFFF"/>
                      </a:solidFill>
                    </a:rPr>
                    <a:t>Outros Guias </a:t>
                  </a:r>
                  <a:endParaRPr lang="pt-BR" altLang="pt-BR" sz="1200" i="1"/>
                </a:p>
              </p:txBody>
            </p:sp>
            <p:sp>
              <p:nvSpPr>
                <p:cNvPr id="21534" name="Rectangle 143"/>
                <p:cNvSpPr>
                  <a:spLocks noChangeArrowheads="1"/>
                </p:cNvSpPr>
                <p:nvPr/>
              </p:nvSpPr>
              <p:spPr bwMode="auto">
                <a:xfrm>
                  <a:off x="7086600" y="3144774"/>
                  <a:ext cx="886062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pt-BR" altLang="pt-BR" sz="1200" i="1">
                      <a:solidFill>
                        <a:srgbClr val="FFFFFF"/>
                      </a:solidFill>
                    </a:rPr>
                    <a:t>Habilitadores</a:t>
                  </a:r>
                  <a:endParaRPr lang="pt-BR" altLang="pt-BR" sz="1200" i="1"/>
                </a:p>
              </p:txBody>
            </p:sp>
            <p:sp>
              <p:nvSpPr>
                <p:cNvPr id="21535" name="Freeform 144"/>
                <p:cNvSpPr>
                  <a:spLocks/>
                </p:cNvSpPr>
                <p:nvPr/>
              </p:nvSpPr>
              <p:spPr bwMode="auto">
                <a:xfrm>
                  <a:off x="978850" y="1969262"/>
                  <a:ext cx="7334568" cy="473066"/>
                </a:xfrm>
                <a:custGeom>
                  <a:avLst/>
                  <a:gdLst>
                    <a:gd name="T0" fmla="*/ 2147483647 w 4443"/>
                    <a:gd name="T1" fmla="*/ 2147483647 h 287"/>
                    <a:gd name="T2" fmla="*/ 2147483647 w 4443"/>
                    <a:gd name="T3" fmla="*/ 2147483647 h 287"/>
                    <a:gd name="T4" fmla="*/ 2147483647 w 4443"/>
                    <a:gd name="T5" fmla="*/ 2147483647 h 287"/>
                    <a:gd name="T6" fmla="*/ 2147483647 w 4443"/>
                    <a:gd name="T7" fmla="*/ 2147483647 h 287"/>
                    <a:gd name="T8" fmla="*/ 2147483647 w 4443"/>
                    <a:gd name="T9" fmla="*/ 2147483647 h 287"/>
                    <a:gd name="T10" fmla="*/ 2147483647 w 4443"/>
                    <a:gd name="T11" fmla="*/ 2147483647 h 287"/>
                    <a:gd name="T12" fmla="*/ 2147483647 w 4443"/>
                    <a:gd name="T13" fmla="*/ 2147483647 h 287"/>
                    <a:gd name="T14" fmla="*/ 2147483647 w 4443"/>
                    <a:gd name="T15" fmla="*/ 2147483647 h 287"/>
                    <a:gd name="T16" fmla="*/ 2147483647 w 4443"/>
                    <a:gd name="T17" fmla="*/ 2147483647 h 287"/>
                    <a:gd name="T18" fmla="*/ 2147483647 w 4443"/>
                    <a:gd name="T19" fmla="*/ 2147483647 h 287"/>
                    <a:gd name="T20" fmla="*/ 2147483647 w 4443"/>
                    <a:gd name="T21" fmla="*/ 2147483647 h 287"/>
                    <a:gd name="T22" fmla="*/ 2147483647 w 4443"/>
                    <a:gd name="T23" fmla="*/ 2147483647 h 287"/>
                    <a:gd name="T24" fmla="*/ 2147483647 w 4443"/>
                    <a:gd name="T25" fmla="*/ 2147483647 h 287"/>
                    <a:gd name="T26" fmla="*/ 2147483647 w 4443"/>
                    <a:gd name="T27" fmla="*/ 2147483647 h 287"/>
                    <a:gd name="T28" fmla="*/ 2147483647 w 4443"/>
                    <a:gd name="T29" fmla="*/ 2147483647 h 287"/>
                    <a:gd name="T30" fmla="*/ 2147483647 w 4443"/>
                    <a:gd name="T31" fmla="*/ 2147483647 h 287"/>
                    <a:gd name="T32" fmla="*/ 2147483647 w 4443"/>
                    <a:gd name="T33" fmla="*/ 2147483647 h 287"/>
                    <a:gd name="T34" fmla="*/ 2147483647 w 4443"/>
                    <a:gd name="T35" fmla="*/ 2147483647 h 287"/>
                    <a:gd name="T36" fmla="*/ 2147483647 w 4443"/>
                    <a:gd name="T37" fmla="*/ 2147483647 h 287"/>
                    <a:gd name="T38" fmla="*/ 2147483647 w 4443"/>
                    <a:gd name="T39" fmla="*/ 2147483647 h 287"/>
                    <a:gd name="T40" fmla="*/ 2147483647 w 4443"/>
                    <a:gd name="T41" fmla="*/ 2147483647 h 287"/>
                    <a:gd name="T42" fmla="*/ 2147483647 w 4443"/>
                    <a:gd name="T43" fmla="*/ 2147483647 h 287"/>
                    <a:gd name="T44" fmla="*/ 2147483647 w 4443"/>
                    <a:gd name="T45" fmla="*/ 2147483647 h 287"/>
                    <a:gd name="T46" fmla="*/ 2147483647 w 4443"/>
                    <a:gd name="T47" fmla="*/ 2147483647 h 287"/>
                    <a:gd name="T48" fmla="*/ 2147483647 w 4443"/>
                    <a:gd name="T49" fmla="*/ 2147483647 h 287"/>
                    <a:gd name="T50" fmla="*/ 2147483647 w 4443"/>
                    <a:gd name="T51" fmla="*/ 2147483647 h 287"/>
                    <a:gd name="T52" fmla="*/ 2147483647 w 4443"/>
                    <a:gd name="T53" fmla="*/ 0 h 287"/>
                    <a:gd name="T54" fmla="*/ 2147483647 w 4443"/>
                    <a:gd name="T55" fmla="*/ 0 h 287"/>
                    <a:gd name="T56" fmla="*/ 2147483647 w 4443"/>
                    <a:gd name="T57" fmla="*/ 2147483647 h 287"/>
                    <a:gd name="T58" fmla="*/ 2147483647 w 4443"/>
                    <a:gd name="T59" fmla="*/ 2147483647 h 287"/>
                    <a:gd name="T60" fmla="*/ 2147483647 w 4443"/>
                    <a:gd name="T61" fmla="*/ 2147483647 h 287"/>
                    <a:gd name="T62" fmla="*/ 2147483647 w 4443"/>
                    <a:gd name="T63" fmla="*/ 2147483647 h 287"/>
                    <a:gd name="T64" fmla="*/ 2147483647 w 4443"/>
                    <a:gd name="T65" fmla="*/ 2147483647 h 287"/>
                    <a:gd name="T66" fmla="*/ 2147483647 w 4443"/>
                    <a:gd name="T67" fmla="*/ 2147483647 h 287"/>
                    <a:gd name="T68" fmla="*/ 2147483647 w 4443"/>
                    <a:gd name="T69" fmla="*/ 2147483647 h 287"/>
                    <a:gd name="T70" fmla="*/ 2147483647 w 4443"/>
                    <a:gd name="T71" fmla="*/ 2147483647 h 287"/>
                    <a:gd name="T72" fmla="*/ 2147483647 w 4443"/>
                    <a:gd name="T73" fmla="*/ 2147483647 h 287"/>
                    <a:gd name="T74" fmla="*/ 2147483647 w 4443"/>
                    <a:gd name="T75" fmla="*/ 2147483647 h 287"/>
                    <a:gd name="T76" fmla="*/ 2147483647 w 4443"/>
                    <a:gd name="T77" fmla="*/ 2147483647 h 287"/>
                    <a:gd name="T78" fmla="*/ 0 w 4443"/>
                    <a:gd name="T79" fmla="*/ 2147483647 h 287"/>
                    <a:gd name="T80" fmla="*/ 2147483647 w 4443"/>
                    <a:gd name="T81" fmla="*/ 2147483647 h 287"/>
                    <a:gd name="T82" fmla="*/ 2147483647 w 4443"/>
                    <a:gd name="T83" fmla="*/ 2147483647 h 287"/>
                    <a:gd name="T84" fmla="*/ 2147483647 w 4443"/>
                    <a:gd name="T85" fmla="*/ 2147483647 h 287"/>
                    <a:gd name="T86" fmla="*/ 2147483647 w 4443"/>
                    <a:gd name="T87" fmla="*/ 2147483647 h 287"/>
                    <a:gd name="T88" fmla="*/ 2147483647 w 4443"/>
                    <a:gd name="T89" fmla="*/ 2147483647 h 287"/>
                    <a:gd name="T90" fmla="*/ 2147483647 w 4443"/>
                    <a:gd name="T91" fmla="*/ 2147483647 h 287"/>
                    <a:gd name="T92" fmla="*/ 2147483647 w 4443"/>
                    <a:gd name="T93" fmla="*/ 2147483647 h 287"/>
                    <a:gd name="T94" fmla="*/ 2147483647 w 4443"/>
                    <a:gd name="T95" fmla="*/ 2147483647 h 287"/>
                    <a:gd name="T96" fmla="*/ 2147483647 w 4443"/>
                    <a:gd name="T97" fmla="*/ 2147483647 h 287"/>
                    <a:gd name="T98" fmla="*/ 2147483647 w 4443"/>
                    <a:gd name="T99" fmla="*/ 2147483647 h 287"/>
                    <a:gd name="T100" fmla="*/ 2147483647 w 4443"/>
                    <a:gd name="T101" fmla="*/ 2147483647 h 287"/>
                    <a:gd name="T102" fmla="*/ 2147483647 w 4443"/>
                    <a:gd name="T103" fmla="*/ 2147483647 h 287"/>
                    <a:gd name="T104" fmla="*/ 2147483647 w 4443"/>
                    <a:gd name="T105" fmla="*/ 2147483647 h 287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4443"/>
                    <a:gd name="T160" fmla="*/ 0 h 287"/>
                    <a:gd name="T161" fmla="*/ 4443 w 4443"/>
                    <a:gd name="T162" fmla="*/ 287 h 287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4443" h="287">
                      <a:moveTo>
                        <a:pt x="143" y="287"/>
                      </a:moveTo>
                      <a:lnTo>
                        <a:pt x="4300" y="287"/>
                      </a:lnTo>
                      <a:lnTo>
                        <a:pt x="4315" y="287"/>
                      </a:lnTo>
                      <a:lnTo>
                        <a:pt x="4330" y="285"/>
                      </a:lnTo>
                      <a:lnTo>
                        <a:pt x="4343" y="281"/>
                      </a:lnTo>
                      <a:lnTo>
                        <a:pt x="4357" y="276"/>
                      </a:lnTo>
                      <a:lnTo>
                        <a:pt x="4380" y="262"/>
                      </a:lnTo>
                      <a:lnTo>
                        <a:pt x="4401" y="245"/>
                      </a:lnTo>
                      <a:lnTo>
                        <a:pt x="4420" y="224"/>
                      </a:lnTo>
                      <a:lnTo>
                        <a:pt x="4432" y="199"/>
                      </a:lnTo>
                      <a:lnTo>
                        <a:pt x="4437" y="187"/>
                      </a:lnTo>
                      <a:lnTo>
                        <a:pt x="4441" y="172"/>
                      </a:lnTo>
                      <a:lnTo>
                        <a:pt x="4443" y="158"/>
                      </a:lnTo>
                      <a:lnTo>
                        <a:pt x="4443" y="144"/>
                      </a:lnTo>
                      <a:lnTo>
                        <a:pt x="4443" y="129"/>
                      </a:lnTo>
                      <a:lnTo>
                        <a:pt x="4441" y="115"/>
                      </a:lnTo>
                      <a:lnTo>
                        <a:pt x="4437" y="101"/>
                      </a:lnTo>
                      <a:lnTo>
                        <a:pt x="4432" y="88"/>
                      </a:lnTo>
                      <a:lnTo>
                        <a:pt x="4420" y="63"/>
                      </a:lnTo>
                      <a:lnTo>
                        <a:pt x="4401" y="42"/>
                      </a:lnTo>
                      <a:lnTo>
                        <a:pt x="4380" y="25"/>
                      </a:lnTo>
                      <a:lnTo>
                        <a:pt x="4357" y="11"/>
                      </a:lnTo>
                      <a:lnTo>
                        <a:pt x="4343" y="6"/>
                      </a:lnTo>
                      <a:lnTo>
                        <a:pt x="4330" y="2"/>
                      </a:lnTo>
                      <a:lnTo>
                        <a:pt x="4315" y="1"/>
                      </a:lnTo>
                      <a:lnTo>
                        <a:pt x="4300" y="0"/>
                      </a:lnTo>
                      <a:lnTo>
                        <a:pt x="143" y="0"/>
                      </a:lnTo>
                      <a:lnTo>
                        <a:pt x="130" y="1"/>
                      </a:lnTo>
                      <a:lnTo>
                        <a:pt x="115" y="2"/>
                      </a:lnTo>
                      <a:lnTo>
                        <a:pt x="101" y="6"/>
                      </a:lnTo>
                      <a:lnTo>
                        <a:pt x="88" y="11"/>
                      </a:lnTo>
                      <a:lnTo>
                        <a:pt x="64" y="25"/>
                      </a:lnTo>
                      <a:lnTo>
                        <a:pt x="42" y="42"/>
                      </a:lnTo>
                      <a:lnTo>
                        <a:pt x="25" y="63"/>
                      </a:lnTo>
                      <a:lnTo>
                        <a:pt x="11" y="88"/>
                      </a:lnTo>
                      <a:lnTo>
                        <a:pt x="7" y="101"/>
                      </a:lnTo>
                      <a:lnTo>
                        <a:pt x="4" y="115"/>
                      </a:lnTo>
                      <a:lnTo>
                        <a:pt x="1" y="129"/>
                      </a:lnTo>
                      <a:lnTo>
                        <a:pt x="0" y="144"/>
                      </a:lnTo>
                      <a:lnTo>
                        <a:pt x="1" y="158"/>
                      </a:lnTo>
                      <a:lnTo>
                        <a:pt x="4" y="172"/>
                      </a:lnTo>
                      <a:lnTo>
                        <a:pt x="7" y="187"/>
                      </a:lnTo>
                      <a:lnTo>
                        <a:pt x="11" y="199"/>
                      </a:lnTo>
                      <a:lnTo>
                        <a:pt x="25" y="224"/>
                      </a:lnTo>
                      <a:lnTo>
                        <a:pt x="42" y="245"/>
                      </a:lnTo>
                      <a:lnTo>
                        <a:pt x="64" y="262"/>
                      </a:lnTo>
                      <a:lnTo>
                        <a:pt x="88" y="276"/>
                      </a:lnTo>
                      <a:lnTo>
                        <a:pt x="101" y="281"/>
                      </a:lnTo>
                      <a:lnTo>
                        <a:pt x="115" y="285"/>
                      </a:lnTo>
                      <a:lnTo>
                        <a:pt x="130" y="287"/>
                      </a:lnTo>
                      <a:lnTo>
                        <a:pt x="143" y="287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pt-BR" sz="2800" b="1" dirty="0" smtClean="0">
                      <a:solidFill>
                        <a:schemeClr val="bg1"/>
                      </a:solidFill>
                    </a:rPr>
                    <a:t>COBIT® 5</a:t>
                  </a:r>
                  <a:endParaRPr lang="pt-BR" sz="28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537" name="Rectangle 146"/>
                <p:cNvSpPr>
                  <a:spLocks noChangeArrowheads="1"/>
                </p:cNvSpPr>
                <p:nvPr/>
              </p:nvSpPr>
              <p:spPr bwMode="auto">
                <a:xfrm>
                  <a:off x="4798567" y="2074926"/>
                  <a:ext cx="59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 sz="1200" dirty="0"/>
                </a:p>
              </p:txBody>
            </p:sp>
            <p:sp>
              <p:nvSpPr>
                <p:cNvPr id="21539" name="Rectangle 148"/>
                <p:cNvSpPr>
                  <a:spLocks noChangeArrowheads="1"/>
                </p:cNvSpPr>
                <p:nvPr/>
              </p:nvSpPr>
              <p:spPr bwMode="auto">
                <a:xfrm>
                  <a:off x="4928996" y="2101342"/>
                  <a:ext cx="59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 sz="1200" dirty="0"/>
                </a:p>
              </p:txBody>
            </p:sp>
            <p:sp>
              <p:nvSpPr>
                <p:cNvPr id="21540" name="Freeform 149"/>
                <p:cNvSpPr>
                  <a:spLocks/>
                </p:cNvSpPr>
                <p:nvPr/>
              </p:nvSpPr>
              <p:spPr bwMode="auto">
                <a:xfrm>
                  <a:off x="4169863" y="2929682"/>
                  <a:ext cx="1524066" cy="454017"/>
                </a:xfrm>
                <a:custGeom>
                  <a:avLst/>
                  <a:gdLst>
                    <a:gd name="T0" fmla="*/ 2147483647 w 923"/>
                    <a:gd name="T1" fmla="*/ 2147483647 h 275"/>
                    <a:gd name="T2" fmla="*/ 2147483647 w 923"/>
                    <a:gd name="T3" fmla="*/ 2147483647 h 275"/>
                    <a:gd name="T4" fmla="*/ 2147483647 w 923"/>
                    <a:gd name="T5" fmla="*/ 2147483647 h 275"/>
                    <a:gd name="T6" fmla="*/ 2147483647 w 923"/>
                    <a:gd name="T7" fmla="*/ 2147483647 h 275"/>
                    <a:gd name="T8" fmla="*/ 2147483647 w 923"/>
                    <a:gd name="T9" fmla="*/ 2147483647 h 275"/>
                    <a:gd name="T10" fmla="*/ 2147483647 w 923"/>
                    <a:gd name="T11" fmla="*/ 2147483647 h 275"/>
                    <a:gd name="T12" fmla="*/ 2147483647 w 923"/>
                    <a:gd name="T13" fmla="*/ 2147483647 h 275"/>
                    <a:gd name="T14" fmla="*/ 2147483647 w 923"/>
                    <a:gd name="T15" fmla="*/ 2147483647 h 275"/>
                    <a:gd name="T16" fmla="*/ 2147483647 w 923"/>
                    <a:gd name="T17" fmla="*/ 2147483647 h 275"/>
                    <a:gd name="T18" fmla="*/ 2147483647 w 923"/>
                    <a:gd name="T19" fmla="*/ 2147483647 h 275"/>
                    <a:gd name="T20" fmla="*/ 2147483647 w 923"/>
                    <a:gd name="T21" fmla="*/ 2147483647 h 275"/>
                    <a:gd name="T22" fmla="*/ 2147483647 w 923"/>
                    <a:gd name="T23" fmla="*/ 2147483647 h 275"/>
                    <a:gd name="T24" fmla="*/ 2147483647 w 923"/>
                    <a:gd name="T25" fmla="*/ 2147483647 h 275"/>
                    <a:gd name="T26" fmla="*/ 2147483647 w 923"/>
                    <a:gd name="T27" fmla="*/ 2147483647 h 275"/>
                    <a:gd name="T28" fmla="*/ 2147483647 w 923"/>
                    <a:gd name="T29" fmla="*/ 2147483647 h 275"/>
                    <a:gd name="T30" fmla="*/ 2147483647 w 923"/>
                    <a:gd name="T31" fmla="*/ 2147483647 h 275"/>
                    <a:gd name="T32" fmla="*/ 2147483647 w 923"/>
                    <a:gd name="T33" fmla="*/ 2147483647 h 275"/>
                    <a:gd name="T34" fmla="*/ 2147483647 w 923"/>
                    <a:gd name="T35" fmla="*/ 2147483647 h 275"/>
                    <a:gd name="T36" fmla="*/ 2147483647 w 923"/>
                    <a:gd name="T37" fmla="*/ 2147483647 h 275"/>
                    <a:gd name="T38" fmla="*/ 2147483647 w 923"/>
                    <a:gd name="T39" fmla="*/ 2147483647 h 275"/>
                    <a:gd name="T40" fmla="*/ 2147483647 w 923"/>
                    <a:gd name="T41" fmla="*/ 2147483647 h 275"/>
                    <a:gd name="T42" fmla="*/ 2147483647 w 923"/>
                    <a:gd name="T43" fmla="*/ 2147483647 h 275"/>
                    <a:gd name="T44" fmla="*/ 2147483647 w 923"/>
                    <a:gd name="T45" fmla="*/ 2147483647 h 275"/>
                    <a:gd name="T46" fmla="*/ 2147483647 w 923"/>
                    <a:gd name="T47" fmla="*/ 2147483647 h 275"/>
                    <a:gd name="T48" fmla="*/ 2147483647 w 923"/>
                    <a:gd name="T49" fmla="*/ 2147483647 h 275"/>
                    <a:gd name="T50" fmla="*/ 2147483647 w 923"/>
                    <a:gd name="T51" fmla="*/ 2147483647 h 275"/>
                    <a:gd name="T52" fmla="*/ 2147483647 w 923"/>
                    <a:gd name="T53" fmla="*/ 0 h 275"/>
                    <a:gd name="T54" fmla="*/ 2147483647 w 923"/>
                    <a:gd name="T55" fmla="*/ 0 h 275"/>
                    <a:gd name="T56" fmla="*/ 2147483647 w 923"/>
                    <a:gd name="T57" fmla="*/ 0 h 275"/>
                    <a:gd name="T58" fmla="*/ 2147483647 w 923"/>
                    <a:gd name="T59" fmla="*/ 2147483647 h 275"/>
                    <a:gd name="T60" fmla="*/ 2147483647 w 923"/>
                    <a:gd name="T61" fmla="*/ 2147483647 h 275"/>
                    <a:gd name="T62" fmla="*/ 2147483647 w 923"/>
                    <a:gd name="T63" fmla="*/ 2147483647 h 275"/>
                    <a:gd name="T64" fmla="*/ 2147483647 w 923"/>
                    <a:gd name="T65" fmla="*/ 2147483647 h 275"/>
                    <a:gd name="T66" fmla="*/ 2147483647 w 923"/>
                    <a:gd name="T67" fmla="*/ 2147483647 h 275"/>
                    <a:gd name="T68" fmla="*/ 2147483647 w 923"/>
                    <a:gd name="T69" fmla="*/ 2147483647 h 275"/>
                    <a:gd name="T70" fmla="*/ 2147483647 w 923"/>
                    <a:gd name="T71" fmla="*/ 2147483647 h 275"/>
                    <a:gd name="T72" fmla="*/ 2147483647 w 923"/>
                    <a:gd name="T73" fmla="*/ 2147483647 h 275"/>
                    <a:gd name="T74" fmla="*/ 2147483647 w 923"/>
                    <a:gd name="T75" fmla="*/ 2147483647 h 275"/>
                    <a:gd name="T76" fmla="*/ 2147483647 w 923"/>
                    <a:gd name="T77" fmla="*/ 2147483647 h 275"/>
                    <a:gd name="T78" fmla="*/ 0 w 923"/>
                    <a:gd name="T79" fmla="*/ 2147483647 h 275"/>
                    <a:gd name="T80" fmla="*/ 0 w 923"/>
                    <a:gd name="T81" fmla="*/ 2147483647 h 275"/>
                    <a:gd name="T82" fmla="*/ 0 w 923"/>
                    <a:gd name="T83" fmla="*/ 2147483647 h 275"/>
                    <a:gd name="T84" fmla="*/ 2147483647 w 923"/>
                    <a:gd name="T85" fmla="*/ 2147483647 h 275"/>
                    <a:gd name="T86" fmla="*/ 2147483647 w 923"/>
                    <a:gd name="T87" fmla="*/ 2147483647 h 275"/>
                    <a:gd name="T88" fmla="*/ 2147483647 w 923"/>
                    <a:gd name="T89" fmla="*/ 2147483647 h 275"/>
                    <a:gd name="T90" fmla="*/ 2147483647 w 923"/>
                    <a:gd name="T91" fmla="*/ 2147483647 h 275"/>
                    <a:gd name="T92" fmla="*/ 2147483647 w 923"/>
                    <a:gd name="T93" fmla="*/ 2147483647 h 275"/>
                    <a:gd name="T94" fmla="*/ 2147483647 w 923"/>
                    <a:gd name="T95" fmla="*/ 2147483647 h 275"/>
                    <a:gd name="T96" fmla="*/ 2147483647 w 923"/>
                    <a:gd name="T97" fmla="*/ 2147483647 h 275"/>
                    <a:gd name="T98" fmla="*/ 2147483647 w 923"/>
                    <a:gd name="T99" fmla="*/ 2147483647 h 275"/>
                    <a:gd name="T100" fmla="*/ 2147483647 w 923"/>
                    <a:gd name="T101" fmla="*/ 2147483647 h 275"/>
                    <a:gd name="T102" fmla="*/ 2147483647 w 923"/>
                    <a:gd name="T103" fmla="*/ 2147483647 h 275"/>
                    <a:gd name="T104" fmla="*/ 2147483647 w 923"/>
                    <a:gd name="T105" fmla="*/ 2147483647 h 275"/>
                    <a:gd name="T106" fmla="*/ 2147483647 w 923"/>
                    <a:gd name="T107" fmla="*/ 2147483647 h 275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w 923"/>
                    <a:gd name="T163" fmla="*/ 0 h 275"/>
                    <a:gd name="T164" fmla="*/ 923 w 923"/>
                    <a:gd name="T165" fmla="*/ 275 h 275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T162" t="T163" r="T164" b="T165"/>
                  <a:pathLst>
                    <a:path w="923" h="275">
                      <a:moveTo>
                        <a:pt x="137" y="275"/>
                      </a:moveTo>
                      <a:lnTo>
                        <a:pt x="786" y="275"/>
                      </a:lnTo>
                      <a:lnTo>
                        <a:pt x="799" y="275"/>
                      </a:lnTo>
                      <a:lnTo>
                        <a:pt x="813" y="273"/>
                      </a:lnTo>
                      <a:lnTo>
                        <a:pt x="827" y="269"/>
                      </a:lnTo>
                      <a:lnTo>
                        <a:pt x="839" y="265"/>
                      </a:lnTo>
                      <a:lnTo>
                        <a:pt x="862" y="251"/>
                      </a:lnTo>
                      <a:lnTo>
                        <a:pt x="882" y="235"/>
                      </a:lnTo>
                      <a:lnTo>
                        <a:pt x="900" y="214"/>
                      </a:lnTo>
                      <a:lnTo>
                        <a:pt x="912" y="192"/>
                      </a:lnTo>
                      <a:lnTo>
                        <a:pt x="917" y="178"/>
                      </a:lnTo>
                      <a:lnTo>
                        <a:pt x="919" y="166"/>
                      </a:lnTo>
                      <a:lnTo>
                        <a:pt x="922" y="152"/>
                      </a:lnTo>
                      <a:lnTo>
                        <a:pt x="923" y="138"/>
                      </a:lnTo>
                      <a:lnTo>
                        <a:pt x="922" y="124"/>
                      </a:lnTo>
                      <a:lnTo>
                        <a:pt x="919" y="110"/>
                      </a:lnTo>
                      <a:lnTo>
                        <a:pt x="917" y="97"/>
                      </a:lnTo>
                      <a:lnTo>
                        <a:pt x="912" y="84"/>
                      </a:lnTo>
                      <a:lnTo>
                        <a:pt x="900" y="61"/>
                      </a:lnTo>
                      <a:lnTo>
                        <a:pt x="882" y="41"/>
                      </a:lnTo>
                      <a:lnTo>
                        <a:pt x="862" y="24"/>
                      </a:lnTo>
                      <a:lnTo>
                        <a:pt x="839" y="11"/>
                      </a:lnTo>
                      <a:lnTo>
                        <a:pt x="827" y="6"/>
                      </a:lnTo>
                      <a:lnTo>
                        <a:pt x="813" y="4"/>
                      </a:lnTo>
                      <a:lnTo>
                        <a:pt x="799" y="1"/>
                      </a:lnTo>
                      <a:lnTo>
                        <a:pt x="786" y="0"/>
                      </a:lnTo>
                      <a:lnTo>
                        <a:pt x="137" y="0"/>
                      </a:lnTo>
                      <a:lnTo>
                        <a:pt x="124" y="1"/>
                      </a:lnTo>
                      <a:lnTo>
                        <a:pt x="109" y="4"/>
                      </a:lnTo>
                      <a:lnTo>
                        <a:pt x="97" y="6"/>
                      </a:lnTo>
                      <a:lnTo>
                        <a:pt x="84" y="11"/>
                      </a:lnTo>
                      <a:lnTo>
                        <a:pt x="61" y="24"/>
                      </a:lnTo>
                      <a:lnTo>
                        <a:pt x="40" y="41"/>
                      </a:lnTo>
                      <a:lnTo>
                        <a:pt x="24" y="61"/>
                      </a:lnTo>
                      <a:lnTo>
                        <a:pt x="11" y="84"/>
                      </a:lnTo>
                      <a:lnTo>
                        <a:pt x="6" y="97"/>
                      </a:lnTo>
                      <a:lnTo>
                        <a:pt x="3" y="110"/>
                      </a:lnTo>
                      <a:lnTo>
                        <a:pt x="0" y="124"/>
                      </a:lnTo>
                      <a:lnTo>
                        <a:pt x="0" y="138"/>
                      </a:lnTo>
                      <a:lnTo>
                        <a:pt x="0" y="152"/>
                      </a:lnTo>
                      <a:lnTo>
                        <a:pt x="3" y="166"/>
                      </a:lnTo>
                      <a:lnTo>
                        <a:pt x="6" y="178"/>
                      </a:lnTo>
                      <a:lnTo>
                        <a:pt x="11" y="192"/>
                      </a:lnTo>
                      <a:lnTo>
                        <a:pt x="24" y="214"/>
                      </a:lnTo>
                      <a:lnTo>
                        <a:pt x="40" y="235"/>
                      </a:lnTo>
                      <a:lnTo>
                        <a:pt x="61" y="251"/>
                      </a:lnTo>
                      <a:lnTo>
                        <a:pt x="84" y="265"/>
                      </a:lnTo>
                      <a:lnTo>
                        <a:pt x="97" y="269"/>
                      </a:lnTo>
                      <a:lnTo>
                        <a:pt x="109" y="273"/>
                      </a:lnTo>
                      <a:lnTo>
                        <a:pt x="124" y="275"/>
                      </a:lnTo>
                      <a:lnTo>
                        <a:pt x="137" y="275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41" name="Rectangle 155"/>
                <p:cNvSpPr>
                  <a:spLocks noChangeArrowheads="1"/>
                </p:cNvSpPr>
                <p:nvPr/>
              </p:nvSpPr>
              <p:spPr bwMode="auto">
                <a:xfrm>
                  <a:off x="4424047" y="3088761"/>
                  <a:ext cx="1024602" cy="277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dirty="0" smtClean="0">
                      <a:solidFill>
                        <a:srgbClr val="FFFFFF"/>
                      </a:solidFill>
                    </a:rPr>
                    <a:t>Informações </a:t>
                  </a:r>
                  <a:r>
                    <a:rPr lang="pt-BR" altLang="pt-BR" sz="1200" dirty="0">
                      <a:solidFill>
                        <a:srgbClr val="FFFFFF"/>
                      </a:solidFill>
                    </a:rPr>
                    <a:t>Habilitadoras</a:t>
                  </a:r>
                  <a:endParaRPr lang="pt-BR" altLang="pt-BR" sz="1200" dirty="0"/>
                </a:p>
              </p:txBody>
            </p:sp>
            <p:sp>
              <p:nvSpPr>
                <p:cNvPr id="21542" name="Freeform 156"/>
                <p:cNvSpPr>
                  <a:spLocks/>
                </p:cNvSpPr>
                <p:nvPr/>
              </p:nvSpPr>
              <p:spPr bwMode="auto">
                <a:xfrm>
                  <a:off x="3087141" y="4113935"/>
                  <a:ext cx="1150987" cy="554027"/>
                </a:xfrm>
                <a:custGeom>
                  <a:avLst/>
                  <a:gdLst>
                    <a:gd name="T0" fmla="*/ 2147483647 w 698"/>
                    <a:gd name="T1" fmla="*/ 2147483647 h 336"/>
                    <a:gd name="T2" fmla="*/ 2147483647 w 698"/>
                    <a:gd name="T3" fmla="*/ 2147483647 h 336"/>
                    <a:gd name="T4" fmla="*/ 2147483647 w 698"/>
                    <a:gd name="T5" fmla="*/ 2147483647 h 336"/>
                    <a:gd name="T6" fmla="*/ 2147483647 w 698"/>
                    <a:gd name="T7" fmla="*/ 2147483647 h 336"/>
                    <a:gd name="T8" fmla="*/ 2147483647 w 698"/>
                    <a:gd name="T9" fmla="*/ 2147483647 h 336"/>
                    <a:gd name="T10" fmla="*/ 2147483647 w 698"/>
                    <a:gd name="T11" fmla="*/ 2147483647 h 336"/>
                    <a:gd name="T12" fmla="*/ 2147483647 w 698"/>
                    <a:gd name="T13" fmla="*/ 2147483647 h 336"/>
                    <a:gd name="T14" fmla="*/ 2147483647 w 698"/>
                    <a:gd name="T15" fmla="*/ 2147483647 h 336"/>
                    <a:gd name="T16" fmla="*/ 2147483647 w 698"/>
                    <a:gd name="T17" fmla="*/ 2147483647 h 336"/>
                    <a:gd name="T18" fmla="*/ 2147483647 w 698"/>
                    <a:gd name="T19" fmla="*/ 2147483647 h 336"/>
                    <a:gd name="T20" fmla="*/ 2147483647 w 698"/>
                    <a:gd name="T21" fmla="*/ 2147483647 h 336"/>
                    <a:gd name="T22" fmla="*/ 2147483647 w 698"/>
                    <a:gd name="T23" fmla="*/ 2147483647 h 336"/>
                    <a:gd name="T24" fmla="*/ 2147483647 w 698"/>
                    <a:gd name="T25" fmla="*/ 2147483647 h 336"/>
                    <a:gd name="T26" fmla="*/ 2147483647 w 698"/>
                    <a:gd name="T27" fmla="*/ 2147483647 h 336"/>
                    <a:gd name="T28" fmla="*/ 2147483647 w 698"/>
                    <a:gd name="T29" fmla="*/ 2147483647 h 336"/>
                    <a:gd name="T30" fmla="*/ 2147483647 w 698"/>
                    <a:gd name="T31" fmla="*/ 2147483647 h 336"/>
                    <a:gd name="T32" fmla="*/ 2147483647 w 698"/>
                    <a:gd name="T33" fmla="*/ 2147483647 h 336"/>
                    <a:gd name="T34" fmla="*/ 2147483647 w 698"/>
                    <a:gd name="T35" fmla="*/ 0 h 336"/>
                    <a:gd name="T36" fmla="*/ 2147483647 w 698"/>
                    <a:gd name="T37" fmla="*/ 2147483647 h 336"/>
                    <a:gd name="T38" fmla="*/ 2147483647 w 698"/>
                    <a:gd name="T39" fmla="*/ 2147483647 h 336"/>
                    <a:gd name="T40" fmla="*/ 2147483647 w 698"/>
                    <a:gd name="T41" fmla="*/ 2147483647 h 336"/>
                    <a:gd name="T42" fmla="*/ 2147483647 w 698"/>
                    <a:gd name="T43" fmla="*/ 2147483647 h 336"/>
                    <a:gd name="T44" fmla="*/ 2147483647 w 698"/>
                    <a:gd name="T45" fmla="*/ 2147483647 h 336"/>
                    <a:gd name="T46" fmla="*/ 2147483647 w 698"/>
                    <a:gd name="T47" fmla="*/ 2147483647 h 336"/>
                    <a:gd name="T48" fmla="*/ 2147483647 w 698"/>
                    <a:gd name="T49" fmla="*/ 2147483647 h 336"/>
                    <a:gd name="T50" fmla="*/ 0 w 698"/>
                    <a:gd name="T51" fmla="*/ 2147483647 h 336"/>
                    <a:gd name="T52" fmla="*/ 2147483647 w 698"/>
                    <a:gd name="T53" fmla="*/ 2147483647 h 336"/>
                    <a:gd name="T54" fmla="*/ 2147483647 w 698"/>
                    <a:gd name="T55" fmla="*/ 2147483647 h 336"/>
                    <a:gd name="T56" fmla="*/ 2147483647 w 698"/>
                    <a:gd name="T57" fmla="*/ 2147483647 h 336"/>
                    <a:gd name="T58" fmla="*/ 2147483647 w 698"/>
                    <a:gd name="T59" fmla="*/ 2147483647 h 336"/>
                    <a:gd name="T60" fmla="*/ 2147483647 w 698"/>
                    <a:gd name="T61" fmla="*/ 2147483647 h 336"/>
                    <a:gd name="T62" fmla="*/ 2147483647 w 698"/>
                    <a:gd name="T63" fmla="*/ 2147483647 h 336"/>
                    <a:gd name="T64" fmla="*/ 2147483647 w 698"/>
                    <a:gd name="T65" fmla="*/ 2147483647 h 336"/>
                    <a:gd name="T66" fmla="*/ 2147483647 w 698"/>
                    <a:gd name="T67" fmla="*/ 2147483647 h 3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698"/>
                    <a:gd name="T103" fmla="*/ 0 h 336"/>
                    <a:gd name="T104" fmla="*/ 698 w 698"/>
                    <a:gd name="T105" fmla="*/ 336 h 3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698" h="336">
                      <a:moveTo>
                        <a:pt x="168" y="336"/>
                      </a:moveTo>
                      <a:lnTo>
                        <a:pt x="531" y="336"/>
                      </a:lnTo>
                      <a:lnTo>
                        <a:pt x="549" y="335"/>
                      </a:lnTo>
                      <a:lnTo>
                        <a:pt x="565" y="332"/>
                      </a:lnTo>
                      <a:lnTo>
                        <a:pt x="581" y="329"/>
                      </a:lnTo>
                      <a:lnTo>
                        <a:pt x="596" y="322"/>
                      </a:lnTo>
                      <a:lnTo>
                        <a:pt x="611" y="316"/>
                      </a:lnTo>
                      <a:lnTo>
                        <a:pt x="624" y="307"/>
                      </a:lnTo>
                      <a:lnTo>
                        <a:pt x="638" y="298"/>
                      </a:lnTo>
                      <a:lnTo>
                        <a:pt x="650" y="286"/>
                      </a:lnTo>
                      <a:lnTo>
                        <a:pt x="660" y="275"/>
                      </a:lnTo>
                      <a:lnTo>
                        <a:pt x="670" y="262"/>
                      </a:lnTo>
                      <a:lnTo>
                        <a:pt x="678" y="248"/>
                      </a:lnTo>
                      <a:lnTo>
                        <a:pt x="686" y="233"/>
                      </a:lnTo>
                      <a:lnTo>
                        <a:pt x="691" y="218"/>
                      </a:lnTo>
                      <a:lnTo>
                        <a:pt x="695" y="202"/>
                      </a:lnTo>
                      <a:lnTo>
                        <a:pt x="697" y="185"/>
                      </a:lnTo>
                      <a:lnTo>
                        <a:pt x="698" y="169"/>
                      </a:lnTo>
                      <a:lnTo>
                        <a:pt x="697" y="151"/>
                      </a:lnTo>
                      <a:lnTo>
                        <a:pt x="695" y="134"/>
                      </a:lnTo>
                      <a:lnTo>
                        <a:pt x="691" y="118"/>
                      </a:lnTo>
                      <a:lnTo>
                        <a:pt x="686" y="103"/>
                      </a:lnTo>
                      <a:lnTo>
                        <a:pt x="678" y="88"/>
                      </a:lnTo>
                      <a:lnTo>
                        <a:pt x="670" y="75"/>
                      </a:lnTo>
                      <a:lnTo>
                        <a:pt x="660" y="61"/>
                      </a:lnTo>
                      <a:lnTo>
                        <a:pt x="650" y="50"/>
                      </a:lnTo>
                      <a:lnTo>
                        <a:pt x="638" y="39"/>
                      </a:lnTo>
                      <a:lnTo>
                        <a:pt x="624" y="29"/>
                      </a:lnTo>
                      <a:lnTo>
                        <a:pt x="611" y="21"/>
                      </a:lnTo>
                      <a:lnTo>
                        <a:pt x="596" y="14"/>
                      </a:lnTo>
                      <a:lnTo>
                        <a:pt x="581" y="8"/>
                      </a:lnTo>
                      <a:lnTo>
                        <a:pt x="565" y="4"/>
                      </a:lnTo>
                      <a:lnTo>
                        <a:pt x="549" y="2"/>
                      </a:lnTo>
                      <a:lnTo>
                        <a:pt x="531" y="0"/>
                      </a:lnTo>
                      <a:lnTo>
                        <a:pt x="168" y="0"/>
                      </a:lnTo>
                      <a:lnTo>
                        <a:pt x="151" y="2"/>
                      </a:lnTo>
                      <a:lnTo>
                        <a:pt x="135" y="4"/>
                      </a:lnTo>
                      <a:lnTo>
                        <a:pt x="119" y="8"/>
                      </a:lnTo>
                      <a:lnTo>
                        <a:pt x="103" y="14"/>
                      </a:lnTo>
                      <a:lnTo>
                        <a:pt x="88" y="21"/>
                      </a:lnTo>
                      <a:lnTo>
                        <a:pt x="74" y="29"/>
                      </a:lnTo>
                      <a:lnTo>
                        <a:pt x="62" y="39"/>
                      </a:lnTo>
                      <a:lnTo>
                        <a:pt x="50" y="50"/>
                      </a:lnTo>
                      <a:lnTo>
                        <a:pt x="39" y="61"/>
                      </a:lnTo>
                      <a:lnTo>
                        <a:pt x="30" y="75"/>
                      </a:lnTo>
                      <a:lnTo>
                        <a:pt x="21" y="88"/>
                      </a:lnTo>
                      <a:lnTo>
                        <a:pt x="14" y="103"/>
                      </a:lnTo>
                      <a:lnTo>
                        <a:pt x="9" y="118"/>
                      </a:lnTo>
                      <a:lnTo>
                        <a:pt x="4" y="134"/>
                      </a:lnTo>
                      <a:lnTo>
                        <a:pt x="2" y="151"/>
                      </a:lnTo>
                      <a:lnTo>
                        <a:pt x="0" y="169"/>
                      </a:lnTo>
                      <a:lnTo>
                        <a:pt x="2" y="185"/>
                      </a:lnTo>
                      <a:lnTo>
                        <a:pt x="4" y="202"/>
                      </a:lnTo>
                      <a:lnTo>
                        <a:pt x="9" y="218"/>
                      </a:lnTo>
                      <a:lnTo>
                        <a:pt x="14" y="233"/>
                      </a:lnTo>
                      <a:lnTo>
                        <a:pt x="21" y="248"/>
                      </a:lnTo>
                      <a:lnTo>
                        <a:pt x="30" y="262"/>
                      </a:lnTo>
                      <a:lnTo>
                        <a:pt x="39" y="275"/>
                      </a:lnTo>
                      <a:lnTo>
                        <a:pt x="50" y="286"/>
                      </a:lnTo>
                      <a:lnTo>
                        <a:pt x="62" y="298"/>
                      </a:lnTo>
                      <a:lnTo>
                        <a:pt x="74" y="307"/>
                      </a:lnTo>
                      <a:lnTo>
                        <a:pt x="88" y="316"/>
                      </a:lnTo>
                      <a:lnTo>
                        <a:pt x="103" y="322"/>
                      </a:lnTo>
                      <a:lnTo>
                        <a:pt x="119" y="329"/>
                      </a:lnTo>
                      <a:lnTo>
                        <a:pt x="135" y="332"/>
                      </a:lnTo>
                      <a:lnTo>
                        <a:pt x="151" y="335"/>
                      </a:lnTo>
                      <a:lnTo>
                        <a:pt x="168" y="336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46" name="Rectangle 161"/>
                <p:cNvSpPr>
                  <a:spLocks noChangeArrowheads="1"/>
                </p:cNvSpPr>
                <p:nvPr/>
              </p:nvSpPr>
              <p:spPr bwMode="auto">
                <a:xfrm>
                  <a:off x="3183757" y="4305300"/>
                  <a:ext cx="1034711" cy="277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dirty="0">
                      <a:solidFill>
                        <a:srgbClr val="FFFFFF"/>
                      </a:solidFill>
                    </a:rPr>
                    <a:t>Segurança</a:t>
                  </a:r>
                </a:p>
                <a:p>
                  <a:pPr algn="ctr" eaLnBrk="1" hangingPunct="1"/>
                  <a:r>
                    <a:rPr lang="pt-BR" altLang="pt-BR" sz="1200" dirty="0">
                      <a:solidFill>
                        <a:srgbClr val="FFFFFF"/>
                      </a:solidFill>
                    </a:rPr>
                    <a:t> da Informação </a:t>
                  </a:r>
                  <a:endParaRPr lang="pt-BR" altLang="pt-BR" sz="1200" dirty="0"/>
                </a:p>
              </p:txBody>
            </p:sp>
            <p:sp>
              <p:nvSpPr>
                <p:cNvPr id="21547" name="Freeform 163"/>
                <p:cNvSpPr>
                  <a:spLocks/>
                </p:cNvSpPr>
                <p:nvPr/>
              </p:nvSpPr>
              <p:spPr bwMode="auto">
                <a:xfrm>
                  <a:off x="4342907" y="4113935"/>
                  <a:ext cx="1152575" cy="554027"/>
                </a:xfrm>
                <a:custGeom>
                  <a:avLst/>
                  <a:gdLst>
                    <a:gd name="T0" fmla="*/ 2147483647 w 698"/>
                    <a:gd name="T1" fmla="*/ 2147483647 h 336"/>
                    <a:gd name="T2" fmla="*/ 2147483647 w 698"/>
                    <a:gd name="T3" fmla="*/ 2147483647 h 336"/>
                    <a:gd name="T4" fmla="*/ 2147483647 w 698"/>
                    <a:gd name="T5" fmla="*/ 2147483647 h 336"/>
                    <a:gd name="T6" fmla="*/ 2147483647 w 698"/>
                    <a:gd name="T7" fmla="*/ 2147483647 h 336"/>
                    <a:gd name="T8" fmla="*/ 2147483647 w 698"/>
                    <a:gd name="T9" fmla="*/ 2147483647 h 336"/>
                    <a:gd name="T10" fmla="*/ 2147483647 w 698"/>
                    <a:gd name="T11" fmla="*/ 2147483647 h 336"/>
                    <a:gd name="T12" fmla="*/ 2147483647 w 698"/>
                    <a:gd name="T13" fmla="*/ 2147483647 h 336"/>
                    <a:gd name="T14" fmla="*/ 2147483647 w 698"/>
                    <a:gd name="T15" fmla="*/ 2147483647 h 336"/>
                    <a:gd name="T16" fmla="*/ 2147483647 w 698"/>
                    <a:gd name="T17" fmla="*/ 2147483647 h 336"/>
                    <a:gd name="T18" fmla="*/ 2147483647 w 698"/>
                    <a:gd name="T19" fmla="*/ 2147483647 h 336"/>
                    <a:gd name="T20" fmla="*/ 2147483647 w 698"/>
                    <a:gd name="T21" fmla="*/ 2147483647 h 336"/>
                    <a:gd name="T22" fmla="*/ 2147483647 w 698"/>
                    <a:gd name="T23" fmla="*/ 2147483647 h 336"/>
                    <a:gd name="T24" fmla="*/ 2147483647 w 698"/>
                    <a:gd name="T25" fmla="*/ 2147483647 h 336"/>
                    <a:gd name="T26" fmla="*/ 2147483647 w 698"/>
                    <a:gd name="T27" fmla="*/ 2147483647 h 336"/>
                    <a:gd name="T28" fmla="*/ 2147483647 w 698"/>
                    <a:gd name="T29" fmla="*/ 2147483647 h 336"/>
                    <a:gd name="T30" fmla="*/ 2147483647 w 698"/>
                    <a:gd name="T31" fmla="*/ 2147483647 h 336"/>
                    <a:gd name="T32" fmla="*/ 2147483647 w 698"/>
                    <a:gd name="T33" fmla="*/ 2147483647 h 336"/>
                    <a:gd name="T34" fmla="*/ 2147483647 w 698"/>
                    <a:gd name="T35" fmla="*/ 0 h 336"/>
                    <a:gd name="T36" fmla="*/ 2147483647 w 698"/>
                    <a:gd name="T37" fmla="*/ 2147483647 h 336"/>
                    <a:gd name="T38" fmla="*/ 2147483647 w 698"/>
                    <a:gd name="T39" fmla="*/ 2147483647 h 336"/>
                    <a:gd name="T40" fmla="*/ 2147483647 w 698"/>
                    <a:gd name="T41" fmla="*/ 2147483647 h 336"/>
                    <a:gd name="T42" fmla="*/ 2147483647 w 698"/>
                    <a:gd name="T43" fmla="*/ 2147483647 h 336"/>
                    <a:gd name="T44" fmla="*/ 2147483647 w 698"/>
                    <a:gd name="T45" fmla="*/ 2147483647 h 336"/>
                    <a:gd name="T46" fmla="*/ 2147483647 w 698"/>
                    <a:gd name="T47" fmla="*/ 2147483647 h 336"/>
                    <a:gd name="T48" fmla="*/ 2147483647 w 698"/>
                    <a:gd name="T49" fmla="*/ 2147483647 h 336"/>
                    <a:gd name="T50" fmla="*/ 0 w 698"/>
                    <a:gd name="T51" fmla="*/ 2147483647 h 336"/>
                    <a:gd name="T52" fmla="*/ 2147483647 w 698"/>
                    <a:gd name="T53" fmla="*/ 2147483647 h 336"/>
                    <a:gd name="T54" fmla="*/ 2147483647 w 698"/>
                    <a:gd name="T55" fmla="*/ 2147483647 h 336"/>
                    <a:gd name="T56" fmla="*/ 2147483647 w 698"/>
                    <a:gd name="T57" fmla="*/ 2147483647 h 336"/>
                    <a:gd name="T58" fmla="*/ 2147483647 w 698"/>
                    <a:gd name="T59" fmla="*/ 2147483647 h 336"/>
                    <a:gd name="T60" fmla="*/ 2147483647 w 698"/>
                    <a:gd name="T61" fmla="*/ 2147483647 h 336"/>
                    <a:gd name="T62" fmla="*/ 2147483647 w 698"/>
                    <a:gd name="T63" fmla="*/ 2147483647 h 336"/>
                    <a:gd name="T64" fmla="*/ 2147483647 w 698"/>
                    <a:gd name="T65" fmla="*/ 2147483647 h 336"/>
                    <a:gd name="T66" fmla="*/ 2147483647 w 698"/>
                    <a:gd name="T67" fmla="*/ 2147483647 h 3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698"/>
                    <a:gd name="T103" fmla="*/ 0 h 336"/>
                    <a:gd name="T104" fmla="*/ 698 w 698"/>
                    <a:gd name="T105" fmla="*/ 336 h 3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698" h="336">
                      <a:moveTo>
                        <a:pt x="167" y="336"/>
                      </a:moveTo>
                      <a:lnTo>
                        <a:pt x="530" y="336"/>
                      </a:lnTo>
                      <a:lnTo>
                        <a:pt x="547" y="335"/>
                      </a:lnTo>
                      <a:lnTo>
                        <a:pt x="564" y="332"/>
                      </a:lnTo>
                      <a:lnTo>
                        <a:pt x="580" y="329"/>
                      </a:lnTo>
                      <a:lnTo>
                        <a:pt x="596" y="322"/>
                      </a:lnTo>
                      <a:lnTo>
                        <a:pt x="610" y="316"/>
                      </a:lnTo>
                      <a:lnTo>
                        <a:pt x="624" y="307"/>
                      </a:lnTo>
                      <a:lnTo>
                        <a:pt x="636" y="298"/>
                      </a:lnTo>
                      <a:lnTo>
                        <a:pt x="649" y="286"/>
                      </a:lnTo>
                      <a:lnTo>
                        <a:pt x="660" y="275"/>
                      </a:lnTo>
                      <a:lnTo>
                        <a:pt x="669" y="262"/>
                      </a:lnTo>
                      <a:lnTo>
                        <a:pt x="677" y="248"/>
                      </a:lnTo>
                      <a:lnTo>
                        <a:pt x="685" y="233"/>
                      </a:lnTo>
                      <a:lnTo>
                        <a:pt x="691" y="218"/>
                      </a:lnTo>
                      <a:lnTo>
                        <a:pt x="694" y="202"/>
                      </a:lnTo>
                      <a:lnTo>
                        <a:pt x="697" y="186"/>
                      </a:lnTo>
                      <a:lnTo>
                        <a:pt x="698" y="169"/>
                      </a:lnTo>
                      <a:lnTo>
                        <a:pt x="697" y="151"/>
                      </a:lnTo>
                      <a:lnTo>
                        <a:pt x="694" y="134"/>
                      </a:lnTo>
                      <a:lnTo>
                        <a:pt x="691" y="118"/>
                      </a:lnTo>
                      <a:lnTo>
                        <a:pt x="685" y="103"/>
                      </a:lnTo>
                      <a:lnTo>
                        <a:pt x="677" y="88"/>
                      </a:lnTo>
                      <a:lnTo>
                        <a:pt x="669" y="75"/>
                      </a:lnTo>
                      <a:lnTo>
                        <a:pt x="660" y="62"/>
                      </a:lnTo>
                      <a:lnTo>
                        <a:pt x="649" y="50"/>
                      </a:lnTo>
                      <a:lnTo>
                        <a:pt x="636" y="39"/>
                      </a:lnTo>
                      <a:lnTo>
                        <a:pt x="624" y="29"/>
                      </a:lnTo>
                      <a:lnTo>
                        <a:pt x="610" y="21"/>
                      </a:lnTo>
                      <a:lnTo>
                        <a:pt x="596" y="14"/>
                      </a:lnTo>
                      <a:lnTo>
                        <a:pt x="580" y="8"/>
                      </a:lnTo>
                      <a:lnTo>
                        <a:pt x="564" y="4"/>
                      </a:lnTo>
                      <a:lnTo>
                        <a:pt x="547" y="2"/>
                      </a:lnTo>
                      <a:lnTo>
                        <a:pt x="530" y="0"/>
                      </a:lnTo>
                      <a:lnTo>
                        <a:pt x="167" y="0"/>
                      </a:lnTo>
                      <a:lnTo>
                        <a:pt x="150" y="2"/>
                      </a:lnTo>
                      <a:lnTo>
                        <a:pt x="134" y="4"/>
                      </a:lnTo>
                      <a:lnTo>
                        <a:pt x="118" y="8"/>
                      </a:lnTo>
                      <a:lnTo>
                        <a:pt x="103" y="14"/>
                      </a:lnTo>
                      <a:lnTo>
                        <a:pt x="88" y="21"/>
                      </a:lnTo>
                      <a:lnTo>
                        <a:pt x="74" y="29"/>
                      </a:lnTo>
                      <a:lnTo>
                        <a:pt x="61" y="39"/>
                      </a:lnTo>
                      <a:lnTo>
                        <a:pt x="50" y="50"/>
                      </a:lnTo>
                      <a:lnTo>
                        <a:pt x="39" y="62"/>
                      </a:lnTo>
                      <a:lnTo>
                        <a:pt x="29" y="75"/>
                      </a:lnTo>
                      <a:lnTo>
                        <a:pt x="20" y="88"/>
                      </a:lnTo>
                      <a:lnTo>
                        <a:pt x="13" y="103"/>
                      </a:lnTo>
                      <a:lnTo>
                        <a:pt x="8" y="118"/>
                      </a:lnTo>
                      <a:lnTo>
                        <a:pt x="4" y="134"/>
                      </a:lnTo>
                      <a:lnTo>
                        <a:pt x="1" y="151"/>
                      </a:lnTo>
                      <a:lnTo>
                        <a:pt x="0" y="169"/>
                      </a:lnTo>
                      <a:lnTo>
                        <a:pt x="1" y="186"/>
                      </a:lnTo>
                      <a:lnTo>
                        <a:pt x="4" y="202"/>
                      </a:lnTo>
                      <a:lnTo>
                        <a:pt x="8" y="218"/>
                      </a:lnTo>
                      <a:lnTo>
                        <a:pt x="13" y="233"/>
                      </a:lnTo>
                      <a:lnTo>
                        <a:pt x="20" y="248"/>
                      </a:lnTo>
                      <a:lnTo>
                        <a:pt x="29" y="262"/>
                      </a:lnTo>
                      <a:lnTo>
                        <a:pt x="39" y="275"/>
                      </a:lnTo>
                      <a:lnTo>
                        <a:pt x="50" y="286"/>
                      </a:lnTo>
                      <a:lnTo>
                        <a:pt x="61" y="298"/>
                      </a:lnTo>
                      <a:lnTo>
                        <a:pt x="74" y="307"/>
                      </a:lnTo>
                      <a:lnTo>
                        <a:pt x="88" y="316"/>
                      </a:lnTo>
                      <a:lnTo>
                        <a:pt x="103" y="322"/>
                      </a:lnTo>
                      <a:lnTo>
                        <a:pt x="118" y="329"/>
                      </a:lnTo>
                      <a:lnTo>
                        <a:pt x="134" y="332"/>
                      </a:lnTo>
                      <a:lnTo>
                        <a:pt x="150" y="335"/>
                      </a:lnTo>
                      <a:lnTo>
                        <a:pt x="167" y="336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51" name="Rectangle 168"/>
                <p:cNvSpPr>
                  <a:spLocks noChangeArrowheads="1"/>
                </p:cNvSpPr>
                <p:nvPr/>
              </p:nvSpPr>
              <p:spPr bwMode="auto">
                <a:xfrm>
                  <a:off x="4629490" y="4423705"/>
                  <a:ext cx="566906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dirty="0">
                      <a:solidFill>
                        <a:schemeClr val="bg1"/>
                      </a:solidFill>
                    </a:rPr>
                    <a:t>Garantia</a:t>
                  </a:r>
                </a:p>
              </p:txBody>
            </p:sp>
            <p:sp>
              <p:nvSpPr>
                <p:cNvPr id="21552" name="Freeform 169"/>
                <p:cNvSpPr>
                  <a:spLocks/>
                </p:cNvSpPr>
                <p:nvPr/>
              </p:nvSpPr>
              <p:spPr bwMode="auto">
                <a:xfrm>
                  <a:off x="5597087" y="4113935"/>
                  <a:ext cx="1152575" cy="554027"/>
                </a:xfrm>
                <a:custGeom>
                  <a:avLst/>
                  <a:gdLst>
                    <a:gd name="T0" fmla="*/ 2147483647 w 698"/>
                    <a:gd name="T1" fmla="*/ 2147483647 h 336"/>
                    <a:gd name="T2" fmla="*/ 2147483647 w 698"/>
                    <a:gd name="T3" fmla="*/ 2147483647 h 336"/>
                    <a:gd name="T4" fmla="*/ 2147483647 w 698"/>
                    <a:gd name="T5" fmla="*/ 2147483647 h 336"/>
                    <a:gd name="T6" fmla="*/ 2147483647 w 698"/>
                    <a:gd name="T7" fmla="*/ 2147483647 h 336"/>
                    <a:gd name="T8" fmla="*/ 2147483647 w 698"/>
                    <a:gd name="T9" fmla="*/ 2147483647 h 336"/>
                    <a:gd name="T10" fmla="*/ 2147483647 w 698"/>
                    <a:gd name="T11" fmla="*/ 2147483647 h 336"/>
                    <a:gd name="T12" fmla="*/ 2147483647 w 698"/>
                    <a:gd name="T13" fmla="*/ 2147483647 h 336"/>
                    <a:gd name="T14" fmla="*/ 2147483647 w 698"/>
                    <a:gd name="T15" fmla="*/ 2147483647 h 336"/>
                    <a:gd name="T16" fmla="*/ 2147483647 w 698"/>
                    <a:gd name="T17" fmla="*/ 2147483647 h 336"/>
                    <a:gd name="T18" fmla="*/ 2147483647 w 698"/>
                    <a:gd name="T19" fmla="*/ 2147483647 h 336"/>
                    <a:gd name="T20" fmla="*/ 2147483647 w 698"/>
                    <a:gd name="T21" fmla="*/ 2147483647 h 336"/>
                    <a:gd name="T22" fmla="*/ 2147483647 w 698"/>
                    <a:gd name="T23" fmla="*/ 2147483647 h 336"/>
                    <a:gd name="T24" fmla="*/ 2147483647 w 698"/>
                    <a:gd name="T25" fmla="*/ 2147483647 h 336"/>
                    <a:gd name="T26" fmla="*/ 2147483647 w 698"/>
                    <a:gd name="T27" fmla="*/ 2147483647 h 336"/>
                    <a:gd name="T28" fmla="*/ 2147483647 w 698"/>
                    <a:gd name="T29" fmla="*/ 2147483647 h 336"/>
                    <a:gd name="T30" fmla="*/ 2147483647 w 698"/>
                    <a:gd name="T31" fmla="*/ 2147483647 h 336"/>
                    <a:gd name="T32" fmla="*/ 2147483647 w 698"/>
                    <a:gd name="T33" fmla="*/ 2147483647 h 336"/>
                    <a:gd name="T34" fmla="*/ 2147483647 w 698"/>
                    <a:gd name="T35" fmla="*/ 0 h 336"/>
                    <a:gd name="T36" fmla="*/ 2147483647 w 698"/>
                    <a:gd name="T37" fmla="*/ 2147483647 h 336"/>
                    <a:gd name="T38" fmla="*/ 2147483647 w 698"/>
                    <a:gd name="T39" fmla="*/ 2147483647 h 336"/>
                    <a:gd name="T40" fmla="*/ 2147483647 w 698"/>
                    <a:gd name="T41" fmla="*/ 2147483647 h 336"/>
                    <a:gd name="T42" fmla="*/ 2147483647 w 698"/>
                    <a:gd name="T43" fmla="*/ 2147483647 h 336"/>
                    <a:gd name="T44" fmla="*/ 2147483647 w 698"/>
                    <a:gd name="T45" fmla="*/ 2147483647 h 336"/>
                    <a:gd name="T46" fmla="*/ 2147483647 w 698"/>
                    <a:gd name="T47" fmla="*/ 2147483647 h 336"/>
                    <a:gd name="T48" fmla="*/ 2147483647 w 698"/>
                    <a:gd name="T49" fmla="*/ 2147483647 h 336"/>
                    <a:gd name="T50" fmla="*/ 0 w 698"/>
                    <a:gd name="T51" fmla="*/ 2147483647 h 336"/>
                    <a:gd name="T52" fmla="*/ 2147483647 w 698"/>
                    <a:gd name="T53" fmla="*/ 2147483647 h 336"/>
                    <a:gd name="T54" fmla="*/ 2147483647 w 698"/>
                    <a:gd name="T55" fmla="*/ 2147483647 h 336"/>
                    <a:gd name="T56" fmla="*/ 2147483647 w 698"/>
                    <a:gd name="T57" fmla="*/ 2147483647 h 336"/>
                    <a:gd name="T58" fmla="*/ 2147483647 w 698"/>
                    <a:gd name="T59" fmla="*/ 2147483647 h 336"/>
                    <a:gd name="T60" fmla="*/ 2147483647 w 698"/>
                    <a:gd name="T61" fmla="*/ 2147483647 h 336"/>
                    <a:gd name="T62" fmla="*/ 2147483647 w 698"/>
                    <a:gd name="T63" fmla="*/ 2147483647 h 336"/>
                    <a:gd name="T64" fmla="*/ 2147483647 w 698"/>
                    <a:gd name="T65" fmla="*/ 2147483647 h 336"/>
                    <a:gd name="T66" fmla="*/ 2147483647 w 698"/>
                    <a:gd name="T67" fmla="*/ 2147483647 h 3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698"/>
                    <a:gd name="T103" fmla="*/ 0 h 336"/>
                    <a:gd name="T104" fmla="*/ 698 w 698"/>
                    <a:gd name="T105" fmla="*/ 336 h 336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698" h="336">
                      <a:moveTo>
                        <a:pt x="168" y="336"/>
                      </a:moveTo>
                      <a:lnTo>
                        <a:pt x="530" y="336"/>
                      </a:lnTo>
                      <a:lnTo>
                        <a:pt x="547" y="335"/>
                      </a:lnTo>
                      <a:lnTo>
                        <a:pt x="565" y="332"/>
                      </a:lnTo>
                      <a:lnTo>
                        <a:pt x="581" y="329"/>
                      </a:lnTo>
                      <a:lnTo>
                        <a:pt x="595" y="322"/>
                      </a:lnTo>
                      <a:lnTo>
                        <a:pt x="610" y="316"/>
                      </a:lnTo>
                      <a:lnTo>
                        <a:pt x="624" y="307"/>
                      </a:lnTo>
                      <a:lnTo>
                        <a:pt x="637" y="298"/>
                      </a:lnTo>
                      <a:lnTo>
                        <a:pt x="649" y="286"/>
                      </a:lnTo>
                      <a:lnTo>
                        <a:pt x="660" y="275"/>
                      </a:lnTo>
                      <a:lnTo>
                        <a:pt x="670" y="262"/>
                      </a:lnTo>
                      <a:lnTo>
                        <a:pt x="678" y="248"/>
                      </a:lnTo>
                      <a:lnTo>
                        <a:pt x="684" y="233"/>
                      </a:lnTo>
                      <a:lnTo>
                        <a:pt x="691" y="218"/>
                      </a:lnTo>
                      <a:lnTo>
                        <a:pt x="694" y="202"/>
                      </a:lnTo>
                      <a:lnTo>
                        <a:pt x="697" y="186"/>
                      </a:lnTo>
                      <a:lnTo>
                        <a:pt x="698" y="169"/>
                      </a:lnTo>
                      <a:lnTo>
                        <a:pt x="697" y="151"/>
                      </a:lnTo>
                      <a:lnTo>
                        <a:pt x="694" y="134"/>
                      </a:lnTo>
                      <a:lnTo>
                        <a:pt x="691" y="118"/>
                      </a:lnTo>
                      <a:lnTo>
                        <a:pt x="684" y="103"/>
                      </a:lnTo>
                      <a:lnTo>
                        <a:pt x="678" y="88"/>
                      </a:lnTo>
                      <a:lnTo>
                        <a:pt x="670" y="75"/>
                      </a:lnTo>
                      <a:lnTo>
                        <a:pt x="660" y="62"/>
                      </a:lnTo>
                      <a:lnTo>
                        <a:pt x="649" y="50"/>
                      </a:lnTo>
                      <a:lnTo>
                        <a:pt x="637" y="39"/>
                      </a:lnTo>
                      <a:lnTo>
                        <a:pt x="624" y="29"/>
                      </a:lnTo>
                      <a:lnTo>
                        <a:pt x="610" y="21"/>
                      </a:lnTo>
                      <a:lnTo>
                        <a:pt x="595" y="14"/>
                      </a:lnTo>
                      <a:lnTo>
                        <a:pt x="581" y="8"/>
                      </a:lnTo>
                      <a:lnTo>
                        <a:pt x="565" y="4"/>
                      </a:lnTo>
                      <a:lnTo>
                        <a:pt x="547" y="2"/>
                      </a:lnTo>
                      <a:lnTo>
                        <a:pt x="530" y="0"/>
                      </a:lnTo>
                      <a:lnTo>
                        <a:pt x="168" y="0"/>
                      </a:lnTo>
                      <a:lnTo>
                        <a:pt x="151" y="2"/>
                      </a:lnTo>
                      <a:lnTo>
                        <a:pt x="133" y="4"/>
                      </a:lnTo>
                      <a:lnTo>
                        <a:pt x="117" y="8"/>
                      </a:lnTo>
                      <a:lnTo>
                        <a:pt x="102" y="14"/>
                      </a:lnTo>
                      <a:lnTo>
                        <a:pt x="88" y="21"/>
                      </a:lnTo>
                      <a:lnTo>
                        <a:pt x="74" y="29"/>
                      </a:lnTo>
                      <a:lnTo>
                        <a:pt x="60" y="39"/>
                      </a:lnTo>
                      <a:lnTo>
                        <a:pt x="49" y="50"/>
                      </a:lnTo>
                      <a:lnTo>
                        <a:pt x="38" y="62"/>
                      </a:lnTo>
                      <a:lnTo>
                        <a:pt x="28" y="75"/>
                      </a:lnTo>
                      <a:lnTo>
                        <a:pt x="21" y="88"/>
                      </a:lnTo>
                      <a:lnTo>
                        <a:pt x="14" y="103"/>
                      </a:lnTo>
                      <a:lnTo>
                        <a:pt x="7" y="118"/>
                      </a:lnTo>
                      <a:lnTo>
                        <a:pt x="4" y="134"/>
                      </a:lnTo>
                      <a:lnTo>
                        <a:pt x="1" y="151"/>
                      </a:lnTo>
                      <a:lnTo>
                        <a:pt x="0" y="169"/>
                      </a:lnTo>
                      <a:lnTo>
                        <a:pt x="1" y="186"/>
                      </a:lnTo>
                      <a:lnTo>
                        <a:pt x="4" y="202"/>
                      </a:lnTo>
                      <a:lnTo>
                        <a:pt x="7" y="218"/>
                      </a:lnTo>
                      <a:lnTo>
                        <a:pt x="14" y="233"/>
                      </a:lnTo>
                      <a:lnTo>
                        <a:pt x="21" y="248"/>
                      </a:lnTo>
                      <a:lnTo>
                        <a:pt x="28" y="262"/>
                      </a:lnTo>
                      <a:lnTo>
                        <a:pt x="38" y="275"/>
                      </a:lnTo>
                      <a:lnTo>
                        <a:pt x="49" y="286"/>
                      </a:lnTo>
                      <a:lnTo>
                        <a:pt x="60" y="298"/>
                      </a:lnTo>
                      <a:lnTo>
                        <a:pt x="74" y="307"/>
                      </a:lnTo>
                      <a:lnTo>
                        <a:pt x="88" y="316"/>
                      </a:lnTo>
                      <a:lnTo>
                        <a:pt x="102" y="322"/>
                      </a:lnTo>
                      <a:lnTo>
                        <a:pt x="117" y="329"/>
                      </a:lnTo>
                      <a:lnTo>
                        <a:pt x="133" y="332"/>
                      </a:lnTo>
                      <a:lnTo>
                        <a:pt x="151" y="335"/>
                      </a:lnTo>
                      <a:lnTo>
                        <a:pt x="168" y="336"/>
                      </a:lnTo>
                      <a:close/>
                    </a:path>
                  </a:pathLst>
                </a:custGeom>
                <a:solidFill>
                  <a:srgbClr val="0000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 sz="1200"/>
                </a:p>
              </p:txBody>
            </p:sp>
            <p:sp>
              <p:nvSpPr>
                <p:cNvPr id="21557" name="Rectangle 174"/>
                <p:cNvSpPr>
                  <a:spLocks noChangeArrowheads="1"/>
                </p:cNvSpPr>
                <p:nvPr/>
              </p:nvSpPr>
              <p:spPr bwMode="auto">
                <a:xfrm>
                  <a:off x="5963512" y="4423705"/>
                  <a:ext cx="457604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dirty="0">
                      <a:solidFill>
                        <a:srgbClr val="FFFFFF"/>
                      </a:solidFill>
                    </a:rPr>
                    <a:t>Riscos</a:t>
                  </a:r>
                  <a:endParaRPr lang="pt-BR" altLang="pt-BR" sz="1200" dirty="0"/>
                </a:p>
              </p:txBody>
            </p:sp>
            <p:sp>
              <p:nvSpPr>
                <p:cNvPr id="21560" name="Rectangle 136"/>
                <p:cNvSpPr>
                  <a:spLocks noChangeArrowheads="1"/>
                </p:cNvSpPr>
                <p:nvPr/>
              </p:nvSpPr>
              <p:spPr bwMode="auto">
                <a:xfrm>
                  <a:off x="4966589" y="2971800"/>
                  <a:ext cx="59" cy="1387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rgbClr val="0077A9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 sz="1200" dirty="0"/>
                </a:p>
              </p:txBody>
            </p:sp>
          </p:grpSp>
          <p:sp>
            <p:nvSpPr>
              <p:cNvPr id="21510" name="Rectangle 113"/>
              <p:cNvSpPr>
                <a:spLocks noChangeArrowheads="1"/>
              </p:cNvSpPr>
              <p:nvPr/>
            </p:nvSpPr>
            <p:spPr bwMode="auto">
              <a:xfrm>
                <a:off x="1143000" y="3429000"/>
                <a:ext cx="4426152" cy="1618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pt-BR" altLang="pt-BR" sz="1400" b="1" dirty="0">
                    <a:solidFill>
                      <a:schemeClr val="tx2"/>
                    </a:solidFill>
                    <a:latin typeface="Arial" charset="0"/>
                  </a:rPr>
                  <a:t>Guias Profissionais de Orientação do COBIT</a:t>
                </a:r>
                <a:r>
                  <a:rPr lang="pt-BR" altLang="pt-BR" sz="1400" b="1" baseline="30000" dirty="0">
                    <a:solidFill>
                      <a:schemeClr val="tx2"/>
                    </a:solidFill>
                    <a:latin typeface="Arial" charset="0"/>
                  </a:rPr>
                  <a:t>®</a:t>
                </a:r>
                <a:r>
                  <a:rPr lang="pt-BR" altLang="pt-BR" sz="1400" b="1" dirty="0">
                    <a:solidFill>
                      <a:schemeClr val="tx2"/>
                    </a:solidFill>
                    <a:latin typeface="Arial" charset="0"/>
                  </a:rPr>
                  <a:t> </a:t>
                </a:r>
                <a:r>
                  <a:rPr lang="pt-BR" altLang="pt-BR" sz="1400" b="1" dirty="0" smtClean="0">
                    <a:solidFill>
                      <a:schemeClr val="tx2"/>
                    </a:solidFill>
                    <a:latin typeface="Arial" charset="0"/>
                  </a:rPr>
                  <a:t>5</a:t>
                </a:r>
                <a:endParaRPr lang="pt-BR" altLang="pt-BR" sz="1400" b="1" dirty="0">
                  <a:solidFill>
                    <a:schemeClr val="tx2"/>
                  </a:solidFill>
                  <a:latin typeface="Arial" charset="0"/>
                </a:endParaRPr>
              </a:p>
            </p:txBody>
          </p:sp>
        </p:grpSp>
      </p:grpSp>
      <p:sp>
        <p:nvSpPr>
          <p:cNvPr id="64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Família de Produtos</a:t>
            </a:r>
            <a:endParaRPr dirty="0"/>
          </a:p>
        </p:txBody>
      </p:sp>
      <p:sp>
        <p:nvSpPr>
          <p:cNvPr id="67" name="Rectangle 135"/>
          <p:cNvSpPr>
            <a:spLocks noChangeArrowheads="1"/>
          </p:cNvSpPr>
          <p:nvPr/>
        </p:nvSpPr>
        <p:spPr bwMode="auto">
          <a:xfrm>
            <a:off x="4515603" y="2407155"/>
            <a:ext cx="72135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dirty="0" smtClean="0">
                <a:solidFill>
                  <a:srgbClr val="FFFFFF"/>
                </a:solidFill>
              </a:rPr>
              <a:t>COBIT® 5</a:t>
            </a:r>
            <a:endParaRPr lang="pt-BR" altLang="pt-BR" sz="1200" dirty="0"/>
          </a:p>
        </p:txBody>
      </p:sp>
      <p:sp>
        <p:nvSpPr>
          <p:cNvPr id="68" name="Rectangle 135"/>
          <p:cNvSpPr>
            <a:spLocks noChangeArrowheads="1"/>
          </p:cNvSpPr>
          <p:nvPr/>
        </p:nvSpPr>
        <p:spPr bwMode="auto">
          <a:xfrm>
            <a:off x="1362722" y="4038600"/>
            <a:ext cx="72135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dirty="0" smtClean="0">
                <a:solidFill>
                  <a:srgbClr val="FFFFFF"/>
                </a:solidFill>
              </a:rPr>
              <a:t>COBIT® 5</a:t>
            </a:r>
            <a:endParaRPr lang="pt-BR" altLang="pt-BR" sz="1200" dirty="0"/>
          </a:p>
        </p:txBody>
      </p:sp>
      <p:sp>
        <p:nvSpPr>
          <p:cNvPr id="69" name="Rectangle 135"/>
          <p:cNvSpPr>
            <a:spLocks noChangeArrowheads="1"/>
          </p:cNvSpPr>
          <p:nvPr/>
        </p:nvSpPr>
        <p:spPr bwMode="auto">
          <a:xfrm>
            <a:off x="3166118" y="4059794"/>
            <a:ext cx="72135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dirty="0" smtClean="0">
                <a:solidFill>
                  <a:srgbClr val="FFFFFF"/>
                </a:solidFill>
              </a:rPr>
              <a:t>COBIT® 5</a:t>
            </a:r>
            <a:endParaRPr lang="pt-BR" altLang="pt-BR" sz="1200" dirty="0"/>
          </a:p>
        </p:txBody>
      </p:sp>
      <p:sp>
        <p:nvSpPr>
          <p:cNvPr id="70" name="Rectangle 135"/>
          <p:cNvSpPr>
            <a:spLocks noChangeArrowheads="1"/>
          </p:cNvSpPr>
          <p:nvPr/>
        </p:nvSpPr>
        <p:spPr bwMode="auto">
          <a:xfrm>
            <a:off x="4543349" y="4053840"/>
            <a:ext cx="72135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dirty="0" smtClean="0">
                <a:solidFill>
                  <a:srgbClr val="FFFFFF"/>
                </a:solidFill>
              </a:rPr>
              <a:t>COBIT® 5</a:t>
            </a:r>
            <a:endParaRPr lang="pt-BR" altLang="pt-BR" sz="1200" dirty="0"/>
          </a:p>
        </p:txBody>
      </p:sp>
      <p:sp>
        <p:nvSpPr>
          <p:cNvPr id="71" name="Rectangle 135"/>
          <p:cNvSpPr>
            <a:spLocks noChangeArrowheads="1"/>
          </p:cNvSpPr>
          <p:nvPr/>
        </p:nvSpPr>
        <p:spPr bwMode="auto">
          <a:xfrm>
            <a:off x="5922887" y="4069080"/>
            <a:ext cx="72135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200" dirty="0" smtClean="0">
                <a:solidFill>
                  <a:srgbClr val="FFFFFF"/>
                </a:solidFill>
              </a:rPr>
              <a:t>COBIT® 5</a:t>
            </a:r>
            <a:endParaRPr lang="pt-BR" altLang="pt-BR" sz="1200" dirty="0"/>
          </a:p>
        </p:txBody>
      </p:sp>
      <p:sp>
        <p:nvSpPr>
          <p:cNvPr id="72" name="Rectangle 135"/>
          <p:cNvSpPr>
            <a:spLocks noChangeArrowheads="1"/>
          </p:cNvSpPr>
          <p:nvPr/>
        </p:nvSpPr>
        <p:spPr bwMode="auto">
          <a:xfrm>
            <a:off x="2634451" y="5211445"/>
            <a:ext cx="7950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400" dirty="0" smtClean="0">
                <a:solidFill>
                  <a:schemeClr val="tx2"/>
                </a:solidFill>
              </a:rPr>
              <a:t>COBIT</a:t>
            </a:r>
            <a:r>
              <a:rPr lang="pt-BR" altLang="pt-BR" sz="1400" baseline="30000" dirty="0" smtClean="0">
                <a:solidFill>
                  <a:schemeClr val="tx2"/>
                </a:solidFill>
              </a:rPr>
              <a:t>®</a:t>
            </a:r>
            <a:r>
              <a:rPr lang="pt-BR" altLang="pt-BR" sz="1400" dirty="0" smtClean="0">
                <a:solidFill>
                  <a:schemeClr val="tx2"/>
                </a:solidFill>
              </a:rPr>
              <a:t> 5</a:t>
            </a:r>
            <a:endParaRPr lang="pt-BR" altLang="pt-BR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47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Content Placeholder 1"/>
          <p:cNvSpPr>
            <a:spLocks noGrp="1"/>
          </p:cNvSpPr>
          <p:nvPr>
            <p:ph idx="4294967295"/>
          </p:nvPr>
        </p:nvSpPr>
        <p:spPr>
          <a:xfrm>
            <a:off x="184150" y="762000"/>
            <a:ext cx="8731250" cy="2295525"/>
          </a:xfrm>
          <a:prstGeom prst="rect">
            <a:avLst/>
          </a:prstGeom>
        </p:spPr>
        <p:txBody>
          <a:bodyPr/>
          <a:lstStyle/>
          <a:p>
            <a:pPr marL="0" indent="0" eaLnBrk="1" hangingPunct="1"/>
            <a:r>
              <a:rPr lang="pt-BR" altLang="pt-BR" sz="2400" dirty="0" smtClean="0">
                <a:latin typeface="+mn-lt"/>
              </a:rPr>
              <a:t>Organizações visam </a:t>
            </a:r>
            <a:r>
              <a:rPr lang="pt-BR" altLang="pt-BR" sz="2400" b="1" dirty="0" smtClean="0">
                <a:latin typeface="+mn-lt"/>
              </a:rPr>
              <a:t>criar valor</a:t>
            </a:r>
            <a:r>
              <a:rPr lang="pt-BR" altLang="pt-BR" sz="2400" dirty="0" smtClean="0">
                <a:latin typeface="+mn-lt"/>
              </a:rPr>
              <a:t> para suas partes interessadas.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3" name="Grupo 2"/>
          <p:cNvGrpSpPr/>
          <p:nvPr/>
        </p:nvGrpSpPr>
        <p:grpSpPr>
          <a:xfrm>
            <a:off x="768401" y="1219200"/>
            <a:ext cx="7302398" cy="5171763"/>
            <a:chOff x="1676400" y="1639887"/>
            <a:chExt cx="5486400" cy="3885624"/>
          </a:xfrm>
        </p:grpSpPr>
        <p:pic>
          <p:nvPicPr>
            <p:cNvPr id="23554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639887"/>
              <a:ext cx="5486400" cy="365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Oval 6"/>
            <p:cNvSpPr/>
            <p:nvPr/>
          </p:nvSpPr>
          <p:spPr>
            <a:xfrm>
              <a:off x="4670758" y="3541497"/>
              <a:ext cx="1523598" cy="914400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23559" name="Rectangle 6"/>
            <p:cNvSpPr>
              <a:spLocks noChangeArrowheads="1"/>
            </p:cNvSpPr>
            <p:nvPr/>
          </p:nvSpPr>
          <p:spPr bwMode="auto">
            <a:xfrm>
              <a:off x="2149475" y="5340521"/>
              <a:ext cx="4876800" cy="18499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 dirty="0">
                  <a:solidFill>
                    <a:schemeClr val="bg1"/>
                  </a:solidFill>
                </a:rPr>
                <a:t>Fonte:  COBIT</a:t>
              </a:r>
              <a:r>
                <a:rPr lang="pt-BR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pt-BR" altLang="pt-BR" sz="1000" dirty="0">
                  <a:solidFill>
                    <a:schemeClr val="bg1"/>
                  </a:solidFill>
                </a:rPr>
                <a:t> 5, figura 3. © 2012 ISACA</a:t>
              </a:r>
              <a:r>
                <a:rPr lang="pt-BR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pt-BR" altLang="pt-BR" sz="1000" dirty="0">
                  <a:solidFill>
                    <a:schemeClr val="bg1"/>
                  </a:solidFill>
                </a:rPr>
                <a:t>  Todos os direitos reservados.</a:t>
              </a:r>
            </a:p>
          </p:txBody>
        </p:sp>
        <p:sp>
          <p:nvSpPr>
            <p:cNvPr id="23560" name="CaixaDeTexto 8"/>
            <p:cNvSpPr txBox="1">
              <a:spLocks noChangeArrowheads="1"/>
            </p:cNvSpPr>
            <p:nvPr/>
          </p:nvSpPr>
          <p:spPr bwMode="auto">
            <a:xfrm>
              <a:off x="3762375" y="1768475"/>
              <a:ext cx="1447800" cy="738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400">
                  <a:solidFill>
                    <a:schemeClr val="bg1"/>
                  </a:solidFill>
                </a:rPr>
                <a:t>Necessidades das partes interessadas</a:t>
              </a:r>
            </a:p>
          </p:txBody>
        </p:sp>
        <p:sp>
          <p:nvSpPr>
            <p:cNvPr id="23561" name="CaixaDeTexto 9"/>
            <p:cNvSpPr txBox="1">
              <a:spLocks noChangeArrowheads="1"/>
            </p:cNvSpPr>
            <p:nvPr/>
          </p:nvSpPr>
          <p:spPr bwMode="auto">
            <a:xfrm>
              <a:off x="2095500" y="4237037"/>
              <a:ext cx="1447800" cy="831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600">
                  <a:solidFill>
                    <a:schemeClr val="bg1"/>
                  </a:solidFill>
                </a:rPr>
                <a:t>Realização de</a:t>
              </a:r>
            </a:p>
            <a:p>
              <a:pPr algn="ctr" eaLnBrk="1" hangingPunct="1"/>
              <a:r>
                <a:rPr lang="pt-BR" altLang="pt-BR" sz="1600">
                  <a:solidFill>
                    <a:schemeClr val="bg1"/>
                  </a:solidFill>
                </a:rPr>
                <a:t>benefícios</a:t>
              </a:r>
            </a:p>
          </p:txBody>
        </p:sp>
        <p:sp>
          <p:nvSpPr>
            <p:cNvPr id="23562" name="CaixaDeTexto 10"/>
            <p:cNvSpPr txBox="1">
              <a:spLocks noChangeArrowheads="1"/>
            </p:cNvSpPr>
            <p:nvPr/>
          </p:nvSpPr>
          <p:spPr bwMode="auto">
            <a:xfrm>
              <a:off x="3762375" y="4251325"/>
              <a:ext cx="1447800" cy="831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600">
                  <a:solidFill>
                    <a:schemeClr val="bg1"/>
                  </a:solidFill>
                </a:rPr>
                <a:t>Otimização de</a:t>
              </a:r>
            </a:p>
            <a:p>
              <a:pPr algn="ctr" eaLnBrk="1" hangingPunct="1"/>
              <a:r>
                <a:rPr lang="pt-BR" altLang="pt-BR" sz="1600">
                  <a:solidFill>
                    <a:schemeClr val="bg1"/>
                  </a:solidFill>
                </a:rPr>
                <a:t>riscos</a:t>
              </a:r>
            </a:p>
          </p:txBody>
        </p:sp>
        <p:sp>
          <p:nvSpPr>
            <p:cNvPr id="23563" name="CaixaDeTexto 11"/>
            <p:cNvSpPr txBox="1">
              <a:spLocks noChangeArrowheads="1"/>
            </p:cNvSpPr>
            <p:nvPr/>
          </p:nvSpPr>
          <p:spPr bwMode="auto">
            <a:xfrm>
              <a:off x="5440363" y="4237037"/>
              <a:ext cx="1447800" cy="831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600">
                  <a:solidFill>
                    <a:schemeClr val="bg1"/>
                  </a:solidFill>
                </a:rPr>
                <a:t>Otimização de</a:t>
              </a:r>
            </a:p>
            <a:p>
              <a:pPr algn="ctr" eaLnBrk="1" hangingPunct="1"/>
              <a:r>
                <a:rPr lang="pt-BR" altLang="pt-BR" sz="1600">
                  <a:solidFill>
                    <a:schemeClr val="bg1"/>
                  </a:solidFill>
                </a:rPr>
                <a:t>recursos</a:t>
              </a:r>
            </a:p>
          </p:txBody>
        </p:sp>
        <p:sp>
          <p:nvSpPr>
            <p:cNvPr id="23564" name="CaixaDeTexto 12"/>
            <p:cNvSpPr txBox="1">
              <a:spLocks noChangeArrowheads="1"/>
            </p:cNvSpPr>
            <p:nvPr/>
          </p:nvSpPr>
          <p:spPr bwMode="auto">
            <a:xfrm>
              <a:off x="2343150" y="3900307"/>
              <a:ext cx="4319588" cy="254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600" dirty="0">
                  <a:solidFill>
                    <a:schemeClr val="tx2"/>
                  </a:solidFill>
                </a:rPr>
                <a:t>Objetivo da governança: criação de valor</a:t>
              </a:r>
            </a:p>
          </p:txBody>
        </p:sp>
      </p:grpSp>
      <p:sp>
        <p:nvSpPr>
          <p:cNvPr id="14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Necessidades dos stakeholders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2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1"/>
          <p:cNvSpPr>
            <a:spLocks noGrp="1"/>
          </p:cNvSpPr>
          <p:nvPr>
            <p:ph idx="4294967295"/>
          </p:nvPr>
        </p:nvSpPr>
        <p:spPr>
          <a:xfrm>
            <a:off x="304800" y="9144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organizações têm muitas partes interessadas e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“criação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valor”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tem diferentes — e, às vezes, conflitantes — significados para cada uma delas.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Governança tem a ver com negociar e decidir entre os diferentes interesses das partes interessadas.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sistema de governança deve levar em consideração todas as partes interessadas quando são tomadas decisões sobre benefícios, recursos e avaliação de riscos.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 cada tomada de decisão, as seguintes perguntas podem e devem ser feitas:  </a:t>
            </a:r>
          </a:p>
          <a:p>
            <a:pPr lvl="2" algn="ctr"/>
            <a:r>
              <a:rPr lang="pt-BR" altLang="pt-BR" sz="2400" dirty="0">
                <a:solidFill>
                  <a:schemeClr val="tx2"/>
                </a:solidFill>
              </a:rPr>
              <a:t>Quem recebe os benefícios? </a:t>
            </a:r>
          </a:p>
          <a:p>
            <a:pPr lvl="2" algn="ctr"/>
            <a:r>
              <a:rPr lang="pt-BR" altLang="pt-BR" sz="2400" dirty="0">
                <a:solidFill>
                  <a:schemeClr val="tx2"/>
                </a:solidFill>
              </a:rPr>
              <a:t>Quem arca com os riscos? </a:t>
            </a:r>
          </a:p>
          <a:p>
            <a:pPr lvl="2" algn="ctr"/>
            <a:r>
              <a:rPr lang="pt-BR" altLang="pt-BR" sz="2400" dirty="0">
                <a:solidFill>
                  <a:schemeClr val="tx2"/>
                </a:solidFill>
              </a:rPr>
              <a:t>Quais recursos são necessários?</a:t>
            </a: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Necessidades dos stakeholders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525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Content Placeholder 1"/>
          <p:cNvSpPr>
            <a:spLocks noGrp="1"/>
          </p:cNvSpPr>
          <p:nvPr>
            <p:ph idx="4294967295"/>
          </p:nvPr>
        </p:nvSpPr>
        <p:spPr>
          <a:xfrm>
            <a:off x="78738" y="1181100"/>
            <a:ext cx="4978400" cy="489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necessidades das partes interessadas devem ser transformadas em estratégias organizacionais praticáveis.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</a:t>
            </a:r>
            <a:r>
              <a:rPr lang="pt-BR" altLang="pt-BR" sz="2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cascata de </a:t>
            </a:r>
            <a:r>
              <a:rPr lang="pt-BR" altLang="pt-BR" sz="24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objetivos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do COBIT 5 traduz as necessidades das partes interessadas em metas específicas, praticáveis e personalizadas da organização, de TI e dos habilitadores.</a:t>
            </a:r>
            <a:endParaRPr lang="en-GB" alt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3" name="Grupo 2"/>
          <p:cNvGrpSpPr/>
          <p:nvPr/>
        </p:nvGrpSpPr>
        <p:grpSpPr>
          <a:xfrm>
            <a:off x="5562600" y="819150"/>
            <a:ext cx="3273425" cy="5867400"/>
            <a:chOff x="5562600" y="685800"/>
            <a:chExt cx="3273425" cy="5867400"/>
          </a:xfrm>
        </p:grpSpPr>
        <p:pic>
          <p:nvPicPr>
            <p:cNvPr id="25602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62600" y="685800"/>
              <a:ext cx="3248025" cy="525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5786438" y="6153150"/>
              <a:ext cx="2878137" cy="40005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1000" dirty="0">
                  <a:solidFill>
                    <a:schemeClr val="bg1"/>
                  </a:solidFill>
                </a:rPr>
                <a:t>Fonte:  COBIT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5,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figura</a:t>
              </a:r>
              <a:r>
                <a:rPr lang="en-US" altLang="pt-BR" sz="1000" dirty="0">
                  <a:solidFill>
                    <a:schemeClr val="bg1"/>
                  </a:solidFill>
                </a:rPr>
                <a:t> 4. © 2012 ISACA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Todos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direitos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reservados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25607" name="CaixaDeTexto 7"/>
            <p:cNvSpPr txBox="1">
              <a:spLocks noChangeArrowheads="1"/>
            </p:cNvSpPr>
            <p:nvPr/>
          </p:nvSpPr>
          <p:spPr bwMode="auto">
            <a:xfrm>
              <a:off x="5916613" y="685800"/>
              <a:ext cx="2770187" cy="60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100">
                  <a:solidFill>
                    <a:schemeClr val="bg1"/>
                  </a:solidFill>
                </a:rPr>
                <a:t>Direcionadores das partes interessadas</a:t>
              </a:r>
            </a:p>
            <a:p>
              <a:pPr algn="ctr" eaLnBrk="1" hangingPunct="1"/>
              <a:r>
                <a:rPr lang="pt-BR" altLang="pt-BR" sz="1100">
                  <a:solidFill>
                    <a:schemeClr val="bg1"/>
                  </a:solidFill>
                </a:rPr>
                <a:t>(ambiente, evolução da tecnologia,...)</a:t>
              </a:r>
            </a:p>
          </p:txBody>
        </p:sp>
        <p:sp>
          <p:nvSpPr>
            <p:cNvPr id="20489" name="CaixaDeTexto 8"/>
            <p:cNvSpPr txBox="1">
              <a:spLocks noChangeArrowheads="1"/>
            </p:cNvSpPr>
            <p:nvPr/>
          </p:nvSpPr>
          <p:spPr bwMode="auto">
            <a:xfrm>
              <a:off x="5770563" y="2065338"/>
              <a:ext cx="877887" cy="57785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Realização de</a:t>
              </a:r>
            </a:p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benefícios</a:t>
              </a:r>
            </a:p>
          </p:txBody>
        </p:sp>
        <p:sp>
          <p:nvSpPr>
            <p:cNvPr id="20490" name="CaixaDeTexto 9"/>
            <p:cNvSpPr txBox="1">
              <a:spLocks noChangeArrowheads="1"/>
            </p:cNvSpPr>
            <p:nvPr/>
          </p:nvSpPr>
          <p:spPr bwMode="auto">
            <a:xfrm>
              <a:off x="6753225" y="2065338"/>
              <a:ext cx="990600" cy="57785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Otimização de</a:t>
              </a:r>
            </a:p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riscos</a:t>
              </a:r>
            </a:p>
          </p:txBody>
        </p:sp>
        <p:sp>
          <p:nvSpPr>
            <p:cNvPr id="20491" name="CaixaDeTexto 10"/>
            <p:cNvSpPr txBox="1">
              <a:spLocks noChangeArrowheads="1"/>
            </p:cNvSpPr>
            <p:nvPr/>
          </p:nvSpPr>
          <p:spPr bwMode="auto">
            <a:xfrm>
              <a:off x="7769225" y="2054225"/>
              <a:ext cx="1066800" cy="576263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Otimização de</a:t>
              </a:r>
            </a:p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recursos</a:t>
              </a:r>
            </a:p>
          </p:txBody>
        </p:sp>
        <p:sp>
          <p:nvSpPr>
            <p:cNvPr id="25611" name="CaixaDeTexto 11"/>
            <p:cNvSpPr txBox="1">
              <a:spLocks noChangeArrowheads="1"/>
            </p:cNvSpPr>
            <p:nvPr/>
          </p:nvSpPr>
          <p:spPr bwMode="auto">
            <a:xfrm>
              <a:off x="5848350" y="1812925"/>
              <a:ext cx="286385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100">
                  <a:solidFill>
                    <a:schemeClr val="tx1"/>
                  </a:solidFill>
                </a:rPr>
                <a:t>Necessidades das partes interessadas</a:t>
              </a:r>
            </a:p>
          </p:txBody>
        </p:sp>
        <p:sp>
          <p:nvSpPr>
            <p:cNvPr id="25612" name="CaixaDeTexto 12"/>
            <p:cNvSpPr txBox="1">
              <a:spLocks noChangeArrowheads="1"/>
            </p:cNvSpPr>
            <p:nvPr/>
          </p:nvSpPr>
          <p:spPr bwMode="auto">
            <a:xfrm>
              <a:off x="6046788" y="3290888"/>
              <a:ext cx="24161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200">
                  <a:solidFill>
                    <a:schemeClr val="bg1"/>
                  </a:solidFill>
                </a:rPr>
                <a:t>Metas corporativas</a:t>
              </a:r>
            </a:p>
          </p:txBody>
        </p:sp>
        <p:sp>
          <p:nvSpPr>
            <p:cNvPr id="25613" name="CaixaDeTexto 13"/>
            <p:cNvSpPr txBox="1">
              <a:spLocks noChangeArrowheads="1"/>
            </p:cNvSpPr>
            <p:nvPr/>
          </p:nvSpPr>
          <p:spPr bwMode="auto">
            <a:xfrm>
              <a:off x="6030913" y="4384675"/>
              <a:ext cx="2417762" cy="27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200">
                  <a:solidFill>
                    <a:schemeClr val="bg1"/>
                  </a:solidFill>
                </a:rPr>
                <a:t>Metas de TI</a:t>
              </a:r>
            </a:p>
          </p:txBody>
        </p:sp>
        <p:sp>
          <p:nvSpPr>
            <p:cNvPr id="25614" name="CaixaDeTexto 14"/>
            <p:cNvSpPr txBox="1">
              <a:spLocks noChangeArrowheads="1"/>
            </p:cNvSpPr>
            <p:nvPr/>
          </p:nvSpPr>
          <p:spPr bwMode="auto">
            <a:xfrm>
              <a:off x="6046788" y="5480050"/>
              <a:ext cx="24161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200">
                  <a:solidFill>
                    <a:schemeClr val="bg1"/>
                  </a:solidFill>
                </a:rPr>
                <a:t>Metas dos habilitadores</a:t>
              </a:r>
            </a:p>
          </p:txBody>
        </p:sp>
        <p:sp>
          <p:nvSpPr>
            <p:cNvPr id="25615" name="CaixaDeTexto 15"/>
            <p:cNvSpPr txBox="1">
              <a:spLocks noChangeArrowheads="1"/>
            </p:cNvSpPr>
            <p:nvPr/>
          </p:nvSpPr>
          <p:spPr bwMode="auto">
            <a:xfrm>
              <a:off x="7499350" y="3810000"/>
              <a:ext cx="12954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100">
                  <a:solidFill>
                    <a:schemeClr val="tx1"/>
                  </a:solidFill>
                </a:rPr>
                <a:t>alinhadas com</a:t>
              </a:r>
            </a:p>
          </p:txBody>
        </p:sp>
        <p:sp>
          <p:nvSpPr>
            <p:cNvPr id="25616" name="CaixaDeTexto 16"/>
            <p:cNvSpPr txBox="1">
              <a:spLocks noChangeArrowheads="1"/>
            </p:cNvSpPr>
            <p:nvPr/>
          </p:nvSpPr>
          <p:spPr bwMode="auto">
            <a:xfrm>
              <a:off x="7499350" y="4922838"/>
              <a:ext cx="1295400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100">
                  <a:solidFill>
                    <a:schemeClr val="tx1"/>
                  </a:solidFill>
                </a:rPr>
                <a:t>alinhadas com</a:t>
              </a:r>
            </a:p>
          </p:txBody>
        </p:sp>
        <p:sp>
          <p:nvSpPr>
            <p:cNvPr id="25617" name="CaixaDeTexto 17"/>
            <p:cNvSpPr txBox="1">
              <a:spLocks noChangeArrowheads="1"/>
            </p:cNvSpPr>
            <p:nvPr/>
          </p:nvSpPr>
          <p:spPr bwMode="auto">
            <a:xfrm>
              <a:off x="7515225" y="1441450"/>
              <a:ext cx="1295400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100">
                  <a:solidFill>
                    <a:schemeClr val="tx1"/>
                  </a:solidFill>
                </a:rPr>
                <a:t>Influências</a:t>
              </a:r>
            </a:p>
          </p:txBody>
        </p:sp>
      </p:grpSp>
      <p:sp>
        <p:nvSpPr>
          <p:cNvPr id="19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Necessidades dos stakeholders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574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Content Placeholder 1"/>
          <p:cNvSpPr>
            <a:spLocks noGrp="1"/>
          </p:cNvSpPr>
          <p:nvPr>
            <p:ph idx="4294967295"/>
          </p:nvPr>
        </p:nvSpPr>
        <p:spPr>
          <a:xfrm>
            <a:off x="457200" y="912813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Possibilita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definição de prioridades para a implementação, melhoria e garantia da governança corporativa de TI com base nos objetivos (estratégicos) corporativos e nos riscos relacionados.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Na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prática, a cascata de metas:</a:t>
            </a:r>
          </a:p>
          <a:p>
            <a:pPr marL="800100" lvl="1" indent="-438150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Define as metas e os objetivos relevantes e tangíveis em vários níveis de responsabilidade.</a:t>
            </a:r>
          </a:p>
          <a:p>
            <a:pPr marL="800100" lvl="1" indent="-438150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Filtra a base de conhecimentos do COBIT 5, com base nas metas corporativas, para extrair orientações relevantes para inclusão em projetos específicos de implementação, melhoria ou garantia.</a:t>
            </a:r>
          </a:p>
          <a:p>
            <a:pPr marL="800100" lvl="1" indent="-438150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Identifica e comunica claramente como (às vezes, de forma bastante operacional) os habilitadores são componentes importantes no cumprimento das metas corporativas.</a:t>
            </a:r>
          </a:p>
          <a:p>
            <a:pPr marL="800100" lvl="1" indent="-438150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endParaRPr lang="en-GB" alt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Benefícios da Cascata de Objetivos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4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1"/>
          <p:cNvSpPr>
            <a:spLocks noGrp="1"/>
          </p:cNvSpPr>
          <p:nvPr>
            <p:ph idx="4294967295"/>
          </p:nvPr>
        </p:nvSpPr>
        <p:spPr>
          <a:xfrm>
            <a:off x="381000" y="82296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COBIT 5 aborda a governança e o gerenciamento da informação e tecnologias relacionadas sob uma perspectiva ampla, que envolve toda a organização</a:t>
            </a: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Isso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significa que o COBIT 5: 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Integra a governança corporativa de TI com a governança empresarial, ou seja, o sistema de governança de TI proposto pelo COBIT 5 se integra perfeitamente com qualquer sistema de governança porque o COBIT 5 está alinhado com as visões de governança mais recentes.</a:t>
            </a:r>
          </a:p>
          <a:p>
            <a:pPr marL="1082675" lvl="1" indent="-366713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Abrange todas as funções e todos os processos da empresa; o COBIT 5 não foca somente as ‘funções de TI’, mas trata a informação e as tecnologias relacionadas como ativos com os quais todos da empresa devem lidar, como qualquer outro ativo da empresa.</a:t>
            </a:r>
            <a:endParaRPr lang="en-GB" alt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Abordagem </a:t>
            </a:r>
            <a:r>
              <a:rPr lang="pt-BR" dirty="0" err="1"/>
              <a:t>End-to-End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266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Content Placeholder 1"/>
          <p:cNvSpPr>
            <a:spLocks noGrp="1"/>
          </p:cNvSpPr>
          <p:nvPr>
            <p:ph idx="4294967295"/>
          </p:nvPr>
        </p:nvSpPr>
        <p:spPr>
          <a:xfrm>
            <a:off x="457200" y="11430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COBIT 5 está alinhado com as estruturas e os padrões mais recentes e relevantes utilizados nas empresas: 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Corporativos:  COSO, COSO ERM, ISO/IEC 9000, ISO/IEC </a:t>
            </a:r>
            <a:r>
              <a:rPr lang="pt-BR" alt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31000 (</a:t>
            </a:r>
            <a:r>
              <a:rPr lang="pt-BR" altLang="pt-BR" sz="2800" kern="1200" dirty="0" err="1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Risk</a:t>
            </a:r>
            <a:r>
              <a:rPr lang="pt-BR" alt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).</a:t>
            </a:r>
            <a:endParaRPr lang="pt-BR" altLang="pt-BR" sz="2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Relacionados à TI:  ISO/IEC 38500, ITIL, série ISO/IEC </a:t>
            </a:r>
            <a:r>
              <a:rPr lang="pt-BR" alt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27000 (Security), </a:t>
            </a:r>
            <a:r>
              <a:rPr lang="pt-BR" alt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TOGAF, PMBOK/PRINCE2, </a:t>
            </a:r>
            <a:r>
              <a:rPr lang="pt-BR" alt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CMMI, etc</a:t>
            </a:r>
            <a:r>
              <a:rPr lang="pt-BR" alt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Isso permite à empresa utilizar o COBIT 5 como um </a:t>
            </a:r>
            <a:r>
              <a:rPr lang="pt-BR" alt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integrador global das estruturas de governança e gerenciamento</a:t>
            </a:r>
            <a:r>
              <a:rPr lang="pt-BR" alt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Estrutura Única e Integrada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423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1"/>
          <p:cNvSpPr>
            <a:spLocks noGrp="1"/>
          </p:cNvSpPr>
          <p:nvPr>
            <p:ph idx="4294967295"/>
          </p:nvPr>
        </p:nvSpPr>
        <p:spPr>
          <a:xfrm>
            <a:off x="457200" y="1217613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habilitadores do COBIT 5 são: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Fatores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que, individual e coletivamente, influenciam o funcionamento dos processos — no caso do COBIT, a governança e o gerenciamento corporativos da TI. 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Impulsionados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pela cascata de metas, ou seja, os objetivos de alto nível relacionados a TI definem quais resultados os diferentes habilitadores devem alcançar.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Descritos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pela estrutura do COBIT 5 em sete categorias.</a:t>
            </a:r>
            <a:endParaRPr lang="en-GB" sz="2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Abordagem Holística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972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1"/>
          <p:cNvSpPr>
            <a:spLocks noGrp="1"/>
          </p:cNvSpPr>
          <p:nvPr>
            <p:ph idx="4294967295"/>
          </p:nvPr>
        </p:nvSpPr>
        <p:spPr>
          <a:xfrm>
            <a:off x="228600" y="1065213"/>
            <a:ext cx="8686800" cy="5183187"/>
          </a:xfrm>
          <a:prstGeom prst="rect">
            <a:avLst/>
          </a:prstGeom>
        </p:spPr>
        <p:txBody>
          <a:bodyPr/>
          <a:lstStyle/>
          <a:p>
            <a:pPr marL="344488" lvl="1" indent="-342900" algn="just" eaLnBrk="1" hangingPunct="1">
              <a:buFont typeface="Arial" charset="0"/>
              <a:buAutoNum type="arabicPeriod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Processos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—descrevem um conjunto organizado de práticas e atividades para atingir certos objetivos e produzir um conjunto de resultados que auxiliem no cumprimento das metas gerais relacionadas à TI</a:t>
            </a:r>
          </a:p>
          <a:p>
            <a:pPr marL="344488" lvl="1" indent="-342900" algn="just" eaLnBrk="1" hangingPunct="1">
              <a:buFont typeface="Arial" charset="0"/>
              <a:buAutoNum type="arabicPeriod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Estruturas organizacionais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—são as principais entidades responsáveis pela tomada de decisões em uma organização</a:t>
            </a:r>
          </a:p>
          <a:p>
            <a:pPr marL="344488" lvl="1" indent="-342900" algn="just" eaLnBrk="1" hangingPunct="1">
              <a:buFont typeface="Arial" charset="0"/>
              <a:buAutoNum type="arabicPeriod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Cultura, ética e comportamento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—dos indivíduos e da organização, muito frequentemente são subestimados como fatores de sucesso nas atividades de governança e gerenciamento</a:t>
            </a:r>
          </a:p>
          <a:p>
            <a:pPr marL="344488" lvl="1" indent="-342900" algn="just" eaLnBrk="1" hangingPunct="1">
              <a:buFont typeface="Arial" charset="0"/>
              <a:buAutoNum type="arabicPeriod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Princípios, políticas e estruturas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—são veículos que traduzem o comportamento desejado em orientações práticas para a gestão cotidiana</a:t>
            </a: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Os Sete Habilitadores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974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1"/>
          <p:cNvSpPr>
            <a:spLocks noGrp="1"/>
          </p:cNvSpPr>
          <p:nvPr>
            <p:ph idx="4294967295"/>
          </p:nvPr>
        </p:nvSpPr>
        <p:spPr>
          <a:xfrm>
            <a:off x="228600" y="1065213"/>
            <a:ext cx="8686800" cy="5183187"/>
          </a:xfrm>
          <a:prstGeom prst="rect">
            <a:avLst/>
          </a:prstGeom>
        </p:spPr>
        <p:txBody>
          <a:bodyPr/>
          <a:lstStyle/>
          <a:p>
            <a:pPr marL="458788" lvl="1" indent="-457200" algn="just" eaLnBrk="1" hangingPunct="1">
              <a:buFont typeface="+mj-lt"/>
              <a:buAutoNum type="arabicPeriod" startAt="5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Informação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—está arraigada em toda a organização, ou seja, representa todas as informações produzidas e utilizadas na empresa. As informação são necessárias para manter a organização em funcionamento e bem governada, mas no nível operacional, a informação, com frequência, é o produto principal da empresa.</a:t>
            </a:r>
          </a:p>
          <a:p>
            <a:pPr marL="458788" lvl="1" indent="-457200" algn="just" eaLnBrk="1" hangingPunct="1">
              <a:buFont typeface="+mj-lt"/>
              <a:buAutoNum type="arabicPeriod" startAt="5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Serviços, infraestrutura e aplicações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—incluem a infraestrutura, a tecnologia e as aplicações que fornecem à organização os serviços e o processamento de TI </a:t>
            </a:r>
          </a:p>
          <a:p>
            <a:pPr marL="458788" lvl="1" indent="-457200" algn="just" eaLnBrk="1" hangingPunct="1">
              <a:buFont typeface="+mj-lt"/>
              <a:buAutoNum type="arabicPeriod" startAt="5"/>
            </a:pPr>
            <a:r>
              <a:rPr lang="pt-BR" altLang="pt-BR" sz="2400" b="1" dirty="0" smtClean="0">
                <a:solidFill>
                  <a:schemeClr val="tx2"/>
                </a:solidFill>
                <a:latin typeface="+mn-lt"/>
              </a:rPr>
              <a:t>Pessoas, habilidades e competências</a:t>
            </a:r>
            <a:r>
              <a:rPr lang="pt-BR" altLang="pt-BR" sz="2400" dirty="0" smtClean="0">
                <a:solidFill>
                  <a:schemeClr val="tx2"/>
                </a:solidFill>
                <a:latin typeface="+mn-lt"/>
              </a:rPr>
              <a:t>—estão relacionadas com pessoas e são necessárias à execução bem-sucedida das atividades e à tomada de decisões corretas e adoção de ações corretivas</a:t>
            </a: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Os Sete Habilitadores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621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Content Placeholder 1"/>
          <p:cNvSpPr>
            <a:spLocks noGrp="1"/>
          </p:cNvSpPr>
          <p:nvPr>
            <p:ph idx="4294967295"/>
          </p:nvPr>
        </p:nvSpPr>
        <p:spPr>
          <a:xfrm>
            <a:off x="457200" y="9144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estrutura do COBIT 5 faz uma distinção clara entre </a:t>
            </a: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Governança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 </a:t>
            </a: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Gerenciamento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Essas duas disciplinas: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Englobam tipos diferentes de atividades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Demandam estruturas organizacionais diferentes</a:t>
            </a:r>
          </a:p>
          <a:p>
            <a:pPr marL="715963" lvl="1" indent="-357188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Têm finalidades diferentes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Governança — Na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maioria das organizações, governança é responsabilidade do conselho de administração, sob a liderança do presidente.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Gerenciamento — Na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maioria das organizações, o gerenciamento é responsabilidade dos executivos, sob a liderança do CEO.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pt-BR" altLang="pt-BR" dirty="0"/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Governança e Gerenciamento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4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381000" y="1143000"/>
            <a:ext cx="8229600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governança garante que as necessidades, condições e opções das partes interessadas sejam </a:t>
            </a:r>
            <a:r>
              <a:rPr lang="pt-BR" altLang="pt-BR" sz="26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avaliadas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para a definição de objetivos corporativos equilibrados e consensuais a serem alcançados por meio da </a:t>
            </a:r>
            <a:r>
              <a:rPr lang="pt-BR" altLang="pt-BR" sz="26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definição de diretrizes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com gestão de prioridades e tomada de decisões, e do </a:t>
            </a:r>
            <a:r>
              <a:rPr lang="pt-BR" altLang="pt-BR" sz="26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monitoramento do desempenho e da conformidade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em comparação com as diretrizes e os objetivos acordados (EDM).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gerenciamento planeja, desenvolve, executa e monitora as atividades de acordo com as diretrizes definidas pelo órgão de governança para alcançar os objetivos da empresa (PBRM).</a:t>
            </a:r>
          </a:p>
          <a:p>
            <a:endParaRPr lang="pt-BR" altLang="pt-BR" dirty="0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Governança e Gerenciamento</a:t>
            </a:r>
          </a:p>
        </p:txBody>
      </p:sp>
    </p:spTree>
    <p:extLst>
      <p:ext uri="{BB962C8B-B14F-4D97-AF65-F5344CB8AC3E}">
        <p14:creationId xmlns:p14="http://schemas.microsoft.com/office/powerpoint/2010/main" val="218162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Content Placeholder 1"/>
          <p:cNvSpPr>
            <a:spLocks noGrp="1"/>
          </p:cNvSpPr>
          <p:nvPr>
            <p:ph idx="4294967295"/>
          </p:nvPr>
        </p:nvSpPr>
        <p:spPr>
          <a:xfrm>
            <a:off x="328613" y="912813"/>
            <a:ext cx="8229600" cy="5183187"/>
          </a:xfrm>
          <a:prstGeom prst="rect">
            <a:avLst/>
          </a:prstGeom>
        </p:spPr>
        <p:txBody>
          <a:bodyPr/>
          <a:lstStyle/>
          <a:p>
            <a:pPr lvl="1" algn="just" defTabSz="622300" rtl="0" eaLnBrk="1" fontAlgn="base" hangingPunct="1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COBIT 5 não é prescritivo, mas defende que as organizações implementem os processos de governança e gerenciamento, contemplando as principais áreas, </a:t>
            </a:r>
            <a:r>
              <a:rPr lang="pt-BR" alt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conforme a </a:t>
            </a:r>
            <a:r>
              <a:rPr lang="pt-BR" alt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ilustração a seguir.</a:t>
            </a:r>
          </a:p>
          <a:p>
            <a:pPr marL="0" indent="0" eaLnBrk="1" hangingPunct="1"/>
            <a:endParaRPr lang="en-GB" altLang="pt-BR" sz="2400" dirty="0" smtClean="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5" name="Grupo 4"/>
          <p:cNvGrpSpPr/>
          <p:nvPr/>
        </p:nvGrpSpPr>
        <p:grpSpPr>
          <a:xfrm>
            <a:off x="932181" y="2057400"/>
            <a:ext cx="7397115" cy="4395152"/>
            <a:chOff x="1268413" y="2889250"/>
            <a:chExt cx="6724650" cy="3995593"/>
          </a:xfrm>
        </p:grpSpPr>
        <p:pic>
          <p:nvPicPr>
            <p:cNvPr id="34818" name="Picture 1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8413" y="2889250"/>
              <a:ext cx="6724650" cy="365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Rectangle 6"/>
            <p:cNvSpPr>
              <a:spLocks noChangeArrowheads="1"/>
            </p:cNvSpPr>
            <p:nvPr/>
          </p:nvSpPr>
          <p:spPr bwMode="auto">
            <a:xfrm>
              <a:off x="2209800" y="6661006"/>
              <a:ext cx="4876800" cy="22383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pt-BR" sz="1000">
                  <a:solidFill>
                    <a:schemeClr val="bg1"/>
                  </a:solidFill>
                </a:rPr>
                <a:t>Fonte:  COBIT</a:t>
              </a:r>
              <a:r>
                <a:rPr lang="en-US" altLang="pt-BR" sz="1000" baseline="30000">
                  <a:solidFill>
                    <a:schemeClr val="bg1"/>
                  </a:solidFill>
                </a:rPr>
                <a:t>®</a:t>
              </a:r>
              <a:r>
                <a:rPr lang="en-US" altLang="pt-BR" sz="1000">
                  <a:solidFill>
                    <a:schemeClr val="bg1"/>
                  </a:solidFill>
                </a:rPr>
                <a:t> 5, figura 15. © 2012 ISACA</a:t>
              </a:r>
              <a:r>
                <a:rPr lang="en-US" altLang="pt-BR" sz="1000" baseline="30000">
                  <a:solidFill>
                    <a:schemeClr val="bg1"/>
                  </a:solidFill>
                </a:rPr>
                <a:t>®</a:t>
              </a:r>
              <a:r>
                <a:rPr lang="en-US" altLang="pt-BR" sz="1000">
                  <a:solidFill>
                    <a:schemeClr val="bg1"/>
                  </a:solidFill>
                </a:rPr>
                <a:t>  Todos os direitos reservados.</a:t>
              </a:r>
            </a:p>
          </p:txBody>
        </p:sp>
        <p:sp>
          <p:nvSpPr>
            <p:cNvPr id="32775" name="CaixaDeTexto 7"/>
            <p:cNvSpPr txBox="1">
              <a:spLocks noChangeArrowheads="1"/>
            </p:cNvSpPr>
            <p:nvPr/>
          </p:nvSpPr>
          <p:spPr bwMode="auto">
            <a:xfrm>
              <a:off x="4197350" y="3668713"/>
              <a:ext cx="990600" cy="252412"/>
            </a:xfrm>
            <a:prstGeom prst="rect">
              <a:avLst/>
            </a:prstGeom>
            <a:noFill/>
            <a:ln>
              <a:noFill/>
            </a:ln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Avaliar</a:t>
              </a:r>
            </a:p>
          </p:txBody>
        </p:sp>
        <p:sp>
          <p:nvSpPr>
            <p:cNvPr id="32776" name="CaixaDeTexto 8"/>
            <p:cNvSpPr txBox="1">
              <a:spLocks noChangeArrowheads="1"/>
            </p:cNvSpPr>
            <p:nvPr/>
          </p:nvSpPr>
          <p:spPr bwMode="auto">
            <a:xfrm>
              <a:off x="2916238" y="4519613"/>
              <a:ext cx="9906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1050" smtClean="0">
                  <a:solidFill>
                    <a:schemeClr val="bg1"/>
                  </a:solidFill>
                </a:rPr>
                <a:t>Orientar</a:t>
              </a:r>
            </a:p>
          </p:txBody>
        </p:sp>
        <p:sp>
          <p:nvSpPr>
            <p:cNvPr id="32777" name="CaixaDeTexto 9"/>
            <p:cNvSpPr txBox="1">
              <a:spLocks noChangeArrowheads="1"/>
            </p:cNvSpPr>
            <p:nvPr/>
          </p:nvSpPr>
          <p:spPr bwMode="auto">
            <a:xfrm>
              <a:off x="5387975" y="4470400"/>
              <a:ext cx="9906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1050" dirty="0" smtClean="0">
                  <a:solidFill>
                    <a:schemeClr val="bg1"/>
                  </a:solidFill>
                </a:rPr>
                <a:t>Monitorar</a:t>
              </a:r>
            </a:p>
          </p:txBody>
        </p:sp>
        <p:sp>
          <p:nvSpPr>
            <p:cNvPr id="34826" name="CaixaDeTexto 10"/>
            <p:cNvSpPr txBox="1">
              <a:spLocks noChangeArrowheads="1"/>
            </p:cNvSpPr>
            <p:nvPr/>
          </p:nvSpPr>
          <p:spPr bwMode="auto">
            <a:xfrm>
              <a:off x="1916113" y="5781675"/>
              <a:ext cx="990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>
                  <a:solidFill>
                    <a:schemeClr val="tx1"/>
                  </a:solidFill>
                </a:rPr>
                <a:t>Planejar</a:t>
              </a:r>
            </a:p>
            <a:p>
              <a:pPr algn="ctr" eaLnBrk="1" hangingPunct="1"/>
              <a:r>
                <a:rPr lang="pt-BR" altLang="pt-BR" sz="1000">
                  <a:solidFill>
                    <a:schemeClr val="tx1"/>
                  </a:solidFill>
                </a:rPr>
                <a:t>(APO)</a:t>
              </a:r>
            </a:p>
          </p:txBody>
        </p:sp>
        <p:sp>
          <p:nvSpPr>
            <p:cNvPr id="34827" name="CaixaDeTexto 11"/>
            <p:cNvSpPr txBox="1">
              <a:spLocks noChangeArrowheads="1"/>
            </p:cNvSpPr>
            <p:nvPr/>
          </p:nvSpPr>
          <p:spPr bwMode="auto">
            <a:xfrm>
              <a:off x="3399703" y="5775325"/>
              <a:ext cx="990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 dirty="0">
                  <a:solidFill>
                    <a:schemeClr val="tx1"/>
                  </a:solidFill>
                </a:rPr>
                <a:t>Desenvolver</a:t>
              </a:r>
            </a:p>
            <a:p>
              <a:pPr algn="ctr" eaLnBrk="1" hangingPunct="1"/>
              <a:r>
                <a:rPr lang="pt-BR" altLang="pt-BR" sz="1000" dirty="0">
                  <a:solidFill>
                    <a:schemeClr val="tx1"/>
                  </a:solidFill>
                </a:rPr>
                <a:t>(BAI)</a:t>
              </a:r>
            </a:p>
          </p:txBody>
        </p:sp>
        <p:sp>
          <p:nvSpPr>
            <p:cNvPr id="34828" name="CaixaDeTexto 12"/>
            <p:cNvSpPr txBox="1">
              <a:spLocks noChangeArrowheads="1"/>
            </p:cNvSpPr>
            <p:nvPr/>
          </p:nvSpPr>
          <p:spPr bwMode="auto">
            <a:xfrm>
              <a:off x="4932363" y="5781675"/>
              <a:ext cx="990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>
                  <a:solidFill>
                    <a:schemeClr val="tx1"/>
                  </a:solidFill>
                </a:rPr>
                <a:t>Executar</a:t>
              </a:r>
            </a:p>
            <a:p>
              <a:pPr algn="ctr" eaLnBrk="1" hangingPunct="1"/>
              <a:r>
                <a:rPr lang="pt-BR" altLang="pt-BR" sz="1000">
                  <a:solidFill>
                    <a:schemeClr val="tx1"/>
                  </a:solidFill>
                </a:rPr>
                <a:t>(DSS)</a:t>
              </a:r>
            </a:p>
          </p:txBody>
        </p:sp>
        <p:sp>
          <p:nvSpPr>
            <p:cNvPr id="34829" name="CaixaDeTexto 13"/>
            <p:cNvSpPr txBox="1">
              <a:spLocks noChangeArrowheads="1"/>
            </p:cNvSpPr>
            <p:nvPr/>
          </p:nvSpPr>
          <p:spPr bwMode="auto">
            <a:xfrm>
              <a:off x="6450013" y="5783263"/>
              <a:ext cx="990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>
                  <a:solidFill>
                    <a:schemeClr val="tx1"/>
                  </a:solidFill>
                </a:rPr>
                <a:t>Monitorar</a:t>
              </a:r>
            </a:p>
            <a:p>
              <a:pPr algn="ctr" eaLnBrk="1" hangingPunct="1"/>
              <a:r>
                <a:rPr lang="pt-BR" altLang="pt-BR" sz="1000">
                  <a:solidFill>
                    <a:schemeClr val="tx1"/>
                  </a:solidFill>
                </a:rPr>
                <a:t>(MEA)</a:t>
              </a:r>
            </a:p>
          </p:txBody>
        </p:sp>
        <p:sp>
          <p:nvSpPr>
            <p:cNvPr id="34830" name="CaixaDeTexto 14"/>
            <p:cNvSpPr txBox="1">
              <a:spLocks noChangeArrowheads="1"/>
            </p:cNvSpPr>
            <p:nvPr/>
          </p:nvSpPr>
          <p:spPr bwMode="auto">
            <a:xfrm>
              <a:off x="1560513" y="3422947"/>
              <a:ext cx="1139825" cy="251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pt-BR" altLang="pt-BR" sz="1200" dirty="0">
                  <a:solidFill>
                    <a:schemeClr val="tx2"/>
                  </a:solidFill>
                </a:rPr>
                <a:t>Governança</a:t>
              </a:r>
            </a:p>
          </p:txBody>
        </p:sp>
        <p:sp>
          <p:nvSpPr>
            <p:cNvPr id="34831" name="CaixaDeTexto 15"/>
            <p:cNvSpPr txBox="1">
              <a:spLocks noChangeArrowheads="1"/>
            </p:cNvSpPr>
            <p:nvPr/>
          </p:nvSpPr>
          <p:spPr bwMode="auto">
            <a:xfrm>
              <a:off x="1509713" y="5269210"/>
              <a:ext cx="1333500" cy="251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pt-BR" altLang="pt-BR" sz="1200" dirty="0">
                  <a:solidFill>
                    <a:schemeClr val="tx2"/>
                  </a:solidFill>
                </a:rPr>
                <a:t>Gerenciamento</a:t>
              </a:r>
            </a:p>
          </p:txBody>
        </p:sp>
        <p:sp>
          <p:nvSpPr>
            <p:cNvPr id="34832" name="CaixaDeTexto 16"/>
            <p:cNvSpPr txBox="1">
              <a:spLocks noChangeArrowheads="1"/>
            </p:cNvSpPr>
            <p:nvPr/>
          </p:nvSpPr>
          <p:spPr bwMode="auto">
            <a:xfrm>
              <a:off x="3708400" y="3049588"/>
              <a:ext cx="1893888" cy="223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 dirty="0">
                  <a:solidFill>
                    <a:schemeClr val="tx2"/>
                  </a:solidFill>
                </a:rPr>
                <a:t>Necessidades da empresa</a:t>
              </a:r>
            </a:p>
          </p:txBody>
        </p:sp>
        <p:sp>
          <p:nvSpPr>
            <p:cNvPr id="34833" name="CaixaDeTexto 17"/>
            <p:cNvSpPr txBox="1">
              <a:spLocks noChangeArrowheads="1"/>
            </p:cNvSpPr>
            <p:nvPr/>
          </p:nvSpPr>
          <p:spPr bwMode="auto">
            <a:xfrm>
              <a:off x="3889375" y="4554538"/>
              <a:ext cx="1546225" cy="223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rIns="36000" anchor="ctr"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pt-BR" altLang="pt-BR" sz="1000" dirty="0">
                  <a:solidFill>
                    <a:schemeClr val="tx2"/>
                  </a:solidFill>
                </a:rPr>
                <a:t>Feedback dos gestores</a:t>
              </a:r>
            </a:p>
          </p:txBody>
        </p:sp>
      </p:grpSp>
      <p:sp>
        <p:nvSpPr>
          <p:cNvPr id="19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Governança e Gerenciamento</a:t>
            </a:r>
          </a:p>
        </p:txBody>
      </p:sp>
    </p:spTree>
    <p:extLst>
      <p:ext uri="{BB962C8B-B14F-4D97-AF65-F5344CB8AC3E}">
        <p14:creationId xmlns:p14="http://schemas.microsoft.com/office/powerpoint/2010/main" val="291580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Content Placeholder 1"/>
          <p:cNvSpPr>
            <a:spLocks noGrp="1"/>
          </p:cNvSpPr>
          <p:nvPr>
            <p:ph idx="4294967295"/>
          </p:nvPr>
        </p:nvSpPr>
        <p:spPr>
          <a:xfrm>
            <a:off x="457200" y="1044575"/>
            <a:ext cx="8229600" cy="497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estrutura do COBIT 5 descreve sete categorias de </a:t>
            </a: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habilitadores. 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</a:t>
            </a:r>
            <a:r>
              <a:rPr lang="pt-BR" altLang="pt-BR" sz="26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Processos</a:t>
            </a: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são uma categoria.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Uma empresa pode organizar seus processos como melhor entender, contanto que todos os objetivos de governança e de gerenciamento sejam contemplados. Empresas pequenas podem apresentar poucos processos, enquanto empresas maiores e mais complexas podem ter vários processos com os mesmos objetivos.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COBIT 5 inclui um modelo de referência de processos (PRM), que define e descreve em detalhes vários processos de governança e de gerenciamento. Os detalhes sobre esse habilitador podem ser encontrados no </a:t>
            </a:r>
            <a:r>
              <a:rPr lang="pt-BR" alt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documento </a:t>
            </a:r>
            <a:r>
              <a:rPr lang="pt-BR" alt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COBIT 5: </a:t>
            </a:r>
            <a:r>
              <a:rPr lang="pt-BR" altLang="pt-BR" sz="26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Processos Habilitadores.</a:t>
            </a:r>
            <a:endParaRPr lang="en-US" altLang="pt-BR" sz="26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Processos Habilitadores</a:t>
            </a:r>
          </a:p>
        </p:txBody>
      </p:sp>
    </p:spTree>
    <p:extLst>
      <p:ext uri="{BB962C8B-B14F-4D97-AF65-F5344CB8AC3E}">
        <p14:creationId xmlns:p14="http://schemas.microsoft.com/office/powerpoint/2010/main" val="165933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rgbClr val="0077A9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rgbClr val="0077A9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77A9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4" name="Grupo 3"/>
          <p:cNvGrpSpPr/>
          <p:nvPr/>
        </p:nvGrpSpPr>
        <p:grpSpPr>
          <a:xfrm>
            <a:off x="309087" y="152400"/>
            <a:ext cx="8408193" cy="6291738"/>
            <a:chOff x="528638" y="457200"/>
            <a:chExt cx="7643812" cy="5719762"/>
          </a:xfrm>
        </p:grpSpPr>
        <p:sp>
          <p:nvSpPr>
            <p:cNvPr id="37892" name="Rectangle 6"/>
            <p:cNvSpPr>
              <a:spLocks noChangeArrowheads="1"/>
            </p:cNvSpPr>
            <p:nvPr/>
          </p:nvSpPr>
          <p:spPr bwMode="auto">
            <a:xfrm>
              <a:off x="1935493" y="5953125"/>
              <a:ext cx="4876800" cy="223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1pPr>
              <a:lvl2pPr marL="742950" indent="-28575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2pPr>
              <a:lvl3pPr marL="11430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3pPr>
              <a:lvl4pPr marL="16002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4pPr>
              <a:lvl5pPr marL="2057400" indent="-228600" eaLnBrk="0" hangingPunct="0">
                <a:defRPr sz="2800" b="1">
                  <a:solidFill>
                    <a:srgbClr val="0077A9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77A9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pt-BR" sz="1000" dirty="0">
                  <a:solidFill>
                    <a:schemeClr val="bg1"/>
                  </a:solidFill>
                </a:rPr>
                <a:t>Fonte:  COBIT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5,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figura</a:t>
              </a:r>
              <a:r>
                <a:rPr lang="en-US" altLang="pt-BR" sz="1000" dirty="0">
                  <a:solidFill>
                    <a:schemeClr val="bg1"/>
                  </a:solidFill>
                </a:rPr>
                <a:t> 16. © 2012 ISACA</a:t>
              </a:r>
              <a:r>
                <a:rPr lang="en-US" altLang="pt-BR" sz="1000" baseline="30000" dirty="0">
                  <a:solidFill>
                    <a:schemeClr val="bg1"/>
                  </a:solidFill>
                </a:rPr>
                <a:t>®</a:t>
              </a:r>
              <a:r>
                <a:rPr lang="en-US" altLang="pt-BR" sz="1000" dirty="0">
                  <a:solidFill>
                    <a:schemeClr val="bg1"/>
                  </a:solidFill>
                </a:rPr>
                <a:t> 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Todos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direitos</a:t>
              </a:r>
              <a:r>
                <a:rPr lang="en-US" altLang="pt-BR" sz="1000" dirty="0">
                  <a:solidFill>
                    <a:schemeClr val="bg1"/>
                  </a:solidFill>
                </a:rPr>
                <a:t> </a:t>
              </a:r>
              <a:r>
                <a:rPr lang="en-US" altLang="pt-BR" sz="1000" dirty="0" err="1">
                  <a:solidFill>
                    <a:schemeClr val="bg1"/>
                  </a:solidFill>
                </a:rPr>
                <a:t>reservados</a:t>
              </a:r>
              <a:r>
                <a:rPr lang="en-US" altLang="pt-BR" sz="1000" dirty="0">
                  <a:solidFill>
                    <a:schemeClr val="bg1"/>
                  </a:solidFill>
                </a:rPr>
                <a:t>.</a:t>
              </a:r>
            </a:p>
          </p:txBody>
        </p:sp>
        <p:grpSp>
          <p:nvGrpSpPr>
            <p:cNvPr id="37893" name="Group 146"/>
            <p:cNvGrpSpPr>
              <a:grpSpLocks/>
            </p:cNvGrpSpPr>
            <p:nvPr/>
          </p:nvGrpSpPr>
          <p:grpSpPr bwMode="auto">
            <a:xfrm>
              <a:off x="528638" y="457200"/>
              <a:ext cx="7643812" cy="5495925"/>
              <a:chOff x="630238" y="533400"/>
              <a:chExt cx="7883531" cy="5999163"/>
            </a:xfrm>
          </p:grpSpPr>
          <p:grpSp>
            <p:nvGrpSpPr>
              <p:cNvPr id="37894" name="Group 10"/>
              <p:cNvGrpSpPr>
                <a:grpSpLocks noChangeAspect="1"/>
              </p:cNvGrpSpPr>
              <p:nvPr/>
            </p:nvGrpSpPr>
            <p:grpSpPr bwMode="auto">
              <a:xfrm>
                <a:off x="630238" y="533400"/>
                <a:ext cx="7883531" cy="5999163"/>
                <a:chOff x="397" y="122"/>
                <a:chExt cx="4966" cy="3779"/>
              </a:xfrm>
            </p:grpSpPr>
            <p:sp>
              <p:nvSpPr>
                <p:cNvPr id="37932" name="AutoShape 9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97" y="122"/>
                  <a:ext cx="4966" cy="35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37933" name="Group 211"/>
                <p:cNvGrpSpPr>
                  <a:grpSpLocks/>
                </p:cNvGrpSpPr>
                <p:nvPr/>
              </p:nvGrpSpPr>
              <p:grpSpPr bwMode="auto">
                <a:xfrm>
                  <a:off x="404" y="314"/>
                  <a:ext cx="4955" cy="3587"/>
                  <a:chOff x="404" y="314"/>
                  <a:chExt cx="4955" cy="3587"/>
                </a:xfrm>
              </p:grpSpPr>
              <p:sp>
                <p:nvSpPr>
                  <p:cNvPr id="104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04" y="417"/>
                    <a:ext cx="4955" cy="3484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s-AR"/>
                  </a:p>
                </p:txBody>
              </p:sp>
              <p:sp>
                <p:nvSpPr>
                  <p:cNvPr id="37992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428" y="438"/>
                    <a:ext cx="1012" cy="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Avaliar, Orientar e Monitorar</a:t>
                    </a:r>
                    <a:endParaRPr lang="pt-BR" altLang="pt-BR"/>
                  </a:p>
                </p:txBody>
              </p:sp>
              <p:sp>
                <p:nvSpPr>
                  <p:cNvPr id="3799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724" y="450"/>
                    <a:ext cx="20" cy="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94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1117" y="450"/>
                    <a:ext cx="54" cy="1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95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3492" y="439"/>
                    <a:ext cx="114" cy="12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1100">
                        <a:solidFill>
                          <a:srgbClr val="FFFFFF"/>
                        </a:solidFill>
                      </a:rPr>
                      <a:t>   </a:t>
                    </a:r>
                    <a:endParaRPr lang="en-US" altLang="pt-BR"/>
                  </a:p>
                </p:txBody>
              </p:sp>
              <p:sp>
                <p:nvSpPr>
                  <p:cNvPr id="37996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314" y="314"/>
                    <a:ext cx="1989" cy="29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100">
                        <a:solidFill>
                          <a:srgbClr val="FFFFFF"/>
                        </a:solidFill>
                      </a:rPr>
                      <a:t>Processos de governança corporativa de TI </a:t>
                    </a:r>
                    <a:r>
                      <a:rPr lang="pt-BR" altLang="pt-BR">
                        <a:solidFill>
                          <a:srgbClr val="FFFFFF"/>
                        </a:solidFill>
                      </a:rPr>
                      <a:t> </a:t>
                    </a:r>
                    <a:endParaRPr lang="pt-BR" altLang="pt-BR"/>
                  </a:p>
                </p:txBody>
              </p:sp>
              <p:sp>
                <p:nvSpPr>
                  <p:cNvPr id="11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67" y="1041"/>
                    <a:ext cx="4809" cy="2790"/>
                  </a:xfrm>
                  <a:prstGeom prst="rect">
                    <a:avLst/>
                  </a:prstGeom>
                  <a:solidFill>
                    <a:schemeClr val="accent1">
                      <a:lumMod val="50000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pt-BR"/>
                  </a:p>
                </p:txBody>
              </p:sp>
              <p:sp>
                <p:nvSpPr>
                  <p:cNvPr id="37998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006" y="3704"/>
                    <a:ext cx="2036" cy="11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100">
                        <a:solidFill>
                          <a:srgbClr val="FFFFFF"/>
                        </a:solidFill>
                      </a:rPr>
                      <a:t>Processos de gerenciamento de TI corporativa</a:t>
                    </a:r>
                    <a:endParaRPr lang="pt-BR" altLang="pt-BR"/>
                  </a:p>
                </p:txBody>
              </p:sp>
              <p:sp>
                <p:nvSpPr>
                  <p:cNvPr id="3799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548" y="1095"/>
                    <a:ext cx="3946" cy="918"/>
                  </a:xfrm>
                  <a:prstGeom prst="rect">
                    <a:avLst/>
                  </a:prstGeom>
                  <a:solidFill>
                    <a:srgbClr val="CBD8E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pic>
                <p:nvPicPr>
                  <p:cNvPr id="38000" name="Picture 24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48" y="1095"/>
                    <a:ext cx="3946" cy="9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14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551" y="1095"/>
                    <a:ext cx="3943" cy="918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pt-BR"/>
                  </a:p>
                </p:txBody>
              </p:sp>
              <p:sp>
                <p:nvSpPr>
                  <p:cNvPr id="3800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572" y="1117"/>
                    <a:ext cx="1046" cy="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Alinhar, Planejar  e Organizar</a:t>
                    </a:r>
                    <a:endParaRPr lang="pt-BR" altLang="pt-BR"/>
                  </a:p>
                </p:txBody>
              </p:sp>
              <p:sp>
                <p:nvSpPr>
                  <p:cNvPr id="3800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752" y="1117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8004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945" y="1117"/>
                    <a:ext cx="54" cy="1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05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093" y="1117"/>
                    <a:ext cx="54" cy="1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06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548" y="2065"/>
                    <a:ext cx="3946" cy="940"/>
                  </a:xfrm>
                  <a:prstGeom prst="rect">
                    <a:avLst/>
                  </a:prstGeom>
                  <a:solidFill>
                    <a:srgbClr val="CBD8E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pic>
                <p:nvPicPr>
                  <p:cNvPr id="38007" name="Picture 34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48" y="2066"/>
                    <a:ext cx="3946" cy="93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21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551" y="2065"/>
                    <a:ext cx="3943" cy="940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pt-BR"/>
                  </a:p>
                </p:txBody>
              </p:sp>
              <p:sp>
                <p:nvSpPr>
                  <p:cNvPr id="38009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572" y="2087"/>
                    <a:ext cx="1200" cy="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Construir, Adquirir e Implementar</a:t>
                    </a:r>
                    <a:endParaRPr lang="pt-BR" altLang="pt-BR"/>
                  </a:p>
                </p:txBody>
              </p:sp>
              <p:sp>
                <p:nvSpPr>
                  <p:cNvPr id="38010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752" y="2087"/>
                    <a:ext cx="20" cy="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11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208" y="2087"/>
                    <a:ext cx="54" cy="1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12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548" y="3058"/>
                    <a:ext cx="3942" cy="607"/>
                  </a:xfrm>
                  <a:prstGeom prst="rect">
                    <a:avLst/>
                  </a:prstGeom>
                  <a:solidFill>
                    <a:srgbClr val="CBD8E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pic>
                <p:nvPicPr>
                  <p:cNvPr id="38013" name="Picture 43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48" y="3058"/>
                    <a:ext cx="3942" cy="60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27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551" y="3058"/>
                    <a:ext cx="3939" cy="607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pt-BR"/>
                  </a:p>
                </p:txBody>
              </p:sp>
              <p:sp>
                <p:nvSpPr>
                  <p:cNvPr id="38015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572" y="3079"/>
                    <a:ext cx="1166" cy="9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Entrega</a:t>
                    </a:r>
                    <a:r>
                      <a:rPr lang="pt-BR" altLang="pt-BR" sz="900">
                        <a:solidFill>
                          <a:schemeClr val="bg1"/>
                        </a:solidFill>
                      </a:rPr>
                      <a:t>r</a:t>
                    </a:r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, Atender  e </a:t>
                    </a:r>
                    <a:r>
                      <a:rPr lang="pt-BR" altLang="pt-BR" sz="900">
                        <a:solidFill>
                          <a:schemeClr val="bg1"/>
                        </a:solidFill>
                      </a:rPr>
                      <a:t>Dar</a:t>
                    </a:r>
                    <a:r>
                      <a:rPr lang="pt-BR" altLang="pt-BR" sz="900">
                        <a:solidFill>
                          <a:srgbClr val="FF0000"/>
                        </a:solidFill>
                      </a:rPr>
                      <a:t> </a:t>
                    </a:r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Suporte</a:t>
                    </a:r>
                    <a:endParaRPr lang="pt-BR" altLang="pt-BR"/>
                  </a:p>
                </p:txBody>
              </p:sp>
              <p:sp>
                <p:nvSpPr>
                  <p:cNvPr id="38016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812" y="3079"/>
                    <a:ext cx="20" cy="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17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257" y="3079"/>
                    <a:ext cx="54" cy="1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18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4550" y="1095"/>
                    <a:ext cx="659" cy="2564"/>
                  </a:xfrm>
                  <a:prstGeom prst="rect">
                    <a:avLst/>
                  </a:prstGeom>
                  <a:solidFill>
                    <a:srgbClr val="CBD8E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pic>
                <p:nvPicPr>
                  <p:cNvPr id="38019" name="Picture 52"/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550" y="1095"/>
                    <a:ext cx="660" cy="25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33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550" y="1095"/>
                    <a:ext cx="659" cy="2564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pt-BR"/>
                  </a:p>
                </p:txBody>
              </p:sp>
              <p:sp>
                <p:nvSpPr>
                  <p:cNvPr id="38021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4564" y="1117"/>
                    <a:ext cx="637" cy="19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algn="ctr" eaLnBrk="1" hangingPunct="1"/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Monitorar, Avaliar</a:t>
                    </a:r>
                    <a:br>
                      <a:rPr lang="pt-BR" altLang="pt-BR" sz="900">
                        <a:solidFill>
                          <a:srgbClr val="FFFFFF"/>
                        </a:solidFill>
                      </a:rPr>
                    </a:br>
                    <a:r>
                      <a:rPr lang="pt-BR" altLang="pt-BR" sz="900">
                        <a:solidFill>
                          <a:srgbClr val="FFFFFF"/>
                        </a:solidFill>
                      </a:rPr>
                      <a:t>e Analisar</a:t>
                    </a:r>
                    <a:endParaRPr lang="pt-BR" altLang="pt-BR"/>
                  </a:p>
                </p:txBody>
              </p:sp>
              <p:sp>
                <p:nvSpPr>
                  <p:cNvPr id="38022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843" y="1117"/>
                    <a:ext cx="20" cy="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23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808" y="1203"/>
                    <a:ext cx="54" cy="1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900">
                        <a:solidFill>
                          <a:srgbClr val="FFFFFF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24" name="Freeform 60"/>
                  <p:cNvSpPr>
                    <a:spLocks/>
                  </p:cNvSpPr>
                  <p:nvPr/>
                </p:nvSpPr>
                <p:spPr bwMode="auto">
                  <a:xfrm>
                    <a:off x="602" y="1243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4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2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7 h 351"/>
                      <a:gd name="T70" fmla="*/ 44 w 517"/>
                      <a:gd name="T71" fmla="*/ 350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4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EF2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25" name="Freeform 61"/>
                  <p:cNvSpPr>
                    <a:spLocks/>
                  </p:cNvSpPr>
                  <p:nvPr/>
                </p:nvSpPr>
                <p:spPr bwMode="auto">
                  <a:xfrm>
                    <a:off x="602" y="1243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4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2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7 h 351"/>
                      <a:gd name="T70" fmla="*/ 44 w 517"/>
                      <a:gd name="T71" fmla="*/ 350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4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26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843" y="1330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27" name="Freeform 70"/>
                  <p:cNvSpPr>
                    <a:spLocks/>
                  </p:cNvSpPr>
                  <p:nvPr/>
                </p:nvSpPr>
                <p:spPr bwMode="auto">
                  <a:xfrm>
                    <a:off x="1156" y="1243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1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7 h 351"/>
                      <a:gd name="T70" fmla="*/ 43 w 517"/>
                      <a:gd name="T71" fmla="*/ 350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28" name="Freeform 71"/>
                  <p:cNvSpPr>
                    <a:spLocks/>
                  </p:cNvSpPr>
                  <p:nvPr/>
                </p:nvSpPr>
                <p:spPr bwMode="auto">
                  <a:xfrm>
                    <a:off x="1156" y="1243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1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7 h 351"/>
                      <a:gd name="T70" fmla="*/ 43 w 517"/>
                      <a:gd name="T71" fmla="*/ 350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29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1397" y="1359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30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589" y="1359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31" name="Freeform 79"/>
                  <p:cNvSpPr>
                    <a:spLocks/>
                  </p:cNvSpPr>
                  <p:nvPr/>
                </p:nvSpPr>
                <p:spPr bwMode="auto">
                  <a:xfrm>
                    <a:off x="1710" y="1243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3 w 516"/>
                      <a:gd name="T7" fmla="*/ 342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1 w 516"/>
                      <a:gd name="T29" fmla="*/ 16 h 351"/>
                      <a:gd name="T30" fmla="*/ 493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2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2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5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54 h 351"/>
                      <a:gd name="T56" fmla="*/ 0 w 516"/>
                      <a:gd name="T57" fmla="*/ 297 h 351"/>
                      <a:gd name="T58" fmla="*/ 1 w 516"/>
                      <a:gd name="T59" fmla="*/ 308 h 351"/>
                      <a:gd name="T60" fmla="*/ 4 w 516"/>
                      <a:gd name="T61" fmla="*/ 318 h 351"/>
                      <a:gd name="T62" fmla="*/ 9 w 516"/>
                      <a:gd name="T63" fmla="*/ 327 h 351"/>
                      <a:gd name="T64" fmla="*/ 15 w 516"/>
                      <a:gd name="T65" fmla="*/ 335 h 351"/>
                      <a:gd name="T66" fmla="*/ 24 w 516"/>
                      <a:gd name="T67" fmla="*/ 342 h 351"/>
                      <a:gd name="T68" fmla="*/ 33 w 516"/>
                      <a:gd name="T69" fmla="*/ 347 h 351"/>
                      <a:gd name="T70" fmla="*/ 43 w 516"/>
                      <a:gd name="T71" fmla="*/ 350 h 351"/>
                      <a:gd name="T72" fmla="*/ 54 w 516"/>
                      <a:gd name="T73" fmla="*/ 351 h 351"/>
                      <a:gd name="T74" fmla="*/ 462 w 516"/>
                      <a:gd name="T75" fmla="*/ 351 h 351"/>
                      <a:gd name="T76" fmla="*/ 462 w 516"/>
                      <a:gd name="T77" fmla="*/ 351 h 351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516"/>
                      <a:gd name="T118" fmla="*/ 0 h 351"/>
                      <a:gd name="T119" fmla="*/ 516 w 516"/>
                      <a:gd name="T120" fmla="*/ 351 h 351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32" name="Freeform 80"/>
                  <p:cNvSpPr>
                    <a:spLocks/>
                  </p:cNvSpPr>
                  <p:nvPr/>
                </p:nvSpPr>
                <p:spPr bwMode="auto">
                  <a:xfrm>
                    <a:off x="1710" y="1243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3 w 516"/>
                      <a:gd name="T7" fmla="*/ 342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1 w 516"/>
                      <a:gd name="T29" fmla="*/ 16 h 351"/>
                      <a:gd name="T30" fmla="*/ 493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2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2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5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54 h 351"/>
                      <a:gd name="T56" fmla="*/ 0 w 516"/>
                      <a:gd name="T57" fmla="*/ 297 h 351"/>
                      <a:gd name="T58" fmla="*/ 1 w 516"/>
                      <a:gd name="T59" fmla="*/ 308 h 351"/>
                      <a:gd name="T60" fmla="*/ 4 w 516"/>
                      <a:gd name="T61" fmla="*/ 318 h 351"/>
                      <a:gd name="T62" fmla="*/ 9 w 516"/>
                      <a:gd name="T63" fmla="*/ 327 h 351"/>
                      <a:gd name="T64" fmla="*/ 15 w 516"/>
                      <a:gd name="T65" fmla="*/ 335 h 351"/>
                      <a:gd name="T66" fmla="*/ 24 w 516"/>
                      <a:gd name="T67" fmla="*/ 342 h 351"/>
                      <a:gd name="T68" fmla="*/ 33 w 516"/>
                      <a:gd name="T69" fmla="*/ 347 h 351"/>
                      <a:gd name="T70" fmla="*/ 43 w 516"/>
                      <a:gd name="T71" fmla="*/ 350 h 351"/>
                      <a:gd name="T72" fmla="*/ 54 w 516"/>
                      <a:gd name="T73" fmla="*/ 351 h 351"/>
                      <a:gd name="T74" fmla="*/ 462 w 516"/>
                      <a:gd name="T75" fmla="*/ 351 h 351"/>
                      <a:gd name="T76" fmla="*/ 462 w 516"/>
                      <a:gd name="T77" fmla="*/ 351 h 351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516"/>
                      <a:gd name="T118" fmla="*/ 0 h 351"/>
                      <a:gd name="T119" fmla="*/ 516 w 516"/>
                      <a:gd name="T120" fmla="*/ 351 h 351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33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951" y="1330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34" name="Freeform 88"/>
                  <p:cNvSpPr>
                    <a:spLocks/>
                  </p:cNvSpPr>
                  <p:nvPr/>
                </p:nvSpPr>
                <p:spPr bwMode="auto">
                  <a:xfrm>
                    <a:off x="2264" y="1243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2 w 516"/>
                      <a:gd name="T7" fmla="*/ 342 h 351"/>
                      <a:gd name="T8" fmla="*/ 500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5 h 351"/>
                      <a:gd name="T34" fmla="*/ 473 w 516"/>
                      <a:gd name="T35" fmla="*/ 2 h 351"/>
                      <a:gd name="T36" fmla="*/ 462 w 516"/>
                      <a:gd name="T37" fmla="*/ 0 h 351"/>
                      <a:gd name="T38" fmla="*/ 462 w 516"/>
                      <a:gd name="T39" fmla="*/ 0 h 351"/>
                      <a:gd name="T40" fmla="*/ 54 w 516"/>
                      <a:gd name="T41" fmla="*/ 0 h 351"/>
                      <a:gd name="T42" fmla="*/ 43 w 516"/>
                      <a:gd name="T43" fmla="*/ 2 h 351"/>
                      <a:gd name="T44" fmla="*/ 33 w 516"/>
                      <a:gd name="T45" fmla="*/ 5 h 351"/>
                      <a:gd name="T46" fmla="*/ 24 w 516"/>
                      <a:gd name="T47" fmla="*/ 9 h 351"/>
                      <a:gd name="T48" fmla="*/ 16 w 516"/>
                      <a:gd name="T49" fmla="*/ 16 h 351"/>
                      <a:gd name="T50" fmla="*/ 9 w 516"/>
                      <a:gd name="T51" fmla="*/ 24 h 351"/>
                      <a:gd name="T52" fmla="*/ 4 w 516"/>
                      <a:gd name="T53" fmla="*/ 33 h 351"/>
                      <a:gd name="T54" fmla="*/ 1 w 516"/>
                      <a:gd name="T55" fmla="*/ 43 h 351"/>
                      <a:gd name="T56" fmla="*/ 0 w 516"/>
                      <a:gd name="T57" fmla="*/ 49 h 351"/>
                      <a:gd name="T58" fmla="*/ 0 w 516"/>
                      <a:gd name="T59" fmla="*/ 54 h 351"/>
                      <a:gd name="T60" fmla="*/ 0 w 516"/>
                      <a:gd name="T61" fmla="*/ 297 h 351"/>
                      <a:gd name="T62" fmla="*/ 0 w 516"/>
                      <a:gd name="T63" fmla="*/ 303 h 351"/>
                      <a:gd name="T64" fmla="*/ 1 w 516"/>
                      <a:gd name="T65" fmla="*/ 308 h 351"/>
                      <a:gd name="T66" fmla="*/ 4 w 516"/>
                      <a:gd name="T67" fmla="*/ 318 h 351"/>
                      <a:gd name="T68" fmla="*/ 9 w 516"/>
                      <a:gd name="T69" fmla="*/ 327 h 351"/>
                      <a:gd name="T70" fmla="*/ 16 w 516"/>
                      <a:gd name="T71" fmla="*/ 335 h 351"/>
                      <a:gd name="T72" fmla="*/ 24 w 516"/>
                      <a:gd name="T73" fmla="*/ 342 h 351"/>
                      <a:gd name="T74" fmla="*/ 33 w 516"/>
                      <a:gd name="T75" fmla="*/ 347 h 351"/>
                      <a:gd name="T76" fmla="*/ 43 w 516"/>
                      <a:gd name="T77" fmla="*/ 350 h 351"/>
                      <a:gd name="T78" fmla="*/ 54 w 516"/>
                      <a:gd name="T79" fmla="*/ 351 h 351"/>
                      <a:gd name="T80" fmla="*/ 462 w 516"/>
                      <a:gd name="T81" fmla="*/ 351 h 351"/>
                      <a:gd name="T82" fmla="*/ 462 w 516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6"/>
                      <a:gd name="T127" fmla="*/ 0 h 351"/>
                      <a:gd name="T128" fmla="*/ 516 w 516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5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5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35" name="Freeform 89"/>
                  <p:cNvSpPr>
                    <a:spLocks/>
                  </p:cNvSpPr>
                  <p:nvPr/>
                </p:nvSpPr>
                <p:spPr bwMode="auto">
                  <a:xfrm>
                    <a:off x="2264" y="1243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2 w 516"/>
                      <a:gd name="T7" fmla="*/ 342 h 351"/>
                      <a:gd name="T8" fmla="*/ 500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5 h 351"/>
                      <a:gd name="T34" fmla="*/ 473 w 516"/>
                      <a:gd name="T35" fmla="*/ 2 h 351"/>
                      <a:gd name="T36" fmla="*/ 462 w 516"/>
                      <a:gd name="T37" fmla="*/ 0 h 351"/>
                      <a:gd name="T38" fmla="*/ 462 w 516"/>
                      <a:gd name="T39" fmla="*/ 0 h 351"/>
                      <a:gd name="T40" fmla="*/ 54 w 516"/>
                      <a:gd name="T41" fmla="*/ 0 h 351"/>
                      <a:gd name="T42" fmla="*/ 43 w 516"/>
                      <a:gd name="T43" fmla="*/ 2 h 351"/>
                      <a:gd name="T44" fmla="*/ 33 w 516"/>
                      <a:gd name="T45" fmla="*/ 5 h 351"/>
                      <a:gd name="T46" fmla="*/ 24 w 516"/>
                      <a:gd name="T47" fmla="*/ 9 h 351"/>
                      <a:gd name="T48" fmla="*/ 16 w 516"/>
                      <a:gd name="T49" fmla="*/ 16 h 351"/>
                      <a:gd name="T50" fmla="*/ 9 w 516"/>
                      <a:gd name="T51" fmla="*/ 24 h 351"/>
                      <a:gd name="T52" fmla="*/ 4 w 516"/>
                      <a:gd name="T53" fmla="*/ 33 h 351"/>
                      <a:gd name="T54" fmla="*/ 1 w 516"/>
                      <a:gd name="T55" fmla="*/ 43 h 351"/>
                      <a:gd name="T56" fmla="*/ 0 w 516"/>
                      <a:gd name="T57" fmla="*/ 49 h 351"/>
                      <a:gd name="T58" fmla="*/ 0 w 516"/>
                      <a:gd name="T59" fmla="*/ 54 h 351"/>
                      <a:gd name="T60" fmla="*/ 0 w 516"/>
                      <a:gd name="T61" fmla="*/ 297 h 351"/>
                      <a:gd name="T62" fmla="*/ 0 w 516"/>
                      <a:gd name="T63" fmla="*/ 303 h 351"/>
                      <a:gd name="T64" fmla="*/ 1 w 516"/>
                      <a:gd name="T65" fmla="*/ 308 h 351"/>
                      <a:gd name="T66" fmla="*/ 4 w 516"/>
                      <a:gd name="T67" fmla="*/ 318 h 351"/>
                      <a:gd name="T68" fmla="*/ 9 w 516"/>
                      <a:gd name="T69" fmla="*/ 327 h 351"/>
                      <a:gd name="T70" fmla="*/ 16 w 516"/>
                      <a:gd name="T71" fmla="*/ 335 h 351"/>
                      <a:gd name="T72" fmla="*/ 24 w 516"/>
                      <a:gd name="T73" fmla="*/ 342 h 351"/>
                      <a:gd name="T74" fmla="*/ 33 w 516"/>
                      <a:gd name="T75" fmla="*/ 347 h 351"/>
                      <a:gd name="T76" fmla="*/ 43 w 516"/>
                      <a:gd name="T77" fmla="*/ 350 h 351"/>
                      <a:gd name="T78" fmla="*/ 54 w 516"/>
                      <a:gd name="T79" fmla="*/ 351 h 351"/>
                      <a:gd name="T80" fmla="*/ 462 w 516"/>
                      <a:gd name="T81" fmla="*/ 351 h 351"/>
                      <a:gd name="T82" fmla="*/ 462 w 516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6"/>
                      <a:gd name="T127" fmla="*/ 0 h 351"/>
                      <a:gd name="T128" fmla="*/ 516 w 516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5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5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36" name="Freeform 96"/>
                  <p:cNvSpPr>
                    <a:spLocks/>
                  </p:cNvSpPr>
                  <p:nvPr/>
                </p:nvSpPr>
                <p:spPr bwMode="auto">
                  <a:xfrm>
                    <a:off x="2818" y="1243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2 w 516"/>
                      <a:gd name="T7" fmla="*/ 342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6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5 h 351"/>
                      <a:gd name="T34" fmla="*/ 473 w 516"/>
                      <a:gd name="T35" fmla="*/ 2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2 h 351"/>
                      <a:gd name="T42" fmla="*/ 33 w 516"/>
                      <a:gd name="T43" fmla="*/ 5 h 351"/>
                      <a:gd name="T44" fmla="*/ 24 w 516"/>
                      <a:gd name="T45" fmla="*/ 9 h 351"/>
                      <a:gd name="T46" fmla="*/ 16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49 h 351"/>
                      <a:gd name="T56" fmla="*/ 0 w 516"/>
                      <a:gd name="T57" fmla="*/ 54 h 351"/>
                      <a:gd name="T58" fmla="*/ 0 w 516"/>
                      <a:gd name="T59" fmla="*/ 297 h 351"/>
                      <a:gd name="T60" fmla="*/ 0 w 516"/>
                      <a:gd name="T61" fmla="*/ 303 h 351"/>
                      <a:gd name="T62" fmla="*/ 1 w 516"/>
                      <a:gd name="T63" fmla="*/ 308 h 351"/>
                      <a:gd name="T64" fmla="*/ 4 w 516"/>
                      <a:gd name="T65" fmla="*/ 318 h 351"/>
                      <a:gd name="T66" fmla="*/ 9 w 516"/>
                      <a:gd name="T67" fmla="*/ 327 h 351"/>
                      <a:gd name="T68" fmla="*/ 16 w 516"/>
                      <a:gd name="T69" fmla="*/ 335 h 351"/>
                      <a:gd name="T70" fmla="*/ 24 w 516"/>
                      <a:gd name="T71" fmla="*/ 342 h 351"/>
                      <a:gd name="T72" fmla="*/ 33 w 516"/>
                      <a:gd name="T73" fmla="*/ 347 h 351"/>
                      <a:gd name="T74" fmla="*/ 43 w 516"/>
                      <a:gd name="T75" fmla="*/ 350 h 351"/>
                      <a:gd name="T76" fmla="*/ 54 w 516"/>
                      <a:gd name="T77" fmla="*/ 351 h 351"/>
                      <a:gd name="T78" fmla="*/ 462 w 516"/>
                      <a:gd name="T79" fmla="*/ 351 h 351"/>
                      <a:gd name="T80" fmla="*/ 462 w 516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6"/>
                      <a:gd name="T124" fmla="*/ 0 h 351"/>
                      <a:gd name="T125" fmla="*/ 516 w 516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5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5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37" name="Freeform 97"/>
                  <p:cNvSpPr>
                    <a:spLocks/>
                  </p:cNvSpPr>
                  <p:nvPr/>
                </p:nvSpPr>
                <p:spPr bwMode="auto">
                  <a:xfrm>
                    <a:off x="2818" y="1243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2 w 516"/>
                      <a:gd name="T7" fmla="*/ 342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6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5 h 351"/>
                      <a:gd name="T34" fmla="*/ 473 w 516"/>
                      <a:gd name="T35" fmla="*/ 2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2 h 351"/>
                      <a:gd name="T42" fmla="*/ 33 w 516"/>
                      <a:gd name="T43" fmla="*/ 5 h 351"/>
                      <a:gd name="T44" fmla="*/ 24 w 516"/>
                      <a:gd name="T45" fmla="*/ 9 h 351"/>
                      <a:gd name="T46" fmla="*/ 16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49 h 351"/>
                      <a:gd name="T56" fmla="*/ 0 w 516"/>
                      <a:gd name="T57" fmla="*/ 54 h 351"/>
                      <a:gd name="T58" fmla="*/ 0 w 516"/>
                      <a:gd name="T59" fmla="*/ 297 h 351"/>
                      <a:gd name="T60" fmla="*/ 0 w 516"/>
                      <a:gd name="T61" fmla="*/ 303 h 351"/>
                      <a:gd name="T62" fmla="*/ 1 w 516"/>
                      <a:gd name="T63" fmla="*/ 308 h 351"/>
                      <a:gd name="T64" fmla="*/ 4 w 516"/>
                      <a:gd name="T65" fmla="*/ 318 h 351"/>
                      <a:gd name="T66" fmla="*/ 9 w 516"/>
                      <a:gd name="T67" fmla="*/ 327 h 351"/>
                      <a:gd name="T68" fmla="*/ 16 w 516"/>
                      <a:gd name="T69" fmla="*/ 335 h 351"/>
                      <a:gd name="T70" fmla="*/ 24 w 516"/>
                      <a:gd name="T71" fmla="*/ 342 h 351"/>
                      <a:gd name="T72" fmla="*/ 33 w 516"/>
                      <a:gd name="T73" fmla="*/ 347 h 351"/>
                      <a:gd name="T74" fmla="*/ 43 w 516"/>
                      <a:gd name="T75" fmla="*/ 350 h 351"/>
                      <a:gd name="T76" fmla="*/ 54 w 516"/>
                      <a:gd name="T77" fmla="*/ 351 h 351"/>
                      <a:gd name="T78" fmla="*/ 462 w 516"/>
                      <a:gd name="T79" fmla="*/ 351 h 351"/>
                      <a:gd name="T80" fmla="*/ 462 w 516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6"/>
                      <a:gd name="T124" fmla="*/ 0 h 351"/>
                      <a:gd name="T125" fmla="*/ 516 w 516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5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5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38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3058" y="1359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39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3174" y="1417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40" name="Freeform 105"/>
                  <p:cNvSpPr>
                    <a:spLocks/>
                  </p:cNvSpPr>
                  <p:nvPr/>
                </p:nvSpPr>
                <p:spPr bwMode="auto">
                  <a:xfrm>
                    <a:off x="3372" y="1243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2 w 516"/>
                      <a:gd name="T7" fmla="*/ 342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1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1 w 516"/>
                      <a:gd name="T25" fmla="*/ 33 h 351"/>
                      <a:gd name="T26" fmla="*/ 506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5 h 351"/>
                      <a:gd name="T34" fmla="*/ 473 w 516"/>
                      <a:gd name="T35" fmla="*/ 2 h 351"/>
                      <a:gd name="T36" fmla="*/ 461 w 516"/>
                      <a:gd name="T37" fmla="*/ 0 h 351"/>
                      <a:gd name="T38" fmla="*/ 461 w 516"/>
                      <a:gd name="T39" fmla="*/ 0 h 351"/>
                      <a:gd name="T40" fmla="*/ 53 w 516"/>
                      <a:gd name="T41" fmla="*/ 0 h 351"/>
                      <a:gd name="T42" fmla="*/ 43 w 516"/>
                      <a:gd name="T43" fmla="*/ 2 h 351"/>
                      <a:gd name="T44" fmla="*/ 32 w 516"/>
                      <a:gd name="T45" fmla="*/ 5 h 351"/>
                      <a:gd name="T46" fmla="*/ 23 w 516"/>
                      <a:gd name="T47" fmla="*/ 9 h 351"/>
                      <a:gd name="T48" fmla="*/ 15 w 516"/>
                      <a:gd name="T49" fmla="*/ 16 h 351"/>
                      <a:gd name="T50" fmla="*/ 9 w 516"/>
                      <a:gd name="T51" fmla="*/ 24 h 351"/>
                      <a:gd name="T52" fmla="*/ 4 w 516"/>
                      <a:gd name="T53" fmla="*/ 33 h 351"/>
                      <a:gd name="T54" fmla="*/ 1 w 516"/>
                      <a:gd name="T55" fmla="*/ 43 h 351"/>
                      <a:gd name="T56" fmla="*/ 0 w 516"/>
                      <a:gd name="T57" fmla="*/ 49 h 351"/>
                      <a:gd name="T58" fmla="*/ 0 w 516"/>
                      <a:gd name="T59" fmla="*/ 54 h 351"/>
                      <a:gd name="T60" fmla="*/ 0 w 516"/>
                      <a:gd name="T61" fmla="*/ 54 h 351"/>
                      <a:gd name="T62" fmla="*/ 0 w 516"/>
                      <a:gd name="T63" fmla="*/ 297 h 351"/>
                      <a:gd name="T64" fmla="*/ 0 w 516"/>
                      <a:gd name="T65" fmla="*/ 303 h 351"/>
                      <a:gd name="T66" fmla="*/ 1 w 516"/>
                      <a:gd name="T67" fmla="*/ 308 h 351"/>
                      <a:gd name="T68" fmla="*/ 4 w 516"/>
                      <a:gd name="T69" fmla="*/ 318 h 351"/>
                      <a:gd name="T70" fmla="*/ 9 w 516"/>
                      <a:gd name="T71" fmla="*/ 327 h 351"/>
                      <a:gd name="T72" fmla="*/ 15 w 516"/>
                      <a:gd name="T73" fmla="*/ 335 h 351"/>
                      <a:gd name="T74" fmla="*/ 23 w 516"/>
                      <a:gd name="T75" fmla="*/ 342 h 351"/>
                      <a:gd name="T76" fmla="*/ 32 w 516"/>
                      <a:gd name="T77" fmla="*/ 347 h 351"/>
                      <a:gd name="T78" fmla="*/ 43 w 516"/>
                      <a:gd name="T79" fmla="*/ 350 h 351"/>
                      <a:gd name="T80" fmla="*/ 53 w 516"/>
                      <a:gd name="T81" fmla="*/ 351 h 351"/>
                      <a:gd name="T82" fmla="*/ 53 w 516"/>
                      <a:gd name="T83" fmla="*/ 351 h 351"/>
                      <a:gd name="T84" fmla="*/ 461 w 516"/>
                      <a:gd name="T85" fmla="*/ 351 h 351"/>
                      <a:gd name="T86" fmla="*/ 461 w 516"/>
                      <a:gd name="T87" fmla="*/ 351 h 351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516"/>
                      <a:gd name="T133" fmla="*/ 0 h 351"/>
                      <a:gd name="T134" fmla="*/ 516 w 516"/>
                      <a:gd name="T135" fmla="*/ 351 h 351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516" h="351">
                        <a:moveTo>
                          <a:pt x="461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5"/>
                        </a:lnTo>
                        <a:lnTo>
                          <a:pt x="473" y="2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3" y="2"/>
                        </a:lnTo>
                        <a:lnTo>
                          <a:pt x="32" y="5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2"/>
                        </a:lnTo>
                        <a:lnTo>
                          <a:pt x="32" y="347"/>
                        </a:lnTo>
                        <a:lnTo>
                          <a:pt x="43" y="350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1" name="Freeform 106"/>
                  <p:cNvSpPr>
                    <a:spLocks/>
                  </p:cNvSpPr>
                  <p:nvPr/>
                </p:nvSpPr>
                <p:spPr bwMode="auto">
                  <a:xfrm>
                    <a:off x="3372" y="1243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7 h 351"/>
                      <a:gd name="T6" fmla="*/ 492 w 516"/>
                      <a:gd name="T7" fmla="*/ 342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1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1 w 516"/>
                      <a:gd name="T25" fmla="*/ 33 h 351"/>
                      <a:gd name="T26" fmla="*/ 506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5 h 351"/>
                      <a:gd name="T34" fmla="*/ 473 w 516"/>
                      <a:gd name="T35" fmla="*/ 2 h 351"/>
                      <a:gd name="T36" fmla="*/ 461 w 516"/>
                      <a:gd name="T37" fmla="*/ 0 h 351"/>
                      <a:gd name="T38" fmla="*/ 461 w 516"/>
                      <a:gd name="T39" fmla="*/ 0 h 351"/>
                      <a:gd name="T40" fmla="*/ 53 w 516"/>
                      <a:gd name="T41" fmla="*/ 0 h 351"/>
                      <a:gd name="T42" fmla="*/ 43 w 516"/>
                      <a:gd name="T43" fmla="*/ 2 h 351"/>
                      <a:gd name="T44" fmla="*/ 32 w 516"/>
                      <a:gd name="T45" fmla="*/ 5 h 351"/>
                      <a:gd name="T46" fmla="*/ 23 w 516"/>
                      <a:gd name="T47" fmla="*/ 9 h 351"/>
                      <a:gd name="T48" fmla="*/ 15 w 516"/>
                      <a:gd name="T49" fmla="*/ 16 h 351"/>
                      <a:gd name="T50" fmla="*/ 9 w 516"/>
                      <a:gd name="T51" fmla="*/ 24 h 351"/>
                      <a:gd name="T52" fmla="*/ 4 w 516"/>
                      <a:gd name="T53" fmla="*/ 33 h 351"/>
                      <a:gd name="T54" fmla="*/ 1 w 516"/>
                      <a:gd name="T55" fmla="*/ 43 h 351"/>
                      <a:gd name="T56" fmla="*/ 0 w 516"/>
                      <a:gd name="T57" fmla="*/ 49 h 351"/>
                      <a:gd name="T58" fmla="*/ 0 w 516"/>
                      <a:gd name="T59" fmla="*/ 54 h 351"/>
                      <a:gd name="T60" fmla="*/ 0 w 516"/>
                      <a:gd name="T61" fmla="*/ 54 h 351"/>
                      <a:gd name="T62" fmla="*/ 0 w 516"/>
                      <a:gd name="T63" fmla="*/ 297 h 351"/>
                      <a:gd name="T64" fmla="*/ 0 w 516"/>
                      <a:gd name="T65" fmla="*/ 303 h 351"/>
                      <a:gd name="T66" fmla="*/ 1 w 516"/>
                      <a:gd name="T67" fmla="*/ 308 h 351"/>
                      <a:gd name="T68" fmla="*/ 4 w 516"/>
                      <a:gd name="T69" fmla="*/ 318 h 351"/>
                      <a:gd name="T70" fmla="*/ 9 w 516"/>
                      <a:gd name="T71" fmla="*/ 327 h 351"/>
                      <a:gd name="T72" fmla="*/ 15 w 516"/>
                      <a:gd name="T73" fmla="*/ 335 h 351"/>
                      <a:gd name="T74" fmla="*/ 23 w 516"/>
                      <a:gd name="T75" fmla="*/ 342 h 351"/>
                      <a:gd name="T76" fmla="*/ 32 w 516"/>
                      <a:gd name="T77" fmla="*/ 347 h 351"/>
                      <a:gd name="T78" fmla="*/ 43 w 516"/>
                      <a:gd name="T79" fmla="*/ 350 h 351"/>
                      <a:gd name="T80" fmla="*/ 53 w 516"/>
                      <a:gd name="T81" fmla="*/ 351 h 351"/>
                      <a:gd name="T82" fmla="*/ 53 w 516"/>
                      <a:gd name="T83" fmla="*/ 351 h 351"/>
                      <a:gd name="T84" fmla="*/ 461 w 516"/>
                      <a:gd name="T85" fmla="*/ 351 h 351"/>
                      <a:gd name="T86" fmla="*/ 461 w 516"/>
                      <a:gd name="T87" fmla="*/ 351 h 351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516"/>
                      <a:gd name="T133" fmla="*/ 0 h 351"/>
                      <a:gd name="T134" fmla="*/ 516 w 516"/>
                      <a:gd name="T135" fmla="*/ 351 h 351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516" h="351">
                        <a:moveTo>
                          <a:pt x="461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5"/>
                        </a:lnTo>
                        <a:lnTo>
                          <a:pt x="473" y="2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3" y="2"/>
                        </a:lnTo>
                        <a:lnTo>
                          <a:pt x="32" y="5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2"/>
                        </a:lnTo>
                        <a:lnTo>
                          <a:pt x="32" y="347"/>
                        </a:lnTo>
                        <a:lnTo>
                          <a:pt x="43" y="350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2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3612" y="1359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43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3688" y="1417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44" name="Freeform 116"/>
                  <p:cNvSpPr>
                    <a:spLocks/>
                  </p:cNvSpPr>
                  <p:nvPr/>
                </p:nvSpPr>
                <p:spPr bwMode="auto">
                  <a:xfrm>
                    <a:off x="3925" y="1243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4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4 w 517"/>
                      <a:gd name="T33" fmla="*/ 5 h 351"/>
                      <a:gd name="T34" fmla="*/ 474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2 h 351"/>
                      <a:gd name="T42" fmla="*/ 33 w 517"/>
                      <a:gd name="T43" fmla="*/ 5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49 h 351"/>
                      <a:gd name="T56" fmla="*/ 0 w 517"/>
                      <a:gd name="T57" fmla="*/ 54 h 351"/>
                      <a:gd name="T58" fmla="*/ 0 w 517"/>
                      <a:gd name="T59" fmla="*/ 54 h 351"/>
                      <a:gd name="T60" fmla="*/ 0 w 517"/>
                      <a:gd name="T61" fmla="*/ 297 h 351"/>
                      <a:gd name="T62" fmla="*/ 0 w 517"/>
                      <a:gd name="T63" fmla="*/ 303 h 351"/>
                      <a:gd name="T64" fmla="*/ 2 w 517"/>
                      <a:gd name="T65" fmla="*/ 308 h 351"/>
                      <a:gd name="T66" fmla="*/ 4 w 517"/>
                      <a:gd name="T67" fmla="*/ 318 h 351"/>
                      <a:gd name="T68" fmla="*/ 9 w 517"/>
                      <a:gd name="T69" fmla="*/ 327 h 351"/>
                      <a:gd name="T70" fmla="*/ 16 w 517"/>
                      <a:gd name="T71" fmla="*/ 335 h 351"/>
                      <a:gd name="T72" fmla="*/ 24 w 517"/>
                      <a:gd name="T73" fmla="*/ 342 h 351"/>
                      <a:gd name="T74" fmla="*/ 33 w 517"/>
                      <a:gd name="T75" fmla="*/ 347 h 351"/>
                      <a:gd name="T76" fmla="*/ 43 w 517"/>
                      <a:gd name="T77" fmla="*/ 350 h 351"/>
                      <a:gd name="T78" fmla="*/ 54 w 517"/>
                      <a:gd name="T79" fmla="*/ 351 h 351"/>
                      <a:gd name="T80" fmla="*/ 54 w 517"/>
                      <a:gd name="T81" fmla="*/ 351 h 351"/>
                      <a:gd name="T82" fmla="*/ 462 w 517"/>
                      <a:gd name="T83" fmla="*/ 351 h 351"/>
                      <a:gd name="T84" fmla="*/ 462 w 517"/>
                      <a:gd name="T85" fmla="*/ 351 h 35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17"/>
                      <a:gd name="T130" fmla="*/ 0 h 351"/>
                      <a:gd name="T131" fmla="*/ 517 w 517"/>
                      <a:gd name="T132" fmla="*/ 351 h 35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4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5"/>
                        </a:lnTo>
                        <a:lnTo>
                          <a:pt x="474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5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5" name="Freeform 117"/>
                  <p:cNvSpPr>
                    <a:spLocks/>
                  </p:cNvSpPr>
                  <p:nvPr/>
                </p:nvSpPr>
                <p:spPr bwMode="auto">
                  <a:xfrm>
                    <a:off x="3925" y="1243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4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4 w 517"/>
                      <a:gd name="T33" fmla="*/ 5 h 351"/>
                      <a:gd name="T34" fmla="*/ 474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2 h 351"/>
                      <a:gd name="T42" fmla="*/ 33 w 517"/>
                      <a:gd name="T43" fmla="*/ 5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49 h 351"/>
                      <a:gd name="T56" fmla="*/ 0 w 517"/>
                      <a:gd name="T57" fmla="*/ 54 h 351"/>
                      <a:gd name="T58" fmla="*/ 0 w 517"/>
                      <a:gd name="T59" fmla="*/ 54 h 351"/>
                      <a:gd name="T60" fmla="*/ 0 w 517"/>
                      <a:gd name="T61" fmla="*/ 297 h 351"/>
                      <a:gd name="T62" fmla="*/ 0 w 517"/>
                      <a:gd name="T63" fmla="*/ 303 h 351"/>
                      <a:gd name="T64" fmla="*/ 2 w 517"/>
                      <a:gd name="T65" fmla="*/ 308 h 351"/>
                      <a:gd name="T66" fmla="*/ 4 w 517"/>
                      <a:gd name="T67" fmla="*/ 318 h 351"/>
                      <a:gd name="T68" fmla="*/ 9 w 517"/>
                      <a:gd name="T69" fmla="*/ 327 h 351"/>
                      <a:gd name="T70" fmla="*/ 16 w 517"/>
                      <a:gd name="T71" fmla="*/ 335 h 351"/>
                      <a:gd name="T72" fmla="*/ 24 w 517"/>
                      <a:gd name="T73" fmla="*/ 342 h 351"/>
                      <a:gd name="T74" fmla="*/ 33 w 517"/>
                      <a:gd name="T75" fmla="*/ 347 h 351"/>
                      <a:gd name="T76" fmla="*/ 43 w 517"/>
                      <a:gd name="T77" fmla="*/ 350 h 351"/>
                      <a:gd name="T78" fmla="*/ 54 w 517"/>
                      <a:gd name="T79" fmla="*/ 351 h 351"/>
                      <a:gd name="T80" fmla="*/ 54 w 517"/>
                      <a:gd name="T81" fmla="*/ 351 h 351"/>
                      <a:gd name="T82" fmla="*/ 462 w 517"/>
                      <a:gd name="T83" fmla="*/ 351 h 351"/>
                      <a:gd name="T84" fmla="*/ 462 w 517"/>
                      <a:gd name="T85" fmla="*/ 351 h 35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17"/>
                      <a:gd name="T130" fmla="*/ 0 h 351"/>
                      <a:gd name="T131" fmla="*/ 517 w 517"/>
                      <a:gd name="T132" fmla="*/ 351 h 35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4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5"/>
                        </a:lnTo>
                        <a:lnTo>
                          <a:pt x="474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5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6" name="Freeform 124"/>
                  <p:cNvSpPr>
                    <a:spLocks/>
                  </p:cNvSpPr>
                  <p:nvPr/>
                </p:nvSpPr>
                <p:spPr bwMode="auto">
                  <a:xfrm>
                    <a:off x="602" y="1635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296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5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4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5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6 h 351"/>
                      <a:gd name="T58" fmla="*/ 2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1 h 351"/>
                      <a:gd name="T68" fmla="*/ 33 w 517"/>
                      <a:gd name="T69" fmla="*/ 346 h 351"/>
                      <a:gd name="T70" fmla="*/ 44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49"/>
                        </a:lnTo>
                        <a:lnTo>
                          <a:pt x="483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5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5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4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7" name="Freeform 125"/>
                  <p:cNvSpPr>
                    <a:spLocks/>
                  </p:cNvSpPr>
                  <p:nvPr/>
                </p:nvSpPr>
                <p:spPr bwMode="auto">
                  <a:xfrm>
                    <a:off x="602" y="1635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296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5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4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5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6 h 351"/>
                      <a:gd name="T58" fmla="*/ 2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1 h 351"/>
                      <a:gd name="T68" fmla="*/ 33 w 517"/>
                      <a:gd name="T69" fmla="*/ 346 h 351"/>
                      <a:gd name="T70" fmla="*/ 44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49"/>
                        </a:lnTo>
                        <a:lnTo>
                          <a:pt x="483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5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5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4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8" name="Freeform 133"/>
                  <p:cNvSpPr>
                    <a:spLocks/>
                  </p:cNvSpPr>
                  <p:nvPr/>
                </p:nvSpPr>
                <p:spPr bwMode="auto">
                  <a:xfrm>
                    <a:off x="1156" y="1635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296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5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5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6 h 351"/>
                      <a:gd name="T58" fmla="*/ 1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1 h 351"/>
                      <a:gd name="T68" fmla="*/ 33 w 517"/>
                      <a:gd name="T69" fmla="*/ 346 h 351"/>
                      <a:gd name="T70" fmla="*/ 43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5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5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49" name="Freeform 134"/>
                  <p:cNvSpPr>
                    <a:spLocks/>
                  </p:cNvSpPr>
                  <p:nvPr/>
                </p:nvSpPr>
                <p:spPr bwMode="auto">
                  <a:xfrm>
                    <a:off x="1156" y="1635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296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5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5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6 h 351"/>
                      <a:gd name="T58" fmla="*/ 1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1 h 351"/>
                      <a:gd name="T68" fmla="*/ 33 w 517"/>
                      <a:gd name="T69" fmla="*/ 346 h 351"/>
                      <a:gd name="T70" fmla="*/ 43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5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5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0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1397" y="1751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51" name="Freeform 141"/>
                  <p:cNvSpPr>
                    <a:spLocks/>
                  </p:cNvSpPr>
                  <p:nvPr/>
                </p:nvSpPr>
                <p:spPr bwMode="auto">
                  <a:xfrm>
                    <a:off x="1710" y="1635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49 h 351"/>
                      <a:gd name="T4" fmla="*/ 483 w 516"/>
                      <a:gd name="T5" fmla="*/ 346 h 351"/>
                      <a:gd name="T6" fmla="*/ 493 w 516"/>
                      <a:gd name="T7" fmla="*/ 341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296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1 w 516"/>
                      <a:gd name="T29" fmla="*/ 15 h 351"/>
                      <a:gd name="T30" fmla="*/ 493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1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1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5 w 516"/>
                      <a:gd name="T47" fmla="*/ 15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54 h 351"/>
                      <a:gd name="T56" fmla="*/ 0 w 516"/>
                      <a:gd name="T57" fmla="*/ 296 h 351"/>
                      <a:gd name="T58" fmla="*/ 1 w 516"/>
                      <a:gd name="T59" fmla="*/ 308 h 351"/>
                      <a:gd name="T60" fmla="*/ 4 w 516"/>
                      <a:gd name="T61" fmla="*/ 318 h 351"/>
                      <a:gd name="T62" fmla="*/ 9 w 516"/>
                      <a:gd name="T63" fmla="*/ 327 h 351"/>
                      <a:gd name="T64" fmla="*/ 15 w 516"/>
                      <a:gd name="T65" fmla="*/ 335 h 351"/>
                      <a:gd name="T66" fmla="*/ 24 w 516"/>
                      <a:gd name="T67" fmla="*/ 341 h 351"/>
                      <a:gd name="T68" fmla="*/ 33 w 516"/>
                      <a:gd name="T69" fmla="*/ 346 h 351"/>
                      <a:gd name="T70" fmla="*/ 43 w 516"/>
                      <a:gd name="T71" fmla="*/ 349 h 351"/>
                      <a:gd name="T72" fmla="*/ 54 w 516"/>
                      <a:gd name="T73" fmla="*/ 351 h 351"/>
                      <a:gd name="T74" fmla="*/ 462 w 516"/>
                      <a:gd name="T75" fmla="*/ 351 h 351"/>
                      <a:gd name="T76" fmla="*/ 462 w 516"/>
                      <a:gd name="T77" fmla="*/ 351 h 351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516"/>
                      <a:gd name="T118" fmla="*/ 0 h 351"/>
                      <a:gd name="T119" fmla="*/ 516 w 516"/>
                      <a:gd name="T120" fmla="*/ 351 h 351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5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5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2" name="Freeform 142"/>
                  <p:cNvSpPr>
                    <a:spLocks/>
                  </p:cNvSpPr>
                  <p:nvPr/>
                </p:nvSpPr>
                <p:spPr bwMode="auto">
                  <a:xfrm>
                    <a:off x="1710" y="1635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49 h 351"/>
                      <a:gd name="T4" fmla="*/ 483 w 516"/>
                      <a:gd name="T5" fmla="*/ 346 h 351"/>
                      <a:gd name="T6" fmla="*/ 493 w 516"/>
                      <a:gd name="T7" fmla="*/ 341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296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1 w 516"/>
                      <a:gd name="T29" fmla="*/ 15 h 351"/>
                      <a:gd name="T30" fmla="*/ 493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1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1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5 w 516"/>
                      <a:gd name="T47" fmla="*/ 15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54 h 351"/>
                      <a:gd name="T56" fmla="*/ 0 w 516"/>
                      <a:gd name="T57" fmla="*/ 296 h 351"/>
                      <a:gd name="T58" fmla="*/ 1 w 516"/>
                      <a:gd name="T59" fmla="*/ 308 h 351"/>
                      <a:gd name="T60" fmla="*/ 4 w 516"/>
                      <a:gd name="T61" fmla="*/ 318 h 351"/>
                      <a:gd name="T62" fmla="*/ 9 w 516"/>
                      <a:gd name="T63" fmla="*/ 327 h 351"/>
                      <a:gd name="T64" fmla="*/ 15 w 516"/>
                      <a:gd name="T65" fmla="*/ 335 h 351"/>
                      <a:gd name="T66" fmla="*/ 24 w 516"/>
                      <a:gd name="T67" fmla="*/ 341 h 351"/>
                      <a:gd name="T68" fmla="*/ 33 w 516"/>
                      <a:gd name="T69" fmla="*/ 346 h 351"/>
                      <a:gd name="T70" fmla="*/ 43 w 516"/>
                      <a:gd name="T71" fmla="*/ 349 h 351"/>
                      <a:gd name="T72" fmla="*/ 54 w 516"/>
                      <a:gd name="T73" fmla="*/ 351 h 351"/>
                      <a:gd name="T74" fmla="*/ 462 w 516"/>
                      <a:gd name="T75" fmla="*/ 351 h 351"/>
                      <a:gd name="T76" fmla="*/ 462 w 516"/>
                      <a:gd name="T77" fmla="*/ 351 h 351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516"/>
                      <a:gd name="T118" fmla="*/ 0 h 351"/>
                      <a:gd name="T119" fmla="*/ 516 w 516"/>
                      <a:gd name="T120" fmla="*/ 351 h 351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5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5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3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1957" y="1751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54" name="Freeform 148"/>
                  <p:cNvSpPr>
                    <a:spLocks/>
                  </p:cNvSpPr>
                  <p:nvPr/>
                </p:nvSpPr>
                <p:spPr bwMode="auto">
                  <a:xfrm>
                    <a:off x="2264" y="1635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0 h 351"/>
                      <a:gd name="T4" fmla="*/ 473 w 516"/>
                      <a:gd name="T5" fmla="*/ 349 h 351"/>
                      <a:gd name="T6" fmla="*/ 483 w 516"/>
                      <a:gd name="T7" fmla="*/ 346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7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7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462 w 516"/>
                      <a:gd name="T43" fmla="*/ 0 h 351"/>
                      <a:gd name="T44" fmla="*/ 54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3 w 516"/>
                      <a:gd name="T51" fmla="*/ 4 h 351"/>
                      <a:gd name="T52" fmla="*/ 24 w 516"/>
                      <a:gd name="T53" fmla="*/ 9 h 351"/>
                      <a:gd name="T54" fmla="*/ 16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297 h 351"/>
                      <a:gd name="T68" fmla="*/ 0 w 516"/>
                      <a:gd name="T69" fmla="*/ 302 h 351"/>
                      <a:gd name="T70" fmla="*/ 1 w 516"/>
                      <a:gd name="T71" fmla="*/ 308 h 351"/>
                      <a:gd name="T72" fmla="*/ 4 w 516"/>
                      <a:gd name="T73" fmla="*/ 318 h 351"/>
                      <a:gd name="T74" fmla="*/ 9 w 516"/>
                      <a:gd name="T75" fmla="*/ 327 h 351"/>
                      <a:gd name="T76" fmla="*/ 16 w 516"/>
                      <a:gd name="T77" fmla="*/ 335 h 351"/>
                      <a:gd name="T78" fmla="*/ 24 w 516"/>
                      <a:gd name="T79" fmla="*/ 342 h 351"/>
                      <a:gd name="T80" fmla="*/ 33 w 516"/>
                      <a:gd name="T81" fmla="*/ 346 h 351"/>
                      <a:gd name="T82" fmla="*/ 43 w 516"/>
                      <a:gd name="T83" fmla="*/ 349 h 351"/>
                      <a:gd name="T84" fmla="*/ 48 w 516"/>
                      <a:gd name="T85" fmla="*/ 350 h 351"/>
                      <a:gd name="T86" fmla="*/ 54 w 516"/>
                      <a:gd name="T87" fmla="*/ 351 h 351"/>
                      <a:gd name="T88" fmla="*/ 462 w 516"/>
                      <a:gd name="T89" fmla="*/ 351 h 351"/>
                      <a:gd name="T90" fmla="*/ 462 w 516"/>
                      <a:gd name="T91" fmla="*/ 351 h 351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516"/>
                      <a:gd name="T139" fmla="*/ 0 h 351"/>
                      <a:gd name="T140" fmla="*/ 516 w 516"/>
                      <a:gd name="T141" fmla="*/ 351 h 351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0"/>
                        </a:ln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48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5" name="Freeform 149"/>
                  <p:cNvSpPr>
                    <a:spLocks/>
                  </p:cNvSpPr>
                  <p:nvPr/>
                </p:nvSpPr>
                <p:spPr bwMode="auto">
                  <a:xfrm>
                    <a:off x="2264" y="1635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0 h 351"/>
                      <a:gd name="T4" fmla="*/ 473 w 516"/>
                      <a:gd name="T5" fmla="*/ 349 h 351"/>
                      <a:gd name="T6" fmla="*/ 483 w 516"/>
                      <a:gd name="T7" fmla="*/ 346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7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7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462 w 516"/>
                      <a:gd name="T43" fmla="*/ 0 h 351"/>
                      <a:gd name="T44" fmla="*/ 54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3 w 516"/>
                      <a:gd name="T51" fmla="*/ 4 h 351"/>
                      <a:gd name="T52" fmla="*/ 24 w 516"/>
                      <a:gd name="T53" fmla="*/ 9 h 351"/>
                      <a:gd name="T54" fmla="*/ 16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297 h 351"/>
                      <a:gd name="T68" fmla="*/ 0 w 516"/>
                      <a:gd name="T69" fmla="*/ 302 h 351"/>
                      <a:gd name="T70" fmla="*/ 1 w 516"/>
                      <a:gd name="T71" fmla="*/ 308 h 351"/>
                      <a:gd name="T72" fmla="*/ 4 w 516"/>
                      <a:gd name="T73" fmla="*/ 318 h 351"/>
                      <a:gd name="T74" fmla="*/ 9 w 516"/>
                      <a:gd name="T75" fmla="*/ 327 h 351"/>
                      <a:gd name="T76" fmla="*/ 16 w 516"/>
                      <a:gd name="T77" fmla="*/ 335 h 351"/>
                      <a:gd name="T78" fmla="*/ 24 w 516"/>
                      <a:gd name="T79" fmla="*/ 342 h 351"/>
                      <a:gd name="T80" fmla="*/ 33 w 516"/>
                      <a:gd name="T81" fmla="*/ 346 h 351"/>
                      <a:gd name="T82" fmla="*/ 43 w 516"/>
                      <a:gd name="T83" fmla="*/ 349 h 351"/>
                      <a:gd name="T84" fmla="*/ 48 w 516"/>
                      <a:gd name="T85" fmla="*/ 350 h 351"/>
                      <a:gd name="T86" fmla="*/ 54 w 516"/>
                      <a:gd name="T87" fmla="*/ 351 h 351"/>
                      <a:gd name="T88" fmla="*/ 462 w 516"/>
                      <a:gd name="T89" fmla="*/ 351 h 351"/>
                      <a:gd name="T90" fmla="*/ 462 w 516"/>
                      <a:gd name="T91" fmla="*/ 351 h 351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516"/>
                      <a:gd name="T139" fmla="*/ 0 h 351"/>
                      <a:gd name="T140" fmla="*/ 516 w 516"/>
                      <a:gd name="T141" fmla="*/ 351 h 351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0"/>
                        </a:ln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48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6" name="Freeform 154"/>
                  <p:cNvSpPr>
                    <a:spLocks/>
                  </p:cNvSpPr>
                  <p:nvPr/>
                </p:nvSpPr>
                <p:spPr bwMode="auto">
                  <a:xfrm>
                    <a:off x="2818" y="1635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0 h 351"/>
                      <a:gd name="T4" fmla="*/ 473 w 516"/>
                      <a:gd name="T5" fmla="*/ 349 h 351"/>
                      <a:gd name="T6" fmla="*/ 483 w 516"/>
                      <a:gd name="T7" fmla="*/ 346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54 w 516"/>
                      <a:gd name="T43" fmla="*/ 0 h 351"/>
                      <a:gd name="T44" fmla="*/ 48 w 516"/>
                      <a:gd name="T45" fmla="*/ 0 h 351"/>
                      <a:gd name="T46" fmla="*/ 43 w 516"/>
                      <a:gd name="T47" fmla="*/ 1 h 351"/>
                      <a:gd name="T48" fmla="*/ 33 w 516"/>
                      <a:gd name="T49" fmla="*/ 4 h 351"/>
                      <a:gd name="T50" fmla="*/ 24 w 516"/>
                      <a:gd name="T51" fmla="*/ 9 h 351"/>
                      <a:gd name="T52" fmla="*/ 16 w 516"/>
                      <a:gd name="T53" fmla="*/ 16 h 351"/>
                      <a:gd name="T54" fmla="*/ 9 w 516"/>
                      <a:gd name="T55" fmla="*/ 24 h 351"/>
                      <a:gd name="T56" fmla="*/ 4 w 516"/>
                      <a:gd name="T57" fmla="*/ 33 h 351"/>
                      <a:gd name="T58" fmla="*/ 1 w 516"/>
                      <a:gd name="T59" fmla="*/ 43 h 351"/>
                      <a:gd name="T60" fmla="*/ 0 w 516"/>
                      <a:gd name="T61" fmla="*/ 48 h 351"/>
                      <a:gd name="T62" fmla="*/ 0 w 516"/>
                      <a:gd name="T63" fmla="*/ 54 h 351"/>
                      <a:gd name="T64" fmla="*/ 0 w 516"/>
                      <a:gd name="T65" fmla="*/ 297 h 351"/>
                      <a:gd name="T66" fmla="*/ 0 w 516"/>
                      <a:gd name="T67" fmla="*/ 302 h 351"/>
                      <a:gd name="T68" fmla="*/ 1 w 516"/>
                      <a:gd name="T69" fmla="*/ 308 h 351"/>
                      <a:gd name="T70" fmla="*/ 4 w 516"/>
                      <a:gd name="T71" fmla="*/ 318 h 351"/>
                      <a:gd name="T72" fmla="*/ 9 w 516"/>
                      <a:gd name="T73" fmla="*/ 327 h 351"/>
                      <a:gd name="T74" fmla="*/ 16 w 516"/>
                      <a:gd name="T75" fmla="*/ 335 h 351"/>
                      <a:gd name="T76" fmla="*/ 24 w 516"/>
                      <a:gd name="T77" fmla="*/ 342 h 351"/>
                      <a:gd name="T78" fmla="*/ 33 w 516"/>
                      <a:gd name="T79" fmla="*/ 346 h 351"/>
                      <a:gd name="T80" fmla="*/ 43 w 516"/>
                      <a:gd name="T81" fmla="*/ 349 h 351"/>
                      <a:gd name="T82" fmla="*/ 48 w 516"/>
                      <a:gd name="T83" fmla="*/ 350 h 351"/>
                      <a:gd name="T84" fmla="*/ 54 w 516"/>
                      <a:gd name="T85" fmla="*/ 351 h 351"/>
                      <a:gd name="T86" fmla="*/ 462 w 516"/>
                      <a:gd name="T87" fmla="*/ 351 h 351"/>
                      <a:gd name="T88" fmla="*/ 462 w 516"/>
                      <a:gd name="T89" fmla="*/ 351 h 351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w 516"/>
                      <a:gd name="T136" fmla="*/ 0 h 351"/>
                      <a:gd name="T137" fmla="*/ 516 w 516"/>
                      <a:gd name="T138" fmla="*/ 351 h 351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T135" t="T136" r="T137" b="T138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0"/>
                        </a:ln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48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7" name="Freeform 155"/>
                  <p:cNvSpPr>
                    <a:spLocks/>
                  </p:cNvSpPr>
                  <p:nvPr/>
                </p:nvSpPr>
                <p:spPr bwMode="auto">
                  <a:xfrm>
                    <a:off x="2818" y="1635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0 h 351"/>
                      <a:gd name="T4" fmla="*/ 473 w 516"/>
                      <a:gd name="T5" fmla="*/ 349 h 351"/>
                      <a:gd name="T6" fmla="*/ 483 w 516"/>
                      <a:gd name="T7" fmla="*/ 346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54 w 516"/>
                      <a:gd name="T43" fmla="*/ 0 h 351"/>
                      <a:gd name="T44" fmla="*/ 48 w 516"/>
                      <a:gd name="T45" fmla="*/ 0 h 351"/>
                      <a:gd name="T46" fmla="*/ 43 w 516"/>
                      <a:gd name="T47" fmla="*/ 1 h 351"/>
                      <a:gd name="T48" fmla="*/ 33 w 516"/>
                      <a:gd name="T49" fmla="*/ 4 h 351"/>
                      <a:gd name="T50" fmla="*/ 24 w 516"/>
                      <a:gd name="T51" fmla="*/ 9 h 351"/>
                      <a:gd name="T52" fmla="*/ 16 w 516"/>
                      <a:gd name="T53" fmla="*/ 16 h 351"/>
                      <a:gd name="T54" fmla="*/ 9 w 516"/>
                      <a:gd name="T55" fmla="*/ 24 h 351"/>
                      <a:gd name="T56" fmla="*/ 4 w 516"/>
                      <a:gd name="T57" fmla="*/ 33 h 351"/>
                      <a:gd name="T58" fmla="*/ 1 w 516"/>
                      <a:gd name="T59" fmla="*/ 43 h 351"/>
                      <a:gd name="T60" fmla="*/ 0 w 516"/>
                      <a:gd name="T61" fmla="*/ 48 h 351"/>
                      <a:gd name="T62" fmla="*/ 0 w 516"/>
                      <a:gd name="T63" fmla="*/ 54 h 351"/>
                      <a:gd name="T64" fmla="*/ 0 w 516"/>
                      <a:gd name="T65" fmla="*/ 297 h 351"/>
                      <a:gd name="T66" fmla="*/ 0 w 516"/>
                      <a:gd name="T67" fmla="*/ 302 h 351"/>
                      <a:gd name="T68" fmla="*/ 1 w 516"/>
                      <a:gd name="T69" fmla="*/ 308 h 351"/>
                      <a:gd name="T70" fmla="*/ 4 w 516"/>
                      <a:gd name="T71" fmla="*/ 318 h 351"/>
                      <a:gd name="T72" fmla="*/ 9 w 516"/>
                      <a:gd name="T73" fmla="*/ 327 h 351"/>
                      <a:gd name="T74" fmla="*/ 16 w 516"/>
                      <a:gd name="T75" fmla="*/ 335 h 351"/>
                      <a:gd name="T76" fmla="*/ 24 w 516"/>
                      <a:gd name="T77" fmla="*/ 342 h 351"/>
                      <a:gd name="T78" fmla="*/ 33 w 516"/>
                      <a:gd name="T79" fmla="*/ 346 h 351"/>
                      <a:gd name="T80" fmla="*/ 43 w 516"/>
                      <a:gd name="T81" fmla="*/ 349 h 351"/>
                      <a:gd name="T82" fmla="*/ 48 w 516"/>
                      <a:gd name="T83" fmla="*/ 350 h 351"/>
                      <a:gd name="T84" fmla="*/ 54 w 516"/>
                      <a:gd name="T85" fmla="*/ 351 h 351"/>
                      <a:gd name="T86" fmla="*/ 462 w 516"/>
                      <a:gd name="T87" fmla="*/ 351 h 351"/>
                      <a:gd name="T88" fmla="*/ 462 w 516"/>
                      <a:gd name="T89" fmla="*/ 351 h 351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w 516"/>
                      <a:gd name="T136" fmla="*/ 0 h 351"/>
                      <a:gd name="T137" fmla="*/ 516 w 516"/>
                      <a:gd name="T138" fmla="*/ 351 h 351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T135" t="T136" r="T137" b="T138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0"/>
                        </a:ln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48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8" name="Freeform 160"/>
                  <p:cNvSpPr>
                    <a:spLocks/>
                  </p:cNvSpPr>
                  <p:nvPr/>
                </p:nvSpPr>
                <p:spPr bwMode="auto">
                  <a:xfrm>
                    <a:off x="3372" y="1635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67 w 516"/>
                      <a:gd name="T3" fmla="*/ 350 h 351"/>
                      <a:gd name="T4" fmla="*/ 473 w 516"/>
                      <a:gd name="T5" fmla="*/ 349 h 351"/>
                      <a:gd name="T6" fmla="*/ 483 w 516"/>
                      <a:gd name="T7" fmla="*/ 346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1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1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1 w 516"/>
                      <a:gd name="T41" fmla="*/ 0 h 351"/>
                      <a:gd name="T42" fmla="*/ 461 w 516"/>
                      <a:gd name="T43" fmla="*/ 0 h 351"/>
                      <a:gd name="T44" fmla="*/ 53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2 w 516"/>
                      <a:gd name="T51" fmla="*/ 4 h 351"/>
                      <a:gd name="T52" fmla="*/ 23 w 516"/>
                      <a:gd name="T53" fmla="*/ 9 h 351"/>
                      <a:gd name="T54" fmla="*/ 15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54 h 351"/>
                      <a:gd name="T68" fmla="*/ 0 w 516"/>
                      <a:gd name="T69" fmla="*/ 297 h 351"/>
                      <a:gd name="T70" fmla="*/ 0 w 516"/>
                      <a:gd name="T71" fmla="*/ 302 h 351"/>
                      <a:gd name="T72" fmla="*/ 1 w 516"/>
                      <a:gd name="T73" fmla="*/ 308 h 351"/>
                      <a:gd name="T74" fmla="*/ 4 w 516"/>
                      <a:gd name="T75" fmla="*/ 318 h 351"/>
                      <a:gd name="T76" fmla="*/ 9 w 516"/>
                      <a:gd name="T77" fmla="*/ 327 h 351"/>
                      <a:gd name="T78" fmla="*/ 15 w 516"/>
                      <a:gd name="T79" fmla="*/ 335 h 351"/>
                      <a:gd name="T80" fmla="*/ 23 w 516"/>
                      <a:gd name="T81" fmla="*/ 342 h 351"/>
                      <a:gd name="T82" fmla="*/ 32 w 516"/>
                      <a:gd name="T83" fmla="*/ 346 h 351"/>
                      <a:gd name="T84" fmla="*/ 43 w 516"/>
                      <a:gd name="T85" fmla="*/ 349 h 351"/>
                      <a:gd name="T86" fmla="*/ 48 w 516"/>
                      <a:gd name="T87" fmla="*/ 350 h 351"/>
                      <a:gd name="T88" fmla="*/ 53 w 516"/>
                      <a:gd name="T89" fmla="*/ 351 h 351"/>
                      <a:gd name="T90" fmla="*/ 53 w 516"/>
                      <a:gd name="T91" fmla="*/ 351 h 351"/>
                      <a:gd name="T92" fmla="*/ 461 w 516"/>
                      <a:gd name="T93" fmla="*/ 351 h 351"/>
                      <a:gd name="T94" fmla="*/ 461 w 516"/>
                      <a:gd name="T95" fmla="*/ 351 h 351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516"/>
                      <a:gd name="T145" fmla="*/ 0 h 351"/>
                      <a:gd name="T146" fmla="*/ 516 w 516"/>
                      <a:gd name="T147" fmla="*/ 351 h 351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516" h="351">
                        <a:moveTo>
                          <a:pt x="461" y="351"/>
                        </a:moveTo>
                        <a:lnTo>
                          <a:pt x="467" y="350"/>
                        </a:ln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2" y="4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2"/>
                        </a:lnTo>
                        <a:lnTo>
                          <a:pt x="32" y="346"/>
                        </a:lnTo>
                        <a:lnTo>
                          <a:pt x="43" y="349"/>
                        </a:lnTo>
                        <a:lnTo>
                          <a:pt x="48" y="350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59" name="Freeform 161"/>
                  <p:cNvSpPr>
                    <a:spLocks/>
                  </p:cNvSpPr>
                  <p:nvPr/>
                </p:nvSpPr>
                <p:spPr bwMode="auto">
                  <a:xfrm>
                    <a:off x="3372" y="1635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67 w 516"/>
                      <a:gd name="T3" fmla="*/ 350 h 351"/>
                      <a:gd name="T4" fmla="*/ 473 w 516"/>
                      <a:gd name="T5" fmla="*/ 349 h 351"/>
                      <a:gd name="T6" fmla="*/ 483 w 516"/>
                      <a:gd name="T7" fmla="*/ 346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1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1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1 w 516"/>
                      <a:gd name="T41" fmla="*/ 0 h 351"/>
                      <a:gd name="T42" fmla="*/ 461 w 516"/>
                      <a:gd name="T43" fmla="*/ 0 h 351"/>
                      <a:gd name="T44" fmla="*/ 53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2 w 516"/>
                      <a:gd name="T51" fmla="*/ 4 h 351"/>
                      <a:gd name="T52" fmla="*/ 23 w 516"/>
                      <a:gd name="T53" fmla="*/ 9 h 351"/>
                      <a:gd name="T54" fmla="*/ 15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54 h 351"/>
                      <a:gd name="T68" fmla="*/ 0 w 516"/>
                      <a:gd name="T69" fmla="*/ 297 h 351"/>
                      <a:gd name="T70" fmla="*/ 0 w 516"/>
                      <a:gd name="T71" fmla="*/ 302 h 351"/>
                      <a:gd name="T72" fmla="*/ 1 w 516"/>
                      <a:gd name="T73" fmla="*/ 308 h 351"/>
                      <a:gd name="T74" fmla="*/ 4 w 516"/>
                      <a:gd name="T75" fmla="*/ 318 h 351"/>
                      <a:gd name="T76" fmla="*/ 9 w 516"/>
                      <a:gd name="T77" fmla="*/ 327 h 351"/>
                      <a:gd name="T78" fmla="*/ 15 w 516"/>
                      <a:gd name="T79" fmla="*/ 335 h 351"/>
                      <a:gd name="T80" fmla="*/ 23 w 516"/>
                      <a:gd name="T81" fmla="*/ 342 h 351"/>
                      <a:gd name="T82" fmla="*/ 32 w 516"/>
                      <a:gd name="T83" fmla="*/ 346 h 351"/>
                      <a:gd name="T84" fmla="*/ 43 w 516"/>
                      <a:gd name="T85" fmla="*/ 349 h 351"/>
                      <a:gd name="T86" fmla="*/ 48 w 516"/>
                      <a:gd name="T87" fmla="*/ 350 h 351"/>
                      <a:gd name="T88" fmla="*/ 53 w 516"/>
                      <a:gd name="T89" fmla="*/ 351 h 351"/>
                      <a:gd name="T90" fmla="*/ 53 w 516"/>
                      <a:gd name="T91" fmla="*/ 351 h 351"/>
                      <a:gd name="T92" fmla="*/ 461 w 516"/>
                      <a:gd name="T93" fmla="*/ 351 h 351"/>
                      <a:gd name="T94" fmla="*/ 461 w 516"/>
                      <a:gd name="T95" fmla="*/ 351 h 351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516"/>
                      <a:gd name="T145" fmla="*/ 0 h 351"/>
                      <a:gd name="T146" fmla="*/ 516 w 516"/>
                      <a:gd name="T147" fmla="*/ 351 h 351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516" h="351">
                        <a:moveTo>
                          <a:pt x="461" y="351"/>
                        </a:moveTo>
                        <a:lnTo>
                          <a:pt x="467" y="350"/>
                        </a:ln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2" y="4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2"/>
                        </a:lnTo>
                        <a:lnTo>
                          <a:pt x="32" y="346"/>
                        </a:lnTo>
                        <a:lnTo>
                          <a:pt x="43" y="349"/>
                        </a:lnTo>
                        <a:lnTo>
                          <a:pt x="48" y="350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0" name="Freeform 166"/>
                  <p:cNvSpPr>
                    <a:spLocks/>
                  </p:cNvSpPr>
                  <p:nvPr/>
                </p:nvSpPr>
                <p:spPr bwMode="auto">
                  <a:xfrm>
                    <a:off x="602" y="60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7 h 351"/>
                      <a:gd name="T60" fmla="*/ 1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6 w 517"/>
                      <a:gd name="T67" fmla="*/ 335 h 351"/>
                      <a:gd name="T68" fmla="*/ 24 w 517"/>
                      <a:gd name="T69" fmla="*/ 342 h 351"/>
                      <a:gd name="T70" fmla="*/ 33 w 517"/>
                      <a:gd name="T71" fmla="*/ 347 h 351"/>
                      <a:gd name="T72" fmla="*/ 44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1" name="Freeform 167"/>
                  <p:cNvSpPr>
                    <a:spLocks/>
                  </p:cNvSpPr>
                  <p:nvPr/>
                </p:nvSpPr>
                <p:spPr bwMode="auto">
                  <a:xfrm>
                    <a:off x="602" y="60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7 h 351"/>
                      <a:gd name="T60" fmla="*/ 1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6 w 517"/>
                      <a:gd name="T67" fmla="*/ 335 h 351"/>
                      <a:gd name="T68" fmla="*/ 24 w 517"/>
                      <a:gd name="T69" fmla="*/ 342 h 351"/>
                      <a:gd name="T70" fmla="*/ 33 w 517"/>
                      <a:gd name="T71" fmla="*/ 347 h 351"/>
                      <a:gd name="T72" fmla="*/ 44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2" name="Freeform 175"/>
                  <p:cNvSpPr>
                    <a:spLocks/>
                  </p:cNvSpPr>
                  <p:nvPr/>
                </p:nvSpPr>
                <p:spPr bwMode="auto">
                  <a:xfrm>
                    <a:off x="1433" y="60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5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7 h 351"/>
                      <a:gd name="T60" fmla="*/ 1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5 w 517"/>
                      <a:gd name="T67" fmla="*/ 335 h 351"/>
                      <a:gd name="T68" fmla="*/ 24 w 517"/>
                      <a:gd name="T69" fmla="*/ 342 h 351"/>
                      <a:gd name="T70" fmla="*/ 33 w 517"/>
                      <a:gd name="T71" fmla="*/ 347 h 351"/>
                      <a:gd name="T72" fmla="*/ 43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3" name="Freeform 176"/>
                  <p:cNvSpPr>
                    <a:spLocks/>
                  </p:cNvSpPr>
                  <p:nvPr/>
                </p:nvSpPr>
                <p:spPr bwMode="auto">
                  <a:xfrm>
                    <a:off x="1433" y="60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3 w 517"/>
                      <a:gd name="T5" fmla="*/ 347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2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2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5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7 h 351"/>
                      <a:gd name="T60" fmla="*/ 1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5 w 517"/>
                      <a:gd name="T67" fmla="*/ 335 h 351"/>
                      <a:gd name="T68" fmla="*/ 24 w 517"/>
                      <a:gd name="T69" fmla="*/ 342 h 351"/>
                      <a:gd name="T70" fmla="*/ 33 w 517"/>
                      <a:gd name="T71" fmla="*/ 347 h 351"/>
                      <a:gd name="T72" fmla="*/ 43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4" name="Rectangle 182"/>
                  <p:cNvSpPr>
                    <a:spLocks noChangeArrowheads="1"/>
                  </p:cNvSpPr>
                  <p:nvPr/>
                </p:nvSpPr>
                <p:spPr bwMode="auto">
                  <a:xfrm>
                    <a:off x="1686" y="783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65" name="Freeform 184"/>
                  <p:cNvSpPr>
                    <a:spLocks/>
                  </p:cNvSpPr>
                  <p:nvPr/>
                </p:nvSpPr>
                <p:spPr bwMode="auto">
                  <a:xfrm>
                    <a:off x="2264" y="609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50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7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7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2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462 w 516"/>
                      <a:gd name="T43" fmla="*/ 0 h 351"/>
                      <a:gd name="T44" fmla="*/ 54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2 h 351"/>
                      <a:gd name="T50" fmla="*/ 33 w 516"/>
                      <a:gd name="T51" fmla="*/ 4 h 351"/>
                      <a:gd name="T52" fmla="*/ 24 w 516"/>
                      <a:gd name="T53" fmla="*/ 9 h 351"/>
                      <a:gd name="T54" fmla="*/ 16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9 h 351"/>
                      <a:gd name="T64" fmla="*/ 0 w 516"/>
                      <a:gd name="T65" fmla="*/ 54 h 351"/>
                      <a:gd name="T66" fmla="*/ 0 w 516"/>
                      <a:gd name="T67" fmla="*/ 54 h 351"/>
                      <a:gd name="T68" fmla="*/ 0 w 516"/>
                      <a:gd name="T69" fmla="*/ 297 h 351"/>
                      <a:gd name="T70" fmla="*/ 0 w 516"/>
                      <a:gd name="T71" fmla="*/ 303 h 351"/>
                      <a:gd name="T72" fmla="*/ 1 w 516"/>
                      <a:gd name="T73" fmla="*/ 308 h 351"/>
                      <a:gd name="T74" fmla="*/ 4 w 516"/>
                      <a:gd name="T75" fmla="*/ 318 h 351"/>
                      <a:gd name="T76" fmla="*/ 9 w 516"/>
                      <a:gd name="T77" fmla="*/ 327 h 351"/>
                      <a:gd name="T78" fmla="*/ 16 w 516"/>
                      <a:gd name="T79" fmla="*/ 335 h 351"/>
                      <a:gd name="T80" fmla="*/ 24 w 516"/>
                      <a:gd name="T81" fmla="*/ 342 h 351"/>
                      <a:gd name="T82" fmla="*/ 33 w 516"/>
                      <a:gd name="T83" fmla="*/ 347 h 351"/>
                      <a:gd name="T84" fmla="*/ 43 w 516"/>
                      <a:gd name="T85" fmla="*/ 350 h 351"/>
                      <a:gd name="T86" fmla="*/ 48 w 516"/>
                      <a:gd name="T87" fmla="*/ 351 h 351"/>
                      <a:gd name="T88" fmla="*/ 54 w 516"/>
                      <a:gd name="T89" fmla="*/ 351 h 351"/>
                      <a:gd name="T90" fmla="*/ 462 w 516"/>
                      <a:gd name="T91" fmla="*/ 351 h 351"/>
                      <a:gd name="T92" fmla="*/ 462 w 516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16"/>
                      <a:gd name="T142" fmla="*/ 0 h 351"/>
                      <a:gd name="T143" fmla="*/ 516 w 516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6" name="Freeform 185"/>
                  <p:cNvSpPr>
                    <a:spLocks/>
                  </p:cNvSpPr>
                  <p:nvPr/>
                </p:nvSpPr>
                <p:spPr bwMode="auto">
                  <a:xfrm>
                    <a:off x="2264" y="609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50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7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7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2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462 w 516"/>
                      <a:gd name="T43" fmla="*/ 0 h 351"/>
                      <a:gd name="T44" fmla="*/ 54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2 h 351"/>
                      <a:gd name="T50" fmla="*/ 33 w 516"/>
                      <a:gd name="T51" fmla="*/ 4 h 351"/>
                      <a:gd name="T52" fmla="*/ 24 w 516"/>
                      <a:gd name="T53" fmla="*/ 9 h 351"/>
                      <a:gd name="T54" fmla="*/ 16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9 h 351"/>
                      <a:gd name="T64" fmla="*/ 0 w 516"/>
                      <a:gd name="T65" fmla="*/ 54 h 351"/>
                      <a:gd name="T66" fmla="*/ 0 w 516"/>
                      <a:gd name="T67" fmla="*/ 54 h 351"/>
                      <a:gd name="T68" fmla="*/ 0 w 516"/>
                      <a:gd name="T69" fmla="*/ 297 h 351"/>
                      <a:gd name="T70" fmla="*/ 0 w 516"/>
                      <a:gd name="T71" fmla="*/ 303 h 351"/>
                      <a:gd name="T72" fmla="*/ 1 w 516"/>
                      <a:gd name="T73" fmla="*/ 308 h 351"/>
                      <a:gd name="T74" fmla="*/ 4 w 516"/>
                      <a:gd name="T75" fmla="*/ 318 h 351"/>
                      <a:gd name="T76" fmla="*/ 9 w 516"/>
                      <a:gd name="T77" fmla="*/ 327 h 351"/>
                      <a:gd name="T78" fmla="*/ 16 w 516"/>
                      <a:gd name="T79" fmla="*/ 335 h 351"/>
                      <a:gd name="T80" fmla="*/ 24 w 516"/>
                      <a:gd name="T81" fmla="*/ 342 h 351"/>
                      <a:gd name="T82" fmla="*/ 33 w 516"/>
                      <a:gd name="T83" fmla="*/ 347 h 351"/>
                      <a:gd name="T84" fmla="*/ 43 w 516"/>
                      <a:gd name="T85" fmla="*/ 350 h 351"/>
                      <a:gd name="T86" fmla="*/ 48 w 516"/>
                      <a:gd name="T87" fmla="*/ 351 h 351"/>
                      <a:gd name="T88" fmla="*/ 54 w 516"/>
                      <a:gd name="T89" fmla="*/ 351 h 351"/>
                      <a:gd name="T90" fmla="*/ 462 w 516"/>
                      <a:gd name="T91" fmla="*/ 351 h 351"/>
                      <a:gd name="T92" fmla="*/ 462 w 516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16"/>
                      <a:gd name="T142" fmla="*/ 0 h 351"/>
                      <a:gd name="T143" fmla="*/ 516 w 516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solidFill>
                    <a:schemeClr val="bg1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7" name="Freeform 193"/>
                  <p:cNvSpPr>
                    <a:spLocks/>
                  </p:cNvSpPr>
                  <p:nvPr/>
                </p:nvSpPr>
                <p:spPr bwMode="auto">
                  <a:xfrm>
                    <a:off x="3095" y="609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50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1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1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2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54 w 516"/>
                      <a:gd name="T43" fmla="*/ 0 h 351"/>
                      <a:gd name="T44" fmla="*/ 48 w 516"/>
                      <a:gd name="T45" fmla="*/ 0 h 351"/>
                      <a:gd name="T46" fmla="*/ 43 w 516"/>
                      <a:gd name="T47" fmla="*/ 2 h 351"/>
                      <a:gd name="T48" fmla="*/ 33 w 516"/>
                      <a:gd name="T49" fmla="*/ 4 h 351"/>
                      <a:gd name="T50" fmla="*/ 23 w 516"/>
                      <a:gd name="T51" fmla="*/ 9 h 351"/>
                      <a:gd name="T52" fmla="*/ 16 w 516"/>
                      <a:gd name="T53" fmla="*/ 16 h 351"/>
                      <a:gd name="T54" fmla="*/ 9 w 516"/>
                      <a:gd name="T55" fmla="*/ 24 h 351"/>
                      <a:gd name="T56" fmla="*/ 4 w 516"/>
                      <a:gd name="T57" fmla="*/ 33 h 351"/>
                      <a:gd name="T58" fmla="*/ 1 w 516"/>
                      <a:gd name="T59" fmla="*/ 43 h 351"/>
                      <a:gd name="T60" fmla="*/ 0 w 516"/>
                      <a:gd name="T61" fmla="*/ 49 h 351"/>
                      <a:gd name="T62" fmla="*/ 0 w 516"/>
                      <a:gd name="T63" fmla="*/ 54 h 351"/>
                      <a:gd name="T64" fmla="*/ 0 w 516"/>
                      <a:gd name="T65" fmla="*/ 54 h 351"/>
                      <a:gd name="T66" fmla="*/ 0 w 516"/>
                      <a:gd name="T67" fmla="*/ 297 h 351"/>
                      <a:gd name="T68" fmla="*/ 0 w 516"/>
                      <a:gd name="T69" fmla="*/ 303 h 351"/>
                      <a:gd name="T70" fmla="*/ 1 w 516"/>
                      <a:gd name="T71" fmla="*/ 308 h 351"/>
                      <a:gd name="T72" fmla="*/ 4 w 516"/>
                      <a:gd name="T73" fmla="*/ 318 h 351"/>
                      <a:gd name="T74" fmla="*/ 9 w 516"/>
                      <a:gd name="T75" fmla="*/ 327 h 351"/>
                      <a:gd name="T76" fmla="*/ 16 w 516"/>
                      <a:gd name="T77" fmla="*/ 335 h 351"/>
                      <a:gd name="T78" fmla="*/ 23 w 516"/>
                      <a:gd name="T79" fmla="*/ 342 h 351"/>
                      <a:gd name="T80" fmla="*/ 33 w 516"/>
                      <a:gd name="T81" fmla="*/ 347 h 351"/>
                      <a:gd name="T82" fmla="*/ 43 w 516"/>
                      <a:gd name="T83" fmla="*/ 350 h 351"/>
                      <a:gd name="T84" fmla="*/ 48 w 516"/>
                      <a:gd name="T85" fmla="*/ 351 h 351"/>
                      <a:gd name="T86" fmla="*/ 54 w 516"/>
                      <a:gd name="T87" fmla="*/ 351 h 351"/>
                      <a:gd name="T88" fmla="*/ 462 w 516"/>
                      <a:gd name="T89" fmla="*/ 351 h 351"/>
                      <a:gd name="T90" fmla="*/ 462 w 516"/>
                      <a:gd name="T91" fmla="*/ 351 h 351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516"/>
                      <a:gd name="T139" fmla="*/ 0 h 351"/>
                      <a:gd name="T140" fmla="*/ 516 w 516"/>
                      <a:gd name="T141" fmla="*/ 351 h 351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3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3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8" name="Freeform 194"/>
                  <p:cNvSpPr>
                    <a:spLocks/>
                  </p:cNvSpPr>
                  <p:nvPr/>
                </p:nvSpPr>
                <p:spPr bwMode="auto">
                  <a:xfrm>
                    <a:off x="3095" y="609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50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1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1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2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54 w 516"/>
                      <a:gd name="T43" fmla="*/ 0 h 351"/>
                      <a:gd name="T44" fmla="*/ 48 w 516"/>
                      <a:gd name="T45" fmla="*/ 0 h 351"/>
                      <a:gd name="T46" fmla="*/ 43 w 516"/>
                      <a:gd name="T47" fmla="*/ 2 h 351"/>
                      <a:gd name="T48" fmla="*/ 33 w 516"/>
                      <a:gd name="T49" fmla="*/ 4 h 351"/>
                      <a:gd name="T50" fmla="*/ 23 w 516"/>
                      <a:gd name="T51" fmla="*/ 9 h 351"/>
                      <a:gd name="T52" fmla="*/ 16 w 516"/>
                      <a:gd name="T53" fmla="*/ 16 h 351"/>
                      <a:gd name="T54" fmla="*/ 9 w 516"/>
                      <a:gd name="T55" fmla="*/ 24 h 351"/>
                      <a:gd name="T56" fmla="*/ 4 w 516"/>
                      <a:gd name="T57" fmla="*/ 33 h 351"/>
                      <a:gd name="T58" fmla="*/ 1 w 516"/>
                      <a:gd name="T59" fmla="*/ 43 h 351"/>
                      <a:gd name="T60" fmla="*/ 0 w 516"/>
                      <a:gd name="T61" fmla="*/ 49 h 351"/>
                      <a:gd name="T62" fmla="*/ 0 w 516"/>
                      <a:gd name="T63" fmla="*/ 54 h 351"/>
                      <a:gd name="T64" fmla="*/ 0 w 516"/>
                      <a:gd name="T65" fmla="*/ 54 h 351"/>
                      <a:gd name="T66" fmla="*/ 0 w 516"/>
                      <a:gd name="T67" fmla="*/ 297 h 351"/>
                      <a:gd name="T68" fmla="*/ 0 w 516"/>
                      <a:gd name="T69" fmla="*/ 303 h 351"/>
                      <a:gd name="T70" fmla="*/ 1 w 516"/>
                      <a:gd name="T71" fmla="*/ 308 h 351"/>
                      <a:gd name="T72" fmla="*/ 4 w 516"/>
                      <a:gd name="T73" fmla="*/ 318 h 351"/>
                      <a:gd name="T74" fmla="*/ 9 w 516"/>
                      <a:gd name="T75" fmla="*/ 327 h 351"/>
                      <a:gd name="T76" fmla="*/ 16 w 516"/>
                      <a:gd name="T77" fmla="*/ 335 h 351"/>
                      <a:gd name="T78" fmla="*/ 23 w 516"/>
                      <a:gd name="T79" fmla="*/ 342 h 351"/>
                      <a:gd name="T80" fmla="*/ 33 w 516"/>
                      <a:gd name="T81" fmla="*/ 347 h 351"/>
                      <a:gd name="T82" fmla="*/ 43 w 516"/>
                      <a:gd name="T83" fmla="*/ 350 h 351"/>
                      <a:gd name="T84" fmla="*/ 48 w 516"/>
                      <a:gd name="T85" fmla="*/ 351 h 351"/>
                      <a:gd name="T86" fmla="*/ 54 w 516"/>
                      <a:gd name="T87" fmla="*/ 351 h 351"/>
                      <a:gd name="T88" fmla="*/ 462 w 516"/>
                      <a:gd name="T89" fmla="*/ 351 h 351"/>
                      <a:gd name="T90" fmla="*/ 462 w 516"/>
                      <a:gd name="T91" fmla="*/ 351 h 351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516"/>
                      <a:gd name="T139" fmla="*/ 0 h 351"/>
                      <a:gd name="T140" fmla="*/ 516 w 516"/>
                      <a:gd name="T141" fmla="*/ 351 h 351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50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2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3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3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69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3462" y="754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8070" name="Freeform 203"/>
                  <p:cNvSpPr>
                    <a:spLocks/>
                  </p:cNvSpPr>
                  <p:nvPr/>
                </p:nvSpPr>
                <p:spPr bwMode="auto">
                  <a:xfrm>
                    <a:off x="3925" y="60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68 w 517"/>
                      <a:gd name="T3" fmla="*/ 351 h 351"/>
                      <a:gd name="T4" fmla="*/ 474 w 517"/>
                      <a:gd name="T5" fmla="*/ 350 h 351"/>
                      <a:gd name="T6" fmla="*/ 484 w 517"/>
                      <a:gd name="T7" fmla="*/ 347 h 351"/>
                      <a:gd name="T8" fmla="*/ 493 w 517"/>
                      <a:gd name="T9" fmla="*/ 342 h 351"/>
                      <a:gd name="T10" fmla="*/ 501 w 517"/>
                      <a:gd name="T11" fmla="*/ 335 h 351"/>
                      <a:gd name="T12" fmla="*/ 507 w 517"/>
                      <a:gd name="T13" fmla="*/ 327 h 351"/>
                      <a:gd name="T14" fmla="*/ 512 w 517"/>
                      <a:gd name="T15" fmla="*/ 318 h 351"/>
                      <a:gd name="T16" fmla="*/ 516 w 517"/>
                      <a:gd name="T17" fmla="*/ 308 h 351"/>
                      <a:gd name="T18" fmla="*/ 517 w 517"/>
                      <a:gd name="T19" fmla="*/ 297 h 351"/>
                      <a:gd name="T20" fmla="*/ 517 w 517"/>
                      <a:gd name="T21" fmla="*/ 297 h 351"/>
                      <a:gd name="T22" fmla="*/ 517 w 517"/>
                      <a:gd name="T23" fmla="*/ 54 h 351"/>
                      <a:gd name="T24" fmla="*/ 516 w 517"/>
                      <a:gd name="T25" fmla="*/ 43 h 351"/>
                      <a:gd name="T26" fmla="*/ 512 w 517"/>
                      <a:gd name="T27" fmla="*/ 33 h 351"/>
                      <a:gd name="T28" fmla="*/ 507 w 517"/>
                      <a:gd name="T29" fmla="*/ 24 h 351"/>
                      <a:gd name="T30" fmla="*/ 501 w 517"/>
                      <a:gd name="T31" fmla="*/ 16 h 351"/>
                      <a:gd name="T32" fmla="*/ 493 w 517"/>
                      <a:gd name="T33" fmla="*/ 9 h 351"/>
                      <a:gd name="T34" fmla="*/ 484 w 517"/>
                      <a:gd name="T35" fmla="*/ 4 h 351"/>
                      <a:gd name="T36" fmla="*/ 474 w 517"/>
                      <a:gd name="T37" fmla="*/ 2 h 351"/>
                      <a:gd name="T38" fmla="*/ 468 w 517"/>
                      <a:gd name="T39" fmla="*/ 0 h 351"/>
                      <a:gd name="T40" fmla="*/ 462 w 517"/>
                      <a:gd name="T41" fmla="*/ 0 h 351"/>
                      <a:gd name="T42" fmla="*/ 54 w 517"/>
                      <a:gd name="T43" fmla="*/ 0 h 351"/>
                      <a:gd name="T44" fmla="*/ 49 w 517"/>
                      <a:gd name="T45" fmla="*/ 0 h 351"/>
                      <a:gd name="T46" fmla="*/ 43 w 517"/>
                      <a:gd name="T47" fmla="*/ 2 h 351"/>
                      <a:gd name="T48" fmla="*/ 33 w 517"/>
                      <a:gd name="T49" fmla="*/ 4 h 351"/>
                      <a:gd name="T50" fmla="*/ 24 w 517"/>
                      <a:gd name="T51" fmla="*/ 9 h 351"/>
                      <a:gd name="T52" fmla="*/ 16 w 517"/>
                      <a:gd name="T53" fmla="*/ 16 h 351"/>
                      <a:gd name="T54" fmla="*/ 9 w 517"/>
                      <a:gd name="T55" fmla="*/ 24 h 351"/>
                      <a:gd name="T56" fmla="*/ 4 w 517"/>
                      <a:gd name="T57" fmla="*/ 33 h 351"/>
                      <a:gd name="T58" fmla="*/ 2 w 517"/>
                      <a:gd name="T59" fmla="*/ 43 h 351"/>
                      <a:gd name="T60" fmla="*/ 0 w 517"/>
                      <a:gd name="T61" fmla="*/ 49 h 351"/>
                      <a:gd name="T62" fmla="*/ 0 w 517"/>
                      <a:gd name="T63" fmla="*/ 54 h 351"/>
                      <a:gd name="T64" fmla="*/ 0 w 517"/>
                      <a:gd name="T65" fmla="*/ 54 h 351"/>
                      <a:gd name="T66" fmla="*/ 0 w 517"/>
                      <a:gd name="T67" fmla="*/ 297 h 351"/>
                      <a:gd name="T68" fmla="*/ 0 w 517"/>
                      <a:gd name="T69" fmla="*/ 303 h 351"/>
                      <a:gd name="T70" fmla="*/ 2 w 517"/>
                      <a:gd name="T71" fmla="*/ 308 h 351"/>
                      <a:gd name="T72" fmla="*/ 4 w 517"/>
                      <a:gd name="T73" fmla="*/ 318 h 351"/>
                      <a:gd name="T74" fmla="*/ 9 w 517"/>
                      <a:gd name="T75" fmla="*/ 327 h 351"/>
                      <a:gd name="T76" fmla="*/ 16 w 517"/>
                      <a:gd name="T77" fmla="*/ 335 h 351"/>
                      <a:gd name="T78" fmla="*/ 24 w 517"/>
                      <a:gd name="T79" fmla="*/ 342 h 351"/>
                      <a:gd name="T80" fmla="*/ 33 w 517"/>
                      <a:gd name="T81" fmla="*/ 347 h 351"/>
                      <a:gd name="T82" fmla="*/ 43 w 517"/>
                      <a:gd name="T83" fmla="*/ 350 h 351"/>
                      <a:gd name="T84" fmla="*/ 49 w 517"/>
                      <a:gd name="T85" fmla="*/ 351 h 351"/>
                      <a:gd name="T86" fmla="*/ 54 w 517"/>
                      <a:gd name="T87" fmla="*/ 351 h 351"/>
                      <a:gd name="T88" fmla="*/ 54 w 517"/>
                      <a:gd name="T89" fmla="*/ 351 h 351"/>
                      <a:gd name="T90" fmla="*/ 462 w 517"/>
                      <a:gd name="T91" fmla="*/ 351 h 351"/>
                      <a:gd name="T92" fmla="*/ 462 w 517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17"/>
                      <a:gd name="T142" fmla="*/ 0 h 351"/>
                      <a:gd name="T143" fmla="*/ 517 w 517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17" h="351">
                        <a:moveTo>
                          <a:pt x="462" y="351"/>
                        </a:moveTo>
                        <a:lnTo>
                          <a:pt x="468" y="351"/>
                        </a:lnTo>
                        <a:lnTo>
                          <a:pt x="474" y="350"/>
                        </a:lnTo>
                        <a:lnTo>
                          <a:pt x="484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2"/>
                        </a:lnTo>
                        <a:lnTo>
                          <a:pt x="468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9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49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71" name="Freeform 204"/>
                  <p:cNvSpPr>
                    <a:spLocks/>
                  </p:cNvSpPr>
                  <p:nvPr/>
                </p:nvSpPr>
                <p:spPr bwMode="auto">
                  <a:xfrm>
                    <a:off x="3925" y="60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68 w 517"/>
                      <a:gd name="T3" fmla="*/ 351 h 351"/>
                      <a:gd name="T4" fmla="*/ 474 w 517"/>
                      <a:gd name="T5" fmla="*/ 350 h 351"/>
                      <a:gd name="T6" fmla="*/ 484 w 517"/>
                      <a:gd name="T7" fmla="*/ 347 h 351"/>
                      <a:gd name="T8" fmla="*/ 493 w 517"/>
                      <a:gd name="T9" fmla="*/ 342 h 351"/>
                      <a:gd name="T10" fmla="*/ 501 w 517"/>
                      <a:gd name="T11" fmla="*/ 335 h 351"/>
                      <a:gd name="T12" fmla="*/ 507 w 517"/>
                      <a:gd name="T13" fmla="*/ 327 h 351"/>
                      <a:gd name="T14" fmla="*/ 512 w 517"/>
                      <a:gd name="T15" fmla="*/ 318 h 351"/>
                      <a:gd name="T16" fmla="*/ 516 w 517"/>
                      <a:gd name="T17" fmla="*/ 308 h 351"/>
                      <a:gd name="T18" fmla="*/ 517 w 517"/>
                      <a:gd name="T19" fmla="*/ 297 h 351"/>
                      <a:gd name="T20" fmla="*/ 517 w 517"/>
                      <a:gd name="T21" fmla="*/ 297 h 351"/>
                      <a:gd name="T22" fmla="*/ 517 w 517"/>
                      <a:gd name="T23" fmla="*/ 54 h 351"/>
                      <a:gd name="T24" fmla="*/ 516 w 517"/>
                      <a:gd name="T25" fmla="*/ 43 h 351"/>
                      <a:gd name="T26" fmla="*/ 512 w 517"/>
                      <a:gd name="T27" fmla="*/ 33 h 351"/>
                      <a:gd name="T28" fmla="*/ 507 w 517"/>
                      <a:gd name="T29" fmla="*/ 24 h 351"/>
                      <a:gd name="T30" fmla="*/ 501 w 517"/>
                      <a:gd name="T31" fmla="*/ 16 h 351"/>
                      <a:gd name="T32" fmla="*/ 493 w 517"/>
                      <a:gd name="T33" fmla="*/ 9 h 351"/>
                      <a:gd name="T34" fmla="*/ 484 w 517"/>
                      <a:gd name="T35" fmla="*/ 4 h 351"/>
                      <a:gd name="T36" fmla="*/ 474 w 517"/>
                      <a:gd name="T37" fmla="*/ 2 h 351"/>
                      <a:gd name="T38" fmla="*/ 468 w 517"/>
                      <a:gd name="T39" fmla="*/ 0 h 351"/>
                      <a:gd name="T40" fmla="*/ 462 w 517"/>
                      <a:gd name="T41" fmla="*/ 0 h 351"/>
                      <a:gd name="T42" fmla="*/ 54 w 517"/>
                      <a:gd name="T43" fmla="*/ 0 h 351"/>
                      <a:gd name="T44" fmla="*/ 49 w 517"/>
                      <a:gd name="T45" fmla="*/ 0 h 351"/>
                      <a:gd name="T46" fmla="*/ 43 w 517"/>
                      <a:gd name="T47" fmla="*/ 2 h 351"/>
                      <a:gd name="T48" fmla="*/ 33 w 517"/>
                      <a:gd name="T49" fmla="*/ 4 h 351"/>
                      <a:gd name="T50" fmla="*/ 24 w 517"/>
                      <a:gd name="T51" fmla="*/ 9 h 351"/>
                      <a:gd name="T52" fmla="*/ 16 w 517"/>
                      <a:gd name="T53" fmla="*/ 16 h 351"/>
                      <a:gd name="T54" fmla="*/ 9 w 517"/>
                      <a:gd name="T55" fmla="*/ 24 h 351"/>
                      <a:gd name="T56" fmla="*/ 4 w 517"/>
                      <a:gd name="T57" fmla="*/ 33 h 351"/>
                      <a:gd name="T58" fmla="*/ 2 w 517"/>
                      <a:gd name="T59" fmla="*/ 43 h 351"/>
                      <a:gd name="T60" fmla="*/ 0 w 517"/>
                      <a:gd name="T61" fmla="*/ 49 h 351"/>
                      <a:gd name="T62" fmla="*/ 0 w 517"/>
                      <a:gd name="T63" fmla="*/ 54 h 351"/>
                      <a:gd name="T64" fmla="*/ 0 w 517"/>
                      <a:gd name="T65" fmla="*/ 54 h 351"/>
                      <a:gd name="T66" fmla="*/ 0 w 517"/>
                      <a:gd name="T67" fmla="*/ 297 h 351"/>
                      <a:gd name="T68" fmla="*/ 0 w 517"/>
                      <a:gd name="T69" fmla="*/ 303 h 351"/>
                      <a:gd name="T70" fmla="*/ 2 w 517"/>
                      <a:gd name="T71" fmla="*/ 308 h 351"/>
                      <a:gd name="T72" fmla="*/ 4 w 517"/>
                      <a:gd name="T73" fmla="*/ 318 h 351"/>
                      <a:gd name="T74" fmla="*/ 9 w 517"/>
                      <a:gd name="T75" fmla="*/ 327 h 351"/>
                      <a:gd name="T76" fmla="*/ 16 w 517"/>
                      <a:gd name="T77" fmla="*/ 335 h 351"/>
                      <a:gd name="T78" fmla="*/ 24 w 517"/>
                      <a:gd name="T79" fmla="*/ 342 h 351"/>
                      <a:gd name="T80" fmla="*/ 33 w 517"/>
                      <a:gd name="T81" fmla="*/ 347 h 351"/>
                      <a:gd name="T82" fmla="*/ 43 w 517"/>
                      <a:gd name="T83" fmla="*/ 350 h 351"/>
                      <a:gd name="T84" fmla="*/ 49 w 517"/>
                      <a:gd name="T85" fmla="*/ 351 h 351"/>
                      <a:gd name="T86" fmla="*/ 54 w 517"/>
                      <a:gd name="T87" fmla="*/ 351 h 351"/>
                      <a:gd name="T88" fmla="*/ 54 w 517"/>
                      <a:gd name="T89" fmla="*/ 351 h 351"/>
                      <a:gd name="T90" fmla="*/ 462 w 517"/>
                      <a:gd name="T91" fmla="*/ 351 h 351"/>
                      <a:gd name="T92" fmla="*/ 462 w 517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17"/>
                      <a:gd name="T142" fmla="*/ 0 h 351"/>
                      <a:gd name="T143" fmla="*/ 517 w 517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17" h="351">
                        <a:moveTo>
                          <a:pt x="462" y="351"/>
                        </a:moveTo>
                        <a:lnTo>
                          <a:pt x="468" y="351"/>
                        </a:lnTo>
                        <a:lnTo>
                          <a:pt x="474" y="350"/>
                        </a:lnTo>
                        <a:lnTo>
                          <a:pt x="484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2"/>
                        </a:lnTo>
                        <a:lnTo>
                          <a:pt x="468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9" y="0"/>
                        </a:lnTo>
                        <a:lnTo>
                          <a:pt x="43" y="2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3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49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8072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4321" y="754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</p:grpSp>
            <p:grpSp>
              <p:nvGrpSpPr>
                <p:cNvPr id="37934" name="Group 412"/>
                <p:cNvGrpSpPr>
                  <a:grpSpLocks/>
                </p:cNvGrpSpPr>
                <p:nvPr/>
              </p:nvGrpSpPr>
              <p:grpSpPr bwMode="auto">
                <a:xfrm>
                  <a:off x="602" y="1527"/>
                  <a:ext cx="4575" cy="2051"/>
                  <a:chOff x="602" y="1527"/>
                  <a:chExt cx="4575" cy="2051"/>
                </a:xfrm>
              </p:grpSpPr>
              <p:sp>
                <p:nvSpPr>
                  <p:cNvPr id="37935" name="Freeform 213"/>
                  <p:cNvSpPr>
                    <a:spLocks/>
                  </p:cNvSpPr>
                  <p:nvPr/>
                </p:nvSpPr>
                <p:spPr bwMode="auto">
                  <a:xfrm>
                    <a:off x="4582" y="2364"/>
                    <a:ext cx="595" cy="350"/>
                  </a:xfrm>
                  <a:custGeom>
                    <a:avLst/>
                    <a:gdLst>
                      <a:gd name="T0" fmla="*/ 541 w 595"/>
                      <a:gd name="T1" fmla="*/ 350 h 350"/>
                      <a:gd name="T2" fmla="*/ 552 w 595"/>
                      <a:gd name="T3" fmla="*/ 349 h 350"/>
                      <a:gd name="T4" fmla="*/ 562 w 595"/>
                      <a:gd name="T5" fmla="*/ 346 h 350"/>
                      <a:gd name="T6" fmla="*/ 571 w 595"/>
                      <a:gd name="T7" fmla="*/ 341 h 350"/>
                      <a:gd name="T8" fmla="*/ 579 w 595"/>
                      <a:gd name="T9" fmla="*/ 334 h 350"/>
                      <a:gd name="T10" fmla="*/ 586 w 595"/>
                      <a:gd name="T11" fmla="*/ 326 h 350"/>
                      <a:gd name="T12" fmla="*/ 591 w 595"/>
                      <a:gd name="T13" fmla="*/ 317 h 350"/>
                      <a:gd name="T14" fmla="*/ 594 w 595"/>
                      <a:gd name="T15" fmla="*/ 307 h 350"/>
                      <a:gd name="T16" fmla="*/ 595 w 595"/>
                      <a:gd name="T17" fmla="*/ 296 h 350"/>
                      <a:gd name="T18" fmla="*/ 595 w 595"/>
                      <a:gd name="T19" fmla="*/ 296 h 350"/>
                      <a:gd name="T20" fmla="*/ 595 w 595"/>
                      <a:gd name="T21" fmla="*/ 53 h 350"/>
                      <a:gd name="T22" fmla="*/ 594 w 595"/>
                      <a:gd name="T23" fmla="*/ 43 h 350"/>
                      <a:gd name="T24" fmla="*/ 591 w 595"/>
                      <a:gd name="T25" fmla="*/ 32 h 350"/>
                      <a:gd name="T26" fmla="*/ 586 w 595"/>
                      <a:gd name="T27" fmla="*/ 23 h 350"/>
                      <a:gd name="T28" fmla="*/ 579 w 595"/>
                      <a:gd name="T29" fmla="*/ 15 h 350"/>
                      <a:gd name="T30" fmla="*/ 571 w 595"/>
                      <a:gd name="T31" fmla="*/ 9 h 350"/>
                      <a:gd name="T32" fmla="*/ 562 w 595"/>
                      <a:gd name="T33" fmla="*/ 3 h 350"/>
                      <a:gd name="T34" fmla="*/ 552 w 595"/>
                      <a:gd name="T35" fmla="*/ 1 h 350"/>
                      <a:gd name="T36" fmla="*/ 541 w 595"/>
                      <a:gd name="T37" fmla="*/ 0 h 350"/>
                      <a:gd name="T38" fmla="*/ 55 w 595"/>
                      <a:gd name="T39" fmla="*/ 0 h 350"/>
                      <a:gd name="T40" fmla="*/ 44 w 595"/>
                      <a:gd name="T41" fmla="*/ 1 h 350"/>
                      <a:gd name="T42" fmla="*/ 34 w 595"/>
                      <a:gd name="T43" fmla="*/ 3 h 350"/>
                      <a:gd name="T44" fmla="*/ 24 w 595"/>
                      <a:gd name="T45" fmla="*/ 9 h 350"/>
                      <a:gd name="T46" fmla="*/ 16 w 595"/>
                      <a:gd name="T47" fmla="*/ 15 h 350"/>
                      <a:gd name="T48" fmla="*/ 10 w 595"/>
                      <a:gd name="T49" fmla="*/ 23 h 350"/>
                      <a:gd name="T50" fmla="*/ 5 w 595"/>
                      <a:gd name="T51" fmla="*/ 32 h 350"/>
                      <a:gd name="T52" fmla="*/ 2 w 595"/>
                      <a:gd name="T53" fmla="*/ 43 h 350"/>
                      <a:gd name="T54" fmla="*/ 1 w 595"/>
                      <a:gd name="T55" fmla="*/ 48 h 350"/>
                      <a:gd name="T56" fmla="*/ 0 w 595"/>
                      <a:gd name="T57" fmla="*/ 53 h 350"/>
                      <a:gd name="T58" fmla="*/ 0 w 595"/>
                      <a:gd name="T59" fmla="*/ 53 h 350"/>
                      <a:gd name="T60" fmla="*/ 0 w 595"/>
                      <a:gd name="T61" fmla="*/ 296 h 350"/>
                      <a:gd name="T62" fmla="*/ 1 w 595"/>
                      <a:gd name="T63" fmla="*/ 301 h 350"/>
                      <a:gd name="T64" fmla="*/ 2 w 595"/>
                      <a:gd name="T65" fmla="*/ 307 h 350"/>
                      <a:gd name="T66" fmla="*/ 5 w 595"/>
                      <a:gd name="T67" fmla="*/ 317 h 350"/>
                      <a:gd name="T68" fmla="*/ 10 w 595"/>
                      <a:gd name="T69" fmla="*/ 326 h 350"/>
                      <a:gd name="T70" fmla="*/ 16 w 595"/>
                      <a:gd name="T71" fmla="*/ 334 h 350"/>
                      <a:gd name="T72" fmla="*/ 24 w 595"/>
                      <a:gd name="T73" fmla="*/ 341 h 350"/>
                      <a:gd name="T74" fmla="*/ 34 w 595"/>
                      <a:gd name="T75" fmla="*/ 346 h 350"/>
                      <a:gd name="T76" fmla="*/ 44 w 595"/>
                      <a:gd name="T77" fmla="*/ 349 h 350"/>
                      <a:gd name="T78" fmla="*/ 55 w 595"/>
                      <a:gd name="T79" fmla="*/ 350 h 350"/>
                      <a:gd name="T80" fmla="*/ 55 w 595"/>
                      <a:gd name="T81" fmla="*/ 350 h 350"/>
                      <a:gd name="T82" fmla="*/ 541 w 595"/>
                      <a:gd name="T83" fmla="*/ 350 h 350"/>
                      <a:gd name="T84" fmla="*/ 541 w 595"/>
                      <a:gd name="T85" fmla="*/ 350 h 350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95"/>
                      <a:gd name="T130" fmla="*/ 0 h 350"/>
                      <a:gd name="T131" fmla="*/ 595 w 595"/>
                      <a:gd name="T132" fmla="*/ 350 h 350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95" h="350">
                        <a:moveTo>
                          <a:pt x="541" y="350"/>
                        </a:moveTo>
                        <a:lnTo>
                          <a:pt x="552" y="349"/>
                        </a:lnTo>
                        <a:lnTo>
                          <a:pt x="562" y="346"/>
                        </a:lnTo>
                        <a:lnTo>
                          <a:pt x="571" y="341"/>
                        </a:lnTo>
                        <a:lnTo>
                          <a:pt x="579" y="334"/>
                        </a:lnTo>
                        <a:lnTo>
                          <a:pt x="586" y="326"/>
                        </a:lnTo>
                        <a:lnTo>
                          <a:pt x="591" y="317"/>
                        </a:lnTo>
                        <a:lnTo>
                          <a:pt x="594" y="307"/>
                        </a:lnTo>
                        <a:lnTo>
                          <a:pt x="595" y="296"/>
                        </a:lnTo>
                        <a:lnTo>
                          <a:pt x="595" y="53"/>
                        </a:lnTo>
                        <a:lnTo>
                          <a:pt x="594" y="43"/>
                        </a:lnTo>
                        <a:lnTo>
                          <a:pt x="591" y="32"/>
                        </a:lnTo>
                        <a:lnTo>
                          <a:pt x="586" y="23"/>
                        </a:lnTo>
                        <a:lnTo>
                          <a:pt x="579" y="15"/>
                        </a:lnTo>
                        <a:lnTo>
                          <a:pt x="571" y="9"/>
                        </a:lnTo>
                        <a:lnTo>
                          <a:pt x="562" y="3"/>
                        </a:lnTo>
                        <a:lnTo>
                          <a:pt x="552" y="1"/>
                        </a:lnTo>
                        <a:lnTo>
                          <a:pt x="541" y="0"/>
                        </a:lnTo>
                        <a:lnTo>
                          <a:pt x="55" y="0"/>
                        </a:lnTo>
                        <a:lnTo>
                          <a:pt x="44" y="1"/>
                        </a:lnTo>
                        <a:lnTo>
                          <a:pt x="34" y="3"/>
                        </a:lnTo>
                        <a:lnTo>
                          <a:pt x="24" y="9"/>
                        </a:lnTo>
                        <a:lnTo>
                          <a:pt x="16" y="15"/>
                        </a:lnTo>
                        <a:lnTo>
                          <a:pt x="10" y="23"/>
                        </a:lnTo>
                        <a:lnTo>
                          <a:pt x="5" y="32"/>
                        </a:lnTo>
                        <a:lnTo>
                          <a:pt x="2" y="43"/>
                        </a:lnTo>
                        <a:lnTo>
                          <a:pt x="1" y="48"/>
                        </a:lnTo>
                        <a:lnTo>
                          <a:pt x="0" y="53"/>
                        </a:lnTo>
                        <a:lnTo>
                          <a:pt x="0" y="296"/>
                        </a:lnTo>
                        <a:lnTo>
                          <a:pt x="1" y="301"/>
                        </a:lnTo>
                        <a:lnTo>
                          <a:pt x="2" y="307"/>
                        </a:lnTo>
                        <a:lnTo>
                          <a:pt x="5" y="317"/>
                        </a:lnTo>
                        <a:lnTo>
                          <a:pt x="10" y="326"/>
                        </a:lnTo>
                        <a:lnTo>
                          <a:pt x="16" y="334"/>
                        </a:lnTo>
                        <a:lnTo>
                          <a:pt x="24" y="341"/>
                        </a:lnTo>
                        <a:lnTo>
                          <a:pt x="34" y="346"/>
                        </a:lnTo>
                        <a:lnTo>
                          <a:pt x="44" y="349"/>
                        </a:lnTo>
                        <a:lnTo>
                          <a:pt x="55" y="350"/>
                        </a:lnTo>
                        <a:lnTo>
                          <a:pt x="541" y="350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36" name="Freeform 214"/>
                  <p:cNvSpPr>
                    <a:spLocks/>
                  </p:cNvSpPr>
                  <p:nvPr/>
                </p:nvSpPr>
                <p:spPr bwMode="auto">
                  <a:xfrm>
                    <a:off x="4582" y="2364"/>
                    <a:ext cx="595" cy="350"/>
                  </a:xfrm>
                  <a:custGeom>
                    <a:avLst/>
                    <a:gdLst>
                      <a:gd name="T0" fmla="*/ 541 w 595"/>
                      <a:gd name="T1" fmla="*/ 350 h 350"/>
                      <a:gd name="T2" fmla="*/ 552 w 595"/>
                      <a:gd name="T3" fmla="*/ 349 h 350"/>
                      <a:gd name="T4" fmla="*/ 562 w 595"/>
                      <a:gd name="T5" fmla="*/ 346 h 350"/>
                      <a:gd name="T6" fmla="*/ 571 w 595"/>
                      <a:gd name="T7" fmla="*/ 341 h 350"/>
                      <a:gd name="T8" fmla="*/ 579 w 595"/>
                      <a:gd name="T9" fmla="*/ 334 h 350"/>
                      <a:gd name="T10" fmla="*/ 586 w 595"/>
                      <a:gd name="T11" fmla="*/ 326 h 350"/>
                      <a:gd name="T12" fmla="*/ 591 w 595"/>
                      <a:gd name="T13" fmla="*/ 317 h 350"/>
                      <a:gd name="T14" fmla="*/ 594 w 595"/>
                      <a:gd name="T15" fmla="*/ 307 h 350"/>
                      <a:gd name="T16" fmla="*/ 595 w 595"/>
                      <a:gd name="T17" fmla="*/ 296 h 350"/>
                      <a:gd name="T18" fmla="*/ 595 w 595"/>
                      <a:gd name="T19" fmla="*/ 296 h 350"/>
                      <a:gd name="T20" fmla="*/ 595 w 595"/>
                      <a:gd name="T21" fmla="*/ 53 h 350"/>
                      <a:gd name="T22" fmla="*/ 594 w 595"/>
                      <a:gd name="T23" fmla="*/ 43 h 350"/>
                      <a:gd name="T24" fmla="*/ 591 w 595"/>
                      <a:gd name="T25" fmla="*/ 32 h 350"/>
                      <a:gd name="T26" fmla="*/ 586 w 595"/>
                      <a:gd name="T27" fmla="*/ 23 h 350"/>
                      <a:gd name="T28" fmla="*/ 579 w 595"/>
                      <a:gd name="T29" fmla="*/ 15 h 350"/>
                      <a:gd name="T30" fmla="*/ 571 w 595"/>
                      <a:gd name="T31" fmla="*/ 9 h 350"/>
                      <a:gd name="T32" fmla="*/ 562 w 595"/>
                      <a:gd name="T33" fmla="*/ 3 h 350"/>
                      <a:gd name="T34" fmla="*/ 552 w 595"/>
                      <a:gd name="T35" fmla="*/ 1 h 350"/>
                      <a:gd name="T36" fmla="*/ 541 w 595"/>
                      <a:gd name="T37" fmla="*/ 0 h 350"/>
                      <a:gd name="T38" fmla="*/ 55 w 595"/>
                      <a:gd name="T39" fmla="*/ 0 h 350"/>
                      <a:gd name="T40" fmla="*/ 44 w 595"/>
                      <a:gd name="T41" fmla="*/ 1 h 350"/>
                      <a:gd name="T42" fmla="*/ 34 w 595"/>
                      <a:gd name="T43" fmla="*/ 3 h 350"/>
                      <a:gd name="T44" fmla="*/ 24 w 595"/>
                      <a:gd name="T45" fmla="*/ 9 h 350"/>
                      <a:gd name="T46" fmla="*/ 16 w 595"/>
                      <a:gd name="T47" fmla="*/ 15 h 350"/>
                      <a:gd name="T48" fmla="*/ 10 w 595"/>
                      <a:gd name="T49" fmla="*/ 23 h 350"/>
                      <a:gd name="T50" fmla="*/ 5 w 595"/>
                      <a:gd name="T51" fmla="*/ 32 h 350"/>
                      <a:gd name="T52" fmla="*/ 2 w 595"/>
                      <a:gd name="T53" fmla="*/ 43 h 350"/>
                      <a:gd name="T54" fmla="*/ 1 w 595"/>
                      <a:gd name="T55" fmla="*/ 48 h 350"/>
                      <a:gd name="T56" fmla="*/ 0 w 595"/>
                      <a:gd name="T57" fmla="*/ 53 h 350"/>
                      <a:gd name="T58" fmla="*/ 0 w 595"/>
                      <a:gd name="T59" fmla="*/ 53 h 350"/>
                      <a:gd name="T60" fmla="*/ 0 w 595"/>
                      <a:gd name="T61" fmla="*/ 296 h 350"/>
                      <a:gd name="T62" fmla="*/ 1 w 595"/>
                      <a:gd name="T63" fmla="*/ 301 h 350"/>
                      <a:gd name="T64" fmla="*/ 2 w 595"/>
                      <a:gd name="T65" fmla="*/ 307 h 350"/>
                      <a:gd name="T66" fmla="*/ 5 w 595"/>
                      <a:gd name="T67" fmla="*/ 317 h 350"/>
                      <a:gd name="T68" fmla="*/ 10 w 595"/>
                      <a:gd name="T69" fmla="*/ 326 h 350"/>
                      <a:gd name="T70" fmla="*/ 16 w 595"/>
                      <a:gd name="T71" fmla="*/ 334 h 350"/>
                      <a:gd name="T72" fmla="*/ 24 w 595"/>
                      <a:gd name="T73" fmla="*/ 341 h 350"/>
                      <a:gd name="T74" fmla="*/ 34 w 595"/>
                      <a:gd name="T75" fmla="*/ 346 h 350"/>
                      <a:gd name="T76" fmla="*/ 44 w 595"/>
                      <a:gd name="T77" fmla="*/ 349 h 350"/>
                      <a:gd name="T78" fmla="*/ 55 w 595"/>
                      <a:gd name="T79" fmla="*/ 350 h 350"/>
                      <a:gd name="T80" fmla="*/ 55 w 595"/>
                      <a:gd name="T81" fmla="*/ 350 h 350"/>
                      <a:gd name="T82" fmla="*/ 541 w 595"/>
                      <a:gd name="T83" fmla="*/ 350 h 350"/>
                      <a:gd name="T84" fmla="*/ 541 w 595"/>
                      <a:gd name="T85" fmla="*/ 350 h 350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95"/>
                      <a:gd name="T130" fmla="*/ 0 h 350"/>
                      <a:gd name="T131" fmla="*/ 595 w 595"/>
                      <a:gd name="T132" fmla="*/ 350 h 350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95" h="350">
                        <a:moveTo>
                          <a:pt x="541" y="350"/>
                        </a:moveTo>
                        <a:lnTo>
                          <a:pt x="552" y="349"/>
                        </a:lnTo>
                        <a:lnTo>
                          <a:pt x="562" y="346"/>
                        </a:lnTo>
                        <a:lnTo>
                          <a:pt x="571" y="341"/>
                        </a:lnTo>
                        <a:lnTo>
                          <a:pt x="579" y="334"/>
                        </a:lnTo>
                        <a:lnTo>
                          <a:pt x="586" y="326"/>
                        </a:lnTo>
                        <a:lnTo>
                          <a:pt x="591" y="317"/>
                        </a:lnTo>
                        <a:lnTo>
                          <a:pt x="594" y="307"/>
                        </a:lnTo>
                        <a:lnTo>
                          <a:pt x="595" y="296"/>
                        </a:lnTo>
                        <a:lnTo>
                          <a:pt x="595" y="53"/>
                        </a:lnTo>
                        <a:lnTo>
                          <a:pt x="594" y="43"/>
                        </a:lnTo>
                        <a:lnTo>
                          <a:pt x="591" y="32"/>
                        </a:lnTo>
                        <a:lnTo>
                          <a:pt x="586" y="23"/>
                        </a:lnTo>
                        <a:lnTo>
                          <a:pt x="579" y="15"/>
                        </a:lnTo>
                        <a:lnTo>
                          <a:pt x="571" y="9"/>
                        </a:lnTo>
                        <a:lnTo>
                          <a:pt x="562" y="3"/>
                        </a:lnTo>
                        <a:lnTo>
                          <a:pt x="552" y="1"/>
                        </a:lnTo>
                        <a:lnTo>
                          <a:pt x="541" y="0"/>
                        </a:lnTo>
                        <a:lnTo>
                          <a:pt x="55" y="0"/>
                        </a:lnTo>
                        <a:lnTo>
                          <a:pt x="44" y="1"/>
                        </a:lnTo>
                        <a:lnTo>
                          <a:pt x="34" y="3"/>
                        </a:lnTo>
                        <a:lnTo>
                          <a:pt x="24" y="9"/>
                        </a:lnTo>
                        <a:lnTo>
                          <a:pt x="16" y="15"/>
                        </a:lnTo>
                        <a:lnTo>
                          <a:pt x="10" y="23"/>
                        </a:lnTo>
                        <a:lnTo>
                          <a:pt x="5" y="32"/>
                        </a:lnTo>
                        <a:lnTo>
                          <a:pt x="2" y="43"/>
                        </a:lnTo>
                        <a:lnTo>
                          <a:pt x="1" y="48"/>
                        </a:lnTo>
                        <a:lnTo>
                          <a:pt x="0" y="53"/>
                        </a:lnTo>
                        <a:lnTo>
                          <a:pt x="0" y="296"/>
                        </a:lnTo>
                        <a:lnTo>
                          <a:pt x="1" y="301"/>
                        </a:lnTo>
                        <a:lnTo>
                          <a:pt x="2" y="307"/>
                        </a:lnTo>
                        <a:lnTo>
                          <a:pt x="5" y="317"/>
                        </a:lnTo>
                        <a:lnTo>
                          <a:pt x="10" y="326"/>
                        </a:lnTo>
                        <a:lnTo>
                          <a:pt x="16" y="334"/>
                        </a:lnTo>
                        <a:lnTo>
                          <a:pt x="24" y="341"/>
                        </a:lnTo>
                        <a:lnTo>
                          <a:pt x="34" y="346"/>
                        </a:lnTo>
                        <a:lnTo>
                          <a:pt x="44" y="349"/>
                        </a:lnTo>
                        <a:lnTo>
                          <a:pt x="55" y="350"/>
                        </a:lnTo>
                        <a:lnTo>
                          <a:pt x="541" y="350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37" name="Rectangle 221"/>
                  <p:cNvSpPr>
                    <a:spLocks noChangeArrowheads="1"/>
                  </p:cNvSpPr>
                  <p:nvPr/>
                </p:nvSpPr>
                <p:spPr bwMode="auto">
                  <a:xfrm>
                    <a:off x="5119" y="2479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38" name="Freeform 226"/>
                  <p:cNvSpPr>
                    <a:spLocks/>
                  </p:cNvSpPr>
                  <p:nvPr/>
                </p:nvSpPr>
                <p:spPr bwMode="auto">
                  <a:xfrm>
                    <a:off x="4582" y="1527"/>
                    <a:ext cx="595" cy="351"/>
                  </a:xfrm>
                  <a:custGeom>
                    <a:avLst/>
                    <a:gdLst>
                      <a:gd name="T0" fmla="*/ 541 w 595"/>
                      <a:gd name="T1" fmla="*/ 351 h 351"/>
                      <a:gd name="T2" fmla="*/ 547 w 595"/>
                      <a:gd name="T3" fmla="*/ 350 h 351"/>
                      <a:gd name="T4" fmla="*/ 552 w 595"/>
                      <a:gd name="T5" fmla="*/ 350 h 351"/>
                      <a:gd name="T6" fmla="*/ 562 w 595"/>
                      <a:gd name="T7" fmla="*/ 346 h 351"/>
                      <a:gd name="T8" fmla="*/ 571 w 595"/>
                      <a:gd name="T9" fmla="*/ 341 h 351"/>
                      <a:gd name="T10" fmla="*/ 579 w 595"/>
                      <a:gd name="T11" fmla="*/ 335 h 351"/>
                      <a:gd name="T12" fmla="*/ 586 w 595"/>
                      <a:gd name="T13" fmla="*/ 327 h 351"/>
                      <a:gd name="T14" fmla="*/ 591 w 595"/>
                      <a:gd name="T15" fmla="*/ 318 h 351"/>
                      <a:gd name="T16" fmla="*/ 594 w 595"/>
                      <a:gd name="T17" fmla="*/ 307 h 351"/>
                      <a:gd name="T18" fmla="*/ 595 w 595"/>
                      <a:gd name="T19" fmla="*/ 297 h 351"/>
                      <a:gd name="T20" fmla="*/ 595 w 595"/>
                      <a:gd name="T21" fmla="*/ 297 h 351"/>
                      <a:gd name="T22" fmla="*/ 595 w 595"/>
                      <a:gd name="T23" fmla="*/ 54 h 351"/>
                      <a:gd name="T24" fmla="*/ 594 w 595"/>
                      <a:gd name="T25" fmla="*/ 43 h 351"/>
                      <a:gd name="T26" fmla="*/ 591 w 595"/>
                      <a:gd name="T27" fmla="*/ 33 h 351"/>
                      <a:gd name="T28" fmla="*/ 586 w 595"/>
                      <a:gd name="T29" fmla="*/ 23 h 351"/>
                      <a:gd name="T30" fmla="*/ 579 w 595"/>
                      <a:gd name="T31" fmla="*/ 16 h 351"/>
                      <a:gd name="T32" fmla="*/ 571 w 595"/>
                      <a:gd name="T33" fmla="*/ 9 h 351"/>
                      <a:gd name="T34" fmla="*/ 562 w 595"/>
                      <a:gd name="T35" fmla="*/ 4 h 351"/>
                      <a:gd name="T36" fmla="*/ 552 w 595"/>
                      <a:gd name="T37" fmla="*/ 1 h 351"/>
                      <a:gd name="T38" fmla="*/ 547 w 595"/>
                      <a:gd name="T39" fmla="*/ 0 h 351"/>
                      <a:gd name="T40" fmla="*/ 541 w 595"/>
                      <a:gd name="T41" fmla="*/ 0 h 351"/>
                      <a:gd name="T42" fmla="*/ 55 w 595"/>
                      <a:gd name="T43" fmla="*/ 0 h 351"/>
                      <a:gd name="T44" fmla="*/ 49 w 595"/>
                      <a:gd name="T45" fmla="*/ 0 h 351"/>
                      <a:gd name="T46" fmla="*/ 44 w 595"/>
                      <a:gd name="T47" fmla="*/ 1 h 351"/>
                      <a:gd name="T48" fmla="*/ 34 w 595"/>
                      <a:gd name="T49" fmla="*/ 4 h 351"/>
                      <a:gd name="T50" fmla="*/ 24 w 595"/>
                      <a:gd name="T51" fmla="*/ 9 h 351"/>
                      <a:gd name="T52" fmla="*/ 16 w 595"/>
                      <a:gd name="T53" fmla="*/ 16 h 351"/>
                      <a:gd name="T54" fmla="*/ 10 w 595"/>
                      <a:gd name="T55" fmla="*/ 23 h 351"/>
                      <a:gd name="T56" fmla="*/ 5 w 595"/>
                      <a:gd name="T57" fmla="*/ 33 h 351"/>
                      <a:gd name="T58" fmla="*/ 2 w 595"/>
                      <a:gd name="T59" fmla="*/ 43 h 351"/>
                      <a:gd name="T60" fmla="*/ 1 w 595"/>
                      <a:gd name="T61" fmla="*/ 48 h 351"/>
                      <a:gd name="T62" fmla="*/ 0 w 595"/>
                      <a:gd name="T63" fmla="*/ 54 h 351"/>
                      <a:gd name="T64" fmla="*/ 0 w 595"/>
                      <a:gd name="T65" fmla="*/ 54 h 351"/>
                      <a:gd name="T66" fmla="*/ 0 w 595"/>
                      <a:gd name="T67" fmla="*/ 297 h 351"/>
                      <a:gd name="T68" fmla="*/ 1 w 595"/>
                      <a:gd name="T69" fmla="*/ 302 h 351"/>
                      <a:gd name="T70" fmla="*/ 2 w 595"/>
                      <a:gd name="T71" fmla="*/ 307 h 351"/>
                      <a:gd name="T72" fmla="*/ 5 w 595"/>
                      <a:gd name="T73" fmla="*/ 318 h 351"/>
                      <a:gd name="T74" fmla="*/ 10 w 595"/>
                      <a:gd name="T75" fmla="*/ 327 h 351"/>
                      <a:gd name="T76" fmla="*/ 16 w 595"/>
                      <a:gd name="T77" fmla="*/ 335 h 351"/>
                      <a:gd name="T78" fmla="*/ 24 w 595"/>
                      <a:gd name="T79" fmla="*/ 341 h 351"/>
                      <a:gd name="T80" fmla="*/ 34 w 595"/>
                      <a:gd name="T81" fmla="*/ 346 h 351"/>
                      <a:gd name="T82" fmla="*/ 44 w 595"/>
                      <a:gd name="T83" fmla="*/ 350 h 351"/>
                      <a:gd name="T84" fmla="*/ 49 w 595"/>
                      <a:gd name="T85" fmla="*/ 350 h 351"/>
                      <a:gd name="T86" fmla="*/ 55 w 595"/>
                      <a:gd name="T87" fmla="*/ 351 h 351"/>
                      <a:gd name="T88" fmla="*/ 55 w 595"/>
                      <a:gd name="T89" fmla="*/ 351 h 351"/>
                      <a:gd name="T90" fmla="*/ 541 w 595"/>
                      <a:gd name="T91" fmla="*/ 351 h 351"/>
                      <a:gd name="T92" fmla="*/ 541 w 595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95"/>
                      <a:gd name="T142" fmla="*/ 0 h 351"/>
                      <a:gd name="T143" fmla="*/ 595 w 595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95" h="351">
                        <a:moveTo>
                          <a:pt x="541" y="351"/>
                        </a:moveTo>
                        <a:lnTo>
                          <a:pt x="547" y="350"/>
                        </a:lnTo>
                        <a:lnTo>
                          <a:pt x="552" y="350"/>
                        </a:lnTo>
                        <a:lnTo>
                          <a:pt x="562" y="346"/>
                        </a:lnTo>
                        <a:lnTo>
                          <a:pt x="571" y="341"/>
                        </a:lnTo>
                        <a:lnTo>
                          <a:pt x="579" y="335"/>
                        </a:lnTo>
                        <a:lnTo>
                          <a:pt x="586" y="327"/>
                        </a:lnTo>
                        <a:lnTo>
                          <a:pt x="591" y="318"/>
                        </a:lnTo>
                        <a:lnTo>
                          <a:pt x="594" y="307"/>
                        </a:lnTo>
                        <a:lnTo>
                          <a:pt x="595" y="297"/>
                        </a:lnTo>
                        <a:lnTo>
                          <a:pt x="595" y="54"/>
                        </a:lnTo>
                        <a:lnTo>
                          <a:pt x="594" y="43"/>
                        </a:lnTo>
                        <a:lnTo>
                          <a:pt x="591" y="33"/>
                        </a:lnTo>
                        <a:lnTo>
                          <a:pt x="586" y="23"/>
                        </a:lnTo>
                        <a:lnTo>
                          <a:pt x="579" y="16"/>
                        </a:lnTo>
                        <a:lnTo>
                          <a:pt x="571" y="9"/>
                        </a:lnTo>
                        <a:lnTo>
                          <a:pt x="562" y="4"/>
                        </a:lnTo>
                        <a:lnTo>
                          <a:pt x="552" y="1"/>
                        </a:lnTo>
                        <a:lnTo>
                          <a:pt x="547" y="0"/>
                        </a:lnTo>
                        <a:lnTo>
                          <a:pt x="541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4" y="1"/>
                        </a:lnTo>
                        <a:lnTo>
                          <a:pt x="34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10" y="23"/>
                        </a:lnTo>
                        <a:lnTo>
                          <a:pt x="5" y="33"/>
                        </a:lnTo>
                        <a:lnTo>
                          <a:pt x="2" y="43"/>
                        </a:lnTo>
                        <a:lnTo>
                          <a:pt x="1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2"/>
                        </a:lnTo>
                        <a:lnTo>
                          <a:pt x="2" y="307"/>
                        </a:lnTo>
                        <a:lnTo>
                          <a:pt x="5" y="318"/>
                        </a:lnTo>
                        <a:lnTo>
                          <a:pt x="10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4" y="346"/>
                        </a:lnTo>
                        <a:lnTo>
                          <a:pt x="44" y="350"/>
                        </a:lnTo>
                        <a:lnTo>
                          <a:pt x="49" y="350"/>
                        </a:lnTo>
                        <a:lnTo>
                          <a:pt x="55" y="351"/>
                        </a:lnTo>
                        <a:lnTo>
                          <a:pt x="541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39" name="Freeform 227"/>
                  <p:cNvSpPr>
                    <a:spLocks/>
                  </p:cNvSpPr>
                  <p:nvPr/>
                </p:nvSpPr>
                <p:spPr bwMode="auto">
                  <a:xfrm>
                    <a:off x="4582" y="1527"/>
                    <a:ext cx="595" cy="351"/>
                  </a:xfrm>
                  <a:custGeom>
                    <a:avLst/>
                    <a:gdLst>
                      <a:gd name="T0" fmla="*/ 541 w 595"/>
                      <a:gd name="T1" fmla="*/ 351 h 351"/>
                      <a:gd name="T2" fmla="*/ 547 w 595"/>
                      <a:gd name="T3" fmla="*/ 350 h 351"/>
                      <a:gd name="T4" fmla="*/ 552 w 595"/>
                      <a:gd name="T5" fmla="*/ 350 h 351"/>
                      <a:gd name="T6" fmla="*/ 562 w 595"/>
                      <a:gd name="T7" fmla="*/ 346 h 351"/>
                      <a:gd name="T8" fmla="*/ 571 w 595"/>
                      <a:gd name="T9" fmla="*/ 341 h 351"/>
                      <a:gd name="T10" fmla="*/ 579 w 595"/>
                      <a:gd name="T11" fmla="*/ 335 h 351"/>
                      <a:gd name="T12" fmla="*/ 586 w 595"/>
                      <a:gd name="T13" fmla="*/ 327 h 351"/>
                      <a:gd name="T14" fmla="*/ 591 w 595"/>
                      <a:gd name="T15" fmla="*/ 318 h 351"/>
                      <a:gd name="T16" fmla="*/ 594 w 595"/>
                      <a:gd name="T17" fmla="*/ 307 h 351"/>
                      <a:gd name="T18" fmla="*/ 595 w 595"/>
                      <a:gd name="T19" fmla="*/ 297 h 351"/>
                      <a:gd name="T20" fmla="*/ 595 w 595"/>
                      <a:gd name="T21" fmla="*/ 297 h 351"/>
                      <a:gd name="T22" fmla="*/ 595 w 595"/>
                      <a:gd name="T23" fmla="*/ 54 h 351"/>
                      <a:gd name="T24" fmla="*/ 594 w 595"/>
                      <a:gd name="T25" fmla="*/ 43 h 351"/>
                      <a:gd name="T26" fmla="*/ 591 w 595"/>
                      <a:gd name="T27" fmla="*/ 33 h 351"/>
                      <a:gd name="T28" fmla="*/ 586 w 595"/>
                      <a:gd name="T29" fmla="*/ 23 h 351"/>
                      <a:gd name="T30" fmla="*/ 579 w 595"/>
                      <a:gd name="T31" fmla="*/ 16 h 351"/>
                      <a:gd name="T32" fmla="*/ 571 w 595"/>
                      <a:gd name="T33" fmla="*/ 9 h 351"/>
                      <a:gd name="T34" fmla="*/ 562 w 595"/>
                      <a:gd name="T35" fmla="*/ 4 h 351"/>
                      <a:gd name="T36" fmla="*/ 552 w 595"/>
                      <a:gd name="T37" fmla="*/ 1 h 351"/>
                      <a:gd name="T38" fmla="*/ 547 w 595"/>
                      <a:gd name="T39" fmla="*/ 0 h 351"/>
                      <a:gd name="T40" fmla="*/ 541 w 595"/>
                      <a:gd name="T41" fmla="*/ 0 h 351"/>
                      <a:gd name="T42" fmla="*/ 55 w 595"/>
                      <a:gd name="T43" fmla="*/ 0 h 351"/>
                      <a:gd name="T44" fmla="*/ 49 w 595"/>
                      <a:gd name="T45" fmla="*/ 0 h 351"/>
                      <a:gd name="T46" fmla="*/ 44 w 595"/>
                      <a:gd name="T47" fmla="*/ 1 h 351"/>
                      <a:gd name="T48" fmla="*/ 34 w 595"/>
                      <a:gd name="T49" fmla="*/ 4 h 351"/>
                      <a:gd name="T50" fmla="*/ 24 w 595"/>
                      <a:gd name="T51" fmla="*/ 9 h 351"/>
                      <a:gd name="T52" fmla="*/ 16 w 595"/>
                      <a:gd name="T53" fmla="*/ 16 h 351"/>
                      <a:gd name="T54" fmla="*/ 10 w 595"/>
                      <a:gd name="T55" fmla="*/ 23 h 351"/>
                      <a:gd name="T56" fmla="*/ 5 w 595"/>
                      <a:gd name="T57" fmla="*/ 33 h 351"/>
                      <a:gd name="T58" fmla="*/ 2 w 595"/>
                      <a:gd name="T59" fmla="*/ 43 h 351"/>
                      <a:gd name="T60" fmla="*/ 1 w 595"/>
                      <a:gd name="T61" fmla="*/ 48 h 351"/>
                      <a:gd name="T62" fmla="*/ 0 w 595"/>
                      <a:gd name="T63" fmla="*/ 54 h 351"/>
                      <a:gd name="T64" fmla="*/ 0 w 595"/>
                      <a:gd name="T65" fmla="*/ 54 h 351"/>
                      <a:gd name="T66" fmla="*/ 0 w 595"/>
                      <a:gd name="T67" fmla="*/ 297 h 351"/>
                      <a:gd name="T68" fmla="*/ 1 w 595"/>
                      <a:gd name="T69" fmla="*/ 302 h 351"/>
                      <a:gd name="T70" fmla="*/ 2 w 595"/>
                      <a:gd name="T71" fmla="*/ 307 h 351"/>
                      <a:gd name="T72" fmla="*/ 5 w 595"/>
                      <a:gd name="T73" fmla="*/ 318 h 351"/>
                      <a:gd name="T74" fmla="*/ 10 w 595"/>
                      <a:gd name="T75" fmla="*/ 327 h 351"/>
                      <a:gd name="T76" fmla="*/ 16 w 595"/>
                      <a:gd name="T77" fmla="*/ 335 h 351"/>
                      <a:gd name="T78" fmla="*/ 24 w 595"/>
                      <a:gd name="T79" fmla="*/ 341 h 351"/>
                      <a:gd name="T80" fmla="*/ 34 w 595"/>
                      <a:gd name="T81" fmla="*/ 346 h 351"/>
                      <a:gd name="T82" fmla="*/ 44 w 595"/>
                      <a:gd name="T83" fmla="*/ 350 h 351"/>
                      <a:gd name="T84" fmla="*/ 49 w 595"/>
                      <a:gd name="T85" fmla="*/ 350 h 351"/>
                      <a:gd name="T86" fmla="*/ 55 w 595"/>
                      <a:gd name="T87" fmla="*/ 351 h 351"/>
                      <a:gd name="T88" fmla="*/ 55 w 595"/>
                      <a:gd name="T89" fmla="*/ 351 h 351"/>
                      <a:gd name="T90" fmla="*/ 541 w 595"/>
                      <a:gd name="T91" fmla="*/ 351 h 351"/>
                      <a:gd name="T92" fmla="*/ 541 w 595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95"/>
                      <a:gd name="T142" fmla="*/ 0 h 351"/>
                      <a:gd name="T143" fmla="*/ 595 w 595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95" h="351">
                        <a:moveTo>
                          <a:pt x="541" y="351"/>
                        </a:moveTo>
                        <a:lnTo>
                          <a:pt x="547" y="350"/>
                        </a:lnTo>
                        <a:lnTo>
                          <a:pt x="552" y="350"/>
                        </a:lnTo>
                        <a:lnTo>
                          <a:pt x="562" y="346"/>
                        </a:lnTo>
                        <a:lnTo>
                          <a:pt x="571" y="341"/>
                        </a:lnTo>
                        <a:lnTo>
                          <a:pt x="579" y="335"/>
                        </a:lnTo>
                        <a:lnTo>
                          <a:pt x="586" y="327"/>
                        </a:lnTo>
                        <a:lnTo>
                          <a:pt x="591" y="318"/>
                        </a:lnTo>
                        <a:lnTo>
                          <a:pt x="594" y="307"/>
                        </a:lnTo>
                        <a:lnTo>
                          <a:pt x="595" y="297"/>
                        </a:lnTo>
                        <a:lnTo>
                          <a:pt x="595" y="54"/>
                        </a:lnTo>
                        <a:lnTo>
                          <a:pt x="594" y="43"/>
                        </a:lnTo>
                        <a:lnTo>
                          <a:pt x="591" y="33"/>
                        </a:lnTo>
                        <a:lnTo>
                          <a:pt x="586" y="23"/>
                        </a:lnTo>
                        <a:lnTo>
                          <a:pt x="579" y="16"/>
                        </a:lnTo>
                        <a:lnTo>
                          <a:pt x="571" y="9"/>
                        </a:lnTo>
                        <a:lnTo>
                          <a:pt x="562" y="4"/>
                        </a:lnTo>
                        <a:lnTo>
                          <a:pt x="552" y="1"/>
                        </a:lnTo>
                        <a:lnTo>
                          <a:pt x="547" y="0"/>
                        </a:lnTo>
                        <a:lnTo>
                          <a:pt x="541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4" y="1"/>
                        </a:lnTo>
                        <a:lnTo>
                          <a:pt x="34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10" y="23"/>
                        </a:lnTo>
                        <a:lnTo>
                          <a:pt x="5" y="33"/>
                        </a:lnTo>
                        <a:lnTo>
                          <a:pt x="2" y="43"/>
                        </a:lnTo>
                        <a:lnTo>
                          <a:pt x="1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2"/>
                        </a:lnTo>
                        <a:lnTo>
                          <a:pt x="2" y="307"/>
                        </a:lnTo>
                        <a:lnTo>
                          <a:pt x="5" y="318"/>
                        </a:lnTo>
                        <a:lnTo>
                          <a:pt x="10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4" y="346"/>
                        </a:lnTo>
                        <a:lnTo>
                          <a:pt x="44" y="350"/>
                        </a:lnTo>
                        <a:lnTo>
                          <a:pt x="49" y="350"/>
                        </a:lnTo>
                        <a:lnTo>
                          <a:pt x="55" y="351"/>
                        </a:lnTo>
                        <a:lnTo>
                          <a:pt x="541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0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5119" y="1643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41" name="Rectangle 236"/>
                  <p:cNvSpPr>
                    <a:spLocks noChangeArrowheads="1"/>
                  </p:cNvSpPr>
                  <p:nvPr/>
                </p:nvSpPr>
                <p:spPr bwMode="auto">
                  <a:xfrm>
                    <a:off x="4977" y="1700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42" name="Freeform 239"/>
                  <p:cNvSpPr>
                    <a:spLocks/>
                  </p:cNvSpPr>
                  <p:nvPr/>
                </p:nvSpPr>
                <p:spPr bwMode="auto">
                  <a:xfrm>
                    <a:off x="4582" y="3200"/>
                    <a:ext cx="595" cy="350"/>
                  </a:xfrm>
                  <a:custGeom>
                    <a:avLst/>
                    <a:gdLst>
                      <a:gd name="T0" fmla="*/ 541 w 595"/>
                      <a:gd name="T1" fmla="*/ 350 h 350"/>
                      <a:gd name="T2" fmla="*/ 552 w 595"/>
                      <a:gd name="T3" fmla="*/ 349 h 350"/>
                      <a:gd name="T4" fmla="*/ 562 w 595"/>
                      <a:gd name="T5" fmla="*/ 346 h 350"/>
                      <a:gd name="T6" fmla="*/ 571 w 595"/>
                      <a:gd name="T7" fmla="*/ 341 h 350"/>
                      <a:gd name="T8" fmla="*/ 579 w 595"/>
                      <a:gd name="T9" fmla="*/ 335 h 350"/>
                      <a:gd name="T10" fmla="*/ 586 w 595"/>
                      <a:gd name="T11" fmla="*/ 327 h 350"/>
                      <a:gd name="T12" fmla="*/ 591 w 595"/>
                      <a:gd name="T13" fmla="*/ 318 h 350"/>
                      <a:gd name="T14" fmla="*/ 594 w 595"/>
                      <a:gd name="T15" fmla="*/ 307 h 350"/>
                      <a:gd name="T16" fmla="*/ 595 w 595"/>
                      <a:gd name="T17" fmla="*/ 297 h 350"/>
                      <a:gd name="T18" fmla="*/ 595 w 595"/>
                      <a:gd name="T19" fmla="*/ 54 h 350"/>
                      <a:gd name="T20" fmla="*/ 594 w 595"/>
                      <a:gd name="T21" fmla="*/ 43 h 350"/>
                      <a:gd name="T22" fmla="*/ 591 w 595"/>
                      <a:gd name="T23" fmla="*/ 33 h 350"/>
                      <a:gd name="T24" fmla="*/ 586 w 595"/>
                      <a:gd name="T25" fmla="*/ 24 h 350"/>
                      <a:gd name="T26" fmla="*/ 579 w 595"/>
                      <a:gd name="T27" fmla="*/ 16 h 350"/>
                      <a:gd name="T28" fmla="*/ 571 w 595"/>
                      <a:gd name="T29" fmla="*/ 9 h 350"/>
                      <a:gd name="T30" fmla="*/ 562 w 595"/>
                      <a:gd name="T31" fmla="*/ 4 h 350"/>
                      <a:gd name="T32" fmla="*/ 552 w 595"/>
                      <a:gd name="T33" fmla="*/ 1 h 350"/>
                      <a:gd name="T34" fmla="*/ 541 w 595"/>
                      <a:gd name="T35" fmla="*/ 0 h 350"/>
                      <a:gd name="T36" fmla="*/ 55 w 595"/>
                      <a:gd name="T37" fmla="*/ 0 h 350"/>
                      <a:gd name="T38" fmla="*/ 44 w 595"/>
                      <a:gd name="T39" fmla="*/ 1 h 350"/>
                      <a:gd name="T40" fmla="*/ 34 w 595"/>
                      <a:gd name="T41" fmla="*/ 4 h 350"/>
                      <a:gd name="T42" fmla="*/ 24 w 595"/>
                      <a:gd name="T43" fmla="*/ 9 h 350"/>
                      <a:gd name="T44" fmla="*/ 16 w 595"/>
                      <a:gd name="T45" fmla="*/ 16 h 350"/>
                      <a:gd name="T46" fmla="*/ 10 w 595"/>
                      <a:gd name="T47" fmla="*/ 24 h 350"/>
                      <a:gd name="T48" fmla="*/ 5 w 595"/>
                      <a:gd name="T49" fmla="*/ 33 h 350"/>
                      <a:gd name="T50" fmla="*/ 2 w 595"/>
                      <a:gd name="T51" fmla="*/ 43 h 350"/>
                      <a:gd name="T52" fmla="*/ 1 w 595"/>
                      <a:gd name="T53" fmla="*/ 48 h 350"/>
                      <a:gd name="T54" fmla="*/ 0 w 595"/>
                      <a:gd name="T55" fmla="*/ 54 h 350"/>
                      <a:gd name="T56" fmla="*/ 0 w 595"/>
                      <a:gd name="T57" fmla="*/ 54 h 350"/>
                      <a:gd name="T58" fmla="*/ 0 w 595"/>
                      <a:gd name="T59" fmla="*/ 297 h 350"/>
                      <a:gd name="T60" fmla="*/ 0 w 595"/>
                      <a:gd name="T61" fmla="*/ 297 h 350"/>
                      <a:gd name="T62" fmla="*/ 1 w 595"/>
                      <a:gd name="T63" fmla="*/ 302 h 350"/>
                      <a:gd name="T64" fmla="*/ 2 w 595"/>
                      <a:gd name="T65" fmla="*/ 307 h 350"/>
                      <a:gd name="T66" fmla="*/ 5 w 595"/>
                      <a:gd name="T67" fmla="*/ 318 h 350"/>
                      <a:gd name="T68" fmla="*/ 10 w 595"/>
                      <a:gd name="T69" fmla="*/ 327 h 350"/>
                      <a:gd name="T70" fmla="*/ 16 w 595"/>
                      <a:gd name="T71" fmla="*/ 335 h 350"/>
                      <a:gd name="T72" fmla="*/ 24 w 595"/>
                      <a:gd name="T73" fmla="*/ 341 h 350"/>
                      <a:gd name="T74" fmla="*/ 34 w 595"/>
                      <a:gd name="T75" fmla="*/ 346 h 350"/>
                      <a:gd name="T76" fmla="*/ 44 w 595"/>
                      <a:gd name="T77" fmla="*/ 349 h 350"/>
                      <a:gd name="T78" fmla="*/ 55 w 595"/>
                      <a:gd name="T79" fmla="*/ 350 h 350"/>
                      <a:gd name="T80" fmla="*/ 55 w 595"/>
                      <a:gd name="T81" fmla="*/ 350 h 350"/>
                      <a:gd name="T82" fmla="*/ 541 w 595"/>
                      <a:gd name="T83" fmla="*/ 350 h 350"/>
                      <a:gd name="T84" fmla="*/ 541 w 595"/>
                      <a:gd name="T85" fmla="*/ 350 h 350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95"/>
                      <a:gd name="T130" fmla="*/ 0 h 350"/>
                      <a:gd name="T131" fmla="*/ 595 w 595"/>
                      <a:gd name="T132" fmla="*/ 350 h 350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95" h="350">
                        <a:moveTo>
                          <a:pt x="541" y="350"/>
                        </a:moveTo>
                        <a:lnTo>
                          <a:pt x="552" y="349"/>
                        </a:lnTo>
                        <a:lnTo>
                          <a:pt x="562" y="346"/>
                        </a:lnTo>
                        <a:lnTo>
                          <a:pt x="571" y="341"/>
                        </a:lnTo>
                        <a:lnTo>
                          <a:pt x="579" y="335"/>
                        </a:lnTo>
                        <a:lnTo>
                          <a:pt x="586" y="327"/>
                        </a:lnTo>
                        <a:lnTo>
                          <a:pt x="591" y="318"/>
                        </a:lnTo>
                        <a:lnTo>
                          <a:pt x="594" y="307"/>
                        </a:lnTo>
                        <a:lnTo>
                          <a:pt x="595" y="297"/>
                        </a:lnTo>
                        <a:lnTo>
                          <a:pt x="595" y="54"/>
                        </a:lnTo>
                        <a:lnTo>
                          <a:pt x="594" y="43"/>
                        </a:lnTo>
                        <a:lnTo>
                          <a:pt x="591" y="33"/>
                        </a:lnTo>
                        <a:lnTo>
                          <a:pt x="586" y="24"/>
                        </a:lnTo>
                        <a:lnTo>
                          <a:pt x="579" y="16"/>
                        </a:lnTo>
                        <a:lnTo>
                          <a:pt x="571" y="9"/>
                        </a:lnTo>
                        <a:lnTo>
                          <a:pt x="562" y="4"/>
                        </a:lnTo>
                        <a:lnTo>
                          <a:pt x="552" y="1"/>
                        </a:lnTo>
                        <a:lnTo>
                          <a:pt x="541" y="0"/>
                        </a:lnTo>
                        <a:lnTo>
                          <a:pt x="55" y="0"/>
                        </a:lnTo>
                        <a:lnTo>
                          <a:pt x="44" y="1"/>
                        </a:lnTo>
                        <a:lnTo>
                          <a:pt x="34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10" y="24"/>
                        </a:lnTo>
                        <a:lnTo>
                          <a:pt x="5" y="33"/>
                        </a:lnTo>
                        <a:lnTo>
                          <a:pt x="2" y="43"/>
                        </a:lnTo>
                        <a:lnTo>
                          <a:pt x="1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2"/>
                        </a:lnTo>
                        <a:lnTo>
                          <a:pt x="2" y="307"/>
                        </a:lnTo>
                        <a:lnTo>
                          <a:pt x="5" y="318"/>
                        </a:lnTo>
                        <a:lnTo>
                          <a:pt x="10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4" y="346"/>
                        </a:lnTo>
                        <a:lnTo>
                          <a:pt x="44" y="349"/>
                        </a:lnTo>
                        <a:lnTo>
                          <a:pt x="55" y="350"/>
                        </a:lnTo>
                        <a:lnTo>
                          <a:pt x="541" y="350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3" name="Freeform 240"/>
                  <p:cNvSpPr>
                    <a:spLocks/>
                  </p:cNvSpPr>
                  <p:nvPr/>
                </p:nvSpPr>
                <p:spPr bwMode="auto">
                  <a:xfrm>
                    <a:off x="4582" y="3200"/>
                    <a:ext cx="595" cy="350"/>
                  </a:xfrm>
                  <a:custGeom>
                    <a:avLst/>
                    <a:gdLst>
                      <a:gd name="T0" fmla="*/ 541 w 595"/>
                      <a:gd name="T1" fmla="*/ 350 h 350"/>
                      <a:gd name="T2" fmla="*/ 552 w 595"/>
                      <a:gd name="T3" fmla="*/ 349 h 350"/>
                      <a:gd name="T4" fmla="*/ 562 w 595"/>
                      <a:gd name="T5" fmla="*/ 346 h 350"/>
                      <a:gd name="T6" fmla="*/ 571 w 595"/>
                      <a:gd name="T7" fmla="*/ 341 h 350"/>
                      <a:gd name="T8" fmla="*/ 579 w 595"/>
                      <a:gd name="T9" fmla="*/ 335 h 350"/>
                      <a:gd name="T10" fmla="*/ 586 w 595"/>
                      <a:gd name="T11" fmla="*/ 327 h 350"/>
                      <a:gd name="T12" fmla="*/ 591 w 595"/>
                      <a:gd name="T13" fmla="*/ 318 h 350"/>
                      <a:gd name="T14" fmla="*/ 594 w 595"/>
                      <a:gd name="T15" fmla="*/ 307 h 350"/>
                      <a:gd name="T16" fmla="*/ 595 w 595"/>
                      <a:gd name="T17" fmla="*/ 297 h 350"/>
                      <a:gd name="T18" fmla="*/ 595 w 595"/>
                      <a:gd name="T19" fmla="*/ 54 h 350"/>
                      <a:gd name="T20" fmla="*/ 594 w 595"/>
                      <a:gd name="T21" fmla="*/ 43 h 350"/>
                      <a:gd name="T22" fmla="*/ 591 w 595"/>
                      <a:gd name="T23" fmla="*/ 33 h 350"/>
                      <a:gd name="T24" fmla="*/ 586 w 595"/>
                      <a:gd name="T25" fmla="*/ 24 h 350"/>
                      <a:gd name="T26" fmla="*/ 579 w 595"/>
                      <a:gd name="T27" fmla="*/ 16 h 350"/>
                      <a:gd name="T28" fmla="*/ 571 w 595"/>
                      <a:gd name="T29" fmla="*/ 9 h 350"/>
                      <a:gd name="T30" fmla="*/ 562 w 595"/>
                      <a:gd name="T31" fmla="*/ 4 h 350"/>
                      <a:gd name="T32" fmla="*/ 552 w 595"/>
                      <a:gd name="T33" fmla="*/ 1 h 350"/>
                      <a:gd name="T34" fmla="*/ 541 w 595"/>
                      <a:gd name="T35" fmla="*/ 0 h 350"/>
                      <a:gd name="T36" fmla="*/ 55 w 595"/>
                      <a:gd name="T37" fmla="*/ 0 h 350"/>
                      <a:gd name="T38" fmla="*/ 44 w 595"/>
                      <a:gd name="T39" fmla="*/ 1 h 350"/>
                      <a:gd name="T40" fmla="*/ 34 w 595"/>
                      <a:gd name="T41" fmla="*/ 4 h 350"/>
                      <a:gd name="T42" fmla="*/ 24 w 595"/>
                      <a:gd name="T43" fmla="*/ 9 h 350"/>
                      <a:gd name="T44" fmla="*/ 16 w 595"/>
                      <a:gd name="T45" fmla="*/ 16 h 350"/>
                      <a:gd name="T46" fmla="*/ 10 w 595"/>
                      <a:gd name="T47" fmla="*/ 24 h 350"/>
                      <a:gd name="T48" fmla="*/ 5 w 595"/>
                      <a:gd name="T49" fmla="*/ 33 h 350"/>
                      <a:gd name="T50" fmla="*/ 2 w 595"/>
                      <a:gd name="T51" fmla="*/ 43 h 350"/>
                      <a:gd name="T52" fmla="*/ 1 w 595"/>
                      <a:gd name="T53" fmla="*/ 48 h 350"/>
                      <a:gd name="T54" fmla="*/ 0 w 595"/>
                      <a:gd name="T55" fmla="*/ 54 h 350"/>
                      <a:gd name="T56" fmla="*/ 0 w 595"/>
                      <a:gd name="T57" fmla="*/ 54 h 350"/>
                      <a:gd name="T58" fmla="*/ 0 w 595"/>
                      <a:gd name="T59" fmla="*/ 297 h 350"/>
                      <a:gd name="T60" fmla="*/ 0 w 595"/>
                      <a:gd name="T61" fmla="*/ 297 h 350"/>
                      <a:gd name="T62" fmla="*/ 1 w 595"/>
                      <a:gd name="T63" fmla="*/ 302 h 350"/>
                      <a:gd name="T64" fmla="*/ 2 w 595"/>
                      <a:gd name="T65" fmla="*/ 307 h 350"/>
                      <a:gd name="T66" fmla="*/ 5 w 595"/>
                      <a:gd name="T67" fmla="*/ 318 h 350"/>
                      <a:gd name="T68" fmla="*/ 10 w 595"/>
                      <a:gd name="T69" fmla="*/ 327 h 350"/>
                      <a:gd name="T70" fmla="*/ 16 w 595"/>
                      <a:gd name="T71" fmla="*/ 335 h 350"/>
                      <a:gd name="T72" fmla="*/ 24 w 595"/>
                      <a:gd name="T73" fmla="*/ 341 h 350"/>
                      <a:gd name="T74" fmla="*/ 34 w 595"/>
                      <a:gd name="T75" fmla="*/ 346 h 350"/>
                      <a:gd name="T76" fmla="*/ 44 w 595"/>
                      <a:gd name="T77" fmla="*/ 349 h 350"/>
                      <a:gd name="T78" fmla="*/ 55 w 595"/>
                      <a:gd name="T79" fmla="*/ 350 h 350"/>
                      <a:gd name="T80" fmla="*/ 55 w 595"/>
                      <a:gd name="T81" fmla="*/ 350 h 350"/>
                      <a:gd name="T82" fmla="*/ 541 w 595"/>
                      <a:gd name="T83" fmla="*/ 350 h 350"/>
                      <a:gd name="T84" fmla="*/ 541 w 595"/>
                      <a:gd name="T85" fmla="*/ 350 h 350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95"/>
                      <a:gd name="T130" fmla="*/ 0 h 350"/>
                      <a:gd name="T131" fmla="*/ 595 w 595"/>
                      <a:gd name="T132" fmla="*/ 350 h 350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95" h="350">
                        <a:moveTo>
                          <a:pt x="541" y="350"/>
                        </a:moveTo>
                        <a:lnTo>
                          <a:pt x="552" y="349"/>
                        </a:lnTo>
                        <a:lnTo>
                          <a:pt x="562" y="346"/>
                        </a:lnTo>
                        <a:lnTo>
                          <a:pt x="571" y="341"/>
                        </a:lnTo>
                        <a:lnTo>
                          <a:pt x="579" y="335"/>
                        </a:lnTo>
                        <a:lnTo>
                          <a:pt x="586" y="327"/>
                        </a:lnTo>
                        <a:lnTo>
                          <a:pt x="591" y="318"/>
                        </a:lnTo>
                        <a:lnTo>
                          <a:pt x="594" y="307"/>
                        </a:lnTo>
                        <a:lnTo>
                          <a:pt x="595" y="297"/>
                        </a:lnTo>
                        <a:lnTo>
                          <a:pt x="595" y="54"/>
                        </a:lnTo>
                        <a:lnTo>
                          <a:pt x="594" y="43"/>
                        </a:lnTo>
                        <a:lnTo>
                          <a:pt x="591" y="33"/>
                        </a:lnTo>
                        <a:lnTo>
                          <a:pt x="586" y="24"/>
                        </a:lnTo>
                        <a:lnTo>
                          <a:pt x="579" y="16"/>
                        </a:lnTo>
                        <a:lnTo>
                          <a:pt x="571" y="9"/>
                        </a:lnTo>
                        <a:lnTo>
                          <a:pt x="562" y="4"/>
                        </a:lnTo>
                        <a:lnTo>
                          <a:pt x="552" y="1"/>
                        </a:lnTo>
                        <a:lnTo>
                          <a:pt x="541" y="0"/>
                        </a:lnTo>
                        <a:lnTo>
                          <a:pt x="55" y="0"/>
                        </a:lnTo>
                        <a:lnTo>
                          <a:pt x="44" y="1"/>
                        </a:lnTo>
                        <a:lnTo>
                          <a:pt x="34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10" y="24"/>
                        </a:lnTo>
                        <a:lnTo>
                          <a:pt x="5" y="33"/>
                        </a:lnTo>
                        <a:lnTo>
                          <a:pt x="2" y="43"/>
                        </a:lnTo>
                        <a:lnTo>
                          <a:pt x="1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2"/>
                        </a:lnTo>
                        <a:lnTo>
                          <a:pt x="2" y="307"/>
                        </a:lnTo>
                        <a:lnTo>
                          <a:pt x="5" y="318"/>
                        </a:lnTo>
                        <a:lnTo>
                          <a:pt x="10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4" y="346"/>
                        </a:lnTo>
                        <a:lnTo>
                          <a:pt x="44" y="349"/>
                        </a:lnTo>
                        <a:lnTo>
                          <a:pt x="55" y="350"/>
                        </a:lnTo>
                        <a:lnTo>
                          <a:pt x="541" y="350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4" name="Rectangle 247"/>
                  <p:cNvSpPr>
                    <a:spLocks noChangeArrowheads="1"/>
                  </p:cNvSpPr>
                  <p:nvPr/>
                </p:nvSpPr>
                <p:spPr bwMode="auto">
                  <a:xfrm>
                    <a:off x="5119" y="3316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45" name="Freeform 253"/>
                  <p:cNvSpPr>
                    <a:spLocks/>
                  </p:cNvSpPr>
                  <p:nvPr/>
                </p:nvSpPr>
                <p:spPr bwMode="auto">
                  <a:xfrm>
                    <a:off x="602" y="2188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4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2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6 h 351"/>
                      <a:gd name="T70" fmla="*/ 44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49"/>
                        </a:lnTo>
                        <a:lnTo>
                          <a:pt x="483" y="346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4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EF2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6" name="Freeform 254"/>
                  <p:cNvSpPr>
                    <a:spLocks/>
                  </p:cNvSpPr>
                  <p:nvPr/>
                </p:nvSpPr>
                <p:spPr bwMode="auto">
                  <a:xfrm>
                    <a:off x="602" y="2188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6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4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4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2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2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6 h 351"/>
                      <a:gd name="T70" fmla="*/ 44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49"/>
                        </a:lnTo>
                        <a:lnTo>
                          <a:pt x="483" y="346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4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7" name="Freeform 264"/>
                  <p:cNvSpPr>
                    <a:spLocks/>
                  </p:cNvSpPr>
                  <p:nvPr/>
                </p:nvSpPr>
                <p:spPr bwMode="auto">
                  <a:xfrm>
                    <a:off x="1156" y="2188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1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6 h 351"/>
                      <a:gd name="T70" fmla="*/ 43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EF2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8" name="Freeform 265"/>
                  <p:cNvSpPr>
                    <a:spLocks/>
                  </p:cNvSpPr>
                  <p:nvPr/>
                </p:nvSpPr>
                <p:spPr bwMode="auto">
                  <a:xfrm>
                    <a:off x="1156" y="2188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49 h 351"/>
                      <a:gd name="T4" fmla="*/ 483 w 517"/>
                      <a:gd name="T5" fmla="*/ 346 h 351"/>
                      <a:gd name="T6" fmla="*/ 493 w 517"/>
                      <a:gd name="T7" fmla="*/ 342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297 h 351"/>
                      <a:gd name="T20" fmla="*/ 517 w 517"/>
                      <a:gd name="T21" fmla="*/ 54 h 351"/>
                      <a:gd name="T22" fmla="*/ 515 w 517"/>
                      <a:gd name="T23" fmla="*/ 43 h 351"/>
                      <a:gd name="T24" fmla="*/ 512 w 517"/>
                      <a:gd name="T25" fmla="*/ 33 h 351"/>
                      <a:gd name="T26" fmla="*/ 507 w 517"/>
                      <a:gd name="T27" fmla="*/ 24 h 351"/>
                      <a:gd name="T28" fmla="*/ 501 w 517"/>
                      <a:gd name="T29" fmla="*/ 16 h 351"/>
                      <a:gd name="T30" fmla="*/ 493 w 517"/>
                      <a:gd name="T31" fmla="*/ 9 h 351"/>
                      <a:gd name="T32" fmla="*/ 483 w 517"/>
                      <a:gd name="T33" fmla="*/ 4 h 351"/>
                      <a:gd name="T34" fmla="*/ 473 w 517"/>
                      <a:gd name="T35" fmla="*/ 1 h 351"/>
                      <a:gd name="T36" fmla="*/ 462 w 517"/>
                      <a:gd name="T37" fmla="*/ 0 h 351"/>
                      <a:gd name="T38" fmla="*/ 54 w 517"/>
                      <a:gd name="T39" fmla="*/ 0 h 351"/>
                      <a:gd name="T40" fmla="*/ 43 w 517"/>
                      <a:gd name="T41" fmla="*/ 1 h 351"/>
                      <a:gd name="T42" fmla="*/ 33 w 517"/>
                      <a:gd name="T43" fmla="*/ 4 h 351"/>
                      <a:gd name="T44" fmla="*/ 24 w 517"/>
                      <a:gd name="T45" fmla="*/ 9 h 351"/>
                      <a:gd name="T46" fmla="*/ 16 w 517"/>
                      <a:gd name="T47" fmla="*/ 16 h 351"/>
                      <a:gd name="T48" fmla="*/ 9 w 517"/>
                      <a:gd name="T49" fmla="*/ 24 h 351"/>
                      <a:gd name="T50" fmla="*/ 4 w 517"/>
                      <a:gd name="T51" fmla="*/ 33 h 351"/>
                      <a:gd name="T52" fmla="*/ 1 w 517"/>
                      <a:gd name="T53" fmla="*/ 43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1 w 517"/>
                      <a:gd name="T59" fmla="*/ 308 h 351"/>
                      <a:gd name="T60" fmla="*/ 4 w 517"/>
                      <a:gd name="T61" fmla="*/ 318 h 351"/>
                      <a:gd name="T62" fmla="*/ 9 w 517"/>
                      <a:gd name="T63" fmla="*/ 327 h 351"/>
                      <a:gd name="T64" fmla="*/ 16 w 517"/>
                      <a:gd name="T65" fmla="*/ 335 h 351"/>
                      <a:gd name="T66" fmla="*/ 24 w 517"/>
                      <a:gd name="T67" fmla="*/ 342 h 351"/>
                      <a:gd name="T68" fmla="*/ 33 w 517"/>
                      <a:gd name="T69" fmla="*/ 346 h 351"/>
                      <a:gd name="T70" fmla="*/ 43 w 517"/>
                      <a:gd name="T71" fmla="*/ 349 h 351"/>
                      <a:gd name="T72" fmla="*/ 54 w 517"/>
                      <a:gd name="T73" fmla="*/ 351 h 351"/>
                      <a:gd name="T74" fmla="*/ 54 w 517"/>
                      <a:gd name="T75" fmla="*/ 351 h 351"/>
                      <a:gd name="T76" fmla="*/ 462 w 517"/>
                      <a:gd name="T77" fmla="*/ 351 h 351"/>
                      <a:gd name="T78" fmla="*/ 462 w 517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7"/>
                      <a:gd name="T121" fmla="*/ 0 h 351"/>
                      <a:gd name="T122" fmla="*/ 517 w 517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49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1574" y="2333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50" name="Freeform 274"/>
                  <p:cNvSpPr>
                    <a:spLocks/>
                  </p:cNvSpPr>
                  <p:nvPr/>
                </p:nvSpPr>
                <p:spPr bwMode="auto">
                  <a:xfrm>
                    <a:off x="1710" y="2188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49 h 351"/>
                      <a:gd name="T4" fmla="*/ 483 w 516"/>
                      <a:gd name="T5" fmla="*/ 346 h 351"/>
                      <a:gd name="T6" fmla="*/ 493 w 516"/>
                      <a:gd name="T7" fmla="*/ 342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1 w 516"/>
                      <a:gd name="T29" fmla="*/ 16 h 351"/>
                      <a:gd name="T30" fmla="*/ 493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1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1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5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54 h 351"/>
                      <a:gd name="T56" fmla="*/ 0 w 516"/>
                      <a:gd name="T57" fmla="*/ 297 h 351"/>
                      <a:gd name="T58" fmla="*/ 1 w 516"/>
                      <a:gd name="T59" fmla="*/ 308 h 351"/>
                      <a:gd name="T60" fmla="*/ 4 w 516"/>
                      <a:gd name="T61" fmla="*/ 318 h 351"/>
                      <a:gd name="T62" fmla="*/ 9 w 516"/>
                      <a:gd name="T63" fmla="*/ 327 h 351"/>
                      <a:gd name="T64" fmla="*/ 15 w 516"/>
                      <a:gd name="T65" fmla="*/ 335 h 351"/>
                      <a:gd name="T66" fmla="*/ 24 w 516"/>
                      <a:gd name="T67" fmla="*/ 342 h 351"/>
                      <a:gd name="T68" fmla="*/ 33 w 516"/>
                      <a:gd name="T69" fmla="*/ 346 h 351"/>
                      <a:gd name="T70" fmla="*/ 43 w 516"/>
                      <a:gd name="T71" fmla="*/ 349 h 351"/>
                      <a:gd name="T72" fmla="*/ 54 w 516"/>
                      <a:gd name="T73" fmla="*/ 351 h 351"/>
                      <a:gd name="T74" fmla="*/ 462 w 516"/>
                      <a:gd name="T75" fmla="*/ 351 h 351"/>
                      <a:gd name="T76" fmla="*/ 462 w 516"/>
                      <a:gd name="T77" fmla="*/ 351 h 351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516"/>
                      <a:gd name="T118" fmla="*/ 0 h 351"/>
                      <a:gd name="T119" fmla="*/ 516 w 516"/>
                      <a:gd name="T120" fmla="*/ 351 h 351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51" name="Freeform 275"/>
                  <p:cNvSpPr>
                    <a:spLocks/>
                  </p:cNvSpPr>
                  <p:nvPr/>
                </p:nvSpPr>
                <p:spPr bwMode="auto">
                  <a:xfrm>
                    <a:off x="1710" y="2188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49 h 351"/>
                      <a:gd name="T4" fmla="*/ 483 w 516"/>
                      <a:gd name="T5" fmla="*/ 346 h 351"/>
                      <a:gd name="T6" fmla="*/ 493 w 516"/>
                      <a:gd name="T7" fmla="*/ 342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297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7 w 516"/>
                      <a:gd name="T27" fmla="*/ 24 h 351"/>
                      <a:gd name="T28" fmla="*/ 501 w 516"/>
                      <a:gd name="T29" fmla="*/ 16 h 351"/>
                      <a:gd name="T30" fmla="*/ 493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1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1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5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54 h 351"/>
                      <a:gd name="T56" fmla="*/ 0 w 516"/>
                      <a:gd name="T57" fmla="*/ 297 h 351"/>
                      <a:gd name="T58" fmla="*/ 1 w 516"/>
                      <a:gd name="T59" fmla="*/ 308 h 351"/>
                      <a:gd name="T60" fmla="*/ 4 w 516"/>
                      <a:gd name="T61" fmla="*/ 318 h 351"/>
                      <a:gd name="T62" fmla="*/ 9 w 516"/>
                      <a:gd name="T63" fmla="*/ 327 h 351"/>
                      <a:gd name="T64" fmla="*/ 15 w 516"/>
                      <a:gd name="T65" fmla="*/ 335 h 351"/>
                      <a:gd name="T66" fmla="*/ 24 w 516"/>
                      <a:gd name="T67" fmla="*/ 342 h 351"/>
                      <a:gd name="T68" fmla="*/ 33 w 516"/>
                      <a:gd name="T69" fmla="*/ 346 h 351"/>
                      <a:gd name="T70" fmla="*/ 43 w 516"/>
                      <a:gd name="T71" fmla="*/ 349 h 351"/>
                      <a:gd name="T72" fmla="*/ 54 w 516"/>
                      <a:gd name="T73" fmla="*/ 351 h 351"/>
                      <a:gd name="T74" fmla="*/ 462 w 516"/>
                      <a:gd name="T75" fmla="*/ 351 h 351"/>
                      <a:gd name="T76" fmla="*/ 462 w 516"/>
                      <a:gd name="T77" fmla="*/ 351 h 351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w 516"/>
                      <a:gd name="T118" fmla="*/ 0 h 351"/>
                      <a:gd name="T119" fmla="*/ 516 w 516"/>
                      <a:gd name="T120" fmla="*/ 351 h 351"/>
                    </a:gdLst>
                    <a:ahLst/>
                    <a:cxnLst>
                      <a:cxn ang="T78">
                        <a:pos x="T0" y="T1"/>
                      </a:cxn>
                      <a:cxn ang="T79">
                        <a:pos x="T2" y="T3"/>
                      </a:cxn>
                      <a:cxn ang="T80">
                        <a:pos x="T4" y="T5"/>
                      </a:cxn>
                      <a:cxn ang="T81">
                        <a:pos x="T6" y="T7"/>
                      </a:cxn>
                      <a:cxn ang="T82">
                        <a:pos x="T8" y="T9"/>
                      </a:cxn>
                      <a:cxn ang="T83">
                        <a:pos x="T10" y="T11"/>
                      </a:cxn>
                      <a:cxn ang="T84">
                        <a:pos x="T12" y="T13"/>
                      </a:cxn>
                      <a:cxn ang="T85">
                        <a:pos x="T14" y="T15"/>
                      </a:cxn>
                      <a:cxn ang="T86">
                        <a:pos x="T16" y="T17"/>
                      </a:cxn>
                      <a:cxn ang="T87">
                        <a:pos x="T18" y="T19"/>
                      </a:cxn>
                      <a:cxn ang="T88">
                        <a:pos x="T20" y="T21"/>
                      </a:cxn>
                      <a:cxn ang="T89">
                        <a:pos x="T22" y="T23"/>
                      </a:cxn>
                      <a:cxn ang="T90">
                        <a:pos x="T24" y="T25"/>
                      </a:cxn>
                      <a:cxn ang="T91">
                        <a:pos x="T26" y="T27"/>
                      </a:cxn>
                      <a:cxn ang="T92">
                        <a:pos x="T28" y="T29"/>
                      </a:cxn>
                      <a:cxn ang="T93">
                        <a:pos x="T30" y="T31"/>
                      </a:cxn>
                      <a:cxn ang="T94">
                        <a:pos x="T32" y="T33"/>
                      </a:cxn>
                      <a:cxn ang="T95">
                        <a:pos x="T34" y="T35"/>
                      </a:cxn>
                      <a:cxn ang="T96">
                        <a:pos x="T36" y="T37"/>
                      </a:cxn>
                      <a:cxn ang="T97">
                        <a:pos x="T38" y="T39"/>
                      </a:cxn>
                      <a:cxn ang="T98">
                        <a:pos x="T40" y="T41"/>
                      </a:cxn>
                      <a:cxn ang="T99">
                        <a:pos x="T42" y="T43"/>
                      </a:cxn>
                      <a:cxn ang="T100">
                        <a:pos x="T44" y="T45"/>
                      </a:cxn>
                      <a:cxn ang="T101">
                        <a:pos x="T46" y="T47"/>
                      </a:cxn>
                      <a:cxn ang="T102">
                        <a:pos x="T48" y="T49"/>
                      </a:cxn>
                      <a:cxn ang="T103">
                        <a:pos x="T50" y="T51"/>
                      </a:cxn>
                      <a:cxn ang="T104">
                        <a:pos x="T52" y="T53"/>
                      </a:cxn>
                      <a:cxn ang="T105">
                        <a:pos x="T54" y="T55"/>
                      </a:cxn>
                      <a:cxn ang="T106">
                        <a:pos x="T56" y="T57"/>
                      </a:cxn>
                      <a:cxn ang="T107">
                        <a:pos x="T58" y="T59"/>
                      </a:cxn>
                      <a:cxn ang="T108">
                        <a:pos x="T60" y="T61"/>
                      </a:cxn>
                      <a:cxn ang="T109">
                        <a:pos x="T62" y="T63"/>
                      </a:cxn>
                      <a:cxn ang="T110">
                        <a:pos x="T64" y="T65"/>
                      </a:cxn>
                      <a:cxn ang="T111">
                        <a:pos x="T66" y="T67"/>
                      </a:cxn>
                      <a:cxn ang="T112">
                        <a:pos x="T68" y="T69"/>
                      </a:cxn>
                      <a:cxn ang="T113">
                        <a:pos x="T70" y="T71"/>
                      </a:cxn>
                      <a:cxn ang="T114">
                        <a:pos x="T72" y="T73"/>
                      </a:cxn>
                      <a:cxn ang="T115">
                        <a:pos x="T74" y="T75"/>
                      </a:cxn>
                      <a:cxn ang="T116">
                        <a:pos x="T76" y="T77"/>
                      </a:cxn>
                    </a:cxnLst>
                    <a:rect l="T117" t="T118" r="T119" b="T120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49"/>
                        </a:lnTo>
                        <a:lnTo>
                          <a:pt x="483" y="346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4" y="342"/>
                        </a:lnTo>
                        <a:lnTo>
                          <a:pt x="33" y="346"/>
                        </a:lnTo>
                        <a:lnTo>
                          <a:pt x="43" y="349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52" name="Rectangle 284"/>
                  <p:cNvSpPr>
                    <a:spLocks noChangeArrowheads="1"/>
                  </p:cNvSpPr>
                  <p:nvPr/>
                </p:nvSpPr>
                <p:spPr bwMode="auto">
                  <a:xfrm>
                    <a:off x="2068" y="2361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53" name="Freeform 288"/>
                  <p:cNvSpPr>
                    <a:spLocks/>
                  </p:cNvSpPr>
                  <p:nvPr/>
                </p:nvSpPr>
                <p:spPr bwMode="auto">
                  <a:xfrm>
                    <a:off x="2264" y="2188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49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7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7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462 w 516"/>
                      <a:gd name="T43" fmla="*/ 0 h 351"/>
                      <a:gd name="T44" fmla="*/ 54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3 w 516"/>
                      <a:gd name="T51" fmla="*/ 4 h 351"/>
                      <a:gd name="T52" fmla="*/ 24 w 516"/>
                      <a:gd name="T53" fmla="*/ 9 h 351"/>
                      <a:gd name="T54" fmla="*/ 16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297 h 351"/>
                      <a:gd name="T68" fmla="*/ 0 w 516"/>
                      <a:gd name="T69" fmla="*/ 302 h 351"/>
                      <a:gd name="T70" fmla="*/ 1 w 516"/>
                      <a:gd name="T71" fmla="*/ 308 h 351"/>
                      <a:gd name="T72" fmla="*/ 4 w 516"/>
                      <a:gd name="T73" fmla="*/ 318 h 351"/>
                      <a:gd name="T74" fmla="*/ 9 w 516"/>
                      <a:gd name="T75" fmla="*/ 327 h 351"/>
                      <a:gd name="T76" fmla="*/ 16 w 516"/>
                      <a:gd name="T77" fmla="*/ 335 h 351"/>
                      <a:gd name="T78" fmla="*/ 24 w 516"/>
                      <a:gd name="T79" fmla="*/ 342 h 351"/>
                      <a:gd name="T80" fmla="*/ 33 w 516"/>
                      <a:gd name="T81" fmla="*/ 347 h 351"/>
                      <a:gd name="T82" fmla="*/ 43 w 516"/>
                      <a:gd name="T83" fmla="*/ 349 h 351"/>
                      <a:gd name="T84" fmla="*/ 48 w 516"/>
                      <a:gd name="T85" fmla="*/ 351 h 351"/>
                      <a:gd name="T86" fmla="*/ 54 w 516"/>
                      <a:gd name="T87" fmla="*/ 351 h 351"/>
                      <a:gd name="T88" fmla="*/ 462 w 516"/>
                      <a:gd name="T89" fmla="*/ 351 h 351"/>
                      <a:gd name="T90" fmla="*/ 462 w 516"/>
                      <a:gd name="T91" fmla="*/ 351 h 351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516"/>
                      <a:gd name="T139" fmla="*/ 0 h 351"/>
                      <a:gd name="T140" fmla="*/ 516 w 516"/>
                      <a:gd name="T141" fmla="*/ 351 h 351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49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49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54" name="Freeform 289"/>
                  <p:cNvSpPr>
                    <a:spLocks/>
                  </p:cNvSpPr>
                  <p:nvPr/>
                </p:nvSpPr>
                <p:spPr bwMode="auto">
                  <a:xfrm>
                    <a:off x="2264" y="2188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49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7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7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462 w 516"/>
                      <a:gd name="T43" fmla="*/ 0 h 351"/>
                      <a:gd name="T44" fmla="*/ 54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3 w 516"/>
                      <a:gd name="T51" fmla="*/ 4 h 351"/>
                      <a:gd name="T52" fmla="*/ 24 w 516"/>
                      <a:gd name="T53" fmla="*/ 9 h 351"/>
                      <a:gd name="T54" fmla="*/ 16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297 h 351"/>
                      <a:gd name="T68" fmla="*/ 0 w 516"/>
                      <a:gd name="T69" fmla="*/ 302 h 351"/>
                      <a:gd name="T70" fmla="*/ 1 w 516"/>
                      <a:gd name="T71" fmla="*/ 308 h 351"/>
                      <a:gd name="T72" fmla="*/ 4 w 516"/>
                      <a:gd name="T73" fmla="*/ 318 h 351"/>
                      <a:gd name="T74" fmla="*/ 9 w 516"/>
                      <a:gd name="T75" fmla="*/ 327 h 351"/>
                      <a:gd name="T76" fmla="*/ 16 w 516"/>
                      <a:gd name="T77" fmla="*/ 335 h 351"/>
                      <a:gd name="T78" fmla="*/ 24 w 516"/>
                      <a:gd name="T79" fmla="*/ 342 h 351"/>
                      <a:gd name="T80" fmla="*/ 33 w 516"/>
                      <a:gd name="T81" fmla="*/ 347 h 351"/>
                      <a:gd name="T82" fmla="*/ 43 w 516"/>
                      <a:gd name="T83" fmla="*/ 349 h 351"/>
                      <a:gd name="T84" fmla="*/ 48 w 516"/>
                      <a:gd name="T85" fmla="*/ 351 h 351"/>
                      <a:gd name="T86" fmla="*/ 54 w 516"/>
                      <a:gd name="T87" fmla="*/ 351 h 351"/>
                      <a:gd name="T88" fmla="*/ 462 w 516"/>
                      <a:gd name="T89" fmla="*/ 351 h 351"/>
                      <a:gd name="T90" fmla="*/ 462 w 516"/>
                      <a:gd name="T91" fmla="*/ 351 h 351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516"/>
                      <a:gd name="T139" fmla="*/ 0 h 351"/>
                      <a:gd name="T140" fmla="*/ 516 w 516"/>
                      <a:gd name="T141" fmla="*/ 351 h 351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49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49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55" name="Rectangle 297"/>
                  <p:cNvSpPr>
                    <a:spLocks noChangeArrowheads="1"/>
                  </p:cNvSpPr>
                  <p:nvPr/>
                </p:nvSpPr>
                <p:spPr bwMode="auto">
                  <a:xfrm>
                    <a:off x="2698" y="2333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56" name="Freeform 299"/>
                  <p:cNvSpPr>
                    <a:spLocks/>
                  </p:cNvSpPr>
                  <p:nvPr/>
                </p:nvSpPr>
                <p:spPr bwMode="auto">
                  <a:xfrm>
                    <a:off x="2818" y="2188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49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54 w 516"/>
                      <a:gd name="T43" fmla="*/ 0 h 351"/>
                      <a:gd name="T44" fmla="*/ 48 w 516"/>
                      <a:gd name="T45" fmla="*/ 0 h 351"/>
                      <a:gd name="T46" fmla="*/ 43 w 516"/>
                      <a:gd name="T47" fmla="*/ 1 h 351"/>
                      <a:gd name="T48" fmla="*/ 33 w 516"/>
                      <a:gd name="T49" fmla="*/ 4 h 351"/>
                      <a:gd name="T50" fmla="*/ 24 w 516"/>
                      <a:gd name="T51" fmla="*/ 9 h 351"/>
                      <a:gd name="T52" fmla="*/ 16 w 516"/>
                      <a:gd name="T53" fmla="*/ 16 h 351"/>
                      <a:gd name="T54" fmla="*/ 9 w 516"/>
                      <a:gd name="T55" fmla="*/ 24 h 351"/>
                      <a:gd name="T56" fmla="*/ 4 w 516"/>
                      <a:gd name="T57" fmla="*/ 33 h 351"/>
                      <a:gd name="T58" fmla="*/ 1 w 516"/>
                      <a:gd name="T59" fmla="*/ 43 h 351"/>
                      <a:gd name="T60" fmla="*/ 0 w 516"/>
                      <a:gd name="T61" fmla="*/ 48 h 351"/>
                      <a:gd name="T62" fmla="*/ 0 w 516"/>
                      <a:gd name="T63" fmla="*/ 54 h 351"/>
                      <a:gd name="T64" fmla="*/ 0 w 516"/>
                      <a:gd name="T65" fmla="*/ 297 h 351"/>
                      <a:gd name="T66" fmla="*/ 0 w 516"/>
                      <a:gd name="T67" fmla="*/ 302 h 351"/>
                      <a:gd name="T68" fmla="*/ 1 w 516"/>
                      <a:gd name="T69" fmla="*/ 308 h 351"/>
                      <a:gd name="T70" fmla="*/ 4 w 516"/>
                      <a:gd name="T71" fmla="*/ 318 h 351"/>
                      <a:gd name="T72" fmla="*/ 9 w 516"/>
                      <a:gd name="T73" fmla="*/ 327 h 351"/>
                      <a:gd name="T74" fmla="*/ 16 w 516"/>
                      <a:gd name="T75" fmla="*/ 335 h 351"/>
                      <a:gd name="T76" fmla="*/ 24 w 516"/>
                      <a:gd name="T77" fmla="*/ 342 h 351"/>
                      <a:gd name="T78" fmla="*/ 33 w 516"/>
                      <a:gd name="T79" fmla="*/ 347 h 351"/>
                      <a:gd name="T80" fmla="*/ 43 w 516"/>
                      <a:gd name="T81" fmla="*/ 349 h 351"/>
                      <a:gd name="T82" fmla="*/ 48 w 516"/>
                      <a:gd name="T83" fmla="*/ 351 h 351"/>
                      <a:gd name="T84" fmla="*/ 54 w 516"/>
                      <a:gd name="T85" fmla="*/ 351 h 351"/>
                      <a:gd name="T86" fmla="*/ 462 w 516"/>
                      <a:gd name="T87" fmla="*/ 351 h 351"/>
                      <a:gd name="T88" fmla="*/ 462 w 516"/>
                      <a:gd name="T89" fmla="*/ 351 h 351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w 516"/>
                      <a:gd name="T136" fmla="*/ 0 h 351"/>
                      <a:gd name="T137" fmla="*/ 516 w 516"/>
                      <a:gd name="T138" fmla="*/ 351 h 351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T135" t="T136" r="T137" b="T138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49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49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57" name="Freeform 300"/>
                  <p:cNvSpPr>
                    <a:spLocks/>
                  </p:cNvSpPr>
                  <p:nvPr/>
                </p:nvSpPr>
                <p:spPr bwMode="auto">
                  <a:xfrm>
                    <a:off x="2818" y="2188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49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2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2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2 w 516"/>
                      <a:gd name="T41" fmla="*/ 0 h 351"/>
                      <a:gd name="T42" fmla="*/ 54 w 516"/>
                      <a:gd name="T43" fmla="*/ 0 h 351"/>
                      <a:gd name="T44" fmla="*/ 48 w 516"/>
                      <a:gd name="T45" fmla="*/ 0 h 351"/>
                      <a:gd name="T46" fmla="*/ 43 w 516"/>
                      <a:gd name="T47" fmla="*/ 1 h 351"/>
                      <a:gd name="T48" fmla="*/ 33 w 516"/>
                      <a:gd name="T49" fmla="*/ 4 h 351"/>
                      <a:gd name="T50" fmla="*/ 24 w 516"/>
                      <a:gd name="T51" fmla="*/ 9 h 351"/>
                      <a:gd name="T52" fmla="*/ 16 w 516"/>
                      <a:gd name="T53" fmla="*/ 16 h 351"/>
                      <a:gd name="T54" fmla="*/ 9 w 516"/>
                      <a:gd name="T55" fmla="*/ 24 h 351"/>
                      <a:gd name="T56" fmla="*/ 4 w 516"/>
                      <a:gd name="T57" fmla="*/ 33 h 351"/>
                      <a:gd name="T58" fmla="*/ 1 w 516"/>
                      <a:gd name="T59" fmla="*/ 43 h 351"/>
                      <a:gd name="T60" fmla="*/ 0 w 516"/>
                      <a:gd name="T61" fmla="*/ 48 h 351"/>
                      <a:gd name="T62" fmla="*/ 0 w 516"/>
                      <a:gd name="T63" fmla="*/ 54 h 351"/>
                      <a:gd name="T64" fmla="*/ 0 w 516"/>
                      <a:gd name="T65" fmla="*/ 297 h 351"/>
                      <a:gd name="T66" fmla="*/ 0 w 516"/>
                      <a:gd name="T67" fmla="*/ 302 h 351"/>
                      <a:gd name="T68" fmla="*/ 1 w 516"/>
                      <a:gd name="T69" fmla="*/ 308 h 351"/>
                      <a:gd name="T70" fmla="*/ 4 w 516"/>
                      <a:gd name="T71" fmla="*/ 318 h 351"/>
                      <a:gd name="T72" fmla="*/ 9 w 516"/>
                      <a:gd name="T73" fmla="*/ 327 h 351"/>
                      <a:gd name="T74" fmla="*/ 16 w 516"/>
                      <a:gd name="T75" fmla="*/ 335 h 351"/>
                      <a:gd name="T76" fmla="*/ 24 w 516"/>
                      <a:gd name="T77" fmla="*/ 342 h 351"/>
                      <a:gd name="T78" fmla="*/ 33 w 516"/>
                      <a:gd name="T79" fmla="*/ 347 h 351"/>
                      <a:gd name="T80" fmla="*/ 43 w 516"/>
                      <a:gd name="T81" fmla="*/ 349 h 351"/>
                      <a:gd name="T82" fmla="*/ 48 w 516"/>
                      <a:gd name="T83" fmla="*/ 351 h 351"/>
                      <a:gd name="T84" fmla="*/ 54 w 516"/>
                      <a:gd name="T85" fmla="*/ 351 h 351"/>
                      <a:gd name="T86" fmla="*/ 462 w 516"/>
                      <a:gd name="T87" fmla="*/ 351 h 351"/>
                      <a:gd name="T88" fmla="*/ 462 w 516"/>
                      <a:gd name="T89" fmla="*/ 351 h 351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w 516"/>
                      <a:gd name="T136" fmla="*/ 0 h 351"/>
                      <a:gd name="T137" fmla="*/ 516 w 516"/>
                      <a:gd name="T138" fmla="*/ 351 h 351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T135" t="T136" r="T137" b="T138"/>
                    <a:pathLst>
                      <a:path w="516" h="351">
                        <a:moveTo>
                          <a:pt x="462" y="351"/>
                        </a:moveTo>
                        <a:lnTo>
                          <a:pt x="467" y="351"/>
                        </a:lnTo>
                        <a:lnTo>
                          <a:pt x="473" y="349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49"/>
                        </a:lnTo>
                        <a:lnTo>
                          <a:pt x="48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58" name="Rectangle 309"/>
                  <p:cNvSpPr>
                    <a:spLocks noChangeArrowheads="1"/>
                  </p:cNvSpPr>
                  <p:nvPr/>
                </p:nvSpPr>
                <p:spPr bwMode="auto">
                  <a:xfrm>
                    <a:off x="3021" y="2390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59" name="Freeform 311"/>
                  <p:cNvSpPr>
                    <a:spLocks/>
                  </p:cNvSpPr>
                  <p:nvPr/>
                </p:nvSpPr>
                <p:spPr bwMode="auto">
                  <a:xfrm>
                    <a:off x="3372" y="2188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49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1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1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1 w 516"/>
                      <a:gd name="T41" fmla="*/ 0 h 351"/>
                      <a:gd name="T42" fmla="*/ 461 w 516"/>
                      <a:gd name="T43" fmla="*/ 0 h 351"/>
                      <a:gd name="T44" fmla="*/ 53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2 w 516"/>
                      <a:gd name="T51" fmla="*/ 4 h 351"/>
                      <a:gd name="T52" fmla="*/ 23 w 516"/>
                      <a:gd name="T53" fmla="*/ 9 h 351"/>
                      <a:gd name="T54" fmla="*/ 15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54 h 351"/>
                      <a:gd name="T68" fmla="*/ 0 w 516"/>
                      <a:gd name="T69" fmla="*/ 297 h 351"/>
                      <a:gd name="T70" fmla="*/ 0 w 516"/>
                      <a:gd name="T71" fmla="*/ 302 h 351"/>
                      <a:gd name="T72" fmla="*/ 1 w 516"/>
                      <a:gd name="T73" fmla="*/ 308 h 351"/>
                      <a:gd name="T74" fmla="*/ 4 w 516"/>
                      <a:gd name="T75" fmla="*/ 318 h 351"/>
                      <a:gd name="T76" fmla="*/ 9 w 516"/>
                      <a:gd name="T77" fmla="*/ 327 h 351"/>
                      <a:gd name="T78" fmla="*/ 15 w 516"/>
                      <a:gd name="T79" fmla="*/ 335 h 351"/>
                      <a:gd name="T80" fmla="*/ 23 w 516"/>
                      <a:gd name="T81" fmla="*/ 342 h 351"/>
                      <a:gd name="T82" fmla="*/ 32 w 516"/>
                      <a:gd name="T83" fmla="*/ 347 h 351"/>
                      <a:gd name="T84" fmla="*/ 43 w 516"/>
                      <a:gd name="T85" fmla="*/ 349 h 351"/>
                      <a:gd name="T86" fmla="*/ 48 w 516"/>
                      <a:gd name="T87" fmla="*/ 351 h 351"/>
                      <a:gd name="T88" fmla="*/ 53 w 516"/>
                      <a:gd name="T89" fmla="*/ 351 h 351"/>
                      <a:gd name="T90" fmla="*/ 53 w 516"/>
                      <a:gd name="T91" fmla="*/ 351 h 351"/>
                      <a:gd name="T92" fmla="*/ 461 w 516"/>
                      <a:gd name="T93" fmla="*/ 351 h 351"/>
                      <a:gd name="T94" fmla="*/ 461 w 516"/>
                      <a:gd name="T95" fmla="*/ 351 h 351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516"/>
                      <a:gd name="T145" fmla="*/ 0 h 351"/>
                      <a:gd name="T146" fmla="*/ 516 w 516"/>
                      <a:gd name="T147" fmla="*/ 351 h 351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516" h="351">
                        <a:moveTo>
                          <a:pt x="461" y="351"/>
                        </a:moveTo>
                        <a:lnTo>
                          <a:pt x="467" y="351"/>
                        </a:lnTo>
                        <a:lnTo>
                          <a:pt x="473" y="349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2" y="4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2"/>
                        </a:lnTo>
                        <a:lnTo>
                          <a:pt x="32" y="347"/>
                        </a:lnTo>
                        <a:lnTo>
                          <a:pt x="43" y="349"/>
                        </a:lnTo>
                        <a:lnTo>
                          <a:pt x="48" y="351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0" name="Freeform 312"/>
                  <p:cNvSpPr>
                    <a:spLocks/>
                  </p:cNvSpPr>
                  <p:nvPr/>
                </p:nvSpPr>
                <p:spPr bwMode="auto">
                  <a:xfrm>
                    <a:off x="3372" y="2188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67 w 516"/>
                      <a:gd name="T3" fmla="*/ 351 h 351"/>
                      <a:gd name="T4" fmla="*/ 473 w 516"/>
                      <a:gd name="T5" fmla="*/ 349 h 351"/>
                      <a:gd name="T6" fmla="*/ 483 w 516"/>
                      <a:gd name="T7" fmla="*/ 347 h 351"/>
                      <a:gd name="T8" fmla="*/ 492 w 516"/>
                      <a:gd name="T9" fmla="*/ 342 h 351"/>
                      <a:gd name="T10" fmla="*/ 500 w 516"/>
                      <a:gd name="T11" fmla="*/ 335 h 351"/>
                      <a:gd name="T12" fmla="*/ 506 w 516"/>
                      <a:gd name="T13" fmla="*/ 327 h 351"/>
                      <a:gd name="T14" fmla="*/ 511 w 516"/>
                      <a:gd name="T15" fmla="*/ 318 h 351"/>
                      <a:gd name="T16" fmla="*/ 515 w 516"/>
                      <a:gd name="T17" fmla="*/ 308 h 351"/>
                      <a:gd name="T18" fmla="*/ 516 w 516"/>
                      <a:gd name="T19" fmla="*/ 297 h 351"/>
                      <a:gd name="T20" fmla="*/ 516 w 516"/>
                      <a:gd name="T21" fmla="*/ 297 h 351"/>
                      <a:gd name="T22" fmla="*/ 516 w 516"/>
                      <a:gd name="T23" fmla="*/ 54 h 351"/>
                      <a:gd name="T24" fmla="*/ 515 w 516"/>
                      <a:gd name="T25" fmla="*/ 43 h 351"/>
                      <a:gd name="T26" fmla="*/ 511 w 516"/>
                      <a:gd name="T27" fmla="*/ 33 h 351"/>
                      <a:gd name="T28" fmla="*/ 506 w 516"/>
                      <a:gd name="T29" fmla="*/ 24 h 351"/>
                      <a:gd name="T30" fmla="*/ 500 w 516"/>
                      <a:gd name="T31" fmla="*/ 16 h 351"/>
                      <a:gd name="T32" fmla="*/ 492 w 516"/>
                      <a:gd name="T33" fmla="*/ 9 h 351"/>
                      <a:gd name="T34" fmla="*/ 483 w 516"/>
                      <a:gd name="T35" fmla="*/ 4 h 351"/>
                      <a:gd name="T36" fmla="*/ 473 w 516"/>
                      <a:gd name="T37" fmla="*/ 1 h 351"/>
                      <a:gd name="T38" fmla="*/ 467 w 516"/>
                      <a:gd name="T39" fmla="*/ 0 h 351"/>
                      <a:gd name="T40" fmla="*/ 461 w 516"/>
                      <a:gd name="T41" fmla="*/ 0 h 351"/>
                      <a:gd name="T42" fmla="*/ 461 w 516"/>
                      <a:gd name="T43" fmla="*/ 0 h 351"/>
                      <a:gd name="T44" fmla="*/ 53 w 516"/>
                      <a:gd name="T45" fmla="*/ 0 h 351"/>
                      <a:gd name="T46" fmla="*/ 48 w 516"/>
                      <a:gd name="T47" fmla="*/ 0 h 351"/>
                      <a:gd name="T48" fmla="*/ 43 w 516"/>
                      <a:gd name="T49" fmla="*/ 1 h 351"/>
                      <a:gd name="T50" fmla="*/ 32 w 516"/>
                      <a:gd name="T51" fmla="*/ 4 h 351"/>
                      <a:gd name="T52" fmla="*/ 23 w 516"/>
                      <a:gd name="T53" fmla="*/ 9 h 351"/>
                      <a:gd name="T54" fmla="*/ 15 w 516"/>
                      <a:gd name="T55" fmla="*/ 16 h 351"/>
                      <a:gd name="T56" fmla="*/ 9 w 516"/>
                      <a:gd name="T57" fmla="*/ 24 h 351"/>
                      <a:gd name="T58" fmla="*/ 4 w 516"/>
                      <a:gd name="T59" fmla="*/ 33 h 351"/>
                      <a:gd name="T60" fmla="*/ 1 w 516"/>
                      <a:gd name="T61" fmla="*/ 43 h 351"/>
                      <a:gd name="T62" fmla="*/ 0 w 516"/>
                      <a:gd name="T63" fmla="*/ 48 h 351"/>
                      <a:gd name="T64" fmla="*/ 0 w 516"/>
                      <a:gd name="T65" fmla="*/ 54 h 351"/>
                      <a:gd name="T66" fmla="*/ 0 w 516"/>
                      <a:gd name="T67" fmla="*/ 54 h 351"/>
                      <a:gd name="T68" fmla="*/ 0 w 516"/>
                      <a:gd name="T69" fmla="*/ 297 h 351"/>
                      <a:gd name="T70" fmla="*/ 0 w 516"/>
                      <a:gd name="T71" fmla="*/ 302 h 351"/>
                      <a:gd name="T72" fmla="*/ 1 w 516"/>
                      <a:gd name="T73" fmla="*/ 308 h 351"/>
                      <a:gd name="T74" fmla="*/ 4 w 516"/>
                      <a:gd name="T75" fmla="*/ 318 h 351"/>
                      <a:gd name="T76" fmla="*/ 9 w 516"/>
                      <a:gd name="T77" fmla="*/ 327 h 351"/>
                      <a:gd name="T78" fmla="*/ 15 w 516"/>
                      <a:gd name="T79" fmla="*/ 335 h 351"/>
                      <a:gd name="T80" fmla="*/ 23 w 516"/>
                      <a:gd name="T81" fmla="*/ 342 h 351"/>
                      <a:gd name="T82" fmla="*/ 32 w 516"/>
                      <a:gd name="T83" fmla="*/ 347 h 351"/>
                      <a:gd name="T84" fmla="*/ 43 w 516"/>
                      <a:gd name="T85" fmla="*/ 349 h 351"/>
                      <a:gd name="T86" fmla="*/ 48 w 516"/>
                      <a:gd name="T87" fmla="*/ 351 h 351"/>
                      <a:gd name="T88" fmla="*/ 53 w 516"/>
                      <a:gd name="T89" fmla="*/ 351 h 351"/>
                      <a:gd name="T90" fmla="*/ 53 w 516"/>
                      <a:gd name="T91" fmla="*/ 351 h 351"/>
                      <a:gd name="T92" fmla="*/ 461 w 516"/>
                      <a:gd name="T93" fmla="*/ 351 h 351"/>
                      <a:gd name="T94" fmla="*/ 461 w 516"/>
                      <a:gd name="T95" fmla="*/ 351 h 351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516"/>
                      <a:gd name="T145" fmla="*/ 0 h 351"/>
                      <a:gd name="T146" fmla="*/ 516 w 516"/>
                      <a:gd name="T147" fmla="*/ 351 h 351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516" h="351">
                        <a:moveTo>
                          <a:pt x="461" y="351"/>
                        </a:moveTo>
                        <a:lnTo>
                          <a:pt x="467" y="351"/>
                        </a:lnTo>
                        <a:lnTo>
                          <a:pt x="473" y="349"/>
                        </a:lnTo>
                        <a:lnTo>
                          <a:pt x="483" y="347"/>
                        </a:lnTo>
                        <a:lnTo>
                          <a:pt x="492" y="342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7" y="0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8" y="0"/>
                        </a:lnTo>
                        <a:lnTo>
                          <a:pt x="43" y="1"/>
                        </a:lnTo>
                        <a:lnTo>
                          <a:pt x="32" y="4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2"/>
                        </a:lnTo>
                        <a:lnTo>
                          <a:pt x="32" y="347"/>
                        </a:lnTo>
                        <a:lnTo>
                          <a:pt x="43" y="349"/>
                        </a:lnTo>
                        <a:lnTo>
                          <a:pt x="48" y="351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1" name="Freeform 318"/>
                  <p:cNvSpPr>
                    <a:spLocks/>
                  </p:cNvSpPr>
                  <p:nvPr/>
                </p:nvSpPr>
                <p:spPr bwMode="auto">
                  <a:xfrm>
                    <a:off x="3925" y="2188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68 w 517"/>
                      <a:gd name="T3" fmla="*/ 351 h 351"/>
                      <a:gd name="T4" fmla="*/ 474 w 517"/>
                      <a:gd name="T5" fmla="*/ 349 h 351"/>
                      <a:gd name="T6" fmla="*/ 484 w 517"/>
                      <a:gd name="T7" fmla="*/ 347 h 351"/>
                      <a:gd name="T8" fmla="*/ 493 w 517"/>
                      <a:gd name="T9" fmla="*/ 342 h 351"/>
                      <a:gd name="T10" fmla="*/ 501 w 517"/>
                      <a:gd name="T11" fmla="*/ 335 h 351"/>
                      <a:gd name="T12" fmla="*/ 507 w 517"/>
                      <a:gd name="T13" fmla="*/ 327 h 351"/>
                      <a:gd name="T14" fmla="*/ 512 w 517"/>
                      <a:gd name="T15" fmla="*/ 318 h 351"/>
                      <a:gd name="T16" fmla="*/ 516 w 517"/>
                      <a:gd name="T17" fmla="*/ 308 h 351"/>
                      <a:gd name="T18" fmla="*/ 517 w 517"/>
                      <a:gd name="T19" fmla="*/ 297 h 351"/>
                      <a:gd name="T20" fmla="*/ 517 w 517"/>
                      <a:gd name="T21" fmla="*/ 297 h 351"/>
                      <a:gd name="T22" fmla="*/ 517 w 517"/>
                      <a:gd name="T23" fmla="*/ 54 h 351"/>
                      <a:gd name="T24" fmla="*/ 516 w 517"/>
                      <a:gd name="T25" fmla="*/ 43 h 351"/>
                      <a:gd name="T26" fmla="*/ 512 w 517"/>
                      <a:gd name="T27" fmla="*/ 33 h 351"/>
                      <a:gd name="T28" fmla="*/ 507 w 517"/>
                      <a:gd name="T29" fmla="*/ 24 h 351"/>
                      <a:gd name="T30" fmla="*/ 501 w 517"/>
                      <a:gd name="T31" fmla="*/ 16 h 351"/>
                      <a:gd name="T32" fmla="*/ 493 w 517"/>
                      <a:gd name="T33" fmla="*/ 9 h 351"/>
                      <a:gd name="T34" fmla="*/ 484 w 517"/>
                      <a:gd name="T35" fmla="*/ 4 h 351"/>
                      <a:gd name="T36" fmla="*/ 474 w 517"/>
                      <a:gd name="T37" fmla="*/ 1 h 351"/>
                      <a:gd name="T38" fmla="*/ 468 w 517"/>
                      <a:gd name="T39" fmla="*/ 0 h 351"/>
                      <a:gd name="T40" fmla="*/ 462 w 517"/>
                      <a:gd name="T41" fmla="*/ 0 h 351"/>
                      <a:gd name="T42" fmla="*/ 54 w 517"/>
                      <a:gd name="T43" fmla="*/ 0 h 351"/>
                      <a:gd name="T44" fmla="*/ 49 w 517"/>
                      <a:gd name="T45" fmla="*/ 0 h 351"/>
                      <a:gd name="T46" fmla="*/ 43 w 517"/>
                      <a:gd name="T47" fmla="*/ 1 h 351"/>
                      <a:gd name="T48" fmla="*/ 33 w 517"/>
                      <a:gd name="T49" fmla="*/ 4 h 351"/>
                      <a:gd name="T50" fmla="*/ 24 w 517"/>
                      <a:gd name="T51" fmla="*/ 9 h 351"/>
                      <a:gd name="T52" fmla="*/ 16 w 517"/>
                      <a:gd name="T53" fmla="*/ 16 h 351"/>
                      <a:gd name="T54" fmla="*/ 9 w 517"/>
                      <a:gd name="T55" fmla="*/ 24 h 351"/>
                      <a:gd name="T56" fmla="*/ 4 w 517"/>
                      <a:gd name="T57" fmla="*/ 33 h 351"/>
                      <a:gd name="T58" fmla="*/ 2 w 517"/>
                      <a:gd name="T59" fmla="*/ 43 h 351"/>
                      <a:gd name="T60" fmla="*/ 0 w 517"/>
                      <a:gd name="T61" fmla="*/ 48 h 351"/>
                      <a:gd name="T62" fmla="*/ 0 w 517"/>
                      <a:gd name="T63" fmla="*/ 54 h 351"/>
                      <a:gd name="T64" fmla="*/ 0 w 517"/>
                      <a:gd name="T65" fmla="*/ 54 h 351"/>
                      <a:gd name="T66" fmla="*/ 0 w 517"/>
                      <a:gd name="T67" fmla="*/ 297 h 351"/>
                      <a:gd name="T68" fmla="*/ 0 w 517"/>
                      <a:gd name="T69" fmla="*/ 302 h 351"/>
                      <a:gd name="T70" fmla="*/ 2 w 517"/>
                      <a:gd name="T71" fmla="*/ 308 h 351"/>
                      <a:gd name="T72" fmla="*/ 4 w 517"/>
                      <a:gd name="T73" fmla="*/ 318 h 351"/>
                      <a:gd name="T74" fmla="*/ 9 w 517"/>
                      <a:gd name="T75" fmla="*/ 327 h 351"/>
                      <a:gd name="T76" fmla="*/ 16 w 517"/>
                      <a:gd name="T77" fmla="*/ 335 h 351"/>
                      <a:gd name="T78" fmla="*/ 24 w 517"/>
                      <a:gd name="T79" fmla="*/ 342 h 351"/>
                      <a:gd name="T80" fmla="*/ 33 w 517"/>
                      <a:gd name="T81" fmla="*/ 347 h 351"/>
                      <a:gd name="T82" fmla="*/ 43 w 517"/>
                      <a:gd name="T83" fmla="*/ 349 h 351"/>
                      <a:gd name="T84" fmla="*/ 49 w 517"/>
                      <a:gd name="T85" fmla="*/ 351 h 351"/>
                      <a:gd name="T86" fmla="*/ 54 w 517"/>
                      <a:gd name="T87" fmla="*/ 351 h 351"/>
                      <a:gd name="T88" fmla="*/ 54 w 517"/>
                      <a:gd name="T89" fmla="*/ 351 h 351"/>
                      <a:gd name="T90" fmla="*/ 462 w 517"/>
                      <a:gd name="T91" fmla="*/ 351 h 351"/>
                      <a:gd name="T92" fmla="*/ 462 w 517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17"/>
                      <a:gd name="T142" fmla="*/ 0 h 351"/>
                      <a:gd name="T143" fmla="*/ 517 w 517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17" h="351">
                        <a:moveTo>
                          <a:pt x="462" y="351"/>
                        </a:moveTo>
                        <a:lnTo>
                          <a:pt x="468" y="351"/>
                        </a:lnTo>
                        <a:lnTo>
                          <a:pt x="474" y="349"/>
                        </a:lnTo>
                        <a:lnTo>
                          <a:pt x="484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1"/>
                        </a:lnTo>
                        <a:lnTo>
                          <a:pt x="468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9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49"/>
                        </a:lnTo>
                        <a:lnTo>
                          <a:pt x="49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2" name="Freeform 319"/>
                  <p:cNvSpPr>
                    <a:spLocks/>
                  </p:cNvSpPr>
                  <p:nvPr/>
                </p:nvSpPr>
                <p:spPr bwMode="auto">
                  <a:xfrm>
                    <a:off x="3925" y="2188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68 w 517"/>
                      <a:gd name="T3" fmla="*/ 351 h 351"/>
                      <a:gd name="T4" fmla="*/ 474 w 517"/>
                      <a:gd name="T5" fmla="*/ 349 h 351"/>
                      <a:gd name="T6" fmla="*/ 484 w 517"/>
                      <a:gd name="T7" fmla="*/ 347 h 351"/>
                      <a:gd name="T8" fmla="*/ 493 w 517"/>
                      <a:gd name="T9" fmla="*/ 342 h 351"/>
                      <a:gd name="T10" fmla="*/ 501 w 517"/>
                      <a:gd name="T11" fmla="*/ 335 h 351"/>
                      <a:gd name="T12" fmla="*/ 507 w 517"/>
                      <a:gd name="T13" fmla="*/ 327 h 351"/>
                      <a:gd name="T14" fmla="*/ 512 w 517"/>
                      <a:gd name="T15" fmla="*/ 318 h 351"/>
                      <a:gd name="T16" fmla="*/ 516 w 517"/>
                      <a:gd name="T17" fmla="*/ 308 h 351"/>
                      <a:gd name="T18" fmla="*/ 517 w 517"/>
                      <a:gd name="T19" fmla="*/ 297 h 351"/>
                      <a:gd name="T20" fmla="*/ 517 w 517"/>
                      <a:gd name="T21" fmla="*/ 297 h 351"/>
                      <a:gd name="T22" fmla="*/ 517 w 517"/>
                      <a:gd name="T23" fmla="*/ 54 h 351"/>
                      <a:gd name="T24" fmla="*/ 516 w 517"/>
                      <a:gd name="T25" fmla="*/ 43 h 351"/>
                      <a:gd name="T26" fmla="*/ 512 w 517"/>
                      <a:gd name="T27" fmla="*/ 33 h 351"/>
                      <a:gd name="T28" fmla="*/ 507 w 517"/>
                      <a:gd name="T29" fmla="*/ 24 h 351"/>
                      <a:gd name="T30" fmla="*/ 501 w 517"/>
                      <a:gd name="T31" fmla="*/ 16 h 351"/>
                      <a:gd name="T32" fmla="*/ 493 w 517"/>
                      <a:gd name="T33" fmla="*/ 9 h 351"/>
                      <a:gd name="T34" fmla="*/ 484 w 517"/>
                      <a:gd name="T35" fmla="*/ 4 h 351"/>
                      <a:gd name="T36" fmla="*/ 474 w 517"/>
                      <a:gd name="T37" fmla="*/ 1 h 351"/>
                      <a:gd name="T38" fmla="*/ 468 w 517"/>
                      <a:gd name="T39" fmla="*/ 0 h 351"/>
                      <a:gd name="T40" fmla="*/ 462 w 517"/>
                      <a:gd name="T41" fmla="*/ 0 h 351"/>
                      <a:gd name="T42" fmla="*/ 54 w 517"/>
                      <a:gd name="T43" fmla="*/ 0 h 351"/>
                      <a:gd name="T44" fmla="*/ 49 w 517"/>
                      <a:gd name="T45" fmla="*/ 0 h 351"/>
                      <a:gd name="T46" fmla="*/ 43 w 517"/>
                      <a:gd name="T47" fmla="*/ 1 h 351"/>
                      <a:gd name="T48" fmla="*/ 33 w 517"/>
                      <a:gd name="T49" fmla="*/ 4 h 351"/>
                      <a:gd name="T50" fmla="*/ 24 w 517"/>
                      <a:gd name="T51" fmla="*/ 9 h 351"/>
                      <a:gd name="T52" fmla="*/ 16 w 517"/>
                      <a:gd name="T53" fmla="*/ 16 h 351"/>
                      <a:gd name="T54" fmla="*/ 9 w 517"/>
                      <a:gd name="T55" fmla="*/ 24 h 351"/>
                      <a:gd name="T56" fmla="*/ 4 w 517"/>
                      <a:gd name="T57" fmla="*/ 33 h 351"/>
                      <a:gd name="T58" fmla="*/ 2 w 517"/>
                      <a:gd name="T59" fmla="*/ 43 h 351"/>
                      <a:gd name="T60" fmla="*/ 0 w 517"/>
                      <a:gd name="T61" fmla="*/ 48 h 351"/>
                      <a:gd name="T62" fmla="*/ 0 w 517"/>
                      <a:gd name="T63" fmla="*/ 54 h 351"/>
                      <a:gd name="T64" fmla="*/ 0 w 517"/>
                      <a:gd name="T65" fmla="*/ 54 h 351"/>
                      <a:gd name="T66" fmla="*/ 0 w 517"/>
                      <a:gd name="T67" fmla="*/ 297 h 351"/>
                      <a:gd name="T68" fmla="*/ 0 w 517"/>
                      <a:gd name="T69" fmla="*/ 302 h 351"/>
                      <a:gd name="T70" fmla="*/ 2 w 517"/>
                      <a:gd name="T71" fmla="*/ 308 h 351"/>
                      <a:gd name="T72" fmla="*/ 4 w 517"/>
                      <a:gd name="T73" fmla="*/ 318 h 351"/>
                      <a:gd name="T74" fmla="*/ 9 w 517"/>
                      <a:gd name="T75" fmla="*/ 327 h 351"/>
                      <a:gd name="T76" fmla="*/ 16 w 517"/>
                      <a:gd name="T77" fmla="*/ 335 h 351"/>
                      <a:gd name="T78" fmla="*/ 24 w 517"/>
                      <a:gd name="T79" fmla="*/ 342 h 351"/>
                      <a:gd name="T80" fmla="*/ 33 w 517"/>
                      <a:gd name="T81" fmla="*/ 347 h 351"/>
                      <a:gd name="T82" fmla="*/ 43 w 517"/>
                      <a:gd name="T83" fmla="*/ 349 h 351"/>
                      <a:gd name="T84" fmla="*/ 49 w 517"/>
                      <a:gd name="T85" fmla="*/ 351 h 351"/>
                      <a:gd name="T86" fmla="*/ 54 w 517"/>
                      <a:gd name="T87" fmla="*/ 351 h 351"/>
                      <a:gd name="T88" fmla="*/ 54 w 517"/>
                      <a:gd name="T89" fmla="*/ 351 h 351"/>
                      <a:gd name="T90" fmla="*/ 462 w 517"/>
                      <a:gd name="T91" fmla="*/ 351 h 351"/>
                      <a:gd name="T92" fmla="*/ 462 w 517"/>
                      <a:gd name="T93" fmla="*/ 351 h 351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w 517"/>
                      <a:gd name="T142" fmla="*/ 0 h 351"/>
                      <a:gd name="T143" fmla="*/ 517 w 517"/>
                      <a:gd name="T144" fmla="*/ 351 h 351"/>
                    </a:gdLst>
                    <a:ahLst/>
                    <a:cxnLst>
                      <a:cxn ang="T94">
                        <a:pos x="T0" y="T1"/>
                      </a:cxn>
                      <a:cxn ang="T95">
                        <a:pos x="T2" y="T3"/>
                      </a:cxn>
                      <a:cxn ang="T96">
                        <a:pos x="T4" y="T5"/>
                      </a:cxn>
                      <a:cxn ang="T97">
                        <a:pos x="T6" y="T7"/>
                      </a:cxn>
                      <a:cxn ang="T98">
                        <a:pos x="T8" y="T9"/>
                      </a:cxn>
                      <a:cxn ang="T99">
                        <a:pos x="T10" y="T11"/>
                      </a:cxn>
                      <a:cxn ang="T100">
                        <a:pos x="T12" y="T13"/>
                      </a:cxn>
                      <a:cxn ang="T101">
                        <a:pos x="T14" y="T15"/>
                      </a:cxn>
                      <a:cxn ang="T102">
                        <a:pos x="T16" y="T17"/>
                      </a:cxn>
                      <a:cxn ang="T103">
                        <a:pos x="T18" y="T19"/>
                      </a:cxn>
                      <a:cxn ang="T104">
                        <a:pos x="T20" y="T21"/>
                      </a:cxn>
                      <a:cxn ang="T105">
                        <a:pos x="T22" y="T23"/>
                      </a:cxn>
                      <a:cxn ang="T106">
                        <a:pos x="T24" y="T25"/>
                      </a:cxn>
                      <a:cxn ang="T107">
                        <a:pos x="T26" y="T27"/>
                      </a:cxn>
                      <a:cxn ang="T108">
                        <a:pos x="T28" y="T29"/>
                      </a:cxn>
                      <a:cxn ang="T109">
                        <a:pos x="T30" y="T31"/>
                      </a:cxn>
                      <a:cxn ang="T110">
                        <a:pos x="T32" y="T33"/>
                      </a:cxn>
                      <a:cxn ang="T111">
                        <a:pos x="T34" y="T35"/>
                      </a:cxn>
                      <a:cxn ang="T112">
                        <a:pos x="T36" y="T37"/>
                      </a:cxn>
                      <a:cxn ang="T113">
                        <a:pos x="T38" y="T39"/>
                      </a:cxn>
                      <a:cxn ang="T114">
                        <a:pos x="T40" y="T41"/>
                      </a:cxn>
                      <a:cxn ang="T115">
                        <a:pos x="T42" y="T43"/>
                      </a:cxn>
                      <a:cxn ang="T116">
                        <a:pos x="T44" y="T45"/>
                      </a:cxn>
                      <a:cxn ang="T117">
                        <a:pos x="T46" y="T47"/>
                      </a:cxn>
                      <a:cxn ang="T118">
                        <a:pos x="T48" y="T49"/>
                      </a:cxn>
                      <a:cxn ang="T119">
                        <a:pos x="T50" y="T51"/>
                      </a:cxn>
                      <a:cxn ang="T120">
                        <a:pos x="T52" y="T53"/>
                      </a:cxn>
                      <a:cxn ang="T121">
                        <a:pos x="T54" y="T55"/>
                      </a:cxn>
                      <a:cxn ang="T122">
                        <a:pos x="T56" y="T57"/>
                      </a:cxn>
                      <a:cxn ang="T123">
                        <a:pos x="T58" y="T59"/>
                      </a:cxn>
                      <a:cxn ang="T124">
                        <a:pos x="T60" y="T61"/>
                      </a:cxn>
                      <a:cxn ang="T125">
                        <a:pos x="T62" y="T63"/>
                      </a:cxn>
                      <a:cxn ang="T126">
                        <a:pos x="T64" y="T65"/>
                      </a:cxn>
                      <a:cxn ang="T127">
                        <a:pos x="T66" y="T67"/>
                      </a:cxn>
                      <a:cxn ang="T128">
                        <a:pos x="T68" y="T69"/>
                      </a:cxn>
                      <a:cxn ang="T129">
                        <a:pos x="T70" y="T71"/>
                      </a:cxn>
                      <a:cxn ang="T130">
                        <a:pos x="T72" y="T73"/>
                      </a:cxn>
                      <a:cxn ang="T131">
                        <a:pos x="T74" y="T75"/>
                      </a:cxn>
                      <a:cxn ang="T132">
                        <a:pos x="T76" y="T77"/>
                      </a:cxn>
                      <a:cxn ang="T133">
                        <a:pos x="T78" y="T79"/>
                      </a:cxn>
                      <a:cxn ang="T134">
                        <a:pos x="T80" y="T81"/>
                      </a:cxn>
                      <a:cxn ang="T135">
                        <a:pos x="T82" y="T83"/>
                      </a:cxn>
                      <a:cxn ang="T136">
                        <a:pos x="T84" y="T85"/>
                      </a:cxn>
                      <a:cxn ang="T137">
                        <a:pos x="T86" y="T87"/>
                      </a:cxn>
                      <a:cxn ang="T138">
                        <a:pos x="T88" y="T89"/>
                      </a:cxn>
                      <a:cxn ang="T139">
                        <a:pos x="T90" y="T91"/>
                      </a:cxn>
                      <a:cxn ang="T140">
                        <a:pos x="T92" y="T93"/>
                      </a:cxn>
                    </a:cxnLst>
                    <a:rect l="T141" t="T142" r="T143" b="T144"/>
                    <a:pathLst>
                      <a:path w="517" h="351">
                        <a:moveTo>
                          <a:pt x="462" y="351"/>
                        </a:moveTo>
                        <a:lnTo>
                          <a:pt x="468" y="351"/>
                        </a:lnTo>
                        <a:lnTo>
                          <a:pt x="474" y="349"/>
                        </a:lnTo>
                        <a:lnTo>
                          <a:pt x="484" y="347"/>
                        </a:lnTo>
                        <a:lnTo>
                          <a:pt x="493" y="342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1"/>
                        </a:lnTo>
                        <a:lnTo>
                          <a:pt x="468" y="0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9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2"/>
                        </a:lnTo>
                        <a:lnTo>
                          <a:pt x="33" y="347"/>
                        </a:lnTo>
                        <a:lnTo>
                          <a:pt x="43" y="349"/>
                        </a:lnTo>
                        <a:lnTo>
                          <a:pt x="49" y="351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3" name="Freeform 327"/>
                  <p:cNvSpPr>
                    <a:spLocks/>
                  </p:cNvSpPr>
                  <p:nvPr/>
                </p:nvSpPr>
                <p:spPr bwMode="auto">
                  <a:xfrm>
                    <a:off x="602" y="257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4 w 517"/>
                      <a:gd name="T5" fmla="*/ 347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54 h 351"/>
                      <a:gd name="T20" fmla="*/ 516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4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4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2 w 517"/>
                      <a:gd name="T51" fmla="*/ 43 h 351"/>
                      <a:gd name="T52" fmla="*/ 0 w 517"/>
                      <a:gd name="T53" fmla="*/ 49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0 w 517"/>
                      <a:gd name="T59" fmla="*/ 302 h 351"/>
                      <a:gd name="T60" fmla="*/ 2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6 w 517"/>
                      <a:gd name="T67" fmla="*/ 335 h 351"/>
                      <a:gd name="T68" fmla="*/ 24 w 517"/>
                      <a:gd name="T69" fmla="*/ 341 h 351"/>
                      <a:gd name="T70" fmla="*/ 33 w 517"/>
                      <a:gd name="T71" fmla="*/ 347 h 351"/>
                      <a:gd name="T72" fmla="*/ 44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4" y="347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7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4" name="Freeform 328"/>
                  <p:cNvSpPr>
                    <a:spLocks/>
                  </p:cNvSpPr>
                  <p:nvPr/>
                </p:nvSpPr>
                <p:spPr bwMode="auto">
                  <a:xfrm>
                    <a:off x="602" y="257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4 w 517"/>
                      <a:gd name="T5" fmla="*/ 347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54 h 351"/>
                      <a:gd name="T20" fmla="*/ 516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4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4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2 w 517"/>
                      <a:gd name="T51" fmla="*/ 43 h 351"/>
                      <a:gd name="T52" fmla="*/ 0 w 517"/>
                      <a:gd name="T53" fmla="*/ 49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0 w 517"/>
                      <a:gd name="T59" fmla="*/ 302 h 351"/>
                      <a:gd name="T60" fmla="*/ 2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6 w 517"/>
                      <a:gd name="T67" fmla="*/ 335 h 351"/>
                      <a:gd name="T68" fmla="*/ 24 w 517"/>
                      <a:gd name="T69" fmla="*/ 341 h 351"/>
                      <a:gd name="T70" fmla="*/ 33 w 517"/>
                      <a:gd name="T71" fmla="*/ 347 h 351"/>
                      <a:gd name="T72" fmla="*/ 44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4" y="347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7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5" name="Rectangle 332"/>
                  <p:cNvSpPr>
                    <a:spLocks noChangeArrowheads="1"/>
                  </p:cNvSpPr>
                  <p:nvPr/>
                </p:nvSpPr>
                <p:spPr bwMode="auto">
                  <a:xfrm>
                    <a:off x="832" y="2695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66" name="Freeform 335"/>
                  <p:cNvSpPr>
                    <a:spLocks/>
                  </p:cNvSpPr>
                  <p:nvPr/>
                </p:nvSpPr>
                <p:spPr bwMode="auto">
                  <a:xfrm>
                    <a:off x="1156" y="257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4 w 517"/>
                      <a:gd name="T5" fmla="*/ 347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54 h 351"/>
                      <a:gd name="T20" fmla="*/ 515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3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3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1 w 517"/>
                      <a:gd name="T51" fmla="*/ 43 h 351"/>
                      <a:gd name="T52" fmla="*/ 0 w 517"/>
                      <a:gd name="T53" fmla="*/ 49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0 w 517"/>
                      <a:gd name="T59" fmla="*/ 302 h 351"/>
                      <a:gd name="T60" fmla="*/ 1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6 w 517"/>
                      <a:gd name="T67" fmla="*/ 335 h 351"/>
                      <a:gd name="T68" fmla="*/ 24 w 517"/>
                      <a:gd name="T69" fmla="*/ 341 h 351"/>
                      <a:gd name="T70" fmla="*/ 33 w 517"/>
                      <a:gd name="T71" fmla="*/ 347 h 351"/>
                      <a:gd name="T72" fmla="*/ 43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7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7" name="Freeform 336"/>
                  <p:cNvSpPr>
                    <a:spLocks/>
                  </p:cNvSpPr>
                  <p:nvPr/>
                </p:nvSpPr>
                <p:spPr bwMode="auto">
                  <a:xfrm>
                    <a:off x="1156" y="2579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4 w 517"/>
                      <a:gd name="T5" fmla="*/ 347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7 h 351"/>
                      <a:gd name="T18" fmla="*/ 517 w 517"/>
                      <a:gd name="T19" fmla="*/ 54 h 351"/>
                      <a:gd name="T20" fmla="*/ 515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3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3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1 w 517"/>
                      <a:gd name="T51" fmla="*/ 43 h 351"/>
                      <a:gd name="T52" fmla="*/ 0 w 517"/>
                      <a:gd name="T53" fmla="*/ 49 h 351"/>
                      <a:gd name="T54" fmla="*/ 0 w 517"/>
                      <a:gd name="T55" fmla="*/ 54 h 351"/>
                      <a:gd name="T56" fmla="*/ 0 w 517"/>
                      <a:gd name="T57" fmla="*/ 297 h 351"/>
                      <a:gd name="T58" fmla="*/ 0 w 517"/>
                      <a:gd name="T59" fmla="*/ 302 h 351"/>
                      <a:gd name="T60" fmla="*/ 1 w 517"/>
                      <a:gd name="T61" fmla="*/ 308 h 351"/>
                      <a:gd name="T62" fmla="*/ 4 w 517"/>
                      <a:gd name="T63" fmla="*/ 318 h 351"/>
                      <a:gd name="T64" fmla="*/ 9 w 517"/>
                      <a:gd name="T65" fmla="*/ 327 h 351"/>
                      <a:gd name="T66" fmla="*/ 16 w 517"/>
                      <a:gd name="T67" fmla="*/ 335 h 351"/>
                      <a:gd name="T68" fmla="*/ 24 w 517"/>
                      <a:gd name="T69" fmla="*/ 341 h 351"/>
                      <a:gd name="T70" fmla="*/ 33 w 517"/>
                      <a:gd name="T71" fmla="*/ 347 h 351"/>
                      <a:gd name="T72" fmla="*/ 43 w 517"/>
                      <a:gd name="T73" fmla="*/ 350 h 351"/>
                      <a:gd name="T74" fmla="*/ 54 w 517"/>
                      <a:gd name="T75" fmla="*/ 351 h 351"/>
                      <a:gd name="T76" fmla="*/ 54 w 517"/>
                      <a:gd name="T77" fmla="*/ 351 h 351"/>
                      <a:gd name="T78" fmla="*/ 462 w 517"/>
                      <a:gd name="T79" fmla="*/ 351 h 351"/>
                      <a:gd name="T80" fmla="*/ 462 w 517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7"/>
                      <a:gd name="T124" fmla="*/ 0 h 351"/>
                      <a:gd name="T125" fmla="*/ 517 w 517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7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7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68" name="Rectangle 340"/>
                  <p:cNvSpPr>
                    <a:spLocks noChangeArrowheads="1"/>
                  </p:cNvSpPr>
                  <p:nvPr/>
                </p:nvSpPr>
                <p:spPr bwMode="auto">
                  <a:xfrm>
                    <a:off x="1386" y="2695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69" name="Rectangle 343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752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70" name="Freeform 344"/>
                  <p:cNvSpPr>
                    <a:spLocks/>
                  </p:cNvSpPr>
                  <p:nvPr/>
                </p:nvSpPr>
                <p:spPr bwMode="auto">
                  <a:xfrm>
                    <a:off x="1710" y="2579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4 w 516"/>
                      <a:gd name="T5" fmla="*/ 347 h 351"/>
                      <a:gd name="T6" fmla="*/ 493 w 516"/>
                      <a:gd name="T7" fmla="*/ 341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2 w 516"/>
                      <a:gd name="T23" fmla="*/ 33 h 351"/>
                      <a:gd name="T24" fmla="*/ 507 w 516"/>
                      <a:gd name="T25" fmla="*/ 24 h 351"/>
                      <a:gd name="T26" fmla="*/ 501 w 516"/>
                      <a:gd name="T27" fmla="*/ 16 h 351"/>
                      <a:gd name="T28" fmla="*/ 493 w 516"/>
                      <a:gd name="T29" fmla="*/ 9 h 351"/>
                      <a:gd name="T30" fmla="*/ 484 w 516"/>
                      <a:gd name="T31" fmla="*/ 4 h 351"/>
                      <a:gd name="T32" fmla="*/ 473 w 516"/>
                      <a:gd name="T33" fmla="*/ 1 h 351"/>
                      <a:gd name="T34" fmla="*/ 462 w 516"/>
                      <a:gd name="T35" fmla="*/ 0 h 351"/>
                      <a:gd name="T36" fmla="*/ 54 w 516"/>
                      <a:gd name="T37" fmla="*/ 0 h 351"/>
                      <a:gd name="T38" fmla="*/ 43 w 516"/>
                      <a:gd name="T39" fmla="*/ 1 h 351"/>
                      <a:gd name="T40" fmla="*/ 33 w 516"/>
                      <a:gd name="T41" fmla="*/ 4 h 351"/>
                      <a:gd name="T42" fmla="*/ 24 w 516"/>
                      <a:gd name="T43" fmla="*/ 9 h 351"/>
                      <a:gd name="T44" fmla="*/ 16 w 516"/>
                      <a:gd name="T45" fmla="*/ 16 h 351"/>
                      <a:gd name="T46" fmla="*/ 9 w 516"/>
                      <a:gd name="T47" fmla="*/ 24 h 351"/>
                      <a:gd name="T48" fmla="*/ 4 w 516"/>
                      <a:gd name="T49" fmla="*/ 33 h 351"/>
                      <a:gd name="T50" fmla="*/ 1 w 516"/>
                      <a:gd name="T51" fmla="*/ 43 h 351"/>
                      <a:gd name="T52" fmla="*/ 0 w 516"/>
                      <a:gd name="T53" fmla="*/ 49 h 351"/>
                      <a:gd name="T54" fmla="*/ 0 w 516"/>
                      <a:gd name="T55" fmla="*/ 54 h 351"/>
                      <a:gd name="T56" fmla="*/ 0 w 516"/>
                      <a:gd name="T57" fmla="*/ 297 h 351"/>
                      <a:gd name="T58" fmla="*/ 0 w 516"/>
                      <a:gd name="T59" fmla="*/ 302 h 351"/>
                      <a:gd name="T60" fmla="*/ 1 w 516"/>
                      <a:gd name="T61" fmla="*/ 308 h 351"/>
                      <a:gd name="T62" fmla="*/ 4 w 516"/>
                      <a:gd name="T63" fmla="*/ 318 h 351"/>
                      <a:gd name="T64" fmla="*/ 9 w 516"/>
                      <a:gd name="T65" fmla="*/ 327 h 351"/>
                      <a:gd name="T66" fmla="*/ 16 w 516"/>
                      <a:gd name="T67" fmla="*/ 335 h 351"/>
                      <a:gd name="T68" fmla="*/ 24 w 516"/>
                      <a:gd name="T69" fmla="*/ 341 h 351"/>
                      <a:gd name="T70" fmla="*/ 33 w 516"/>
                      <a:gd name="T71" fmla="*/ 347 h 351"/>
                      <a:gd name="T72" fmla="*/ 43 w 516"/>
                      <a:gd name="T73" fmla="*/ 350 h 351"/>
                      <a:gd name="T74" fmla="*/ 54 w 516"/>
                      <a:gd name="T75" fmla="*/ 351 h 351"/>
                      <a:gd name="T76" fmla="*/ 462 w 516"/>
                      <a:gd name="T77" fmla="*/ 351 h 351"/>
                      <a:gd name="T78" fmla="*/ 462 w 516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6"/>
                      <a:gd name="T121" fmla="*/ 0 h 351"/>
                      <a:gd name="T122" fmla="*/ 516 w 516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7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71" name="Freeform 345"/>
                  <p:cNvSpPr>
                    <a:spLocks/>
                  </p:cNvSpPr>
                  <p:nvPr/>
                </p:nvSpPr>
                <p:spPr bwMode="auto">
                  <a:xfrm>
                    <a:off x="1710" y="2579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4 w 516"/>
                      <a:gd name="T5" fmla="*/ 347 h 351"/>
                      <a:gd name="T6" fmla="*/ 493 w 516"/>
                      <a:gd name="T7" fmla="*/ 341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7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2 w 516"/>
                      <a:gd name="T23" fmla="*/ 33 h 351"/>
                      <a:gd name="T24" fmla="*/ 507 w 516"/>
                      <a:gd name="T25" fmla="*/ 24 h 351"/>
                      <a:gd name="T26" fmla="*/ 501 w 516"/>
                      <a:gd name="T27" fmla="*/ 16 h 351"/>
                      <a:gd name="T28" fmla="*/ 493 w 516"/>
                      <a:gd name="T29" fmla="*/ 9 h 351"/>
                      <a:gd name="T30" fmla="*/ 484 w 516"/>
                      <a:gd name="T31" fmla="*/ 4 h 351"/>
                      <a:gd name="T32" fmla="*/ 473 w 516"/>
                      <a:gd name="T33" fmla="*/ 1 h 351"/>
                      <a:gd name="T34" fmla="*/ 462 w 516"/>
                      <a:gd name="T35" fmla="*/ 0 h 351"/>
                      <a:gd name="T36" fmla="*/ 54 w 516"/>
                      <a:gd name="T37" fmla="*/ 0 h 351"/>
                      <a:gd name="T38" fmla="*/ 43 w 516"/>
                      <a:gd name="T39" fmla="*/ 1 h 351"/>
                      <a:gd name="T40" fmla="*/ 33 w 516"/>
                      <a:gd name="T41" fmla="*/ 4 h 351"/>
                      <a:gd name="T42" fmla="*/ 24 w 516"/>
                      <a:gd name="T43" fmla="*/ 9 h 351"/>
                      <a:gd name="T44" fmla="*/ 16 w 516"/>
                      <a:gd name="T45" fmla="*/ 16 h 351"/>
                      <a:gd name="T46" fmla="*/ 9 w 516"/>
                      <a:gd name="T47" fmla="*/ 24 h 351"/>
                      <a:gd name="T48" fmla="*/ 4 w 516"/>
                      <a:gd name="T49" fmla="*/ 33 h 351"/>
                      <a:gd name="T50" fmla="*/ 1 w 516"/>
                      <a:gd name="T51" fmla="*/ 43 h 351"/>
                      <a:gd name="T52" fmla="*/ 0 w 516"/>
                      <a:gd name="T53" fmla="*/ 49 h 351"/>
                      <a:gd name="T54" fmla="*/ 0 w 516"/>
                      <a:gd name="T55" fmla="*/ 54 h 351"/>
                      <a:gd name="T56" fmla="*/ 0 w 516"/>
                      <a:gd name="T57" fmla="*/ 297 h 351"/>
                      <a:gd name="T58" fmla="*/ 0 w 516"/>
                      <a:gd name="T59" fmla="*/ 302 h 351"/>
                      <a:gd name="T60" fmla="*/ 1 w 516"/>
                      <a:gd name="T61" fmla="*/ 308 h 351"/>
                      <a:gd name="T62" fmla="*/ 4 w 516"/>
                      <a:gd name="T63" fmla="*/ 318 h 351"/>
                      <a:gd name="T64" fmla="*/ 9 w 516"/>
                      <a:gd name="T65" fmla="*/ 327 h 351"/>
                      <a:gd name="T66" fmla="*/ 16 w 516"/>
                      <a:gd name="T67" fmla="*/ 335 h 351"/>
                      <a:gd name="T68" fmla="*/ 24 w 516"/>
                      <a:gd name="T69" fmla="*/ 341 h 351"/>
                      <a:gd name="T70" fmla="*/ 33 w 516"/>
                      <a:gd name="T71" fmla="*/ 347 h 351"/>
                      <a:gd name="T72" fmla="*/ 43 w 516"/>
                      <a:gd name="T73" fmla="*/ 350 h 351"/>
                      <a:gd name="T74" fmla="*/ 54 w 516"/>
                      <a:gd name="T75" fmla="*/ 351 h 351"/>
                      <a:gd name="T76" fmla="*/ 462 w 516"/>
                      <a:gd name="T77" fmla="*/ 351 h 351"/>
                      <a:gd name="T78" fmla="*/ 462 w 516"/>
                      <a:gd name="T79" fmla="*/ 351 h 351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w 516"/>
                      <a:gd name="T121" fmla="*/ 0 h 351"/>
                      <a:gd name="T122" fmla="*/ 516 w 516"/>
                      <a:gd name="T123" fmla="*/ 351 h 351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T120" t="T121" r="T122" b="T123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7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7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9"/>
                        </a:lnTo>
                        <a:lnTo>
                          <a:pt x="0" y="54"/>
                        </a:lnTo>
                        <a:lnTo>
                          <a:pt x="0" y="297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7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72" name="Freeform 351"/>
                  <p:cNvSpPr>
                    <a:spLocks/>
                  </p:cNvSpPr>
                  <p:nvPr/>
                </p:nvSpPr>
                <p:spPr bwMode="auto">
                  <a:xfrm>
                    <a:off x="602" y="3227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4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54 h 351"/>
                      <a:gd name="T20" fmla="*/ 516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4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4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2 w 517"/>
                      <a:gd name="T51" fmla="*/ 43 h 351"/>
                      <a:gd name="T52" fmla="*/ 0 w 517"/>
                      <a:gd name="T53" fmla="*/ 48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6 h 351"/>
                      <a:gd name="T60" fmla="*/ 0 w 517"/>
                      <a:gd name="T61" fmla="*/ 302 h 351"/>
                      <a:gd name="T62" fmla="*/ 2 w 517"/>
                      <a:gd name="T63" fmla="*/ 308 h 351"/>
                      <a:gd name="T64" fmla="*/ 4 w 517"/>
                      <a:gd name="T65" fmla="*/ 318 h 351"/>
                      <a:gd name="T66" fmla="*/ 9 w 517"/>
                      <a:gd name="T67" fmla="*/ 327 h 351"/>
                      <a:gd name="T68" fmla="*/ 16 w 517"/>
                      <a:gd name="T69" fmla="*/ 335 h 351"/>
                      <a:gd name="T70" fmla="*/ 24 w 517"/>
                      <a:gd name="T71" fmla="*/ 341 h 351"/>
                      <a:gd name="T72" fmla="*/ 33 w 517"/>
                      <a:gd name="T73" fmla="*/ 346 h 351"/>
                      <a:gd name="T74" fmla="*/ 44 w 517"/>
                      <a:gd name="T75" fmla="*/ 350 h 351"/>
                      <a:gd name="T76" fmla="*/ 54 w 517"/>
                      <a:gd name="T77" fmla="*/ 351 h 351"/>
                      <a:gd name="T78" fmla="*/ 54 w 517"/>
                      <a:gd name="T79" fmla="*/ 351 h 351"/>
                      <a:gd name="T80" fmla="*/ 462 w 517"/>
                      <a:gd name="T81" fmla="*/ 351 h 351"/>
                      <a:gd name="T82" fmla="*/ 462 w 517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7"/>
                      <a:gd name="T127" fmla="*/ 0 h 351"/>
                      <a:gd name="T128" fmla="*/ 517 w 517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4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73" name="Freeform 352"/>
                  <p:cNvSpPr>
                    <a:spLocks/>
                  </p:cNvSpPr>
                  <p:nvPr/>
                </p:nvSpPr>
                <p:spPr bwMode="auto">
                  <a:xfrm>
                    <a:off x="602" y="3227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4 w 517"/>
                      <a:gd name="T3" fmla="*/ 350 h 351"/>
                      <a:gd name="T4" fmla="*/ 484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6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54 h 351"/>
                      <a:gd name="T20" fmla="*/ 516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4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4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2 w 517"/>
                      <a:gd name="T51" fmla="*/ 43 h 351"/>
                      <a:gd name="T52" fmla="*/ 0 w 517"/>
                      <a:gd name="T53" fmla="*/ 48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6 h 351"/>
                      <a:gd name="T60" fmla="*/ 0 w 517"/>
                      <a:gd name="T61" fmla="*/ 302 h 351"/>
                      <a:gd name="T62" fmla="*/ 2 w 517"/>
                      <a:gd name="T63" fmla="*/ 308 h 351"/>
                      <a:gd name="T64" fmla="*/ 4 w 517"/>
                      <a:gd name="T65" fmla="*/ 318 h 351"/>
                      <a:gd name="T66" fmla="*/ 9 w 517"/>
                      <a:gd name="T67" fmla="*/ 327 h 351"/>
                      <a:gd name="T68" fmla="*/ 16 w 517"/>
                      <a:gd name="T69" fmla="*/ 335 h 351"/>
                      <a:gd name="T70" fmla="*/ 24 w 517"/>
                      <a:gd name="T71" fmla="*/ 341 h 351"/>
                      <a:gd name="T72" fmla="*/ 33 w 517"/>
                      <a:gd name="T73" fmla="*/ 346 h 351"/>
                      <a:gd name="T74" fmla="*/ 44 w 517"/>
                      <a:gd name="T75" fmla="*/ 350 h 351"/>
                      <a:gd name="T76" fmla="*/ 54 w 517"/>
                      <a:gd name="T77" fmla="*/ 351 h 351"/>
                      <a:gd name="T78" fmla="*/ 54 w 517"/>
                      <a:gd name="T79" fmla="*/ 351 h 351"/>
                      <a:gd name="T80" fmla="*/ 462 w 517"/>
                      <a:gd name="T81" fmla="*/ 351 h 351"/>
                      <a:gd name="T82" fmla="*/ 462 w 517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7"/>
                      <a:gd name="T127" fmla="*/ 0 h 351"/>
                      <a:gd name="T128" fmla="*/ 517 w 517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7" h="351">
                        <a:moveTo>
                          <a:pt x="462" y="351"/>
                        </a:moveTo>
                        <a:lnTo>
                          <a:pt x="474" y="350"/>
                        </a:lnTo>
                        <a:lnTo>
                          <a:pt x="484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6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6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4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4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2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2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4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74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40" y="3342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75" name="Freeform 360"/>
                  <p:cNvSpPr>
                    <a:spLocks/>
                  </p:cNvSpPr>
                  <p:nvPr/>
                </p:nvSpPr>
                <p:spPr bwMode="auto">
                  <a:xfrm>
                    <a:off x="1156" y="3227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4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54 h 351"/>
                      <a:gd name="T20" fmla="*/ 515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3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3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1 w 517"/>
                      <a:gd name="T51" fmla="*/ 43 h 351"/>
                      <a:gd name="T52" fmla="*/ 0 w 517"/>
                      <a:gd name="T53" fmla="*/ 48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6 h 351"/>
                      <a:gd name="T60" fmla="*/ 0 w 517"/>
                      <a:gd name="T61" fmla="*/ 302 h 351"/>
                      <a:gd name="T62" fmla="*/ 1 w 517"/>
                      <a:gd name="T63" fmla="*/ 308 h 351"/>
                      <a:gd name="T64" fmla="*/ 4 w 517"/>
                      <a:gd name="T65" fmla="*/ 318 h 351"/>
                      <a:gd name="T66" fmla="*/ 9 w 517"/>
                      <a:gd name="T67" fmla="*/ 327 h 351"/>
                      <a:gd name="T68" fmla="*/ 16 w 517"/>
                      <a:gd name="T69" fmla="*/ 335 h 351"/>
                      <a:gd name="T70" fmla="*/ 24 w 517"/>
                      <a:gd name="T71" fmla="*/ 341 h 351"/>
                      <a:gd name="T72" fmla="*/ 33 w 517"/>
                      <a:gd name="T73" fmla="*/ 346 h 351"/>
                      <a:gd name="T74" fmla="*/ 43 w 517"/>
                      <a:gd name="T75" fmla="*/ 350 h 351"/>
                      <a:gd name="T76" fmla="*/ 54 w 517"/>
                      <a:gd name="T77" fmla="*/ 351 h 351"/>
                      <a:gd name="T78" fmla="*/ 54 w 517"/>
                      <a:gd name="T79" fmla="*/ 351 h 351"/>
                      <a:gd name="T80" fmla="*/ 462 w 517"/>
                      <a:gd name="T81" fmla="*/ 351 h 351"/>
                      <a:gd name="T82" fmla="*/ 462 w 517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7"/>
                      <a:gd name="T127" fmla="*/ 0 h 351"/>
                      <a:gd name="T128" fmla="*/ 517 w 517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76" name="Freeform 361"/>
                  <p:cNvSpPr>
                    <a:spLocks/>
                  </p:cNvSpPr>
                  <p:nvPr/>
                </p:nvSpPr>
                <p:spPr bwMode="auto">
                  <a:xfrm>
                    <a:off x="1156" y="3227"/>
                    <a:ext cx="517" cy="351"/>
                  </a:xfrm>
                  <a:custGeom>
                    <a:avLst/>
                    <a:gdLst>
                      <a:gd name="T0" fmla="*/ 462 w 517"/>
                      <a:gd name="T1" fmla="*/ 351 h 351"/>
                      <a:gd name="T2" fmla="*/ 473 w 517"/>
                      <a:gd name="T3" fmla="*/ 350 h 351"/>
                      <a:gd name="T4" fmla="*/ 484 w 517"/>
                      <a:gd name="T5" fmla="*/ 346 h 351"/>
                      <a:gd name="T6" fmla="*/ 493 w 517"/>
                      <a:gd name="T7" fmla="*/ 341 h 351"/>
                      <a:gd name="T8" fmla="*/ 501 w 517"/>
                      <a:gd name="T9" fmla="*/ 335 h 351"/>
                      <a:gd name="T10" fmla="*/ 507 w 517"/>
                      <a:gd name="T11" fmla="*/ 327 h 351"/>
                      <a:gd name="T12" fmla="*/ 512 w 517"/>
                      <a:gd name="T13" fmla="*/ 318 h 351"/>
                      <a:gd name="T14" fmla="*/ 515 w 517"/>
                      <a:gd name="T15" fmla="*/ 308 h 351"/>
                      <a:gd name="T16" fmla="*/ 517 w 517"/>
                      <a:gd name="T17" fmla="*/ 296 h 351"/>
                      <a:gd name="T18" fmla="*/ 517 w 517"/>
                      <a:gd name="T19" fmla="*/ 54 h 351"/>
                      <a:gd name="T20" fmla="*/ 515 w 517"/>
                      <a:gd name="T21" fmla="*/ 43 h 351"/>
                      <a:gd name="T22" fmla="*/ 512 w 517"/>
                      <a:gd name="T23" fmla="*/ 33 h 351"/>
                      <a:gd name="T24" fmla="*/ 507 w 517"/>
                      <a:gd name="T25" fmla="*/ 24 h 351"/>
                      <a:gd name="T26" fmla="*/ 501 w 517"/>
                      <a:gd name="T27" fmla="*/ 16 h 351"/>
                      <a:gd name="T28" fmla="*/ 493 w 517"/>
                      <a:gd name="T29" fmla="*/ 9 h 351"/>
                      <a:gd name="T30" fmla="*/ 484 w 517"/>
                      <a:gd name="T31" fmla="*/ 4 h 351"/>
                      <a:gd name="T32" fmla="*/ 473 w 517"/>
                      <a:gd name="T33" fmla="*/ 1 h 351"/>
                      <a:gd name="T34" fmla="*/ 462 w 517"/>
                      <a:gd name="T35" fmla="*/ 0 h 351"/>
                      <a:gd name="T36" fmla="*/ 54 w 517"/>
                      <a:gd name="T37" fmla="*/ 0 h 351"/>
                      <a:gd name="T38" fmla="*/ 43 w 517"/>
                      <a:gd name="T39" fmla="*/ 1 h 351"/>
                      <a:gd name="T40" fmla="*/ 33 w 517"/>
                      <a:gd name="T41" fmla="*/ 4 h 351"/>
                      <a:gd name="T42" fmla="*/ 24 w 517"/>
                      <a:gd name="T43" fmla="*/ 9 h 351"/>
                      <a:gd name="T44" fmla="*/ 16 w 517"/>
                      <a:gd name="T45" fmla="*/ 16 h 351"/>
                      <a:gd name="T46" fmla="*/ 9 w 517"/>
                      <a:gd name="T47" fmla="*/ 24 h 351"/>
                      <a:gd name="T48" fmla="*/ 4 w 517"/>
                      <a:gd name="T49" fmla="*/ 33 h 351"/>
                      <a:gd name="T50" fmla="*/ 1 w 517"/>
                      <a:gd name="T51" fmla="*/ 43 h 351"/>
                      <a:gd name="T52" fmla="*/ 0 w 517"/>
                      <a:gd name="T53" fmla="*/ 48 h 351"/>
                      <a:gd name="T54" fmla="*/ 0 w 517"/>
                      <a:gd name="T55" fmla="*/ 54 h 351"/>
                      <a:gd name="T56" fmla="*/ 0 w 517"/>
                      <a:gd name="T57" fmla="*/ 54 h 351"/>
                      <a:gd name="T58" fmla="*/ 0 w 517"/>
                      <a:gd name="T59" fmla="*/ 296 h 351"/>
                      <a:gd name="T60" fmla="*/ 0 w 517"/>
                      <a:gd name="T61" fmla="*/ 302 h 351"/>
                      <a:gd name="T62" fmla="*/ 1 w 517"/>
                      <a:gd name="T63" fmla="*/ 308 h 351"/>
                      <a:gd name="T64" fmla="*/ 4 w 517"/>
                      <a:gd name="T65" fmla="*/ 318 h 351"/>
                      <a:gd name="T66" fmla="*/ 9 w 517"/>
                      <a:gd name="T67" fmla="*/ 327 h 351"/>
                      <a:gd name="T68" fmla="*/ 16 w 517"/>
                      <a:gd name="T69" fmla="*/ 335 h 351"/>
                      <a:gd name="T70" fmla="*/ 24 w 517"/>
                      <a:gd name="T71" fmla="*/ 341 h 351"/>
                      <a:gd name="T72" fmla="*/ 33 w 517"/>
                      <a:gd name="T73" fmla="*/ 346 h 351"/>
                      <a:gd name="T74" fmla="*/ 43 w 517"/>
                      <a:gd name="T75" fmla="*/ 350 h 351"/>
                      <a:gd name="T76" fmla="*/ 54 w 517"/>
                      <a:gd name="T77" fmla="*/ 351 h 351"/>
                      <a:gd name="T78" fmla="*/ 54 w 517"/>
                      <a:gd name="T79" fmla="*/ 351 h 351"/>
                      <a:gd name="T80" fmla="*/ 462 w 517"/>
                      <a:gd name="T81" fmla="*/ 351 h 351"/>
                      <a:gd name="T82" fmla="*/ 462 w 517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7"/>
                      <a:gd name="T127" fmla="*/ 0 h 351"/>
                      <a:gd name="T128" fmla="*/ 517 w 517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7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7" y="296"/>
                        </a:lnTo>
                        <a:lnTo>
                          <a:pt x="517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77" name="Rectangle 366"/>
                  <p:cNvSpPr>
                    <a:spLocks noChangeArrowheads="1"/>
                  </p:cNvSpPr>
                  <p:nvPr/>
                </p:nvSpPr>
                <p:spPr bwMode="auto">
                  <a:xfrm>
                    <a:off x="1394" y="3314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78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1345" y="3429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79" name="Freeform 372"/>
                  <p:cNvSpPr>
                    <a:spLocks/>
                  </p:cNvSpPr>
                  <p:nvPr/>
                </p:nvSpPr>
                <p:spPr bwMode="auto">
                  <a:xfrm>
                    <a:off x="1710" y="3227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4 w 516"/>
                      <a:gd name="T5" fmla="*/ 346 h 351"/>
                      <a:gd name="T6" fmla="*/ 493 w 516"/>
                      <a:gd name="T7" fmla="*/ 341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2 w 516"/>
                      <a:gd name="T23" fmla="*/ 33 h 351"/>
                      <a:gd name="T24" fmla="*/ 507 w 516"/>
                      <a:gd name="T25" fmla="*/ 24 h 351"/>
                      <a:gd name="T26" fmla="*/ 501 w 516"/>
                      <a:gd name="T27" fmla="*/ 16 h 351"/>
                      <a:gd name="T28" fmla="*/ 493 w 516"/>
                      <a:gd name="T29" fmla="*/ 9 h 351"/>
                      <a:gd name="T30" fmla="*/ 484 w 516"/>
                      <a:gd name="T31" fmla="*/ 4 h 351"/>
                      <a:gd name="T32" fmla="*/ 473 w 516"/>
                      <a:gd name="T33" fmla="*/ 1 h 351"/>
                      <a:gd name="T34" fmla="*/ 462 w 516"/>
                      <a:gd name="T35" fmla="*/ 0 h 351"/>
                      <a:gd name="T36" fmla="*/ 54 w 516"/>
                      <a:gd name="T37" fmla="*/ 0 h 351"/>
                      <a:gd name="T38" fmla="*/ 43 w 516"/>
                      <a:gd name="T39" fmla="*/ 1 h 351"/>
                      <a:gd name="T40" fmla="*/ 33 w 516"/>
                      <a:gd name="T41" fmla="*/ 4 h 351"/>
                      <a:gd name="T42" fmla="*/ 24 w 516"/>
                      <a:gd name="T43" fmla="*/ 9 h 351"/>
                      <a:gd name="T44" fmla="*/ 16 w 516"/>
                      <a:gd name="T45" fmla="*/ 16 h 351"/>
                      <a:gd name="T46" fmla="*/ 9 w 516"/>
                      <a:gd name="T47" fmla="*/ 24 h 351"/>
                      <a:gd name="T48" fmla="*/ 4 w 516"/>
                      <a:gd name="T49" fmla="*/ 33 h 351"/>
                      <a:gd name="T50" fmla="*/ 1 w 516"/>
                      <a:gd name="T51" fmla="*/ 43 h 351"/>
                      <a:gd name="T52" fmla="*/ 0 w 516"/>
                      <a:gd name="T53" fmla="*/ 48 h 351"/>
                      <a:gd name="T54" fmla="*/ 0 w 516"/>
                      <a:gd name="T55" fmla="*/ 54 h 351"/>
                      <a:gd name="T56" fmla="*/ 0 w 516"/>
                      <a:gd name="T57" fmla="*/ 54 h 351"/>
                      <a:gd name="T58" fmla="*/ 0 w 516"/>
                      <a:gd name="T59" fmla="*/ 296 h 351"/>
                      <a:gd name="T60" fmla="*/ 0 w 516"/>
                      <a:gd name="T61" fmla="*/ 302 h 351"/>
                      <a:gd name="T62" fmla="*/ 1 w 516"/>
                      <a:gd name="T63" fmla="*/ 308 h 351"/>
                      <a:gd name="T64" fmla="*/ 4 w 516"/>
                      <a:gd name="T65" fmla="*/ 318 h 351"/>
                      <a:gd name="T66" fmla="*/ 9 w 516"/>
                      <a:gd name="T67" fmla="*/ 327 h 351"/>
                      <a:gd name="T68" fmla="*/ 16 w 516"/>
                      <a:gd name="T69" fmla="*/ 335 h 351"/>
                      <a:gd name="T70" fmla="*/ 24 w 516"/>
                      <a:gd name="T71" fmla="*/ 341 h 351"/>
                      <a:gd name="T72" fmla="*/ 33 w 516"/>
                      <a:gd name="T73" fmla="*/ 346 h 351"/>
                      <a:gd name="T74" fmla="*/ 43 w 516"/>
                      <a:gd name="T75" fmla="*/ 350 h 351"/>
                      <a:gd name="T76" fmla="*/ 54 w 516"/>
                      <a:gd name="T77" fmla="*/ 351 h 351"/>
                      <a:gd name="T78" fmla="*/ 462 w 516"/>
                      <a:gd name="T79" fmla="*/ 351 h 351"/>
                      <a:gd name="T80" fmla="*/ 462 w 516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6"/>
                      <a:gd name="T124" fmla="*/ 0 h 351"/>
                      <a:gd name="T125" fmla="*/ 516 w 516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80" name="Freeform 373"/>
                  <p:cNvSpPr>
                    <a:spLocks/>
                  </p:cNvSpPr>
                  <p:nvPr/>
                </p:nvSpPr>
                <p:spPr bwMode="auto">
                  <a:xfrm>
                    <a:off x="1710" y="3227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4 w 516"/>
                      <a:gd name="T5" fmla="*/ 346 h 351"/>
                      <a:gd name="T6" fmla="*/ 493 w 516"/>
                      <a:gd name="T7" fmla="*/ 341 h 351"/>
                      <a:gd name="T8" fmla="*/ 501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2 w 516"/>
                      <a:gd name="T23" fmla="*/ 33 h 351"/>
                      <a:gd name="T24" fmla="*/ 507 w 516"/>
                      <a:gd name="T25" fmla="*/ 24 h 351"/>
                      <a:gd name="T26" fmla="*/ 501 w 516"/>
                      <a:gd name="T27" fmla="*/ 16 h 351"/>
                      <a:gd name="T28" fmla="*/ 493 w 516"/>
                      <a:gd name="T29" fmla="*/ 9 h 351"/>
                      <a:gd name="T30" fmla="*/ 484 w 516"/>
                      <a:gd name="T31" fmla="*/ 4 h 351"/>
                      <a:gd name="T32" fmla="*/ 473 w 516"/>
                      <a:gd name="T33" fmla="*/ 1 h 351"/>
                      <a:gd name="T34" fmla="*/ 462 w 516"/>
                      <a:gd name="T35" fmla="*/ 0 h 351"/>
                      <a:gd name="T36" fmla="*/ 54 w 516"/>
                      <a:gd name="T37" fmla="*/ 0 h 351"/>
                      <a:gd name="T38" fmla="*/ 43 w 516"/>
                      <a:gd name="T39" fmla="*/ 1 h 351"/>
                      <a:gd name="T40" fmla="*/ 33 w 516"/>
                      <a:gd name="T41" fmla="*/ 4 h 351"/>
                      <a:gd name="T42" fmla="*/ 24 w 516"/>
                      <a:gd name="T43" fmla="*/ 9 h 351"/>
                      <a:gd name="T44" fmla="*/ 16 w 516"/>
                      <a:gd name="T45" fmla="*/ 16 h 351"/>
                      <a:gd name="T46" fmla="*/ 9 w 516"/>
                      <a:gd name="T47" fmla="*/ 24 h 351"/>
                      <a:gd name="T48" fmla="*/ 4 w 516"/>
                      <a:gd name="T49" fmla="*/ 33 h 351"/>
                      <a:gd name="T50" fmla="*/ 1 w 516"/>
                      <a:gd name="T51" fmla="*/ 43 h 351"/>
                      <a:gd name="T52" fmla="*/ 0 w 516"/>
                      <a:gd name="T53" fmla="*/ 48 h 351"/>
                      <a:gd name="T54" fmla="*/ 0 w 516"/>
                      <a:gd name="T55" fmla="*/ 54 h 351"/>
                      <a:gd name="T56" fmla="*/ 0 w 516"/>
                      <a:gd name="T57" fmla="*/ 54 h 351"/>
                      <a:gd name="T58" fmla="*/ 0 w 516"/>
                      <a:gd name="T59" fmla="*/ 296 h 351"/>
                      <a:gd name="T60" fmla="*/ 0 w 516"/>
                      <a:gd name="T61" fmla="*/ 302 h 351"/>
                      <a:gd name="T62" fmla="*/ 1 w 516"/>
                      <a:gd name="T63" fmla="*/ 308 h 351"/>
                      <a:gd name="T64" fmla="*/ 4 w 516"/>
                      <a:gd name="T65" fmla="*/ 318 h 351"/>
                      <a:gd name="T66" fmla="*/ 9 w 516"/>
                      <a:gd name="T67" fmla="*/ 327 h 351"/>
                      <a:gd name="T68" fmla="*/ 16 w 516"/>
                      <a:gd name="T69" fmla="*/ 335 h 351"/>
                      <a:gd name="T70" fmla="*/ 24 w 516"/>
                      <a:gd name="T71" fmla="*/ 341 h 351"/>
                      <a:gd name="T72" fmla="*/ 33 w 516"/>
                      <a:gd name="T73" fmla="*/ 346 h 351"/>
                      <a:gd name="T74" fmla="*/ 43 w 516"/>
                      <a:gd name="T75" fmla="*/ 350 h 351"/>
                      <a:gd name="T76" fmla="*/ 54 w 516"/>
                      <a:gd name="T77" fmla="*/ 351 h 351"/>
                      <a:gd name="T78" fmla="*/ 462 w 516"/>
                      <a:gd name="T79" fmla="*/ 351 h 351"/>
                      <a:gd name="T80" fmla="*/ 462 w 516"/>
                      <a:gd name="T81" fmla="*/ 351 h 351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516"/>
                      <a:gd name="T124" fmla="*/ 0 h 351"/>
                      <a:gd name="T125" fmla="*/ 516 w 516"/>
                      <a:gd name="T126" fmla="*/ 351 h 351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4" y="346"/>
                        </a:lnTo>
                        <a:lnTo>
                          <a:pt x="493" y="341"/>
                        </a:lnTo>
                        <a:lnTo>
                          <a:pt x="501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1" y="16"/>
                        </a:lnTo>
                        <a:lnTo>
                          <a:pt x="493" y="9"/>
                        </a:lnTo>
                        <a:lnTo>
                          <a:pt x="484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81" name="Rectangle 381"/>
                  <p:cNvSpPr>
                    <a:spLocks noChangeArrowheads="1"/>
                  </p:cNvSpPr>
                  <p:nvPr/>
                </p:nvSpPr>
                <p:spPr bwMode="auto">
                  <a:xfrm>
                    <a:off x="2077" y="3400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82" name="Freeform 382"/>
                  <p:cNvSpPr>
                    <a:spLocks/>
                  </p:cNvSpPr>
                  <p:nvPr/>
                </p:nvSpPr>
                <p:spPr bwMode="auto">
                  <a:xfrm>
                    <a:off x="2264" y="3227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6 h 351"/>
                      <a:gd name="T6" fmla="*/ 492 w 516"/>
                      <a:gd name="T7" fmla="*/ 341 h 351"/>
                      <a:gd name="T8" fmla="*/ 500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2 w 516"/>
                      <a:gd name="T23" fmla="*/ 33 h 351"/>
                      <a:gd name="T24" fmla="*/ 507 w 516"/>
                      <a:gd name="T25" fmla="*/ 24 h 351"/>
                      <a:gd name="T26" fmla="*/ 500 w 516"/>
                      <a:gd name="T27" fmla="*/ 16 h 351"/>
                      <a:gd name="T28" fmla="*/ 492 w 516"/>
                      <a:gd name="T29" fmla="*/ 9 h 351"/>
                      <a:gd name="T30" fmla="*/ 483 w 516"/>
                      <a:gd name="T31" fmla="*/ 4 h 351"/>
                      <a:gd name="T32" fmla="*/ 473 w 516"/>
                      <a:gd name="T33" fmla="*/ 1 h 351"/>
                      <a:gd name="T34" fmla="*/ 462 w 516"/>
                      <a:gd name="T35" fmla="*/ 0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1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6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48 h 351"/>
                      <a:gd name="T56" fmla="*/ 0 w 516"/>
                      <a:gd name="T57" fmla="*/ 54 h 351"/>
                      <a:gd name="T58" fmla="*/ 0 w 516"/>
                      <a:gd name="T59" fmla="*/ 54 h 351"/>
                      <a:gd name="T60" fmla="*/ 0 w 516"/>
                      <a:gd name="T61" fmla="*/ 296 h 351"/>
                      <a:gd name="T62" fmla="*/ 0 w 516"/>
                      <a:gd name="T63" fmla="*/ 302 h 351"/>
                      <a:gd name="T64" fmla="*/ 1 w 516"/>
                      <a:gd name="T65" fmla="*/ 308 h 351"/>
                      <a:gd name="T66" fmla="*/ 4 w 516"/>
                      <a:gd name="T67" fmla="*/ 318 h 351"/>
                      <a:gd name="T68" fmla="*/ 9 w 516"/>
                      <a:gd name="T69" fmla="*/ 327 h 351"/>
                      <a:gd name="T70" fmla="*/ 16 w 516"/>
                      <a:gd name="T71" fmla="*/ 335 h 351"/>
                      <a:gd name="T72" fmla="*/ 24 w 516"/>
                      <a:gd name="T73" fmla="*/ 341 h 351"/>
                      <a:gd name="T74" fmla="*/ 33 w 516"/>
                      <a:gd name="T75" fmla="*/ 346 h 351"/>
                      <a:gd name="T76" fmla="*/ 43 w 516"/>
                      <a:gd name="T77" fmla="*/ 350 h 351"/>
                      <a:gd name="T78" fmla="*/ 54 w 516"/>
                      <a:gd name="T79" fmla="*/ 351 h 351"/>
                      <a:gd name="T80" fmla="*/ 462 w 516"/>
                      <a:gd name="T81" fmla="*/ 351 h 351"/>
                      <a:gd name="T82" fmla="*/ 462 w 516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6"/>
                      <a:gd name="T127" fmla="*/ 0 h 351"/>
                      <a:gd name="T128" fmla="*/ 516 w 516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6"/>
                        </a:lnTo>
                        <a:lnTo>
                          <a:pt x="492" y="341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83" name="Freeform 383"/>
                  <p:cNvSpPr>
                    <a:spLocks/>
                  </p:cNvSpPr>
                  <p:nvPr/>
                </p:nvSpPr>
                <p:spPr bwMode="auto">
                  <a:xfrm>
                    <a:off x="2264" y="3227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6 h 351"/>
                      <a:gd name="T6" fmla="*/ 492 w 516"/>
                      <a:gd name="T7" fmla="*/ 341 h 351"/>
                      <a:gd name="T8" fmla="*/ 500 w 516"/>
                      <a:gd name="T9" fmla="*/ 335 h 351"/>
                      <a:gd name="T10" fmla="*/ 507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2 w 516"/>
                      <a:gd name="T23" fmla="*/ 33 h 351"/>
                      <a:gd name="T24" fmla="*/ 507 w 516"/>
                      <a:gd name="T25" fmla="*/ 24 h 351"/>
                      <a:gd name="T26" fmla="*/ 500 w 516"/>
                      <a:gd name="T27" fmla="*/ 16 h 351"/>
                      <a:gd name="T28" fmla="*/ 492 w 516"/>
                      <a:gd name="T29" fmla="*/ 9 h 351"/>
                      <a:gd name="T30" fmla="*/ 483 w 516"/>
                      <a:gd name="T31" fmla="*/ 4 h 351"/>
                      <a:gd name="T32" fmla="*/ 473 w 516"/>
                      <a:gd name="T33" fmla="*/ 1 h 351"/>
                      <a:gd name="T34" fmla="*/ 462 w 516"/>
                      <a:gd name="T35" fmla="*/ 0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43 w 516"/>
                      <a:gd name="T41" fmla="*/ 1 h 351"/>
                      <a:gd name="T42" fmla="*/ 33 w 516"/>
                      <a:gd name="T43" fmla="*/ 4 h 351"/>
                      <a:gd name="T44" fmla="*/ 24 w 516"/>
                      <a:gd name="T45" fmla="*/ 9 h 351"/>
                      <a:gd name="T46" fmla="*/ 16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48 h 351"/>
                      <a:gd name="T56" fmla="*/ 0 w 516"/>
                      <a:gd name="T57" fmla="*/ 54 h 351"/>
                      <a:gd name="T58" fmla="*/ 0 w 516"/>
                      <a:gd name="T59" fmla="*/ 54 h 351"/>
                      <a:gd name="T60" fmla="*/ 0 w 516"/>
                      <a:gd name="T61" fmla="*/ 296 h 351"/>
                      <a:gd name="T62" fmla="*/ 0 w 516"/>
                      <a:gd name="T63" fmla="*/ 302 h 351"/>
                      <a:gd name="T64" fmla="*/ 1 w 516"/>
                      <a:gd name="T65" fmla="*/ 308 h 351"/>
                      <a:gd name="T66" fmla="*/ 4 w 516"/>
                      <a:gd name="T67" fmla="*/ 318 h 351"/>
                      <a:gd name="T68" fmla="*/ 9 w 516"/>
                      <a:gd name="T69" fmla="*/ 327 h 351"/>
                      <a:gd name="T70" fmla="*/ 16 w 516"/>
                      <a:gd name="T71" fmla="*/ 335 h 351"/>
                      <a:gd name="T72" fmla="*/ 24 w 516"/>
                      <a:gd name="T73" fmla="*/ 341 h 351"/>
                      <a:gd name="T74" fmla="*/ 33 w 516"/>
                      <a:gd name="T75" fmla="*/ 346 h 351"/>
                      <a:gd name="T76" fmla="*/ 43 w 516"/>
                      <a:gd name="T77" fmla="*/ 350 h 351"/>
                      <a:gd name="T78" fmla="*/ 54 w 516"/>
                      <a:gd name="T79" fmla="*/ 351 h 351"/>
                      <a:gd name="T80" fmla="*/ 462 w 516"/>
                      <a:gd name="T81" fmla="*/ 351 h 351"/>
                      <a:gd name="T82" fmla="*/ 462 w 516"/>
                      <a:gd name="T83" fmla="*/ 351 h 351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516"/>
                      <a:gd name="T127" fmla="*/ 0 h 351"/>
                      <a:gd name="T128" fmla="*/ 516 w 516"/>
                      <a:gd name="T129" fmla="*/ 351 h 351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6"/>
                        </a:lnTo>
                        <a:lnTo>
                          <a:pt x="492" y="341"/>
                        </a:lnTo>
                        <a:lnTo>
                          <a:pt x="500" y="335"/>
                        </a:lnTo>
                        <a:lnTo>
                          <a:pt x="507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7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84" name="Rectangle 388"/>
                  <p:cNvSpPr>
                    <a:spLocks noChangeArrowheads="1"/>
                  </p:cNvSpPr>
                  <p:nvPr/>
                </p:nvSpPr>
                <p:spPr bwMode="auto">
                  <a:xfrm>
                    <a:off x="2502" y="3342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85" name="Freeform 391"/>
                  <p:cNvSpPr>
                    <a:spLocks/>
                  </p:cNvSpPr>
                  <p:nvPr/>
                </p:nvSpPr>
                <p:spPr bwMode="auto">
                  <a:xfrm>
                    <a:off x="2818" y="3227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6 h 351"/>
                      <a:gd name="T6" fmla="*/ 492 w 516"/>
                      <a:gd name="T7" fmla="*/ 341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296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6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1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54 w 516"/>
                      <a:gd name="T41" fmla="*/ 0 h 351"/>
                      <a:gd name="T42" fmla="*/ 43 w 516"/>
                      <a:gd name="T43" fmla="*/ 1 h 351"/>
                      <a:gd name="T44" fmla="*/ 33 w 516"/>
                      <a:gd name="T45" fmla="*/ 4 h 351"/>
                      <a:gd name="T46" fmla="*/ 24 w 516"/>
                      <a:gd name="T47" fmla="*/ 9 h 351"/>
                      <a:gd name="T48" fmla="*/ 16 w 516"/>
                      <a:gd name="T49" fmla="*/ 16 h 351"/>
                      <a:gd name="T50" fmla="*/ 9 w 516"/>
                      <a:gd name="T51" fmla="*/ 24 h 351"/>
                      <a:gd name="T52" fmla="*/ 4 w 516"/>
                      <a:gd name="T53" fmla="*/ 33 h 351"/>
                      <a:gd name="T54" fmla="*/ 1 w 516"/>
                      <a:gd name="T55" fmla="*/ 43 h 351"/>
                      <a:gd name="T56" fmla="*/ 0 w 516"/>
                      <a:gd name="T57" fmla="*/ 48 h 351"/>
                      <a:gd name="T58" fmla="*/ 0 w 516"/>
                      <a:gd name="T59" fmla="*/ 54 h 351"/>
                      <a:gd name="T60" fmla="*/ 0 w 516"/>
                      <a:gd name="T61" fmla="*/ 54 h 351"/>
                      <a:gd name="T62" fmla="*/ 0 w 516"/>
                      <a:gd name="T63" fmla="*/ 296 h 351"/>
                      <a:gd name="T64" fmla="*/ 0 w 516"/>
                      <a:gd name="T65" fmla="*/ 302 h 351"/>
                      <a:gd name="T66" fmla="*/ 1 w 516"/>
                      <a:gd name="T67" fmla="*/ 308 h 351"/>
                      <a:gd name="T68" fmla="*/ 4 w 516"/>
                      <a:gd name="T69" fmla="*/ 318 h 351"/>
                      <a:gd name="T70" fmla="*/ 9 w 516"/>
                      <a:gd name="T71" fmla="*/ 327 h 351"/>
                      <a:gd name="T72" fmla="*/ 16 w 516"/>
                      <a:gd name="T73" fmla="*/ 335 h 351"/>
                      <a:gd name="T74" fmla="*/ 24 w 516"/>
                      <a:gd name="T75" fmla="*/ 341 h 351"/>
                      <a:gd name="T76" fmla="*/ 33 w 516"/>
                      <a:gd name="T77" fmla="*/ 346 h 351"/>
                      <a:gd name="T78" fmla="*/ 43 w 516"/>
                      <a:gd name="T79" fmla="*/ 350 h 351"/>
                      <a:gd name="T80" fmla="*/ 54 w 516"/>
                      <a:gd name="T81" fmla="*/ 351 h 351"/>
                      <a:gd name="T82" fmla="*/ 462 w 516"/>
                      <a:gd name="T83" fmla="*/ 351 h 351"/>
                      <a:gd name="T84" fmla="*/ 462 w 516"/>
                      <a:gd name="T85" fmla="*/ 351 h 35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16"/>
                      <a:gd name="T130" fmla="*/ 0 h 351"/>
                      <a:gd name="T131" fmla="*/ 516 w 516"/>
                      <a:gd name="T132" fmla="*/ 351 h 35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6"/>
                        </a:lnTo>
                        <a:lnTo>
                          <a:pt x="492" y="341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86" name="Freeform 392"/>
                  <p:cNvSpPr>
                    <a:spLocks/>
                  </p:cNvSpPr>
                  <p:nvPr/>
                </p:nvSpPr>
                <p:spPr bwMode="auto">
                  <a:xfrm>
                    <a:off x="2818" y="3227"/>
                    <a:ext cx="516" cy="351"/>
                  </a:xfrm>
                  <a:custGeom>
                    <a:avLst/>
                    <a:gdLst>
                      <a:gd name="T0" fmla="*/ 462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6 h 351"/>
                      <a:gd name="T6" fmla="*/ 492 w 516"/>
                      <a:gd name="T7" fmla="*/ 341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2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296 h 351"/>
                      <a:gd name="T20" fmla="*/ 516 w 516"/>
                      <a:gd name="T21" fmla="*/ 54 h 351"/>
                      <a:gd name="T22" fmla="*/ 515 w 516"/>
                      <a:gd name="T23" fmla="*/ 43 h 351"/>
                      <a:gd name="T24" fmla="*/ 512 w 516"/>
                      <a:gd name="T25" fmla="*/ 33 h 351"/>
                      <a:gd name="T26" fmla="*/ 506 w 516"/>
                      <a:gd name="T27" fmla="*/ 24 h 351"/>
                      <a:gd name="T28" fmla="*/ 500 w 516"/>
                      <a:gd name="T29" fmla="*/ 16 h 351"/>
                      <a:gd name="T30" fmla="*/ 492 w 516"/>
                      <a:gd name="T31" fmla="*/ 9 h 351"/>
                      <a:gd name="T32" fmla="*/ 483 w 516"/>
                      <a:gd name="T33" fmla="*/ 4 h 351"/>
                      <a:gd name="T34" fmla="*/ 473 w 516"/>
                      <a:gd name="T35" fmla="*/ 1 h 351"/>
                      <a:gd name="T36" fmla="*/ 462 w 516"/>
                      <a:gd name="T37" fmla="*/ 0 h 351"/>
                      <a:gd name="T38" fmla="*/ 54 w 516"/>
                      <a:gd name="T39" fmla="*/ 0 h 351"/>
                      <a:gd name="T40" fmla="*/ 54 w 516"/>
                      <a:gd name="T41" fmla="*/ 0 h 351"/>
                      <a:gd name="T42" fmla="*/ 43 w 516"/>
                      <a:gd name="T43" fmla="*/ 1 h 351"/>
                      <a:gd name="T44" fmla="*/ 33 w 516"/>
                      <a:gd name="T45" fmla="*/ 4 h 351"/>
                      <a:gd name="T46" fmla="*/ 24 w 516"/>
                      <a:gd name="T47" fmla="*/ 9 h 351"/>
                      <a:gd name="T48" fmla="*/ 16 w 516"/>
                      <a:gd name="T49" fmla="*/ 16 h 351"/>
                      <a:gd name="T50" fmla="*/ 9 w 516"/>
                      <a:gd name="T51" fmla="*/ 24 h 351"/>
                      <a:gd name="T52" fmla="*/ 4 w 516"/>
                      <a:gd name="T53" fmla="*/ 33 h 351"/>
                      <a:gd name="T54" fmla="*/ 1 w 516"/>
                      <a:gd name="T55" fmla="*/ 43 h 351"/>
                      <a:gd name="T56" fmla="*/ 0 w 516"/>
                      <a:gd name="T57" fmla="*/ 48 h 351"/>
                      <a:gd name="T58" fmla="*/ 0 w 516"/>
                      <a:gd name="T59" fmla="*/ 54 h 351"/>
                      <a:gd name="T60" fmla="*/ 0 w 516"/>
                      <a:gd name="T61" fmla="*/ 54 h 351"/>
                      <a:gd name="T62" fmla="*/ 0 w 516"/>
                      <a:gd name="T63" fmla="*/ 296 h 351"/>
                      <a:gd name="T64" fmla="*/ 0 w 516"/>
                      <a:gd name="T65" fmla="*/ 302 h 351"/>
                      <a:gd name="T66" fmla="*/ 1 w 516"/>
                      <a:gd name="T67" fmla="*/ 308 h 351"/>
                      <a:gd name="T68" fmla="*/ 4 w 516"/>
                      <a:gd name="T69" fmla="*/ 318 h 351"/>
                      <a:gd name="T70" fmla="*/ 9 w 516"/>
                      <a:gd name="T71" fmla="*/ 327 h 351"/>
                      <a:gd name="T72" fmla="*/ 16 w 516"/>
                      <a:gd name="T73" fmla="*/ 335 h 351"/>
                      <a:gd name="T74" fmla="*/ 24 w 516"/>
                      <a:gd name="T75" fmla="*/ 341 h 351"/>
                      <a:gd name="T76" fmla="*/ 33 w 516"/>
                      <a:gd name="T77" fmla="*/ 346 h 351"/>
                      <a:gd name="T78" fmla="*/ 43 w 516"/>
                      <a:gd name="T79" fmla="*/ 350 h 351"/>
                      <a:gd name="T80" fmla="*/ 54 w 516"/>
                      <a:gd name="T81" fmla="*/ 351 h 351"/>
                      <a:gd name="T82" fmla="*/ 462 w 516"/>
                      <a:gd name="T83" fmla="*/ 351 h 351"/>
                      <a:gd name="T84" fmla="*/ 462 w 516"/>
                      <a:gd name="T85" fmla="*/ 351 h 35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516"/>
                      <a:gd name="T130" fmla="*/ 0 h 351"/>
                      <a:gd name="T131" fmla="*/ 516 w 516"/>
                      <a:gd name="T132" fmla="*/ 351 h 35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516" h="351">
                        <a:moveTo>
                          <a:pt x="462" y="351"/>
                        </a:moveTo>
                        <a:lnTo>
                          <a:pt x="473" y="350"/>
                        </a:lnTo>
                        <a:lnTo>
                          <a:pt x="483" y="346"/>
                        </a:lnTo>
                        <a:lnTo>
                          <a:pt x="492" y="341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2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2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2" y="0"/>
                        </a:lnTo>
                        <a:lnTo>
                          <a:pt x="54" y="0"/>
                        </a:lnTo>
                        <a:lnTo>
                          <a:pt x="43" y="1"/>
                        </a:lnTo>
                        <a:lnTo>
                          <a:pt x="33" y="4"/>
                        </a:lnTo>
                        <a:lnTo>
                          <a:pt x="24" y="9"/>
                        </a:lnTo>
                        <a:lnTo>
                          <a:pt x="16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6" y="335"/>
                        </a:lnTo>
                        <a:lnTo>
                          <a:pt x="24" y="341"/>
                        </a:lnTo>
                        <a:lnTo>
                          <a:pt x="33" y="346"/>
                        </a:lnTo>
                        <a:lnTo>
                          <a:pt x="43" y="350"/>
                        </a:lnTo>
                        <a:lnTo>
                          <a:pt x="54" y="351"/>
                        </a:lnTo>
                        <a:lnTo>
                          <a:pt x="462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87" name="Rectangle 397"/>
                  <p:cNvSpPr>
                    <a:spLocks noChangeArrowheads="1"/>
                  </p:cNvSpPr>
                  <p:nvPr/>
                </p:nvSpPr>
                <p:spPr bwMode="auto">
                  <a:xfrm>
                    <a:off x="3055" y="3342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88" name="Rectangle 400"/>
                  <p:cNvSpPr>
                    <a:spLocks noChangeArrowheads="1"/>
                  </p:cNvSpPr>
                  <p:nvPr/>
                </p:nvSpPr>
                <p:spPr bwMode="auto">
                  <a:xfrm>
                    <a:off x="3065" y="3400"/>
                    <a:ext cx="36" cy="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rgbClr val="0077A9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pt-BR" sz="600">
                        <a:solidFill>
                          <a:srgbClr val="000000"/>
                        </a:solidFill>
                      </a:rPr>
                      <a:t> </a:t>
                    </a:r>
                    <a:endParaRPr lang="en-US" altLang="pt-BR"/>
                  </a:p>
                </p:txBody>
              </p:sp>
              <p:sp>
                <p:nvSpPr>
                  <p:cNvPr id="37989" name="Freeform 402"/>
                  <p:cNvSpPr>
                    <a:spLocks/>
                  </p:cNvSpPr>
                  <p:nvPr/>
                </p:nvSpPr>
                <p:spPr bwMode="auto">
                  <a:xfrm>
                    <a:off x="3372" y="3227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6 h 351"/>
                      <a:gd name="T6" fmla="*/ 492 w 516"/>
                      <a:gd name="T7" fmla="*/ 341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1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1 w 516"/>
                      <a:gd name="T23" fmla="*/ 33 h 351"/>
                      <a:gd name="T24" fmla="*/ 506 w 516"/>
                      <a:gd name="T25" fmla="*/ 24 h 351"/>
                      <a:gd name="T26" fmla="*/ 500 w 516"/>
                      <a:gd name="T27" fmla="*/ 16 h 351"/>
                      <a:gd name="T28" fmla="*/ 492 w 516"/>
                      <a:gd name="T29" fmla="*/ 9 h 351"/>
                      <a:gd name="T30" fmla="*/ 483 w 516"/>
                      <a:gd name="T31" fmla="*/ 4 h 351"/>
                      <a:gd name="T32" fmla="*/ 473 w 516"/>
                      <a:gd name="T33" fmla="*/ 1 h 351"/>
                      <a:gd name="T34" fmla="*/ 461 w 516"/>
                      <a:gd name="T35" fmla="*/ 0 h 351"/>
                      <a:gd name="T36" fmla="*/ 461 w 516"/>
                      <a:gd name="T37" fmla="*/ 0 h 351"/>
                      <a:gd name="T38" fmla="*/ 53 w 516"/>
                      <a:gd name="T39" fmla="*/ 0 h 351"/>
                      <a:gd name="T40" fmla="*/ 43 w 516"/>
                      <a:gd name="T41" fmla="*/ 1 h 351"/>
                      <a:gd name="T42" fmla="*/ 32 w 516"/>
                      <a:gd name="T43" fmla="*/ 4 h 351"/>
                      <a:gd name="T44" fmla="*/ 23 w 516"/>
                      <a:gd name="T45" fmla="*/ 9 h 351"/>
                      <a:gd name="T46" fmla="*/ 15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48 h 351"/>
                      <a:gd name="T56" fmla="*/ 0 w 516"/>
                      <a:gd name="T57" fmla="*/ 54 h 351"/>
                      <a:gd name="T58" fmla="*/ 0 w 516"/>
                      <a:gd name="T59" fmla="*/ 54 h 351"/>
                      <a:gd name="T60" fmla="*/ 0 w 516"/>
                      <a:gd name="T61" fmla="*/ 296 h 351"/>
                      <a:gd name="T62" fmla="*/ 0 w 516"/>
                      <a:gd name="T63" fmla="*/ 296 h 351"/>
                      <a:gd name="T64" fmla="*/ 0 w 516"/>
                      <a:gd name="T65" fmla="*/ 302 h 351"/>
                      <a:gd name="T66" fmla="*/ 1 w 516"/>
                      <a:gd name="T67" fmla="*/ 308 h 351"/>
                      <a:gd name="T68" fmla="*/ 4 w 516"/>
                      <a:gd name="T69" fmla="*/ 318 h 351"/>
                      <a:gd name="T70" fmla="*/ 9 w 516"/>
                      <a:gd name="T71" fmla="*/ 327 h 351"/>
                      <a:gd name="T72" fmla="*/ 15 w 516"/>
                      <a:gd name="T73" fmla="*/ 335 h 351"/>
                      <a:gd name="T74" fmla="*/ 23 w 516"/>
                      <a:gd name="T75" fmla="*/ 341 h 351"/>
                      <a:gd name="T76" fmla="*/ 32 w 516"/>
                      <a:gd name="T77" fmla="*/ 346 h 351"/>
                      <a:gd name="T78" fmla="*/ 43 w 516"/>
                      <a:gd name="T79" fmla="*/ 350 h 351"/>
                      <a:gd name="T80" fmla="*/ 53 w 516"/>
                      <a:gd name="T81" fmla="*/ 351 h 351"/>
                      <a:gd name="T82" fmla="*/ 53 w 516"/>
                      <a:gd name="T83" fmla="*/ 351 h 351"/>
                      <a:gd name="T84" fmla="*/ 461 w 516"/>
                      <a:gd name="T85" fmla="*/ 351 h 351"/>
                      <a:gd name="T86" fmla="*/ 461 w 516"/>
                      <a:gd name="T87" fmla="*/ 351 h 351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516"/>
                      <a:gd name="T133" fmla="*/ 0 h 351"/>
                      <a:gd name="T134" fmla="*/ 516 w 516"/>
                      <a:gd name="T135" fmla="*/ 351 h 351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516" h="351">
                        <a:moveTo>
                          <a:pt x="461" y="351"/>
                        </a:moveTo>
                        <a:lnTo>
                          <a:pt x="473" y="350"/>
                        </a:lnTo>
                        <a:lnTo>
                          <a:pt x="483" y="346"/>
                        </a:lnTo>
                        <a:lnTo>
                          <a:pt x="492" y="341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3" y="1"/>
                        </a:lnTo>
                        <a:lnTo>
                          <a:pt x="32" y="4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1"/>
                        </a:lnTo>
                        <a:lnTo>
                          <a:pt x="32" y="346"/>
                        </a:lnTo>
                        <a:lnTo>
                          <a:pt x="43" y="350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  <a:close/>
                      </a:path>
                    </a:pathLst>
                  </a:custGeom>
                  <a:solidFill>
                    <a:srgbClr val="E8EEF7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7990" name="Freeform 403"/>
                  <p:cNvSpPr>
                    <a:spLocks/>
                  </p:cNvSpPr>
                  <p:nvPr/>
                </p:nvSpPr>
                <p:spPr bwMode="auto">
                  <a:xfrm>
                    <a:off x="3372" y="3227"/>
                    <a:ext cx="516" cy="351"/>
                  </a:xfrm>
                  <a:custGeom>
                    <a:avLst/>
                    <a:gdLst>
                      <a:gd name="T0" fmla="*/ 461 w 516"/>
                      <a:gd name="T1" fmla="*/ 351 h 351"/>
                      <a:gd name="T2" fmla="*/ 473 w 516"/>
                      <a:gd name="T3" fmla="*/ 350 h 351"/>
                      <a:gd name="T4" fmla="*/ 483 w 516"/>
                      <a:gd name="T5" fmla="*/ 346 h 351"/>
                      <a:gd name="T6" fmla="*/ 492 w 516"/>
                      <a:gd name="T7" fmla="*/ 341 h 351"/>
                      <a:gd name="T8" fmla="*/ 500 w 516"/>
                      <a:gd name="T9" fmla="*/ 335 h 351"/>
                      <a:gd name="T10" fmla="*/ 506 w 516"/>
                      <a:gd name="T11" fmla="*/ 327 h 351"/>
                      <a:gd name="T12" fmla="*/ 511 w 516"/>
                      <a:gd name="T13" fmla="*/ 318 h 351"/>
                      <a:gd name="T14" fmla="*/ 515 w 516"/>
                      <a:gd name="T15" fmla="*/ 308 h 351"/>
                      <a:gd name="T16" fmla="*/ 516 w 516"/>
                      <a:gd name="T17" fmla="*/ 296 h 351"/>
                      <a:gd name="T18" fmla="*/ 516 w 516"/>
                      <a:gd name="T19" fmla="*/ 54 h 351"/>
                      <a:gd name="T20" fmla="*/ 515 w 516"/>
                      <a:gd name="T21" fmla="*/ 43 h 351"/>
                      <a:gd name="T22" fmla="*/ 511 w 516"/>
                      <a:gd name="T23" fmla="*/ 33 h 351"/>
                      <a:gd name="T24" fmla="*/ 506 w 516"/>
                      <a:gd name="T25" fmla="*/ 24 h 351"/>
                      <a:gd name="T26" fmla="*/ 500 w 516"/>
                      <a:gd name="T27" fmla="*/ 16 h 351"/>
                      <a:gd name="T28" fmla="*/ 492 w 516"/>
                      <a:gd name="T29" fmla="*/ 9 h 351"/>
                      <a:gd name="T30" fmla="*/ 483 w 516"/>
                      <a:gd name="T31" fmla="*/ 4 h 351"/>
                      <a:gd name="T32" fmla="*/ 473 w 516"/>
                      <a:gd name="T33" fmla="*/ 1 h 351"/>
                      <a:gd name="T34" fmla="*/ 461 w 516"/>
                      <a:gd name="T35" fmla="*/ 0 h 351"/>
                      <a:gd name="T36" fmla="*/ 461 w 516"/>
                      <a:gd name="T37" fmla="*/ 0 h 351"/>
                      <a:gd name="T38" fmla="*/ 53 w 516"/>
                      <a:gd name="T39" fmla="*/ 0 h 351"/>
                      <a:gd name="T40" fmla="*/ 43 w 516"/>
                      <a:gd name="T41" fmla="*/ 1 h 351"/>
                      <a:gd name="T42" fmla="*/ 32 w 516"/>
                      <a:gd name="T43" fmla="*/ 4 h 351"/>
                      <a:gd name="T44" fmla="*/ 23 w 516"/>
                      <a:gd name="T45" fmla="*/ 9 h 351"/>
                      <a:gd name="T46" fmla="*/ 15 w 516"/>
                      <a:gd name="T47" fmla="*/ 16 h 351"/>
                      <a:gd name="T48" fmla="*/ 9 w 516"/>
                      <a:gd name="T49" fmla="*/ 24 h 351"/>
                      <a:gd name="T50" fmla="*/ 4 w 516"/>
                      <a:gd name="T51" fmla="*/ 33 h 351"/>
                      <a:gd name="T52" fmla="*/ 1 w 516"/>
                      <a:gd name="T53" fmla="*/ 43 h 351"/>
                      <a:gd name="T54" fmla="*/ 0 w 516"/>
                      <a:gd name="T55" fmla="*/ 48 h 351"/>
                      <a:gd name="T56" fmla="*/ 0 w 516"/>
                      <a:gd name="T57" fmla="*/ 54 h 351"/>
                      <a:gd name="T58" fmla="*/ 0 w 516"/>
                      <a:gd name="T59" fmla="*/ 54 h 351"/>
                      <a:gd name="T60" fmla="*/ 0 w 516"/>
                      <a:gd name="T61" fmla="*/ 296 h 351"/>
                      <a:gd name="T62" fmla="*/ 0 w 516"/>
                      <a:gd name="T63" fmla="*/ 296 h 351"/>
                      <a:gd name="T64" fmla="*/ 0 w 516"/>
                      <a:gd name="T65" fmla="*/ 302 h 351"/>
                      <a:gd name="T66" fmla="*/ 1 w 516"/>
                      <a:gd name="T67" fmla="*/ 308 h 351"/>
                      <a:gd name="T68" fmla="*/ 4 w 516"/>
                      <a:gd name="T69" fmla="*/ 318 h 351"/>
                      <a:gd name="T70" fmla="*/ 9 w 516"/>
                      <a:gd name="T71" fmla="*/ 327 h 351"/>
                      <a:gd name="T72" fmla="*/ 15 w 516"/>
                      <a:gd name="T73" fmla="*/ 335 h 351"/>
                      <a:gd name="T74" fmla="*/ 23 w 516"/>
                      <a:gd name="T75" fmla="*/ 341 h 351"/>
                      <a:gd name="T76" fmla="*/ 32 w 516"/>
                      <a:gd name="T77" fmla="*/ 346 h 351"/>
                      <a:gd name="T78" fmla="*/ 43 w 516"/>
                      <a:gd name="T79" fmla="*/ 350 h 351"/>
                      <a:gd name="T80" fmla="*/ 53 w 516"/>
                      <a:gd name="T81" fmla="*/ 351 h 351"/>
                      <a:gd name="T82" fmla="*/ 53 w 516"/>
                      <a:gd name="T83" fmla="*/ 351 h 351"/>
                      <a:gd name="T84" fmla="*/ 461 w 516"/>
                      <a:gd name="T85" fmla="*/ 351 h 351"/>
                      <a:gd name="T86" fmla="*/ 461 w 516"/>
                      <a:gd name="T87" fmla="*/ 351 h 351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w 516"/>
                      <a:gd name="T133" fmla="*/ 0 h 351"/>
                      <a:gd name="T134" fmla="*/ 516 w 516"/>
                      <a:gd name="T135" fmla="*/ 351 h 351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T132" t="T133" r="T134" b="T135"/>
                    <a:pathLst>
                      <a:path w="516" h="351">
                        <a:moveTo>
                          <a:pt x="461" y="351"/>
                        </a:moveTo>
                        <a:lnTo>
                          <a:pt x="473" y="350"/>
                        </a:lnTo>
                        <a:lnTo>
                          <a:pt x="483" y="346"/>
                        </a:lnTo>
                        <a:lnTo>
                          <a:pt x="492" y="341"/>
                        </a:lnTo>
                        <a:lnTo>
                          <a:pt x="500" y="335"/>
                        </a:lnTo>
                        <a:lnTo>
                          <a:pt x="506" y="327"/>
                        </a:lnTo>
                        <a:lnTo>
                          <a:pt x="511" y="318"/>
                        </a:lnTo>
                        <a:lnTo>
                          <a:pt x="515" y="308"/>
                        </a:lnTo>
                        <a:lnTo>
                          <a:pt x="516" y="296"/>
                        </a:lnTo>
                        <a:lnTo>
                          <a:pt x="516" y="54"/>
                        </a:lnTo>
                        <a:lnTo>
                          <a:pt x="515" y="43"/>
                        </a:lnTo>
                        <a:lnTo>
                          <a:pt x="511" y="33"/>
                        </a:lnTo>
                        <a:lnTo>
                          <a:pt x="506" y="24"/>
                        </a:lnTo>
                        <a:lnTo>
                          <a:pt x="500" y="16"/>
                        </a:lnTo>
                        <a:lnTo>
                          <a:pt x="492" y="9"/>
                        </a:lnTo>
                        <a:lnTo>
                          <a:pt x="483" y="4"/>
                        </a:lnTo>
                        <a:lnTo>
                          <a:pt x="473" y="1"/>
                        </a:lnTo>
                        <a:lnTo>
                          <a:pt x="461" y="0"/>
                        </a:lnTo>
                        <a:lnTo>
                          <a:pt x="53" y="0"/>
                        </a:lnTo>
                        <a:lnTo>
                          <a:pt x="43" y="1"/>
                        </a:lnTo>
                        <a:lnTo>
                          <a:pt x="32" y="4"/>
                        </a:lnTo>
                        <a:lnTo>
                          <a:pt x="23" y="9"/>
                        </a:lnTo>
                        <a:lnTo>
                          <a:pt x="15" y="16"/>
                        </a:lnTo>
                        <a:lnTo>
                          <a:pt x="9" y="24"/>
                        </a:lnTo>
                        <a:lnTo>
                          <a:pt x="4" y="33"/>
                        </a:lnTo>
                        <a:lnTo>
                          <a:pt x="1" y="43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0" y="296"/>
                        </a:lnTo>
                        <a:lnTo>
                          <a:pt x="0" y="302"/>
                        </a:lnTo>
                        <a:lnTo>
                          <a:pt x="1" y="308"/>
                        </a:lnTo>
                        <a:lnTo>
                          <a:pt x="4" y="318"/>
                        </a:lnTo>
                        <a:lnTo>
                          <a:pt x="9" y="327"/>
                        </a:lnTo>
                        <a:lnTo>
                          <a:pt x="15" y="335"/>
                        </a:lnTo>
                        <a:lnTo>
                          <a:pt x="23" y="341"/>
                        </a:lnTo>
                        <a:lnTo>
                          <a:pt x="32" y="346"/>
                        </a:lnTo>
                        <a:lnTo>
                          <a:pt x="43" y="350"/>
                        </a:lnTo>
                        <a:lnTo>
                          <a:pt x="53" y="351"/>
                        </a:lnTo>
                        <a:lnTo>
                          <a:pt x="461" y="351"/>
                        </a:lnTo>
                      </a:path>
                    </a:pathLst>
                  </a:custGeom>
                  <a:noFill/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37895" name="TextBox 148"/>
              <p:cNvSpPr txBox="1">
                <a:spLocks noChangeArrowheads="1"/>
              </p:cNvSpPr>
              <p:nvPr/>
            </p:nvSpPr>
            <p:spPr bwMode="auto">
              <a:xfrm>
                <a:off x="898498" y="1307995"/>
                <a:ext cx="914400" cy="604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EDM01 Garantir 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definição da estrutura de governança e manutenção</a:t>
                </a:r>
              </a:p>
            </p:txBody>
          </p:sp>
          <p:sp>
            <p:nvSpPr>
              <p:cNvPr id="37896" name="TextBox 149"/>
              <p:cNvSpPr txBox="1">
                <a:spLocks noChangeArrowheads="1"/>
              </p:cNvSpPr>
              <p:nvPr/>
            </p:nvSpPr>
            <p:spPr bwMode="auto">
              <a:xfrm>
                <a:off x="2251757" y="1386596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EDM02 Garantir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entrega de valor (benefícios)</a:t>
                </a:r>
              </a:p>
            </p:txBody>
          </p:sp>
          <p:sp>
            <p:nvSpPr>
              <p:cNvPr id="37897" name="TextBox 150"/>
              <p:cNvSpPr txBox="1">
                <a:spLocks noChangeArrowheads="1"/>
              </p:cNvSpPr>
              <p:nvPr/>
            </p:nvSpPr>
            <p:spPr bwMode="auto">
              <a:xfrm>
                <a:off x="3588549" y="1386596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EDM03 Garantir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otimização de riscos</a:t>
                </a:r>
              </a:p>
            </p:txBody>
          </p:sp>
          <p:sp>
            <p:nvSpPr>
              <p:cNvPr id="37898" name="TextBox 151"/>
              <p:cNvSpPr txBox="1">
                <a:spLocks noChangeArrowheads="1"/>
              </p:cNvSpPr>
              <p:nvPr/>
            </p:nvSpPr>
            <p:spPr bwMode="auto">
              <a:xfrm>
                <a:off x="4876800" y="1376453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EDM04 Garantir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otimização de recursos</a:t>
                </a:r>
              </a:p>
            </p:txBody>
          </p:sp>
          <p:sp>
            <p:nvSpPr>
              <p:cNvPr id="37899" name="TextBox 152"/>
              <p:cNvSpPr txBox="1">
                <a:spLocks noChangeArrowheads="1"/>
              </p:cNvSpPr>
              <p:nvPr/>
            </p:nvSpPr>
            <p:spPr bwMode="auto">
              <a:xfrm>
                <a:off x="6172200" y="1307995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EDM05 Garantir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transparência das partes interessadas</a:t>
                </a:r>
              </a:p>
            </p:txBody>
          </p:sp>
          <p:sp>
            <p:nvSpPr>
              <p:cNvPr id="37900" name="TextBox 153"/>
              <p:cNvSpPr txBox="1">
                <a:spLocks noChangeArrowheads="1"/>
              </p:cNvSpPr>
              <p:nvPr/>
            </p:nvSpPr>
            <p:spPr bwMode="auto">
              <a:xfrm>
                <a:off x="903828" y="2411970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APO01 Gerenciar estrutura de gerenciamento de TI</a:t>
                </a:r>
              </a:p>
            </p:txBody>
          </p:sp>
          <p:sp>
            <p:nvSpPr>
              <p:cNvPr id="37901" name="TextBox 154"/>
              <p:cNvSpPr txBox="1">
                <a:spLocks noChangeArrowheads="1"/>
              </p:cNvSpPr>
              <p:nvPr/>
            </p:nvSpPr>
            <p:spPr bwMode="auto">
              <a:xfrm>
                <a:off x="1771548" y="2450068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APO02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estratégia</a:t>
                </a:r>
              </a:p>
            </p:txBody>
          </p:sp>
          <p:sp>
            <p:nvSpPr>
              <p:cNvPr id="37902" name="TextBox 155"/>
              <p:cNvSpPr txBox="1">
                <a:spLocks noChangeArrowheads="1"/>
              </p:cNvSpPr>
              <p:nvPr/>
            </p:nvSpPr>
            <p:spPr bwMode="auto">
              <a:xfrm>
                <a:off x="3536916" y="2450343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APO04 Gerenciar a inovação</a:t>
                </a:r>
              </a:p>
            </p:txBody>
          </p:sp>
          <p:sp>
            <p:nvSpPr>
              <p:cNvPr id="37903" name="TextBox 156"/>
              <p:cNvSpPr txBox="1">
                <a:spLocks noChangeArrowheads="1"/>
              </p:cNvSpPr>
              <p:nvPr/>
            </p:nvSpPr>
            <p:spPr bwMode="auto">
              <a:xfrm>
                <a:off x="2667000" y="2411970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APO03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arquitetura corporativa</a:t>
                </a:r>
              </a:p>
            </p:txBody>
          </p:sp>
          <p:sp>
            <p:nvSpPr>
              <p:cNvPr id="37904" name="TextBox 157"/>
              <p:cNvSpPr txBox="1">
                <a:spLocks noChangeArrowheads="1"/>
              </p:cNvSpPr>
              <p:nvPr/>
            </p:nvSpPr>
            <p:spPr bwMode="auto">
              <a:xfrm>
                <a:off x="4419600" y="2448972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APO05 Gerenciar o portfólio</a:t>
                </a:r>
              </a:p>
            </p:txBody>
          </p:sp>
          <p:sp>
            <p:nvSpPr>
              <p:cNvPr id="37905" name="TextBox 158"/>
              <p:cNvSpPr txBox="1">
                <a:spLocks noChangeArrowheads="1"/>
              </p:cNvSpPr>
              <p:nvPr/>
            </p:nvSpPr>
            <p:spPr bwMode="auto">
              <a:xfrm>
                <a:off x="5334000" y="2450343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APO06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o orçamento e os custos</a:t>
                </a:r>
              </a:p>
            </p:txBody>
          </p:sp>
          <p:sp>
            <p:nvSpPr>
              <p:cNvPr id="37906" name="TextBox 159"/>
              <p:cNvSpPr txBox="1">
                <a:spLocks noChangeArrowheads="1"/>
              </p:cNvSpPr>
              <p:nvPr/>
            </p:nvSpPr>
            <p:spPr bwMode="auto">
              <a:xfrm>
                <a:off x="6172200" y="2448972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APO07 Gerenciar os recursos humanos</a:t>
                </a:r>
              </a:p>
            </p:txBody>
          </p:sp>
          <p:sp>
            <p:nvSpPr>
              <p:cNvPr id="37907" name="TextBox 160"/>
              <p:cNvSpPr txBox="1">
                <a:spLocks noChangeArrowheads="1"/>
              </p:cNvSpPr>
              <p:nvPr/>
            </p:nvSpPr>
            <p:spPr bwMode="auto">
              <a:xfrm>
                <a:off x="903828" y="3075801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APO08 Gerenciar as relações</a:t>
                </a:r>
              </a:p>
            </p:txBody>
          </p:sp>
          <p:sp>
            <p:nvSpPr>
              <p:cNvPr id="37908" name="TextBox 161"/>
              <p:cNvSpPr txBox="1">
                <a:spLocks noChangeArrowheads="1"/>
              </p:cNvSpPr>
              <p:nvPr/>
            </p:nvSpPr>
            <p:spPr bwMode="auto">
              <a:xfrm>
                <a:off x="1771548" y="3036328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APO09 Gerenciar os contratos de serviços</a:t>
                </a:r>
              </a:p>
            </p:txBody>
          </p:sp>
          <p:sp>
            <p:nvSpPr>
              <p:cNvPr id="37909" name="TextBox 162"/>
              <p:cNvSpPr txBox="1">
                <a:spLocks noChangeArrowheads="1"/>
              </p:cNvSpPr>
              <p:nvPr/>
            </p:nvSpPr>
            <p:spPr bwMode="auto">
              <a:xfrm>
                <a:off x="3536916" y="3066325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APO11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qualidade</a:t>
                </a:r>
              </a:p>
            </p:txBody>
          </p:sp>
          <p:sp>
            <p:nvSpPr>
              <p:cNvPr id="37910" name="TextBox 163"/>
              <p:cNvSpPr txBox="1">
                <a:spLocks noChangeArrowheads="1"/>
              </p:cNvSpPr>
              <p:nvPr/>
            </p:nvSpPr>
            <p:spPr bwMode="auto">
              <a:xfrm>
                <a:off x="2667000" y="3063858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APO10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os fornecedores</a:t>
                </a:r>
              </a:p>
            </p:txBody>
          </p:sp>
          <p:sp>
            <p:nvSpPr>
              <p:cNvPr id="37911" name="TextBox 164"/>
              <p:cNvSpPr txBox="1">
                <a:spLocks noChangeArrowheads="1"/>
              </p:cNvSpPr>
              <p:nvPr/>
            </p:nvSpPr>
            <p:spPr bwMode="auto">
              <a:xfrm>
                <a:off x="4419600" y="3064954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APO12 Gerenciar os riscos</a:t>
                </a:r>
              </a:p>
            </p:txBody>
          </p:sp>
          <p:sp>
            <p:nvSpPr>
              <p:cNvPr id="37912" name="TextBox 165"/>
              <p:cNvSpPr txBox="1">
                <a:spLocks noChangeArrowheads="1"/>
              </p:cNvSpPr>
              <p:nvPr/>
            </p:nvSpPr>
            <p:spPr bwMode="auto">
              <a:xfrm>
                <a:off x="5334000" y="3066325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APO13 Gerenciar a segurança</a:t>
                </a:r>
              </a:p>
            </p:txBody>
          </p:sp>
          <p:sp>
            <p:nvSpPr>
              <p:cNvPr id="37913" name="TextBox 166"/>
              <p:cNvSpPr txBox="1">
                <a:spLocks noChangeArrowheads="1"/>
              </p:cNvSpPr>
              <p:nvPr/>
            </p:nvSpPr>
            <p:spPr bwMode="auto">
              <a:xfrm>
                <a:off x="914401" y="3886200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BAI01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programas y projetos</a:t>
                </a:r>
              </a:p>
            </p:txBody>
          </p:sp>
          <p:sp>
            <p:nvSpPr>
              <p:cNvPr id="37914" name="TextBox 167"/>
              <p:cNvSpPr txBox="1">
                <a:spLocks noChangeArrowheads="1"/>
              </p:cNvSpPr>
              <p:nvPr/>
            </p:nvSpPr>
            <p:spPr bwMode="auto">
              <a:xfrm>
                <a:off x="1782120" y="3897868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BAI02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definição de requisitos</a:t>
                </a:r>
              </a:p>
            </p:txBody>
          </p:sp>
          <p:sp>
            <p:nvSpPr>
              <p:cNvPr id="37915" name="TextBox 168"/>
              <p:cNvSpPr txBox="1">
                <a:spLocks noChangeArrowheads="1"/>
              </p:cNvSpPr>
              <p:nvPr/>
            </p:nvSpPr>
            <p:spPr bwMode="auto">
              <a:xfrm>
                <a:off x="3547488" y="3910910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BAI04 Gerenciar a disponibilidade e capacidade</a:t>
                </a:r>
              </a:p>
            </p:txBody>
          </p:sp>
          <p:sp>
            <p:nvSpPr>
              <p:cNvPr id="37916" name="TextBox 169"/>
              <p:cNvSpPr txBox="1">
                <a:spLocks noChangeArrowheads="1"/>
              </p:cNvSpPr>
              <p:nvPr/>
            </p:nvSpPr>
            <p:spPr bwMode="auto">
              <a:xfrm>
                <a:off x="2677572" y="3867252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BAI03 Gerenciar</a:t>
                </a:r>
                <a:br>
                  <a:rPr lang="pt-BR" altLang="pt-BR" sz="600">
                    <a:solidFill>
                      <a:schemeClr val="tx1"/>
                    </a:solidFill>
                  </a:rPr>
                </a:br>
                <a:r>
                  <a:rPr lang="pt-BR" altLang="pt-BR" sz="600">
                    <a:solidFill>
                      <a:schemeClr val="tx1"/>
                    </a:solidFill>
                  </a:rPr>
                  <a:t>a identificação e construção de soluções</a:t>
                </a:r>
              </a:p>
            </p:txBody>
          </p:sp>
          <p:sp>
            <p:nvSpPr>
              <p:cNvPr id="37917" name="TextBox 170"/>
              <p:cNvSpPr txBox="1">
                <a:spLocks noChangeArrowheads="1"/>
              </p:cNvSpPr>
              <p:nvPr/>
            </p:nvSpPr>
            <p:spPr bwMode="auto">
              <a:xfrm>
                <a:off x="4430172" y="3861966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BAI05 Gerenciar a promoção de mudança organizacional</a:t>
                </a:r>
              </a:p>
            </p:txBody>
          </p:sp>
          <p:sp>
            <p:nvSpPr>
              <p:cNvPr id="37918" name="TextBox 171"/>
              <p:cNvSpPr txBox="1">
                <a:spLocks noChangeArrowheads="1"/>
              </p:cNvSpPr>
              <p:nvPr/>
            </p:nvSpPr>
            <p:spPr bwMode="auto">
              <a:xfrm>
                <a:off x="5312856" y="3932055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BAI06 Gerenciar mudanças</a:t>
                </a:r>
              </a:p>
            </p:txBody>
          </p:sp>
          <p:sp>
            <p:nvSpPr>
              <p:cNvPr id="37919" name="TextBox 172"/>
              <p:cNvSpPr txBox="1">
                <a:spLocks noChangeArrowheads="1"/>
              </p:cNvSpPr>
              <p:nvPr/>
            </p:nvSpPr>
            <p:spPr bwMode="auto">
              <a:xfrm>
                <a:off x="6182772" y="3865056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BAI07 Gerenciar o aceite da mudança e transição</a:t>
                </a:r>
              </a:p>
            </p:txBody>
          </p:sp>
          <p:sp>
            <p:nvSpPr>
              <p:cNvPr id="37920" name="TextBox 173"/>
              <p:cNvSpPr txBox="1">
                <a:spLocks noChangeArrowheads="1"/>
              </p:cNvSpPr>
              <p:nvPr/>
            </p:nvSpPr>
            <p:spPr bwMode="auto">
              <a:xfrm>
                <a:off x="914401" y="4572000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BAI08 Gerenciar o conhecimento</a:t>
                </a:r>
              </a:p>
            </p:txBody>
          </p:sp>
          <p:sp>
            <p:nvSpPr>
              <p:cNvPr id="37921" name="TextBox 174"/>
              <p:cNvSpPr txBox="1">
                <a:spLocks noChangeArrowheads="1"/>
              </p:cNvSpPr>
              <p:nvPr/>
            </p:nvSpPr>
            <p:spPr bwMode="auto">
              <a:xfrm>
                <a:off x="1782120" y="4572000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BAI09 Gerenciar os ativos</a:t>
                </a:r>
              </a:p>
            </p:txBody>
          </p:sp>
          <p:sp>
            <p:nvSpPr>
              <p:cNvPr id="37922" name="TextBox 175"/>
              <p:cNvSpPr txBox="1">
                <a:spLocks noChangeArrowheads="1"/>
              </p:cNvSpPr>
              <p:nvPr/>
            </p:nvSpPr>
            <p:spPr bwMode="auto">
              <a:xfrm>
                <a:off x="2677572" y="4572000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BAI10 Gerenciar a configuração</a:t>
                </a:r>
              </a:p>
            </p:txBody>
          </p:sp>
          <p:sp>
            <p:nvSpPr>
              <p:cNvPr id="37923" name="TextBox 176"/>
              <p:cNvSpPr txBox="1">
                <a:spLocks noChangeArrowheads="1"/>
              </p:cNvSpPr>
              <p:nvPr/>
            </p:nvSpPr>
            <p:spPr bwMode="auto">
              <a:xfrm>
                <a:off x="914401" y="5577840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DSS01 Gerenciar as operações</a:t>
                </a:r>
              </a:p>
            </p:txBody>
          </p:sp>
          <p:sp>
            <p:nvSpPr>
              <p:cNvPr id="37924" name="TextBox 177"/>
              <p:cNvSpPr txBox="1">
                <a:spLocks noChangeArrowheads="1"/>
              </p:cNvSpPr>
              <p:nvPr/>
            </p:nvSpPr>
            <p:spPr bwMode="auto">
              <a:xfrm>
                <a:off x="1782120" y="5486400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DSS02 Gerenciar as requisições de serviços  e os incidentes</a:t>
                </a:r>
              </a:p>
            </p:txBody>
          </p:sp>
          <p:sp>
            <p:nvSpPr>
              <p:cNvPr id="37925" name="TextBox 178"/>
              <p:cNvSpPr txBox="1">
                <a:spLocks noChangeArrowheads="1"/>
              </p:cNvSpPr>
              <p:nvPr/>
            </p:nvSpPr>
            <p:spPr bwMode="auto">
              <a:xfrm>
                <a:off x="3547488" y="5577840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DSS04 Gerenciar a continuidade</a:t>
                </a:r>
              </a:p>
            </p:txBody>
          </p:sp>
          <p:sp>
            <p:nvSpPr>
              <p:cNvPr id="37926" name="TextBox 179"/>
              <p:cNvSpPr txBox="1">
                <a:spLocks noChangeArrowheads="1"/>
              </p:cNvSpPr>
              <p:nvPr/>
            </p:nvSpPr>
            <p:spPr bwMode="auto">
              <a:xfrm>
                <a:off x="2677572" y="5574268"/>
                <a:ext cx="914400" cy="302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DSS03 Gerenciar problemas</a:t>
                </a:r>
              </a:p>
            </p:txBody>
          </p:sp>
          <p:sp>
            <p:nvSpPr>
              <p:cNvPr id="37927" name="TextBox 180"/>
              <p:cNvSpPr txBox="1">
                <a:spLocks noChangeArrowheads="1"/>
              </p:cNvSpPr>
              <p:nvPr/>
            </p:nvSpPr>
            <p:spPr bwMode="auto">
              <a:xfrm>
                <a:off x="4430172" y="5559552"/>
                <a:ext cx="914400" cy="403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DSS05 Gerenciar os serviços de segurança</a:t>
                </a:r>
              </a:p>
            </p:txBody>
          </p:sp>
          <p:sp>
            <p:nvSpPr>
              <p:cNvPr id="37928" name="TextBox 181"/>
              <p:cNvSpPr txBox="1">
                <a:spLocks noChangeArrowheads="1"/>
              </p:cNvSpPr>
              <p:nvPr/>
            </p:nvSpPr>
            <p:spPr bwMode="auto">
              <a:xfrm>
                <a:off x="5334000" y="5559552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DSS06 Gerenciar os controles de processos de negócio</a:t>
                </a:r>
              </a:p>
            </p:txBody>
          </p:sp>
          <p:sp>
            <p:nvSpPr>
              <p:cNvPr id="37929" name="TextBox 182"/>
              <p:cNvSpPr txBox="1">
                <a:spLocks noChangeArrowheads="1"/>
              </p:cNvSpPr>
              <p:nvPr/>
            </p:nvSpPr>
            <p:spPr bwMode="auto">
              <a:xfrm>
                <a:off x="7294056" y="2819400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MEA01 Monitorar, avaliar e analisar o desempenho e conformidade</a:t>
                </a:r>
              </a:p>
            </p:txBody>
          </p:sp>
          <p:sp>
            <p:nvSpPr>
              <p:cNvPr id="37930" name="TextBox 183"/>
              <p:cNvSpPr txBox="1">
                <a:spLocks noChangeArrowheads="1"/>
              </p:cNvSpPr>
              <p:nvPr/>
            </p:nvSpPr>
            <p:spPr bwMode="auto">
              <a:xfrm>
                <a:off x="7291860" y="4136765"/>
                <a:ext cx="914400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MEA02 Monitorar, avaliar e analisar o sistema de controle interno</a:t>
                </a:r>
              </a:p>
            </p:txBody>
          </p:sp>
          <p:sp>
            <p:nvSpPr>
              <p:cNvPr id="37931" name="TextBox 184"/>
              <p:cNvSpPr txBox="1">
                <a:spLocks noChangeArrowheads="1"/>
              </p:cNvSpPr>
              <p:nvPr/>
            </p:nvSpPr>
            <p:spPr bwMode="auto">
              <a:xfrm>
                <a:off x="7265430" y="5473632"/>
                <a:ext cx="969456" cy="503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1pPr>
                <a:lvl2pPr marL="742950" indent="-28575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800" b="1">
                    <a:solidFill>
                      <a:srgbClr val="0077A9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0077A9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pt-BR" altLang="pt-BR" sz="600">
                    <a:solidFill>
                      <a:schemeClr val="tx1"/>
                    </a:solidFill>
                  </a:rPr>
                  <a:t>MEA03 Monitorar, avaliar e analisar a conformidade com requisitos externos</a:t>
                </a:r>
              </a:p>
            </p:txBody>
          </p:sp>
        </p:grpSp>
      </p:grpSp>
      <p:sp>
        <p:nvSpPr>
          <p:cNvPr id="186" name="object 3"/>
          <p:cNvSpPr txBox="1"/>
          <p:nvPr/>
        </p:nvSpPr>
        <p:spPr>
          <a:xfrm>
            <a:off x="78738" y="76200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COBIT 5 – Processos Habilitadores</a:t>
            </a:r>
          </a:p>
        </p:txBody>
      </p:sp>
    </p:spTree>
    <p:extLst>
      <p:ext uri="{BB962C8B-B14F-4D97-AF65-F5344CB8AC3E}">
        <p14:creationId xmlns:p14="http://schemas.microsoft.com/office/powerpoint/2010/main" val="426406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991226" y="4724400"/>
            <a:ext cx="504825" cy="342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Agenda</a:t>
            </a:r>
            <a:endParaRPr lang="pt-BR" dirty="0"/>
          </a:p>
        </p:txBody>
      </p:sp>
      <p:grpSp>
        <p:nvGrpSpPr>
          <p:cNvPr id="7" name="Grupo 6"/>
          <p:cNvGrpSpPr/>
          <p:nvPr/>
        </p:nvGrpSpPr>
        <p:grpSpPr>
          <a:xfrm>
            <a:off x="5609448" y="2525901"/>
            <a:ext cx="3305952" cy="3341499"/>
            <a:chOff x="6332981" y="1908202"/>
            <a:chExt cx="2732192" cy="2761569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2131" y="2995420"/>
              <a:ext cx="1131993" cy="6050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 descr="https://youthsectorconnect.com/wp-content/uploads/2014/11/PCI-Logo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981" y="1908202"/>
              <a:ext cx="2732192" cy="2761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287524" y="990600"/>
            <a:ext cx="7408676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O Sistema Toyota de Produção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Princípios </a:t>
            </a:r>
            <a:r>
              <a:rPr lang="pt-BR" sz="2800" dirty="0" err="1" smtClean="0">
                <a:solidFill>
                  <a:schemeClr val="tx2"/>
                </a:solidFill>
              </a:rPr>
              <a:t>Lean</a:t>
            </a:r>
            <a:endParaRPr lang="pt-BR" sz="2800" dirty="0" smtClean="0">
              <a:solidFill>
                <a:schemeClr val="tx2"/>
              </a:solidFill>
            </a:endParaRP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A cultura – ou mentalidade - </a:t>
            </a:r>
            <a:r>
              <a:rPr lang="pt-BR" sz="2800" dirty="0" err="1" smtClean="0">
                <a:solidFill>
                  <a:schemeClr val="tx2"/>
                </a:solidFill>
              </a:rPr>
              <a:t>Lean</a:t>
            </a:r>
            <a:endParaRPr lang="pt-BR" sz="28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7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126265" y="990600"/>
            <a:ext cx="8899451" cy="4830689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nl-NL" b="0" dirty="0" smtClean="0"/>
              <a:t>Lean significa “enxuto”.</a:t>
            </a:r>
          </a:p>
          <a:p>
            <a:pPr algn="just"/>
            <a:endParaRPr lang="nl-NL" b="0" dirty="0" smtClean="0"/>
          </a:p>
          <a:p>
            <a:pPr algn="just"/>
            <a:r>
              <a:rPr lang="nl-NL" b="0" dirty="0" smtClean="0">
                <a:latin typeface="+mn-lt"/>
              </a:rPr>
              <a:t>Lean </a:t>
            </a:r>
            <a:r>
              <a:rPr lang="nl-NL" b="0" dirty="0">
                <a:latin typeface="+mn-lt"/>
              </a:rPr>
              <a:t>aborda como tornar sua organização mais </a:t>
            </a:r>
            <a:r>
              <a:rPr lang="nl-NL" b="0" dirty="0" smtClean="0">
                <a:latin typeface="+mn-lt"/>
              </a:rPr>
              <a:t>ágil, eficiente </a:t>
            </a:r>
            <a:r>
              <a:rPr lang="nl-NL" b="0" dirty="0">
                <a:latin typeface="+mn-lt"/>
              </a:rPr>
              <a:t>e capaz de responder as demandas </a:t>
            </a:r>
            <a:r>
              <a:rPr lang="nl-NL" b="0" dirty="0" smtClean="0">
                <a:latin typeface="+mn-lt"/>
              </a:rPr>
              <a:t>atuais.</a:t>
            </a:r>
          </a:p>
          <a:p>
            <a:pPr algn="just"/>
            <a:endParaRPr lang="nl-NL" dirty="0" smtClean="0">
              <a:latin typeface="+mn-lt"/>
            </a:endParaRPr>
          </a:p>
          <a:p>
            <a:pPr algn="just"/>
            <a:r>
              <a:rPr lang="pt-BR" dirty="0" smtClean="0">
                <a:latin typeface="+mn-lt"/>
              </a:rPr>
              <a:t>É </a:t>
            </a:r>
            <a:r>
              <a:rPr lang="pt-BR" dirty="0">
                <a:latin typeface="+mn-lt"/>
              </a:rPr>
              <a:t>uma forma de organizar </a:t>
            </a:r>
            <a:r>
              <a:rPr lang="pt-BR" dirty="0" smtClean="0">
                <a:latin typeface="+mn-lt"/>
              </a:rPr>
              <a:t>seus processos para </a:t>
            </a:r>
            <a:r>
              <a:rPr lang="pt-BR" dirty="0">
                <a:latin typeface="+mn-lt"/>
              </a:rPr>
              <a:t>que </a:t>
            </a:r>
            <a:r>
              <a:rPr lang="pt-BR" dirty="0" smtClean="0">
                <a:latin typeface="+mn-lt"/>
              </a:rPr>
              <a:t>qualquer desperdício seja eliminado, </a:t>
            </a:r>
            <a:r>
              <a:rPr lang="pt-BR" dirty="0">
                <a:latin typeface="+mn-lt"/>
              </a:rPr>
              <a:t>ou pelo menos fortemente </a:t>
            </a:r>
            <a:r>
              <a:rPr lang="pt-BR" dirty="0" smtClean="0">
                <a:latin typeface="+mn-lt"/>
              </a:rPr>
              <a:t>reduzido.</a:t>
            </a:r>
          </a:p>
          <a:p>
            <a:pPr algn="just"/>
            <a:endParaRPr lang="nl-NL" dirty="0">
              <a:latin typeface="+mn-lt"/>
            </a:endParaRPr>
          </a:p>
          <a:p>
            <a:pPr algn="just"/>
            <a:endParaRPr lang="nl-NL" b="0" dirty="0" smtClean="0">
              <a:latin typeface="+mn-lt"/>
            </a:endParaRPr>
          </a:p>
          <a:p>
            <a:pPr algn="just"/>
            <a:r>
              <a:rPr lang="nl-NL" b="0" dirty="0" smtClean="0">
                <a:latin typeface="+mn-lt"/>
              </a:rPr>
              <a:t>Originou-se no STP</a:t>
            </a:r>
          </a:p>
          <a:p>
            <a:pPr algn="just"/>
            <a:r>
              <a:rPr lang="nl-NL" b="1" dirty="0" smtClean="0">
                <a:latin typeface="+mn-lt"/>
              </a:rPr>
              <a:t>Sistema Toyota de Produção</a:t>
            </a:r>
            <a:r>
              <a:rPr lang="nl-NL" b="0" dirty="0" smtClean="0">
                <a:latin typeface="+mn-lt"/>
              </a:rPr>
              <a:t>.</a:t>
            </a:r>
            <a:endParaRPr lang="nl-NL" b="0" dirty="0">
              <a:latin typeface="+mn-lt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/>
              <a:t>LEAN IT – O que significa </a:t>
            </a:r>
            <a:r>
              <a:rPr lang="pt-BR" dirty="0" err="1"/>
              <a:t>Lean</a:t>
            </a:r>
            <a:r>
              <a:rPr lang="pt-BR" dirty="0"/>
              <a:t>?</a:t>
            </a:r>
          </a:p>
        </p:txBody>
      </p:sp>
      <p:pic>
        <p:nvPicPr>
          <p:cNvPr id="8" name="Imagem 7"/>
          <p:cNvPicPr/>
          <p:nvPr/>
        </p:nvPicPr>
        <p:blipFill rotWithShape="1">
          <a:blip r:embed="rId3"/>
          <a:srcRect l="13404" t="36702" r="34215" b="16245"/>
          <a:stretch/>
        </p:blipFill>
        <p:spPr bwMode="auto">
          <a:xfrm>
            <a:off x="4856430" y="4253518"/>
            <a:ext cx="4135170" cy="17547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8152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190500" y="76200"/>
            <a:ext cx="6915068" cy="591040"/>
          </a:xfrm>
        </p:spPr>
        <p:txBody>
          <a:bodyPr wrap="square" lIns="0" tIns="0" rIns="0" bIns="0" anchor="ctr">
            <a:noAutofit/>
          </a:bodyPr>
          <a:lstStyle/>
          <a:p>
            <a:pPr algn="l" rtl="0"/>
            <a:r>
              <a:rPr lang="en-US" sz="2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O </a:t>
            </a:r>
            <a:r>
              <a:rPr lang="pt-BR" sz="2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Sistema Toyota de Produção (STP)</a:t>
            </a:r>
            <a:endParaRPr lang="en-US" sz="2800" b="1" kern="12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1066800"/>
            <a:ext cx="8683631" cy="4827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Sistema Toyota de Produção (STP) foi desenvolvido por 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Taiichi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Ohno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Shigeo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Shingo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Eiji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Toyoda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entre 1948 e </a:t>
            </a:r>
            <a:r>
              <a:rPr lang="pt-BR" sz="28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1975 </a:t>
            </a:r>
            <a:r>
              <a:rPr lang="pt-BR" sz="2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(pós guerra</a:t>
            </a:r>
            <a:r>
              <a:rPr lang="pt-BR" sz="28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). </a:t>
            </a:r>
            <a:endParaRPr lang="pt-BR" sz="2000" b="1" kern="12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  <a:br>
              <a:rPr lang="pt-BR" sz="2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verdadeiro destaque do pensamento </a:t>
            </a:r>
            <a:r>
              <a:rPr lang="pt-BR" sz="2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Lean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no STP foi apenas demonstrado ao mundo quando as economias e organizações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 todo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mundo estavam tentando se recuperar partir da crise global do petróleo de 1973. 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Enquanto a maioria das empresas experimentava uma lenta recuperação da crise no período de 1974-1977, a Toyota estava se recuperando significativamente melhor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 todo mundo olhou para o oriente.</a:t>
            </a:r>
            <a:endParaRPr lang="pt-BR" sz="2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53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6761047" cy="514840"/>
          </a:xfrm>
        </p:spPr>
        <p:txBody>
          <a:bodyPr wrap="square" lIns="0" tIns="0" rIns="0" bIns="0" anchor="ctr">
            <a:noAutofit/>
          </a:bodyPr>
          <a:lstStyle/>
          <a:p>
            <a:pPr algn="l" rtl="0"/>
            <a:r>
              <a:rPr lang="en-US" sz="2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O </a:t>
            </a:r>
            <a:r>
              <a:rPr lang="pt-BR" sz="2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Sistema Toyota de Produção (STP)</a:t>
            </a:r>
            <a:endParaRPr lang="en-US" sz="2800" b="1" kern="12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28601" y="1066800"/>
            <a:ext cx="4343400" cy="4827587"/>
          </a:xfrm>
          <a:prstGeom prst="rect">
            <a:avLst/>
          </a:prstGeom>
        </p:spPr>
        <p:txBody>
          <a:bodyPr/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chave para o sucesso do Sistema Toyota de Produção foi o estudo da linha do tempo (</a:t>
            </a:r>
            <a:r>
              <a:rPr lang="pt-BR" sz="2800" i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timeline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) entre o pedido do cliente e a receita gerada / dinheiro ganho no final da linha de produção. 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/>
            </a:r>
            <a:b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principal objetivo era reduzir a linha do tempo, removendo “resíduos sem valor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agregado”.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pic>
        <p:nvPicPr>
          <p:cNvPr id="3074" name="Picture 2" descr="http://geekandpoke.typepad.com/.a/6a00d8341d3df553ef0120a5ef71dd970b-800w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939" y="980891"/>
            <a:ext cx="3554786" cy="503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78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990600"/>
            <a:ext cx="8683631" cy="4953000"/>
          </a:xfrm>
          <a:prstGeom prst="rect">
            <a:avLst/>
          </a:prstGeom>
        </p:spPr>
        <p:txBody>
          <a:bodyPr/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 seu livro "Sistema Toyota de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Produção”,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além da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produção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 larga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escala, </a:t>
            </a:r>
            <a:r>
              <a:rPr lang="pt-BR" sz="2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Taiichi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sz="2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Ohno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descreve os fatores decisivos para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desenvolvimento do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STP: 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Medo do crescimento lento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Durante as primeiras décadas após a Segunda Guerra Mundial os períodos de crescimento rápido entre 2 e 3 anos eram apenas interrompidos por pequenas desacelerações econômicas de aproximadamente seis meses. 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Mas, o que fazer durante longos períodos de crise? A produção reduzida só elevaria os custos, com redução de lucros. Era preciso reduzir custos, ganhar eficiência, eliminar desperdícios, pois os recursos eram escassos.</a:t>
            </a:r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Fatores Determinantes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706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1066800"/>
            <a:ext cx="8683631" cy="4953000"/>
          </a:xfrm>
          <a:prstGeom prst="rect">
            <a:avLst/>
          </a:prstGeom>
        </p:spPr>
        <p:txBody>
          <a:bodyPr/>
          <a:lstStyle/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8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Seguir conforme a América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primeiras indústrias japonesas imitavam os métodos de produção norte americanos.  Sistemas e ideias que foram adotadas incluíram o Controle da Qualidade </a:t>
            </a:r>
            <a:r>
              <a:rPr lang="en-US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Total (TCQ).</a:t>
            </a:r>
            <a:endParaRPr lang="pt-BR" sz="2400" kern="12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Fragilizados pela guerra, com recursos escassos, a Toyota percebeu a necessidade de perseguir a eliminação absoluta de desperdícios. Foram criados dois pilares para seus processos de produção: </a:t>
            </a: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endParaRPr lang="pt-BR" sz="2400" kern="12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61950" lvl="1" indent="-266700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</a:t>
            </a:r>
            <a:r>
              <a:rPr lang="pt-BR" sz="28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Jidoka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ou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automação 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(mas com </a:t>
            </a:r>
            <a:r>
              <a:rPr lang="pt-BR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um toque humano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);</a:t>
            </a:r>
            <a:endParaRPr lang="pt-BR" sz="2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361950" lvl="1" indent="-266700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</a:t>
            </a:r>
            <a:r>
              <a:rPr lang="pt-BR" sz="28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Just-In-Time</a:t>
            </a:r>
            <a:r>
              <a:rPr lang="pt-BR" sz="2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“ ou, consumir no momento exato. </a:t>
            </a:r>
            <a:endParaRPr lang="pt-BR" sz="28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lvl="1" algn="just" defTabSz="622300" rtl="0" fontAlgn="base">
              <a:lnSpc>
                <a:spcPct val="90000"/>
              </a:lnSpc>
              <a:spcAft>
                <a:spcPts val="1200"/>
              </a:spcAft>
              <a:buClr>
                <a:srgbClr val="7E0000"/>
              </a:buClr>
            </a:pPr>
            <a:endParaRPr 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Fatores Determinantes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52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1226413"/>
            <a:ext cx="8683631" cy="4827587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algn="just" defTabSz="622300" rtl="0" fontAlgn="base">
              <a:lnSpc>
                <a:spcPct val="11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chave para “</a:t>
            </a:r>
            <a:r>
              <a:rPr lang="pt-BR" sz="2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Just-in-Time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” em um processo de produção é que as peças </a:t>
            </a: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utilizadas - ou atividades - 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só são entregues no momento em que são necessárias, apenas na quantidade certa e com a qualidade exigida pelo </a:t>
            </a: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cliente, evitando estoques e custos de manuseio. Mas, como 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saber qual peça necessária deve ser produzida e entregue, onde e quando? </a:t>
            </a:r>
          </a:p>
          <a:p>
            <a:pPr lvl="1" algn="just" defTabSz="622300" rtl="0" fontAlgn="base">
              <a:lnSpc>
                <a:spcPct val="11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senso comum </a:t>
            </a: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resultou no desenvolvimento de uma sinalização para controle dos fluxos de produção. Nasceu o 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</a:t>
            </a:r>
            <a:r>
              <a:rPr lang="pt-BR" sz="2400" b="1" kern="1200" dirty="0" err="1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Kanban</a:t>
            </a: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“, 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significando sinal / farol ou painel de sinais / </a:t>
            </a: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faróis, que servem para </a:t>
            </a:r>
            <a:r>
              <a:rPr lang="pt-BR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fornecer informações de produção entre a solicitação e o recebimento do pedido de </a:t>
            </a:r>
            <a:r>
              <a:rPr lang="pt-BR" sz="2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produção.</a:t>
            </a:r>
            <a:endParaRPr lang="pt-BR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Just-in-Time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689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28600" y="1219200"/>
            <a:ext cx="8683631" cy="50292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1" algn="just" defTabSz="622300" rtl="0" fontAlgn="base">
              <a:spcAft>
                <a:spcPts val="1200"/>
              </a:spcAft>
              <a:buClr>
                <a:srgbClr val="7E0000"/>
              </a:buClr>
            </a:pPr>
            <a:r>
              <a:rPr lang="pt-BR" sz="2600" b="1" kern="1200" dirty="0" err="1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Jidoka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significa automação 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 um toque humano. </a:t>
            </a:r>
          </a:p>
          <a:p>
            <a:pPr lvl="1" algn="just" defTabSz="622300" rtl="0" fontAlgn="base">
              <a:spcAft>
                <a:spcPts val="1200"/>
              </a:spcAft>
              <a:buClr>
                <a:srgbClr val="7E0000"/>
              </a:buClr>
            </a:pPr>
            <a:endParaRPr lang="pt-BR" sz="2600" kern="1200" dirty="0" smtClean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lvl="1" algn="just" defTabSz="622300" rtl="0" fontAlgn="base">
              <a:spcAft>
                <a:spcPts val="1200"/>
              </a:spcAft>
              <a:buClr>
                <a:srgbClr val="7E0000"/>
              </a:buClr>
            </a:pP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As 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características chave são uma parada automática do 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dispositivo de modo a impedir 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produção de produtos defeituosos 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 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necessidade de um operador somente quando uma máquina está em "estado de parada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".</a:t>
            </a:r>
          </a:p>
          <a:p>
            <a:pPr lvl="1" algn="just" defTabSz="622300" rtl="0" fontAlgn="base">
              <a:spcAft>
                <a:spcPts val="1200"/>
              </a:spcAft>
              <a:buClr>
                <a:srgbClr val="7E0000"/>
              </a:buClr>
            </a:pPr>
            <a:r>
              <a:rPr lang="pt-BR" sz="2600" kern="1200" dirty="0" err="1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Jidoka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visa reduzir 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desperdício de 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superprodução e perdas por interrupções de produção. </a:t>
            </a:r>
            <a:endParaRPr lang="pt-BR" sz="26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lvl="1" algn="just" defTabSz="622300" rtl="0" fontAlgn="base">
              <a:spcAft>
                <a:spcPts val="1200"/>
              </a:spcAft>
              <a:buClr>
                <a:srgbClr val="7E0000"/>
              </a:buClr>
            </a:pP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Qualquer ação que impeça problemas, identifique problemas imediatamente e ajude as pessoas a descobrirem e resolverem problemas rapidamente, </a:t>
            </a:r>
            <a:r>
              <a:rPr lang="pt-BR" sz="2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é considerada </a:t>
            </a:r>
            <a:r>
              <a:rPr lang="pt-BR" sz="2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Jidoka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lvl="1" algn="just">
              <a:lnSpc>
                <a:spcPct val="160000"/>
              </a:lnSpc>
              <a:buFont typeface="Courier New" panose="02070309020205020404" pitchFamily="49" charset="0"/>
              <a:buChar char="o"/>
            </a:pPr>
            <a:endParaRPr lang="pt-BR" dirty="0"/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</a:t>
            </a:r>
            <a:r>
              <a:rPr lang="pt-BR" dirty="0" err="1" smtClean="0"/>
              <a:t>Jidoka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403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28600" y="838200"/>
            <a:ext cx="8683631" cy="5181600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algn="just" defTabSz="622300" rtl="0" fontAlgn="base">
              <a:lnSpc>
                <a:spcPct val="15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desafio de redução de custos era desenvolver a capacidade de um operador controlar muitas máquinas e o primeiro passo para isso foi a criação de um "Sistema de Fluxo“ a fim de estabelecer o fluxo de produção. A Toyota teve que romper com a tradição de ter empregos fixos para os operadores. </a:t>
            </a:r>
          </a:p>
          <a:p>
            <a:pPr lvl="1" algn="just" defTabSz="622300" rtl="0" fontAlgn="base">
              <a:lnSpc>
                <a:spcPct val="150000"/>
              </a:lnSpc>
              <a:spcAft>
                <a:spcPts val="1200"/>
              </a:spcAft>
              <a:buClr>
                <a:srgbClr val="7E0000"/>
              </a:buClr>
            </a:pP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 segundo passo foi a introdução de máquinas em linhas paralelas que permitiam aos operadores operarem mais de uma máquina simultaneamente.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Sistema de Fluxo de Produção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998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838200"/>
            <a:ext cx="8683631" cy="482758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1" algn="just"/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 5 princípios </a:t>
            </a:r>
            <a:r>
              <a:rPr lang="pt-BR" sz="2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Lean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também conhecidos como “Os 5 passos para orientar a implementação de técnicas </a:t>
            </a:r>
            <a:r>
              <a:rPr lang="pt-BR" sz="2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Lean</a:t>
            </a:r>
            <a:r>
              <a:rPr lang="pt-BR" sz="2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“, são: </a:t>
            </a:r>
          </a:p>
        </p:txBody>
      </p:sp>
      <p:graphicFrame>
        <p:nvGraphicFramePr>
          <p:cNvPr id="6" name="Diagram 3"/>
          <p:cNvGraphicFramePr/>
          <p:nvPr>
            <p:extLst>
              <p:ext uri="{D42A27DB-BD31-4B8C-83A1-F6EECF244321}">
                <p14:modId xmlns:p14="http://schemas.microsoft.com/office/powerpoint/2010/main" val="3725853313"/>
              </p:ext>
            </p:extLst>
          </p:nvPr>
        </p:nvGraphicFramePr>
        <p:xfrm>
          <a:off x="1587816" y="1676400"/>
          <a:ext cx="5701755" cy="4655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Os 5 Princípios </a:t>
            </a:r>
            <a:r>
              <a:rPr lang="pt-BR" dirty="0" err="1" smtClean="0"/>
              <a:t>Lean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60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914400"/>
            <a:ext cx="8683631" cy="5715000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algn="just"/>
            <a:r>
              <a:rPr lang="pt-BR" b="1" dirty="0">
                <a:latin typeface="+mn-lt"/>
              </a:rPr>
              <a:t>Identificar Valor</a:t>
            </a:r>
            <a:r>
              <a:rPr lang="pt-BR" dirty="0">
                <a:latin typeface="+mn-lt"/>
              </a:rPr>
              <a:t>: </a:t>
            </a:r>
            <a:r>
              <a:rPr lang="pt-BR" dirty="0" smtClean="0">
                <a:latin typeface="+mn-lt"/>
              </a:rPr>
              <a:t>especifica </a:t>
            </a:r>
            <a:r>
              <a:rPr lang="pt-BR" dirty="0">
                <a:latin typeface="+mn-lt"/>
              </a:rPr>
              <a:t>o valor do ponto de vista do cliente final por tipo de produto;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b="1" dirty="0">
                <a:latin typeface="+mn-lt"/>
              </a:rPr>
              <a:t>Mapear o Fluxo de </a:t>
            </a:r>
            <a:r>
              <a:rPr lang="pt-BR" b="1" dirty="0" smtClean="0">
                <a:latin typeface="+mn-lt"/>
              </a:rPr>
              <a:t>Valor</a:t>
            </a:r>
            <a:r>
              <a:rPr lang="pt-BR" dirty="0">
                <a:latin typeface="+mn-lt"/>
              </a:rPr>
              <a:t>:</a:t>
            </a:r>
            <a:r>
              <a:rPr lang="pt-BR" b="1" dirty="0">
                <a:latin typeface="+mn-lt"/>
              </a:rPr>
              <a:t> </a:t>
            </a:r>
            <a:r>
              <a:rPr lang="pt-BR" b="1" dirty="0" smtClean="0">
                <a:latin typeface="+mn-lt"/>
              </a:rPr>
              <a:t>i</a:t>
            </a:r>
            <a:r>
              <a:rPr lang="pt-BR" dirty="0" smtClean="0">
                <a:latin typeface="+mn-lt"/>
              </a:rPr>
              <a:t>dentifica </a:t>
            </a:r>
            <a:r>
              <a:rPr lang="pt-BR" dirty="0">
                <a:latin typeface="+mn-lt"/>
              </a:rPr>
              <a:t>todas as etapas da cadeia de valor para cada tipo de produto, eliminando sempre que possível, os passos que não criam valor;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b="1" dirty="0">
                <a:latin typeface="+mn-lt"/>
              </a:rPr>
              <a:t>Criar o Fluxo</a:t>
            </a:r>
            <a:r>
              <a:rPr lang="pt-BR" dirty="0">
                <a:latin typeface="+mn-lt"/>
              </a:rPr>
              <a:t>: </a:t>
            </a:r>
            <a:r>
              <a:rPr lang="pt-BR" dirty="0" smtClean="0">
                <a:latin typeface="+mn-lt"/>
              </a:rPr>
              <a:t>faz </a:t>
            </a:r>
            <a:r>
              <a:rPr lang="pt-BR" dirty="0">
                <a:latin typeface="+mn-lt"/>
              </a:rPr>
              <a:t>com que os passos de criação de valor ocorram em sequência justa de modo que o produto flua perfeitamente para o cliente;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b="1" dirty="0">
                <a:latin typeface="+mn-lt"/>
              </a:rPr>
              <a:t>Estabelecer </a:t>
            </a:r>
            <a:r>
              <a:rPr lang="pt-BR" b="1" i="1" dirty="0" err="1">
                <a:latin typeface="+mn-lt"/>
              </a:rPr>
              <a:t>Pull</a:t>
            </a:r>
            <a:r>
              <a:rPr lang="pt-BR" dirty="0">
                <a:latin typeface="+mn-lt"/>
              </a:rPr>
              <a:t>:  </a:t>
            </a:r>
            <a:r>
              <a:rPr lang="pt-BR" dirty="0" smtClean="0">
                <a:latin typeface="+mn-lt"/>
              </a:rPr>
              <a:t>assim </a:t>
            </a:r>
            <a:r>
              <a:rPr lang="pt-BR" dirty="0">
                <a:latin typeface="+mn-lt"/>
              </a:rPr>
              <a:t>que o fluxo é introduzido, permite os clientes tirarem valor da próxima atividade corrente;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b="1" dirty="0">
                <a:latin typeface="+mn-lt"/>
              </a:rPr>
              <a:t>Perseguir a Perfeição</a:t>
            </a:r>
            <a:r>
              <a:rPr lang="pt-BR" dirty="0">
                <a:latin typeface="+mn-lt"/>
              </a:rPr>
              <a:t>: </a:t>
            </a:r>
            <a:r>
              <a:rPr lang="pt-BR" dirty="0" smtClean="0">
                <a:latin typeface="+mn-lt"/>
              </a:rPr>
              <a:t>com </a:t>
            </a:r>
            <a:r>
              <a:rPr lang="pt-BR" dirty="0">
                <a:latin typeface="+mn-lt"/>
              </a:rPr>
              <a:t>o valor especificado, fluxos de valor identificados, passos desperdiçados removidos, fluxos e </a:t>
            </a:r>
            <a:r>
              <a:rPr lang="pt-BR" dirty="0" err="1">
                <a:latin typeface="+mn-lt"/>
              </a:rPr>
              <a:t>pull</a:t>
            </a:r>
            <a:r>
              <a:rPr lang="pt-BR" dirty="0">
                <a:latin typeface="+mn-lt"/>
              </a:rPr>
              <a:t> introduzidos, deve-se começar o processo novamente e continuar até que um estado de perfeição seja atingido, quando o valor perfeito for </a:t>
            </a:r>
            <a:r>
              <a:rPr lang="pt-BR" dirty="0" smtClean="0">
                <a:latin typeface="+mn-lt"/>
              </a:rPr>
              <a:t>criado, isto é, quando não houver  nenhum desperdício</a:t>
            </a:r>
            <a:r>
              <a:rPr lang="pt-BR" dirty="0">
                <a:latin typeface="+mn-lt"/>
              </a:rPr>
              <a:t>.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sz="2300" dirty="0">
                <a:solidFill>
                  <a:schemeClr val="bg1"/>
                </a:solidFill>
                <a:latin typeface="+mn-lt"/>
              </a:rPr>
              <a:t> </a:t>
            </a:r>
            <a:r>
              <a:rPr lang="pt-BR" sz="1500" dirty="0">
                <a:solidFill>
                  <a:schemeClr val="bg1"/>
                </a:solidFill>
                <a:latin typeface="+mn-lt"/>
              </a:rPr>
              <a:t>(fonte: </a:t>
            </a:r>
            <a:r>
              <a:rPr lang="pt-BR" sz="1500" i="1" dirty="0">
                <a:solidFill>
                  <a:schemeClr val="bg1"/>
                </a:solidFill>
                <a:latin typeface="+mn-lt"/>
              </a:rPr>
              <a:t>The </a:t>
            </a:r>
            <a:r>
              <a:rPr lang="pt-BR" sz="1500" i="1" dirty="0" err="1">
                <a:solidFill>
                  <a:schemeClr val="bg1"/>
                </a:solidFill>
                <a:latin typeface="+mn-lt"/>
              </a:rPr>
              <a:t>Lean</a:t>
            </a:r>
            <a:r>
              <a:rPr lang="pt-BR" sz="1500" i="1" dirty="0">
                <a:solidFill>
                  <a:schemeClr val="bg1"/>
                </a:solidFill>
                <a:latin typeface="+mn-lt"/>
              </a:rPr>
              <a:t> Enterprise </a:t>
            </a:r>
            <a:r>
              <a:rPr lang="pt-BR" sz="1500" i="1" dirty="0" err="1">
                <a:solidFill>
                  <a:schemeClr val="bg1"/>
                </a:solidFill>
                <a:latin typeface="+mn-lt"/>
              </a:rPr>
              <a:t>Institute</a:t>
            </a:r>
            <a:r>
              <a:rPr lang="pt-BR" sz="1500" i="1" dirty="0">
                <a:solidFill>
                  <a:schemeClr val="bg1"/>
                </a:solidFill>
                <a:latin typeface="+mn-lt"/>
              </a:rPr>
              <a:t> [LIE])</a:t>
            </a:r>
            <a:r>
              <a:rPr lang="pt-BR" sz="15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lvl="1" algn="just" defTabSz="622300" rtl="0" fontAlgn="base">
              <a:spcAft>
                <a:spcPts val="1200"/>
              </a:spcAft>
              <a:buClr>
                <a:srgbClr val="7E0000"/>
              </a:buClr>
            </a:pPr>
            <a:endParaRPr lang="pt-BR" sz="26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Os 5 Princípios </a:t>
            </a:r>
            <a:r>
              <a:rPr lang="pt-BR" dirty="0" err="1" smtClean="0"/>
              <a:t>Lean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211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914400"/>
            <a:ext cx="8683631" cy="5284787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pt-BR" sz="2200" b="0" dirty="0" smtClean="0">
                <a:latin typeface="+mn-lt"/>
              </a:rPr>
              <a:t>Os princípios e a mentalidade </a:t>
            </a:r>
            <a:r>
              <a:rPr lang="pt-BR" sz="2200" b="0" dirty="0" err="1" smtClean="0">
                <a:latin typeface="+mn-lt"/>
              </a:rPr>
              <a:t>Lean</a:t>
            </a:r>
            <a:r>
              <a:rPr lang="pt-BR" sz="2200" b="0" dirty="0" smtClean="0">
                <a:latin typeface="+mn-lt"/>
              </a:rPr>
              <a:t> </a:t>
            </a:r>
            <a:r>
              <a:rPr lang="pt-BR" sz="2200" b="0" dirty="0">
                <a:latin typeface="+mn-lt"/>
              </a:rPr>
              <a:t>não </a:t>
            </a:r>
            <a:r>
              <a:rPr lang="pt-BR" sz="2200" b="0" dirty="0" smtClean="0">
                <a:latin typeface="+mn-lt"/>
              </a:rPr>
              <a:t>servem </a:t>
            </a:r>
            <a:r>
              <a:rPr lang="pt-BR" sz="2200" b="0" dirty="0">
                <a:latin typeface="+mn-lt"/>
              </a:rPr>
              <a:t>apenas para </a:t>
            </a:r>
            <a:r>
              <a:rPr lang="pt-BR" sz="2200" b="0" dirty="0" smtClean="0">
                <a:latin typeface="+mn-lt"/>
              </a:rPr>
              <a:t>produção. </a:t>
            </a:r>
            <a:r>
              <a:rPr lang="pt-BR" sz="2200" b="0" dirty="0" err="1" smtClean="0">
                <a:latin typeface="+mn-lt"/>
              </a:rPr>
              <a:t>Lean</a:t>
            </a:r>
            <a:r>
              <a:rPr lang="pt-BR" sz="2200" b="0" dirty="0" smtClean="0">
                <a:latin typeface="+mn-lt"/>
              </a:rPr>
              <a:t>  </a:t>
            </a:r>
            <a:r>
              <a:rPr lang="pt-BR" sz="2200" b="0" dirty="0">
                <a:latin typeface="+mn-lt"/>
              </a:rPr>
              <a:t>pode desempenhar um papel benéfico em muita áreas, entre elas a TI, onde poderá reduzir os </a:t>
            </a:r>
            <a:r>
              <a:rPr lang="pt-BR" sz="2200" b="0" dirty="0" smtClean="0">
                <a:latin typeface="+mn-lt"/>
              </a:rPr>
              <a:t>custos, fazendo </a:t>
            </a:r>
            <a:r>
              <a:rPr lang="pt-BR" sz="2200" b="0" dirty="0">
                <a:latin typeface="+mn-lt"/>
              </a:rPr>
              <a:t>tudo mais rápido, </a:t>
            </a:r>
            <a:r>
              <a:rPr lang="pt-BR" sz="2200" b="0" dirty="0" smtClean="0">
                <a:latin typeface="+mn-lt"/>
              </a:rPr>
              <a:t>melhor e </a:t>
            </a:r>
            <a:r>
              <a:rPr lang="pt-BR" sz="2200" b="0" dirty="0">
                <a:latin typeface="+mn-lt"/>
              </a:rPr>
              <a:t>sem desperdício. </a:t>
            </a:r>
            <a:endParaRPr lang="pt-BR" sz="2200" b="0" dirty="0" smtClean="0">
              <a:latin typeface="+mn-lt"/>
            </a:endParaRPr>
          </a:p>
          <a:p>
            <a:pPr algn="just"/>
            <a:endParaRPr lang="pt-BR" sz="2200" b="0" dirty="0">
              <a:latin typeface="+mn-lt"/>
            </a:endParaRPr>
          </a:p>
          <a:p>
            <a:pPr marL="171450" lvl="1" algn="just"/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Mas a 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aplicação dos princípios </a:t>
            </a:r>
            <a:r>
              <a:rPr lang="pt-BR" sz="2200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Lean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é relativamente </a:t>
            </a: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nova 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em TI</a:t>
            </a: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.  Alguns exemplos vem das melhores práticas e à elas retornam, se utilizados como cultura e mentalidade: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Defeitos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, por exemplo, causados por mudanças não autorizadas na infraestrutura;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Espera, por exemplo, </a:t>
            </a: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lentas 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respostas em aplicativos (causada por falta de capacidade);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Excesso de </a:t>
            </a: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estoque ou de capacidade;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Repetição de </a:t>
            </a: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incidentes e falhas 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(causados ​​pela falta de análises de causa raiz</a:t>
            </a:r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pt-BR" sz="2200" dirty="0">
              <a:latin typeface="+mn-lt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A abordagem em TI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340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914400"/>
            <a:ext cx="8683631" cy="5638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450" lvl="1" algn="just"/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 papel da TI no Negócio chegou a um ponto em que quando a TI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para 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 Negócio para, e quando a TI está até um pouco abaixo do ideal, a empresa paga o preço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171450" lvl="1" algn="just"/>
            <a:endParaRPr lang="pt-BR" sz="22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1" algn="just"/>
            <a:r>
              <a:rPr lang="pt-BR" sz="22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Em 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seu artigo “</a:t>
            </a:r>
            <a:r>
              <a:rPr lang="pt-BR" sz="2200" i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pt-BR" sz="2200" i="1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increasing</a:t>
            </a:r>
            <a:r>
              <a:rPr lang="pt-BR" sz="2200" i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role </a:t>
            </a:r>
            <a:r>
              <a:rPr lang="pt-BR" sz="2200" i="1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pt-BR" sz="2200" i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IT in </a:t>
            </a:r>
            <a:r>
              <a:rPr lang="pt-BR" sz="2200" i="1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Lean</a:t>
            </a:r>
            <a:r>
              <a:rPr lang="pt-BR" sz="2200" i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Manufacturing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", Gordon </a:t>
            </a:r>
            <a:r>
              <a:rPr lang="pt-BR" sz="2200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Benzie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(2012) descreve diferentes formas em que a TI pode suportar a produção </a:t>
            </a:r>
            <a:r>
              <a:rPr lang="pt-BR" sz="2200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Lean</a:t>
            </a: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. As três primeiras  foram identificados em uma pesquisa realizada pela (IDC):</a:t>
            </a:r>
          </a:p>
          <a:p>
            <a:pPr marL="514350" lvl="2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Integração de TI:  automação de processo de apoio para evitar entradas manuais e sobreposição de requisitos. Também conhecido como ambiente  “mais ” sem papel;</a:t>
            </a:r>
          </a:p>
          <a:p>
            <a:pPr marL="514350" lvl="2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Centralização do gerenciamento reduzindo dados redundantes e inconsistentes;</a:t>
            </a:r>
          </a:p>
          <a:p>
            <a:pPr marL="514350" lvl="2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2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TI possibilitando projetos em processos de negócios (reengenharia).</a:t>
            </a:r>
          </a:p>
          <a:p>
            <a:pPr marL="171450" lvl="1" algn="just">
              <a:buFont typeface="Courier New" panose="02070309020205020404" pitchFamily="49" charset="0"/>
              <a:buChar char="o"/>
            </a:pPr>
            <a:endParaRPr lang="pt-BR" sz="22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TI apoia </a:t>
            </a:r>
            <a:r>
              <a:rPr lang="pt-BR" dirty="0" err="1" smtClean="0"/>
              <a:t>Lean</a:t>
            </a:r>
            <a:r>
              <a:rPr lang="pt-BR" dirty="0" smtClean="0"/>
              <a:t>. </a:t>
            </a:r>
            <a:r>
              <a:rPr lang="pt-BR" dirty="0" err="1" smtClean="0"/>
              <a:t>Lean</a:t>
            </a:r>
            <a:r>
              <a:rPr lang="pt-BR" dirty="0" smtClean="0"/>
              <a:t> sustenta TI.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414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887413"/>
            <a:ext cx="8683631" cy="5208587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450" lvl="1" algn="just"/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Gordon adicionou o quarto item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: a 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TI possibilita a replicação de melhorias de processos em vários locais da empresa. </a:t>
            </a:r>
          </a:p>
          <a:p>
            <a:pPr marL="171450" lvl="1" algn="just">
              <a:buFont typeface="Courier New" panose="02070309020205020404" pitchFamily="49" charset="0"/>
              <a:buChar char="o"/>
            </a:pPr>
            <a:endParaRPr lang="pt-BR" sz="24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171450" lvl="1" algn="just"/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 TI parece desempenhar um papel cada vez mais importante no </a:t>
            </a:r>
            <a:r>
              <a:rPr lang="pt-BR" sz="2400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Lean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. Quando o </a:t>
            </a:r>
            <a:r>
              <a:rPr lang="pt-BR" sz="2400" dirty="0" err="1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Lean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é aplicado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em 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operações de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TI, seja em Desenvolvimento de Sistemas ou em ouras áreas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, a qualidade e eficiência são muito melhorados.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Exemplos:</a:t>
            </a:r>
          </a:p>
          <a:p>
            <a:pPr marL="457200" lvl="1" indent="-28575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Desenvolvimento 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 aplicações de software e configuração de sistemas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bem testados, portanto livres 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bugs;</a:t>
            </a:r>
            <a:endParaRPr lang="pt-BR" sz="24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-28575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Operações de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Service Desk eficientes e eficazes na resolução;</a:t>
            </a:r>
          </a:p>
          <a:p>
            <a:pPr marL="457200" lvl="1" indent="-28575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Capacitação para início eficiente 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de novos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funcionários;</a:t>
            </a:r>
            <a:endParaRPr lang="pt-BR" sz="24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-28575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Gerenciamento de problemas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oportunos e consistentes; </a:t>
            </a:r>
            <a:endParaRPr lang="pt-BR" sz="24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-28575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Padrões reforçados de segurança </a:t>
            </a:r>
            <a:r>
              <a:rPr lang="pt-BR" sz="2400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da informação.</a:t>
            </a:r>
            <a:endParaRPr lang="pt-BR" sz="24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O papel de TI em </a:t>
            </a:r>
            <a:r>
              <a:rPr lang="pt-BR" dirty="0" err="1" smtClean="0"/>
              <a:t>Lean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734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155569" y="2667000"/>
            <a:ext cx="8683631" cy="20574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/>
            <a:r>
              <a:rPr lang="pt-BR" b="0" dirty="0">
                <a:latin typeface="+mn-lt"/>
              </a:rPr>
              <a:t>No pensamento </a:t>
            </a:r>
            <a:r>
              <a:rPr lang="pt-BR" b="0" dirty="0" err="1">
                <a:latin typeface="+mn-lt"/>
              </a:rPr>
              <a:t>Lean</a:t>
            </a:r>
            <a:r>
              <a:rPr lang="pt-BR" b="0" dirty="0">
                <a:latin typeface="+mn-lt"/>
              </a:rPr>
              <a:t>, o cliente desempenha um papel central. </a:t>
            </a:r>
            <a:r>
              <a:rPr lang="pt-BR" b="0" dirty="0" smtClean="0">
                <a:latin typeface="+mn-lt"/>
              </a:rPr>
              <a:t>Sem </a:t>
            </a:r>
            <a:r>
              <a:rPr lang="pt-BR" b="0" dirty="0">
                <a:latin typeface="+mn-lt"/>
              </a:rPr>
              <a:t>olhar para um produto ou </a:t>
            </a:r>
            <a:r>
              <a:rPr lang="pt-BR" b="0" dirty="0" smtClean="0">
                <a:latin typeface="+mn-lt"/>
              </a:rPr>
              <a:t>serviço </a:t>
            </a:r>
            <a:r>
              <a:rPr lang="pt-BR" b="0" dirty="0">
                <a:latin typeface="+mn-lt"/>
              </a:rPr>
              <a:t>“como o cliente olharia</a:t>
            </a:r>
            <a:r>
              <a:rPr lang="pt-BR" b="0" dirty="0" smtClean="0">
                <a:latin typeface="+mn-lt"/>
              </a:rPr>
              <a:t>” não haverá </a:t>
            </a:r>
            <a:r>
              <a:rPr lang="pt-BR" b="0" dirty="0">
                <a:latin typeface="+mn-lt"/>
              </a:rPr>
              <a:t>uma transformação </a:t>
            </a:r>
            <a:r>
              <a:rPr lang="pt-BR" b="0" dirty="0" err="1">
                <a:latin typeface="+mn-lt"/>
              </a:rPr>
              <a:t>Lean</a:t>
            </a:r>
            <a:r>
              <a:rPr lang="pt-BR" b="0" dirty="0">
                <a:latin typeface="+mn-lt"/>
              </a:rPr>
              <a:t>.</a:t>
            </a:r>
            <a:endParaRPr lang="nl-NL" b="0" dirty="0">
              <a:latin typeface="+mn-lt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A perspectiva do cliente.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660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0" t="12013" r="23059" b="11664"/>
          <a:stretch/>
        </p:blipFill>
        <p:spPr bwMode="auto">
          <a:xfrm>
            <a:off x="965866" y="914400"/>
            <a:ext cx="6882734" cy="510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Valor, sempre na perspectiva do cliente.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965866" y="5753100"/>
            <a:ext cx="3441367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52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914400"/>
            <a:ext cx="8683631" cy="51816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+mn-lt"/>
              </a:rPr>
              <a:t>Antes de adotar uma transformação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, precisamos entender os princípios fundamentais do </a:t>
            </a:r>
            <a:r>
              <a:rPr lang="pt-BR" dirty="0" err="1" smtClean="0">
                <a:latin typeface="+mn-lt"/>
              </a:rPr>
              <a:t>Lean</a:t>
            </a:r>
            <a:r>
              <a:rPr lang="pt-BR" dirty="0" smtClean="0">
                <a:latin typeface="+mn-lt"/>
              </a:rPr>
              <a:t>: </a:t>
            </a:r>
            <a:endParaRPr lang="pt-BR" dirty="0">
              <a:latin typeface="+mn-lt"/>
            </a:endParaRPr>
          </a:p>
          <a:p>
            <a:pPr algn="just"/>
            <a:endParaRPr lang="pt-BR" dirty="0">
              <a:latin typeface="+mn-lt"/>
            </a:endParaRP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Uma cultura melhorada de transparência quando </a:t>
            </a:r>
            <a:r>
              <a:rPr lang="pt-BR" sz="2400" b="1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problemas </a:t>
            </a:r>
            <a:r>
              <a:rPr lang="pt-BR" sz="2400" b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são vistos como oportunidades para </a:t>
            </a:r>
            <a:r>
              <a:rPr lang="pt-BR" sz="2400" b="1" dirty="0" smtClean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melhoraria </a:t>
            </a:r>
            <a:r>
              <a:rPr lang="pt-BR" sz="2400" b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 crescimento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; 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O </a:t>
            </a:r>
            <a:r>
              <a:rPr lang="pt-BR" sz="2400" b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alinhamento das metas de toda a organização com a alta gestão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, associados, acionistas e para a comunidade em geral; 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b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Sustentação de resultados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em termos de melhoria da qualidade, tempo de entrega mais rápido, redução de custos e melhora na moral geral; 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Menos “apagar incêndio” e maior foco proativo na </a:t>
            </a:r>
            <a:r>
              <a:rPr lang="pt-BR" sz="2400" b="1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melhoria dos processos</a:t>
            </a: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 que impactam o cliente na qualidade e serviço.</a:t>
            </a:r>
          </a:p>
          <a:p>
            <a:pPr marL="514350" lvl="1" indent="-342900" algn="just"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endParaRPr lang="pt-BR" sz="2400" dirty="0">
              <a:solidFill>
                <a:schemeClr val="tx2"/>
              </a:solidFill>
              <a:latin typeface="+mn-lt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A transformação.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594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4294967295"/>
          </p:nvPr>
        </p:nvSpPr>
        <p:spPr>
          <a:xfrm>
            <a:off x="249356" y="1039813"/>
            <a:ext cx="8683631" cy="4827587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pt-BR" dirty="0">
                <a:latin typeface="+mn-lt"/>
              </a:rPr>
              <a:t>Em média, cerca de 5% do tempo é gasto em atividades de agregação de valor em um processo típico. </a:t>
            </a:r>
            <a:r>
              <a:rPr lang="pt-BR" dirty="0" smtClean="0">
                <a:latin typeface="+mn-lt"/>
              </a:rPr>
              <a:t>Alguns </a:t>
            </a:r>
            <a:r>
              <a:rPr lang="pt-BR" dirty="0">
                <a:latin typeface="+mn-lt"/>
              </a:rPr>
              <a:t>exemplos: </a:t>
            </a:r>
          </a:p>
          <a:p>
            <a:pPr marL="514350" lvl="1" indent="-3429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Projetando produtos; </a:t>
            </a:r>
          </a:p>
          <a:p>
            <a:pPr marL="514350" lvl="1" indent="-3429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Processamento de pedidos de clientes; </a:t>
            </a:r>
          </a:p>
          <a:p>
            <a:pPr marL="514350" lvl="1" indent="-3429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Produzindo Produtos; </a:t>
            </a:r>
          </a:p>
          <a:p>
            <a:pPr marL="514350" lvl="1" indent="-3429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Entregando produtos;</a:t>
            </a:r>
          </a:p>
          <a:p>
            <a:pPr marL="514350" lvl="1" indent="-3429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Processando pedidos de clientes; </a:t>
            </a:r>
          </a:p>
          <a:p>
            <a:pPr marL="514350" lvl="1" indent="-342900" algn="just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2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rPr>
              <a:t>Melhorando a qualidade do produto.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</a:t>
            </a:r>
            <a:r>
              <a:rPr lang="pt-BR" i="1" dirty="0" smtClean="0"/>
              <a:t>Muda</a:t>
            </a:r>
            <a:r>
              <a:rPr lang="pt-BR" dirty="0" smtClean="0"/>
              <a:t> ou, Desperdício.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073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2"/>
          <p:cNvSpPr>
            <a:spLocks noGrp="1"/>
          </p:cNvSpPr>
          <p:nvPr>
            <p:ph idx="4294967295"/>
          </p:nvPr>
        </p:nvSpPr>
        <p:spPr>
          <a:xfrm>
            <a:off x="126265" y="914400"/>
            <a:ext cx="8899451" cy="4953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+mn-lt"/>
              </a:rPr>
              <a:t>Gerenciamento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 é uma parte muito importante do pensamento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. Todos os esforços de planejamento e implementação do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 em uma organização </a:t>
            </a:r>
            <a:r>
              <a:rPr lang="pt-BR" dirty="0" smtClean="0">
                <a:latin typeface="+mn-lt"/>
              </a:rPr>
              <a:t>serão perdidos </a:t>
            </a:r>
            <a:r>
              <a:rPr lang="pt-BR" dirty="0">
                <a:latin typeface="+mn-lt"/>
              </a:rPr>
              <a:t>se as </a:t>
            </a:r>
            <a:r>
              <a:rPr lang="pt-BR" dirty="0" smtClean="0">
                <a:latin typeface="+mn-lt"/>
              </a:rPr>
              <a:t>iniciativas </a:t>
            </a:r>
            <a:r>
              <a:rPr lang="pt-BR" dirty="0">
                <a:latin typeface="+mn-lt"/>
              </a:rPr>
              <a:t>não forem institucionalizadas na organização e na cultura organizacional. 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dirty="0" smtClean="0">
                <a:latin typeface="+mn-lt"/>
              </a:rPr>
              <a:t>A maioria das implementações </a:t>
            </a:r>
            <a:r>
              <a:rPr lang="pt-BR" dirty="0" err="1" smtClean="0">
                <a:latin typeface="+mn-lt"/>
              </a:rPr>
              <a:t>Lean</a:t>
            </a:r>
            <a:r>
              <a:rPr lang="pt-BR" dirty="0" smtClean="0">
                <a:latin typeface="+mn-lt"/>
              </a:rPr>
              <a:t> falha se a forma como as pessoas, processos e os produtos gerenciados não for alterada. As transformações </a:t>
            </a:r>
            <a:r>
              <a:rPr lang="pt-BR" dirty="0" err="1" smtClean="0">
                <a:latin typeface="+mn-lt"/>
              </a:rPr>
              <a:t>Lean</a:t>
            </a:r>
            <a:r>
              <a:rPr lang="pt-BR" dirty="0" smtClean="0">
                <a:latin typeface="+mn-lt"/>
              </a:rPr>
              <a:t> tendem a falhar se a Liderança e a gestão não entenderem e abraçam os princípios e práticas </a:t>
            </a:r>
            <a:r>
              <a:rPr lang="pt-BR" dirty="0" err="1" smtClean="0">
                <a:latin typeface="+mn-lt"/>
              </a:rPr>
              <a:t>Lean</a:t>
            </a:r>
            <a:r>
              <a:rPr lang="pt-BR" dirty="0" smtClean="0">
                <a:latin typeface="+mn-lt"/>
              </a:rPr>
              <a:t>. </a:t>
            </a:r>
            <a:endParaRPr lang="pt-BR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57500" y="1305342"/>
            <a:ext cx="3429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Gerenciamento </a:t>
            </a:r>
            <a:r>
              <a:rPr lang="pt-BR" dirty="0" err="1" smtClean="0"/>
              <a:t>Lean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132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2"/>
          <p:cNvSpPr>
            <a:spLocks noGrp="1"/>
          </p:cNvSpPr>
          <p:nvPr>
            <p:ph idx="4294967295"/>
          </p:nvPr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pt-BR" dirty="0">
                <a:latin typeface="+mn-lt"/>
              </a:rPr>
              <a:t>Até os líderes demonstrarem de forma consistente a aplicação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 na forma como encaram o seu trabalho, o resto da organização só verá o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 como um "programa" temporário que é susceptível de desaparecer ao longo do tempo. </a:t>
            </a:r>
          </a:p>
          <a:p>
            <a:pPr algn="just"/>
            <a:endParaRPr lang="pt-BR" dirty="0">
              <a:latin typeface="+mn-lt"/>
            </a:endParaRPr>
          </a:p>
          <a:p>
            <a:pPr algn="just"/>
            <a:r>
              <a:rPr lang="pt-BR" dirty="0">
                <a:latin typeface="+mn-lt"/>
              </a:rPr>
              <a:t>Isso significa que a liderança deve compreender profundamente e ser capaz de ensinar os princípios e métodos </a:t>
            </a:r>
            <a:r>
              <a:rPr lang="pt-BR" dirty="0" err="1">
                <a:latin typeface="+mn-lt"/>
              </a:rPr>
              <a:t>Lean</a:t>
            </a:r>
            <a:r>
              <a:rPr lang="pt-BR" dirty="0">
                <a:latin typeface="+mn-lt"/>
              </a:rPr>
              <a:t>, e estar diretamente envolvida </a:t>
            </a:r>
            <a:r>
              <a:rPr lang="pt-BR" dirty="0" smtClean="0">
                <a:latin typeface="+mn-lt"/>
              </a:rPr>
              <a:t>nas ações.</a:t>
            </a:r>
            <a:endParaRPr lang="pt-BR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57500" y="1305342"/>
            <a:ext cx="3429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A liderança ativa.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9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2"/>
          <p:cNvSpPr>
            <a:spLocks noGrp="1"/>
          </p:cNvSpPr>
          <p:nvPr>
            <p:ph idx="4294967295"/>
          </p:nvPr>
        </p:nvSpPr>
        <p:spPr>
          <a:xfrm>
            <a:off x="126265" y="1066800"/>
            <a:ext cx="8899451" cy="48768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/>
            <a:r>
              <a:rPr lang="pt-BR" b="0" dirty="0" smtClean="0">
                <a:latin typeface="+mn-lt"/>
              </a:rPr>
              <a:t>A </a:t>
            </a:r>
            <a:r>
              <a:rPr lang="pt-BR" b="0" dirty="0">
                <a:latin typeface="+mn-lt"/>
              </a:rPr>
              <a:t>essência </a:t>
            </a:r>
            <a:r>
              <a:rPr lang="pt-BR" b="0" dirty="0" err="1">
                <a:latin typeface="+mn-lt"/>
              </a:rPr>
              <a:t>Lean</a:t>
            </a:r>
            <a:r>
              <a:rPr lang="pt-BR" b="0" dirty="0">
                <a:latin typeface="+mn-lt"/>
              </a:rPr>
              <a:t> é a internalização de um </a:t>
            </a:r>
            <a:r>
              <a:rPr lang="pt-BR" b="1" dirty="0">
                <a:latin typeface="+mn-lt"/>
              </a:rPr>
              <a:t>modo de pensar</a:t>
            </a:r>
            <a:r>
              <a:rPr lang="pt-BR" b="0" dirty="0">
                <a:latin typeface="+mn-lt"/>
              </a:rPr>
              <a:t>, onde todo o trabalho é visto como um </a:t>
            </a:r>
            <a:r>
              <a:rPr lang="pt-BR" b="1" dirty="0">
                <a:latin typeface="+mn-lt"/>
              </a:rPr>
              <a:t>processo </a:t>
            </a:r>
            <a:r>
              <a:rPr lang="pt-BR" b="1" dirty="0" smtClean="0">
                <a:latin typeface="+mn-lt"/>
              </a:rPr>
              <a:t>permanente de </a:t>
            </a:r>
            <a:r>
              <a:rPr lang="pt-BR" b="1" dirty="0">
                <a:latin typeface="+mn-lt"/>
              </a:rPr>
              <a:t>melhoria contínua</a:t>
            </a:r>
            <a:r>
              <a:rPr lang="pt-BR" b="0" dirty="0">
                <a:latin typeface="+mn-lt"/>
              </a:rPr>
              <a:t>. </a:t>
            </a:r>
          </a:p>
        </p:txBody>
      </p:sp>
      <p:sp>
        <p:nvSpPr>
          <p:cNvPr id="2" name="Rectangle 1"/>
          <p:cNvSpPr/>
          <p:nvPr/>
        </p:nvSpPr>
        <p:spPr>
          <a:xfrm>
            <a:off x="2857500" y="1305342"/>
            <a:ext cx="3429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" name="object 3"/>
          <p:cNvSpPr txBox="1"/>
          <p:nvPr/>
        </p:nvSpPr>
        <p:spPr>
          <a:xfrm>
            <a:off x="78738" y="135891"/>
            <a:ext cx="7617462" cy="47370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defPPr>
              <a:defRPr lang="pt-BR"/>
            </a:defPPr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t-BR" dirty="0" smtClean="0"/>
              <a:t>LEAN IT – </a:t>
            </a:r>
            <a:r>
              <a:rPr lang="pt-BR" dirty="0" err="1" smtClean="0"/>
              <a:t>Lean</a:t>
            </a:r>
            <a:r>
              <a:rPr lang="pt-BR" dirty="0" smtClean="0"/>
              <a:t> não é um projeto. É uma cultura.</a:t>
            </a:r>
            <a:endParaRPr lang="pt-BR" dirty="0"/>
          </a:p>
        </p:txBody>
      </p:sp>
      <p:pic>
        <p:nvPicPr>
          <p:cNvPr id="4100" name="Picture 4" descr="http://shanecradock.com/wp-content/uploads/2012/04/mpl-11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874" y="2499562"/>
            <a:ext cx="4754526" cy="355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8001000" y="5791200"/>
            <a:ext cx="9144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841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87524" y="2895600"/>
            <a:ext cx="8604956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7E0000"/>
              </a:buClr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9013" indent="-2746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538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8763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E0000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O que é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>
                <a:solidFill>
                  <a:schemeClr val="tx2"/>
                </a:solidFill>
              </a:rPr>
              <a:t>O</a:t>
            </a:r>
            <a:r>
              <a:rPr lang="pt-BR" sz="2800" dirty="0" smtClean="0">
                <a:solidFill>
                  <a:schemeClr val="tx2"/>
                </a:solidFill>
              </a:rPr>
              <a:t>rigem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Princípios PCI-DSS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Requerimentos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r>
              <a:rPr lang="pt-BR" sz="2800" dirty="0" smtClean="0">
                <a:solidFill>
                  <a:schemeClr val="tx2"/>
                </a:solidFill>
              </a:rPr>
              <a:t>Abrangência</a:t>
            </a: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pt-BR" sz="2800" dirty="0">
              <a:solidFill>
                <a:schemeClr val="tx2"/>
              </a:solidFill>
            </a:endParaRPr>
          </a:p>
          <a:p>
            <a:pPr marL="701675" lvl="1" indent="-342900" defTabSz="622300">
              <a:buClr>
                <a:schemeClr val="tx1">
                  <a:lumMod val="50000"/>
                  <a:lumOff val="50000"/>
                </a:schemeClr>
              </a:buClr>
              <a:defRPr/>
            </a:pPr>
            <a:endParaRPr lang="pt-BR" sz="2800" dirty="0" smtClean="0">
              <a:solidFill>
                <a:schemeClr val="tx2"/>
              </a:solidFill>
            </a:endParaRPr>
          </a:p>
        </p:txBody>
      </p:sp>
      <p:pic>
        <p:nvPicPr>
          <p:cNvPr id="3074" name="Picture 2" descr="http://www.techweekeurope.co.uk/wp-content/uploads/2010/10/pci-dss-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258" y="1219200"/>
            <a:ext cx="4437222" cy="29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13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O que é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 fontAlgn="base"/>
            <a:r>
              <a:rPr lang="pt-BR" kern="0" dirty="0" smtClean="0">
                <a:latin typeface="+mn-lt"/>
              </a:rPr>
              <a:t>Apesar </a:t>
            </a:r>
            <a:r>
              <a:rPr lang="pt-BR" kern="0" dirty="0">
                <a:latin typeface="+mn-lt"/>
              </a:rPr>
              <a:t>de todos os esforços das empresas de proteger as informações de clientes, fraudes eletrônicas e roubos de informações têm aumentado drasticamente. </a:t>
            </a:r>
            <a:r>
              <a:rPr lang="pt-BR" kern="0" dirty="0" smtClean="0">
                <a:latin typeface="+mn-lt"/>
              </a:rPr>
              <a:t>Os </a:t>
            </a:r>
            <a:r>
              <a:rPr lang="pt-BR" kern="0" dirty="0">
                <a:latin typeface="+mn-lt"/>
              </a:rPr>
              <a:t>governos estudam formas de criar leis para combater esse tipo de crime, enquanto os bancos e as operadoras de cartão de crédito tomaram suas próprias iniciativas para criar normas para garantir boas práticas no uso, manuseio e armazenagem de dados de cartão de crédito: </a:t>
            </a:r>
            <a:r>
              <a:rPr lang="pt-BR" kern="0" dirty="0" smtClean="0">
                <a:latin typeface="+mn-lt"/>
              </a:rPr>
              <a:t/>
            </a:r>
            <a:br>
              <a:rPr lang="pt-BR" kern="0" dirty="0" smtClean="0">
                <a:latin typeface="+mn-lt"/>
              </a:rPr>
            </a:br>
            <a:r>
              <a:rPr lang="pt-BR" kern="0" dirty="0" smtClean="0">
                <a:latin typeface="+mn-lt"/>
              </a:rPr>
              <a:t/>
            </a:r>
            <a:br>
              <a:rPr lang="pt-BR" kern="0" dirty="0" smtClean="0">
                <a:latin typeface="+mn-lt"/>
              </a:rPr>
            </a:br>
            <a:r>
              <a:rPr lang="pt-BR" b="1" i="1" kern="0" dirty="0" err="1" smtClean="0">
                <a:latin typeface="+mn-lt"/>
              </a:rPr>
              <a:t>Payment</a:t>
            </a:r>
            <a:r>
              <a:rPr lang="pt-BR" b="1" i="1" kern="0" dirty="0" smtClean="0">
                <a:latin typeface="+mn-lt"/>
              </a:rPr>
              <a:t> </a:t>
            </a:r>
            <a:r>
              <a:rPr lang="pt-BR" b="1" i="1" kern="0" dirty="0" err="1">
                <a:latin typeface="+mn-lt"/>
              </a:rPr>
              <a:t>Card</a:t>
            </a:r>
            <a:r>
              <a:rPr lang="pt-BR" b="1" i="1" kern="0" dirty="0">
                <a:latin typeface="+mn-lt"/>
              </a:rPr>
              <a:t> </a:t>
            </a:r>
            <a:r>
              <a:rPr lang="pt-BR" b="1" i="1" kern="0" dirty="0" err="1">
                <a:latin typeface="+mn-lt"/>
              </a:rPr>
              <a:t>Industry</a:t>
            </a:r>
            <a:r>
              <a:rPr lang="pt-BR" b="1" i="1" kern="0" dirty="0">
                <a:latin typeface="+mn-lt"/>
              </a:rPr>
              <a:t> (PCI</a:t>
            </a:r>
            <a:r>
              <a:rPr lang="pt-BR" b="1" i="1" kern="0" dirty="0" smtClean="0">
                <a:latin typeface="+mn-lt"/>
              </a:rPr>
              <a:t>)</a:t>
            </a:r>
          </a:p>
          <a:p>
            <a:pPr algn="just" fontAlgn="base"/>
            <a:r>
              <a:rPr lang="pt-BR" b="1" i="1" kern="0" dirty="0" smtClean="0">
                <a:latin typeface="+mn-lt"/>
              </a:rPr>
              <a:t>Data </a:t>
            </a:r>
            <a:r>
              <a:rPr lang="pt-BR" b="1" i="1" kern="0" dirty="0">
                <a:latin typeface="+mn-lt"/>
              </a:rPr>
              <a:t>Security standard (DSS</a:t>
            </a:r>
            <a:r>
              <a:rPr lang="pt-BR" b="1" i="1" kern="0" dirty="0" smtClean="0">
                <a:latin typeface="+mn-lt"/>
              </a:rPr>
              <a:t>).</a:t>
            </a:r>
            <a:endParaRPr lang="pt-BR" b="1" i="1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98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Origem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 fontAlgn="base"/>
            <a:r>
              <a:rPr lang="pt-BR" kern="0" dirty="0">
                <a:latin typeface="+mn-lt"/>
              </a:rPr>
              <a:t>Em setembro de 2006, </a:t>
            </a:r>
            <a:r>
              <a:rPr lang="pt-BR" kern="0" dirty="0" smtClean="0">
                <a:latin typeface="+mn-lt"/>
              </a:rPr>
              <a:t>o PCI </a:t>
            </a:r>
            <a:r>
              <a:rPr lang="pt-BR" kern="0" dirty="0">
                <a:latin typeface="+mn-lt"/>
              </a:rPr>
              <a:t>– </a:t>
            </a:r>
            <a:r>
              <a:rPr lang="pt-BR" i="1" kern="0" dirty="0">
                <a:latin typeface="+mn-lt"/>
              </a:rPr>
              <a:t>PCI Security Standards </a:t>
            </a:r>
            <a:r>
              <a:rPr lang="pt-BR" i="1" kern="0" dirty="0" err="1" smtClean="0">
                <a:latin typeface="+mn-lt"/>
              </a:rPr>
              <a:t>Council</a:t>
            </a:r>
            <a:r>
              <a:rPr lang="pt-BR" kern="0" dirty="0" smtClean="0">
                <a:latin typeface="+mn-lt"/>
              </a:rPr>
              <a:t> – foi </a:t>
            </a:r>
            <a:r>
              <a:rPr lang="pt-BR" kern="0" dirty="0">
                <a:latin typeface="+mn-lt"/>
              </a:rPr>
              <a:t>fundada pela American Express, </a:t>
            </a:r>
            <a:r>
              <a:rPr lang="pt-BR" kern="0" dirty="0" err="1">
                <a:latin typeface="+mn-lt"/>
              </a:rPr>
              <a:t>Discover</a:t>
            </a:r>
            <a:r>
              <a:rPr lang="pt-BR" kern="0" dirty="0">
                <a:latin typeface="+mn-lt"/>
              </a:rPr>
              <a:t> Financial Services, JCB </a:t>
            </a:r>
            <a:r>
              <a:rPr lang="pt-BR" kern="0" dirty="0" err="1">
                <a:latin typeface="+mn-lt"/>
              </a:rPr>
              <a:t>International</a:t>
            </a:r>
            <a:r>
              <a:rPr lang="pt-BR" kern="0" dirty="0">
                <a:latin typeface="+mn-lt"/>
              </a:rPr>
              <a:t>, </a:t>
            </a:r>
            <a:r>
              <a:rPr lang="pt-BR" kern="0" dirty="0" err="1">
                <a:latin typeface="+mn-lt"/>
              </a:rPr>
              <a:t>MasterCard</a:t>
            </a:r>
            <a:r>
              <a:rPr lang="pt-BR" kern="0" dirty="0">
                <a:latin typeface="+mn-lt"/>
              </a:rPr>
              <a:t>, e Visa, Inc.</a:t>
            </a:r>
          </a:p>
          <a:p>
            <a:pPr algn="just" fontAlgn="base"/>
            <a:endParaRPr lang="pt-BR" kern="0" dirty="0" smtClean="0">
              <a:latin typeface="+mn-lt"/>
            </a:endParaRPr>
          </a:p>
          <a:p>
            <a:pPr algn="just" fontAlgn="base"/>
            <a:r>
              <a:rPr lang="pt-BR" kern="0" dirty="0" smtClean="0">
                <a:latin typeface="+mn-lt"/>
              </a:rPr>
              <a:t>O conselho foi constituído para criar e recomendar as melhores práticas de segurança de dados, a serem seguidas pelos estabelecimentos comerciais que aceitam cartões de crédito como forma de pagamento, para proteger a privacidade dos consumidores portadores de cartão de crédito.</a:t>
            </a:r>
            <a:endParaRPr lang="pt-BR" sz="2000" i="1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433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 Security Standards </a:t>
            </a:r>
            <a:r>
              <a:rPr lang="pt-BR" sz="2800" b="1" dirty="0" err="1" smtClean="0">
                <a:solidFill>
                  <a:schemeClr val="bg1"/>
                </a:solidFill>
                <a:latin typeface="+mj-lt"/>
              </a:rPr>
              <a:t>Council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 fontAlgn="base"/>
            <a:r>
              <a:rPr lang="pt-BR" kern="0" dirty="0">
                <a:latin typeface="+mn-lt"/>
              </a:rPr>
              <a:t>O PCI Security Standards </a:t>
            </a:r>
            <a:r>
              <a:rPr lang="pt-BR" kern="0" dirty="0" err="1">
                <a:latin typeface="+mn-lt"/>
              </a:rPr>
              <a:t>Council</a:t>
            </a:r>
            <a:r>
              <a:rPr lang="pt-BR" kern="0" dirty="0">
                <a:latin typeface="+mn-lt"/>
              </a:rPr>
              <a:t> é um fórum aberto global para contínuo desenvolvimento, aprimoramento, armazenamento, disseminação e implementação de padrões de segurança para a proteção de dados de contas.</a:t>
            </a:r>
          </a:p>
          <a:p>
            <a:pPr algn="just" fontAlgn="base"/>
            <a:endParaRPr lang="pt-BR" kern="0" dirty="0">
              <a:latin typeface="+mn-lt"/>
            </a:endParaRPr>
          </a:p>
          <a:p>
            <a:pPr algn="just" fontAlgn="base"/>
            <a:r>
              <a:rPr lang="pt-BR" kern="0" dirty="0">
                <a:latin typeface="+mn-lt"/>
              </a:rPr>
              <a:t>A missão do </a:t>
            </a:r>
            <a:r>
              <a:rPr lang="pt-BR" i="1" kern="0" dirty="0">
                <a:latin typeface="+mn-lt"/>
              </a:rPr>
              <a:t>PCI Security Standards </a:t>
            </a:r>
            <a:r>
              <a:rPr lang="pt-BR" i="1" kern="0" dirty="0" err="1">
                <a:latin typeface="+mn-lt"/>
              </a:rPr>
              <a:t>Council</a:t>
            </a:r>
            <a:r>
              <a:rPr lang="pt-BR" kern="0" dirty="0">
                <a:latin typeface="+mn-lt"/>
              </a:rPr>
              <a:t> é aprimorar a segurança de dados de contas de pagamento, promovendo a educação e a conscientização sobre os Padrões de Segurança PCI. </a:t>
            </a:r>
            <a:endParaRPr lang="pt-BR" sz="2000" i="1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156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Objetivos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685800" indent="-514350" algn="just" fontAlgn="base">
              <a:buFont typeface="+mj-lt"/>
              <a:buAutoNum type="arabicPeriod"/>
            </a:pPr>
            <a:r>
              <a:rPr lang="pt-BR" kern="0" dirty="0">
                <a:latin typeface="+mn-lt"/>
              </a:rPr>
              <a:t>Manter a rede de dados segura;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kern="0" dirty="0">
                <a:latin typeface="+mn-lt"/>
              </a:rPr>
              <a:t>Proteger as informações de portadores de cartão de crédito;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kern="0" dirty="0">
                <a:latin typeface="+mn-lt"/>
              </a:rPr>
              <a:t>Manter um programa de Gerenciamento de vulnerabilidades;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kern="0" dirty="0">
                <a:latin typeface="+mn-lt"/>
              </a:rPr>
              <a:t>Implementar um forte controle de acessos;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kern="0" dirty="0">
                <a:latin typeface="+mn-lt"/>
              </a:rPr>
              <a:t>Manter uma política de segurança de informações</a:t>
            </a:r>
            <a:r>
              <a:rPr lang="pt-BR" kern="0" dirty="0" smtClean="0">
                <a:latin typeface="+mn-lt"/>
              </a:rPr>
              <a:t>.</a:t>
            </a:r>
          </a:p>
          <a:p>
            <a:pPr marL="685800" indent="-514350" algn="just" fontAlgn="base">
              <a:buFont typeface="+mj-lt"/>
              <a:buAutoNum type="arabicPeriod"/>
            </a:pPr>
            <a:endParaRPr lang="pt-BR" i="1" kern="0" dirty="0" smtClean="0">
              <a:latin typeface="+mn-lt"/>
            </a:endParaRPr>
          </a:p>
          <a:p>
            <a:pPr algn="just" fontAlgn="base"/>
            <a:r>
              <a:rPr lang="pt-BR" i="1" kern="0" dirty="0">
                <a:latin typeface="+mn-lt"/>
              </a:rPr>
              <a:t>Não estar em conformidade com a PCI-DSS pode incorrer em multas e até em descredenciamento dos estabelecimentos comerciais em aceitar cartões de crédito.</a:t>
            </a:r>
          </a:p>
        </p:txBody>
      </p:sp>
    </p:spTree>
    <p:extLst>
      <p:ext uri="{BB962C8B-B14F-4D97-AF65-F5344CB8AC3E}">
        <p14:creationId xmlns:p14="http://schemas.microsoft.com/office/powerpoint/2010/main" val="8761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Requerimentos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685800" indent="-514350" algn="just" fontAlgn="base">
              <a:buFont typeface="+mj-lt"/>
              <a:buAutoNum type="arabicPeriod"/>
            </a:pPr>
            <a:r>
              <a:rPr lang="pt-BR" sz="2600" kern="0" dirty="0">
                <a:latin typeface="+mn-lt"/>
              </a:rPr>
              <a:t>Instalar e manter um firewall para proteger dados de cartão de crédito.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sz="2600" kern="0" dirty="0">
                <a:latin typeface="+mn-lt"/>
              </a:rPr>
              <a:t>Não utilizar senhas padrão ou outras configurações de segurança dos softwares utilizados.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sz="2600" kern="0" dirty="0">
                <a:latin typeface="+mn-lt"/>
              </a:rPr>
              <a:t>Proteger dados de cartões de crédito armazenados.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sz="2600" kern="0" dirty="0">
                <a:latin typeface="+mn-lt"/>
              </a:rPr>
              <a:t>Utilizar criptografia na transmissão de dados de cartões de </a:t>
            </a:r>
            <a:r>
              <a:rPr lang="pt-BR" sz="2600" kern="0" dirty="0" smtClean="0">
                <a:latin typeface="+mn-lt"/>
              </a:rPr>
              <a:t>crédito, manter um programa de Gerenciamento de Vulnerabilidades.</a:t>
            </a:r>
            <a:endParaRPr lang="pt-BR" sz="2600" kern="0" dirty="0">
              <a:latin typeface="+mn-lt"/>
            </a:endParaRP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sz="2600" kern="0" dirty="0">
                <a:latin typeface="+mn-lt"/>
              </a:rPr>
              <a:t>Utilizar regularmente programas </a:t>
            </a:r>
            <a:r>
              <a:rPr lang="pt-BR" sz="2600" kern="0" dirty="0" err="1">
                <a:latin typeface="+mn-lt"/>
              </a:rPr>
              <a:t>anti-vírus</a:t>
            </a:r>
            <a:r>
              <a:rPr lang="pt-BR" sz="2600" kern="0" dirty="0">
                <a:latin typeface="+mn-lt"/>
              </a:rPr>
              <a:t>.</a:t>
            </a:r>
          </a:p>
          <a:p>
            <a:pPr marL="685800" indent="-514350" algn="just" fontAlgn="base">
              <a:buFont typeface="+mj-lt"/>
              <a:buAutoNum type="arabicPeriod"/>
            </a:pPr>
            <a:r>
              <a:rPr lang="pt-BR" sz="2600" kern="0" dirty="0">
                <a:latin typeface="+mn-lt"/>
              </a:rPr>
              <a:t>Desenvolver e manter sistemas e aplicações seguras, implementar um forte controle de acesso</a:t>
            </a:r>
            <a:r>
              <a:rPr lang="pt-BR" sz="2600" kern="0" dirty="0" smtClean="0">
                <a:latin typeface="+mn-lt"/>
              </a:rPr>
              <a:t>.</a:t>
            </a:r>
            <a:endParaRPr lang="pt-BR" sz="26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564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Requerimentos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685800" indent="-514350" algn="just" fontAlgn="base">
              <a:buFont typeface="+mj-lt"/>
              <a:buAutoNum type="arabicPeriod" startAt="7"/>
            </a:pPr>
            <a:r>
              <a:rPr lang="pt-BR" sz="2600" kern="0" dirty="0" smtClean="0">
                <a:latin typeface="+mn-lt"/>
              </a:rPr>
              <a:t>Restringir </a:t>
            </a:r>
            <a:r>
              <a:rPr lang="pt-BR" sz="2600" kern="0" dirty="0">
                <a:latin typeface="+mn-lt"/>
              </a:rPr>
              <a:t>acesso a dados de cartões de crédito por negócio e por pessoas que realmente precisam acessá-los.</a:t>
            </a:r>
          </a:p>
          <a:p>
            <a:pPr marL="685800" indent="-514350" algn="just" fontAlgn="base">
              <a:buFont typeface="+mj-lt"/>
              <a:buAutoNum type="arabicPeriod" startAt="7"/>
            </a:pPr>
            <a:r>
              <a:rPr lang="pt-BR" sz="2600" kern="0" dirty="0">
                <a:latin typeface="+mn-lt"/>
              </a:rPr>
              <a:t>Designar um único ID para cada usuário da rede e sistemas.</a:t>
            </a:r>
          </a:p>
          <a:p>
            <a:pPr marL="685800" indent="-514350" algn="just" fontAlgn="base">
              <a:buFont typeface="+mj-lt"/>
              <a:buAutoNum type="arabicPeriod" startAt="7"/>
            </a:pPr>
            <a:r>
              <a:rPr lang="pt-BR" sz="2600" kern="0" dirty="0">
                <a:latin typeface="+mn-lt"/>
              </a:rPr>
              <a:t>Restringir acesso físico aos dados de cartão de crédito, testar e monitorar a rede regularmente.</a:t>
            </a:r>
          </a:p>
          <a:p>
            <a:pPr marL="685800" indent="-514350" algn="just" fontAlgn="base">
              <a:buFont typeface="+mj-lt"/>
              <a:buAutoNum type="arabicPeriod" startAt="7"/>
            </a:pPr>
            <a:r>
              <a:rPr lang="pt-BR" sz="2600" kern="0" dirty="0">
                <a:latin typeface="+mn-lt"/>
              </a:rPr>
              <a:t>Rastrear e monitorar todos os acessos à rede e dados de cartões de crédito.</a:t>
            </a:r>
          </a:p>
          <a:p>
            <a:pPr marL="685800" indent="-514350" algn="just" fontAlgn="base">
              <a:buFont typeface="+mj-lt"/>
              <a:buAutoNum type="arabicPeriod" startAt="7"/>
            </a:pPr>
            <a:r>
              <a:rPr lang="pt-BR" sz="2600" kern="0" dirty="0">
                <a:latin typeface="+mn-lt"/>
              </a:rPr>
              <a:t>Testar a segurança de sistemas e processos </a:t>
            </a:r>
            <a:r>
              <a:rPr lang="pt-BR" sz="2600" kern="0" dirty="0" smtClean="0">
                <a:latin typeface="+mn-lt"/>
              </a:rPr>
              <a:t>regularmente.</a:t>
            </a:r>
            <a:endParaRPr lang="pt-BR" sz="2600" kern="0" dirty="0">
              <a:latin typeface="+mn-lt"/>
            </a:endParaRPr>
          </a:p>
          <a:p>
            <a:pPr marL="685800" indent="-514350" algn="just" fontAlgn="base">
              <a:buFont typeface="+mj-lt"/>
              <a:buAutoNum type="arabicPeriod" startAt="7"/>
            </a:pPr>
            <a:r>
              <a:rPr lang="pt-BR" sz="2600" kern="0" dirty="0">
                <a:latin typeface="+mn-lt"/>
              </a:rPr>
              <a:t>Manter uma política que enderece informações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91526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Abrangência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6265" y="1325568"/>
            <a:ext cx="8899451" cy="4038003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0">
              <a:defRPr sz="2800">
                <a:solidFill>
                  <a:schemeClr val="tx2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 fontAlgn="base"/>
            <a:r>
              <a:rPr lang="pt-BR" sz="2400" dirty="0" smtClean="0"/>
              <a:t>O </a:t>
            </a:r>
            <a:r>
              <a:rPr lang="pt-BR" sz="2400" dirty="0"/>
              <a:t>PCI DSS se aplica a toda e qualquer empresa que coleta, processa, armazena ou transmite informação de cartão de crédito, estando, portanto, obrigada a se adaptar ao padrão. Em linhas gerais, esta adaptação inclui comerciantes, intermediários que processam dados de cartão de crédito e estão ligados à rede da associação de cartões, assim como provedores de serviço que hospedam sites, processam transações em ATM ou coletam e processam dados de cartão de crédito em nome de membros das redes Visa e Mastercard – gateways de pagamento.</a:t>
            </a:r>
          </a:p>
          <a:p>
            <a:pPr algn="just" fontAlgn="base"/>
            <a:endParaRPr lang="pt-BR" sz="2000" dirty="0" smtClean="0"/>
          </a:p>
          <a:p>
            <a:pPr algn="just" fontAlgn="base"/>
            <a:r>
              <a:rPr lang="pt-BR" sz="1800" dirty="0" smtClean="0"/>
              <a:t>A </a:t>
            </a:r>
            <a:r>
              <a:rPr lang="pt-BR" sz="1800" dirty="0"/>
              <a:t>exceção fica com empresas que apenas emitem cartões de crédito e autorizam transações, como bancos e grandes varejistas, deixando de ser obrigados a demonstrar conformidade com o PCI DSS.</a:t>
            </a:r>
          </a:p>
        </p:txBody>
      </p:sp>
    </p:spTree>
    <p:extLst>
      <p:ext uri="{BB962C8B-B14F-4D97-AF65-F5344CB8AC3E}">
        <p14:creationId xmlns:p14="http://schemas.microsoft.com/office/powerpoint/2010/main" val="283188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284" y="0"/>
            <a:ext cx="5529616" cy="654091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2800" b="1" dirty="0" smtClean="0">
                <a:solidFill>
                  <a:schemeClr val="bg1"/>
                </a:solidFill>
                <a:latin typeface="+mj-lt"/>
              </a:rPr>
              <a:t>PCI-DSS – Exemplo de Requisitos</a:t>
            </a:r>
            <a:endParaRPr lang="pt-BR" sz="28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8" y="1093094"/>
            <a:ext cx="9038923" cy="467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0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/>
          <p:nvPr/>
        </p:nvSpPr>
        <p:spPr>
          <a:xfrm>
            <a:off x="78738" y="135891"/>
            <a:ext cx="8455662" cy="4737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</a:rPr>
              <a:t>Obrigado!</a:t>
            </a:r>
            <a:endParaRPr sz="3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1026" name="Picture 2" descr="C:\Users\Chacon\Desktop\CHACON Consultoria Ilimitada\Insumos\CHACON ILIMITADA 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561" y="1639647"/>
            <a:ext cx="5482897" cy="254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848140" y="4600574"/>
            <a:ext cx="729773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>
                <a:solidFill>
                  <a:schemeClr val="accent1">
                    <a:lumMod val="75000"/>
                  </a:schemeClr>
                </a:solidFill>
              </a:rPr>
              <a:t>Adolpho Chacon</a:t>
            </a:r>
          </a:p>
          <a:p>
            <a:pPr algn="ctr"/>
            <a:r>
              <a:rPr lang="pt-BR" sz="2400" b="1" dirty="0" smtClean="0">
                <a:solidFill>
                  <a:schemeClr val="accent1">
                    <a:lumMod val="75000"/>
                  </a:schemeClr>
                </a:solidFill>
              </a:rPr>
              <a:t>+55 11 989.076.767</a:t>
            </a:r>
          </a:p>
          <a:p>
            <a:pPr algn="ctr"/>
            <a:r>
              <a:rPr lang="pt-BR" sz="2400" b="1" dirty="0" smtClean="0">
                <a:solidFill>
                  <a:schemeClr val="accent1">
                    <a:lumMod val="75000"/>
                  </a:schemeClr>
                </a:solidFill>
              </a:rPr>
              <a:t>chacon@chacon-ilimitada.com</a:t>
            </a:r>
            <a:endParaRPr lang="pt-B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46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1793</TotalTime>
  <Words>7709</Words>
  <Application>Microsoft Office PowerPoint</Application>
  <PresentationFormat>Apresentação na tela (4:3)</PresentationFormat>
  <Paragraphs>910</Paragraphs>
  <Slides>91</Slides>
  <Notes>90</Notes>
  <HiddenSlides>10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91</vt:i4>
      </vt:variant>
    </vt:vector>
  </HeadingPairs>
  <TitlesOfParts>
    <vt:vector size="99" baseType="lpstr">
      <vt:lpstr>ＭＳ Ｐゴシック</vt:lpstr>
      <vt:lpstr>Arial</vt:lpstr>
      <vt:lpstr>Calibri</vt:lpstr>
      <vt:lpstr>Courier New</vt:lpstr>
      <vt:lpstr>Segoe UI</vt:lpstr>
      <vt:lpstr>Segoe UI Semibold</vt:lpstr>
      <vt:lpstr>Wingdings</vt:lpstr>
      <vt:lpstr>Office Theme</vt:lpstr>
      <vt:lpstr>Workshop – Conceitos</vt:lpstr>
      <vt:lpstr>ITIL® - Agenda</vt:lpstr>
      <vt:lpstr>Qual a motivação da ITIL® - História</vt:lpstr>
      <vt:lpstr>Qual a motivação da ITIL® - Estória</vt:lpstr>
      <vt:lpstr>Os gestores da ITIL® - CCTA</vt:lpstr>
      <vt:lpstr>Os gestores da ITIL® - OGC</vt:lpstr>
      <vt:lpstr>Os gestores da ITIL® - itSMF</vt:lpstr>
      <vt:lpstr>Os gestores da ITIL® - Cabinet Office</vt:lpstr>
      <vt:lpstr>Os gestores da ITIL® - APMG-International</vt:lpstr>
      <vt:lpstr>Os gestores da ITIL® - AXELOS</vt:lpstr>
      <vt:lpstr>A evolução da ITIL®</vt:lpstr>
      <vt:lpstr>A evolução da ITIL® - A V.0</vt:lpstr>
      <vt:lpstr>A evolução da ITIL® - A V.1</vt:lpstr>
      <vt:lpstr>A evolução da ITIL® - A V.2</vt:lpstr>
      <vt:lpstr>A evolução da ITIL® - A V.2</vt:lpstr>
      <vt:lpstr>A evolução da ITIL® - A V.3</vt:lpstr>
      <vt:lpstr>A evolução da ITIL® - A V.3</vt:lpstr>
      <vt:lpstr>A evolução da ITIL® - A 2011 Edition</vt:lpstr>
      <vt:lpstr>A evolução da ITIL® - A 2011 Edition</vt:lpstr>
      <vt:lpstr>A evolução da ITIL®</vt:lpstr>
      <vt:lpstr>Conceitos ITIL® - Gerenciamento de Serviço</vt:lpstr>
      <vt:lpstr>Conceitos ITIL® - Serviço</vt:lpstr>
      <vt:lpstr>Conceitos ITIL® - Valor</vt:lpstr>
      <vt:lpstr>Conceitos ITIL® - Componentes do Gerenciamento</vt:lpstr>
      <vt:lpstr>Erros dos Fornecedores e Gestores</vt:lpstr>
      <vt:lpstr>Catálogo de Serviços x Classificação de Chamados</vt:lpstr>
      <vt:lpstr>Catálogo de Serviços</vt:lpstr>
      <vt:lpstr>Gerenciar a Demanda é atender pedidos?</vt:lpstr>
      <vt:lpstr>Gerenciando a Demanda – Exemplo </vt:lpstr>
      <vt:lpstr>Gerenciamento de Mudanças X Gestão de Projetos</vt:lpstr>
      <vt:lpstr>Mudança ou “Liberança”</vt:lpstr>
      <vt:lpstr>Incidentes em TI ou em Serviços?</vt:lpstr>
      <vt:lpstr>Ger. da Configuração do Serviço e Ger. de Ativos.</vt:lpstr>
      <vt:lpstr>Questões que não calam</vt:lpstr>
      <vt:lpstr>O que evitar quando se opta por ITIL®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Sistema Toyota de Produção (STP)</vt:lpstr>
      <vt:lpstr>O Sistema Toyota de Produção (STP)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PCI-DSS</vt:lpstr>
      <vt:lpstr>PCI-DSS – O que é</vt:lpstr>
      <vt:lpstr>PCI-DSS – Origem</vt:lpstr>
      <vt:lpstr>PCI Security Standards Council</vt:lpstr>
      <vt:lpstr>PCI-DSS – Objetivos</vt:lpstr>
      <vt:lpstr>PCI-DSS – Requerimentos</vt:lpstr>
      <vt:lpstr>PCI-DSS – Requerimentos</vt:lpstr>
      <vt:lpstr>PCI-DSS – Abrangência</vt:lpstr>
      <vt:lpstr>PCI-DSS – Exemplo de Requisitos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Presbiteriana Mackenzie Faculdade de Computação e Informática Pós Graduação Lato Sensu Segurança em Tecnologia da Informação</dc:title>
  <dc:creator>Chacon</dc:creator>
  <cp:lastModifiedBy>Adolpho Chacon</cp:lastModifiedBy>
  <cp:revision>118</cp:revision>
  <dcterms:created xsi:type="dcterms:W3CDTF">2013-08-06T19:34:28Z</dcterms:created>
  <dcterms:modified xsi:type="dcterms:W3CDTF">2015-06-26T19:49:18Z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2012-04-10T00:00:00Z</vt:filetime>
  </property>
  <property fmtid="{D5CDD505-2E9C-101B-9397-08002B2CF9AE}" pid="3" name="LastSaved">
    <vt:filetime>2013-08-07T00:00:00Z</vt:filetime>
  </property>
</Properties>
</file>