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57" r:id="rId3"/>
    <p:sldId id="356" r:id="rId4"/>
    <p:sldId id="358" r:id="rId5"/>
    <p:sldId id="354" r:id="rId6"/>
    <p:sldId id="363" r:id="rId7"/>
    <p:sldId id="359" r:id="rId8"/>
    <p:sldId id="360" r:id="rId9"/>
    <p:sldId id="364" r:id="rId10"/>
    <p:sldId id="365" r:id="rId11"/>
    <p:sldId id="366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00CC00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17/10/2016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10/17/2016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234828"/>
            <a:ext cx="568862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GEROT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Gerenciamento da Rotina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17-10-2016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991371"/>
            <a:ext cx="4112341" cy="24150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do método de GEROT (Gerenciamento da Rotina)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como parte do caminho que resultará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40846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05009"/>
              </p:ext>
            </p:extLst>
          </p:nvPr>
        </p:nvGraphicFramePr>
        <p:xfrm>
          <a:off x="378569" y="1615962"/>
          <a:ext cx="9360000" cy="270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378569" y="1088448"/>
            <a:ext cx="6111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 </a:t>
            </a:r>
            <a:r>
              <a:rPr lang="pt-BR" b="1" dirty="0">
                <a:solidFill>
                  <a:srgbClr val="C00000"/>
                </a:solidFill>
              </a:rPr>
              <a:t>(parcial)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0" name="Seta: para a Direita 9">
            <a:hlinkClick r:id="rId3" action="ppaction://hlinksldjump"/>
          </p:cNvPr>
          <p:cNvSpPr/>
          <p:nvPr/>
        </p:nvSpPr>
        <p:spPr>
          <a:xfrm>
            <a:off x="378569" y="6360226"/>
            <a:ext cx="874644" cy="415916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exemplo</a:t>
            </a:r>
            <a:endParaRPr lang="pt-BR" b="1" dirty="0"/>
          </a:p>
        </p:txBody>
      </p:sp>
      <p:sp>
        <p:nvSpPr>
          <p:cNvPr id="11" name="Retângulo 10"/>
          <p:cNvSpPr/>
          <p:nvPr/>
        </p:nvSpPr>
        <p:spPr>
          <a:xfrm>
            <a:off x="4104374" y="4884953"/>
            <a:ext cx="28736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Report</a:t>
            </a:r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Executivo </a:t>
            </a:r>
          </a:p>
          <a:p>
            <a:pPr algn="r"/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 a Diretoria de TI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Grupo 21"/>
          <p:cNvGrpSpPr/>
          <p:nvPr/>
        </p:nvGrpSpPr>
        <p:grpSpPr>
          <a:xfrm>
            <a:off x="7184571" y="4699476"/>
            <a:ext cx="2930327" cy="2176279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649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Esquerda 3">
            <a:hlinkClick r:id="rId4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leftArrow">
            <a:avLst>
              <a:gd name="adj1" fmla="val 50000"/>
              <a:gd name="adj2" fmla="val 595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grpSp>
        <p:nvGrpSpPr>
          <p:cNvPr id="8" name="Grupo 5"/>
          <p:cNvGrpSpPr/>
          <p:nvPr/>
        </p:nvGrpSpPr>
        <p:grpSpPr>
          <a:xfrm>
            <a:off x="991704" y="1154420"/>
            <a:ext cx="8678660" cy="1800200"/>
            <a:chOff x="511644" y="4149080"/>
            <a:chExt cx="8678660" cy="1800200"/>
          </a:xfrm>
        </p:grpSpPr>
        <p:sp>
          <p:nvSpPr>
            <p:cNvPr id="11" name="Rechteck 51"/>
            <p:cNvSpPr/>
            <p:nvPr/>
          </p:nvSpPr>
          <p:spPr bwMode="gray">
            <a:xfrm>
              <a:off x="1245771" y="4217320"/>
              <a:ext cx="794453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>
                  <a:latin typeface="Trebuchet MS" panose="020B0603020202020204" pitchFamily="34" charset="0"/>
                </a:rPr>
                <a:t>Método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>
                  <a:latin typeface="Trebuchet MS" panose="020B0603020202020204" pitchFamily="34" charset="0"/>
                </a:rPr>
                <a:t>manter e melhorar 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serviços para um cliente (externo ou 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um 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envolva </a:t>
              </a:r>
              <a:r>
                <a:rPr lang="pt-BR" b="1" noProof="1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os níveis de serviços, permitindo </a:t>
              </a:r>
              <a:r>
                <a:rPr lang="pt-BR" b="1" noProof="1">
                  <a:latin typeface="Trebuchet MS" panose="020B0603020202020204" pitchFamily="34" charset="0"/>
                </a:rPr>
                <a:t>alcançar metas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2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7030A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GEROT</a:t>
              </a:r>
            </a:p>
          </p:txBody>
        </p:sp>
      </p:grpSp>
      <p:sp>
        <p:nvSpPr>
          <p:cNvPr id="13" name="Lágrima 12"/>
          <p:cNvSpPr/>
          <p:nvPr/>
        </p:nvSpPr>
        <p:spPr>
          <a:xfrm>
            <a:off x="8338364" y="3573719"/>
            <a:ext cx="1332000" cy="1332000"/>
          </a:xfrm>
          <a:prstGeom prst="teardrop">
            <a:avLst/>
          </a:prstGeom>
          <a:blipFill>
            <a:blip r:embed="rId3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658426" y="3573719"/>
            <a:ext cx="7474198" cy="3046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Trebuchet MS" panose="020B0603020202020204" pitchFamily="34" charset="0"/>
              </a:rPr>
              <a:t>GEROT – Rituais de Gestão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b="1" dirty="0"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DIÁRIA</a:t>
            </a:r>
            <a:r>
              <a:rPr lang="pt-BR" sz="1500" b="1" dirty="0">
                <a:latin typeface="Trebuchet MS" panose="020B0603020202020204" pitchFamily="34" charset="0"/>
              </a:rPr>
              <a:t> para demonstrar os indicadores e ações rápidas de contorno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manutenção da operação cotidiana (máx. 30 min, idealmente 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stand-</a:t>
            </a:r>
            <a:r>
              <a:rPr lang="pt-BR" sz="15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up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meeting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SEMANAL</a:t>
            </a:r>
            <a:r>
              <a:rPr lang="pt-BR" sz="1500" b="1" dirty="0">
                <a:latin typeface="Trebuchet MS" panose="020B0603020202020204" pitchFamily="34" charset="0"/>
              </a:rPr>
              <a:t> para alinhamento operacional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entre as Equipes de TI envolvidas (pode incluir Fornecedores) </a:t>
            </a:r>
            <a:r>
              <a:rPr lang="pt-BR" sz="1500" b="1" dirty="0">
                <a:latin typeface="Trebuchet MS" panose="020B0603020202020204" pitchFamily="34" charset="0"/>
              </a:rPr>
              <a:t>para criação/atualização de Planos de Ação para os indicadores abaixo da meta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para indisponibilidade dos serviços.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MENSAL</a:t>
            </a:r>
            <a:r>
              <a:rPr lang="pt-BR" sz="1500" b="1" dirty="0">
                <a:latin typeface="Trebuchet MS" panose="020B0603020202020204" pitchFamily="34" charset="0"/>
              </a:rPr>
              <a:t> para apresentação executiva dos resultados do mês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(metas vs. realizado) necessidades da Empresa/Negócio. 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71366" y="1518552"/>
            <a:ext cx="7441064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Premissas de Implantação</a:t>
            </a:r>
          </a:p>
          <a:p>
            <a:endParaRPr lang="pt-BR" sz="2800" b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Ter sempre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 na Meta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- Saber priorizar as ações.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Procedimentos devem ser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simples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efetivos e padronizados.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Identificar 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eliminar rapidamente os desvios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Muita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disciplina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o correto uso e manutenção dos Planos de Ação.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Buscar sempre ações corretivas e também preventivas.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Conhecer e utilizar adequadamente as Ferramentas de suporte ao GEROT (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Dashboards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Kanbans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JIRA).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Lágrima 16"/>
          <p:cNvSpPr/>
          <p:nvPr/>
        </p:nvSpPr>
        <p:spPr>
          <a:xfrm>
            <a:off x="7789119" y="1004862"/>
            <a:ext cx="1770161" cy="1726907"/>
          </a:xfrm>
          <a:prstGeom prst="teardrop">
            <a:avLst/>
          </a:prstGeom>
          <a:blipFill>
            <a:blip r:embed="rId3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75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8" name="Retângulo 7"/>
          <p:cNvSpPr/>
          <p:nvPr/>
        </p:nvSpPr>
        <p:spPr>
          <a:xfrm>
            <a:off x="430725" y="2171229"/>
            <a:ext cx="4289865" cy="363550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575829" y="2514259"/>
            <a:ext cx="845458" cy="7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de cantos arredondados 14"/>
          <p:cNvSpPr/>
          <p:nvPr/>
        </p:nvSpPr>
        <p:spPr>
          <a:xfrm>
            <a:off x="430726" y="1548567"/>
            <a:ext cx="4289864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Papéis e Responsabilidades</a:t>
            </a:r>
          </a:p>
        </p:txBody>
      </p:sp>
      <p:pic>
        <p:nvPicPr>
          <p:cNvPr id="13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575829" y="3676170"/>
            <a:ext cx="845458" cy="7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575829" y="4738930"/>
            <a:ext cx="845458" cy="7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94292" y="2375352"/>
            <a:ext cx="32262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Facilitador da GEROT</a:t>
            </a:r>
            <a:endParaRPr lang="pt-BR" sz="1400" dirty="0"/>
          </a:p>
          <a:p>
            <a:r>
              <a:rPr lang="pt-BR" sz="1200" dirty="0"/>
              <a:t>Organizar as agendas, conduzir as reuniões, elaborar as atas, acompanhar e verificar as ações combinadas em reunião e zelar pelo atingimento da meta.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494292" y="3537263"/>
            <a:ext cx="32262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Coordenador de Operações de TI</a:t>
            </a:r>
          </a:p>
          <a:p>
            <a:r>
              <a:rPr lang="pt-BR" sz="1200" dirty="0"/>
              <a:t>Ser o principal responsável pelo resultado da GEROT, garantir a realização das reuniões e das metas acordadas, priorizar chamados e acompanhar a equipe visando os resultados.</a:t>
            </a:r>
            <a:endParaRPr lang="pt-BR" sz="1400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1494293" y="4784689"/>
            <a:ext cx="32262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Analistas de Operações de TI</a:t>
            </a:r>
          </a:p>
          <a:p>
            <a:r>
              <a:rPr lang="pt-BR" sz="1200" dirty="0"/>
              <a:t>Comparecer às reuniões, propor soluções para os chamados antigos e atuar sobre os chamados em </a:t>
            </a:r>
            <a:r>
              <a:rPr lang="pt-BR" sz="1200" dirty="0" err="1"/>
              <a:t>Backlog</a:t>
            </a:r>
            <a:r>
              <a:rPr lang="pt-BR" sz="1200" dirty="0"/>
              <a:t>.</a:t>
            </a:r>
            <a:endParaRPr lang="pt-BR" sz="1400" dirty="0"/>
          </a:p>
        </p:txBody>
      </p:sp>
      <p:sp>
        <p:nvSpPr>
          <p:cNvPr id="22" name="Retângulo 21"/>
          <p:cNvSpPr/>
          <p:nvPr/>
        </p:nvSpPr>
        <p:spPr>
          <a:xfrm>
            <a:off x="5256378" y="2169614"/>
            <a:ext cx="4289865" cy="363712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14"/>
          <p:cNvSpPr/>
          <p:nvPr/>
        </p:nvSpPr>
        <p:spPr>
          <a:xfrm>
            <a:off x="5256378" y="1546951"/>
            <a:ext cx="428986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Dinâmica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464312" y="2270671"/>
            <a:ext cx="3873998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Gera-se o arquivo contendo a lista com a relação de </a:t>
            </a:r>
            <a:r>
              <a:rPr lang="pt-BR" sz="1600" i="1" dirty="0" err="1"/>
              <a:t>backlog</a:t>
            </a:r>
            <a:r>
              <a:rPr lang="pt-BR" sz="1600" dirty="0"/>
              <a:t> organizado em: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400" b="1" dirty="0" err="1"/>
              <a:t>Aging</a:t>
            </a:r>
            <a:r>
              <a:rPr lang="pt-BR" sz="1400" dirty="0"/>
              <a:t> (Verificação dos itens mais antigos para o mais novos)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400" b="1" dirty="0"/>
              <a:t>SLA</a:t>
            </a:r>
            <a:r>
              <a:rPr lang="pt-BR" sz="1400" dirty="0"/>
              <a:t> (Análise dos itens com SLA violado por </a:t>
            </a:r>
            <a:r>
              <a:rPr lang="pt-BR" sz="1400" dirty="0" err="1"/>
              <a:t>Aging</a:t>
            </a:r>
            <a:r>
              <a:rPr lang="pt-BR" sz="1400" dirty="0"/>
              <a:t>) 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400" b="1" dirty="0"/>
              <a:t>Status</a:t>
            </a:r>
            <a:r>
              <a:rPr lang="pt-BR" sz="1400" dirty="0"/>
              <a:t> (Priorizados na ordem </a:t>
            </a:r>
            <a:r>
              <a:rPr lang="pt-BR" sz="1400" i="1" dirty="0"/>
              <a:t>Pendente</a:t>
            </a:r>
            <a:r>
              <a:rPr lang="pt-BR" sz="1400" dirty="0"/>
              <a:t>, </a:t>
            </a:r>
            <a:r>
              <a:rPr lang="pt-BR" sz="1400" i="1" dirty="0"/>
              <a:t>em atendimento</a:t>
            </a:r>
            <a:r>
              <a:rPr lang="pt-BR" sz="1400" dirty="0"/>
              <a:t> e </a:t>
            </a:r>
            <a:r>
              <a:rPr lang="pt-BR" sz="1400" i="1" dirty="0"/>
              <a:t>aberto</a:t>
            </a:r>
            <a:r>
              <a:rPr lang="pt-BR" sz="1400" dirty="0"/>
              <a:t>)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400" b="1" dirty="0"/>
              <a:t>Classificação</a:t>
            </a:r>
            <a:r>
              <a:rPr lang="pt-BR" sz="1400" dirty="0"/>
              <a:t> (Volume por “sintoma”)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400" dirty="0"/>
              <a:t>Com a lista organizada define-se na reunião os registros a serem resolvidos/atualizados pelos analistas de acordo com a ata de reunião.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06665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430722" y="1176818"/>
            <a:ext cx="9204768" cy="5453524"/>
            <a:chOff x="430722" y="1176818"/>
            <a:chExt cx="9204768" cy="5453524"/>
          </a:xfrm>
        </p:grpSpPr>
        <p:sp>
          <p:nvSpPr>
            <p:cNvPr id="8" name="Retângulo 7"/>
            <p:cNvSpPr/>
            <p:nvPr/>
          </p:nvSpPr>
          <p:spPr>
            <a:xfrm>
              <a:off x="1733745" y="1176819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Retângulo de cantos arredondados 14"/>
            <p:cNvSpPr/>
            <p:nvPr/>
          </p:nvSpPr>
          <p:spPr>
            <a:xfrm>
              <a:off x="430726" y="1176818"/>
              <a:ext cx="1303019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Facilitador GEROT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1733743" y="2994660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1733744" y="4812501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Retângulo de cantos arredondados 14"/>
            <p:cNvSpPr/>
            <p:nvPr/>
          </p:nvSpPr>
          <p:spPr>
            <a:xfrm>
              <a:off x="430722" y="2994660"/>
              <a:ext cx="1303019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Coordenador Operações de TI</a:t>
              </a:r>
            </a:p>
          </p:txBody>
        </p:sp>
        <p:sp>
          <p:nvSpPr>
            <p:cNvPr id="20" name="Retângulo de cantos arredondados 14"/>
            <p:cNvSpPr/>
            <p:nvPr/>
          </p:nvSpPr>
          <p:spPr>
            <a:xfrm>
              <a:off x="430726" y="4812500"/>
              <a:ext cx="1303019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Analistas de Operações de TI</a:t>
              </a:r>
            </a:p>
          </p:txBody>
        </p:sp>
      </p:grpSp>
      <p:sp>
        <p:nvSpPr>
          <p:cNvPr id="29" name="Retângulo: Cantos Arredondados 28"/>
          <p:cNvSpPr/>
          <p:nvPr/>
        </p:nvSpPr>
        <p:spPr>
          <a:xfrm>
            <a:off x="4956516" y="1780276"/>
            <a:ext cx="1634389" cy="46433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4" name="Retângulo 3"/>
          <p:cNvSpPr/>
          <p:nvPr/>
        </p:nvSpPr>
        <p:spPr>
          <a:xfrm>
            <a:off x="2160270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Convoca reunião diária 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5287935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Inicia Reunião GEROT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5287935" y="3748958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Prioriza chamados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5287935" y="5310030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Propõe Soluções / Atuação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3713428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Prepara Reunião (base e </a:t>
            </a:r>
            <a:r>
              <a:rPr lang="pt-BR" sz="1200" dirty="0" err="1"/>
              <a:t>KPIs</a:t>
            </a:r>
            <a:r>
              <a:rPr lang="pt-BR" sz="1200" dirty="0"/>
              <a:t>)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6819744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Elabora e Divulga Ata da Reunião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667544" y="2835608"/>
            <a:ext cx="1058303" cy="789623"/>
            <a:chOff x="3153809" y="1198472"/>
            <a:chExt cx="1058303" cy="789623"/>
          </a:xfrm>
        </p:grpSpPr>
        <p:pic>
          <p:nvPicPr>
            <p:cNvPr id="2050" name="Picture 2" descr="http://downloadicons.net/sites/default/files/round--clock-icon-86811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1021" y="1198472"/>
              <a:ext cx="563880" cy="563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3153809" y="1711096"/>
              <a:ext cx="10583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Diariamente</a:t>
              </a:r>
              <a:endParaRPr lang="pt-BR" dirty="0">
                <a:solidFill>
                  <a:srgbClr val="7030A0"/>
                </a:solidFill>
              </a:endParaRPr>
            </a:p>
          </p:txBody>
        </p:sp>
      </p:grpSp>
      <p:sp>
        <p:nvSpPr>
          <p:cNvPr id="30" name="Retângulo 29"/>
          <p:cNvSpPr/>
          <p:nvPr/>
        </p:nvSpPr>
        <p:spPr>
          <a:xfrm>
            <a:off x="5084258" y="1831958"/>
            <a:ext cx="13789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>
                <a:solidFill>
                  <a:srgbClr val="7030A0"/>
                </a:solidFill>
                <a:latin typeface="Trebuchet MS" panose="020B0603020202020204" pitchFamily="34" charset="0"/>
              </a:rPr>
              <a:t>Dinâmica GEROT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8372900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Acompanha Ações propostas</a:t>
            </a:r>
          </a:p>
        </p:txBody>
      </p:sp>
      <p:cxnSp>
        <p:nvCxnSpPr>
          <p:cNvPr id="28" name="Conector de Seta Reta 27"/>
          <p:cNvCxnSpPr>
            <a:stCxn id="4" idx="3"/>
            <a:endCxn id="25" idx="1"/>
          </p:cNvCxnSpPr>
          <p:nvPr/>
        </p:nvCxnSpPr>
        <p:spPr>
          <a:xfrm>
            <a:off x="3131820" y="2490781"/>
            <a:ext cx="58160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5" idx="3"/>
          </p:cNvCxnSpPr>
          <p:nvPr/>
        </p:nvCxnSpPr>
        <p:spPr>
          <a:xfrm>
            <a:off x="4684978" y="2490781"/>
            <a:ext cx="27153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6" idx="3"/>
            <a:endCxn id="31" idx="1"/>
          </p:cNvCxnSpPr>
          <p:nvPr/>
        </p:nvCxnSpPr>
        <p:spPr>
          <a:xfrm>
            <a:off x="7791294" y="2490781"/>
            <a:ext cx="5816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endCxn id="26" idx="1"/>
          </p:cNvCxnSpPr>
          <p:nvPr/>
        </p:nvCxnSpPr>
        <p:spPr>
          <a:xfrm>
            <a:off x="6590905" y="2490781"/>
            <a:ext cx="228839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1" idx="0"/>
            <a:endCxn id="25" idx="0"/>
          </p:cNvCxnSpPr>
          <p:nvPr/>
        </p:nvCxnSpPr>
        <p:spPr>
          <a:xfrm rot="16200000" flipV="1">
            <a:off x="6528939" y="-141850"/>
            <a:ext cx="12700" cy="4659472"/>
          </a:xfrm>
          <a:prstGeom prst="bentConnector3">
            <a:avLst>
              <a:gd name="adj1" fmla="val 4792213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84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6994</TotalTime>
  <Words>794</Words>
  <Application>Microsoft Office PowerPoint</Application>
  <PresentationFormat>Personalizar</PresentationFormat>
  <Paragraphs>164</Paragraphs>
  <Slides>11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Felipe Lima</cp:lastModifiedBy>
  <cp:revision>48</cp:revision>
  <dcterms:created xsi:type="dcterms:W3CDTF">2014-01-24T21:35:00Z</dcterms:created>
  <dcterms:modified xsi:type="dcterms:W3CDTF">2016-10-17T02:54:21Z</dcterms:modified>
</cp:coreProperties>
</file>