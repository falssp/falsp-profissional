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357" r:id="rId3"/>
    <p:sldId id="356" r:id="rId4"/>
    <p:sldId id="358" r:id="rId5"/>
    <p:sldId id="354" r:id="rId6"/>
    <p:sldId id="363" r:id="rId7"/>
    <p:sldId id="359" r:id="rId8"/>
    <p:sldId id="360" r:id="rId9"/>
    <p:sldId id="364" r:id="rId10"/>
    <p:sldId id="366" r:id="rId11"/>
    <p:sldId id="367" r:id="rId12"/>
    <p:sldId id="368" r:id="rId1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66"/>
    <a:srgbClr val="00CC00"/>
    <a:srgbClr val="F68E1E"/>
    <a:srgbClr val="FF6600"/>
    <a:srgbClr val="D0462D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18/10/2016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2234828"/>
            <a:ext cx="568862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GEROT</a:t>
            </a: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Gerenciamento da Rotina</a:t>
            </a: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17-10-2016</a:t>
            </a:r>
          </a:p>
        </p:txBody>
      </p:sp>
      <p:pic>
        <p:nvPicPr>
          <p:cNvPr id="2" name="Picture 2" descr="http://www.dynamicbusiness.com.au/wp-content/uploads/2016/01/iStock_000029542540_Larg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438" y="4466208"/>
            <a:ext cx="4996017" cy="239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Contexto e Objetivo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45798" y="2081342"/>
            <a:ext cx="4112341" cy="37761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Após a implantação e consolidação da Central de Serviços de TI, o atingimento dos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acordados passou a ser exigido com maior rigor, fato que motiva a ampliação das práticas de gestão dos chamados e dos controles relacionados aos mesmos.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 está considerado o foco da área no cumprimento de seus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melhoria contínua na prestação de serviços para as áreas de negócios da Smiles.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486164" y="1498436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endParaRPr lang="pt-BR" sz="1600" i="1" dirty="0"/>
          </a:p>
        </p:txBody>
      </p:sp>
      <p:sp>
        <p:nvSpPr>
          <p:cNvPr id="16" name="Retângulo 15"/>
          <p:cNvSpPr/>
          <p:nvPr/>
        </p:nvSpPr>
        <p:spPr>
          <a:xfrm>
            <a:off x="5488858" y="2991371"/>
            <a:ext cx="4112341" cy="24150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Redução do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Backlog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e, consequentemente,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nos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 CSTI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do método de GEROT (Gerenciamento da Rotina)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como parte do caminho que resultará no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atingimento das metas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indicadores.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5429224" y="2408464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871401" y="3876261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205009"/>
              </p:ext>
            </p:extLst>
          </p:nvPr>
        </p:nvGraphicFramePr>
        <p:xfrm>
          <a:off x="378569" y="1615962"/>
          <a:ext cx="9360000" cy="270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378569" y="1088448"/>
            <a:ext cx="6111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 </a:t>
            </a:r>
            <a:r>
              <a:rPr lang="pt-BR" b="1" dirty="0">
                <a:solidFill>
                  <a:srgbClr val="C00000"/>
                </a:solidFill>
              </a:rPr>
              <a:t>(parcial)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10" name="Seta: para a Direita 9">
            <a:hlinkClick r:id="rId3" action="ppaction://hlinksldjump"/>
          </p:cNvPr>
          <p:cNvSpPr/>
          <p:nvPr/>
        </p:nvSpPr>
        <p:spPr>
          <a:xfrm>
            <a:off x="378569" y="6360226"/>
            <a:ext cx="874644" cy="415916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exemplo</a:t>
            </a:r>
            <a:endParaRPr lang="pt-BR" b="1" dirty="0"/>
          </a:p>
        </p:txBody>
      </p:sp>
      <p:sp>
        <p:nvSpPr>
          <p:cNvPr id="11" name="Retângulo 10"/>
          <p:cNvSpPr/>
          <p:nvPr/>
        </p:nvSpPr>
        <p:spPr>
          <a:xfrm>
            <a:off x="4104374" y="4884953"/>
            <a:ext cx="287360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2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Report</a:t>
            </a:r>
            <a:r>
              <a:rPr lang="pt-BR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Executivo </a:t>
            </a:r>
          </a:p>
          <a:p>
            <a:pPr algn="r"/>
            <a:r>
              <a:rPr lang="pt-BR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 a Diretoria de TI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Grupo 21"/>
          <p:cNvGrpSpPr/>
          <p:nvPr/>
        </p:nvGrpSpPr>
        <p:grpSpPr>
          <a:xfrm>
            <a:off x="7184571" y="4699476"/>
            <a:ext cx="2930327" cy="2176279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8311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 (EXEMPLO)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2649"/>
              </p:ext>
            </p:extLst>
          </p:nvPr>
        </p:nvGraphicFramePr>
        <p:xfrm>
          <a:off x="350158" y="1482693"/>
          <a:ext cx="8090755" cy="486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em 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endParaRPr lang="pt-BR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BUGs</a:t>
                      </a: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“A Fazer” </a:t>
                      </a: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1770329" y="997688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 descr="http://us.123rf.com/450wm/aquir/aquir1504/aquir150401107/39120040-exemplo-da-fita-do-grunge-selo-vermelho-retro-isolado.jpg?ver=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269" y="3127608"/>
            <a:ext cx="1564585" cy="123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Esquerda 3">
            <a:hlinkClick r:id="rId4" action="ppaction://hlinksldjump"/>
          </p:cNvPr>
          <p:cNvSpPr/>
          <p:nvPr/>
        </p:nvSpPr>
        <p:spPr>
          <a:xfrm>
            <a:off x="8998226" y="6342693"/>
            <a:ext cx="874644" cy="415916"/>
          </a:xfrm>
          <a:prstGeom prst="leftArrow">
            <a:avLst>
              <a:gd name="adj1" fmla="val 50000"/>
              <a:gd name="adj2" fmla="val 595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voltar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2985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35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grpSp>
        <p:nvGrpSpPr>
          <p:cNvPr id="8" name="Grupo 5"/>
          <p:cNvGrpSpPr/>
          <p:nvPr/>
        </p:nvGrpSpPr>
        <p:grpSpPr>
          <a:xfrm>
            <a:off x="991704" y="1154420"/>
            <a:ext cx="8678660" cy="1800200"/>
            <a:chOff x="511644" y="4149080"/>
            <a:chExt cx="8678660" cy="1800200"/>
          </a:xfrm>
        </p:grpSpPr>
        <p:sp>
          <p:nvSpPr>
            <p:cNvPr id="11" name="Rechteck 51"/>
            <p:cNvSpPr/>
            <p:nvPr/>
          </p:nvSpPr>
          <p:spPr bwMode="gray">
            <a:xfrm>
              <a:off x="1245771" y="4217320"/>
              <a:ext cx="7944533" cy="158410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5400000" scaled="1"/>
            </a:gradFill>
            <a:ln w="12700">
              <a:solidFill>
                <a:srgbClr val="C0C0C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16000" tIns="36000" rIns="216000" bIns="36000" anchor="ctr"/>
            <a:lstStyle/>
            <a:p>
              <a:pPr marL="72000"/>
              <a:r>
                <a:rPr lang="pt-BR" b="1" noProof="1">
                  <a:latin typeface="Trebuchet MS" panose="020B0603020202020204" pitchFamily="34" charset="0"/>
                </a:rPr>
                <a:t>Método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utilizado para </a:t>
              </a:r>
              <a:r>
                <a:rPr lang="pt-BR" b="1" noProof="1">
                  <a:latin typeface="Trebuchet MS" panose="020B0603020202020204" pitchFamily="34" charset="0"/>
                </a:rPr>
                <a:t>manter e melhorar a qualidade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dos serviços para um cliente (externo ou interno), </a:t>
              </a:r>
              <a:r>
                <a:rPr lang="pt-BR" b="1" noProof="1">
                  <a:latin typeface="Trebuchet MS" panose="020B0603020202020204" pitchFamily="34" charset="0"/>
                </a:rPr>
                <a:t>através de um ciclo contínuo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que envolva </a:t>
              </a:r>
              <a:r>
                <a:rPr lang="pt-BR" b="1" noProof="1">
                  <a:latin typeface="Trebuchet MS" panose="020B0603020202020204" pitchFamily="34" charset="0"/>
                </a:rPr>
                <a:t>combinar, monitorar (diariamente, semanalmente e mensalmente) e reportar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os níveis de serviços, permitindo </a:t>
              </a:r>
              <a:r>
                <a:rPr lang="pt-BR" b="1" noProof="1">
                  <a:latin typeface="Trebuchet MS" panose="020B0603020202020204" pitchFamily="34" charset="0"/>
                </a:rPr>
                <a:t>alcançar metas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previamente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estabelecidas. </a:t>
              </a:r>
              <a:endParaRPr lang="en-US" noProof="1">
                <a:solidFill>
                  <a:srgbClr val="40404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2" name="Abgerundetes Rechteck 57"/>
            <p:cNvSpPr/>
            <p:nvPr/>
          </p:nvSpPr>
          <p:spPr bwMode="gray">
            <a:xfrm>
              <a:off x="511644" y="4149080"/>
              <a:ext cx="1008000" cy="1800200"/>
            </a:xfrm>
            <a:prstGeom prst="roundRect">
              <a:avLst>
                <a:gd name="adj" fmla="val 9083"/>
              </a:avLst>
            </a:prstGeom>
            <a:solidFill>
              <a:srgbClr val="7030A0"/>
            </a:solidFill>
            <a:ln w="12700">
              <a:noFill/>
              <a:round/>
              <a:headEnd/>
              <a:tailEnd/>
            </a:ln>
            <a:scene3d>
              <a:camera prst="perspectiveRelaxed" fov="3600000">
                <a:rot lat="300000" lon="19499988" rev="0"/>
              </a:camera>
              <a:lightRig rig="threePt" dir="t"/>
            </a:scene3d>
            <a:sp3d extrusionH="787400">
              <a:bevelT w="63500" h="63500"/>
              <a:bevelB w="63500" h="63500"/>
            </a:sp3d>
          </p:spPr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GEROT</a:t>
              </a:r>
            </a:p>
          </p:txBody>
        </p:sp>
      </p:grpSp>
      <p:sp>
        <p:nvSpPr>
          <p:cNvPr id="13" name="Lágrima 12"/>
          <p:cNvSpPr/>
          <p:nvPr/>
        </p:nvSpPr>
        <p:spPr>
          <a:xfrm>
            <a:off x="8338364" y="3573719"/>
            <a:ext cx="1332000" cy="1332000"/>
          </a:xfrm>
          <a:prstGeom prst="teardrop">
            <a:avLst/>
          </a:prstGeom>
          <a:blipFill>
            <a:blip r:embed="rId3"/>
            <a:srcRect/>
            <a:stretch>
              <a:fillRect l="-2714" t="-3441" r="-21624" b="-15491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658426" y="3573719"/>
            <a:ext cx="7474198" cy="30469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b="1" dirty="0">
                <a:latin typeface="Trebuchet MS" panose="020B0603020202020204" pitchFamily="34" charset="0"/>
              </a:rPr>
              <a:t>GEROT – Rituais de Gestão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b="1" dirty="0"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DIÁRIA</a:t>
            </a:r>
            <a:r>
              <a:rPr lang="pt-BR" sz="1500" b="1" dirty="0">
                <a:latin typeface="Trebuchet MS" panose="020B0603020202020204" pitchFamily="34" charset="0"/>
              </a:rPr>
              <a:t> para demonstrar os indicadores e ações rápidas de contorno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para manutenção da operação cotidiana (máx. 30 min, idealmente </a:t>
            </a:r>
            <a:r>
              <a:rPr lang="pt-BR" sz="15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stand-</a:t>
            </a:r>
            <a:r>
              <a:rPr lang="pt-BR" sz="15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up</a:t>
            </a:r>
            <a:r>
              <a:rPr lang="pt-BR" sz="15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meeting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).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SEMANAL</a:t>
            </a:r>
            <a:r>
              <a:rPr lang="pt-BR" sz="1500" b="1" dirty="0">
                <a:latin typeface="Trebuchet MS" panose="020B0603020202020204" pitchFamily="34" charset="0"/>
              </a:rPr>
              <a:t> para alinhamento operacional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entre as Equipes de TI envolvidas (pode incluir Fornecedores) </a:t>
            </a:r>
            <a:r>
              <a:rPr lang="pt-BR" sz="1500" b="1" dirty="0">
                <a:latin typeface="Trebuchet MS" panose="020B0603020202020204" pitchFamily="34" charset="0"/>
              </a:rPr>
              <a:t>para criação/atualização de Planos de Ação para os indicadores abaixo da meta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 para indisponibilidade dos serviços.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MENSAL</a:t>
            </a:r>
            <a:r>
              <a:rPr lang="pt-BR" sz="1500" b="1" dirty="0">
                <a:latin typeface="Trebuchet MS" panose="020B0603020202020204" pitchFamily="34" charset="0"/>
              </a:rPr>
              <a:t> para apresentação executiva dos resultados do mês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(metas vs. realizado) necessidades da Empresa/Negócio. </a:t>
            </a:r>
          </a:p>
        </p:txBody>
      </p:sp>
    </p:spTree>
    <p:extLst>
      <p:ext uri="{BB962C8B-B14F-4D97-AF65-F5344CB8AC3E}">
        <p14:creationId xmlns:p14="http://schemas.microsoft.com/office/powerpoint/2010/main" val="238540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571366" y="1518552"/>
            <a:ext cx="7441064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Premissas de Implantação</a:t>
            </a:r>
          </a:p>
          <a:p>
            <a:endParaRPr lang="pt-BR" sz="2800" b="1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Ter sempre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foco na Meta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- Saber priorizar as ações.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Procedimentos devem ser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simples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efetivos e padronizados.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Identificar e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eliminar rapidamente os desvios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Muita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disciplina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para o correto uso e manutenção dos Planos de Ação.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Buscar sempre ações corretivas e também preventivas.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Conhecer e utilizar adequadamente as Ferramentas de suporte ao GEROT (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Dashboards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Kanbans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JIRA).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Lágrima 16"/>
          <p:cNvSpPr/>
          <p:nvPr/>
        </p:nvSpPr>
        <p:spPr>
          <a:xfrm>
            <a:off x="7789119" y="1004862"/>
            <a:ext cx="1770161" cy="1726907"/>
          </a:xfrm>
          <a:prstGeom prst="teardrop">
            <a:avLst/>
          </a:prstGeom>
          <a:blipFill>
            <a:blip r:embed="rId3"/>
            <a:srcRect/>
            <a:stretch>
              <a:fillRect l="-8120" t="-8847" r="-5406" b="727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75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/>
          <p:cNvGrpSpPr/>
          <p:nvPr/>
        </p:nvGrpSpPr>
        <p:grpSpPr>
          <a:xfrm>
            <a:off x="106017" y="835951"/>
            <a:ext cx="9780105" cy="5794392"/>
            <a:chOff x="430722" y="1176818"/>
            <a:chExt cx="9204768" cy="5453524"/>
          </a:xfrm>
        </p:grpSpPr>
        <p:sp>
          <p:nvSpPr>
            <p:cNvPr id="8" name="Retângulo 7"/>
            <p:cNvSpPr/>
            <p:nvPr/>
          </p:nvSpPr>
          <p:spPr>
            <a:xfrm>
              <a:off x="1733745" y="1176819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Retângulo de cantos arredondados 14"/>
            <p:cNvSpPr/>
            <p:nvPr/>
          </p:nvSpPr>
          <p:spPr>
            <a:xfrm>
              <a:off x="430726" y="1176818"/>
              <a:ext cx="1897294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Facilitador GEROT</a:t>
              </a:r>
            </a:p>
            <a:p>
              <a:pPr algn="ctr"/>
              <a:endParaRPr lang="pt-BR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pt-BR" sz="1100" dirty="0"/>
                <a:t>Organizar as agendas, conduzir as reuniões, elaborar as atas, acompanhar e verificar as ações combinadas em reunião e zelar pelo atingimento da meta.</a:t>
              </a:r>
            </a:p>
            <a:p>
              <a:pPr algn="ctr"/>
              <a:endPara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1733743" y="2994660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1733744" y="4812501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Retângulo de cantos arredondados 14"/>
            <p:cNvSpPr/>
            <p:nvPr/>
          </p:nvSpPr>
          <p:spPr>
            <a:xfrm>
              <a:off x="430722" y="2994660"/>
              <a:ext cx="1897298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Coordenador Operações de TI</a:t>
              </a:r>
            </a:p>
            <a:p>
              <a:pPr algn="ctr"/>
              <a:endParaRPr lang="pt-BR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pt-BR" sz="1100" dirty="0"/>
                <a:t>Ser o principal responsável pelo resultado e garantir a realização das reuniões e das metas acordadas, priorizar chamados e acompanhar a equipe visando os resultados.</a:t>
              </a:r>
            </a:p>
            <a:p>
              <a:pPr algn="ctr"/>
              <a:endPara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Retângulo de cantos arredondados 14"/>
            <p:cNvSpPr/>
            <p:nvPr/>
          </p:nvSpPr>
          <p:spPr>
            <a:xfrm>
              <a:off x="430726" y="4812500"/>
              <a:ext cx="1897294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Analistas de Operações de TI</a:t>
              </a:r>
            </a:p>
            <a:p>
              <a:pPr algn="ctr"/>
              <a:endParaRPr lang="pt-BR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pt-BR" sz="1100" dirty="0"/>
                <a:t>Comparecer às reuniões, propor soluções para os chamados antigos e atuar sobre os chamados em </a:t>
              </a:r>
              <a:r>
                <a:rPr lang="pt-BR" sz="1100" i="1" dirty="0" err="1"/>
                <a:t>Backlog</a:t>
              </a:r>
              <a:r>
                <a:rPr lang="pt-BR" sz="1100" dirty="0"/>
                <a:t>.</a:t>
              </a:r>
            </a:p>
            <a:p>
              <a:pPr algn="ctr"/>
              <a:endPara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9" name="Retângulo: Cantos Arredondados 28"/>
          <p:cNvSpPr/>
          <p:nvPr/>
        </p:nvSpPr>
        <p:spPr>
          <a:xfrm>
            <a:off x="5192663" y="1170676"/>
            <a:ext cx="1634389" cy="529638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972000" lvl="1">
              <a:lnSpc>
                <a:spcPts val="2100"/>
              </a:lnSpc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4" name="Retângulo 3"/>
          <p:cNvSpPr/>
          <p:nvPr/>
        </p:nvSpPr>
        <p:spPr>
          <a:xfrm>
            <a:off x="2398806" y="15782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Convoca reunião diária 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5524082" y="15782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Inicia Reunião GEROT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5524082" y="3391148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Prioriza chamados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5524082" y="5177507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Propõe Soluções / Atuação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3951964" y="15782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Prepara Reunião (base e </a:t>
            </a:r>
            <a:r>
              <a:rPr lang="pt-BR" sz="1200" dirty="0" err="1"/>
              <a:t>KPIs</a:t>
            </a:r>
            <a:r>
              <a:rPr lang="pt-BR" sz="1200" dirty="0"/>
              <a:t>)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7058280" y="15782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Elabora e Divulga Ata da Reunião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906080" y="2226008"/>
            <a:ext cx="1058303" cy="789623"/>
            <a:chOff x="3153809" y="1198472"/>
            <a:chExt cx="1058303" cy="789623"/>
          </a:xfrm>
        </p:grpSpPr>
        <p:pic>
          <p:nvPicPr>
            <p:cNvPr id="2050" name="Picture 2" descr="http://downloadicons.net/sites/default/files/round--clock-icon-86811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1021" y="1198472"/>
              <a:ext cx="563880" cy="563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tângulo 4"/>
            <p:cNvSpPr/>
            <p:nvPr/>
          </p:nvSpPr>
          <p:spPr>
            <a:xfrm>
              <a:off x="3153809" y="1711096"/>
              <a:ext cx="105830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200" b="1" dirty="0">
                  <a:solidFill>
                    <a:srgbClr val="7030A0"/>
                  </a:solidFill>
                  <a:latin typeface="Trebuchet MS" panose="020B0603020202020204" pitchFamily="34" charset="0"/>
                </a:rPr>
                <a:t>Diariamente</a:t>
              </a:r>
              <a:endParaRPr lang="pt-BR" dirty="0">
                <a:solidFill>
                  <a:srgbClr val="7030A0"/>
                </a:solidFill>
              </a:endParaRPr>
            </a:p>
          </p:txBody>
        </p:sp>
      </p:grpSp>
      <p:sp>
        <p:nvSpPr>
          <p:cNvPr id="30" name="Retângulo 29"/>
          <p:cNvSpPr/>
          <p:nvPr/>
        </p:nvSpPr>
        <p:spPr>
          <a:xfrm>
            <a:off x="5320405" y="1222358"/>
            <a:ext cx="13789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>
                <a:solidFill>
                  <a:srgbClr val="7030A0"/>
                </a:solidFill>
                <a:latin typeface="Trebuchet MS" panose="020B0603020202020204" pitchFamily="34" charset="0"/>
              </a:rPr>
              <a:t>Dinâmica GEROT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8611436" y="15782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Acompanha Ações propostas</a:t>
            </a:r>
          </a:p>
        </p:txBody>
      </p:sp>
      <p:cxnSp>
        <p:nvCxnSpPr>
          <p:cNvPr id="28" name="Conector de Seta Reta 27"/>
          <p:cNvCxnSpPr>
            <a:stCxn id="4" idx="3"/>
            <a:endCxn id="25" idx="1"/>
          </p:cNvCxnSpPr>
          <p:nvPr/>
        </p:nvCxnSpPr>
        <p:spPr>
          <a:xfrm>
            <a:off x="3370356" y="1881181"/>
            <a:ext cx="581608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25" idx="3"/>
          </p:cNvCxnSpPr>
          <p:nvPr/>
        </p:nvCxnSpPr>
        <p:spPr>
          <a:xfrm>
            <a:off x="4923514" y="1881181"/>
            <a:ext cx="271538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6" idx="3"/>
            <a:endCxn id="31" idx="1"/>
          </p:cNvCxnSpPr>
          <p:nvPr/>
        </p:nvCxnSpPr>
        <p:spPr>
          <a:xfrm>
            <a:off x="8029830" y="1881181"/>
            <a:ext cx="5816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endCxn id="26" idx="1"/>
          </p:cNvCxnSpPr>
          <p:nvPr/>
        </p:nvCxnSpPr>
        <p:spPr>
          <a:xfrm>
            <a:off x="6829441" y="1881181"/>
            <a:ext cx="228839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>
            <a:stCxn id="31" idx="0"/>
            <a:endCxn id="25" idx="0"/>
          </p:cNvCxnSpPr>
          <p:nvPr/>
        </p:nvCxnSpPr>
        <p:spPr>
          <a:xfrm rot="16200000" flipV="1">
            <a:off x="6767475" y="-751450"/>
            <a:ext cx="12700" cy="4659472"/>
          </a:xfrm>
          <a:prstGeom prst="bentConnector3">
            <a:avLst>
              <a:gd name="adj1" fmla="val 4792213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844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89781" y="1112941"/>
            <a:ext cx="729332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Gera-se o arquivo de 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backlog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Organiza-se os chamados de acordo com o status e verifica-se os “pendentes”. Eles serão os primeiros a serem verificados.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Eles são: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Pendente Usuário: Será verificado de acordo com a última atualização, caso esteja a mais de 5 dias sem atualização o chamado poderá ser finalizado.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Pendente Desenvolvimento:  Entra-se em contato com o time de desenvolvimento e verifica-se o motivo da pendência, após resposta define-se medida a ser tomada.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Pendente GMUD: Verifica-se o número da GMUD e observa-se se houve execução do processo.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Após a eliminação destes considera-se dos mais antigos para os mais novos (</a:t>
            </a:r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Aging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).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Com a visão acima define-se em ata de reunião quem irá realizar o acompanhamento.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400" dirty="0"/>
          </a:p>
        </p:txBody>
      </p:sp>
      <p:pic>
        <p:nvPicPr>
          <p:cNvPr id="1026" name="Picture 2" descr="Resultado de imagem para pd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533" y="880228"/>
            <a:ext cx="1918321" cy="130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083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1338037" y="2998113"/>
            <a:ext cx="744106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Obrigado</a:t>
            </a:r>
            <a:endParaRPr lang="pt-BR" sz="5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793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7039</TotalTime>
  <Words>831</Words>
  <Application>Microsoft Office PowerPoint</Application>
  <PresentationFormat>Personalizar</PresentationFormat>
  <Paragraphs>171</Paragraphs>
  <Slides>12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Filho</dc:creator>
  <cp:lastModifiedBy>Felipe Lima</cp:lastModifiedBy>
  <cp:revision>56</cp:revision>
  <dcterms:created xsi:type="dcterms:W3CDTF">2014-01-24T21:35:00Z</dcterms:created>
  <dcterms:modified xsi:type="dcterms:W3CDTF">2016-10-18T19:12:20Z</dcterms:modified>
</cp:coreProperties>
</file>