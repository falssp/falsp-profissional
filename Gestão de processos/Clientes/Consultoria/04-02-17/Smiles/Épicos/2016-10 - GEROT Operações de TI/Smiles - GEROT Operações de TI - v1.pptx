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7" r:id="rId2"/>
    <p:sldId id="357" r:id="rId3"/>
    <p:sldId id="356" r:id="rId4"/>
    <p:sldId id="358" r:id="rId5"/>
    <p:sldId id="354" r:id="rId6"/>
    <p:sldId id="363" r:id="rId7"/>
    <p:sldId id="359" r:id="rId8"/>
    <p:sldId id="360" r:id="rId9"/>
    <p:sldId id="364" r:id="rId10"/>
    <p:sldId id="365" r:id="rId11"/>
    <p:sldId id="366" r:id="rId12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99"/>
    <a:srgbClr val="FFFF66"/>
    <a:srgbClr val="00CC00"/>
    <a:srgbClr val="F68E1E"/>
    <a:srgbClr val="FF6600"/>
    <a:srgbClr val="D0462D"/>
    <a:srgbClr val="F57124"/>
    <a:srgbClr val="99CCFF"/>
    <a:srgbClr val="FF9900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942" y="-48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14/10/2016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10/14/2016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10/14/2016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10/14/2016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10/14/2016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10/14/2016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10/14/2016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slide" Target="slide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88784" y="2234828"/>
            <a:ext cx="5688627" cy="4462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GEROT</a:t>
            </a: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Gerenciamento da Rotina</a:t>
            </a:r>
          </a:p>
          <a:p>
            <a:endParaRPr lang="pt-BR" sz="36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Operações de TI</a:t>
            </a:r>
            <a:endParaRPr lang="pt-BR" sz="32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28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1 – 17-10-2016</a:t>
            </a:r>
          </a:p>
        </p:txBody>
      </p:sp>
      <p:pic>
        <p:nvPicPr>
          <p:cNvPr id="2" name="Picture 2" descr="http://www.dynamicbusiness.com.au/wp-content/uploads/2016/01/iStock_000029542540_Large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6438" y="4466208"/>
            <a:ext cx="4996017" cy="2391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da GEROT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9618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Contexto e Objetivo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545798" y="2081342"/>
            <a:ext cx="4112341" cy="3776119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Após a implantação e consolidação da Central de Serviços de TI, o atingimento dos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acordados passou a ser exigido com maior rigor, fato que motiva a ampliação das práticas de gestão dos chamados e dos controles relacionados aos mesmos.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Nesse contexto está considerado o foco da área no cumprimento de seus </a:t>
            </a:r>
            <a:r>
              <a:rPr lang="pt-BR" sz="1600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 melhoria contínua na prestação de serviços para as áreas de negócios da Smiles.</a:t>
            </a:r>
          </a:p>
        </p:txBody>
      </p:sp>
      <p:sp>
        <p:nvSpPr>
          <p:cNvPr id="13" name="Retângulo de cantos arredondados 14"/>
          <p:cNvSpPr/>
          <p:nvPr/>
        </p:nvSpPr>
        <p:spPr>
          <a:xfrm>
            <a:off x="486164" y="1498436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Contexto</a:t>
            </a:r>
            <a:endParaRPr lang="pt-BR" sz="1600" i="1" dirty="0"/>
          </a:p>
        </p:txBody>
      </p:sp>
      <p:sp>
        <p:nvSpPr>
          <p:cNvPr id="16" name="Retângulo 15"/>
          <p:cNvSpPr/>
          <p:nvPr/>
        </p:nvSpPr>
        <p:spPr>
          <a:xfrm>
            <a:off x="5488858" y="2991371"/>
            <a:ext cx="4112341" cy="241502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lvl="1">
              <a:spcBef>
                <a:spcPts val="200"/>
              </a:spcBef>
              <a:spcAft>
                <a:spcPts val="200"/>
              </a:spcAft>
            </a:pPr>
            <a:endParaRPr lang="pt-BR" sz="1200" dirty="0">
              <a:solidFill>
                <a:schemeClr val="tx1">
                  <a:lumMod val="95000"/>
                  <a:lumOff val="5000"/>
                </a:schemeClr>
              </a:solidFill>
            </a:endParaRP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Redução do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Backlog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e, consequentemente,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melhoria nos </a:t>
            </a:r>
            <a:r>
              <a:rPr lang="pt-BR" sz="1600" b="1" dirty="0" err="1">
                <a:solidFill>
                  <a:schemeClr val="tx1">
                    <a:lumMod val="95000"/>
                    <a:lumOff val="5000"/>
                  </a:schemeClr>
                </a:solidFill>
              </a:rPr>
              <a:t>SLAs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da CSTI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. </a:t>
            </a:r>
          </a:p>
          <a:p>
            <a:pPr marL="288000" lvl="1" indent="-288000">
              <a:lnSpc>
                <a:spcPts val="21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Implantação do método de GEROT (Gerenciamento da Rotina)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como parte do caminho que resultará no </a:t>
            </a:r>
            <a:r>
              <a:rPr lang="pt-BR" sz="16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atingimento das metas</a:t>
            </a:r>
            <a:r>
              <a:rPr lang="pt-BR" sz="16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dos indicadores.</a:t>
            </a:r>
          </a:p>
        </p:txBody>
      </p:sp>
      <p:sp>
        <p:nvSpPr>
          <p:cNvPr id="17" name="Retângulo de cantos arredondados 14"/>
          <p:cNvSpPr/>
          <p:nvPr/>
        </p:nvSpPr>
        <p:spPr>
          <a:xfrm>
            <a:off x="5429224" y="2408464"/>
            <a:ext cx="4231608" cy="624278"/>
          </a:xfrm>
          <a:prstGeom prst="roundRect">
            <a:avLst/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Objetivo</a:t>
            </a:r>
            <a:endParaRPr lang="pt-BR" sz="1600" i="1" dirty="0"/>
          </a:p>
        </p:txBody>
      </p:sp>
      <p:sp>
        <p:nvSpPr>
          <p:cNvPr id="3" name="Seta: para a Direita 2"/>
          <p:cNvSpPr/>
          <p:nvPr/>
        </p:nvSpPr>
        <p:spPr>
          <a:xfrm>
            <a:off x="4871401" y="3876261"/>
            <a:ext cx="404194" cy="490330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16761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da GEROT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30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Indicadores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7205009"/>
              </p:ext>
            </p:extLst>
          </p:nvPr>
        </p:nvGraphicFramePr>
        <p:xfrm>
          <a:off x="378569" y="1615962"/>
          <a:ext cx="9360000" cy="2700000"/>
        </p:xfrm>
        <a:graphic>
          <a:graphicData uri="http://schemas.openxmlformats.org/drawingml/2006/table">
            <a:tbl>
              <a:tblPr/>
              <a:tblGrid>
                <a:gridCol w="288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BRUTO CSTI </a:t>
                      </a:r>
                      <a:r>
                        <a:rPr lang="pt-BR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(todos os chamados a serem resolvidos)</a:t>
                      </a:r>
                      <a:endParaRPr lang="pt-BR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8798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4498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4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LÍQUIDO CSTI </a:t>
                      </a:r>
                      <a:r>
                        <a:rPr lang="pt-BR" sz="14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(menos Pendente Desenvolvimento, Promoções e Operação Assistida)</a:t>
                      </a:r>
                      <a:endParaRPr lang="pt-BR" sz="14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55916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pt-BR" sz="2800" b="1" i="0" u="none" strike="noStrike" kern="1200" dirty="0">
                        <a:solidFill>
                          <a:srgbClr val="008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099992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378569" y="1088448"/>
            <a:ext cx="61111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 </a:t>
            </a:r>
            <a:r>
              <a:rPr lang="pt-BR" b="1" dirty="0">
                <a:solidFill>
                  <a:srgbClr val="C00000"/>
                </a:solidFill>
              </a:rPr>
              <a:t>(parcial)</a:t>
            </a:r>
            <a:endParaRPr lang="pt-BR" dirty="0">
              <a:solidFill>
                <a:srgbClr val="C00000"/>
              </a:solidFill>
            </a:endParaRPr>
          </a:p>
        </p:txBody>
      </p:sp>
      <p:sp>
        <p:nvSpPr>
          <p:cNvPr id="10" name="Seta: para a Direita 9">
            <a:hlinkClick r:id="rId3" action="ppaction://hlinksldjump"/>
          </p:cNvPr>
          <p:cNvSpPr/>
          <p:nvPr/>
        </p:nvSpPr>
        <p:spPr>
          <a:xfrm>
            <a:off x="378569" y="6360226"/>
            <a:ext cx="874644" cy="415916"/>
          </a:xfrm>
          <a:prstGeom prst="rightArrow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exemplo</a:t>
            </a:r>
            <a:endParaRPr lang="pt-BR" b="1" dirty="0"/>
          </a:p>
        </p:txBody>
      </p:sp>
      <p:sp>
        <p:nvSpPr>
          <p:cNvPr id="11" name="Retângulo 10"/>
          <p:cNvSpPr/>
          <p:nvPr/>
        </p:nvSpPr>
        <p:spPr>
          <a:xfrm>
            <a:off x="4104374" y="4884953"/>
            <a:ext cx="2873607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pt-BR" sz="2400" b="1" i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Report</a:t>
            </a:r>
            <a:r>
              <a:rPr lang="pt-BR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Executivo </a:t>
            </a:r>
          </a:p>
          <a:p>
            <a:pPr algn="r"/>
            <a:r>
              <a:rPr lang="pt-BR" sz="24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para a Diretoria de TI</a:t>
            </a:r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12" name="Grupo 21"/>
          <p:cNvGrpSpPr/>
          <p:nvPr/>
        </p:nvGrpSpPr>
        <p:grpSpPr>
          <a:xfrm>
            <a:off x="7184571" y="4699476"/>
            <a:ext cx="2930327" cy="2176279"/>
            <a:chOff x="4375820" y="3475969"/>
            <a:chExt cx="4745472" cy="3411538"/>
          </a:xfrm>
        </p:grpSpPr>
        <p:sp>
          <p:nvSpPr>
            <p:cNvPr id="13" name="Freeform 6"/>
            <p:cNvSpPr>
              <a:spLocks/>
            </p:cNvSpPr>
            <p:nvPr/>
          </p:nvSpPr>
          <p:spPr bwMode="auto">
            <a:xfrm>
              <a:off x="7404027" y="3475969"/>
              <a:ext cx="1717265" cy="3411538"/>
            </a:xfrm>
            <a:custGeom>
              <a:avLst/>
              <a:gdLst>
                <a:gd name="T0" fmla="*/ 0 w 719"/>
                <a:gd name="T1" fmla="*/ 1429 h 1429"/>
                <a:gd name="T2" fmla="*/ 31 w 719"/>
                <a:gd name="T3" fmla="*/ 1429 h 1429"/>
                <a:gd name="T4" fmla="*/ 148 w 719"/>
                <a:gd name="T5" fmla="*/ 959 h 1429"/>
                <a:gd name="T6" fmla="*/ 158 w 719"/>
                <a:gd name="T7" fmla="*/ 961 h 1429"/>
                <a:gd name="T8" fmla="*/ 166 w 719"/>
                <a:gd name="T9" fmla="*/ 939 h 1429"/>
                <a:gd name="T10" fmla="*/ 154 w 719"/>
                <a:gd name="T11" fmla="*/ 933 h 1429"/>
                <a:gd name="T12" fmla="*/ 305 w 719"/>
                <a:gd name="T13" fmla="*/ 930 h 1429"/>
                <a:gd name="T14" fmla="*/ 307 w 719"/>
                <a:gd name="T15" fmla="*/ 944 h 1429"/>
                <a:gd name="T16" fmla="*/ 366 w 719"/>
                <a:gd name="T17" fmla="*/ 955 h 1429"/>
                <a:gd name="T18" fmla="*/ 366 w 719"/>
                <a:gd name="T19" fmla="*/ 1427 h 1429"/>
                <a:gd name="T20" fmla="*/ 399 w 719"/>
                <a:gd name="T21" fmla="*/ 1426 h 1429"/>
                <a:gd name="T22" fmla="*/ 399 w 719"/>
                <a:gd name="T23" fmla="*/ 935 h 1429"/>
                <a:gd name="T24" fmla="*/ 430 w 719"/>
                <a:gd name="T25" fmla="*/ 932 h 1429"/>
                <a:gd name="T26" fmla="*/ 461 w 719"/>
                <a:gd name="T27" fmla="*/ 885 h 1429"/>
                <a:gd name="T28" fmla="*/ 465 w 719"/>
                <a:gd name="T29" fmla="*/ 873 h 1429"/>
                <a:gd name="T30" fmla="*/ 543 w 719"/>
                <a:gd name="T31" fmla="*/ 873 h 1429"/>
                <a:gd name="T32" fmla="*/ 689 w 719"/>
                <a:gd name="T33" fmla="*/ 1426 h 1429"/>
                <a:gd name="T34" fmla="*/ 719 w 719"/>
                <a:gd name="T35" fmla="*/ 1427 h 1429"/>
                <a:gd name="T36" fmla="*/ 573 w 719"/>
                <a:gd name="T37" fmla="*/ 868 h 1429"/>
                <a:gd name="T38" fmla="*/ 567 w 719"/>
                <a:gd name="T39" fmla="*/ 847 h 1429"/>
                <a:gd name="T40" fmla="*/ 508 w 719"/>
                <a:gd name="T41" fmla="*/ 610 h 1429"/>
                <a:gd name="T42" fmla="*/ 598 w 719"/>
                <a:gd name="T43" fmla="*/ 37 h 1429"/>
                <a:gd name="T44" fmla="*/ 577 w 719"/>
                <a:gd name="T45" fmla="*/ 1 h 1429"/>
                <a:gd name="T46" fmla="*/ 492 w 719"/>
                <a:gd name="T47" fmla="*/ 10 h 1429"/>
                <a:gd name="T48" fmla="*/ 475 w 719"/>
                <a:gd name="T49" fmla="*/ 13 h 1429"/>
                <a:gd name="T50" fmla="*/ 226 w 719"/>
                <a:gd name="T51" fmla="*/ 47 h 1429"/>
                <a:gd name="T52" fmla="*/ 215 w 719"/>
                <a:gd name="T53" fmla="*/ 49 h 1429"/>
                <a:gd name="T54" fmla="*/ 204 w 719"/>
                <a:gd name="T55" fmla="*/ 53 h 1429"/>
                <a:gd name="T56" fmla="*/ 188 w 719"/>
                <a:gd name="T57" fmla="*/ 53 h 1429"/>
                <a:gd name="T58" fmla="*/ 182 w 719"/>
                <a:gd name="T59" fmla="*/ 58 h 1429"/>
                <a:gd name="T60" fmla="*/ 30 w 719"/>
                <a:gd name="T61" fmla="*/ 888 h 1429"/>
                <a:gd name="T62" fmla="*/ 52 w 719"/>
                <a:gd name="T63" fmla="*/ 930 h 1429"/>
                <a:gd name="T64" fmla="*/ 77 w 719"/>
                <a:gd name="T65" fmla="*/ 927 h 1429"/>
                <a:gd name="T66" fmla="*/ 79 w 719"/>
                <a:gd name="T67" fmla="*/ 935 h 1429"/>
                <a:gd name="T68" fmla="*/ 119 w 719"/>
                <a:gd name="T69" fmla="*/ 950 h 1429"/>
                <a:gd name="T70" fmla="*/ 0 w 719"/>
                <a:gd name="T71" fmla="*/ 1429 h 14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719" h="1429">
                  <a:moveTo>
                    <a:pt x="0" y="1429"/>
                  </a:moveTo>
                  <a:cubicBezTo>
                    <a:pt x="31" y="1429"/>
                    <a:pt x="31" y="1429"/>
                    <a:pt x="31" y="1429"/>
                  </a:cubicBezTo>
                  <a:cubicBezTo>
                    <a:pt x="148" y="959"/>
                    <a:pt x="148" y="959"/>
                    <a:pt x="148" y="959"/>
                  </a:cubicBezTo>
                  <a:cubicBezTo>
                    <a:pt x="158" y="961"/>
                    <a:pt x="158" y="961"/>
                    <a:pt x="158" y="961"/>
                  </a:cubicBezTo>
                  <a:cubicBezTo>
                    <a:pt x="166" y="939"/>
                    <a:pt x="166" y="939"/>
                    <a:pt x="166" y="939"/>
                  </a:cubicBezTo>
                  <a:cubicBezTo>
                    <a:pt x="154" y="933"/>
                    <a:pt x="154" y="933"/>
                    <a:pt x="154" y="933"/>
                  </a:cubicBezTo>
                  <a:cubicBezTo>
                    <a:pt x="305" y="930"/>
                    <a:pt x="305" y="930"/>
                    <a:pt x="305" y="930"/>
                  </a:cubicBezTo>
                  <a:cubicBezTo>
                    <a:pt x="307" y="944"/>
                    <a:pt x="307" y="944"/>
                    <a:pt x="307" y="944"/>
                  </a:cubicBezTo>
                  <a:cubicBezTo>
                    <a:pt x="366" y="955"/>
                    <a:pt x="366" y="955"/>
                    <a:pt x="366" y="955"/>
                  </a:cubicBezTo>
                  <a:cubicBezTo>
                    <a:pt x="366" y="1427"/>
                    <a:pt x="366" y="1427"/>
                    <a:pt x="366" y="1427"/>
                  </a:cubicBezTo>
                  <a:cubicBezTo>
                    <a:pt x="399" y="1426"/>
                    <a:pt x="399" y="1426"/>
                    <a:pt x="399" y="1426"/>
                  </a:cubicBezTo>
                  <a:cubicBezTo>
                    <a:pt x="399" y="935"/>
                    <a:pt x="399" y="935"/>
                    <a:pt x="399" y="935"/>
                  </a:cubicBezTo>
                  <a:cubicBezTo>
                    <a:pt x="430" y="932"/>
                    <a:pt x="430" y="932"/>
                    <a:pt x="430" y="932"/>
                  </a:cubicBezTo>
                  <a:cubicBezTo>
                    <a:pt x="430" y="932"/>
                    <a:pt x="456" y="940"/>
                    <a:pt x="461" y="885"/>
                  </a:cubicBezTo>
                  <a:cubicBezTo>
                    <a:pt x="465" y="878"/>
                    <a:pt x="465" y="873"/>
                    <a:pt x="465" y="873"/>
                  </a:cubicBezTo>
                  <a:cubicBezTo>
                    <a:pt x="543" y="873"/>
                    <a:pt x="543" y="873"/>
                    <a:pt x="543" y="873"/>
                  </a:cubicBezTo>
                  <a:cubicBezTo>
                    <a:pt x="689" y="1426"/>
                    <a:pt x="689" y="1426"/>
                    <a:pt x="689" y="1426"/>
                  </a:cubicBezTo>
                  <a:cubicBezTo>
                    <a:pt x="719" y="1427"/>
                    <a:pt x="719" y="1427"/>
                    <a:pt x="719" y="1427"/>
                  </a:cubicBezTo>
                  <a:cubicBezTo>
                    <a:pt x="573" y="868"/>
                    <a:pt x="573" y="868"/>
                    <a:pt x="573" y="868"/>
                  </a:cubicBezTo>
                  <a:cubicBezTo>
                    <a:pt x="573" y="868"/>
                    <a:pt x="572" y="850"/>
                    <a:pt x="567" y="847"/>
                  </a:cubicBezTo>
                  <a:cubicBezTo>
                    <a:pt x="565" y="832"/>
                    <a:pt x="508" y="610"/>
                    <a:pt x="508" y="610"/>
                  </a:cubicBezTo>
                  <a:cubicBezTo>
                    <a:pt x="598" y="37"/>
                    <a:pt x="598" y="37"/>
                    <a:pt x="598" y="37"/>
                  </a:cubicBezTo>
                  <a:cubicBezTo>
                    <a:pt x="598" y="37"/>
                    <a:pt x="604" y="3"/>
                    <a:pt x="577" y="1"/>
                  </a:cubicBezTo>
                  <a:cubicBezTo>
                    <a:pt x="551" y="0"/>
                    <a:pt x="492" y="10"/>
                    <a:pt x="492" y="10"/>
                  </a:cubicBezTo>
                  <a:cubicBezTo>
                    <a:pt x="492" y="10"/>
                    <a:pt x="487" y="3"/>
                    <a:pt x="475" y="13"/>
                  </a:cubicBezTo>
                  <a:cubicBezTo>
                    <a:pt x="466" y="15"/>
                    <a:pt x="226" y="47"/>
                    <a:pt x="226" y="47"/>
                  </a:cubicBezTo>
                  <a:cubicBezTo>
                    <a:pt x="226" y="47"/>
                    <a:pt x="220" y="48"/>
                    <a:pt x="215" y="49"/>
                  </a:cubicBezTo>
                  <a:cubicBezTo>
                    <a:pt x="210" y="51"/>
                    <a:pt x="204" y="53"/>
                    <a:pt x="204" y="53"/>
                  </a:cubicBezTo>
                  <a:cubicBezTo>
                    <a:pt x="188" y="53"/>
                    <a:pt x="188" y="53"/>
                    <a:pt x="188" y="53"/>
                  </a:cubicBezTo>
                  <a:cubicBezTo>
                    <a:pt x="182" y="58"/>
                    <a:pt x="182" y="58"/>
                    <a:pt x="182" y="58"/>
                  </a:cubicBezTo>
                  <a:cubicBezTo>
                    <a:pt x="30" y="888"/>
                    <a:pt x="30" y="888"/>
                    <a:pt x="30" y="888"/>
                  </a:cubicBezTo>
                  <a:cubicBezTo>
                    <a:pt x="30" y="888"/>
                    <a:pt x="20" y="928"/>
                    <a:pt x="52" y="930"/>
                  </a:cubicBezTo>
                  <a:cubicBezTo>
                    <a:pt x="83" y="931"/>
                    <a:pt x="77" y="927"/>
                    <a:pt x="77" y="927"/>
                  </a:cubicBezTo>
                  <a:cubicBezTo>
                    <a:pt x="79" y="935"/>
                    <a:pt x="79" y="935"/>
                    <a:pt x="79" y="935"/>
                  </a:cubicBezTo>
                  <a:cubicBezTo>
                    <a:pt x="119" y="950"/>
                    <a:pt x="119" y="950"/>
                    <a:pt x="119" y="950"/>
                  </a:cubicBezTo>
                  <a:lnTo>
                    <a:pt x="0" y="1429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7"/>
            <p:cNvSpPr>
              <a:spLocks/>
            </p:cNvSpPr>
            <p:nvPr/>
          </p:nvSpPr>
          <p:spPr bwMode="auto">
            <a:xfrm>
              <a:off x="7498027" y="3488099"/>
              <a:ext cx="1291739" cy="1998403"/>
            </a:xfrm>
            <a:custGeom>
              <a:avLst/>
              <a:gdLst>
                <a:gd name="T0" fmla="*/ 130 w 541"/>
                <a:gd name="T1" fmla="*/ 56 h 837"/>
                <a:gd name="T2" fmla="*/ 161 w 541"/>
                <a:gd name="T3" fmla="*/ 51 h 837"/>
                <a:gd name="T4" fmla="*/ 173 w 541"/>
                <a:gd name="T5" fmla="*/ 68 h 837"/>
                <a:gd name="T6" fmla="*/ 479 w 541"/>
                <a:gd name="T7" fmla="*/ 29 h 837"/>
                <a:gd name="T8" fmla="*/ 494 w 541"/>
                <a:gd name="T9" fmla="*/ 13 h 837"/>
                <a:gd name="T10" fmla="*/ 499 w 541"/>
                <a:gd name="T11" fmla="*/ 3 h 837"/>
                <a:gd name="T12" fmla="*/ 541 w 541"/>
                <a:gd name="T13" fmla="*/ 0 h 837"/>
                <a:gd name="T14" fmla="*/ 532 w 541"/>
                <a:gd name="T15" fmla="*/ 51 h 837"/>
                <a:gd name="T16" fmla="*/ 518 w 541"/>
                <a:gd name="T17" fmla="*/ 104 h 837"/>
                <a:gd name="T18" fmla="*/ 510 w 541"/>
                <a:gd name="T19" fmla="*/ 134 h 837"/>
                <a:gd name="T20" fmla="*/ 486 w 541"/>
                <a:gd name="T21" fmla="*/ 247 h 837"/>
                <a:gd name="T22" fmla="*/ 462 w 541"/>
                <a:gd name="T23" fmla="*/ 396 h 837"/>
                <a:gd name="T24" fmla="*/ 455 w 541"/>
                <a:gd name="T25" fmla="*/ 535 h 837"/>
                <a:gd name="T26" fmla="*/ 412 w 541"/>
                <a:gd name="T27" fmla="*/ 818 h 837"/>
                <a:gd name="T28" fmla="*/ 0 w 541"/>
                <a:gd name="T29" fmla="*/ 837 h 837"/>
                <a:gd name="T30" fmla="*/ 14 w 541"/>
                <a:gd name="T31" fmla="*/ 749 h 837"/>
                <a:gd name="T32" fmla="*/ 27 w 541"/>
                <a:gd name="T33" fmla="*/ 685 h 837"/>
                <a:gd name="T34" fmla="*/ 43 w 541"/>
                <a:gd name="T35" fmla="*/ 575 h 837"/>
                <a:gd name="T36" fmla="*/ 58 w 541"/>
                <a:gd name="T37" fmla="*/ 456 h 837"/>
                <a:gd name="T38" fmla="*/ 78 w 541"/>
                <a:gd name="T39" fmla="*/ 342 h 837"/>
                <a:gd name="T40" fmla="*/ 85 w 541"/>
                <a:gd name="T41" fmla="*/ 256 h 837"/>
                <a:gd name="T42" fmla="*/ 99 w 541"/>
                <a:gd name="T43" fmla="*/ 186 h 837"/>
                <a:gd name="T44" fmla="*/ 115 w 541"/>
                <a:gd name="T45" fmla="*/ 134 h 837"/>
                <a:gd name="T46" fmla="*/ 125 w 541"/>
                <a:gd name="T47" fmla="*/ 82 h 837"/>
                <a:gd name="T48" fmla="*/ 130 w 541"/>
                <a:gd name="T49" fmla="*/ 56 h 8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41" h="837">
                  <a:moveTo>
                    <a:pt x="130" y="56"/>
                  </a:moveTo>
                  <a:cubicBezTo>
                    <a:pt x="161" y="51"/>
                    <a:pt x="161" y="51"/>
                    <a:pt x="161" y="51"/>
                  </a:cubicBezTo>
                  <a:cubicBezTo>
                    <a:pt x="161" y="51"/>
                    <a:pt x="146" y="72"/>
                    <a:pt x="173" y="68"/>
                  </a:cubicBezTo>
                  <a:cubicBezTo>
                    <a:pt x="201" y="65"/>
                    <a:pt x="479" y="29"/>
                    <a:pt x="479" y="29"/>
                  </a:cubicBezTo>
                  <a:cubicBezTo>
                    <a:pt x="479" y="29"/>
                    <a:pt x="494" y="22"/>
                    <a:pt x="494" y="13"/>
                  </a:cubicBezTo>
                  <a:cubicBezTo>
                    <a:pt x="494" y="4"/>
                    <a:pt x="499" y="3"/>
                    <a:pt x="499" y="3"/>
                  </a:cubicBezTo>
                  <a:cubicBezTo>
                    <a:pt x="541" y="0"/>
                    <a:pt x="541" y="0"/>
                    <a:pt x="541" y="0"/>
                  </a:cubicBezTo>
                  <a:cubicBezTo>
                    <a:pt x="532" y="51"/>
                    <a:pt x="532" y="51"/>
                    <a:pt x="532" y="51"/>
                  </a:cubicBezTo>
                  <a:cubicBezTo>
                    <a:pt x="532" y="51"/>
                    <a:pt x="518" y="96"/>
                    <a:pt x="518" y="104"/>
                  </a:cubicBezTo>
                  <a:cubicBezTo>
                    <a:pt x="518" y="112"/>
                    <a:pt x="519" y="125"/>
                    <a:pt x="510" y="134"/>
                  </a:cubicBezTo>
                  <a:cubicBezTo>
                    <a:pt x="502" y="143"/>
                    <a:pt x="479" y="212"/>
                    <a:pt x="486" y="247"/>
                  </a:cubicBezTo>
                  <a:cubicBezTo>
                    <a:pt x="494" y="282"/>
                    <a:pt x="461" y="388"/>
                    <a:pt x="462" y="396"/>
                  </a:cubicBezTo>
                  <a:cubicBezTo>
                    <a:pt x="464" y="405"/>
                    <a:pt x="457" y="528"/>
                    <a:pt x="455" y="535"/>
                  </a:cubicBezTo>
                  <a:cubicBezTo>
                    <a:pt x="452" y="541"/>
                    <a:pt x="414" y="806"/>
                    <a:pt x="412" y="818"/>
                  </a:cubicBezTo>
                  <a:cubicBezTo>
                    <a:pt x="409" y="831"/>
                    <a:pt x="0" y="837"/>
                    <a:pt x="0" y="837"/>
                  </a:cubicBezTo>
                  <a:cubicBezTo>
                    <a:pt x="14" y="749"/>
                    <a:pt x="14" y="749"/>
                    <a:pt x="14" y="749"/>
                  </a:cubicBezTo>
                  <a:cubicBezTo>
                    <a:pt x="27" y="685"/>
                    <a:pt x="27" y="685"/>
                    <a:pt x="27" y="685"/>
                  </a:cubicBezTo>
                  <a:cubicBezTo>
                    <a:pt x="27" y="685"/>
                    <a:pt x="38" y="588"/>
                    <a:pt x="43" y="575"/>
                  </a:cubicBezTo>
                  <a:cubicBezTo>
                    <a:pt x="48" y="562"/>
                    <a:pt x="58" y="456"/>
                    <a:pt x="58" y="456"/>
                  </a:cubicBezTo>
                  <a:cubicBezTo>
                    <a:pt x="78" y="342"/>
                    <a:pt x="78" y="342"/>
                    <a:pt x="78" y="342"/>
                  </a:cubicBezTo>
                  <a:cubicBezTo>
                    <a:pt x="78" y="342"/>
                    <a:pt x="81" y="267"/>
                    <a:pt x="85" y="256"/>
                  </a:cubicBezTo>
                  <a:cubicBezTo>
                    <a:pt x="89" y="244"/>
                    <a:pt x="94" y="191"/>
                    <a:pt x="99" y="186"/>
                  </a:cubicBezTo>
                  <a:cubicBezTo>
                    <a:pt x="105" y="181"/>
                    <a:pt x="113" y="138"/>
                    <a:pt x="115" y="134"/>
                  </a:cubicBezTo>
                  <a:cubicBezTo>
                    <a:pt x="118" y="131"/>
                    <a:pt x="123" y="89"/>
                    <a:pt x="125" y="82"/>
                  </a:cubicBezTo>
                  <a:cubicBezTo>
                    <a:pt x="128" y="76"/>
                    <a:pt x="130" y="56"/>
                    <a:pt x="130" y="56"/>
                  </a:cubicBezTo>
                  <a:close/>
                </a:path>
              </a:pathLst>
            </a:custGeom>
            <a:gradFill rotWithShape="1">
              <a:gsLst>
                <a:gs pos="0">
                  <a:srgbClr val="D0D0D0">
                    <a:gamma/>
                    <a:tint val="24314"/>
                    <a:invGamma/>
                  </a:srgbClr>
                </a:gs>
                <a:gs pos="100000">
                  <a:srgbClr val="D0D0D0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8"/>
            <p:cNvSpPr>
              <a:spLocks/>
            </p:cNvSpPr>
            <p:nvPr/>
          </p:nvSpPr>
          <p:spPr bwMode="auto">
            <a:xfrm>
              <a:off x="4375820" y="3528532"/>
              <a:ext cx="1193696" cy="3356953"/>
            </a:xfrm>
            <a:custGeom>
              <a:avLst/>
              <a:gdLst>
                <a:gd name="T0" fmla="*/ 474 w 500"/>
                <a:gd name="T1" fmla="*/ 82 h 1406"/>
                <a:gd name="T2" fmla="*/ 456 w 500"/>
                <a:gd name="T3" fmla="*/ 27 h 1406"/>
                <a:gd name="T4" fmla="*/ 407 w 500"/>
                <a:gd name="T5" fmla="*/ 11 h 1406"/>
                <a:gd name="T6" fmla="*/ 372 w 500"/>
                <a:gd name="T7" fmla="*/ 2 h 1406"/>
                <a:gd name="T8" fmla="*/ 337 w 500"/>
                <a:gd name="T9" fmla="*/ 4 h 1406"/>
                <a:gd name="T10" fmla="*/ 289 w 500"/>
                <a:gd name="T11" fmla="*/ 10 h 1406"/>
                <a:gd name="T12" fmla="*/ 266 w 500"/>
                <a:gd name="T13" fmla="*/ 38 h 1406"/>
                <a:gd name="T14" fmla="*/ 243 w 500"/>
                <a:gd name="T15" fmla="*/ 83 h 1406"/>
                <a:gd name="T16" fmla="*/ 226 w 500"/>
                <a:gd name="T17" fmla="*/ 118 h 1406"/>
                <a:gd name="T18" fmla="*/ 239 w 500"/>
                <a:gd name="T19" fmla="*/ 214 h 1406"/>
                <a:gd name="T20" fmla="*/ 231 w 500"/>
                <a:gd name="T21" fmla="*/ 228 h 1406"/>
                <a:gd name="T22" fmla="*/ 203 w 500"/>
                <a:gd name="T23" fmla="*/ 257 h 1406"/>
                <a:gd name="T24" fmla="*/ 137 w 500"/>
                <a:gd name="T25" fmla="*/ 317 h 1406"/>
                <a:gd name="T26" fmla="*/ 79 w 500"/>
                <a:gd name="T27" fmla="*/ 645 h 1406"/>
                <a:gd name="T28" fmla="*/ 75 w 500"/>
                <a:gd name="T29" fmla="*/ 699 h 1406"/>
                <a:gd name="T30" fmla="*/ 56 w 500"/>
                <a:gd name="T31" fmla="*/ 802 h 1406"/>
                <a:gd name="T32" fmla="*/ 49 w 500"/>
                <a:gd name="T33" fmla="*/ 854 h 1406"/>
                <a:gd name="T34" fmla="*/ 41 w 500"/>
                <a:gd name="T35" fmla="*/ 902 h 1406"/>
                <a:gd name="T36" fmla="*/ 19 w 500"/>
                <a:gd name="T37" fmla="*/ 942 h 1406"/>
                <a:gd name="T38" fmla="*/ 0 w 500"/>
                <a:gd name="T39" fmla="*/ 978 h 1406"/>
                <a:gd name="T40" fmla="*/ 15 w 500"/>
                <a:gd name="T41" fmla="*/ 999 h 1406"/>
                <a:gd name="T42" fmla="*/ 60 w 500"/>
                <a:gd name="T43" fmla="*/ 1014 h 1406"/>
                <a:gd name="T44" fmla="*/ 91 w 500"/>
                <a:gd name="T45" fmla="*/ 1003 h 1406"/>
                <a:gd name="T46" fmla="*/ 111 w 500"/>
                <a:gd name="T47" fmla="*/ 986 h 1406"/>
                <a:gd name="T48" fmla="*/ 124 w 500"/>
                <a:gd name="T49" fmla="*/ 1024 h 1406"/>
                <a:gd name="T50" fmla="*/ 152 w 500"/>
                <a:gd name="T51" fmla="*/ 1113 h 1406"/>
                <a:gd name="T52" fmla="*/ 159 w 500"/>
                <a:gd name="T53" fmla="*/ 1322 h 1406"/>
                <a:gd name="T54" fmla="*/ 146 w 500"/>
                <a:gd name="T55" fmla="*/ 1406 h 1406"/>
                <a:gd name="T56" fmla="*/ 500 w 500"/>
                <a:gd name="T57" fmla="*/ 1291 h 1406"/>
                <a:gd name="T58" fmla="*/ 456 w 500"/>
                <a:gd name="T59" fmla="*/ 1136 h 1406"/>
                <a:gd name="T60" fmla="*/ 439 w 500"/>
                <a:gd name="T61" fmla="*/ 1073 h 1406"/>
                <a:gd name="T62" fmla="*/ 432 w 500"/>
                <a:gd name="T63" fmla="*/ 1043 h 1406"/>
                <a:gd name="T64" fmla="*/ 434 w 500"/>
                <a:gd name="T65" fmla="*/ 1032 h 1406"/>
                <a:gd name="T66" fmla="*/ 447 w 500"/>
                <a:gd name="T67" fmla="*/ 994 h 1406"/>
                <a:gd name="T68" fmla="*/ 441 w 500"/>
                <a:gd name="T69" fmla="*/ 819 h 1406"/>
                <a:gd name="T70" fmla="*/ 444 w 500"/>
                <a:gd name="T71" fmla="*/ 707 h 1406"/>
                <a:gd name="T72" fmla="*/ 425 w 500"/>
                <a:gd name="T73" fmla="*/ 570 h 1406"/>
                <a:gd name="T74" fmla="*/ 381 w 500"/>
                <a:gd name="T75" fmla="*/ 450 h 1406"/>
                <a:gd name="T76" fmla="*/ 367 w 500"/>
                <a:gd name="T77" fmla="*/ 373 h 1406"/>
                <a:gd name="T78" fmla="*/ 348 w 500"/>
                <a:gd name="T79" fmla="*/ 322 h 1406"/>
                <a:gd name="T80" fmla="*/ 375 w 500"/>
                <a:gd name="T81" fmla="*/ 275 h 1406"/>
                <a:gd name="T82" fmla="*/ 423 w 500"/>
                <a:gd name="T83" fmla="*/ 252 h 1406"/>
                <a:gd name="T84" fmla="*/ 439 w 500"/>
                <a:gd name="T85" fmla="*/ 203 h 1406"/>
                <a:gd name="T86" fmla="*/ 451 w 500"/>
                <a:gd name="T87" fmla="*/ 194 h 1406"/>
                <a:gd name="T88" fmla="*/ 450 w 500"/>
                <a:gd name="T89" fmla="*/ 159 h 1406"/>
                <a:gd name="T90" fmla="*/ 464 w 500"/>
                <a:gd name="T91" fmla="*/ 141 h 1406"/>
                <a:gd name="T92" fmla="*/ 461 w 500"/>
                <a:gd name="T93" fmla="*/ 108 h 1406"/>
                <a:gd name="T94" fmla="*/ 454 w 500"/>
                <a:gd name="T95" fmla="*/ 84 h 14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500" h="1406">
                  <a:moveTo>
                    <a:pt x="454" y="84"/>
                  </a:moveTo>
                  <a:cubicBezTo>
                    <a:pt x="474" y="82"/>
                    <a:pt x="474" y="82"/>
                    <a:pt x="474" y="82"/>
                  </a:cubicBezTo>
                  <a:cubicBezTo>
                    <a:pt x="474" y="82"/>
                    <a:pt x="479" y="79"/>
                    <a:pt x="474" y="65"/>
                  </a:cubicBezTo>
                  <a:cubicBezTo>
                    <a:pt x="469" y="50"/>
                    <a:pt x="461" y="31"/>
                    <a:pt x="456" y="27"/>
                  </a:cubicBezTo>
                  <a:cubicBezTo>
                    <a:pt x="452" y="24"/>
                    <a:pt x="436" y="16"/>
                    <a:pt x="429" y="16"/>
                  </a:cubicBezTo>
                  <a:cubicBezTo>
                    <a:pt x="421" y="16"/>
                    <a:pt x="410" y="12"/>
                    <a:pt x="407" y="11"/>
                  </a:cubicBezTo>
                  <a:cubicBezTo>
                    <a:pt x="403" y="10"/>
                    <a:pt x="396" y="0"/>
                    <a:pt x="392" y="0"/>
                  </a:cubicBezTo>
                  <a:cubicBezTo>
                    <a:pt x="389" y="0"/>
                    <a:pt x="376" y="0"/>
                    <a:pt x="372" y="2"/>
                  </a:cubicBezTo>
                  <a:cubicBezTo>
                    <a:pt x="368" y="4"/>
                    <a:pt x="349" y="4"/>
                    <a:pt x="349" y="4"/>
                  </a:cubicBezTo>
                  <a:cubicBezTo>
                    <a:pt x="337" y="4"/>
                    <a:pt x="337" y="4"/>
                    <a:pt x="337" y="4"/>
                  </a:cubicBezTo>
                  <a:cubicBezTo>
                    <a:pt x="337" y="4"/>
                    <a:pt x="319" y="1"/>
                    <a:pt x="312" y="4"/>
                  </a:cubicBezTo>
                  <a:cubicBezTo>
                    <a:pt x="305" y="6"/>
                    <a:pt x="292" y="8"/>
                    <a:pt x="289" y="10"/>
                  </a:cubicBezTo>
                  <a:cubicBezTo>
                    <a:pt x="287" y="13"/>
                    <a:pt x="282" y="26"/>
                    <a:pt x="282" y="26"/>
                  </a:cubicBezTo>
                  <a:cubicBezTo>
                    <a:pt x="282" y="26"/>
                    <a:pt x="272" y="36"/>
                    <a:pt x="266" y="38"/>
                  </a:cubicBezTo>
                  <a:cubicBezTo>
                    <a:pt x="261" y="41"/>
                    <a:pt x="254" y="53"/>
                    <a:pt x="251" y="61"/>
                  </a:cubicBezTo>
                  <a:cubicBezTo>
                    <a:pt x="249" y="70"/>
                    <a:pt x="243" y="81"/>
                    <a:pt x="243" y="83"/>
                  </a:cubicBezTo>
                  <a:cubicBezTo>
                    <a:pt x="243" y="86"/>
                    <a:pt x="235" y="98"/>
                    <a:pt x="233" y="103"/>
                  </a:cubicBezTo>
                  <a:cubicBezTo>
                    <a:pt x="230" y="107"/>
                    <a:pt x="225" y="113"/>
                    <a:pt x="226" y="118"/>
                  </a:cubicBezTo>
                  <a:cubicBezTo>
                    <a:pt x="227" y="123"/>
                    <a:pt x="229" y="160"/>
                    <a:pt x="234" y="173"/>
                  </a:cubicBezTo>
                  <a:cubicBezTo>
                    <a:pt x="239" y="187"/>
                    <a:pt x="239" y="206"/>
                    <a:pt x="239" y="214"/>
                  </a:cubicBezTo>
                  <a:cubicBezTo>
                    <a:pt x="239" y="222"/>
                    <a:pt x="235" y="220"/>
                    <a:pt x="235" y="220"/>
                  </a:cubicBezTo>
                  <a:cubicBezTo>
                    <a:pt x="231" y="228"/>
                    <a:pt x="231" y="228"/>
                    <a:pt x="231" y="228"/>
                  </a:cubicBezTo>
                  <a:cubicBezTo>
                    <a:pt x="221" y="228"/>
                    <a:pt x="221" y="228"/>
                    <a:pt x="221" y="228"/>
                  </a:cubicBezTo>
                  <a:cubicBezTo>
                    <a:pt x="203" y="257"/>
                    <a:pt x="203" y="257"/>
                    <a:pt x="203" y="257"/>
                  </a:cubicBezTo>
                  <a:cubicBezTo>
                    <a:pt x="205" y="264"/>
                    <a:pt x="205" y="264"/>
                    <a:pt x="205" y="264"/>
                  </a:cubicBezTo>
                  <a:cubicBezTo>
                    <a:pt x="205" y="264"/>
                    <a:pt x="159" y="293"/>
                    <a:pt x="137" y="317"/>
                  </a:cubicBezTo>
                  <a:cubicBezTo>
                    <a:pt x="115" y="341"/>
                    <a:pt x="93" y="434"/>
                    <a:pt x="96" y="440"/>
                  </a:cubicBezTo>
                  <a:cubicBezTo>
                    <a:pt x="98" y="447"/>
                    <a:pt x="80" y="639"/>
                    <a:pt x="79" y="645"/>
                  </a:cubicBezTo>
                  <a:cubicBezTo>
                    <a:pt x="78" y="652"/>
                    <a:pt x="71" y="660"/>
                    <a:pt x="76" y="672"/>
                  </a:cubicBezTo>
                  <a:cubicBezTo>
                    <a:pt x="81" y="683"/>
                    <a:pt x="75" y="699"/>
                    <a:pt x="75" y="699"/>
                  </a:cubicBezTo>
                  <a:cubicBezTo>
                    <a:pt x="75" y="699"/>
                    <a:pt x="49" y="728"/>
                    <a:pt x="58" y="753"/>
                  </a:cubicBezTo>
                  <a:cubicBezTo>
                    <a:pt x="67" y="777"/>
                    <a:pt x="52" y="789"/>
                    <a:pt x="56" y="802"/>
                  </a:cubicBezTo>
                  <a:cubicBezTo>
                    <a:pt x="60" y="814"/>
                    <a:pt x="63" y="822"/>
                    <a:pt x="60" y="827"/>
                  </a:cubicBezTo>
                  <a:cubicBezTo>
                    <a:pt x="58" y="832"/>
                    <a:pt x="49" y="848"/>
                    <a:pt x="49" y="854"/>
                  </a:cubicBezTo>
                  <a:cubicBezTo>
                    <a:pt x="49" y="860"/>
                    <a:pt x="49" y="883"/>
                    <a:pt x="49" y="883"/>
                  </a:cubicBezTo>
                  <a:cubicBezTo>
                    <a:pt x="49" y="883"/>
                    <a:pt x="42" y="895"/>
                    <a:pt x="41" y="902"/>
                  </a:cubicBezTo>
                  <a:cubicBezTo>
                    <a:pt x="40" y="910"/>
                    <a:pt x="23" y="918"/>
                    <a:pt x="23" y="918"/>
                  </a:cubicBezTo>
                  <a:cubicBezTo>
                    <a:pt x="23" y="918"/>
                    <a:pt x="22" y="937"/>
                    <a:pt x="19" y="942"/>
                  </a:cubicBezTo>
                  <a:cubicBezTo>
                    <a:pt x="16" y="947"/>
                    <a:pt x="12" y="960"/>
                    <a:pt x="8" y="965"/>
                  </a:cubicBezTo>
                  <a:cubicBezTo>
                    <a:pt x="4" y="970"/>
                    <a:pt x="0" y="978"/>
                    <a:pt x="0" y="978"/>
                  </a:cubicBezTo>
                  <a:cubicBezTo>
                    <a:pt x="2" y="995"/>
                    <a:pt x="2" y="995"/>
                    <a:pt x="2" y="995"/>
                  </a:cubicBezTo>
                  <a:cubicBezTo>
                    <a:pt x="15" y="999"/>
                    <a:pt x="15" y="999"/>
                    <a:pt x="15" y="999"/>
                  </a:cubicBezTo>
                  <a:cubicBezTo>
                    <a:pt x="15" y="999"/>
                    <a:pt x="16" y="1008"/>
                    <a:pt x="24" y="1011"/>
                  </a:cubicBezTo>
                  <a:cubicBezTo>
                    <a:pt x="33" y="1014"/>
                    <a:pt x="48" y="1014"/>
                    <a:pt x="60" y="1014"/>
                  </a:cubicBezTo>
                  <a:cubicBezTo>
                    <a:pt x="71" y="1015"/>
                    <a:pt x="73" y="1003"/>
                    <a:pt x="73" y="1003"/>
                  </a:cubicBezTo>
                  <a:cubicBezTo>
                    <a:pt x="73" y="1003"/>
                    <a:pt x="85" y="1006"/>
                    <a:pt x="91" y="1003"/>
                  </a:cubicBezTo>
                  <a:cubicBezTo>
                    <a:pt x="97" y="1001"/>
                    <a:pt x="105" y="997"/>
                    <a:pt x="105" y="997"/>
                  </a:cubicBezTo>
                  <a:cubicBezTo>
                    <a:pt x="111" y="986"/>
                    <a:pt x="111" y="986"/>
                    <a:pt x="111" y="986"/>
                  </a:cubicBezTo>
                  <a:cubicBezTo>
                    <a:pt x="116" y="986"/>
                    <a:pt x="116" y="986"/>
                    <a:pt x="116" y="986"/>
                  </a:cubicBezTo>
                  <a:cubicBezTo>
                    <a:pt x="124" y="1024"/>
                    <a:pt x="124" y="1024"/>
                    <a:pt x="124" y="1024"/>
                  </a:cubicBezTo>
                  <a:cubicBezTo>
                    <a:pt x="138" y="1035"/>
                    <a:pt x="138" y="1035"/>
                    <a:pt x="138" y="1035"/>
                  </a:cubicBezTo>
                  <a:cubicBezTo>
                    <a:pt x="138" y="1035"/>
                    <a:pt x="147" y="1104"/>
                    <a:pt x="152" y="1113"/>
                  </a:cubicBezTo>
                  <a:cubicBezTo>
                    <a:pt x="156" y="1123"/>
                    <a:pt x="150" y="1297"/>
                    <a:pt x="150" y="1297"/>
                  </a:cubicBezTo>
                  <a:cubicBezTo>
                    <a:pt x="150" y="1297"/>
                    <a:pt x="162" y="1316"/>
                    <a:pt x="159" y="1322"/>
                  </a:cubicBezTo>
                  <a:cubicBezTo>
                    <a:pt x="157" y="1328"/>
                    <a:pt x="149" y="1360"/>
                    <a:pt x="149" y="1374"/>
                  </a:cubicBezTo>
                  <a:cubicBezTo>
                    <a:pt x="149" y="1389"/>
                    <a:pt x="146" y="1406"/>
                    <a:pt x="146" y="1406"/>
                  </a:cubicBezTo>
                  <a:cubicBezTo>
                    <a:pt x="499" y="1406"/>
                    <a:pt x="499" y="1406"/>
                    <a:pt x="499" y="1406"/>
                  </a:cubicBezTo>
                  <a:cubicBezTo>
                    <a:pt x="500" y="1291"/>
                    <a:pt x="500" y="1291"/>
                    <a:pt x="500" y="1291"/>
                  </a:cubicBezTo>
                  <a:cubicBezTo>
                    <a:pt x="500" y="1291"/>
                    <a:pt x="480" y="1216"/>
                    <a:pt x="476" y="1212"/>
                  </a:cubicBezTo>
                  <a:cubicBezTo>
                    <a:pt x="472" y="1208"/>
                    <a:pt x="458" y="1144"/>
                    <a:pt x="456" y="1136"/>
                  </a:cubicBezTo>
                  <a:cubicBezTo>
                    <a:pt x="455" y="1128"/>
                    <a:pt x="445" y="1097"/>
                    <a:pt x="445" y="1090"/>
                  </a:cubicBezTo>
                  <a:cubicBezTo>
                    <a:pt x="444" y="1082"/>
                    <a:pt x="442" y="1074"/>
                    <a:pt x="439" y="1073"/>
                  </a:cubicBezTo>
                  <a:cubicBezTo>
                    <a:pt x="435" y="1072"/>
                    <a:pt x="431" y="1068"/>
                    <a:pt x="431" y="1068"/>
                  </a:cubicBezTo>
                  <a:cubicBezTo>
                    <a:pt x="432" y="1043"/>
                    <a:pt x="432" y="1043"/>
                    <a:pt x="432" y="1043"/>
                  </a:cubicBezTo>
                  <a:cubicBezTo>
                    <a:pt x="427" y="1035"/>
                    <a:pt x="427" y="1035"/>
                    <a:pt x="427" y="1035"/>
                  </a:cubicBezTo>
                  <a:cubicBezTo>
                    <a:pt x="427" y="1035"/>
                    <a:pt x="426" y="1025"/>
                    <a:pt x="434" y="1032"/>
                  </a:cubicBezTo>
                  <a:cubicBezTo>
                    <a:pt x="443" y="1039"/>
                    <a:pt x="458" y="1049"/>
                    <a:pt x="458" y="1049"/>
                  </a:cubicBezTo>
                  <a:cubicBezTo>
                    <a:pt x="458" y="1049"/>
                    <a:pt x="448" y="1003"/>
                    <a:pt x="447" y="994"/>
                  </a:cubicBezTo>
                  <a:cubicBezTo>
                    <a:pt x="446" y="985"/>
                    <a:pt x="433" y="859"/>
                    <a:pt x="433" y="851"/>
                  </a:cubicBezTo>
                  <a:cubicBezTo>
                    <a:pt x="433" y="842"/>
                    <a:pt x="440" y="829"/>
                    <a:pt x="441" y="819"/>
                  </a:cubicBezTo>
                  <a:cubicBezTo>
                    <a:pt x="442" y="808"/>
                    <a:pt x="436" y="790"/>
                    <a:pt x="438" y="786"/>
                  </a:cubicBezTo>
                  <a:cubicBezTo>
                    <a:pt x="440" y="781"/>
                    <a:pt x="444" y="707"/>
                    <a:pt x="444" y="707"/>
                  </a:cubicBezTo>
                  <a:cubicBezTo>
                    <a:pt x="460" y="667"/>
                    <a:pt x="460" y="667"/>
                    <a:pt x="460" y="667"/>
                  </a:cubicBezTo>
                  <a:cubicBezTo>
                    <a:pt x="460" y="667"/>
                    <a:pt x="428" y="582"/>
                    <a:pt x="425" y="570"/>
                  </a:cubicBezTo>
                  <a:cubicBezTo>
                    <a:pt x="423" y="558"/>
                    <a:pt x="414" y="539"/>
                    <a:pt x="415" y="529"/>
                  </a:cubicBezTo>
                  <a:cubicBezTo>
                    <a:pt x="416" y="519"/>
                    <a:pt x="386" y="455"/>
                    <a:pt x="381" y="450"/>
                  </a:cubicBezTo>
                  <a:cubicBezTo>
                    <a:pt x="376" y="445"/>
                    <a:pt x="369" y="429"/>
                    <a:pt x="371" y="422"/>
                  </a:cubicBezTo>
                  <a:cubicBezTo>
                    <a:pt x="373" y="414"/>
                    <a:pt x="370" y="379"/>
                    <a:pt x="367" y="373"/>
                  </a:cubicBezTo>
                  <a:cubicBezTo>
                    <a:pt x="364" y="366"/>
                    <a:pt x="352" y="325"/>
                    <a:pt x="352" y="325"/>
                  </a:cubicBezTo>
                  <a:cubicBezTo>
                    <a:pt x="348" y="322"/>
                    <a:pt x="348" y="322"/>
                    <a:pt x="348" y="322"/>
                  </a:cubicBezTo>
                  <a:cubicBezTo>
                    <a:pt x="343" y="305"/>
                    <a:pt x="343" y="305"/>
                    <a:pt x="343" y="305"/>
                  </a:cubicBezTo>
                  <a:cubicBezTo>
                    <a:pt x="343" y="305"/>
                    <a:pt x="373" y="276"/>
                    <a:pt x="375" y="275"/>
                  </a:cubicBezTo>
                  <a:cubicBezTo>
                    <a:pt x="378" y="274"/>
                    <a:pt x="408" y="272"/>
                    <a:pt x="418" y="267"/>
                  </a:cubicBezTo>
                  <a:cubicBezTo>
                    <a:pt x="427" y="262"/>
                    <a:pt x="423" y="252"/>
                    <a:pt x="423" y="252"/>
                  </a:cubicBezTo>
                  <a:cubicBezTo>
                    <a:pt x="423" y="252"/>
                    <a:pt x="434" y="234"/>
                    <a:pt x="438" y="226"/>
                  </a:cubicBezTo>
                  <a:cubicBezTo>
                    <a:pt x="442" y="217"/>
                    <a:pt x="438" y="206"/>
                    <a:pt x="439" y="203"/>
                  </a:cubicBezTo>
                  <a:cubicBezTo>
                    <a:pt x="440" y="200"/>
                    <a:pt x="446" y="194"/>
                    <a:pt x="446" y="194"/>
                  </a:cubicBezTo>
                  <a:cubicBezTo>
                    <a:pt x="451" y="194"/>
                    <a:pt x="451" y="194"/>
                    <a:pt x="451" y="194"/>
                  </a:cubicBezTo>
                  <a:cubicBezTo>
                    <a:pt x="451" y="194"/>
                    <a:pt x="450" y="168"/>
                    <a:pt x="447" y="166"/>
                  </a:cubicBezTo>
                  <a:cubicBezTo>
                    <a:pt x="445" y="163"/>
                    <a:pt x="450" y="159"/>
                    <a:pt x="450" y="159"/>
                  </a:cubicBezTo>
                  <a:cubicBezTo>
                    <a:pt x="455" y="153"/>
                    <a:pt x="455" y="153"/>
                    <a:pt x="455" y="153"/>
                  </a:cubicBezTo>
                  <a:cubicBezTo>
                    <a:pt x="464" y="141"/>
                    <a:pt x="464" y="141"/>
                    <a:pt x="464" y="141"/>
                  </a:cubicBezTo>
                  <a:cubicBezTo>
                    <a:pt x="464" y="141"/>
                    <a:pt x="463" y="131"/>
                    <a:pt x="461" y="130"/>
                  </a:cubicBezTo>
                  <a:cubicBezTo>
                    <a:pt x="460" y="128"/>
                    <a:pt x="461" y="108"/>
                    <a:pt x="461" y="108"/>
                  </a:cubicBezTo>
                  <a:cubicBezTo>
                    <a:pt x="456" y="96"/>
                    <a:pt x="456" y="96"/>
                    <a:pt x="456" y="96"/>
                  </a:cubicBezTo>
                  <a:lnTo>
                    <a:pt x="454" y="84"/>
                  </a:lnTo>
                  <a:close/>
                </a:path>
              </a:pathLst>
            </a:custGeom>
            <a:solidFill>
              <a:srgbClr val="00206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9"/>
            <p:cNvSpPr>
              <a:spLocks/>
            </p:cNvSpPr>
            <p:nvPr/>
          </p:nvSpPr>
          <p:spPr bwMode="auto">
            <a:xfrm>
              <a:off x="4932743" y="4055172"/>
              <a:ext cx="291096" cy="362887"/>
            </a:xfrm>
            <a:custGeom>
              <a:avLst/>
              <a:gdLst>
                <a:gd name="T0" fmla="*/ 6 w 122"/>
                <a:gd name="T1" fmla="*/ 0 h 152"/>
                <a:gd name="T2" fmla="*/ 0 w 122"/>
                <a:gd name="T3" fmla="*/ 15 h 152"/>
                <a:gd name="T4" fmla="*/ 16 w 122"/>
                <a:gd name="T5" fmla="*/ 28 h 152"/>
                <a:gd name="T6" fmla="*/ 47 w 122"/>
                <a:gd name="T7" fmla="*/ 55 h 152"/>
                <a:gd name="T8" fmla="*/ 97 w 122"/>
                <a:gd name="T9" fmla="*/ 123 h 152"/>
                <a:gd name="T10" fmla="*/ 111 w 122"/>
                <a:gd name="T11" fmla="*/ 148 h 152"/>
                <a:gd name="T12" fmla="*/ 122 w 122"/>
                <a:gd name="T13" fmla="*/ 110 h 152"/>
                <a:gd name="T14" fmla="*/ 121 w 122"/>
                <a:gd name="T15" fmla="*/ 103 h 152"/>
                <a:gd name="T16" fmla="*/ 116 w 122"/>
                <a:gd name="T17" fmla="*/ 88 h 152"/>
                <a:gd name="T18" fmla="*/ 85 w 122"/>
                <a:gd name="T19" fmla="*/ 57 h 152"/>
                <a:gd name="T20" fmla="*/ 46 w 122"/>
                <a:gd name="T21" fmla="*/ 29 h 152"/>
                <a:gd name="T22" fmla="*/ 24 w 122"/>
                <a:gd name="T23" fmla="*/ 12 h 152"/>
                <a:gd name="T24" fmla="*/ 10 w 122"/>
                <a:gd name="T25" fmla="*/ 4 h 152"/>
                <a:gd name="T26" fmla="*/ 9 w 122"/>
                <a:gd name="T27" fmla="*/ 0 h 152"/>
                <a:gd name="T28" fmla="*/ 6 w 122"/>
                <a:gd name="T2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122" h="152">
                  <a:moveTo>
                    <a:pt x="6" y="0"/>
                  </a:moveTo>
                  <a:cubicBezTo>
                    <a:pt x="0" y="15"/>
                    <a:pt x="0" y="15"/>
                    <a:pt x="0" y="15"/>
                  </a:cubicBezTo>
                  <a:cubicBezTo>
                    <a:pt x="16" y="28"/>
                    <a:pt x="16" y="28"/>
                    <a:pt x="16" y="28"/>
                  </a:cubicBezTo>
                  <a:cubicBezTo>
                    <a:pt x="16" y="28"/>
                    <a:pt x="42" y="48"/>
                    <a:pt x="47" y="55"/>
                  </a:cubicBezTo>
                  <a:cubicBezTo>
                    <a:pt x="52" y="63"/>
                    <a:pt x="94" y="118"/>
                    <a:pt x="97" y="123"/>
                  </a:cubicBezTo>
                  <a:cubicBezTo>
                    <a:pt x="99" y="127"/>
                    <a:pt x="110" y="145"/>
                    <a:pt x="111" y="148"/>
                  </a:cubicBezTo>
                  <a:cubicBezTo>
                    <a:pt x="112" y="152"/>
                    <a:pt x="122" y="113"/>
                    <a:pt x="122" y="110"/>
                  </a:cubicBezTo>
                  <a:cubicBezTo>
                    <a:pt x="122" y="107"/>
                    <a:pt x="121" y="103"/>
                    <a:pt x="121" y="103"/>
                  </a:cubicBezTo>
                  <a:cubicBezTo>
                    <a:pt x="116" y="88"/>
                    <a:pt x="116" y="88"/>
                    <a:pt x="116" y="88"/>
                  </a:cubicBezTo>
                  <a:cubicBezTo>
                    <a:pt x="85" y="57"/>
                    <a:pt x="85" y="57"/>
                    <a:pt x="85" y="57"/>
                  </a:cubicBezTo>
                  <a:cubicBezTo>
                    <a:pt x="46" y="29"/>
                    <a:pt x="46" y="29"/>
                    <a:pt x="46" y="29"/>
                  </a:cubicBezTo>
                  <a:cubicBezTo>
                    <a:pt x="24" y="12"/>
                    <a:pt x="24" y="12"/>
                    <a:pt x="24" y="12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0"/>
                    <a:pt x="9" y="0"/>
                    <a:pt x="9" y="0"/>
                  </a:cubicBezTo>
                  <a:lnTo>
                    <a:pt x="6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pt-BR"/>
            </a:p>
          </p:txBody>
        </p:sp>
        <p:grpSp>
          <p:nvGrpSpPr>
            <p:cNvPr id="17" name="Group 10"/>
            <p:cNvGrpSpPr>
              <a:grpSpLocks/>
            </p:cNvGrpSpPr>
            <p:nvPr/>
          </p:nvGrpSpPr>
          <p:grpSpPr bwMode="auto">
            <a:xfrm>
              <a:off x="5596806" y="3769109"/>
              <a:ext cx="2462187" cy="3118398"/>
              <a:chOff x="2167" y="872"/>
              <a:chExt cx="2436" cy="3085"/>
            </a:xfrm>
          </p:grpSpPr>
          <p:sp>
            <p:nvSpPr>
              <p:cNvPr id="18" name="Freeform 11"/>
              <p:cNvSpPr>
                <a:spLocks/>
              </p:cNvSpPr>
              <p:nvPr/>
            </p:nvSpPr>
            <p:spPr bwMode="auto">
              <a:xfrm>
                <a:off x="2167" y="872"/>
                <a:ext cx="2436" cy="3085"/>
              </a:xfrm>
              <a:custGeom>
                <a:avLst/>
                <a:gdLst>
                  <a:gd name="T0" fmla="*/ 208 w 2436"/>
                  <a:gd name="T1" fmla="*/ 787 h 3085"/>
                  <a:gd name="T2" fmla="*/ 151 w 2436"/>
                  <a:gd name="T3" fmla="*/ 959 h 3085"/>
                  <a:gd name="T4" fmla="*/ 28 w 2436"/>
                  <a:gd name="T5" fmla="*/ 862 h 3085"/>
                  <a:gd name="T6" fmla="*/ 14 w 2436"/>
                  <a:gd name="T7" fmla="*/ 990 h 3085"/>
                  <a:gd name="T8" fmla="*/ 80 w 2436"/>
                  <a:gd name="T9" fmla="*/ 1153 h 3085"/>
                  <a:gd name="T10" fmla="*/ 43 w 2436"/>
                  <a:gd name="T11" fmla="*/ 1283 h 3085"/>
                  <a:gd name="T12" fmla="*/ 111 w 2436"/>
                  <a:gd name="T13" fmla="*/ 1491 h 3085"/>
                  <a:gd name="T14" fmla="*/ 295 w 2436"/>
                  <a:gd name="T15" fmla="*/ 1476 h 3085"/>
                  <a:gd name="T16" fmla="*/ 395 w 2436"/>
                  <a:gd name="T17" fmla="*/ 1276 h 3085"/>
                  <a:gd name="T18" fmla="*/ 451 w 2436"/>
                  <a:gd name="T19" fmla="*/ 1450 h 3085"/>
                  <a:gd name="T20" fmla="*/ 458 w 2436"/>
                  <a:gd name="T21" fmla="*/ 1651 h 3085"/>
                  <a:gd name="T22" fmla="*/ 463 w 2436"/>
                  <a:gd name="T23" fmla="*/ 1817 h 3085"/>
                  <a:gd name="T24" fmla="*/ 565 w 2436"/>
                  <a:gd name="T25" fmla="*/ 2478 h 3085"/>
                  <a:gd name="T26" fmla="*/ 617 w 2436"/>
                  <a:gd name="T27" fmla="*/ 3083 h 3085"/>
                  <a:gd name="T28" fmla="*/ 919 w 2436"/>
                  <a:gd name="T29" fmla="*/ 2825 h 3085"/>
                  <a:gd name="T30" fmla="*/ 926 w 2436"/>
                  <a:gd name="T31" fmla="*/ 2310 h 3085"/>
                  <a:gd name="T32" fmla="*/ 1007 w 2436"/>
                  <a:gd name="T33" fmla="*/ 2608 h 3085"/>
                  <a:gd name="T34" fmla="*/ 1073 w 2436"/>
                  <a:gd name="T35" fmla="*/ 3080 h 3085"/>
                  <a:gd name="T36" fmla="*/ 1375 w 2436"/>
                  <a:gd name="T37" fmla="*/ 2865 h 3085"/>
                  <a:gd name="T38" fmla="*/ 1347 w 2436"/>
                  <a:gd name="T39" fmla="*/ 2003 h 3085"/>
                  <a:gd name="T40" fmla="*/ 1302 w 2436"/>
                  <a:gd name="T41" fmla="*/ 1398 h 3085"/>
                  <a:gd name="T42" fmla="*/ 1323 w 2436"/>
                  <a:gd name="T43" fmla="*/ 924 h 3085"/>
                  <a:gd name="T44" fmla="*/ 1531 w 2436"/>
                  <a:gd name="T45" fmla="*/ 943 h 3085"/>
                  <a:gd name="T46" fmla="*/ 1727 w 2436"/>
                  <a:gd name="T47" fmla="*/ 898 h 3085"/>
                  <a:gd name="T48" fmla="*/ 2115 w 2436"/>
                  <a:gd name="T49" fmla="*/ 765 h 3085"/>
                  <a:gd name="T50" fmla="*/ 2200 w 2436"/>
                  <a:gd name="T51" fmla="*/ 704 h 3085"/>
                  <a:gd name="T52" fmla="*/ 2219 w 2436"/>
                  <a:gd name="T53" fmla="*/ 633 h 3085"/>
                  <a:gd name="T54" fmla="*/ 2287 w 2436"/>
                  <a:gd name="T55" fmla="*/ 581 h 3085"/>
                  <a:gd name="T56" fmla="*/ 2285 w 2436"/>
                  <a:gd name="T57" fmla="*/ 607 h 3085"/>
                  <a:gd name="T58" fmla="*/ 2356 w 2436"/>
                  <a:gd name="T59" fmla="*/ 581 h 3085"/>
                  <a:gd name="T60" fmla="*/ 2379 w 2436"/>
                  <a:gd name="T61" fmla="*/ 435 h 3085"/>
                  <a:gd name="T62" fmla="*/ 2349 w 2436"/>
                  <a:gd name="T63" fmla="*/ 397 h 3085"/>
                  <a:gd name="T64" fmla="*/ 2436 w 2436"/>
                  <a:gd name="T65" fmla="*/ 345 h 3085"/>
                  <a:gd name="T66" fmla="*/ 2287 w 2436"/>
                  <a:gd name="T67" fmla="*/ 383 h 3085"/>
                  <a:gd name="T68" fmla="*/ 2124 w 2436"/>
                  <a:gd name="T69" fmla="*/ 527 h 3085"/>
                  <a:gd name="T70" fmla="*/ 2020 w 2436"/>
                  <a:gd name="T71" fmla="*/ 553 h 3085"/>
                  <a:gd name="T72" fmla="*/ 1829 w 2436"/>
                  <a:gd name="T73" fmla="*/ 612 h 3085"/>
                  <a:gd name="T74" fmla="*/ 1680 w 2436"/>
                  <a:gd name="T75" fmla="*/ 650 h 3085"/>
                  <a:gd name="T76" fmla="*/ 1585 w 2436"/>
                  <a:gd name="T77" fmla="*/ 671 h 3085"/>
                  <a:gd name="T78" fmla="*/ 1474 w 2436"/>
                  <a:gd name="T79" fmla="*/ 664 h 3085"/>
                  <a:gd name="T80" fmla="*/ 1389 w 2436"/>
                  <a:gd name="T81" fmla="*/ 633 h 3085"/>
                  <a:gd name="T82" fmla="*/ 1290 w 2436"/>
                  <a:gd name="T83" fmla="*/ 546 h 3085"/>
                  <a:gd name="T84" fmla="*/ 1146 w 2436"/>
                  <a:gd name="T85" fmla="*/ 477 h 3085"/>
                  <a:gd name="T86" fmla="*/ 1002 w 2436"/>
                  <a:gd name="T87" fmla="*/ 487 h 3085"/>
                  <a:gd name="T88" fmla="*/ 799 w 2436"/>
                  <a:gd name="T89" fmla="*/ 430 h 3085"/>
                  <a:gd name="T90" fmla="*/ 725 w 2436"/>
                  <a:gd name="T91" fmla="*/ 61 h 3085"/>
                  <a:gd name="T92" fmla="*/ 501 w 2436"/>
                  <a:gd name="T93" fmla="*/ 24 h 3085"/>
                  <a:gd name="T94" fmla="*/ 357 w 2436"/>
                  <a:gd name="T95" fmla="*/ 118 h 3085"/>
                  <a:gd name="T96" fmla="*/ 340 w 2436"/>
                  <a:gd name="T97" fmla="*/ 236 h 3085"/>
                  <a:gd name="T98" fmla="*/ 362 w 2436"/>
                  <a:gd name="T99" fmla="*/ 350 h 3085"/>
                  <a:gd name="T100" fmla="*/ 371 w 2436"/>
                  <a:gd name="T101" fmla="*/ 461 h 3085"/>
                  <a:gd name="T102" fmla="*/ 399 w 2436"/>
                  <a:gd name="T103" fmla="*/ 515 h 3085"/>
                  <a:gd name="T104" fmla="*/ 482 w 2436"/>
                  <a:gd name="T105" fmla="*/ 593 h 30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</a:cxnLst>
                <a:rect l="0" t="0" r="r" b="b"/>
                <a:pathLst>
                  <a:path w="2436" h="3085">
                    <a:moveTo>
                      <a:pt x="523" y="606"/>
                    </a:moveTo>
                    <a:cubicBezTo>
                      <a:pt x="523" y="606"/>
                      <a:pt x="236" y="765"/>
                      <a:pt x="234" y="772"/>
                    </a:cubicBezTo>
                    <a:cubicBezTo>
                      <a:pt x="232" y="782"/>
                      <a:pt x="206" y="772"/>
                      <a:pt x="208" y="787"/>
                    </a:cubicBezTo>
                    <a:cubicBezTo>
                      <a:pt x="208" y="798"/>
                      <a:pt x="196" y="834"/>
                      <a:pt x="196" y="834"/>
                    </a:cubicBezTo>
                    <a:cubicBezTo>
                      <a:pt x="196" y="834"/>
                      <a:pt x="165" y="834"/>
                      <a:pt x="161" y="843"/>
                    </a:cubicBezTo>
                    <a:cubicBezTo>
                      <a:pt x="156" y="853"/>
                      <a:pt x="146" y="900"/>
                      <a:pt x="151" y="959"/>
                    </a:cubicBezTo>
                    <a:cubicBezTo>
                      <a:pt x="137" y="978"/>
                      <a:pt x="130" y="968"/>
                      <a:pt x="130" y="968"/>
                    </a:cubicBezTo>
                    <a:cubicBezTo>
                      <a:pt x="106" y="964"/>
                      <a:pt x="106" y="964"/>
                      <a:pt x="106" y="964"/>
                    </a:cubicBezTo>
                    <a:cubicBezTo>
                      <a:pt x="106" y="964"/>
                      <a:pt x="35" y="869"/>
                      <a:pt x="28" y="862"/>
                    </a:cubicBezTo>
                    <a:cubicBezTo>
                      <a:pt x="19" y="857"/>
                      <a:pt x="0" y="869"/>
                      <a:pt x="12" y="888"/>
                    </a:cubicBezTo>
                    <a:cubicBezTo>
                      <a:pt x="24" y="909"/>
                      <a:pt x="12" y="865"/>
                      <a:pt x="24" y="933"/>
                    </a:cubicBezTo>
                    <a:cubicBezTo>
                      <a:pt x="24" y="933"/>
                      <a:pt x="7" y="959"/>
                      <a:pt x="14" y="990"/>
                    </a:cubicBezTo>
                    <a:cubicBezTo>
                      <a:pt x="31" y="1023"/>
                      <a:pt x="31" y="1023"/>
                      <a:pt x="31" y="1023"/>
                    </a:cubicBezTo>
                    <a:cubicBezTo>
                      <a:pt x="35" y="1077"/>
                      <a:pt x="35" y="1077"/>
                      <a:pt x="35" y="1077"/>
                    </a:cubicBezTo>
                    <a:cubicBezTo>
                      <a:pt x="35" y="1077"/>
                      <a:pt x="73" y="1143"/>
                      <a:pt x="80" y="1153"/>
                    </a:cubicBezTo>
                    <a:cubicBezTo>
                      <a:pt x="90" y="1162"/>
                      <a:pt x="78" y="1174"/>
                      <a:pt x="78" y="1174"/>
                    </a:cubicBezTo>
                    <a:cubicBezTo>
                      <a:pt x="78" y="1174"/>
                      <a:pt x="52" y="1231"/>
                      <a:pt x="52" y="1243"/>
                    </a:cubicBezTo>
                    <a:cubicBezTo>
                      <a:pt x="54" y="1254"/>
                      <a:pt x="43" y="1283"/>
                      <a:pt x="43" y="1283"/>
                    </a:cubicBezTo>
                    <a:cubicBezTo>
                      <a:pt x="43" y="1283"/>
                      <a:pt x="35" y="1337"/>
                      <a:pt x="40" y="1354"/>
                    </a:cubicBezTo>
                    <a:cubicBezTo>
                      <a:pt x="47" y="1372"/>
                      <a:pt x="54" y="1401"/>
                      <a:pt x="64" y="1417"/>
                    </a:cubicBezTo>
                    <a:cubicBezTo>
                      <a:pt x="71" y="1436"/>
                      <a:pt x="104" y="1481"/>
                      <a:pt x="111" y="1491"/>
                    </a:cubicBezTo>
                    <a:cubicBezTo>
                      <a:pt x="118" y="1502"/>
                      <a:pt x="139" y="1524"/>
                      <a:pt x="146" y="1528"/>
                    </a:cubicBezTo>
                    <a:cubicBezTo>
                      <a:pt x="156" y="1531"/>
                      <a:pt x="203" y="1521"/>
                      <a:pt x="217" y="1517"/>
                    </a:cubicBezTo>
                    <a:cubicBezTo>
                      <a:pt x="232" y="1509"/>
                      <a:pt x="284" y="1483"/>
                      <a:pt x="295" y="1476"/>
                    </a:cubicBezTo>
                    <a:cubicBezTo>
                      <a:pt x="305" y="1467"/>
                      <a:pt x="324" y="1443"/>
                      <a:pt x="328" y="1436"/>
                    </a:cubicBezTo>
                    <a:cubicBezTo>
                      <a:pt x="333" y="1427"/>
                      <a:pt x="333" y="1387"/>
                      <a:pt x="333" y="1387"/>
                    </a:cubicBezTo>
                    <a:cubicBezTo>
                      <a:pt x="333" y="1387"/>
                      <a:pt x="387" y="1283"/>
                      <a:pt x="395" y="1276"/>
                    </a:cubicBezTo>
                    <a:cubicBezTo>
                      <a:pt x="402" y="1271"/>
                      <a:pt x="421" y="1311"/>
                      <a:pt x="425" y="1313"/>
                    </a:cubicBezTo>
                    <a:cubicBezTo>
                      <a:pt x="432" y="1316"/>
                      <a:pt x="428" y="1391"/>
                      <a:pt x="428" y="1391"/>
                    </a:cubicBezTo>
                    <a:cubicBezTo>
                      <a:pt x="428" y="1391"/>
                      <a:pt x="442" y="1439"/>
                      <a:pt x="451" y="1450"/>
                    </a:cubicBezTo>
                    <a:cubicBezTo>
                      <a:pt x="458" y="1460"/>
                      <a:pt x="451" y="1566"/>
                      <a:pt x="456" y="1576"/>
                    </a:cubicBezTo>
                    <a:cubicBezTo>
                      <a:pt x="463" y="1585"/>
                      <a:pt x="475" y="1609"/>
                      <a:pt x="470" y="1618"/>
                    </a:cubicBezTo>
                    <a:cubicBezTo>
                      <a:pt x="463" y="1625"/>
                      <a:pt x="458" y="1651"/>
                      <a:pt x="458" y="1651"/>
                    </a:cubicBezTo>
                    <a:cubicBezTo>
                      <a:pt x="463" y="1710"/>
                      <a:pt x="463" y="1710"/>
                      <a:pt x="463" y="1710"/>
                    </a:cubicBezTo>
                    <a:cubicBezTo>
                      <a:pt x="463" y="1710"/>
                      <a:pt x="473" y="1734"/>
                      <a:pt x="465" y="1741"/>
                    </a:cubicBezTo>
                    <a:cubicBezTo>
                      <a:pt x="461" y="1748"/>
                      <a:pt x="463" y="1817"/>
                      <a:pt x="463" y="1817"/>
                    </a:cubicBezTo>
                    <a:cubicBezTo>
                      <a:pt x="463" y="1817"/>
                      <a:pt x="501" y="2140"/>
                      <a:pt x="503" y="2164"/>
                    </a:cubicBezTo>
                    <a:cubicBezTo>
                      <a:pt x="508" y="2187"/>
                      <a:pt x="517" y="2176"/>
                      <a:pt x="517" y="2176"/>
                    </a:cubicBezTo>
                    <a:cubicBezTo>
                      <a:pt x="517" y="2176"/>
                      <a:pt x="534" y="2341"/>
                      <a:pt x="565" y="2478"/>
                    </a:cubicBezTo>
                    <a:cubicBezTo>
                      <a:pt x="574" y="2542"/>
                      <a:pt x="569" y="2594"/>
                      <a:pt x="584" y="2629"/>
                    </a:cubicBezTo>
                    <a:cubicBezTo>
                      <a:pt x="584" y="2629"/>
                      <a:pt x="610" y="2889"/>
                      <a:pt x="614" y="2901"/>
                    </a:cubicBezTo>
                    <a:cubicBezTo>
                      <a:pt x="617" y="2915"/>
                      <a:pt x="617" y="3083"/>
                      <a:pt x="617" y="3083"/>
                    </a:cubicBezTo>
                    <a:cubicBezTo>
                      <a:pt x="926" y="3080"/>
                      <a:pt x="926" y="3080"/>
                      <a:pt x="926" y="3080"/>
                    </a:cubicBezTo>
                    <a:cubicBezTo>
                      <a:pt x="926" y="3080"/>
                      <a:pt x="917" y="2965"/>
                      <a:pt x="910" y="2953"/>
                    </a:cubicBezTo>
                    <a:cubicBezTo>
                      <a:pt x="900" y="2939"/>
                      <a:pt x="917" y="2868"/>
                      <a:pt x="919" y="2825"/>
                    </a:cubicBezTo>
                    <a:cubicBezTo>
                      <a:pt x="921" y="2785"/>
                      <a:pt x="921" y="2620"/>
                      <a:pt x="917" y="2594"/>
                    </a:cubicBezTo>
                    <a:cubicBezTo>
                      <a:pt x="912" y="2565"/>
                      <a:pt x="910" y="2438"/>
                      <a:pt x="917" y="2412"/>
                    </a:cubicBezTo>
                    <a:cubicBezTo>
                      <a:pt x="924" y="2386"/>
                      <a:pt x="926" y="2310"/>
                      <a:pt x="926" y="2310"/>
                    </a:cubicBezTo>
                    <a:cubicBezTo>
                      <a:pt x="938" y="2313"/>
                      <a:pt x="938" y="2313"/>
                      <a:pt x="938" y="2313"/>
                    </a:cubicBezTo>
                    <a:cubicBezTo>
                      <a:pt x="938" y="2313"/>
                      <a:pt x="971" y="2433"/>
                      <a:pt x="976" y="2445"/>
                    </a:cubicBezTo>
                    <a:cubicBezTo>
                      <a:pt x="978" y="2457"/>
                      <a:pt x="1007" y="2608"/>
                      <a:pt x="1007" y="2608"/>
                    </a:cubicBezTo>
                    <a:cubicBezTo>
                      <a:pt x="1007" y="2608"/>
                      <a:pt x="1040" y="2830"/>
                      <a:pt x="1044" y="2837"/>
                    </a:cubicBezTo>
                    <a:cubicBezTo>
                      <a:pt x="1049" y="2842"/>
                      <a:pt x="1061" y="2948"/>
                      <a:pt x="1070" y="2953"/>
                    </a:cubicBezTo>
                    <a:cubicBezTo>
                      <a:pt x="1080" y="2960"/>
                      <a:pt x="1073" y="3080"/>
                      <a:pt x="1073" y="3080"/>
                    </a:cubicBezTo>
                    <a:cubicBezTo>
                      <a:pt x="1077" y="3085"/>
                      <a:pt x="1077" y="3085"/>
                      <a:pt x="1077" y="3085"/>
                    </a:cubicBezTo>
                    <a:cubicBezTo>
                      <a:pt x="1406" y="3085"/>
                      <a:pt x="1406" y="3085"/>
                      <a:pt x="1406" y="3085"/>
                    </a:cubicBezTo>
                    <a:cubicBezTo>
                      <a:pt x="1406" y="3085"/>
                      <a:pt x="1375" y="2901"/>
                      <a:pt x="1375" y="2865"/>
                    </a:cubicBezTo>
                    <a:cubicBezTo>
                      <a:pt x="1375" y="2832"/>
                      <a:pt x="1326" y="2400"/>
                      <a:pt x="1333" y="2372"/>
                    </a:cubicBezTo>
                    <a:cubicBezTo>
                      <a:pt x="1337" y="2341"/>
                      <a:pt x="1340" y="2152"/>
                      <a:pt x="1340" y="2152"/>
                    </a:cubicBezTo>
                    <a:cubicBezTo>
                      <a:pt x="1340" y="2152"/>
                      <a:pt x="1363" y="2050"/>
                      <a:pt x="1347" y="2003"/>
                    </a:cubicBezTo>
                    <a:cubicBezTo>
                      <a:pt x="1375" y="1984"/>
                      <a:pt x="1451" y="1951"/>
                      <a:pt x="1460" y="1944"/>
                    </a:cubicBezTo>
                    <a:cubicBezTo>
                      <a:pt x="1467" y="1937"/>
                      <a:pt x="1375" y="1668"/>
                      <a:pt x="1370" y="1642"/>
                    </a:cubicBezTo>
                    <a:cubicBezTo>
                      <a:pt x="1363" y="1616"/>
                      <a:pt x="1302" y="1410"/>
                      <a:pt x="1302" y="1398"/>
                    </a:cubicBezTo>
                    <a:cubicBezTo>
                      <a:pt x="1302" y="1387"/>
                      <a:pt x="1274" y="1174"/>
                      <a:pt x="1278" y="1165"/>
                    </a:cubicBezTo>
                    <a:cubicBezTo>
                      <a:pt x="1283" y="1155"/>
                      <a:pt x="1292" y="1004"/>
                      <a:pt x="1297" y="992"/>
                    </a:cubicBezTo>
                    <a:cubicBezTo>
                      <a:pt x="1304" y="983"/>
                      <a:pt x="1323" y="924"/>
                      <a:pt x="1323" y="924"/>
                    </a:cubicBezTo>
                    <a:cubicBezTo>
                      <a:pt x="1425" y="938"/>
                      <a:pt x="1425" y="938"/>
                      <a:pt x="1425" y="938"/>
                    </a:cubicBezTo>
                    <a:cubicBezTo>
                      <a:pt x="1425" y="938"/>
                      <a:pt x="1463" y="952"/>
                      <a:pt x="1474" y="952"/>
                    </a:cubicBezTo>
                    <a:cubicBezTo>
                      <a:pt x="1484" y="952"/>
                      <a:pt x="1519" y="943"/>
                      <a:pt x="1531" y="943"/>
                    </a:cubicBezTo>
                    <a:cubicBezTo>
                      <a:pt x="1543" y="943"/>
                      <a:pt x="1614" y="933"/>
                      <a:pt x="1630" y="928"/>
                    </a:cubicBezTo>
                    <a:cubicBezTo>
                      <a:pt x="1644" y="926"/>
                      <a:pt x="1668" y="931"/>
                      <a:pt x="1682" y="926"/>
                    </a:cubicBezTo>
                    <a:cubicBezTo>
                      <a:pt x="1694" y="919"/>
                      <a:pt x="1713" y="900"/>
                      <a:pt x="1727" y="898"/>
                    </a:cubicBezTo>
                    <a:cubicBezTo>
                      <a:pt x="1741" y="893"/>
                      <a:pt x="1734" y="902"/>
                      <a:pt x="1772" y="895"/>
                    </a:cubicBezTo>
                    <a:cubicBezTo>
                      <a:pt x="1810" y="888"/>
                      <a:pt x="2006" y="801"/>
                      <a:pt x="2018" y="798"/>
                    </a:cubicBezTo>
                    <a:cubicBezTo>
                      <a:pt x="2030" y="794"/>
                      <a:pt x="2093" y="765"/>
                      <a:pt x="2115" y="765"/>
                    </a:cubicBezTo>
                    <a:cubicBezTo>
                      <a:pt x="2138" y="765"/>
                      <a:pt x="2157" y="761"/>
                      <a:pt x="2157" y="761"/>
                    </a:cubicBezTo>
                    <a:cubicBezTo>
                      <a:pt x="2157" y="761"/>
                      <a:pt x="2190" y="746"/>
                      <a:pt x="2186" y="711"/>
                    </a:cubicBezTo>
                    <a:cubicBezTo>
                      <a:pt x="2181" y="678"/>
                      <a:pt x="2200" y="704"/>
                      <a:pt x="2200" y="704"/>
                    </a:cubicBezTo>
                    <a:cubicBezTo>
                      <a:pt x="2188" y="666"/>
                      <a:pt x="2188" y="666"/>
                      <a:pt x="2188" y="666"/>
                    </a:cubicBezTo>
                    <a:cubicBezTo>
                      <a:pt x="2195" y="645"/>
                      <a:pt x="2195" y="645"/>
                      <a:pt x="2195" y="645"/>
                    </a:cubicBezTo>
                    <a:cubicBezTo>
                      <a:pt x="2219" y="633"/>
                      <a:pt x="2219" y="633"/>
                      <a:pt x="2219" y="633"/>
                    </a:cubicBezTo>
                    <a:cubicBezTo>
                      <a:pt x="2228" y="621"/>
                      <a:pt x="2228" y="621"/>
                      <a:pt x="2228" y="621"/>
                    </a:cubicBezTo>
                    <a:cubicBezTo>
                      <a:pt x="2228" y="621"/>
                      <a:pt x="2233" y="621"/>
                      <a:pt x="2245" y="619"/>
                    </a:cubicBezTo>
                    <a:cubicBezTo>
                      <a:pt x="2254" y="619"/>
                      <a:pt x="2280" y="588"/>
                      <a:pt x="2287" y="581"/>
                    </a:cubicBezTo>
                    <a:cubicBezTo>
                      <a:pt x="2297" y="576"/>
                      <a:pt x="2308" y="572"/>
                      <a:pt x="2308" y="572"/>
                    </a:cubicBezTo>
                    <a:cubicBezTo>
                      <a:pt x="2311" y="586"/>
                      <a:pt x="2311" y="586"/>
                      <a:pt x="2311" y="586"/>
                    </a:cubicBezTo>
                    <a:cubicBezTo>
                      <a:pt x="2285" y="607"/>
                      <a:pt x="2285" y="607"/>
                      <a:pt x="2285" y="607"/>
                    </a:cubicBezTo>
                    <a:cubicBezTo>
                      <a:pt x="2285" y="607"/>
                      <a:pt x="2278" y="633"/>
                      <a:pt x="2299" y="633"/>
                    </a:cubicBezTo>
                    <a:cubicBezTo>
                      <a:pt x="2323" y="633"/>
                      <a:pt x="2334" y="609"/>
                      <a:pt x="2334" y="609"/>
                    </a:cubicBezTo>
                    <a:cubicBezTo>
                      <a:pt x="2356" y="581"/>
                      <a:pt x="2356" y="581"/>
                      <a:pt x="2356" y="581"/>
                    </a:cubicBezTo>
                    <a:cubicBezTo>
                      <a:pt x="2377" y="555"/>
                      <a:pt x="2377" y="555"/>
                      <a:pt x="2377" y="555"/>
                    </a:cubicBezTo>
                    <a:cubicBezTo>
                      <a:pt x="2398" y="506"/>
                      <a:pt x="2398" y="506"/>
                      <a:pt x="2398" y="506"/>
                    </a:cubicBezTo>
                    <a:cubicBezTo>
                      <a:pt x="2379" y="435"/>
                      <a:pt x="2379" y="435"/>
                      <a:pt x="2379" y="435"/>
                    </a:cubicBezTo>
                    <a:cubicBezTo>
                      <a:pt x="2379" y="435"/>
                      <a:pt x="2360" y="425"/>
                      <a:pt x="2349" y="425"/>
                    </a:cubicBezTo>
                    <a:cubicBezTo>
                      <a:pt x="2334" y="425"/>
                      <a:pt x="2323" y="420"/>
                      <a:pt x="2323" y="420"/>
                    </a:cubicBezTo>
                    <a:cubicBezTo>
                      <a:pt x="2323" y="420"/>
                      <a:pt x="2344" y="402"/>
                      <a:pt x="2349" y="397"/>
                    </a:cubicBezTo>
                    <a:cubicBezTo>
                      <a:pt x="2356" y="392"/>
                      <a:pt x="2375" y="385"/>
                      <a:pt x="2384" y="380"/>
                    </a:cubicBezTo>
                    <a:cubicBezTo>
                      <a:pt x="2391" y="376"/>
                      <a:pt x="2415" y="364"/>
                      <a:pt x="2415" y="364"/>
                    </a:cubicBezTo>
                    <a:cubicBezTo>
                      <a:pt x="2436" y="345"/>
                      <a:pt x="2436" y="345"/>
                      <a:pt x="2436" y="345"/>
                    </a:cubicBezTo>
                    <a:cubicBezTo>
                      <a:pt x="2436" y="345"/>
                      <a:pt x="2431" y="321"/>
                      <a:pt x="2412" y="326"/>
                    </a:cubicBezTo>
                    <a:cubicBezTo>
                      <a:pt x="2396" y="333"/>
                      <a:pt x="2337" y="354"/>
                      <a:pt x="2337" y="354"/>
                    </a:cubicBezTo>
                    <a:cubicBezTo>
                      <a:pt x="2287" y="383"/>
                      <a:pt x="2287" y="383"/>
                      <a:pt x="2287" y="383"/>
                    </a:cubicBezTo>
                    <a:cubicBezTo>
                      <a:pt x="2219" y="423"/>
                      <a:pt x="2219" y="423"/>
                      <a:pt x="2219" y="423"/>
                    </a:cubicBezTo>
                    <a:cubicBezTo>
                      <a:pt x="2219" y="423"/>
                      <a:pt x="2155" y="489"/>
                      <a:pt x="2150" y="494"/>
                    </a:cubicBezTo>
                    <a:cubicBezTo>
                      <a:pt x="2145" y="501"/>
                      <a:pt x="2131" y="524"/>
                      <a:pt x="2124" y="527"/>
                    </a:cubicBezTo>
                    <a:cubicBezTo>
                      <a:pt x="2115" y="529"/>
                      <a:pt x="2098" y="531"/>
                      <a:pt x="2098" y="531"/>
                    </a:cubicBezTo>
                    <a:cubicBezTo>
                      <a:pt x="2074" y="536"/>
                      <a:pt x="2074" y="536"/>
                      <a:pt x="2074" y="536"/>
                    </a:cubicBezTo>
                    <a:cubicBezTo>
                      <a:pt x="2020" y="553"/>
                      <a:pt x="2020" y="553"/>
                      <a:pt x="2020" y="553"/>
                    </a:cubicBezTo>
                    <a:cubicBezTo>
                      <a:pt x="2020" y="553"/>
                      <a:pt x="1966" y="567"/>
                      <a:pt x="1940" y="581"/>
                    </a:cubicBezTo>
                    <a:cubicBezTo>
                      <a:pt x="1914" y="593"/>
                      <a:pt x="1876" y="607"/>
                      <a:pt x="1876" y="607"/>
                    </a:cubicBezTo>
                    <a:cubicBezTo>
                      <a:pt x="1876" y="607"/>
                      <a:pt x="1876" y="602"/>
                      <a:pt x="1829" y="612"/>
                    </a:cubicBezTo>
                    <a:cubicBezTo>
                      <a:pt x="1782" y="621"/>
                      <a:pt x="1732" y="633"/>
                      <a:pt x="1727" y="635"/>
                    </a:cubicBezTo>
                    <a:cubicBezTo>
                      <a:pt x="1720" y="638"/>
                      <a:pt x="1708" y="647"/>
                      <a:pt x="1704" y="650"/>
                    </a:cubicBezTo>
                    <a:cubicBezTo>
                      <a:pt x="1696" y="652"/>
                      <a:pt x="1696" y="650"/>
                      <a:pt x="1680" y="650"/>
                    </a:cubicBezTo>
                    <a:cubicBezTo>
                      <a:pt x="1661" y="650"/>
                      <a:pt x="1654" y="668"/>
                      <a:pt x="1642" y="671"/>
                    </a:cubicBezTo>
                    <a:cubicBezTo>
                      <a:pt x="1633" y="671"/>
                      <a:pt x="1621" y="671"/>
                      <a:pt x="1611" y="671"/>
                    </a:cubicBezTo>
                    <a:cubicBezTo>
                      <a:pt x="1602" y="671"/>
                      <a:pt x="1585" y="671"/>
                      <a:pt x="1585" y="671"/>
                    </a:cubicBezTo>
                    <a:cubicBezTo>
                      <a:pt x="1585" y="671"/>
                      <a:pt x="1567" y="659"/>
                      <a:pt x="1550" y="657"/>
                    </a:cubicBezTo>
                    <a:cubicBezTo>
                      <a:pt x="1531" y="657"/>
                      <a:pt x="1517" y="652"/>
                      <a:pt x="1505" y="659"/>
                    </a:cubicBezTo>
                    <a:cubicBezTo>
                      <a:pt x="1493" y="668"/>
                      <a:pt x="1481" y="671"/>
                      <a:pt x="1474" y="664"/>
                    </a:cubicBezTo>
                    <a:cubicBezTo>
                      <a:pt x="1465" y="657"/>
                      <a:pt x="1463" y="635"/>
                      <a:pt x="1451" y="635"/>
                    </a:cubicBezTo>
                    <a:cubicBezTo>
                      <a:pt x="1439" y="635"/>
                      <a:pt x="1415" y="645"/>
                      <a:pt x="1415" y="645"/>
                    </a:cubicBezTo>
                    <a:cubicBezTo>
                      <a:pt x="1415" y="645"/>
                      <a:pt x="1396" y="640"/>
                      <a:pt x="1389" y="633"/>
                    </a:cubicBezTo>
                    <a:cubicBezTo>
                      <a:pt x="1385" y="628"/>
                      <a:pt x="1340" y="602"/>
                      <a:pt x="1340" y="602"/>
                    </a:cubicBezTo>
                    <a:cubicBezTo>
                      <a:pt x="1340" y="602"/>
                      <a:pt x="1314" y="581"/>
                      <a:pt x="1300" y="581"/>
                    </a:cubicBezTo>
                    <a:cubicBezTo>
                      <a:pt x="1285" y="581"/>
                      <a:pt x="1283" y="550"/>
                      <a:pt x="1290" y="546"/>
                    </a:cubicBezTo>
                    <a:cubicBezTo>
                      <a:pt x="1297" y="543"/>
                      <a:pt x="1271" y="491"/>
                      <a:pt x="1252" y="487"/>
                    </a:cubicBezTo>
                    <a:cubicBezTo>
                      <a:pt x="1233" y="480"/>
                      <a:pt x="1207" y="477"/>
                      <a:pt x="1203" y="477"/>
                    </a:cubicBezTo>
                    <a:cubicBezTo>
                      <a:pt x="1196" y="477"/>
                      <a:pt x="1162" y="472"/>
                      <a:pt x="1146" y="477"/>
                    </a:cubicBezTo>
                    <a:cubicBezTo>
                      <a:pt x="1129" y="484"/>
                      <a:pt x="1085" y="487"/>
                      <a:pt x="1070" y="489"/>
                    </a:cubicBezTo>
                    <a:cubicBezTo>
                      <a:pt x="1056" y="491"/>
                      <a:pt x="1040" y="498"/>
                      <a:pt x="1028" y="498"/>
                    </a:cubicBezTo>
                    <a:cubicBezTo>
                      <a:pt x="1018" y="498"/>
                      <a:pt x="1014" y="487"/>
                      <a:pt x="1002" y="487"/>
                    </a:cubicBezTo>
                    <a:cubicBezTo>
                      <a:pt x="988" y="487"/>
                      <a:pt x="898" y="491"/>
                      <a:pt x="881" y="491"/>
                    </a:cubicBezTo>
                    <a:cubicBezTo>
                      <a:pt x="865" y="491"/>
                      <a:pt x="851" y="468"/>
                      <a:pt x="832" y="456"/>
                    </a:cubicBezTo>
                    <a:cubicBezTo>
                      <a:pt x="810" y="444"/>
                      <a:pt x="799" y="430"/>
                      <a:pt x="799" y="430"/>
                    </a:cubicBezTo>
                    <a:cubicBezTo>
                      <a:pt x="792" y="406"/>
                      <a:pt x="792" y="406"/>
                      <a:pt x="792" y="406"/>
                    </a:cubicBezTo>
                    <a:cubicBezTo>
                      <a:pt x="801" y="293"/>
                      <a:pt x="801" y="293"/>
                      <a:pt x="801" y="293"/>
                    </a:cubicBezTo>
                    <a:cubicBezTo>
                      <a:pt x="801" y="293"/>
                      <a:pt x="867" y="118"/>
                      <a:pt x="725" y="61"/>
                    </a:cubicBezTo>
                    <a:cubicBezTo>
                      <a:pt x="692" y="54"/>
                      <a:pt x="671" y="26"/>
                      <a:pt x="671" y="26"/>
                    </a:cubicBezTo>
                    <a:cubicBezTo>
                      <a:pt x="671" y="26"/>
                      <a:pt x="617" y="0"/>
                      <a:pt x="581" y="5"/>
                    </a:cubicBezTo>
                    <a:cubicBezTo>
                      <a:pt x="548" y="12"/>
                      <a:pt x="536" y="7"/>
                      <a:pt x="501" y="24"/>
                    </a:cubicBezTo>
                    <a:cubicBezTo>
                      <a:pt x="463" y="40"/>
                      <a:pt x="447" y="43"/>
                      <a:pt x="428" y="50"/>
                    </a:cubicBezTo>
                    <a:cubicBezTo>
                      <a:pt x="411" y="57"/>
                      <a:pt x="385" y="76"/>
                      <a:pt x="385" y="76"/>
                    </a:cubicBezTo>
                    <a:cubicBezTo>
                      <a:pt x="385" y="76"/>
                      <a:pt x="362" y="113"/>
                      <a:pt x="357" y="118"/>
                    </a:cubicBezTo>
                    <a:cubicBezTo>
                      <a:pt x="350" y="120"/>
                      <a:pt x="378" y="130"/>
                      <a:pt x="378" y="130"/>
                    </a:cubicBezTo>
                    <a:cubicBezTo>
                      <a:pt x="378" y="130"/>
                      <a:pt x="362" y="151"/>
                      <a:pt x="350" y="172"/>
                    </a:cubicBezTo>
                    <a:cubicBezTo>
                      <a:pt x="338" y="196"/>
                      <a:pt x="343" y="229"/>
                      <a:pt x="340" y="236"/>
                    </a:cubicBezTo>
                    <a:cubicBezTo>
                      <a:pt x="338" y="246"/>
                      <a:pt x="321" y="262"/>
                      <a:pt x="321" y="269"/>
                    </a:cubicBezTo>
                    <a:cubicBezTo>
                      <a:pt x="324" y="274"/>
                      <a:pt x="362" y="295"/>
                      <a:pt x="362" y="302"/>
                    </a:cubicBezTo>
                    <a:cubicBezTo>
                      <a:pt x="364" y="312"/>
                      <a:pt x="373" y="335"/>
                      <a:pt x="362" y="350"/>
                    </a:cubicBezTo>
                    <a:cubicBezTo>
                      <a:pt x="347" y="364"/>
                      <a:pt x="333" y="402"/>
                      <a:pt x="347" y="413"/>
                    </a:cubicBezTo>
                    <a:cubicBezTo>
                      <a:pt x="364" y="428"/>
                      <a:pt x="373" y="428"/>
                      <a:pt x="373" y="428"/>
                    </a:cubicBezTo>
                    <a:cubicBezTo>
                      <a:pt x="371" y="461"/>
                      <a:pt x="371" y="461"/>
                      <a:pt x="371" y="461"/>
                    </a:cubicBezTo>
                    <a:cubicBezTo>
                      <a:pt x="371" y="461"/>
                      <a:pt x="373" y="477"/>
                      <a:pt x="383" y="480"/>
                    </a:cubicBezTo>
                    <a:cubicBezTo>
                      <a:pt x="390" y="482"/>
                      <a:pt x="371" y="496"/>
                      <a:pt x="378" y="503"/>
                    </a:cubicBezTo>
                    <a:cubicBezTo>
                      <a:pt x="385" y="513"/>
                      <a:pt x="399" y="515"/>
                      <a:pt x="399" y="515"/>
                    </a:cubicBezTo>
                    <a:cubicBezTo>
                      <a:pt x="399" y="515"/>
                      <a:pt x="409" y="531"/>
                      <a:pt x="399" y="543"/>
                    </a:cubicBezTo>
                    <a:cubicBezTo>
                      <a:pt x="387" y="553"/>
                      <a:pt x="401" y="584"/>
                      <a:pt x="427" y="582"/>
                    </a:cubicBezTo>
                    <a:cubicBezTo>
                      <a:pt x="460" y="594"/>
                      <a:pt x="482" y="593"/>
                      <a:pt x="482" y="593"/>
                    </a:cubicBezTo>
                    <a:lnTo>
                      <a:pt x="507" y="592"/>
                    </a:lnTo>
                    <a:cubicBezTo>
                      <a:pt x="507" y="592"/>
                      <a:pt x="523" y="606"/>
                      <a:pt x="523" y="606"/>
                    </a:cubicBezTo>
                    <a:close/>
                  </a:path>
                </a:pathLst>
              </a:custGeom>
              <a:solidFill>
                <a:srgbClr val="00206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19" name="Group 12"/>
              <p:cNvGrpSpPr>
                <a:grpSpLocks/>
              </p:cNvGrpSpPr>
              <p:nvPr/>
            </p:nvGrpSpPr>
            <p:grpSpPr bwMode="auto">
              <a:xfrm>
                <a:off x="2708" y="1297"/>
                <a:ext cx="326" cy="796"/>
                <a:chOff x="2708" y="1297"/>
                <a:chExt cx="326" cy="796"/>
              </a:xfrm>
            </p:grpSpPr>
            <p:sp>
              <p:nvSpPr>
                <p:cNvPr id="20" name="Freeform 13"/>
                <p:cNvSpPr>
                  <a:spLocks/>
                </p:cNvSpPr>
                <p:nvPr/>
              </p:nvSpPr>
              <p:spPr bwMode="auto">
                <a:xfrm>
                  <a:off x="2829" y="1297"/>
                  <a:ext cx="205" cy="796"/>
                </a:xfrm>
                <a:custGeom>
                  <a:avLst/>
                  <a:gdLst>
                    <a:gd name="T0" fmla="*/ 56 w 87"/>
                    <a:gd name="T1" fmla="*/ 3 h 337"/>
                    <a:gd name="T2" fmla="*/ 7 w 87"/>
                    <a:gd name="T3" fmla="*/ 71 h 337"/>
                    <a:gd name="T4" fmla="*/ 4 w 87"/>
                    <a:gd name="T5" fmla="*/ 77 h 337"/>
                    <a:gd name="T6" fmla="*/ 18 w 87"/>
                    <a:gd name="T7" fmla="*/ 96 h 337"/>
                    <a:gd name="T8" fmla="*/ 5 w 87"/>
                    <a:gd name="T9" fmla="*/ 120 h 337"/>
                    <a:gd name="T10" fmla="*/ 5 w 87"/>
                    <a:gd name="T11" fmla="*/ 127 h 337"/>
                    <a:gd name="T12" fmla="*/ 15 w 87"/>
                    <a:gd name="T13" fmla="*/ 141 h 337"/>
                    <a:gd name="T14" fmla="*/ 33 w 87"/>
                    <a:gd name="T15" fmla="*/ 201 h 337"/>
                    <a:gd name="T16" fmla="*/ 46 w 87"/>
                    <a:gd name="T17" fmla="*/ 313 h 337"/>
                    <a:gd name="T18" fmla="*/ 63 w 87"/>
                    <a:gd name="T19" fmla="*/ 337 h 337"/>
                    <a:gd name="T20" fmla="*/ 84 w 87"/>
                    <a:gd name="T21" fmla="*/ 243 h 337"/>
                    <a:gd name="T22" fmla="*/ 87 w 87"/>
                    <a:gd name="T23" fmla="*/ 155 h 337"/>
                    <a:gd name="T24" fmla="*/ 77 w 87"/>
                    <a:gd name="T25" fmla="*/ 96 h 337"/>
                    <a:gd name="T26" fmla="*/ 70 w 87"/>
                    <a:gd name="T27" fmla="*/ 61 h 337"/>
                    <a:gd name="T28" fmla="*/ 70 w 87"/>
                    <a:gd name="T29" fmla="*/ 40 h 337"/>
                    <a:gd name="T30" fmla="*/ 71 w 87"/>
                    <a:gd name="T31" fmla="*/ 18 h 337"/>
                    <a:gd name="T32" fmla="*/ 71 w 87"/>
                    <a:gd name="T33" fmla="*/ 13 h 337"/>
                    <a:gd name="T34" fmla="*/ 58 w 87"/>
                    <a:gd name="T35" fmla="*/ 0 h 337"/>
                    <a:gd name="T36" fmla="*/ 56 w 87"/>
                    <a:gd name="T37" fmla="*/ 3 h 337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87" h="337">
                      <a:moveTo>
                        <a:pt x="56" y="3"/>
                      </a:moveTo>
                      <a:cubicBezTo>
                        <a:pt x="56" y="3"/>
                        <a:pt x="58" y="42"/>
                        <a:pt x="7" y="71"/>
                      </a:cubicBezTo>
                      <a:cubicBezTo>
                        <a:pt x="0" y="74"/>
                        <a:pt x="4" y="77"/>
                        <a:pt x="4" y="77"/>
                      </a:cubicBezTo>
                      <a:cubicBezTo>
                        <a:pt x="18" y="96"/>
                        <a:pt x="18" y="96"/>
                        <a:pt x="18" y="96"/>
                      </a:cubicBezTo>
                      <a:cubicBezTo>
                        <a:pt x="5" y="120"/>
                        <a:pt x="5" y="120"/>
                        <a:pt x="5" y="120"/>
                      </a:cubicBezTo>
                      <a:cubicBezTo>
                        <a:pt x="5" y="120"/>
                        <a:pt x="7" y="125"/>
                        <a:pt x="5" y="127"/>
                      </a:cubicBezTo>
                      <a:cubicBezTo>
                        <a:pt x="2" y="128"/>
                        <a:pt x="13" y="133"/>
                        <a:pt x="15" y="141"/>
                      </a:cubicBezTo>
                      <a:cubicBezTo>
                        <a:pt x="18" y="149"/>
                        <a:pt x="31" y="168"/>
                        <a:pt x="33" y="201"/>
                      </a:cubicBezTo>
                      <a:cubicBezTo>
                        <a:pt x="39" y="236"/>
                        <a:pt x="46" y="313"/>
                        <a:pt x="46" y="313"/>
                      </a:cubicBezTo>
                      <a:cubicBezTo>
                        <a:pt x="63" y="337"/>
                        <a:pt x="63" y="337"/>
                        <a:pt x="63" y="337"/>
                      </a:cubicBezTo>
                      <a:cubicBezTo>
                        <a:pt x="63" y="337"/>
                        <a:pt x="83" y="246"/>
                        <a:pt x="84" y="243"/>
                      </a:cubicBezTo>
                      <a:cubicBezTo>
                        <a:pt x="85" y="241"/>
                        <a:pt x="87" y="158"/>
                        <a:pt x="87" y="155"/>
                      </a:cubicBezTo>
                      <a:cubicBezTo>
                        <a:pt x="86" y="152"/>
                        <a:pt x="78" y="102"/>
                        <a:pt x="77" y="96"/>
                      </a:cubicBezTo>
                      <a:cubicBezTo>
                        <a:pt x="76" y="91"/>
                        <a:pt x="70" y="63"/>
                        <a:pt x="70" y="61"/>
                      </a:cubicBezTo>
                      <a:cubicBezTo>
                        <a:pt x="70" y="58"/>
                        <a:pt x="69" y="43"/>
                        <a:pt x="70" y="40"/>
                      </a:cubicBezTo>
                      <a:cubicBezTo>
                        <a:pt x="71" y="37"/>
                        <a:pt x="71" y="18"/>
                        <a:pt x="71" y="18"/>
                      </a:cubicBezTo>
                      <a:cubicBezTo>
                        <a:pt x="71" y="13"/>
                        <a:pt x="71" y="13"/>
                        <a:pt x="71" y="13"/>
                      </a:cubicBezTo>
                      <a:cubicBezTo>
                        <a:pt x="58" y="0"/>
                        <a:pt x="58" y="0"/>
                        <a:pt x="58" y="0"/>
                      </a:cubicBezTo>
                      <a:lnTo>
                        <a:pt x="56" y="3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  <p:sp>
              <p:nvSpPr>
                <p:cNvPr id="21" name="Freeform 14"/>
                <p:cNvSpPr>
                  <a:spLocks/>
                </p:cNvSpPr>
                <p:nvPr/>
              </p:nvSpPr>
              <p:spPr bwMode="auto">
                <a:xfrm>
                  <a:off x="2708" y="1458"/>
                  <a:ext cx="97" cy="279"/>
                </a:xfrm>
                <a:custGeom>
                  <a:avLst/>
                  <a:gdLst>
                    <a:gd name="T0" fmla="*/ 0 w 41"/>
                    <a:gd name="T1" fmla="*/ 0 h 118"/>
                    <a:gd name="T2" fmla="*/ 7 w 41"/>
                    <a:gd name="T3" fmla="*/ 0 h 118"/>
                    <a:gd name="T4" fmla="*/ 17 w 41"/>
                    <a:gd name="T5" fmla="*/ 8 h 118"/>
                    <a:gd name="T6" fmla="*/ 37 w 41"/>
                    <a:gd name="T7" fmla="*/ 12 h 118"/>
                    <a:gd name="T8" fmla="*/ 29 w 41"/>
                    <a:gd name="T9" fmla="*/ 46 h 118"/>
                    <a:gd name="T10" fmla="*/ 37 w 41"/>
                    <a:gd name="T11" fmla="*/ 53 h 118"/>
                    <a:gd name="T12" fmla="*/ 39 w 41"/>
                    <a:gd name="T13" fmla="*/ 63 h 118"/>
                    <a:gd name="T14" fmla="*/ 30 w 41"/>
                    <a:gd name="T15" fmla="*/ 116 h 118"/>
                    <a:gd name="T16" fmla="*/ 8 w 41"/>
                    <a:gd name="T17" fmla="*/ 32 h 118"/>
                    <a:gd name="T18" fmla="*/ 0 w 41"/>
                    <a:gd name="T19" fmla="*/ 0 h 11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</a:cxnLst>
                  <a:rect l="0" t="0" r="r" b="b"/>
                  <a:pathLst>
                    <a:path w="41" h="118">
                      <a:moveTo>
                        <a:pt x="0" y="0"/>
                      </a:moveTo>
                      <a:cubicBezTo>
                        <a:pt x="7" y="0"/>
                        <a:pt x="7" y="0"/>
                        <a:pt x="7" y="0"/>
                      </a:cubicBezTo>
                      <a:cubicBezTo>
                        <a:pt x="7" y="0"/>
                        <a:pt x="13" y="7"/>
                        <a:pt x="17" y="8"/>
                      </a:cubicBezTo>
                      <a:cubicBezTo>
                        <a:pt x="21" y="9"/>
                        <a:pt x="37" y="12"/>
                        <a:pt x="37" y="12"/>
                      </a:cubicBezTo>
                      <a:cubicBezTo>
                        <a:pt x="37" y="12"/>
                        <a:pt x="26" y="29"/>
                        <a:pt x="29" y="46"/>
                      </a:cubicBezTo>
                      <a:cubicBezTo>
                        <a:pt x="34" y="50"/>
                        <a:pt x="37" y="53"/>
                        <a:pt x="37" y="53"/>
                      </a:cubicBezTo>
                      <a:cubicBezTo>
                        <a:pt x="37" y="53"/>
                        <a:pt x="37" y="63"/>
                        <a:pt x="39" y="63"/>
                      </a:cubicBezTo>
                      <a:cubicBezTo>
                        <a:pt x="41" y="63"/>
                        <a:pt x="32" y="113"/>
                        <a:pt x="30" y="116"/>
                      </a:cubicBezTo>
                      <a:cubicBezTo>
                        <a:pt x="28" y="118"/>
                        <a:pt x="9" y="38"/>
                        <a:pt x="8" y="32"/>
                      </a:cubicBezTo>
                      <a:cubicBezTo>
                        <a:pt x="7" y="26"/>
                        <a:pt x="0" y="0"/>
                        <a:pt x="0" y="0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pt-BR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383118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KPIs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Indicadores (EXEMPLO)</a:t>
            </a:r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72649"/>
              </p:ext>
            </p:extLst>
          </p:nvPr>
        </p:nvGraphicFramePr>
        <p:xfrm>
          <a:off x="350158" y="1482693"/>
          <a:ext cx="8090755" cy="4860000"/>
        </p:xfrm>
        <a:graphic>
          <a:graphicData uri="http://schemas.openxmlformats.org/drawingml/2006/table">
            <a:tbl>
              <a:tblPr/>
              <a:tblGrid>
                <a:gridCol w="216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884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371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marL="180000" algn="l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Indicador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Meta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Outubro</a:t>
                      </a:r>
                      <a:r>
                        <a:rPr lang="pt-BR" sz="1400" b="1" i="0" u="none" strike="noStrike" baseline="0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 - 2016</a:t>
                      </a:r>
                      <a:endParaRPr lang="pt-BR" sz="1400" b="1" i="0" u="none" strike="noStrike" dirty="0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Novembro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Dezembro - 2016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[BSC]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</a:t>
                      </a:r>
                      <a:r>
                        <a:rPr lang="pt-BR" sz="12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</a:t>
                      </a: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em </a:t>
                      </a: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endParaRPr lang="pt-BR" sz="1200" b="1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30 (superou)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Quantidade de </a:t>
                      </a:r>
                      <a:r>
                        <a:rPr lang="pt-BR" sz="1200" b="1" i="0" u="none" strike="noStrike" kern="120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BUGs</a:t>
                      </a:r>
                      <a:r>
                        <a:rPr lang="pt-BR" sz="1200" b="1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“A Fazer” </a:t>
                      </a: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(pendente de análise de causa-raiz)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- 3 bugs/mês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BRUTO CSTI </a:t>
                      </a:r>
                      <a:r>
                        <a:rPr lang="pt-BR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(todos os chamados a serem resolvidos)</a:t>
                      </a:r>
                      <a:endParaRPr lang="pt-BR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86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70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3587986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67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5544981"/>
                  </a:ext>
                </a:extLst>
              </a:tr>
              <a:tr h="540000">
                <a:tc rowSpan="2">
                  <a:txBody>
                    <a:bodyPr/>
                    <a:lstStyle/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[DESAFIO] </a:t>
                      </a:r>
                    </a:p>
                    <a:p>
                      <a:pPr marL="180000" marR="0" lvl="0" indent="0" algn="l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1" i="0" u="none" strike="noStrike" kern="1200" baseline="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Backlog</a:t>
                      </a:r>
                      <a:r>
                        <a:rPr lang="pt-BR" sz="1200" b="1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LÍQUIDO CSTI </a:t>
                      </a:r>
                      <a:r>
                        <a:rPr lang="pt-BR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(menos Pendente Desenvolvimento, Promoções e Operação Assistida)</a:t>
                      </a:r>
                      <a:endParaRPr lang="pt-BR" sz="1200" b="0" i="0" u="none" strike="noStrike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400" b="1" i="0" u="none" strike="noStrike" kern="1200" dirty="0">
                          <a:solidFill>
                            <a:schemeClr val="bg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- 10%/mês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31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28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rtl="0" fontAlgn="ctr"/>
                      <a:r>
                        <a:rPr lang="pt-BR" sz="1400" b="1" i="0" u="none" strike="noStrike" dirty="0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25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030A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0559164"/>
                  </a:ext>
                </a:extLst>
              </a:tr>
              <a:tr h="540000"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BR" sz="1200" b="1" i="0" u="none" strike="noStrike" dirty="0">
                          <a:solidFill>
                            <a:srgbClr val="363636"/>
                          </a:solidFill>
                          <a:effectLst/>
                          <a:latin typeface="+mj-lt"/>
                        </a:rPr>
                        <a:t>Realizado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L</a:t>
                      </a:r>
                      <a:endParaRPr lang="pt-BR" sz="2400" b="1" i="0" u="none" strike="noStrike" kern="1200" dirty="0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2800" b="1" i="0" u="none" strike="noStrike" kern="1200" dirty="0">
                          <a:solidFill>
                            <a:srgbClr val="008000"/>
                          </a:solidFill>
                          <a:effectLst/>
                          <a:latin typeface="Wingdings" panose="05000000000000000000" pitchFamily="2" charset="2"/>
                          <a:ea typeface="+mn-ea"/>
                          <a:cs typeface="+mn-cs"/>
                        </a:rPr>
                        <a:t>J</a:t>
                      </a:r>
                      <a:endParaRPr lang="pt-BR" sz="2400" b="1" i="0" u="none" strike="noStrike" kern="1200" dirty="0">
                        <a:solidFill>
                          <a:srgbClr val="008000"/>
                        </a:solidFill>
                        <a:effectLst/>
                        <a:latin typeface="Wingdings" panose="05000000000000000000" pitchFamily="2" charset="2"/>
                        <a:ea typeface="+mn-ea"/>
                        <a:cs typeface="+mn-cs"/>
                      </a:endParaRPr>
                    </a:p>
                  </a:txBody>
                  <a:tcPr marL="6651" marR="6651" marT="6651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7099992"/>
                  </a:ext>
                </a:extLst>
              </a:tr>
            </a:tbl>
          </a:graphicData>
        </a:graphic>
      </p:graphicFrame>
      <p:sp>
        <p:nvSpPr>
          <p:cNvPr id="3" name="Retângulo 2"/>
          <p:cNvSpPr/>
          <p:nvPr/>
        </p:nvSpPr>
        <p:spPr>
          <a:xfrm>
            <a:off x="1770329" y="997688"/>
            <a:ext cx="52504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Painel para Acompanhamento Mensal de Indicadores</a:t>
            </a:r>
            <a:endParaRPr lang="pt-BR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pic>
        <p:nvPicPr>
          <p:cNvPr id="1026" name="Picture 2" descr="http://us.123rf.com/450wm/aquir/aquir1504/aquir150401107/39120040-exemplo-da-fita-do-grunge-selo-vermelho-retro-isolado.jpg?ver=6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269" y="3127608"/>
            <a:ext cx="1564585" cy="12308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eta: para a Esquerda 3">
            <a:hlinkClick r:id="rId4" action="ppaction://hlinksldjump"/>
          </p:cNvPr>
          <p:cNvSpPr/>
          <p:nvPr/>
        </p:nvSpPr>
        <p:spPr>
          <a:xfrm>
            <a:off x="8998226" y="6342693"/>
            <a:ext cx="874644" cy="415916"/>
          </a:xfrm>
          <a:prstGeom prst="leftArrow">
            <a:avLst>
              <a:gd name="adj1" fmla="val 50000"/>
              <a:gd name="adj2" fmla="val 59559"/>
            </a:avLst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b="1" dirty="0"/>
              <a:t>voltar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15298539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Agenda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-367338" y="2111752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Contexto e Objetivo</a:t>
            </a:r>
          </a:p>
        </p:txBody>
      </p:sp>
      <p:sp>
        <p:nvSpPr>
          <p:cNvPr id="84" name="Retângulo de cantos arredondados 8"/>
          <p:cNvSpPr/>
          <p:nvPr/>
        </p:nvSpPr>
        <p:spPr>
          <a:xfrm>
            <a:off x="-367338" y="3385610"/>
            <a:ext cx="6120000" cy="900000"/>
          </a:xfrm>
          <a:prstGeom prst="roundRect">
            <a:avLst>
              <a:gd name="adj" fmla="val 21097"/>
            </a:avLst>
          </a:prstGeom>
          <a:solidFill>
            <a:schemeClr val="bg1">
              <a:lumMod val="75000"/>
            </a:schemeClr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KPIs</a:t>
            </a:r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– Indicadores</a:t>
            </a:r>
          </a:p>
        </p:txBody>
      </p:sp>
      <p:sp>
        <p:nvSpPr>
          <p:cNvPr id="85" name="Retângulo de cantos arredondados 9"/>
          <p:cNvSpPr/>
          <p:nvPr/>
        </p:nvSpPr>
        <p:spPr>
          <a:xfrm>
            <a:off x="-367338" y="4659469"/>
            <a:ext cx="6120000" cy="900000"/>
          </a:xfrm>
          <a:prstGeom prst="roundRect">
            <a:avLst>
              <a:gd name="adj" fmla="val 21097"/>
            </a:avLst>
          </a:prstGeom>
          <a:solidFill>
            <a:srgbClr val="F68E1E"/>
          </a:soli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720000"/>
            <a:r>
              <a:rPr lang="pt-B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da GEROT</a:t>
            </a:r>
          </a:p>
        </p:txBody>
      </p:sp>
      <p:pic>
        <p:nvPicPr>
          <p:cNvPr id="88" name="Picture 2" descr="http://intranet.reynosa.gob.mx/directorio/images/agenda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25757" y="2622222"/>
            <a:ext cx="2266950" cy="203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013536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da GEROT</a:t>
            </a:r>
          </a:p>
        </p:txBody>
      </p:sp>
      <p:grpSp>
        <p:nvGrpSpPr>
          <p:cNvPr id="8" name="Grupo 5"/>
          <p:cNvGrpSpPr/>
          <p:nvPr/>
        </p:nvGrpSpPr>
        <p:grpSpPr>
          <a:xfrm>
            <a:off x="991704" y="1154420"/>
            <a:ext cx="8678660" cy="1800200"/>
            <a:chOff x="511644" y="4149080"/>
            <a:chExt cx="8678660" cy="1800200"/>
          </a:xfrm>
        </p:grpSpPr>
        <p:sp>
          <p:nvSpPr>
            <p:cNvPr id="11" name="Rechteck 51"/>
            <p:cNvSpPr/>
            <p:nvPr/>
          </p:nvSpPr>
          <p:spPr bwMode="gray">
            <a:xfrm>
              <a:off x="1245771" y="4217320"/>
              <a:ext cx="7944533" cy="1584108"/>
            </a:xfrm>
            <a:prstGeom prst="rect">
              <a:avLst/>
            </a:prstGeom>
            <a:gradFill>
              <a:gsLst>
                <a:gs pos="0">
                  <a:srgbClr val="FFFFFF"/>
                </a:gs>
                <a:gs pos="100000">
                  <a:srgbClr val="D9D9D9"/>
                </a:gs>
              </a:gsLst>
              <a:lin ang="5400000" scaled="1"/>
            </a:gradFill>
            <a:ln w="12700">
              <a:solidFill>
                <a:srgbClr val="C0C0C0"/>
              </a:solidFill>
              <a:miter lim="800000"/>
              <a:headEnd/>
              <a:tailEnd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lIns="216000" tIns="36000" rIns="216000" bIns="36000" anchor="ctr"/>
            <a:lstStyle/>
            <a:p>
              <a:pPr marL="72000"/>
              <a:r>
                <a:rPr lang="pt-BR" b="1" noProof="1">
                  <a:latin typeface="Trebuchet MS" panose="020B0603020202020204" pitchFamily="34" charset="0"/>
                </a:rPr>
                <a:t>Método</a:t>
              </a:r>
              <a:r>
                <a:rPr lang="pt-BR" b="1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utilizado para </a:t>
              </a:r>
              <a:r>
                <a:rPr lang="pt-BR" b="1" noProof="1">
                  <a:latin typeface="Trebuchet MS" panose="020B0603020202020204" pitchFamily="34" charset="0"/>
                </a:rPr>
                <a:t>manter e melhorar a qualidade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dos serviços para um cliente (externo ou interno), </a:t>
              </a:r>
              <a:r>
                <a:rPr lang="pt-BR" b="1" noProof="1">
                  <a:latin typeface="Trebuchet MS" panose="020B0603020202020204" pitchFamily="34" charset="0"/>
                </a:rPr>
                <a:t>através de um ciclo contínuo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que envolva </a:t>
              </a:r>
              <a:r>
                <a:rPr lang="pt-BR" b="1" noProof="1">
                  <a:latin typeface="Trebuchet MS" panose="020B0603020202020204" pitchFamily="34" charset="0"/>
                </a:rPr>
                <a:t>combinar, monitorar (diariamente, semanalmente e mensalmente) e reportar</a:t>
              </a:r>
              <a:r>
                <a:rPr lang="pt-BR" b="1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os níveis de serviços, permitindo </a:t>
              </a:r>
              <a:r>
                <a:rPr lang="pt-BR" b="1" noProof="1">
                  <a:latin typeface="Trebuchet MS" panose="020B0603020202020204" pitchFamily="34" charset="0"/>
                </a:rPr>
                <a:t>alcançar metas</a:t>
              </a:r>
              <a:r>
                <a:rPr lang="pt-BR" b="1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previamente</a:t>
              </a:r>
              <a:r>
                <a:rPr lang="pt-BR" b="1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 </a:t>
              </a:r>
              <a:r>
                <a:rPr lang="pt-BR" noProof="1">
                  <a:solidFill>
                    <a:srgbClr val="404040"/>
                  </a:solidFill>
                  <a:latin typeface="Trebuchet MS" panose="020B0603020202020204" pitchFamily="34" charset="0"/>
                </a:rPr>
                <a:t>estabelecidas. </a:t>
              </a:r>
              <a:endParaRPr lang="en-US" noProof="1">
                <a:solidFill>
                  <a:srgbClr val="404040"/>
                </a:solidFill>
                <a:latin typeface="Trebuchet MS" panose="020B0603020202020204" pitchFamily="34" charset="0"/>
              </a:endParaRPr>
            </a:p>
          </p:txBody>
        </p:sp>
        <p:sp>
          <p:nvSpPr>
            <p:cNvPr id="12" name="Abgerundetes Rechteck 57"/>
            <p:cNvSpPr/>
            <p:nvPr/>
          </p:nvSpPr>
          <p:spPr bwMode="gray">
            <a:xfrm>
              <a:off x="511644" y="4149080"/>
              <a:ext cx="1008000" cy="1800200"/>
            </a:xfrm>
            <a:prstGeom prst="roundRect">
              <a:avLst>
                <a:gd name="adj" fmla="val 9083"/>
              </a:avLst>
            </a:prstGeom>
            <a:solidFill>
              <a:srgbClr val="7030A0"/>
            </a:solidFill>
            <a:ln w="12700">
              <a:noFill/>
              <a:round/>
              <a:headEnd/>
              <a:tailEnd/>
            </a:ln>
            <a:scene3d>
              <a:camera prst="perspectiveRelaxed" fov="3600000">
                <a:rot lat="300000" lon="19499988" rev="0"/>
              </a:camera>
              <a:lightRig rig="threePt" dir="t"/>
            </a:scene3d>
            <a:sp3d extrusionH="787400">
              <a:bevelT w="63500" h="63500"/>
              <a:bevelB w="63500" h="63500"/>
            </a:sp3d>
          </p:spPr>
          <p:txBody>
            <a:bodyPr rtlCol="0" anchor="ctr"/>
            <a:lstStyle/>
            <a:p>
              <a:pPr algn="ctr"/>
              <a:r>
                <a:rPr lang="en-US" b="1" dirty="0">
                  <a:solidFill>
                    <a:schemeClr val="bg1"/>
                  </a:solidFill>
                  <a:effectLst>
                    <a:innerShdw blurRad="63500" dist="50800" dir="18900000">
                      <a:prstClr val="black">
                        <a:alpha val="50000"/>
                      </a:prstClr>
                    </a:innerShdw>
                  </a:effectLst>
                </a:rPr>
                <a:t>GEROT</a:t>
              </a:r>
            </a:p>
          </p:txBody>
        </p:sp>
      </p:grpSp>
      <p:sp>
        <p:nvSpPr>
          <p:cNvPr id="13" name="Lágrima 12"/>
          <p:cNvSpPr/>
          <p:nvPr/>
        </p:nvSpPr>
        <p:spPr>
          <a:xfrm>
            <a:off x="8338364" y="3573719"/>
            <a:ext cx="1332000" cy="1332000"/>
          </a:xfrm>
          <a:prstGeom prst="teardrop">
            <a:avLst/>
          </a:prstGeom>
          <a:blipFill>
            <a:blip r:embed="rId3"/>
            <a:srcRect/>
            <a:stretch>
              <a:fillRect l="-2714" t="-3441" r="-21624" b="-15491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4" name="Retângulo 13"/>
          <p:cNvSpPr/>
          <p:nvPr/>
        </p:nvSpPr>
        <p:spPr>
          <a:xfrm>
            <a:off x="658426" y="3573719"/>
            <a:ext cx="7474198" cy="304698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r>
              <a:rPr lang="pt-BR" b="1" dirty="0">
                <a:latin typeface="Trebuchet MS" panose="020B0603020202020204" pitchFamily="34" charset="0"/>
              </a:rPr>
              <a:t>GEROT – Rituais de Gestão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500" b="1" dirty="0"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500" b="1" dirty="0">
                <a:latin typeface="Trebuchet MS" panose="020B0603020202020204" pitchFamily="34" charset="0"/>
              </a:rPr>
              <a:t>1 reunião </a:t>
            </a:r>
            <a:r>
              <a:rPr lang="pt-BR" b="1" dirty="0">
                <a:latin typeface="Trebuchet MS" panose="020B0603020202020204" pitchFamily="34" charset="0"/>
              </a:rPr>
              <a:t>DIÁRIA</a:t>
            </a:r>
            <a:r>
              <a:rPr lang="pt-BR" sz="1500" b="1" dirty="0">
                <a:latin typeface="Trebuchet MS" panose="020B0603020202020204" pitchFamily="34" charset="0"/>
              </a:rPr>
              <a:t> para demonstrar os indicadores e ações rápidas de contorno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para manutenção da operação cotidiana (máx. 30 min, idealmente </a:t>
            </a:r>
            <a:r>
              <a:rPr lang="pt-BR" sz="15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stand-</a:t>
            </a:r>
            <a:r>
              <a:rPr lang="pt-BR" sz="1500" i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up</a:t>
            </a:r>
            <a:r>
              <a:rPr lang="pt-BR" sz="1500" i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meeting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).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5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500" b="1" dirty="0">
                <a:latin typeface="Trebuchet MS" panose="020B0603020202020204" pitchFamily="34" charset="0"/>
              </a:rPr>
              <a:t>1 reunião </a:t>
            </a:r>
            <a:r>
              <a:rPr lang="pt-BR" b="1" dirty="0">
                <a:latin typeface="Trebuchet MS" panose="020B0603020202020204" pitchFamily="34" charset="0"/>
              </a:rPr>
              <a:t>SEMANAL</a:t>
            </a:r>
            <a:r>
              <a:rPr lang="pt-BR" sz="1500" b="1" dirty="0">
                <a:latin typeface="Trebuchet MS" panose="020B0603020202020204" pitchFamily="34" charset="0"/>
              </a:rPr>
              <a:t> para alinhamento operacional 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entre as Equipes de TI envolvidas (pode incluir Fornecedores) </a:t>
            </a:r>
            <a:r>
              <a:rPr lang="pt-BR" sz="1500" b="1" dirty="0">
                <a:latin typeface="Trebuchet MS" panose="020B0603020202020204" pitchFamily="34" charset="0"/>
              </a:rPr>
              <a:t>para criação/atualização de Planos de Ação para os indicadores abaixo da meta 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 para indisponibilidade dos serviços.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5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500" b="1" dirty="0">
                <a:latin typeface="Trebuchet MS" panose="020B0603020202020204" pitchFamily="34" charset="0"/>
              </a:rPr>
              <a:t>1 reunião </a:t>
            </a:r>
            <a:r>
              <a:rPr lang="pt-BR" b="1" dirty="0">
                <a:latin typeface="Trebuchet MS" panose="020B0603020202020204" pitchFamily="34" charset="0"/>
              </a:rPr>
              <a:t>MENSAL</a:t>
            </a:r>
            <a:r>
              <a:rPr lang="pt-BR" sz="1500" b="1" dirty="0">
                <a:latin typeface="Trebuchet MS" panose="020B0603020202020204" pitchFamily="34" charset="0"/>
              </a:rPr>
              <a:t> para apresentação executiva dos resultados do mês </a:t>
            </a:r>
            <a:r>
              <a:rPr lang="pt-BR" sz="15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(metas vs. realizado) necessidades da Empresa/Negócio. </a:t>
            </a:r>
          </a:p>
        </p:txBody>
      </p:sp>
    </p:spTree>
    <p:extLst>
      <p:ext uri="{BB962C8B-B14F-4D97-AF65-F5344CB8AC3E}">
        <p14:creationId xmlns:p14="http://schemas.microsoft.com/office/powerpoint/2010/main" val="2385403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da GEROT</a:t>
            </a:r>
          </a:p>
        </p:txBody>
      </p:sp>
      <p:sp>
        <p:nvSpPr>
          <p:cNvPr id="16" name="Retângulo 15"/>
          <p:cNvSpPr/>
          <p:nvPr/>
        </p:nvSpPr>
        <p:spPr>
          <a:xfrm>
            <a:off x="571366" y="1518552"/>
            <a:ext cx="7441064" cy="4262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Premissas de Implantação</a:t>
            </a:r>
          </a:p>
          <a:p>
            <a:endParaRPr lang="pt-BR" sz="2800" b="1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Ter sempre </a:t>
            </a:r>
            <a:r>
              <a:rPr lang="pt-B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foco na Meta 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- Saber priorizar as ações.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Procedimentos devem ser </a:t>
            </a:r>
            <a:r>
              <a:rPr lang="pt-B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simples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efetivos e padronizados.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Identificar e </a:t>
            </a:r>
            <a:r>
              <a:rPr lang="pt-B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eliminar rapidamente os desvios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Muita </a:t>
            </a:r>
            <a:r>
              <a:rPr lang="pt-BR" sz="20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disciplina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 para o correto uso e manutenção dos Planos de Ação.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Buscar sempre ações corretivas e também preventivas.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Conhecer e utilizar adequadamente as Ferramentas de suporte ao GEROT (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Dashboards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</a:t>
            </a:r>
            <a:r>
              <a:rPr lang="pt-BR" sz="2000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Kanbans</a:t>
            </a:r>
            <a:r>
              <a:rPr lang="pt-BR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Trebuchet MS" panose="020B0603020202020204" pitchFamily="34" charset="0"/>
              </a:rPr>
              <a:t>, JIRA).</a:t>
            </a:r>
            <a:endParaRPr lang="pt-BR" sz="2400" dirty="0">
              <a:solidFill>
                <a:schemeClr val="tx1">
                  <a:lumMod val="65000"/>
                  <a:lumOff val="35000"/>
                </a:schemeClr>
              </a:solidFill>
              <a:latin typeface="Trebuchet MS" panose="020B0603020202020204" pitchFamily="34" charset="0"/>
            </a:endParaRPr>
          </a:p>
        </p:txBody>
      </p:sp>
      <p:sp>
        <p:nvSpPr>
          <p:cNvPr id="17" name="Lágrima 16"/>
          <p:cNvSpPr/>
          <p:nvPr/>
        </p:nvSpPr>
        <p:spPr>
          <a:xfrm>
            <a:off x="7789119" y="1004862"/>
            <a:ext cx="1770161" cy="1726907"/>
          </a:xfrm>
          <a:prstGeom prst="teardrop">
            <a:avLst/>
          </a:prstGeom>
          <a:blipFill>
            <a:blip r:embed="rId3"/>
            <a:srcRect/>
            <a:stretch>
              <a:fillRect l="-8120" t="-8847" r="-5406" b="727"/>
            </a:stretch>
          </a:blip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2753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da GEROT</a:t>
            </a:r>
          </a:p>
        </p:txBody>
      </p:sp>
      <p:sp>
        <p:nvSpPr>
          <p:cNvPr id="8" name="Retângulo 7"/>
          <p:cNvSpPr/>
          <p:nvPr/>
        </p:nvSpPr>
        <p:spPr>
          <a:xfrm>
            <a:off x="430725" y="2171229"/>
            <a:ext cx="4289865" cy="3635507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72000" lvl="1">
              <a:lnSpc>
                <a:spcPts val="2100"/>
              </a:lnSpc>
            </a:pP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11" name="Picture 2" descr="http://www.atsconline.com/images/icon-employee.png"/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032"/>
          <a:stretch/>
        </p:blipFill>
        <p:spPr bwMode="auto">
          <a:xfrm>
            <a:off x="575829" y="2514259"/>
            <a:ext cx="845458" cy="76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tângulo de cantos arredondados 14"/>
          <p:cNvSpPr/>
          <p:nvPr/>
        </p:nvSpPr>
        <p:spPr>
          <a:xfrm>
            <a:off x="430726" y="1548567"/>
            <a:ext cx="4289864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Papéis e Responsabilidades</a:t>
            </a:r>
          </a:p>
        </p:txBody>
      </p:sp>
      <p:pic>
        <p:nvPicPr>
          <p:cNvPr id="13" name="Picture 2" descr="http://www.atsconline.com/images/icon-employee.png"/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032"/>
          <a:stretch/>
        </p:blipFill>
        <p:spPr bwMode="auto">
          <a:xfrm>
            <a:off x="575829" y="3676170"/>
            <a:ext cx="845458" cy="76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2" descr="http://www.atsconline.com/images/icon-employee.png"/>
          <p:cNvPicPr>
            <a:picLocks noChangeAspect="1" noChangeArrowheads="1"/>
          </p:cNvPicPr>
          <p:nvPr/>
        </p:nvPicPr>
        <p:blipFill rotWithShape="1"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24032"/>
          <a:stretch/>
        </p:blipFill>
        <p:spPr bwMode="auto">
          <a:xfrm>
            <a:off x="575829" y="4738930"/>
            <a:ext cx="845458" cy="768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CaixaDeTexto 17"/>
          <p:cNvSpPr txBox="1"/>
          <p:nvPr/>
        </p:nvSpPr>
        <p:spPr>
          <a:xfrm>
            <a:off x="1494292" y="2375352"/>
            <a:ext cx="322629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Facilitador da GEROT</a:t>
            </a:r>
            <a:endParaRPr lang="pt-BR" sz="1400" dirty="0"/>
          </a:p>
          <a:p>
            <a:r>
              <a:rPr lang="pt-BR" sz="1200" dirty="0"/>
              <a:t>Organizar as agendas, conduzir as reuniões, elaborar as atas, acompanhar e verificar as ações combinadas em reunião e zelar pelo atingimento da meta.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1494292" y="3537263"/>
            <a:ext cx="3226298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Coordenador de Operações de TI</a:t>
            </a:r>
          </a:p>
          <a:p>
            <a:r>
              <a:rPr lang="pt-BR" sz="1200" dirty="0"/>
              <a:t>Ser o principal responsável pelo resultado da GEROT, garantir a realização das reuniões e das metas acordadas, priorizar chamados e acompanhar a equipe visando os resultados.</a:t>
            </a:r>
            <a:endParaRPr lang="pt-BR" sz="1400" dirty="0"/>
          </a:p>
        </p:txBody>
      </p:sp>
      <p:sp>
        <p:nvSpPr>
          <p:cNvPr id="21" name="CaixaDeTexto 20"/>
          <p:cNvSpPr txBox="1"/>
          <p:nvPr/>
        </p:nvSpPr>
        <p:spPr>
          <a:xfrm>
            <a:off x="1494293" y="4784689"/>
            <a:ext cx="3226298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/>
              <a:t>Analistas de Operações de TI</a:t>
            </a:r>
          </a:p>
          <a:p>
            <a:r>
              <a:rPr lang="pt-BR" sz="1200" dirty="0"/>
              <a:t>Comparecer às reuniões, propor soluções para os chamados antigos e atuar sobre os chamados em </a:t>
            </a:r>
            <a:r>
              <a:rPr lang="pt-BR" sz="1200" dirty="0" err="1"/>
              <a:t>Backlog</a:t>
            </a:r>
            <a:r>
              <a:rPr lang="pt-BR" sz="1200" dirty="0"/>
              <a:t>.</a:t>
            </a:r>
            <a:endParaRPr lang="pt-BR" sz="1400" dirty="0"/>
          </a:p>
        </p:txBody>
      </p:sp>
      <p:sp>
        <p:nvSpPr>
          <p:cNvPr id="22" name="Retângulo 21"/>
          <p:cNvSpPr/>
          <p:nvPr/>
        </p:nvSpPr>
        <p:spPr>
          <a:xfrm>
            <a:off x="5256378" y="2169614"/>
            <a:ext cx="4289865" cy="3637122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tint val="66000"/>
                  <a:satMod val="160000"/>
                </a:schemeClr>
              </a:gs>
              <a:gs pos="50000">
                <a:schemeClr val="bg1">
                  <a:lumMod val="75000"/>
                  <a:tint val="44500"/>
                  <a:satMod val="160000"/>
                </a:schemeClr>
              </a:gs>
              <a:gs pos="100000">
                <a:schemeClr val="bg1">
                  <a:lumMod val="75000"/>
                  <a:tint val="23500"/>
                  <a:satMod val="160000"/>
                </a:scheme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972000" lvl="1">
              <a:lnSpc>
                <a:spcPts val="2100"/>
              </a:lnSpc>
            </a:pPr>
            <a:endParaRPr lang="pt-BR" sz="16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3" name="Retângulo de cantos arredondados 14"/>
          <p:cNvSpPr/>
          <p:nvPr/>
        </p:nvSpPr>
        <p:spPr>
          <a:xfrm>
            <a:off x="5256378" y="1546951"/>
            <a:ext cx="4289865" cy="624278"/>
          </a:xfrm>
          <a:prstGeom prst="roundRect">
            <a:avLst>
              <a:gd name="adj" fmla="val 0"/>
            </a:avLst>
          </a:prstGeom>
          <a:gradFill flip="none" rotWithShape="1">
            <a:gsLst>
              <a:gs pos="0">
                <a:srgbClr val="7030A0">
                  <a:shade val="30000"/>
                  <a:satMod val="115000"/>
                </a:srgbClr>
              </a:gs>
              <a:gs pos="50000">
                <a:srgbClr val="7030A0">
                  <a:shade val="67500"/>
                  <a:satMod val="115000"/>
                </a:srgbClr>
              </a:gs>
              <a:gs pos="100000">
                <a:srgbClr val="7030A0">
                  <a:shade val="100000"/>
                  <a:satMod val="115000"/>
                </a:srgbClr>
              </a:gs>
            </a:gsLst>
            <a:lin ang="5400000" scaled="1"/>
            <a:tileRect/>
          </a:gradFill>
          <a:ln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Dinâmica</a:t>
            </a:r>
          </a:p>
        </p:txBody>
      </p:sp>
      <p:sp>
        <p:nvSpPr>
          <p:cNvPr id="24" name="CaixaDeTexto 23"/>
          <p:cNvSpPr txBox="1"/>
          <p:nvPr/>
        </p:nvSpPr>
        <p:spPr>
          <a:xfrm>
            <a:off x="5464312" y="2270671"/>
            <a:ext cx="3873998" cy="47551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pt-BR" sz="1400" b="1" dirty="0"/>
              <a:t>Facilitador da GEROT</a:t>
            </a:r>
          </a:p>
          <a:p>
            <a:pPr lvl="1"/>
            <a:r>
              <a:rPr lang="pt-BR" sz="1400" b="1" dirty="0"/>
              <a:t>Durante a reunião serão apresentados os </a:t>
            </a:r>
            <a:r>
              <a:rPr lang="pt-BR" sz="1400" b="1" dirty="0" err="1"/>
              <a:t>KPI’s</a:t>
            </a:r>
            <a:r>
              <a:rPr lang="pt-BR" sz="1400" b="1" dirty="0"/>
              <a:t> gerados com a ordem de importância:</a:t>
            </a:r>
          </a:p>
          <a:p>
            <a:pPr marL="1257300" lvl="2" indent="-342900">
              <a:buFont typeface="+mj-lt"/>
              <a:buAutoNum type="arabicPeriod"/>
            </a:pPr>
            <a:r>
              <a:rPr lang="pt-BR" sz="1300" b="1" dirty="0" err="1"/>
              <a:t>Aging</a:t>
            </a:r>
            <a:r>
              <a:rPr lang="pt-BR" sz="1300" dirty="0"/>
              <a:t> (Verificação dos itens mais antigos para o mais novos)</a:t>
            </a:r>
          </a:p>
          <a:p>
            <a:pPr marL="1257300" lvl="2" indent="-342900">
              <a:buFont typeface="+mj-lt"/>
              <a:buAutoNum type="arabicPeriod"/>
            </a:pPr>
            <a:r>
              <a:rPr lang="pt-BR" sz="1300" b="1" dirty="0"/>
              <a:t>SLA</a:t>
            </a:r>
            <a:r>
              <a:rPr lang="pt-BR" sz="1300" dirty="0"/>
              <a:t> (Análise dos itens com SLA violado por </a:t>
            </a:r>
            <a:r>
              <a:rPr lang="pt-BR" sz="1300" dirty="0" err="1"/>
              <a:t>Aging</a:t>
            </a:r>
            <a:r>
              <a:rPr lang="pt-BR" sz="1300" dirty="0"/>
              <a:t>) </a:t>
            </a:r>
          </a:p>
          <a:p>
            <a:pPr marL="1257300" lvl="2" indent="-342900">
              <a:buFont typeface="+mj-lt"/>
              <a:buAutoNum type="arabicPeriod"/>
            </a:pPr>
            <a:r>
              <a:rPr lang="pt-BR" sz="1300" b="1" dirty="0"/>
              <a:t>Status</a:t>
            </a:r>
            <a:r>
              <a:rPr lang="pt-BR" sz="1300" dirty="0"/>
              <a:t> (Priorizados na ordem </a:t>
            </a:r>
            <a:r>
              <a:rPr lang="pt-BR" sz="1300" i="1" dirty="0"/>
              <a:t>Pendente</a:t>
            </a:r>
            <a:r>
              <a:rPr lang="pt-BR" sz="1300" dirty="0"/>
              <a:t>, </a:t>
            </a:r>
            <a:r>
              <a:rPr lang="pt-BR" sz="1300" i="1" dirty="0"/>
              <a:t>em atendimento</a:t>
            </a:r>
            <a:r>
              <a:rPr lang="pt-BR" sz="1300" dirty="0"/>
              <a:t> e </a:t>
            </a:r>
            <a:r>
              <a:rPr lang="pt-BR" sz="1300" i="1" dirty="0"/>
              <a:t>aberto</a:t>
            </a:r>
            <a:r>
              <a:rPr lang="pt-BR" sz="1300" dirty="0"/>
              <a:t>)</a:t>
            </a:r>
          </a:p>
          <a:p>
            <a:pPr marL="1257300" lvl="2" indent="-342900">
              <a:buFont typeface="+mj-lt"/>
              <a:buAutoNum type="arabicPeriod"/>
            </a:pPr>
            <a:r>
              <a:rPr lang="pt-BR" sz="1300" b="1" dirty="0"/>
              <a:t>Classificação</a:t>
            </a:r>
            <a:r>
              <a:rPr lang="pt-BR" sz="1300" dirty="0"/>
              <a:t> (Volume por “sintoma”)</a:t>
            </a:r>
          </a:p>
          <a:p>
            <a:pPr marL="1257300" lvl="2" indent="-342900">
              <a:buFont typeface="+mj-lt"/>
              <a:buAutoNum type="arabicPeriod"/>
            </a:pPr>
            <a:r>
              <a:rPr lang="pt-BR" sz="1300" b="1" dirty="0"/>
              <a:t>Criticidade</a:t>
            </a:r>
            <a:r>
              <a:rPr lang="pt-BR" sz="1300" dirty="0"/>
              <a:t> (Priorizado do item mais crítico para o menos crítico)</a:t>
            </a:r>
          </a:p>
          <a:p>
            <a:pPr marL="1257300" lvl="2" indent="-342900">
              <a:buFont typeface="+mj-lt"/>
              <a:buAutoNum type="arabicPeriod"/>
            </a:pPr>
            <a:r>
              <a:rPr lang="pt-BR" sz="1300" b="1" dirty="0"/>
              <a:t>Tipo</a:t>
            </a:r>
            <a:r>
              <a:rPr lang="pt-BR" sz="1300" dirty="0"/>
              <a:t> (por incidente e depois requisição)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sz="1300" dirty="0"/>
              <a:t>Coordenador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pt-BR" sz="1300" dirty="0"/>
              <a:t>Com os indicadores apresentados indica quais chamados/sintomas devem ser atacados/resolvidos.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pt-BR" sz="1300" dirty="0"/>
              <a:t>Analistas</a:t>
            </a:r>
          </a:p>
          <a:p>
            <a:pPr marL="800100" lvl="1" indent="-342900">
              <a:buFont typeface="Wingdings" panose="05000000000000000000" pitchFamily="2" charset="2"/>
              <a:buChar char="q"/>
            </a:pPr>
            <a:r>
              <a:rPr lang="pt-BR" sz="1300" dirty="0"/>
              <a:t>Executam as tarefas propostas </a:t>
            </a:r>
            <a:r>
              <a:rPr lang="pt-BR" sz="1300"/>
              <a:t>em reunião.</a:t>
            </a:r>
            <a:endParaRPr lang="pt-BR" sz="1300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30666549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/>
          <p:cNvGrpSpPr/>
          <p:nvPr/>
        </p:nvGrpSpPr>
        <p:grpSpPr>
          <a:xfrm>
            <a:off x="430722" y="1176818"/>
            <a:ext cx="9204768" cy="5453524"/>
            <a:chOff x="430722" y="1176818"/>
            <a:chExt cx="9204768" cy="5453524"/>
          </a:xfrm>
        </p:grpSpPr>
        <p:sp>
          <p:nvSpPr>
            <p:cNvPr id="8" name="Retângulo 7"/>
            <p:cNvSpPr/>
            <p:nvPr/>
          </p:nvSpPr>
          <p:spPr>
            <a:xfrm>
              <a:off x="1733745" y="1176819"/>
              <a:ext cx="7901745" cy="181784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2" name="Retângulo de cantos arredondados 14"/>
            <p:cNvSpPr/>
            <p:nvPr/>
          </p:nvSpPr>
          <p:spPr>
            <a:xfrm>
              <a:off x="430726" y="1176818"/>
              <a:ext cx="1303019" cy="1817841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Facilitador GEROT</a:t>
              </a: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1733743" y="2994660"/>
              <a:ext cx="7901745" cy="181784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6" name="Retângulo 15"/>
            <p:cNvSpPr/>
            <p:nvPr/>
          </p:nvSpPr>
          <p:spPr>
            <a:xfrm>
              <a:off x="1733744" y="4812501"/>
              <a:ext cx="7901745" cy="1817841"/>
            </a:xfrm>
            <a:prstGeom prst="rect">
              <a:avLst/>
            </a:prstGeom>
            <a:gradFill flip="none" rotWithShape="1">
              <a:gsLst>
                <a:gs pos="0">
                  <a:schemeClr val="bg1">
                    <a:lumMod val="75000"/>
                    <a:tint val="66000"/>
                    <a:satMod val="160000"/>
                  </a:schemeClr>
                </a:gs>
                <a:gs pos="50000">
                  <a:schemeClr val="bg1">
                    <a:lumMod val="75000"/>
                    <a:tint val="44500"/>
                    <a:satMod val="160000"/>
                  </a:schemeClr>
                </a:gs>
                <a:gs pos="100000">
                  <a:schemeClr val="bg1">
                    <a:lumMod val="75000"/>
                    <a:tint val="23500"/>
                    <a:satMod val="160000"/>
                  </a:scheme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972000" lvl="1">
                <a:lnSpc>
                  <a:spcPts val="2100"/>
                </a:lnSpc>
              </a:pPr>
              <a:endParaRPr lang="pt-BR" sz="1400" b="1" dirty="0">
                <a:solidFill>
                  <a:schemeClr val="tx1">
                    <a:lumMod val="95000"/>
                    <a:lumOff val="5000"/>
                  </a:schemeClr>
                </a:solidFill>
              </a:endParaRPr>
            </a:p>
          </p:txBody>
        </p:sp>
        <p:sp>
          <p:nvSpPr>
            <p:cNvPr id="17" name="Retângulo de cantos arredondados 14"/>
            <p:cNvSpPr/>
            <p:nvPr/>
          </p:nvSpPr>
          <p:spPr>
            <a:xfrm>
              <a:off x="430722" y="2994660"/>
              <a:ext cx="1303019" cy="1817841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Coordenador Operações de TI</a:t>
              </a:r>
            </a:p>
          </p:txBody>
        </p:sp>
        <p:sp>
          <p:nvSpPr>
            <p:cNvPr id="20" name="Retângulo de cantos arredondados 14"/>
            <p:cNvSpPr/>
            <p:nvPr/>
          </p:nvSpPr>
          <p:spPr>
            <a:xfrm>
              <a:off x="430726" y="4812500"/>
              <a:ext cx="1303019" cy="1817841"/>
            </a:xfrm>
            <a:prstGeom prst="roundRect">
              <a:avLst>
                <a:gd name="adj" fmla="val 0"/>
              </a:avLst>
            </a:prstGeom>
            <a:gradFill flip="none" rotWithShape="1">
              <a:gsLst>
                <a:gs pos="0">
                  <a:srgbClr val="7030A0">
                    <a:shade val="30000"/>
                    <a:satMod val="115000"/>
                  </a:srgbClr>
                </a:gs>
                <a:gs pos="50000">
                  <a:srgbClr val="7030A0">
                    <a:shade val="67500"/>
                    <a:satMod val="115000"/>
                  </a:srgbClr>
                </a:gs>
                <a:gs pos="100000">
                  <a:srgbClr val="7030A0">
                    <a:shade val="100000"/>
                    <a:satMod val="115000"/>
                  </a:srgbClr>
                </a:gs>
              </a:gsLst>
              <a:lin ang="5400000" scaled="1"/>
              <a:tileRect/>
            </a:gradFill>
            <a:ln>
              <a:noFill/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b="1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Analistas de Operações de TI</a:t>
              </a:r>
            </a:p>
          </p:txBody>
        </p:sp>
      </p:grpSp>
      <p:sp>
        <p:nvSpPr>
          <p:cNvPr id="29" name="Retângulo: Cantos Arredondados 28"/>
          <p:cNvSpPr/>
          <p:nvPr/>
        </p:nvSpPr>
        <p:spPr>
          <a:xfrm>
            <a:off x="4956516" y="1780276"/>
            <a:ext cx="1634389" cy="4643384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marL="972000" lvl="1">
              <a:lnSpc>
                <a:spcPts val="2100"/>
              </a:lnSpc>
            </a:pPr>
            <a:endParaRPr lang="pt-BR" sz="14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da GEROT</a:t>
            </a:r>
          </a:p>
        </p:txBody>
      </p:sp>
      <p:sp>
        <p:nvSpPr>
          <p:cNvPr id="4" name="Retângulo 3"/>
          <p:cNvSpPr/>
          <p:nvPr/>
        </p:nvSpPr>
        <p:spPr>
          <a:xfrm>
            <a:off x="2160270" y="21878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Convoca reunião diária 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5287935" y="21878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Inicia Reunião GEROT</a:t>
            </a:r>
          </a:p>
        </p:txBody>
      </p:sp>
      <p:sp>
        <p:nvSpPr>
          <p:cNvPr id="23" name="Retângulo 22"/>
          <p:cNvSpPr/>
          <p:nvPr/>
        </p:nvSpPr>
        <p:spPr>
          <a:xfrm>
            <a:off x="5287935" y="3748958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Prioriza chamados</a:t>
            </a:r>
          </a:p>
        </p:txBody>
      </p:sp>
      <p:sp>
        <p:nvSpPr>
          <p:cNvPr id="24" name="Retângulo 23"/>
          <p:cNvSpPr/>
          <p:nvPr/>
        </p:nvSpPr>
        <p:spPr>
          <a:xfrm>
            <a:off x="5287935" y="5310030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Propõe Soluções / Atuação</a:t>
            </a:r>
          </a:p>
        </p:txBody>
      </p:sp>
      <p:sp>
        <p:nvSpPr>
          <p:cNvPr id="25" name="Retângulo 24"/>
          <p:cNvSpPr/>
          <p:nvPr/>
        </p:nvSpPr>
        <p:spPr>
          <a:xfrm>
            <a:off x="3713428" y="21878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Prepara Reunião (base e </a:t>
            </a:r>
            <a:r>
              <a:rPr lang="pt-BR" sz="1200" dirty="0" err="1"/>
              <a:t>KPIs</a:t>
            </a:r>
            <a:r>
              <a:rPr lang="pt-BR" sz="1200" dirty="0"/>
              <a:t>)</a:t>
            </a:r>
          </a:p>
        </p:txBody>
      </p:sp>
      <p:sp>
        <p:nvSpPr>
          <p:cNvPr id="26" name="Retângulo 25"/>
          <p:cNvSpPr/>
          <p:nvPr/>
        </p:nvSpPr>
        <p:spPr>
          <a:xfrm>
            <a:off x="6819744" y="21878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Elabora e Divulga Ata da Reunião</a:t>
            </a:r>
          </a:p>
        </p:txBody>
      </p:sp>
      <p:grpSp>
        <p:nvGrpSpPr>
          <p:cNvPr id="10" name="Agrupar 9"/>
          <p:cNvGrpSpPr/>
          <p:nvPr/>
        </p:nvGrpSpPr>
        <p:grpSpPr>
          <a:xfrm>
            <a:off x="3667544" y="2835608"/>
            <a:ext cx="1058303" cy="789623"/>
            <a:chOff x="3153809" y="1198472"/>
            <a:chExt cx="1058303" cy="789623"/>
          </a:xfrm>
        </p:grpSpPr>
        <p:pic>
          <p:nvPicPr>
            <p:cNvPr id="2050" name="Picture 2" descr="http://downloadicons.net/sites/default/files/round--clock-icon-86811.png"/>
            <p:cNvPicPr>
              <a:picLocks noChangeAspect="1" noChangeArrowheads="1"/>
            </p:cNvPicPr>
            <p:nvPr/>
          </p:nvPicPr>
          <p:blipFill>
            <a:blip r:embed="rId3">
              <a:duotone>
                <a:schemeClr val="accent4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01021" y="1198472"/>
              <a:ext cx="563880" cy="5638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Retângulo 4"/>
            <p:cNvSpPr/>
            <p:nvPr/>
          </p:nvSpPr>
          <p:spPr>
            <a:xfrm>
              <a:off x="3153809" y="1711096"/>
              <a:ext cx="1058303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pt-BR" sz="1200" b="1" dirty="0">
                  <a:solidFill>
                    <a:srgbClr val="7030A0"/>
                  </a:solidFill>
                  <a:latin typeface="Trebuchet MS" panose="020B0603020202020204" pitchFamily="34" charset="0"/>
                </a:rPr>
                <a:t>Diariamente</a:t>
              </a:r>
              <a:endParaRPr lang="pt-BR" dirty="0">
                <a:solidFill>
                  <a:srgbClr val="7030A0"/>
                </a:solidFill>
              </a:endParaRPr>
            </a:p>
          </p:txBody>
        </p:sp>
      </p:grpSp>
      <p:sp>
        <p:nvSpPr>
          <p:cNvPr id="30" name="Retângulo 29"/>
          <p:cNvSpPr/>
          <p:nvPr/>
        </p:nvSpPr>
        <p:spPr>
          <a:xfrm>
            <a:off x="5084258" y="1831958"/>
            <a:ext cx="137890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200" b="1" dirty="0">
                <a:solidFill>
                  <a:srgbClr val="7030A0"/>
                </a:solidFill>
                <a:latin typeface="Trebuchet MS" panose="020B0603020202020204" pitchFamily="34" charset="0"/>
              </a:rPr>
              <a:t>Dinâmica GEROT</a:t>
            </a:r>
            <a:endParaRPr lang="pt-BR" dirty="0">
              <a:solidFill>
                <a:srgbClr val="7030A0"/>
              </a:solidFill>
            </a:endParaRPr>
          </a:p>
        </p:txBody>
      </p:sp>
      <p:sp>
        <p:nvSpPr>
          <p:cNvPr id="31" name="Retângulo 30"/>
          <p:cNvSpPr/>
          <p:nvPr/>
        </p:nvSpPr>
        <p:spPr>
          <a:xfrm>
            <a:off x="8372900" y="2187886"/>
            <a:ext cx="971550" cy="6057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/>
              <a:t>Acompanha Ações propostas</a:t>
            </a:r>
          </a:p>
        </p:txBody>
      </p:sp>
      <p:cxnSp>
        <p:nvCxnSpPr>
          <p:cNvPr id="28" name="Conector de Seta Reta 27"/>
          <p:cNvCxnSpPr>
            <a:stCxn id="4" idx="3"/>
            <a:endCxn id="25" idx="1"/>
          </p:cNvCxnSpPr>
          <p:nvPr/>
        </p:nvCxnSpPr>
        <p:spPr>
          <a:xfrm>
            <a:off x="3131820" y="2490781"/>
            <a:ext cx="581608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/>
          <p:cNvCxnSpPr>
            <a:stCxn id="25" idx="3"/>
          </p:cNvCxnSpPr>
          <p:nvPr/>
        </p:nvCxnSpPr>
        <p:spPr>
          <a:xfrm>
            <a:off x="4684978" y="2490781"/>
            <a:ext cx="271538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ector de Seta Reta 36"/>
          <p:cNvCxnSpPr>
            <a:stCxn id="26" idx="3"/>
            <a:endCxn id="31" idx="1"/>
          </p:cNvCxnSpPr>
          <p:nvPr/>
        </p:nvCxnSpPr>
        <p:spPr>
          <a:xfrm>
            <a:off x="7791294" y="2490781"/>
            <a:ext cx="5816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>
            <a:endCxn id="26" idx="1"/>
          </p:cNvCxnSpPr>
          <p:nvPr/>
        </p:nvCxnSpPr>
        <p:spPr>
          <a:xfrm>
            <a:off x="6590905" y="2490781"/>
            <a:ext cx="228839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/>
          <p:cNvCxnSpPr>
            <a:stCxn id="31" idx="0"/>
            <a:endCxn id="25" idx="0"/>
          </p:cNvCxnSpPr>
          <p:nvPr/>
        </p:nvCxnSpPr>
        <p:spPr>
          <a:xfrm rot="16200000" flipV="1">
            <a:off x="6528939" y="-141850"/>
            <a:ext cx="12700" cy="4659472"/>
          </a:xfrm>
          <a:prstGeom prst="bentConnector3">
            <a:avLst>
              <a:gd name="adj1" fmla="val 4792213"/>
            </a:avLst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98449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6984</TotalTime>
  <Words>815</Words>
  <Application>Microsoft Office PowerPoint</Application>
  <PresentationFormat>Personalizar</PresentationFormat>
  <Paragraphs>170</Paragraphs>
  <Slides>11</Slides>
  <Notes>0</Notes>
  <HiddenSlides>1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Gotham Rounded Book</vt:lpstr>
      <vt:lpstr>Segoe UI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Jorge Filho</dc:creator>
  <cp:lastModifiedBy>Andre Santos</cp:lastModifiedBy>
  <cp:revision>45</cp:revision>
  <dcterms:created xsi:type="dcterms:W3CDTF">2014-01-24T21:35:00Z</dcterms:created>
  <dcterms:modified xsi:type="dcterms:W3CDTF">2016-10-14T21:57:11Z</dcterms:modified>
</cp:coreProperties>
</file>