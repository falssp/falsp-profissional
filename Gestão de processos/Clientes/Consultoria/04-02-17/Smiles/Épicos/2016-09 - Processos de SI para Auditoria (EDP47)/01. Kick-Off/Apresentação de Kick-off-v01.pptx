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39" r:id="rId3"/>
    <p:sldId id="340" r:id="rId4"/>
    <p:sldId id="345" r:id="rId5"/>
    <p:sldId id="346" r:id="rId6"/>
    <p:sldId id="343" r:id="rId7"/>
    <p:sldId id="344" r:id="rId8"/>
    <p:sldId id="347" r:id="rId9"/>
    <p:sldId id="348" r:id="rId10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58" y="4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A7F7C8-D24C-4B7F-878A-2BA8E51A4FAE}" type="doc">
      <dgm:prSet loTypeId="urn:microsoft.com/office/officeart/2005/8/layout/hProcess9" loCatId="process" qsTypeId="urn:microsoft.com/office/officeart/2005/8/quickstyle/3d1" qsCatId="3D" csTypeId="urn:microsoft.com/office/officeart/2005/8/colors/accent6_3" csCatId="accent6" phldr="1"/>
      <dgm:spPr/>
    </dgm:pt>
    <dgm:pt modelId="{CA5B2AE2-C141-495D-9956-F696EFFAB54E}">
      <dgm:prSet phldrT="[Texto]" custT="1"/>
      <dgm:spPr/>
      <dgm:t>
        <a:bodyPr/>
        <a:lstStyle/>
        <a:p>
          <a:pPr algn="ctr"/>
          <a:r>
            <a:rPr lang="pt-BR" sz="1600" b="1" dirty="0" smtClean="0">
              <a:solidFill>
                <a:schemeClr val="tx1"/>
              </a:solidFill>
              <a:effectLst/>
            </a:rPr>
            <a:t>Entrevistas com os donos dos processos</a:t>
          </a:r>
          <a:endParaRPr lang="pt-BR" sz="1600" b="1" dirty="0">
            <a:solidFill>
              <a:schemeClr val="tx1"/>
            </a:solidFill>
            <a:effectLst/>
          </a:endParaRPr>
        </a:p>
      </dgm:t>
    </dgm:pt>
    <dgm:pt modelId="{29C5DBDA-F1A0-478B-812B-77C8A31DB9F8}" type="parTrans" cxnId="{7E31BFDB-6CCB-43C8-B1A5-CAA0FB5B6CF0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F81A5B6E-86A4-4FF0-B0FB-E3558A8EBCA2}" type="sibTrans" cxnId="{7E31BFDB-6CCB-43C8-B1A5-CAA0FB5B6CF0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3D64DCA7-FFEA-497C-8093-303CFED1A83F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 smtClean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Ajustes dos processos</a:t>
          </a:r>
          <a:endParaRPr lang="pt-BR" sz="1400" b="0" kern="1200" dirty="0">
            <a:solidFill>
              <a:schemeClr val="tx1"/>
            </a:solidFill>
            <a:effectLst/>
            <a:latin typeface="Calibri"/>
            <a:ea typeface="+mn-ea"/>
            <a:cs typeface="+mn-cs"/>
          </a:endParaRPr>
        </a:p>
      </dgm:t>
    </dgm:pt>
    <dgm:pt modelId="{76EDA620-CDF4-40CE-A838-CC05FA088DFB}" type="parTrans" cxnId="{AF0A2B16-63F4-45FA-9FE5-1BB9D8116296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15628551-F484-4B94-8F47-328147F84F66}" type="sibTrans" cxnId="{AF0A2B16-63F4-45FA-9FE5-1BB9D8116296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E76BD08A-AA04-444E-91B2-7748898FDB96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dirty="0" smtClean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Mapeamento dos processos</a:t>
          </a:r>
          <a:endParaRPr lang="pt-BR" sz="1500" b="0" kern="1200" dirty="0">
            <a:solidFill>
              <a:schemeClr val="tx1"/>
            </a:solidFill>
            <a:effectLst/>
            <a:latin typeface="Calibri"/>
            <a:ea typeface="+mn-ea"/>
            <a:cs typeface="+mn-cs"/>
          </a:endParaRPr>
        </a:p>
      </dgm:t>
    </dgm:pt>
    <dgm:pt modelId="{EB426A12-B8BC-4CD6-A534-7D2499CF750F}" type="parTrans" cxnId="{BBA72AA5-370F-46F7-BB35-EA21DFF672B9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20A428BE-9CD9-460F-84B4-BB1CAC8B61C3}" type="sibTrans" cxnId="{BBA72AA5-370F-46F7-BB35-EA21DFF672B9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BA54B757-812C-41C4-BB7F-2BDA4E18F5C5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 smtClean="0">
              <a:solidFill>
                <a:schemeClr val="tx1"/>
              </a:solidFill>
              <a:cs typeface="Gotham Rounded Book"/>
            </a:rPr>
            <a:t>Apresentação</a:t>
          </a:r>
          <a:r>
            <a:rPr lang="en-US" sz="1400" kern="1200" dirty="0" smtClean="0">
              <a:solidFill>
                <a:schemeClr val="tx1"/>
              </a:solidFill>
              <a:cs typeface="Gotham Rounded Book"/>
            </a:rPr>
            <a:t> final e </a:t>
          </a:r>
          <a:r>
            <a:rPr lang="en-US" sz="1400" kern="1200" dirty="0" err="1" smtClean="0">
              <a:solidFill>
                <a:schemeClr val="tx1"/>
              </a:solidFill>
              <a:cs typeface="Gotham Rounded Book"/>
            </a:rPr>
            <a:t>Termo</a:t>
          </a:r>
          <a:r>
            <a:rPr lang="en-US" sz="1400" kern="1200" dirty="0" smtClean="0">
              <a:solidFill>
                <a:schemeClr val="tx1"/>
              </a:solidFill>
              <a:cs typeface="Gotham Rounded Book"/>
            </a:rPr>
            <a:t> de </a:t>
          </a:r>
          <a:r>
            <a:rPr lang="en-US" sz="1400" kern="1200" dirty="0" err="1" smtClean="0">
              <a:solidFill>
                <a:schemeClr val="tx1"/>
              </a:solidFill>
              <a:cs typeface="Gotham Rounded Book"/>
            </a:rPr>
            <a:t>encerramento</a:t>
          </a:r>
          <a:endParaRPr lang="pt-BR" sz="1600" b="0" kern="1200" dirty="0">
            <a:solidFill>
              <a:schemeClr val="tx1"/>
            </a:solidFill>
            <a:effectLst/>
            <a:latin typeface="Calibri"/>
            <a:ea typeface="+mn-ea"/>
            <a:cs typeface="+mn-cs"/>
          </a:endParaRPr>
        </a:p>
      </dgm:t>
    </dgm:pt>
    <dgm:pt modelId="{1E92333E-C7F3-42CD-8CC4-9043F45FC825}" type="parTrans" cxnId="{39478248-8333-41BC-BBC7-0C7A5D93308C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0F7B31E0-D2EA-442E-BC76-DE24CCE2ABB2}" type="sibTrans" cxnId="{39478248-8333-41BC-BBC7-0C7A5D93308C}">
      <dgm:prSet/>
      <dgm:spPr/>
      <dgm:t>
        <a:bodyPr/>
        <a:lstStyle/>
        <a:p>
          <a:endParaRPr lang="pt-BR">
            <a:solidFill>
              <a:schemeClr val="tx1"/>
            </a:solidFill>
            <a:effectLst/>
          </a:endParaRPr>
        </a:p>
      </dgm:t>
    </dgm:pt>
    <dgm:pt modelId="{068B94D6-DFEB-4274-A958-6ECF8959A820}">
      <dgm:prSet phldrT="[Texto]" custT="1"/>
      <dgm:spPr/>
      <dgm:t>
        <a:bodyPr spcFirstLastPara="0" vert="horz" wrap="square" lIns="60960" tIns="60960" rIns="60960" bIns="609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 smtClean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Validação</a:t>
          </a:r>
          <a:r>
            <a:rPr lang="pt-BR" sz="1400" b="0" kern="1200" baseline="0" dirty="0" smtClean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 dos processos</a:t>
          </a:r>
          <a:endParaRPr lang="pt-BR" sz="1400" b="0" kern="1200" dirty="0">
            <a:solidFill>
              <a:schemeClr val="tx1"/>
            </a:solidFill>
            <a:effectLst/>
            <a:latin typeface="Calibri"/>
            <a:ea typeface="+mn-ea"/>
            <a:cs typeface="+mn-cs"/>
          </a:endParaRPr>
        </a:p>
      </dgm:t>
    </dgm:pt>
    <dgm:pt modelId="{F747C636-B6D5-412D-BECD-E1C473C25CD0}" type="parTrans" cxnId="{70094070-2B0D-45D4-939B-8AE470B35D43}">
      <dgm:prSet/>
      <dgm:spPr/>
      <dgm:t>
        <a:bodyPr/>
        <a:lstStyle/>
        <a:p>
          <a:endParaRPr lang="pt-BR"/>
        </a:p>
      </dgm:t>
    </dgm:pt>
    <dgm:pt modelId="{4E4899AC-9380-4237-8259-E648431E54A2}" type="sibTrans" cxnId="{70094070-2B0D-45D4-939B-8AE470B35D43}">
      <dgm:prSet/>
      <dgm:spPr/>
      <dgm:t>
        <a:bodyPr/>
        <a:lstStyle/>
        <a:p>
          <a:endParaRPr lang="pt-BR"/>
        </a:p>
      </dgm:t>
    </dgm:pt>
    <dgm:pt modelId="{D689C638-0AC0-48DE-AAE6-EA918B133C73}" type="pres">
      <dgm:prSet presAssocID="{67A7F7C8-D24C-4B7F-878A-2BA8E51A4FAE}" presName="CompostProcess" presStyleCnt="0">
        <dgm:presLayoutVars>
          <dgm:dir/>
          <dgm:resizeHandles val="exact"/>
        </dgm:presLayoutVars>
      </dgm:prSet>
      <dgm:spPr/>
    </dgm:pt>
    <dgm:pt modelId="{27CFC22B-03F1-4AD0-9811-184DDF5812CD}" type="pres">
      <dgm:prSet presAssocID="{67A7F7C8-D24C-4B7F-878A-2BA8E51A4FAE}" presName="arrow" presStyleLbl="bgShp" presStyleIdx="0" presStyleCnt="1" custLinFactNeighborX="1690"/>
      <dgm:spPr/>
    </dgm:pt>
    <dgm:pt modelId="{A7EC4B33-AC65-4C34-8B64-C6744A0147D2}" type="pres">
      <dgm:prSet presAssocID="{67A7F7C8-D24C-4B7F-878A-2BA8E51A4FAE}" presName="linearProcess" presStyleCnt="0"/>
      <dgm:spPr/>
    </dgm:pt>
    <dgm:pt modelId="{6815F125-869F-44BB-B108-D00BF717A51C}" type="pres">
      <dgm:prSet presAssocID="{CA5B2AE2-C141-495D-9956-F696EFFAB54E}" presName="textNode" presStyleLbl="node1" presStyleIdx="0" presStyleCnt="5" custLinFactNeighborX="7983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FFF2D63-7AF7-4A73-9F38-49AD124D688D}" type="pres">
      <dgm:prSet presAssocID="{F81A5B6E-86A4-4FF0-B0FB-E3558A8EBCA2}" presName="sibTrans" presStyleCnt="0"/>
      <dgm:spPr/>
    </dgm:pt>
    <dgm:pt modelId="{5B31E837-BB2F-4832-BEE8-56E78D2FBF24}" type="pres">
      <dgm:prSet presAssocID="{E76BD08A-AA04-444E-91B2-7748898FDB96}" presName="textNode" presStyleLbl="node1" presStyleIdx="1" presStyleCnt="5" custLinFactNeighborX="5882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C7E0E20-3ED8-4199-9162-266EE4AD7DB2}" type="pres">
      <dgm:prSet presAssocID="{20A428BE-9CD9-460F-84B4-BB1CAC8B61C3}" presName="sibTrans" presStyleCnt="0"/>
      <dgm:spPr/>
    </dgm:pt>
    <dgm:pt modelId="{D481F1BF-612D-4901-B6E3-8AE82A543B3D}" type="pres">
      <dgm:prSet presAssocID="{068B94D6-DFEB-4274-A958-6ECF8959A820}" presName="textNode" presStyleLbl="node1" presStyleIdx="2" presStyleCnt="5" custLinFactNeighborX="5882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EEC3437-7C59-41C5-88BC-8D704FEBAD6D}" type="pres">
      <dgm:prSet presAssocID="{4E4899AC-9380-4237-8259-E648431E54A2}" presName="sibTrans" presStyleCnt="0"/>
      <dgm:spPr/>
    </dgm:pt>
    <dgm:pt modelId="{948B9AC7-87D8-4F05-9F72-A6EEE3AFB3E5}" type="pres">
      <dgm:prSet presAssocID="{3D64DCA7-FFEA-497C-8093-303CFED1A83F}" presName="textNode" presStyleLbl="node1" presStyleIdx="3" presStyleCnt="5" custLinFactNeighborX="5882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8FEBB4D-E8AE-4835-AFE4-4533FA7E3717}" type="pres">
      <dgm:prSet presAssocID="{15628551-F484-4B94-8F47-328147F84F66}" presName="sibTrans" presStyleCnt="0"/>
      <dgm:spPr/>
    </dgm:pt>
    <dgm:pt modelId="{460245C9-E188-460A-81EE-9D62C7E93D36}" type="pres">
      <dgm:prSet presAssocID="{BA54B757-812C-41C4-BB7F-2BDA4E18F5C5}" presName="textNode" presStyleLbl="node1" presStyleIdx="4" presStyleCnt="5" custLinFactNeighborX="-1171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428631B0-5D85-46D3-BFC9-4F61A75F1F6F}" type="presOf" srcId="{67A7F7C8-D24C-4B7F-878A-2BA8E51A4FAE}" destId="{D689C638-0AC0-48DE-AAE6-EA918B133C73}" srcOrd="0" destOrd="0" presId="urn:microsoft.com/office/officeart/2005/8/layout/hProcess9"/>
    <dgm:cxn modelId="{AD7A3AEF-6C01-4932-8123-7D6BFFE92F4D}" type="presOf" srcId="{3D64DCA7-FFEA-497C-8093-303CFED1A83F}" destId="{948B9AC7-87D8-4F05-9F72-A6EEE3AFB3E5}" srcOrd="0" destOrd="0" presId="urn:microsoft.com/office/officeart/2005/8/layout/hProcess9"/>
    <dgm:cxn modelId="{5760960F-CD1D-4D67-84B7-3DB4A5C62845}" type="presOf" srcId="{068B94D6-DFEB-4274-A958-6ECF8959A820}" destId="{D481F1BF-612D-4901-B6E3-8AE82A543B3D}" srcOrd="0" destOrd="0" presId="urn:microsoft.com/office/officeart/2005/8/layout/hProcess9"/>
    <dgm:cxn modelId="{7E31BFDB-6CCB-43C8-B1A5-CAA0FB5B6CF0}" srcId="{67A7F7C8-D24C-4B7F-878A-2BA8E51A4FAE}" destId="{CA5B2AE2-C141-495D-9956-F696EFFAB54E}" srcOrd="0" destOrd="0" parTransId="{29C5DBDA-F1A0-478B-812B-77C8A31DB9F8}" sibTransId="{F81A5B6E-86A4-4FF0-B0FB-E3558A8EBCA2}"/>
    <dgm:cxn modelId="{EF875461-93F3-46D5-AF27-FB4FDEB17309}" type="presOf" srcId="{CA5B2AE2-C141-495D-9956-F696EFFAB54E}" destId="{6815F125-869F-44BB-B108-D00BF717A51C}" srcOrd="0" destOrd="0" presId="urn:microsoft.com/office/officeart/2005/8/layout/hProcess9"/>
    <dgm:cxn modelId="{BBA72AA5-370F-46F7-BB35-EA21DFF672B9}" srcId="{67A7F7C8-D24C-4B7F-878A-2BA8E51A4FAE}" destId="{E76BD08A-AA04-444E-91B2-7748898FDB96}" srcOrd="1" destOrd="0" parTransId="{EB426A12-B8BC-4CD6-A534-7D2499CF750F}" sibTransId="{20A428BE-9CD9-460F-84B4-BB1CAC8B61C3}"/>
    <dgm:cxn modelId="{70094070-2B0D-45D4-939B-8AE470B35D43}" srcId="{67A7F7C8-D24C-4B7F-878A-2BA8E51A4FAE}" destId="{068B94D6-DFEB-4274-A958-6ECF8959A820}" srcOrd="2" destOrd="0" parTransId="{F747C636-B6D5-412D-BECD-E1C473C25CD0}" sibTransId="{4E4899AC-9380-4237-8259-E648431E54A2}"/>
    <dgm:cxn modelId="{39478248-8333-41BC-BBC7-0C7A5D93308C}" srcId="{67A7F7C8-D24C-4B7F-878A-2BA8E51A4FAE}" destId="{BA54B757-812C-41C4-BB7F-2BDA4E18F5C5}" srcOrd="4" destOrd="0" parTransId="{1E92333E-C7F3-42CD-8CC4-9043F45FC825}" sibTransId="{0F7B31E0-D2EA-442E-BC76-DE24CCE2ABB2}"/>
    <dgm:cxn modelId="{1D8D517D-C341-4E3A-9F54-4FA351B87D56}" type="presOf" srcId="{E76BD08A-AA04-444E-91B2-7748898FDB96}" destId="{5B31E837-BB2F-4832-BEE8-56E78D2FBF24}" srcOrd="0" destOrd="0" presId="urn:microsoft.com/office/officeart/2005/8/layout/hProcess9"/>
    <dgm:cxn modelId="{812D40F4-1540-4B9D-B0D6-80C484094173}" type="presOf" srcId="{BA54B757-812C-41C4-BB7F-2BDA4E18F5C5}" destId="{460245C9-E188-460A-81EE-9D62C7E93D36}" srcOrd="0" destOrd="0" presId="urn:microsoft.com/office/officeart/2005/8/layout/hProcess9"/>
    <dgm:cxn modelId="{AF0A2B16-63F4-45FA-9FE5-1BB9D8116296}" srcId="{67A7F7C8-D24C-4B7F-878A-2BA8E51A4FAE}" destId="{3D64DCA7-FFEA-497C-8093-303CFED1A83F}" srcOrd="3" destOrd="0" parTransId="{76EDA620-CDF4-40CE-A838-CC05FA088DFB}" sibTransId="{15628551-F484-4B94-8F47-328147F84F66}"/>
    <dgm:cxn modelId="{EE047D41-C93E-4022-8C1B-93E4186EA15C}" type="presParOf" srcId="{D689C638-0AC0-48DE-AAE6-EA918B133C73}" destId="{27CFC22B-03F1-4AD0-9811-184DDF5812CD}" srcOrd="0" destOrd="0" presId="urn:microsoft.com/office/officeart/2005/8/layout/hProcess9"/>
    <dgm:cxn modelId="{6AE8AB58-E16A-45C2-B976-ADB36B42C980}" type="presParOf" srcId="{D689C638-0AC0-48DE-AAE6-EA918B133C73}" destId="{A7EC4B33-AC65-4C34-8B64-C6744A0147D2}" srcOrd="1" destOrd="0" presId="urn:microsoft.com/office/officeart/2005/8/layout/hProcess9"/>
    <dgm:cxn modelId="{D2C96F92-D992-4AD3-8CE9-2444ADFE47FB}" type="presParOf" srcId="{A7EC4B33-AC65-4C34-8B64-C6744A0147D2}" destId="{6815F125-869F-44BB-B108-D00BF717A51C}" srcOrd="0" destOrd="0" presId="urn:microsoft.com/office/officeart/2005/8/layout/hProcess9"/>
    <dgm:cxn modelId="{B9DA0904-778E-46AE-A1F6-4C35BF5DF5DD}" type="presParOf" srcId="{A7EC4B33-AC65-4C34-8B64-C6744A0147D2}" destId="{9FFF2D63-7AF7-4A73-9F38-49AD124D688D}" srcOrd="1" destOrd="0" presId="urn:microsoft.com/office/officeart/2005/8/layout/hProcess9"/>
    <dgm:cxn modelId="{78A6161A-2F68-4D45-83AF-E17823B5092E}" type="presParOf" srcId="{A7EC4B33-AC65-4C34-8B64-C6744A0147D2}" destId="{5B31E837-BB2F-4832-BEE8-56E78D2FBF24}" srcOrd="2" destOrd="0" presId="urn:microsoft.com/office/officeart/2005/8/layout/hProcess9"/>
    <dgm:cxn modelId="{B9767BC3-0F7B-4651-8E83-2B3440284C09}" type="presParOf" srcId="{A7EC4B33-AC65-4C34-8B64-C6744A0147D2}" destId="{CC7E0E20-3ED8-4199-9162-266EE4AD7DB2}" srcOrd="3" destOrd="0" presId="urn:microsoft.com/office/officeart/2005/8/layout/hProcess9"/>
    <dgm:cxn modelId="{1CAB1ED0-675E-4AAE-863E-42723E7ABC42}" type="presParOf" srcId="{A7EC4B33-AC65-4C34-8B64-C6744A0147D2}" destId="{D481F1BF-612D-4901-B6E3-8AE82A543B3D}" srcOrd="4" destOrd="0" presId="urn:microsoft.com/office/officeart/2005/8/layout/hProcess9"/>
    <dgm:cxn modelId="{8D14CB93-5F2F-4FAC-828E-8859D8B8D841}" type="presParOf" srcId="{A7EC4B33-AC65-4C34-8B64-C6744A0147D2}" destId="{0EEC3437-7C59-41C5-88BC-8D704FEBAD6D}" srcOrd="5" destOrd="0" presId="urn:microsoft.com/office/officeart/2005/8/layout/hProcess9"/>
    <dgm:cxn modelId="{C1789E80-0E0F-404D-94C8-9764ED06D504}" type="presParOf" srcId="{A7EC4B33-AC65-4C34-8B64-C6744A0147D2}" destId="{948B9AC7-87D8-4F05-9F72-A6EEE3AFB3E5}" srcOrd="6" destOrd="0" presId="urn:microsoft.com/office/officeart/2005/8/layout/hProcess9"/>
    <dgm:cxn modelId="{420F5E03-2016-464A-8E1E-5196C3E31347}" type="presParOf" srcId="{A7EC4B33-AC65-4C34-8B64-C6744A0147D2}" destId="{B8FEBB4D-E8AE-4835-AFE4-4533FA7E3717}" srcOrd="7" destOrd="0" presId="urn:microsoft.com/office/officeart/2005/8/layout/hProcess9"/>
    <dgm:cxn modelId="{35A2C61D-69A7-4909-869A-5417667915A5}" type="presParOf" srcId="{A7EC4B33-AC65-4C34-8B64-C6744A0147D2}" destId="{460245C9-E188-460A-81EE-9D62C7E93D36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FC22B-03F1-4AD0-9811-184DDF5812CD}">
      <dsp:nvSpPr>
        <dsp:cNvPr id="0" name=""/>
        <dsp:cNvSpPr/>
      </dsp:nvSpPr>
      <dsp:spPr>
        <a:xfrm>
          <a:off x="891874" y="0"/>
          <a:ext cx="8483116" cy="3169132"/>
        </a:xfrm>
        <a:prstGeom prst="rightArrow">
          <a:avLst/>
        </a:prstGeom>
        <a:gradFill rotWithShape="0">
          <a:gsLst>
            <a:gs pos="0">
              <a:schemeClr val="accent6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tint val="4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815F125-869F-44BB-B108-D00BF717A51C}">
      <dsp:nvSpPr>
        <dsp:cNvPr id="0" name=""/>
        <dsp:cNvSpPr/>
      </dsp:nvSpPr>
      <dsp:spPr>
        <a:xfrm>
          <a:off x="237131" y="950739"/>
          <a:ext cx="1760168" cy="1267652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1" kern="1200" dirty="0" smtClean="0">
              <a:solidFill>
                <a:schemeClr val="tx1"/>
              </a:solidFill>
              <a:effectLst/>
            </a:rPr>
            <a:t>Entrevistas com os donos dos processos</a:t>
          </a:r>
          <a:endParaRPr lang="pt-BR" sz="1600" b="1" kern="1200" dirty="0">
            <a:solidFill>
              <a:schemeClr val="tx1"/>
            </a:solidFill>
            <a:effectLst/>
          </a:endParaRPr>
        </a:p>
      </dsp:txBody>
      <dsp:txXfrm>
        <a:off x="299013" y="1012621"/>
        <a:ext cx="1636404" cy="1143888"/>
      </dsp:txXfrm>
    </dsp:sp>
    <dsp:sp modelId="{5B31E837-BB2F-4832-BEE8-56E78D2FBF24}">
      <dsp:nvSpPr>
        <dsp:cNvPr id="0" name=""/>
        <dsp:cNvSpPr/>
      </dsp:nvSpPr>
      <dsp:spPr>
        <a:xfrm>
          <a:off x="2229009" y="950739"/>
          <a:ext cx="1760168" cy="1267652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95423"/>
                <a:satOff val="4252"/>
                <a:lumOff val="594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95423"/>
                <a:satOff val="4252"/>
                <a:lumOff val="594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kern="1200" dirty="0" smtClean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Mapeamento dos processos</a:t>
          </a:r>
          <a:endParaRPr lang="pt-BR" sz="1500" b="0" kern="1200" dirty="0">
            <a:solidFill>
              <a:schemeClr val="tx1"/>
            </a:solidFill>
            <a:effectLst/>
            <a:latin typeface="Calibri"/>
            <a:ea typeface="+mn-ea"/>
            <a:cs typeface="+mn-cs"/>
          </a:endParaRPr>
        </a:p>
      </dsp:txBody>
      <dsp:txXfrm>
        <a:off x="2290891" y="1012621"/>
        <a:ext cx="1636404" cy="1143888"/>
      </dsp:txXfrm>
    </dsp:sp>
    <dsp:sp modelId="{D481F1BF-612D-4901-B6E3-8AE82A543B3D}">
      <dsp:nvSpPr>
        <dsp:cNvPr id="0" name=""/>
        <dsp:cNvSpPr/>
      </dsp:nvSpPr>
      <dsp:spPr>
        <a:xfrm>
          <a:off x="4282539" y="950739"/>
          <a:ext cx="1760168" cy="1267652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190846"/>
                <a:satOff val="8505"/>
                <a:lumOff val="1188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190846"/>
                <a:satOff val="8505"/>
                <a:lumOff val="1188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 smtClean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Validação</a:t>
          </a:r>
          <a:r>
            <a:rPr lang="pt-BR" sz="1400" b="0" kern="1200" baseline="0" dirty="0" smtClean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 dos processos</a:t>
          </a:r>
          <a:endParaRPr lang="pt-BR" sz="1400" b="0" kern="1200" dirty="0">
            <a:solidFill>
              <a:schemeClr val="tx1"/>
            </a:solidFill>
            <a:effectLst/>
            <a:latin typeface="Calibri"/>
            <a:ea typeface="+mn-ea"/>
            <a:cs typeface="+mn-cs"/>
          </a:endParaRPr>
        </a:p>
      </dsp:txBody>
      <dsp:txXfrm>
        <a:off x="4344421" y="1012621"/>
        <a:ext cx="1636404" cy="1143888"/>
      </dsp:txXfrm>
    </dsp:sp>
    <dsp:sp modelId="{948B9AC7-87D8-4F05-9F72-A6EEE3AFB3E5}">
      <dsp:nvSpPr>
        <dsp:cNvPr id="0" name=""/>
        <dsp:cNvSpPr/>
      </dsp:nvSpPr>
      <dsp:spPr>
        <a:xfrm>
          <a:off x="6336069" y="950739"/>
          <a:ext cx="1760168" cy="1267652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286269"/>
                <a:satOff val="12757"/>
                <a:lumOff val="1783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286269"/>
                <a:satOff val="12757"/>
                <a:lumOff val="1783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 smtClean="0">
              <a:solidFill>
                <a:schemeClr val="tx1"/>
              </a:solidFill>
              <a:effectLst/>
              <a:latin typeface="Calibri"/>
              <a:ea typeface="+mn-ea"/>
              <a:cs typeface="+mn-cs"/>
            </a:rPr>
            <a:t>Ajustes dos processos</a:t>
          </a:r>
          <a:endParaRPr lang="pt-BR" sz="1400" b="0" kern="1200" dirty="0">
            <a:solidFill>
              <a:schemeClr val="tx1"/>
            </a:solidFill>
            <a:effectLst/>
            <a:latin typeface="Calibri"/>
            <a:ea typeface="+mn-ea"/>
            <a:cs typeface="+mn-cs"/>
          </a:endParaRPr>
        </a:p>
      </dsp:txBody>
      <dsp:txXfrm>
        <a:off x="6397951" y="1012621"/>
        <a:ext cx="1636404" cy="1143888"/>
      </dsp:txXfrm>
    </dsp:sp>
    <dsp:sp modelId="{460245C9-E188-460A-81EE-9D62C7E93D36}">
      <dsp:nvSpPr>
        <dsp:cNvPr id="0" name=""/>
        <dsp:cNvSpPr/>
      </dsp:nvSpPr>
      <dsp:spPr>
        <a:xfrm>
          <a:off x="8182680" y="950739"/>
          <a:ext cx="1760168" cy="1267652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-381692"/>
                <a:satOff val="17009"/>
                <a:lumOff val="2377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shade val="80000"/>
                <a:hueOff val="-381692"/>
                <a:satOff val="17009"/>
                <a:lumOff val="2377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 smtClean="0">
              <a:solidFill>
                <a:schemeClr val="tx1"/>
              </a:solidFill>
              <a:cs typeface="Gotham Rounded Book"/>
            </a:rPr>
            <a:t>Apresentação</a:t>
          </a:r>
          <a:r>
            <a:rPr lang="en-US" sz="1400" kern="1200" dirty="0" smtClean="0">
              <a:solidFill>
                <a:schemeClr val="tx1"/>
              </a:solidFill>
              <a:cs typeface="Gotham Rounded Book"/>
            </a:rPr>
            <a:t> final e </a:t>
          </a:r>
          <a:r>
            <a:rPr lang="en-US" sz="1400" kern="1200" dirty="0" err="1" smtClean="0">
              <a:solidFill>
                <a:schemeClr val="tx1"/>
              </a:solidFill>
              <a:cs typeface="Gotham Rounded Book"/>
            </a:rPr>
            <a:t>Termo</a:t>
          </a:r>
          <a:r>
            <a:rPr lang="en-US" sz="1400" kern="1200" dirty="0" smtClean="0">
              <a:solidFill>
                <a:schemeClr val="tx1"/>
              </a:solidFill>
              <a:cs typeface="Gotham Rounded Book"/>
            </a:rPr>
            <a:t> de </a:t>
          </a:r>
          <a:r>
            <a:rPr lang="en-US" sz="1400" kern="1200" dirty="0" err="1" smtClean="0">
              <a:solidFill>
                <a:schemeClr val="tx1"/>
              </a:solidFill>
              <a:cs typeface="Gotham Rounded Book"/>
            </a:rPr>
            <a:t>encerramento</a:t>
          </a:r>
          <a:endParaRPr lang="pt-BR" sz="1600" b="0" kern="1200" dirty="0">
            <a:solidFill>
              <a:schemeClr val="tx1"/>
            </a:solidFill>
            <a:effectLst/>
            <a:latin typeface="Calibri"/>
            <a:ea typeface="+mn-ea"/>
            <a:cs typeface="+mn-cs"/>
          </a:endParaRPr>
        </a:p>
      </dsp:txBody>
      <dsp:txXfrm>
        <a:off x="8244562" y="1012621"/>
        <a:ext cx="1636404" cy="1143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9/28/2016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0" y="15231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43" y="1218119"/>
            <a:ext cx="5688627" cy="565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</a:t>
            </a:r>
            <a:r>
              <a:rPr lang="pt-BR" sz="40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</a:t>
            </a:r>
            <a:r>
              <a:rPr lang="pt-BR" sz="40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dos Processos de TI</a:t>
            </a:r>
            <a:endParaRPr lang="pt-BR" sz="4000" b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Objetivo de atender os requisitos da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Auditoria Interna e Externa da </a:t>
            </a:r>
            <a:r>
              <a:rPr lang="pt-BR" sz="2400" dirty="0" err="1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Smiles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 smtClean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err="1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Setembro</a:t>
            </a:r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/2016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1026" name="Picture 2" descr="Resultado de imagem para mapeamento de processos de t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936" y="53968"/>
            <a:ext cx="3547201" cy="24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555" y="5787766"/>
            <a:ext cx="2019582" cy="1066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dos Processos de TI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186490" y="1100671"/>
            <a:ext cx="9513564" cy="515846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SUMÁRIO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Escopo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Equipe do Projeto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Premissas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Próximos passos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ESCOPO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tx1"/>
                </a:solidFill>
              </a:rPr>
              <a:t>Realizar </a:t>
            </a:r>
            <a:r>
              <a:rPr lang="pt-BR" sz="2000" dirty="0" smtClean="0">
                <a:solidFill>
                  <a:schemeClr val="tx1"/>
                </a:solidFill>
              </a:rPr>
              <a:t>entrevistas </a:t>
            </a:r>
            <a:r>
              <a:rPr lang="pt-BR" sz="2000" dirty="0" smtClean="0">
                <a:solidFill>
                  <a:schemeClr val="tx1"/>
                </a:solidFill>
              </a:rPr>
              <a:t>com os respectivos donos dos processos;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tx1"/>
                </a:solidFill>
              </a:rPr>
              <a:t>Realizar o mapeamento dos processos de TI;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tx1"/>
                </a:solidFill>
              </a:rPr>
              <a:t>Validar com o dono do processo;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tx1"/>
                </a:solidFill>
              </a:rPr>
              <a:t>Validar com a Gerência de Governança de TI;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tx1"/>
                </a:solidFill>
              </a:rPr>
              <a:t>Realizar ajustes nos </a:t>
            </a:r>
            <a:r>
              <a:rPr lang="pt-BR" sz="2000" dirty="0" smtClean="0">
                <a:solidFill>
                  <a:schemeClr val="tx1"/>
                </a:solidFill>
              </a:rPr>
              <a:t>processos</a:t>
            </a:r>
            <a:r>
              <a:rPr lang="pt-BR" sz="2000" dirty="0">
                <a:solidFill>
                  <a:schemeClr val="tx1"/>
                </a:solidFill>
              </a:rPr>
              <a:t>.</a:t>
            </a:r>
            <a:endParaRPr lang="pt-BR" dirty="0">
              <a:solidFill>
                <a:schemeClr val="tx1"/>
              </a:solidFill>
            </a:endParaRP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ESCOPO: Lista dos Processos </a:t>
            </a: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0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 smtClean="0">
                <a:solidFill>
                  <a:schemeClr val="tx1"/>
                </a:solidFill>
              </a:rPr>
              <a:t>AI1 </a:t>
            </a:r>
            <a:r>
              <a:rPr lang="pt-BR" sz="1400" dirty="0">
                <a:solidFill>
                  <a:schemeClr val="tx1"/>
                </a:solidFill>
              </a:rPr>
              <a:t>– Identificar Soluções Automatizadas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AI2 - Adquirir e manter aplicações de software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AI3 - Adquirir e manter infraestrutura tecnológica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AI4 - Desenvolver e manter manuais de Sistemas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AI6 - Gerenciamento de Mudanças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AI7 - Gerenciamento, Instalação e Homologação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DS1 - Definir e </a:t>
            </a:r>
            <a:r>
              <a:rPr lang="pt-BR" sz="1400" dirty="0" smtClean="0">
                <a:solidFill>
                  <a:schemeClr val="tx1"/>
                </a:solidFill>
              </a:rPr>
              <a:t>Gerenciar </a:t>
            </a:r>
            <a:r>
              <a:rPr lang="pt-BR" sz="1400" dirty="0">
                <a:solidFill>
                  <a:schemeClr val="tx1"/>
                </a:solidFill>
              </a:rPr>
              <a:t>N</a:t>
            </a:r>
            <a:r>
              <a:rPr lang="pt-BR" sz="1400" dirty="0" smtClean="0">
                <a:solidFill>
                  <a:schemeClr val="tx1"/>
                </a:solidFill>
              </a:rPr>
              <a:t>íveis </a:t>
            </a:r>
            <a:r>
              <a:rPr lang="pt-BR" sz="1400" dirty="0">
                <a:solidFill>
                  <a:schemeClr val="tx1"/>
                </a:solidFill>
              </a:rPr>
              <a:t>de </a:t>
            </a:r>
            <a:r>
              <a:rPr lang="pt-BR" sz="1400" dirty="0" smtClean="0">
                <a:solidFill>
                  <a:schemeClr val="tx1"/>
                </a:solidFill>
              </a:rPr>
              <a:t>Serviço</a:t>
            </a:r>
            <a:endParaRPr lang="pt-BR" sz="1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DS2 - Gerenciar </a:t>
            </a:r>
            <a:r>
              <a:rPr lang="pt-BR" sz="1400" dirty="0" smtClean="0">
                <a:solidFill>
                  <a:schemeClr val="tx1"/>
                </a:solidFill>
              </a:rPr>
              <a:t>Serviços </a:t>
            </a:r>
            <a:r>
              <a:rPr lang="pt-BR" sz="1400" dirty="0">
                <a:solidFill>
                  <a:schemeClr val="tx1"/>
                </a:solidFill>
              </a:rPr>
              <a:t>de </a:t>
            </a:r>
            <a:r>
              <a:rPr lang="pt-BR" sz="1400" dirty="0" smtClean="0">
                <a:solidFill>
                  <a:schemeClr val="tx1"/>
                </a:solidFill>
              </a:rPr>
              <a:t>Terceiros</a:t>
            </a:r>
            <a:endParaRPr lang="pt-BR" sz="1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DS3 - Gerenciar o </a:t>
            </a:r>
            <a:r>
              <a:rPr lang="pt-BR" sz="1400" dirty="0" smtClean="0">
                <a:solidFill>
                  <a:schemeClr val="tx1"/>
                </a:solidFill>
              </a:rPr>
              <a:t>Desempenho </a:t>
            </a:r>
            <a:r>
              <a:rPr lang="pt-BR" sz="1400" dirty="0">
                <a:solidFill>
                  <a:schemeClr val="tx1"/>
                </a:solidFill>
              </a:rPr>
              <a:t>e </a:t>
            </a:r>
            <a:r>
              <a:rPr lang="pt-BR" sz="1400" dirty="0" smtClean="0">
                <a:solidFill>
                  <a:schemeClr val="tx1"/>
                </a:solidFill>
              </a:rPr>
              <a:t>Capacidade</a:t>
            </a:r>
            <a:endParaRPr lang="pt-BR" sz="1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DS5.3 - Gestão de Identidade	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DS5.5 - Assegurar </a:t>
            </a:r>
            <a:r>
              <a:rPr lang="pt-BR" sz="1400" dirty="0" smtClean="0">
                <a:solidFill>
                  <a:schemeClr val="tx1"/>
                </a:solidFill>
              </a:rPr>
              <a:t>Segurança </a:t>
            </a:r>
            <a:r>
              <a:rPr lang="pt-BR" sz="1400" dirty="0">
                <a:solidFill>
                  <a:schemeClr val="tx1"/>
                </a:solidFill>
              </a:rPr>
              <a:t>de </a:t>
            </a:r>
            <a:r>
              <a:rPr lang="pt-BR" sz="1400" dirty="0" smtClean="0">
                <a:solidFill>
                  <a:schemeClr val="tx1"/>
                </a:solidFill>
              </a:rPr>
              <a:t>Sistemas</a:t>
            </a:r>
            <a:endParaRPr lang="pt-BR" sz="1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DS5.8 - Gestão de chaves </a:t>
            </a:r>
            <a:r>
              <a:rPr lang="pt-BR" sz="1400" dirty="0" smtClean="0">
                <a:solidFill>
                  <a:schemeClr val="tx1"/>
                </a:solidFill>
              </a:rPr>
              <a:t>criptográficas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DS8 - Gerenciar Service Desk e Incidentes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DS5.9.A - Gestão de </a:t>
            </a:r>
            <a:r>
              <a:rPr lang="pt-BR" sz="1400" dirty="0" smtClean="0">
                <a:solidFill>
                  <a:schemeClr val="tx1"/>
                </a:solidFill>
              </a:rPr>
              <a:t>Antivírus</a:t>
            </a:r>
            <a:endParaRPr lang="pt-BR" sz="1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DS5.9.B – Administrar Patches - Servidores das Bases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DS5.10 - Administração de Firewall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DS5.11 - Gestão de Certificados Digitais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 11 - </a:t>
            </a:r>
            <a:r>
              <a:rPr lang="pt-BR" sz="1400" dirty="0" smtClean="0">
                <a:solidFill>
                  <a:schemeClr val="tx1"/>
                </a:solidFill>
              </a:rPr>
              <a:t>Gerenciar </a:t>
            </a:r>
            <a:r>
              <a:rPr lang="pt-BR" sz="1400" dirty="0">
                <a:solidFill>
                  <a:schemeClr val="tx1"/>
                </a:solidFill>
              </a:rPr>
              <a:t>Copias de Segurança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DS12 - Gerenciar Instalações Físicas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M1 - Monitorar </a:t>
            </a:r>
            <a:r>
              <a:rPr lang="pt-BR" sz="1400" dirty="0" smtClean="0">
                <a:solidFill>
                  <a:schemeClr val="tx1"/>
                </a:solidFill>
              </a:rPr>
              <a:t>Processos</a:t>
            </a:r>
            <a:endParaRPr lang="pt-BR" sz="1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1400" dirty="0">
                <a:solidFill>
                  <a:schemeClr val="tx1"/>
                </a:solidFill>
              </a:rPr>
              <a:t>PO2 - Definir Arquitetura da Informação</a:t>
            </a: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86277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ESCOPO: Entregáveis</a:t>
            </a: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smtClean="0">
                <a:solidFill>
                  <a:schemeClr val="tx1"/>
                </a:solidFill>
              </a:rPr>
              <a:t>Definição do objetivo, escopo, conceitos / definições e diretrizes;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smtClean="0">
                <a:solidFill>
                  <a:schemeClr val="tx1"/>
                </a:solidFill>
              </a:rPr>
              <a:t>Fluxo </a:t>
            </a:r>
            <a:r>
              <a:rPr lang="pt-BR" sz="1600" dirty="0" smtClean="0">
                <a:solidFill>
                  <a:schemeClr val="tx1"/>
                </a:solidFill>
              </a:rPr>
              <a:t>Macro </a:t>
            </a:r>
            <a:r>
              <a:rPr lang="pt-BR" sz="1600" dirty="0" smtClean="0">
                <a:solidFill>
                  <a:schemeClr val="tx1"/>
                </a:solidFill>
              </a:rPr>
              <a:t>e Fluxo </a:t>
            </a:r>
            <a:r>
              <a:rPr lang="pt-BR" sz="1600" dirty="0" smtClean="0">
                <a:solidFill>
                  <a:schemeClr val="tx1"/>
                </a:solidFill>
              </a:rPr>
              <a:t>Detalhado </a:t>
            </a:r>
            <a:r>
              <a:rPr lang="pt-BR" sz="1600" dirty="0" smtClean="0">
                <a:solidFill>
                  <a:schemeClr val="tx1"/>
                </a:solidFill>
              </a:rPr>
              <a:t>do processo no </a:t>
            </a:r>
            <a:r>
              <a:rPr lang="pt-BR" sz="1600" dirty="0" err="1" smtClean="0">
                <a:solidFill>
                  <a:schemeClr val="tx1"/>
                </a:solidFill>
              </a:rPr>
              <a:t>Bizagi</a:t>
            </a:r>
            <a:r>
              <a:rPr lang="pt-BR" sz="1600" dirty="0" smtClean="0">
                <a:solidFill>
                  <a:schemeClr val="tx1"/>
                </a:solidFill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smtClean="0">
                <a:solidFill>
                  <a:schemeClr val="tx1"/>
                </a:solidFill>
              </a:rPr>
              <a:t>Descrição do </a:t>
            </a:r>
            <a:r>
              <a:rPr lang="pt-BR" sz="1600" dirty="0">
                <a:solidFill>
                  <a:schemeClr val="tx1"/>
                </a:solidFill>
              </a:rPr>
              <a:t>Fluxo Macro e Fluxo Detalhado do </a:t>
            </a:r>
            <a:r>
              <a:rPr lang="pt-BR" sz="1600" dirty="0" smtClean="0">
                <a:solidFill>
                  <a:schemeClr val="tx1"/>
                </a:solidFill>
              </a:rPr>
              <a:t>processo (O que fazer? / Quem fazer?);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smtClean="0">
                <a:solidFill>
                  <a:schemeClr val="tx1"/>
                </a:solidFill>
              </a:rPr>
              <a:t>Matriz </a:t>
            </a:r>
            <a:r>
              <a:rPr lang="pt-BR" sz="1600" dirty="0" smtClean="0">
                <a:solidFill>
                  <a:schemeClr val="tx1"/>
                </a:solidFill>
              </a:rPr>
              <a:t>RACI;</a:t>
            </a:r>
            <a:endParaRPr lang="pt-BR" sz="1600" dirty="0" smtClean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smtClean="0">
                <a:solidFill>
                  <a:schemeClr val="tx1"/>
                </a:solidFill>
              </a:rPr>
              <a:t>Indicadores (no mínimo 1 indicador);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smtClean="0">
                <a:solidFill>
                  <a:schemeClr val="tx1"/>
                </a:solidFill>
              </a:rPr>
              <a:t>Apresentação do treinamento do processo;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smtClean="0">
                <a:solidFill>
                  <a:schemeClr val="tx1"/>
                </a:solidFill>
              </a:rPr>
              <a:t>Publicação de todo mapeamento no </a:t>
            </a:r>
            <a:r>
              <a:rPr lang="pt-BR" sz="1600" dirty="0" err="1" smtClean="0">
                <a:solidFill>
                  <a:schemeClr val="tx1"/>
                </a:solidFill>
              </a:rPr>
              <a:t>Confluence</a:t>
            </a:r>
            <a:r>
              <a:rPr lang="pt-BR" sz="1600" dirty="0" smtClean="0">
                <a:solidFill>
                  <a:schemeClr val="tx1"/>
                </a:solidFill>
              </a:rPr>
              <a:t>.</a:t>
            </a:r>
            <a:endParaRPr lang="pt-BR" dirty="0">
              <a:solidFill>
                <a:schemeClr val="tx1"/>
              </a:solidFill>
            </a:endParaRPr>
          </a:p>
          <a:p>
            <a:pPr algn="just"/>
            <a:endParaRPr lang="pt-BR" dirty="0" smtClean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28861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09182" y="1032431"/>
            <a:ext cx="9916672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Equipe do Projeto</a:t>
            </a:r>
            <a:endParaRPr lang="pt-BR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349610"/>
              </p:ext>
            </p:extLst>
          </p:nvPr>
        </p:nvGraphicFramePr>
        <p:xfrm>
          <a:off x="304099" y="1841678"/>
          <a:ext cx="9599756" cy="36318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9878">
                  <a:extLst>
                    <a:ext uri="{9D8B030D-6E8A-4147-A177-3AD203B41FA5}">
                      <a16:colId xmlns="" xmlns:a16="http://schemas.microsoft.com/office/drawing/2014/main" val="3070608209"/>
                    </a:ext>
                  </a:extLst>
                </a:gridCol>
                <a:gridCol w="4799878">
                  <a:extLst>
                    <a:ext uri="{9D8B030D-6E8A-4147-A177-3AD203B41FA5}">
                      <a16:colId xmlns="" xmlns:a16="http://schemas.microsoft.com/office/drawing/2014/main" val="1654572530"/>
                    </a:ext>
                  </a:extLst>
                </a:gridCol>
              </a:tblGrid>
              <a:tr h="3631843">
                <a:tc>
                  <a:txBody>
                    <a:bodyPr/>
                    <a:lstStyle/>
                    <a:p>
                      <a:pPr algn="ctr"/>
                      <a:r>
                        <a:rPr lang="pt-BR" sz="2400" b="1" baseline="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Chacon</a:t>
                      </a:r>
                      <a:r>
                        <a:rPr lang="pt-BR" sz="2400" b="1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| Ilimitada</a:t>
                      </a:r>
                    </a:p>
                    <a:p>
                      <a:pPr algn="l"/>
                      <a:endParaRPr lang="pt-BR" sz="1800" baseline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342900" lvl="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pt-BR" sz="1800" b="0" i="0" baseline="0" dirty="0" smtClean="0">
                          <a:solidFill>
                            <a:schemeClr val="tx1"/>
                          </a:solidFill>
                          <a:effectLst/>
                        </a:rPr>
                        <a:t>Jorge  </a:t>
                      </a:r>
                      <a:r>
                        <a:rPr lang="pt-BR" sz="1800" b="0" i="0" baseline="0" dirty="0">
                          <a:solidFill>
                            <a:schemeClr val="tx1"/>
                          </a:solidFill>
                          <a:effectLst/>
                        </a:rPr>
                        <a:t>Maluf </a:t>
                      </a:r>
                    </a:p>
                    <a:p>
                      <a:pPr marL="342900" lvl="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pt-BR" sz="1800" b="0" i="0" baseline="0" dirty="0">
                          <a:solidFill>
                            <a:schemeClr val="tx1"/>
                          </a:solidFill>
                          <a:effectLst/>
                        </a:rPr>
                        <a:t>Tânia Ferro </a:t>
                      </a:r>
                    </a:p>
                    <a:p>
                      <a:pPr marL="342900" lvl="0" indent="-342900" algn="l">
                        <a:buFont typeface="Wingdings" panose="05000000000000000000" pitchFamily="2" charset="2"/>
                        <a:buChar char="ü"/>
                      </a:pPr>
                      <a:r>
                        <a:rPr lang="pt-BR" sz="1800" b="0" i="0" baseline="0" dirty="0">
                          <a:solidFill>
                            <a:schemeClr val="tx1"/>
                          </a:solidFill>
                          <a:effectLst/>
                        </a:rPr>
                        <a:t>André Santos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>
                            <a:outerShdw blurRad="50800" dist="38100" dir="5400000" algn="t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pt-BR" sz="24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>
                            <a:outerShdw blurRad="50800" dist="38100" dir="5400000" algn="t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</a:rPr>
                        <a:t>Smiles</a:t>
                      </a:r>
                      <a:endParaRPr lang="pt-BR" sz="24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>
                          <a:outerShdw blurRad="50800" dist="38100" dir="5400000" algn="t" rotWithShape="0">
                            <a:schemeClr val="bg1">
                              <a:alpha val="40000"/>
                            </a:schemeClr>
                          </a:outerShdw>
                        </a:effectLst>
                      </a:endParaRPr>
                    </a:p>
                    <a:p>
                      <a:pPr algn="ctr"/>
                      <a:endParaRPr lang="pt-BR" sz="18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>
                          <a:outerShdw blurRad="50800" dist="38100" dir="5400000" algn="t" rotWithShape="0">
                            <a:schemeClr val="bg1">
                              <a:alpha val="40000"/>
                            </a:schemeClr>
                          </a:outerShdw>
                        </a:effectLst>
                      </a:endParaRP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pt-BR" sz="18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Sponsor</a:t>
                      </a:r>
                      <a:r>
                        <a:rPr lang="pt-BR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pt-BR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Rodrigo </a:t>
                      </a:r>
                      <a:r>
                        <a:rPr lang="pt-BR" sz="18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Rothstein</a:t>
                      </a:r>
                      <a:endParaRPr lang="pt-BR" sz="1800" b="0" i="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pt-BR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Responsável: Marcela Dias</a:t>
                      </a:r>
                      <a:endParaRPr lang="pt-BR" sz="1800" b="0" i="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endParaRPr lang="pt-BR" sz="1800" b="0" i="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l" defTabSz="4572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pt-BR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 :</a:t>
                      </a:r>
                    </a:p>
                    <a:p>
                      <a:pPr marL="800100" lvl="1" indent="-342900" algn="l" defTabSz="457200" rtl="0" eaLnBrk="1" latinLnBrk="0" hangingPunct="1">
                        <a:buFont typeface="Courier New" panose="02070309020205020404" pitchFamily="49" charset="0"/>
                        <a:buChar char="o"/>
                      </a:pPr>
                      <a:r>
                        <a:rPr lang="pt-BR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Adriano Barbosa – Operações de TI e Infraestrutura</a:t>
                      </a:r>
                    </a:p>
                    <a:p>
                      <a:pPr marL="800100" lvl="1" indent="-342900" algn="l" defTabSz="457200" rtl="0" eaLnBrk="1" latinLnBrk="0" hangingPunct="1">
                        <a:buFont typeface="Courier New" panose="02070309020205020404" pitchFamily="49" charset="0"/>
                        <a:buChar char="o"/>
                      </a:pPr>
                      <a:r>
                        <a:rPr lang="pt-BR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Nei </a:t>
                      </a:r>
                      <a:r>
                        <a:rPr lang="pt-BR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Henckes</a:t>
                      </a:r>
                      <a:r>
                        <a:rPr lang="pt-BR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Operações de TI</a:t>
                      </a:r>
                    </a:p>
                    <a:p>
                      <a:pPr marL="800100" lvl="1" indent="-342900" algn="l" defTabSz="457200" rtl="0" eaLnBrk="1" latinLnBrk="0" hangingPunct="1">
                        <a:buFont typeface="Courier New" panose="02070309020205020404" pitchFamily="49" charset="0"/>
                        <a:buChar char="o"/>
                      </a:pPr>
                      <a:r>
                        <a:rPr lang="pt-BR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Cláudio </a:t>
                      </a:r>
                      <a:r>
                        <a:rPr lang="pt-BR" sz="16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Cunha – Infraestrutura </a:t>
                      </a:r>
                    </a:p>
                    <a:p>
                      <a:pPr marL="800100" lvl="1" indent="-342900" algn="l" defTabSz="457200" rtl="0" eaLnBrk="1" latinLnBrk="0" hangingPunct="1">
                        <a:buFont typeface="Courier New" panose="02070309020205020404" pitchFamily="49" charset="0"/>
                        <a:buChar char="o"/>
                      </a:pPr>
                      <a:r>
                        <a:rPr lang="pt-BR" sz="16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Daniel Borges – Infraestrutura</a:t>
                      </a:r>
                    </a:p>
                    <a:p>
                      <a:pPr marL="800100" lvl="1" indent="-342900" algn="l" defTabSz="457200" rtl="0" eaLnBrk="1" latinLnBrk="0" hangingPunct="1">
                        <a:buFont typeface="Courier New" panose="02070309020205020404" pitchFamily="49" charset="0"/>
                        <a:buChar char="o"/>
                      </a:pPr>
                      <a:r>
                        <a:rPr lang="pt-BR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Leonardo </a:t>
                      </a:r>
                      <a:r>
                        <a:rPr lang="pt-BR" sz="16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Cestarolli</a:t>
                      </a:r>
                      <a:r>
                        <a:rPr lang="pt-BR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Arquitetura</a:t>
                      </a:r>
                    </a:p>
                    <a:p>
                      <a:pPr marL="800100" lvl="1" indent="-342900" algn="l" defTabSz="457200" rtl="0" eaLnBrk="1" latinLnBrk="0" hangingPunct="1">
                        <a:buFont typeface="Courier New" panose="02070309020205020404" pitchFamily="49" charset="0"/>
                        <a:buChar char="o"/>
                      </a:pPr>
                      <a:r>
                        <a:rPr lang="pt-BR" sz="16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Guilherme Affonso – Arquitetura</a:t>
                      </a:r>
                      <a:endParaRPr lang="pt-BR" sz="1600" b="0" i="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="" xmlns:a16="http://schemas.microsoft.com/office/drawing/2014/main" val="3001638549"/>
                  </a:ext>
                </a:extLst>
              </a:tr>
            </a:tbl>
          </a:graphicData>
        </a:graphic>
      </p:graphicFrame>
      <p:sp>
        <p:nvSpPr>
          <p:cNvPr id="13" name="TextBox 8"/>
          <p:cNvSpPr txBox="1"/>
          <p:nvPr/>
        </p:nvSpPr>
        <p:spPr>
          <a:xfrm>
            <a:off x="2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295921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0" y="1100671"/>
            <a:ext cx="1002585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</a:t>
            </a:r>
            <a:endParaRPr lang="pt-BR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Espaço Reservado para Número de Slid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706630"/>
              </p:ext>
            </p:extLst>
          </p:nvPr>
        </p:nvGraphicFramePr>
        <p:xfrm>
          <a:off x="163780" y="1699362"/>
          <a:ext cx="9594368" cy="4490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85312"/>
                <a:gridCol w="685312"/>
                <a:gridCol w="685312"/>
                <a:gridCol w="685312"/>
                <a:gridCol w="685312"/>
                <a:gridCol w="685312"/>
                <a:gridCol w="685312"/>
                <a:gridCol w="685312"/>
                <a:gridCol w="685312"/>
                <a:gridCol w="685312"/>
                <a:gridCol w="685312"/>
                <a:gridCol w="685312"/>
                <a:gridCol w="685312"/>
                <a:gridCol w="685312"/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Out</a:t>
                      </a:r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Nov</a:t>
                      </a:r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Dez</a:t>
                      </a:r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3 - 7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10-14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17 - 21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24 - 28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31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1 - 4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7 - 11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14 - 18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21 - 25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28 - 30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1 - 2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5 - 9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12 - 16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19 – 23</a:t>
                      </a:r>
                      <a:endParaRPr lang="pt-BR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1" name="TextBox 8"/>
          <p:cNvSpPr txBox="1"/>
          <p:nvPr/>
        </p:nvSpPr>
        <p:spPr>
          <a:xfrm>
            <a:off x="2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125461" y="2393214"/>
            <a:ext cx="8340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err="1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Kick</a:t>
            </a: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-Off</a:t>
            </a:r>
          </a:p>
        </p:txBody>
      </p:sp>
      <p:sp>
        <p:nvSpPr>
          <p:cNvPr id="12" name="Isosceles Triangle 41"/>
          <p:cNvSpPr/>
          <p:nvPr/>
        </p:nvSpPr>
        <p:spPr>
          <a:xfrm>
            <a:off x="213833" y="2729202"/>
            <a:ext cx="169671" cy="454936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  <p:sp>
        <p:nvSpPr>
          <p:cNvPr id="13" name="Rectangle 107"/>
          <p:cNvSpPr>
            <a:spLocks/>
          </p:cNvSpPr>
          <p:nvPr/>
        </p:nvSpPr>
        <p:spPr bwMode="auto">
          <a:xfrm>
            <a:off x="304102" y="3860061"/>
            <a:ext cx="8788606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Mapeamento dos processos - 54</a:t>
            </a:r>
            <a:r>
              <a:rPr kumimoji="0" lang="pt-BR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dias</a:t>
            </a:r>
          </a:p>
        </p:txBody>
      </p:sp>
      <p:sp>
        <p:nvSpPr>
          <p:cNvPr id="15" name="Rectangle 107"/>
          <p:cNvSpPr>
            <a:spLocks/>
          </p:cNvSpPr>
          <p:nvPr/>
        </p:nvSpPr>
        <p:spPr bwMode="auto">
          <a:xfrm>
            <a:off x="842567" y="4429419"/>
            <a:ext cx="8250141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 dos processos mapeados - 49</a:t>
            </a:r>
            <a:r>
              <a:rPr kumimoji="0" lang="pt-BR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dias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5722831" y="5915511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Apresentação</a:t>
            </a:r>
            <a:r>
              <a:rPr lang="en-US" sz="1400" dirty="0">
                <a:cs typeface="Gotham Rounded Book"/>
              </a:rPr>
              <a:t> final e </a:t>
            </a:r>
            <a:r>
              <a:rPr lang="en-US" sz="1400" dirty="0" err="1">
                <a:cs typeface="Gotham Rounded Book"/>
              </a:rPr>
              <a:t>termo</a:t>
            </a:r>
            <a:r>
              <a:rPr lang="en-US" sz="1400" dirty="0">
                <a:cs typeface="Gotham Rounded Book"/>
              </a:rPr>
              <a:t> de </a:t>
            </a:r>
            <a:r>
              <a:rPr lang="en-US" sz="1400" dirty="0" err="1">
                <a:cs typeface="Gotham Rounded Book"/>
              </a:rPr>
              <a:t>encerramento</a:t>
            </a:r>
            <a:endParaRPr lang="en-US" sz="1400" dirty="0">
              <a:cs typeface="Gotham Rounded Book"/>
            </a:endParaRPr>
          </a:p>
        </p:txBody>
      </p:sp>
      <p:sp>
        <p:nvSpPr>
          <p:cNvPr id="17" name="Octógono 16"/>
          <p:cNvSpPr/>
          <p:nvPr/>
        </p:nvSpPr>
        <p:spPr>
          <a:xfrm>
            <a:off x="9270129" y="5898525"/>
            <a:ext cx="411899" cy="321972"/>
          </a:xfrm>
          <a:prstGeom prst="octagon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Rectangle 107"/>
          <p:cNvSpPr>
            <a:spLocks/>
          </p:cNvSpPr>
          <p:nvPr/>
        </p:nvSpPr>
        <p:spPr bwMode="auto">
          <a:xfrm>
            <a:off x="1470366" y="4996105"/>
            <a:ext cx="8250141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Ajustes dos processos mapeados - 49</a:t>
            </a:r>
            <a:r>
              <a:rPr kumimoji="0" lang="pt-BR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dias</a:t>
            </a:r>
          </a:p>
        </p:txBody>
      </p:sp>
      <p:sp>
        <p:nvSpPr>
          <p:cNvPr id="21" name="Rectangle 107"/>
          <p:cNvSpPr>
            <a:spLocks/>
          </p:cNvSpPr>
          <p:nvPr/>
        </p:nvSpPr>
        <p:spPr bwMode="auto">
          <a:xfrm>
            <a:off x="304103" y="3323728"/>
            <a:ext cx="8250141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Entrevistas com os donos dos processos - 49</a:t>
            </a:r>
            <a:r>
              <a:rPr kumimoji="0" lang="pt-BR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dias</a:t>
            </a:r>
          </a:p>
        </p:txBody>
      </p:sp>
    </p:spTree>
    <p:extLst>
      <p:ext uri="{BB962C8B-B14F-4D97-AF65-F5344CB8AC3E}">
        <p14:creationId xmlns:p14="http://schemas.microsoft.com/office/powerpoint/2010/main" val="103361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228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PREMISSAS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A </a:t>
            </a:r>
            <a:r>
              <a:rPr lang="pt-BR" sz="1600" b="1" dirty="0">
                <a:solidFill>
                  <a:schemeClr val="tx1"/>
                </a:solidFill>
              </a:rPr>
              <a:t>SMILES </a:t>
            </a:r>
            <a:r>
              <a:rPr lang="pt-BR" sz="1600" dirty="0">
                <a:solidFill>
                  <a:schemeClr val="tx1"/>
                </a:solidFill>
              </a:rPr>
              <a:t>deve designar um responsável </a:t>
            </a:r>
            <a:r>
              <a:rPr lang="pt-BR" sz="1600" dirty="0" smtClean="0">
                <a:solidFill>
                  <a:schemeClr val="tx1"/>
                </a:solidFill>
              </a:rPr>
              <a:t>por cada processo, </a:t>
            </a:r>
            <a:r>
              <a:rPr lang="pt-BR" sz="1600" dirty="0">
                <a:solidFill>
                  <a:schemeClr val="tx1"/>
                </a:solidFill>
              </a:rPr>
              <a:t>com responsabilidade e autoridade adequadas para validação das entregas </a:t>
            </a:r>
            <a:r>
              <a:rPr lang="pt-BR" sz="1600" b="1" dirty="0">
                <a:solidFill>
                  <a:schemeClr val="tx1"/>
                </a:solidFill>
              </a:rPr>
              <a:t>(validação técnica e aceite)</a:t>
            </a:r>
            <a:r>
              <a:rPr lang="pt-BR" sz="1600" dirty="0">
                <a:solidFill>
                  <a:schemeClr val="tx1"/>
                </a:solidFill>
              </a:rPr>
              <a:t>e intermediação de eventuais barreiras para a execução dos trabalhos;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Os consultores devem possuir acesso ilimitado às informações, resguardando-se todos os requisitos de confidencialidade através da assinatura de um NDA;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Todo o consumo de horas trabalhadas será demonstrado em “</a:t>
            </a:r>
            <a:r>
              <a:rPr lang="pt-BR" sz="1600" i="1" dirty="0">
                <a:solidFill>
                  <a:schemeClr val="tx1"/>
                </a:solidFill>
              </a:rPr>
              <a:t>Status </a:t>
            </a:r>
            <a:r>
              <a:rPr lang="pt-BR" sz="1600" i="1" dirty="0" err="1">
                <a:solidFill>
                  <a:schemeClr val="tx1"/>
                </a:solidFill>
              </a:rPr>
              <a:t>Reports</a:t>
            </a:r>
            <a:r>
              <a:rPr lang="pt-BR" sz="1600" i="1" dirty="0">
                <a:solidFill>
                  <a:schemeClr val="tx1"/>
                </a:solidFill>
              </a:rPr>
              <a:t>” </a:t>
            </a:r>
            <a:r>
              <a:rPr lang="pt-BR" sz="1600" dirty="0">
                <a:solidFill>
                  <a:schemeClr val="tx1"/>
                </a:solidFill>
              </a:rPr>
              <a:t>semanais, enviados ao Responsável pelo projeto da </a:t>
            </a:r>
            <a:r>
              <a:rPr lang="pt-BR" sz="1600" b="1" dirty="0">
                <a:solidFill>
                  <a:schemeClr val="tx1"/>
                </a:solidFill>
              </a:rPr>
              <a:t>SMILES</a:t>
            </a:r>
            <a:r>
              <a:rPr lang="pt-BR" sz="1600" dirty="0">
                <a:solidFill>
                  <a:schemeClr val="tx1"/>
                </a:solidFill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Fica estabelecido e acordado que a </a:t>
            </a:r>
            <a:r>
              <a:rPr lang="pt-BR" sz="1600" b="1" dirty="0">
                <a:solidFill>
                  <a:schemeClr val="tx1"/>
                </a:solidFill>
              </a:rPr>
              <a:t>SMILES </a:t>
            </a:r>
            <a:r>
              <a:rPr lang="pt-BR" sz="1600" dirty="0">
                <a:solidFill>
                  <a:schemeClr val="tx1"/>
                </a:solidFill>
              </a:rPr>
              <a:t>não poderá contratar direta ou indiretamente os profissionais alocados pela CHACON | Consultoria Ilimitada, sem autorização prévia e por escrito do sócio administrador da consultoria;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A CHACON | Consultoria Ilimitada se resguarda ao direito de substituir os profissionais alocados por outros que possuam competências equivalentes, mediante situações alheias à sua vontade tais como enfermidades ou licenças, sem prejuízo à </a:t>
            </a:r>
            <a:r>
              <a:rPr lang="pt-BR" sz="1600" b="1" dirty="0">
                <a:solidFill>
                  <a:schemeClr val="tx1"/>
                </a:solidFill>
              </a:rPr>
              <a:t>SMILES </a:t>
            </a:r>
            <a:r>
              <a:rPr lang="pt-BR" sz="1600" dirty="0">
                <a:solidFill>
                  <a:schemeClr val="tx1"/>
                </a:solidFill>
              </a:rPr>
              <a:t>sobre a continuidade dos trabalhos.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180063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2" name="Retângulo 21"/>
          <p:cNvSpPr/>
          <p:nvPr/>
        </p:nvSpPr>
        <p:spPr>
          <a:xfrm>
            <a:off x="45716" y="1100671"/>
            <a:ext cx="9980138" cy="52228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PRÓXIMOS PASSOS</a:t>
            </a:r>
            <a:endParaRPr lang="pt-BR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400" b="1" dirty="0">
                <a:solidFill>
                  <a:schemeClr val="tx1"/>
                </a:solidFill>
              </a:rPr>
              <a:t>Mapeamento dos processos: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400" dirty="0" smtClean="0">
                <a:solidFill>
                  <a:schemeClr val="tx1"/>
                </a:solidFill>
              </a:rPr>
              <a:t>DS5.9.A </a:t>
            </a:r>
            <a:r>
              <a:rPr lang="pt-BR" sz="1400" dirty="0">
                <a:solidFill>
                  <a:schemeClr val="tx1"/>
                </a:solidFill>
              </a:rPr>
              <a:t>- Gestão de </a:t>
            </a:r>
            <a:r>
              <a:rPr lang="pt-BR" sz="1400" dirty="0">
                <a:solidFill>
                  <a:schemeClr val="tx1"/>
                </a:solidFill>
              </a:rPr>
              <a:t>A</a:t>
            </a:r>
            <a:r>
              <a:rPr lang="pt-BR" sz="1400" dirty="0" smtClean="0">
                <a:solidFill>
                  <a:schemeClr val="tx1"/>
                </a:solidFill>
              </a:rPr>
              <a:t>ntivírus</a:t>
            </a:r>
            <a:endParaRPr lang="pt-BR" sz="1400" dirty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400" dirty="0" smtClean="0">
                <a:solidFill>
                  <a:schemeClr val="tx1"/>
                </a:solidFill>
              </a:rPr>
              <a:t>DS5.9.B </a:t>
            </a:r>
            <a:r>
              <a:rPr lang="pt-BR" sz="1400" dirty="0">
                <a:solidFill>
                  <a:schemeClr val="tx1"/>
                </a:solidFill>
              </a:rPr>
              <a:t>– Administrar Patches - Servidores das </a:t>
            </a:r>
            <a:r>
              <a:rPr lang="pt-BR" sz="1400" dirty="0" smtClean="0">
                <a:solidFill>
                  <a:schemeClr val="tx1"/>
                </a:solidFill>
              </a:rPr>
              <a:t>Bases</a:t>
            </a:r>
            <a:endParaRPr lang="pt-BR" sz="1400" dirty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400" dirty="0" smtClean="0">
                <a:solidFill>
                  <a:schemeClr val="tx1"/>
                </a:solidFill>
              </a:rPr>
              <a:t>PO2 </a:t>
            </a:r>
            <a:r>
              <a:rPr lang="pt-BR" sz="1400" dirty="0">
                <a:solidFill>
                  <a:schemeClr val="tx1"/>
                </a:solidFill>
              </a:rPr>
              <a:t>- Definir Arquitetura da Informação  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400" dirty="0" smtClean="0">
                <a:solidFill>
                  <a:schemeClr val="tx1"/>
                </a:solidFill>
              </a:rPr>
              <a:t>DS03 </a:t>
            </a:r>
            <a:r>
              <a:rPr lang="pt-BR" sz="1400" dirty="0">
                <a:solidFill>
                  <a:schemeClr val="tx1"/>
                </a:solidFill>
              </a:rPr>
              <a:t>- Gerenciar o </a:t>
            </a:r>
            <a:r>
              <a:rPr lang="pt-BR" sz="1400" dirty="0" smtClean="0">
                <a:solidFill>
                  <a:schemeClr val="tx1"/>
                </a:solidFill>
              </a:rPr>
              <a:t>Desempenho </a:t>
            </a:r>
            <a:r>
              <a:rPr lang="pt-BR" sz="1400" dirty="0">
                <a:solidFill>
                  <a:schemeClr val="tx1"/>
                </a:solidFill>
              </a:rPr>
              <a:t>e </a:t>
            </a:r>
            <a:r>
              <a:rPr lang="pt-BR" sz="1400" dirty="0">
                <a:solidFill>
                  <a:schemeClr val="tx1"/>
                </a:solidFill>
              </a:rPr>
              <a:t>C</a:t>
            </a:r>
            <a:r>
              <a:rPr lang="pt-BR" sz="1400" dirty="0" smtClean="0">
                <a:solidFill>
                  <a:schemeClr val="tx1"/>
                </a:solidFill>
              </a:rPr>
              <a:t>apacidade </a:t>
            </a:r>
            <a:endParaRPr lang="pt-BR" sz="1400" dirty="0" smtClean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400" dirty="0" smtClean="0">
                <a:solidFill>
                  <a:schemeClr val="tx1"/>
                </a:solidFill>
              </a:rPr>
              <a:t>M01 </a:t>
            </a:r>
            <a:r>
              <a:rPr lang="pt-BR" sz="1400" dirty="0">
                <a:solidFill>
                  <a:schemeClr val="tx1"/>
                </a:solidFill>
              </a:rPr>
              <a:t>- Monitorar </a:t>
            </a:r>
            <a:r>
              <a:rPr lang="pt-BR" sz="1400" dirty="0" smtClean="0">
                <a:solidFill>
                  <a:schemeClr val="tx1"/>
                </a:solidFill>
              </a:rPr>
              <a:t>Processos</a:t>
            </a:r>
            <a:r>
              <a:rPr lang="pt-BR" sz="1400" dirty="0">
                <a:solidFill>
                  <a:schemeClr val="tx1"/>
                </a:solidFill>
              </a:rPr>
              <a:t> 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3098526860"/>
              </p:ext>
            </p:extLst>
          </p:nvPr>
        </p:nvGraphicFramePr>
        <p:xfrm>
          <a:off x="45716" y="1624334"/>
          <a:ext cx="9980137" cy="31691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Espaço Reservado para Número de Slide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1" name="TextBox 8"/>
          <p:cNvSpPr txBox="1"/>
          <p:nvPr/>
        </p:nvSpPr>
        <p:spPr>
          <a:xfrm>
            <a:off x="2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183711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3355</TotalTime>
  <Words>597</Words>
  <PresentationFormat>Personalizar</PresentationFormat>
  <Paragraphs>186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Gill Sans</vt:lpstr>
      <vt:lpstr>Gotham Rounded Book</vt:lpstr>
      <vt:lpstr>Helvetica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2016-09-28T18:19:35Z</dcterms:modified>
</cp:coreProperties>
</file>