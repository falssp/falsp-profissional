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7" r:id="rId2"/>
    <p:sldId id="339" r:id="rId3"/>
    <p:sldId id="397" r:id="rId4"/>
    <p:sldId id="398" r:id="rId5"/>
    <p:sldId id="402" r:id="rId6"/>
    <p:sldId id="400" r:id="rId7"/>
    <p:sldId id="401" r:id="rId8"/>
    <p:sldId id="403" r:id="rId9"/>
    <p:sldId id="391" r:id="rId10"/>
    <p:sldId id="385" r:id="rId11"/>
    <p:sldId id="386" r:id="rId12"/>
    <p:sldId id="389" r:id="rId13"/>
    <p:sldId id="387" r:id="rId14"/>
    <p:sldId id="388" r:id="rId15"/>
    <p:sldId id="394" r:id="rId16"/>
    <p:sldId id="395" r:id="rId17"/>
    <p:sldId id="410" r:id="rId18"/>
    <p:sldId id="409" r:id="rId19"/>
    <p:sldId id="404" r:id="rId20"/>
    <p:sldId id="392" r:id="rId21"/>
    <p:sldId id="390" r:id="rId22"/>
    <p:sldId id="408" r:id="rId23"/>
    <p:sldId id="405" r:id="rId24"/>
    <p:sldId id="393" r:id="rId25"/>
    <p:sldId id="407" r:id="rId26"/>
    <p:sldId id="396" r:id="rId27"/>
    <p:sldId id="406" r:id="rId28"/>
    <p:sldId id="351" r:id="rId29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25" userDrawn="1">
          <p15:clr>
            <a:srgbClr val="A4A3A4"/>
          </p15:clr>
        </p15:guide>
        <p15:guide id="2" pos="32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24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40" y="78"/>
      </p:cViewPr>
      <p:guideLst>
        <p:guide orient="horz" pos="3725"/>
        <p:guide pos="32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CB2735-739F-48E4-8469-BCB08292A417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pt-BR"/>
        </a:p>
      </dgm:t>
    </dgm:pt>
    <dgm:pt modelId="{7F356CE3-A8FB-4FC2-8516-4BF680A294FD}">
      <dgm:prSet custT="1"/>
      <dgm:spPr/>
      <dgm:t>
        <a:bodyPr/>
        <a:lstStyle/>
        <a:p>
          <a:r>
            <a:rPr lang="pt-BR" sz="1600" dirty="0" smtClean="0"/>
            <a:t>% e </a:t>
          </a:r>
          <a:r>
            <a:rPr lang="pt-BR" sz="1600" dirty="0" err="1" smtClean="0"/>
            <a:t>qtd</a:t>
          </a:r>
          <a:r>
            <a:rPr lang="pt-BR" sz="1600" dirty="0" smtClean="0"/>
            <a:t>. de RFC por período; </a:t>
          </a:r>
          <a:endParaRPr lang="pt-BR" sz="1600" dirty="0"/>
        </a:p>
      </dgm:t>
    </dgm:pt>
    <dgm:pt modelId="{9D5BFAF9-B0E7-435F-BDC5-57EC0725D958}" type="parTrans" cxnId="{81E3776E-CD2C-4AF1-A626-C78E82A6D211}">
      <dgm:prSet/>
      <dgm:spPr/>
      <dgm:t>
        <a:bodyPr/>
        <a:lstStyle/>
        <a:p>
          <a:endParaRPr lang="pt-BR" sz="1600"/>
        </a:p>
      </dgm:t>
    </dgm:pt>
    <dgm:pt modelId="{19BC3EF3-8680-49B0-BE80-173AD30B2D50}" type="sibTrans" cxnId="{81E3776E-CD2C-4AF1-A626-C78E82A6D211}">
      <dgm:prSet/>
      <dgm:spPr/>
      <dgm:t>
        <a:bodyPr/>
        <a:lstStyle/>
        <a:p>
          <a:endParaRPr lang="pt-BR" sz="1600"/>
        </a:p>
      </dgm:t>
    </dgm:pt>
    <dgm:pt modelId="{AFC80E43-ABBD-40B5-8516-4103B0464153}">
      <dgm:prSet custT="1"/>
      <dgm:spPr/>
      <dgm:t>
        <a:bodyPr/>
        <a:lstStyle/>
        <a:p>
          <a:r>
            <a:rPr lang="pt-BR" sz="1600" dirty="0" smtClean="0"/>
            <a:t>% e </a:t>
          </a:r>
          <a:r>
            <a:rPr lang="pt-BR" sz="1600" dirty="0" err="1" smtClean="0"/>
            <a:t>qtd</a:t>
          </a:r>
          <a:r>
            <a:rPr lang="pt-BR" sz="1600" dirty="0" smtClean="0"/>
            <a:t>. de RFC por categoria (Pré-aprovada, Normal, Emergencial ou Informativa);</a:t>
          </a:r>
          <a:endParaRPr lang="pt-BR" sz="1600" dirty="0"/>
        </a:p>
      </dgm:t>
    </dgm:pt>
    <dgm:pt modelId="{467D254C-6EB8-40E8-A84D-D962E5FE4F8B}" type="parTrans" cxnId="{153221AE-77C9-400C-94BA-7AA73C122151}">
      <dgm:prSet/>
      <dgm:spPr/>
      <dgm:t>
        <a:bodyPr/>
        <a:lstStyle/>
        <a:p>
          <a:endParaRPr lang="pt-BR" sz="1600"/>
        </a:p>
      </dgm:t>
    </dgm:pt>
    <dgm:pt modelId="{0C74CE10-2F1B-4887-BF30-30CDF692DC68}" type="sibTrans" cxnId="{153221AE-77C9-400C-94BA-7AA73C122151}">
      <dgm:prSet/>
      <dgm:spPr/>
      <dgm:t>
        <a:bodyPr/>
        <a:lstStyle/>
        <a:p>
          <a:endParaRPr lang="pt-BR" sz="1600"/>
        </a:p>
      </dgm:t>
    </dgm:pt>
    <dgm:pt modelId="{90BD87F0-0654-4069-855D-89063E766543}">
      <dgm:prSet custT="1"/>
      <dgm:spPr/>
      <dgm:t>
        <a:bodyPr/>
        <a:lstStyle/>
        <a:p>
          <a:r>
            <a:rPr lang="pt-BR" sz="1600" dirty="0" smtClean="0"/>
            <a:t>% e </a:t>
          </a:r>
          <a:r>
            <a:rPr lang="pt-BR" sz="1600" dirty="0" err="1" smtClean="0"/>
            <a:t>qtd</a:t>
          </a:r>
          <a:r>
            <a:rPr lang="pt-BR" sz="1600" dirty="0" smtClean="0"/>
            <a:t>. de RFC fechada com sucesso ou sem sucesso;</a:t>
          </a:r>
          <a:endParaRPr lang="pt-BR" sz="1600" dirty="0"/>
        </a:p>
      </dgm:t>
    </dgm:pt>
    <dgm:pt modelId="{752975CE-D21A-4BAC-8DF3-B96503B84BB2}" type="parTrans" cxnId="{DD491A3A-6216-4BF2-B06B-1F4BCABF58FD}">
      <dgm:prSet/>
      <dgm:spPr/>
      <dgm:t>
        <a:bodyPr/>
        <a:lstStyle/>
        <a:p>
          <a:endParaRPr lang="pt-BR" sz="1600"/>
        </a:p>
      </dgm:t>
    </dgm:pt>
    <dgm:pt modelId="{E856C6B5-F0FA-4D4F-B451-51850DB4242E}" type="sibTrans" cxnId="{DD491A3A-6216-4BF2-B06B-1F4BCABF58FD}">
      <dgm:prSet/>
      <dgm:spPr/>
      <dgm:t>
        <a:bodyPr/>
        <a:lstStyle/>
        <a:p>
          <a:endParaRPr lang="pt-BR" sz="1600"/>
        </a:p>
      </dgm:t>
    </dgm:pt>
    <dgm:pt modelId="{4CFD42BC-FDF1-4E00-8414-32B0ABC9D8F8}">
      <dgm:prSet custT="1"/>
      <dgm:spPr/>
      <dgm:t>
        <a:bodyPr/>
        <a:lstStyle/>
        <a:p>
          <a:r>
            <a:rPr lang="pt-BR" sz="1600" dirty="0" smtClean="0"/>
            <a:t>% e </a:t>
          </a:r>
          <a:r>
            <a:rPr lang="pt-BR" sz="1600" dirty="0" err="1" smtClean="0"/>
            <a:t>qtd</a:t>
          </a:r>
          <a:r>
            <a:rPr lang="pt-BR" sz="1600" dirty="0" smtClean="0"/>
            <a:t>. de RFC por origem (Projeto, Melhoria, Problema, Incidente ou Solicitação);</a:t>
          </a:r>
          <a:endParaRPr lang="pt-BR" sz="1600" dirty="0"/>
        </a:p>
      </dgm:t>
    </dgm:pt>
    <dgm:pt modelId="{85B28925-23EF-435B-8C40-DABEA5B687B8}" type="parTrans" cxnId="{6373E185-B8ED-4BBE-B691-4C7B61D1096E}">
      <dgm:prSet/>
      <dgm:spPr/>
    </dgm:pt>
    <dgm:pt modelId="{39672FC5-BD4B-4B8E-A24B-92D8D062AA76}" type="sibTrans" cxnId="{6373E185-B8ED-4BBE-B691-4C7B61D1096E}">
      <dgm:prSet/>
      <dgm:spPr/>
    </dgm:pt>
    <dgm:pt modelId="{C910B4CC-6AC0-409F-A819-E90B7F88C863}">
      <dgm:prSet custT="1"/>
      <dgm:spPr/>
      <dgm:t>
        <a:bodyPr/>
        <a:lstStyle/>
        <a:p>
          <a:r>
            <a:rPr lang="pt-BR" sz="1600" dirty="0" smtClean="0"/>
            <a:t>% e </a:t>
          </a:r>
          <a:r>
            <a:rPr lang="pt-BR" sz="1600" dirty="0" err="1" smtClean="0"/>
            <a:t>qtd</a:t>
          </a:r>
          <a:r>
            <a:rPr lang="pt-BR" sz="1600" dirty="0" smtClean="0"/>
            <a:t>. de RFC cancelada.</a:t>
          </a:r>
          <a:endParaRPr lang="pt-BR" sz="1600" dirty="0"/>
        </a:p>
      </dgm:t>
    </dgm:pt>
    <dgm:pt modelId="{B4759DF0-838E-44F3-A852-4F68D7523523}" type="parTrans" cxnId="{AE9E32D1-B394-42A8-9D5E-F03C928EDF0C}">
      <dgm:prSet/>
      <dgm:spPr/>
    </dgm:pt>
    <dgm:pt modelId="{2F6B3A91-CEE7-4921-BB87-484FE1D9C552}" type="sibTrans" cxnId="{AE9E32D1-B394-42A8-9D5E-F03C928EDF0C}">
      <dgm:prSet/>
      <dgm:spPr/>
    </dgm:pt>
    <dgm:pt modelId="{2F548DA7-2A51-4778-9DBF-9FDB468E5BE8}" type="pres">
      <dgm:prSet presAssocID="{D3CB2735-739F-48E4-8469-BCB08292A417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DA2FBA4-E030-425C-B20C-5C1BD3EA655C}" type="pres">
      <dgm:prSet presAssocID="{7F356CE3-A8FB-4FC2-8516-4BF680A294FD}" presName="parentLin" presStyleCnt="0"/>
      <dgm:spPr/>
    </dgm:pt>
    <dgm:pt modelId="{3997C214-1A64-466C-ABB2-94EC845D6A40}" type="pres">
      <dgm:prSet presAssocID="{7F356CE3-A8FB-4FC2-8516-4BF680A294FD}" presName="parentLeftMargin" presStyleLbl="node1" presStyleIdx="0" presStyleCnt="5"/>
      <dgm:spPr/>
      <dgm:t>
        <a:bodyPr/>
        <a:lstStyle/>
        <a:p>
          <a:endParaRPr lang="pt-BR"/>
        </a:p>
      </dgm:t>
    </dgm:pt>
    <dgm:pt modelId="{E4F6B378-B2D3-496F-9069-446C35C9A117}" type="pres">
      <dgm:prSet presAssocID="{7F356CE3-A8FB-4FC2-8516-4BF680A294FD}" presName="parentText" presStyleLbl="node1" presStyleIdx="0" presStyleCnt="5" custScaleX="118561" custScaleY="18859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168BCF7-8A54-4CE2-992C-A09EFB732573}" type="pres">
      <dgm:prSet presAssocID="{7F356CE3-A8FB-4FC2-8516-4BF680A294FD}" presName="negativeSpace" presStyleCnt="0"/>
      <dgm:spPr/>
    </dgm:pt>
    <dgm:pt modelId="{BDA51548-0302-4329-BDE1-3B939512BA33}" type="pres">
      <dgm:prSet presAssocID="{7F356CE3-A8FB-4FC2-8516-4BF680A294FD}" presName="childText" presStyleLbl="conFgAcc1" presStyleIdx="0" presStyleCnt="5">
        <dgm:presLayoutVars>
          <dgm:bulletEnabled val="1"/>
        </dgm:presLayoutVars>
      </dgm:prSet>
      <dgm:spPr/>
    </dgm:pt>
    <dgm:pt modelId="{293F387C-700E-4793-A4A8-9EC2AC42887C}" type="pres">
      <dgm:prSet presAssocID="{19BC3EF3-8680-49B0-BE80-173AD30B2D50}" presName="spaceBetweenRectangles" presStyleCnt="0"/>
      <dgm:spPr/>
    </dgm:pt>
    <dgm:pt modelId="{4CFBFC05-2A7C-441D-BBDC-02FAD97EDC0B}" type="pres">
      <dgm:prSet presAssocID="{AFC80E43-ABBD-40B5-8516-4103B0464153}" presName="parentLin" presStyleCnt="0"/>
      <dgm:spPr/>
    </dgm:pt>
    <dgm:pt modelId="{17466F0E-03A7-4AA1-B89D-1FD03170F9C6}" type="pres">
      <dgm:prSet presAssocID="{AFC80E43-ABBD-40B5-8516-4103B0464153}" presName="parentLeftMargin" presStyleLbl="node1" presStyleIdx="0" presStyleCnt="5"/>
      <dgm:spPr/>
      <dgm:t>
        <a:bodyPr/>
        <a:lstStyle/>
        <a:p>
          <a:endParaRPr lang="pt-BR"/>
        </a:p>
      </dgm:t>
    </dgm:pt>
    <dgm:pt modelId="{EA0F245B-D55A-4FA0-9686-2056E14D4DDB}" type="pres">
      <dgm:prSet presAssocID="{AFC80E43-ABBD-40B5-8516-4103B0464153}" presName="parentText" presStyleLbl="node1" presStyleIdx="1" presStyleCnt="5" custScaleX="118561" custScaleY="18859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DFB5D90-6706-4209-A8C3-27D487B7BD24}" type="pres">
      <dgm:prSet presAssocID="{AFC80E43-ABBD-40B5-8516-4103B0464153}" presName="negativeSpace" presStyleCnt="0"/>
      <dgm:spPr/>
    </dgm:pt>
    <dgm:pt modelId="{93CC347B-884D-448A-A35B-42597B294F7E}" type="pres">
      <dgm:prSet presAssocID="{AFC80E43-ABBD-40B5-8516-4103B0464153}" presName="childText" presStyleLbl="conFgAcc1" presStyleIdx="1" presStyleCnt="5">
        <dgm:presLayoutVars>
          <dgm:bulletEnabled val="1"/>
        </dgm:presLayoutVars>
      </dgm:prSet>
      <dgm:spPr/>
    </dgm:pt>
    <dgm:pt modelId="{8A60C710-C20F-44D5-8732-862B1522EADA}" type="pres">
      <dgm:prSet presAssocID="{0C74CE10-2F1B-4887-BF30-30CDF692DC68}" presName="spaceBetweenRectangles" presStyleCnt="0"/>
      <dgm:spPr/>
    </dgm:pt>
    <dgm:pt modelId="{FDEDE8C2-95C0-4E70-88CC-738E3786E829}" type="pres">
      <dgm:prSet presAssocID="{4CFD42BC-FDF1-4E00-8414-32B0ABC9D8F8}" presName="parentLin" presStyleCnt="0"/>
      <dgm:spPr/>
    </dgm:pt>
    <dgm:pt modelId="{0BE276CC-2980-420F-B39C-5743DD671C8E}" type="pres">
      <dgm:prSet presAssocID="{4CFD42BC-FDF1-4E00-8414-32B0ABC9D8F8}" presName="parentLeftMargin" presStyleLbl="node1" presStyleIdx="1" presStyleCnt="5"/>
      <dgm:spPr/>
      <dgm:t>
        <a:bodyPr/>
        <a:lstStyle/>
        <a:p>
          <a:endParaRPr lang="pt-BR"/>
        </a:p>
      </dgm:t>
    </dgm:pt>
    <dgm:pt modelId="{8FE4058E-F2D6-44AB-923C-D94FA62E2684}" type="pres">
      <dgm:prSet presAssocID="{4CFD42BC-FDF1-4E00-8414-32B0ABC9D8F8}" presName="parentText" presStyleLbl="node1" presStyleIdx="2" presStyleCnt="5" custScaleX="118561" custScaleY="18859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A4B5C4F-D4AE-4505-B2EA-393B4C4E69F3}" type="pres">
      <dgm:prSet presAssocID="{4CFD42BC-FDF1-4E00-8414-32B0ABC9D8F8}" presName="negativeSpace" presStyleCnt="0"/>
      <dgm:spPr/>
    </dgm:pt>
    <dgm:pt modelId="{3B3CCBA8-8E93-45C9-BD3C-E8062D9CDCA5}" type="pres">
      <dgm:prSet presAssocID="{4CFD42BC-FDF1-4E00-8414-32B0ABC9D8F8}" presName="childText" presStyleLbl="conFgAcc1" presStyleIdx="2" presStyleCnt="5">
        <dgm:presLayoutVars>
          <dgm:bulletEnabled val="1"/>
        </dgm:presLayoutVars>
      </dgm:prSet>
      <dgm:spPr/>
    </dgm:pt>
    <dgm:pt modelId="{A6E725B5-4584-4095-AC48-64FFF9901D6F}" type="pres">
      <dgm:prSet presAssocID="{39672FC5-BD4B-4B8E-A24B-92D8D062AA76}" presName="spaceBetweenRectangles" presStyleCnt="0"/>
      <dgm:spPr/>
    </dgm:pt>
    <dgm:pt modelId="{DB878CE7-4814-4E81-96B2-9539D44DF06C}" type="pres">
      <dgm:prSet presAssocID="{90BD87F0-0654-4069-855D-89063E766543}" presName="parentLin" presStyleCnt="0"/>
      <dgm:spPr/>
    </dgm:pt>
    <dgm:pt modelId="{83D33F14-77D6-4837-B953-59E3B06B3EDB}" type="pres">
      <dgm:prSet presAssocID="{90BD87F0-0654-4069-855D-89063E766543}" presName="parentLeftMargin" presStyleLbl="node1" presStyleIdx="2" presStyleCnt="5"/>
      <dgm:spPr/>
      <dgm:t>
        <a:bodyPr/>
        <a:lstStyle/>
        <a:p>
          <a:endParaRPr lang="pt-BR"/>
        </a:p>
      </dgm:t>
    </dgm:pt>
    <dgm:pt modelId="{D3FA08D0-D6A1-4BB9-B301-FE55FB8C9301}" type="pres">
      <dgm:prSet presAssocID="{90BD87F0-0654-4069-855D-89063E766543}" presName="parentText" presStyleLbl="node1" presStyleIdx="3" presStyleCnt="5" custScaleX="118561" custScaleY="18859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1036B3B-878C-48C8-B1FD-E73E9DF25D44}" type="pres">
      <dgm:prSet presAssocID="{90BD87F0-0654-4069-855D-89063E766543}" presName="negativeSpace" presStyleCnt="0"/>
      <dgm:spPr/>
    </dgm:pt>
    <dgm:pt modelId="{68C3A2B4-8601-47FF-B6B9-DA25F953E502}" type="pres">
      <dgm:prSet presAssocID="{90BD87F0-0654-4069-855D-89063E766543}" presName="childText" presStyleLbl="conFgAcc1" presStyleIdx="3" presStyleCnt="5">
        <dgm:presLayoutVars>
          <dgm:bulletEnabled val="1"/>
        </dgm:presLayoutVars>
      </dgm:prSet>
      <dgm:spPr/>
    </dgm:pt>
    <dgm:pt modelId="{E18D2CB2-0560-45A2-8FFF-1E11200CEFC5}" type="pres">
      <dgm:prSet presAssocID="{E856C6B5-F0FA-4D4F-B451-51850DB4242E}" presName="spaceBetweenRectangles" presStyleCnt="0"/>
      <dgm:spPr/>
    </dgm:pt>
    <dgm:pt modelId="{BDEA24FB-8164-434D-9483-F6808B78637D}" type="pres">
      <dgm:prSet presAssocID="{C910B4CC-6AC0-409F-A819-E90B7F88C863}" presName="parentLin" presStyleCnt="0"/>
      <dgm:spPr/>
    </dgm:pt>
    <dgm:pt modelId="{FA2F7081-278C-4B14-97D3-4066E1230C96}" type="pres">
      <dgm:prSet presAssocID="{C910B4CC-6AC0-409F-A819-E90B7F88C863}" presName="parentLeftMargin" presStyleLbl="node1" presStyleIdx="3" presStyleCnt="5"/>
      <dgm:spPr/>
      <dgm:t>
        <a:bodyPr/>
        <a:lstStyle/>
        <a:p>
          <a:endParaRPr lang="pt-BR"/>
        </a:p>
      </dgm:t>
    </dgm:pt>
    <dgm:pt modelId="{E2D721E8-4009-4252-BF15-3464F3D6121B}" type="pres">
      <dgm:prSet presAssocID="{C910B4CC-6AC0-409F-A819-E90B7F88C863}" presName="parentText" presStyleLbl="node1" presStyleIdx="4" presStyleCnt="5" custScaleX="118561" custScaleY="18859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D8D30C7-5FB3-406B-B345-6A41027765C1}" type="pres">
      <dgm:prSet presAssocID="{C910B4CC-6AC0-409F-A819-E90B7F88C863}" presName="negativeSpace" presStyleCnt="0"/>
      <dgm:spPr/>
    </dgm:pt>
    <dgm:pt modelId="{D3A3D3F2-4DBD-4C35-BF8E-E136325678D0}" type="pres">
      <dgm:prSet presAssocID="{C910B4CC-6AC0-409F-A819-E90B7F88C863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53D72407-1AC1-41A2-AF6D-258FFB07F67F}" type="presOf" srcId="{C910B4CC-6AC0-409F-A819-E90B7F88C863}" destId="{E2D721E8-4009-4252-BF15-3464F3D6121B}" srcOrd="1" destOrd="0" presId="urn:microsoft.com/office/officeart/2005/8/layout/list1"/>
    <dgm:cxn modelId="{81E3776E-CD2C-4AF1-A626-C78E82A6D211}" srcId="{D3CB2735-739F-48E4-8469-BCB08292A417}" destId="{7F356CE3-A8FB-4FC2-8516-4BF680A294FD}" srcOrd="0" destOrd="0" parTransId="{9D5BFAF9-B0E7-435F-BDC5-57EC0725D958}" sibTransId="{19BC3EF3-8680-49B0-BE80-173AD30B2D50}"/>
    <dgm:cxn modelId="{F72889A3-DA2D-45BF-B1B9-762C25623503}" type="presOf" srcId="{AFC80E43-ABBD-40B5-8516-4103B0464153}" destId="{17466F0E-03A7-4AA1-B89D-1FD03170F9C6}" srcOrd="0" destOrd="0" presId="urn:microsoft.com/office/officeart/2005/8/layout/list1"/>
    <dgm:cxn modelId="{50164536-7AC8-4613-B6E9-FF7CAEB0BD6B}" type="presOf" srcId="{C910B4CC-6AC0-409F-A819-E90B7F88C863}" destId="{FA2F7081-278C-4B14-97D3-4066E1230C96}" srcOrd="0" destOrd="0" presId="urn:microsoft.com/office/officeart/2005/8/layout/list1"/>
    <dgm:cxn modelId="{098020EC-D7DB-4696-AA45-91FA2355B091}" type="presOf" srcId="{4CFD42BC-FDF1-4E00-8414-32B0ABC9D8F8}" destId="{8FE4058E-F2D6-44AB-923C-D94FA62E2684}" srcOrd="1" destOrd="0" presId="urn:microsoft.com/office/officeart/2005/8/layout/list1"/>
    <dgm:cxn modelId="{153221AE-77C9-400C-94BA-7AA73C122151}" srcId="{D3CB2735-739F-48E4-8469-BCB08292A417}" destId="{AFC80E43-ABBD-40B5-8516-4103B0464153}" srcOrd="1" destOrd="0" parTransId="{467D254C-6EB8-40E8-A84D-D962E5FE4F8B}" sibTransId="{0C74CE10-2F1B-4887-BF30-30CDF692DC68}"/>
    <dgm:cxn modelId="{1D0672EF-0FEF-4566-8C83-607B7C5D0137}" type="presOf" srcId="{4CFD42BC-FDF1-4E00-8414-32B0ABC9D8F8}" destId="{0BE276CC-2980-420F-B39C-5743DD671C8E}" srcOrd="0" destOrd="0" presId="urn:microsoft.com/office/officeart/2005/8/layout/list1"/>
    <dgm:cxn modelId="{AF5A0A5D-8040-4DF5-9CDF-5112C0C9AF4A}" type="presOf" srcId="{D3CB2735-739F-48E4-8469-BCB08292A417}" destId="{2F548DA7-2A51-4778-9DBF-9FDB468E5BE8}" srcOrd="0" destOrd="0" presId="urn:microsoft.com/office/officeart/2005/8/layout/list1"/>
    <dgm:cxn modelId="{E7914082-EF9A-4A64-8695-D6064ED7A0E5}" type="presOf" srcId="{AFC80E43-ABBD-40B5-8516-4103B0464153}" destId="{EA0F245B-D55A-4FA0-9686-2056E14D4DDB}" srcOrd="1" destOrd="0" presId="urn:microsoft.com/office/officeart/2005/8/layout/list1"/>
    <dgm:cxn modelId="{E5C13BD9-1230-4E96-AB2A-86A543D7A809}" type="presOf" srcId="{90BD87F0-0654-4069-855D-89063E766543}" destId="{83D33F14-77D6-4837-B953-59E3B06B3EDB}" srcOrd="0" destOrd="0" presId="urn:microsoft.com/office/officeart/2005/8/layout/list1"/>
    <dgm:cxn modelId="{3FC14243-EECF-41B3-A185-1C4F5A4FFE82}" type="presOf" srcId="{7F356CE3-A8FB-4FC2-8516-4BF680A294FD}" destId="{E4F6B378-B2D3-496F-9069-446C35C9A117}" srcOrd="1" destOrd="0" presId="urn:microsoft.com/office/officeart/2005/8/layout/list1"/>
    <dgm:cxn modelId="{DD491A3A-6216-4BF2-B06B-1F4BCABF58FD}" srcId="{D3CB2735-739F-48E4-8469-BCB08292A417}" destId="{90BD87F0-0654-4069-855D-89063E766543}" srcOrd="3" destOrd="0" parTransId="{752975CE-D21A-4BAC-8DF3-B96503B84BB2}" sibTransId="{E856C6B5-F0FA-4D4F-B451-51850DB4242E}"/>
    <dgm:cxn modelId="{AE9E32D1-B394-42A8-9D5E-F03C928EDF0C}" srcId="{D3CB2735-739F-48E4-8469-BCB08292A417}" destId="{C910B4CC-6AC0-409F-A819-E90B7F88C863}" srcOrd="4" destOrd="0" parTransId="{B4759DF0-838E-44F3-A852-4F68D7523523}" sibTransId="{2F6B3A91-CEE7-4921-BB87-484FE1D9C552}"/>
    <dgm:cxn modelId="{7066CC1F-1FFE-4325-BB83-6C7B3AECF19C}" type="presOf" srcId="{7F356CE3-A8FB-4FC2-8516-4BF680A294FD}" destId="{3997C214-1A64-466C-ABB2-94EC845D6A40}" srcOrd="0" destOrd="0" presId="urn:microsoft.com/office/officeart/2005/8/layout/list1"/>
    <dgm:cxn modelId="{6373E185-B8ED-4BBE-B691-4C7B61D1096E}" srcId="{D3CB2735-739F-48E4-8469-BCB08292A417}" destId="{4CFD42BC-FDF1-4E00-8414-32B0ABC9D8F8}" srcOrd="2" destOrd="0" parTransId="{85B28925-23EF-435B-8C40-DABEA5B687B8}" sibTransId="{39672FC5-BD4B-4B8E-A24B-92D8D062AA76}"/>
    <dgm:cxn modelId="{D1C133E0-2DFE-40EF-BA03-BC1A6406A2DA}" type="presOf" srcId="{90BD87F0-0654-4069-855D-89063E766543}" destId="{D3FA08D0-D6A1-4BB9-B301-FE55FB8C9301}" srcOrd="1" destOrd="0" presId="urn:microsoft.com/office/officeart/2005/8/layout/list1"/>
    <dgm:cxn modelId="{4C476285-E324-4E25-B063-4C8C48ED44C9}" type="presParOf" srcId="{2F548DA7-2A51-4778-9DBF-9FDB468E5BE8}" destId="{8DA2FBA4-E030-425C-B20C-5C1BD3EA655C}" srcOrd="0" destOrd="0" presId="urn:microsoft.com/office/officeart/2005/8/layout/list1"/>
    <dgm:cxn modelId="{68FFFD06-E0EF-4384-920A-2074AC2D1F83}" type="presParOf" srcId="{8DA2FBA4-E030-425C-B20C-5C1BD3EA655C}" destId="{3997C214-1A64-466C-ABB2-94EC845D6A40}" srcOrd="0" destOrd="0" presId="urn:microsoft.com/office/officeart/2005/8/layout/list1"/>
    <dgm:cxn modelId="{8B6A10A0-999C-4155-883C-CAB4B9E616BA}" type="presParOf" srcId="{8DA2FBA4-E030-425C-B20C-5C1BD3EA655C}" destId="{E4F6B378-B2D3-496F-9069-446C35C9A117}" srcOrd="1" destOrd="0" presId="urn:microsoft.com/office/officeart/2005/8/layout/list1"/>
    <dgm:cxn modelId="{8E84E2B8-2140-44F6-AD0F-02E05A44D322}" type="presParOf" srcId="{2F548DA7-2A51-4778-9DBF-9FDB468E5BE8}" destId="{1168BCF7-8A54-4CE2-992C-A09EFB732573}" srcOrd="1" destOrd="0" presId="urn:microsoft.com/office/officeart/2005/8/layout/list1"/>
    <dgm:cxn modelId="{F5ACAD26-171F-4544-8FD0-6210FB5548A2}" type="presParOf" srcId="{2F548DA7-2A51-4778-9DBF-9FDB468E5BE8}" destId="{BDA51548-0302-4329-BDE1-3B939512BA33}" srcOrd="2" destOrd="0" presId="urn:microsoft.com/office/officeart/2005/8/layout/list1"/>
    <dgm:cxn modelId="{26F0E6AC-AE0C-4B17-9D2F-E3EF6898F816}" type="presParOf" srcId="{2F548DA7-2A51-4778-9DBF-9FDB468E5BE8}" destId="{293F387C-700E-4793-A4A8-9EC2AC42887C}" srcOrd="3" destOrd="0" presId="urn:microsoft.com/office/officeart/2005/8/layout/list1"/>
    <dgm:cxn modelId="{4893F84F-3A69-4D12-B63E-62F5D03D1614}" type="presParOf" srcId="{2F548DA7-2A51-4778-9DBF-9FDB468E5BE8}" destId="{4CFBFC05-2A7C-441D-BBDC-02FAD97EDC0B}" srcOrd="4" destOrd="0" presId="urn:microsoft.com/office/officeart/2005/8/layout/list1"/>
    <dgm:cxn modelId="{FAE907BB-CF97-4DC9-A0A2-53291A860935}" type="presParOf" srcId="{4CFBFC05-2A7C-441D-BBDC-02FAD97EDC0B}" destId="{17466F0E-03A7-4AA1-B89D-1FD03170F9C6}" srcOrd="0" destOrd="0" presId="urn:microsoft.com/office/officeart/2005/8/layout/list1"/>
    <dgm:cxn modelId="{439C8824-FCE3-444D-9796-70557C0207B0}" type="presParOf" srcId="{4CFBFC05-2A7C-441D-BBDC-02FAD97EDC0B}" destId="{EA0F245B-D55A-4FA0-9686-2056E14D4DDB}" srcOrd="1" destOrd="0" presId="urn:microsoft.com/office/officeart/2005/8/layout/list1"/>
    <dgm:cxn modelId="{E03027A4-467F-4D82-AEC7-D939D727DD9B}" type="presParOf" srcId="{2F548DA7-2A51-4778-9DBF-9FDB468E5BE8}" destId="{2DFB5D90-6706-4209-A8C3-27D487B7BD24}" srcOrd="5" destOrd="0" presId="urn:microsoft.com/office/officeart/2005/8/layout/list1"/>
    <dgm:cxn modelId="{D0DB4F6D-53EF-4DE1-8668-BDAB7B158A63}" type="presParOf" srcId="{2F548DA7-2A51-4778-9DBF-9FDB468E5BE8}" destId="{93CC347B-884D-448A-A35B-42597B294F7E}" srcOrd="6" destOrd="0" presId="urn:microsoft.com/office/officeart/2005/8/layout/list1"/>
    <dgm:cxn modelId="{D2E64601-F8FE-4CDA-9587-D2A416493B5E}" type="presParOf" srcId="{2F548DA7-2A51-4778-9DBF-9FDB468E5BE8}" destId="{8A60C710-C20F-44D5-8732-862B1522EADA}" srcOrd="7" destOrd="0" presId="urn:microsoft.com/office/officeart/2005/8/layout/list1"/>
    <dgm:cxn modelId="{8446FC52-334C-4B45-B958-7FB8ECB36E39}" type="presParOf" srcId="{2F548DA7-2A51-4778-9DBF-9FDB468E5BE8}" destId="{FDEDE8C2-95C0-4E70-88CC-738E3786E829}" srcOrd="8" destOrd="0" presId="urn:microsoft.com/office/officeart/2005/8/layout/list1"/>
    <dgm:cxn modelId="{F2D709C4-7737-413B-BEE8-EF990EC2614C}" type="presParOf" srcId="{FDEDE8C2-95C0-4E70-88CC-738E3786E829}" destId="{0BE276CC-2980-420F-B39C-5743DD671C8E}" srcOrd="0" destOrd="0" presId="urn:microsoft.com/office/officeart/2005/8/layout/list1"/>
    <dgm:cxn modelId="{201FDA4D-423B-4138-BB2A-A617D0E87CF8}" type="presParOf" srcId="{FDEDE8C2-95C0-4E70-88CC-738E3786E829}" destId="{8FE4058E-F2D6-44AB-923C-D94FA62E2684}" srcOrd="1" destOrd="0" presId="urn:microsoft.com/office/officeart/2005/8/layout/list1"/>
    <dgm:cxn modelId="{65CEEEAB-D336-4D0F-8A42-A552DB2CB68D}" type="presParOf" srcId="{2F548DA7-2A51-4778-9DBF-9FDB468E5BE8}" destId="{2A4B5C4F-D4AE-4505-B2EA-393B4C4E69F3}" srcOrd="9" destOrd="0" presId="urn:microsoft.com/office/officeart/2005/8/layout/list1"/>
    <dgm:cxn modelId="{0D86AA80-AEDA-4141-AC41-0B08460048D9}" type="presParOf" srcId="{2F548DA7-2A51-4778-9DBF-9FDB468E5BE8}" destId="{3B3CCBA8-8E93-45C9-BD3C-E8062D9CDCA5}" srcOrd="10" destOrd="0" presId="urn:microsoft.com/office/officeart/2005/8/layout/list1"/>
    <dgm:cxn modelId="{437AD290-306D-4E53-95B0-99298295F04D}" type="presParOf" srcId="{2F548DA7-2A51-4778-9DBF-9FDB468E5BE8}" destId="{A6E725B5-4584-4095-AC48-64FFF9901D6F}" srcOrd="11" destOrd="0" presId="urn:microsoft.com/office/officeart/2005/8/layout/list1"/>
    <dgm:cxn modelId="{C0928A21-18F9-4F82-8A0C-80B04A8D38CF}" type="presParOf" srcId="{2F548DA7-2A51-4778-9DBF-9FDB468E5BE8}" destId="{DB878CE7-4814-4E81-96B2-9539D44DF06C}" srcOrd="12" destOrd="0" presId="urn:microsoft.com/office/officeart/2005/8/layout/list1"/>
    <dgm:cxn modelId="{334E60B9-59F3-4B7D-959E-BB6225A73497}" type="presParOf" srcId="{DB878CE7-4814-4E81-96B2-9539D44DF06C}" destId="{83D33F14-77D6-4837-B953-59E3B06B3EDB}" srcOrd="0" destOrd="0" presId="urn:microsoft.com/office/officeart/2005/8/layout/list1"/>
    <dgm:cxn modelId="{BE06C259-40F5-40E0-BEF3-D4FF3E332921}" type="presParOf" srcId="{DB878CE7-4814-4E81-96B2-9539D44DF06C}" destId="{D3FA08D0-D6A1-4BB9-B301-FE55FB8C9301}" srcOrd="1" destOrd="0" presId="urn:microsoft.com/office/officeart/2005/8/layout/list1"/>
    <dgm:cxn modelId="{B96D1F17-DC68-4AE1-82C0-9DC102A30945}" type="presParOf" srcId="{2F548DA7-2A51-4778-9DBF-9FDB468E5BE8}" destId="{E1036B3B-878C-48C8-B1FD-E73E9DF25D44}" srcOrd="13" destOrd="0" presId="urn:microsoft.com/office/officeart/2005/8/layout/list1"/>
    <dgm:cxn modelId="{F7B93B18-000A-4075-A065-987D23DCCEAF}" type="presParOf" srcId="{2F548DA7-2A51-4778-9DBF-9FDB468E5BE8}" destId="{68C3A2B4-8601-47FF-B6B9-DA25F953E502}" srcOrd="14" destOrd="0" presId="urn:microsoft.com/office/officeart/2005/8/layout/list1"/>
    <dgm:cxn modelId="{E19993D1-EC29-4234-8C6B-DA787582DE4E}" type="presParOf" srcId="{2F548DA7-2A51-4778-9DBF-9FDB468E5BE8}" destId="{E18D2CB2-0560-45A2-8FFF-1E11200CEFC5}" srcOrd="15" destOrd="0" presId="urn:microsoft.com/office/officeart/2005/8/layout/list1"/>
    <dgm:cxn modelId="{AAF60C42-906E-4458-91EC-8666DC5040C3}" type="presParOf" srcId="{2F548DA7-2A51-4778-9DBF-9FDB468E5BE8}" destId="{BDEA24FB-8164-434D-9483-F6808B78637D}" srcOrd="16" destOrd="0" presId="urn:microsoft.com/office/officeart/2005/8/layout/list1"/>
    <dgm:cxn modelId="{F0FD7A97-4E91-44A0-B09A-AE43C3BDE94E}" type="presParOf" srcId="{BDEA24FB-8164-434D-9483-F6808B78637D}" destId="{FA2F7081-278C-4B14-97D3-4066E1230C96}" srcOrd="0" destOrd="0" presId="urn:microsoft.com/office/officeart/2005/8/layout/list1"/>
    <dgm:cxn modelId="{80FAA35C-FF36-4008-8615-6FB180E7DB37}" type="presParOf" srcId="{BDEA24FB-8164-434D-9483-F6808B78637D}" destId="{E2D721E8-4009-4252-BF15-3464F3D6121B}" srcOrd="1" destOrd="0" presId="urn:microsoft.com/office/officeart/2005/8/layout/list1"/>
    <dgm:cxn modelId="{4775E140-B2F4-49E3-AEC1-DAE6D95060A8}" type="presParOf" srcId="{2F548DA7-2A51-4778-9DBF-9FDB468E5BE8}" destId="{6D8D30C7-5FB3-406B-B345-6A41027765C1}" srcOrd="17" destOrd="0" presId="urn:microsoft.com/office/officeart/2005/8/layout/list1"/>
    <dgm:cxn modelId="{08596DFD-8463-4A53-B848-F92DAD456008}" type="presParOf" srcId="{2F548DA7-2A51-4778-9DBF-9FDB468E5BE8}" destId="{D3A3D3F2-4DBD-4C35-BF8E-E136325678D0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A51548-0302-4329-BDE1-3B939512BA33}">
      <dsp:nvSpPr>
        <dsp:cNvPr id="0" name=""/>
        <dsp:cNvSpPr/>
      </dsp:nvSpPr>
      <dsp:spPr>
        <a:xfrm>
          <a:off x="0" y="513841"/>
          <a:ext cx="89258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F6B378-B2D3-496F-9069-446C35C9A117}">
      <dsp:nvSpPr>
        <dsp:cNvPr id="0" name=""/>
        <dsp:cNvSpPr/>
      </dsp:nvSpPr>
      <dsp:spPr>
        <a:xfrm>
          <a:off x="446293" y="22886"/>
          <a:ext cx="7407824" cy="66807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164" tIns="0" rIns="236164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% e </a:t>
          </a:r>
          <a:r>
            <a:rPr lang="pt-BR" sz="1600" kern="1200" dirty="0" err="1" smtClean="0"/>
            <a:t>qtd</a:t>
          </a:r>
          <a:r>
            <a:rPr lang="pt-BR" sz="1600" kern="1200" dirty="0" smtClean="0"/>
            <a:t>. de RFC por período; </a:t>
          </a:r>
          <a:endParaRPr lang="pt-BR" sz="1600" kern="1200" dirty="0"/>
        </a:p>
      </dsp:txBody>
      <dsp:txXfrm>
        <a:off x="478906" y="55499"/>
        <a:ext cx="7342598" cy="602849"/>
      </dsp:txXfrm>
    </dsp:sp>
    <dsp:sp modelId="{93CC347B-884D-448A-A35B-42597B294F7E}">
      <dsp:nvSpPr>
        <dsp:cNvPr id="0" name=""/>
        <dsp:cNvSpPr/>
      </dsp:nvSpPr>
      <dsp:spPr>
        <a:xfrm>
          <a:off x="0" y="1371997"/>
          <a:ext cx="89258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0F245B-D55A-4FA0-9686-2056E14D4DDB}">
      <dsp:nvSpPr>
        <dsp:cNvPr id="0" name=""/>
        <dsp:cNvSpPr/>
      </dsp:nvSpPr>
      <dsp:spPr>
        <a:xfrm>
          <a:off x="446293" y="881041"/>
          <a:ext cx="7407824" cy="66807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164" tIns="0" rIns="236164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% e </a:t>
          </a:r>
          <a:r>
            <a:rPr lang="pt-BR" sz="1600" kern="1200" dirty="0" err="1" smtClean="0"/>
            <a:t>qtd</a:t>
          </a:r>
          <a:r>
            <a:rPr lang="pt-BR" sz="1600" kern="1200" dirty="0" smtClean="0"/>
            <a:t>. de RFC por categoria (Pré-aprovada, Normal, Emergencial ou Informativa);</a:t>
          </a:r>
          <a:endParaRPr lang="pt-BR" sz="1600" kern="1200" dirty="0"/>
        </a:p>
      </dsp:txBody>
      <dsp:txXfrm>
        <a:off x="478906" y="913654"/>
        <a:ext cx="7342598" cy="602849"/>
      </dsp:txXfrm>
    </dsp:sp>
    <dsp:sp modelId="{3B3CCBA8-8E93-45C9-BD3C-E8062D9CDCA5}">
      <dsp:nvSpPr>
        <dsp:cNvPr id="0" name=""/>
        <dsp:cNvSpPr/>
      </dsp:nvSpPr>
      <dsp:spPr>
        <a:xfrm>
          <a:off x="0" y="2230152"/>
          <a:ext cx="89258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4058E-F2D6-44AB-923C-D94FA62E2684}">
      <dsp:nvSpPr>
        <dsp:cNvPr id="0" name=""/>
        <dsp:cNvSpPr/>
      </dsp:nvSpPr>
      <dsp:spPr>
        <a:xfrm>
          <a:off x="446293" y="1739197"/>
          <a:ext cx="7407824" cy="66807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164" tIns="0" rIns="236164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% e </a:t>
          </a:r>
          <a:r>
            <a:rPr lang="pt-BR" sz="1600" kern="1200" dirty="0" err="1" smtClean="0"/>
            <a:t>qtd</a:t>
          </a:r>
          <a:r>
            <a:rPr lang="pt-BR" sz="1600" kern="1200" dirty="0" smtClean="0"/>
            <a:t>. de RFC por origem (Projeto, Melhoria, Problema, Incidente ou Solicitação);</a:t>
          </a:r>
          <a:endParaRPr lang="pt-BR" sz="1600" kern="1200" dirty="0"/>
        </a:p>
      </dsp:txBody>
      <dsp:txXfrm>
        <a:off x="478906" y="1771810"/>
        <a:ext cx="7342598" cy="602849"/>
      </dsp:txXfrm>
    </dsp:sp>
    <dsp:sp modelId="{68C3A2B4-8601-47FF-B6B9-DA25F953E502}">
      <dsp:nvSpPr>
        <dsp:cNvPr id="0" name=""/>
        <dsp:cNvSpPr/>
      </dsp:nvSpPr>
      <dsp:spPr>
        <a:xfrm>
          <a:off x="0" y="3088308"/>
          <a:ext cx="89258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A08D0-D6A1-4BB9-B301-FE55FB8C9301}">
      <dsp:nvSpPr>
        <dsp:cNvPr id="0" name=""/>
        <dsp:cNvSpPr/>
      </dsp:nvSpPr>
      <dsp:spPr>
        <a:xfrm>
          <a:off x="446293" y="2597352"/>
          <a:ext cx="7407824" cy="66807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164" tIns="0" rIns="236164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% e </a:t>
          </a:r>
          <a:r>
            <a:rPr lang="pt-BR" sz="1600" kern="1200" dirty="0" err="1" smtClean="0"/>
            <a:t>qtd</a:t>
          </a:r>
          <a:r>
            <a:rPr lang="pt-BR" sz="1600" kern="1200" dirty="0" smtClean="0"/>
            <a:t>. de RFC fechada com sucesso ou sem sucesso;</a:t>
          </a:r>
          <a:endParaRPr lang="pt-BR" sz="1600" kern="1200" dirty="0"/>
        </a:p>
      </dsp:txBody>
      <dsp:txXfrm>
        <a:off x="478906" y="2629965"/>
        <a:ext cx="7342598" cy="602849"/>
      </dsp:txXfrm>
    </dsp:sp>
    <dsp:sp modelId="{D3A3D3F2-4DBD-4C35-BF8E-E136325678D0}">
      <dsp:nvSpPr>
        <dsp:cNvPr id="0" name=""/>
        <dsp:cNvSpPr/>
      </dsp:nvSpPr>
      <dsp:spPr>
        <a:xfrm>
          <a:off x="0" y="3946463"/>
          <a:ext cx="89258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D721E8-4009-4252-BF15-3464F3D6121B}">
      <dsp:nvSpPr>
        <dsp:cNvPr id="0" name=""/>
        <dsp:cNvSpPr/>
      </dsp:nvSpPr>
      <dsp:spPr>
        <a:xfrm>
          <a:off x="446293" y="3455508"/>
          <a:ext cx="7407824" cy="66807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164" tIns="0" rIns="236164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% e </a:t>
          </a:r>
          <a:r>
            <a:rPr lang="pt-BR" sz="1600" kern="1200" dirty="0" err="1" smtClean="0"/>
            <a:t>qtd</a:t>
          </a:r>
          <a:r>
            <a:rPr lang="pt-BR" sz="1600" kern="1200" dirty="0" smtClean="0"/>
            <a:t>. de RFC cancelada.</a:t>
          </a:r>
          <a:endParaRPr lang="pt-BR" sz="1600" kern="1200" dirty="0"/>
        </a:p>
      </dsp:txBody>
      <dsp:txXfrm>
        <a:off x="478906" y="3488121"/>
        <a:ext cx="7342598" cy="6028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03/01/2017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emf"/><Relationship Id="rId7" Type="http://schemas.openxmlformats.org/officeDocument/2006/relationships/diagramColors" Target="../diagrams/colors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Resultado de imagem para gerenciamento de mudanças iti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32" y="4202724"/>
            <a:ext cx="4025929" cy="268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/>
          <p:nvPr/>
        </p:nvSpPr>
        <p:spPr>
          <a:xfrm>
            <a:off x="-26504" y="-27000"/>
            <a:ext cx="6408000" cy="6912000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322" y="2910000"/>
            <a:ext cx="2412841" cy="861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449" y="2438000"/>
            <a:ext cx="5959283" cy="442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Gerenciamento de </a:t>
            </a:r>
            <a:r>
              <a:rPr lang="pt-BR" sz="4000" b="1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Mudanças</a:t>
            </a:r>
          </a:p>
          <a:p>
            <a:pPr marL="72000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Workshop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para implantação do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processo para equipe de Mudanças, CAB e ECAB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6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30.Nov.2016</a:t>
            </a:r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en-US" sz="105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1</a:t>
            </a:r>
            <a:endParaRPr lang="en-US" sz="105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759" y="140070"/>
            <a:ext cx="1591323" cy="840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428957" y="262277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de Mudanças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428957" y="365589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CAB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428957" y="46890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ECAB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7" name="Retângulo de cantos arredondados 9"/>
          <p:cNvSpPr/>
          <p:nvPr/>
        </p:nvSpPr>
        <p:spPr>
          <a:xfrm>
            <a:off x="4485821" y="5632981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5" name="Retângulo de cantos arredondados 8"/>
          <p:cNvSpPr/>
          <p:nvPr/>
        </p:nvSpPr>
        <p:spPr>
          <a:xfrm>
            <a:off x="4428957" y="172483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 e Artefatos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4428957" y="843310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97" y="6664320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Objetivo e Escopo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412741" y="925334"/>
            <a:ext cx="9231937" cy="900000"/>
            <a:chOff x="372984" y="1165964"/>
            <a:chExt cx="9231937" cy="900000"/>
          </a:xfrm>
        </p:grpSpPr>
        <p:sp>
          <p:nvSpPr>
            <p:cNvPr id="14" name="Retângulo 13"/>
            <p:cNvSpPr/>
            <p:nvPr/>
          </p:nvSpPr>
          <p:spPr>
            <a:xfrm>
              <a:off x="1653996" y="1165964"/>
              <a:ext cx="7950925" cy="9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1400" dirty="0">
                  <a:solidFill>
                    <a:schemeClr val="tx1"/>
                  </a:solidFill>
                </a:rPr>
                <a:t>Este processo tem como objetivo garantir que todas as mudanças serão registradas, avaliadas, autorizadas, priorizadas, planejadas, testadas, implementadas, documentadas e revisadas de maneira padronizada e controlada, reduzindo assim impacto e risco ao negócio da </a:t>
              </a:r>
              <a:r>
                <a:rPr lang="pt-BR" sz="1400" b="1" dirty="0" err="1">
                  <a:solidFill>
                    <a:schemeClr val="accent6"/>
                  </a:solidFill>
                </a:rPr>
                <a:t>Smiles</a:t>
              </a:r>
              <a:r>
                <a:rPr lang="pt-BR" sz="1400" dirty="0">
                  <a:solidFill>
                    <a:schemeClr val="tx1"/>
                  </a:solidFill>
                </a:rPr>
                <a:t>. </a:t>
              </a:r>
            </a:p>
          </p:txBody>
        </p:sp>
        <p:sp>
          <p:nvSpPr>
            <p:cNvPr id="15" name="Retângulo de cantos arredondados 14"/>
            <p:cNvSpPr/>
            <p:nvPr/>
          </p:nvSpPr>
          <p:spPr>
            <a:xfrm>
              <a:off x="372984" y="1165964"/>
              <a:ext cx="1281013" cy="9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Objetivo</a:t>
              </a:r>
              <a:endParaRPr lang="pt-BR" sz="1600" i="1" dirty="0"/>
            </a:p>
          </p:txBody>
        </p:sp>
      </p:grpSp>
      <p:sp>
        <p:nvSpPr>
          <p:cNvPr id="16" name="Seta: para a Direita 15"/>
          <p:cNvSpPr/>
          <p:nvPr/>
        </p:nvSpPr>
        <p:spPr>
          <a:xfrm rot="5400000">
            <a:off x="9197416" y="1811887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http://lanuevaeconomia.com/wp-content/uploads/2012/05/Objetivos-de-una-empresa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2878" y="4964430"/>
            <a:ext cx="3111500" cy="189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Agrupar 3"/>
          <p:cNvGrpSpPr/>
          <p:nvPr/>
        </p:nvGrpSpPr>
        <p:grpSpPr>
          <a:xfrm>
            <a:off x="1693753" y="2301274"/>
            <a:ext cx="7950925" cy="900000"/>
            <a:chOff x="1653996" y="2480605"/>
            <a:chExt cx="7950925" cy="1080000"/>
          </a:xfrm>
        </p:grpSpPr>
        <p:sp>
          <p:nvSpPr>
            <p:cNvPr id="18" name="Retângulo 17"/>
            <p:cNvSpPr/>
            <p:nvPr/>
          </p:nvSpPr>
          <p:spPr>
            <a:xfrm>
              <a:off x="2935008" y="2480605"/>
              <a:ext cx="6669913" cy="10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1400" dirty="0">
                  <a:solidFill>
                    <a:schemeClr val="tx1"/>
                  </a:solidFill>
                </a:rPr>
                <a:t>O escopo do processo de Gerenciamento de Mudanças cobre qualquer adição, modificação ou remoção de componente do serviço no ambiente de </a:t>
              </a:r>
              <a:r>
                <a:rPr lang="pt-BR" sz="1400" dirty="0" smtClean="0">
                  <a:solidFill>
                    <a:schemeClr val="tx1"/>
                  </a:solidFill>
                </a:rPr>
                <a:t>produção </a:t>
              </a:r>
              <a:r>
                <a:rPr lang="pt-BR" sz="1400" dirty="0">
                  <a:solidFill>
                    <a:schemeClr val="tx1"/>
                  </a:solidFill>
                </a:rPr>
                <a:t>da </a:t>
              </a:r>
              <a:r>
                <a:rPr lang="pt-BR" sz="1400" b="1" dirty="0" err="1">
                  <a:solidFill>
                    <a:schemeClr val="accent6"/>
                  </a:solidFill>
                </a:rPr>
                <a:t>Smiles</a:t>
              </a:r>
              <a:r>
                <a:rPr lang="pt-BR" sz="1400" dirty="0">
                  <a:solidFill>
                    <a:schemeClr val="tx1"/>
                  </a:solidFill>
                </a:rPr>
                <a:t>. </a:t>
              </a:r>
            </a:p>
          </p:txBody>
        </p:sp>
        <p:sp>
          <p:nvSpPr>
            <p:cNvPr id="19" name="Retângulo de cantos arredondados 14"/>
            <p:cNvSpPr/>
            <p:nvPr/>
          </p:nvSpPr>
          <p:spPr>
            <a:xfrm>
              <a:off x="1653996" y="2480605"/>
              <a:ext cx="1281013" cy="108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Escopo</a:t>
              </a:r>
              <a:endParaRPr lang="pt-BR" sz="1600" i="1" dirty="0"/>
            </a:p>
          </p:txBody>
        </p:sp>
      </p:grpSp>
      <p:grpSp>
        <p:nvGrpSpPr>
          <p:cNvPr id="29" name="Agrupar 2"/>
          <p:cNvGrpSpPr/>
          <p:nvPr/>
        </p:nvGrpSpPr>
        <p:grpSpPr>
          <a:xfrm>
            <a:off x="2951529" y="3440099"/>
            <a:ext cx="6669913" cy="576000"/>
            <a:chOff x="2935009" y="3795246"/>
            <a:chExt cx="6669913" cy="900000"/>
          </a:xfrm>
        </p:grpSpPr>
        <p:sp>
          <p:nvSpPr>
            <p:cNvPr id="30" name="Retângulo 29"/>
            <p:cNvSpPr/>
            <p:nvPr/>
          </p:nvSpPr>
          <p:spPr>
            <a:xfrm>
              <a:off x="4216022" y="3795246"/>
              <a:ext cx="5388900" cy="90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 smtClean="0">
                  <a:solidFill>
                    <a:schemeClr val="tx1"/>
                  </a:solidFill>
                </a:rPr>
                <a:t>com </a:t>
              </a:r>
              <a:r>
                <a:rPr lang="pt-BR" sz="1300" dirty="0">
                  <a:solidFill>
                    <a:schemeClr val="tx1"/>
                  </a:solidFill>
                </a:rPr>
                <a:t>risco baixo, relativamente comum e que segue um procedimento ou instrução de trabalho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31" name="Retângulo de cantos arredondados 14"/>
            <p:cNvSpPr/>
            <p:nvPr/>
          </p:nvSpPr>
          <p:spPr>
            <a:xfrm>
              <a:off x="2935009" y="3795246"/>
              <a:ext cx="1281013" cy="900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Pré-aprovada</a:t>
              </a:r>
            </a:p>
          </p:txBody>
        </p:sp>
      </p:grpSp>
      <p:grpSp>
        <p:nvGrpSpPr>
          <p:cNvPr id="38" name="Agrupar 2"/>
          <p:cNvGrpSpPr/>
          <p:nvPr/>
        </p:nvGrpSpPr>
        <p:grpSpPr>
          <a:xfrm>
            <a:off x="2949743" y="4121001"/>
            <a:ext cx="6669913" cy="648000"/>
            <a:chOff x="2935009" y="3795246"/>
            <a:chExt cx="6669913" cy="648000"/>
          </a:xfrm>
        </p:grpSpPr>
        <p:sp>
          <p:nvSpPr>
            <p:cNvPr id="39" name="Retângulo 38"/>
            <p:cNvSpPr/>
            <p:nvPr/>
          </p:nvSpPr>
          <p:spPr>
            <a:xfrm>
              <a:off x="4216022" y="3795246"/>
              <a:ext cx="5388900" cy="64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>
                  <a:solidFill>
                    <a:schemeClr val="tx1"/>
                  </a:solidFill>
                </a:rPr>
                <a:t>apresenta riscos desconhecidos e segue procedimentos ou instruções de trabalho não padronizado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40" name="Retângulo de cantos arredondados 14"/>
            <p:cNvSpPr/>
            <p:nvPr/>
          </p:nvSpPr>
          <p:spPr>
            <a:xfrm>
              <a:off x="2935009" y="3795246"/>
              <a:ext cx="1281013" cy="648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Normal</a:t>
              </a:r>
            </a:p>
          </p:txBody>
        </p:sp>
      </p:grpSp>
      <p:grpSp>
        <p:nvGrpSpPr>
          <p:cNvPr id="41" name="Agrupar 2"/>
          <p:cNvGrpSpPr/>
          <p:nvPr/>
        </p:nvGrpSpPr>
        <p:grpSpPr>
          <a:xfrm>
            <a:off x="2938368" y="4873903"/>
            <a:ext cx="6669913" cy="792000"/>
            <a:chOff x="2935009" y="3795246"/>
            <a:chExt cx="6669913" cy="792000"/>
          </a:xfrm>
        </p:grpSpPr>
        <p:sp>
          <p:nvSpPr>
            <p:cNvPr id="42" name="Retângulo 41"/>
            <p:cNvSpPr/>
            <p:nvPr/>
          </p:nvSpPr>
          <p:spPr>
            <a:xfrm>
              <a:off x="4216022" y="3795246"/>
              <a:ext cx="5388900" cy="79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>
                  <a:solidFill>
                    <a:schemeClr val="tx1"/>
                  </a:solidFill>
                </a:rPr>
                <a:t>não foi emitida no prazo para ser analisada pelo (CAB) </a:t>
              </a:r>
              <a:r>
                <a:rPr lang="pt-BR" sz="1300" dirty="0" smtClean="0">
                  <a:solidFill>
                    <a:schemeClr val="tx1"/>
                  </a:solidFill>
                </a:rPr>
                <a:t>e pode ou não </a:t>
              </a:r>
              <a:r>
                <a:rPr lang="pt-BR" sz="1300" dirty="0">
                  <a:solidFill>
                    <a:schemeClr val="tx1"/>
                  </a:solidFill>
                </a:rPr>
                <a:t>está associada a um Incidente de alto impacto “</a:t>
              </a:r>
              <a:r>
                <a:rPr lang="pt-BR" sz="1300" i="1" dirty="0" err="1">
                  <a:solidFill>
                    <a:schemeClr val="tx1"/>
                  </a:solidFill>
                </a:rPr>
                <a:t>Blocker</a:t>
              </a:r>
              <a:r>
                <a:rPr lang="pt-BR" sz="1300" dirty="0">
                  <a:solidFill>
                    <a:schemeClr val="tx1"/>
                  </a:solidFill>
                </a:rPr>
                <a:t>”, porém precisa ser executada na data definida, para evitar que ocorra algum impacto ao negócio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43" name="Retângulo de cantos arredondados 14"/>
            <p:cNvSpPr/>
            <p:nvPr/>
          </p:nvSpPr>
          <p:spPr>
            <a:xfrm>
              <a:off x="2935009" y="3795246"/>
              <a:ext cx="1281013" cy="792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Emergencial</a:t>
              </a:r>
            </a:p>
          </p:txBody>
        </p:sp>
      </p:grpSp>
      <p:grpSp>
        <p:nvGrpSpPr>
          <p:cNvPr id="44" name="Agrupar 2"/>
          <p:cNvGrpSpPr/>
          <p:nvPr/>
        </p:nvGrpSpPr>
        <p:grpSpPr>
          <a:xfrm>
            <a:off x="2940640" y="5804228"/>
            <a:ext cx="6669913" cy="974408"/>
            <a:chOff x="2935009" y="3795245"/>
            <a:chExt cx="6669913" cy="860091"/>
          </a:xfrm>
        </p:grpSpPr>
        <p:sp>
          <p:nvSpPr>
            <p:cNvPr id="45" name="Retângulo 44"/>
            <p:cNvSpPr/>
            <p:nvPr/>
          </p:nvSpPr>
          <p:spPr>
            <a:xfrm>
              <a:off x="4216022" y="3795245"/>
              <a:ext cx="5388900" cy="8600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 smtClean="0">
                  <a:solidFill>
                    <a:schemeClr val="tx1"/>
                  </a:solidFill>
                </a:rPr>
                <a:t>toda RFC  </a:t>
              </a:r>
              <a:r>
                <a:rPr lang="pt-BR" sz="1300" dirty="0">
                  <a:solidFill>
                    <a:schemeClr val="tx1"/>
                  </a:solidFill>
                </a:rPr>
                <a:t>que a </a:t>
              </a:r>
              <a:r>
                <a:rPr lang="pt-BR" sz="1300" dirty="0" err="1">
                  <a:solidFill>
                    <a:schemeClr val="tx1"/>
                  </a:solidFill>
                </a:rPr>
                <a:t>Smiles</a:t>
              </a:r>
              <a:r>
                <a:rPr lang="pt-BR" sz="1300" dirty="0">
                  <a:solidFill>
                    <a:schemeClr val="tx1"/>
                  </a:solidFill>
                </a:rPr>
                <a:t> não tem autonomia para aprovação, apena precisa ter ciência da sua execução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  <a:endParaRPr lang="pt-BR" sz="14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46" name="Retângulo de cantos arredondados 14"/>
            <p:cNvSpPr/>
            <p:nvPr/>
          </p:nvSpPr>
          <p:spPr>
            <a:xfrm>
              <a:off x="2935009" y="3795245"/>
              <a:ext cx="1281013" cy="860091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Informativa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971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m para indicado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07470"/>
            <a:ext cx="2149642" cy="329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Indicadores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aphicFrame>
        <p:nvGraphicFramePr>
          <p:cNvPr id="3" name="Diagrama 2"/>
          <p:cNvGraphicFramePr/>
          <p:nvPr>
            <p:extLst/>
          </p:nvPr>
        </p:nvGraphicFramePr>
        <p:xfrm>
          <a:off x="1139101" y="1983631"/>
          <a:ext cx="8925875" cy="4271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Retângulo de cantos arredondados 14"/>
          <p:cNvSpPr/>
          <p:nvPr/>
        </p:nvSpPr>
        <p:spPr>
          <a:xfrm>
            <a:off x="4191196" y="1035537"/>
            <a:ext cx="5420085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 de Desempenho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19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428957" y="262277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de Mudanças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428957" y="365589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CAB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428957" y="46890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ECAB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7" name="Retângulo de cantos arredondados 9"/>
          <p:cNvSpPr/>
          <p:nvPr/>
        </p:nvSpPr>
        <p:spPr>
          <a:xfrm>
            <a:off x="4485821" y="5632981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5" name="Retângulo de cantos arredondados 8"/>
          <p:cNvSpPr/>
          <p:nvPr/>
        </p:nvSpPr>
        <p:spPr>
          <a:xfrm>
            <a:off x="4428957" y="1724833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 e Artefatos</a:t>
            </a:r>
          </a:p>
        </p:txBody>
      </p:sp>
      <p:sp>
        <p:nvSpPr>
          <p:cNvPr id="16" name="Retângulo de cantos arredondados 8"/>
          <p:cNvSpPr/>
          <p:nvPr/>
        </p:nvSpPr>
        <p:spPr>
          <a:xfrm>
            <a:off x="4428957" y="8433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</p:spTree>
    <p:extLst>
      <p:ext uri="{BB962C8B-B14F-4D97-AF65-F5344CB8AC3E}">
        <p14:creationId xmlns:p14="http://schemas.microsoft.com/office/powerpoint/2010/main" val="92479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Processo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04103" y="1035537"/>
            <a:ext cx="1300406" cy="382446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11" name="Imagem 10"/>
          <p:cNvPicPr/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rcRect b="7450"/>
          <a:stretch/>
        </p:blipFill>
        <p:spPr bwMode="auto">
          <a:xfrm>
            <a:off x="304103" y="1677290"/>
            <a:ext cx="9440398" cy="46517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96257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Artefatos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04103" y="1035537"/>
            <a:ext cx="1300406" cy="382446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Artefatos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13" name="Agrupar 12"/>
          <p:cNvGrpSpPr/>
          <p:nvPr/>
        </p:nvGrpSpPr>
        <p:grpSpPr>
          <a:xfrm>
            <a:off x="176063" y="1417983"/>
            <a:ext cx="4041095" cy="2730772"/>
            <a:chOff x="3618398" y="910362"/>
            <a:chExt cx="4041095" cy="2730772"/>
          </a:xfrm>
        </p:grpSpPr>
        <p:sp>
          <p:nvSpPr>
            <p:cNvPr id="21" name="Retângulo de cantos arredondados 14"/>
            <p:cNvSpPr/>
            <p:nvPr/>
          </p:nvSpPr>
          <p:spPr>
            <a:xfrm>
              <a:off x="3618398" y="910362"/>
              <a:ext cx="4041095" cy="382446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Guia rápido do processo</a:t>
              </a:r>
              <a:endPara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" name="Retângulo de cantos arredondados 14"/>
            <p:cNvSpPr/>
            <p:nvPr/>
          </p:nvSpPr>
          <p:spPr>
            <a:xfrm rot="20258899">
              <a:off x="5451054" y="3258688"/>
              <a:ext cx="890285" cy="382446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dirty="0">
                  <a:solidFill>
                    <a:srgbClr val="FF0000"/>
                  </a:solidFill>
                </a:rPr>
                <a:t>Exemplo</a:t>
              </a:r>
            </a:p>
          </p:txBody>
        </p:sp>
      </p:grpSp>
      <p:sp>
        <p:nvSpPr>
          <p:cNvPr id="23" name="Retângulo de cantos arredondados 14"/>
          <p:cNvSpPr/>
          <p:nvPr/>
        </p:nvSpPr>
        <p:spPr>
          <a:xfrm>
            <a:off x="5480798" y="796982"/>
            <a:ext cx="4485821" cy="38244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Check</a:t>
            </a:r>
            <a:r>
              <a:rPr lang="pt-BR" sz="1400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1400" b="1" i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list</a:t>
            </a:r>
            <a:r>
              <a:rPr lang="pt-BR" sz="1400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 apoio</a:t>
            </a:r>
            <a:endParaRPr lang="pt-B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/>
          <a:srcRect b="-975"/>
          <a:stretch/>
        </p:blipFill>
        <p:spPr>
          <a:xfrm>
            <a:off x="194141" y="1828304"/>
            <a:ext cx="4023017" cy="2798287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798" y="1172460"/>
            <a:ext cx="4636340" cy="2774806"/>
          </a:xfrm>
          <a:prstGeom prst="rect">
            <a:avLst/>
          </a:prstGeom>
        </p:spPr>
      </p:pic>
      <p:sp>
        <p:nvSpPr>
          <p:cNvPr id="16" name="Retângulo de cantos arredondados 14"/>
          <p:cNvSpPr/>
          <p:nvPr/>
        </p:nvSpPr>
        <p:spPr>
          <a:xfrm>
            <a:off x="1694947" y="4711972"/>
            <a:ext cx="3186383" cy="37029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Ata de Reunião do CAB</a:t>
            </a:r>
            <a:endParaRPr lang="pt-B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4509" y="4994795"/>
            <a:ext cx="3276821" cy="1863205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194141" y="1800430"/>
            <a:ext cx="4023017" cy="27991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0798" y="4369099"/>
            <a:ext cx="4575174" cy="1987254"/>
          </a:xfrm>
          <a:prstGeom prst="rect">
            <a:avLst/>
          </a:prstGeom>
        </p:spPr>
      </p:pic>
      <p:sp>
        <p:nvSpPr>
          <p:cNvPr id="19" name="Retângulo de cantos arredondados 14"/>
          <p:cNvSpPr/>
          <p:nvPr/>
        </p:nvSpPr>
        <p:spPr>
          <a:xfrm>
            <a:off x="5480797" y="4003974"/>
            <a:ext cx="4485821" cy="38244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Plano de RFC</a:t>
            </a:r>
            <a:endParaRPr lang="pt-B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62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428957" y="2622776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de Mudanças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428957" y="365589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CAB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428957" y="46890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ECAB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7" name="Retângulo de cantos arredondados 9"/>
          <p:cNvSpPr/>
          <p:nvPr/>
        </p:nvSpPr>
        <p:spPr>
          <a:xfrm>
            <a:off x="4485821" y="5632981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5" name="Retângulo de cantos arredondados 8"/>
          <p:cNvSpPr/>
          <p:nvPr/>
        </p:nvSpPr>
        <p:spPr>
          <a:xfrm>
            <a:off x="4428957" y="172483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 e Artefatos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4428957" y="8433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</p:spTree>
    <p:extLst>
      <p:ext uri="{BB962C8B-B14F-4D97-AF65-F5344CB8AC3E}">
        <p14:creationId xmlns:p14="http://schemas.microsoft.com/office/powerpoint/2010/main" val="81311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Equipe de Gerenciamento de 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8"/>
            <a:ext cx="9231937" cy="3896488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lvl="0" indent="-285750"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Garantir que o processo seja executado segundo as diretrizes estabelecidas e operacionalizado com eficiência e eficácia, para alcançar os Indicadores de Desempenho</a:t>
              </a: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Analisar todas as RFC e classificá-las conforme o risco e impacto ao negócio</a:t>
              </a: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Convocar os participantes, criar e enviar a pauta e a ata de reunião do CAB</a:t>
              </a: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Analisar e deliberar todas as </a:t>
              </a:r>
              <a:r>
                <a:rPr lang="pt-BR" sz="1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RFC´s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de categoria </a:t>
              </a: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Pré-aprovada e Informativa.</a:t>
              </a: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Solicitar deliberação para todas as </a:t>
              </a:r>
              <a:r>
                <a:rPr lang="pt-BR" sz="1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RFC´s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de categoria Emergencial</a:t>
              </a: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Enviar comunicados de indisponibilidade para os clientes afetados, caso ocorra necessidade</a:t>
              </a: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Revisar todas as </a:t>
              </a:r>
              <a:r>
                <a:rPr lang="pt-BR" sz="1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RFC´s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após a sua execução</a:t>
              </a: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Equipe de Ger. de  Mudanças</a:t>
              </a:r>
              <a:r>
                <a:rPr lang="pt-BR" dirty="0" smtClean="0"/>
                <a:t> </a:t>
              </a:r>
              <a:endParaRPr lang="pt-BR" i="1" dirty="0"/>
            </a:p>
          </p:txBody>
        </p:sp>
      </p:grpSp>
      <p:pic>
        <p:nvPicPr>
          <p:cNvPr id="12" name="Picture 2" descr="http://www.atsconline.com/images/icon-employee.png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032"/>
          <a:stretch/>
        </p:blipFill>
        <p:spPr bwMode="auto">
          <a:xfrm>
            <a:off x="8052179" y="5161279"/>
            <a:ext cx="1507101" cy="1370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://www.atsconline.com/images/icon-employee.png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032"/>
          <a:stretch/>
        </p:blipFill>
        <p:spPr bwMode="auto">
          <a:xfrm>
            <a:off x="7298628" y="4906317"/>
            <a:ext cx="1507101" cy="1370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6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Equipe de 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/>
              <a:t>Em análise GM</a:t>
            </a:r>
            <a:endParaRPr lang="pt-BR" sz="1600" i="1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43" y="1621987"/>
            <a:ext cx="6309586" cy="2595171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2770496" y="2497540"/>
            <a:ext cx="1378423" cy="423081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o explicativo retangular 12"/>
          <p:cNvSpPr/>
          <p:nvPr/>
        </p:nvSpPr>
        <p:spPr>
          <a:xfrm>
            <a:off x="304103" y="4936161"/>
            <a:ext cx="3643954" cy="524325"/>
          </a:xfrm>
          <a:prstGeom prst="wedgeRectCallout">
            <a:avLst>
              <a:gd name="adj1" fmla="val 45203"/>
              <a:gd name="adj2" fmla="val -455494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Selecione a opção &lt;Enviar análise GM&gt;</a:t>
            </a:r>
            <a:endParaRPr lang="pt-BR" sz="16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4288" y="938847"/>
            <a:ext cx="4884479" cy="4229333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738715" y="4792454"/>
            <a:ext cx="1378423" cy="423081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o explicativo retangular 16"/>
          <p:cNvSpPr/>
          <p:nvPr/>
        </p:nvSpPr>
        <p:spPr>
          <a:xfrm>
            <a:off x="5773004" y="5389113"/>
            <a:ext cx="2722032" cy="524325"/>
          </a:xfrm>
          <a:prstGeom prst="wedgeRectCallout">
            <a:avLst>
              <a:gd name="adj1" fmla="val 64137"/>
              <a:gd name="adj2" fmla="val -85879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Selecione novamente a opção &lt;Enviar análise GM&gt;</a:t>
            </a:r>
            <a:endParaRPr lang="pt-BR" sz="1600" dirty="0"/>
          </a:p>
        </p:txBody>
      </p:sp>
      <p:sp>
        <p:nvSpPr>
          <p:cNvPr id="18" name="Retângulo de cantos arredondados 17"/>
          <p:cNvSpPr/>
          <p:nvPr/>
        </p:nvSpPr>
        <p:spPr>
          <a:xfrm>
            <a:off x="5482385" y="6134371"/>
            <a:ext cx="4496382" cy="624278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 smtClean="0">
                <a:solidFill>
                  <a:schemeClr val="bg1"/>
                </a:solidFill>
              </a:rPr>
              <a:t>Todas as </a:t>
            </a:r>
            <a:r>
              <a:rPr lang="pt-BR" sz="1600" b="1" dirty="0" err="1" smtClean="0">
                <a:solidFill>
                  <a:schemeClr val="bg1"/>
                </a:solidFill>
              </a:rPr>
              <a:t>RFC´s</a:t>
            </a:r>
            <a:r>
              <a:rPr lang="pt-BR" sz="1600" b="1" dirty="0" smtClean="0">
                <a:solidFill>
                  <a:schemeClr val="bg1"/>
                </a:solidFill>
              </a:rPr>
              <a:t> são enviadas para a equipe de Mudanças</a:t>
            </a:r>
            <a:endParaRPr lang="pt-BR" sz="1600" b="1" i="1" dirty="0">
              <a:solidFill>
                <a:schemeClr val="bg1"/>
              </a:solidFill>
            </a:endParaRPr>
          </a:p>
        </p:txBody>
      </p:sp>
      <p:cxnSp>
        <p:nvCxnSpPr>
          <p:cNvPr id="19" name="Conector reto 18"/>
          <p:cNvCxnSpPr/>
          <p:nvPr/>
        </p:nvCxnSpPr>
        <p:spPr>
          <a:xfrm flipH="1">
            <a:off x="5073011" y="750627"/>
            <a:ext cx="54687" cy="61073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71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Equipe de 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/>
              <a:t>Em análise GM</a:t>
            </a:r>
            <a:endParaRPr lang="pt-BR" sz="1600" i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r="32943"/>
          <a:stretch/>
        </p:blipFill>
        <p:spPr>
          <a:xfrm>
            <a:off x="177570" y="1864340"/>
            <a:ext cx="3493678" cy="2076450"/>
          </a:xfrm>
          <a:prstGeom prst="rect">
            <a:avLst/>
          </a:prstGeom>
        </p:spPr>
      </p:pic>
      <p:sp>
        <p:nvSpPr>
          <p:cNvPr id="20" name="Retângulo 19"/>
          <p:cNvSpPr/>
          <p:nvPr/>
        </p:nvSpPr>
        <p:spPr>
          <a:xfrm>
            <a:off x="1303435" y="2452189"/>
            <a:ext cx="1890141" cy="423081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o explicativo retangular 20"/>
          <p:cNvSpPr/>
          <p:nvPr/>
        </p:nvSpPr>
        <p:spPr>
          <a:xfrm>
            <a:off x="4472925" y="2975212"/>
            <a:ext cx="4984974" cy="1402859"/>
          </a:xfrm>
          <a:prstGeom prst="wedgeRectCallout">
            <a:avLst>
              <a:gd name="adj1" fmla="val -80966"/>
              <a:gd name="adj2" fmla="val -63551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Todas as </a:t>
            </a:r>
            <a:r>
              <a:rPr lang="pt-BR" sz="1600" dirty="0" err="1" smtClean="0"/>
              <a:t>RFC´s</a:t>
            </a:r>
            <a:r>
              <a:rPr lang="pt-BR" sz="1600" dirty="0" smtClean="0"/>
              <a:t> devem ser </a:t>
            </a:r>
            <a:r>
              <a:rPr lang="pt-BR" sz="1600" dirty="0" err="1" smtClean="0"/>
              <a:t>r</a:t>
            </a:r>
            <a:r>
              <a:rPr lang="pt-BR" sz="1600" b="1" dirty="0" err="1" smtClean="0"/>
              <a:t>ecategorizadas</a:t>
            </a:r>
            <a:r>
              <a:rPr lang="pt-BR" sz="1600" dirty="0" smtClean="0"/>
              <a:t> ou reprovadas pela equipe de Gerenciamento de Mudanças.</a:t>
            </a:r>
          </a:p>
          <a:p>
            <a:pPr algn="ctr"/>
            <a:r>
              <a:rPr lang="pt-BR" sz="1600" dirty="0" smtClean="0"/>
              <a:t>Selecione a opção &lt;Categorizar&gt; ou &lt;Reprovar&gt;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82451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70" y="1693308"/>
            <a:ext cx="6829425" cy="3552825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Equipe de 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/>
              <a:t>Reprovada</a:t>
            </a:r>
            <a:endParaRPr lang="pt-BR" sz="1600" i="1" dirty="0"/>
          </a:p>
        </p:txBody>
      </p:sp>
      <p:sp>
        <p:nvSpPr>
          <p:cNvPr id="20" name="Retângulo 19"/>
          <p:cNvSpPr/>
          <p:nvPr/>
        </p:nvSpPr>
        <p:spPr>
          <a:xfrm>
            <a:off x="5438818" y="4823052"/>
            <a:ext cx="1112107" cy="423081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o explicativo retangular 20"/>
          <p:cNvSpPr/>
          <p:nvPr/>
        </p:nvSpPr>
        <p:spPr>
          <a:xfrm>
            <a:off x="5727309" y="3038967"/>
            <a:ext cx="4094329" cy="878846"/>
          </a:xfrm>
          <a:prstGeom prst="wedgeRectCallout">
            <a:avLst>
              <a:gd name="adj1" fmla="val -64915"/>
              <a:gd name="adj2" fmla="val 3791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Descreva o motivo da reprovação e os ajustes que devem ser executados pelo solicitante da RFC</a:t>
            </a:r>
            <a:endParaRPr lang="pt-BR" sz="1600" dirty="0"/>
          </a:p>
        </p:txBody>
      </p:sp>
      <p:sp>
        <p:nvSpPr>
          <p:cNvPr id="13" name="Texto explicativo retangular 12"/>
          <p:cNvSpPr/>
          <p:nvPr/>
        </p:nvSpPr>
        <p:spPr>
          <a:xfrm>
            <a:off x="5727309" y="5616015"/>
            <a:ext cx="2625121" cy="535357"/>
          </a:xfrm>
          <a:prstGeom prst="wedgeRectCallout">
            <a:avLst>
              <a:gd name="adj1" fmla="val -53142"/>
              <a:gd name="adj2" fmla="val -128737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Após descrever, selecione a opção &lt;Reprovada&gt;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75363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Equipe de 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/>
              <a:t>Categorizar</a:t>
            </a:r>
            <a:endParaRPr lang="pt-BR" sz="1600" i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/>
          <a:srcRect l="24023" t="29088" r="56047" b="44735"/>
          <a:stretch/>
        </p:blipFill>
        <p:spPr>
          <a:xfrm>
            <a:off x="122979" y="1514897"/>
            <a:ext cx="2593075" cy="1815154"/>
          </a:xfrm>
          <a:prstGeom prst="rect">
            <a:avLst/>
          </a:prstGeom>
        </p:spPr>
      </p:pic>
      <p:sp>
        <p:nvSpPr>
          <p:cNvPr id="21" name="Retângulo 20"/>
          <p:cNvSpPr/>
          <p:nvPr/>
        </p:nvSpPr>
        <p:spPr>
          <a:xfrm>
            <a:off x="1419515" y="2161173"/>
            <a:ext cx="989389" cy="1039358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o explicativo retangular 21"/>
          <p:cNvSpPr/>
          <p:nvPr/>
        </p:nvSpPr>
        <p:spPr>
          <a:xfrm>
            <a:off x="304103" y="4117720"/>
            <a:ext cx="2593074" cy="937740"/>
          </a:xfrm>
          <a:prstGeom prst="wedgeRectCallout">
            <a:avLst>
              <a:gd name="adj1" fmla="val -2061"/>
              <a:gd name="adj2" fmla="val -157064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Selecione a opção &lt;Categorizar&gt; conforme definido no processo</a:t>
            </a:r>
            <a:endParaRPr lang="pt-BR" sz="1600" dirty="0"/>
          </a:p>
        </p:txBody>
      </p:sp>
      <p:grpSp>
        <p:nvGrpSpPr>
          <p:cNvPr id="23" name="Agrupar 2"/>
          <p:cNvGrpSpPr/>
          <p:nvPr/>
        </p:nvGrpSpPr>
        <p:grpSpPr>
          <a:xfrm>
            <a:off x="3355941" y="1753591"/>
            <a:ext cx="6669913" cy="576000"/>
            <a:chOff x="2935009" y="3795246"/>
            <a:chExt cx="6669913" cy="900000"/>
          </a:xfrm>
        </p:grpSpPr>
        <p:sp>
          <p:nvSpPr>
            <p:cNvPr id="24" name="Retângulo 23"/>
            <p:cNvSpPr/>
            <p:nvPr/>
          </p:nvSpPr>
          <p:spPr>
            <a:xfrm>
              <a:off x="4216022" y="3795246"/>
              <a:ext cx="5388900" cy="90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 smtClean="0">
                  <a:solidFill>
                    <a:schemeClr val="tx1"/>
                  </a:solidFill>
                </a:rPr>
                <a:t>com </a:t>
              </a:r>
              <a:r>
                <a:rPr lang="pt-BR" sz="1300" dirty="0">
                  <a:solidFill>
                    <a:schemeClr val="tx1"/>
                  </a:solidFill>
                </a:rPr>
                <a:t>risco baixo, relativamente comum e que segue um procedimento ou instrução de trabalho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25" name="Retângulo de cantos arredondados 14"/>
            <p:cNvSpPr/>
            <p:nvPr/>
          </p:nvSpPr>
          <p:spPr>
            <a:xfrm>
              <a:off x="2935009" y="3795246"/>
              <a:ext cx="1281013" cy="900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Pré-aprovada</a:t>
              </a:r>
            </a:p>
          </p:txBody>
        </p:sp>
      </p:grpSp>
      <p:grpSp>
        <p:nvGrpSpPr>
          <p:cNvPr id="26" name="Agrupar 2"/>
          <p:cNvGrpSpPr/>
          <p:nvPr/>
        </p:nvGrpSpPr>
        <p:grpSpPr>
          <a:xfrm>
            <a:off x="3354155" y="2434493"/>
            <a:ext cx="6669913" cy="648000"/>
            <a:chOff x="2935009" y="3795246"/>
            <a:chExt cx="6669913" cy="648000"/>
          </a:xfrm>
        </p:grpSpPr>
        <p:sp>
          <p:nvSpPr>
            <p:cNvPr id="27" name="Retângulo 26"/>
            <p:cNvSpPr/>
            <p:nvPr/>
          </p:nvSpPr>
          <p:spPr>
            <a:xfrm>
              <a:off x="4216022" y="3795246"/>
              <a:ext cx="5388900" cy="64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>
                  <a:solidFill>
                    <a:schemeClr val="tx1"/>
                  </a:solidFill>
                </a:rPr>
                <a:t>apresenta riscos desconhecidos e segue procedimentos ou instruções de trabalho não padronizado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28" name="Retângulo de cantos arredondados 14"/>
            <p:cNvSpPr/>
            <p:nvPr/>
          </p:nvSpPr>
          <p:spPr>
            <a:xfrm>
              <a:off x="2935009" y="3795246"/>
              <a:ext cx="1281013" cy="648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Normal</a:t>
              </a:r>
            </a:p>
          </p:txBody>
        </p:sp>
      </p:grpSp>
      <p:grpSp>
        <p:nvGrpSpPr>
          <p:cNvPr id="29" name="Agrupar 2"/>
          <p:cNvGrpSpPr/>
          <p:nvPr/>
        </p:nvGrpSpPr>
        <p:grpSpPr>
          <a:xfrm>
            <a:off x="3342780" y="3187395"/>
            <a:ext cx="6669913" cy="792000"/>
            <a:chOff x="2935009" y="3795246"/>
            <a:chExt cx="6669913" cy="792000"/>
          </a:xfrm>
        </p:grpSpPr>
        <p:sp>
          <p:nvSpPr>
            <p:cNvPr id="30" name="Retângulo 29"/>
            <p:cNvSpPr/>
            <p:nvPr/>
          </p:nvSpPr>
          <p:spPr>
            <a:xfrm>
              <a:off x="4216022" y="3795246"/>
              <a:ext cx="5388900" cy="79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>
                  <a:solidFill>
                    <a:schemeClr val="tx1"/>
                  </a:solidFill>
                </a:rPr>
                <a:t>não foi emitida no prazo para ser analisada pelo (CAB) </a:t>
              </a:r>
              <a:r>
                <a:rPr lang="pt-BR" sz="1300" dirty="0" smtClean="0">
                  <a:solidFill>
                    <a:schemeClr val="tx1"/>
                  </a:solidFill>
                </a:rPr>
                <a:t>e pode ou não </a:t>
              </a:r>
              <a:r>
                <a:rPr lang="pt-BR" sz="1300" dirty="0">
                  <a:solidFill>
                    <a:schemeClr val="tx1"/>
                  </a:solidFill>
                </a:rPr>
                <a:t>está associada a um Incidente de alto impacto “</a:t>
              </a:r>
              <a:r>
                <a:rPr lang="pt-BR" sz="1300" i="1" dirty="0" err="1">
                  <a:solidFill>
                    <a:schemeClr val="tx1"/>
                  </a:solidFill>
                </a:rPr>
                <a:t>Blocker</a:t>
              </a:r>
              <a:r>
                <a:rPr lang="pt-BR" sz="1300" dirty="0">
                  <a:solidFill>
                    <a:schemeClr val="tx1"/>
                  </a:solidFill>
                </a:rPr>
                <a:t>”, porém precisa ser executada na data definida, para evitar que ocorra algum impacto ao negócio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31" name="Retângulo de cantos arredondados 14"/>
            <p:cNvSpPr/>
            <p:nvPr/>
          </p:nvSpPr>
          <p:spPr>
            <a:xfrm>
              <a:off x="2935009" y="3795246"/>
              <a:ext cx="1281013" cy="792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Emergencial</a:t>
              </a:r>
            </a:p>
          </p:txBody>
        </p:sp>
      </p:grpSp>
      <p:grpSp>
        <p:nvGrpSpPr>
          <p:cNvPr id="32" name="Agrupar 2"/>
          <p:cNvGrpSpPr/>
          <p:nvPr/>
        </p:nvGrpSpPr>
        <p:grpSpPr>
          <a:xfrm>
            <a:off x="3345052" y="4117720"/>
            <a:ext cx="6669913" cy="974408"/>
            <a:chOff x="2935009" y="3795245"/>
            <a:chExt cx="6669913" cy="860091"/>
          </a:xfrm>
        </p:grpSpPr>
        <p:sp>
          <p:nvSpPr>
            <p:cNvPr id="33" name="Retângulo 32"/>
            <p:cNvSpPr/>
            <p:nvPr/>
          </p:nvSpPr>
          <p:spPr>
            <a:xfrm>
              <a:off x="4216022" y="3795245"/>
              <a:ext cx="5388900" cy="8600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>
                  <a:solidFill>
                    <a:schemeClr val="tx1"/>
                  </a:solidFill>
                </a:rPr>
                <a:t>precisa ser implementada o mais rápido possível para resolver um incidente de alto impacto “</a:t>
              </a:r>
              <a:r>
                <a:rPr lang="pt-BR" sz="1300" i="1" dirty="0" err="1">
                  <a:solidFill>
                    <a:schemeClr val="tx1"/>
                  </a:solidFill>
                </a:rPr>
                <a:t>Blocker</a:t>
              </a:r>
              <a:r>
                <a:rPr lang="pt-BR" sz="1300" dirty="0">
                  <a:solidFill>
                    <a:schemeClr val="tx1"/>
                  </a:solidFill>
                </a:rPr>
                <a:t>” ”, e pode ser registrada após a sua resolução</a:t>
              </a:r>
              <a:r>
                <a:rPr lang="pt-BR" sz="1300" dirty="0" smtClean="0">
                  <a:solidFill>
                    <a:schemeClr val="tx1"/>
                  </a:solidFill>
                </a:rPr>
                <a:t>. </a:t>
              </a:r>
              <a:r>
                <a:rPr lang="pt-BR" sz="1300" dirty="0">
                  <a:solidFill>
                    <a:schemeClr val="tx1"/>
                  </a:solidFill>
                </a:rPr>
                <a:t>E também é considerado como categoria Informativa toda </a:t>
              </a:r>
              <a:r>
                <a:rPr lang="pt-BR" sz="1300" dirty="0" smtClean="0">
                  <a:solidFill>
                    <a:schemeClr val="tx1"/>
                  </a:solidFill>
                </a:rPr>
                <a:t>RFC  </a:t>
              </a:r>
              <a:r>
                <a:rPr lang="pt-BR" sz="1300" dirty="0">
                  <a:solidFill>
                    <a:schemeClr val="tx1"/>
                  </a:solidFill>
                </a:rPr>
                <a:t>que a </a:t>
              </a:r>
              <a:r>
                <a:rPr lang="pt-BR" sz="1300" dirty="0" err="1">
                  <a:solidFill>
                    <a:schemeClr val="tx1"/>
                  </a:solidFill>
                </a:rPr>
                <a:t>Smiles</a:t>
              </a:r>
              <a:r>
                <a:rPr lang="pt-BR" sz="1300" dirty="0">
                  <a:solidFill>
                    <a:schemeClr val="tx1"/>
                  </a:solidFill>
                </a:rPr>
                <a:t> não tem autonomia para aprovação, apena precisa ter ciência da sua execução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  <a:endParaRPr lang="pt-BR" sz="14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34" name="Retângulo de cantos arredondados 14"/>
            <p:cNvSpPr/>
            <p:nvPr/>
          </p:nvSpPr>
          <p:spPr>
            <a:xfrm>
              <a:off x="2935009" y="3795245"/>
              <a:ext cx="1281013" cy="860091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Informativa</a:t>
              </a:r>
            </a:p>
          </p:txBody>
        </p:sp>
      </p:grpSp>
      <p:sp>
        <p:nvSpPr>
          <p:cNvPr id="35" name="Seta para baixo 34"/>
          <p:cNvSpPr/>
          <p:nvPr/>
        </p:nvSpPr>
        <p:spPr>
          <a:xfrm rot="16200000">
            <a:off x="2330073" y="2408688"/>
            <a:ext cx="1091821" cy="736979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40" y="5613235"/>
            <a:ext cx="1057275" cy="323850"/>
          </a:xfrm>
          <a:prstGeom prst="rect">
            <a:avLst/>
          </a:prstGeom>
        </p:spPr>
      </p:pic>
      <p:sp>
        <p:nvSpPr>
          <p:cNvPr id="36" name="Retângulo 35"/>
          <p:cNvSpPr/>
          <p:nvPr/>
        </p:nvSpPr>
        <p:spPr>
          <a:xfrm>
            <a:off x="428044" y="5613235"/>
            <a:ext cx="989389" cy="323850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Texto explicativo retangular 36"/>
          <p:cNvSpPr/>
          <p:nvPr/>
        </p:nvSpPr>
        <p:spPr>
          <a:xfrm>
            <a:off x="3172539" y="5306290"/>
            <a:ext cx="3119078" cy="937740"/>
          </a:xfrm>
          <a:prstGeom prst="wedgeRectCallout">
            <a:avLst>
              <a:gd name="adj1" fmla="val -108377"/>
              <a:gd name="adj2" fmla="val 3029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Após escolher a categoria, selecione a opção &lt;Categorizar&gt;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89348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Equipe de 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/>
              <a:t>Categoria Informativa ou Pré-aprovada</a:t>
            </a:r>
            <a:endParaRPr lang="pt-BR" sz="1600" i="1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70" y="1781388"/>
            <a:ext cx="3990975" cy="2066925"/>
          </a:xfrm>
          <a:prstGeom prst="rect">
            <a:avLst/>
          </a:prstGeom>
        </p:spPr>
      </p:pic>
      <p:sp>
        <p:nvSpPr>
          <p:cNvPr id="38" name="Retângulo 37"/>
          <p:cNvSpPr/>
          <p:nvPr/>
        </p:nvSpPr>
        <p:spPr>
          <a:xfrm>
            <a:off x="2292975" y="2483893"/>
            <a:ext cx="1746762" cy="341194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o explicativo retangular 38"/>
          <p:cNvSpPr/>
          <p:nvPr/>
        </p:nvSpPr>
        <p:spPr>
          <a:xfrm>
            <a:off x="5973628" y="2604032"/>
            <a:ext cx="3631293" cy="1490295"/>
          </a:xfrm>
          <a:prstGeom prst="wedgeRectCallout">
            <a:avLst>
              <a:gd name="adj1" fmla="val -119316"/>
              <a:gd name="adj2" fmla="val -3917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Caso a RFC seja da categoria Informativa ou Pré-aprovada, a equipe de Gerenciamento de Mudanças deverá “Aprovar” ou Reprovar”, selecionando uma das opções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11331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70" y="1824962"/>
            <a:ext cx="4010025" cy="2000250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Equipe de 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/>
              <a:t>Categoria Normal</a:t>
            </a:r>
            <a:endParaRPr lang="pt-BR" sz="1600" i="1" dirty="0"/>
          </a:p>
        </p:txBody>
      </p:sp>
      <p:sp>
        <p:nvSpPr>
          <p:cNvPr id="38" name="Retângulo 37"/>
          <p:cNvSpPr/>
          <p:nvPr/>
        </p:nvSpPr>
        <p:spPr>
          <a:xfrm>
            <a:off x="2197290" y="2483893"/>
            <a:ext cx="1990305" cy="341194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o explicativo retangular 38"/>
          <p:cNvSpPr/>
          <p:nvPr/>
        </p:nvSpPr>
        <p:spPr>
          <a:xfrm>
            <a:off x="5973628" y="2604032"/>
            <a:ext cx="3631293" cy="1490295"/>
          </a:xfrm>
          <a:prstGeom prst="wedgeRectCallout">
            <a:avLst>
              <a:gd name="adj1" fmla="val -119316"/>
              <a:gd name="adj2" fmla="val -3917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Caso a RFC seja da categoria </a:t>
            </a:r>
            <a:r>
              <a:rPr lang="pt-BR" sz="1600" dirty="0" smtClean="0"/>
              <a:t>Normal, </a:t>
            </a:r>
            <a:r>
              <a:rPr lang="pt-BR" sz="1600" dirty="0"/>
              <a:t>a equipe de Gerenciamento de Mudanças deverá </a:t>
            </a:r>
            <a:r>
              <a:rPr lang="pt-BR" sz="1600" dirty="0" smtClean="0"/>
              <a:t>“Enviar para análise do CAB” </a:t>
            </a:r>
            <a:r>
              <a:rPr lang="pt-BR" sz="1600" dirty="0"/>
              <a:t>ou Reprovar”, selecionando uma das opções</a:t>
            </a:r>
          </a:p>
        </p:txBody>
      </p:sp>
    </p:spTree>
    <p:extLst>
      <p:ext uri="{BB962C8B-B14F-4D97-AF65-F5344CB8AC3E}">
        <p14:creationId xmlns:p14="http://schemas.microsoft.com/office/powerpoint/2010/main" val="418387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70" y="1839249"/>
            <a:ext cx="5029200" cy="1971675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Equipe de 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/>
              <a:t>Categoria Emergencial</a:t>
            </a:r>
            <a:endParaRPr lang="pt-BR" sz="1600" i="1" dirty="0"/>
          </a:p>
        </p:txBody>
      </p:sp>
      <p:sp>
        <p:nvSpPr>
          <p:cNvPr id="38" name="Retângulo 37"/>
          <p:cNvSpPr/>
          <p:nvPr/>
        </p:nvSpPr>
        <p:spPr>
          <a:xfrm>
            <a:off x="1201004" y="2483893"/>
            <a:ext cx="1050877" cy="341194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o explicativo retangular 38"/>
          <p:cNvSpPr/>
          <p:nvPr/>
        </p:nvSpPr>
        <p:spPr>
          <a:xfrm>
            <a:off x="5973628" y="2604032"/>
            <a:ext cx="3631293" cy="1490295"/>
          </a:xfrm>
          <a:prstGeom prst="wedgeRectCallout">
            <a:avLst>
              <a:gd name="adj1" fmla="val -156900"/>
              <a:gd name="adj2" fmla="val -37346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Caso a RFC seja da categoria </a:t>
            </a:r>
            <a:r>
              <a:rPr lang="pt-BR" sz="1600" dirty="0" smtClean="0"/>
              <a:t>Emergencial, </a:t>
            </a:r>
            <a:r>
              <a:rPr lang="pt-BR" sz="1600" dirty="0"/>
              <a:t>a equipe de Gerenciamento de Mudanças deverá </a:t>
            </a:r>
            <a:r>
              <a:rPr lang="pt-BR" sz="1600" dirty="0" smtClean="0"/>
              <a:t>“Enviar para análise do ECAB” </a:t>
            </a:r>
            <a:r>
              <a:rPr lang="pt-BR" sz="1600" dirty="0"/>
              <a:t>ou Reprovar”, selecionando uma das opções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3203887" y="2465696"/>
            <a:ext cx="931385" cy="341194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49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Equipe de Gerenciamento de 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208021" y="3063873"/>
            <a:ext cx="9231937" cy="3077620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>
                  <a:solidFill>
                    <a:schemeClr val="tx1"/>
                  </a:solidFill>
                </a:rPr>
                <a:t>O processo de Gerenciamento de Mudanças deverá revisar mensalmente o fechamento das </a:t>
              </a:r>
              <a:r>
                <a:rPr lang="pt-BR" sz="1600" dirty="0" err="1">
                  <a:solidFill>
                    <a:schemeClr val="tx1"/>
                  </a:solidFill>
                </a:rPr>
                <a:t>Request</a:t>
              </a:r>
              <a:r>
                <a:rPr lang="pt-BR" sz="1600" dirty="0">
                  <a:solidFill>
                    <a:schemeClr val="tx1"/>
                  </a:solidFill>
                </a:rPr>
                <a:t> for </a:t>
              </a:r>
              <a:r>
                <a:rPr lang="pt-BR" sz="1600" dirty="0" err="1">
                  <a:solidFill>
                    <a:schemeClr val="tx1"/>
                  </a:solidFill>
                </a:rPr>
                <a:t>Change</a:t>
              </a:r>
              <a:r>
                <a:rPr lang="pt-BR" sz="1600" dirty="0">
                  <a:solidFill>
                    <a:schemeClr val="tx1"/>
                  </a:solidFill>
                </a:rPr>
                <a:t> (RFC) garantindo que os objetivos, a satisfação do cliente foi alcançada e o fechamento formal da mudança. Os seguintes critérios são considerados para classificar uma </a:t>
              </a:r>
              <a:r>
                <a:rPr lang="pt-BR" sz="1600" dirty="0" err="1">
                  <a:solidFill>
                    <a:schemeClr val="tx1"/>
                  </a:solidFill>
                </a:rPr>
                <a:t>Request</a:t>
              </a:r>
              <a:r>
                <a:rPr lang="pt-BR" sz="1600" dirty="0">
                  <a:solidFill>
                    <a:schemeClr val="tx1"/>
                  </a:solidFill>
                </a:rPr>
                <a:t> for </a:t>
              </a:r>
              <a:r>
                <a:rPr lang="pt-BR" sz="1600" dirty="0" err="1">
                  <a:solidFill>
                    <a:schemeClr val="tx1"/>
                  </a:solidFill>
                </a:rPr>
                <a:t>Change</a:t>
              </a:r>
              <a:r>
                <a:rPr lang="pt-BR" sz="1600" dirty="0">
                  <a:solidFill>
                    <a:schemeClr val="tx1"/>
                  </a:solidFill>
                </a:rPr>
                <a:t> (RFC) como Sem Sucesso</a:t>
              </a:r>
              <a:r>
                <a:rPr lang="pt-BR" sz="1600" dirty="0" smtClean="0">
                  <a:solidFill>
                    <a:schemeClr val="tx1"/>
                  </a:solidFill>
                </a:rPr>
                <a:t>:</a:t>
              </a:r>
            </a:p>
            <a:p>
              <a:endParaRPr lang="pt-BR" sz="1600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err="1" smtClean="0">
                  <a:solidFill>
                    <a:schemeClr val="tx1"/>
                  </a:solidFill>
                </a:rPr>
                <a:t>Request</a:t>
              </a:r>
              <a:r>
                <a:rPr lang="pt-BR" sz="1600" dirty="0" smtClean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for </a:t>
              </a:r>
              <a:r>
                <a:rPr lang="pt-BR" sz="1600" dirty="0" err="1">
                  <a:solidFill>
                    <a:schemeClr val="tx1"/>
                  </a:solidFill>
                </a:rPr>
                <a:t>Change</a:t>
              </a:r>
              <a:r>
                <a:rPr lang="pt-BR" sz="1600" dirty="0">
                  <a:solidFill>
                    <a:schemeClr val="tx1"/>
                  </a:solidFill>
                </a:rPr>
                <a:t> (RFC) executada no ambiente de Produção que gerou algum Incidente (com ou sem impacto direto a área de negócio);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err="1">
                  <a:solidFill>
                    <a:schemeClr val="tx1"/>
                  </a:solidFill>
                </a:rPr>
                <a:t>Request</a:t>
              </a:r>
              <a:r>
                <a:rPr lang="pt-BR" sz="1600" dirty="0">
                  <a:solidFill>
                    <a:schemeClr val="tx1"/>
                  </a:solidFill>
                </a:rPr>
                <a:t> for </a:t>
              </a:r>
              <a:r>
                <a:rPr lang="pt-BR" sz="1600" dirty="0" err="1">
                  <a:solidFill>
                    <a:schemeClr val="tx1"/>
                  </a:solidFill>
                </a:rPr>
                <a:t>Change</a:t>
              </a:r>
              <a:r>
                <a:rPr lang="pt-BR" sz="1600" dirty="0">
                  <a:solidFill>
                    <a:schemeClr val="tx1"/>
                  </a:solidFill>
                </a:rPr>
                <a:t> (RFC) executada no ambiente de Produção, parcialmente;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err="1">
                  <a:solidFill>
                    <a:schemeClr val="tx1"/>
                  </a:solidFill>
                </a:rPr>
                <a:t>Request</a:t>
              </a:r>
              <a:r>
                <a:rPr lang="pt-BR" sz="1600" dirty="0">
                  <a:solidFill>
                    <a:schemeClr val="tx1"/>
                  </a:solidFill>
                </a:rPr>
                <a:t> for </a:t>
              </a:r>
              <a:r>
                <a:rPr lang="pt-BR" sz="1600" dirty="0" err="1">
                  <a:solidFill>
                    <a:schemeClr val="tx1"/>
                  </a:solidFill>
                </a:rPr>
                <a:t>Change</a:t>
              </a:r>
              <a:r>
                <a:rPr lang="pt-BR" sz="1600" dirty="0">
                  <a:solidFill>
                    <a:schemeClr val="tx1"/>
                  </a:solidFill>
                </a:rPr>
                <a:t> (RFC) executada no ambiente de Produção que apresentou erros durante a sua execução (com ou sem impacto direto a área de negócio);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 err="1">
                  <a:solidFill>
                    <a:schemeClr val="tx1"/>
                  </a:solidFill>
                </a:rPr>
                <a:t>Request</a:t>
              </a:r>
              <a:r>
                <a:rPr lang="pt-BR" sz="1600" dirty="0">
                  <a:solidFill>
                    <a:schemeClr val="tx1"/>
                  </a:solidFill>
                </a:rPr>
                <a:t> for </a:t>
              </a:r>
              <a:r>
                <a:rPr lang="pt-BR" sz="1600" dirty="0" err="1">
                  <a:solidFill>
                    <a:schemeClr val="tx1"/>
                  </a:solidFill>
                </a:rPr>
                <a:t>Change</a:t>
              </a:r>
              <a:r>
                <a:rPr lang="pt-BR" sz="1600" dirty="0">
                  <a:solidFill>
                    <a:schemeClr val="tx1"/>
                  </a:solidFill>
                </a:rPr>
                <a:t> (RFC) executada no ambiente de Produção cujo plano de retorno foi executado (total ou parcial).</a:t>
              </a: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Critérios</a:t>
              </a:r>
              <a:endParaRPr lang="pt-BR" sz="1600" i="1" dirty="0"/>
            </a:p>
          </p:txBody>
        </p:sp>
      </p:grpSp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3" name="Retângulo de cantos arredondados 12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/>
              <a:t>Revisão Pós Implantação</a:t>
            </a:r>
            <a:endParaRPr lang="pt-BR" sz="1600" i="1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030" y="843717"/>
            <a:ext cx="4476750" cy="1933575"/>
          </a:xfrm>
          <a:prstGeom prst="rect">
            <a:avLst/>
          </a:prstGeom>
        </p:spPr>
      </p:pic>
      <p:sp>
        <p:nvSpPr>
          <p:cNvPr id="16" name="Texto explicativo retangular 15"/>
          <p:cNvSpPr/>
          <p:nvPr/>
        </p:nvSpPr>
        <p:spPr>
          <a:xfrm>
            <a:off x="1042659" y="1802861"/>
            <a:ext cx="3631293" cy="745148"/>
          </a:xfrm>
          <a:prstGeom prst="wedgeRectCallout">
            <a:avLst>
              <a:gd name="adj1" fmla="val 113327"/>
              <a:gd name="adj2" fmla="val -35514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Finalizar a RFC com ou sem sucesso</a:t>
            </a:r>
            <a:endParaRPr lang="pt-BR" sz="1600" dirty="0"/>
          </a:p>
        </p:txBody>
      </p:sp>
      <p:sp>
        <p:nvSpPr>
          <p:cNvPr id="17" name="Retângulo 16"/>
          <p:cNvSpPr/>
          <p:nvPr/>
        </p:nvSpPr>
        <p:spPr>
          <a:xfrm>
            <a:off x="6387153" y="1461667"/>
            <a:ext cx="2415653" cy="341194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0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Equipe de 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/>
              <a:t>Dicas</a:t>
            </a:r>
            <a:endParaRPr lang="pt-BR" sz="1600" i="1" dirty="0"/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77570" y="1609367"/>
            <a:ext cx="9427352" cy="4817254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pt-BR" sz="1500" dirty="0" smtClean="0">
                <a:solidFill>
                  <a:schemeClr val="tx1"/>
                </a:solidFill>
              </a:rPr>
              <a:t>Como verificar as </a:t>
            </a:r>
            <a:r>
              <a:rPr lang="pt-BR" sz="1500" dirty="0" err="1" smtClean="0">
                <a:solidFill>
                  <a:schemeClr val="tx1"/>
                </a:solidFill>
              </a:rPr>
              <a:t>RFC´s</a:t>
            </a:r>
            <a:r>
              <a:rPr lang="pt-BR" sz="1500" dirty="0" smtClean="0">
                <a:solidFill>
                  <a:schemeClr val="tx1"/>
                </a:solidFill>
              </a:rPr>
              <a:t> Pendentes de Aprovações?</a:t>
            </a:r>
          </a:p>
          <a:p>
            <a:r>
              <a:rPr lang="pt-BR" sz="1500" dirty="0">
                <a:solidFill>
                  <a:schemeClr val="tx1"/>
                </a:solidFill>
              </a:rPr>
              <a:t>https://</a:t>
            </a:r>
            <a:r>
              <a:rPr lang="pt-BR" sz="1500" dirty="0" smtClean="0">
                <a:solidFill>
                  <a:schemeClr val="tx1"/>
                </a:solidFill>
              </a:rPr>
              <a:t>smiles.atlassian.net/secure/Dashboard.jspa?selectPageId=18500</a:t>
            </a:r>
          </a:p>
          <a:p>
            <a:endParaRPr lang="pt-BR" sz="15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sz="1500" dirty="0" smtClean="0">
                <a:solidFill>
                  <a:schemeClr val="tx1"/>
                </a:solidFill>
              </a:rPr>
              <a:t>Como verificar os indicadores de desempenho do processo?</a:t>
            </a:r>
          </a:p>
          <a:p>
            <a:r>
              <a:rPr lang="pt-BR" sz="1500" dirty="0">
                <a:solidFill>
                  <a:schemeClr val="tx1"/>
                </a:solidFill>
              </a:rPr>
              <a:t>https://smiles.atlassian.net/secure/Dashboard.jspa?selectPageId=18200</a:t>
            </a:r>
            <a:endParaRPr lang="pt-BR" sz="1500" dirty="0" smtClean="0">
              <a:solidFill>
                <a:schemeClr val="tx1"/>
              </a:solidFill>
            </a:endParaRPr>
          </a:p>
          <a:p>
            <a:endParaRPr lang="pt-BR" sz="1500" dirty="0" smtClean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sz="1500" dirty="0" smtClean="0">
                <a:solidFill>
                  <a:schemeClr val="tx1"/>
                </a:solidFill>
              </a:rPr>
              <a:t>Como criar uma ata de reunião?</a:t>
            </a:r>
          </a:p>
          <a:p>
            <a:r>
              <a:rPr lang="pt-BR" sz="1500" dirty="0">
                <a:solidFill>
                  <a:schemeClr val="tx1"/>
                </a:solidFill>
              </a:rPr>
              <a:t>https://</a:t>
            </a:r>
            <a:r>
              <a:rPr lang="pt-BR" sz="1500" dirty="0" smtClean="0">
                <a:solidFill>
                  <a:schemeClr val="tx1"/>
                </a:solidFill>
              </a:rPr>
              <a:t>smiles.atlassian.net/wiki/pages/viewpage.action?pageId=94404648</a:t>
            </a:r>
          </a:p>
          <a:p>
            <a:pPr marL="285750" indent="-285750">
              <a:buFontTx/>
              <a:buChar char="-"/>
            </a:pPr>
            <a:endParaRPr lang="pt-BR" sz="15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sz="1500" dirty="0" smtClean="0">
                <a:solidFill>
                  <a:schemeClr val="tx1"/>
                </a:solidFill>
              </a:rPr>
              <a:t>Como verificar o calendário das </a:t>
            </a:r>
            <a:r>
              <a:rPr lang="pt-BR" sz="1500" dirty="0" err="1" smtClean="0">
                <a:solidFill>
                  <a:schemeClr val="tx1"/>
                </a:solidFill>
              </a:rPr>
              <a:t>RFC´s</a:t>
            </a:r>
            <a:r>
              <a:rPr lang="pt-BR" sz="1500" dirty="0" smtClean="0">
                <a:solidFill>
                  <a:schemeClr val="tx1"/>
                </a:solidFill>
              </a:rPr>
              <a:t> aprovadas?</a:t>
            </a:r>
          </a:p>
          <a:p>
            <a:r>
              <a:rPr lang="pt-BR" sz="1500" dirty="0">
                <a:solidFill>
                  <a:schemeClr val="tx1"/>
                </a:solidFill>
              </a:rPr>
              <a:t>https://</a:t>
            </a:r>
            <a:r>
              <a:rPr lang="pt-BR" sz="1500" dirty="0" smtClean="0">
                <a:solidFill>
                  <a:schemeClr val="tx1"/>
                </a:solidFill>
              </a:rPr>
              <a:t>smiles.atlassian.net/wiki/pages/viewpage.action?pageId=98763027</a:t>
            </a:r>
          </a:p>
          <a:p>
            <a:endParaRPr lang="pt-BR" sz="15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sz="1500" dirty="0" smtClean="0">
                <a:solidFill>
                  <a:schemeClr val="tx1"/>
                </a:solidFill>
              </a:rPr>
              <a:t>Onde está o plano da RFC?</a:t>
            </a:r>
          </a:p>
          <a:p>
            <a:r>
              <a:rPr lang="pt-BR" sz="1500" dirty="0">
                <a:solidFill>
                  <a:schemeClr val="tx1"/>
                </a:solidFill>
              </a:rPr>
              <a:t>https://</a:t>
            </a:r>
            <a:r>
              <a:rPr lang="pt-BR" sz="1500" dirty="0" smtClean="0">
                <a:solidFill>
                  <a:schemeClr val="tx1"/>
                </a:solidFill>
              </a:rPr>
              <a:t>smiles.atlassian.net/wiki/pages/viewpage.action?pageId=86933580</a:t>
            </a:r>
          </a:p>
          <a:p>
            <a:endParaRPr lang="pt-BR" sz="1500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sz="1500" dirty="0" smtClean="0">
                <a:solidFill>
                  <a:schemeClr val="tx1"/>
                </a:solidFill>
              </a:rPr>
              <a:t>Como verificar o status das </a:t>
            </a:r>
            <a:r>
              <a:rPr lang="pt-BR" sz="1500" dirty="0" err="1" smtClean="0">
                <a:solidFill>
                  <a:schemeClr val="tx1"/>
                </a:solidFill>
              </a:rPr>
              <a:t>RFCs</a:t>
            </a:r>
            <a:r>
              <a:rPr lang="pt-BR" sz="1500" dirty="0" smtClean="0">
                <a:solidFill>
                  <a:schemeClr val="tx1"/>
                </a:solidFill>
              </a:rPr>
              <a:t>?</a:t>
            </a:r>
          </a:p>
          <a:p>
            <a:r>
              <a:rPr lang="pt-BR" sz="1500" dirty="0">
                <a:solidFill>
                  <a:schemeClr val="tx1"/>
                </a:solidFill>
              </a:rPr>
              <a:t>https://smiles.atlassian.net/secure/Dashboard.jspa?selectPageId=18600</a:t>
            </a:r>
          </a:p>
          <a:p>
            <a:endParaRPr lang="pt-BR" sz="1500" dirty="0" smtClean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sz="1500" dirty="0" smtClean="0">
                <a:solidFill>
                  <a:schemeClr val="tx1"/>
                </a:solidFill>
              </a:rPr>
              <a:t>Como verificar o status dos </a:t>
            </a:r>
            <a:r>
              <a:rPr lang="pt-BR" sz="1500" dirty="0" err="1" smtClean="0">
                <a:solidFill>
                  <a:schemeClr val="tx1"/>
                </a:solidFill>
              </a:rPr>
              <a:t>Epics</a:t>
            </a:r>
            <a:r>
              <a:rPr lang="pt-BR" sz="1500" dirty="0" smtClean="0">
                <a:solidFill>
                  <a:schemeClr val="tx1"/>
                </a:solidFill>
              </a:rPr>
              <a:t> (Reunião do CAB)?</a:t>
            </a:r>
          </a:p>
          <a:p>
            <a:r>
              <a:rPr lang="pt-BR" sz="1500" dirty="0">
                <a:solidFill>
                  <a:schemeClr val="tx1"/>
                </a:solidFill>
              </a:rPr>
              <a:t>https://smiles.atlassian.net/secure/Dashboard.jspa?selectPageId=18601</a:t>
            </a:r>
          </a:p>
        </p:txBody>
      </p:sp>
    </p:spTree>
    <p:extLst>
      <p:ext uri="{BB962C8B-B14F-4D97-AF65-F5344CB8AC3E}">
        <p14:creationId xmlns:p14="http://schemas.microsoft.com/office/powerpoint/2010/main" val="348351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428957" y="262277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de Mudanças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428957" y="3655893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CAB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428957" y="46890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ECAB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7" name="Retângulo de cantos arredondados 9"/>
          <p:cNvSpPr/>
          <p:nvPr/>
        </p:nvSpPr>
        <p:spPr>
          <a:xfrm>
            <a:off x="4485821" y="5632981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5" name="Retângulo de cantos arredondados 8"/>
          <p:cNvSpPr/>
          <p:nvPr/>
        </p:nvSpPr>
        <p:spPr>
          <a:xfrm>
            <a:off x="4428957" y="172483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 e Artefatos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4428957" y="8433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</p:spTree>
    <p:extLst>
      <p:ext uri="{BB962C8B-B14F-4D97-AF65-F5344CB8AC3E}">
        <p14:creationId xmlns:p14="http://schemas.microsoft.com/office/powerpoint/2010/main" val="891908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Comitê Consultivo de Mudanças (CAB)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8"/>
            <a:ext cx="9231937" cy="5328052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 smtClean="0">
                  <a:solidFill>
                    <a:schemeClr val="tx1"/>
                  </a:solidFill>
                </a:rPr>
                <a:t>Toda </a:t>
              </a:r>
              <a:r>
                <a:rPr lang="pt-BR" sz="1600" i="1" dirty="0" err="1">
                  <a:solidFill>
                    <a:schemeClr val="tx1"/>
                  </a:solidFill>
                </a:rPr>
                <a:t>Request</a:t>
              </a:r>
              <a:r>
                <a:rPr lang="pt-BR" sz="1600" i="1" dirty="0">
                  <a:solidFill>
                    <a:schemeClr val="tx1"/>
                  </a:solidFill>
                </a:rPr>
                <a:t> for </a:t>
              </a:r>
              <a:r>
                <a:rPr lang="pt-BR" sz="1600" i="1" dirty="0" err="1">
                  <a:solidFill>
                    <a:schemeClr val="tx1"/>
                  </a:solidFill>
                </a:rPr>
                <a:t>Change</a:t>
              </a:r>
              <a:r>
                <a:rPr lang="pt-BR" sz="1600" i="1" dirty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(RFC) de categoria Normal deve ser aprovada pelo Comitê Consultivo de Mudanças (CAB) que será realizada toda quarta-feira, caso seja feriado, será no próximo dia útil. </a:t>
              </a:r>
              <a:endParaRPr lang="pt-BR" sz="1600" dirty="0" smtClean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Deve ser enviada devidamente preenchida, com atividades, responsável, duração, plano de </a:t>
              </a:r>
              <a:r>
                <a:rPr lang="pt-BR" sz="1600" i="1" dirty="0" err="1" smtClean="0">
                  <a:solidFill>
                    <a:schemeClr val="tx1"/>
                  </a:solidFill>
                </a:rPr>
                <a:t>rollback</a:t>
              </a:r>
              <a:r>
                <a:rPr lang="pt-BR" sz="1600" dirty="0" smtClean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e evidências dos testes realizados até </a:t>
              </a:r>
              <a:r>
                <a:rPr lang="pt-BR" sz="1600" dirty="0" smtClean="0">
                  <a:solidFill>
                    <a:schemeClr val="tx1"/>
                  </a:solidFill>
                </a:rPr>
                <a:t>segunda-feira </a:t>
              </a:r>
              <a:r>
                <a:rPr lang="pt-BR" sz="1600" dirty="0">
                  <a:solidFill>
                    <a:schemeClr val="tx1"/>
                  </a:solidFill>
                </a:rPr>
                <a:t>às </a:t>
              </a:r>
              <a:r>
                <a:rPr lang="pt-BR" sz="1600" dirty="0" smtClean="0">
                  <a:solidFill>
                    <a:schemeClr val="tx1"/>
                  </a:solidFill>
                </a:rPr>
                <a:t>23:59 </a:t>
              </a:r>
              <a:r>
                <a:rPr lang="pt-BR" sz="1600" dirty="0">
                  <a:solidFill>
                    <a:schemeClr val="tx1"/>
                  </a:solidFill>
                </a:rPr>
                <a:t>horas, após este prazo será analisada na próxima reunião do Comitê Consultivo de Mudanças (CAB</a:t>
              </a:r>
              <a:r>
                <a:rPr lang="pt-BR" sz="1600" dirty="0" smtClean="0">
                  <a:solidFill>
                    <a:schemeClr val="tx1"/>
                  </a:solidFill>
                </a:rPr>
                <a:t>).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A sequência da apresentação e execução será definida pela ordem de envio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Antes da realização das reuniões do Comitê Consultivo de Mudanças (CAB), a área de Gerenciamento de Mudanças deve elaborar e divulgar uma pauta para todos os seus membros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Os membros fixos devem participar de todas as reuniões, em caso de ausência o participante deve delegar um representante. Caso ocorra ausência, o Gerente de Governança de TI deve reportar mensalmente ao Diretor de Tecnologia da Informação.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Na ausência do solicitante para apresentar a sua respectiva </a:t>
              </a:r>
              <a:r>
                <a:rPr lang="pt-BR" sz="1600" i="1" dirty="0" err="1">
                  <a:solidFill>
                    <a:schemeClr val="tx1"/>
                  </a:solidFill>
                </a:rPr>
                <a:t>Request</a:t>
              </a:r>
              <a:r>
                <a:rPr lang="pt-BR" sz="1600" i="1" dirty="0">
                  <a:solidFill>
                    <a:schemeClr val="tx1"/>
                  </a:solidFill>
                </a:rPr>
                <a:t> for </a:t>
              </a:r>
              <a:r>
                <a:rPr lang="pt-BR" sz="1600" i="1" dirty="0" err="1">
                  <a:solidFill>
                    <a:schemeClr val="tx1"/>
                  </a:solidFill>
                </a:rPr>
                <a:t>Change</a:t>
              </a:r>
              <a:r>
                <a:rPr lang="pt-BR" sz="1600" i="1" dirty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(RFC), a mesma será automaticamente reprovada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  <a:endParaRPr lang="pt-B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Comitê </a:t>
              </a:r>
              <a:r>
                <a:rPr lang="pt-BR" sz="1600" b="1" dirty="0" smtClean="0"/>
                <a:t>Consultivo de Mudanças (CAB</a:t>
              </a:r>
              <a:r>
                <a:rPr lang="pt-BR" sz="1600" b="1" dirty="0"/>
                <a:t>)</a:t>
              </a:r>
              <a:r>
                <a:rPr lang="pt-BR" dirty="0"/>
                <a:t> </a:t>
              </a:r>
              <a:endParaRPr lang="pt-BR" i="1" dirty="0"/>
            </a:p>
          </p:txBody>
        </p:sp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384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70" y="1621987"/>
            <a:ext cx="4286250" cy="1171575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CAB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/>
              <a:t>Categoria Normal</a:t>
            </a:r>
            <a:endParaRPr lang="pt-BR" sz="1600" i="1" dirty="0"/>
          </a:p>
        </p:txBody>
      </p:sp>
      <p:sp>
        <p:nvSpPr>
          <p:cNvPr id="38" name="Retângulo 37"/>
          <p:cNvSpPr/>
          <p:nvPr/>
        </p:nvSpPr>
        <p:spPr>
          <a:xfrm>
            <a:off x="2473515" y="1723919"/>
            <a:ext cx="1990305" cy="341194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o explicativo retangular 38"/>
          <p:cNvSpPr/>
          <p:nvPr/>
        </p:nvSpPr>
        <p:spPr>
          <a:xfrm>
            <a:off x="5973628" y="2467722"/>
            <a:ext cx="3631293" cy="1490295"/>
          </a:xfrm>
          <a:prstGeom prst="wedgeRectCallout">
            <a:avLst>
              <a:gd name="adj1" fmla="val -131343"/>
              <a:gd name="adj2" fmla="val -7123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Caso a RFC seja da categoria Normal, o Comitê Consultivo de Mudanças – CAB deverá “Aprovar” ou Reprovar”, selecionando uma das opções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6151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18359" t="24168" r="43145" b="51033"/>
          <a:stretch/>
        </p:blipFill>
        <p:spPr>
          <a:xfrm>
            <a:off x="177570" y="1598993"/>
            <a:ext cx="5008728" cy="1719619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CAB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/>
              <a:t>Categoria Normal</a:t>
            </a:r>
            <a:endParaRPr lang="pt-BR" sz="1600" i="1" dirty="0"/>
          </a:p>
        </p:txBody>
      </p:sp>
      <p:sp>
        <p:nvSpPr>
          <p:cNvPr id="38" name="Retângulo 37"/>
          <p:cNvSpPr/>
          <p:nvPr/>
        </p:nvSpPr>
        <p:spPr>
          <a:xfrm>
            <a:off x="2197289" y="1630678"/>
            <a:ext cx="2989009" cy="1687934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o explicativo retangular 38"/>
          <p:cNvSpPr/>
          <p:nvPr/>
        </p:nvSpPr>
        <p:spPr>
          <a:xfrm>
            <a:off x="5973628" y="2292824"/>
            <a:ext cx="4052226" cy="3207224"/>
          </a:xfrm>
          <a:prstGeom prst="wedgeRectCallout">
            <a:avLst>
              <a:gd name="adj1" fmla="val -77598"/>
              <a:gd name="adj2" fmla="val -37347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Grupos </a:t>
            </a:r>
            <a:r>
              <a:rPr lang="pt-BR" sz="1600" dirty="0" smtClean="0"/>
              <a:t>/ participantes do CAB:</a:t>
            </a:r>
          </a:p>
          <a:p>
            <a:pPr algn="ctr"/>
            <a:endParaRPr lang="pt-BR" sz="1600" dirty="0"/>
          </a:p>
          <a:p>
            <a:pPr marL="285750" indent="-285750" algn="ctr">
              <a:buFontTx/>
              <a:buChar char="-"/>
            </a:pPr>
            <a:r>
              <a:rPr lang="pt-BR" sz="1600" dirty="0" smtClean="0"/>
              <a:t>Operações (Nei, Savioli ou Jonathas)</a:t>
            </a:r>
            <a:endParaRPr lang="pt-BR" sz="1600" dirty="0"/>
          </a:p>
          <a:p>
            <a:pPr marL="285750" indent="-285750" algn="ctr">
              <a:buFontTx/>
              <a:buChar char="-"/>
            </a:pPr>
            <a:r>
              <a:rPr lang="pt-BR" sz="1600" dirty="0"/>
              <a:t>Gestores (gestor do solicitante da RFC</a:t>
            </a:r>
            <a:r>
              <a:rPr lang="pt-BR" sz="1600" dirty="0" smtClean="0"/>
              <a:t>)</a:t>
            </a:r>
          </a:p>
          <a:p>
            <a:pPr marL="285750" indent="-285750" algn="ctr">
              <a:buFontTx/>
              <a:buChar char="-"/>
            </a:pPr>
            <a:r>
              <a:rPr lang="pt-BR" sz="1600" dirty="0" smtClean="0"/>
              <a:t>Arquitetura (todos os arquitetos)</a:t>
            </a:r>
          </a:p>
          <a:p>
            <a:pPr marL="285750" indent="-285750" algn="ctr">
              <a:buFontTx/>
              <a:buChar char="-"/>
            </a:pPr>
            <a:r>
              <a:rPr lang="pt-BR" sz="1600" dirty="0" smtClean="0"/>
              <a:t>Infraestrutura (Claudio, Daniel ou Adriano)</a:t>
            </a:r>
          </a:p>
          <a:p>
            <a:pPr marL="285750" indent="-285750" algn="ctr">
              <a:buFontTx/>
              <a:buChar char="-"/>
            </a:pPr>
            <a:r>
              <a:rPr lang="pt-BR" sz="1600" dirty="0" smtClean="0"/>
              <a:t>Segurança (Marcela ou Rodrigo)</a:t>
            </a:r>
          </a:p>
          <a:p>
            <a:pPr marL="285750" indent="-285750" algn="ctr">
              <a:buFontTx/>
              <a:buChar char="-"/>
            </a:pPr>
            <a:r>
              <a:rPr lang="pt-BR" sz="1600" dirty="0" smtClean="0"/>
              <a:t>Fraude (Cássia ou Rodrigo)</a:t>
            </a:r>
          </a:p>
          <a:p>
            <a:pPr marL="285750" indent="-285750" algn="ctr">
              <a:buFontTx/>
              <a:buChar char="-"/>
            </a:pPr>
            <a:r>
              <a:rPr lang="pt-BR" sz="1600" dirty="0" smtClean="0"/>
              <a:t>CAB (Braga, </a:t>
            </a:r>
            <a:r>
              <a:rPr lang="pt-BR" sz="1600" dirty="0" err="1" smtClean="0"/>
              <a:t>Mizobuchi</a:t>
            </a:r>
            <a:r>
              <a:rPr lang="pt-BR" sz="1600" dirty="0" smtClean="0"/>
              <a:t> ou Rodrigo)</a:t>
            </a:r>
          </a:p>
          <a:p>
            <a:pPr marL="285750" indent="-285750" algn="ctr">
              <a:buFontTx/>
              <a:buChar char="-"/>
            </a:pPr>
            <a:endParaRPr lang="pt-BR" sz="1600" dirty="0"/>
          </a:p>
          <a:p>
            <a:pPr algn="ctr"/>
            <a:r>
              <a:rPr lang="pt-BR" sz="1600" dirty="0" smtClean="0"/>
              <a:t>OBS.: qualquer participante pode aprovar / reprovar pelo grupo</a:t>
            </a:r>
          </a:p>
          <a:p>
            <a:pPr marL="285750" indent="-285750" algn="ctr">
              <a:buFontTx/>
              <a:buChar char="-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853985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428957" y="262277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de Mudanças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428957" y="365589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CAB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428957" y="4689010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ECAB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7" name="Retângulo de cantos arredondados 9"/>
          <p:cNvSpPr/>
          <p:nvPr/>
        </p:nvSpPr>
        <p:spPr>
          <a:xfrm>
            <a:off x="4485821" y="5632981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5" name="Retângulo de cantos arredondados 8"/>
          <p:cNvSpPr/>
          <p:nvPr/>
        </p:nvSpPr>
        <p:spPr>
          <a:xfrm>
            <a:off x="4428957" y="172483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 e Artefatos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4428957" y="8433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</p:spTree>
    <p:extLst>
      <p:ext uri="{BB962C8B-B14F-4D97-AF65-F5344CB8AC3E}">
        <p14:creationId xmlns:p14="http://schemas.microsoft.com/office/powerpoint/2010/main" val="277325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Comitê Consultivo de Mudanças Emergenciais (ECAB)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8"/>
            <a:ext cx="9231937" cy="2135927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Toda </a:t>
              </a:r>
              <a:r>
                <a:rPr lang="pt-BR" sz="1600" i="1" dirty="0" err="1">
                  <a:solidFill>
                    <a:schemeClr val="tx1"/>
                  </a:solidFill>
                </a:rPr>
                <a:t>Request</a:t>
              </a:r>
              <a:r>
                <a:rPr lang="pt-BR" sz="1600" i="1" dirty="0">
                  <a:solidFill>
                    <a:schemeClr val="tx1"/>
                  </a:solidFill>
                </a:rPr>
                <a:t> for </a:t>
              </a:r>
              <a:r>
                <a:rPr lang="pt-BR" sz="1600" i="1" dirty="0" err="1">
                  <a:solidFill>
                    <a:schemeClr val="tx1"/>
                  </a:solidFill>
                </a:rPr>
                <a:t>Change</a:t>
              </a:r>
              <a:r>
                <a:rPr lang="pt-BR" sz="1600" i="1" dirty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(RFC) de categoria Emergencial deve ser aprovada pelo Comitê Consultivo de Mudanças Emergencial (ECAB) que será realizada sob demanda. </a:t>
              </a:r>
              <a:endParaRPr lang="pt-BR" sz="1600" dirty="0" smtClean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Na ausência do solicitante para apresentar a sua respectiva </a:t>
              </a:r>
              <a:r>
                <a:rPr lang="pt-BR" sz="1600" i="1" dirty="0" err="1">
                  <a:solidFill>
                    <a:schemeClr val="tx1"/>
                  </a:solidFill>
                </a:rPr>
                <a:t>Request</a:t>
              </a:r>
              <a:r>
                <a:rPr lang="pt-BR" sz="1600" i="1" dirty="0">
                  <a:solidFill>
                    <a:schemeClr val="tx1"/>
                  </a:solidFill>
                </a:rPr>
                <a:t> for </a:t>
              </a:r>
              <a:r>
                <a:rPr lang="pt-BR" sz="1600" i="1" dirty="0" err="1">
                  <a:solidFill>
                    <a:schemeClr val="tx1"/>
                  </a:solidFill>
                </a:rPr>
                <a:t>Change</a:t>
              </a:r>
              <a:r>
                <a:rPr lang="pt-BR" sz="1600" i="1" dirty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(RFC), a mesma será automaticamente reprovada.</a:t>
              </a: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Comitê Consultivo de Mudanças Emergencial (ECAB)</a:t>
              </a:r>
              <a:r>
                <a:rPr lang="pt-BR" sz="1600" dirty="0"/>
                <a:t> </a:t>
              </a:r>
              <a:endParaRPr lang="pt-BR" sz="1400" i="1" dirty="0"/>
            </a:p>
          </p:txBody>
        </p:sp>
      </p:grpSp>
      <p:pic>
        <p:nvPicPr>
          <p:cNvPr id="2050" name="Picture 2" descr="Resultado de imagem para reuniã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78405" y="3145756"/>
            <a:ext cx="4226517" cy="28176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1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70" y="1714181"/>
            <a:ext cx="4286250" cy="1247775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ECAB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/>
              <a:t>Categoria Emergencial</a:t>
            </a:r>
            <a:endParaRPr lang="pt-BR" sz="1600" i="1" dirty="0"/>
          </a:p>
        </p:txBody>
      </p:sp>
      <p:sp>
        <p:nvSpPr>
          <p:cNvPr id="38" name="Retângulo 37"/>
          <p:cNvSpPr/>
          <p:nvPr/>
        </p:nvSpPr>
        <p:spPr>
          <a:xfrm>
            <a:off x="2424339" y="1809006"/>
            <a:ext cx="1990305" cy="341194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o explicativo retangular 38"/>
          <p:cNvSpPr/>
          <p:nvPr/>
        </p:nvSpPr>
        <p:spPr>
          <a:xfrm>
            <a:off x="5973628" y="2467722"/>
            <a:ext cx="3631293" cy="1490295"/>
          </a:xfrm>
          <a:prstGeom prst="wedgeRectCallout">
            <a:avLst>
              <a:gd name="adj1" fmla="val -130215"/>
              <a:gd name="adj2" fmla="val -51999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/>
              <a:t>Caso a RFC seja da categoria Emergencial, o Comitê Consultivo de Mudanças Emergencial – ECAB deverá “Aprovar” ou Reprovar”, selecionando uma das opções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66289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19093" t="23577" r="43985" b="62449"/>
          <a:stretch/>
        </p:blipFill>
        <p:spPr>
          <a:xfrm>
            <a:off x="47362" y="1795348"/>
            <a:ext cx="4804012" cy="968991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ECAB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 smtClean="0"/>
              <a:t>Categoria Emergencial</a:t>
            </a:r>
            <a:endParaRPr lang="pt-BR" sz="1600" i="1" dirty="0"/>
          </a:p>
        </p:txBody>
      </p:sp>
      <p:sp>
        <p:nvSpPr>
          <p:cNvPr id="38" name="Retângulo 37"/>
          <p:cNvSpPr/>
          <p:nvPr/>
        </p:nvSpPr>
        <p:spPr>
          <a:xfrm>
            <a:off x="2007355" y="1907815"/>
            <a:ext cx="2844019" cy="856524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o explicativo retangular 12"/>
          <p:cNvSpPr/>
          <p:nvPr/>
        </p:nvSpPr>
        <p:spPr>
          <a:xfrm>
            <a:off x="5973628" y="2292824"/>
            <a:ext cx="4052226" cy="2442949"/>
          </a:xfrm>
          <a:prstGeom prst="wedgeRectCallout">
            <a:avLst>
              <a:gd name="adj1" fmla="val -77598"/>
              <a:gd name="adj2" fmla="val -37347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Grupos </a:t>
            </a:r>
            <a:r>
              <a:rPr lang="pt-BR" sz="1600" dirty="0" smtClean="0"/>
              <a:t>/ participantes do ECAB:</a:t>
            </a:r>
          </a:p>
          <a:p>
            <a:pPr algn="ctr"/>
            <a:endParaRPr lang="pt-BR" sz="1600" dirty="0"/>
          </a:p>
          <a:p>
            <a:pPr marL="285750" indent="-285750" algn="ctr">
              <a:buFontTx/>
              <a:buChar char="-"/>
            </a:pPr>
            <a:r>
              <a:rPr lang="pt-BR" sz="1600" dirty="0" smtClean="0"/>
              <a:t>Operações (Nei, Savioli ou Jonathas)</a:t>
            </a:r>
            <a:endParaRPr lang="pt-BR" sz="1600" dirty="0"/>
          </a:p>
          <a:p>
            <a:pPr marL="285750" indent="-285750" algn="ctr">
              <a:buFontTx/>
              <a:buChar char="-"/>
            </a:pPr>
            <a:r>
              <a:rPr lang="pt-BR" sz="1600" dirty="0"/>
              <a:t>Gestores (gestor do solicitante da RFC</a:t>
            </a:r>
            <a:r>
              <a:rPr lang="pt-BR" sz="1600" dirty="0" smtClean="0"/>
              <a:t>)</a:t>
            </a:r>
          </a:p>
          <a:p>
            <a:pPr marL="285750" indent="-285750" algn="ctr">
              <a:buFontTx/>
              <a:buChar char="-"/>
            </a:pPr>
            <a:r>
              <a:rPr lang="pt-BR" sz="1600" dirty="0" smtClean="0"/>
              <a:t>Direção (Túlio ou Rodrigo)</a:t>
            </a:r>
          </a:p>
          <a:p>
            <a:pPr marL="285750" indent="-285750" algn="ctr">
              <a:buFontTx/>
              <a:buChar char="-"/>
            </a:pPr>
            <a:endParaRPr lang="pt-BR" sz="1600" dirty="0"/>
          </a:p>
          <a:p>
            <a:pPr algn="ctr"/>
            <a:r>
              <a:rPr lang="pt-BR" sz="1600" dirty="0" smtClean="0"/>
              <a:t>OBS.: qualquer participante pode aprovar / reprovar pelo grupo</a:t>
            </a:r>
          </a:p>
          <a:p>
            <a:pPr marL="285750" indent="-285750" algn="ctr">
              <a:buFontTx/>
              <a:buChar char="-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6218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428957" y="262277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de Mudanças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428957" y="365589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CAB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428957" y="46890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ECAB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7" name="Retângulo de cantos arredondados 9"/>
          <p:cNvSpPr/>
          <p:nvPr/>
        </p:nvSpPr>
        <p:spPr>
          <a:xfrm>
            <a:off x="4485821" y="5632981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  <p:sp>
        <p:nvSpPr>
          <p:cNvPr id="15" name="Retângulo de cantos arredondados 8"/>
          <p:cNvSpPr/>
          <p:nvPr/>
        </p:nvSpPr>
        <p:spPr>
          <a:xfrm>
            <a:off x="4428957" y="172483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 e Artefatos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4428957" y="8433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</p:spTree>
    <p:extLst>
      <p:ext uri="{BB962C8B-B14F-4D97-AF65-F5344CB8AC3E}">
        <p14:creationId xmlns:p14="http://schemas.microsoft.com/office/powerpoint/2010/main" val="3175111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Gerenciamento de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074387" y="1837420"/>
            <a:ext cx="4584404" cy="4336730"/>
            <a:chOff x="304103" y="1786891"/>
            <a:chExt cx="4584404" cy="4336730"/>
          </a:xfrm>
        </p:grpSpPr>
        <p:sp>
          <p:nvSpPr>
            <p:cNvPr id="14" name="Retângulo 13"/>
            <p:cNvSpPr/>
            <p:nvPr/>
          </p:nvSpPr>
          <p:spPr>
            <a:xfrm>
              <a:off x="1856710" y="1786891"/>
              <a:ext cx="3031797" cy="13114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Execução: </a:t>
              </a:r>
              <a:r>
                <a:rPr lang="pt-BR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Tânia Ferro</a:t>
              </a: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Publicação: </a:t>
              </a:r>
              <a:r>
                <a:rPr lang="pt-BR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André Santos</a:t>
              </a: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QA: </a:t>
              </a:r>
              <a:r>
                <a:rPr lang="pt-BR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Jorge Maluf</a:t>
              </a: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 rotWithShape="1">
            <a:blip r:embed="rId4"/>
            <a:srcRect b="20107"/>
            <a:stretch/>
          </p:blipFill>
          <p:spPr>
            <a:xfrm>
              <a:off x="304103" y="2136647"/>
              <a:ext cx="1449811" cy="61192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9" name="Retângulo 18"/>
            <p:cNvSpPr/>
            <p:nvPr/>
          </p:nvSpPr>
          <p:spPr>
            <a:xfrm>
              <a:off x="1856710" y="4435004"/>
              <a:ext cx="3031797" cy="168861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i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Sponsors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Rodrigo </a:t>
              </a:r>
              <a:r>
                <a:rPr lang="pt-BR" sz="16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Rothstein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endParaRPr lang="pt-BR" sz="16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Ponto 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Focal Auditoria: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Marcela </a:t>
              </a:r>
              <a:r>
                <a:rPr lang="pt-BR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Dias</a:t>
              </a: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6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066" y="5005200"/>
              <a:ext cx="1389848" cy="548224"/>
            </a:xfrm>
            <a:prstGeom prst="rect">
              <a:avLst/>
            </a:prstGeom>
          </p:spPr>
        </p:pic>
      </p:grpSp>
      <p:sp>
        <p:nvSpPr>
          <p:cNvPr id="13" name="Retângulo 12"/>
          <p:cNvSpPr/>
          <p:nvPr/>
        </p:nvSpPr>
        <p:spPr>
          <a:xfrm>
            <a:off x="304103" y="1067389"/>
            <a:ext cx="1779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Envolvidos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643007" y="1837420"/>
            <a:ext cx="3834369" cy="4336730"/>
            <a:chOff x="5665580" y="1786891"/>
            <a:chExt cx="3834369" cy="4336730"/>
          </a:xfrm>
        </p:grpSpPr>
        <p:sp>
          <p:nvSpPr>
            <p:cNvPr id="15" name="Retângulo 14"/>
            <p:cNvSpPr/>
            <p:nvPr/>
          </p:nvSpPr>
          <p:spPr>
            <a:xfrm>
              <a:off x="5665580" y="2409552"/>
              <a:ext cx="3829870" cy="371406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20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2613676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tângulo de cantos arredondados 14"/>
            <p:cNvSpPr/>
            <p:nvPr/>
          </p:nvSpPr>
          <p:spPr>
            <a:xfrm>
              <a:off x="5665581" y="1786891"/>
              <a:ext cx="3834368" cy="62427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Papéis x Pessoas/Empresas</a:t>
              </a:r>
            </a:p>
          </p:txBody>
        </p:sp>
        <p:pic>
          <p:nvPicPr>
            <p:cNvPr id="22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3848473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CaixaDeTexto 24"/>
            <p:cNvSpPr txBox="1"/>
            <p:nvPr/>
          </p:nvSpPr>
          <p:spPr>
            <a:xfrm>
              <a:off x="6729147" y="2628657"/>
              <a:ext cx="26666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 smtClean="0"/>
                <a:t>Analista de Mudanças </a:t>
              </a:r>
              <a:r>
                <a:rPr lang="pt-BR" sz="1400" b="1" dirty="0"/>
                <a:t>(Smiles)</a:t>
              </a:r>
              <a:r>
                <a:rPr lang="pt-BR" sz="1400" dirty="0"/>
                <a:t> </a:t>
              </a:r>
            </a:p>
            <a:p>
              <a:r>
                <a:rPr lang="pt-BR" sz="1400" dirty="0" smtClean="0"/>
                <a:t>Daniel Braga</a:t>
              </a:r>
            </a:p>
            <a:p>
              <a:r>
                <a:rPr lang="pt-BR" sz="1400" dirty="0" smtClean="0"/>
                <a:t>Daniel </a:t>
              </a:r>
              <a:r>
                <a:rPr lang="pt-BR" sz="1400" dirty="0" err="1" smtClean="0"/>
                <a:t>Mizobuchi</a:t>
              </a:r>
              <a:endParaRPr lang="pt-BR" sz="1400" dirty="0"/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6742473" y="3910249"/>
              <a:ext cx="26666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 smtClean="0"/>
                <a:t>Gerente de Governança de TI (</a:t>
              </a:r>
              <a:r>
                <a:rPr lang="pt-BR" sz="1400" b="1" dirty="0" err="1" smtClean="0"/>
                <a:t>Smiles</a:t>
              </a:r>
              <a:r>
                <a:rPr lang="pt-BR" sz="1400" b="1" dirty="0"/>
                <a:t>)</a:t>
              </a:r>
            </a:p>
            <a:p>
              <a:r>
                <a:rPr lang="pt-BR" sz="1400" dirty="0" smtClean="0"/>
                <a:t>Rodrigo </a:t>
              </a:r>
              <a:r>
                <a:rPr lang="pt-BR" sz="1400" dirty="0" err="1" smtClean="0"/>
                <a:t>Rothstein</a:t>
              </a:r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0134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5165</TotalTime>
  <Words>1462</Words>
  <Application>Microsoft Office PowerPoint</Application>
  <PresentationFormat>Personalizar</PresentationFormat>
  <Paragraphs>238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Courier New</vt:lpstr>
      <vt:lpstr>Gotham Rounded Book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Luiz Rabello</cp:lastModifiedBy>
  <cp:revision>6</cp:revision>
  <dcterms:created xsi:type="dcterms:W3CDTF">2014-01-24T21:35:00Z</dcterms:created>
  <dcterms:modified xsi:type="dcterms:W3CDTF">2017-01-03T17:29:09Z</dcterms:modified>
</cp:coreProperties>
</file>