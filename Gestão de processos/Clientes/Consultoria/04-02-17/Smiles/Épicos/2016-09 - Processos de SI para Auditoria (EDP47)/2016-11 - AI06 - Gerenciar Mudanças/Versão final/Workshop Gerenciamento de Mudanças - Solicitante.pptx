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7" r:id="rId2"/>
    <p:sldId id="339" r:id="rId3"/>
    <p:sldId id="401" r:id="rId4"/>
    <p:sldId id="370" r:id="rId5"/>
    <p:sldId id="377" r:id="rId6"/>
    <p:sldId id="375" r:id="rId7"/>
    <p:sldId id="376" r:id="rId8"/>
    <p:sldId id="378" r:id="rId9"/>
    <p:sldId id="373" r:id="rId10"/>
    <p:sldId id="371" r:id="rId11"/>
    <p:sldId id="372" r:id="rId12"/>
    <p:sldId id="379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9" r:id="rId27"/>
    <p:sldId id="400" r:id="rId28"/>
    <p:sldId id="394" r:id="rId29"/>
    <p:sldId id="395" r:id="rId30"/>
    <p:sldId id="396" r:id="rId31"/>
    <p:sldId id="397" r:id="rId32"/>
    <p:sldId id="398" r:id="rId33"/>
    <p:sldId id="380" r:id="rId34"/>
    <p:sldId id="351" r:id="rId3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5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725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CB2735-739F-48E4-8469-BCB08292A417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7F356CE3-A8FB-4FC2-8516-4BF680A294FD}">
      <dgm:prSet custT="1"/>
      <dgm:spPr/>
      <dgm:t>
        <a:bodyPr/>
        <a:lstStyle/>
        <a:p>
          <a:r>
            <a:rPr lang="pt-BR" sz="1600" dirty="0"/>
            <a:t>% e </a:t>
          </a:r>
          <a:r>
            <a:rPr lang="pt-BR" sz="1600" dirty="0" err="1"/>
            <a:t>qtd</a:t>
          </a:r>
          <a:r>
            <a:rPr lang="pt-BR" sz="1600" dirty="0"/>
            <a:t>. de RFC por período; </a:t>
          </a:r>
        </a:p>
      </dgm:t>
    </dgm:pt>
    <dgm:pt modelId="{9D5BFAF9-B0E7-435F-BDC5-57EC0725D958}" type="parTrans" cxnId="{81E3776E-CD2C-4AF1-A626-C78E82A6D211}">
      <dgm:prSet/>
      <dgm:spPr/>
      <dgm:t>
        <a:bodyPr/>
        <a:lstStyle/>
        <a:p>
          <a:endParaRPr lang="pt-BR" sz="1600"/>
        </a:p>
      </dgm:t>
    </dgm:pt>
    <dgm:pt modelId="{19BC3EF3-8680-49B0-BE80-173AD30B2D50}" type="sibTrans" cxnId="{81E3776E-CD2C-4AF1-A626-C78E82A6D211}">
      <dgm:prSet/>
      <dgm:spPr/>
      <dgm:t>
        <a:bodyPr/>
        <a:lstStyle/>
        <a:p>
          <a:endParaRPr lang="pt-BR" sz="1600"/>
        </a:p>
      </dgm:t>
    </dgm:pt>
    <dgm:pt modelId="{AFC80E43-ABBD-40B5-8516-4103B0464153}">
      <dgm:prSet custT="1"/>
      <dgm:spPr/>
      <dgm:t>
        <a:bodyPr/>
        <a:lstStyle/>
        <a:p>
          <a:r>
            <a:rPr lang="pt-BR" sz="1600" dirty="0"/>
            <a:t>% e </a:t>
          </a:r>
          <a:r>
            <a:rPr lang="pt-BR" sz="1600" dirty="0" err="1"/>
            <a:t>qtd</a:t>
          </a:r>
          <a:r>
            <a:rPr lang="pt-BR" sz="1600" dirty="0"/>
            <a:t>. de RFC por categoria (Pré-aprovada, Normal, Emergencial ou Informativa);</a:t>
          </a:r>
        </a:p>
      </dgm:t>
    </dgm:pt>
    <dgm:pt modelId="{467D254C-6EB8-40E8-A84D-D962E5FE4F8B}" type="parTrans" cxnId="{153221AE-77C9-400C-94BA-7AA73C122151}">
      <dgm:prSet/>
      <dgm:spPr/>
      <dgm:t>
        <a:bodyPr/>
        <a:lstStyle/>
        <a:p>
          <a:endParaRPr lang="pt-BR" sz="1600"/>
        </a:p>
      </dgm:t>
    </dgm:pt>
    <dgm:pt modelId="{0C74CE10-2F1B-4887-BF30-30CDF692DC68}" type="sibTrans" cxnId="{153221AE-77C9-400C-94BA-7AA73C122151}">
      <dgm:prSet/>
      <dgm:spPr/>
      <dgm:t>
        <a:bodyPr/>
        <a:lstStyle/>
        <a:p>
          <a:endParaRPr lang="pt-BR" sz="1600"/>
        </a:p>
      </dgm:t>
    </dgm:pt>
    <dgm:pt modelId="{90BD87F0-0654-4069-855D-89063E766543}">
      <dgm:prSet custT="1"/>
      <dgm:spPr/>
      <dgm:t>
        <a:bodyPr/>
        <a:lstStyle/>
        <a:p>
          <a:r>
            <a:rPr lang="pt-BR" sz="1600" dirty="0"/>
            <a:t>% e </a:t>
          </a:r>
          <a:r>
            <a:rPr lang="pt-BR" sz="1600" dirty="0" err="1"/>
            <a:t>qtd</a:t>
          </a:r>
          <a:r>
            <a:rPr lang="pt-BR" sz="1600" dirty="0"/>
            <a:t>. de RFC fechada com sucesso ou sem sucesso;</a:t>
          </a:r>
        </a:p>
      </dgm:t>
    </dgm:pt>
    <dgm:pt modelId="{752975CE-D21A-4BAC-8DF3-B96503B84BB2}" type="parTrans" cxnId="{DD491A3A-6216-4BF2-B06B-1F4BCABF58FD}">
      <dgm:prSet/>
      <dgm:spPr/>
      <dgm:t>
        <a:bodyPr/>
        <a:lstStyle/>
        <a:p>
          <a:endParaRPr lang="pt-BR" sz="1600"/>
        </a:p>
      </dgm:t>
    </dgm:pt>
    <dgm:pt modelId="{E856C6B5-F0FA-4D4F-B451-51850DB4242E}" type="sibTrans" cxnId="{DD491A3A-6216-4BF2-B06B-1F4BCABF58FD}">
      <dgm:prSet/>
      <dgm:spPr/>
      <dgm:t>
        <a:bodyPr/>
        <a:lstStyle/>
        <a:p>
          <a:endParaRPr lang="pt-BR" sz="1600"/>
        </a:p>
      </dgm:t>
    </dgm:pt>
    <dgm:pt modelId="{4CFD42BC-FDF1-4E00-8414-32B0ABC9D8F8}">
      <dgm:prSet custT="1"/>
      <dgm:spPr/>
      <dgm:t>
        <a:bodyPr/>
        <a:lstStyle/>
        <a:p>
          <a:r>
            <a:rPr lang="pt-BR" sz="1600" dirty="0"/>
            <a:t>% e </a:t>
          </a:r>
          <a:r>
            <a:rPr lang="pt-BR" sz="1600" dirty="0" err="1"/>
            <a:t>qtd</a:t>
          </a:r>
          <a:r>
            <a:rPr lang="pt-BR" sz="1600" dirty="0"/>
            <a:t>. de RFC por origem (Projeto, Melhoria, Problema, Incidente ou Solicitação);</a:t>
          </a:r>
        </a:p>
      </dgm:t>
    </dgm:pt>
    <dgm:pt modelId="{85B28925-23EF-435B-8C40-DABEA5B687B8}" type="parTrans" cxnId="{6373E185-B8ED-4BBE-B691-4C7B61D1096E}">
      <dgm:prSet/>
      <dgm:spPr/>
    </dgm:pt>
    <dgm:pt modelId="{39672FC5-BD4B-4B8E-A24B-92D8D062AA76}" type="sibTrans" cxnId="{6373E185-B8ED-4BBE-B691-4C7B61D1096E}">
      <dgm:prSet/>
      <dgm:spPr/>
    </dgm:pt>
    <dgm:pt modelId="{C910B4CC-6AC0-409F-A819-E90B7F88C863}">
      <dgm:prSet custT="1"/>
      <dgm:spPr/>
      <dgm:t>
        <a:bodyPr/>
        <a:lstStyle/>
        <a:p>
          <a:r>
            <a:rPr lang="pt-BR" sz="1600" dirty="0"/>
            <a:t>% e </a:t>
          </a:r>
          <a:r>
            <a:rPr lang="pt-BR" sz="1600" dirty="0" err="1"/>
            <a:t>qtd</a:t>
          </a:r>
          <a:r>
            <a:rPr lang="pt-BR" sz="1600" dirty="0"/>
            <a:t>. de RFC cancelada.</a:t>
          </a:r>
        </a:p>
      </dgm:t>
    </dgm:pt>
    <dgm:pt modelId="{B4759DF0-838E-44F3-A852-4F68D7523523}" type="parTrans" cxnId="{AE9E32D1-B394-42A8-9D5E-F03C928EDF0C}">
      <dgm:prSet/>
      <dgm:spPr/>
    </dgm:pt>
    <dgm:pt modelId="{2F6B3A91-CEE7-4921-BB87-484FE1D9C552}" type="sibTrans" cxnId="{AE9E32D1-B394-42A8-9D5E-F03C928EDF0C}">
      <dgm:prSet/>
      <dgm:spPr/>
    </dgm:pt>
    <dgm:pt modelId="{2F548DA7-2A51-4778-9DBF-9FDB468E5BE8}" type="pres">
      <dgm:prSet presAssocID="{D3CB2735-739F-48E4-8469-BCB08292A417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DA2FBA4-E030-425C-B20C-5C1BD3EA655C}" type="pres">
      <dgm:prSet presAssocID="{7F356CE3-A8FB-4FC2-8516-4BF680A294FD}" presName="parentLin" presStyleCnt="0"/>
      <dgm:spPr/>
    </dgm:pt>
    <dgm:pt modelId="{3997C214-1A64-466C-ABB2-94EC845D6A40}" type="pres">
      <dgm:prSet presAssocID="{7F356CE3-A8FB-4FC2-8516-4BF680A294FD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E4F6B378-B2D3-496F-9069-446C35C9A117}" type="pres">
      <dgm:prSet presAssocID="{7F356CE3-A8FB-4FC2-8516-4BF680A294FD}" presName="parentText" presStyleLbl="node1" presStyleIdx="0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168BCF7-8A54-4CE2-992C-A09EFB732573}" type="pres">
      <dgm:prSet presAssocID="{7F356CE3-A8FB-4FC2-8516-4BF680A294FD}" presName="negativeSpace" presStyleCnt="0"/>
      <dgm:spPr/>
    </dgm:pt>
    <dgm:pt modelId="{BDA51548-0302-4329-BDE1-3B939512BA33}" type="pres">
      <dgm:prSet presAssocID="{7F356CE3-A8FB-4FC2-8516-4BF680A294FD}" presName="childText" presStyleLbl="conFgAcc1" presStyleIdx="0" presStyleCnt="5">
        <dgm:presLayoutVars>
          <dgm:bulletEnabled val="1"/>
        </dgm:presLayoutVars>
      </dgm:prSet>
      <dgm:spPr/>
    </dgm:pt>
    <dgm:pt modelId="{293F387C-700E-4793-A4A8-9EC2AC42887C}" type="pres">
      <dgm:prSet presAssocID="{19BC3EF3-8680-49B0-BE80-173AD30B2D50}" presName="spaceBetweenRectangles" presStyleCnt="0"/>
      <dgm:spPr/>
    </dgm:pt>
    <dgm:pt modelId="{4CFBFC05-2A7C-441D-BBDC-02FAD97EDC0B}" type="pres">
      <dgm:prSet presAssocID="{AFC80E43-ABBD-40B5-8516-4103B0464153}" presName="parentLin" presStyleCnt="0"/>
      <dgm:spPr/>
    </dgm:pt>
    <dgm:pt modelId="{17466F0E-03A7-4AA1-B89D-1FD03170F9C6}" type="pres">
      <dgm:prSet presAssocID="{AFC80E43-ABBD-40B5-8516-4103B0464153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EA0F245B-D55A-4FA0-9686-2056E14D4DDB}" type="pres">
      <dgm:prSet presAssocID="{AFC80E43-ABBD-40B5-8516-4103B0464153}" presName="parentText" presStyleLbl="node1" presStyleIdx="1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DFB5D90-6706-4209-A8C3-27D487B7BD24}" type="pres">
      <dgm:prSet presAssocID="{AFC80E43-ABBD-40B5-8516-4103B0464153}" presName="negativeSpace" presStyleCnt="0"/>
      <dgm:spPr/>
    </dgm:pt>
    <dgm:pt modelId="{93CC347B-884D-448A-A35B-42597B294F7E}" type="pres">
      <dgm:prSet presAssocID="{AFC80E43-ABBD-40B5-8516-4103B0464153}" presName="childText" presStyleLbl="conFgAcc1" presStyleIdx="1" presStyleCnt="5">
        <dgm:presLayoutVars>
          <dgm:bulletEnabled val="1"/>
        </dgm:presLayoutVars>
      </dgm:prSet>
      <dgm:spPr/>
    </dgm:pt>
    <dgm:pt modelId="{8A60C710-C20F-44D5-8732-862B1522EADA}" type="pres">
      <dgm:prSet presAssocID="{0C74CE10-2F1B-4887-BF30-30CDF692DC68}" presName="spaceBetweenRectangles" presStyleCnt="0"/>
      <dgm:spPr/>
    </dgm:pt>
    <dgm:pt modelId="{FDEDE8C2-95C0-4E70-88CC-738E3786E829}" type="pres">
      <dgm:prSet presAssocID="{4CFD42BC-FDF1-4E00-8414-32B0ABC9D8F8}" presName="parentLin" presStyleCnt="0"/>
      <dgm:spPr/>
    </dgm:pt>
    <dgm:pt modelId="{0BE276CC-2980-420F-B39C-5743DD671C8E}" type="pres">
      <dgm:prSet presAssocID="{4CFD42BC-FDF1-4E00-8414-32B0ABC9D8F8}" presName="parentLeftMargin" presStyleLbl="node1" presStyleIdx="1" presStyleCnt="5"/>
      <dgm:spPr/>
      <dgm:t>
        <a:bodyPr/>
        <a:lstStyle/>
        <a:p>
          <a:endParaRPr lang="pt-BR"/>
        </a:p>
      </dgm:t>
    </dgm:pt>
    <dgm:pt modelId="{8FE4058E-F2D6-44AB-923C-D94FA62E2684}" type="pres">
      <dgm:prSet presAssocID="{4CFD42BC-FDF1-4E00-8414-32B0ABC9D8F8}" presName="parentText" presStyleLbl="node1" presStyleIdx="2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A4B5C4F-D4AE-4505-B2EA-393B4C4E69F3}" type="pres">
      <dgm:prSet presAssocID="{4CFD42BC-FDF1-4E00-8414-32B0ABC9D8F8}" presName="negativeSpace" presStyleCnt="0"/>
      <dgm:spPr/>
    </dgm:pt>
    <dgm:pt modelId="{3B3CCBA8-8E93-45C9-BD3C-E8062D9CDCA5}" type="pres">
      <dgm:prSet presAssocID="{4CFD42BC-FDF1-4E00-8414-32B0ABC9D8F8}" presName="childText" presStyleLbl="conFgAcc1" presStyleIdx="2" presStyleCnt="5">
        <dgm:presLayoutVars>
          <dgm:bulletEnabled val="1"/>
        </dgm:presLayoutVars>
      </dgm:prSet>
      <dgm:spPr/>
    </dgm:pt>
    <dgm:pt modelId="{A6E725B5-4584-4095-AC48-64FFF9901D6F}" type="pres">
      <dgm:prSet presAssocID="{39672FC5-BD4B-4B8E-A24B-92D8D062AA76}" presName="spaceBetweenRectangles" presStyleCnt="0"/>
      <dgm:spPr/>
    </dgm:pt>
    <dgm:pt modelId="{DB878CE7-4814-4E81-96B2-9539D44DF06C}" type="pres">
      <dgm:prSet presAssocID="{90BD87F0-0654-4069-855D-89063E766543}" presName="parentLin" presStyleCnt="0"/>
      <dgm:spPr/>
    </dgm:pt>
    <dgm:pt modelId="{83D33F14-77D6-4837-B953-59E3B06B3EDB}" type="pres">
      <dgm:prSet presAssocID="{90BD87F0-0654-4069-855D-89063E766543}" presName="parentLeftMargin" presStyleLbl="node1" presStyleIdx="2" presStyleCnt="5"/>
      <dgm:spPr/>
      <dgm:t>
        <a:bodyPr/>
        <a:lstStyle/>
        <a:p>
          <a:endParaRPr lang="pt-BR"/>
        </a:p>
      </dgm:t>
    </dgm:pt>
    <dgm:pt modelId="{D3FA08D0-D6A1-4BB9-B301-FE55FB8C9301}" type="pres">
      <dgm:prSet presAssocID="{90BD87F0-0654-4069-855D-89063E766543}" presName="parentText" presStyleLbl="node1" presStyleIdx="3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1036B3B-878C-48C8-B1FD-E73E9DF25D44}" type="pres">
      <dgm:prSet presAssocID="{90BD87F0-0654-4069-855D-89063E766543}" presName="negativeSpace" presStyleCnt="0"/>
      <dgm:spPr/>
    </dgm:pt>
    <dgm:pt modelId="{68C3A2B4-8601-47FF-B6B9-DA25F953E502}" type="pres">
      <dgm:prSet presAssocID="{90BD87F0-0654-4069-855D-89063E766543}" presName="childText" presStyleLbl="conFgAcc1" presStyleIdx="3" presStyleCnt="5">
        <dgm:presLayoutVars>
          <dgm:bulletEnabled val="1"/>
        </dgm:presLayoutVars>
      </dgm:prSet>
      <dgm:spPr/>
    </dgm:pt>
    <dgm:pt modelId="{E18D2CB2-0560-45A2-8FFF-1E11200CEFC5}" type="pres">
      <dgm:prSet presAssocID="{E856C6B5-F0FA-4D4F-B451-51850DB4242E}" presName="spaceBetweenRectangles" presStyleCnt="0"/>
      <dgm:spPr/>
    </dgm:pt>
    <dgm:pt modelId="{BDEA24FB-8164-434D-9483-F6808B78637D}" type="pres">
      <dgm:prSet presAssocID="{C910B4CC-6AC0-409F-A819-E90B7F88C863}" presName="parentLin" presStyleCnt="0"/>
      <dgm:spPr/>
    </dgm:pt>
    <dgm:pt modelId="{FA2F7081-278C-4B14-97D3-4066E1230C96}" type="pres">
      <dgm:prSet presAssocID="{C910B4CC-6AC0-409F-A819-E90B7F88C863}" presName="parentLeftMargin" presStyleLbl="node1" presStyleIdx="3" presStyleCnt="5"/>
      <dgm:spPr/>
      <dgm:t>
        <a:bodyPr/>
        <a:lstStyle/>
        <a:p>
          <a:endParaRPr lang="pt-BR"/>
        </a:p>
      </dgm:t>
    </dgm:pt>
    <dgm:pt modelId="{E2D721E8-4009-4252-BF15-3464F3D6121B}" type="pres">
      <dgm:prSet presAssocID="{C910B4CC-6AC0-409F-A819-E90B7F88C863}" presName="parentText" presStyleLbl="node1" presStyleIdx="4" presStyleCnt="5" custScaleX="118561" custScaleY="188594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D8D30C7-5FB3-406B-B345-6A41027765C1}" type="pres">
      <dgm:prSet presAssocID="{C910B4CC-6AC0-409F-A819-E90B7F88C863}" presName="negativeSpace" presStyleCnt="0"/>
      <dgm:spPr/>
    </dgm:pt>
    <dgm:pt modelId="{D3A3D3F2-4DBD-4C35-BF8E-E136325678D0}" type="pres">
      <dgm:prSet presAssocID="{C910B4CC-6AC0-409F-A819-E90B7F88C86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B3D47EB-844A-45B7-89D8-5F3ED9383BE8}" type="presOf" srcId="{C910B4CC-6AC0-409F-A819-E90B7F88C863}" destId="{E2D721E8-4009-4252-BF15-3464F3D6121B}" srcOrd="1" destOrd="0" presId="urn:microsoft.com/office/officeart/2005/8/layout/list1"/>
    <dgm:cxn modelId="{E8629B0D-525E-468B-8F6C-82FAD219B6C8}" type="presOf" srcId="{C910B4CC-6AC0-409F-A819-E90B7F88C863}" destId="{FA2F7081-278C-4B14-97D3-4066E1230C96}" srcOrd="0" destOrd="0" presId="urn:microsoft.com/office/officeart/2005/8/layout/list1"/>
    <dgm:cxn modelId="{81E3776E-CD2C-4AF1-A626-C78E82A6D211}" srcId="{D3CB2735-739F-48E4-8469-BCB08292A417}" destId="{7F356CE3-A8FB-4FC2-8516-4BF680A294FD}" srcOrd="0" destOrd="0" parTransId="{9D5BFAF9-B0E7-435F-BDC5-57EC0725D958}" sibTransId="{19BC3EF3-8680-49B0-BE80-173AD30B2D50}"/>
    <dgm:cxn modelId="{194ED210-C4F5-4837-B1C8-C6A31798D2CD}" type="presOf" srcId="{D3CB2735-739F-48E4-8469-BCB08292A417}" destId="{2F548DA7-2A51-4778-9DBF-9FDB468E5BE8}" srcOrd="0" destOrd="0" presId="urn:microsoft.com/office/officeart/2005/8/layout/list1"/>
    <dgm:cxn modelId="{153221AE-77C9-400C-94BA-7AA73C122151}" srcId="{D3CB2735-739F-48E4-8469-BCB08292A417}" destId="{AFC80E43-ABBD-40B5-8516-4103B0464153}" srcOrd="1" destOrd="0" parTransId="{467D254C-6EB8-40E8-A84D-D962E5FE4F8B}" sibTransId="{0C74CE10-2F1B-4887-BF30-30CDF692DC68}"/>
    <dgm:cxn modelId="{5F9007FD-2DDC-4C02-94D2-B459948AF45B}" type="presOf" srcId="{90BD87F0-0654-4069-855D-89063E766543}" destId="{83D33F14-77D6-4837-B953-59E3B06B3EDB}" srcOrd="0" destOrd="0" presId="urn:microsoft.com/office/officeart/2005/8/layout/list1"/>
    <dgm:cxn modelId="{45339565-1C3C-40BC-90EA-17B8E4882558}" type="presOf" srcId="{7F356CE3-A8FB-4FC2-8516-4BF680A294FD}" destId="{E4F6B378-B2D3-496F-9069-446C35C9A117}" srcOrd="1" destOrd="0" presId="urn:microsoft.com/office/officeart/2005/8/layout/list1"/>
    <dgm:cxn modelId="{8FF9600D-F8A6-4C43-B8DB-5C8A31ACE456}" type="presOf" srcId="{AFC80E43-ABBD-40B5-8516-4103B0464153}" destId="{EA0F245B-D55A-4FA0-9686-2056E14D4DDB}" srcOrd="1" destOrd="0" presId="urn:microsoft.com/office/officeart/2005/8/layout/list1"/>
    <dgm:cxn modelId="{C3DBC396-C460-433C-90A2-08346F16A8B3}" type="presOf" srcId="{7F356CE3-A8FB-4FC2-8516-4BF680A294FD}" destId="{3997C214-1A64-466C-ABB2-94EC845D6A40}" srcOrd="0" destOrd="0" presId="urn:microsoft.com/office/officeart/2005/8/layout/list1"/>
    <dgm:cxn modelId="{11D90B03-4EB7-4B17-8928-53FAF306FD45}" type="presOf" srcId="{4CFD42BC-FDF1-4E00-8414-32B0ABC9D8F8}" destId="{8FE4058E-F2D6-44AB-923C-D94FA62E2684}" srcOrd="1" destOrd="0" presId="urn:microsoft.com/office/officeart/2005/8/layout/list1"/>
    <dgm:cxn modelId="{0709759D-5437-4658-8D7A-55175F24BDD3}" type="presOf" srcId="{AFC80E43-ABBD-40B5-8516-4103B0464153}" destId="{17466F0E-03A7-4AA1-B89D-1FD03170F9C6}" srcOrd="0" destOrd="0" presId="urn:microsoft.com/office/officeart/2005/8/layout/list1"/>
    <dgm:cxn modelId="{BF57FD2B-1425-435C-9B42-23740BFAF8F1}" type="presOf" srcId="{90BD87F0-0654-4069-855D-89063E766543}" destId="{D3FA08D0-D6A1-4BB9-B301-FE55FB8C9301}" srcOrd="1" destOrd="0" presId="urn:microsoft.com/office/officeart/2005/8/layout/list1"/>
    <dgm:cxn modelId="{DD491A3A-6216-4BF2-B06B-1F4BCABF58FD}" srcId="{D3CB2735-739F-48E4-8469-BCB08292A417}" destId="{90BD87F0-0654-4069-855D-89063E766543}" srcOrd="3" destOrd="0" parTransId="{752975CE-D21A-4BAC-8DF3-B96503B84BB2}" sibTransId="{E856C6B5-F0FA-4D4F-B451-51850DB4242E}"/>
    <dgm:cxn modelId="{AE9E32D1-B394-42A8-9D5E-F03C928EDF0C}" srcId="{D3CB2735-739F-48E4-8469-BCB08292A417}" destId="{C910B4CC-6AC0-409F-A819-E90B7F88C863}" srcOrd="4" destOrd="0" parTransId="{B4759DF0-838E-44F3-A852-4F68D7523523}" sibTransId="{2F6B3A91-CEE7-4921-BB87-484FE1D9C552}"/>
    <dgm:cxn modelId="{C1C6F6CF-3DC3-458A-B800-07F313285244}" type="presOf" srcId="{4CFD42BC-FDF1-4E00-8414-32B0ABC9D8F8}" destId="{0BE276CC-2980-420F-B39C-5743DD671C8E}" srcOrd="0" destOrd="0" presId="urn:microsoft.com/office/officeart/2005/8/layout/list1"/>
    <dgm:cxn modelId="{6373E185-B8ED-4BBE-B691-4C7B61D1096E}" srcId="{D3CB2735-739F-48E4-8469-BCB08292A417}" destId="{4CFD42BC-FDF1-4E00-8414-32B0ABC9D8F8}" srcOrd="2" destOrd="0" parTransId="{85B28925-23EF-435B-8C40-DABEA5B687B8}" sibTransId="{39672FC5-BD4B-4B8E-A24B-92D8D062AA76}"/>
    <dgm:cxn modelId="{1D19F037-7CF9-41ED-83D6-85370FFDC303}" type="presParOf" srcId="{2F548DA7-2A51-4778-9DBF-9FDB468E5BE8}" destId="{8DA2FBA4-E030-425C-B20C-5C1BD3EA655C}" srcOrd="0" destOrd="0" presId="urn:microsoft.com/office/officeart/2005/8/layout/list1"/>
    <dgm:cxn modelId="{AA1300BF-3FD1-4664-8262-35A61249F501}" type="presParOf" srcId="{8DA2FBA4-E030-425C-B20C-5C1BD3EA655C}" destId="{3997C214-1A64-466C-ABB2-94EC845D6A40}" srcOrd="0" destOrd="0" presId="urn:microsoft.com/office/officeart/2005/8/layout/list1"/>
    <dgm:cxn modelId="{E64DA8B3-18C9-4F34-9D31-D6386AAFA26C}" type="presParOf" srcId="{8DA2FBA4-E030-425C-B20C-5C1BD3EA655C}" destId="{E4F6B378-B2D3-496F-9069-446C35C9A117}" srcOrd="1" destOrd="0" presId="urn:microsoft.com/office/officeart/2005/8/layout/list1"/>
    <dgm:cxn modelId="{6F02A7D5-9C9E-4E41-8882-52DFCB61F72E}" type="presParOf" srcId="{2F548DA7-2A51-4778-9DBF-9FDB468E5BE8}" destId="{1168BCF7-8A54-4CE2-992C-A09EFB732573}" srcOrd="1" destOrd="0" presId="urn:microsoft.com/office/officeart/2005/8/layout/list1"/>
    <dgm:cxn modelId="{0C9D28D9-F8F0-46A1-93A2-7D0D165911E7}" type="presParOf" srcId="{2F548DA7-2A51-4778-9DBF-9FDB468E5BE8}" destId="{BDA51548-0302-4329-BDE1-3B939512BA33}" srcOrd="2" destOrd="0" presId="urn:microsoft.com/office/officeart/2005/8/layout/list1"/>
    <dgm:cxn modelId="{C1737A3D-F200-4A99-A697-D3F4A19B066E}" type="presParOf" srcId="{2F548DA7-2A51-4778-9DBF-9FDB468E5BE8}" destId="{293F387C-700E-4793-A4A8-9EC2AC42887C}" srcOrd="3" destOrd="0" presId="urn:microsoft.com/office/officeart/2005/8/layout/list1"/>
    <dgm:cxn modelId="{F14AC4DC-8483-45E0-AB6C-603A0AB95295}" type="presParOf" srcId="{2F548DA7-2A51-4778-9DBF-9FDB468E5BE8}" destId="{4CFBFC05-2A7C-441D-BBDC-02FAD97EDC0B}" srcOrd="4" destOrd="0" presId="urn:microsoft.com/office/officeart/2005/8/layout/list1"/>
    <dgm:cxn modelId="{00751A62-F0F3-4A19-A9E3-36CC63EA9FEF}" type="presParOf" srcId="{4CFBFC05-2A7C-441D-BBDC-02FAD97EDC0B}" destId="{17466F0E-03A7-4AA1-B89D-1FD03170F9C6}" srcOrd="0" destOrd="0" presId="urn:microsoft.com/office/officeart/2005/8/layout/list1"/>
    <dgm:cxn modelId="{E539EB51-60F2-4FCF-9FCC-472A2DC418A0}" type="presParOf" srcId="{4CFBFC05-2A7C-441D-BBDC-02FAD97EDC0B}" destId="{EA0F245B-D55A-4FA0-9686-2056E14D4DDB}" srcOrd="1" destOrd="0" presId="urn:microsoft.com/office/officeart/2005/8/layout/list1"/>
    <dgm:cxn modelId="{53AED637-B9E8-449D-9AA5-157ED9578E75}" type="presParOf" srcId="{2F548DA7-2A51-4778-9DBF-9FDB468E5BE8}" destId="{2DFB5D90-6706-4209-A8C3-27D487B7BD24}" srcOrd="5" destOrd="0" presId="urn:microsoft.com/office/officeart/2005/8/layout/list1"/>
    <dgm:cxn modelId="{0AE1AA57-0C03-4453-AB49-365FABD59E96}" type="presParOf" srcId="{2F548DA7-2A51-4778-9DBF-9FDB468E5BE8}" destId="{93CC347B-884D-448A-A35B-42597B294F7E}" srcOrd="6" destOrd="0" presId="urn:microsoft.com/office/officeart/2005/8/layout/list1"/>
    <dgm:cxn modelId="{B108519B-3AAA-454D-8BB3-39A01380BA8B}" type="presParOf" srcId="{2F548DA7-2A51-4778-9DBF-9FDB468E5BE8}" destId="{8A60C710-C20F-44D5-8732-862B1522EADA}" srcOrd="7" destOrd="0" presId="urn:microsoft.com/office/officeart/2005/8/layout/list1"/>
    <dgm:cxn modelId="{C03254C5-5F96-4683-BEFE-4EBF39582339}" type="presParOf" srcId="{2F548DA7-2A51-4778-9DBF-9FDB468E5BE8}" destId="{FDEDE8C2-95C0-4E70-88CC-738E3786E829}" srcOrd="8" destOrd="0" presId="urn:microsoft.com/office/officeart/2005/8/layout/list1"/>
    <dgm:cxn modelId="{EC9A17AB-E8EC-4C95-A9CC-BC61F3803CF7}" type="presParOf" srcId="{FDEDE8C2-95C0-4E70-88CC-738E3786E829}" destId="{0BE276CC-2980-420F-B39C-5743DD671C8E}" srcOrd="0" destOrd="0" presId="urn:microsoft.com/office/officeart/2005/8/layout/list1"/>
    <dgm:cxn modelId="{875CBBBA-6F25-4CEE-A704-27807D8EC1D9}" type="presParOf" srcId="{FDEDE8C2-95C0-4E70-88CC-738E3786E829}" destId="{8FE4058E-F2D6-44AB-923C-D94FA62E2684}" srcOrd="1" destOrd="0" presId="urn:microsoft.com/office/officeart/2005/8/layout/list1"/>
    <dgm:cxn modelId="{A7B675AD-043A-4DA7-B6BD-BAD1DB249480}" type="presParOf" srcId="{2F548DA7-2A51-4778-9DBF-9FDB468E5BE8}" destId="{2A4B5C4F-D4AE-4505-B2EA-393B4C4E69F3}" srcOrd="9" destOrd="0" presId="urn:microsoft.com/office/officeart/2005/8/layout/list1"/>
    <dgm:cxn modelId="{A5D47971-52E3-460A-9496-F27D32E489D3}" type="presParOf" srcId="{2F548DA7-2A51-4778-9DBF-9FDB468E5BE8}" destId="{3B3CCBA8-8E93-45C9-BD3C-E8062D9CDCA5}" srcOrd="10" destOrd="0" presId="urn:microsoft.com/office/officeart/2005/8/layout/list1"/>
    <dgm:cxn modelId="{38A09FC3-ABDA-4250-8D23-8300A41583F4}" type="presParOf" srcId="{2F548DA7-2A51-4778-9DBF-9FDB468E5BE8}" destId="{A6E725B5-4584-4095-AC48-64FFF9901D6F}" srcOrd="11" destOrd="0" presId="urn:microsoft.com/office/officeart/2005/8/layout/list1"/>
    <dgm:cxn modelId="{56357842-006D-413C-AECC-AEAD284C7D47}" type="presParOf" srcId="{2F548DA7-2A51-4778-9DBF-9FDB468E5BE8}" destId="{DB878CE7-4814-4E81-96B2-9539D44DF06C}" srcOrd="12" destOrd="0" presId="urn:microsoft.com/office/officeart/2005/8/layout/list1"/>
    <dgm:cxn modelId="{4014B6B0-1555-46B3-A469-AC2A94876F76}" type="presParOf" srcId="{DB878CE7-4814-4E81-96B2-9539D44DF06C}" destId="{83D33F14-77D6-4837-B953-59E3B06B3EDB}" srcOrd="0" destOrd="0" presId="urn:microsoft.com/office/officeart/2005/8/layout/list1"/>
    <dgm:cxn modelId="{03486724-7574-4CF1-9755-97BDE49A77B7}" type="presParOf" srcId="{DB878CE7-4814-4E81-96B2-9539D44DF06C}" destId="{D3FA08D0-D6A1-4BB9-B301-FE55FB8C9301}" srcOrd="1" destOrd="0" presId="urn:microsoft.com/office/officeart/2005/8/layout/list1"/>
    <dgm:cxn modelId="{ACE1E00B-8D48-4499-AC01-D28FB1CF7D88}" type="presParOf" srcId="{2F548DA7-2A51-4778-9DBF-9FDB468E5BE8}" destId="{E1036B3B-878C-48C8-B1FD-E73E9DF25D44}" srcOrd="13" destOrd="0" presId="urn:microsoft.com/office/officeart/2005/8/layout/list1"/>
    <dgm:cxn modelId="{13B5C80D-1BC5-45DC-8D48-696D5193B2B7}" type="presParOf" srcId="{2F548DA7-2A51-4778-9DBF-9FDB468E5BE8}" destId="{68C3A2B4-8601-47FF-B6B9-DA25F953E502}" srcOrd="14" destOrd="0" presId="urn:microsoft.com/office/officeart/2005/8/layout/list1"/>
    <dgm:cxn modelId="{7D9FE0BD-9B28-4703-9652-480F59C92CB1}" type="presParOf" srcId="{2F548DA7-2A51-4778-9DBF-9FDB468E5BE8}" destId="{E18D2CB2-0560-45A2-8FFF-1E11200CEFC5}" srcOrd="15" destOrd="0" presId="urn:microsoft.com/office/officeart/2005/8/layout/list1"/>
    <dgm:cxn modelId="{AB6F89F5-7222-4694-88C2-49C80216C48D}" type="presParOf" srcId="{2F548DA7-2A51-4778-9DBF-9FDB468E5BE8}" destId="{BDEA24FB-8164-434D-9483-F6808B78637D}" srcOrd="16" destOrd="0" presId="urn:microsoft.com/office/officeart/2005/8/layout/list1"/>
    <dgm:cxn modelId="{92129CD7-5D36-4BBE-AD42-9FD2BFF2AF39}" type="presParOf" srcId="{BDEA24FB-8164-434D-9483-F6808B78637D}" destId="{FA2F7081-278C-4B14-97D3-4066E1230C96}" srcOrd="0" destOrd="0" presId="urn:microsoft.com/office/officeart/2005/8/layout/list1"/>
    <dgm:cxn modelId="{AAF662BE-8C29-4E1C-BD06-7233E9B431EA}" type="presParOf" srcId="{BDEA24FB-8164-434D-9483-F6808B78637D}" destId="{E2D721E8-4009-4252-BF15-3464F3D6121B}" srcOrd="1" destOrd="0" presId="urn:microsoft.com/office/officeart/2005/8/layout/list1"/>
    <dgm:cxn modelId="{841F482C-C2A6-4FD0-A766-9B20A534313D}" type="presParOf" srcId="{2F548DA7-2A51-4778-9DBF-9FDB468E5BE8}" destId="{6D8D30C7-5FB3-406B-B345-6A41027765C1}" srcOrd="17" destOrd="0" presId="urn:microsoft.com/office/officeart/2005/8/layout/list1"/>
    <dgm:cxn modelId="{11255654-42F1-405C-BFD3-8319B9E39338}" type="presParOf" srcId="{2F548DA7-2A51-4778-9DBF-9FDB468E5BE8}" destId="{D3A3D3F2-4DBD-4C35-BF8E-E136325678D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51548-0302-4329-BDE1-3B939512BA33}">
      <dsp:nvSpPr>
        <dsp:cNvPr id="0" name=""/>
        <dsp:cNvSpPr/>
      </dsp:nvSpPr>
      <dsp:spPr>
        <a:xfrm>
          <a:off x="0" y="513841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6B378-B2D3-496F-9069-446C35C9A117}">
      <dsp:nvSpPr>
        <dsp:cNvPr id="0" name=""/>
        <dsp:cNvSpPr/>
      </dsp:nvSpPr>
      <dsp:spPr>
        <a:xfrm>
          <a:off x="446293" y="22886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/>
            <a:t>% e </a:t>
          </a:r>
          <a:r>
            <a:rPr lang="pt-BR" sz="1600" kern="1200" dirty="0" err="1"/>
            <a:t>qtd</a:t>
          </a:r>
          <a:r>
            <a:rPr lang="pt-BR" sz="1600" kern="1200" dirty="0"/>
            <a:t>. de RFC por período; </a:t>
          </a:r>
        </a:p>
      </dsp:txBody>
      <dsp:txXfrm>
        <a:off x="478906" y="55499"/>
        <a:ext cx="7342598" cy="602849"/>
      </dsp:txXfrm>
    </dsp:sp>
    <dsp:sp modelId="{93CC347B-884D-448A-A35B-42597B294F7E}">
      <dsp:nvSpPr>
        <dsp:cNvPr id="0" name=""/>
        <dsp:cNvSpPr/>
      </dsp:nvSpPr>
      <dsp:spPr>
        <a:xfrm>
          <a:off x="0" y="1371997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F245B-D55A-4FA0-9686-2056E14D4DDB}">
      <dsp:nvSpPr>
        <dsp:cNvPr id="0" name=""/>
        <dsp:cNvSpPr/>
      </dsp:nvSpPr>
      <dsp:spPr>
        <a:xfrm>
          <a:off x="446293" y="881041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/>
            <a:t>% e </a:t>
          </a:r>
          <a:r>
            <a:rPr lang="pt-BR" sz="1600" kern="1200" dirty="0" err="1"/>
            <a:t>qtd</a:t>
          </a:r>
          <a:r>
            <a:rPr lang="pt-BR" sz="1600" kern="1200" dirty="0"/>
            <a:t>. de RFC por categoria (Pré-aprovada, Normal, Emergencial ou Informativa);</a:t>
          </a:r>
        </a:p>
      </dsp:txBody>
      <dsp:txXfrm>
        <a:off x="478906" y="913654"/>
        <a:ext cx="7342598" cy="602849"/>
      </dsp:txXfrm>
    </dsp:sp>
    <dsp:sp modelId="{3B3CCBA8-8E93-45C9-BD3C-E8062D9CDCA5}">
      <dsp:nvSpPr>
        <dsp:cNvPr id="0" name=""/>
        <dsp:cNvSpPr/>
      </dsp:nvSpPr>
      <dsp:spPr>
        <a:xfrm>
          <a:off x="0" y="2230152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E4058E-F2D6-44AB-923C-D94FA62E2684}">
      <dsp:nvSpPr>
        <dsp:cNvPr id="0" name=""/>
        <dsp:cNvSpPr/>
      </dsp:nvSpPr>
      <dsp:spPr>
        <a:xfrm>
          <a:off x="446293" y="1739197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/>
            <a:t>% e </a:t>
          </a:r>
          <a:r>
            <a:rPr lang="pt-BR" sz="1600" kern="1200" dirty="0" err="1"/>
            <a:t>qtd</a:t>
          </a:r>
          <a:r>
            <a:rPr lang="pt-BR" sz="1600" kern="1200" dirty="0"/>
            <a:t>. de RFC por origem (Projeto, Melhoria, Problema, Incidente ou Solicitação);</a:t>
          </a:r>
        </a:p>
      </dsp:txBody>
      <dsp:txXfrm>
        <a:off x="478906" y="1771810"/>
        <a:ext cx="7342598" cy="602849"/>
      </dsp:txXfrm>
    </dsp:sp>
    <dsp:sp modelId="{68C3A2B4-8601-47FF-B6B9-DA25F953E502}">
      <dsp:nvSpPr>
        <dsp:cNvPr id="0" name=""/>
        <dsp:cNvSpPr/>
      </dsp:nvSpPr>
      <dsp:spPr>
        <a:xfrm>
          <a:off x="0" y="3088308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A08D0-D6A1-4BB9-B301-FE55FB8C9301}">
      <dsp:nvSpPr>
        <dsp:cNvPr id="0" name=""/>
        <dsp:cNvSpPr/>
      </dsp:nvSpPr>
      <dsp:spPr>
        <a:xfrm>
          <a:off x="446293" y="2597352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/>
            <a:t>% e </a:t>
          </a:r>
          <a:r>
            <a:rPr lang="pt-BR" sz="1600" kern="1200" dirty="0" err="1"/>
            <a:t>qtd</a:t>
          </a:r>
          <a:r>
            <a:rPr lang="pt-BR" sz="1600" kern="1200" dirty="0"/>
            <a:t>. de RFC fechada com sucesso ou sem sucesso;</a:t>
          </a:r>
        </a:p>
      </dsp:txBody>
      <dsp:txXfrm>
        <a:off x="478906" y="2629965"/>
        <a:ext cx="7342598" cy="602849"/>
      </dsp:txXfrm>
    </dsp:sp>
    <dsp:sp modelId="{D3A3D3F2-4DBD-4C35-BF8E-E136325678D0}">
      <dsp:nvSpPr>
        <dsp:cNvPr id="0" name=""/>
        <dsp:cNvSpPr/>
      </dsp:nvSpPr>
      <dsp:spPr>
        <a:xfrm>
          <a:off x="0" y="3946463"/>
          <a:ext cx="892587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721E8-4009-4252-BF15-3464F3D6121B}">
      <dsp:nvSpPr>
        <dsp:cNvPr id="0" name=""/>
        <dsp:cNvSpPr/>
      </dsp:nvSpPr>
      <dsp:spPr>
        <a:xfrm>
          <a:off x="446293" y="3455508"/>
          <a:ext cx="7407824" cy="66807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164" tIns="0" rIns="236164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/>
            <a:t>% e </a:t>
          </a:r>
          <a:r>
            <a:rPr lang="pt-BR" sz="1600" kern="1200" dirty="0" err="1"/>
            <a:t>qtd</a:t>
          </a:r>
          <a:r>
            <a:rPr lang="pt-BR" sz="1600" kern="1200" dirty="0"/>
            <a:t>. de RFC cancelada.</a:t>
          </a:r>
        </a:p>
      </dsp:txBody>
      <dsp:txXfrm>
        <a:off x="478906" y="3488121"/>
        <a:ext cx="7342598" cy="602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03/01/2017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1/3/2017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emf"/><Relationship Id="rId7" Type="http://schemas.openxmlformats.org/officeDocument/2006/relationships/diagramColors" Target="../diagrams/colors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sultado de imagem para gerenciamento de mudanças it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32" y="4202724"/>
            <a:ext cx="4025929" cy="268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560832"/>
            <a:ext cx="5959283" cy="4054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de Mudanças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processo</a:t>
            </a: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30.Nov.2016</a:t>
            </a: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Papéis e Responsabilidade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Ferramenta </a:t>
            </a:r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Jira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7781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925334"/>
            <a:ext cx="9231937" cy="900000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400" dirty="0">
                  <a:solidFill>
                    <a:schemeClr val="tx1"/>
                  </a:solidFill>
                </a:rPr>
                <a:t>Este processo tem como objetivo garantir que todas as mudanças serão registradas, avaliadas, autorizadas, priorizadas, planejadas, testadas, implementadas, documentadas e revisadas de maneira padronizada e controlada, reduzindo assim impacto e risco ao negócio da </a:t>
              </a:r>
              <a:r>
                <a:rPr lang="pt-BR" sz="1400" b="1" dirty="0" err="1">
                  <a:solidFill>
                    <a:schemeClr val="accent6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 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1811887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3"/>
          <p:cNvGrpSpPr/>
          <p:nvPr/>
        </p:nvGrpSpPr>
        <p:grpSpPr>
          <a:xfrm>
            <a:off x="1693753" y="2301274"/>
            <a:ext cx="7950925" cy="900000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400" dirty="0">
                  <a:solidFill>
                    <a:schemeClr val="tx1"/>
                  </a:solidFill>
                </a:rPr>
                <a:t>O escopo do processo de Gerenciamento de Mudanças cobre qualquer adição, modificação ou remoção de componente do serviço no ambiente de </a:t>
              </a:r>
              <a:r>
                <a:rPr lang="pt-BR" sz="1400" dirty="0" smtClean="0">
                  <a:solidFill>
                    <a:schemeClr val="tx1"/>
                  </a:solidFill>
                </a:rPr>
                <a:t>produção </a:t>
              </a:r>
              <a:r>
                <a:rPr lang="pt-BR" sz="1400" dirty="0">
                  <a:solidFill>
                    <a:schemeClr val="tx1"/>
                  </a:solidFill>
                </a:rPr>
                <a:t>da </a:t>
              </a:r>
              <a:r>
                <a:rPr lang="pt-BR" sz="1400" b="1" dirty="0" err="1">
                  <a:solidFill>
                    <a:schemeClr val="accent6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 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  <p:grpSp>
        <p:nvGrpSpPr>
          <p:cNvPr id="29" name="Agrupar 2"/>
          <p:cNvGrpSpPr/>
          <p:nvPr/>
        </p:nvGrpSpPr>
        <p:grpSpPr>
          <a:xfrm>
            <a:off x="2951529" y="3440099"/>
            <a:ext cx="6669913" cy="576000"/>
            <a:chOff x="2935009" y="3795246"/>
            <a:chExt cx="6669913" cy="900000"/>
          </a:xfrm>
        </p:grpSpPr>
        <p:sp>
          <p:nvSpPr>
            <p:cNvPr id="30" name="Retângulo 29"/>
            <p:cNvSpPr/>
            <p:nvPr/>
          </p:nvSpPr>
          <p:spPr>
            <a:xfrm>
              <a:off x="4216022" y="3795246"/>
              <a:ext cx="5388900" cy="90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smtClean="0">
                  <a:solidFill>
                    <a:schemeClr val="tx1"/>
                  </a:solidFill>
                </a:rPr>
                <a:t>com </a:t>
              </a:r>
              <a:r>
                <a:rPr lang="pt-BR" sz="1300" dirty="0">
                  <a:solidFill>
                    <a:schemeClr val="tx1"/>
                  </a:solidFill>
                </a:rPr>
                <a:t>risco baixo, relativamente comum e que segue um procedimento ou instrução de trabalho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1" name="Retângulo de cantos arredondados 14"/>
            <p:cNvSpPr/>
            <p:nvPr/>
          </p:nvSpPr>
          <p:spPr>
            <a:xfrm>
              <a:off x="2935009" y="3795246"/>
              <a:ext cx="1281013" cy="900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Pré-aprovada</a:t>
              </a:r>
            </a:p>
          </p:txBody>
        </p:sp>
      </p:grpSp>
      <p:grpSp>
        <p:nvGrpSpPr>
          <p:cNvPr id="38" name="Agrupar 2"/>
          <p:cNvGrpSpPr/>
          <p:nvPr/>
        </p:nvGrpSpPr>
        <p:grpSpPr>
          <a:xfrm>
            <a:off x="2949743" y="4121001"/>
            <a:ext cx="6669913" cy="648000"/>
            <a:chOff x="2935009" y="3795246"/>
            <a:chExt cx="6669913" cy="648000"/>
          </a:xfrm>
        </p:grpSpPr>
        <p:sp>
          <p:nvSpPr>
            <p:cNvPr id="39" name="Retângulo 38"/>
            <p:cNvSpPr/>
            <p:nvPr/>
          </p:nvSpPr>
          <p:spPr>
            <a:xfrm>
              <a:off x="4216022" y="3795246"/>
              <a:ext cx="5388900" cy="64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apresenta riscos desconhecidos e segue procedimentos ou instruções de trabalho não padronizado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0" name="Retângulo de cantos arredondados 14"/>
            <p:cNvSpPr/>
            <p:nvPr/>
          </p:nvSpPr>
          <p:spPr>
            <a:xfrm>
              <a:off x="2935009" y="3795246"/>
              <a:ext cx="1281013" cy="648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Normal</a:t>
              </a:r>
            </a:p>
          </p:txBody>
        </p:sp>
      </p:grpSp>
      <p:grpSp>
        <p:nvGrpSpPr>
          <p:cNvPr id="41" name="Agrupar 2"/>
          <p:cNvGrpSpPr/>
          <p:nvPr/>
        </p:nvGrpSpPr>
        <p:grpSpPr>
          <a:xfrm>
            <a:off x="2938368" y="4873903"/>
            <a:ext cx="6669913" cy="792000"/>
            <a:chOff x="2935009" y="3795246"/>
            <a:chExt cx="6669913" cy="792000"/>
          </a:xfrm>
        </p:grpSpPr>
        <p:sp>
          <p:nvSpPr>
            <p:cNvPr id="42" name="Retângulo 41"/>
            <p:cNvSpPr/>
            <p:nvPr/>
          </p:nvSpPr>
          <p:spPr>
            <a:xfrm>
              <a:off x="4216022" y="3795246"/>
              <a:ext cx="5388900" cy="79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não foi emitida no prazo para ser analisada pelo (CAB) </a:t>
              </a:r>
              <a:r>
                <a:rPr lang="pt-BR" sz="1300" dirty="0" smtClean="0">
                  <a:solidFill>
                    <a:schemeClr val="tx1"/>
                  </a:solidFill>
                </a:rPr>
                <a:t>e pode ou não </a:t>
              </a:r>
              <a:r>
                <a:rPr lang="pt-BR" sz="1300" dirty="0">
                  <a:solidFill>
                    <a:schemeClr val="tx1"/>
                  </a:solidFill>
                </a:rPr>
                <a:t>está associada a um Incidente de alto impacto “</a:t>
              </a:r>
              <a:r>
                <a:rPr lang="pt-BR" sz="1300" i="1" dirty="0" err="1">
                  <a:solidFill>
                    <a:schemeClr val="tx1"/>
                  </a:solidFill>
                </a:rPr>
                <a:t>Blocker</a:t>
              </a:r>
              <a:r>
                <a:rPr lang="pt-BR" sz="1300" dirty="0">
                  <a:solidFill>
                    <a:schemeClr val="tx1"/>
                  </a:solidFill>
                </a:rPr>
                <a:t>”, porém precisa ser executada na data definida, para evitar que ocorra algum impacto ao negócio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43" name="Retângulo de cantos arredondados 14"/>
            <p:cNvSpPr/>
            <p:nvPr/>
          </p:nvSpPr>
          <p:spPr>
            <a:xfrm>
              <a:off x="2935009" y="3795246"/>
              <a:ext cx="1281013" cy="792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Emergencial</a:t>
              </a:r>
            </a:p>
          </p:txBody>
        </p:sp>
      </p:grpSp>
      <p:grpSp>
        <p:nvGrpSpPr>
          <p:cNvPr id="44" name="Agrupar 2"/>
          <p:cNvGrpSpPr/>
          <p:nvPr/>
        </p:nvGrpSpPr>
        <p:grpSpPr>
          <a:xfrm>
            <a:off x="2940640" y="5804228"/>
            <a:ext cx="6669913" cy="974408"/>
            <a:chOff x="2935009" y="3795245"/>
            <a:chExt cx="6669913" cy="860091"/>
          </a:xfrm>
        </p:grpSpPr>
        <p:sp>
          <p:nvSpPr>
            <p:cNvPr id="45" name="Retângulo 44"/>
            <p:cNvSpPr/>
            <p:nvPr/>
          </p:nvSpPr>
          <p:spPr>
            <a:xfrm>
              <a:off x="4216022" y="3795245"/>
              <a:ext cx="5388900" cy="8600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smtClean="0">
                  <a:solidFill>
                    <a:schemeClr val="tx1"/>
                  </a:solidFill>
                </a:rPr>
                <a:t>toda RFC  </a:t>
              </a:r>
              <a:r>
                <a:rPr lang="pt-BR" sz="1300" dirty="0">
                  <a:solidFill>
                    <a:schemeClr val="tx1"/>
                  </a:solidFill>
                </a:rPr>
                <a:t>que a </a:t>
              </a:r>
              <a:r>
                <a:rPr lang="pt-BR" sz="1300" dirty="0" err="1">
                  <a:solidFill>
                    <a:schemeClr val="tx1"/>
                  </a:solidFill>
                </a:rPr>
                <a:t>Smiles</a:t>
              </a:r>
              <a:r>
                <a:rPr lang="pt-BR" sz="1300" dirty="0">
                  <a:solidFill>
                    <a:schemeClr val="tx1"/>
                  </a:solidFill>
                </a:rPr>
                <a:t> não tem autonomia para aprovação, apena precisa ter ciência da sua execução</a:t>
              </a:r>
              <a:r>
                <a:rPr lang="pt-BR" sz="1300" dirty="0" smtClean="0">
                  <a:solidFill>
                    <a:schemeClr val="tx1"/>
                  </a:solidFill>
                </a:rPr>
                <a:t>.</a:t>
              </a:r>
              <a:endParaRPr lang="pt-BR" sz="14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6" name="Retângulo de cantos arredondados 14"/>
            <p:cNvSpPr/>
            <p:nvPr/>
          </p:nvSpPr>
          <p:spPr>
            <a:xfrm>
              <a:off x="2935009" y="3795245"/>
              <a:ext cx="1281013" cy="860091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Informativa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617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indic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470"/>
            <a:ext cx="2149642" cy="32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Indicadores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2808570011"/>
              </p:ext>
            </p:extLst>
          </p:nvPr>
        </p:nvGraphicFramePr>
        <p:xfrm>
          <a:off x="1139101" y="1983631"/>
          <a:ext cx="8925875" cy="4271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Retângulo de cantos arredondados 14"/>
          <p:cNvSpPr/>
          <p:nvPr/>
        </p:nvSpPr>
        <p:spPr>
          <a:xfrm>
            <a:off x="4191196" y="1035537"/>
            <a:ext cx="542008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Desempenho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Papéis e Responsabilidade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Ferramenta </a:t>
            </a:r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Jira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7781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27455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3" y="1035537"/>
            <a:ext cx="1300406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1" name="Imagem 10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rcRect b="7450"/>
          <a:stretch/>
        </p:blipFill>
        <p:spPr bwMode="auto">
          <a:xfrm>
            <a:off x="304103" y="1677290"/>
            <a:ext cx="9440398" cy="4651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9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Artefatos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3" y="1035537"/>
            <a:ext cx="1300406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Artefatos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3" name="Agrupar 12"/>
          <p:cNvGrpSpPr/>
          <p:nvPr/>
        </p:nvGrpSpPr>
        <p:grpSpPr>
          <a:xfrm>
            <a:off x="176063" y="1417983"/>
            <a:ext cx="4041095" cy="2730772"/>
            <a:chOff x="3618398" y="910362"/>
            <a:chExt cx="4041095" cy="2730772"/>
          </a:xfrm>
        </p:grpSpPr>
        <p:sp>
          <p:nvSpPr>
            <p:cNvPr id="21" name="Retângulo de cantos arredondados 14"/>
            <p:cNvSpPr/>
            <p:nvPr/>
          </p:nvSpPr>
          <p:spPr>
            <a:xfrm>
              <a:off x="3618398" y="910362"/>
              <a:ext cx="4041095" cy="38244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Guia rápido do processo</a:t>
              </a:r>
            </a:p>
          </p:txBody>
        </p:sp>
        <p:sp>
          <p:nvSpPr>
            <p:cNvPr id="27" name="Retângulo de cantos arredondados 14"/>
            <p:cNvSpPr/>
            <p:nvPr/>
          </p:nvSpPr>
          <p:spPr>
            <a:xfrm rot="20258899">
              <a:off x="5451054" y="3258688"/>
              <a:ext cx="890285" cy="382446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100" dirty="0">
                  <a:solidFill>
                    <a:srgbClr val="FF0000"/>
                  </a:solidFill>
                </a:rPr>
                <a:t>Exemplo</a:t>
              </a:r>
            </a:p>
          </p:txBody>
        </p:sp>
      </p:grpSp>
      <p:sp>
        <p:nvSpPr>
          <p:cNvPr id="23" name="Retângulo de cantos arredondados 14"/>
          <p:cNvSpPr/>
          <p:nvPr/>
        </p:nvSpPr>
        <p:spPr>
          <a:xfrm>
            <a:off x="5480798" y="796982"/>
            <a:ext cx="4485821" cy="38244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Check</a:t>
            </a:r>
            <a:r>
              <a:rPr lang="pt-BR" sz="14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1400" b="1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list</a:t>
            </a:r>
            <a:r>
              <a:rPr lang="pt-BR" sz="14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 apoio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b="-975"/>
          <a:stretch/>
        </p:blipFill>
        <p:spPr>
          <a:xfrm>
            <a:off x="194141" y="1828304"/>
            <a:ext cx="4023017" cy="279828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798" y="1172460"/>
            <a:ext cx="4636340" cy="2774806"/>
          </a:xfrm>
          <a:prstGeom prst="rect">
            <a:avLst/>
          </a:prstGeom>
        </p:spPr>
      </p:pic>
      <p:sp>
        <p:nvSpPr>
          <p:cNvPr id="16" name="Retângulo de cantos arredondados 14"/>
          <p:cNvSpPr/>
          <p:nvPr/>
        </p:nvSpPr>
        <p:spPr>
          <a:xfrm>
            <a:off x="1694947" y="4711972"/>
            <a:ext cx="3186383" cy="37029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Ata de Reunião do CAB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4509" y="4994795"/>
            <a:ext cx="3276821" cy="1863205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194141" y="1800430"/>
            <a:ext cx="4023017" cy="27991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0798" y="4369099"/>
            <a:ext cx="4575174" cy="1987254"/>
          </a:xfrm>
          <a:prstGeom prst="rect">
            <a:avLst/>
          </a:prstGeom>
        </p:spPr>
      </p:pic>
      <p:sp>
        <p:nvSpPr>
          <p:cNvPr id="19" name="Retângulo de cantos arredondados 14"/>
          <p:cNvSpPr/>
          <p:nvPr/>
        </p:nvSpPr>
        <p:spPr>
          <a:xfrm>
            <a:off x="5480797" y="4003974"/>
            <a:ext cx="4485821" cy="382446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Plano de RFC</a:t>
            </a:r>
          </a:p>
        </p:txBody>
      </p:sp>
    </p:spTree>
    <p:extLst>
      <p:ext uri="{BB962C8B-B14F-4D97-AF65-F5344CB8AC3E}">
        <p14:creationId xmlns:p14="http://schemas.microsoft.com/office/powerpoint/2010/main" val="286052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Papéis e Responsabilidade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Ferramenta </a:t>
            </a:r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Jira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7781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6408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Equipe de Gerenciamento de Mudanças</a:t>
            </a: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3896488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Garantir que o processo seja executado segundo as diretrizes estabelecidas e operacionalizado com eficiência e eficácia, para alcançar os Indicadores de Desempenho.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Analisar todas as RFC e classificá-las conforme o risco e impacto ao negócio.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Convocar os participantes, criar e enviar a pauta e a ata de reunião do CAB.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Analisar e deliberar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categoria Pré-aprovada e Informativa.</a:t>
              </a: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Solicitar deliberação para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categoria Emergencial.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Enviar comunicados de indisponibilidade para os clientes afetados, caso ocorra necessidade.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pt-BR" sz="16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5750" lvl="0" indent="-285750" algn="just">
                <a:buFont typeface="Arial" panose="020B0604020202020204" pitchFamily="34" charset="0"/>
                <a:buChar char="•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Revisar todas as </a:t>
              </a:r>
              <a:r>
                <a:rPr lang="pt-BR" sz="16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RFC´s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após a sua execução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Equipe de Ger. de  Mudanças</a:t>
              </a:r>
              <a:r>
                <a:rPr lang="pt-BR" dirty="0"/>
                <a:t> </a:t>
              </a:r>
              <a:endParaRPr lang="pt-BR" i="1" dirty="0"/>
            </a:p>
          </p:txBody>
        </p:sp>
      </p:grpSp>
      <p:pic>
        <p:nvPicPr>
          <p:cNvPr id="12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8052179" y="5161279"/>
            <a:ext cx="1507101" cy="13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7298628" y="4906317"/>
            <a:ext cx="1507101" cy="13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5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Comitê Consultivo de Mudanças (CAB)</a:t>
            </a: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5328052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Toda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 de categoria Normal deve ser aprovada pelo Comitê Consultivo de Mudanças (CAB) que será realizada toda quarta-feira, caso seja feriado, será no próximo dia útil. 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Deve ser enviada devidamente preenchida, com atividades, responsável, duração, plano de </a:t>
              </a:r>
              <a:r>
                <a:rPr lang="pt-BR" sz="1600" i="1" dirty="0" err="1">
                  <a:solidFill>
                    <a:schemeClr val="tx1"/>
                  </a:solidFill>
                </a:rPr>
                <a:t>rollback</a:t>
              </a:r>
              <a:r>
                <a:rPr lang="pt-BR" sz="1600" dirty="0">
                  <a:solidFill>
                    <a:schemeClr val="tx1"/>
                  </a:solidFill>
                </a:rPr>
                <a:t> e evidências dos testes realizados até segunda-feira às 23:59 horas, após este prazo será analisada na próxima reunião do Comitê Consultivo de Mudanças (CAB).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 sequência da apresentação e execução será definida pela ordem de envio.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Antes da realização das reuniões do Comitê Consultivo de Mudanças (CAB), a área de Gerenciamento de Mudanças deve elaborar e divulgar uma pauta para todos os seus membros.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Os membros fixos devem participar de todas as reuniões, em caso de ausência o participante deve delegar um representante. Caso ocorra ausência, o Gerente de Governança de TI deve reportar mensalmente ao Diretor de Tecnologia da Informação.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Na ausência do solicitante para apresentar a sua respectiva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(RFC), a mesma será automaticamente reprovada.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Comitê Consultivo de Mudanças (CAB)</a:t>
              </a:r>
              <a:r>
                <a:rPr lang="pt-BR" dirty="0"/>
                <a:t> 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9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Comitê Consultivo de Mudanças Emergenciais (ECAB)</a:t>
            </a: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8"/>
            <a:ext cx="9231937" cy="2135927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Toda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 de categoria Emergencial deve ser aprovada pelo Comitê Consultivo de Mudanças Emergencial (ECAB) que será realizada sob demanda. 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Na ausência do solicitante para apresentar a sua respectiva </a:t>
              </a:r>
              <a:r>
                <a:rPr lang="pt-BR" sz="1600" i="1" dirty="0" err="1">
                  <a:solidFill>
                    <a:schemeClr val="tx1"/>
                  </a:solidFill>
                </a:rPr>
                <a:t>Request</a:t>
              </a:r>
              <a:r>
                <a:rPr lang="pt-BR" sz="1600" i="1" dirty="0">
                  <a:solidFill>
                    <a:schemeClr val="tx1"/>
                  </a:solidFill>
                </a:rPr>
                <a:t> for </a:t>
              </a:r>
              <a:r>
                <a:rPr lang="pt-BR" sz="1600" i="1" dirty="0" err="1">
                  <a:solidFill>
                    <a:schemeClr val="tx1"/>
                  </a:solidFill>
                </a:rPr>
                <a:t>Change</a:t>
              </a:r>
              <a:r>
                <a:rPr lang="pt-BR" sz="1600" i="1" dirty="0">
                  <a:solidFill>
                    <a:schemeClr val="tx1"/>
                  </a:solidFill>
                </a:rPr>
                <a:t> </a:t>
              </a:r>
              <a:r>
                <a:rPr lang="pt-BR" sz="1600" dirty="0">
                  <a:solidFill>
                    <a:schemeClr val="tx1"/>
                  </a:solidFill>
                </a:rPr>
                <a:t>(RFC), a mesma será automaticamente reprovada.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Comitê Consultivo de Mudanças Emergencial (ECAB)</a:t>
              </a:r>
              <a:r>
                <a:rPr lang="pt-BR" sz="1600" dirty="0"/>
                <a:t> </a:t>
              </a:r>
              <a:endParaRPr lang="pt-BR" sz="1400" i="1" dirty="0"/>
            </a:p>
          </p:txBody>
        </p:sp>
      </p:grpSp>
      <p:pic>
        <p:nvPicPr>
          <p:cNvPr id="2050" name="Picture 2" descr="Resultado de imagem para reuniã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78405" y="3145756"/>
            <a:ext cx="4226517" cy="28176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6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Papéis e Responsabilidade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Ferramenta </a:t>
            </a:r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Jira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77814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275193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2195967"/>
            <a:ext cx="2143125" cy="3105150"/>
          </a:xfrm>
          <a:prstGeom prst="rect">
            <a:avLst/>
          </a:prstGeom>
        </p:spPr>
      </p:pic>
      <p:sp>
        <p:nvSpPr>
          <p:cNvPr id="15" name="Retângulo de cantos arredondados 14"/>
          <p:cNvSpPr/>
          <p:nvPr/>
        </p:nvSpPr>
        <p:spPr>
          <a:xfrm>
            <a:off x="304103" y="145325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Acesse a ferramenta </a:t>
            </a:r>
            <a:r>
              <a:rPr lang="pt-BR" sz="1600" dirty="0" err="1"/>
              <a:t>Jira</a:t>
            </a:r>
            <a:r>
              <a:rPr lang="pt-BR" sz="1600" dirty="0"/>
              <a:t>, através do link: </a:t>
            </a:r>
            <a:r>
              <a:rPr lang="pt-BR" sz="1600" i="1" dirty="0"/>
              <a:t>https://smiles.atlassian.net</a:t>
            </a:r>
          </a:p>
        </p:txBody>
      </p:sp>
      <p:sp>
        <p:nvSpPr>
          <p:cNvPr id="9" name="Texto explicativo retangular 8"/>
          <p:cNvSpPr/>
          <p:nvPr/>
        </p:nvSpPr>
        <p:spPr>
          <a:xfrm>
            <a:off x="2797954" y="3748542"/>
            <a:ext cx="1883228" cy="1310185"/>
          </a:xfrm>
          <a:prstGeom prst="wedgeRectCallout">
            <a:avLst>
              <a:gd name="adj1" fmla="val -84606"/>
              <a:gd name="adj2" fmla="val 63542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opção: &lt;</a:t>
            </a:r>
            <a:r>
              <a:rPr lang="pt-BR" sz="1600" dirty="0" err="1"/>
              <a:t>View</a:t>
            </a:r>
            <a:r>
              <a:rPr lang="pt-BR" sz="1600" dirty="0"/>
              <a:t> </a:t>
            </a:r>
            <a:r>
              <a:rPr lang="pt-BR" sz="1600" dirty="0" err="1"/>
              <a:t>all</a:t>
            </a:r>
            <a:r>
              <a:rPr lang="pt-BR" sz="1600" dirty="0"/>
              <a:t> </a:t>
            </a:r>
            <a:r>
              <a:rPr lang="pt-BR" sz="1600" dirty="0" err="1"/>
              <a:t>projects</a:t>
            </a:r>
            <a:r>
              <a:rPr lang="pt-BR" sz="1600" dirty="0"/>
              <a:t>&gt;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04103" y="5002197"/>
            <a:ext cx="1729413" cy="37042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409" y="1612900"/>
            <a:ext cx="3190875" cy="1600200"/>
          </a:xfrm>
          <a:prstGeom prst="rect">
            <a:avLst/>
          </a:prstGeom>
        </p:spPr>
      </p:pic>
      <p:cxnSp>
        <p:nvCxnSpPr>
          <p:cNvPr id="18" name="Conector reto 17"/>
          <p:cNvCxnSpPr/>
          <p:nvPr/>
        </p:nvCxnSpPr>
        <p:spPr>
          <a:xfrm flipH="1">
            <a:off x="5018419" y="750627"/>
            <a:ext cx="54687" cy="61073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o explicativo retangular 24"/>
          <p:cNvSpPr/>
          <p:nvPr/>
        </p:nvSpPr>
        <p:spPr>
          <a:xfrm>
            <a:off x="5761068" y="3401725"/>
            <a:ext cx="2443131" cy="1310185"/>
          </a:xfrm>
          <a:prstGeom prst="wedgeRectCallout">
            <a:avLst>
              <a:gd name="adj1" fmla="val -62140"/>
              <a:gd name="adj2" fmla="val -12500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Digite: &lt;GDM&gt; e selecione pesquisar.</a:t>
            </a:r>
          </a:p>
          <a:p>
            <a:pPr algn="ctr"/>
            <a:r>
              <a:rPr lang="pt-BR" sz="1600" dirty="0"/>
              <a:t>Depois selecione a opção &lt;Ger. de Mudanças&gt;</a:t>
            </a:r>
          </a:p>
        </p:txBody>
      </p:sp>
    </p:spTree>
    <p:extLst>
      <p:ext uri="{BB962C8B-B14F-4D97-AF65-F5344CB8AC3E}">
        <p14:creationId xmlns:p14="http://schemas.microsoft.com/office/powerpoint/2010/main" val="60869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cxnSp>
        <p:nvCxnSpPr>
          <p:cNvPr id="18" name="Conector reto 17"/>
          <p:cNvCxnSpPr/>
          <p:nvPr/>
        </p:nvCxnSpPr>
        <p:spPr>
          <a:xfrm flipH="1">
            <a:off x="5018419" y="750627"/>
            <a:ext cx="54687" cy="61073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r="38495"/>
          <a:stretch/>
        </p:blipFill>
        <p:spPr>
          <a:xfrm>
            <a:off x="177570" y="1458690"/>
            <a:ext cx="4663281" cy="35433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5"/>
          <a:srcRect l="71891" t="71864" b="9498"/>
          <a:stretch/>
        </p:blipFill>
        <p:spPr>
          <a:xfrm>
            <a:off x="2709632" y="4127500"/>
            <a:ext cx="2131219" cy="660400"/>
          </a:xfrm>
          <a:prstGeom prst="rect">
            <a:avLst/>
          </a:prstGeom>
        </p:spPr>
      </p:pic>
      <p:sp>
        <p:nvSpPr>
          <p:cNvPr id="17" name="Texto explicativo retangular 16"/>
          <p:cNvSpPr/>
          <p:nvPr/>
        </p:nvSpPr>
        <p:spPr>
          <a:xfrm>
            <a:off x="2709632" y="5058727"/>
            <a:ext cx="1883228" cy="1310185"/>
          </a:xfrm>
          <a:prstGeom prst="wedgeRectCallout">
            <a:avLst>
              <a:gd name="adj1" fmla="val 1039"/>
              <a:gd name="adj2" fmla="val -8185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Digite o título da sua mudança e pressione &lt;</a:t>
            </a:r>
            <a:r>
              <a:rPr lang="pt-BR" sz="1600" dirty="0" err="1"/>
              <a:t>enter</a:t>
            </a:r>
            <a:r>
              <a:rPr lang="pt-BR" sz="1600" dirty="0"/>
              <a:t>&gt;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Em seguida irá aparecer a tela abaixo</a:t>
            </a:r>
            <a:endParaRPr lang="pt-BR" sz="1600" i="1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6"/>
          <a:srcRect l="-4228" t="-242" r="23456" b="242"/>
          <a:stretch/>
        </p:blipFill>
        <p:spPr>
          <a:xfrm>
            <a:off x="5481140" y="1294219"/>
            <a:ext cx="4123782" cy="5257800"/>
          </a:xfrm>
          <a:prstGeom prst="rect">
            <a:avLst/>
          </a:prstGeom>
        </p:spPr>
      </p:pic>
      <p:sp>
        <p:nvSpPr>
          <p:cNvPr id="20" name="Texto explicativo retangular 19"/>
          <p:cNvSpPr/>
          <p:nvPr/>
        </p:nvSpPr>
        <p:spPr>
          <a:xfrm>
            <a:off x="8208296" y="1007639"/>
            <a:ext cx="1883228" cy="960862"/>
          </a:xfrm>
          <a:prstGeom prst="wedgeRectCallout">
            <a:avLst>
              <a:gd name="adj1" fmla="val -81909"/>
              <a:gd name="adj2" fmla="val 14193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Em seguida irá aparecer a sua mudança para preencher</a:t>
            </a:r>
          </a:p>
        </p:txBody>
      </p:sp>
    </p:spTree>
    <p:extLst>
      <p:ext uri="{BB962C8B-B14F-4D97-AF65-F5344CB8AC3E}">
        <p14:creationId xmlns:p14="http://schemas.microsoft.com/office/powerpoint/2010/main" val="306777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cxnSp>
        <p:nvCxnSpPr>
          <p:cNvPr id="18" name="Conector reto 17"/>
          <p:cNvCxnSpPr/>
          <p:nvPr/>
        </p:nvCxnSpPr>
        <p:spPr>
          <a:xfrm flipH="1">
            <a:off x="5018419" y="750627"/>
            <a:ext cx="54687" cy="61073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/>
          <p:cNvPicPr>
            <a:picLocks noChangeAspect="1"/>
          </p:cNvPicPr>
          <p:nvPr/>
        </p:nvPicPr>
        <p:blipFill rotWithShape="1">
          <a:blip r:embed="rId4"/>
          <a:srcRect l="-4228" t="-242" r="23456" b="242"/>
          <a:stretch/>
        </p:blipFill>
        <p:spPr>
          <a:xfrm>
            <a:off x="161139" y="993844"/>
            <a:ext cx="4123782" cy="5257800"/>
          </a:xfrm>
          <a:prstGeom prst="rect">
            <a:avLst/>
          </a:prstGeom>
        </p:spPr>
      </p:pic>
      <p:sp>
        <p:nvSpPr>
          <p:cNvPr id="17" name="Texto explicativo retangular 16"/>
          <p:cNvSpPr/>
          <p:nvPr/>
        </p:nvSpPr>
        <p:spPr>
          <a:xfrm>
            <a:off x="124952" y="2237308"/>
            <a:ext cx="1749145" cy="697341"/>
          </a:xfrm>
          <a:prstGeom prst="wedgeRectCallout">
            <a:avLst>
              <a:gd name="adj1" fmla="val 1039"/>
              <a:gd name="adj2" fmla="val -8185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 (</a:t>
            </a:r>
            <a:r>
              <a:rPr lang="pt-BR" sz="1600" dirty="0" err="1"/>
              <a:t>Edit</a:t>
            </a:r>
            <a:r>
              <a:rPr lang="pt-BR" sz="1600" dirty="0"/>
              <a:t>)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42203" y="1609909"/>
            <a:ext cx="762697" cy="37042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883" y="1527244"/>
            <a:ext cx="4296101" cy="4191000"/>
          </a:xfrm>
          <a:prstGeom prst="rect">
            <a:avLst/>
          </a:prstGeom>
        </p:spPr>
      </p:pic>
      <p:sp>
        <p:nvSpPr>
          <p:cNvPr id="22" name="Texto explicativo retangular 21"/>
          <p:cNvSpPr/>
          <p:nvPr/>
        </p:nvSpPr>
        <p:spPr>
          <a:xfrm>
            <a:off x="7077996" y="993844"/>
            <a:ext cx="1883228" cy="960862"/>
          </a:xfrm>
          <a:prstGeom prst="wedgeRectCallout">
            <a:avLst>
              <a:gd name="adj1" fmla="val -81909"/>
              <a:gd name="adj2" fmla="val 14193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Em seguida irá aparecer a sua mudança para preencher</a:t>
            </a:r>
          </a:p>
        </p:txBody>
      </p:sp>
    </p:spTree>
    <p:extLst>
      <p:ext uri="{BB962C8B-B14F-4D97-AF65-F5344CB8AC3E}">
        <p14:creationId xmlns:p14="http://schemas.microsoft.com/office/powerpoint/2010/main" val="100978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l="24689" t="45048" r="57254" b="38095"/>
          <a:stretch/>
        </p:blipFill>
        <p:spPr>
          <a:xfrm>
            <a:off x="145019" y="1870306"/>
            <a:ext cx="2349500" cy="1168864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250979" y="1870306"/>
            <a:ext cx="1076771" cy="37042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GERAL</a:t>
            </a:r>
            <a:endParaRPr lang="pt-BR" sz="1600" i="1" dirty="0"/>
          </a:p>
        </p:txBody>
      </p:sp>
      <p:grpSp>
        <p:nvGrpSpPr>
          <p:cNvPr id="19" name="Agrupar 2"/>
          <p:cNvGrpSpPr/>
          <p:nvPr/>
        </p:nvGrpSpPr>
        <p:grpSpPr>
          <a:xfrm>
            <a:off x="3355941" y="2012903"/>
            <a:ext cx="6669913" cy="576000"/>
            <a:chOff x="2935009" y="3795246"/>
            <a:chExt cx="6669913" cy="900000"/>
          </a:xfrm>
        </p:grpSpPr>
        <p:sp>
          <p:nvSpPr>
            <p:cNvPr id="20" name="Retângulo 19"/>
            <p:cNvSpPr/>
            <p:nvPr/>
          </p:nvSpPr>
          <p:spPr>
            <a:xfrm>
              <a:off x="4216022" y="3795246"/>
              <a:ext cx="5388900" cy="90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err="1">
                  <a:solidFill>
                    <a:schemeClr val="tx1"/>
                  </a:solidFill>
                </a:rPr>
                <a:t>Rfc</a:t>
              </a:r>
              <a:r>
                <a:rPr lang="pt-BR" sz="1300" dirty="0">
                  <a:solidFill>
                    <a:schemeClr val="tx1"/>
                  </a:solidFill>
                </a:rPr>
                <a:t> com baixo risco e impacto ao negócio.  </a:t>
              </a:r>
            </a:p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Exemplo: alguns tipos de promoção</a:t>
              </a:r>
            </a:p>
          </p:txBody>
        </p:sp>
        <p:sp>
          <p:nvSpPr>
            <p:cNvPr id="21" name="Retângulo de cantos arredondados 14"/>
            <p:cNvSpPr/>
            <p:nvPr/>
          </p:nvSpPr>
          <p:spPr>
            <a:xfrm>
              <a:off x="2935009" y="3795246"/>
              <a:ext cx="1281013" cy="900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Pré-aprovada</a:t>
              </a:r>
            </a:p>
          </p:txBody>
        </p:sp>
      </p:grpSp>
      <p:grpSp>
        <p:nvGrpSpPr>
          <p:cNvPr id="23" name="Agrupar 2"/>
          <p:cNvGrpSpPr/>
          <p:nvPr/>
        </p:nvGrpSpPr>
        <p:grpSpPr>
          <a:xfrm>
            <a:off x="3362947" y="2676221"/>
            <a:ext cx="6669913" cy="972234"/>
            <a:chOff x="2935009" y="3795246"/>
            <a:chExt cx="6669913" cy="648000"/>
          </a:xfrm>
        </p:grpSpPr>
        <p:sp>
          <p:nvSpPr>
            <p:cNvPr id="24" name="Retângulo 23"/>
            <p:cNvSpPr/>
            <p:nvPr/>
          </p:nvSpPr>
          <p:spPr>
            <a:xfrm>
              <a:off x="4216022" y="3795246"/>
              <a:ext cx="5388900" cy="64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err="1">
                  <a:solidFill>
                    <a:schemeClr val="tx1"/>
                  </a:solidFill>
                </a:rPr>
                <a:t>Rfc</a:t>
              </a:r>
              <a:r>
                <a:rPr lang="pt-BR" sz="1300" dirty="0">
                  <a:solidFill>
                    <a:schemeClr val="tx1"/>
                  </a:solidFill>
                </a:rPr>
                <a:t> que apresente riscos desconhecidos e segue procedimentos ou instruções de trabalho não padronizado, segue o fluxo de aprovação do CAB e deve ser emitida até segunda-feira às 18:00. </a:t>
              </a:r>
            </a:p>
            <a:p>
              <a:pPr marL="0" lvl="1" algn="just"/>
              <a:r>
                <a:rPr lang="pt-BR" sz="1300" dirty="0">
                  <a:solidFill>
                    <a:schemeClr val="tx1"/>
                  </a:solidFill>
                </a:rPr>
                <a:t>Reunião do CAB quarta-feira às 14:00.</a:t>
              </a:r>
            </a:p>
          </p:txBody>
        </p:sp>
        <p:sp>
          <p:nvSpPr>
            <p:cNvPr id="25" name="Retângulo de cantos arredondados 14"/>
            <p:cNvSpPr/>
            <p:nvPr/>
          </p:nvSpPr>
          <p:spPr>
            <a:xfrm>
              <a:off x="2935009" y="3795246"/>
              <a:ext cx="1281013" cy="648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Normal</a:t>
              </a:r>
            </a:p>
          </p:txBody>
        </p:sp>
      </p:grpSp>
      <p:grpSp>
        <p:nvGrpSpPr>
          <p:cNvPr id="26" name="Agrupar 2"/>
          <p:cNvGrpSpPr/>
          <p:nvPr/>
        </p:nvGrpSpPr>
        <p:grpSpPr>
          <a:xfrm>
            <a:off x="3360364" y="3736846"/>
            <a:ext cx="6669913" cy="993415"/>
            <a:chOff x="2935009" y="3795246"/>
            <a:chExt cx="6669913" cy="792000"/>
          </a:xfrm>
        </p:grpSpPr>
        <p:sp>
          <p:nvSpPr>
            <p:cNvPr id="27" name="Retângulo 26"/>
            <p:cNvSpPr/>
            <p:nvPr/>
          </p:nvSpPr>
          <p:spPr>
            <a:xfrm>
              <a:off x="4216022" y="3795246"/>
              <a:ext cx="5388900" cy="79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lvl="1" algn="just"/>
              <a:r>
                <a:rPr lang="pt-BR" sz="1300" dirty="0" err="1">
                  <a:solidFill>
                    <a:schemeClr val="tx1"/>
                  </a:solidFill>
                </a:rPr>
                <a:t>Rfc</a:t>
              </a:r>
              <a:r>
                <a:rPr lang="pt-BR" sz="1300" dirty="0">
                  <a:solidFill>
                    <a:schemeClr val="tx1"/>
                  </a:solidFill>
                </a:rPr>
                <a:t> que não foi emitida no prazo para ser analisada pelo (CAB) e pode ou não estar associada a um Incidente de alto impacto “</a:t>
              </a:r>
              <a:r>
                <a:rPr lang="pt-BR" sz="1300" i="1" dirty="0" err="1">
                  <a:solidFill>
                    <a:schemeClr val="tx1"/>
                  </a:solidFill>
                </a:rPr>
                <a:t>Blocker</a:t>
              </a:r>
              <a:r>
                <a:rPr lang="pt-BR" sz="1300" dirty="0">
                  <a:solidFill>
                    <a:schemeClr val="tx1"/>
                  </a:solidFill>
                </a:rPr>
                <a:t>”, porém precisa ser executada na data definida, para evitar que ocorra algum impacto ao negócio.</a:t>
              </a:r>
            </a:p>
          </p:txBody>
        </p:sp>
        <p:sp>
          <p:nvSpPr>
            <p:cNvPr id="28" name="Retângulo de cantos arredondados 14"/>
            <p:cNvSpPr/>
            <p:nvPr/>
          </p:nvSpPr>
          <p:spPr>
            <a:xfrm>
              <a:off x="2935009" y="3795246"/>
              <a:ext cx="1281013" cy="792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Emergencial</a:t>
              </a:r>
            </a:p>
          </p:txBody>
        </p:sp>
      </p:grpSp>
      <p:grpSp>
        <p:nvGrpSpPr>
          <p:cNvPr id="29" name="Agrupar 2"/>
          <p:cNvGrpSpPr/>
          <p:nvPr/>
        </p:nvGrpSpPr>
        <p:grpSpPr>
          <a:xfrm>
            <a:off x="3362636" y="4816640"/>
            <a:ext cx="6669913" cy="974408"/>
            <a:chOff x="2935009" y="3795245"/>
            <a:chExt cx="6669913" cy="860091"/>
          </a:xfrm>
        </p:grpSpPr>
        <p:sp>
          <p:nvSpPr>
            <p:cNvPr id="30" name="Retângulo 29"/>
            <p:cNvSpPr/>
            <p:nvPr/>
          </p:nvSpPr>
          <p:spPr>
            <a:xfrm>
              <a:off x="4216022" y="3795245"/>
              <a:ext cx="5388900" cy="8600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pt-BR" sz="1300" dirty="0" err="1">
                  <a:solidFill>
                    <a:schemeClr val="tx1"/>
                  </a:solidFill>
                </a:rPr>
                <a:t>Rfc</a:t>
              </a:r>
              <a:r>
                <a:rPr lang="pt-BR" sz="1300" dirty="0">
                  <a:solidFill>
                    <a:schemeClr val="tx1"/>
                  </a:solidFill>
                </a:rPr>
                <a:t> que a </a:t>
              </a:r>
              <a:r>
                <a:rPr lang="pt-BR" sz="1300" dirty="0" err="1">
                  <a:solidFill>
                    <a:schemeClr val="tx1"/>
                  </a:solidFill>
                </a:rPr>
                <a:t>Smiles</a:t>
              </a:r>
              <a:r>
                <a:rPr lang="pt-BR" sz="1300" dirty="0">
                  <a:solidFill>
                    <a:schemeClr val="tx1"/>
                  </a:solidFill>
                </a:rPr>
                <a:t> não tem autonomia para aprovação, apena precisa ter ciência da sua execução.</a:t>
              </a:r>
            </a:p>
            <a:p>
              <a:r>
                <a:rPr lang="pt-BR" sz="1300" dirty="0">
                  <a:solidFill>
                    <a:schemeClr val="tx1"/>
                  </a:solidFill>
                </a:rPr>
                <a:t>Exemplo: </a:t>
              </a:r>
              <a:r>
                <a:rPr lang="pt-BR" sz="1300" dirty="0" err="1">
                  <a:solidFill>
                    <a:schemeClr val="tx1"/>
                  </a:solidFill>
                </a:rPr>
                <a:t>rfc</a:t>
              </a:r>
              <a:r>
                <a:rPr lang="pt-BR" sz="1300" dirty="0">
                  <a:solidFill>
                    <a:schemeClr val="tx1"/>
                  </a:solidFill>
                </a:rPr>
                <a:t>  da gol</a:t>
              </a:r>
            </a:p>
          </p:txBody>
        </p:sp>
        <p:sp>
          <p:nvSpPr>
            <p:cNvPr id="31" name="Retângulo de cantos arredondados 14"/>
            <p:cNvSpPr/>
            <p:nvPr/>
          </p:nvSpPr>
          <p:spPr>
            <a:xfrm>
              <a:off x="2935009" y="3795245"/>
              <a:ext cx="1281013" cy="860091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Informativa</a:t>
              </a:r>
            </a:p>
          </p:txBody>
        </p:sp>
      </p:grpSp>
      <p:sp>
        <p:nvSpPr>
          <p:cNvPr id="5" name="Seta para baixo 4"/>
          <p:cNvSpPr/>
          <p:nvPr/>
        </p:nvSpPr>
        <p:spPr>
          <a:xfrm rot="16200000">
            <a:off x="2330073" y="2190324"/>
            <a:ext cx="1091821" cy="736979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280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GERAL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" y="2435137"/>
            <a:ext cx="6200775" cy="1943100"/>
          </a:xfrm>
          <a:prstGeom prst="rect">
            <a:avLst/>
          </a:prstGeom>
        </p:spPr>
      </p:pic>
      <p:sp>
        <p:nvSpPr>
          <p:cNvPr id="32" name="Texto explicativo retangular 31"/>
          <p:cNvSpPr/>
          <p:nvPr/>
        </p:nvSpPr>
        <p:spPr>
          <a:xfrm>
            <a:off x="2900883" y="1687318"/>
            <a:ext cx="3322495" cy="960862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Preencha a Origem da RFC: &lt;Projeto, Melhoria, Problema, Incidente ou Solicitação</a:t>
            </a:r>
          </a:p>
        </p:txBody>
      </p:sp>
      <p:sp>
        <p:nvSpPr>
          <p:cNvPr id="33" name="Texto explicativo retangular 32"/>
          <p:cNvSpPr/>
          <p:nvPr/>
        </p:nvSpPr>
        <p:spPr>
          <a:xfrm>
            <a:off x="6567845" y="2320149"/>
            <a:ext cx="3322495" cy="960862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o link e o </a:t>
            </a:r>
            <a:r>
              <a:rPr lang="pt-BR" sz="1600" dirty="0" err="1"/>
              <a:t>issue</a:t>
            </a:r>
            <a:r>
              <a:rPr lang="pt-BR" sz="1600" dirty="0"/>
              <a:t> do </a:t>
            </a:r>
            <a:r>
              <a:rPr lang="pt-BR" sz="1600" dirty="0" err="1"/>
              <a:t>Jira</a:t>
            </a:r>
            <a:r>
              <a:rPr lang="pt-BR" sz="1600" dirty="0"/>
              <a:t> para a Origem da RFC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512216" y="2869619"/>
            <a:ext cx="5342674" cy="938105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exto explicativo retangular 34"/>
          <p:cNvSpPr/>
          <p:nvPr/>
        </p:nvSpPr>
        <p:spPr>
          <a:xfrm>
            <a:off x="4193642" y="5076894"/>
            <a:ext cx="2374203" cy="960862"/>
          </a:xfrm>
          <a:prstGeom prst="wedgeRectCallout">
            <a:avLst>
              <a:gd name="adj1" fmla="val -181603"/>
              <a:gd name="adj2" fmla="val -157672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o nome do seu Gestor Responsável</a:t>
            </a:r>
          </a:p>
        </p:txBody>
      </p:sp>
    </p:spTree>
    <p:extLst>
      <p:ext uri="{BB962C8B-B14F-4D97-AF65-F5344CB8AC3E}">
        <p14:creationId xmlns:p14="http://schemas.microsoft.com/office/powerpoint/2010/main" val="429288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GERAL</a:t>
            </a:r>
            <a:endParaRPr lang="pt-BR" sz="16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" y="2184692"/>
            <a:ext cx="6696075" cy="3562350"/>
          </a:xfrm>
          <a:prstGeom prst="rect">
            <a:avLst/>
          </a:prstGeom>
        </p:spPr>
      </p:pic>
      <p:sp>
        <p:nvSpPr>
          <p:cNvPr id="15" name="Texto explicativo retangular 14"/>
          <p:cNvSpPr/>
          <p:nvPr/>
        </p:nvSpPr>
        <p:spPr>
          <a:xfrm>
            <a:off x="6223378" y="2056648"/>
            <a:ext cx="3322495" cy="725040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Preencha os campos &lt;</a:t>
            </a:r>
            <a:r>
              <a:rPr lang="pt-BR" sz="1600" dirty="0" err="1"/>
              <a:t>Reporter</a:t>
            </a:r>
            <a:r>
              <a:rPr lang="pt-BR" sz="1600" dirty="0"/>
              <a:t> e </a:t>
            </a:r>
            <a:r>
              <a:rPr lang="pt-BR" sz="1600" dirty="0" err="1"/>
              <a:t>Assignee</a:t>
            </a:r>
            <a:r>
              <a:rPr lang="pt-BR" sz="1600" dirty="0"/>
              <a:t>&gt;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744228" y="2184692"/>
            <a:ext cx="5178900" cy="938105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/>
          <p:cNvSpPr/>
          <p:nvPr/>
        </p:nvSpPr>
        <p:spPr>
          <a:xfrm>
            <a:off x="441409" y="3275197"/>
            <a:ext cx="2861349" cy="938105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o explicativo retangular 17"/>
          <p:cNvSpPr/>
          <p:nvPr/>
        </p:nvSpPr>
        <p:spPr>
          <a:xfrm>
            <a:off x="3960125" y="3175130"/>
            <a:ext cx="5644797" cy="725040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a data e horário de início e término da mudança.</a:t>
            </a:r>
          </a:p>
          <a:p>
            <a:pPr algn="ctr"/>
            <a:r>
              <a:rPr lang="pt-BR" sz="1600" dirty="0"/>
              <a:t>Vale ressaltar, que o plano de </a:t>
            </a:r>
            <a:r>
              <a:rPr lang="pt-BR" sz="1600" dirty="0" err="1"/>
              <a:t>Rollback</a:t>
            </a:r>
            <a:r>
              <a:rPr lang="pt-BR" sz="1600" dirty="0"/>
              <a:t> deve ser contemplado neste período</a:t>
            </a:r>
          </a:p>
        </p:txBody>
      </p:sp>
      <p:sp>
        <p:nvSpPr>
          <p:cNvPr id="19" name="Texto explicativo retangular 18"/>
          <p:cNvSpPr/>
          <p:nvPr/>
        </p:nvSpPr>
        <p:spPr>
          <a:xfrm>
            <a:off x="6048231" y="4440207"/>
            <a:ext cx="3322495" cy="725040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Descreva o objetivo da sua mudança</a:t>
            </a:r>
          </a:p>
        </p:txBody>
      </p:sp>
    </p:spTree>
    <p:extLst>
      <p:ext uri="{BB962C8B-B14F-4D97-AF65-F5344CB8AC3E}">
        <p14:creationId xmlns:p14="http://schemas.microsoft.com/office/powerpoint/2010/main" val="394160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IMPACTO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" y="1621987"/>
            <a:ext cx="6600825" cy="4467225"/>
          </a:xfrm>
          <a:prstGeom prst="rect">
            <a:avLst/>
          </a:prstGeom>
        </p:spPr>
      </p:pic>
      <p:sp>
        <p:nvSpPr>
          <p:cNvPr id="20" name="Retângulo 19"/>
          <p:cNvSpPr/>
          <p:nvPr/>
        </p:nvSpPr>
        <p:spPr>
          <a:xfrm>
            <a:off x="177570" y="2184692"/>
            <a:ext cx="4025940" cy="2469195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o explicativo retangular 20"/>
          <p:cNvSpPr/>
          <p:nvPr/>
        </p:nvSpPr>
        <p:spPr>
          <a:xfrm>
            <a:off x="4940488" y="2810033"/>
            <a:ext cx="3643954" cy="902157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Preencha os campos &lt;ambiente afetado, serviço, áreas impactadas e risco da mudança&gt;</a:t>
            </a:r>
          </a:p>
        </p:txBody>
      </p:sp>
      <p:sp>
        <p:nvSpPr>
          <p:cNvPr id="22" name="Texto explicativo retangular 21"/>
          <p:cNvSpPr/>
          <p:nvPr/>
        </p:nvSpPr>
        <p:spPr>
          <a:xfrm>
            <a:off x="5324907" y="4653887"/>
            <a:ext cx="3643954" cy="902157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Descreva qual seria o impacto caso a sua mudança não fosse realizada</a:t>
            </a:r>
          </a:p>
        </p:txBody>
      </p:sp>
    </p:spTree>
    <p:extLst>
      <p:ext uri="{BB962C8B-B14F-4D97-AF65-F5344CB8AC3E}">
        <p14:creationId xmlns:p14="http://schemas.microsoft.com/office/powerpoint/2010/main" val="754685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IMPACTO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" y="1621987"/>
            <a:ext cx="6600825" cy="4467225"/>
          </a:xfrm>
          <a:prstGeom prst="rect">
            <a:avLst/>
          </a:prstGeom>
        </p:spPr>
      </p:pic>
      <p:sp>
        <p:nvSpPr>
          <p:cNvPr id="20" name="Retângulo 19"/>
          <p:cNvSpPr/>
          <p:nvPr/>
        </p:nvSpPr>
        <p:spPr>
          <a:xfrm>
            <a:off x="177570" y="2184692"/>
            <a:ext cx="4025940" cy="2469195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o explicativo retangular 20"/>
          <p:cNvSpPr/>
          <p:nvPr/>
        </p:nvSpPr>
        <p:spPr>
          <a:xfrm>
            <a:off x="4940488" y="2810033"/>
            <a:ext cx="3643954" cy="902157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Preencha os campos &lt;ambiente afetado, serviço, áreas impactadas e risco da mudança&gt;</a:t>
            </a:r>
          </a:p>
        </p:txBody>
      </p:sp>
      <p:sp>
        <p:nvSpPr>
          <p:cNvPr id="22" name="Texto explicativo retangular 21"/>
          <p:cNvSpPr/>
          <p:nvPr/>
        </p:nvSpPr>
        <p:spPr>
          <a:xfrm>
            <a:off x="5324907" y="4653887"/>
            <a:ext cx="3643954" cy="902157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Descreva qual seria o impacto caso a sua mudança não fosse realizada</a:t>
            </a:r>
          </a:p>
        </p:txBody>
      </p:sp>
    </p:spTree>
    <p:extLst>
      <p:ext uri="{BB962C8B-B14F-4D97-AF65-F5344CB8AC3E}">
        <p14:creationId xmlns:p14="http://schemas.microsoft.com/office/powerpoint/2010/main" val="173551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INDISPONIBILIDADE</a:t>
            </a:r>
            <a:endParaRPr lang="pt-BR" sz="16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" y="1771440"/>
            <a:ext cx="6353175" cy="2562225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177570" y="3043452"/>
            <a:ext cx="4025940" cy="1345130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exto explicativo retangular 14"/>
          <p:cNvSpPr/>
          <p:nvPr/>
        </p:nvSpPr>
        <p:spPr>
          <a:xfrm>
            <a:off x="3002505" y="1826356"/>
            <a:ext cx="3643954" cy="902157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se haverá ou não indisponibilidade</a:t>
            </a:r>
          </a:p>
        </p:txBody>
      </p:sp>
      <p:sp>
        <p:nvSpPr>
          <p:cNvPr id="16" name="Texto explicativo retangular 15"/>
          <p:cNvSpPr/>
          <p:nvPr/>
        </p:nvSpPr>
        <p:spPr>
          <a:xfrm>
            <a:off x="4673952" y="3264938"/>
            <a:ext cx="3643954" cy="902157"/>
          </a:xfrm>
          <a:prstGeom prst="wedgeRectCallout">
            <a:avLst>
              <a:gd name="adj1" fmla="val -102362"/>
              <a:gd name="adj2" fmla="val -534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Caso tenha indisponibilidade, informe a data e horário de início e término</a:t>
            </a:r>
          </a:p>
        </p:txBody>
      </p:sp>
    </p:spTree>
    <p:extLst>
      <p:ext uri="{BB962C8B-B14F-4D97-AF65-F5344CB8AC3E}">
        <p14:creationId xmlns:p14="http://schemas.microsoft.com/office/powerpoint/2010/main" val="77893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46425"/>
            <a:ext cx="6581775" cy="3105150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HOMOLOGAÇÃO DE QA</a:t>
            </a:r>
            <a:endParaRPr lang="pt-BR" sz="1600" i="1" dirty="0"/>
          </a:p>
        </p:txBody>
      </p:sp>
      <p:sp>
        <p:nvSpPr>
          <p:cNvPr id="17" name="Retângulo 16"/>
          <p:cNvSpPr/>
          <p:nvPr/>
        </p:nvSpPr>
        <p:spPr>
          <a:xfrm>
            <a:off x="27442" y="2055166"/>
            <a:ext cx="5630415" cy="120859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o explicativo retangular 17"/>
          <p:cNvSpPr/>
          <p:nvPr/>
        </p:nvSpPr>
        <p:spPr>
          <a:xfrm>
            <a:off x="5657857" y="1954016"/>
            <a:ext cx="3643954" cy="902157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se foi realizada homologação de QA e quem foi o responsável</a:t>
            </a:r>
          </a:p>
        </p:txBody>
      </p:sp>
      <p:sp>
        <p:nvSpPr>
          <p:cNvPr id="19" name="Texto explicativo retangular 18"/>
          <p:cNvSpPr/>
          <p:nvPr/>
        </p:nvSpPr>
        <p:spPr>
          <a:xfrm>
            <a:off x="4746868" y="3662781"/>
            <a:ext cx="3643954" cy="902157"/>
          </a:xfrm>
          <a:prstGeom prst="wedgeRectCallout">
            <a:avLst>
              <a:gd name="adj1" fmla="val -102362"/>
              <a:gd name="adj2" fmla="val -534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Caso tenha sido executado a homologação de QA, descreva o motivo</a:t>
            </a:r>
          </a:p>
        </p:txBody>
      </p:sp>
    </p:spTree>
    <p:extLst>
      <p:ext uri="{BB962C8B-B14F-4D97-AF65-F5344CB8AC3E}">
        <p14:creationId xmlns:p14="http://schemas.microsoft.com/office/powerpoint/2010/main" val="373029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0" y="1682515"/>
            <a:ext cx="5857875" cy="2857500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TESTE DE ACEITE UAT</a:t>
            </a:r>
            <a:endParaRPr lang="pt-BR" sz="1600" i="1" dirty="0"/>
          </a:p>
        </p:txBody>
      </p:sp>
      <p:sp>
        <p:nvSpPr>
          <p:cNvPr id="17" name="Retângulo 16"/>
          <p:cNvSpPr/>
          <p:nvPr/>
        </p:nvSpPr>
        <p:spPr>
          <a:xfrm>
            <a:off x="177570" y="2287178"/>
            <a:ext cx="5868388" cy="988285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o explicativo retangular 17"/>
          <p:cNvSpPr/>
          <p:nvPr/>
        </p:nvSpPr>
        <p:spPr>
          <a:xfrm>
            <a:off x="5657857" y="1954016"/>
            <a:ext cx="3643954" cy="902157"/>
          </a:xfrm>
          <a:prstGeom prst="wedgeRectCallout">
            <a:avLst>
              <a:gd name="adj1" fmla="val -86257"/>
              <a:gd name="adj2" fmla="val 35498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se foi realizada teste de aceite UAT e quem foi o responsável</a:t>
            </a:r>
          </a:p>
        </p:txBody>
      </p:sp>
      <p:sp>
        <p:nvSpPr>
          <p:cNvPr id="19" name="Texto explicativo retangular 18"/>
          <p:cNvSpPr/>
          <p:nvPr/>
        </p:nvSpPr>
        <p:spPr>
          <a:xfrm>
            <a:off x="4746868" y="3662781"/>
            <a:ext cx="3643954" cy="902157"/>
          </a:xfrm>
          <a:prstGeom prst="wedgeRectCallout">
            <a:avLst>
              <a:gd name="adj1" fmla="val -102362"/>
              <a:gd name="adj2" fmla="val -534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Caso tenha sido executado a teste de aceite UAT, descreva o motivo</a:t>
            </a:r>
          </a:p>
        </p:txBody>
      </p:sp>
    </p:spTree>
    <p:extLst>
      <p:ext uri="{BB962C8B-B14F-4D97-AF65-F5344CB8AC3E}">
        <p14:creationId xmlns:p14="http://schemas.microsoft.com/office/powerpoint/2010/main" val="163442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Aba ANEXOS E EVIDÊNCIAS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" y="1621987"/>
            <a:ext cx="7487204" cy="1626180"/>
          </a:xfrm>
          <a:prstGeom prst="rect">
            <a:avLst/>
          </a:prstGeom>
        </p:spPr>
      </p:pic>
      <p:sp>
        <p:nvSpPr>
          <p:cNvPr id="15" name="Texto explicativo retangular 14"/>
          <p:cNvSpPr/>
          <p:nvPr/>
        </p:nvSpPr>
        <p:spPr>
          <a:xfrm>
            <a:off x="4746868" y="3662781"/>
            <a:ext cx="3643954" cy="902157"/>
          </a:xfrm>
          <a:prstGeom prst="wedgeRectCallout">
            <a:avLst>
              <a:gd name="adj1" fmla="val -64909"/>
              <a:gd name="adj2" fmla="val -165703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Nesta aba deverá ser anexado o plano de RFC, evidências da homologação de QA e evidências dos teste de aceitação UAT</a:t>
            </a:r>
          </a:p>
        </p:txBody>
      </p:sp>
    </p:spTree>
    <p:extLst>
      <p:ext uri="{BB962C8B-B14F-4D97-AF65-F5344CB8AC3E}">
        <p14:creationId xmlns:p14="http://schemas.microsoft.com/office/powerpoint/2010/main" val="4000782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Após preencher todos os campos</a:t>
            </a:r>
            <a:endParaRPr lang="pt-BR" sz="16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43" y="1621987"/>
            <a:ext cx="6309586" cy="2595171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770496" y="2497540"/>
            <a:ext cx="1378423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o explicativo retangular 12"/>
          <p:cNvSpPr/>
          <p:nvPr/>
        </p:nvSpPr>
        <p:spPr>
          <a:xfrm>
            <a:off x="304103" y="4936161"/>
            <a:ext cx="3643954" cy="524325"/>
          </a:xfrm>
          <a:prstGeom prst="wedgeRectCallout">
            <a:avLst>
              <a:gd name="adj1" fmla="val 45203"/>
              <a:gd name="adj2" fmla="val -455494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 &lt;Enviar análise GM&gt;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288" y="938847"/>
            <a:ext cx="4884479" cy="4229333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738715" y="4792454"/>
            <a:ext cx="1378423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exto explicativo retangular 16"/>
          <p:cNvSpPr/>
          <p:nvPr/>
        </p:nvSpPr>
        <p:spPr>
          <a:xfrm>
            <a:off x="5773004" y="5389113"/>
            <a:ext cx="2722032" cy="524325"/>
          </a:xfrm>
          <a:prstGeom prst="wedgeRectCallout">
            <a:avLst>
              <a:gd name="adj1" fmla="val 64137"/>
              <a:gd name="adj2" fmla="val -85879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novamente a opção &lt;Enviar análise GM&gt;</a:t>
            </a:r>
          </a:p>
        </p:txBody>
      </p:sp>
      <p:cxnSp>
        <p:nvCxnSpPr>
          <p:cNvPr id="19" name="Conector reto 18"/>
          <p:cNvCxnSpPr/>
          <p:nvPr/>
        </p:nvCxnSpPr>
        <p:spPr>
          <a:xfrm flipH="1">
            <a:off x="5018419" y="750627"/>
            <a:ext cx="54687" cy="610737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57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18359" t="24168" r="43145" b="51033"/>
          <a:stretch/>
        </p:blipFill>
        <p:spPr>
          <a:xfrm>
            <a:off x="177570" y="1598993"/>
            <a:ext cx="5008728" cy="1719619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Categoria Normal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2197289" y="1630678"/>
            <a:ext cx="2989009" cy="168793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o explicativo retangular 38"/>
          <p:cNvSpPr/>
          <p:nvPr/>
        </p:nvSpPr>
        <p:spPr>
          <a:xfrm>
            <a:off x="5973628" y="2292824"/>
            <a:ext cx="4052226" cy="3207224"/>
          </a:xfrm>
          <a:prstGeom prst="wedgeRectCallout">
            <a:avLst>
              <a:gd name="adj1" fmla="val -77598"/>
              <a:gd name="adj2" fmla="val -3734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Grupos / participantes do CAB:</a:t>
            </a:r>
          </a:p>
          <a:p>
            <a:pPr algn="ctr"/>
            <a:endParaRPr lang="pt-BR" sz="1600" dirty="0"/>
          </a:p>
          <a:p>
            <a:pPr marL="285750" indent="-285750" algn="ctr">
              <a:buFontTx/>
              <a:buChar char="-"/>
            </a:pPr>
            <a:r>
              <a:rPr lang="pt-BR" sz="1600" dirty="0"/>
              <a:t>Operações (Nei, Savioli ou Jonathas)</a:t>
            </a:r>
          </a:p>
          <a:p>
            <a:pPr marL="285750" indent="-285750" algn="ctr">
              <a:buFontTx/>
              <a:buChar char="-"/>
            </a:pPr>
            <a:r>
              <a:rPr lang="pt-BR" sz="1600" dirty="0"/>
              <a:t>Gestores (seu Gestor)</a:t>
            </a:r>
          </a:p>
          <a:p>
            <a:pPr marL="285750" indent="-285750" algn="ctr">
              <a:buFontTx/>
              <a:buChar char="-"/>
            </a:pPr>
            <a:r>
              <a:rPr lang="pt-BR" sz="1600" dirty="0"/>
              <a:t>Arquitetura (todos os arquitetos)</a:t>
            </a:r>
          </a:p>
          <a:p>
            <a:pPr marL="285750" indent="-285750" algn="ctr">
              <a:buFontTx/>
              <a:buChar char="-"/>
            </a:pPr>
            <a:r>
              <a:rPr lang="pt-BR" sz="1600" dirty="0"/>
              <a:t>Infraestrutura (Claudio, Daniel ou Adriano)</a:t>
            </a:r>
          </a:p>
          <a:p>
            <a:pPr marL="285750" indent="-285750" algn="ctr">
              <a:buFontTx/>
              <a:buChar char="-"/>
            </a:pPr>
            <a:r>
              <a:rPr lang="pt-BR" sz="1600" dirty="0"/>
              <a:t>Segurança (Marcela ou Rodrigo)</a:t>
            </a:r>
          </a:p>
          <a:p>
            <a:pPr marL="285750" indent="-285750" algn="ctr">
              <a:buFontTx/>
              <a:buChar char="-"/>
            </a:pPr>
            <a:r>
              <a:rPr lang="pt-BR" sz="1600" dirty="0"/>
              <a:t>Fraude (Cássia ou Rodrigo)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  <a:p>
            <a:pPr algn="ctr"/>
            <a:r>
              <a:rPr lang="pt-BR" sz="1600" dirty="0"/>
              <a:t>OBS.: qualquer participante pode aprovar / reprovar pelo grupo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482385" y="6134371"/>
            <a:ext cx="4496382" cy="624278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bg1"/>
                </a:solidFill>
              </a:rPr>
              <a:t>Necessário solicitar aprovação dos times da </a:t>
            </a:r>
            <a:r>
              <a:rPr lang="pt-BR" sz="1600" b="1" dirty="0" err="1">
                <a:solidFill>
                  <a:schemeClr val="bg1"/>
                </a:solidFill>
              </a:rPr>
              <a:t>Smiles</a:t>
            </a:r>
            <a:r>
              <a:rPr lang="pt-BR" sz="1600" b="1" dirty="0">
                <a:solidFill>
                  <a:schemeClr val="bg1"/>
                </a:solidFill>
              </a:rPr>
              <a:t> antes da reunião do CAB</a:t>
            </a:r>
            <a:endParaRPr lang="pt-BR" sz="1600" b="1" i="1" dirty="0">
              <a:solidFill>
                <a:schemeClr val="bg1"/>
              </a:solidFill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</p:spTree>
    <p:extLst>
      <p:ext uri="{BB962C8B-B14F-4D97-AF65-F5344CB8AC3E}">
        <p14:creationId xmlns:p14="http://schemas.microsoft.com/office/powerpoint/2010/main" val="235306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19093" t="23577" r="43985" b="62449"/>
          <a:stretch/>
        </p:blipFill>
        <p:spPr>
          <a:xfrm>
            <a:off x="47362" y="1795348"/>
            <a:ext cx="4804012" cy="968991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Categoria Emergencial</a:t>
            </a:r>
            <a:endParaRPr lang="pt-BR" sz="1600" i="1" dirty="0"/>
          </a:p>
        </p:txBody>
      </p:sp>
      <p:sp>
        <p:nvSpPr>
          <p:cNvPr id="38" name="Retângulo 37"/>
          <p:cNvSpPr/>
          <p:nvPr/>
        </p:nvSpPr>
        <p:spPr>
          <a:xfrm>
            <a:off x="2007355" y="1907815"/>
            <a:ext cx="2844019" cy="856524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o explicativo retangular 12"/>
          <p:cNvSpPr/>
          <p:nvPr/>
        </p:nvSpPr>
        <p:spPr>
          <a:xfrm>
            <a:off x="5973628" y="2292824"/>
            <a:ext cx="4052226" cy="2442949"/>
          </a:xfrm>
          <a:prstGeom prst="wedgeRectCallout">
            <a:avLst>
              <a:gd name="adj1" fmla="val -77598"/>
              <a:gd name="adj2" fmla="val -37347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Grupos / participantes do ECAB:</a:t>
            </a:r>
          </a:p>
          <a:p>
            <a:pPr algn="ctr"/>
            <a:endParaRPr lang="pt-BR" sz="1600" dirty="0"/>
          </a:p>
          <a:p>
            <a:pPr marL="285750" indent="-285750" algn="ctr">
              <a:buFontTx/>
              <a:buChar char="-"/>
            </a:pPr>
            <a:r>
              <a:rPr lang="pt-BR" sz="1600" dirty="0"/>
              <a:t>Operações (Nei, Savioli ou Jonathas)</a:t>
            </a:r>
          </a:p>
          <a:p>
            <a:pPr marL="285750" indent="-285750" algn="ctr">
              <a:buFontTx/>
              <a:buChar char="-"/>
            </a:pPr>
            <a:r>
              <a:rPr lang="pt-BR" sz="1600" dirty="0"/>
              <a:t>Gestores (seu Gestor)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  <a:p>
            <a:pPr algn="ctr"/>
            <a:r>
              <a:rPr lang="pt-BR" sz="1600" dirty="0"/>
              <a:t>OBS.: qualquer participante pode aprovar / reprovar pelo grupo</a:t>
            </a:r>
          </a:p>
          <a:p>
            <a:pPr marL="285750" indent="-285750" algn="ctr">
              <a:buFontTx/>
              <a:buChar char="-"/>
            </a:pPr>
            <a:endParaRPr lang="pt-BR" sz="1600" dirty="0"/>
          </a:p>
        </p:txBody>
      </p:sp>
      <p:sp>
        <p:nvSpPr>
          <p:cNvPr id="11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5482385" y="6134371"/>
            <a:ext cx="4496382" cy="624278"/>
          </a:xfrm>
          <a:prstGeom prst="roundRect">
            <a:avLst>
              <a:gd name="adj" fmla="val 0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>
                <a:solidFill>
                  <a:schemeClr val="bg1"/>
                </a:solidFill>
              </a:rPr>
              <a:t>Necessário solicitar aprovação dos times da </a:t>
            </a:r>
            <a:r>
              <a:rPr lang="pt-BR" sz="1600" b="1" dirty="0" err="1">
                <a:solidFill>
                  <a:schemeClr val="bg1"/>
                </a:solidFill>
              </a:rPr>
              <a:t>Smiles</a:t>
            </a:r>
            <a:r>
              <a:rPr lang="pt-BR" sz="1600" b="1" dirty="0">
                <a:solidFill>
                  <a:schemeClr val="bg1"/>
                </a:solidFill>
              </a:rPr>
              <a:t> antes do ECAB</a:t>
            </a:r>
            <a:endParaRPr lang="pt-BR" sz="16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0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Caso sua mudança seja REPROVADA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904" y="1745528"/>
            <a:ext cx="3305175" cy="195262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685" y="3821694"/>
            <a:ext cx="4029075" cy="2095500"/>
          </a:xfrm>
          <a:prstGeom prst="rect">
            <a:avLst/>
          </a:prstGeom>
        </p:spPr>
      </p:pic>
      <p:sp>
        <p:nvSpPr>
          <p:cNvPr id="20" name="Retângulo 19"/>
          <p:cNvSpPr/>
          <p:nvPr/>
        </p:nvSpPr>
        <p:spPr>
          <a:xfrm>
            <a:off x="3509010" y="3103260"/>
            <a:ext cx="1378423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2436550" y="4672532"/>
            <a:ext cx="2831485" cy="705397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o explicativo retangular 21"/>
          <p:cNvSpPr/>
          <p:nvPr/>
        </p:nvSpPr>
        <p:spPr>
          <a:xfrm>
            <a:off x="4887433" y="3587526"/>
            <a:ext cx="3643954" cy="902157"/>
          </a:xfrm>
          <a:prstGeom prst="wedgeRectCallout">
            <a:avLst>
              <a:gd name="adj1" fmla="val -48804"/>
              <a:gd name="adj2" fmla="val -91576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O status estará como REPROVADA</a:t>
            </a:r>
          </a:p>
        </p:txBody>
      </p:sp>
      <p:sp>
        <p:nvSpPr>
          <p:cNvPr id="23" name="Texto explicativo retangular 22"/>
          <p:cNvSpPr/>
          <p:nvPr/>
        </p:nvSpPr>
        <p:spPr>
          <a:xfrm>
            <a:off x="5120776" y="5429524"/>
            <a:ext cx="3643954" cy="902157"/>
          </a:xfrm>
          <a:prstGeom prst="wedgeRectCallout">
            <a:avLst>
              <a:gd name="adj1" fmla="val -48804"/>
              <a:gd name="adj2" fmla="val -91576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Leia no campo &lt;</a:t>
            </a:r>
            <a:r>
              <a:rPr lang="pt-BR" sz="1600" dirty="0" err="1"/>
              <a:t>Coments</a:t>
            </a:r>
            <a:r>
              <a:rPr lang="pt-BR" sz="1600" dirty="0"/>
              <a:t>&gt; o motivo da REPROVAÇÃO</a:t>
            </a:r>
          </a:p>
        </p:txBody>
      </p:sp>
    </p:spTree>
    <p:extLst>
      <p:ext uri="{BB962C8B-B14F-4D97-AF65-F5344CB8AC3E}">
        <p14:creationId xmlns:p14="http://schemas.microsoft.com/office/powerpoint/2010/main" val="3000780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Caso sua mudança seja REPROVADA </a:t>
            </a:r>
          </a:p>
          <a:p>
            <a:r>
              <a:rPr lang="pt-BR" sz="1600" dirty="0"/>
              <a:t>Como EDITAR?</a:t>
            </a:r>
            <a:endParaRPr lang="pt-BR" sz="16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901" y="1706942"/>
            <a:ext cx="3305175" cy="1952625"/>
          </a:xfrm>
          <a:prstGeom prst="rect">
            <a:avLst/>
          </a:prstGeom>
        </p:spPr>
      </p:pic>
      <p:sp>
        <p:nvSpPr>
          <p:cNvPr id="20" name="Retângulo 19"/>
          <p:cNvSpPr/>
          <p:nvPr/>
        </p:nvSpPr>
        <p:spPr>
          <a:xfrm>
            <a:off x="2796669" y="2345129"/>
            <a:ext cx="863349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o explicativo retangular 21"/>
          <p:cNvSpPr/>
          <p:nvPr/>
        </p:nvSpPr>
        <p:spPr>
          <a:xfrm>
            <a:off x="5402672" y="2223982"/>
            <a:ext cx="3643954" cy="902157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 &lt;Recomeçar&gt;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b="44359"/>
          <a:stretch/>
        </p:blipFill>
        <p:spPr>
          <a:xfrm>
            <a:off x="1934095" y="4153410"/>
            <a:ext cx="4410075" cy="2045743"/>
          </a:xfrm>
          <a:prstGeom prst="rect">
            <a:avLst/>
          </a:prstGeom>
        </p:spPr>
      </p:pic>
      <p:sp>
        <p:nvSpPr>
          <p:cNvPr id="15" name="Retângulo 14"/>
          <p:cNvSpPr/>
          <p:nvPr/>
        </p:nvSpPr>
        <p:spPr>
          <a:xfrm>
            <a:off x="1952797" y="4153410"/>
            <a:ext cx="863349" cy="42308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o explicativo retangular 15"/>
          <p:cNvSpPr/>
          <p:nvPr/>
        </p:nvSpPr>
        <p:spPr>
          <a:xfrm>
            <a:off x="4601306" y="4063460"/>
            <a:ext cx="3643954" cy="902157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 &lt;</a:t>
            </a:r>
            <a:r>
              <a:rPr lang="pt-BR" sz="1600" dirty="0" err="1"/>
              <a:t>Edit</a:t>
            </a:r>
            <a:r>
              <a:rPr lang="pt-BR" sz="1600" dirty="0"/>
              <a:t>&gt; e realize os ajustes necessários</a:t>
            </a:r>
          </a:p>
        </p:txBody>
      </p:sp>
    </p:spTree>
    <p:extLst>
      <p:ext uri="{BB962C8B-B14F-4D97-AF65-F5344CB8AC3E}">
        <p14:creationId xmlns:p14="http://schemas.microsoft.com/office/powerpoint/2010/main" val="2044406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70" y="1621987"/>
            <a:ext cx="4133850" cy="2190750"/>
          </a:xfrm>
          <a:prstGeom prst="rect">
            <a:avLst/>
          </a:prstGeom>
        </p:spPr>
      </p:pic>
      <p:sp>
        <p:nvSpPr>
          <p:cNvPr id="15" name="Retângulo 14"/>
          <p:cNvSpPr/>
          <p:nvPr/>
        </p:nvSpPr>
        <p:spPr>
          <a:xfrm>
            <a:off x="1256761" y="2497540"/>
            <a:ext cx="863349" cy="304742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o explicativo retangular 15"/>
          <p:cNvSpPr/>
          <p:nvPr/>
        </p:nvSpPr>
        <p:spPr>
          <a:xfrm>
            <a:off x="3928714" y="2223982"/>
            <a:ext cx="3643954" cy="902157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 &lt;Implementação&gt;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b="54478"/>
          <a:stretch/>
        </p:blipFill>
        <p:spPr>
          <a:xfrm>
            <a:off x="177570" y="4414732"/>
            <a:ext cx="6810375" cy="1422210"/>
          </a:xfrm>
          <a:prstGeom prst="rect">
            <a:avLst/>
          </a:prstGeom>
        </p:spPr>
      </p:pic>
      <p:sp>
        <p:nvSpPr>
          <p:cNvPr id="17" name="Retângulo 16"/>
          <p:cNvSpPr/>
          <p:nvPr/>
        </p:nvSpPr>
        <p:spPr>
          <a:xfrm>
            <a:off x="825086" y="4973466"/>
            <a:ext cx="5234520" cy="304742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o explicativo retangular 17"/>
          <p:cNvSpPr/>
          <p:nvPr/>
        </p:nvSpPr>
        <p:spPr>
          <a:xfrm>
            <a:off x="5323060" y="4827129"/>
            <a:ext cx="3643954" cy="902157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o responsável pela implementação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Caso sua mudança seja APROVADA </a:t>
            </a:r>
          </a:p>
          <a:p>
            <a:r>
              <a:rPr lang="pt-BR" sz="1600" dirty="0"/>
              <a:t>Como implementar?</a:t>
            </a:r>
            <a:endParaRPr lang="pt-BR" sz="1600" i="1" dirty="0"/>
          </a:p>
        </p:txBody>
      </p:sp>
    </p:spTree>
    <p:extLst>
      <p:ext uri="{BB962C8B-B14F-4D97-AF65-F5344CB8AC3E}">
        <p14:creationId xmlns:p14="http://schemas.microsoft.com/office/powerpoint/2010/main" val="421279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Caso sua mudança seja APROVADA </a:t>
            </a:r>
          </a:p>
          <a:p>
            <a:r>
              <a:rPr lang="pt-BR" sz="1600" dirty="0"/>
              <a:t>Como implementar?</a:t>
            </a:r>
            <a:endParaRPr lang="pt-BR" sz="16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70" y="1526451"/>
            <a:ext cx="4133850" cy="2190750"/>
          </a:xfrm>
          <a:prstGeom prst="rect">
            <a:avLst/>
          </a:prstGeom>
        </p:spPr>
      </p:pic>
      <p:sp>
        <p:nvSpPr>
          <p:cNvPr id="15" name="Retângulo 14"/>
          <p:cNvSpPr/>
          <p:nvPr/>
        </p:nvSpPr>
        <p:spPr>
          <a:xfrm>
            <a:off x="1256761" y="2402004"/>
            <a:ext cx="863349" cy="304742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exto explicativo retangular 15"/>
          <p:cNvSpPr/>
          <p:nvPr/>
        </p:nvSpPr>
        <p:spPr>
          <a:xfrm>
            <a:off x="3928714" y="2128447"/>
            <a:ext cx="3643954" cy="578300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 &lt;Implementação&gt;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4"/>
          <a:srcRect b="54478"/>
          <a:stretch/>
        </p:blipFill>
        <p:spPr>
          <a:xfrm>
            <a:off x="177570" y="3841527"/>
            <a:ext cx="6810375" cy="1422210"/>
          </a:xfrm>
          <a:prstGeom prst="rect">
            <a:avLst/>
          </a:prstGeom>
        </p:spPr>
      </p:pic>
      <p:sp>
        <p:nvSpPr>
          <p:cNvPr id="17" name="Retângulo 16"/>
          <p:cNvSpPr/>
          <p:nvPr/>
        </p:nvSpPr>
        <p:spPr>
          <a:xfrm>
            <a:off x="825086" y="4400261"/>
            <a:ext cx="5234520" cy="304742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exto explicativo retangular 17"/>
          <p:cNvSpPr/>
          <p:nvPr/>
        </p:nvSpPr>
        <p:spPr>
          <a:xfrm>
            <a:off x="5323060" y="4253924"/>
            <a:ext cx="3643954" cy="713861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Informe o responsável pela implementação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714" y="5836536"/>
            <a:ext cx="1371600" cy="476250"/>
          </a:xfrm>
          <a:prstGeom prst="rect">
            <a:avLst/>
          </a:prstGeom>
        </p:spPr>
      </p:pic>
      <p:sp>
        <p:nvSpPr>
          <p:cNvPr id="19" name="Retângulo 18"/>
          <p:cNvSpPr/>
          <p:nvPr/>
        </p:nvSpPr>
        <p:spPr>
          <a:xfrm>
            <a:off x="3928714" y="5913438"/>
            <a:ext cx="1371600" cy="39934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Texto explicativo retangular 19"/>
          <p:cNvSpPr/>
          <p:nvPr/>
        </p:nvSpPr>
        <p:spPr>
          <a:xfrm>
            <a:off x="6250965" y="5836536"/>
            <a:ext cx="2579135" cy="678426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novamente a opção &lt;Implementação&gt;</a:t>
            </a:r>
          </a:p>
        </p:txBody>
      </p:sp>
    </p:spTree>
    <p:extLst>
      <p:ext uri="{BB962C8B-B14F-4D97-AF65-F5344CB8AC3E}">
        <p14:creationId xmlns:p14="http://schemas.microsoft.com/office/powerpoint/2010/main" val="237860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Ferramenta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Jira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– Papel do Solicitante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77570" y="874168"/>
            <a:ext cx="4496382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dirty="0"/>
              <a:t>Caso sua mudança seja APROVADA </a:t>
            </a:r>
          </a:p>
          <a:p>
            <a:r>
              <a:rPr lang="pt-BR" sz="1600" dirty="0"/>
              <a:t>Como finalizar?</a:t>
            </a:r>
            <a:endParaRPr lang="pt-BR" sz="1600" i="1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70" y="1831217"/>
            <a:ext cx="4810125" cy="2076450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1106636" y="2554375"/>
            <a:ext cx="863349" cy="304742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o explicativo retangular 21"/>
          <p:cNvSpPr/>
          <p:nvPr/>
        </p:nvSpPr>
        <p:spPr>
          <a:xfrm>
            <a:off x="3614815" y="2554375"/>
            <a:ext cx="3643954" cy="578300"/>
          </a:xfrm>
          <a:prstGeom prst="wedgeRectCallout">
            <a:avLst>
              <a:gd name="adj1" fmla="val -101987"/>
              <a:gd name="adj2" fmla="val -686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Selecione a opção &lt;Resolver&gt; para finalizar a RFC</a:t>
            </a:r>
          </a:p>
        </p:txBody>
      </p:sp>
    </p:spTree>
    <p:extLst>
      <p:ext uri="{BB962C8B-B14F-4D97-AF65-F5344CB8AC3E}">
        <p14:creationId xmlns:p14="http://schemas.microsoft.com/office/powerpoint/2010/main" val="671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 e Artefatos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Papéis e Responsabilidade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Ferramenta </a:t>
            </a:r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Jira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77814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2718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Gerenciamento de Mudanças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3114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Tânia Ferro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André Santos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Dias</a:t>
              </a: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3848473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/>
                <a:t>Analista de Mudanças (Smiles)</a:t>
              </a:r>
              <a:r>
                <a:rPr lang="pt-BR" sz="1400" dirty="0"/>
                <a:t> </a:t>
              </a:r>
            </a:p>
            <a:p>
              <a:r>
                <a:rPr lang="pt-BR" sz="1400" dirty="0"/>
                <a:t>Daniel Braga</a:t>
              </a:r>
            </a:p>
            <a:p>
              <a:r>
                <a:rPr lang="pt-BR" sz="1400" dirty="0"/>
                <a:t>Daniel </a:t>
              </a:r>
              <a:r>
                <a:rPr lang="pt-BR" sz="1400" dirty="0" err="1"/>
                <a:t>Mizobuchi</a:t>
              </a:r>
              <a:endParaRPr lang="pt-BR" sz="1400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3910249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/>
                <a:t>Gerente de Governança de TI (</a:t>
              </a:r>
              <a:r>
                <a:rPr lang="pt-BR" sz="1400" b="1" dirty="0" err="1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/>
                <a:t>Rodrigo </a:t>
              </a:r>
              <a:r>
                <a:rPr lang="pt-BR" sz="1400" dirty="0" err="1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5181</TotalTime>
  <Words>1591</Words>
  <Application>Microsoft Office PowerPoint</Application>
  <PresentationFormat>Personalizar</PresentationFormat>
  <Paragraphs>239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Courier New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Luiz Rabello</cp:lastModifiedBy>
  <cp:revision>4</cp:revision>
  <dcterms:created xsi:type="dcterms:W3CDTF">2014-01-24T21:35:00Z</dcterms:created>
  <dcterms:modified xsi:type="dcterms:W3CDTF">2017-01-03T16:55:54Z</dcterms:modified>
</cp:coreProperties>
</file>