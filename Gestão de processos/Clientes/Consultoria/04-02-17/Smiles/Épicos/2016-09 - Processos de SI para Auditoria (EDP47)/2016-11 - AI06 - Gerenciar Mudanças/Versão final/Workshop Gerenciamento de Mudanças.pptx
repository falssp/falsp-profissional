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339" r:id="rId3"/>
    <p:sldId id="397" r:id="rId4"/>
    <p:sldId id="413" r:id="rId5"/>
    <p:sldId id="414" r:id="rId6"/>
    <p:sldId id="415" r:id="rId7"/>
    <p:sldId id="391" r:id="rId8"/>
    <p:sldId id="416" r:id="rId9"/>
    <p:sldId id="392" r:id="rId10"/>
    <p:sldId id="393" r:id="rId11"/>
    <p:sldId id="417" r:id="rId12"/>
    <p:sldId id="412" r:id="rId13"/>
    <p:sldId id="418" r:id="rId14"/>
    <p:sldId id="406" r:id="rId1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25" userDrawn="1">
          <p15:clr>
            <a:srgbClr val="A4A3A4"/>
          </p15:clr>
        </p15:guide>
        <p15:guide id="2" pos="32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24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40" y="78"/>
      </p:cViewPr>
      <p:guideLst>
        <p:guide orient="horz" pos="3725"/>
        <p:guide pos="32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06/01/2017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1/6/2017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1/6/2017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1/6/2017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1/6/2017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1/6/2017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1/6/2017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1/6/2017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1/6/2017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1/6/2017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1/6/2017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1/6/2017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1/6/2017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Resultado de imagem para gerenciamento de mudanças iti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32" y="4202724"/>
            <a:ext cx="4025929" cy="2682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/>
          <p:nvPr/>
        </p:nvSpPr>
        <p:spPr>
          <a:xfrm>
            <a:off x="-26504" y="-27000"/>
            <a:ext cx="6408000" cy="6912000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322" y="2910000"/>
            <a:ext cx="2412841" cy="861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449" y="2438000"/>
            <a:ext cx="5959283" cy="4424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Gerenciamento de </a:t>
            </a:r>
            <a:r>
              <a:rPr lang="pt-BR" sz="4000" b="1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Mudanças</a:t>
            </a:r>
          </a:p>
          <a:p>
            <a:pPr marL="72000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Workshop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para implantação do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processo de Gerenciamento de Mudanças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6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06.Jan.2017</a:t>
            </a:r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en-US" sz="105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1</a:t>
            </a:r>
            <a:endParaRPr lang="en-US" sz="105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759" y="140070"/>
            <a:ext cx="1591323" cy="8406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428957" y="176296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Benefícios 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428957" y="279607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de Mudanças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428957" y="382919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Comitês – CAB e ECAB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7" name="Retângulo de cantos arredondados 9"/>
          <p:cNvSpPr/>
          <p:nvPr/>
        </p:nvSpPr>
        <p:spPr>
          <a:xfrm>
            <a:off x="4428957" y="4732774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Operação Assistida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8"/>
          <p:cNvSpPr/>
          <p:nvPr/>
        </p:nvSpPr>
        <p:spPr>
          <a:xfrm>
            <a:off x="4428957" y="843310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 e Escopo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5" name="Retângulo de cantos arredondados 9"/>
          <p:cNvSpPr/>
          <p:nvPr/>
        </p:nvSpPr>
        <p:spPr>
          <a:xfrm>
            <a:off x="4428957" y="56363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Dicas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997" y="6664320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Objetivo e Escopo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5" name="Agrupar 4"/>
          <p:cNvGrpSpPr/>
          <p:nvPr/>
        </p:nvGrpSpPr>
        <p:grpSpPr>
          <a:xfrm>
            <a:off x="412741" y="925334"/>
            <a:ext cx="9231937" cy="900000"/>
            <a:chOff x="372984" y="1165964"/>
            <a:chExt cx="9231937" cy="900000"/>
          </a:xfrm>
        </p:grpSpPr>
        <p:sp>
          <p:nvSpPr>
            <p:cNvPr id="14" name="Retângulo 13"/>
            <p:cNvSpPr/>
            <p:nvPr/>
          </p:nvSpPr>
          <p:spPr>
            <a:xfrm>
              <a:off x="1653996" y="1165964"/>
              <a:ext cx="7950925" cy="9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1400" dirty="0" smtClean="0">
                  <a:solidFill>
                    <a:schemeClr val="tx1"/>
                  </a:solidFill>
                </a:rPr>
                <a:t>Este processo tem como objetivo garantir </a:t>
              </a:r>
              <a:r>
                <a:rPr lang="pt-BR" sz="1400" dirty="0">
                  <a:solidFill>
                    <a:schemeClr val="tx1"/>
                  </a:solidFill>
                </a:rPr>
                <a:t>que todas as mudanças serão registradas, avaliadas, autorizadas, priorizadas, planejadas, testadas, implementadas, documentadas e revisadas de maneira padronizada e controlada, reduzindo assim impacto e risco ao negócio da </a:t>
              </a:r>
              <a:r>
                <a:rPr lang="pt-BR" sz="1400" b="1" dirty="0" err="1">
                  <a:solidFill>
                    <a:schemeClr val="accent6"/>
                  </a:solidFill>
                </a:rPr>
                <a:t>Smiles</a:t>
              </a:r>
              <a:r>
                <a:rPr lang="pt-BR" sz="1400" dirty="0">
                  <a:solidFill>
                    <a:schemeClr val="tx1"/>
                  </a:solidFill>
                </a:rPr>
                <a:t>. </a:t>
              </a:r>
            </a:p>
          </p:txBody>
        </p:sp>
        <p:sp>
          <p:nvSpPr>
            <p:cNvPr id="15" name="Retângulo de cantos arredondados 14"/>
            <p:cNvSpPr/>
            <p:nvPr/>
          </p:nvSpPr>
          <p:spPr>
            <a:xfrm>
              <a:off x="372984" y="1165964"/>
              <a:ext cx="1281013" cy="9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Objetivo</a:t>
              </a:r>
              <a:endParaRPr lang="pt-BR" sz="1600" i="1" dirty="0"/>
            </a:p>
          </p:txBody>
        </p:sp>
      </p:grpSp>
      <p:sp>
        <p:nvSpPr>
          <p:cNvPr id="16" name="Seta: para a Direita 15"/>
          <p:cNvSpPr/>
          <p:nvPr/>
        </p:nvSpPr>
        <p:spPr>
          <a:xfrm rot="5400000">
            <a:off x="9197416" y="1811887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 descr="http://lanuevaeconomia.com/wp-content/uploads/2012/05/Objetivos-de-una-empresa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2878" y="4964430"/>
            <a:ext cx="3111500" cy="189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Agrupar 3"/>
          <p:cNvGrpSpPr/>
          <p:nvPr/>
        </p:nvGrpSpPr>
        <p:grpSpPr>
          <a:xfrm>
            <a:off x="1693753" y="2301274"/>
            <a:ext cx="7950925" cy="900000"/>
            <a:chOff x="1653996" y="2480605"/>
            <a:chExt cx="7950925" cy="1080000"/>
          </a:xfrm>
        </p:grpSpPr>
        <p:sp>
          <p:nvSpPr>
            <p:cNvPr id="18" name="Retângulo 17"/>
            <p:cNvSpPr/>
            <p:nvPr/>
          </p:nvSpPr>
          <p:spPr>
            <a:xfrm>
              <a:off x="2935008" y="2480605"/>
              <a:ext cx="6669913" cy="10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1400" dirty="0">
                  <a:solidFill>
                    <a:schemeClr val="tx1"/>
                  </a:solidFill>
                </a:rPr>
                <a:t>O escopo do processo de Gerenciamento de Mudanças cobre qualquer adição, modificação ou remoção de componente do serviço no ambiente de </a:t>
              </a:r>
              <a:r>
                <a:rPr lang="pt-BR" sz="1400" dirty="0" smtClean="0">
                  <a:solidFill>
                    <a:schemeClr val="tx1"/>
                  </a:solidFill>
                </a:rPr>
                <a:t>produção </a:t>
              </a:r>
              <a:r>
                <a:rPr lang="pt-BR" sz="1400" dirty="0">
                  <a:solidFill>
                    <a:schemeClr val="tx1"/>
                  </a:solidFill>
                </a:rPr>
                <a:t>da </a:t>
              </a:r>
              <a:r>
                <a:rPr lang="pt-BR" sz="1400" b="1" dirty="0" err="1">
                  <a:solidFill>
                    <a:schemeClr val="accent6"/>
                  </a:solidFill>
                </a:rPr>
                <a:t>Smiles</a:t>
              </a:r>
              <a:r>
                <a:rPr lang="pt-BR" sz="1400" dirty="0">
                  <a:solidFill>
                    <a:schemeClr val="tx1"/>
                  </a:solidFill>
                </a:rPr>
                <a:t>. </a:t>
              </a:r>
            </a:p>
          </p:txBody>
        </p:sp>
        <p:sp>
          <p:nvSpPr>
            <p:cNvPr id="19" name="Retângulo de cantos arredondados 14"/>
            <p:cNvSpPr/>
            <p:nvPr/>
          </p:nvSpPr>
          <p:spPr>
            <a:xfrm>
              <a:off x="1653996" y="2480605"/>
              <a:ext cx="1281013" cy="108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Escopo</a:t>
              </a:r>
              <a:endParaRPr lang="pt-BR" sz="1600" i="1" dirty="0"/>
            </a:p>
          </p:txBody>
        </p:sp>
      </p:grpSp>
      <p:grpSp>
        <p:nvGrpSpPr>
          <p:cNvPr id="29" name="Agrupar 2"/>
          <p:cNvGrpSpPr/>
          <p:nvPr/>
        </p:nvGrpSpPr>
        <p:grpSpPr>
          <a:xfrm>
            <a:off x="2951529" y="3440099"/>
            <a:ext cx="6669913" cy="576000"/>
            <a:chOff x="2935009" y="3795246"/>
            <a:chExt cx="6669913" cy="900000"/>
          </a:xfrm>
        </p:grpSpPr>
        <p:sp>
          <p:nvSpPr>
            <p:cNvPr id="30" name="Retângulo 29"/>
            <p:cNvSpPr/>
            <p:nvPr/>
          </p:nvSpPr>
          <p:spPr>
            <a:xfrm>
              <a:off x="4216022" y="3795246"/>
              <a:ext cx="5388900" cy="90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 smtClean="0">
                  <a:solidFill>
                    <a:schemeClr val="tx1"/>
                  </a:solidFill>
                </a:rPr>
                <a:t>com </a:t>
              </a:r>
              <a:r>
                <a:rPr lang="pt-BR" sz="1300" dirty="0">
                  <a:solidFill>
                    <a:schemeClr val="tx1"/>
                  </a:solidFill>
                </a:rPr>
                <a:t>risco baixo, relativamente comum e que segue um procedimento ou instrução de trabalho</a:t>
              </a:r>
              <a:r>
                <a:rPr lang="pt-BR" sz="1300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31" name="Retângulo de cantos arredondados 14"/>
            <p:cNvSpPr/>
            <p:nvPr/>
          </p:nvSpPr>
          <p:spPr>
            <a:xfrm>
              <a:off x="2935009" y="3795246"/>
              <a:ext cx="1281013" cy="90000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Pré-aprovada</a:t>
              </a:r>
            </a:p>
          </p:txBody>
        </p:sp>
      </p:grpSp>
      <p:grpSp>
        <p:nvGrpSpPr>
          <p:cNvPr id="38" name="Agrupar 2"/>
          <p:cNvGrpSpPr/>
          <p:nvPr/>
        </p:nvGrpSpPr>
        <p:grpSpPr>
          <a:xfrm>
            <a:off x="2949743" y="4121001"/>
            <a:ext cx="6669913" cy="648000"/>
            <a:chOff x="2935009" y="3795246"/>
            <a:chExt cx="6669913" cy="648000"/>
          </a:xfrm>
        </p:grpSpPr>
        <p:sp>
          <p:nvSpPr>
            <p:cNvPr id="39" name="Retângulo 38"/>
            <p:cNvSpPr/>
            <p:nvPr/>
          </p:nvSpPr>
          <p:spPr>
            <a:xfrm>
              <a:off x="4216022" y="3795246"/>
              <a:ext cx="5388900" cy="64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>
                  <a:solidFill>
                    <a:schemeClr val="tx1"/>
                  </a:solidFill>
                </a:rPr>
                <a:t>apresenta riscos desconhecidos e segue procedimentos ou instruções de trabalho não padronizado</a:t>
              </a:r>
              <a:r>
                <a:rPr lang="pt-BR" sz="1300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40" name="Retângulo de cantos arredondados 14"/>
            <p:cNvSpPr/>
            <p:nvPr/>
          </p:nvSpPr>
          <p:spPr>
            <a:xfrm>
              <a:off x="2935009" y="3795246"/>
              <a:ext cx="1281013" cy="64800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Normal</a:t>
              </a:r>
            </a:p>
          </p:txBody>
        </p:sp>
      </p:grpSp>
      <p:grpSp>
        <p:nvGrpSpPr>
          <p:cNvPr id="41" name="Agrupar 2"/>
          <p:cNvGrpSpPr/>
          <p:nvPr/>
        </p:nvGrpSpPr>
        <p:grpSpPr>
          <a:xfrm>
            <a:off x="2938368" y="4873903"/>
            <a:ext cx="6669913" cy="792000"/>
            <a:chOff x="2935009" y="3795246"/>
            <a:chExt cx="6669913" cy="792000"/>
          </a:xfrm>
        </p:grpSpPr>
        <p:sp>
          <p:nvSpPr>
            <p:cNvPr id="42" name="Retângulo 41"/>
            <p:cNvSpPr/>
            <p:nvPr/>
          </p:nvSpPr>
          <p:spPr>
            <a:xfrm>
              <a:off x="4216022" y="3795246"/>
              <a:ext cx="5388900" cy="79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>
                  <a:solidFill>
                    <a:schemeClr val="tx1"/>
                  </a:solidFill>
                </a:rPr>
                <a:t>não foi emitida no prazo para ser analisada pelo (CAB) </a:t>
              </a:r>
              <a:r>
                <a:rPr lang="pt-BR" sz="1300" dirty="0" smtClean="0">
                  <a:solidFill>
                    <a:schemeClr val="tx1"/>
                  </a:solidFill>
                </a:rPr>
                <a:t>e pode ou não </a:t>
              </a:r>
              <a:r>
                <a:rPr lang="pt-BR" sz="1300" dirty="0">
                  <a:solidFill>
                    <a:schemeClr val="tx1"/>
                  </a:solidFill>
                </a:rPr>
                <a:t>está associada a um Incidente de alto impacto “</a:t>
              </a:r>
              <a:r>
                <a:rPr lang="pt-BR" sz="1300" i="1" dirty="0" err="1">
                  <a:solidFill>
                    <a:schemeClr val="tx1"/>
                  </a:solidFill>
                </a:rPr>
                <a:t>Blocker</a:t>
              </a:r>
              <a:r>
                <a:rPr lang="pt-BR" sz="1300" dirty="0">
                  <a:solidFill>
                    <a:schemeClr val="tx1"/>
                  </a:solidFill>
                </a:rPr>
                <a:t>”, porém precisa ser executada na data definida, para evitar que ocorra algum impacto ao negócio</a:t>
              </a:r>
              <a:r>
                <a:rPr lang="pt-BR" sz="1300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43" name="Retângulo de cantos arredondados 14"/>
            <p:cNvSpPr/>
            <p:nvPr/>
          </p:nvSpPr>
          <p:spPr>
            <a:xfrm>
              <a:off x="2935009" y="3795246"/>
              <a:ext cx="1281013" cy="79200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Emergencial</a:t>
              </a:r>
            </a:p>
          </p:txBody>
        </p:sp>
      </p:grpSp>
      <p:grpSp>
        <p:nvGrpSpPr>
          <p:cNvPr id="44" name="Agrupar 2"/>
          <p:cNvGrpSpPr/>
          <p:nvPr/>
        </p:nvGrpSpPr>
        <p:grpSpPr>
          <a:xfrm>
            <a:off x="2940640" y="5804228"/>
            <a:ext cx="6669913" cy="974408"/>
            <a:chOff x="2935009" y="3795245"/>
            <a:chExt cx="6669913" cy="860091"/>
          </a:xfrm>
        </p:grpSpPr>
        <p:sp>
          <p:nvSpPr>
            <p:cNvPr id="45" name="Retângulo 44"/>
            <p:cNvSpPr/>
            <p:nvPr/>
          </p:nvSpPr>
          <p:spPr>
            <a:xfrm>
              <a:off x="4216022" y="3795245"/>
              <a:ext cx="5388900" cy="8600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 smtClean="0">
                  <a:solidFill>
                    <a:schemeClr val="tx1"/>
                  </a:solidFill>
                </a:rPr>
                <a:t>toda RFC  </a:t>
              </a:r>
              <a:r>
                <a:rPr lang="pt-BR" sz="1300" dirty="0">
                  <a:solidFill>
                    <a:schemeClr val="tx1"/>
                  </a:solidFill>
                </a:rPr>
                <a:t>que a </a:t>
              </a:r>
              <a:r>
                <a:rPr lang="pt-BR" sz="1300" dirty="0" err="1">
                  <a:solidFill>
                    <a:schemeClr val="tx1"/>
                  </a:solidFill>
                </a:rPr>
                <a:t>Smiles</a:t>
              </a:r>
              <a:r>
                <a:rPr lang="pt-BR" sz="1300" dirty="0">
                  <a:solidFill>
                    <a:schemeClr val="tx1"/>
                  </a:solidFill>
                </a:rPr>
                <a:t> não tem autonomia para aprovação, apena precisa ter ciência da sua execução</a:t>
              </a:r>
              <a:r>
                <a:rPr lang="pt-BR" sz="1300" dirty="0" smtClean="0">
                  <a:solidFill>
                    <a:schemeClr val="tx1"/>
                  </a:solidFill>
                </a:rPr>
                <a:t>.</a:t>
              </a:r>
              <a:endParaRPr lang="pt-BR" sz="14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46" name="Retângulo de cantos arredondados 14"/>
            <p:cNvSpPr/>
            <p:nvPr/>
          </p:nvSpPr>
          <p:spPr>
            <a:xfrm>
              <a:off x="2935009" y="3795245"/>
              <a:ext cx="1281013" cy="860091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Informativa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9717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428957" y="1762962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Benefícios 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428957" y="279607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de Mudanças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428957" y="382919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Comitês – CAB e ECAB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7" name="Retângulo de cantos arredondados 9"/>
          <p:cNvSpPr/>
          <p:nvPr/>
        </p:nvSpPr>
        <p:spPr>
          <a:xfrm>
            <a:off x="4428957" y="4732774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Operação Assistida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8"/>
          <p:cNvSpPr/>
          <p:nvPr/>
        </p:nvSpPr>
        <p:spPr>
          <a:xfrm>
            <a:off x="4428957" y="843310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 e Escopo</a:t>
            </a:r>
          </a:p>
        </p:txBody>
      </p:sp>
      <p:sp>
        <p:nvSpPr>
          <p:cNvPr id="15" name="Retângulo de cantos arredondados 9"/>
          <p:cNvSpPr/>
          <p:nvPr/>
        </p:nvSpPr>
        <p:spPr>
          <a:xfrm>
            <a:off x="4428957" y="56363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Dicas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46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Benefícios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33" name="Retângulo 32"/>
          <p:cNvSpPr/>
          <p:nvPr/>
        </p:nvSpPr>
        <p:spPr>
          <a:xfrm>
            <a:off x="334157" y="897571"/>
            <a:ext cx="9132462" cy="540000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Aprovação das </a:t>
            </a:r>
            <a:r>
              <a:rPr lang="pt-BR" dirty="0" err="1" smtClean="0"/>
              <a:t>RFC´s</a:t>
            </a:r>
            <a:r>
              <a:rPr lang="pt-BR" dirty="0" smtClean="0"/>
              <a:t> na ferramenta JIRA.</a:t>
            </a:r>
          </a:p>
          <a:p>
            <a:pPr algn="ctr"/>
            <a:r>
              <a:rPr lang="pt-BR" b="1" dirty="0" smtClean="0"/>
              <a:t>Rastreabilidade dos aprovadores. Atender requisitos da auditoria.</a:t>
            </a: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3" name="Retângulo 12"/>
          <p:cNvSpPr/>
          <p:nvPr/>
        </p:nvSpPr>
        <p:spPr>
          <a:xfrm>
            <a:off x="319130" y="1595300"/>
            <a:ext cx="9132462" cy="540000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Fluxo de aprovação por categoria (Normal, Emergencial, Informativa e Pré-aprovada).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9130" y="2302147"/>
            <a:ext cx="9132462" cy="540000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Normal – obrigatório aprovação das áreas especializadas.</a:t>
            </a:r>
          </a:p>
          <a:p>
            <a:pPr algn="ctr"/>
            <a:r>
              <a:rPr lang="pt-BR" b="1" dirty="0" smtClean="0"/>
              <a:t>Mitigar o risco ao ambiente de produção.</a:t>
            </a:r>
            <a:endParaRPr lang="pt-BR" b="1" dirty="0"/>
          </a:p>
        </p:txBody>
      </p:sp>
      <p:sp>
        <p:nvSpPr>
          <p:cNvPr id="17" name="Retângulo 16"/>
          <p:cNvSpPr/>
          <p:nvPr/>
        </p:nvSpPr>
        <p:spPr>
          <a:xfrm>
            <a:off x="329861" y="3039279"/>
            <a:ext cx="9132462" cy="540000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Emergencial – obrigatório aprovação (Gestor Solicitante, Operações de TI e Diretor de TI).</a:t>
            </a:r>
          </a:p>
          <a:p>
            <a:pPr algn="ctr"/>
            <a:r>
              <a:rPr lang="pt-BR" b="1" dirty="0" smtClean="0"/>
              <a:t>Reduzir a quantidade de RFC Emergencial e mitigar o risco ao ambiente de produção.</a:t>
            </a:r>
            <a:endParaRPr lang="pt-BR" b="1" dirty="0"/>
          </a:p>
        </p:txBody>
      </p:sp>
      <p:sp>
        <p:nvSpPr>
          <p:cNvPr id="19" name="Retângulo 18"/>
          <p:cNvSpPr/>
          <p:nvPr/>
        </p:nvSpPr>
        <p:spPr>
          <a:xfrm>
            <a:off x="349184" y="3774877"/>
            <a:ext cx="9132462" cy="540000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Informativa ou Pré-aprovada – obrigatório aprovação da equipe de Ger. de Mudanças.</a:t>
            </a:r>
          </a:p>
          <a:p>
            <a:pPr algn="ctr"/>
            <a:r>
              <a:rPr lang="pt-BR" b="1" dirty="0" smtClean="0"/>
              <a:t>Agilizar o processo de aprovação das </a:t>
            </a:r>
            <a:r>
              <a:rPr lang="pt-BR" b="1" dirty="0" err="1" smtClean="0"/>
              <a:t>RFC´s</a:t>
            </a:r>
            <a:r>
              <a:rPr lang="pt-BR" b="1" dirty="0" smtClean="0"/>
              <a:t> sem risco ou impacto ao negócio.</a:t>
            </a:r>
            <a:endParaRPr lang="pt-BR" b="1" dirty="0"/>
          </a:p>
        </p:txBody>
      </p:sp>
      <p:sp>
        <p:nvSpPr>
          <p:cNvPr id="20" name="Retângulo 19"/>
          <p:cNvSpPr/>
          <p:nvPr/>
        </p:nvSpPr>
        <p:spPr>
          <a:xfrm>
            <a:off x="321279" y="4499144"/>
            <a:ext cx="9132462" cy="540000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/>
              <a:t>Dashboard</a:t>
            </a:r>
            <a:r>
              <a:rPr lang="pt-BR" dirty="0" smtClean="0"/>
              <a:t> do processo na ferramenta JIRA.</a:t>
            </a:r>
            <a:endParaRPr lang="pt-BR" b="1" dirty="0" smtClean="0"/>
          </a:p>
          <a:p>
            <a:pPr algn="ctr"/>
            <a:r>
              <a:rPr lang="pt-BR" b="1" dirty="0" smtClean="0"/>
              <a:t>Melhorar a análise dos indicadores, com o objetivo de propor melhorias ao processo.</a:t>
            </a:r>
            <a:endParaRPr lang="pt-BR" dirty="0" smtClean="0"/>
          </a:p>
        </p:txBody>
      </p:sp>
      <p:sp>
        <p:nvSpPr>
          <p:cNvPr id="14" name="Retângulo 13"/>
          <p:cNvSpPr/>
          <p:nvPr/>
        </p:nvSpPr>
        <p:spPr>
          <a:xfrm>
            <a:off x="309903" y="5238399"/>
            <a:ext cx="9132462" cy="540000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Ata de Reunião do CAB no </a:t>
            </a:r>
            <a:r>
              <a:rPr lang="pt-BR" dirty="0" err="1" smtClean="0"/>
              <a:t>Confluence</a:t>
            </a:r>
            <a:r>
              <a:rPr lang="pt-BR" dirty="0" smtClean="0"/>
              <a:t>.</a:t>
            </a:r>
            <a:endParaRPr lang="pt-BR" b="1" dirty="0" smtClean="0"/>
          </a:p>
          <a:p>
            <a:pPr algn="ctr"/>
            <a:r>
              <a:rPr lang="pt-BR" b="1" dirty="0" smtClean="0"/>
              <a:t>Rastreabilidade das atas de reuniões do CAB. Atender requisitos de auditoria</a:t>
            </a:r>
            <a:endParaRPr lang="pt-BR" dirty="0" smtClean="0"/>
          </a:p>
        </p:txBody>
      </p:sp>
      <p:sp>
        <p:nvSpPr>
          <p:cNvPr id="18" name="Retângulo 17"/>
          <p:cNvSpPr/>
          <p:nvPr/>
        </p:nvSpPr>
        <p:spPr>
          <a:xfrm>
            <a:off x="312175" y="5936715"/>
            <a:ext cx="9132462" cy="540000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Processo atualizado e publicado no </a:t>
            </a:r>
            <a:r>
              <a:rPr lang="pt-BR" dirty="0" err="1" smtClean="0"/>
              <a:t>Confluence</a:t>
            </a:r>
            <a:r>
              <a:rPr lang="pt-BR" dirty="0" smtClean="0"/>
              <a:t>.</a:t>
            </a:r>
            <a:endParaRPr lang="pt-BR" b="1" dirty="0" smtClean="0"/>
          </a:p>
          <a:p>
            <a:pPr algn="ctr"/>
            <a:r>
              <a:rPr lang="pt-BR" b="1" dirty="0" smtClean="0"/>
              <a:t>Atender requisitos de auditoria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710709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13" grpId="0" animBg="1"/>
      <p:bldP spid="16" grpId="0" animBg="1"/>
      <p:bldP spid="17" grpId="0" animBg="1"/>
      <p:bldP spid="19" grpId="0" animBg="1"/>
      <p:bldP spid="20" grpId="0" animBg="1"/>
      <p:bldP spid="14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428957" y="176296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Benefícios 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428957" y="2796079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de Mudanças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428957" y="382919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Comitês – CAB e ECAB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7" name="Retângulo de cantos arredondados 9"/>
          <p:cNvSpPr/>
          <p:nvPr/>
        </p:nvSpPr>
        <p:spPr>
          <a:xfrm>
            <a:off x="4428957" y="4732774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Operação Assistida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8"/>
          <p:cNvSpPr/>
          <p:nvPr/>
        </p:nvSpPr>
        <p:spPr>
          <a:xfrm>
            <a:off x="4428957" y="843310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 e Escopo</a:t>
            </a:r>
          </a:p>
        </p:txBody>
      </p:sp>
      <p:sp>
        <p:nvSpPr>
          <p:cNvPr id="15" name="Retângulo de cantos arredondados 9"/>
          <p:cNvSpPr/>
          <p:nvPr/>
        </p:nvSpPr>
        <p:spPr>
          <a:xfrm>
            <a:off x="4428957" y="56363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Dicas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49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Equipe de Gerenciamento de Mudanças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32" name="Agrupar 4"/>
          <p:cNvGrpSpPr/>
          <p:nvPr/>
        </p:nvGrpSpPr>
        <p:grpSpPr>
          <a:xfrm>
            <a:off x="412741" y="880228"/>
            <a:ext cx="9231937" cy="3896488"/>
            <a:chOff x="372984" y="1165964"/>
            <a:chExt cx="9231937" cy="3600000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Garantir que o processo seja executado segundo as diretrizes estabelecidas e operacionalizado com eficiência e eficácia, para alcançar os Indicadores de Desempenho</a:t>
              </a: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Analisar todas as RFC e classificá-las conforme o risco e impacto ao negócio</a:t>
              </a: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Convocar os participantes, criar e enviar a pauta e a ata de reunião do CAB</a:t>
              </a: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Analisar e deliberar todas as </a:t>
              </a:r>
              <a:r>
                <a:rPr lang="pt-BR" sz="1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RFC´s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de categoria </a:t>
              </a: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Pré-aprovada e Informativa.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Solicitar deliberação para todas as </a:t>
              </a:r>
              <a:r>
                <a:rPr lang="pt-BR" sz="1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RFC´s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de categoria Emergencial</a:t>
              </a: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Enviar comunicados de indisponibilidade para os clientes afetados, caso ocorra necessidade</a:t>
              </a: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.</a:t>
              </a: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Revisar todas as </a:t>
              </a:r>
              <a:r>
                <a:rPr lang="pt-BR" sz="1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RFC´s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após a sua </a:t>
              </a: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execução e fechar com ou sem sucesso.</a:t>
              </a: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Equipe de Ger. de  Mudanças</a:t>
              </a:r>
              <a:r>
                <a:rPr lang="pt-BR" dirty="0" smtClean="0"/>
                <a:t> </a:t>
              </a:r>
              <a:endParaRPr lang="pt-BR" i="1" dirty="0"/>
            </a:p>
          </p:txBody>
        </p:sp>
      </p:grpSp>
      <p:pic>
        <p:nvPicPr>
          <p:cNvPr id="12" name="Picture 2" descr="http://www.atsconline.com/images/icon-employee.png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032"/>
          <a:stretch/>
        </p:blipFill>
        <p:spPr bwMode="auto">
          <a:xfrm>
            <a:off x="8052179" y="5161279"/>
            <a:ext cx="1507101" cy="1370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://www.atsconline.com/images/icon-employee.png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032"/>
          <a:stretch/>
        </p:blipFill>
        <p:spPr bwMode="auto">
          <a:xfrm>
            <a:off x="7298628" y="4906317"/>
            <a:ext cx="1507101" cy="1370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6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428957" y="176296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Benefícios 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428957" y="279607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de Mudanças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428957" y="3829196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Comitês – CAB e ECAB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7" name="Retângulo de cantos arredondados 9"/>
          <p:cNvSpPr/>
          <p:nvPr/>
        </p:nvSpPr>
        <p:spPr>
          <a:xfrm>
            <a:off x="4428957" y="4732774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Operação Assistida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8"/>
          <p:cNvSpPr/>
          <p:nvPr/>
        </p:nvSpPr>
        <p:spPr>
          <a:xfrm>
            <a:off x="4428957" y="843310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 e Escopo</a:t>
            </a:r>
          </a:p>
        </p:txBody>
      </p:sp>
      <p:sp>
        <p:nvSpPr>
          <p:cNvPr id="15" name="Retângulo de cantos arredondados 9"/>
          <p:cNvSpPr/>
          <p:nvPr/>
        </p:nvSpPr>
        <p:spPr>
          <a:xfrm>
            <a:off x="4428957" y="56363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Dicas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49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Comitê Consultivo de Mudanças (CAB)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32" name="Agrupar 4"/>
          <p:cNvGrpSpPr/>
          <p:nvPr/>
        </p:nvGrpSpPr>
        <p:grpSpPr>
          <a:xfrm>
            <a:off x="412741" y="880227"/>
            <a:ext cx="9231937" cy="5614633"/>
            <a:chOff x="372984" y="1165964"/>
            <a:chExt cx="9231937" cy="3600000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 smtClean="0">
                  <a:solidFill>
                    <a:schemeClr val="tx1"/>
                  </a:solidFill>
                </a:rPr>
                <a:t>Toda RFC </a:t>
              </a:r>
              <a:r>
                <a:rPr lang="pt-BR" sz="1600" dirty="0">
                  <a:solidFill>
                    <a:schemeClr val="tx1"/>
                  </a:solidFill>
                </a:rPr>
                <a:t>de categoria Normal deve ser aprovada pelo Comitê Consultivo de Mudanças (CAB) que será realizada toda quarta-feira, caso seja feriado, será no próximo dia útil. </a:t>
              </a:r>
              <a:endParaRPr lang="pt-BR" sz="1600" dirty="0" smtClean="0">
                <a:solidFill>
                  <a:schemeClr val="tx1"/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Deve ser enviada devidamente preenchida, com atividades, responsável, duração, plano de </a:t>
              </a:r>
              <a:r>
                <a:rPr lang="pt-BR" sz="1600" i="1" dirty="0" err="1" smtClean="0">
                  <a:solidFill>
                    <a:schemeClr val="tx1"/>
                  </a:solidFill>
                </a:rPr>
                <a:t>rollback</a:t>
              </a:r>
              <a:r>
                <a:rPr lang="pt-BR" sz="1600" dirty="0" smtClean="0">
                  <a:solidFill>
                    <a:schemeClr val="tx1"/>
                  </a:solidFill>
                </a:rPr>
                <a:t> </a:t>
              </a:r>
              <a:r>
                <a:rPr lang="pt-BR" sz="1600" dirty="0">
                  <a:solidFill>
                    <a:schemeClr val="tx1"/>
                  </a:solidFill>
                </a:rPr>
                <a:t>e evidências dos testes realizados até </a:t>
              </a:r>
              <a:r>
                <a:rPr lang="pt-BR" sz="1600" dirty="0" smtClean="0">
                  <a:solidFill>
                    <a:schemeClr val="tx1"/>
                  </a:solidFill>
                </a:rPr>
                <a:t>segunda-feira </a:t>
              </a:r>
              <a:r>
                <a:rPr lang="pt-BR" sz="1600" dirty="0">
                  <a:solidFill>
                    <a:schemeClr val="tx1"/>
                  </a:solidFill>
                </a:rPr>
                <a:t>às </a:t>
              </a:r>
              <a:r>
                <a:rPr lang="pt-BR" sz="1600" dirty="0" smtClean="0">
                  <a:solidFill>
                    <a:schemeClr val="tx1"/>
                  </a:solidFill>
                </a:rPr>
                <a:t>23:59 </a:t>
              </a:r>
              <a:r>
                <a:rPr lang="pt-BR" sz="1600" dirty="0">
                  <a:solidFill>
                    <a:schemeClr val="tx1"/>
                  </a:solidFill>
                </a:rPr>
                <a:t>horas, após este prazo será analisada na próxima reunião do Comitê Consultivo de Mudanças (CAB</a:t>
              </a:r>
              <a:r>
                <a:rPr lang="pt-BR" sz="1600" dirty="0" smtClean="0">
                  <a:solidFill>
                    <a:schemeClr val="tx1"/>
                  </a:solidFill>
                </a:rPr>
                <a:t>).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A sequência da apresentação e execução será definida pela ordem de envio</a:t>
              </a:r>
              <a:r>
                <a:rPr lang="pt-BR" sz="1600" dirty="0" smtClean="0">
                  <a:solidFill>
                    <a:schemeClr val="tx1"/>
                  </a:solidFill>
                </a:rPr>
                <a:t>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Antes da realização das reuniões do Comitê Consultivo de Mudanças (CAB), a área de Gerenciamento de Mudanças deve elaborar e divulgar uma pauta para todos os seus membros</a:t>
              </a:r>
              <a:r>
                <a:rPr lang="pt-BR" sz="1600" dirty="0" smtClean="0">
                  <a:solidFill>
                    <a:schemeClr val="tx1"/>
                  </a:solidFill>
                </a:rPr>
                <a:t>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Os membros fixos devem participar de todas as reuniões, em caso de ausência o participante deve delegar um representante. Caso ocorra ausência, o Gerente de Governança de TI deve reportar mensalmente ao Diretor de Tecnologia da Informação.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Na ausência do solicitante para apresentar a sua respectiva </a:t>
              </a:r>
              <a:r>
                <a:rPr lang="pt-BR" sz="1600" i="1" dirty="0" err="1">
                  <a:solidFill>
                    <a:schemeClr val="tx1"/>
                  </a:solidFill>
                </a:rPr>
                <a:t>Request</a:t>
              </a:r>
              <a:r>
                <a:rPr lang="pt-BR" sz="1600" i="1" dirty="0">
                  <a:solidFill>
                    <a:schemeClr val="tx1"/>
                  </a:solidFill>
                </a:rPr>
                <a:t> for </a:t>
              </a:r>
              <a:r>
                <a:rPr lang="pt-BR" sz="1600" i="1" dirty="0" err="1">
                  <a:solidFill>
                    <a:schemeClr val="tx1"/>
                  </a:solidFill>
                </a:rPr>
                <a:t>Change</a:t>
              </a:r>
              <a:r>
                <a:rPr lang="pt-BR" sz="1600" i="1" dirty="0">
                  <a:solidFill>
                    <a:schemeClr val="tx1"/>
                  </a:solidFill>
                </a:rPr>
                <a:t> </a:t>
              </a:r>
              <a:r>
                <a:rPr lang="pt-BR" sz="1600" dirty="0">
                  <a:solidFill>
                    <a:schemeClr val="tx1"/>
                  </a:solidFill>
                </a:rPr>
                <a:t>(RFC), a mesma será automaticamente reprovada</a:t>
              </a:r>
              <a:r>
                <a:rPr lang="pt-BR" sz="1600" dirty="0" smtClean="0">
                  <a:solidFill>
                    <a:schemeClr val="tx1"/>
                  </a:solidFill>
                </a:rPr>
                <a:t>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b="1" dirty="0" smtClean="0">
                  <a:solidFill>
                    <a:schemeClr val="tx1"/>
                  </a:solidFill>
                </a:rPr>
                <a:t>Membros: </a:t>
              </a:r>
              <a:r>
                <a:rPr lang="pt-BR" sz="1600" dirty="0" smtClean="0">
                  <a:solidFill>
                    <a:schemeClr val="tx1"/>
                  </a:solidFill>
                </a:rPr>
                <a:t>Operações de TI, Arquitetura, Infraestrutura, Fraude, Segurança da Informação, Governança de TI e Gestor demandante.</a:t>
              </a:r>
              <a:endParaRPr lang="pt-B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CAB</a:t>
              </a:r>
              <a:endParaRPr lang="pt-BR" i="1" dirty="0"/>
            </a:p>
          </p:txBody>
        </p:sp>
      </p:grp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384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Comitê Consultivo de Mudanças Emergenciais (ECAB)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32" name="Agrupar 4"/>
          <p:cNvGrpSpPr/>
          <p:nvPr/>
        </p:nvGrpSpPr>
        <p:grpSpPr>
          <a:xfrm>
            <a:off x="412741" y="880228"/>
            <a:ext cx="9231937" cy="2135927"/>
            <a:chOff x="372984" y="1165964"/>
            <a:chExt cx="9231937" cy="3600000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Toda </a:t>
              </a:r>
              <a:r>
                <a:rPr lang="pt-BR" sz="1600" i="1" dirty="0" err="1">
                  <a:solidFill>
                    <a:schemeClr val="tx1"/>
                  </a:solidFill>
                </a:rPr>
                <a:t>Request</a:t>
              </a:r>
              <a:r>
                <a:rPr lang="pt-BR" sz="1600" i="1" dirty="0">
                  <a:solidFill>
                    <a:schemeClr val="tx1"/>
                  </a:solidFill>
                </a:rPr>
                <a:t> for </a:t>
              </a:r>
              <a:r>
                <a:rPr lang="pt-BR" sz="1600" i="1" dirty="0" err="1">
                  <a:solidFill>
                    <a:schemeClr val="tx1"/>
                  </a:solidFill>
                </a:rPr>
                <a:t>Change</a:t>
              </a:r>
              <a:r>
                <a:rPr lang="pt-BR" sz="1600" i="1" dirty="0">
                  <a:solidFill>
                    <a:schemeClr val="tx1"/>
                  </a:solidFill>
                </a:rPr>
                <a:t> </a:t>
              </a:r>
              <a:r>
                <a:rPr lang="pt-BR" sz="1600" dirty="0">
                  <a:solidFill>
                    <a:schemeClr val="tx1"/>
                  </a:solidFill>
                </a:rPr>
                <a:t>(RFC) de categoria Emergencial deve ser aprovada pelo Comitê Consultivo de Mudanças Emergencial (ECAB) que será realizada sob demanda. </a:t>
              </a:r>
              <a:endParaRPr lang="pt-BR" sz="1600" dirty="0" smtClean="0">
                <a:solidFill>
                  <a:schemeClr val="tx1"/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Na ausência do solicitante para apresentar a sua respectiva </a:t>
              </a:r>
              <a:r>
                <a:rPr lang="pt-BR" sz="1600" i="1" dirty="0" err="1">
                  <a:solidFill>
                    <a:schemeClr val="tx1"/>
                  </a:solidFill>
                </a:rPr>
                <a:t>Request</a:t>
              </a:r>
              <a:r>
                <a:rPr lang="pt-BR" sz="1600" i="1" dirty="0">
                  <a:solidFill>
                    <a:schemeClr val="tx1"/>
                  </a:solidFill>
                </a:rPr>
                <a:t> for </a:t>
              </a:r>
              <a:r>
                <a:rPr lang="pt-BR" sz="1600" i="1" dirty="0" err="1">
                  <a:solidFill>
                    <a:schemeClr val="tx1"/>
                  </a:solidFill>
                </a:rPr>
                <a:t>Change</a:t>
              </a:r>
              <a:r>
                <a:rPr lang="pt-BR" sz="1600" i="1" dirty="0">
                  <a:solidFill>
                    <a:schemeClr val="tx1"/>
                  </a:solidFill>
                </a:rPr>
                <a:t> </a:t>
              </a:r>
              <a:r>
                <a:rPr lang="pt-BR" sz="1600" dirty="0">
                  <a:solidFill>
                    <a:schemeClr val="tx1"/>
                  </a:solidFill>
                </a:rPr>
                <a:t>(RFC), a mesma será automaticamente reprovada</a:t>
              </a:r>
              <a:r>
                <a:rPr lang="pt-BR" sz="1600" dirty="0" smtClean="0">
                  <a:solidFill>
                    <a:schemeClr val="tx1"/>
                  </a:solidFill>
                </a:rPr>
                <a:t>.</a:t>
              </a: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b="1" dirty="0" smtClean="0">
                  <a:solidFill>
                    <a:schemeClr val="tx1"/>
                  </a:solidFill>
                </a:rPr>
                <a:t>Membros: </a:t>
              </a:r>
              <a:r>
                <a:rPr lang="pt-BR" sz="1600" dirty="0" smtClean="0">
                  <a:solidFill>
                    <a:schemeClr val="tx1"/>
                  </a:solidFill>
                </a:rPr>
                <a:t>Diretor de TI, Gestor de Governança de TI, Coordenador de Operações e Gestor Demandante.</a:t>
              </a:r>
              <a:endParaRPr lang="pt-B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ECAB</a:t>
              </a:r>
              <a:endParaRPr lang="pt-BR" sz="1400" i="1" dirty="0"/>
            </a:p>
          </p:txBody>
        </p:sp>
      </p:grpSp>
      <p:pic>
        <p:nvPicPr>
          <p:cNvPr id="2050" name="Picture 2" descr="Resultado de imagem para reuniã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378405" y="3145756"/>
            <a:ext cx="4226517" cy="28176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1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428957" y="176296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Benefícios 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428957" y="279607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de Mudanças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428957" y="382919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Comitês – CAB e ECAB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7" name="Retângulo de cantos arredondados 9"/>
          <p:cNvSpPr/>
          <p:nvPr/>
        </p:nvSpPr>
        <p:spPr>
          <a:xfrm>
            <a:off x="4428957" y="4732774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Operação Assistida</a:t>
            </a:r>
          </a:p>
        </p:txBody>
      </p:sp>
      <p:sp>
        <p:nvSpPr>
          <p:cNvPr id="16" name="Retângulo de cantos arredondados 8"/>
          <p:cNvSpPr/>
          <p:nvPr/>
        </p:nvSpPr>
        <p:spPr>
          <a:xfrm>
            <a:off x="4428957" y="843310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 e Escopo</a:t>
            </a:r>
          </a:p>
        </p:txBody>
      </p:sp>
      <p:sp>
        <p:nvSpPr>
          <p:cNvPr id="15" name="Retângulo de cantos arredondados 9"/>
          <p:cNvSpPr/>
          <p:nvPr/>
        </p:nvSpPr>
        <p:spPr>
          <a:xfrm>
            <a:off x="4428957" y="56363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Dicas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81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Operação Assistida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9" name="Agrupar 4"/>
          <p:cNvGrpSpPr/>
          <p:nvPr/>
        </p:nvGrpSpPr>
        <p:grpSpPr>
          <a:xfrm>
            <a:off x="412741" y="1124929"/>
            <a:ext cx="9231937" cy="774197"/>
            <a:chOff x="372984" y="1165964"/>
            <a:chExt cx="9231937" cy="3600000"/>
          </a:xfrm>
        </p:grpSpPr>
        <p:sp>
          <p:nvSpPr>
            <p:cNvPr id="11" name="Retângulo 10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 smtClean="0">
                  <a:solidFill>
                    <a:schemeClr val="tx1"/>
                  </a:solidFill>
                </a:rPr>
                <a:t>06/01/2017 </a:t>
              </a:r>
              <a:r>
                <a:rPr lang="pt-BR" sz="1600" dirty="0" smtClean="0">
                  <a:solidFill>
                    <a:schemeClr val="tx1"/>
                  </a:solidFill>
                </a:rPr>
                <a:t>até 13/01/2017</a:t>
              </a:r>
              <a:endParaRPr lang="pt-BR" sz="1600" dirty="0">
                <a:solidFill>
                  <a:schemeClr val="tx1"/>
                </a:solidFill>
              </a:endParaRPr>
            </a:p>
          </p:txBody>
        </p:sp>
        <p:sp>
          <p:nvSpPr>
            <p:cNvPr id="13" name="Retângulo de cantos arredondados 12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Período</a:t>
              </a:r>
              <a:endParaRPr lang="pt-BR" sz="1600" i="1" dirty="0"/>
            </a:p>
          </p:txBody>
        </p:sp>
      </p:grpSp>
      <p:grpSp>
        <p:nvGrpSpPr>
          <p:cNvPr id="16" name="Agrupar 4"/>
          <p:cNvGrpSpPr/>
          <p:nvPr/>
        </p:nvGrpSpPr>
        <p:grpSpPr>
          <a:xfrm>
            <a:off x="412740" y="2537495"/>
            <a:ext cx="4288050" cy="2135927"/>
            <a:chOff x="372982" y="1165964"/>
            <a:chExt cx="8455968" cy="3600000"/>
          </a:xfrm>
        </p:grpSpPr>
        <p:sp>
          <p:nvSpPr>
            <p:cNvPr id="17" name="Retângulo 16"/>
            <p:cNvSpPr/>
            <p:nvPr/>
          </p:nvSpPr>
          <p:spPr>
            <a:xfrm>
              <a:off x="2301934" y="1165964"/>
              <a:ext cx="6527016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 smtClean="0">
                  <a:solidFill>
                    <a:schemeClr val="tx1"/>
                  </a:solidFill>
                </a:rPr>
                <a:t>Daniel </a:t>
              </a:r>
              <a:r>
                <a:rPr lang="pt-BR" sz="1600" dirty="0" err="1" smtClean="0">
                  <a:solidFill>
                    <a:schemeClr val="tx1"/>
                  </a:solidFill>
                </a:rPr>
                <a:t>Missobuchi</a:t>
              </a:r>
              <a:endParaRPr lang="pt-BR" sz="1600" dirty="0" smtClean="0">
                <a:solidFill>
                  <a:schemeClr val="tx1"/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 smtClean="0">
                  <a:solidFill>
                    <a:schemeClr val="tx1"/>
                  </a:solidFill>
                </a:rPr>
                <a:t>Daniel Braga</a:t>
              </a:r>
              <a:endParaRPr lang="pt-BR" sz="1600" dirty="0">
                <a:solidFill>
                  <a:schemeClr val="tx1"/>
                </a:solidFill>
              </a:endParaRPr>
            </a:p>
          </p:txBody>
        </p:sp>
        <p:sp>
          <p:nvSpPr>
            <p:cNvPr id="18" name="Retângulo de cantos arredondados 17"/>
            <p:cNvSpPr/>
            <p:nvPr/>
          </p:nvSpPr>
          <p:spPr>
            <a:xfrm>
              <a:off x="372982" y="1165964"/>
              <a:ext cx="1928950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err="1" smtClean="0"/>
                <a:t>Smiles</a:t>
              </a:r>
              <a:endParaRPr lang="pt-BR" sz="1600" i="1" dirty="0"/>
            </a:p>
          </p:txBody>
        </p:sp>
      </p:grpSp>
      <p:grpSp>
        <p:nvGrpSpPr>
          <p:cNvPr id="19" name="Agrupar 4"/>
          <p:cNvGrpSpPr/>
          <p:nvPr/>
        </p:nvGrpSpPr>
        <p:grpSpPr>
          <a:xfrm>
            <a:off x="5356628" y="2537494"/>
            <a:ext cx="4288050" cy="2135927"/>
            <a:chOff x="372982" y="1165964"/>
            <a:chExt cx="8455968" cy="3600000"/>
          </a:xfrm>
        </p:grpSpPr>
        <p:sp>
          <p:nvSpPr>
            <p:cNvPr id="20" name="Retângulo 19"/>
            <p:cNvSpPr/>
            <p:nvPr/>
          </p:nvSpPr>
          <p:spPr>
            <a:xfrm>
              <a:off x="2301934" y="1165964"/>
              <a:ext cx="6527016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 smtClean="0">
                  <a:solidFill>
                    <a:schemeClr val="tx1"/>
                  </a:solidFill>
                </a:rPr>
                <a:t>Jorge Maluf</a:t>
              </a: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 smtClean="0">
                  <a:solidFill>
                    <a:schemeClr val="tx1"/>
                  </a:solidFill>
                </a:rPr>
                <a:t>Tânia Ferro</a:t>
              </a: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 smtClean="0">
                  <a:solidFill>
                    <a:schemeClr val="tx1"/>
                  </a:solidFill>
                </a:rPr>
                <a:t>Thomas Kiss</a:t>
              </a:r>
              <a:endParaRPr lang="pt-BR" sz="1600" dirty="0">
                <a:solidFill>
                  <a:schemeClr val="tx1"/>
                </a:solidFill>
              </a:endParaRPr>
            </a:p>
          </p:txBody>
        </p:sp>
        <p:sp>
          <p:nvSpPr>
            <p:cNvPr id="21" name="Retângulo de cantos arredondados 20"/>
            <p:cNvSpPr/>
            <p:nvPr/>
          </p:nvSpPr>
          <p:spPr>
            <a:xfrm>
              <a:off x="372982" y="1165964"/>
              <a:ext cx="1928950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err="1" smtClean="0"/>
                <a:t>Chacon</a:t>
              </a:r>
              <a:endParaRPr lang="pt-BR" sz="16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11286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428957" y="176296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Benefícios 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428957" y="279607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de Mudanças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428957" y="382919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Comitês – CAB e ECAB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7" name="Retângulo de cantos arredondados 9"/>
          <p:cNvSpPr/>
          <p:nvPr/>
        </p:nvSpPr>
        <p:spPr>
          <a:xfrm>
            <a:off x="4428957" y="4732774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Operação Assistida</a:t>
            </a:r>
          </a:p>
        </p:txBody>
      </p:sp>
      <p:sp>
        <p:nvSpPr>
          <p:cNvPr id="16" name="Retângulo de cantos arredondados 8"/>
          <p:cNvSpPr/>
          <p:nvPr/>
        </p:nvSpPr>
        <p:spPr>
          <a:xfrm>
            <a:off x="4428957" y="843310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 e Escopo</a:t>
            </a:r>
          </a:p>
        </p:txBody>
      </p:sp>
      <p:sp>
        <p:nvSpPr>
          <p:cNvPr id="15" name="Retângulo de cantos arredondados 9"/>
          <p:cNvSpPr/>
          <p:nvPr/>
        </p:nvSpPr>
        <p:spPr>
          <a:xfrm>
            <a:off x="4428957" y="5636353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Dicas</a:t>
            </a:r>
          </a:p>
        </p:txBody>
      </p:sp>
    </p:spTree>
    <p:extLst>
      <p:ext uri="{BB962C8B-B14F-4D97-AF65-F5344CB8AC3E}">
        <p14:creationId xmlns:p14="http://schemas.microsoft.com/office/powerpoint/2010/main" val="27119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Dicas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43310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 smtClean="0"/>
              <a:t>Principais Links</a:t>
            </a:r>
            <a:endParaRPr lang="pt-BR" sz="1600" b="1" dirty="0"/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77570" y="1609367"/>
            <a:ext cx="9427352" cy="481725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1300" dirty="0" smtClean="0">
                <a:solidFill>
                  <a:schemeClr val="tx1"/>
                </a:solidFill>
              </a:rPr>
              <a:t>Como liberar acesso aos grupos de Aprovações? </a:t>
            </a:r>
          </a:p>
          <a:p>
            <a:r>
              <a:rPr lang="pt-BR" sz="1300" dirty="0">
                <a:solidFill>
                  <a:schemeClr val="tx1"/>
                </a:solidFill>
              </a:rPr>
              <a:t>https://smiles.atlassian.net/admin/groups?filter=cab%20</a:t>
            </a:r>
            <a:endParaRPr lang="pt-BR" sz="1300" dirty="0" smtClean="0">
              <a:solidFill>
                <a:schemeClr val="tx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pt-BR" sz="1300" dirty="0" smtClean="0">
              <a:solidFill>
                <a:schemeClr val="tx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1300" dirty="0" smtClean="0">
                <a:solidFill>
                  <a:schemeClr val="tx1"/>
                </a:solidFill>
              </a:rPr>
              <a:t>Como verificar as </a:t>
            </a:r>
            <a:r>
              <a:rPr lang="pt-BR" sz="1300" dirty="0" err="1" smtClean="0">
                <a:solidFill>
                  <a:schemeClr val="tx1"/>
                </a:solidFill>
              </a:rPr>
              <a:t>RFC´s</a:t>
            </a:r>
            <a:r>
              <a:rPr lang="pt-BR" sz="1300" dirty="0" smtClean="0">
                <a:solidFill>
                  <a:schemeClr val="tx1"/>
                </a:solidFill>
              </a:rPr>
              <a:t> Pendentes de Aprovações?</a:t>
            </a:r>
          </a:p>
          <a:p>
            <a:r>
              <a:rPr lang="pt-BR" sz="1300" dirty="0">
                <a:solidFill>
                  <a:schemeClr val="tx1"/>
                </a:solidFill>
              </a:rPr>
              <a:t>https://</a:t>
            </a:r>
            <a:r>
              <a:rPr lang="pt-BR" sz="1300" dirty="0" smtClean="0">
                <a:solidFill>
                  <a:schemeClr val="tx1"/>
                </a:solidFill>
              </a:rPr>
              <a:t>smiles.atlassian.net/secure/Dashboard.jspa?selectPageId=18500</a:t>
            </a:r>
          </a:p>
          <a:p>
            <a:endParaRPr lang="pt-BR" sz="1300" dirty="0">
              <a:solidFill>
                <a:schemeClr val="tx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1300" dirty="0" smtClean="0">
                <a:solidFill>
                  <a:schemeClr val="tx1"/>
                </a:solidFill>
              </a:rPr>
              <a:t>Como verificar os indicadores de desempenho do processo?</a:t>
            </a:r>
          </a:p>
          <a:p>
            <a:r>
              <a:rPr lang="pt-BR" sz="1300" dirty="0">
                <a:solidFill>
                  <a:schemeClr val="tx1"/>
                </a:solidFill>
              </a:rPr>
              <a:t>https://smiles.atlassian.net/secure/Dashboard.jspa?selectPageId=18200</a:t>
            </a:r>
            <a:endParaRPr lang="pt-BR" sz="1300" dirty="0" smtClean="0">
              <a:solidFill>
                <a:schemeClr val="tx1"/>
              </a:solidFill>
            </a:endParaRPr>
          </a:p>
          <a:p>
            <a:endParaRPr lang="pt-BR" sz="1300" dirty="0" smtClean="0">
              <a:solidFill>
                <a:schemeClr val="tx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1300" dirty="0" smtClean="0">
                <a:solidFill>
                  <a:schemeClr val="tx1"/>
                </a:solidFill>
              </a:rPr>
              <a:t>Como criar uma ata de reunião?</a:t>
            </a:r>
          </a:p>
          <a:p>
            <a:r>
              <a:rPr lang="pt-BR" sz="1300" dirty="0">
                <a:solidFill>
                  <a:schemeClr val="tx1"/>
                </a:solidFill>
              </a:rPr>
              <a:t>https://</a:t>
            </a:r>
            <a:r>
              <a:rPr lang="pt-BR" sz="1300" dirty="0" smtClean="0">
                <a:solidFill>
                  <a:schemeClr val="tx1"/>
                </a:solidFill>
              </a:rPr>
              <a:t>smiles.atlassian.net/wiki/pages/viewpage.action?pageId=94404648</a:t>
            </a:r>
          </a:p>
          <a:p>
            <a:pPr marL="285750" indent="-285750">
              <a:buFontTx/>
              <a:buChar char="-"/>
            </a:pPr>
            <a:endParaRPr lang="pt-BR" sz="1300" dirty="0">
              <a:solidFill>
                <a:schemeClr val="tx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1300" dirty="0" smtClean="0">
                <a:solidFill>
                  <a:schemeClr val="tx1"/>
                </a:solidFill>
              </a:rPr>
              <a:t>Como verificar o calendário das </a:t>
            </a:r>
            <a:r>
              <a:rPr lang="pt-BR" sz="1300" dirty="0" err="1" smtClean="0">
                <a:solidFill>
                  <a:schemeClr val="tx1"/>
                </a:solidFill>
              </a:rPr>
              <a:t>RFC´s</a:t>
            </a:r>
            <a:r>
              <a:rPr lang="pt-BR" sz="1300" dirty="0" smtClean="0">
                <a:solidFill>
                  <a:schemeClr val="tx1"/>
                </a:solidFill>
              </a:rPr>
              <a:t> aprovadas?</a:t>
            </a:r>
          </a:p>
          <a:p>
            <a:r>
              <a:rPr lang="pt-BR" sz="1300" dirty="0">
                <a:solidFill>
                  <a:schemeClr val="tx1"/>
                </a:solidFill>
              </a:rPr>
              <a:t>https://</a:t>
            </a:r>
            <a:r>
              <a:rPr lang="pt-BR" sz="1300" dirty="0" smtClean="0">
                <a:solidFill>
                  <a:schemeClr val="tx1"/>
                </a:solidFill>
              </a:rPr>
              <a:t>smiles.atlassian.net/wiki/pages/viewpage.action?pageId=98763027</a:t>
            </a:r>
          </a:p>
          <a:p>
            <a:endParaRPr lang="pt-BR" sz="1300" dirty="0">
              <a:solidFill>
                <a:schemeClr val="tx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1300" dirty="0" smtClean="0">
                <a:solidFill>
                  <a:schemeClr val="tx1"/>
                </a:solidFill>
              </a:rPr>
              <a:t>Onde está o plano da RFC?</a:t>
            </a:r>
          </a:p>
          <a:p>
            <a:r>
              <a:rPr lang="pt-BR" sz="1300" dirty="0">
                <a:solidFill>
                  <a:schemeClr val="tx1"/>
                </a:solidFill>
              </a:rPr>
              <a:t>https://</a:t>
            </a:r>
            <a:r>
              <a:rPr lang="pt-BR" sz="1300" dirty="0" smtClean="0">
                <a:solidFill>
                  <a:schemeClr val="tx1"/>
                </a:solidFill>
              </a:rPr>
              <a:t>smiles.atlassian.net/wiki/pages/viewpage.action?pageId=86933580</a:t>
            </a:r>
          </a:p>
          <a:p>
            <a:endParaRPr lang="pt-BR" sz="1300" dirty="0">
              <a:solidFill>
                <a:schemeClr val="tx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1300" dirty="0" smtClean="0">
                <a:solidFill>
                  <a:schemeClr val="tx1"/>
                </a:solidFill>
              </a:rPr>
              <a:t>Como verificar o status das </a:t>
            </a:r>
            <a:r>
              <a:rPr lang="pt-BR" sz="1300" dirty="0" err="1" smtClean="0">
                <a:solidFill>
                  <a:schemeClr val="tx1"/>
                </a:solidFill>
              </a:rPr>
              <a:t>RFCs</a:t>
            </a:r>
            <a:r>
              <a:rPr lang="pt-BR" sz="1300" dirty="0" smtClean="0">
                <a:solidFill>
                  <a:schemeClr val="tx1"/>
                </a:solidFill>
              </a:rPr>
              <a:t>?</a:t>
            </a:r>
          </a:p>
          <a:p>
            <a:r>
              <a:rPr lang="pt-BR" sz="1300" dirty="0">
                <a:solidFill>
                  <a:schemeClr val="tx1"/>
                </a:solidFill>
              </a:rPr>
              <a:t>https://smiles.atlassian.net/secure/Dashboard.jspa?selectPageId=18600</a:t>
            </a:r>
          </a:p>
          <a:p>
            <a:endParaRPr lang="pt-BR" sz="1300" dirty="0" smtClean="0">
              <a:solidFill>
                <a:schemeClr val="tx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1300" dirty="0" smtClean="0">
                <a:solidFill>
                  <a:schemeClr val="tx1"/>
                </a:solidFill>
              </a:rPr>
              <a:t>Como verificar o status dos </a:t>
            </a:r>
            <a:r>
              <a:rPr lang="pt-BR" sz="1300" dirty="0" err="1" smtClean="0">
                <a:solidFill>
                  <a:schemeClr val="tx1"/>
                </a:solidFill>
              </a:rPr>
              <a:t>Epics</a:t>
            </a:r>
            <a:r>
              <a:rPr lang="pt-BR" sz="1300" dirty="0" smtClean="0">
                <a:solidFill>
                  <a:schemeClr val="tx1"/>
                </a:solidFill>
              </a:rPr>
              <a:t> (Reunião do CAB)?</a:t>
            </a:r>
          </a:p>
          <a:p>
            <a:r>
              <a:rPr lang="pt-BR" sz="1300" dirty="0">
                <a:solidFill>
                  <a:schemeClr val="tx1"/>
                </a:solidFill>
              </a:rPr>
              <a:t>https://smiles.atlassian.net/secure/Dashboard.jspa?selectPageId=18601</a:t>
            </a:r>
          </a:p>
        </p:txBody>
      </p:sp>
    </p:spTree>
    <p:extLst>
      <p:ext uri="{BB962C8B-B14F-4D97-AF65-F5344CB8AC3E}">
        <p14:creationId xmlns:p14="http://schemas.microsoft.com/office/powerpoint/2010/main" val="1338161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5399</TotalTime>
  <Words>968</Words>
  <PresentationFormat>Personalizar</PresentationFormat>
  <Paragraphs>170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Gotham Rounded Book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2017-01-06T11:55:38Z</dcterms:modified>
</cp:coreProperties>
</file>