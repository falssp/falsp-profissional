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7" r:id="rId2"/>
    <p:sldId id="339" r:id="rId3"/>
    <p:sldId id="338" r:id="rId4"/>
    <p:sldId id="340" r:id="rId5"/>
    <p:sldId id="341" r:id="rId6"/>
    <p:sldId id="342" r:id="rId7"/>
  </p:sldIdLst>
  <p:sldSz cx="1011713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8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  <a:srgbClr val="D0462D"/>
    <a:srgbClr val="F57124"/>
    <a:srgbClr val="F68E1E"/>
    <a:srgbClr val="99CCFF"/>
    <a:srgbClr val="FF9900"/>
    <a:srgbClr val="000000"/>
    <a:srgbClr val="EE6829"/>
    <a:srgbClr val="E28734"/>
    <a:srgbClr val="F4BC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Estilo Médio 2 - Ênfase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912C8C85-51F0-491E-9774-3900AFEF0FD7}" styleName="Estilo Claro 2 - Ênfase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F2DE63D5-997A-4646-A377-4702673A728D}" styleName="Estilo Claro 2 - Ênfase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940675A-B579-460E-94D1-54222C63F5DA}" styleName="Nenhum Estilo, Grade de Tabe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29" autoAdjust="0"/>
    <p:restoredTop sz="94660"/>
  </p:normalViewPr>
  <p:slideViewPr>
    <p:cSldViewPr snapToGrid="0" snapToObjects="1">
      <p:cViewPr>
        <p:scale>
          <a:sx n="75" d="100"/>
          <a:sy n="75" d="100"/>
        </p:scale>
        <p:origin x="432" y="54"/>
      </p:cViewPr>
      <p:guideLst>
        <p:guide orient="horz" pos="2160"/>
        <p:guide pos="3187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2CD1B9-1777-43A0-8DF4-B945C46147BD}" type="datetimeFigureOut">
              <a:rPr lang="pt-BR" smtClean="0"/>
              <a:t>15/12/2015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900113" y="685800"/>
            <a:ext cx="505777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245040-EFBE-493F-96A2-B5DCAE3ADE4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66815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58786" y="2130428"/>
            <a:ext cx="8599567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17571" y="3886200"/>
            <a:ext cx="7081997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12/15/2015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1989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12/15/2015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3307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9184" y="4406903"/>
            <a:ext cx="8599567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99184" y="2906713"/>
            <a:ext cx="8599567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12/15/2015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5747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5857" y="1600203"/>
            <a:ext cx="446840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42878" y="1600203"/>
            <a:ext cx="446840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12/15/2015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3154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5857" y="1535113"/>
            <a:ext cx="447016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5857" y="2174875"/>
            <a:ext cx="447016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139367" y="1535113"/>
            <a:ext cx="447191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139367" y="2174875"/>
            <a:ext cx="447191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12/15/2015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9741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12/15/2015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38014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12/15/2015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39489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5857" y="273050"/>
            <a:ext cx="3328469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5521" y="273053"/>
            <a:ext cx="5655761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5857" y="1435103"/>
            <a:ext cx="3328469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12/15/2015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80566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3030" y="4800600"/>
            <a:ext cx="6070283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83030" y="612775"/>
            <a:ext cx="6070283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83030" y="5367338"/>
            <a:ext cx="6070283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12/15/2015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70101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12/15/2015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30059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34925" y="274641"/>
            <a:ext cx="2276356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5857" y="274641"/>
            <a:ext cx="666044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12/15/2015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8642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5857" y="274638"/>
            <a:ext cx="9105424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5857" y="1600203"/>
            <a:ext cx="910542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05857" y="6356353"/>
            <a:ext cx="236066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04C65E-0501-3244-B235-0438CC858404}" type="datetimeFigureOut">
              <a:rPr lang="en-US" smtClean="0"/>
              <a:pPr/>
              <a:t>12/15/2015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56689" y="6356353"/>
            <a:ext cx="32037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250615" y="6356353"/>
            <a:ext cx="236066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52927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2"/>
          <p:cNvSpPr/>
          <p:nvPr/>
        </p:nvSpPr>
        <p:spPr>
          <a:xfrm>
            <a:off x="-1393" y="3"/>
            <a:ext cx="6375313" cy="6857999"/>
          </a:xfrm>
          <a:custGeom>
            <a:avLst/>
            <a:gdLst/>
            <a:ahLst/>
            <a:cxnLst/>
            <a:rect l="l" t="t" r="r" b="b"/>
            <a:pathLst>
              <a:path w="5762090" h="6857999">
                <a:moveTo>
                  <a:pt x="0" y="0"/>
                </a:moveTo>
                <a:lnTo>
                  <a:pt x="1920697" y="0"/>
                </a:lnTo>
                <a:lnTo>
                  <a:pt x="3279881" y="0"/>
                </a:lnTo>
                <a:lnTo>
                  <a:pt x="5200578" y="0"/>
                </a:lnTo>
                <a:lnTo>
                  <a:pt x="5255041" y="148787"/>
                </a:lnTo>
                <a:cubicBezTo>
                  <a:pt x="5571805" y="1057108"/>
                  <a:pt x="5762090" y="2221597"/>
                  <a:pt x="5762090" y="3491260"/>
                </a:cubicBezTo>
                <a:cubicBezTo>
                  <a:pt x="5762090" y="4760923"/>
                  <a:pt x="5571805" y="5925412"/>
                  <a:pt x="5255041" y="6833733"/>
                </a:cubicBezTo>
                <a:lnTo>
                  <a:pt x="5246158" y="6857999"/>
                </a:lnTo>
                <a:lnTo>
                  <a:pt x="3325461" y="6857999"/>
                </a:lnTo>
                <a:lnTo>
                  <a:pt x="1920697" y="6857999"/>
                </a:lnTo>
                <a:lnTo>
                  <a:pt x="0" y="6857999"/>
                </a:lnTo>
                <a:close/>
              </a:path>
            </a:pathLst>
          </a:custGeom>
          <a:solidFill>
            <a:srgbClr val="FF8E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1303" y="3276362"/>
            <a:ext cx="2206288" cy="7875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1949" y="1174537"/>
            <a:ext cx="5688627" cy="46320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rebuchet MS" panose="020B0603020202020204" pitchFamily="34" charset="0"/>
                <a:cs typeface="Gotham Rounded Book"/>
              </a:rPr>
              <a:t>Workshop </a:t>
            </a:r>
            <a:endParaRPr lang="pt-BR" sz="3600" dirty="0" smtClean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  <a:p>
            <a:r>
              <a:rPr lang="pt-BR" sz="4400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rebuchet MS" panose="020B0603020202020204" pitchFamily="34" charset="0"/>
                <a:cs typeface="Gotham Rounded Book"/>
              </a:rPr>
              <a:t>Central de </a:t>
            </a:r>
          </a:p>
          <a:p>
            <a:r>
              <a:rPr lang="pt-BR" sz="4400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rebuchet MS" panose="020B0603020202020204" pitchFamily="34" charset="0"/>
                <a:cs typeface="Gotham Rounded Book"/>
              </a:rPr>
              <a:t>Serviços de TI</a:t>
            </a:r>
          </a:p>
          <a:p>
            <a:endParaRPr lang="pt-BR" sz="3600" dirty="0" smtClean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  <a:p>
            <a:r>
              <a:rPr lang="pt-BR" sz="2400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rebuchet MS" panose="020B0603020202020204" pitchFamily="34" charset="0"/>
                <a:cs typeface="Gotham Rounded Book"/>
              </a:rPr>
              <a:t>O novo modelo </a:t>
            </a:r>
          </a:p>
          <a:p>
            <a:r>
              <a:rPr lang="pt-BR" sz="2400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rebuchet MS" panose="020B0603020202020204" pitchFamily="34" charset="0"/>
                <a:cs typeface="Gotham Rounded Book"/>
              </a:rPr>
              <a:t>de suporte e </a:t>
            </a:r>
          </a:p>
          <a:p>
            <a:r>
              <a:rPr lang="pt-BR" sz="2400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rebuchet MS" panose="020B0603020202020204" pitchFamily="34" charset="0"/>
                <a:cs typeface="Gotham Rounded Book"/>
              </a:rPr>
              <a:t>atendimento de TI </a:t>
            </a:r>
          </a:p>
          <a:p>
            <a:r>
              <a:rPr lang="pt-BR" sz="2400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rebuchet MS" panose="020B0603020202020204" pitchFamily="34" charset="0"/>
                <a:cs typeface="Gotham Rounded Book"/>
              </a:rPr>
              <a:t>aos colaboradores</a:t>
            </a:r>
            <a:endParaRPr lang="pt-BR" sz="2400" dirty="0" smtClean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  <a:p>
            <a:endParaRPr lang="en-US" sz="1100" dirty="0" smtClean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  <a:p>
            <a:endParaRPr lang="en-US" sz="1600" dirty="0" smtClean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  <a:p>
            <a:r>
              <a:rPr lang="en-US" sz="1600" dirty="0" err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rebuchet MS" panose="020B0603020202020204" pitchFamily="34" charset="0"/>
                <a:cs typeface="Gotham Rounded Book"/>
              </a:rPr>
              <a:t>Dezembro</a:t>
            </a:r>
            <a:r>
              <a:rPr lang="en-US" sz="1600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rebuchet MS" panose="020B0603020202020204" pitchFamily="34" charset="0"/>
                <a:cs typeface="Gotham Rounded Book"/>
              </a:rPr>
              <a:t>/2015</a:t>
            </a:r>
            <a:endParaRPr lang="en-US" sz="16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04161" y="719704"/>
            <a:ext cx="1080000" cy="1080000"/>
          </a:xfrm>
          <a:prstGeom prst="rect">
            <a:avLst/>
          </a:prstGeom>
        </p:spPr>
      </p:pic>
      <p:pic>
        <p:nvPicPr>
          <p:cNvPr id="8" name="Imagem 7"/>
          <p:cNvPicPr>
            <a:picLocks noChangeAspect="1"/>
          </p:cNvPicPr>
          <p:nvPr/>
        </p:nvPicPr>
        <p:blipFill>
          <a:blip r:embed="rId4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3523" y="4186130"/>
            <a:ext cx="1080000" cy="1080000"/>
          </a:xfrm>
          <a:prstGeom prst="rect">
            <a:avLst/>
          </a:prstGeom>
        </p:spPr>
      </p:pic>
      <p:pic>
        <p:nvPicPr>
          <p:cNvPr id="10" name="Imagem 9"/>
          <p:cNvPicPr>
            <a:picLocks noChangeAspect="1"/>
          </p:cNvPicPr>
          <p:nvPr/>
        </p:nvPicPr>
        <p:blipFill>
          <a:blip r:embed="rId5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2248" y="2882276"/>
            <a:ext cx="1080000" cy="1080000"/>
          </a:xfrm>
          <a:prstGeom prst="rect">
            <a:avLst/>
          </a:prstGeom>
        </p:spPr>
      </p:pic>
      <p:pic>
        <p:nvPicPr>
          <p:cNvPr id="11" name="Imagem 10"/>
          <p:cNvPicPr>
            <a:picLocks noChangeAspect="1"/>
          </p:cNvPicPr>
          <p:nvPr/>
        </p:nvPicPr>
        <p:blipFill>
          <a:blip r:embed="rId6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2885" y="1913615"/>
            <a:ext cx="1080000" cy="1080000"/>
          </a:xfrm>
          <a:prstGeom prst="rect">
            <a:avLst/>
          </a:prstGeom>
        </p:spPr>
      </p:pic>
      <p:pic>
        <p:nvPicPr>
          <p:cNvPr id="12" name="Imagem 11"/>
          <p:cNvPicPr>
            <a:picLocks noChangeAspect="1"/>
          </p:cNvPicPr>
          <p:nvPr/>
        </p:nvPicPr>
        <p:blipFill>
          <a:blip r:embed="rId7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4799" y="5214388"/>
            <a:ext cx="1080000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53599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/>
          <p:cNvGrpSpPr/>
          <p:nvPr/>
        </p:nvGrpSpPr>
        <p:grpSpPr>
          <a:xfrm>
            <a:off x="2" y="-3"/>
            <a:ext cx="10117136" cy="750629"/>
            <a:chOff x="2" y="-3"/>
            <a:chExt cx="9143998" cy="750629"/>
          </a:xfrm>
        </p:grpSpPr>
        <p:sp>
          <p:nvSpPr>
            <p:cNvPr id="7" name="Rectangle 2"/>
            <p:cNvSpPr/>
            <p:nvPr/>
          </p:nvSpPr>
          <p:spPr>
            <a:xfrm rot="5400000">
              <a:off x="4196686" y="-4196687"/>
              <a:ext cx="750629" cy="9143998"/>
            </a:xfrm>
            <a:custGeom>
              <a:avLst/>
              <a:gdLst/>
              <a:ahLst/>
              <a:cxnLst/>
              <a:rect l="l" t="t" r="r" b="b"/>
              <a:pathLst>
                <a:path w="1045586" h="9143998">
                  <a:moveTo>
                    <a:pt x="0" y="9143998"/>
                  </a:moveTo>
                  <a:lnTo>
                    <a:pt x="0" y="0"/>
                  </a:lnTo>
                  <a:lnTo>
                    <a:pt x="725309" y="0"/>
                  </a:lnTo>
                  <a:lnTo>
                    <a:pt x="756374" y="198383"/>
                  </a:lnTo>
                  <a:cubicBezTo>
                    <a:pt x="937051" y="1409478"/>
                    <a:pt x="1045586" y="2962131"/>
                    <a:pt x="1045586" y="4655015"/>
                  </a:cubicBezTo>
                  <a:cubicBezTo>
                    <a:pt x="1045586" y="6347900"/>
                    <a:pt x="937051" y="7900553"/>
                    <a:pt x="756374" y="9111648"/>
                  </a:cubicBezTo>
                  <a:lnTo>
                    <a:pt x="751308" y="9143998"/>
                  </a:lnTo>
                  <a:close/>
                </a:path>
              </a:pathLst>
            </a:custGeom>
            <a:solidFill>
              <a:srgbClr val="FF8E2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218106" y="129598"/>
              <a:ext cx="843390" cy="334448"/>
            </a:xfrm>
            <a:prstGeom prst="rect">
              <a:avLst/>
            </a:prstGeom>
          </p:spPr>
        </p:pic>
      </p:grpSp>
      <p:sp>
        <p:nvSpPr>
          <p:cNvPr id="9" name="TextBox 8"/>
          <p:cNvSpPr txBox="1"/>
          <p:nvPr/>
        </p:nvSpPr>
        <p:spPr>
          <a:xfrm>
            <a:off x="2328020" y="130780"/>
            <a:ext cx="54610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Central de Serviços de TI</a:t>
            </a:r>
            <a:endParaRPr lang="pt-BR" sz="2400" dirty="0" smtClean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26" name="Agrupar 25"/>
          <p:cNvGrpSpPr/>
          <p:nvPr/>
        </p:nvGrpSpPr>
        <p:grpSpPr>
          <a:xfrm>
            <a:off x="3773050" y="2212601"/>
            <a:ext cx="2700000" cy="4306794"/>
            <a:chOff x="3801446" y="1120595"/>
            <a:chExt cx="2700000" cy="4306794"/>
          </a:xfrm>
        </p:grpSpPr>
        <p:sp>
          <p:nvSpPr>
            <p:cNvPr id="24" name="Retângulo de cantos arredondados 17"/>
            <p:cNvSpPr/>
            <p:nvPr/>
          </p:nvSpPr>
          <p:spPr>
            <a:xfrm>
              <a:off x="3801446" y="1120595"/>
              <a:ext cx="2700000" cy="720000"/>
            </a:xfrm>
            <a:prstGeom prst="roundRect">
              <a:avLst>
                <a:gd name="adj" fmla="val 7081"/>
              </a:avLst>
            </a:prstGeom>
            <a:solidFill>
              <a:srgbClr val="7030A0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900000"/>
              <a:r>
                <a:rPr lang="pt-BR" sz="2000" b="1" dirty="0" smtClean="0">
                  <a:solidFill>
                    <a:schemeClr val="bg1">
                      <a:lumMod val="9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Implantação</a:t>
              </a:r>
              <a:endParaRPr lang="pt-BR" sz="2000" b="1" dirty="0">
                <a:solidFill>
                  <a:schemeClr val="bg1">
                    <a:lumMod val="9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" name="Imagem 10"/>
            <p:cNvPicPr>
              <a:picLocks noChangeAspect="1"/>
            </p:cNvPicPr>
            <p:nvPr/>
          </p:nvPicPr>
          <p:blipFill>
            <a:blip r:embed="rId3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75069" y="1210595"/>
              <a:ext cx="540000" cy="540000"/>
            </a:xfrm>
            <a:prstGeom prst="rect">
              <a:avLst/>
            </a:prstGeom>
            <a:effectLst/>
          </p:spPr>
        </p:pic>
        <p:sp>
          <p:nvSpPr>
            <p:cNvPr id="30" name="Retângulo 29"/>
            <p:cNvSpPr/>
            <p:nvPr/>
          </p:nvSpPr>
          <p:spPr>
            <a:xfrm>
              <a:off x="3979040" y="2011069"/>
              <a:ext cx="2340000" cy="34163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spcBef>
                  <a:spcPts val="600"/>
                </a:spcBef>
                <a:spcAft>
                  <a:spcPts val="600"/>
                </a:spcAft>
              </a:pPr>
              <a:r>
                <a:rPr lang="pt-BR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Elaboração do </a:t>
              </a:r>
              <a:r>
                <a:rPr lang="pt-BR" sz="16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Catálogo de Serviços</a:t>
              </a:r>
            </a:p>
            <a:p>
              <a:pPr algn="ctr">
                <a:spcBef>
                  <a:spcPts val="600"/>
                </a:spcBef>
                <a:spcAft>
                  <a:spcPts val="600"/>
                </a:spcAft>
              </a:pPr>
              <a:r>
                <a:rPr lang="pt-BR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Novos </a:t>
              </a:r>
              <a:r>
                <a:rPr lang="pt-BR" sz="16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fluxos de </a:t>
              </a:r>
              <a:r>
                <a:rPr lang="pt-BR" sz="1600" b="1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atendimento</a:t>
              </a:r>
              <a:endParaRPr lang="pt-BR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algn="ctr">
                <a:spcBef>
                  <a:spcPts val="600"/>
                </a:spcBef>
                <a:spcAft>
                  <a:spcPts val="600"/>
                </a:spcAft>
              </a:pPr>
              <a:r>
                <a:rPr lang="pt-BR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Nova </a:t>
              </a:r>
              <a:r>
                <a:rPr lang="pt-BR" sz="16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interface para abertura de chamados </a:t>
              </a:r>
              <a:endParaRPr lang="pt-BR" sz="16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algn="ctr">
                <a:spcBef>
                  <a:spcPts val="600"/>
                </a:spcBef>
                <a:spcAft>
                  <a:spcPts val="600"/>
                </a:spcAft>
              </a:pPr>
              <a:r>
                <a:rPr lang="pt-BR" sz="16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Definições </a:t>
              </a:r>
              <a:r>
                <a:rPr lang="pt-BR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de </a:t>
              </a:r>
              <a:r>
                <a:rPr lang="pt-BR" sz="16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Prioridades e </a:t>
              </a:r>
              <a:r>
                <a:rPr lang="pt-BR" sz="1600" b="1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SLAs</a:t>
              </a:r>
              <a:endParaRPr lang="pt-BR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algn="ctr">
                <a:spcBef>
                  <a:spcPts val="600"/>
                </a:spcBef>
                <a:spcAft>
                  <a:spcPts val="600"/>
                </a:spcAft>
              </a:pPr>
              <a:r>
                <a:rPr lang="pt-BR" sz="16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Materiais de </a:t>
              </a:r>
              <a:r>
                <a:rPr lang="pt-BR" sz="1600" b="1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consulta </a:t>
              </a:r>
              <a:r>
                <a:rPr lang="pt-BR" sz="16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 orientação</a:t>
              </a:r>
              <a:r>
                <a:rPr lang="pt-BR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aos colaboradores</a:t>
              </a:r>
              <a:endParaRPr lang="pt-BR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44" name="Retângulo 43"/>
          <p:cNvSpPr/>
          <p:nvPr/>
        </p:nvSpPr>
        <p:spPr>
          <a:xfrm>
            <a:off x="0" y="935009"/>
            <a:ext cx="10117138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600"/>
              </a:spcBef>
              <a:spcAft>
                <a:spcPts val="600"/>
              </a:spcAft>
            </a:pPr>
            <a:r>
              <a:rPr lang="pt-BR" sz="17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 </a:t>
            </a:r>
            <a:r>
              <a:rPr lang="pt-BR" sz="17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Diretoria de TI </a:t>
            </a:r>
            <a:r>
              <a:rPr lang="pt-BR" sz="17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promove, através do estabelecimento da Central de Serviços de TI, </a:t>
            </a:r>
            <a:r>
              <a:rPr lang="pt-BR" sz="17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muito mais do que apenas conformidade</a:t>
            </a:r>
            <a:r>
              <a:rPr lang="pt-BR" sz="17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aos controles exigidos. Este passo representa uma </a:t>
            </a:r>
            <a:r>
              <a:rPr lang="pt-BR" sz="17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revisão completa do modelo atendimento e suporte da área de Operações de TI </a:t>
            </a:r>
            <a:r>
              <a:rPr lang="pt-BR" sz="17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 todos os colaboradores.</a:t>
            </a:r>
            <a:endParaRPr lang="pt-BR" sz="1700" dirty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38" name="Agrupar 37"/>
          <p:cNvGrpSpPr/>
          <p:nvPr/>
        </p:nvGrpSpPr>
        <p:grpSpPr>
          <a:xfrm>
            <a:off x="648755" y="2212601"/>
            <a:ext cx="2700000" cy="3669885"/>
            <a:chOff x="674155" y="2072901"/>
            <a:chExt cx="2700000" cy="3669885"/>
          </a:xfrm>
        </p:grpSpPr>
        <p:grpSp>
          <p:nvGrpSpPr>
            <p:cNvPr id="27" name="Agrupar 26"/>
            <p:cNvGrpSpPr/>
            <p:nvPr/>
          </p:nvGrpSpPr>
          <p:grpSpPr>
            <a:xfrm>
              <a:off x="674155" y="2072901"/>
              <a:ext cx="2700000" cy="3669885"/>
              <a:chOff x="7099572" y="2011759"/>
              <a:chExt cx="2700000" cy="3669885"/>
            </a:xfrm>
          </p:grpSpPr>
          <p:sp>
            <p:nvSpPr>
              <p:cNvPr id="35" name="Retângulo de cantos arredondados 17"/>
              <p:cNvSpPr/>
              <p:nvPr/>
            </p:nvSpPr>
            <p:spPr>
              <a:xfrm>
                <a:off x="7099572" y="2011759"/>
                <a:ext cx="2700000" cy="720000"/>
              </a:xfrm>
              <a:prstGeom prst="roundRect">
                <a:avLst>
                  <a:gd name="adj" fmla="val 7081"/>
                </a:avLst>
              </a:prstGeom>
              <a:solidFill>
                <a:srgbClr val="7030A0"/>
              </a:soli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0000"/>
                <a:r>
                  <a:rPr lang="pt-BR" sz="2000" b="1" dirty="0">
                    <a:solidFill>
                      <a:schemeClr val="bg1">
                        <a:lumMod val="95000"/>
                      </a:schemeClr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Objetivos</a:t>
                </a:r>
                <a:endParaRPr lang="pt-BR" sz="2400" b="1" dirty="0">
                  <a:solidFill>
                    <a:schemeClr val="bg1">
                      <a:lumMod val="9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37" name="Retângulo 36"/>
              <p:cNvSpPr/>
              <p:nvPr/>
            </p:nvSpPr>
            <p:spPr>
              <a:xfrm>
                <a:off x="7279572" y="2911655"/>
                <a:ext cx="2340000" cy="276998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pt-BR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Aumentar a </a:t>
                </a:r>
                <a:r>
                  <a:rPr lang="pt-BR" sz="16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satisfação</a:t>
                </a:r>
                <a:r>
                  <a:rPr lang="pt-BR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dos colaboradores</a:t>
                </a:r>
              </a:p>
              <a:p>
                <a:pPr algn="ctr"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pt-BR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Permitir </a:t>
                </a:r>
                <a:r>
                  <a:rPr lang="pt-BR" sz="16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controle</a:t>
                </a:r>
                <a:r>
                  <a:rPr lang="pt-BR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de todas as ocorrências</a:t>
                </a:r>
              </a:p>
              <a:p>
                <a:pPr algn="ctr"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pt-BR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Maior </a:t>
                </a:r>
                <a:r>
                  <a:rPr lang="pt-BR" sz="16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conformidade</a:t>
                </a:r>
              </a:p>
              <a:p>
                <a:pPr algn="ctr"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pt-BR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Aumentar a </a:t>
                </a:r>
                <a:r>
                  <a:rPr lang="pt-BR" sz="16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eficiência</a:t>
                </a:r>
                <a:r>
                  <a:rPr lang="pt-BR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na gestão através de </a:t>
                </a:r>
                <a:r>
                  <a:rPr lang="pt-BR" sz="16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indicadores e </a:t>
                </a:r>
                <a:r>
                  <a:rPr lang="pt-BR" sz="1600" b="1" dirty="0" err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SLAs</a:t>
                </a:r>
                <a:r>
                  <a:rPr lang="pt-BR" sz="16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pt-BR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definidos</a:t>
                </a:r>
                <a:endParaRPr lang="pt-BR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pic>
          <p:nvPicPr>
            <p:cNvPr id="29" name="Imagem 28"/>
            <p:cNvPicPr>
              <a:picLocks noChangeAspect="1"/>
            </p:cNvPicPr>
            <p:nvPr/>
          </p:nvPicPr>
          <p:blipFill>
            <a:blip r:embed="rId4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04955" y="2108901"/>
              <a:ext cx="648000" cy="648000"/>
            </a:xfrm>
            <a:prstGeom prst="rect">
              <a:avLst/>
            </a:prstGeom>
            <a:effectLst/>
          </p:spPr>
        </p:pic>
      </p:grpSp>
      <p:grpSp>
        <p:nvGrpSpPr>
          <p:cNvPr id="41" name="Agrupar 40"/>
          <p:cNvGrpSpPr/>
          <p:nvPr/>
        </p:nvGrpSpPr>
        <p:grpSpPr>
          <a:xfrm>
            <a:off x="6897345" y="2212601"/>
            <a:ext cx="2700000" cy="4491460"/>
            <a:chOff x="6922745" y="2078561"/>
            <a:chExt cx="2700000" cy="4491460"/>
          </a:xfrm>
        </p:grpSpPr>
        <p:sp>
          <p:nvSpPr>
            <p:cNvPr id="48" name="Retângulo de cantos arredondados 17"/>
            <p:cNvSpPr/>
            <p:nvPr/>
          </p:nvSpPr>
          <p:spPr>
            <a:xfrm>
              <a:off x="6922745" y="2078561"/>
              <a:ext cx="2700000" cy="720000"/>
            </a:xfrm>
            <a:prstGeom prst="roundRect">
              <a:avLst>
                <a:gd name="adj" fmla="val 7081"/>
              </a:avLst>
            </a:prstGeom>
            <a:solidFill>
              <a:srgbClr val="7030A0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900000"/>
              <a:r>
                <a:rPr lang="pt-BR" sz="2000" b="1" dirty="0" smtClean="0">
                  <a:solidFill>
                    <a:schemeClr val="bg1">
                      <a:lumMod val="9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Modelo</a:t>
              </a:r>
              <a:endParaRPr lang="pt-BR" sz="2400" b="1" dirty="0">
                <a:solidFill>
                  <a:schemeClr val="bg1">
                    <a:lumMod val="9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1" name="Retângulo 50"/>
            <p:cNvSpPr/>
            <p:nvPr/>
          </p:nvSpPr>
          <p:spPr>
            <a:xfrm>
              <a:off x="7100339" y="2969035"/>
              <a:ext cx="2340000" cy="360098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spcBef>
                  <a:spcPts val="600"/>
                </a:spcBef>
                <a:spcAft>
                  <a:spcPts val="600"/>
                </a:spcAft>
              </a:pPr>
              <a:r>
                <a:rPr lang="pt-BR" sz="16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Abertura </a:t>
              </a:r>
              <a:r>
                <a:rPr lang="pt-BR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de chamados será </a:t>
              </a:r>
              <a:r>
                <a:rPr lang="pt-BR" sz="16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sempre pelo JIRA</a:t>
              </a:r>
            </a:p>
            <a:p>
              <a:pPr algn="ctr">
                <a:spcBef>
                  <a:spcPts val="600"/>
                </a:spcBef>
                <a:spcAft>
                  <a:spcPts val="600"/>
                </a:spcAft>
              </a:pPr>
              <a:r>
                <a:rPr lang="pt-BR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Você poderá </a:t>
              </a:r>
              <a:r>
                <a:rPr lang="pt-BR" sz="16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analisar o status do chamado </a:t>
              </a:r>
              <a:r>
                <a:rPr lang="pt-BR" sz="1600" b="1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on-line</a:t>
              </a:r>
              <a:r>
                <a:rPr lang="pt-BR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, incluir comentários e até novos anexos</a:t>
              </a:r>
            </a:p>
            <a:p>
              <a:pPr algn="ctr">
                <a:spcBef>
                  <a:spcPts val="600"/>
                </a:spcBef>
                <a:spcAft>
                  <a:spcPts val="600"/>
                </a:spcAft>
              </a:pPr>
              <a:r>
                <a:rPr lang="pt-BR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Você poderá </a:t>
              </a:r>
              <a:r>
                <a:rPr lang="pt-BR" sz="16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realizar a Avaliação de Satisfação </a:t>
              </a:r>
              <a:r>
                <a:rPr lang="pt-BR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após a resolução do chamado com </a:t>
              </a:r>
              <a:r>
                <a:rPr lang="pt-BR" sz="16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apenas dois cliques</a:t>
              </a:r>
              <a:endParaRPr lang="pt-BR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39" name="Imagem 38"/>
            <p:cNvPicPr>
              <a:picLocks noChangeAspect="1"/>
            </p:cNvPicPr>
            <p:nvPr/>
          </p:nvPicPr>
          <p:blipFill>
            <a:blip r:embed="rId5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1784" y="2150561"/>
              <a:ext cx="545125" cy="576000"/>
            </a:xfrm>
            <a:prstGeom prst="rect">
              <a:avLst/>
            </a:prstGeom>
            <a:effectLst/>
          </p:spPr>
        </p:pic>
      </p:grpSp>
    </p:spTree>
    <p:extLst>
      <p:ext uri="{BB962C8B-B14F-4D97-AF65-F5344CB8AC3E}">
        <p14:creationId xmlns:p14="http://schemas.microsoft.com/office/powerpoint/2010/main" val="1242691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/>
          <p:cNvGrpSpPr/>
          <p:nvPr/>
        </p:nvGrpSpPr>
        <p:grpSpPr>
          <a:xfrm>
            <a:off x="2" y="-3"/>
            <a:ext cx="10117136" cy="750629"/>
            <a:chOff x="2" y="-3"/>
            <a:chExt cx="9143998" cy="750629"/>
          </a:xfrm>
        </p:grpSpPr>
        <p:sp>
          <p:nvSpPr>
            <p:cNvPr id="7" name="Rectangle 2"/>
            <p:cNvSpPr/>
            <p:nvPr/>
          </p:nvSpPr>
          <p:spPr>
            <a:xfrm rot="5400000">
              <a:off x="4196686" y="-4196687"/>
              <a:ext cx="750629" cy="9143998"/>
            </a:xfrm>
            <a:custGeom>
              <a:avLst/>
              <a:gdLst/>
              <a:ahLst/>
              <a:cxnLst/>
              <a:rect l="l" t="t" r="r" b="b"/>
              <a:pathLst>
                <a:path w="1045586" h="9143998">
                  <a:moveTo>
                    <a:pt x="0" y="9143998"/>
                  </a:moveTo>
                  <a:lnTo>
                    <a:pt x="0" y="0"/>
                  </a:lnTo>
                  <a:lnTo>
                    <a:pt x="725309" y="0"/>
                  </a:lnTo>
                  <a:lnTo>
                    <a:pt x="756374" y="198383"/>
                  </a:lnTo>
                  <a:cubicBezTo>
                    <a:pt x="937051" y="1409478"/>
                    <a:pt x="1045586" y="2962131"/>
                    <a:pt x="1045586" y="4655015"/>
                  </a:cubicBezTo>
                  <a:cubicBezTo>
                    <a:pt x="1045586" y="6347900"/>
                    <a:pt x="937051" y="7900553"/>
                    <a:pt x="756374" y="9111648"/>
                  </a:cubicBezTo>
                  <a:lnTo>
                    <a:pt x="751308" y="9143998"/>
                  </a:lnTo>
                  <a:close/>
                </a:path>
              </a:pathLst>
            </a:custGeom>
            <a:solidFill>
              <a:srgbClr val="FF8E2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218106" y="129598"/>
              <a:ext cx="843390" cy="334448"/>
            </a:xfrm>
            <a:prstGeom prst="rect">
              <a:avLst/>
            </a:prstGeom>
          </p:spPr>
        </p:pic>
      </p:grpSp>
      <p:sp>
        <p:nvSpPr>
          <p:cNvPr id="9" name="TextBox 8"/>
          <p:cNvSpPr txBox="1"/>
          <p:nvPr/>
        </p:nvSpPr>
        <p:spPr>
          <a:xfrm>
            <a:off x="2328020" y="130780"/>
            <a:ext cx="54610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Central de Serviços de TI</a:t>
            </a:r>
            <a:endParaRPr lang="pt-BR" sz="2400" dirty="0" smtClean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27" name="Agrupar 26"/>
          <p:cNvGrpSpPr/>
          <p:nvPr/>
        </p:nvGrpSpPr>
        <p:grpSpPr>
          <a:xfrm>
            <a:off x="288755" y="1061658"/>
            <a:ext cx="2700000" cy="5608877"/>
            <a:chOff x="7099572" y="2011759"/>
            <a:chExt cx="2700000" cy="5608877"/>
          </a:xfrm>
        </p:grpSpPr>
        <p:sp>
          <p:nvSpPr>
            <p:cNvPr id="35" name="Retângulo de cantos arredondados 17"/>
            <p:cNvSpPr/>
            <p:nvPr/>
          </p:nvSpPr>
          <p:spPr>
            <a:xfrm>
              <a:off x="7099572" y="2011759"/>
              <a:ext cx="2700000" cy="720000"/>
            </a:xfrm>
            <a:prstGeom prst="roundRect">
              <a:avLst>
                <a:gd name="adj" fmla="val 7081"/>
              </a:avLst>
            </a:prstGeom>
            <a:solidFill>
              <a:srgbClr val="7030A0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900000"/>
              <a:r>
                <a:rPr lang="pt-BR" sz="2000" b="1" dirty="0" smtClean="0">
                  <a:solidFill>
                    <a:schemeClr val="bg1">
                      <a:lumMod val="9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Benefícios</a:t>
              </a:r>
              <a:endParaRPr lang="pt-BR" sz="2400" b="1" dirty="0">
                <a:solidFill>
                  <a:schemeClr val="bg1">
                    <a:lumMod val="9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7" name="Retângulo 36"/>
            <p:cNvSpPr/>
            <p:nvPr/>
          </p:nvSpPr>
          <p:spPr>
            <a:xfrm>
              <a:off x="7279572" y="2911655"/>
              <a:ext cx="2340000" cy="470898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spcBef>
                  <a:spcPts val="600"/>
                </a:spcBef>
                <a:spcAft>
                  <a:spcPts val="600"/>
                </a:spcAft>
              </a:pPr>
              <a:r>
                <a:rPr lang="pt-BR" sz="1600" b="1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Canal único </a:t>
              </a:r>
              <a:r>
                <a:rPr lang="pt-BR" sz="16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de atendimento</a:t>
              </a:r>
            </a:p>
            <a:p>
              <a:pPr algn="ctr">
                <a:spcBef>
                  <a:spcPts val="600"/>
                </a:spcBef>
                <a:spcAft>
                  <a:spcPts val="600"/>
                </a:spcAft>
              </a:pPr>
              <a:r>
                <a:rPr lang="pt-BR" sz="16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Agilidade </a:t>
              </a:r>
              <a:r>
                <a:rPr lang="pt-BR" sz="16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no atendimento aos chamados</a:t>
              </a:r>
              <a:endParaRPr lang="pt-BR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algn="ctr">
                <a:spcBef>
                  <a:spcPts val="600"/>
                </a:spcBef>
                <a:spcAft>
                  <a:spcPts val="600"/>
                </a:spcAft>
              </a:pPr>
              <a:r>
                <a:rPr lang="pt-BR" sz="16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Abertura de chamados mais </a:t>
              </a:r>
              <a:r>
                <a:rPr lang="pt-BR" sz="1600" b="1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fácil e intuitiva</a:t>
              </a:r>
            </a:p>
            <a:p>
              <a:pPr algn="ctr">
                <a:spcBef>
                  <a:spcPts val="600"/>
                </a:spcBef>
                <a:spcAft>
                  <a:spcPts val="600"/>
                </a:spcAft>
              </a:pPr>
              <a:r>
                <a:rPr lang="pt-BR" sz="16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Facilidade na pesquisa </a:t>
              </a:r>
              <a:r>
                <a:rPr lang="pt-BR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de </a:t>
              </a:r>
              <a:r>
                <a:rPr lang="pt-BR" sz="16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categorias</a:t>
              </a:r>
              <a:endParaRPr lang="pt-BR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algn="ctr">
                <a:spcBef>
                  <a:spcPts val="600"/>
                </a:spcBef>
                <a:spcAft>
                  <a:spcPts val="600"/>
                </a:spcAft>
              </a:pPr>
              <a:r>
                <a:rPr lang="pt-BR" sz="1600" b="1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Rastreabilidade </a:t>
              </a:r>
              <a:r>
                <a:rPr lang="pt-BR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de todas as </a:t>
              </a:r>
              <a:r>
                <a:rPr lang="pt-BR" sz="16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ocorrências </a:t>
              </a:r>
            </a:p>
            <a:p>
              <a:pPr algn="ctr">
                <a:spcBef>
                  <a:spcPts val="600"/>
                </a:spcBef>
                <a:spcAft>
                  <a:spcPts val="600"/>
                </a:spcAft>
              </a:pPr>
              <a:r>
                <a:rPr lang="pt-BR" sz="1600" b="1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Avaliação da satisfação </a:t>
              </a:r>
              <a:r>
                <a:rPr lang="pt-BR" sz="16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dos usuários</a:t>
              </a:r>
              <a:endParaRPr lang="pt-BR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algn="ctr">
                <a:spcBef>
                  <a:spcPts val="600"/>
                </a:spcBef>
                <a:spcAft>
                  <a:spcPts val="600"/>
                </a:spcAft>
              </a:pPr>
              <a:r>
                <a:rPr lang="pt-BR" sz="1600" b="1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Aprimoramento dos controles </a:t>
              </a:r>
              <a:r>
                <a:rPr lang="pt-BR" sz="16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de gestão</a:t>
              </a:r>
            </a:p>
          </p:txBody>
        </p:sp>
      </p:grpSp>
      <p:sp>
        <p:nvSpPr>
          <p:cNvPr id="48" name="Retângulo de cantos arredondados 17"/>
          <p:cNvSpPr/>
          <p:nvPr/>
        </p:nvSpPr>
        <p:spPr>
          <a:xfrm>
            <a:off x="3481044" y="1061658"/>
            <a:ext cx="6259855" cy="720000"/>
          </a:xfrm>
          <a:prstGeom prst="roundRect">
            <a:avLst>
              <a:gd name="adj" fmla="val 7081"/>
            </a:avLst>
          </a:prstGeom>
          <a:solidFill>
            <a:srgbClr val="7030A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900000"/>
            <a:r>
              <a:rPr lang="pt-BR" sz="2000" b="1" dirty="0" smtClean="0">
                <a:solidFill>
                  <a:schemeClr val="bg1">
                    <a:lumMod val="9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Processo</a:t>
            </a:r>
            <a:endParaRPr lang="pt-BR" sz="2400" b="1" dirty="0">
              <a:solidFill>
                <a:schemeClr val="bg1">
                  <a:lumMod val="9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2" name="Imagem 41"/>
          <p:cNvPicPr>
            <a:picLocks noChangeAspect="1"/>
          </p:cNvPicPr>
          <p:nvPr/>
        </p:nvPicPr>
        <p:blipFill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755" y="1112618"/>
            <a:ext cx="618080" cy="618080"/>
          </a:xfrm>
          <a:prstGeom prst="rect">
            <a:avLst/>
          </a:prstGeom>
          <a:effectLst/>
        </p:spPr>
      </p:pic>
      <p:pic>
        <p:nvPicPr>
          <p:cNvPr id="54" name="Imagem 53"/>
          <p:cNvPicPr>
            <a:picLocks noChangeAspect="1"/>
          </p:cNvPicPr>
          <p:nvPr/>
        </p:nvPicPr>
        <p:blipFill>
          <a:blip r:embed="rId4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4039" y="1116946"/>
            <a:ext cx="647920" cy="613752"/>
          </a:xfrm>
          <a:prstGeom prst="rect">
            <a:avLst/>
          </a:prstGeom>
          <a:effectLst/>
        </p:spPr>
      </p:pic>
      <p:grpSp>
        <p:nvGrpSpPr>
          <p:cNvPr id="100" name="Agrupar 99"/>
          <p:cNvGrpSpPr/>
          <p:nvPr/>
        </p:nvGrpSpPr>
        <p:grpSpPr>
          <a:xfrm>
            <a:off x="7243019" y="3251394"/>
            <a:ext cx="1917700" cy="762000"/>
            <a:chOff x="7243019" y="3314894"/>
            <a:chExt cx="1917700" cy="762000"/>
          </a:xfrm>
        </p:grpSpPr>
        <p:sp>
          <p:nvSpPr>
            <p:cNvPr id="59" name="Fluxograma: Processo 58"/>
            <p:cNvSpPr/>
            <p:nvPr/>
          </p:nvSpPr>
          <p:spPr>
            <a:xfrm>
              <a:off x="7789119" y="3314894"/>
              <a:ext cx="1371600" cy="762000"/>
            </a:xfrm>
            <a:prstGeom prst="flowChartProcess">
              <a:avLst/>
            </a:prstGeom>
            <a:solidFill>
              <a:srgbClr val="FF6600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pt-BR" sz="1200" b="1" dirty="0" smtClean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Segoe UI" panose="020B0502040204020203" pitchFamily="34" charset="0"/>
                  <a:cs typeface="Segoe UI" panose="020B0502040204020203" pitchFamily="34" charset="0"/>
                </a:rPr>
                <a:t>Recebe notificação de resolução</a:t>
              </a:r>
              <a:endParaRPr lang="en-US" sz="12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cxnSp>
          <p:nvCxnSpPr>
            <p:cNvPr id="64" name="Conector de Seta Reta 63"/>
            <p:cNvCxnSpPr>
              <a:stCxn id="58" idx="3"/>
              <a:endCxn id="59" idx="1"/>
            </p:cNvCxnSpPr>
            <p:nvPr/>
          </p:nvCxnSpPr>
          <p:spPr>
            <a:xfrm>
              <a:off x="7243019" y="3695894"/>
              <a:ext cx="546100" cy="0"/>
            </a:xfrm>
            <a:prstGeom prst="straightConnector1">
              <a:avLst/>
            </a:prstGeom>
            <a:ln>
              <a:solidFill>
                <a:srgbClr val="7030A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4" name="Agrupar 103"/>
          <p:cNvGrpSpPr/>
          <p:nvPr/>
        </p:nvGrpSpPr>
        <p:grpSpPr>
          <a:xfrm>
            <a:off x="3168894" y="3251394"/>
            <a:ext cx="4074125" cy="3419141"/>
            <a:chOff x="3168894" y="3251394"/>
            <a:chExt cx="4074125" cy="3419141"/>
          </a:xfrm>
        </p:grpSpPr>
        <p:sp>
          <p:nvSpPr>
            <p:cNvPr id="103" name="Texto Explicativo 2 (Borda e Ênfase) 102"/>
            <p:cNvSpPr/>
            <p:nvPr/>
          </p:nvSpPr>
          <p:spPr>
            <a:xfrm rot="10800000" flipV="1">
              <a:off x="3168894" y="4327651"/>
              <a:ext cx="2109639" cy="2342884"/>
            </a:xfrm>
            <a:prstGeom prst="accentBorderCallout2">
              <a:avLst>
                <a:gd name="adj1" fmla="val 26741"/>
                <a:gd name="adj2" fmla="val -4248"/>
                <a:gd name="adj3" fmla="val 26826"/>
                <a:gd name="adj4" fmla="val -20071"/>
                <a:gd name="adj5" fmla="val -37663"/>
                <a:gd name="adj6" fmla="val -53379"/>
              </a:avLst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>
                <a:spcAft>
                  <a:spcPts val="600"/>
                </a:spcAft>
              </a:pPr>
              <a:r>
                <a:rPr lang="pt-BR" sz="1200" b="1" dirty="0" smtClean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SLA de Resposta</a:t>
              </a:r>
              <a:r>
                <a:rPr lang="pt-B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 (da abertura até o primeiro analista assumir o chamado).</a:t>
              </a:r>
            </a:p>
            <a:p>
              <a:pPr>
                <a:spcAft>
                  <a:spcPts val="600"/>
                </a:spcAft>
              </a:pPr>
              <a:r>
                <a:rPr lang="pt-BR" sz="1200" b="1" dirty="0" smtClean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SLA de Resolução </a:t>
              </a:r>
              <a:r>
                <a:rPr lang="pt-B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(chamado assumido até a resolução).</a:t>
              </a:r>
            </a:p>
            <a:p>
              <a:pPr>
                <a:spcAft>
                  <a:spcPts val="600"/>
                </a:spcAft>
              </a:pPr>
              <a:r>
                <a:rPr lang="pt-B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Como </a:t>
              </a:r>
              <a:r>
                <a:rPr lang="pt-BR" sz="1200" b="1" dirty="0" smtClean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pedir prioridade</a:t>
              </a:r>
              <a:r>
                <a:rPr lang="pt-B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? Nesta ordem obrigatoriamente:</a:t>
              </a:r>
            </a:p>
            <a:p>
              <a:pPr marL="180000">
                <a:spcAft>
                  <a:spcPts val="600"/>
                </a:spcAft>
              </a:pPr>
              <a:r>
                <a:rPr lang="pt-B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1º - Nei </a:t>
              </a:r>
              <a:r>
                <a:rPr lang="pt-B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Henckes</a:t>
              </a:r>
              <a:endParaRPr lang="pt-BR" sz="1200" dirty="0" smtClean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  <a:p>
              <a:pPr marL="180000">
                <a:spcAft>
                  <a:spcPts val="600"/>
                </a:spcAft>
              </a:pPr>
              <a:r>
                <a:rPr lang="pt-B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2º - Adriano Barbosa</a:t>
              </a:r>
            </a:p>
            <a:p>
              <a:pPr marL="180000">
                <a:spcAft>
                  <a:spcPts val="600"/>
                </a:spcAft>
              </a:pPr>
              <a:r>
                <a:rPr lang="pt-B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3º - Túlio Maia</a:t>
              </a:r>
            </a:p>
            <a:p>
              <a:pPr>
                <a:spcAft>
                  <a:spcPts val="600"/>
                </a:spcAft>
              </a:pPr>
              <a:endParaRPr lang="pt-BR" sz="12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  <a:p>
              <a:pPr>
                <a:spcAft>
                  <a:spcPts val="600"/>
                </a:spcAft>
              </a:pPr>
              <a:endParaRPr lang="pt-BR" sz="1200" dirty="0" smtClean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grpSp>
          <p:nvGrpSpPr>
            <p:cNvPr id="101" name="Agrupar 100"/>
            <p:cNvGrpSpPr/>
            <p:nvPr/>
          </p:nvGrpSpPr>
          <p:grpSpPr>
            <a:xfrm>
              <a:off x="5325319" y="3251394"/>
              <a:ext cx="1917700" cy="762000"/>
              <a:chOff x="5325319" y="3314894"/>
              <a:chExt cx="1917700" cy="762000"/>
            </a:xfrm>
          </p:grpSpPr>
          <p:sp>
            <p:nvSpPr>
              <p:cNvPr id="58" name="Fluxograma: Processo 57"/>
              <p:cNvSpPr/>
              <p:nvPr/>
            </p:nvSpPr>
            <p:spPr>
              <a:xfrm>
                <a:off x="5871419" y="3314894"/>
                <a:ext cx="1371600" cy="762000"/>
              </a:xfrm>
              <a:prstGeom prst="flowChartProcess">
                <a:avLst/>
              </a:prstGeom>
              <a:solidFill>
                <a:srgbClr val="FF6600"/>
              </a:soli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1200" b="1" dirty="0" smtClean="0">
                    <a:solidFill>
                      <a:schemeClr val="bg1">
                        <a:lumMod val="95000"/>
                      </a:schemeClr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Segoe UI" panose="020B0502040204020203" pitchFamily="34" charset="0"/>
                    <a:cs typeface="Segoe UI" panose="020B0502040204020203" pitchFamily="34" charset="0"/>
                  </a:rPr>
                  <a:t>Aguarda Atendimento do Chamado (SLA)</a:t>
                </a:r>
                <a:endParaRPr lang="en-US" sz="1200" b="1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cxnSp>
            <p:nvCxnSpPr>
              <p:cNvPr id="63" name="Conector de Seta Reta 62"/>
              <p:cNvCxnSpPr>
                <a:stCxn id="55" idx="3"/>
                <a:endCxn id="58" idx="1"/>
              </p:cNvCxnSpPr>
              <p:nvPr/>
            </p:nvCxnSpPr>
            <p:spPr>
              <a:xfrm>
                <a:off x="5325319" y="3695894"/>
                <a:ext cx="546100" cy="0"/>
              </a:xfrm>
              <a:prstGeom prst="straightConnector1">
                <a:avLst/>
              </a:prstGeom>
              <a:ln>
                <a:solidFill>
                  <a:srgbClr val="7030A0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02" name="Agrupar 101"/>
          <p:cNvGrpSpPr/>
          <p:nvPr/>
        </p:nvGrpSpPr>
        <p:grpSpPr>
          <a:xfrm>
            <a:off x="3953719" y="2182842"/>
            <a:ext cx="1371600" cy="1830552"/>
            <a:chOff x="3953719" y="2246342"/>
            <a:chExt cx="1371600" cy="1830552"/>
          </a:xfrm>
        </p:grpSpPr>
        <p:sp>
          <p:nvSpPr>
            <p:cNvPr id="55" name="Fluxograma: Processo 54"/>
            <p:cNvSpPr/>
            <p:nvPr/>
          </p:nvSpPr>
          <p:spPr>
            <a:xfrm>
              <a:off x="3953719" y="3314894"/>
              <a:ext cx="1371600" cy="762000"/>
            </a:xfrm>
            <a:prstGeom prst="flowChartProcess">
              <a:avLst/>
            </a:prstGeom>
            <a:solidFill>
              <a:srgbClr val="FF6600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pt-BR" sz="1200" b="1" dirty="0" smtClean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Segoe UI" panose="020B0502040204020203" pitchFamily="34" charset="0"/>
                  <a:cs typeface="Segoe UI" panose="020B0502040204020203" pitchFamily="34" charset="0"/>
                </a:rPr>
                <a:t>Abre Chamado no JIRA, recebe notificação</a:t>
              </a:r>
              <a:endParaRPr lang="en-US" sz="12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89" name="Agrupar 88"/>
            <p:cNvGrpSpPr>
              <a:grpSpLocks noChangeAspect="1"/>
            </p:cNvGrpSpPr>
            <p:nvPr/>
          </p:nvGrpSpPr>
          <p:grpSpPr>
            <a:xfrm>
              <a:off x="4005837" y="2246342"/>
              <a:ext cx="1260000" cy="1260000"/>
              <a:chOff x="-4743968" y="795076"/>
              <a:chExt cx="6858000" cy="6858000"/>
            </a:xfrm>
          </p:grpSpPr>
          <p:pic>
            <p:nvPicPr>
              <p:cNvPr id="90" name="Imagem 89"/>
              <p:cNvPicPr>
                <a:picLocks noChangeAspect="1"/>
              </p:cNvPicPr>
              <p:nvPr/>
            </p:nvPicPr>
            <p:blipFill>
              <a:blip r:embed="rId5">
                <a:duotone>
                  <a:schemeClr val="accent4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4743968" y="795076"/>
                <a:ext cx="6858000" cy="6858000"/>
              </a:xfrm>
              <a:prstGeom prst="rect">
                <a:avLst/>
              </a:prstGeom>
            </p:spPr>
          </p:pic>
          <p:pic>
            <p:nvPicPr>
              <p:cNvPr id="91" name="Picture 2" descr="https://jira.atlassian.com/images/atlassian-jira-logo-large.png"/>
              <p:cNvPicPr>
                <a:picLocks noChangeAspect="1" noChangeArrowheads="1"/>
              </p:cNvPicPr>
              <p:nvPr/>
            </p:nvPicPr>
            <p:blipFill>
              <a:blip r:embed="rId6">
                <a:duotone>
                  <a:schemeClr val="accent4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-3155804" y="3111645"/>
                <a:ext cx="3686629" cy="144573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98" name="Agrupar 97"/>
          <p:cNvGrpSpPr/>
          <p:nvPr/>
        </p:nvGrpSpPr>
        <p:grpSpPr>
          <a:xfrm>
            <a:off x="5871419" y="1975479"/>
            <a:ext cx="3496385" cy="1263215"/>
            <a:chOff x="5871419" y="2038979"/>
            <a:chExt cx="3496385" cy="1263215"/>
          </a:xfrm>
        </p:grpSpPr>
        <p:cxnSp>
          <p:nvCxnSpPr>
            <p:cNvPr id="70" name="Conector de Seta Reta 69"/>
            <p:cNvCxnSpPr>
              <a:stCxn id="59" idx="0"/>
              <a:endCxn id="78" idx="3"/>
            </p:cNvCxnSpPr>
            <p:nvPr/>
          </p:nvCxnSpPr>
          <p:spPr>
            <a:xfrm rot="16200000" flipV="1">
              <a:off x="7417862" y="2245137"/>
              <a:ext cx="882215" cy="1231900"/>
            </a:xfrm>
            <a:prstGeom prst="bentConnector2">
              <a:avLst/>
            </a:prstGeom>
            <a:ln>
              <a:solidFill>
                <a:srgbClr val="7030A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Fluxograma: Processo 77"/>
            <p:cNvSpPr/>
            <p:nvPr/>
          </p:nvSpPr>
          <p:spPr>
            <a:xfrm>
              <a:off x="5871419" y="2038979"/>
              <a:ext cx="1371600" cy="762000"/>
            </a:xfrm>
            <a:prstGeom prst="flowChartProcess">
              <a:avLst/>
            </a:prstGeom>
            <a:solidFill>
              <a:srgbClr val="FF6600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pt-BR" sz="1200" b="1" dirty="0" smtClean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Segoe UI" panose="020B0502040204020203" pitchFamily="34" charset="0"/>
                  <a:cs typeface="Segoe UI" panose="020B0502040204020203" pitchFamily="34" charset="0"/>
                </a:rPr>
                <a:t>Solicita reabertura do Chamado</a:t>
              </a:r>
              <a:endParaRPr lang="en-US" sz="12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cxnSp>
          <p:nvCxnSpPr>
            <p:cNvPr id="81" name="Conector de Seta Reta 69"/>
            <p:cNvCxnSpPr>
              <a:stCxn id="78" idx="2"/>
              <a:endCxn id="58" idx="0"/>
            </p:cNvCxnSpPr>
            <p:nvPr/>
          </p:nvCxnSpPr>
          <p:spPr>
            <a:xfrm>
              <a:off x="6557219" y="2800979"/>
              <a:ext cx="0" cy="501215"/>
            </a:xfrm>
            <a:prstGeom prst="straightConnector1">
              <a:avLst/>
            </a:prstGeom>
            <a:ln>
              <a:solidFill>
                <a:srgbClr val="7030A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Retângulo 94"/>
            <p:cNvSpPr/>
            <p:nvPr/>
          </p:nvSpPr>
          <p:spPr>
            <a:xfrm>
              <a:off x="8267836" y="2105323"/>
              <a:ext cx="1099968" cy="43088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spcBef>
                  <a:spcPts val="600"/>
                </a:spcBef>
                <a:spcAft>
                  <a:spcPts val="600"/>
                </a:spcAft>
              </a:pPr>
              <a:r>
                <a:rPr lang="pt-BR" sz="11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Solução </a:t>
              </a:r>
              <a:r>
                <a:rPr lang="pt-BR" sz="1100" b="1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não</a:t>
              </a:r>
              <a:r>
                <a:rPr lang="pt-BR" sz="11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atende</a:t>
              </a:r>
            </a:p>
          </p:txBody>
        </p:sp>
      </p:grpSp>
      <p:grpSp>
        <p:nvGrpSpPr>
          <p:cNvPr id="99" name="Agrupar 98"/>
          <p:cNvGrpSpPr/>
          <p:nvPr/>
        </p:nvGrpSpPr>
        <p:grpSpPr>
          <a:xfrm>
            <a:off x="5627078" y="4000694"/>
            <a:ext cx="4166085" cy="2516251"/>
            <a:chOff x="5627078" y="4064194"/>
            <a:chExt cx="4166085" cy="2516251"/>
          </a:xfrm>
        </p:grpSpPr>
        <p:sp>
          <p:nvSpPr>
            <p:cNvPr id="92" name="Triângulo isósceles 91"/>
            <p:cNvSpPr/>
            <p:nvPr/>
          </p:nvSpPr>
          <p:spPr>
            <a:xfrm rot="3084852">
              <a:off x="7149652" y="4920455"/>
              <a:ext cx="1232476" cy="1213092"/>
            </a:xfrm>
            <a:prstGeom prst="triangle">
              <a:avLst/>
            </a:prstGeom>
            <a:ln>
              <a:noFill/>
            </a:ln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Fluxograma: Processo 59"/>
            <p:cNvSpPr/>
            <p:nvPr/>
          </p:nvSpPr>
          <p:spPr>
            <a:xfrm>
              <a:off x="7789119" y="4755908"/>
              <a:ext cx="1371600" cy="762000"/>
            </a:xfrm>
            <a:prstGeom prst="flowChartProcess">
              <a:avLst/>
            </a:prstGeom>
            <a:solidFill>
              <a:srgbClr val="FF6600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pt-BR" sz="1200" b="1" dirty="0" smtClean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Segoe UI" panose="020B0502040204020203" pitchFamily="34" charset="0"/>
                  <a:cs typeface="Segoe UI" panose="020B0502040204020203" pitchFamily="34" charset="0"/>
                </a:rPr>
                <a:t>Responde Pesquisa de Satisfação</a:t>
              </a:r>
              <a:endParaRPr lang="en-US" sz="12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1" name="Imagem 60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627078" y="5441708"/>
              <a:ext cx="2038081" cy="1138737"/>
            </a:xfrm>
            <a:prstGeom prst="rect">
              <a:avLst/>
            </a:prstGeom>
            <a:ln>
              <a:solidFill>
                <a:schemeClr val="bg1">
                  <a:lumMod val="85000"/>
                </a:schemeClr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cxnSp>
          <p:nvCxnSpPr>
            <p:cNvPr id="67" name="Conector de Seta Reta 66"/>
            <p:cNvCxnSpPr>
              <a:stCxn id="59" idx="2"/>
              <a:endCxn id="60" idx="0"/>
            </p:cNvCxnSpPr>
            <p:nvPr/>
          </p:nvCxnSpPr>
          <p:spPr>
            <a:xfrm>
              <a:off x="8474919" y="4064194"/>
              <a:ext cx="0" cy="691714"/>
            </a:xfrm>
            <a:prstGeom prst="straightConnector1">
              <a:avLst/>
            </a:prstGeom>
            <a:ln>
              <a:solidFill>
                <a:srgbClr val="7030A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88" name="Imagem 87"/>
            <p:cNvPicPr>
              <a:picLocks noChangeAspect="1"/>
            </p:cNvPicPr>
            <p:nvPr/>
          </p:nvPicPr>
          <p:blipFill>
            <a:blip r:embed="rId8">
              <a:duotone>
                <a:schemeClr val="accent4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96821" y="4956908"/>
              <a:ext cx="360000" cy="360000"/>
            </a:xfrm>
            <a:prstGeom prst="rect">
              <a:avLst/>
            </a:prstGeom>
          </p:spPr>
        </p:pic>
        <p:sp>
          <p:nvSpPr>
            <p:cNvPr id="97" name="Retângulo 96"/>
            <p:cNvSpPr/>
            <p:nvPr/>
          </p:nvSpPr>
          <p:spPr>
            <a:xfrm>
              <a:off x="8267836" y="4241950"/>
              <a:ext cx="1525327" cy="2616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spcBef>
                  <a:spcPts val="600"/>
                </a:spcBef>
                <a:spcAft>
                  <a:spcPts val="600"/>
                </a:spcAft>
              </a:pPr>
              <a:r>
                <a:rPr lang="pt-BR" sz="11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Solução atende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80056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/>
          <p:cNvGrpSpPr/>
          <p:nvPr/>
        </p:nvGrpSpPr>
        <p:grpSpPr>
          <a:xfrm>
            <a:off x="2" y="-3"/>
            <a:ext cx="10117136" cy="750629"/>
            <a:chOff x="2" y="-3"/>
            <a:chExt cx="9143998" cy="750629"/>
          </a:xfrm>
        </p:grpSpPr>
        <p:sp>
          <p:nvSpPr>
            <p:cNvPr id="7" name="Rectangle 2"/>
            <p:cNvSpPr/>
            <p:nvPr/>
          </p:nvSpPr>
          <p:spPr>
            <a:xfrm rot="5400000">
              <a:off x="4196686" y="-4196687"/>
              <a:ext cx="750629" cy="9143998"/>
            </a:xfrm>
            <a:custGeom>
              <a:avLst/>
              <a:gdLst/>
              <a:ahLst/>
              <a:cxnLst/>
              <a:rect l="l" t="t" r="r" b="b"/>
              <a:pathLst>
                <a:path w="1045586" h="9143998">
                  <a:moveTo>
                    <a:pt x="0" y="9143998"/>
                  </a:moveTo>
                  <a:lnTo>
                    <a:pt x="0" y="0"/>
                  </a:lnTo>
                  <a:lnTo>
                    <a:pt x="725309" y="0"/>
                  </a:lnTo>
                  <a:lnTo>
                    <a:pt x="756374" y="198383"/>
                  </a:lnTo>
                  <a:cubicBezTo>
                    <a:pt x="937051" y="1409478"/>
                    <a:pt x="1045586" y="2962131"/>
                    <a:pt x="1045586" y="4655015"/>
                  </a:cubicBezTo>
                  <a:cubicBezTo>
                    <a:pt x="1045586" y="6347900"/>
                    <a:pt x="937051" y="7900553"/>
                    <a:pt x="756374" y="9111648"/>
                  </a:cubicBezTo>
                  <a:lnTo>
                    <a:pt x="751308" y="9143998"/>
                  </a:lnTo>
                  <a:close/>
                </a:path>
              </a:pathLst>
            </a:custGeom>
            <a:solidFill>
              <a:srgbClr val="FF8E2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218106" y="129598"/>
              <a:ext cx="843390" cy="334448"/>
            </a:xfrm>
            <a:prstGeom prst="rect">
              <a:avLst/>
            </a:prstGeom>
          </p:spPr>
        </p:pic>
      </p:grpSp>
      <p:sp>
        <p:nvSpPr>
          <p:cNvPr id="9" name="TextBox 8"/>
          <p:cNvSpPr txBox="1"/>
          <p:nvPr/>
        </p:nvSpPr>
        <p:spPr>
          <a:xfrm>
            <a:off x="2328020" y="130780"/>
            <a:ext cx="54610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Central de Serviços de TI</a:t>
            </a:r>
            <a:endParaRPr lang="pt-BR" sz="2400" dirty="0" smtClean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8" name="Agrupar 7"/>
          <p:cNvGrpSpPr/>
          <p:nvPr/>
        </p:nvGrpSpPr>
        <p:grpSpPr>
          <a:xfrm>
            <a:off x="381001" y="1692750"/>
            <a:ext cx="2247899" cy="2520000"/>
            <a:chOff x="114301" y="2289650"/>
            <a:chExt cx="2247899" cy="2520000"/>
          </a:xfrm>
        </p:grpSpPr>
        <p:pic>
          <p:nvPicPr>
            <p:cNvPr id="36" name="Imagem 35"/>
            <p:cNvPicPr>
              <a:picLocks noChangeAspect="1"/>
            </p:cNvPicPr>
            <p:nvPr/>
          </p:nvPicPr>
          <p:blipFill rotWithShape="1">
            <a:blip r:embed="rId3">
              <a:duotone>
                <a:schemeClr val="accent4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0797"/>
            <a:stretch/>
          </p:blipFill>
          <p:spPr>
            <a:xfrm>
              <a:off x="114301" y="2289650"/>
              <a:ext cx="2247899" cy="2520000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91" name="Picture 2" descr="https://jira.atlassian.com/images/atlassian-jira-logo-large.png"/>
            <p:cNvPicPr>
              <a:picLocks noChangeAspect="1" noChangeArrowheads="1"/>
            </p:cNvPicPr>
            <p:nvPr/>
          </p:nvPicPr>
          <p:blipFill>
            <a:blip r:embed="rId4">
              <a:duotone>
                <a:schemeClr val="accent4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7879" y="3140882"/>
              <a:ext cx="1354666" cy="5312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5"/>
          <a:srcRect l="21261" t="19921" r="21278" b="12390"/>
          <a:stretch/>
        </p:blipFill>
        <p:spPr>
          <a:xfrm>
            <a:off x="3149107" y="1003300"/>
            <a:ext cx="6210300" cy="38989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CaixaDeTexto 9"/>
          <p:cNvSpPr txBox="1"/>
          <p:nvPr/>
        </p:nvSpPr>
        <p:spPr>
          <a:xfrm>
            <a:off x="3403600" y="1705450"/>
            <a:ext cx="5524500" cy="4916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pt-BR" b="1" dirty="0" smtClean="0">
                <a:solidFill>
                  <a:srgbClr val="FF0000"/>
                </a:solidFill>
              </a:rPr>
              <a:t>                                                                     PESQUISA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43" name="CaixaDeTexto 42"/>
          <p:cNvSpPr txBox="1"/>
          <p:nvPr/>
        </p:nvSpPr>
        <p:spPr>
          <a:xfrm>
            <a:off x="3403600" y="2648862"/>
            <a:ext cx="1370978" cy="21517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 anchor="b">
            <a:noAutofit/>
          </a:bodyPr>
          <a:lstStyle/>
          <a:p>
            <a:pPr algn="ctr"/>
            <a:r>
              <a:rPr lang="pt-BR" b="1" dirty="0" smtClean="0">
                <a:solidFill>
                  <a:srgbClr val="FF0000"/>
                </a:solidFill>
              </a:rPr>
              <a:t>GRUPOS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44" name="Retângulo 43"/>
          <p:cNvSpPr/>
          <p:nvPr/>
        </p:nvSpPr>
        <p:spPr>
          <a:xfrm>
            <a:off x="348628" y="5067632"/>
            <a:ext cx="9768509" cy="18466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pt-BR" sz="12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Cliente Smiles</a:t>
            </a:r>
            <a:r>
              <a:rPr lang="pt-B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 falhas ou solicitações relacionadas aos participantes Smiles (clientes finais)</a:t>
            </a:r>
          </a:p>
          <a:p>
            <a:pPr>
              <a:spcAft>
                <a:spcPts val="600"/>
              </a:spcAft>
            </a:pPr>
            <a:r>
              <a:rPr lang="pt-BR" sz="12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Escritório / Informática</a:t>
            </a:r>
            <a:r>
              <a:rPr lang="pt-B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 falhas ou solicitações relacionadas a facilidades de TI (laptops, impressora), ou seja, chamados para o Zé! rs.</a:t>
            </a:r>
          </a:p>
          <a:p>
            <a:pPr>
              <a:spcAft>
                <a:spcPts val="600"/>
              </a:spcAft>
            </a:pPr>
            <a:r>
              <a:rPr lang="pt-BR" sz="12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Gestão de Acessos</a:t>
            </a:r>
            <a:r>
              <a:rPr lang="pt-B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 solicitações de acesso (responsabilidade Qualidade / Seg. Informação).</a:t>
            </a:r>
          </a:p>
          <a:p>
            <a:pPr>
              <a:spcAft>
                <a:spcPts val="600"/>
              </a:spcAft>
            </a:pPr>
            <a:r>
              <a:rPr lang="pt-BR" sz="12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TI para TI</a:t>
            </a:r>
            <a:r>
              <a:rPr lang="pt-B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 solicitações internas em TI (ex.: desenvolvedores para time de operação).</a:t>
            </a:r>
          </a:p>
          <a:p>
            <a:pPr>
              <a:spcAft>
                <a:spcPts val="600"/>
              </a:spcAft>
            </a:pPr>
            <a:r>
              <a:rPr lang="pt-BR" sz="12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Áreas de Negócio</a:t>
            </a:r>
            <a:r>
              <a:rPr lang="pt-B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 falhas ou solicitações relacionadas a temas das áreas de negócio / áreas internas da Smiles.</a:t>
            </a:r>
          </a:p>
          <a:p>
            <a:pPr algn="ctr">
              <a:spcAft>
                <a:spcPts val="600"/>
              </a:spcAft>
            </a:pPr>
            <a:r>
              <a:rPr lang="pt-BR" sz="1200" b="1" dirty="0" smtClean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Obs.: você terá acesso apenas aos Grupos que estiverem no contexto de suas atividades profissionais!</a:t>
            </a:r>
          </a:p>
          <a:p>
            <a:pPr>
              <a:spcAft>
                <a:spcPts val="600"/>
              </a:spcAft>
            </a:pPr>
            <a:endParaRPr lang="pt-BR" sz="1200" dirty="0" smtClean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89232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43" grpId="0" animBg="1"/>
      <p:bldP spid="4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/>
          <p:cNvPicPr>
            <a:picLocks noChangeAspect="1"/>
          </p:cNvPicPr>
          <p:nvPr/>
        </p:nvPicPr>
        <p:blipFill rotWithShape="1">
          <a:blip r:embed="rId2"/>
          <a:srcRect l="21370" t="21586" r="23774"/>
          <a:stretch/>
        </p:blipFill>
        <p:spPr>
          <a:xfrm>
            <a:off x="2790180" y="1171119"/>
            <a:ext cx="7137400" cy="543742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2" name="Grupo 1"/>
          <p:cNvGrpSpPr/>
          <p:nvPr/>
        </p:nvGrpSpPr>
        <p:grpSpPr>
          <a:xfrm>
            <a:off x="2" y="-3"/>
            <a:ext cx="10117136" cy="750629"/>
            <a:chOff x="2" y="-3"/>
            <a:chExt cx="9143998" cy="750629"/>
          </a:xfrm>
        </p:grpSpPr>
        <p:sp>
          <p:nvSpPr>
            <p:cNvPr id="7" name="Rectangle 2"/>
            <p:cNvSpPr/>
            <p:nvPr/>
          </p:nvSpPr>
          <p:spPr>
            <a:xfrm rot="5400000">
              <a:off x="4196686" y="-4196687"/>
              <a:ext cx="750629" cy="9143998"/>
            </a:xfrm>
            <a:custGeom>
              <a:avLst/>
              <a:gdLst/>
              <a:ahLst/>
              <a:cxnLst/>
              <a:rect l="l" t="t" r="r" b="b"/>
              <a:pathLst>
                <a:path w="1045586" h="9143998">
                  <a:moveTo>
                    <a:pt x="0" y="9143998"/>
                  </a:moveTo>
                  <a:lnTo>
                    <a:pt x="0" y="0"/>
                  </a:lnTo>
                  <a:lnTo>
                    <a:pt x="725309" y="0"/>
                  </a:lnTo>
                  <a:lnTo>
                    <a:pt x="756374" y="198383"/>
                  </a:lnTo>
                  <a:cubicBezTo>
                    <a:pt x="937051" y="1409478"/>
                    <a:pt x="1045586" y="2962131"/>
                    <a:pt x="1045586" y="4655015"/>
                  </a:cubicBezTo>
                  <a:cubicBezTo>
                    <a:pt x="1045586" y="6347900"/>
                    <a:pt x="937051" y="7900553"/>
                    <a:pt x="756374" y="9111648"/>
                  </a:cubicBezTo>
                  <a:lnTo>
                    <a:pt x="751308" y="9143998"/>
                  </a:lnTo>
                  <a:close/>
                </a:path>
              </a:pathLst>
            </a:custGeom>
            <a:solidFill>
              <a:srgbClr val="FF8E2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18106" y="129598"/>
              <a:ext cx="843390" cy="334448"/>
            </a:xfrm>
            <a:prstGeom prst="rect">
              <a:avLst/>
            </a:prstGeom>
          </p:spPr>
        </p:pic>
      </p:grpSp>
      <p:sp>
        <p:nvSpPr>
          <p:cNvPr id="9" name="TextBox 8"/>
          <p:cNvSpPr txBox="1"/>
          <p:nvPr/>
        </p:nvSpPr>
        <p:spPr>
          <a:xfrm>
            <a:off x="2328020" y="130780"/>
            <a:ext cx="54610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Central de Serviços de TI</a:t>
            </a:r>
            <a:endParaRPr lang="pt-BR" sz="2400" dirty="0" smtClean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8" name="Agrupar 7"/>
          <p:cNvGrpSpPr/>
          <p:nvPr/>
        </p:nvGrpSpPr>
        <p:grpSpPr>
          <a:xfrm>
            <a:off x="381001" y="1692750"/>
            <a:ext cx="2247899" cy="2520000"/>
            <a:chOff x="114301" y="2289650"/>
            <a:chExt cx="2247899" cy="2520000"/>
          </a:xfrm>
        </p:grpSpPr>
        <p:pic>
          <p:nvPicPr>
            <p:cNvPr id="36" name="Imagem 35"/>
            <p:cNvPicPr>
              <a:picLocks noChangeAspect="1"/>
            </p:cNvPicPr>
            <p:nvPr/>
          </p:nvPicPr>
          <p:blipFill rotWithShape="1">
            <a:blip r:embed="rId4">
              <a:duotone>
                <a:schemeClr val="accent4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0797"/>
            <a:stretch/>
          </p:blipFill>
          <p:spPr>
            <a:xfrm>
              <a:off x="114301" y="2289650"/>
              <a:ext cx="2247899" cy="2520000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91" name="Picture 2" descr="https://jira.atlassian.com/images/atlassian-jira-logo-large.png"/>
            <p:cNvPicPr>
              <a:picLocks noChangeAspect="1" noChangeArrowheads="1"/>
            </p:cNvPicPr>
            <p:nvPr/>
          </p:nvPicPr>
          <p:blipFill>
            <a:blip r:embed="rId5">
              <a:duotone>
                <a:schemeClr val="accent4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7879" y="3140882"/>
              <a:ext cx="1354666" cy="5312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0" name="CaixaDeTexto 9"/>
          <p:cNvSpPr txBox="1"/>
          <p:nvPr/>
        </p:nvSpPr>
        <p:spPr>
          <a:xfrm>
            <a:off x="5245100" y="3242150"/>
            <a:ext cx="4445000" cy="8345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 anchor="b">
            <a:noAutofit/>
          </a:bodyPr>
          <a:lstStyle/>
          <a:p>
            <a:pPr algn="r"/>
            <a:r>
              <a:rPr lang="pt-BR" b="1" dirty="0" smtClean="0">
                <a:solidFill>
                  <a:srgbClr val="FF0000"/>
                </a:solidFill>
              </a:rPr>
              <a:t>                                                                     CATEGORIA DO CHAMADO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43" name="CaixaDeTexto 42"/>
          <p:cNvSpPr txBox="1"/>
          <p:nvPr/>
        </p:nvSpPr>
        <p:spPr>
          <a:xfrm>
            <a:off x="2997200" y="2451099"/>
            <a:ext cx="1777378" cy="412750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 anchor="b">
            <a:noAutofit/>
          </a:bodyPr>
          <a:lstStyle/>
          <a:p>
            <a:pPr algn="r"/>
            <a:r>
              <a:rPr lang="pt-BR" b="1" dirty="0" smtClean="0">
                <a:solidFill>
                  <a:srgbClr val="FF0000"/>
                </a:solidFill>
              </a:rPr>
              <a:t>SUBGRUPOS</a:t>
            </a:r>
          </a:p>
          <a:p>
            <a:pPr algn="ctr"/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04034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4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/>
          <p:cNvGrpSpPr/>
          <p:nvPr/>
        </p:nvGrpSpPr>
        <p:grpSpPr>
          <a:xfrm>
            <a:off x="2" y="-3"/>
            <a:ext cx="10117136" cy="750629"/>
            <a:chOff x="2" y="-3"/>
            <a:chExt cx="9143998" cy="750629"/>
          </a:xfrm>
        </p:grpSpPr>
        <p:sp>
          <p:nvSpPr>
            <p:cNvPr id="7" name="Rectangle 2"/>
            <p:cNvSpPr/>
            <p:nvPr/>
          </p:nvSpPr>
          <p:spPr>
            <a:xfrm rot="5400000">
              <a:off x="4196686" y="-4196687"/>
              <a:ext cx="750629" cy="9143998"/>
            </a:xfrm>
            <a:custGeom>
              <a:avLst/>
              <a:gdLst/>
              <a:ahLst/>
              <a:cxnLst/>
              <a:rect l="l" t="t" r="r" b="b"/>
              <a:pathLst>
                <a:path w="1045586" h="9143998">
                  <a:moveTo>
                    <a:pt x="0" y="9143998"/>
                  </a:moveTo>
                  <a:lnTo>
                    <a:pt x="0" y="0"/>
                  </a:lnTo>
                  <a:lnTo>
                    <a:pt x="725309" y="0"/>
                  </a:lnTo>
                  <a:lnTo>
                    <a:pt x="756374" y="198383"/>
                  </a:lnTo>
                  <a:cubicBezTo>
                    <a:pt x="937051" y="1409478"/>
                    <a:pt x="1045586" y="2962131"/>
                    <a:pt x="1045586" y="4655015"/>
                  </a:cubicBezTo>
                  <a:cubicBezTo>
                    <a:pt x="1045586" y="6347900"/>
                    <a:pt x="937051" y="7900553"/>
                    <a:pt x="756374" y="9111648"/>
                  </a:cubicBezTo>
                  <a:lnTo>
                    <a:pt x="751308" y="9143998"/>
                  </a:lnTo>
                  <a:close/>
                </a:path>
              </a:pathLst>
            </a:custGeom>
            <a:solidFill>
              <a:srgbClr val="FF8E2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218106" y="129598"/>
              <a:ext cx="843390" cy="334448"/>
            </a:xfrm>
            <a:prstGeom prst="rect">
              <a:avLst/>
            </a:prstGeom>
          </p:spPr>
        </p:pic>
      </p:grpSp>
      <p:sp>
        <p:nvSpPr>
          <p:cNvPr id="9" name="TextBox 8"/>
          <p:cNvSpPr txBox="1"/>
          <p:nvPr/>
        </p:nvSpPr>
        <p:spPr>
          <a:xfrm>
            <a:off x="2328020" y="130780"/>
            <a:ext cx="54610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Central de Serviços de TI</a:t>
            </a:r>
            <a:endParaRPr lang="pt-BR" sz="2400" dirty="0" smtClean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8" name="Agrupar 7"/>
          <p:cNvGrpSpPr>
            <a:grpSpLocks noChangeAspect="1"/>
          </p:cNvGrpSpPr>
          <p:nvPr/>
        </p:nvGrpSpPr>
        <p:grpSpPr>
          <a:xfrm>
            <a:off x="4594253" y="1118010"/>
            <a:ext cx="4816926" cy="5400000"/>
            <a:chOff x="114301" y="2289650"/>
            <a:chExt cx="2247899" cy="2520000"/>
          </a:xfrm>
        </p:grpSpPr>
        <p:pic>
          <p:nvPicPr>
            <p:cNvPr id="36" name="Imagem 35"/>
            <p:cNvPicPr>
              <a:picLocks noChangeAspect="1"/>
            </p:cNvPicPr>
            <p:nvPr/>
          </p:nvPicPr>
          <p:blipFill rotWithShape="1">
            <a:blip r:embed="rId3">
              <a:duotone>
                <a:schemeClr val="accent4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0797"/>
            <a:stretch/>
          </p:blipFill>
          <p:spPr>
            <a:xfrm>
              <a:off x="114301" y="2289650"/>
              <a:ext cx="2247899" cy="2520000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91" name="Picture 2" descr="https://jira.atlassian.com/images/atlassian-jira-logo-large.png"/>
            <p:cNvPicPr>
              <a:picLocks noChangeAspect="1" noChangeArrowheads="1"/>
            </p:cNvPicPr>
            <p:nvPr/>
          </p:nvPicPr>
          <p:blipFill>
            <a:blip r:embed="rId4">
              <a:duotone>
                <a:schemeClr val="accent4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7879" y="3140882"/>
              <a:ext cx="1354666" cy="5312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2" name="Retângulo de cantos arredondados 17"/>
          <p:cNvSpPr/>
          <p:nvPr/>
        </p:nvSpPr>
        <p:spPr>
          <a:xfrm>
            <a:off x="807473" y="2942078"/>
            <a:ext cx="3955027" cy="1426721"/>
          </a:xfrm>
          <a:prstGeom prst="rightArrow">
            <a:avLst/>
          </a:prstGeom>
          <a:solidFill>
            <a:srgbClr val="7030A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000" b="1" dirty="0" smtClean="0">
                <a:solidFill>
                  <a:schemeClr val="bg1">
                    <a:lumMod val="9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Agora vamos ao</a:t>
            </a:r>
            <a:endParaRPr lang="pt-BR" sz="2400" b="1" dirty="0">
              <a:solidFill>
                <a:schemeClr val="bg1">
                  <a:lumMod val="9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17396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2868</TotalTime>
  <Words>417</Words>
  <Application>Microsoft Office PowerPoint</Application>
  <PresentationFormat>Personalizar</PresentationFormat>
  <Paragraphs>65</Paragraphs>
  <Slides>6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</vt:i4>
      </vt:variant>
    </vt:vector>
  </HeadingPairs>
  <TitlesOfParts>
    <vt:vector size="12" baseType="lpstr">
      <vt:lpstr>Arial</vt:lpstr>
      <vt:lpstr>Calibri</vt:lpstr>
      <vt:lpstr>Gotham Rounded Book</vt:lpstr>
      <vt:lpstr>Segoe UI</vt:lpstr>
      <vt:lpstr>Trebuchet MS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fred</dc:creator>
  <cp:lastModifiedBy>Jorge Filho</cp:lastModifiedBy>
  <cp:revision>251</cp:revision>
  <dcterms:created xsi:type="dcterms:W3CDTF">2014-01-24T21:35:00Z</dcterms:created>
  <dcterms:modified xsi:type="dcterms:W3CDTF">2015-12-15T17:19:51Z</dcterms:modified>
</cp:coreProperties>
</file>