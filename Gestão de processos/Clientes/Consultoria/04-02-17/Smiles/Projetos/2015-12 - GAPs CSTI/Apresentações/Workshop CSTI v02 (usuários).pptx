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7" r:id="rId2"/>
    <p:sldId id="339" r:id="rId3"/>
    <p:sldId id="338" r:id="rId4"/>
    <p:sldId id="343" r:id="rId5"/>
    <p:sldId id="340" r:id="rId6"/>
    <p:sldId id="341" r:id="rId7"/>
    <p:sldId id="344" r:id="rId8"/>
    <p:sldId id="345" r:id="rId9"/>
    <p:sldId id="342" r:id="rId10"/>
  </p:sldIdLst>
  <p:sldSz cx="10117138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87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  <a:srgbClr val="D0462D"/>
    <a:srgbClr val="F57124"/>
    <a:srgbClr val="F68E1E"/>
    <a:srgbClr val="99CCFF"/>
    <a:srgbClr val="FF9900"/>
    <a:srgbClr val="000000"/>
    <a:srgbClr val="EE6829"/>
    <a:srgbClr val="E28734"/>
    <a:srgbClr val="F4BC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12C8C85-51F0-491E-9774-3900AFEF0FD7}" styleName="Estilo Claro 2 - Ênfase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F2DE63D5-997A-4646-A377-4702673A728D}" styleName="Estilo Claro 2 - Ênfase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29" autoAdjust="0"/>
    <p:restoredTop sz="94660"/>
  </p:normalViewPr>
  <p:slideViewPr>
    <p:cSldViewPr snapToGrid="0" snapToObjects="1">
      <p:cViewPr varScale="1">
        <p:scale>
          <a:sx n="73" d="100"/>
          <a:sy n="73" d="100"/>
        </p:scale>
        <p:origin x="504" y="78"/>
      </p:cViewPr>
      <p:guideLst>
        <p:guide orient="horz" pos="2160"/>
        <p:guide pos="318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2CD1B9-1777-43A0-8DF4-B945C46147BD}" type="datetimeFigureOut">
              <a:rPr lang="pt-BR" smtClean="0"/>
              <a:t>18/12/2015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900113" y="685800"/>
            <a:ext cx="505777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245040-EFBE-493F-96A2-B5DCAE3ADE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66815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8786" y="2130428"/>
            <a:ext cx="8599567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17571" y="3886200"/>
            <a:ext cx="7081997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12/18/2015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1989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12/18/2015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307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9184" y="4406903"/>
            <a:ext cx="8599567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9184" y="2906713"/>
            <a:ext cx="8599567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12/18/2015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5747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5857" y="1600203"/>
            <a:ext cx="446840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42878" y="1600203"/>
            <a:ext cx="446840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12/18/2015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3154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5857" y="1535113"/>
            <a:ext cx="447016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5857" y="2174875"/>
            <a:ext cx="447016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39367" y="1535113"/>
            <a:ext cx="4471916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39367" y="2174875"/>
            <a:ext cx="4471916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12/18/2015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9741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12/18/2015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38014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12/18/2015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39489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5857" y="273050"/>
            <a:ext cx="3328469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521" y="273053"/>
            <a:ext cx="565576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5857" y="1435103"/>
            <a:ext cx="3328469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12/18/2015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80566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3030" y="4800600"/>
            <a:ext cx="6070283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83030" y="612775"/>
            <a:ext cx="6070283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83030" y="5367338"/>
            <a:ext cx="6070283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12/18/2015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7010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12/18/2015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30059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34925" y="274641"/>
            <a:ext cx="2276356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5857" y="274641"/>
            <a:ext cx="666044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12/18/2015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8642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5857" y="274638"/>
            <a:ext cx="9105424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5857" y="1600203"/>
            <a:ext cx="9105424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05857" y="6356353"/>
            <a:ext cx="236066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04C65E-0501-3244-B235-0438CC858404}" type="datetimeFigureOut">
              <a:rPr lang="en-US" smtClean="0"/>
              <a:pPr/>
              <a:t>12/18/2015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56689" y="6356353"/>
            <a:ext cx="32037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250615" y="6356353"/>
            <a:ext cx="236066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5292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/>
          <p:nvPr/>
        </p:nvSpPr>
        <p:spPr>
          <a:xfrm>
            <a:off x="-1393" y="3"/>
            <a:ext cx="6375313" cy="6857999"/>
          </a:xfrm>
          <a:custGeom>
            <a:avLst/>
            <a:gdLst/>
            <a:ahLst/>
            <a:cxnLst/>
            <a:rect l="l" t="t" r="r" b="b"/>
            <a:pathLst>
              <a:path w="5762090" h="6857999">
                <a:moveTo>
                  <a:pt x="0" y="0"/>
                </a:moveTo>
                <a:lnTo>
                  <a:pt x="1920697" y="0"/>
                </a:lnTo>
                <a:lnTo>
                  <a:pt x="3279881" y="0"/>
                </a:lnTo>
                <a:lnTo>
                  <a:pt x="5200578" y="0"/>
                </a:lnTo>
                <a:lnTo>
                  <a:pt x="5255041" y="148787"/>
                </a:lnTo>
                <a:cubicBezTo>
                  <a:pt x="5571805" y="1057108"/>
                  <a:pt x="5762090" y="2221597"/>
                  <a:pt x="5762090" y="3491260"/>
                </a:cubicBezTo>
                <a:cubicBezTo>
                  <a:pt x="5762090" y="4760923"/>
                  <a:pt x="5571805" y="5925412"/>
                  <a:pt x="5255041" y="6833733"/>
                </a:cubicBezTo>
                <a:lnTo>
                  <a:pt x="5246158" y="6857999"/>
                </a:lnTo>
                <a:lnTo>
                  <a:pt x="3325461" y="6857999"/>
                </a:lnTo>
                <a:lnTo>
                  <a:pt x="1920697" y="6857999"/>
                </a:lnTo>
                <a:lnTo>
                  <a:pt x="0" y="6857999"/>
                </a:lnTo>
                <a:close/>
              </a:path>
            </a:pathLst>
          </a:custGeom>
          <a:solidFill>
            <a:srgbClr val="FF8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1303" y="3276362"/>
            <a:ext cx="2206288" cy="78751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41949" y="1174537"/>
            <a:ext cx="5688627" cy="46320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Workshop </a:t>
            </a:r>
            <a:endParaRPr lang="pt-BR" sz="3600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r>
              <a:rPr lang="pt-BR" sz="44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Central de </a:t>
            </a:r>
          </a:p>
          <a:p>
            <a:r>
              <a:rPr lang="pt-BR" sz="44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Serviços de TI</a:t>
            </a:r>
          </a:p>
          <a:p>
            <a:endParaRPr lang="pt-BR" sz="3600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r>
              <a:rPr lang="pt-BR" sz="2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O novo modelo </a:t>
            </a:r>
          </a:p>
          <a:p>
            <a:r>
              <a:rPr lang="pt-BR" sz="2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de suporte de TI </a:t>
            </a:r>
          </a:p>
          <a:p>
            <a:r>
              <a:rPr lang="pt-BR" sz="2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aos colaboradores e </a:t>
            </a:r>
          </a:p>
          <a:p>
            <a:r>
              <a:rPr lang="pt-BR" sz="2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Central de Atendimento</a:t>
            </a:r>
          </a:p>
          <a:p>
            <a:endParaRPr lang="en-US" sz="1100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en-US" sz="1600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r>
              <a:rPr lang="en-US" sz="160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Dezembro</a:t>
            </a:r>
            <a:r>
              <a:rPr lang="en-US" sz="16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/2015</a:t>
            </a:r>
            <a:endParaRPr lang="en-US" sz="1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4161" y="719704"/>
            <a:ext cx="1080000" cy="1080000"/>
          </a:xfrm>
          <a:prstGeom prst="rect">
            <a:avLst/>
          </a:prstGeom>
        </p:spPr>
      </p:pic>
      <p:pic>
        <p:nvPicPr>
          <p:cNvPr id="8" name="Imagem 7"/>
          <p:cNvPicPr>
            <a:picLocks noChangeAspect="1"/>
          </p:cNvPicPr>
          <p:nvPr/>
        </p:nvPicPr>
        <p:blipFill>
          <a:blip r:embed="rId4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3523" y="4186130"/>
            <a:ext cx="1080000" cy="1080000"/>
          </a:xfrm>
          <a:prstGeom prst="rect">
            <a:avLst/>
          </a:prstGeom>
        </p:spPr>
      </p:pic>
      <p:pic>
        <p:nvPicPr>
          <p:cNvPr id="10" name="Imagem 9"/>
          <p:cNvPicPr>
            <a:picLocks noChangeAspect="1"/>
          </p:cNvPicPr>
          <p:nvPr/>
        </p:nvPicPr>
        <p:blipFill>
          <a:blip r:embed="rId5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2248" y="2882276"/>
            <a:ext cx="1080000" cy="1080000"/>
          </a:xfrm>
          <a:prstGeom prst="rect">
            <a:avLst/>
          </a:prstGeom>
        </p:spPr>
      </p:pic>
      <p:pic>
        <p:nvPicPr>
          <p:cNvPr id="11" name="Imagem 10"/>
          <p:cNvPicPr>
            <a:picLocks noChangeAspect="1"/>
          </p:cNvPicPr>
          <p:nvPr/>
        </p:nvPicPr>
        <p:blipFill>
          <a:blip r:embed="rId6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2885" y="1913615"/>
            <a:ext cx="1080000" cy="1080000"/>
          </a:xfrm>
          <a:prstGeom prst="rect">
            <a:avLst/>
          </a:prstGeom>
        </p:spPr>
      </p:pic>
      <p:pic>
        <p:nvPicPr>
          <p:cNvPr id="12" name="Imagem 11"/>
          <p:cNvPicPr>
            <a:picLocks noChangeAspect="1"/>
          </p:cNvPicPr>
          <p:nvPr/>
        </p:nvPicPr>
        <p:blipFill>
          <a:blip r:embed="rId7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4799" y="5214388"/>
            <a:ext cx="1080000" cy="1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53599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2328020" y="130780"/>
            <a:ext cx="5461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Central de Serviços de TI</a:t>
            </a:r>
          </a:p>
        </p:txBody>
      </p:sp>
      <p:grpSp>
        <p:nvGrpSpPr>
          <p:cNvPr id="26" name="Agrupar 25"/>
          <p:cNvGrpSpPr/>
          <p:nvPr/>
        </p:nvGrpSpPr>
        <p:grpSpPr>
          <a:xfrm>
            <a:off x="3773050" y="2212601"/>
            <a:ext cx="2700000" cy="4306794"/>
            <a:chOff x="3801446" y="1120595"/>
            <a:chExt cx="2700000" cy="4306794"/>
          </a:xfrm>
        </p:grpSpPr>
        <p:sp>
          <p:nvSpPr>
            <p:cNvPr id="24" name="Retângulo de cantos arredondados 17"/>
            <p:cNvSpPr/>
            <p:nvPr/>
          </p:nvSpPr>
          <p:spPr>
            <a:xfrm>
              <a:off x="3801446" y="1120595"/>
              <a:ext cx="2700000" cy="720000"/>
            </a:xfrm>
            <a:prstGeom prst="roundRect">
              <a:avLst>
                <a:gd name="adj" fmla="val 7081"/>
              </a:avLst>
            </a:prstGeom>
            <a:solidFill>
              <a:srgbClr val="7030A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900000"/>
              <a:r>
                <a:rPr lang="pt-BR" sz="2000" b="1" dirty="0" smtClean="0">
                  <a:solidFill>
                    <a:schemeClr val="bg1">
                      <a:lumMod val="9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Implantação</a:t>
              </a:r>
              <a:endParaRPr lang="pt-BR" sz="2000" b="1" dirty="0">
                <a:solidFill>
                  <a:schemeClr val="bg1">
                    <a:lumMod val="9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1" name="Imagem 10"/>
            <p:cNvPicPr>
              <a:picLocks noChangeAspect="1"/>
            </p:cNvPicPr>
            <p:nvPr/>
          </p:nvPicPr>
          <p:blipFill>
            <a:blip r:embed="rId3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75069" y="1210595"/>
              <a:ext cx="540000" cy="540000"/>
            </a:xfrm>
            <a:prstGeom prst="rect">
              <a:avLst/>
            </a:prstGeom>
            <a:effectLst/>
          </p:spPr>
        </p:pic>
        <p:sp>
          <p:nvSpPr>
            <p:cNvPr id="30" name="Retângulo 29"/>
            <p:cNvSpPr/>
            <p:nvPr/>
          </p:nvSpPr>
          <p:spPr>
            <a:xfrm>
              <a:off x="3979040" y="2011069"/>
              <a:ext cx="2340000" cy="34163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spcBef>
                  <a:spcPts val="600"/>
                </a:spcBef>
                <a:spcAft>
                  <a:spcPts val="600"/>
                </a:spcAft>
              </a:pPr>
              <a:r>
                <a:rPr lang="pt-BR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Elaboração do </a:t>
              </a:r>
              <a:r>
                <a:rPr lang="pt-BR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Catálogo de Serviços</a:t>
              </a:r>
            </a:p>
            <a:p>
              <a:pPr algn="ctr">
                <a:spcBef>
                  <a:spcPts val="600"/>
                </a:spcBef>
                <a:spcAft>
                  <a:spcPts val="600"/>
                </a:spcAft>
              </a:pPr>
              <a:r>
                <a:rPr lang="pt-BR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Novos </a:t>
              </a:r>
              <a:r>
                <a:rPr lang="pt-BR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fluxos de </a:t>
              </a:r>
              <a:r>
                <a:rPr lang="pt-BR" sz="16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atendimento</a:t>
              </a:r>
              <a:endParaRPr lang="pt-BR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  <a:p>
              <a:pPr algn="ctr">
                <a:spcBef>
                  <a:spcPts val="600"/>
                </a:spcBef>
                <a:spcAft>
                  <a:spcPts val="600"/>
                </a:spcAft>
              </a:pPr>
              <a:r>
                <a:rPr lang="pt-BR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Nova </a:t>
              </a:r>
              <a:r>
                <a:rPr lang="pt-BR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interface para abertura de chamados </a:t>
              </a:r>
              <a:endParaRPr lang="pt-BR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  <a:p>
              <a:pPr algn="ctr">
                <a:spcBef>
                  <a:spcPts val="600"/>
                </a:spcBef>
                <a:spcAft>
                  <a:spcPts val="600"/>
                </a:spcAft>
              </a:pPr>
              <a:r>
                <a:rPr lang="pt-BR" sz="16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Definições </a:t>
              </a:r>
              <a:r>
                <a:rPr lang="pt-BR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de </a:t>
              </a:r>
              <a:r>
                <a:rPr lang="pt-BR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Prioridades e </a:t>
              </a:r>
              <a:r>
                <a:rPr lang="pt-BR" sz="1600" b="1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SLAs</a:t>
              </a:r>
              <a:endParaRPr lang="pt-BR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  <a:p>
              <a:pPr algn="ctr">
                <a:spcBef>
                  <a:spcPts val="600"/>
                </a:spcBef>
                <a:spcAft>
                  <a:spcPts val="600"/>
                </a:spcAft>
              </a:pPr>
              <a:r>
                <a:rPr lang="pt-BR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Materiais de </a:t>
              </a:r>
              <a:r>
                <a:rPr lang="pt-BR" sz="16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consulta </a:t>
              </a:r>
              <a:r>
                <a:rPr lang="pt-BR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e orientação</a:t>
              </a:r>
              <a:r>
                <a:rPr lang="pt-BR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 aos colaboradores</a:t>
              </a:r>
            </a:p>
          </p:txBody>
        </p:sp>
      </p:grpSp>
      <p:sp>
        <p:nvSpPr>
          <p:cNvPr id="44" name="Retângulo 43"/>
          <p:cNvSpPr/>
          <p:nvPr/>
        </p:nvSpPr>
        <p:spPr>
          <a:xfrm>
            <a:off x="0" y="935009"/>
            <a:ext cx="10117138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Bef>
                <a:spcPts val="600"/>
              </a:spcBef>
              <a:spcAft>
                <a:spcPts val="600"/>
              </a:spcAft>
            </a:pPr>
            <a:r>
              <a:rPr lang="pt-BR" sz="17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 </a:t>
            </a:r>
            <a:r>
              <a:rPr lang="pt-BR" sz="17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Diretoria de TI </a:t>
            </a:r>
            <a:r>
              <a:rPr lang="pt-BR" sz="17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promove, através do estabelecimento da Central de Serviços de TI, </a:t>
            </a:r>
            <a:r>
              <a:rPr lang="pt-BR" sz="17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muito mais do que apenas conformidade</a:t>
            </a:r>
            <a:r>
              <a:rPr lang="pt-BR" sz="17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aos controles exigidos. Este passo representa uma </a:t>
            </a:r>
            <a:r>
              <a:rPr lang="pt-BR" sz="17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revisão completa do modelo atendimento e suporte da área de Operações de TI </a:t>
            </a:r>
            <a:r>
              <a:rPr lang="pt-BR" sz="17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 todos os colaboradores.</a:t>
            </a:r>
            <a:endParaRPr lang="pt-BR" sz="1700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38" name="Agrupar 37"/>
          <p:cNvGrpSpPr/>
          <p:nvPr/>
        </p:nvGrpSpPr>
        <p:grpSpPr>
          <a:xfrm>
            <a:off x="648755" y="2212601"/>
            <a:ext cx="2700000" cy="3669885"/>
            <a:chOff x="674155" y="2072901"/>
            <a:chExt cx="2700000" cy="3669885"/>
          </a:xfrm>
        </p:grpSpPr>
        <p:grpSp>
          <p:nvGrpSpPr>
            <p:cNvPr id="27" name="Agrupar 26"/>
            <p:cNvGrpSpPr/>
            <p:nvPr/>
          </p:nvGrpSpPr>
          <p:grpSpPr>
            <a:xfrm>
              <a:off x="674155" y="2072901"/>
              <a:ext cx="2700000" cy="3669885"/>
              <a:chOff x="7099572" y="2011759"/>
              <a:chExt cx="2700000" cy="3669885"/>
            </a:xfrm>
          </p:grpSpPr>
          <p:sp>
            <p:nvSpPr>
              <p:cNvPr id="35" name="Retângulo de cantos arredondados 17"/>
              <p:cNvSpPr/>
              <p:nvPr/>
            </p:nvSpPr>
            <p:spPr>
              <a:xfrm>
                <a:off x="7099572" y="2011759"/>
                <a:ext cx="2700000" cy="720000"/>
              </a:xfrm>
              <a:prstGeom prst="roundRect">
                <a:avLst>
                  <a:gd name="adj" fmla="val 7081"/>
                </a:avLst>
              </a:prstGeom>
              <a:solidFill>
                <a:srgbClr val="7030A0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900000"/>
                <a:r>
                  <a:rPr lang="pt-BR" sz="2000" b="1" dirty="0">
                    <a:solidFill>
                      <a:schemeClr val="bg1">
                        <a:lumMod val="95000"/>
                      </a:schemeClr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Objetivos</a:t>
                </a:r>
                <a:endParaRPr lang="pt-BR" sz="2400" b="1" dirty="0">
                  <a:solidFill>
                    <a:schemeClr val="bg1">
                      <a:lumMod val="9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37" name="Retângulo 36"/>
              <p:cNvSpPr/>
              <p:nvPr/>
            </p:nvSpPr>
            <p:spPr>
              <a:xfrm>
                <a:off x="7279572" y="2911655"/>
                <a:ext cx="2340000" cy="276998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pt-BR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Aumentar a </a:t>
                </a:r>
                <a:r>
                  <a:rPr lang="pt-BR" sz="16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satisfação</a:t>
                </a:r>
                <a:r>
                  <a:rPr lang="pt-BR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 dos colaboradores</a:t>
                </a:r>
              </a:p>
              <a:p>
                <a:pPr algn="ctr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pt-BR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Permitir </a:t>
                </a:r>
                <a:r>
                  <a:rPr lang="pt-BR" sz="16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controle</a:t>
                </a:r>
                <a:r>
                  <a:rPr lang="pt-BR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 de todas as ocorrências</a:t>
                </a:r>
              </a:p>
              <a:p>
                <a:pPr algn="ctr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pt-BR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Maior </a:t>
                </a:r>
                <a:r>
                  <a:rPr lang="pt-BR" sz="16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conformidade</a:t>
                </a:r>
              </a:p>
              <a:p>
                <a:pPr algn="ctr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pt-BR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Aumentar a </a:t>
                </a:r>
                <a:r>
                  <a:rPr lang="pt-BR" sz="16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eficiência</a:t>
                </a:r>
                <a:r>
                  <a:rPr lang="pt-BR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 na gestão através de </a:t>
                </a:r>
                <a:r>
                  <a:rPr lang="pt-BR" sz="16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indicadores e </a:t>
                </a:r>
                <a:r>
                  <a:rPr lang="pt-BR" sz="1600" b="1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SLAs</a:t>
                </a:r>
                <a:r>
                  <a:rPr lang="pt-BR" sz="16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pt-BR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definidos</a:t>
                </a:r>
              </a:p>
            </p:txBody>
          </p:sp>
        </p:grpSp>
        <p:pic>
          <p:nvPicPr>
            <p:cNvPr id="29" name="Imagem 28"/>
            <p:cNvPicPr>
              <a:picLocks noChangeAspect="1"/>
            </p:cNvPicPr>
            <p:nvPr/>
          </p:nvPicPr>
          <p:blipFill>
            <a:blip r:embed="rId4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04955" y="2108901"/>
              <a:ext cx="648000" cy="648000"/>
            </a:xfrm>
            <a:prstGeom prst="rect">
              <a:avLst/>
            </a:prstGeom>
            <a:effectLst/>
          </p:spPr>
        </p:pic>
      </p:grpSp>
      <p:grpSp>
        <p:nvGrpSpPr>
          <p:cNvPr id="41" name="Agrupar 40"/>
          <p:cNvGrpSpPr/>
          <p:nvPr/>
        </p:nvGrpSpPr>
        <p:grpSpPr>
          <a:xfrm>
            <a:off x="6897345" y="2212601"/>
            <a:ext cx="2700000" cy="4491460"/>
            <a:chOff x="6922745" y="2078561"/>
            <a:chExt cx="2700000" cy="4491460"/>
          </a:xfrm>
        </p:grpSpPr>
        <p:sp>
          <p:nvSpPr>
            <p:cNvPr id="48" name="Retângulo de cantos arredondados 17"/>
            <p:cNvSpPr/>
            <p:nvPr/>
          </p:nvSpPr>
          <p:spPr>
            <a:xfrm>
              <a:off x="6922745" y="2078561"/>
              <a:ext cx="2700000" cy="720000"/>
            </a:xfrm>
            <a:prstGeom prst="roundRect">
              <a:avLst>
                <a:gd name="adj" fmla="val 7081"/>
              </a:avLst>
            </a:prstGeom>
            <a:solidFill>
              <a:srgbClr val="7030A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900000"/>
              <a:r>
                <a:rPr lang="pt-BR" sz="2000" b="1" dirty="0" smtClean="0">
                  <a:solidFill>
                    <a:schemeClr val="bg1">
                      <a:lumMod val="9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Modelo</a:t>
              </a:r>
              <a:endParaRPr lang="pt-BR" sz="2400" b="1" dirty="0">
                <a:solidFill>
                  <a:schemeClr val="bg1">
                    <a:lumMod val="9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51" name="Retângulo 50"/>
            <p:cNvSpPr/>
            <p:nvPr/>
          </p:nvSpPr>
          <p:spPr>
            <a:xfrm>
              <a:off x="7100339" y="2969035"/>
              <a:ext cx="2340000" cy="360098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spcBef>
                  <a:spcPts val="600"/>
                </a:spcBef>
                <a:spcAft>
                  <a:spcPts val="600"/>
                </a:spcAft>
              </a:pPr>
              <a:r>
                <a:rPr lang="pt-BR" sz="16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Abertura </a:t>
              </a:r>
              <a:r>
                <a:rPr lang="pt-BR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de chamados será </a:t>
              </a:r>
              <a:r>
                <a:rPr lang="pt-BR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sempre pelo </a:t>
              </a:r>
              <a:r>
                <a:rPr lang="pt-BR" sz="16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Portal do JIRA Service Desk</a:t>
              </a:r>
              <a:endParaRPr lang="pt-BR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  <a:p>
              <a:pPr algn="ctr">
                <a:spcBef>
                  <a:spcPts val="600"/>
                </a:spcBef>
                <a:spcAft>
                  <a:spcPts val="600"/>
                </a:spcAft>
              </a:pPr>
              <a:r>
                <a:rPr lang="pt-BR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Você poderá </a:t>
              </a:r>
              <a:r>
                <a:rPr lang="pt-BR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analisar o status do chamado </a:t>
              </a:r>
              <a:r>
                <a:rPr lang="pt-BR" sz="16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on-line</a:t>
              </a:r>
              <a:endParaRPr lang="pt-BR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  <a:p>
              <a:pPr algn="ctr">
                <a:spcBef>
                  <a:spcPts val="600"/>
                </a:spcBef>
                <a:spcAft>
                  <a:spcPts val="600"/>
                </a:spcAft>
              </a:pPr>
              <a:r>
                <a:rPr lang="pt-BR" sz="16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Você </a:t>
              </a:r>
              <a:r>
                <a:rPr lang="pt-BR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poderá </a:t>
              </a:r>
              <a:r>
                <a:rPr lang="pt-BR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realizar a Avaliação de Satisfação </a:t>
              </a:r>
              <a:r>
                <a:rPr lang="pt-BR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após a resolução do chamado com </a:t>
              </a:r>
              <a:r>
                <a:rPr lang="pt-BR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apenas dois cliques</a:t>
              </a:r>
            </a:p>
          </p:txBody>
        </p:sp>
        <p:pic>
          <p:nvPicPr>
            <p:cNvPr id="39" name="Imagem 38"/>
            <p:cNvPicPr>
              <a:picLocks noChangeAspect="1"/>
            </p:cNvPicPr>
            <p:nvPr/>
          </p:nvPicPr>
          <p:blipFill>
            <a:blip r:embed="rId5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41784" y="2150561"/>
              <a:ext cx="545125" cy="576000"/>
            </a:xfrm>
            <a:prstGeom prst="rect">
              <a:avLst/>
            </a:prstGeom>
            <a:effectLst/>
          </p:spPr>
        </p:pic>
      </p:grpSp>
    </p:spTree>
    <p:extLst>
      <p:ext uri="{BB962C8B-B14F-4D97-AF65-F5344CB8AC3E}">
        <p14:creationId xmlns:p14="http://schemas.microsoft.com/office/powerpoint/2010/main" val="12426916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2328020" y="130780"/>
            <a:ext cx="5461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Central de Serviços de TI</a:t>
            </a:r>
          </a:p>
        </p:txBody>
      </p:sp>
      <p:grpSp>
        <p:nvGrpSpPr>
          <p:cNvPr id="27" name="Agrupar 26"/>
          <p:cNvGrpSpPr/>
          <p:nvPr/>
        </p:nvGrpSpPr>
        <p:grpSpPr>
          <a:xfrm>
            <a:off x="288755" y="1061658"/>
            <a:ext cx="2700000" cy="5608877"/>
            <a:chOff x="7099572" y="2011759"/>
            <a:chExt cx="2700000" cy="5608877"/>
          </a:xfrm>
        </p:grpSpPr>
        <p:sp>
          <p:nvSpPr>
            <p:cNvPr id="35" name="Retângulo de cantos arredondados 17"/>
            <p:cNvSpPr/>
            <p:nvPr/>
          </p:nvSpPr>
          <p:spPr>
            <a:xfrm>
              <a:off x="7099572" y="2011759"/>
              <a:ext cx="2700000" cy="720000"/>
            </a:xfrm>
            <a:prstGeom prst="roundRect">
              <a:avLst>
                <a:gd name="adj" fmla="val 7081"/>
              </a:avLst>
            </a:prstGeom>
            <a:solidFill>
              <a:srgbClr val="7030A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900000"/>
              <a:r>
                <a:rPr lang="pt-BR" sz="2000" b="1" dirty="0" smtClean="0">
                  <a:solidFill>
                    <a:schemeClr val="bg1">
                      <a:lumMod val="9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Benefícios</a:t>
              </a:r>
              <a:endParaRPr lang="pt-BR" sz="2400" b="1" dirty="0">
                <a:solidFill>
                  <a:schemeClr val="bg1">
                    <a:lumMod val="9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37" name="Retângulo 36"/>
            <p:cNvSpPr/>
            <p:nvPr/>
          </p:nvSpPr>
          <p:spPr>
            <a:xfrm>
              <a:off x="7279572" y="2911655"/>
              <a:ext cx="2340000" cy="470898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spcBef>
                  <a:spcPts val="600"/>
                </a:spcBef>
                <a:spcAft>
                  <a:spcPts val="600"/>
                </a:spcAft>
              </a:pPr>
              <a:r>
                <a:rPr lang="pt-BR" sz="16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Canal único </a:t>
              </a:r>
              <a:r>
                <a:rPr lang="pt-BR" sz="16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de atendimento</a:t>
              </a:r>
            </a:p>
            <a:p>
              <a:pPr algn="ctr">
                <a:spcBef>
                  <a:spcPts val="600"/>
                </a:spcBef>
                <a:spcAft>
                  <a:spcPts val="600"/>
                </a:spcAft>
              </a:pPr>
              <a:r>
                <a:rPr lang="pt-BR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Agilidade </a:t>
              </a:r>
              <a:r>
                <a:rPr lang="pt-BR" sz="16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no atendimento aos chamados</a:t>
              </a:r>
              <a:endParaRPr lang="pt-BR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  <a:p>
              <a:pPr algn="ctr">
                <a:spcBef>
                  <a:spcPts val="600"/>
                </a:spcBef>
                <a:spcAft>
                  <a:spcPts val="600"/>
                </a:spcAft>
              </a:pPr>
              <a:r>
                <a:rPr lang="pt-BR" sz="16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Abertura de chamados mais </a:t>
              </a:r>
              <a:r>
                <a:rPr lang="pt-BR" sz="16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fácil e intuitiva</a:t>
              </a:r>
            </a:p>
            <a:p>
              <a:pPr algn="ctr">
                <a:spcBef>
                  <a:spcPts val="600"/>
                </a:spcBef>
                <a:spcAft>
                  <a:spcPts val="600"/>
                </a:spcAft>
              </a:pPr>
              <a:r>
                <a:rPr lang="pt-BR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Facilidade na pesquisa </a:t>
              </a:r>
              <a:r>
                <a:rPr lang="pt-BR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de </a:t>
              </a:r>
              <a:r>
                <a:rPr lang="pt-BR" sz="16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categorias</a:t>
              </a:r>
              <a:endParaRPr lang="pt-BR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  <a:p>
              <a:pPr algn="ctr">
                <a:spcBef>
                  <a:spcPts val="600"/>
                </a:spcBef>
                <a:spcAft>
                  <a:spcPts val="600"/>
                </a:spcAft>
              </a:pPr>
              <a:r>
                <a:rPr lang="pt-BR" sz="16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Rastreabilidade </a:t>
              </a:r>
              <a:r>
                <a:rPr lang="pt-BR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de todas as </a:t>
              </a:r>
              <a:r>
                <a:rPr lang="pt-BR" sz="16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ocorrências </a:t>
              </a:r>
            </a:p>
            <a:p>
              <a:pPr algn="ctr">
                <a:spcBef>
                  <a:spcPts val="600"/>
                </a:spcBef>
                <a:spcAft>
                  <a:spcPts val="600"/>
                </a:spcAft>
              </a:pPr>
              <a:r>
                <a:rPr lang="pt-BR" sz="16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Medição do </a:t>
              </a:r>
              <a:r>
                <a:rPr lang="pt-BR" sz="16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índice de satisfação </a:t>
              </a:r>
              <a:r>
                <a:rPr lang="pt-BR" sz="16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dos usuários</a:t>
              </a:r>
              <a:endParaRPr lang="pt-BR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  <a:p>
              <a:pPr algn="ctr">
                <a:spcBef>
                  <a:spcPts val="600"/>
                </a:spcBef>
                <a:spcAft>
                  <a:spcPts val="600"/>
                </a:spcAft>
              </a:pPr>
              <a:r>
                <a:rPr lang="pt-BR" sz="16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Aprimoramento dos controles </a:t>
              </a:r>
              <a:r>
                <a:rPr lang="pt-BR" sz="16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de gestão</a:t>
              </a:r>
            </a:p>
          </p:txBody>
        </p:sp>
      </p:grpSp>
      <p:sp>
        <p:nvSpPr>
          <p:cNvPr id="48" name="Retângulo de cantos arredondados 17"/>
          <p:cNvSpPr/>
          <p:nvPr/>
        </p:nvSpPr>
        <p:spPr>
          <a:xfrm>
            <a:off x="3481044" y="1061658"/>
            <a:ext cx="6259855" cy="720000"/>
          </a:xfrm>
          <a:prstGeom prst="roundRect">
            <a:avLst>
              <a:gd name="adj" fmla="val 7081"/>
            </a:avLst>
          </a:prstGeom>
          <a:solidFill>
            <a:srgbClr val="7030A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900000"/>
            <a:r>
              <a:rPr lang="pt-BR" sz="2000" b="1" dirty="0" smtClean="0">
                <a:solidFill>
                  <a:schemeClr val="bg1">
                    <a:lumMod val="9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Processo</a:t>
            </a:r>
            <a:endParaRPr lang="pt-BR" sz="2400" b="1" dirty="0">
              <a:solidFill>
                <a:schemeClr val="bg1">
                  <a:lumMod val="9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42" name="Imagem 41"/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755" y="1112618"/>
            <a:ext cx="618080" cy="618080"/>
          </a:xfrm>
          <a:prstGeom prst="rect">
            <a:avLst/>
          </a:prstGeom>
          <a:effectLst/>
        </p:spPr>
      </p:pic>
      <p:pic>
        <p:nvPicPr>
          <p:cNvPr id="54" name="Imagem 53"/>
          <p:cNvPicPr>
            <a:picLocks noChangeAspect="1"/>
          </p:cNvPicPr>
          <p:nvPr/>
        </p:nvPicPr>
        <p:blipFill>
          <a:blip r:embed="rId4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4039" y="1116946"/>
            <a:ext cx="647920" cy="613752"/>
          </a:xfrm>
          <a:prstGeom prst="rect">
            <a:avLst/>
          </a:prstGeom>
          <a:effectLst/>
        </p:spPr>
      </p:pic>
      <p:grpSp>
        <p:nvGrpSpPr>
          <p:cNvPr id="100" name="Agrupar 99"/>
          <p:cNvGrpSpPr/>
          <p:nvPr/>
        </p:nvGrpSpPr>
        <p:grpSpPr>
          <a:xfrm>
            <a:off x="7243019" y="3251394"/>
            <a:ext cx="1917700" cy="762000"/>
            <a:chOff x="7243019" y="3314894"/>
            <a:chExt cx="1917700" cy="762000"/>
          </a:xfrm>
        </p:grpSpPr>
        <p:sp>
          <p:nvSpPr>
            <p:cNvPr id="59" name="Fluxograma: Processo 58"/>
            <p:cNvSpPr/>
            <p:nvPr/>
          </p:nvSpPr>
          <p:spPr>
            <a:xfrm>
              <a:off x="7789119" y="3314894"/>
              <a:ext cx="1371600" cy="762000"/>
            </a:xfrm>
            <a:prstGeom prst="flowChartProcess">
              <a:avLst/>
            </a:prstGeom>
            <a:solidFill>
              <a:srgbClr val="FF660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200" b="1" dirty="0" smtClean="0">
                  <a:solidFill>
                    <a:schemeClr val="bg1">
                      <a:lumMod val="9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egoe UI" panose="020B0502040204020203" pitchFamily="34" charset="0"/>
                  <a:cs typeface="Segoe UI" panose="020B0502040204020203" pitchFamily="34" charset="0"/>
                </a:rPr>
                <a:t>Recebe notificação de resolução</a:t>
              </a:r>
              <a:endParaRPr lang="en-US" sz="12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cxnSp>
          <p:nvCxnSpPr>
            <p:cNvPr id="64" name="Conector de Seta Reta 63"/>
            <p:cNvCxnSpPr>
              <a:stCxn id="58" idx="3"/>
              <a:endCxn id="59" idx="1"/>
            </p:cNvCxnSpPr>
            <p:nvPr/>
          </p:nvCxnSpPr>
          <p:spPr>
            <a:xfrm>
              <a:off x="7243019" y="3695894"/>
              <a:ext cx="546100" cy="0"/>
            </a:xfrm>
            <a:prstGeom prst="straightConnector1">
              <a:avLst/>
            </a:prstGeom>
            <a:ln>
              <a:solidFill>
                <a:srgbClr val="7030A0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4" name="Agrupar 103"/>
          <p:cNvGrpSpPr/>
          <p:nvPr/>
        </p:nvGrpSpPr>
        <p:grpSpPr>
          <a:xfrm>
            <a:off x="3118533" y="3251394"/>
            <a:ext cx="4124486" cy="3419141"/>
            <a:chOff x="3118533" y="3251394"/>
            <a:chExt cx="4124486" cy="3419141"/>
          </a:xfrm>
        </p:grpSpPr>
        <p:sp>
          <p:nvSpPr>
            <p:cNvPr id="103" name="Texto Explicativo 2 (Borda e Ênfase) 102"/>
            <p:cNvSpPr/>
            <p:nvPr/>
          </p:nvSpPr>
          <p:spPr>
            <a:xfrm rot="10800000" flipV="1">
              <a:off x="3118533" y="4327651"/>
              <a:ext cx="2160000" cy="2342884"/>
            </a:xfrm>
            <a:prstGeom prst="accentBorderCallout2">
              <a:avLst>
                <a:gd name="adj1" fmla="val 26741"/>
                <a:gd name="adj2" fmla="val -4248"/>
                <a:gd name="adj3" fmla="val 26826"/>
                <a:gd name="adj4" fmla="val -20071"/>
                <a:gd name="adj5" fmla="val -37663"/>
                <a:gd name="adj6" fmla="val -53379"/>
              </a:avLst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>
                <a:spcAft>
                  <a:spcPts val="600"/>
                </a:spcAft>
              </a:pPr>
              <a:r>
                <a:rPr lang="pt-BR" sz="12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SLA de Resposta</a:t>
              </a:r>
              <a:r>
                <a:rPr lang="pt-B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(da abertura até o primeiro analista assumir o chamado).</a:t>
              </a:r>
            </a:p>
            <a:p>
              <a:pPr>
                <a:spcAft>
                  <a:spcPts val="600"/>
                </a:spcAft>
              </a:pPr>
              <a:r>
                <a:rPr lang="pt-BR" sz="12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SLA de Resolução </a:t>
              </a:r>
              <a:r>
                <a:rPr lang="pt-B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(chamado assumido até a resolução).</a:t>
              </a:r>
            </a:p>
            <a:p>
              <a:r>
                <a:rPr lang="pt-B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Como </a:t>
              </a:r>
              <a:r>
                <a:rPr lang="pt-BR" sz="13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PEDIR PRIORIDADE</a:t>
              </a:r>
              <a:r>
                <a:rPr lang="pt-B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? </a:t>
              </a:r>
            </a:p>
            <a:p>
              <a:pPr>
                <a:spcAft>
                  <a:spcPts val="600"/>
                </a:spcAft>
              </a:pPr>
              <a:r>
                <a:rPr lang="pt-B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Nesta ordem </a:t>
              </a:r>
              <a:r>
                <a:rPr lang="pt-BR" sz="1200" u="sng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obrigatoriamente</a:t>
              </a:r>
              <a:r>
                <a:rPr lang="pt-B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:</a:t>
              </a:r>
            </a:p>
            <a:p>
              <a:pPr marL="180000">
                <a:spcAft>
                  <a:spcPts val="600"/>
                </a:spcAft>
              </a:pPr>
              <a:r>
                <a:rPr lang="pt-B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1º - Nei </a:t>
              </a:r>
              <a:r>
                <a:rPr lang="pt-B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Henckes</a:t>
              </a:r>
              <a:endParaRPr lang="pt-BR" sz="1200" dirty="0" smtClean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pPr marL="180000">
                <a:spcAft>
                  <a:spcPts val="600"/>
                </a:spcAft>
              </a:pPr>
              <a:r>
                <a:rPr lang="pt-B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2º - Adriano Barbosa</a:t>
              </a:r>
            </a:p>
            <a:p>
              <a:pPr marL="180000">
                <a:spcAft>
                  <a:spcPts val="600"/>
                </a:spcAft>
              </a:pPr>
              <a:r>
                <a:rPr lang="pt-B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3º - Túlio Maia</a:t>
              </a:r>
            </a:p>
            <a:p>
              <a:pPr>
                <a:spcAft>
                  <a:spcPts val="600"/>
                </a:spcAft>
              </a:pPr>
              <a:endParaRPr lang="pt-BR" sz="12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pPr>
                <a:spcAft>
                  <a:spcPts val="600"/>
                </a:spcAft>
              </a:pPr>
              <a:endParaRPr lang="pt-BR" sz="1200" dirty="0" smtClean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grpSp>
          <p:nvGrpSpPr>
            <p:cNvPr id="101" name="Agrupar 100"/>
            <p:cNvGrpSpPr/>
            <p:nvPr/>
          </p:nvGrpSpPr>
          <p:grpSpPr>
            <a:xfrm>
              <a:off x="5325319" y="3251394"/>
              <a:ext cx="1917700" cy="762000"/>
              <a:chOff x="5325319" y="3314894"/>
              <a:chExt cx="1917700" cy="762000"/>
            </a:xfrm>
          </p:grpSpPr>
          <p:sp>
            <p:nvSpPr>
              <p:cNvPr id="58" name="Fluxograma: Processo 57"/>
              <p:cNvSpPr/>
              <p:nvPr/>
            </p:nvSpPr>
            <p:spPr>
              <a:xfrm>
                <a:off x="5871419" y="3314894"/>
                <a:ext cx="1371600" cy="762000"/>
              </a:xfrm>
              <a:prstGeom prst="flowChartProcess">
                <a:avLst/>
              </a:prstGeom>
              <a:solidFill>
                <a:srgbClr val="FF6600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pt-BR" sz="1200" b="1" dirty="0" smtClean="0">
                    <a:solidFill>
                      <a:schemeClr val="bg1">
                        <a:lumMod val="95000"/>
                      </a:schemeClr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Segoe UI" panose="020B0502040204020203" pitchFamily="34" charset="0"/>
                    <a:cs typeface="Segoe UI" panose="020B0502040204020203" pitchFamily="34" charset="0"/>
                  </a:rPr>
                  <a:t>Aguarda Atendimento do Chamado (SLA)</a:t>
                </a:r>
                <a:endParaRPr lang="en-US" sz="1200" b="1" dirty="0">
                  <a:solidFill>
                    <a:schemeClr val="bg1">
                      <a:lumMod val="9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cxnSp>
            <p:nvCxnSpPr>
              <p:cNvPr id="63" name="Conector de Seta Reta 62"/>
              <p:cNvCxnSpPr>
                <a:stCxn id="55" idx="3"/>
                <a:endCxn id="58" idx="1"/>
              </p:cNvCxnSpPr>
              <p:nvPr/>
            </p:nvCxnSpPr>
            <p:spPr>
              <a:xfrm>
                <a:off x="5325319" y="3695894"/>
                <a:ext cx="546100" cy="0"/>
              </a:xfrm>
              <a:prstGeom prst="straightConnector1">
                <a:avLst/>
              </a:prstGeom>
              <a:ln>
                <a:solidFill>
                  <a:srgbClr val="7030A0"/>
                </a:solidFill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3" name="Agrupar 2"/>
          <p:cNvGrpSpPr/>
          <p:nvPr/>
        </p:nvGrpSpPr>
        <p:grpSpPr>
          <a:xfrm>
            <a:off x="3938574" y="2062181"/>
            <a:ext cx="1386745" cy="1951213"/>
            <a:chOff x="3938574" y="2062181"/>
            <a:chExt cx="1386745" cy="1951213"/>
          </a:xfrm>
        </p:grpSpPr>
        <p:grpSp>
          <p:nvGrpSpPr>
            <p:cNvPr id="38" name="Agrupar 37"/>
            <p:cNvGrpSpPr>
              <a:grpSpLocks noChangeAspect="1"/>
            </p:cNvGrpSpPr>
            <p:nvPr/>
          </p:nvGrpSpPr>
          <p:grpSpPr>
            <a:xfrm>
              <a:off x="3938574" y="2062181"/>
              <a:ext cx="1250437" cy="1401798"/>
              <a:chOff x="4594253" y="1118010"/>
              <a:chExt cx="4816926" cy="5400000"/>
            </a:xfrm>
          </p:grpSpPr>
          <p:pic>
            <p:nvPicPr>
              <p:cNvPr id="39" name="Imagem 38"/>
              <p:cNvPicPr>
                <a:picLocks noChangeAspect="1"/>
              </p:cNvPicPr>
              <p:nvPr/>
            </p:nvPicPr>
            <p:blipFill rotWithShape="1">
              <a:blip r:embed="rId5">
                <a:duotone>
                  <a:schemeClr val="accent4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10797"/>
              <a:stretch/>
            </p:blipFill>
            <p:spPr>
              <a:xfrm>
                <a:off x="4594253" y="1118010"/>
                <a:ext cx="4816926" cy="5400000"/>
              </a:xfrm>
              <a:prstGeom prst="rect">
                <a:avLst/>
              </a:prstGeom>
              <a:solidFill>
                <a:schemeClr val="bg1"/>
              </a:solidFill>
            </p:spPr>
          </p:pic>
          <p:grpSp>
            <p:nvGrpSpPr>
              <p:cNvPr id="40" name="Agrupar 39"/>
              <p:cNvGrpSpPr>
                <a:grpSpLocks noChangeAspect="1"/>
              </p:cNvGrpSpPr>
              <p:nvPr/>
            </p:nvGrpSpPr>
            <p:grpSpPr>
              <a:xfrm>
                <a:off x="5819414" y="2854684"/>
                <a:ext cx="2952000" cy="1383435"/>
                <a:chOff x="424455" y="1247950"/>
                <a:chExt cx="3132000" cy="1467790"/>
              </a:xfrm>
            </p:grpSpPr>
            <p:pic>
              <p:nvPicPr>
                <p:cNvPr id="41" name="Picture 2" descr="https://www.atlassian.com/wac/software/jira/service-desk/sectionWrap/0/column/0/imageBinary/jsd-logo_88h.png"/>
                <p:cNvPicPr>
                  <a:picLocks noChangeAspect="1" noChangeArrowheads="1"/>
                </p:cNvPicPr>
                <p:nvPr/>
              </p:nvPicPr>
              <p:blipFill rotWithShape="1">
                <a:blip r:embed="rId6">
                  <a:duotone>
                    <a:schemeClr val="accent4">
                      <a:shade val="45000"/>
                      <a:satMod val="135000"/>
                    </a:scheme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r="65320"/>
                <a:stretch/>
              </p:blipFill>
              <p:spPr bwMode="auto">
                <a:xfrm>
                  <a:off x="878900" y="1247950"/>
                  <a:ext cx="2223110" cy="838201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43" name="Picture 2" descr="https://www.atlassian.com/wac/software/jira/service-desk/sectionWrap/0/column/0/imageBinary/jsd-logo_88h.png"/>
                <p:cNvPicPr>
                  <a:picLocks noChangeAspect="1" noChangeArrowheads="1"/>
                </p:cNvPicPr>
                <p:nvPr/>
              </p:nvPicPr>
              <p:blipFill rotWithShape="1">
                <a:blip r:embed="rId6">
                  <a:duotone>
                    <a:schemeClr val="accent4">
                      <a:shade val="45000"/>
                      <a:satMod val="135000"/>
                    </a:scheme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34952"/>
                <a:stretch/>
              </p:blipFill>
              <p:spPr bwMode="auto">
                <a:xfrm>
                  <a:off x="424455" y="2086164"/>
                  <a:ext cx="3132000" cy="629576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</p:grpSp>
        <p:sp>
          <p:nvSpPr>
            <p:cNvPr id="55" name="Fluxograma: Processo 54"/>
            <p:cNvSpPr/>
            <p:nvPr/>
          </p:nvSpPr>
          <p:spPr>
            <a:xfrm>
              <a:off x="3953719" y="3251394"/>
              <a:ext cx="1371600" cy="762000"/>
            </a:xfrm>
            <a:prstGeom prst="flowChartProcess">
              <a:avLst/>
            </a:prstGeom>
            <a:solidFill>
              <a:srgbClr val="FF660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200" b="1" dirty="0" smtClean="0">
                  <a:solidFill>
                    <a:schemeClr val="bg1">
                      <a:lumMod val="9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egoe UI" panose="020B0502040204020203" pitchFamily="34" charset="0"/>
                  <a:cs typeface="Segoe UI" panose="020B0502040204020203" pitchFamily="34" charset="0"/>
                </a:rPr>
                <a:t>Abre Chamado no JIRA </a:t>
              </a:r>
              <a:r>
                <a:rPr lang="pt-BR" sz="1200" b="1" dirty="0" err="1" smtClean="0">
                  <a:solidFill>
                    <a:schemeClr val="bg1">
                      <a:lumMod val="9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egoe UI" panose="020B0502040204020203" pitchFamily="34" charset="0"/>
                  <a:cs typeface="Segoe UI" panose="020B0502040204020203" pitchFamily="34" charset="0"/>
                </a:rPr>
                <a:t>SDesk</a:t>
              </a:r>
              <a:r>
                <a:rPr lang="pt-BR" sz="1200" b="1" dirty="0" smtClean="0">
                  <a:solidFill>
                    <a:schemeClr val="bg1">
                      <a:lumMod val="9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egoe UI" panose="020B0502040204020203" pitchFamily="34" charset="0"/>
                  <a:cs typeface="Segoe UI" panose="020B0502040204020203" pitchFamily="34" charset="0"/>
                </a:rPr>
                <a:t> e recebe </a:t>
              </a:r>
              <a:r>
                <a:rPr lang="pt-BR" sz="1200" b="1" dirty="0" err="1" smtClean="0">
                  <a:solidFill>
                    <a:schemeClr val="bg1">
                      <a:lumMod val="9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egoe UI" panose="020B0502040204020203" pitchFamily="34" charset="0"/>
                  <a:cs typeface="Segoe UI" panose="020B0502040204020203" pitchFamily="34" charset="0"/>
                </a:rPr>
                <a:t>notific</a:t>
              </a:r>
              <a:r>
                <a:rPr lang="pt-BR" sz="1200" b="1" dirty="0" smtClean="0">
                  <a:solidFill>
                    <a:schemeClr val="bg1">
                      <a:lumMod val="9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egoe UI" panose="020B0502040204020203" pitchFamily="34" charset="0"/>
                  <a:cs typeface="Segoe UI" panose="020B0502040204020203" pitchFamily="34" charset="0"/>
                </a:rPr>
                <a:t>. de abertura</a:t>
              </a:r>
              <a:endParaRPr lang="en-US" sz="12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98" name="Agrupar 97"/>
          <p:cNvGrpSpPr/>
          <p:nvPr/>
        </p:nvGrpSpPr>
        <p:grpSpPr>
          <a:xfrm>
            <a:off x="5871419" y="1975479"/>
            <a:ext cx="3496385" cy="1263215"/>
            <a:chOff x="5871419" y="2038979"/>
            <a:chExt cx="3496385" cy="1263215"/>
          </a:xfrm>
        </p:grpSpPr>
        <p:cxnSp>
          <p:nvCxnSpPr>
            <p:cNvPr id="70" name="Conector de Seta Reta 69"/>
            <p:cNvCxnSpPr>
              <a:stCxn id="59" idx="0"/>
              <a:endCxn id="78" idx="3"/>
            </p:cNvCxnSpPr>
            <p:nvPr/>
          </p:nvCxnSpPr>
          <p:spPr>
            <a:xfrm rot="16200000" flipV="1">
              <a:off x="7417862" y="2245137"/>
              <a:ext cx="882215" cy="1231900"/>
            </a:xfrm>
            <a:prstGeom prst="bentConnector2">
              <a:avLst/>
            </a:prstGeom>
            <a:ln>
              <a:solidFill>
                <a:srgbClr val="7030A0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8" name="Fluxograma: Processo 77"/>
            <p:cNvSpPr/>
            <p:nvPr/>
          </p:nvSpPr>
          <p:spPr>
            <a:xfrm>
              <a:off x="5871419" y="2038979"/>
              <a:ext cx="1371600" cy="762000"/>
            </a:xfrm>
            <a:prstGeom prst="flowChartProcess">
              <a:avLst/>
            </a:prstGeom>
            <a:solidFill>
              <a:srgbClr val="FF660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200" b="1" dirty="0" smtClean="0">
                  <a:solidFill>
                    <a:schemeClr val="bg1">
                      <a:lumMod val="9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egoe UI" panose="020B0502040204020203" pitchFamily="34" charset="0"/>
                  <a:cs typeface="Segoe UI" panose="020B0502040204020203" pitchFamily="34" charset="0"/>
                </a:rPr>
                <a:t>Solicita reabertura do Chamado</a:t>
              </a:r>
              <a:endParaRPr lang="en-US" sz="12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cxnSp>
          <p:nvCxnSpPr>
            <p:cNvPr id="81" name="Conector de Seta Reta 69"/>
            <p:cNvCxnSpPr>
              <a:stCxn id="78" idx="2"/>
              <a:endCxn id="58" idx="0"/>
            </p:cNvCxnSpPr>
            <p:nvPr/>
          </p:nvCxnSpPr>
          <p:spPr>
            <a:xfrm>
              <a:off x="6557219" y="2800979"/>
              <a:ext cx="0" cy="501215"/>
            </a:xfrm>
            <a:prstGeom prst="straightConnector1">
              <a:avLst/>
            </a:prstGeom>
            <a:ln>
              <a:solidFill>
                <a:srgbClr val="7030A0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5" name="Retângulo 94"/>
            <p:cNvSpPr/>
            <p:nvPr/>
          </p:nvSpPr>
          <p:spPr>
            <a:xfrm>
              <a:off x="8267836" y="2105323"/>
              <a:ext cx="1099968" cy="43088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spcBef>
                  <a:spcPts val="600"/>
                </a:spcBef>
                <a:spcAft>
                  <a:spcPts val="600"/>
                </a:spcAft>
              </a:pPr>
              <a:r>
                <a:rPr lang="pt-BR" sz="11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Solução </a:t>
              </a:r>
              <a:r>
                <a:rPr lang="pt-BR" sz="11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não</a:t>
              </a:r>
              <a:r>
                <a:rPr lang="pt-BR" sz="11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 atende</a:t>
              </a:r>
            </a:p>
          </p:txBody>
        </p:sp>
      </p:grpSp>
      <p:grpSp>
        <p:nvGrpSpPr>
          <p:cNvPr id="99" name="Agrupar 98"/>
          <p:cNvGrpSpPr/>
          <p:nvPr/>
        </p:nvGrpSpPr>
        <p:grpSpPr>
          <a:xfrm>
            <a:off x="5627078" y="4000694"/>
            <a:ext cx="4166085" cy="2516251"/>
            <a:chOff x="5627078" y="4064194"/>
            <a:chExt cx="4166085" cy="2516251"/>
          </a:xfrm>
        </p:grpSpPr>
        <p:sp>
          <p:nvSpPr>
            <p:cNvPr id="92" name="Triângulo isósceles 91"/>
            <p:cNvSpPr/>
            <p:nvPr/>
          </p:nvSpPr>
          <p:spPr>
            <a:xfrm rot="3084852">
              <a:off x="7149652" y="4920455"/>
              <a:ext cx="1232476" cy="1213092"/>
            </a:xfrm>
            <a:prstGeom prst="triangle">
              <a:avLst/>
            </a:prstGeom>
            <a:ln>
              <a:noFill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Fluxograma: Processo 59"/>
            <p:cNvSpPr/>
            <p:nvPr/>
          </p:nvSpPr>
          <p:spPr>
            <a:xfrm>
              <a:off x="7789119" y="4755908"/>
              <a:ext cx="1371600" cy="762000"/>
            </a:xfrm>
            <a:prstGeom prst="flowChartProcess">
              <a:avLst/>
            </a:prstGeom>
            <a:solidFill>
              <a:srgbClr val="FF660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200" b="1" dirty="0" smtClean="0">
                  <a:solidFill>
                    <a:schemeClr val="bg1">
                      <a:lumMod val="9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egoe UI" panose="020B0502040204020203" pitchFamily="34" charset="0"/>
                  <a:cs typeface="Segoe UI" panose="020B0502040204020203" pitchFamily="34" charset="0"/>
                </a:rPr>
                <a:t>Responde Pesquisa de Satisfação</a:t>
              </a:r>
              <a:endParaRPr lang="en-US" sz="12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1" name="Imagem 60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627078" y="5441708"/>
              <a:ext cx="2038081" cy="1138737"/>
            </a:xfrm>
            <a:prstGeom prst="rect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</p:pic>
        <p:cxnSp>
          <p:nvCxnSpPr>
            <p:cNvPr id="67" name="Conector de Seta Reta 66"/>
            <p:cNvCxnSpPr>
              <a:stCxn id="59" idx="2"/>
              <a:endCxn id="60" idx="0"/>
            </p:cNvCxnSpPr>
            <p:nvPr/>
          </p:nvCxnSpPr>
          <p:spPr>
            <a:xfrm>
              <a:off x="8474919" y="4064194"/>
              <a:ext cx="0" cy="691714"/>
            </a:xfrm>
            <a:prstGeom prst="straightConnector1">
              <a:avLst/>
            </a:prstGeom>
            <a:ln>
              <a:solidFill>
                <a:srgbClr val="7030A0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88" name="Imagem 87"/>
            <p:cNvPicPr>
              <a:picLocks noChangeAspect="1"/>
            </p:cNvPicPr>
            <p:nvPr/>
          </p:nvPicPr>
          <p:blipFill>
            <a:blip r:embed="rId8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96821" y="4956908"/>
              <a:ext cx="360000" cy="360000"/>
            </a:xfrm>
            <a:prstGeom prst="rect">
              <a:avLst/>
            </a:prstGeom>
          </p:spPr>
        </p:pic>
        <p:sp>
          <p:nvSpPr>
            <p:cNvPr id="97" name="Retângulo 96"/>
            <p:cNvSpPr/>
            <p:nvPr/>
          </p:nvSpPr>
          <p:spPr>
            <a:xfrm>
              <a:off x="8267836" y="4241950"/>
              <a:ext cx="1525327" cy="2616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spcBef>
                  <a:spcPts val="600"/>
                </a:spcBef>
                <a:spcAft>
                  <a:spcPts val="600"/>
                </a:spcAft>
              </a:pPr>
              <a:r>
                <a:rPr lang="pt-BR" sz="11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Solução atende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80056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2328020" y="130780"/>
            <a:ext cx="5461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Central de Serviços de TI</a:t>
            </a:r>
          </a:p>
        </p:txBody>
      </p:sp>
      <p:sp>
        <p:nvSpPr>
          <p:cNvPr id="48" name="Retângulo de cantos arredondados 17"/>
          <p:cNvSpPr/>
          <p:nvPr/>
        </p:nvSpPr>
        <p:spPr>
          <a:xfrm>
            <a:off x="288000" y="1062000"/>
            <a:ext cx="2757844" cy="720000"/>
          </a:xfrm>
          <a:prstGeom prst="roundRect">
            <a:avLst>
              <a:gd name="adj" fmla="val 7081"/>
            </a:avLst>
          </a:prstGeom>
          <a:solidFill>
            <a:srgbClr val="7030A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900000"/>
            <a:r>
              <a:rPr lang="pt-BR" sz="2000" b="1" dirty="0" smtClean="0">
                <a:solidFill>
                  <a:schemeClr val="bg1">
                    <a:lumMod val="9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Nossos </a:t>
            </a:r>
            <a:r>
              <a:rPr lang="pt-BR" sz="2000" b="1" dirty="0" err="1" smtClean="0">
                <a:solidFill>
                  <a:schemeClr val="bg1">
                    <a:lumMod val="9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SLAs</a:t>
            </a:r>
            <a:endParaRPr lang="pt-BR" sz="2400" b="1" dirty="0">
              <a:solidFill>
                <a:schemeClr val="bg1">
                  <a:lumMod val="9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38" name="Agrupar 37"/>
          <p:cNvGrpSpPr>
            <a:grpSpLocks noChangeAspect="1"/>
          </p:cNvGrpSpPr>
          <p:nvPr/>
        </p:nvGrpSpPr>
        <p:grpSpPr>
          <a:xfrm>
            <a:off x="458419" y="1125622"/>
            <a:ext cx="8938505" cy="4360778"/>
            <a:chOff x="145909" y="1003006"/>
            <a:chExt cx="6564831" cy="3202752"/>
          </a:xfrm>
        </p:grpSpPr>
        <p:pic>
          <p:nvPicPr>
            <p:cNvPr id="39" name="Imagem 3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5909" y="1950781"/>
              <a:ext cx="6564831" cy="2254977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pic>
          <p:nvPicPr>
            <p:cNvPr id="40" name="Imagem 39"/>
            <p:cNvPicPr>
              <a:picLocks noChangeAspect="1"/>
            </p:cNvPicPr>
            <p:nvPr/>
          </p:nvPicPr>
          <p:blipFill>
            <a:blip r:embed="rId4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4286" y="1003006"/>
              <a:ext cx="423040" cy="42304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200962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2328020" y="130780"/>
            <a:ext cx="5461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Central de Serviços de TI</a:t>
            </a: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 rotWithShape="1">
          <a:blip r:embed="rId3"/>
          <a:srcRect l="21261" t="19921" r="21278" b="12390"/>
          <a:stretch/>
        </p:blipFill>
        <p:spPr>
          <a:xfrm>
            <a:off x="3149107" y="1003300"/>
            <a:ext cx="6210300" cy="38989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0" name="CaixaDeTexto 9"/>
          <p:cNvSpPr txBox="1"/>
          <p:nvPr/>
        </p:nvSpPr>
        <p:spPr>
          <a:xfrm>
            <a:off x="3403600" y="1705450"/>
            <a:ext cx="5524500" cy="49165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pt-BR" b="1" dirty="0" smtClean="0">
                <a:solidFill>
                  <a:srgbClr val="FF0000"/>
                </a:solidFill>
              </a:rPr>
              <a:t>                                                                     PESQUISA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3" name="CaixaDeTexto 42"/>
          <p:cNvSpPr txBox="1"/>
          <p:nvPr/>
        </p:nvSpPr>
        <p:spPr>
          <a:xfrm>
            <a:off x="3403600" y="2648862"/>
            <a:ext cx="1370978" cy="215173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 anchor="b">
            <a:noAutofit/>
          </a:bodyPr>
          <a:lstStyle/>
          <a:p>
            <a:pPr algn="ctr"/>
            <a:r>
              <a:rPr lang="pt-BR" b="1" dirty="0" smtClean="0">
                <a:solidFill>
                  <a:srgbClr val="FF0000"/>
                </a:solidFill>
              </a:rPr>
              <a:t>GRUPOS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4" name="Retângulo 43"/>
          <p:cNvSpPr/>
          <p:nvPr/>
        </p:nvSpPr>
        <p:spPr>
          <a:xfrm>
            <a:off x="348628" y="5067632"/>
            <a:ext cx="9768509" cy="18466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pt-BR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Cliente Smiles</a:t>
            </a:r>
            <a:r>
              <a:rPr lang="pt-B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: falhas ou solicitações relacionadas aos participantes Smiles (clientes finais)</a:t>
            </a:r>
          </a:p>
          <a:p>
            <a:pPr>
              <a:spcAft>
                <a:spcPts val="600"/>
              </a:spcAft>
            </a:pPr>
            <a:r>
              <a:rPr lang="pt-BR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Escritório / Informática</a:t>
            </a:r>
            <a:r>
              <a:rPr lang="pt-B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: falhas ou solicitações relacionadas a facilidades de TI (laptops, impressora), ou seja, chamados para o Zé! rs.</a:t>
            </a:r>
          </a:p>
          <a:p>
            <a:pPr>
              <a:spcAft>
                <a:spcPts val="600"/>
              </a:spcAft>
            </a:pPr>
            <a:r>
              <a:rPr lang="pt-BR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Gestão de Acessos</a:t>
            </a:r>
            <a:r>
              <a:rPr lang="pt-B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: solicitações de acesso (responsabilidade Qualidade / Seg. Informação).</a:t>
            </a:r>
          </a:p>
          <a:p>
            <a:pPr>
              <a:spcAft>
                <a:spcPts val="600"/>
              </a:spcAft>
            </a:pPr>
            <a:r>
              <a:rPr lang="pt-BR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TI para TI</a:t>
            </a:r>
            <a:r>
              <a:rPr lang="pt-B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: solicitações internas em TI (ex.: desenvolvedores para time de operação).</a:t>
            </a:r>
          </a:p>
          <a:p>
            <a:pPr>
              <a:spcAft>
                <a:spcPts val="600"/>
              </a:spcAft>
            </a:pPr>
            <a:r>
              <a:rPr lang="pt-BR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Áreas de Negócio</a:t>
            </a:r>
            <a:r>
              <a:rPr lang="pt-B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: falhas ou solicitações relacionadas a temas das áreas de negócio / áreas internas da Smiles.</a:t>
            </a:r>
          </a:p>
          <a:p>
            <a:pPr algn="ctr">
              <a:spcAft>
                <a:spcPts val="600"/>
              </a:spcAft>
            </a:pPr>
            <a:r>
              <a:rPr lang="pt-BR" sz="1200" b="1" dirty="0" smtClean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Obs.: você terá acesso apenas aos Grupos que estiverem no contexto de suas atividades profissionais!</a:t>
            </a:r>
          </a:p>
          <a:p>
            <a:pPr>
              <a:spcAft>
                <a:spcPts val="600"/>
              </a:spcAft>
            </a:pPr>
            <a:endParaRPr lang="pt-BR" sz="1200" dirty="0" smtClean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13" name="Agrupar 12"/>
          <p:cNvGrpSpPr>
            <a:grpSpLocks noChangeAspect="1"/>
          </p:cNvGrpSpPr>
          <p:nvPr/>
        </p:nvGrpSpPr>
        <p:grpSpPr>
          <a:xfrm>
            <a:off x="180000" y="1440000"/>
            <a:ext cx="2247899" cy="2520000"/>
            <a:chOff x="4594253" y="1118010"/>
            <a:chExt cx="4816926" cy="5400000"/>
          </a:xfrm>
        </p:grpSpPr>
        <p:pic>
          <p:nvPicPr>
            <p:cNvPr id="14" name="Imagem 13"/>
            <p:cNvPicPr>
              <a:picLocks noChangeAspect="1"/>
            </p:cNvPicPr>
            <p:nvPr/>
          </p:nvPicPr>
          <p:blipFill rotWithShape="1">
            <a:blip r:embed="rId4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10797"/>
            <a:stretch/>
          </p:blipFill>
          <p:spPr>
            <a:xfrm>
              <a:off x="4594253" y="1118010"/>
              <a:ext cx="4816926" cy="5400000"/>
            </a:xfrm>
            <a:prstGeom prst="rect">
              <a:avLst/>
            </a:prstGeom>
            <a:solidFill>
              <a:schemeClr val="bg1"/>
            </a:solidFill>
          </p:spPr>
        </p:pic>
        <p:grpSp>
          <p:nvGrpSpPr>
            <p:cNvPr id="15" name="Agrupar 14"/>
            <p:cNvGrpSpPr>
              <a:grpSpLocks noChangeAspect="1"/>
            </p:cNvGrpSpPr>
            <p:nvPr/>
          </p:nvGrpSpPr>
          <p:grpSpPr>
            <a:xfrm>
              <a:off x="5819414" y="2854684"/>
              <a:ext cx="2952000" cy="1383435"/>
              <a:chOff x="424455" y="1247950"/>
              <a:chExt cx="3132000" cy="1467790"/>
            </a:xfrm>
          </p:grpSpPr>
          <p:pic>
            <p:nvPicPr>
              <p:cNvPr id="16" name="Picture 2" descr="https://www.atlassian.com/wac/software/jira/service-desk/sectionWrap/0/column/0/imageBinary/jsd-logo_88h.png"/>
              <p:cNvPicPr>
                <a:picLocks noChangeAspect="1" noChangeArrowheads="1"/>
              </p:cNvPicPr>
              <p:nvPr/>
            </p:nvPicPr>
            <p:blipFill rotWithShape="1">
              <a:blip r:embed="rId5">
                <a:duotone>
                  <a:schemeClr val="accent4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65320"/>
              <a:stretch/>
            </p:blipFill>
            <p:spPr bwMode="auto">
              <a:xfrm>
                <a:off x="878900" y="1247950"/>
                <a:ext cx="2223110" cy="83820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7" name="Picture 2" descr="https://www.atlassian.com/wac/software/jira/service-desk/sectionWrap/0/column/0/imageBinary/jsd-logo_88h.png"/>
              <p:cNvPicPr>
                <a:picLocks noChangeAspect="1" noChangeArrowheads="1"/>
              </p:cNvPicPr>
              <p:nvPr/>
            </p:nvPicPr>
            <p:blipFill rotWithShape="1">
              <a:blip r:embed="rId5">
                <a:duotone>
                  <a:schemeClr val="accent4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4952"/>
              <a:stretch/>
            </p:blipFill>
            <p:spPr bwMode="auto">
              <a:xfrm>
                <a:off x="424455" y="2086164"/>
                <a:ext cx="3132000" cy="62957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</p:spTree>
    <p:extLst>
      <p:ext uri="{BB962C8B-B14F-4D97-AF65-F5344CB8AC3E}">
        <p14:creationId xmlns:p14="http://schemas.microsoft.com/office/powerpoint/2010/main" val="42289232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43" grpId="0" animBg="1"/>
      <p:bldP spid="4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/>
          <p:cNvPicPr>
            <a:picLocks noChangeAspect="1"/>
          </p:cNvPicPr>
          <p:nvPr/>
        </p:nvPicPr>
        <p:blipFill rotWithShape="1">
          <a:blip r:embed="rId2"/>
          <a:srcRect l="21370" t="21586" r="23774"/>
          <a:stretch/>
        </p:blipFill>
        <p:spPr>
          <a:xfrm>
            <a:off x="2790180" y="1171119"/>
            <a:ext cx="7137400" cy="543742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2328020" y="130780"/>
            <a:ext cx="5461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Central de Serviços de TI</a:t>
            </a:r>
          </a:p>
        </p:txBody>
      </p:sp>
      <p:sp>
        <p:nvSpPr>
          <p:cNvPr id="10" name="CaixaDeTexto 9"/>
          <p:cNvSpPr txBox="1"/>
          <p:nvPr/>
        </p:nvSpPr>
        <p:spPr>
          <a:xfrm>
            <a:off x="5245100" y="3242150"/>
            <a:ext cx="4445000" cy="83455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 anchor="b">
            <a:noAutofit/>
          </a:bodyPr>
          <a:lstStyle/>
          <a:p>
            <a:pPr algn="r"/>
            <a:r>
              <a:rPr lang="pt-BR" b="1" dirty="0" smtClean="0">
                <a:solidFill>
                  <a:srgbClr val="FF0000"/>
                </a:solidFill>
              </a:rPr>
              <a:t>                                                                     CATEGORIA DO CHAMADO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3" name="CaixaDeTexto 42"/>
          <p:cNvSpPr txBox="1"/>
          <p:nvPr/>
        </p:nvSpPr>
        <p:spPr>
          <a:xfrm>
            <a:off x="2997200" y="2451099"/>
            <a:ext cx="1777378" cy="412750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 anchor="b">
            <a:noAutofit/>
          </a:bodyPr>
          <a:lstStyle/>
          <a:p>
            <a:pPr algn="r"/>
            <a:r>
              <a:rPr lang="pt-BR" b="1" dirty="0" smtClean="0">
                <a:solidFill>
                  <a:srgbClr val="FF0000"/>
                </a:solidFill>
              </a:rPr>
              <a:t>SUBGRUPOS</a:t>
            </a:r>
          </a:p>
          <a:p>
            <a:pPr algn="ctr"/>
            <a:endParaRPr lang="en-US" b="1" dirty="0">
              <a:solidFill>
                <a:srgbClr val="FF0000"/>
              </a:solidFill>
            </a:endParaRPr>
          </a:p>
        </p:txBody>
      </p:sp>
      <p:grpSp>
        <p:nvGrpSpPr>
          <p:cNvPr id="12" name="Agrupar 11"/>
          <p:cNvGrpSpPr>
            <a:grpSpLocks noChangeAspect="1"/>
          </p:cNvGrpSpPr>
          <p:nvPr/>
        </p:nvGrpSpPr>
        <p:grpSpPr>
          <a:xfrm>
            <a:off x="180000" y="1440000"/>
            <a:ext cx="2247899" cy="2520000"/>
            <a:chOff x="4594253" y="1118010"/>
            <a:chExt cx="4816926" cy="5400000"/>
          </a:xfrm>
        </p:grpSpPr>
        <p:pic>
          <p:nvPicPr>
            <p:cNvPr id="13" name="Imagem 12"/>
            <p:cNvPicPr>
              <a:picLocks noChangeAspect="1"/>
            </p:cNvPicPr>
            <p:nvPr/>
          </p:nvPicPr>
          <p:blipFill rotWithShape="1">
            <a:blip r:embed="rId4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10797"/>
            <a:stretch/>
          </p:blipFill>
          <p:spPr>
            <a:xfrm>
              <a:off x="4594253" y="1118010"/>
              <a:ext cx="4816926" cy="5400000"/>
            </a:xfrm>
            <a:prstGeom prst="rect">
              <a:avLst/>
            </a:prstGeom>
            <a:solidFill>
              <a:schemeClr val="bg1"/>
            </a:solidFill>
          </p:spPr>
        </p:pic>
        <p:grpSp>
          <p:nvGrpSpPr>
            <p:cNvPr id="14" name="Agrupar 13"/>
            <p:cNvGrpSpPr>
              <a:grpSpLocks noChangeAspect="1"/>
            </p:cNvGrpSpPr>
            <p:nvPr/>
          </p:nvGrpSpPr>
          <p:grpSpPr>
            <a:xfrm>
              <a:off x="5819414" y="2854684"/>
              <a:ext cx="2952000" cy="1383435"/>
              <a:chOff x="424455" y="1247950"/>
              <a:chExt cx="3132000" cy="1467790"/>
            </a:xfrm>
          </p:grpSpPr>
          <p:pic>
            <p:nvPicPr>
              <p:cNvPr id="15" name="Picture 2" descr="https://www.atlassian.com/wac/software/jira/service-desk/sectionWrap/0/column/0/imageBinary/jsd-logo_88h.png"/>
              <p:cNvPicPr>
                <a:picLocks noChangeAspect="1" noChangeArrowheads="1"/>
              </p:cNvPicPr>
              <p:nvPr/>
            </p:nvPicPr>
            <p:blipFill rotWithShape="1">
              <a:blip r:embed="rId5">
                <a:duotone>
                  <a:schemeClr val="accent4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65320"/>
              <a:stretch/>
            </p:blipFill>
            <p:spPr bwMode="auto">
              <a:xfrm>
                <a:off x="878900" y="1247950"/>
                <a:ext cx="2223110" cy="83820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6" name="Picture 2" descr="https://www.atlassian.com/wac/software/jira/service-desk/sectionWrap/0/column/0/imageBinary/jsd-logo_88h.png"/>
              <p:cNvPicPr>
                <a:picLocks noChangeAspect="1" noChangeArrowheads="1"/>
              </p:cNvPicPr>
              <p:nvPr/>
            </p:nvPicPr>
            <p:blipFill rotWithShape="1">
              <a:blip r:embed="rId5">
                <a:duotone>
                  <a:schemeClr val="accent4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4952"/>
              <a:stretch/>
            </p:blipFill>
            <p:spPr bwMode="auto">
              <a:xfrm>
                <a:off x="424455" y="2086164"/>
                <a:ext cx="3132000" cy="62957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</p:spTree>
    <p:extLst>
      <p:ext uri="{BB962C8B-B14F-4D97-AF65-F5344CB8AC3E}">
        <p14:creationId xmlns:p14="http://schemas.microsoft.com/office/powerpoint/2010/main" val="40604034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4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2328020" y="130780"/>
            <a:ext cx="5461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Central de Serviços de TI</a:t>
            </a:r>
          </a:p>
        </p:txBody>
      </p:sp>
      <p:grpSp>
        <p:nvGrpSpPr>
          <p:cNvPr id="5" name="Agrupar 4"/>
          <p:cNvGrpSpPr/>
          <p:nvPr/>
        </p:nvGrpSpPr>
        <p:grpSpPr>
          <a:xfrm>
            <a:off x="2164975" y="2494336"/>
            <a:ext cx="5787187" cy="1942457"/>
            <a:chOff x="2164975" y="2494336"/>
            <a:chExt cx="5787187" cy="1942457"/>
          </a:xfrm>
        </p:grpSpPr>
        <p:sp>
          <p:nvSpPr>
            <p:cNvPr id="18" name="Retângulo de cantos arredondados 17"/>
            <p:cNvSpPr/>
            <p:nvPr/>
          </p:nvSpPr>
          <p:spPr>
            <a:xfrm>
              <a:off x="2164975" y="2494336"/>
              <a:ext cx="5787187" cy="1942457"/>
            </a:xfrm>
            <a:prstGeom prst="roundRect">
              <a:avLst>
                <a:gd name="adj" fmla="val 7081"/>
              </a:avLst>
            </a:prstGeom>
            <a:solidFill>
              <a:srgbClr val="7030A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2160000"/>
              <a:r>
                <a:rPr lang="pt-BR" sz="3200" b="1" dirty="0" smtClean="0">
                  <a:solidFill>
                    <a:schemeClr val="bg1">
                      <a:lumMod val="9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Atuação dos </a:t>
              </a:r>
            </a:p>
            <a:p>
              <a:pPr marL="2160000"/>
              <a:r>
                <a:rPr lang="pt-BR" sz="3200" b="1" dirty="0" smtClean="0">
                  <a:solidFill>
                    <a:schemeClr val="bg1">
                      <a:lumMod val="9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Agentes</a:t>
              </a:r>
              <a:endParaRPr lang="pt-BR" sz="3600" b="1" dirty="0">
                <a:solidFill>
                  <a:schemeClr val="bg1">
                    <a:lumMod val="9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4" name="Imagem 3"/>
            <p:cNvPicPr>
              <a:picLocks noChangeAspect="1"/>
            </p:cNvPicPr>
            <p:nvPr/>
          </p:nvPicPr>
          <p:blipFill>
            <a:blip r:embed="rId3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91143" y="2680149"/>
              <a:ext cx="1570831" cy="157083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948054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2328020" y="130780"/>
            <a:ext cx="5461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Central de Serviços de TI</a:t>
            </a:r>
          </a:p>
        </p:txBody>
      </p:sp>
      <p:sp>
        <p:nvSpPr>
          <p:cNvPr id="10" name="Retângulo de cantos arredondados 17"/>
          <p:cNvSpPr/>
          <p:nvPr/>
        </p:nvSpPr>
        <p:spPr>
          <a:xfrm>
            <a:off x="297364" y="958044"/>
            <a:ext cx="9495799" cy="720000"/>
          </a:xfrm>
          <a:prstGeom prst="roundRect">
            <a:avLst>
              <a:gd name="adj" fmla="val 7081"/>
            </a:avLst>
          </a:prstGeom>
          <a:solidFill>
            <a:srgbClr val="7030A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900000"/>
            <a:r>
              <a:rPr lang="pt-BR" sz="2000" b="1" dirty="0" smtClean="0">
                <a:solidFill>
                  <a:schemeClr val="bg1">
                    <a:lumMod val="9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Processo</a:t>
            </a:r>
            <a:endParaRPr lang="pt-BR" sz="2400" b="1" dirty="0">
              <a:solidFill>
                <a:schemeClr val="bg1">
                  <a:lumMod val="9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11" name="Imagem 10"/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359" y="1013332"/>
            <a:ext cx="647920" cy="613752"/>
          </a:xfrm>
          <a:prstGeom prst="rect">
            <a:avLst/>
          </a:prstGeom>
          <a:effectLst/>
        </p:spPr>
      </p:pic>
      <p:sp>
        <p:nvSpPr>
          <p:cNvPr id="13" name="Fluxograma: Processo 12"/>
          <p:cNvSpPr/>
          <p:nvPr/>
        </p:nvSpPr>
        <p:spPr>
          <a:xfrm>
            <a:off x="8285507" y="3355898"/>
            <a:ext cx="1371600" cy="762000"/>
          </a:xfrm>
          <a:prstGeom prst="flowChartProcess">
            <a:avLst/>
          </a:prstGeom>
          <a:solidFill>
            <a:srgbClr val="FF66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200" b="1" dirty="0" smtClean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Usuário </a:t>
            </a:r>
            <a:r>
              <a:rPr lang="pt-BR" sz="1200" b="1" dirty="0" smtClean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Recebe </a:t>
            </a:r>
            <a:r>
              <a:rPr lang="pt-BR" sz="1200" b="1" dirty="0" smtClean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notificação de resolução</a:t>
            </a:r>
            <a:endParaRPr lang="en-US" sz="12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14" name="Conector de Seta Reta 13"/>
          <p:cNvCxnSpPr>
            <a:stCxn id="54" idx="3"/>
            <a:endCxn id="13" idx="1"/>
          </p:cNvCxnSpPr>
          <p:nvPr/>
        </p:nvCxnSpPr>
        <p:spPr>
          <a:xfrm>
            <a:off x="7649802" y="3730548"/>
            <a:ext cx="635705" cy="6350"/>
          </a:xfrm>
          <a:prstGeom prst="straightConnector1">
            <a:avLst/>
          </a:prstGeom>
          <a:ln>
            <a:solidFill>
              <a:srgbClr val="7030A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Fluxograma: Processo 18"/>
          <p:cNvSpPr/>
          <p:nvPr/>
        </p:nvSpPr>
        <p:spPr>
          <a:xfrm>
            <a:off x="2286742" y="3355898"/>
            <a:ext cx="1371600" cy="762000"/>
          </a:xfrm>
          <a:prstGeom prst="flowChartProcess">
            <a:avLst/>
          </a:prstGeom>
          <a:solidFill>
            <a:srgbClr val="FF66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200" b="1" dirty="0" smtClean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Assume Chamado</a:t>
            </a:r>
            <a:endParaRPr lang="en-US" sz="12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20" name="Conector de Seta Reta 19"/>
          <p:cNvCxnSpPr>
            <a:stCxn id="23" idx="3"/>
            <a:endCxn id="19" idx="1"/>
          </p:cNvCxnSpPr>
          <p:nvPr/>
        </p:nvCxnSpPr>
        <p:spPr>
          <a:xfrm>
            <a:off x="1651037" y="3736898"/>
            <a:ext cx="635705" cy="0"/>
          </a:xfrm>
          <a:prstGeom prst="straightConnector1">
            <a:avLst/>
          </a:prstGeom>
          <a:ln>
            <a:solidFill>
              <a:srgbClr val="7030A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2" name="Agrupar 21"/>
          <p:cNvGrpSpPr>
            <a:grpSpLocks noChangeAspect="1"/>
          </p:cNvGrpSpPr>
          <p:nvPr/>
        </p:nvGrpSpPr>
        <p:grpSpPr>
          <a:xfrm>
            <a:off x="264292" y="2166685"/>
            <a:ext cx="1250437" cy="1401798"/>
            <a:chOff x="4594253" y="1118010"/>
            <a:chExt cx="4816926" cy="5400000"/>
          </a:xfrm>
        </p:grpSpPr>
        <p:pic>
          <p:nvPicPr>
            <p:cNvPr id="24" name="Imagem 23"/>
            <p:cNvPicPr>
              <a:picLocks noChangeAspect="1"/>
            </p:cNvPicPr>
            <p:nvPr/>
          </p:nvPicPr>
          <p:blipFill rotWithShape="1">
            <a:blip r:embed="rId4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10797"/>
            <a:stretch/>
          </p:blipFill>
          <p:spPr>
            <a:xfrm>
              <a:off x="4594253" y="1118010"/>
              <a:ext cx="4816926" cy="5400000"/>
            </a:xfrm>
            <a:prstGeom prst="rect">
              <a:avLst/>
            </a:prstGeom>
            <a:solidFill>
              <a:schemeClr val="bg1"/>
            </a:solidFill>
          </p:spPr>
        </p:pic>
        <p:grpSp>
          <p:nvGrpSpPr>
            <p:cNvPr id="25" name="Agrupar 24"/>
            <p:cNvGrpSpPr>
              <a:grpSpLocks noChangeAspect="1"/>
            </p:cNvGrpSpPr>
            <p:nvPr/>
          </p:nvGrpSpPr>
          <p:grpSpPr>
            <a:xfrm>
              <a:off x="5819414" y="2854684"/>
              <a:ext cx="2952000" cy="1383435"/>
              <a:chOff x="424455" y="1247950"/>
              <a:chExt cx="3132000" cy="1467790"/>
            </a:xfrm>
          </p:grpSpPr>
          <p:pic>
            <p:nvPicPr>
              <p:cNvPr id="26" name="Picture 2" descr="https://www.atlassian.com/wac/software/jira/service-desk/sectionWrap/0/column/0/imageBinary/jsd-logo_88h.png"/>
              <p:cNvPicPr>
                <a:picLocks noChangeAspect="1" noChangeArrowheads="1"/>
              </p:cNvPicPr>
              <p:nvPr/>
            </p:nvPicPr>
            <p:blipFill rotWithShape="1">
              <a:blip r:embed="rId5">
                <a:duotone>
                  <a:schemeClr val="accent4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65320"/>
              <a:stretch/>
            </p:blipFill>
            <p:spPr bwMode="auto">
              <a:xfrm>
                <a:off x="878900" y="1247950"/>
                <a:ext cx="2223110" cy="83820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7" name="Picture 2" descr="https://www.atlassian.com/wac/software/jira/service-desk/sectionWrap/0/column/0/imageBinary/jsd-logo_88h.png"/>
              <p:cNvPicPr>
                <a:picLocks noChangeAspect="1" noChangeArrowheads="1"/>
              </p:cNvPicPr>
              <p:nvPr/>
            </p:nvPicPr>
            <p:blipFill rotWithShape="1">
              <a:blip r:embed="rId5">
                <a:duotone>
                  <a:schemeClr val="accent4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4952"/>
              <a:stretch/>
            </p:blipFill>
            <p:spPr bwMode="auto">
              <a:xfrm>
                <a:off x="424455" y="2086164"/>
                <a:ext cx="3132000" cy="62957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sp>
        <p:nvSpPr>
          <p:cNvPr id="23" name="Fluxograma: Processo 22"/>
          <p:cNvSpPr/>
          <p:nvPr/>
        </p:nvSpPr>
        <p:spPr>
          <a:xfrm>
            <a:off x="279437" y="3355898"/>
            <a:ext cx="1371600" cy="762000"/>
          </a:xfrm>
          <a:prstGeom prst="flowChartProcess">
            <a:avLst/>
          </a:prstGeom>
          <a:solidFill>
            <a:srgbClr val="FF66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200" b="1" dirty="0" smtClean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Monitora Fila de  Chamados e realiza triagem</a:t>
            </a:r>
            <a:endParaRPr lang="en-US" sz="12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29" name="Conector de Seta Reta 69"/>
          <p:cNvCxnSpPr>
            <a:stCxn id="13" idx="0"/>
            <a:endCxn id="30" idx="3"/>
          </p:cNvCxnSpPr>
          <p:nvPr/>
        </p:nvCxnSpPr>
        <p:spPr>
          <a:xfrm rot="16200000" flipV="1">
            <a:off x="7850840" y="2235430"/>
            <a:ext cx="936942" cy="1303993"/>
          </a:xfrm>
          <a:prstGeom prst="bentConnector2">
            <a:avLst/>
          </a:prstGeom>
          <a:ln>
            <a:solidFill>
              <a:srgbClr val="7030A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Fluxograma: Processo 29"/>
          <p:cNvSpPr/>
          <p:nvPr/>
        </p:nvSpPr>
        <p:spPr>
          <a:xfrm>
            <a:off x="6295714" y="2037956"/>
            <a:ext cx="1371600" cy="762000"/>
          </a:xfrm>
          <a:prstGeom prst="flowChartProcess">
            <a:avLst/>
          </a:prstGeom>
          <a:solidFill>
            <a:srgbClr val="FF66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200" b="1" dirty="0" smtClean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Usuário solicita </a:t>
            </a:r>
            <a:r>
              <a:rPr lang="pt-BR" sz="1200" b="1" dirty="0" smtClean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reabertura do Chamado</a:t>
            </a:r>
            <a:endParaRPr lang="en-US" sz="12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31" name="Conector de Seta Reta 69"/>
          <p:cNvCxnSpPr>
            <a:stCxn id="62" idx="2"/>
            <a:endCxn id="46" idx="0"/>
          </p:cNvCxnSpPr>
          <p:nvPr/>
        </p:nvCxnSpPr>
        <p:spPr>
          <a:xfrm rot="5400000">
            <a:off x="4700748" y="3073268"/>
            <a:ext cx="549592" cy="2968"/>
          </a:xfrm>
          <a:prstGeom prst="bentConnector3">
            <a:avLst>
              <a:gd name="adj1" fmla="val 50000"/>
            </a:avLst>
          </a:prstGeom>
          <a:ln>
            <a:solidFill>
              <a:srgbClr val="7030A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tângulo 31"/>
          <p:cNvSpPr/>
          <p:nvPr/>
        </p:nvSpPr>
        <p:spPr>
          <a:xfrm>
            <a:off x="8978138" y="2543799"/>
            <a:ext cx="995465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pt-BR" sz="1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Solução </a:t>
            </a:r>
            <a:r>
              <a:rPr lang="pt-BR" sz="11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não</a:t>
            </a:r>
            <a:r>
              <a:rPr lang="pt-BR" sz="1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atende</a:t>
            </a:r>
          </a:p>
        </p:txBody>
      </p:sp>
      <p:grpSp>
        <p:nvGrpSpPr>
          <p:cNvPr id="33" name="Agrupar 32"/>
          <p:cNvGrpSpPr/>
          <p:nvPr/>
        </p:nvGrpSpPr>
        <p:grpSpPr>
          <a:xfrm>
            <a:off x="8285508" y="4170150"/>
            <a:ext cx="1567544" cy="1427951"/>
            <a:chOff x="7658490" y="4089957"/>
            <a:chExt cx="1567544" cy="1427951"/>
          </a:xfrm>
        </p:grpSpPr>
        <p:sp>
          <p:nvSpPr>
            <p:cNvPr id="35" name="Fluxograma: Processo 34"/>
            <p:cNvSpPr/>
            <p:nvPr/>
          </p:nvSpPr>
          <p:spPr>
            <a:xfrm>
              <a:off x="7658490" y="4755908"/>
              <a:ext cx="1371600" cy="762000"/>
            </a:xfrm>
            <a:prstGeom prst="flowChartProcess">
              <a:avLst/>
            </a:prstGeom>
            <a:solidFill>
              <a:srgbClr val="FF660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200" b="1" dirty="0" smtClean="0">
                  <a:solidFill>
                    <a:schemeClr val="bg1">
                      <a:lumMod val="9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egoe UI" panose="020B0502040204020203" pitchFamily="34" charset="0"/>
                  <a:cs typeface="Segoe UI" panose="020B0502040204020203" pitchFamily="34" charset="0"/>
                </a:rPr>
                <a:t>Usuário Responde Pesq. de </a:t>
              </a:r>
              <a:r>
                <a:rPr lang="pt-BR" sz="1200" b="1" dirty="0" smtClean="0">
                  <a:solidFill>
                    <a:schemeClr val="bg1">
                      <a:lumMod val="9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egoe UI" panose="020B0502040204020203" pitchFamily="34" charset="0"/>
                  <a:cs typeface="Segoe UI" panose="020B0502040204020203" pitchFamily="34" charset="0"/>
                </a:rPr>
                <a:t>Satisfação</a:t>
              </a:r>
              <a:endParaRPr lang="en-US" sz="12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cxnSp>
          <p:nvCxnSpPr>
            <p:cNvPr id="37" name="Conector de Seta Reta 36"/>
            <p:cNvCxnSpPr>
              <a:stCxn id="13" idx="2"/>
              <a:endCxn id="35" idx="0"/>
            </p:cNvCxnSpPr>
            <p:nvPr/>
          </p:nvCxnSpPr>
          <p:spPr>
            <a:xfrm>
              <a:off x="8344289" y="4089957"/>
              <a:ext cx="1" cy="665951"/>
            </a:xfrm>
            <a:prstGeom prst="straightConnector1">
              <a:avLst/>
            </a:prstGeom>
            <a:ln>
              <a:solidFill>
                <a:srgbClr val="7030A0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Retângulo 38"/>
            <p:cNvSpPr/>
            <p:nvPr/>
          </p:nvSpPr>
          <p:spPr>
            <a:xfrm>
              <a:off x="8359278" y="4163571"/>
              <a:ext cx="866756" cy="43088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spcBef>
                  <a:spcPts val="600"/>
                </a:spcBef>
                <a:spcAft>
                  <a:spcPts val="600"/>
                </a:spcAft>
              </a:pPr>
              <a:r>
                <a:rPr lang="pt-BR" sz="11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Solução </a:t>
              </a:r>
              <a:r>
                <a:rPr lang="pt-BR" sz="11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atende</a:t>
              </a:r>
              <a:endParaRPr lang="pt-BR" sz="1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44" name="Retângulo 43"/>
          <p:cNvSpPr/>
          <p:nvPr/>
        </p:nvSpPr>
        <p:spPr>
          <a:xfrm>
            <a:off x="264292" y="5309929"/>
            <a:ext cx="2270857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pt-BR" sz="1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SLA de Resposta</a:t>
            </a:r>
            <a:r>
              <a:rPr lang="pt-BR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(da abertura até o primeiro analista </a:t>
            </a:r>
            <a:r>
              <a:rPr lang="pt-BR" sz="11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assumir).</a:t>
            </a:r>
            <a:endParaRPr lang="pt-BR" sz="11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6" name="Fluxograma: Processo 45"/>
          <p:cNvSpPr/>
          <p:nvPr/>
        </p:nvSpPr>
        <p:spPr>
          <a:xfrm>
            <a:off x="4294047" y="3349548"/>
            <a:ext cx="1360025" cy="762000"/>
          </a:xfrm>
          <a:prstGeom prst="flowChartProcess">
            <a:avLst/>
          </a:prstGeom>
          <a:solidFill>
            <a:srgbClr val="FF66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200" b="1" dirty="0" smtClean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Realiza atendimento do Chamado</a:t>
            </a:r>
            <a:endParaRPr lang="en-US" sz="12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47" name="Conector de Seta Reta 46"/>
          <p:cNvCxnSpPr>
            <a:stCxn id="19" idx="3"/>
            <a:endCxn id="46" idx="1"/>
          </p:cNvCxnSpPr>
          <p:nvPr/>
        </p:nvCxnSpPr>
        <p:spPr>
          <a:xfrm flipV="1">
            <a:off x="3658342" y="3730548"/>
            <a:ext cx="635705" cy="6350"/>
          </a:xfrm>
          <a:prstGeom prst="straightConnector1">
            <a:avLst/>
          </a:prstGeom>
          <a:ln>
            <a:solidFill>
              <a:srgbClr val="7030A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Chave Esquerda 50"/>
          <p:cNvSpPr/>
          <p:nvPr/>
        </p:nvSpPr>
        <p:spPr>
          <a:xfrm rot="16200000">
            <a:off x="1229160" y="4106781"/>
            <a:ext cx="175465" cy="2074911"/>
          </a:xfrm>
          <a:prstGeom prst="leftBrace">
            <a:avLst>
              <a:gd name="adj1" fmla="val 55804"/>
              <a:gd name="adj2" fmla="val 50000"/>
            </a:avLst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tângulo 51"/>
          <p:cNvSpPr/>
          <p:nvPr/>
        </p:nvSpPr>
        <p:spPr>
          <a:xfrm>
            <a:off x="2535150" y="5309929"/>
            <a:ext cx="4846324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pt-BR" sz="1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SLA de Resolução </a:t>
            </a:r>
            <a:r>
              <a:rPr lang="pt-BR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(chamado assumido até a resolução</a:t>
            </a:r>
            <a:r>
              <a:rPr lang="pt-BR" sz="11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).</a:t>
            </a:r>
            <a:endParaRPr lang="pt-BR" sz="11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3" name="Chave Esquerda 52"/>
          <p:cNvSpPr/>
          <p:nvPr/>
        </p:nvSpPr>
        <p:spPr>
          <a:xfrm rot="16200000">
            <a:off x="4906851" y="2552236"/>
            <a:ext cx="175465" cy="5184000"/>
          </a:xfrm>
          <a:prstGeom prst="leftBrace">
            <a:avLst>
              <a:gd name="adj1" fmla="val 55804"/>
              <a:gd name="adj2" fmla="val 50000"/>
            </a:avLst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Fluxograma: Processo 53"/>
          <p:cNvSpPr/>
          <p:nvPr/>
        </p:nvSpPr>
        <p:spPr>
          <a:xfrm>
            <a:off x="6289777" y="3349548"/>
            <a:ext cx="1360025" cy="762000"/>
          </a:xfrm>
          <a:prstGeom prst="flowChartProcess">
            <a:avLst/>
          </a:prstGeom>
          <a:solidFill>
            <a:srgbClr val="FF66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200" b="1" dirty="0" smtClean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Resolve o Chamado</a:t>
            </a:r>
            <a:endParaRPr lang="en-US" sz="12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55" name="Conector de Seta Reta 54"/>
          <p:cNvCxnSpPr>
            <a:stCxn id="46" idx="3"/>
            <a:endCxn id="54" idx="1"/>
          </p:cNvCxnSpPr>
          <p:nvPr/>
        </p:nvCxnSpPr>
        <p:spPr>
          <a:xfrm>
            <a:off x="5654072" y="3730548"/>
            <a:ext cx="635705" cy="0"/>
          </a:xfrm>
          <a:prstGeom prst="straightConnector1">
            <a:avLst/>
          </a:prstGeom>
          <a:ln>
            <a:solidFill>
              <a:srgbClr val="7030A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Fluxograma: Processo 61"/>
          <p:cNvSpPr/>
          <p:nvPr/>
        </p:nvSpPr>
        <p:spPr>
          <a:xfrm>
            <a:off x="4291228" y="2037956"/>
            <a:ext cx="1371600" cy="762000"/>
          </a:xfrm>
          <a:prstGeom prst="flowChartProcess">
            <a:avLst/>
          </a:prstGeom>
          <a:solidFill>
            <a:srgbClr val="FF66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200" b="1" dirty="0" smtClean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Reabrir o </a:t>
            </a:r>
            <a:r>
              <a:rPr lang="pt-BR" sz="1200" b="1" dirty="0" smtClean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Chamado</a:t>
            </a:r>
            <a:endParaRPr lang="en-US" sz="12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1" name="Texto Explicativo 2 (Borda e Ênfase) 70"/>
          <p:cNvSpPr/>
          <p:nvPr/>
        </p:nvSpPr>
        <p:spPr>
          <a:xfrm rot="5400000" flipV="1">
            <a:off x="3913161" y="3808655"/>
            <a:ext cx="594242" cy="4772929"/>
          </a:xfrm>
          <a:prstGeom prst="accentBorderCallout2">
            <a:avLst>
              <a:gd name="adj1" fmla="val 17001"/>
              <a:gd name="adj2" fmla="val -15518"/>
              <a:gd name="adj3" fmla="val 21962"/>
              <a:gd name="adj4" fmla="val -99129"/>
              <a:gd name="adj5" fmla="val 51195"/>
              <a:gd name="adj6" fmla="val -227779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vert" rtlCol="0" anchor="t"/>
          <a:lstStyle/>
          <a:p>
            <a:pPr>
              <a:spcAft>
                <a:spcPts val="600"/>
              </a:spcAft>
            </a:pPr>
            <a:r>
              <a:rPr lang="pt-BR" sz="1200" b="1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Pend</a:t>
            </a:r>
            <a:r>
              <a:rPr lang="pt-BR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. Desenvolvimento</a:t>
            </a:r>
            <a:r>
              <a:rPr lang="pt-BR" sz="12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: abrir </a:t>
            </a:r>
            <a:r>
              <a:rPr lang="pt-BR" sz="1200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Issue</a:t>
            </a:r>
            <a:r>
              <a:rPr lang="pt-BR" sz="12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em </a:t>
            </a:r>
            <a:r>
              <a:rPr lang="pt-BR" sz="1200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BUGs</a:t>
            </a:r>
            <a:r>
              <a:rPr lang="pt-BR" sz="12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pt-BR" sz="1200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linkar</a:t>
            </a:r>
            <a:r>
              <a:rPr lang="pt-BR" sz="12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as </a:t>
            </a:r>
            <a:r>
              <a:rPr lang="pt-BR" sz="1200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issues</a:t>
            </a:r>
            <a:r>
              <a:rPr lang="pt-BR" sz="12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</a:p>
          <a:p>
            <a:pPr>
              <a:spcAft>
                <a:spcPts val="600"/>
              </a:spcAft>
            </a:pPr>
            <a:r>
              <a:rPr lang="pt-BR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Operação Assistida</a:t>
            </a:r>
            <a:r>
              <a:rPr lang="pt-BR" sz="12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: abrir </a:t>
            </a:r>
            <a:r>
              <a:rPr lang="pt-BR" sz="1200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Issue</a:t>
            </a:r>
            <a:r>
              <a:rPr lang="pt-BR" sz="12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no Projeto de Melhoria e </a:t>
            </a:r>
            <a:r>
              <a:rPr lang="pt-BR" sz="1200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linkar</a:t>
            </a:r>
            <a:r>
              <a:rPr lang="pt-BR" sz="12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as </a:t>
            </a:r>
            <a:r>
              <a:rPr lang="pt-BR" sz="1200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Issues</a:t>
            </a:r>
            <a:r>
              <a:rPr lang="pt-BR" sz="12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  <a:endParaRPr lang="pt-BR" sz="1200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64" name="Conector de Seta Reta 69"/>
          <p:cNvCxnSpPr>
            <a:stCxn id="30" idx="1"/>
            <a:endCxn id="62" idx="3"/>
          </p:cNvCxnSpPr>
          <p:nvPr/>
        </p:nvCxnSpPr>
        <p:spPr>
          <a:xfrm flipH="1">
            <a:off x="5662828" y="2418956"/>
            <a:ext cx="632886" cy="0"/>
          </a:xfrm>
          <a:prstGeom prst="straightConnector1">
            <a:avLst/>
          </a:prstGeom>
          <a:ln>
            <a:solidFill>
              <a:srgbClr val="7030A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Retângulo 72"/>
          <p:cNvSpPr/>
          <p:nvPr/>
        </p:nvSpPr>
        <p:spPr>
          <a:xfrm>
            <a:off x="2254382" y="4196136"/>
            <a:ext cx="1414187" cy="4477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pt-BR" sz="11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Clicar em “Atender Chamado”</a:t>
            </a:r>
            <a:endParaRPr lang="pt-BR" sz="11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4" name="Retângulo 73"/>
          <p:cNvSpPr/>
          <p:nvPr/>
        </p:nvSpPr>
        <p:spPr>
          <a:xfrm>
            <a:off x="6295714" y="4204575"/>
            <a:ext cx="1414187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pt-BR" sz="11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Clicar em “Resolver Chamado”</a:t>
            </a:r>
            <a:endParaRPr lang="pt-BR" sz="11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5" name="Retângulo 74"/>
          <p:cNvSpPr/>
          <p:nvPr/>
        </p:nvSpPr>
        <p:spPr>
          <a:xfrm>
            <a:off x="4298358" y="1772626"/>
            <a:ext cx="1414187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pt-BR" sz="11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Clicar em “Reabrir”</a:t>
            </a:r>
            <a:endParaRPr lang="pt-BR" sz="11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6" name="Retângulo 75"/>
          <p:cNvSpPr/>
          <p:nvPr/>
        </p:nvSpPr>
        <p:spPr>
          <a:xfrm>
            <a:off x="4237119" y="4135172"/>
            <a:ext cx="1889360" cy="9387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1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Pendente Usuário</a:t>
            </a:r>
          </a:p>
          <a:p>
            <a:r>
              <a:rPr lang="pt-BR" sz="11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Pendente Desenvolvimento</a:t>
            </a:r>
          </a:p>
          <a:p>
            <a:r>
              <a:rPr lang="pt-BR" sz="11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Pendente Fornecedor</a:t>
            </a:r>
          </a:p>
          <a:p>
            <a:r>
              <a:rPr lang="pt-BR" sz="11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Operação Assistida</a:t>
            </a:r>
          </a:p>
          <a:p>
            <a:r>
              <a:rPr lang="pt-BR" sz="11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Pendente Compras (</a:t>
            </a:r>
            <a:r>
              <a:rPr lang="pt-BR" sz="1100" b="1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Solicit</a:t>
            </a:r>
            <a:r>
              <a:rPr lang="pt-BR" sz="11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.)</a:t>
            </a:r>
            <a:endParaRPr lang="pt-BR" sz="11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33979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2328020" y="130780"/>
            <a:ext cx="5461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Central de Serviços de TI</a:t>
            </a:r>
          </a:p>
        </p:txBody>
      </p:sp>
      <p:grpSp>
        <p:nvGrpSpPr>
          <p:cNvPr id="4" name="Agrupar 3"/>
          <p:cNvGrpSpPr/>
          <p:nvPr/>
        </p:nvGrpSpPr>
        <p:grpSpPr>
          <a:xfrm>
            <a:off x="4594253" y="1118010"/>
            <a:ext cx="4816926" cy="5400000"/>
            <a:chOff x="4594253" y="1118010"/>
            <a:chExt cx="4816926" cy="5400000"/>
          </a:xfrm>
        </p:grpSpPr>
        <p:pic>
          <p:nvPicPr>
            <p:cNvPr id="36" name="Imagem 35"/>
            <p:cNvPicPr>
              <a:picLocks noChangeAspect="1"/>
            </p:cNvPicPr>
            <p:nvPr/>
          </p:nvPicPr>
          <p:blipFill rotWithShape="1">
            <a:blip r:embed="rId3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10797"/>
            <a:stretch/>
          </p:blipFill>
          <p:spPr>
            <a:xfrm>
              <a:off x="4594253" y="1118010"/>
              <a:ext cx="4816926" cy="5400000"/>
            </a:xfrm>
            <a:prstGeom prst="rect">
              <a:avLst/>
            </a:prstGeom>
            <a:solidFill>
              <a:schemeClr val="bg1"/>
            </a:solidFill>
          </p:spPr>
        </p:pic>
        <p:grpSp>
          <p:nvGrpSpPr>
            <p:cNvPr id="3" name="Agrupar 2"/>
            <p:cNvGrpSpPr>
              <a:grpSpLocks noChangeAspect="1"/>
            </p:cNvGrpSpPr>
            <p:nvPr/>
          </p:nvGrpSpPr>
          <p:grpSpPr>
            <a:xfrm>
              <a:off x="5819414" y="2854684"/>
              <a:ext cx="2952000" cy="1383435"/>
              <a:chOff x="424455" y="1247950"/>
              <a:chExt cx="3132000" cy="1467790"/>
            </a:xfrm>
          </p:grpSpPr>
          <p:pic>
            <p:nvPicPr>
              <p:cNvPr id="1026" name="Picture 2" descr="https://www.atlassian.com/wac/software/jira/service-desk/sectionWrap/0/column/0/imageBinary/jsd-logo_88h.png"/>
              <p:cNvPicPr>
                <a:picLocks noChangeAspect="1" noChangeArrowheads="1"/>
              </p:cNvPicPr>
              <p:nvPr/>
            </p:nvPicPr>
            <p:blipFill rotWithShape="1">
              <a:blip r:embed="rId4">
                <a:duotone>
                  <a:schemeClr val="accent4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65320"/>
              <a:stretch/>
            </p:blipFill>
            <p:spPr bwMode="auto">
              <a:xfrm>
                <a:off x="878900" y="1247950"/>
                <a:ext cx="2223110" cy="83820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1" name="Picture 2" descr="https://www.atlassian.com/wac/software/jira/service-desk/sectionWrap/0/column/0/imageBinary/jsd-logo_88h.png"/>
              <p:cNvPicPr>
                <a:picLocks noChangeAspect="1" noChangeArrowheads="1"/>
              </p:cNvPicPr>
              <p:nvPr/>
            </p:nvPicPr>
            <p:blipFill rotWithShape="1">
              <a:blip r:embed="rId4">
                <a:duotone>
                  <a:schemeClr val="accent4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4952"/>
              <a:stretch/>
            </p:blipFill>
            <p:spPr bwMode="auto">
              <a:xfrm>
                <a:off x="424455" y="2086164"/>
                <a:ext cx="3132000" cy="62957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sp>
        <p:nvSpPr>
          <p:cNvPr id="12" name="Retângulo de cantos arredondados 17"/>
          <p:cNvSpPr/>
          <p:nvPr/>
        </p:nvSpPr>
        <p:spPr>
          <a:xfrm>
            <a:off x="807473" y="2942078"/>
            <a:ext cx="3955027" cy="1426721"/>
          </a:xfrm>
          <a:prstGeom prst="rightArrow">
            <a:avLst/>
          </a:prstGeom>
          <a:solidFill>
            <a:srgbClr val="7030A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b="1" dirty="0" smtClean="0">
                <a:solidFill>
                  <a:schemeClr val="bg1">
                    <a:lumMod val="9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Agora vamos ao</a:t>
            </a:r>
            <a:endParaRPr lang="pt-BR" sz="2400" b="1" dirty="0">
              <a:solidFill>
                <a:schemeClr val="bg1">
                  <a:lumMod val="9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17396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3139</TotalTime>
  <Words>562</Words>
  <Application>Microsoft Office PowerPoint</Application>
  <PresentationFormat>Personalizar</PresentationFormat>
  <Paragraphs>95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5" baseType="lpstr">
      <vt:lpstr>Arial</vt:lpstr>
      <vt:lpstr>Calibri</vt:lpstr>
      <vt:lpstr>Gotham Rounded Book</vt:lpstr>
      <vt:lpstr>Segoe UI</vt:lpstr>
      <vt:lpstr>Trebuchet MS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fred</dc:creator>
  <cp:lastModifiedBy>Jorge Filho</cp:lastModifiedBy>
  <cp:revision>263</cp:revision>
  <dcterms:created xsi:type="dcterms:W3CDTF">2014-01-24T21:35:00Z</dcterms:created>
  <dcterms:modified xsi:type="dcterms:W3CDTF">2015-12-18T20:43:27Z</dcterms:modified>
</cp:coreProperties>
</file>