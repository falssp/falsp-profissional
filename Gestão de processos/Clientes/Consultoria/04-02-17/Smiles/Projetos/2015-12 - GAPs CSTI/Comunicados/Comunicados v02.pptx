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339" r:id="rId2"/>
    <p:sldId id="340" r:id="rId3"/>
    <p:sldId id="341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7124"/>
    <a:srgbClr val="FF9900"/>
    <a:srgbClr val="FF8E2D"/>
    <a:srgbClr val="F68E1E"/>
    <a:srgbClr val="99CCFF"/>
    <a:srgbClr val="000000"/>
    <a:srgbClr val="FF6600"/>
    <a:srgbClr val="EE6829"/>
    <a:srgbClr val="E28734"/>
    <a:srgbClr val="F4BC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2C8C85-51F0-491E-9774-3900AFEF0FD7}" styleName="Estilo Claro 2 - Ênfase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29" autoAdjust="0"/>
    <p:restoredTop sz="94660"/>
  </p:normalViewPr>
  <p:slideViewPr>
    <p:cSldViewPr snapToGrid="0" snapToObjects="1">
      <p:cViewPr>
        <p:scale>
          <a:sx n="100" d="100"/>
          <a:sy n="100" d="100"/>
        </p:scale>
        <p:origin x="1218" y="-216"/>
      </p:cViewPr>
      <p:guideLst>
        <p:guide orient="horz" pos="312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2CD1B9-1777-43A0-8DF4-B945C46147BD}" type="datetimeFigureOut">
              <a:rPr lang="pt-BR" smtClean="0"/>
              <a:t>09/12/2015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245040-EFBE-493F-96A2-B5DCAE3ADE4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6681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1" y="5613400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603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207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9811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6415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301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9622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6226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2830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89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30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6365527"/>
            <a:ext cx="5829300" cy="1967442"/>
          </a:xfrm>
        </p:spPr>
        <p:txBody>
          <a:bodyPr anchor="t"/>
          <a:lstStyle>
            <a:lvl1pPr algn="l">
              <a:defRPr sz="5778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4198586"/>
            <a:ext cx="5829300" cy="2166937"/>
          </a:xfrm>
        </p:spPr>
        <p:txBody>
          <a:bodyPr anchor="b"/>
          <a:lstStyle>
            <a:lvl1pPr marL="0" indent="0">
              <a:buNone/>
              <a:defRPr sz="2889">
                <a:solidFill>
                  <a:schemeClr val="tx1">
                    <a:tint val="75000"/>
                  </a:schemeClr>
                </a:solidFill>
              </a:defRPr>
            </a:lvl1pPr>
            <a:lvl2pPr marL="660380" indent="0">
              <a:buNone/>
              <a:defRPr sz="2600">
                <a:solidFill>
                  <a:schemeClr val="tx1">
                    <a:tint val="75000"/>
                  </a:schemeClr>
                </a:solidFill>
              </a:defRPr>
            </a:lvl2pPr>
            <a:lvl3pPr marL="132075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3pPr>
            <a:lvl4pPr marL="1981139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4pPr>
            <a:lvl5pPr marL="2641519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5pPr>
            <a:lvl6pPr marL="330189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6pPr>
            <a:lvl7pPr marL="396227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7pPr>
            <a:lvl8pPr marL="4622658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8pPr>
            <a:lvl9pPr marL="5283037" indent="0">
              <a:buNone/>
              <a:defRPr sz="202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74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1" y="2311405"/>
            <a:ext cx="3028950" cy="6537502"/>
          </a:xfrm>
        </p:spPr>
        <p:txBody>
          <a:bodyPr/>
          <a:lstStyle>
            <a:lvl1pPr>
              <a:defRPr sz="4044"/>
            </a:lvl1pPr>
            <a:lvl2pPr>
              <a:defRPr sz="3467"/>
            </a:lvl2pPr>
            <a:lvl3pPr>
              <a:defRPr sz="2889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2311405"/>
            <a:ext cx="3028950" cy="6537502"/>
          </a:xfrm>
        </p:spPr>
        <p:txBody>
          <a:bodyPr/>
          <a:lstStyle>
            <a:lvl1pPr>
              <a:defRPr sz="4044"/>
            </a:lvl1pPr>
            <a:lvl2pPr>
              <a:defRPr sz="3467"/>
            </a:lvl2pPr>
            <a:lvl3pPr>
              <a:defRPr sz="2889"/>
            </a:lvl3pPr>
            <a:lvl4pPr>
              <a:defRPr sz="2600"/>
            </a:lvl4pPr>
            <a:lvl5pPr>
              <a:defRPr sz="2600"/>
            </a:lvl5pPr>
            <a:lvl6pPr>
              <a:defRPr sz="2600"/>
            </a:lvl6pPr>
            <a:lvl7pPr>
              <a:defRPr sz="2600"/>
            </a:lvl7pPr>
            <a:lvl8pPr>
              <a:defRPr sz="2600"/>
            </a:lvl8pPr>
            <a:lvl9pPr>
              <a:defRPr sz="2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3154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217385"/>
            <a:ext cx="3030141" cy="924101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3141486"/>
            <a:ext cx="3030141" cy="5707416"/>
          </a:xfrm>
        </p:spPr>
        <p:txBody>
          <a:bodyPr/>
          <a:lstStyle>
            <a:lvl1pPr>
              <a:defRPr sz="3467"/>
            </a:lvl1pPr>
            <a:lvl2pPr>
              <a:defRPr sz="2889"/>
            </a:lvl2pPr>
            <a:lvl3pPr>
              <a:defRPr sz="2600"/>
            </a:lvl3pPr>
            <a:lvl4pPr>
              <a:defRPr sz="2311"/>
            </a:lvl4pPr>
            <a:lvl5pPr>
              <a:defRPr sz="2311"/>
            </a:lvl5pPr>
            <a:lvl6pPr>
              <a:defRPr sz="2311"/>
            </a:lvl6pPr>
            <a:lvl7pPr>
              <a:defRPr sz="2311"/>
            </a:lvl7pPr>
            <a:lvl8pPr>
              <a:defRPr sz="2311"/>
            </a:lvl8pPr>
            <a:lvl9pPr>
              <a:defRPr sz="2311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217385"/>
            <a:ext cx="3031332" cy="924101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3141486"/>
            <a:ext cx="3031332" cy="5707416"/>
          </a:xfrm>
        </p:spPr>
        <p:txBody>
          <a:bodyPr/>
          <a:lstStyle>
            <a:lvl1pPr>
              <a:defRPr sz="3467"/>
            </a:lvl1pPr>
            <a:lvl2pPr>
              <a:defRPr sz="2889"/>
            </a:lvl2pPr>
            <a:lvl3pPr>
              <a:defRPr sz="2600"/>
            </a:lvl3pPr>
            <a:lvl4pPr>
              <a:defRPr sz="2311"/>
            </a:lvl4pPr>
            <a:lvl5pPr>
              <a:defRPr sz="2311"/>
            </a:lvl5pPr>
            <a:lvl6pPr>
              <a:defRPr sz="2311"/>
            </a:lvl6pPr>
            <a:lvl7pPr>
              <a:defRPr sz="2311"/>
            </a:lvl7pPr>
            <a:lvl8pPr>
              <a:defRPr sz="2311"/>
            </a:lvl8pPr>
            <a:lvl9pPr>
              <a:defRPr sz="2311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74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3801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3948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94405"/>
            <a:ext cx="2256235" cy="1678517"/>
          </a:xfrm>
        </p:spPr>
        <p:txBody>
          <a:bodyPr anchor="b"/>
          <a:lstStyle>
            <a:lvl1pPr algn="l">
              <a:defRPr sz="2889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9" y="394410"/>
            <a:ext cx="3833812" cy="8454497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072927"/>
            <a:ext cx="2256235" cy="6775980"/>
          </a:xfrm>
        </p:spPr>
        <p:txBody>
          <a:bodyPr/>
          <a:lstStyle>
            <a:lvl1pPr marL="0" indent="0">
              <a:buNone/>
              <a:defRPr sz="2022"/>
            </a:lvl1pPr>
            <a:lvl2pPr marL="660380" indent="0">
              <a:buNone/>
              <a:defRPr sz="1733"/>
            </a:lvl2pPr>
            <a:lvl3pPr marL="1320759" indent="0">
              <a:buNone/>
              <a:defRPr sz="1444"/>
            </a:lvl3pPr>
            <a:lvl4pPr marL="1981139" indent="0">
              <a:buNone/>
              <a:defRPr sz="1300"/>
            </a:lvl4pPr>
            <a:lvl5pPr marL="2641519" indent="0">
              <a:buNone/>
              <a:defRPr sz="1300"/>
            </a:lvl5pPr>
            <a:lvl6pPr marL="3301898" indent="0">
              <a:buNone/>
              <a:defRPr sz="1300"/>
            </a:lvl6pPr>
            <a:lvl7pPr marL="3962278" indent="0">
              <a:buNone/>
              <a:defRPr sz="1300"/>
            </a:lvl7pPr>
            <a:lvl8pPr marL="4622658" indent="0">
              <a:buNone/>
              <a:defRPr sz="1300"/>
            </a:lvl8pPr>
            <a:lvl9pPr marL="5283037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056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7" y="6934200"/>
            <a:ext cx="4114800" cy="818622"/>
          </a:xfrm>
        </p:spPr>
        <p:txBody>
          <a:bodyPr anchor="b"/>
          <a:lstStyle>
            <a:lvl1pPr algn="l">
              <a:defRPr sz="2889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7" y="885119"/>
            <a:ext cx="4114800" cy="5943600"/>
          </a:xfrm>
        </p:spPr>
        <p:txBody>
          <a:bodyPr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7" y="7752822"/>
            <a:ext cx="4114800" cy="1162578"/>
          </a:xfrm>
        </p:spPr>
        <p:txBody>
          <a:bodyPr/>
          <a:lstStyle>
            <a:lvl1pPr marL="0" indent="0">
              <a:buNone/>
              <a:defRPr sz="2022"/>
            </a:lvl1pPr>
            <a:lvl2pPr marL="660380" indent="0">
              <a:buNone/>
              <a:defRPr sz="1733"/>
            </a:lvl2pPr>
            <a:lvl3pPr marL="1320759" indent="0">
              <a:buNone/>
              <a:defRPr sz="1444"/>
            </a:lvl3pPr>
            <a:lvl4pPr marL="1981139" indent="0">
              <a:buNone/>
              <a:defRPr sz="1300"/>
            </a:lvl4pPr>
            <a:lvl5pPr marL="2641519" indent="0">
              <a:buNone/>
              <a:defRPr sz="1300"/>
            </a:lvl5pPr>
            <a:lvl6pPr marL="3301898" indent="0">
              <a:buNone/>
              <a:defRPr sz="1300"/>
            </a:lvl6pPr>
            <a:lvl7pPr marL="3962278" indent="0">
              <a:buNone/>
              <a:defRPr sz="1300"/>
            </a:lvl7pPr>
            <a:lvl8pPr marL="4622658" indent="0">
              <a:buNone/>
              <a:defRPr sz="1300"/>
            </a:lvl8pPr>
            <a:lvl9pPr marL="5283037" indent="0">
              <a:buNone/>
              <a:defRPr sz="13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0101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30059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396704"/>
            <a:ext cx="1543050" cy="8452203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396704"/>
            <a:ext cx="4514850" cy="8452203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642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96699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311405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 smtClean="0"/>
              <a:t>Click to 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4C65E-0501-3244-B235-0438CC858404}" type="datetimeFigureOut">
              <a:rPr lang="en-US" smtClean="0"/>
              <a:pPr/>
              <a:t>12/9/2015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9181399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9181399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FCF5E2-CCF2-BF49-B901-1F681CA7702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5292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60380" rtl="0" eaLnBrk="1" latinLnBrk="0" hangingPunct="1"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95285" indent="-495285" algn="l" defTabSz="660380" rtl="0" eaLnBrk="1" latinLnBrk="0" hangingPunct="1">
        <a:spcBef>
          <a:spcPct val="20000"/>
        </a:spcBef>
        <a:buFont typeface="Arial"/>
        <a:buChar char="•"/>
        <a:defRPr sz="4622" kern="1200">
          <a:solidFill>
            <a:schemeClr val="tx1"/>
          </a:solidFill>
          <a:latin typeface="+mn-lt"/>
          <a:ea typeface="+mn-ea"/>
          <a:cs typeface="+mn-cs"/>
        </a:defRPr>
      </a:lvl1pPr>
      <a:lvl2pPr marL="1073117" indent="-412737" algn="l" defTabSz="660380" rtl="0" eaLnBrk="1" latinLnBrk="0" hangingPunct="1">
        <a:spcBef>
          <a:spcPct val="20000"/>
        </a:spcBef>
        <a:buFont typeface="Arial"/>
        <a:buChar char="–"/>
        <a:defRPr sz="4044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660380" rtl="0" eaLnBrk="1" latinLnBrk="0" hangingPunct="1">
        <a:spcBef>
          <a:spcPct val="20000"/>
        </a:spcBef>
        <a:buFont typeface="Arial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660380" rtl="0" eaLnBrk="1" latinLnBrk="0" hangingPunct="1">
        <a:spcBef>
          <a:spcPct val="20000"/>
        </a:spcBef>
        <a:buFont typeface="Arial"/>
        <a:buChar char="–"/>
        <a:defRPr sz="2889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660380" rtl="0" eaLnBrk="1" latinLnBrk="0" hangingPunct="1">
        <a:spcBef>
          <a:spcPct val="20000"/>
        </a:spcBef>
        <a:buFont typeface="Arial"/>
        <a:buChar char="»"/>
        <a:defRPr sz="2889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660380" rtl="0" eaLnBrk="1" latinLnBrk="0" hangingPunct="1">
        <a:spcBef>
          <a:spcPct val="20000"/>
        </a:spcBef>
        <a:buFont typeface="Arial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660380" rtl="0" eaLnBrk="1" latinLnBrk="0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66675"/>
            <a:ext cx="6686550" cy="1581150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85725" y="66674"/>
            <a:ext cx="6685200" cy="9756000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aixaDeTexto 17"/>
          <p:cNvSpPr txBox="1"/>
          <p:nvPr/>
        </p:nvSpPr>
        <p:spPr>
          <a:xfrm>
            <a:off x="150588" y="1895928"/>
            <a:ext cx="4769757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pt-BR" sz="2200" b="1" dirty="0" smtClean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Vem aí a Central de Serviços de TI!</a:t>
            </a:r>
          </a:p>
          <a:p>
            <a:pPr algn="ctr"/>
            <a:r>
              <a:rPr lang="pt-BR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 21 de Dezembro a Diretoria de TI </a:t>
            </a:r>
          </a:p>
          <a:p>
            <a:pPr algn="ctr"/>
            <a:r>
              <a:rPr lang="pt-BR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fará o lançamento de seu novo modelo de atendimento aos colaboradores</a:t>
            </a:r>
            <a:endParaRPr lang="en-US" sz="20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6" name="Picture 2" descr="http://milldesk.com/wp-content/uploads/2012/10/helpdesk1.jpg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821652" y="1691822"/>
            <a:ext cx="2031902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CaixaDeTexto 19"/>
          <p:cNvSpPr txBox="1"/>
          <p:nvPr/>
        </p:nvSpPr>
        <p:spPr>
          <a:xfrm>
            <a:off x="236314" y="3722908"/>
            <a:ext cx="3060000" cy="272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Objetivos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Aumentar a satisfação dos 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colaboradores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Permitir controle de todas as ocorrências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Maior conformidade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Aumentar a eficiência na gestão através de indicadores e </a:t>
            </a:r>
            <a:r>
              <a:rPr lang="pt-BR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SLAs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definidos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CaixaDeTexto 20"/>
          <p:cNvSpPr txBox="1"/>
          <p:nvPr/>
        </p:nvSpPr>
        <p:spPr>
          <a:xfrm>
            <a:off x="3478218" y="3722908"/>
            <a:ext cx="316193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 que estamos fazendo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Elaboração do Catálogo de Serviços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Novos fluxos de Atendimento</a:t>
            </a:r>
            <a:endParaRPr lang="en-US" sz="1600" b="1" dirty="0" smtClean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Nova </a:t>
            </a:r>
            <a:r>
              <a:rPr lang="pt-BR" sz="1600" i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para abertura de chamados no JIRA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Definições de Prioridades e </a:t>
            </a:r>
            <a:r>
              <a:rPr lang="pt-BR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SLAs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de atendimento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Materiais de Consulta e orientação aos colaboradores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m 24"/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70314" y="3675720"/>
            <a:ext cx="396000" cy="3960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6" name="Imagem 25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9410">
            <a:off x="6111290" y="3618256"/>
            <a:ext cx="504000" cy="504000"/>
          </a:xfrm>
          <a:prstGeom prst="rect">
            <a:avLst/>
          </a:prstGeom>
        </p:spPr>
      </p:pic>
      <p:sp>
        <p:nvSpPr>
          <p:cNvPr id="30" name="CaixaDeTexto 29"/>
          <p:cNvSpPr txBox="1"/>
          <p:nvPr/>
        </p:nvSpPr>
        <p:spPr>
          <a:xfrm>
            <a:off x="236313" y="6775295"/>
            <a:ext cx="64038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Principais Benefícios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Abertura de chamados fácil e mais intuitiva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Agilidade nos atendimentos 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Rastreabilidade de todas as ocorrências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236313" y="7955506"/>
            <a:ext cx="640383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 que vem por aí</a:t>
            </a:r>
          </a:p>
          <a:p>
            <a:pPr algn="r">
              <a:spcAft>
                <a:spcPts val="600"/>
              </a:spcAft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 próxima semana ocorrerão as sessões de </a:t>
            </a:r>
            <a:r>
              <a:rPr lang="pt-BR" sz="1600" i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workshops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  <a:endParaRPr lang="pt-BR" sz="1600" dirty="0" smtClean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r">
              <a:spcAft>
                <a:spcPts val="600"/>
              </a:spcAft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Fique atento às convocações, datas e horários e compareça! Sua presença é fundamental. </a:t>
            </a:r>
          </a:p>
        </p:txBody>
      </p:sp>
      <p:pic>
        <p:nvPicPr>
          <p:cNvPr id="27" name="Imagem 26"/>
          <p:cNvPicPr>
            <a:picLocks noChangeAspect="1"/>
          </p:cNvPicPr>
          <p:nvPr/>
        </p:nvPicPr>
        <p:blipFill>
          <a:blip r:embed="rId6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1548" y="6639756"/>
            <a:ext cx="504000" cy="504000"/>
          </a:xfrm>
          <a:prstGeom prst="rect">
            <a:avLst/>
          </a:prstGeom>
        </p:spPr>
      </p:pic>
      <p:pic>
        <p:nvPicPr>
          <p:cNvPr id="1024" name="Imagem 1023"/>
          <p:cNvPicPr>
            <a:picLocks noChangeAspect="1"/>
          </p:cNvPicPr>
          <p:nvPr/>
        </p:nvPicPr>
        <p:blipFill>
          <a:blip r:embed="rId7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700" y="7415141"/>
            <a:ext cx="553682" cy="553682"/>
          </a:xfrm>
          <a:prstGeom prst="rect">
            <a:avLst/>
          </a:prstGeom>
        </p:spPr>
      </p:pic>
      <p:sp>
        <p:nvSpPr>
          <p:cNvPr id="34" name="CaixaDeTexto 33"/>
          <p:cNvSpPr txBox="1"/>
          <p:nvPr/>
        </p:nvSpPr>
        <p:spPr>
          <a:xfrm>
            <a:off x="1206800" y="9437712"/>
            <a:ext cx="4443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pt-BR" sz="1400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Obrigado! Central de Serviços de TI</a:t>
            </a:r>
            <a:endParaRPr lang="pt-BR" sz="1200" dirty="0" smtClean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CaixaDeTexto 34"/>
          <p:cNvSpPr txBox="1"/>
          <p:nvPr/>
        </p:nvSpPr>
        <p:spPr>
          <a:xfrm>
            <a:off x="5737286" y="122702"/>
            <a:ext cx="1033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pt-BR" b="1" dirty="0" smtClean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11.Dez</a:t>
            </a:r>
            <a:endParaRPr lang="pt-BR" b="1" dirty="0" smtClean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29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66675"/>
            <a:ext cx="6686550" cy="1581150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85725" y="66674"/>
            <a:ext cx="6685200" cy="5572126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aixaDeTexto 17"/>
          <p:cNvSpPr txBox="1"/>
          <p:nvPr/>
        </p:nvSpPr>
        <p:spPr>
          <a:xfrm>
            <a:off x="150588" y="1895928"/>
            <a:ext cx="5354862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pt-BR" sz="2200" b="1" dirty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Central de Serviços de TI</a:t>
            </a:r>
          </a:p>
          <a:p>
            <a:pPr>
              <a:spcAft>
                <a:spcPts val="1800"/>
              </a:spcAft>
            </a:pPr>
            <a:r>
              <a:rPr lang="pt-BR" sz="2400" b="1" dirty="0" smtClean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Convite para o Workshop</a:t>
            </a:r>
          </a:p>
          <a:p>
            <a:r>
              <a:rPr lang="pt-BR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Conforme comunicado enviado em 10 de dezembro, a Diretoria de TI te convida </a:t>
            </a:r>
            <a:r>
              <a:rPr lang="pt-BR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para um workshop interno</a:t>
            </a:r>
            <a:r>
              <a:rPr lang="pt-BR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onde será apresentado o </a:t>
            </a:r>
            <a:r>
              <a:rPr lang="pt-BR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novo modelo de atendimento da TI </a:t>
            </a:r>
            <a:r>
              <a:rPr lang="pt-BR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aos colaboradores e demonstrado o </a:t>
            </a:r>
            <a:r>
              <a:rPr lang="pt-BR" b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novo formato de abertura de chamados</a:t>
            </a:r>
            <a:r>
              <a:rPr lang="pt-BR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n-US" sz="20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6" name="Picture 2" descr="http://milldesk.com/wp-content/uploads/2012/10/helpdesk1.jpg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821652" y="1691822"/>
            <a:ext cx="2031902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CaixaDeTexto 19"/>
          <p:cNvSpPr txBox="1"/>
          <p:nvPr/>
        </p:nvSpPr>
        <p:spPr>
          <a:xfrm>
            <a:off x="403232" y="4754174"/>
            <a:ext cx="605018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Sua presença é muito importante! Compareça.</a:t>
            </a:r>
          </a:p>
          <a:p>
            <a:pPr algn="ctr">
              <a:spcAft>
                <a:spcPts val="1200"/>
              </a:spcAft>
            </a:pPr>
            <a:r>
              <a:rPr lang="pt-BR" sz="1600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Central de </a:t>
            </a:r>
            <a:r>
              <a:rPr lang="pt-BR" sz="1600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Serviços de TI  |  </a:t>
            </a:r>
            <a:r>
              <a:rPr lang="pt-BR" sz="1600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Diretoria de TI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868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m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5" y="66675"/>
            <a:ext cx="6686550" cy="1581150"/>
          </a:xfrm>
          <a:prstGeom prst="rect">
            <a:avLst/>
          </a:prstGeom>
        </p:spPr>
      </p:pic>
      <p:sp>
        <p:nvSpPr>
          <p:cNvPr id="16" name="Retângulo 15"/>
          <p:cNvSpPr/>
          <p:nvPr/>
        </p:nvSpPr>
        <p:spPr>
          <a:xfrm>
            <a:off x="85725" y="66674"/>
            <a:ext cx="6685200" cy="9756000"/>
          </a:xfrm>
          <a:prstGeom prst="rect">
            <a:avLst/>
          </a:prstGeom>
          <a:noFill/>
          <a:ln>
            <a:solidFill>
              <a:srgbClr val="FF8E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aixaDeTexto 17"/>
          <p:cNvSpPr txBox="1"/>
          <p:nvPr/>
        </p:nvSpPr>
        <p:spPr>
          <a:xfrm>
            <a:off x="150588" y="1895928"/>
            <a:ext cx="4769757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pt-BR" sz="2200" b="1" dirty="0" smtClean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Boletim - Central </a:t>
            </a:r>
            <a:r>
              <a:rPr lang="pt-BR" sz="2200" b="1" dirty="0" smtClean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de Serviços de </a:t>
            </a:r>
            <a:r>
              <a:rPr lang="pt-BR" sz="2200" b="1" dirty="0" smtClean="0">
                <a:solidFill>
                  <a:srgbClr val="F57124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TI</a:t>
            </a:r>
            <a:endParaRPr lang="pt-BR" sz="2200" b="1" dirty="0" smtClean="0">
              <a:solidFill>
                <a:srgbClr val="F57124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 algn="ctr"/>
            <a:r>
              <a:rPr lang="pt-BR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 21 de Dezembro a Diretoria de TI </a:t>
            </a:r>
          </a:p>
          <a:p>
            <a:pPr algn="ctr"/>
            <a:r>
              <a:rPr lang="pt-BR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fará o lançamento de seu novo modelo de atendimento aos colaboradores</a:t>
            </a:r>
            <a:endParaRPr lang="en-US" sz="2000" b="1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6" name="Picture 2" descr="http://milldesk.com/wp-content/uploads/2012/10/helpdesk1.jpg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821652" y="1691822"/>
            <a:ext cx="2031902" cy="18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CaixaDeTexto 19"/>
          <p:cNvSpPr txBox="1"/>
          <p:nvPr/>
        </p:nvSpPr>
        <p:spPr>
          <a:xfrm>
            <a:off x="236314" y="3722908"/>
            <a:ext cx="3060000" cy="272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Objetivos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Aumentar a satisfação dos 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colaboradores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Permitir controle de todas as ocorrências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Maior conformidade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Aumentar a eficiência na gestão através de indicadores e </a:t>
            </a:r>
            <a:r>
              <a:rPr lang="pt-BR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SLAs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definidos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CaixaDeTexto 20"/>
          <p:cNvSpPr txBox="1"/>
          <p:nvPr/>
        </p:nvSpPr>
        <p:spPr>
          <a:xfrm>
            <a:off x="3478218" y="3722908"/>
            <a:ext cx="3161933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 que estamos fazendo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Elaboração do Catálogo de Serviços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Novos fluxos de Atendimento</a:t>
            </a:r>
            <a:endParaRPr lang="en-US" sz="1600" b="1" dirty="0" smtClean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Nova </a:t>
            </a:r>
            <a:r>
              <a:rPr lang="pt-BR" sz="1600" i="1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interface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para abertura de chamados no JIRA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Definições de Prioridades e </a:t>
            </a:r>
            <a:r>
              <a:rPr lang="pt-BR" sz="1600" dirty="0" err="1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SLAs</a:t>
            </a: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de atendimento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Materiais de Consulta e orientação aos colaboradores</a:t>
            </a:r>
            <a:endParaRPr lang="pt-BR" sz="1600" dirty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5" name="Imagem 24"/>
          <p:cNvPicPr>
            <a:picLocks noChangeAspect="1"/>
          </p:cNvPicPr>
          <p:nvPr/>
        </p:nvPicPr>
        <p:blipFill>
          <a:blip r:embed="rId4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70314" y="3675720"/>
            <a:ext cx="396000" cy="39600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26" name="Imagem 25"/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9410">
            <a:off x="6111290" y="3618256"/>
            <a:ext cx="504000" cy="504000"/>
          </a:xfrm>
          <a:prstGeom prst="rect">
            <a:avLst/>
          </a:prstGeom>
        </p:spPr>
      </p:pic>
      <p:sp>
        <p:nvSpPr>
          <p:cNvPr id="30" name="CaixaDeTexto 29"/>
          <p:cNvSpPr txBox="1"/>
          <p:nvPr/>
        </p:nvSpPr>
        <p:spPr>
          <a:xfrm>
            <a:off x="236313" y="6775295"/>
            <a:ext cx="6403837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Principais Benefícios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Abertura de chamados fácil e mais intuitiva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Agilidade nos atendimentos 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q"/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Rastreabilidade de todas as ocorrências</a:t>
            </a:r>
          </a:p>
        </p:txBody>
      </p:sp>
      <p:sp>
        <p:nvSpPr>
          <p:cNvPr id="31" name="CaixaDeTexto 30"/>
          <p:cNvSpPr txBox="1"/>
          <p:nvPr/>
        </p:nvSpPr>
        <p:spPr>
          <a:xfrm>
            <a:off x="236313" y="7955506"/>
            <a:ext cx="6403837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1200"/>
              </a:spcAft>
            </a:pPr>
            <a:r>
              <a:rPr lang="pt-BR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 que vem por aí</a:t>
            </a:r>
          </a:p>
          <a:p>
            <a:pPr algn="r">
              <a:spcAft>
                <a:spcPts val="600"/>
              </a:spcAft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 próxima semana ocorrerão as sessões de treinamentos. </a:t>
            </a:r>
          </a:p>
          <a:p>
            <a:pPr algn="r">
              <a:spcAft>
                <a:spcPts val="600"/>
              </a:spcAft>
            </a:pPr>
            <a:r>
              <a:rPr lang="pt-BR" sz="1600" dirty="0" smtClean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Fique atento às convocações, datas e horários e compareça! Sua presença é fundamental. </a:t>
            </a:r>
          </a:p>
        </p:txBody>
      </p:sp>
      <p:pic>
        <p:nvPicPr>
          <p:cNvPr id="27" name="Imagem 26"/>
          <p:cNvPicPr>
            <a:picLocks noChangeAspect="1"/>
          </p:cNvPicPr>
          <p:nvPr/>
        </p:nvPicPr>
        <p:blipFill>
          <a:blip r:embed="rId6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1548" y="6639756"/>
            <a:ext cx="504000" cy="504000"/>
          </a:xfrm>
          <a:prstGeom prst="rect">
            <a:avLst/>
          </a:prstGeom>
        </p:spPr>
      </p:pic>
      <p:pic>
        <p:nvPicPr>
          <p:cNvPr id="1024" name="Imagem 1023"/>
          <p:cNvPicPr>
            <a:picLocks noChangeAspect="1"/>
          </p:cNvPicPr>
          <p:nvPr/>
        </p:nvPicPr>
        <p:blipFill>
          <a:blip r:embed="rId7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1700" y="7415141"/>
            <a:ext cx="553682" cy="553682"/>
          </a:xfrm>
          <a:prstGeom prst="rect">
            <a:avLst/>
          </a:prstGeom>
        </p:spPr>
      </p:pic>
      <p:sp>
        <p:nvSpPr>
          <p:cNvPr id="34" name="CaixaDeTexto 33"/>
          <p:cNvSpPr txBox="1"/>
          <p:nvPr/>
        </p:nvSpPr>
        <p:spPr>
          <a:xfrm>
            <a:off x="1206800" y="9437712"/>
            <a:ext cx="4443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pt-BR" sz="1400" b="1" dirty="0" smtClean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Obrigado! Central de Serviços de TI</a:t>
            </a:r>
            <a:endParaRPr lang="pt-BR" sz="1200" dirty="0" smtClean="0">
              <a:solidFill>
                <a:schemeClr val="tx1">
                  <a:lumMod val="50000"/>
                  <a:lumOff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5" name="CaixaDeTexto 34"/>
          <p:cNvSpPr txBox="1"/>
          <p:nvPr/>
        </p:nvSpPr>
        <p:spPr>
          <a:xfrm>
            <a:off x="5737286" y="122702"/>
            <a:ext cx="1033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pt-BR" b="1" dirty="0" smtClean="0">
                <a:solidFill>
                  <a:schemeClr val="bg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14.Dez</a:t>
            </a:r>
            <a:endParaRPr lang="pt-BR" b="1" dirty="0" smtClean="0">
              <a:solidFill>
                <a:schemeClr val="bg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8742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3201</TotalTime>
  <Words>351</Words>
  <Application>Microsoft Office PowerPoint</Application>
  <PresentationFormat>Papel A4 (210 x 297 mm)</PresentationFormat>
  <Paragraphs>51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9" baseType="lpstr">
      <vt:lpstr>Arial</vt:lpstr>
      <vt:lpstr>Calibri</vt:lpstr>
      <vt:lpstr>Segoe UI</vt:lpstr>
      <vt:lpstr>Segoe UI Semibold</vt:lpstr>
      <vt:lpstr>Wingdings</vt:lpstr>
      <vt:lpstr>Office Theme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fred</dc:creator>
  <cp:lastModifiedBy>Jorge Filho</cp:lastModifiedBy>
  <cp:revision>246</cp:revision>
  <dcterms:created xsi:type="dcterms:W3CDTF">2014-01-24T21:35:00Z</dcterms:created>
  <dcterms:modified xsi:type="dcterms:W3CDTF">2015-12-09T19:26:31Z</dcterms:modified>
</cp:coreProperties>
</file>