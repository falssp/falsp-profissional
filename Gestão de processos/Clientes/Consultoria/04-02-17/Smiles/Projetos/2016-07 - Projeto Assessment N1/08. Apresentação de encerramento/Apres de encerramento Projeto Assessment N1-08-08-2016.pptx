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7" r:id="rId2"/>
    <p:sldId id="339" r:id="rId3"/>
    <p:sldId id="363" r:id="rId4"/>
    <p:sldId id="361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4" r:id="rId27"/>
    <p:sldId id="366" r:id="rId28"/>
    <p:sldId id="365" r:id="rId29"/>
    <p:sldId id="362" r:id="rId3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0462D"/>
    <a:srgbClr val="EE6829"/>
    <a:srgbClr val="000000"/>
    <a:srgbClr val="F57124"/>
    <a:srgbClr val="F68E1E"/>
    <a:srgbClr val="99CCFF"/>
    <a:srgbClr val="FF9900"/>
    <a:srgbClr val="FF6600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2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1500" y="300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 err="1"/>
              <a:t>Categorias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nível</a:t>
            </a:r>
            <a:r>
              <a:rPr lang="en-US" sz="1400" baseline="0" dirty="0"/>
              <a:t> de </a:t>
            </a:r>
            <a:r>
              <a:rPr lang="en-US" sz="1400" baseline="0" dirty="0" err="1"/>
              <a:t>Suporte</a:t>
            </a:r>
            <a:endParaRPr lang="en-US" sz="1400" dirty="0"/>
          </a:p>
        </c:rich>
      </c:tx>
      <c:layout>
        <c:manualLayout>
          <c:xMode val="edge"/>
          <c:yMode val="edge"/>
          <c:x val="0.22645822397200346"/>
          <c:y val="2.862694358914249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Categorias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41-46E9-ACB5-CF00A5F1BAB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41-46E9-ACB5-CF00A5F1BAB7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A41-46E9-ACB5-CF00A5F1BAB7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A41-46E9-ACB5-CF00A5F1BAB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A41-46E9-ACB5-CF00A5F1BAB7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A41-46E9-ACB5-CF00A5F1BAB7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Plan1!$A$2:$A$5</c:f>
              <c:strCache>
                <c:ptCount val="4"/>
                <c:pt idx="0">
                  <c:v>Field Service</c:v>
                </c:pt>
                <c:pt idx="1">
                  <c:v>Suporte N1</c:v>
                </c:pt>
                <c:pt idx="2">
                  <c:v>Suporte N2</c:v>
                </c:pt>
                <c:pt idx="3">
                  <c:v>Cancelado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21</c:v>
                </c:pt>
                <c:pt idx="1">
                  <c:v>59</c:v>
                </c:pt>
                <c:pt idx="2">
                  <c:v>116</c:v>
                </c:pt>
                <c:pt idx="3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3A41-46E9-ACB5-CF00A5F1BAB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layout>
        <c:manualLayout>
          <c:xMode val="edge"/>
          <c:yMode val="edge"/>
          <c:x val="0.44138944169016853"/>
          <c:y val="8.044600932594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22058985200053841"/>
          <c:y val="0.16437725830227248"/>
          <c:w val="0.65115334799294033"/>
          <c:h val="0.6686309880923617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Por frentes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6AC-4B5C-840E-9BDC8C2416E2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6AC-4B5C-840E-9BDC8C2416E2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6AC-4B5C-840E-9BDC8C2416E2}"/>
              </c:ext>
            </c:extLst>
          </c:dPt>
          <c:dPt>
            <c:idx val="3"/>
            <c:bubble3D val="0"/>
            <c:spPr>
              <a:solidFill>
                <a:schemeClr val="accent3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6AC-4B5C-840E-9BDC8C2416E2}"/>
              </c:ext>
            </c:extLst>
          </c:dPt>
          <c:dPt>
            <c:idx val="4"/>
            <c:bubble3D val="0"/>
            <c:spPr>
              <a:solidFill>
                <a:schemeClr val="accent3">
                  <a:tint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76AC-4B5C-840E-9BDC8C2416E2}"/>
              </c:ext>
            </c:extLst>
          </c:dPt>
          <c:dPt>
            <c:idx val="5"/>
            <c:bubble3D val="0"/>
            <c:spPr>
              <a:solidFill>
                <a:schemeClr val="accent3">
                  <a:tint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76AC-4B5C-840E-9BDC8C2416E2}"/>
              </c:ext>
            </c:extLst>
          </c:dPt>
          <c:dLbls>
            <c:dLbl>
              <c:idx val="3"/>
              <c:layout>
                <c:manualLayout>
                  <c:x val="-5.1217818654187078E-3"/>
                  <c:y val="-0.1560077966571018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76AC-4B5C-840E-9BDC8C2416E2}"/>
                </c:ext>
                <c:ext xmlns:c15="http://schemas.microsoft.com/office/drawing/2012/chart" uri="{CE6537A1-D6FC-4f65-9D91-7224C49458BB}">
                  <c15:layout>
                    <c:manualLayout>
                      <c:w val="0.27210261865998392"/>
                      <c:h val="0.1687929659964039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Plan1!$A$2:$A$7</c:f>
              <c:strCache>
                <c:ptCount val="6"/>
                <c:pt idx="0">
                  <c:v>EDI</c:v>
                </c:pt>
                <c:pt idx="1">
                  <c:v>Gestão de Acesso</c:v>
                </c:pt>
                <c:pt idx="2">
                  <c:v>Infraestrutura</c:v>
                </c:pt>
                <c:pt idx="3">
                  <c:v>Microinformática</c:v>
                </c:pt>
                <c:pt idx="4">
                  <c:v>Siebel</c:v>
                </c:pt>
                <c:pt idx="5">
                  <c:v>Site</c:v>
                </c:pt>
              </c:strCache>
            </c:strRef>
          </c:cat>
          <c:val>
            <c:numRef>
              <c:f>Plan1!$B$2:$B$7</c:f>
              <c:numCache>
                <c:formatCode>General</c:formatCode>
                <c:ptCount val="6"/>
                <c:pt idx="0">
                  <c:v>10</c:v>
                </c:pt>
                <c:pt idx="1">
                  <c:v>5</c:v>
                </c:pt>
                <c:pt idx="2">
                  <c:v>10</c:v>
                </c:pt>
                <c:pt idx="3">
                  <c:v>12</c:v>
                </c:pt>
                <c:pt idx="4">
                  <c:v>17</c:v>
                </c:pt>
                <c:pt idx="5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76AC-4B5C-840E-9BDC8C2416E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08/08/2016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354" y="260648"/>
            <a:ext cx="2568842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3206" y="1556792"/>
            <a:ext cx="10117138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 sz="1800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 sz="180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292445" y="1796152"/>
            <a:ext cx="7532249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37355" y="2996953"/>
            <a:ext cx="4222582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907033" y="3475969"/>
            <a:ext cx="5250503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sz="1800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sz="1800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800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800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437631" y="5328308"/>
            <a:ext cx="2788497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437355" y="4170386"/>
            <a:ext cx="31865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437355" y="4750040"/>
            <a:ext cx="31865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68928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8/8/2016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79" y="5769975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1695350"/>
            <a:ext cx="5688627" cy="5039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Assessment</a:t>
            </a:r>
            <a:r>
              <a:rPr lang="pt-BR" sz="3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N1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Procedimentos de Suporte N1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Infraestrutura e Operações de TI</a:t>
            </a: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Agosto/2016</a:t>
            </a: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757" y="3975096"/>
            <a:ext cx="1188000" cy="118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25" y="4029096"/>
            <a:ext cx="1080000" cy="1080000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SUMÁRIO</a:t>
            </a: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Consolidado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just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Mapeamento</a:t>
            </a: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EDI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Gestão 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Acesso</a:t>
            </a: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Infraestrutura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Microinformática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Right</a:t>
            </a: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Now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Site</a:t>
            </a:r>
            <a:endParaRPr lang="pt-BR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Validações</a:t>
            </a:r>
            <a:endParaRPr lang="pt-B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/>
          <p:cNvSpPr/>
          <p:nvPr/>
        </p:nvSpPr>
        <p:spPr>
          <a:xfrm>
            <a:off x="136479" y="1100671"/>
            <a:ext cx="9889375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2820"/>
              </p:ext>
            </p:extLst>
          </p:nvPr>
        </p:nvGraphicFramePr>
        <p:xfrm>
          <a:off x="236517" y="1922424"/>
          <a:ext cx="9685407" cy="4302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80767">
                  <a:extLst>
                    <a:ext uri="{9D8B030D-6E8A-4147-A177-3AD203B41FA5}">
                      <a16:colId xmlns:a16="http://schemas.microsoft.com/office/drawing/2014/main" xmlns="" val="4209339343"/>
                    </a:ext>
                  </a:extLst>
                </a:gridCol>
                <a:gridCol w="1225527">
                  <a:extLst>
                    <a:ext uri="{9D8B030D-6E8A-4147-A177-3AD203B41FA5}">
                      <a16:colId xmlns:a16="http://schemas.microsoft.com/office/drawing/2014/main" xmlns="" val="2360409619"/>
                    </a:ext>
                  </a:extLst>
                </a:gridCol>
                <a:gridCol w="1225527">
                  <a:extLst>
                    <a:ext uri="{9D8B030D-6E8A-4147-A177-3AD203B41FA5}">
                      <a16:colId xmlns:a16="http://schemas.microsoft.com/office/drawing/2014/main" xmlns="" val="1020117848"/>
                    </a:ext>
                  </a:extLst>
                </a:gridCol>
                <a:gridCol w="1225527">
                  <a:extLst>
                    <a:ext uri="{9D8B030D-6E8A-4147-A177-3AD203B41FA5}">
                      <a16:colId xmlns:a16="http://schemas.microsoft.com/office/drawing/2014/main" xmlns="" val="2124752583"/>
                    </a:ext>
                  </a:extLst>
                </a:gridCol>
                <a:gridCol w="1225527">
                  <a:extLst>
                    <a:ext uri="{9D8B030D-6E8A-4147-A177-3AD203B41FA5}">
                      <a16:colId xmlns:a16="http://schemas.microsoft.com/office/drawing/2014/main" xmlns="" val="2442698188"/>
                    </a:ext>
                  </a:extLst>
                </a:gridCol>
                <a:gridCol w="1651266">
                  <a:extLst>
                    <a:ext uri="{9D8B030D-6E8A-4147-A177-3AD203B41FA5}">
                      <a16:colId xmlns:a16="http://schemas.microsoft.com/office/drawing/2014/main" xmlns="" val="832855560"/>
                    </a:ext>
                  </a:extLst>
                </a:gridCol>
                <a:gridCol w="165126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</a:t>
                      </a:r>
                      <a:r>
                        <a:rPr lang="pt-BR" baseline="0" dirty="0"/>
                        <a:t> - 02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04 </a:t>
                      </a:r>
                      <a:r>
                        <a:rPr lang="pt-BR" dirty="0"/>
                        <a:t>– </a:t>
                      </a:r>
                      <a:r>
                        <a:rPr lang="pt-BR" dirty="0" smtClean="0"/>
                        <a:t>08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 –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25 - 29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01</a:t>
                      </a:r>
                      <a:r>
                        <a:rPr lang="pt-BR" baseline="0" dirty="0" smtClean="0"/>
                        <a:t> </a:t>
                      </a:r>
                      <a:r>
                        <a:rPr lang="pt-BR" baseline="0" dirty="0"/>
                        <a:t>- </a:t>
                      </a:r>
                      <a:r>
                        <a:rPr lang="pt-BR" baseline="0" dirty="0" smtClean="0"/>
                        <a:t>04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08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06167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73824416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953873"/>
              </p:ext>
            </p:extLst>
          </p:nvPr>
        </p:nvGraphicFramePr>
        <p:xfrm>
          <a:off x="236518" y="1564522"/>
          <a:ext cx="9685405" cy="36576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242757">
                  <a:extLst>
                    <a:ext uri="{9D8B030D-6E8A-4147-A177-3AD203B41FA5}">
                      <a16:colId xmlns:a16="http://schemas.microsoft.com/office/drawing/2014/main" xmlns="" val="3400583051"/>
                    </a:ext>
                  </a:extLst>
                </a:gridCol>
                <a:gridCol w="5426135">
                  <a:extLst>
                    <a:ext uri="{9D8B030D-6E8A-4147-A177-3AD203B41FA5}">
                      <a16:colId xmlns:a16="http://schemas.microsoft.com/office/drawing/2014/main" xmlns="" val="3871079426"/>
                    </a:ext>
                  </a:extLst>
                </a:gridCol>
                <a:gridCol w="3016513">
                  <a:extLst>
                    <a:ext uri="{9D8B030D-6E8A-4147-A177-3AD203B41FA5}">
                      <a16:colId xmlns:a16="http://schemas.microsoft.com/office/drawing/2014/main" xmlns="" val="578795643"/>
                    </a:ext>
                  </a:extLst>
                </a:gridCol>
              </a:tblGrid>
              <a:tr h="338901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85647156"/>
                  </a:ext>
                </a:extLst>
              </a:tr>
            </a:tbl>
          </a:graphicData>
        </a:graphic>
      </p:graphicFrame>
      <p:sp>
        <p:nvSpPr>
          <p:cNvPr id="18" name="Pentágono 17"/>
          <p:cNvSpPr/>
          <p:nvPr/>
        </p:nvSpPr>
        <p:spPr>
          <a:xfrm>
            <a:off x="277462" y="2449366"/>
            <a:ext cx="1826982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4 dias</a:t>
            </a:r>
          </a:p>
        </p:txBody>
      </p:sp>
      <p:sp>
        <p:nvSpPr>
          <p:cNvPr id="19" name="Pentágono 18"/>
          <p:cNvSpPr/>
          <p:nvPr/>
        </p:nvSpPr>
        <p:spPr>
          <a:xfrm>
            <a:off x="1701353" y="2967503"/>
            <a:ext cx="2883496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10 dias</a:t>
            </a:r>
          </a:p>
        </p:txBody>
      </p:sp>
      <p:sp>
        <p:nvSpPr>
          <p:cNvPr id="20" name="Pentágono 19"/>
          <p:cNvSpPr/>
          <p:nvPr/>
        </p:nvSpPr>
        <p:spPr>
          <a:xfrm>
            <a:off x="1746424" y="3447005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2 dias</a:t>
            </a:r>
          </a:p>
        </p:txBody>
      </p:sp>
      <p:sp>
        <p:nvSpPr>
          <p:cNvPr id="21" name="Pentágono 20"/>
          <p:cNvSpPr/>
          <p:nvPr/>
        </p:nvSpPr>
        <p:spPr>
          <a:xfrm>
            <a:off x="2705901" y="3873136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2 dias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Pentágono 21"/>
          <p:cNvSpPr/>
          <p:nvPr/>
        </p:nvSpPr>
        <p:spPr>
          <a:xfrm>
            <a:off x="4374317" y="4718463"/>
            <a:ext cx="4483080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12 </a:t>
            </a:r>
            <a:r>
              <a:rPr lang="pt-BR" sz="1400" dirty="0">
                <a:solidFill>
                  <a:schemeClr val="tx1"/>
                </a:solidFill>
              </a:rPr>
              <a:t>dias</a:t>
            </a:r>
          </a:p>
        </p:txBody>
      </p:sp>
      <p:sp>
        <p:nvSpPr>
          <p:cNvPr id="24" name="Pentágono 23"/>
          <p:cNvSpPr/>
          <p:nvPr/>
        </p:nvSpPr>
        <p:spPr>
          <a:xfrm>
            <a:off x="6273352" y="5257227"/>
            <a:ext cx="2952243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8</a:t>
            </a:r>
            <a:r>
              <a:rPr lang="pt-BR" sz="1400" dirty="0" smtClean="0">
                <a:solidFill>
                  <a:schemeClr val="tx1"/>
                </a:solidFill>
              </a:rPr>
              <a:t> </a:t>
            </a:r>
            <a:r>
              <a:rPr lang="pt-BR" sz="1400" dirty="0">
                <a:solidFill>
                  <a:schemeClr val="tx1"/>
                </a:solidFill>
              </a:rPr>
              <a:t>dias</a:t>
            </a:r>
          </a:p>
        </p:txBody>
      </p:sp>
      <p:sp>
        <p:nvSpPr>
          <p:cNvPr id="25" name="Pentágono 24"/>
          <p:cNvSpPr/>
          <p:nvPr/>
        </p:nvSpPr>
        <p:spPr>
          <a:xfrm>
            <a:off x="4374317" y="4250996"/>
            <a:ext cx="959477" cy="358226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2 dias</a:t>
            </a:r>
          </a:p>
        </p:txBody>
      </p:sp>
      <p:sp>
        <p:nvSpPr>
          <p:cNvPr id="27" name="TextBox 8"/>
          <p:cNvSpPr txBox="1"/>
          <p:nvPr/>
        </p:nvSpPr>
        <p:spPr>
          <a:xfrm>
            <a:off x="2025402" y="2461836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Mobilização</a:t>
            </a:r>
            <a:r>
              <a:rPr lang="en-US" sz="1400" dirty="0">
                <a:cs typeface="Gotham Rounded Book"/>
              </a:rPr>
              <a:t> da </a:t>
            </a:r>
            <a:r>
              <a:rPr lang="en-US" sz="1400" dirty="0" err="1">
                <a:cs typeface="Gotham Rounded Book"/>
              </a:rPr>
              <a:t>equipe</a:t>
            </a:r>
            <a:r>
              <a:rPr lang="en-US" sz="1400" dirty="0">
                <a:cs typeface="Gotham Rounded Book"/>
              </a:rPr>
              <a:t>, Kick-off e Templates</a:t>
            </a:r>
          </a:p>
        </p:txBody>
      </p:sp>
      <p:sp>
        <p:nvSpPr>
          <p:cNvPr id="28" name="TextBox 8"/>
          <p:cNvSpPr txBox="1"/>
          <p:nvPr/>
        </p:nvSpPr>
        <p:spPr>
          <a:xfrm>
            <a:off x="4593243" y="2975411"/>
            <a:ext cx="4443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Mapeamento</a:t>
            </a:r>
            <a:r>
              <a:rPr lang="en-US" sz="1400" dirty="0">
                <a:cs typeface="Gotham Rounded Book"/>
              </a:rPr>
              <a:t> </a:t>
            </a:r>
            <a:r>
              <a:rPr lang="en-US" sz="1400" dirty="0" smtClean="0">
                <a:cs typeface="Gotham Rounded Book"/>
              </a:rPr>
              <a:t>das </a:t>
            </a:r>
            <a:r>
              <a:rPr lang="en-US" sz="1400" dirty="0" err="1">
                <a:cs typeface="Gotham Rounded Book"/>
              </a:rPr>
              <a:t>atividades</a:t>
            </a:r>
            <a:endParaRPr lang="en-US" sz="1400" dirty="0">
              <a:cs typeface="Gotham Rounded Book"/>
            </a:endParaRPr>
          </a:p>
        </p:txBody>
      </p:sp>
      <p:sp>
        <p:nvSpPr>
          <p:cNvPr id="29" name="TextBox 8"/>
          <p:cNvSpPr txBox="1"/>
          <p:nvPr/>
        </p:nvSpPr>
        <p:spPr>
          <a:xfrm>
            <a:off x="2652015" y="3477122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Gotham Rounded Book"/>
              </a:rPr>
              <a:t>Macro </a:t>
            </a:r>
            <a:r>
              <a:rPr lang="en-US" sz="1400" dirty="0" err="1">
                <a:cs typeface="Gotham Rounded Book"/>
              </a:rPr>
              <a:t>fluxo</a:t>
            </a:r>
            <a:r>
              <a:rPr lang="en-US" sz="1400" dirty="0">
                <a:cs typeface="Gotham Rounded Book"/>
              </a:rPr>
              <a:t> de Ger. de </a:t>
            </a:r>
            <a:r>
              <a:rPr lang="en-US" sz="1400" dirty="0" err="1">
                <a:cs typeface="Gotham Rounded Book"/>
              </a:rPr>
              <a:t>Incidentes</a:t>
            </a:r>
            <a:endParaRPr lang="en-US" sz="1400" dirty="0">
              <a:cs typeface="Gotham Rounded Book"/>
            </a:endParaRPr>
          </a:p>
        </p:txBody>
      </p:sp>
      <p:sp>
        <p:nvSpPr>
          <p:cNvPr id="30" name="TextBox 8"/>
          <p:cNvSpPr txBox="1"/>
          <p:nvPr/>
        </p:nvSpPr>
        <p:spPr>
          <a:xfrm>
            <a:off x="3592168" y="3902124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cs typeface="Gotham Rounded Book"/>
              </a:rPr>
              <a:t>Estrutura</a:t>
            </a:r>
            <a:r>
              <a:rPr lang="en-US" sz="1400" dirty="0" smtClean="0">
                <a:cs typeface="Gotham Rounded Book"/>
              </a:rPr>
              <a:t> de </a:t>
            </a:r>
            <a:r>
              <a:rPr lang="en-US" sz="1400" dirty="0" err="1" smtClean="0">
                <a:cs typeface="Gotham Rounded Book"/>
              </a:rPr>
              <a:t>apresentação</a:t>
            </a:r>
            <a:r>
              <a:rPr lang="en-US" sz="1400" dirty="0" smtClean="0">
                <a:cs typeface="Gotham Rounded Book"/>
              </a:rPr>
              <a:t> dos </a:t>
            </a:r>
            <a:r>
              <a:rPr lang="en-US" sz="1400" dirty="0" err="1" smtClean="0">
                <a:cs typeface="Gotham Rounded Book"/>
              </a:rPr>
              <a:t>procedimentos</a:t>
            </a:r>
            <a:r>
              <a:rPr lang="en-US" sz="1400" dirty="0" smtClean="0">
                <a:cs typeface="Gotham Rounded Book"/>
              </a:rPr>
              <a:t> e </a:t>
            </a:r>
            <a:r>
              <a:rPr lang="en-US" sz="1400" dirty="0" err="1" smtClean="0">
                <a:cs typeface="Gotham Rounded Book"/>
              </a:rPr>
              <a:t>processo</a:t>
            </a:r>
            <a:endParaRPr lang="en-US" sz="1400" dirty="0">
              <a:cs typeface="Gotham Rounded Book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3891793" y="5298701"/>
            <a:ext cx="238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Validação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32" name="TextBox 8"/>
          <p:cNvSpPr txBox="1"/>
          <p:nvPr/>
        </p:nvSpPr>
        <p:spPr>
          <a:xfrm>
            <a:off x="1941248" y="4777431"/>
            <a:ext cx="2446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Elaboração</a:t>
            </a:r>
            <a:r>
              <a:rPr lang="en-US" sz="1400" dirty="0">
                <a:cs typeface="Gotham Rounded Book"/>
              </a:rPr>
              <a:t> dos </a:t>
            </a:r>
            <a:r>
              <a:rPr lang="en-US" sz="1400" dirty="0" err="1">
                <a:cs typeface="Gotham Rounded Book"/>
              </a:rPr>
              <a:t>procedimentos</a:t>
            </a:r>
            <a:endParaRPr lang="en-US" sz="1400" dirty="0">
              <a:cs typeface="Gotham Rounded Book"/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5668239" y="5738493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final e </a:t>
            </a:r>
            <a:r>
              <a:rPr lang="en-US" sz="1400" dirty="0" err="1">
                <a:cs typeface="Gotham Rounded Book"/>
              </a:rPr>
              <a:t>termo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encerramento</a:t>
            </a:r>
            <a:endParaRPr lang="en-US" sz="1400" dirty="0">
              <a:cs typeface="Gotham Rounded Book"/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5302912" y="4273467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cs typeface="Gotham Rounded Book"/>
              </a:rPr>
              <a:t>Validação</a:t>
            </a:r>
            <a:r>
              <a:rPr lang="en-US" sz="1400" dirty="0" smtClean="0">
                <a:cs typeface="Gotham Rounded Book"/>
              </a:rPr>
              <a:t> das </a:t>
            </a:r>
            <a:r>
              <a:rPr lang="en-US" sz="1400" dirty="0" err="1">
                <a:cs typeface="Gotham Rounded Book"/>
              </a:rPr>
              <a:t>atividades</a:t>
            </a:r>
            <a:r>
              <a:rPr lang="en-US" sz="1400" dirty="0">
                <a:cs typeface="Gotham Rounded Book"/>
              </a:rPr>
              <a:t> de N1 e N2</a:t>
            </a:r>
          </a:p>
        </p:txBody>
      </p:sp>
      <p:cxnSp>
        <p:nvCxnSpPr>
          <p:cNvPr id="36" name="Conector de seta reta 3"/>
          <p:cNvCxnSpPr/>
          <p:nvPr/>
        </p:nvCxnSpPr>
        <p:spPr>
          <a:xfrm>
            <a:off x="9143944" y="2384971"/>
            <a:ext cx="0" cy="3699177"/>
          </a:xfrm>
          <a:prstGeom prst="straightConnector1">
            <a:avLst/>
          </a:prstGeom>
          <a:noFill/>
          <a:ln w="38100" cap="flat" cmpd="sng" algn="ctr">
            <a:solidFill>
              <a:srgbClr val="C00000"/>
            </a:solidFill>
            <a:prstDash val="sysDot"/>
            <a:headEnd type="diamond" w="lg" len="lg"/>
            <a:tailEnd type="diamond" w="lg" len="lg"/>
          </a:ln>
          <a:effectLst/>
        </p:spPr>
      </p:cxnSp>
      <p:sp>
        <p:nvSpPr>
          <p:cNvPr id="37" name="Isosceles Triangle 41"/>
          <p:cNvSpPr/>
          <p:nvPr/>
        </p:nvSpPr>
        <p:spPr>
          <a:xfrm>
            <a:off x="9055924" y="5553791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25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CONSOLIDADO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12" name="Gráfico 11"/>
          <p:cNvGraphicFramePr/>
          <p:nvPr>
            <p:extLst>
              <p:ext uri="{D42A27DB-BD31-4B8C-83A1-F6EECF244321}">
                <p14:modId xmlns:p14="http://schemas.microsoft.com/office/powerpoint/2010/main" val="339195503"/>
              </p:ext>
            </p:extLst>
          </p:nvPr>
        </p:nvGraphicFramePr>
        <p:xfrm>
          <a:off x="304103" y="1651166"/>
          <a:ext cx="4572000" cy="4436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Conector reto 12"/>
          <p:cNvCxnSpPr/>
          <p:nvPr/>
        </p:nvCxnSpPr>
        <p:spPr>
          <a:xfrm flipV="1">
            <a:off x="3203848" y="2144312"/>
            <a:ext cx="3717680" cy="34858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2807803" y="5013176"/>
            <a:ext cx="4490860" cy="7200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5" name="Gráfico 14"/>
          <p:cNvGraphicFramePr/>
          <p:nvPr>
            <p:extLst>
              <p:ext uri="{D42A27DB-BD31-4B8C-83A1-F6EECF244321}">
                <p14:modId xmlns:p14="http://schemas.microsoft.com/office/powerpoint/2010/main" val="3493849113"/>
              </p:ext>
            </p:extLst>
          </p:nvPr>
        </p:nvGraphicFramePr>
        <p:xfrm>
          <a:off x="4652027" y="1352223"/>
          <a:ext cx="4959254" cy="4420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9713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MAPEAMENTO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981904"/>
              </p:ext>
            </p:extLst>
          </p:nvPr>
        </p:nvGraphicFramePr>
        <p:xfrm>
          <a:off x="304103" y="1966358"/>
          <a:ext cx="9020201" cy="3337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565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503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032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27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2370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2370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Frente</a:t>
                      </a:r>
                      <a:endParaRPr lang="pt-BR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Field Service</a:t>
                      </a:r>
                      <a:endParaRPr lang="pt-BR" sz="16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Suporte N1</a:t>
                      </a:r>
                      <a:endParaRPr lang="pt-BR" sz="16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Suporte N2</a:t>
                      </a:r>
                      <a:endParaRPr lang="pt-BR" sz="16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Cancelado</a:t>
                      </a:r>
                      <a:endParaRPr lang="pt-BR" sz="16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Total Geral</a:t>
                      </a:r>
                      <a:endParaRPr lang="pt-BR" sz="16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EDI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14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Gestão de Acesso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15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Infraestrutura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31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41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Microinformática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34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Right Now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>
                          <a:effectLst/>
                        </a:rPr>
                        <a:t>Siebel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53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73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effectLst/>
                        </a:rPr>
                        <a:t>Site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27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Geral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</a:t>
                      </a: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EDI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568544"/>
              </p:ext>
            </p:extLst>
          </p:nvPr>
        </p:nvGraphicFramePr>
        <p:xfrm>
          <a:off x="304103" y="1646854"/>
          <a:ext cx="9110352" cy="4251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14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96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534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939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Arquivo EDI - Parceiros Críticos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Acúmulo Batch: Itaú (ISP), Bradesco (BBR), HSBC (HSC), Caixa Econômica (CEC), Santander (SAB), Banco do Brasil (BDB), Gol(G3), Delta (DL). Acúmulo Online: Livelo (LIV). Retro crédito: Gol (G3)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125-Arquivo EDI - Parceiros Críticos.doc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Atraso no Arquivo EDI - Parceiros Críticos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Acúmulo Batch: Itaú (ISP), Bradesco (BBR), HSBC (HSC), Caixa Econômica (CEC), Santander (SAB), Banco do Brasil (BDB), Gol(G3), Delta (DL). Acúmulo Online: Livelo (LIV). Retro crédito: Gol (G3)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126-Atraso no Arquivo EDI - Parceiros Críticos.doc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Arquivo EDI - Outros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Envio de arquivos EDI de OUTROS parceiros.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128-Arquivo EDI - Outros.doc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Atraso no Arquivo EDI - Outros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Reportar atraso no envio de arquivos EDI de OUTROS parceiros.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129-Atraso no Arquivo EDI - Outros.doc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Represar o arquivo EDI de algum parceiro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Informações de arquivos EDI.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134- Represar o arquivo EDI de algum parceiro.doc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Arquivo co-branded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Arquivo </a:t>
                      </a:r>
                      <a:r>
                        <a:rPr lang="pt-BR" sz="1000" u="none" strike="noStrike" dirty="0" err="1">
                          <a:effectLst/>
                        </a:rPr>
                        <a:t>co-branded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136-Arquivo co-branded.doc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Enviar um report diário para os diretores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Enviar um </a:t>
                      </a:r>
                      <a:r>
                        <a:rPr lang="pt-BR" sz="1000" u="none" strike="noStrike" dirty="0" err="1">
                          <a:effectLst/>
                        </a:rPr>
                        <a:t>report</a:t>
                      </a:r>
                      <a:r>
                        <a:rPr lang="pt-BR" sz="1000" u="none" strike="noStrike" dirty="0">
                          <a:effectLst/>
                        </a:rPr>
                        <a:t> diário para os diretores.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180-Enviar </a:t>
                      </a:r>
                      <a:r>
                        <a:rPr lang="pt-BR" sz="1000" u="none" strike="noStrike" dirty="0" err="1">
                          <a:effectLst/>
                        </a:rPr>
                        <a:t>Report</a:t>
                      </a:r>
                      <a:r>
                        <a:rPr lang="pt-BR" sz="1000" u="none" strike="noStrike" dirty="0">
                          <a:effectLst/>
                        </a:rPr>
                        <a:t> diário para os Diretores.doc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Liberar o arquivo EDI de algum parceiro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Informações de arquivos EDI.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185- Liberar o arquivo EDI de algum parceiro.doc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Enviar arquivo EDI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Informações de arquivos EDI.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186-Enviar arquivo EDI.doc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Disponibilizar arquivos de cartões.</a:t>
                      </a:r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Disponibilizar arquivos de cartões.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189-Disponibilizar arquivos de cartões.doc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71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EDI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794473"/>
              </p:ext>
            </p:extLst>
          </p:nvPr>
        </p:nvGraphicFramePr>
        <p:xfrm>
          <a:off x="304103" y="1646854"/>
          <a:ext cx="9110352" cy="1940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195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15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534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939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no Arquivo EDI - Parceiros Críticos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Acúmulo Batch: Itaú (ISP), Bradesco (BBR), HSBC (HSC), Caixa Econômica (CEC),  Santander (SAB), Banco do Brasil (BDB), Gol(G3), Delta (DL). Acúmulo Online: Livelo (LIV). Retro crédito: Gol (G3).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no Arquivo EDI - Outros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no envio de arquivos EDI de OUTROS parceiros.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Outras solicitações (EDI)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Outras solicitações (EDI).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Tivit solicita informações sobre o acumulo ou handback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Tivit</a:t>
                      </a:r>
                      <a:r>
                        <a:rPr lang="pt-BR" sz="1000" u="none" strike="noStrike" dirty="0">
                          <a:effectLst/>
                        </a:rPr>
                        <a:t> solicita informações sobre o acumulo ou </a:t>
                      </a:r>
                      <a:r>
                        <a:rPr lang="pt-BR" sz="1000" u="none" strike="noStrike" dirty="0" err="1">
                          <a:effectLst/>
                        </a:rPr>
                        <a:t>handback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GESTÃO </a:t>
            </a:r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ACESSO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330579"/>
              </p:ext>
            </p:extLst>
          </p:nvPr>
        </p:nvGraphicFramePr>
        <p:xfrm>
          <a:off x="304103" y="1646854"/>
          <a:ext cx="9152718" cy="40587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55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74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50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Conceder Acesso ao Siebel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Solicitação de novo acesso ao Siebel. (ambiente teste).</a:t>
                      </a:r>
                      <a:br>
                        <a:rPr lang="pt-BR" sz="1000" u="none" strike="noStrike" dirty="0">
                          <a:effectLst/>
                        </a:rPr>
                      </a:b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171-Conceder Acesso ao Siebel.doc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Revogar Acesso VPN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Revogação de acesso à VPN.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173-Revogar Acesso VPN.doc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Revogar Acesso ao Siebel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Revogação de acesso ao Siebel. (ambiente teste).</a:t>
                      </a:r>
                      <a:br>
                        <a:rPr lang="pt-BR" sz="1000" u="none" strike="noStrike" dirty="0">
                          <a:effectLst/>
                        </a:rPr>
                      </a:b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174-Revogação de acesso ao Siebel.doc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Perfil de Acesso ao Siebel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perfil de acesso ao Siebel. (ambiente teste).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175-Alterar Perfil de Acesso ao Siebel.doc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smtClean="0">
                          <a:effectLst/>
                        </a:rPr>
                        <a:t>Alterar perfil de usuário do BI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smtClean="0">
                          <a:effectLst/>
                        </a:rPr>
                        <a:t>Alterar perfil</a:t>
                      </a:r>
                      <a:r>
                        <a:rPr lang="pt-BR" sz="1000" u="none" strike="noStrike" baseline="0" dirty="0" smtClean="0">
                          <a:effectLst/>
                        </a:rPr>
                        <a:t> de</a:t>
                      </a:r>
                      <a:r>
                        <a:rPr lang="pt-BR" sz="1000" u="none" strike="noStrike" dirty="0" smtClean="0">
                          <a:effectLst/>
                        </a:rPr>
                        <a:t> usuário do BI.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u="none" strike="noStrike" dirty="0">
                          <a:effectLst/>
                        </a:rPr>
                        <a:t>206-Alterar do perfil </a:t>
                      </a:r>
                      <a:r>
                        <a:rPr lang="pt-BR" sz="1000" u="none" strike="noStrike" dirty="0" smtClean="0">
                          <a:effectLst/>
                        </a:rPr>
                        <a:t>usuário no BI.doc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Conceder Acesso VPN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Solicitação de novo acesso à VPN. (realizado</a:t>
                      </a:r>
                      <a:r>
                        <a:rPr lang="pt-BR" sz="1000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no item 012 - Infraestrutura)</a:t>
                      </a:r>
                      <a:endParaRPr lang="pt-BR" sz="1000" b="0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Criar do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Contábil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Criar do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Contábil.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Desativar do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Contábil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Desativar do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Contábil.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Alterar do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Contábil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Alterar do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Contábil.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00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GESTÃO </a:t>
            </a:r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ACESSO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71968"/>
              </p:ext>
            </p:extLst>
          </p:nvPr>
        </p:nvGraphicFramePr>
        <p:xfrm>
          <a:off x="304103" y="1646854"/>
          <a:ext cx="9152718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436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64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Conceder </a:t>
                      </a:r>
                      <a:r>
                        <a:rPr lang="pt-BR" sz="1000" u="none" strike="noStrike" dirty="0" err="1">
                          <a:effectLst/>
                        </a:rPr>
                        <a:t>Login</a:t>
                      </a:r>
                      <a:r>
                        <a:rPr lang="pt-BR" sz="1000" u="none" strike="noStrike" dirty="0">
                          <a:effectLst/>
                        </a:rPr>
                        <a:t> de Rede (AD)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Solicitação de novo acesso ao AD.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Conceder Acesso à Pasta ou Diretório de Rede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Solicitação de novo acesso a alguma pasta ou diretório de rede.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Revogar Login de Rede (AD)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Exclusão de acesso ao AD.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</a:t>
                      </a:r>
                      <a:r>
                        <a:rPr lang="pt-BR" sz="1000" u="none" strike="noStrike" dirty="0" err="1">
                          <a:effectLst/>
                        </a:rPr>
                        <a:t>permissionamentos</a:t>
                      </a:r>
                      <a:r>
                        <a:rPr lang="pt-BR" sz="1000" u="none" strike="noStrike" dirty="0">
                          <a:effectLst/>
                        </a:rPr>
                        <a:t> específicos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</a:t>
                      </a:r>
                      <a:r>
                        <a:rPr lang="pt-BR" sz="1000" u="none" strike="noStrike" dirty="0" err="1">
                          <a:effectLst/>
                        </a:rPr>
                        <a:t>permissionamentos</a:t>
                      </a:r>
                      <a:r>
                        <a:rPr lang="pt-BR" sz="1000" u="none" strike="noStrike" dirty="0">
                          <a:effectLst/>
                        </a:rPr>
                        <a:t> específicos em Ferramentas ou Pastas/Diretórios.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do perfil no BI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acesso ao BI.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Desativar do perfil no BI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Desativar acesso ao BI.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45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INFRAESTRUTURA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45858"/>
              </p:ext>
            </p:extLst>
          </p:nvPr>
        </p:nvGraphicFramePr>
        <p:xfrm>
          <a:off x="304103" y="1646854"/>
          <a:ext cx="9152718" cy="4251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55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74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Executar </a:t>
                      </a:r>
                      <a:r>
                        <a:rPr lang="pt-BR" sz="1000" u="none" strike="noStrike" dirty="0" err="1">
                          <a:effectLst/>
                        </a:rPr>
                        <a:t>Deploy</a:t>
                      </a:r>
                      <a:r>
                        <a:rPr lang="pt-BR" sz="1000" u="none" strike="noStrike" dirty="0">
                          <a:effectLst/>
                        </a:rPr>
                        <a:t> de Aplicação (Bus, Portal e </a:t>
                      </a:r>
                      <a:r>
                        <a:rPr lang="pt-BR" sz="1000" u="none" strike="noStrike" dirty="0" err="1">
                          <a:effectLst/>
                        </a:rPr>
                        <a:t>Microserviços</a:t>
                      </a:r>
                      <a:r>
                        <a:rPr lang="pt-BR" sz="1000" u="none" strike="noStrike" dirty="0">
                          <a:effectLst/>
                        </a:rPr>
                        <a:t>) via </a:t>
                      </a:r>
                      <a:r>
                        <a:rPr lang="pt-BR" sz="1000" u="none" strike="noStrike" dirty="0" err="1">
                          <a:effectLst/>
                        </a:rPr>
                        <a:t>Rundeck</a:t>
                      </a:r>
                      <a:r>
                        <a:rPr lang="pt-BR" sz="1000" u="none" strike="noStrike" dirty="0">
                          <a:effectLst/>
                        </a:rPr>
                        <a:t> em ambiente de DEV / HOM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Solicitações de </a:t>
                      </a:r>
                      <a:r>
                        <a:rPr lang="pt-BR" sz="1000" u="none" strike="noStrike" dirty="0" err="1">
                          <a:effectLst/>
                        </a:rPr>
                        <a:t>Deploys</a:t>
                      </a:r>
                      <a:r>
                        <a:rPr lang="pt-BR" sz="1000" u="none" strike="noStrike" dirty="0">
                          <a:effectLst/>
                        </a:rPr>
                        <a:t> em geral.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03-Executar Deploy de Aplicação.doc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Executar Scritps em Banco de Dados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Criação ou alteração de Tabelas, Inserção ou Deleção de Dados,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05-Executar Scritps em Banco de Dados.doc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Monitoração da aplicação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Monitoração de integração - ambiente de produção.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07-Monitoração de integração.doc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de Conexão na VPN client to site (open VPN)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Problemas entre a conexão VPN </a:t>
                      </a:r>
                      <a:r>
                        <a:rPr lang="pt-BR" sz="1000" u="none" strike="noStrike" dirty="0" err="1">
                          <a:effectLst/>
                        </a:rPr>
                        <a:t>client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to</a:t>
                      </a:r>
                      <a:r>
                        <a:rPr lang="pt-BR" sz="1000" u="none" strike="noStrike" dirty="0">
                          <a:effectLst/>
                        </a:rPr>
                        <a:t> site.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011-Erro de Conexão na VPN </a:t>
                      </a:r>
                      <a:r>
                        <a:rPr lang="pt-BR" sz="1000" u="none" strike="noStrike" dirty="0" err="1">
                          <a:effectLst/>
                        </a:rPr>
                        <a:t>client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to</a:t>
                      </a:r>
                      <a:r>
                        <a:rPr lang="pt-BR" sz="1000" u="none" strike="noStrike" dirty="0">
                          <a:effectLst/>
                        </a:rPr>
                        <a:t> site (open VPN).doc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uma Conexão na VPN client to site (open VPN)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 uma nova conexão VPN </a:t>
                      </a:r>
                      <a:r>
                        <a:rPr lang="pt-BR" sz="1000" u="none" strike="noStrike" dirty="0" err="1">
                          <a:effectLst/>
                        </a:rPr>
                        <a:t>client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to</a:t>
                      </a:r>
                      <a:r>
                        <a:rPr lang="pt-BR" sz="1000" u="none" strike="noStrike" dirty="0">
                          <a:effectLst/>
                        </a:rPr>
                        <a:t> site.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012-Criar uma Conexão na VPN </a:t>
                      </a:r>
                      <a:r>
                        <a:rPr lang="pt-BR" sz="1000" u="none" strike="noStrike" dirty="0" err="1">
                          <a:effectLst/>
                        </a:rPr>
                        <a:t>client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to</a:t>
                      </a:r>
                      <a:r>
                        <a:rPr lang="pt-BR" sz="1000" u="none" strike="noStrike" dirty="0">
                          <a:effectLst/>
                        </a:rPr>
                        <a:t> site (open VPN).doc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Monitoramento de Certificado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Monitoramento de Certificado.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015-Monitoramento de Certificado.doc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Alterar agendamento de start-stop de Ambiente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agendamento de start-stop de Ambiente.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017-Alterar agendamento de start-stop de Ambiente.doc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Disponibilizar Log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Log histórico compactado,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028-Disponibilizar Log.doc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Sincronizar Bucket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Sincronizar </a:t>
                      </a:r>
                      <a:r>
                        <a:rPr lang="pt-BR" sz="1000" u="none" strike="noStrike" dirty="0" err="1">
                          <a:effectLst/>
                        </a:rPr>
                        <a:t>Bucket</a:t>
                      </a:r>
                      <a:r>
                        <a:rPr lang="pt-BR" sz="1000" u="none" strike="noStrike" dirty="0">
                          <a:effectLst/>
                        </a:rPr>
                        <a:t> PROD com HOM,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037-Sincronizar Bucket.doc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um novo certificado digital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um novo certificado digital.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193-Criar um novo certificado digital.doc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54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INFRAESTRUTURA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49107"/>
              </p:ext>
            </p:extLst>
          </p:nvPr>
        </p:nvGraphicFramePr>
        <p:xfrm>
          <a:off x="304103" y="1646854"/>
          <a:ext cx="9152718" cy="4079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55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74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Atualizar Arquivo de Configuração de Aplicação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Soliciações de atualização de arquivos de configuração de aplicações em geral.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na execução de </a:t>
                      </a:r>
                      <a:r>
                        <a:rPr lang="pt-BR" sz="1000" u="none" strike="noStrike" dirty="0" err="1">
                          <a:effectLst/>
                        </a:rPr>
                        <a:t>Deploys</a:t>
                      </a:r>
                      <a:r>
                        <a:rPr lang="pt-BR" sz="1000" u="none" strike="noStrike" dirty="0">
                          <a:effectLst/>
                        </a:rPr>
                        <a:t> em DEV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na execução de </a:t>
                      </a:r>
                      <a:r>
                        <a:rPr lang="pt-BR" sz="1000" u="none" strike="noStrike" dirty="0" err="1">
                          <a:effectLst/>
                        </a:rPr>
                        <a:t>Deploys</a:t>
                      </a:r>
                      <a:r>
                        <a:rPr lang="pt-BR" sz="1000" u="none" strike="noStrike" dirty="0">
                          <a:effectLst/>
                        </a:rPr>
                        <a:t> em DEV.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Executar Deploy de Aplicação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Solicitações de </a:t>
                      </a:r>
                      <a:r>
                        <a:rPr lang="pt-BR" sz="1000" u="none" strike="noStrike" dirty="0" err="1">
                          <a:effectLst/>
                        </a:rPr>
                        <a:t>Deploys</a:t>
                      </a:r>
                      <a:r>
                        <a:rPr lang="pt-BR" sz="1000" u="none" strike="noStrike" dirty="0">
                          <a:effectLst/>
                        </a:rPr>
                        <a:t> em geral.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Aplicação lenta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Aplicação lenta.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Aplicação indisponível (quebrar em homologação, desenvolvimento ou produção)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Aplicação indisponível.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Aplicação não está enviando e-mail (Amazon)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Aplicação não está enviando e-mail.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de Conexão com Aplicações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Siebel, </a:t>
                      </a:r>
                      <a:r>
                        <a:rPr lang="pt-BR" sz="1000" u="none" strike="noStrike" dirty="0" err="1">
                          <a:effectLst/>
                        </a:rPr>
                        <a:t>Navitaire</a:t>
                      </a:r>
                      <a:r>
                        <a:rPr lang="pt-BR" sz="1000" u="none" strike="noStrike" dirty="0">
                          <a:effectLst/>
                        </a:rPr>
                        <a:t>, Big Data, Integrador de Sites, Gateway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na Integração entre Aplicações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Ex.: </a:t>
                      </a:r>
                      <a:r>
                        <a:rPr lang="pt-BR" sz="1000" u="none" strike="noStrike" dirty="0" err="1">
                          <a:effectLst/>
                        </a:rPr>
                        <a:t>Cielo</a:t>
                      </a:r>
                      <a:r>
                        <a:rPr lang="pt-BR" sz="1000" u="none" strike="noStrike" dirty="0">
                          <a:effectLst/>
                        </a:rPr>
                        <a:t> com Barramento, </a:t>
                      </a:r>
                      <a:r>
                        <a:rPr lang="pt-BR" sz="1000" u="none" strike="noStrike" dirty="0" err="1">
                          <a:effectLst/>
                        </a:rPr>
                        <a:t>Bancob</a:t>
                      </a:r>
                      <a:r>
                        <a:rPr lang="pt-BR" sz="1000" u="none" strike="noStrike" dirty="0">
                          <a:effectLst/>
                        </a:rPr>
                        <a:t> com API Gateway,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a Banco de Dados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a Banco de Dados.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a Certificados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Certificado Expirado, Incorreto, Inativo.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31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INFRAESTRUTURA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29551"/>
              </p:ext>
            </p:extLst>
          </p:nvPr>
        </p:nvGraphicFramePr>
        <p:xfrm>
          <a:off x="304103" y="1646854"/>
          <a:ext cx="9152718" cy="457199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195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505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de Nível de Log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do Nível de Log da Aplicação via JMX.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Aplicar Patch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Liferay</a:t>
                      </a:r>
                      <a:r>
                        <a:rPr lang="pt-BR" sz="1000" u="none" strike="noStrike" dirty="0">
                          <a:effectLst/>
                        </a:rPr>
                        <a:t>, </a:t>
                      </a:r>
                      <a:r>
                        <a:rPr lang="pt-BR" sz="1000" u="none" strike="noStrike" dirty="0" err="1">
                          <a:effectLst/>
                        </a:rPr>
                        <a:t>Weblogic</a:t>
                      </a:r>
                      <a:r>
                        <a:rPr lang="pt-BR" sz="1000" u="none" strike="noStrike" dirty="0">
                          <a:effectLst/>
                        </a:rPr>
                        <a:t>, Banco de Dados,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Ambiente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novo ambiente completo (UAT, DEV).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Certificado Digital (SSL)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Criação de Certificado Digital (SSL).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Infraestrutura para Aplicação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Servidor, Banco de Dados, Cache,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job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Criação de processos batch (automatização).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ou alterar componentes para aplicação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Data Source, Mail Session, JMS, etc.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ou alterar entradas DNS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ou alterar entradas DNS.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ou alterar pasta no FTP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ou alterar pasta no FTP.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URL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Nova URL.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Dump de Banco de Dados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Dump</a:t>
                      </a:r>
                      <a:r>
                        <a:rPr lang="pt-BR" sz="1000" u="none" strike="noStrike" dirty="0">
                          <a:effectLst/>
                        </a:rPr>
                        <a:t> de Banco de Dados.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Dump do Bucket do Liferay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Copiar o conteúdo do </a:t>
                      </a:r>
                      <a:r>
                        <a:rPr lang="pt-BR" sz="1000" u="none" strike="noStrike" dirty="0" err="1">
                          <a:effectLst/>
                        </a:rPr>
                        <a:t>Bucket</a:t>
                      </a:r>
                      <a:r>
                        <a:rPr lang="pt-BR" sz="1000" u="none" strike="noStrike" dirty="0">
                          <a:effectLst/>
                        </a:rPr>
                        <a:t> do </a:t>
                      </a:r>
                      <a:r>
                        <a:rPr lang="pt-BR" sz="1000" u="none" strike="noStrike" dirty="0" err="1">
                          <a:effectLst/>
                        </a:rPr>
                        <a:t>Liferay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51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INFRAESTRUTURA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622413"/>
              </p:ext>
            </p:extLst>
          </p:nvPr>
        </p:nvGraphicFramePr>
        <p:xfrm>
          <a:off x="304103" y="1646854"/>
          <a:ext cx="9152718" cy="3516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Executar Flush </a:t>
                      </a:r>
                      <a:r>
                        <a:rPr lang="pt-BR" sz="1000" u="none" strike="noStrike" dirty="0" err="1">
                          <a:effectLst/>
                        </a:rPr>
                        <a:t>Akamai</a:t>
                      </a:r>
                      <a:r>
                        <a:rPr lang="pt-BR" sz="1000" u="none" strike="noStrike" dirty="0">
                          <a:effectLst/>
                        </a:rPr>
                        <a:t> (limpar cache)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Atualização de imagens no portal, </a:t>
                      </a:r>
                      <a:r>
                        <a:rPr lang="pt-BR" sz="1000" u="none" strike="noStrike" dirty="0" err="1">
                          <a:effectLst/>
                        </a:rPr>
                        <a:t>javascript</a:t>
                      </a:r>
                      <a:r>
                        <a:rPr lang="pt-BR" sz="1000" u="none" strike="noStrike" dirty="0">
                          <a:effectLst/>
                        </a:rPr>
                        <a:t>, CSS,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Executar Flush de </a:t>
                      </a:r>
                      <a:r>
                        <a:rPr lang="pt-BR" sz="1000" u="none" strike="noStrike" dirty="0" err="1">
                          <a:effectLst/>
                        </a:rPr>
                        <a:t>Memcache</a:t>
                      </a:r>
                      <a:r>
                        <a:rPr lang="pt-BR" sz="1000" u="none" strike="noStrike" dirty="0">
                          <a:effectLst/>
                        </a:rPr>
                        <a:t> (limpar dados)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Flush de </a:t>
                      </a:r>
                      <a:r>
                        <a:rPr lang="pt-BR" sz="1000" u="none" strike="noStrike" dirty="0" err="1">
                          <a:effectLst/>
                        </a:rPr>
                        <a:t>Memcache</a:t>
                      </a:r>
                      <a:r>
                        <a:rPr lang="pt-BR" sz="1000" u="none" strike="noStrike" dirty="0">
                          <a:effectLst/>
                        </a:rPr>
                        <a:t> (limpar dados).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Executar </a:t>
                      </a:r>
                      <a:r>
                        <a:rPr lang="pt-BR" sz="1000" u="none" strike="noStrike" dirty="0" err="1">
                          <a:effectLst/>
                        </a:rPr>
                        <a:t>Refresh</a:t>
                      </a:r>
                      <a:r>
                        <a:rPr lang="pt-BR" sz="1000" u="none" strike="noStrike" dirty="0">
                          <a:effectLst/>
                        </a:rPr>
                        <a:t> de Banco de Dados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Tombamento de PROD para HOM, de HOM para DEV, de HOM para HOM.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Executar Restart de Aplicação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Restart</a:t>
                      </a:r>
                      <a:r>
                        <a:rPr lang="pt-BR" sz="1000" u="none" strike="noStrike" dirty="0">
                          <a:effectLst/>
                        </a:rPr>
                        <a:t> de instâncias do </a:t>
                      </a:r>
                      <a:r>
                        <a:rPr lang="pt-BR" sz="1000" u="none" strike="noStrike" dirty="0" err="1">
                          <a:effectLst/>
                        </a:rPr>
                        <a:t>Weblogic</a:t>
                      </a:r>
                      <a:r>
                        <a:rPr lang="pt-BR" sz="1000" u="none" strike="noStrike" dirty="0">
                          <a:effectLst/>
                        </a:rPr>
                        <a:t>, SOA, API-Gateway,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Inclusão ou Alteração de Regra de Fiwewall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Inclusão ou Alteração de Regra de Firewall.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Integrar Aplicações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Ex.: </a:t>
                      </a:r>
                      <a:r>
                        <a:rPr lang="pt-BR" sz="1000" u="none" strike="noStrike" dirty="0" err="1">
                          <a:effectLst/>
                        </a:rPr>
                        <a:t>Cielo</a:t>
                      </a:r>
                      <a:r>
                        <a:rPr lang="pt-BR" sz="1000" u="none" strike="noStrike" dirty="0">
                          <a:effectLst/>
                        </a:rPr>
                        <a:t> com Barramento, </a:t>
                      </a:r>
                      <a:r>
                        <a:rPr lang="pt-BR" sz="1000" u="none" strike="noStrike" dirty="0" err="1">
                          <a:effectLst/>
                        </a:rPr>
                        <a:t>Bancob</a:t>
                      </a:r>
                      <a:r>
                        <a:rPr lang="pt-BR" sz="1000" u="none" strike="noStrike" dirty="0">
                          <a:effectLst/>
                        </a:rPr>
                        <a:t> com API Gateway,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Acessos (TI)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usuários de Aplicação, Banco de Dados, Console, Servidor, </a:t>
                      </a:r>
                      <a:r>
                        <a:rPr lang="pt-BR" sz="1000" u="none" strike="noStrike" dirty="0" err="1">
                          <a:effectLst/>
                        </a:rPr>
                        <a:t>Bucket</a:t>
                      </a:r>
                      <a:r>
                        <a:rPr lang="pt-BR" sz="1000" u="none" strike="noStrike" dirty="0">
                          <a:effectLst/>
                        </a:rPr>
                        <a:t>, Log,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Alterar Acessos (TI)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</a:t>
                      </a:r>
                      <a:r>
                        <a:rPr lang="pt-BR" sz="1000" u="none" strike="noStrike" dirty="0" err="1">
                          <a:effectLst/>
                        </a:rPr>
                        <a:t>permissionamento</a:t>
                      </a:r>
                      <a:r>
                        <a:rPr lang="pt-BR" sz="1000" u="none" strike="noStrike" dirty="0">
                          <a:effectLst/>
                        </a:rPr>
                        <a:t> ou usuários de Aplicação, Banco de Dados, Console, Servidor, </a:t>
                      </a:r>
                      <a:r>
                        <a:rPr lang="pt-BR" sz="1000" u="none" strike="noStrike" dirty="0" err="1">
                          <a:effectLst/>
                        </a:rPr>
                        <a:t>Bucket</a:t>
                      </a:r>
                      <a:r>
                        <a:rPr lang="pt-BR" sz="1000" u="none" strike="noStrike" dirty="0">
                          <a:effectLst/>
                        </a:rPr>
                        <a:t>, Log,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Revogar Acessos (TI)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Excluir usuários de Aplicação, Banco de Dados, Console, Servidor, </a:t>
                      </a:r>
                      <a:r>
                        <a:rPr lang="pt-BR" sz="1000" u="none" strike="noStrike" dirty="0" err="1">
                          <a:effectLst/>
                        </a:rPr>
                        <a:t>Bucket</a:t>
                      </a:r>
                      <a:r>
                        <a:rPr lang="pt-BR" sz="1000" u="none" strike="noStrike" dirty="0">
                          <a:effectLst/>
                        </a:rPr>
                        <a:t>, Log,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98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MICROINFORMÁTICA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398348"/>
              </p:ext>
            </p:extLst>
          </p:nvPr>
        </p:nvGraphicFramePr>
        <p:xfrm>
          <a:off x="304103" y="1646854"/>
          <a:ext cx="9152718" cy="46115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4619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Solicitar ramal para o usuário (funcionário ou terceiro).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Solicitar ramal para o usuário (funcionário ou terceiro).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038-Solicitar ramal para o usuário.doc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Alterar um grupo de recebimento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um grupo de recebimento de ramal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039-Alterar um grupo de recebimento.doc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Falha de acesso a internet escritório.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acesso a internet escritório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046-Falha de acesso a internet escritório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362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Usuário não consegue navegar em um site específico.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Usuário não consegue navegar em um site específico.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047-Usuário não consegue navegar em um site específico.doc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usuário no Jira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usuário no </a:t>
                      </a:r>
                      <a:r>
                        <a:rPr lang="pt-BR" sz="1000" u="none" strike="noStrike" dirty="0" err="1">
                          <a:effectLst/>
                        </a:rPr>
                        <a:t>Jira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153-Criar usuário no Jira.doc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Desativar usuário no Jira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Desativar usuário no </a:t>
                      </a:r>
                      <a:r>
                        <a:rPr lang="pt-BR" sz="1000" u="none" strike="noStrike" dirty="0" err="1">
                          <a:effectLst/>
                        </a:rPr>
                        <a:t>Jira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154-Desativar usuário no Jira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Alterar acesso de usuário no Jira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acesso de usuário no </a:t>
                      </a:r>
                      <a:r>
                        <a:rPr lang="pt-BR" sz="1000" u="none" strike="noStrike" dirty="0" err="1">
                          <a:effectLst/>
                        </a:rPr>
                        <a:t>Jira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188-Alterar acesso de usuário no Jira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um grupo de recebimento de ramal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um grupo de recebimento de ramal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195-Criar um grupo de recebimento.doc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Alterar o display name do ramal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o display </a:t>
                      </a:r>
                      <a:r>
                        <a:rPr lang="pt-BR" sz="1000" u="none" strike="noStrike" dirty="0" err="1">
                          <a:effectLst/>
                        </a:rPr>
                        <a:t>name</a:t>
                      </a:r>
                      <a:r>
                        <a:rPr lang="pt-BR" sz="1000" u="none" strike="noStrike" dirty="0">
                          <a:effectLst/>
                        </a:rPr>
                        <a:t> do ramal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196-Alterar o display name.doc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Falha de acesso a console (máquina – servidor) AWS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acesso a console (máquina – servidor) AWS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197-Falha de acesso a console (máquina – servidor) AWS.doc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Falha de acesso ao Siebel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acesso ao Siebel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198-Falha de acesso ao Siebel.doc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461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Falha de acesso as aplicações Tivit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acesso as aplicações </a:t>
                      </a:r>
                      <a:r>
                        <a:rPr lang="pt-BR" sz="1000" u="none" strike="noStrike" dirty="0" err="1">
                          <a:effectLst/>
                        </a:rPr>
                        <a:t>Tivit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199-Falha de acesso as aplicações Tivit.doc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98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DETALHAMENTO DO MAPEAMENTO – 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61582"/>
              </p:ext>
            </p:extLst>
          </p:nvPr>
        </p:nvGraphicFramePr>
        <p:xfrm>
          <a:off x="304103" y="1646854"/>
          <a:ext cx="9152718" cy="46129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41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3621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Ramal não </a:t>
                      </a:r>
                      <a:r>
                        <a:rPr lang="pt-BR" sz="1000" u="none" strike="noStrike" dirty="0" err="1">
                          <a:effectLst/>
                        </a:rPr>
                        <a:t>loga</a:t>
                      </a:r>
                      <a:r>
                        <a:rPr lang="pt-BR" sz="1000" u="none" strike="noStrike" dirty="0">
                          <a:effectLst/>
                        </a:rPr>
                        <a:t>, não efetua chamadas internas (ramal para ramal), não efetua chamadas externas.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Ramal não loga, não efetua chamadas internas (ramal para ramal), não efetua chamadas externas.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Configurar impressora para o usuário (funcionário ou terceiros).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Configurar impressora para o usuário (funcionário ou terceiros).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74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Não consegue imprimir, impressora com erro, falha de Tonner, Tonner baixo, papel preso, etc.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Não consegue imprimir, impressora com erro, falha de Tonner, Tonner baixo, papel preso,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Testar a vídeo conferência antes de uma reunião.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Testar a vídeo conferência antes de uma reunião.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Vídeo Conferência não funciona.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Vídeo Conferência não funciona.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74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Falhas com HDMI, televisões, mouses, projetores ou outros equipamentos das salas de reunião.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Falhas com HDMI, televisões, mouses, projetores ou outros equipamentos das salas de reunião.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Aquisição de Laptop e/ou Periféricos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Solicitação de Laptop e/ou Periféricos (mouse, teclado, headset, etc.)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Configuração e Manutenção de Laptop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Laptop lento, Laptop com problemas, Configuração de Laptop,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Periféricos com mau funcionamento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Usuário com problemas com mouse, teclado, headset,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Perda e Roubo de Laptop.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Perda e Roubo de Laptop.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ou ampliar quota de pasta ou diretório de rede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ou ampliar quota de pasta ou diretório de rede.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Redes Wireless do escritório da Smiles.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Redes Wireless do escritório da Smiles.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Configuração ou Erro em Software (não-padrão)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Project, Visio,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27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MICROINFORMÁTICA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38901"/>
              </p:ext>
            </p:extLst>
          </p:nvPr>
        </p:nvGraphicFramePr>
        <p:xfrm>
          <a:off x="304103" y="1646854"/>
          <a:ext cx="9152718" cy="3398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41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3621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Instalação de Software (não-padrão)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Project, Visio, etc.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Listas de Distribuição de E-mails departamentais, ex.: Jurídico, Marketing, Projeto ABC,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Listas de Distribuição de E-mails departamentais, ex.: Jurídico, Marketing, Projeto ABC,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Field Service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74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Criação ou Alteração de Conta de E-mail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Criação ou Alteração de Conta de E-mail.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VPN não conecta, Erro de VPN.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VPN não conecta, Erro de VPN.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74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Usuário bloqueado, Esqueci minha Senha, Reset de Senha, Conta bloqueada, Usuário expirado, etc.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Usuário bloqueado, Esqueci minha Senha, Reset de Senha, Conta bloqueada, Usuário expirado,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de acesso à pasta ou diretório de rede.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de acesso à pasta ou diretório de rede.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Configuração ou Erro em Software (padrão)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Internet Explorer, Chrome, MS Office, Jabber, Outlook, SAP, etc.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Instalação de Software (padrão)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Internet Explorer, Chrome, MS Office, Jabber, Outlook, SAP, etc.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Field Service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Problemas entre a conexão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de rede (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tivit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aws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e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oracle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).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Problemas entre a conexão </a:t>
                      </a:r>
                      <a:r>
                        <a:rPr lang="pt-BR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- AWS.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50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RIGHT </a:t>
            </a:r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NOW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104428"/>
              </p:ext>
            </p:extLst>
          </p:nvPr>
        </p:nvGraphicFramePr>
        <p:xfrm>
          <a:off x="304103" y="1646854"/>
          <a:ext cx="9152718" cy="10625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41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3621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Right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Now</a:t>
                      </a:r>
                      <a:r>
                        <a:rPr lang="pt-BR" sz="1000" u="none" strike="noStrike" dirty="0">
                          <a:effectLst/>
                        </a:rPr>
                        <a:t> não abre / não </a:t>
                      </a:r>
                      <a:r>
                        <a:rPr lang="pt-BR" sz="1000" u="none" strike="noStrike" dirty="0" err="1">
                          <a:effectLst/>
                        </a:rPr>
                        <a:t>loga</a:t>
                      </a:r>
                      <a:r>
                        <a:rPr lang="pt-BR" sz="1000" u="none" strike="noStrike" dirty="0">
                          <a:effectLst/>
                        </a:rPr>
                        <a:t> para TODOS os </a:t>
                      </a:r>
                      <a:r>
                        <a:rPr lang="pt-BR" sz="1000" u="none" strike="noStrike" dirty="0" err="1">
                          <a:effectLst/>
                        </a:rPr>
                        <a:t>Coloboradores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TODOS os colaboradores com dificuldade para abrir ou </a:t>
                      </a:r>
                      <a:r>
                        <a:rPr lang="pt-BR" sz="1000" u="none" strike="noStrike" dirty="0" err="1">
                          <a:effectLst/>
                        </a:rPr>
                        <a:t>logar</a:t>
                      </a:r>
                      <a:r>
                        <a:rPr lang="pt-BR" sz="1000" u="none" strike="noStrike" dirty="0">
                          <a:effectLst/>
                        </a:rPr>
                        <a:t> no </a:t>
                      </a:r>
                      <a:r>
                        <a:rPr lang="pt-BR" sz="1000" u="none" strike="noStrike" dirty="0" err="1">
                          <a:effectLst/>
                        </a:rPr>
                        <a:t>Right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Now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Right Now não abre / não loga para um único Colaborador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Um único colaborador com dificuldade/erro para abrir ou </a:t>
                      </a:r>
                      <a:r>
                        <a:rPr lang="pt-BR" sz="1000" u="none" strike="noStrike" dirty="0" err="1">
                          <a:effectLst/>
                        </a:rPr>
                        <a:t>logar</a:t>
                      </a:r>
                      <a:r>
                        <a:rPr lang="pt-BR" sz="1000" u="none" strike="noStrike" dirty="0">
                          <a:effectLst/>
                        </a:rPr>
                        <a:t> no </a:t>
                      </a:r>
                      <a:r>
                        <a:rPr lang="pt-BR" sz="1000" u="none" strike="noStrike" dirty="0" err="1">
                          <a:effectLst/>
                        </a:rPr>
                        <a:t>Right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Now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34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97764"/>
              </p:ext>
            </p:extLst>
          </p:nvPr>
        </p:nvGraphicFramePr>
        <p:xfrm>
          <a:off x="304103" y="1646854"/>
          <a:ext cx="9152718" cy="444882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614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Cadastrar Novo Produto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Produto, Adicionar novos Produtos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072-Cadastrar Novo Produto.doc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vigência de Produto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Alteração de Produto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073-Alterar vigência de Produto.doc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Cadastrar Novo Parceiro (Não Aéreo)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Criar Novo Parceiro (Não Aéreo)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076-Cadastrar Novo Parceiro (Não Aéreo).doc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Manutenção de Parceiro (Não Aéreo)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Parceiro (Não Aéreo)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077-Manutenção de Parceiro (Não Aéreo).doc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Dificuldades na utilização do Portal de Parceiros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Não consegue creditar milhas, Transações não processadas,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082-Dificuldades na utilização do Portal de Parceiros.doc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Indisponibilidade no Portal de Parceiros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Indisponibilidade no Portal de Parceiros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084-Indisponibilidade no Portal de Parceiros.doc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Monitoramento da recorrência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Monitoramento da recorrência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088-Monitoramento da recorrência.doc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Bounce do Princing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Restart</a:t>
                      </a:r>
                      <a:r>
                        <a:rPr lang="pt-BR" sz="1000" u="none" strike="noStrike" dirty="0">
                          <a:effectLst/>
                        </a:rPr>
                        <a:t> do sistema de precificação.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095-Bounce do Princing.doc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ao Clube Smiles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Cliente não está passando pela recorrência de pagamento,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102-Erros relacionados ao Club Smiles.doc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Víncular Novo Parceiro (Não Aéreo) x Novo Produto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Víncular</a:t>
                      </a:r>
                      <a:r>
                        <a:rPr lang="pt-BR" sz="1000" u="none" strike="noStrike" dirty="0">
                          <a:effectLst/>
                        </a:rPr>
                        <a:t> Novo Parceiro (Não Aéreo) x Novo Produto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104-Víncular Novo Parceiro (Não Aéreo) x Novo Produto.doc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ao Smiles Pay (MENOS indisponibilidade)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u="none" strike="noStrike" dirty="0">
                          <a:effectLst/>
                        </a:rPr>
                        <a:t>Problemas no </a:t>
                      </a:r>
                      <a:r>
                        <a:rPr lang="es-ES" sz="1000" u="none" strike="noStrike" dirty="0" err="1">
                          <a:effectLst/>
                        </a:rPr>
                        <a:t>Smiles</a:t>
                      </a:r>
                      <a:r>
                        <a:rPr lang="es-ES" sz="1000" u="none" strike="noStrike" dirty="0">
                          <a:effectLst/>
                        </a:rPr>
                        <a:t> </a:t>
                      </a:r>
                      <a:r>
                        <a:rPr lang="es-ES" sz="1000" u="none" strike="noStrike" dirty="0" err="1">
                          <a:effectLst/>
                        </a:rPr>
                        <a:t>Pay</a:t>
                      </a:r>
                      <a:r>
                        <a:rPr lang="es-ES" sz="1000" u="none" strike="noStrike" dirty="0">
                          <a:effectLst/>
                        </a:rPr>
                        <a:t>, etc.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107-Erros relacionados ao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Pay.doc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78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64122"/>
              </p:ext>
            </p:extLst>
          </p:nvPr>
        </p:nvGraphicFramePr>
        <p:xfrm>
          <a:off x="304103" y="1646854"/>
          <a:ext cx="9152718" cy="460557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614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Indisponibilidade Siebel e/ou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Pay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Siebel e/ou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Pay</a:t>
                      </a:r>
                      <a:r>
                        <a:rPr lang="pt-BR" sz="1000" u="none" strike="noStrike" dirty="0">
                          <a:effectLst/>
                        </a:rPr>
                        <a:t> lento ou indisponível para TODA a Central de Atendimento.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108-Indisponibilidade Siebel.doc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Participante cancelou o </a:t>
                      </a:r>
                      <a:r>
                        <a:rPr lang="pt-BR" sz="1000" u="none" strike="noStrike" dirty="0" err="1">
                          <a:effectLst/>
                        </a:rPr>
                        <a:t>club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smile</a:t>
                      </a:r>
                      <a:r>
                        <a:rPr lang="pt-BR" sz="1000" u="none" strike="noStrike" dirty="0">
                          <a:effectLst/>
                        </a:rPr>
                        <a:t>, efetuar o cancelamento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Participante cancelou o </a:t>
                      </a:r>
                      <a:r>
                        <a:rPr lang="pt-BR" sz="1000" u="none" strike="noStrike" dirty="0" err="1">
                          <a:effectLst/>
                        </a:rPr>
                        <a:t>club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smile</a:t>
                      </a:r>
                      <a:r>
                        <a:rPr lang="pt-BR" sz="1000" u="none" strike="noStrike" dirty="0">
                          <a:effectLst/>
                        </a:rPr>
                        <a:t>, efetuar o cancelamento.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143-Participante cancelou o clube smiles.doc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a vigência de Produto para um Parceiro específico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Produto.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184-Alterar a vigência de Produto para um Parceiro específico.doc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Criação de responsabilidade de usuário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Criação de responsabilidade de usuário.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190-Criação de responsabilidade de usuário.doc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Monitorar o retrocrédito dos clientes Smiles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Monitorar o retro crédito dos clientes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194-Monitoramento Retro Crédito.doc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Cadastrar mapa de distância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Cadastrar mapa de distância.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200-Cadastrar mapa de distância.doc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Monitorar o Arquivo Contábil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Monitorar o Arquivo Contábil.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Monitorar o Arquivo de Faturamento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Monitorar o Arquivo de Faturamento.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Monitorar o Arquivo de Vendas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Monitorar o Arquivo de Vendas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à Bonificação de Compra de Milhas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Não entrou a quantidade de milhas esperada na conta do cliente</a:t>
                      </a:r>
                      <a:br>
                        <a:rPr lang="pt-BR" sz="1000" u="none" strike="noStrike" dirty="0">
                          <a:effectLst/>
                        </a:rPr>
                      </a:br>
                      <a:r>
                        <a:rPr lang="pt-BR" sz="1000" u="none" strike="noStrike" dirty="0" err="1">
                          <a:effectLst/>
                        </a:rPr>
                        <a:t>Cliente</a:t>
                      </a:r>
                      <a:r>
                        <a:rPr lang="pt-BR" sz="1000" u="none" strike="noStrike" dirty="0">
                          <a:effectLst/>
                        </a:rPr>
                        <a:t> comprou e a quantidade de milhas creditada estava errada.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à Promoção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Cliente afetado por erro de promoção.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à Bonificação do Clube Smiles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na bonificação do cliente, bonificação a mais ou a menos,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13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514457"/>
              </p:ext>
            </p:extLst>
          </p:nvPr>
        </p:nvGraphicFramePr>
        <p:xfrm>
          <a:off x="304103" y="1646854"/>
          <a:ext cx="9152718" cy="45146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614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à Voucher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Voucher com desconto incorreto, Voucher com data de expiração incorreta, etc.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à Bonificação de Revalidação de Milhas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Não estão aparecendo as milhas para o cliente revalidar,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à Bonificação de Emissão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na bonificação relacionada a emissões,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à Bonificação de Transferência de Milhas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na bonificação de transferências,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à Bonificação do Crédito Retroativo de Milhas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na bonificação de crédito retroativo,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Manutenção de Parceiro (Aéreo)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Parceiro (Aéreo)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Cadastrar Novo Parceiro (Aéreo)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Novo Parceiro (Aéreo)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006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Cadastrar Nova Promoção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Promoção, Incluir Promoção, Nova Promoção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Manutenção de Promoção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Promoção, Reativação de Promoção, Encerrar Promoção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Promoção com erro 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de Promoção, Promoção não bonificou Cliente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Prorrogar Promoção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datas de vigência, promoção deve voltar em, promoção deverá voltar em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614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Lentidão no Portal de Parceiros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Lentidão no Portal de Parceiros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00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864423"/>
              </p:ext>
            </p:extLst>
          </p:nvPr>
        </p:nvGraphicFramePr>
        <p:xfrm>
          <a:off x="304103" y="1646854"/>
          <a:ext cx="9152718" cy="46487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535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Resgate Aéreo B2E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PNR não recebido pela B2E (completo ou parcial),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Resgate Shopping Smiles B2E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Pedidos de Resgate 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não recebidos pela B2E (completo ou parcial),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Compra/Trasnferência/Reativação de Milhas B2E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Pedidos de Compra/</a:t>
                      </a:r>
                      <a:r>
                        <a:rPr lang="pt-BR" sz="1000" u="none" strike="noStrike" dirty="0" err="1">
                          <a:effectLst/>
                        </a:rPr>
                        <a:t>Trasnferência</a:t>
                      </a:r>
                      <a:r>
                        <a:rPr lang="pt-BR" sz="1000" u="none" strike="noStrike" dirty="0">
                          <a:effectLst/>
                        </a:rPr>
                        <a:t>/Reativação de Milhas não recebidos pela B2E (completo ou parcial),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Milhas não estornadas após confirmação de fraude.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Milhas não estornadas após confirmação de fraude.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Status (suspensão) da Conta não alterado após confirmação de fraude.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Status (suspensão) da Conta não alterado após confirmação de fraude.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Adesão/Reativação ao Clube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B2E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Adesões ou Reativações no Clube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não recebidos pela B2E (completo ou parcial),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ou Falha de Publicação de Motivos ou Promoções GOL / Parceiros Críticos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GOL, Itaú, Bradesco, HSBC, Caixa Econômica, Santander e Banco do Brasil.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814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ou Falha de Publicação NÃO relacionada a participante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no </a:t>
                      </a:r>
                      <a:r>
                        <a:rPr lang="pt-BR" sz="1000" u="none" strike="noStrike" dirty="0" err="1">
                          <a:effectLst/>
                        </a:rPr>
                        <a:t>Liferay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5350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ou Falha de Publicação de Conteúdo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Banners, Regulamentos,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241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a envio e recebimento de e-mails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a envio e recebimento de e-mails.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5350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a Cobrança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Cliente cobrado erroneamente, pagamento em duplicidade,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350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a Saldo Divergente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Saldo de milhas do cliente apresenta inconsistências,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241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Alterar atributo de promoção para um participante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Manutenção de Promoção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55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338774"/>
              </p:ext>
            </p:extLst>
          </p:nvPr>
        </p:nvGraphicFramePr>
        <p:xfrm>
          <a:off x="304103" y="1646854"/>
          <a:ext cx="9152718" cy="464400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5895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no processo de Merge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Problema no processo de merge de clientes, etc.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no processamento de Transações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no processamento de transações,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ao Nível do Participante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no processamento de Nível do Participante ou datas erradas (prazos de expiração dos </a:t>
                      </a:r>
                      <a:r>
                        <a:rPr lang="pt-BR" sz="1000" u="none" strike="noStrike" dirty="0" err="1">
                          <a:effectLst/>
                        </a:rPr>
                        <a:t>Tiers</a:t>
                      </a:r>
                      <a:r>
                        <a:rPr lang="pt-BR" sz="1000" u="none" strike="noStrike" dirty="0">
                          <a:effectLst/>
                        </a:rPr>
                        <a:t>),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Indisponibilidade Navitaire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 err="1">
                          <a:effectLst/>
                        </a:rPr>
                        <a:t>Navitaire</a:t>
                      </a:r>
                      <a:r>
                        <a:rPr lang="pt-BR" sz="1000" u="none" strike="noStrike" dirty="0">
                          <a:effectLst/>
                        </a:rPr>
                        <a:t> lento ou indisponível para TODA a Central de Atendimento.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Indisponibilidade Amadeus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Amadeus lento ou indisponível para TODA a Central de Atendimento.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relacionados na aplicação Amadeus (Selling)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ao Amadeus (</a:t>
                      </a:r>
                      <a:r>
                        <a:rPr lang="pt-BR" sz="1000" u="none" strike="noStrike" dirty="0" err="1">
                          <a:effectLst/>
                        </a:rPr>
                        <a:t>Selling</a:t>
                      </a:r>
                      <a:r>
                        <a:rPr lang="pt-BR" sz="1000" u="none" strike="noStrike" dirty="0">
                          <a:effectLst/>
                        </a:rPr>
                        <a:t>) para a Central de Atendimento.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Transação enfileradas, via Rundeck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Transação </a:t>
                      </a:r>
                      <a:r>
                        <a:rPr lang="pt-BR" sz="1000" u="none" strike="noStrike" dirty="0" err="1">
                          <a:effectLst/>
                        </a:rPr>
                        <a:t>enfileradas</a:t>
                      </a:r>
                      <a:r>
                        <a:rPr lang="pt-BR" sz="1000" u="none" strike="noStrike" dirty="0">
                          <a:effectLst/>
                        </a:rPr>
                        <a:t>, via </a:t>
                      </a:r>
                      <a:r>
                        <a:rPr lang="pt-BR" sz="1000" u="none" strike="noStrike" dirty="0" err="1">
                          <a:effectLst/>
                        </a:rPr>
                        <a:t>Rundeck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862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Processar arquivos de crédito retroativo e parceiras aereas.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Processar arquivos de crédito retroativo e parceiras aéreas.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589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Problemas com arquivos de faturamento.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Problemas com arquivos de faturamento.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589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Problemas com arquivos de venda de milhas.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Problemas com arquivos de venda de milhas.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589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E-mail Siebel Mkt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000" u="none" strike="noStrike" dirty="0">
                          <a:effectLst/>
                        </a:rPr>
                        <a:t>E-mail Siebel Mkt (mala direta).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89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relacionados aos relatórios do BI / Siebel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 relacionados aos relatórios do BI / Siebel.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5895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kern="1200" dirty="0">
                          <a:effectLst/>
                        </a:rPr>
                        <a:t>Página</a:t>
                      </a:r>
                      <a:r>
                        <a:rPr lang="pt-BR" sz="1000" u="none" strike="noStrike" dirty="0">
                          <a:effectLst/>
                        </a:rPr>
                        <a:t> não abre / não carrega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não carrega, Erros na página do 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7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SIEBEL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276006"/>
              </p:ext>
            </p:extLst>
          </p:nvPr>
        </p:nvGraphicFramePr>
        <p:xfrm>
          <a:off x="304103" y="1646854"/>
          <a:ext cx="9152718" cy="460799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571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novos relatórios do BI / Siebel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Criar novos relatórios do BI / Siebel.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</a:t>
                      </a:r>
                      <a:r>
                        <a:rPr lang="pt-BR" sz="1000" u="none" strike="noStrike" dirty="0" err="1">
                          <a:effectLst/>
                        </a:rPr>
                        <a:t>template</a:t>
                      </a:r>
                      <a:r>
                        <a:rPr lang="pt-BR" sz="1000" u="none" strike="noStrike" dirty="0">
                          <a:effectLst/>
                        </a:rPr>
                        <a:t> de e-mail.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de </a:t>
                      </a:r>
                      <a:r>
                        <a:rPr lang="pt-BR" sz="1000" u="none" strike="noStrike" dirty="0" err="1">
                          <a:effectLst/>
                        </a:rPr>
                        <a:t>template</a:t>
                      </a:r>
                      <a:r>
                        <a:rPr lang="pt-BR" sz="1000" u="none" strike="noStrike" dirty="0">
                          <a:effectLst/>
                        </a:rPr>
                        <a:t> de e-mail.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no Arquivo Contábil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abertura do arquivo ou inconsistência de informações.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no Arquivo de Faturamento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abertura do arquivo ou inconsistência de informações.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 no Arquivo de Vendas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abertura do arquivo ou inconsistência de informações.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Execução pontual do Arquivo Contábil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Necessidade de execução pontual fora da frequência estabelecida.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Execução pontual do Arquivo de Faturamento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Necessidade de execução pontual fora da frequência estabelecida.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Execução pontual do Arquivo de Vendas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Reportar a necessidade de execução pontual do Arquivo de Vendas, além da frequência pré-estabelecida (diária, mensal, etc.).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Informações para Auditoria Interna e Externa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Relatórios, evidências e interações junto a auditoria interna e externa.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836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Outras solicitações (Relatórios / Arquivos)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Caso não tenha encontrado a opção adequada a sua necessidade, utilizar esta categoria de abertura de seu chamado.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571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Cadastrar Novo Parceiro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Cadastrar novo parceiro no 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71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Cliente não consegue resgatar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Cliente não consegue resgatar no 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58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SITE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343070"/>
              </p:ext>
            </p:extLst>
          </p:nvPr>
        </p:nvGraphicFramePr>
        <p:xfrm>
          <a:off x="304103" y="1646854"/>
          <a:ext cx="9152718" cy="46297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039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Monitoração de shopping.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Monitoração de shopping.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159-Monitoração de Shopping.doc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4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Monitoração de promoção no gift nas redes sociais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Monitoração de promoção no </a:t>
                      </a:r>
                      <a:r>
                        <a:rPr lang="pt-BR" sz="1000" u="none" strike="noStrike" dirty="0" err="1">
                          <a:effectLst/>
                        </a:rPr>
                        <a:t>gift</a:t>
                      </a:r>
                      <a:r>
                        <a:rPr lang="pt-BR" sz="1000" u="none" strike="noStrike" dirty="0">
                          <a:effectLst/>
                        </a:rPr>
                        <a:t> no </a:t>
                      </a:r>
                      <a:r>
                        <a:rPr lang="pt-BR" sz="1000" u="none" strike="noStrike" dirty="0" err="1">
                          <a:effectLst/>
                        </a:rPr>
                        <a:t>facebook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160-Monitoração de promoção no gift nas redes sociais.doc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Monitoração do </a:t>
                      </a:r>
                      <a:r>
                        <a:rPr lang="pt-BR" sz="1000" u="none" strike="noStrike" dirty="0" err="1">
                          <a:effectLst/>
                        </a:rPr>
                        <a:t>club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Monitoração no </a:t>
                      </a:r>
                      <a:r>
                        <a:rPr lang="pt-BR" sz="1000" u="none" strike="noStrike" dirty="0" err="1">
                          <a:effectLst/>
                        </a:rPr>
                        <a:t>cub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161-Monitoração do clube smiles.doc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Monitoração de  venda de produtos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Monitoração de  venda de produtos.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162-Monitoração de  venda de produtos.doc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Shopping Smiles não abre para um único Cliente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Um único cliente com dificuldade/erro para abrir o 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163-Shopping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não abre para um único Cliente.doc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URA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URA.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Gateway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Gateway.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Cancelado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Cadastro </a:t>
                      </a:r>
                      <a:r>
                        <a:rPr lang="pt-BR" sz="1000" u="none" strike="noStrike" dirty="0" err="1">
                          <a:effectLst/>
                        </a:rPr>
                        <a:t>Clearsale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Cadastro não finalizado ou com divergência.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Alteração Cadastral Clearsale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Alteração Cadastral não efetivada com sucesso.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Reset de Senha Clearsale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Cliente não recebeu a senha,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Atendimento Online (Emilia) com alto volume de chamadas não logadas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Atendimento Online (Emília) com alto volume de chamadas não </a:t>
                      </a:r>
                      <a:r>
                        <a:rPr lang="pt-BR" sz="1000" u="none" strike="noStrike" dirty="0" err="1">
                          <a:effectLst/>
                        </a:rPr>
                        <a:t>logadas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Atendimento Online (Emilia) não abre ou com lentidão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Atendimento Online (Emília) não abre ou com lentidão.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0390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Crédito Retroativo está com erro para TODOS os Clientes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TODOS os clientes com problemas para solicitar seus créditos retroativos.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Suporte N2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0390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Crédito Retroativo está com erro para um único Cliente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Apenas um cliente com problemas para solicitar seus créditos retroativos.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36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SITE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612094"/>
              </p:ext>
            </p:extLst>
          </p:nvPr>
        </p:nvGraphicFramePr>
        <p:xfrm>
          <a:off x="304103" y="1646854"/>
          <a:ext cx="9152718" cy="4587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75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625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1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3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039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 err="1">
                          <a:effectLst/>
                        </a:rPr>
                        <a:t>Sub-título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Nível de Suporte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Erros relacionados aos Produtos Compra, Reativação, Transferência, Clube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Erros de site relacionados aos produtos (Compra, Reativação, Transferência, Clube Smiles), etc.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248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Falha de Login para TODOS os Clientes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TODOS os clientes com dificuldade para </a:t>
                      </a:r>
                      <a:r>
                        <a:rPr lang="pt-BR" sz="1000" u="none" strike="noStrike" dirty="0" err="1">
                          <a:effectLst/>
                        </a:rPr>
                        <a:t>logar</a:t>
                      </a:r>
                      <a:r>
                        <a:rPr lang="pt-BR" sz="1000" u="none" strike="noStrike" dirty="0">
                          <a:effectLst/>
                        </a:rPr>
                        <a:t> no site.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Falha de </a:t>
                      </a:r>
                      <a:r>
                        <a:rPr lang="pt-BR" sz="1000" u="none" strike="noStrike" dirty="0" err="1">
                          <a:effectLst/>
                        </a:rPr>
                        <a:t>Login</a:t>
                      </a:r>
                      <a:r>
                        <a:rPr lang="pt-BR" sz="1000" u="none" strike="noStrike" dirty="0">
                          <a:effectLst/>
                        </a:rPr>
                        <a:t> para um único Cliente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Um único cliente com dificuldade/erro para </a:t>
                      </a:r>
                      <a:r>
                        <a:rPr lang="pt-BR" sz="1000" u="none" strike="noStrike" dirty="0" err="1">
                          <a:effectLst/>
                        </a:rPr>
                        <a:t>logar</a:t>
                      </a:r>
                      <a:r>
                        <a:rPr lang="pt-BR" sz="1000" u="none" strike="noStrike" dirty="0">
                          <a:effectLst/>
                        </a:rPr>
                        <a:t> no site.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Processo de Emissão Congênere com erro em apenas um Trecho ou para um Cliente Específico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Referente a Busca de </a:t>
                      </a:r>
                      <a:r>
                        <a:rPr lang="pt-BR" sz="1000" u="none" strike="noStrike" dirty="0" err="1">
                          <a:effectLst/>
                        </a:rPr>
                        <a:t>Vôo</a:t>
                      </a:r>
                      <a:r>
                        <a:rPr lang="pt-BR" sz="1000" u="none" strike="noStrike" dirty="0">
                          <a:effectLst/>
                        </a:rPr>
                        <a:t>, Emissão, Pagamento,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Processo de Emissão Congênere com erro em TODOS os Trechos ou para TODOS os Clientes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Referente a Busca de </a:t>
                      </a:r>
                      <a:r>
                        <a:rPr lang="pt-BR" sz="1000" u="none" strike="noStrike" dirty="0" err="1">
                          <a:effectLst/>
                        </a:rPr>
                        <a:t>Vôo</a:t>
                      </a:r>
                      <a:r>
                        <a:rPr lang="pt-BR" sz="1000" u="none" strike="noStrike" dirty="0">
                          <a:effectLst/>
                        </a:rPr>
                        <a:t>, Emissão, Pagamento,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Processo de Emissão G3 com erro em apenas um Trecho ou para um Cliente Específico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Referente a Busca de </a:t>
                      </a:r>
                      <a:r>
                        <a:rPr lang="pt-BR" sz="1000" u="none" strike="noStrike" dirty="0" err="1">
                          <a:effectLst/>
                        </a:rPr>
                        <a:t>Vôo</a:t>
                      </a:r>
                      <a:r>
                        <a:rPr lang="pt-BR" sz="1000" u="none" strike="noStrike" dirty="0">
                          <a:effectLst/>
                        </a:rPr>
                        <a:t>, Emissão, Pagamento,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Processo de Emissão G3 com erro em TODOS os Trechos ou para TODOS os Clientes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Referente a Busca de </a:t>
                      </a:r>
                      <a:r>
                        <a:rPr lang="pt-BR" sz="1000" u="none" strike="noStrike" dirty="0" err="1">
                          <a:effectLst/>
                        </a:rPr>
                        <a:t>Vôo</a:t>
                      </a:r>
                      <a:r>
                        <a:rPr lang="pt-BR" sz="1000" u="none" strike="noStrike" dirty="0">
                          <a:effectLst/>
                        </a:rPr>
                        <a:t>, Emissão, Pagamento, etc.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Shopping Smiles não abre para TODOS os Clientes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TODOS os clientes com dificuldade para abrir o Shopping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Entrada de </a:t>
                      </a:r>
                      <a:r>
                        <a:rPr lang="pt-BR" sz="1000" u="none" strike="noStrike" dirty="0" err="1">
                          <a:effectLst/>
                        </a:rPr>
                        <a:t>sorry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page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Entrada de </a:t>
                      </a:r>
                      <a:r>
                        <a:rPr lang="pt-BR" sz="1000" u="none" strike="noStrike" dirty="0" err="1">
                          <a:effectLst/>
                        </a:rPr>
                        <a:t>sorry</a:t>
                      </a:r>
                      <a:r>
                        <a:rPr lang="pt-BR" sz="1000" u="none" strike="noStrike" dirty="0">
                          <a:effectLst/>
                        </a:rPr>
                        <a:t> </a:t>
                      </a:r>
                      <a:r>
                        <a:rPr lang="pt-BR" sz="1000" u="none" strike="noStrike" dirty="0" err="1">
                          <a:effectLst/>
                        </a:rPr>
                        <a:t>page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-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APP não abre / não loga para TODOS os Clientes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TODOS os clientes com dificuldade para abrir o APP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APP não abre / não loga para um único Cliente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Um único cliente com dificuldade/erro para abrir o APP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.</a:t>
                      </a:r>
                      <a:br>
                        <a:rPr lang="pt-BR" sz="1000" u="none" strike="noStrike" dirty="0">
                          <a:effectLst/>
                        </a:rPr>
                      </a:br>
                      <a:r>
                        <a:rPr lang="pt-BR" sz="1000" u="none" strike="noStrike" dirty="0">
                          <a:effectLst/>
                        </a:rPr>
                        <a:t/>
                      </a:r>
                      <a:br>
                        <a:rPr lang="pt-BR" sz="1000" u="none" strike="noStrike" dirty="0">
                          <a:effectLst/>
                        </a:rPr>
                      </a:b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041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URA de Atendimento não está autenticando para TODOS os clientes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Os clientes informam o número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ou CPF e a Senha, mas a autenticação não está sendo feita.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0390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>
                          <a:effectLst/>
                        </a:rPr>
                        <a:t>URA de Atendimento não está autenticando um único cliente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u="none" strike="noStrike" dirty="0">
                          <a:effectLst/>
                        </a:rPr>
                        <a:t>O cliente informa número </a:t>
                      </a:r>
                      <a:r>
                        <a:rPr lang="pt-BR" sz="1000" u="none" strike="noStrike" dirty="0" err="1">
                          <a:effectLst/>
                        </a:rPr>
                        <a:t>Smiles</a:t>
                      </a:r>
                      <a:r>
                        <a:rPr lang="pt-BR" sz="1000" u="none" strike="noStrike" dirty="0">
                          <a:effectLst/>
                        </a:rPr>
                        <a:t> ou CPF e a Senha, mas a autenticação não está sendo feita.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>
                          <a:effectLst/>
                        </a:rPr>
                        <a:t>Suporte N2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u="none" strike="noStrike" dirty="0">
                          <a:effectLst/>
                        </a:rPr>
                        <a:t>-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03906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8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VALIDAÇÕES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l="20824" t="7943" r="5930" b="15477"/>
          <a:stretch/>
        </p:blipFill>
        <p:spPr>
          <a:xfrm>
            <a:off x="384313" y="1519230"/>
            <a:ext cx="7505596" cy="476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2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VALIDAÇÕES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0758" t="8149" r="5677" b="57380"/>
          <a:stretch/>
        </p:blipFill>
        <p:spPr>
          <a:xfrm>
            <a:off x="304103" y="1554992"/>
            <a:ext cx="8969458" cy="255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4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VALIDAÇÕES</a:t>
            </a:r>
            <a:endParaRPr lang="pt-BR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N1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1134" t="8562" r="4047" b="20844"/>
          <a:stretch/>
        </p:blipFill>
        <p:spPr>
          <a:xfrm>
            <a:off x="368272" y="1501184"/>
            <a:ext cx="8216798" cy="470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2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881856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/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</p:txBody>
      </p:sp>
    </p:spTree>
    <p:extLst>
      <p:ext uri="{BB962C8B-B14F-4D97-AF65-F5344CB8AC3E}">
        <p14:creationId xmlns:p14="http://schemas.microsoft.com/office/powerpoint/2010/main" val="140863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3395</TotalTime>
  <Words>4731</Words>
  <Application>Microsoft Office PowerPoint</Application>
  <PresentationFormat>Personalizar</PresentationFormat>
  <Paragraphs>1103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7" baseType="lpstr">
      <vt:lpstr>Arial</vt:lpstr>
      <vt:lpstr>Calibri</vt:lpstr>
      <vt:lpstr>Gill Sans</vt:lpstr>
      <vt:lpstr>Gotham Rounded Book</vt:lpstr>
      <vt:lpstr>Helvetica</vt:lpstr>
      <vt:lpstr>Segoe UI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Luiz Rabello</cp:lastModifiedBy>
  <cp:revision>15</cp:revision>
  <dcterms:created xsi:type="dcterms:W3CDTF">2014-01-24T21:35:00Z</dcterms:created>
  <dcterms:modified xsi:type="dcterms:W3CDTF">2016-08-08T15:04:04Z</dcterms:modified>
</cp:coreProperties>
</file>