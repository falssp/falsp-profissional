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B6CA1-3E5E-42D9-A52A-F5030872B241}" type="datetimeFigureOut">
              <a:rPr lang="en-US" smtClean="0"/>
              <a:t>8/10/2016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1C6C9-FF09-4D08-AFCC-D11EF49AB6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89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B6CA1-3E5E-42D9-A52A-F5030872B241}" type="datetimeFigureOut">
              <a:rPr lang="en-US" smtClean="0"/>
              <a:t>8/10/2016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1C6C9-FF09-4D08-AFCC-D11EF49AB6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492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B6CA1-3E5E-42D9-A52A-F5030872B241}" type="datetimeFigureOut">
              <a:rPr lang="en-US" smtClean="0"/>
              <a:t>8/10/2016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1C6C9-FF09-4D08-AFCC-D11EF49AB6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851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B6CA1-3E5E-42D9-A52A-F5030872B241}" type="datetimeFigureOut">
              <a:rPr lang="en-US" smtClean="0"/>
              <a:t>8/10/2016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1C6C9-FF09-4D08-AFCC-D11EF49AB6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945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B6CA1-3E5E-42D9-A52A-F5030872B241}" type="datetimeFigureOut">
              <a:rPr lang="en-US" smtClean="0"/>
              <a:t>8/10/2016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1C6C9-FF09-4D08-AFCC-D11EF49AB6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472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B6CA1-3E5E-42D9-A52A-F5030872B241}" type="datetimeFigureOut">
              <a:rPr lang="en-US" smtClean="0"/>
              <a:t>8/10/2016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1C6C9-FF09-4D08-AFCC-D11EF49AB6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005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B6CA1-3E5E-42D9-A52A-F5030872B241}" type="datetimeFigureOut">
              <a:rPr lang="en-US" smtClean="0"/>
              <a:t>8/10/2016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1C6C9-FF09-4D08-AFCC-D11EF49AB6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120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B6CA1-3E5E-42D9-A52A-F5030872B241}" type="datetimeFigureOut">
              <a:rPr lang="en-US" smtClean="0"/>
              <a:t>8/10/2016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1C6C9-FF09-4D08-AFCC-D11EF49AB6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20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B6CA1-3E5E-42D9-A52A-F5030872B241}" type="datetimeFigureOut">
              <a:rPr lang="en-US" smtClean="0"/>
              <a:t>8/10/2016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1C6C9-FF09-4D08-AFCC-D11EF49AB6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591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B6CA1-3E5E-42D9-A52A-F5030872B241}" type="datetimeFigureOut">
              <a:rPr lang="en-US" smtClean="0"/>
              <a:t>8/10/2016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1C6C9-FF09-4D08-AFCC-D11EF49AB6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591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B6CA1-3E5E-42D9-A52A-F5030872B241}" type="datetimeFigureOut">
              <a:rPr lang="en-US" smtClean="0"/>
              <a:t>8/10/2016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1C6C9-FF09-4D08-AFCC-D11EF49AB6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91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B6CA1-3E5E-42D9-A52A-F5030872B241}" type="datetimeFigureOut">
              <a:rPr lang="en-US" smtClean="0"/>
              <a:t>8/10/2016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B1C6C9-FF09-4D08-AFCC-D11EF49AB6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488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0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5.png"/><Relationship Id="rId7" Type="http://schemas.openxmlformats.org/officeDocument/2006/relationships/image" Target="../media/image35.png"/><Relationship Id="rId12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39.png"/><Relationship Id="rId5" Type="http://schemas.openxmlformats.org/officeDocument/2006/relationships/image" Target="../media/image3.png"/><Relationship Id="rId10" Type="http://schemas.openxmlformats.org/officeDocument/2006/relationships/image" Target="../media/image38.png"/><Relationship Id="rId4" Type="http://schemas.openxmlformats.org/officeDocument/2006/relationships/image" Target="../media/image26.png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 smtClean="0"/>
              <a:t>O que é o </a:t>
            </a:r>
            <a:r>
              <a:rPr lang="pt-BR" b="1" dirty="0" err="1" smtClean="0"/>
              <a:t>Onedrive</a:t>
            </a:r>
            <a:r>
              <a:rPr lang="pt-BR" b="1" dirty="0" smtClean="0"/>
              <a:t>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3745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402" y="1778492"/>
            <a:ext cx="3762375" cy="2914650"/>
          </a:xfrm>
          <a:prstGeom prst="rect">
            <a:avLst/>
          </a:prstGeom>
        </p:spPr>
      </p:pic>
      <p:pic>
        <p:nvPicPr>
          <p:cNvPr id="50" name="Imagem 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369" y="4388507"/>
            <a:ext cx="354185" cy="1406323"/>
          </a:xfrm>
          <a:prstGeom prst="rect">
            <a:avLst/>
          </a:prstGeom>
        </p:spPr>
      </p:pic>
      <p:pic>
        <p:nvPicPr>
          <p:cNvPr id="51" name="Imagem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680898" y="4348714"/>
            <a:ext cx="354185" cy="1406323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923503" y="3181082"/>
            <a:ext cx="20799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 smtClean="0"/>
              <a:t>Como Um </a:t>
            </a:r>
            <a:r>
              <a:rPr lang="pt-BR" b="1" dirty="0" err="1" smtClean="0"/>
              <a:t>Pendrive</a:t>
            </a:r>
            <a:r>
              <a:rPr lang="pt-BR" b="1" dirty="0" smtClean="0"/>
              <a:t> </a:t>
            </a:r>
          </a:p>
          <a:p>
            <a:pPr algn="ctr"/>
            <a:r>
              <a:rPr lang="pt-BR" b="1" dirty="0" smtClean="0"/>
              <a:t>Na nuvem</a:t>
            </a:r>
            <a:endParaRPr lang="en-US" b="1" dirty="0"/>
          </a:p>
        </p:txBody>
      </p:sp>
      <p:sp>
        <p:nvSpPr>
          <p:cNvPr id="7" name="CaixaDeTexto 6"/>
          <p:cNvSpPr txBox="1"/>
          <p:nvPr/>
        </p:nvSpPr>
        <p:spPr>
          <a:xfrm>
            <a:off x="-1473" y="2818327"/>
            <a:ext cx="23619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 smtClean="0"/>
              <a:t>Pode armazenar coisas</a:t>
            </a:r>
          </a:p>
          <a:p>
            <a:pPr algn="ctr"/>
            <a:r>
              <a:rPr lang="pt-BR" b="1" dirty="0" smtClean="0"/>
              <a:t>Como quiser...</a:t>
            </a:r>
            <a:endParaRPr lang="en-US" b="1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4105" y="469610"/>
            <a:ext cx="1504950" cy="1076325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6984" y="138648"/>
            <a:ext cx="1000125" cy="117157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5094" y="539637"/>
            <a:ext cx="923925" cy="962025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3353" y="1312169"/>
            <a:ext cx="733425" cy="704850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8904" y="1139109"/>
            <a:ext cx="390525" cy="819150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74421" y="1455782"/>
            <a:ext cx="581025" cy="752475"/>
          </a:xfrm>
          <a:prstGeom prst="rect">
            <a:avLst/>
          </a:prstGeom>
        </p:spPr>
      </p:pic>
      <p:sp>
        <p:nvSpPr>
          <p:cNvPr id="14" name="CaixaDeTexto 13"/>
          <p:cNvSpPr txBox="1"/>
          <p:nvPr/>
        </p:nvSpPr>
        <p:spPr>
          <a:xfrm rot="20388185">
            <a:off x="1702614" y="382073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 smtClean="0"/>
              <a:t>PASTAS</a:t>
            </a:r>
            <a:endParaRPr lang="en-US" sz="1200" b="1" dirty="0"/>
          </a:p>
        </p:txBody>
      </p:sp>
      <p:sp>
        <p:nvSpPr>
          <p:cNvPr id="15" name="CaixaDeTexto 14"/>
          <p:cNvSpPr txBox="1"/>
          <p:nvPr/>
        </p:nvSpPr>
        <p:spPr>
          <a:xfrm rot="21079820">
            <a:off x="3430932" y="54496"/>
            <a:ext cx="1129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 smtClean="0"/>
              <a:t>DOCUMENTOS</a:t>
            </a:r>
            <a:endParaRPr lang="en-US" sz="1200" b="1" dirty="0"/>
          </a:p>
        </p:txBody>
      </p:sp>
      <p:sp>
        <p:nvSpPr>
          <p:cNvPr id="16" name="CaixaDeTexto 15"/>
          <p:cNvSpPr txBox="1"/>
          <p:nvPr/>
        </p:nvSpPr>
        <p:spPr>
          <a:xfrm rot="801430">
            <a:off x="5702803" y="444320"/>
            <a:ext cx="6040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 smtClean="0"/>
              <a:t>FOTOS</a:t>
            </a:r>
            <a:endParaRPr lang="en-US" sz="1200" b="1" dirty="0"/>
          </a:p>
        </p:txBody>
      </p:sp>
      <p:sp>
        <p:nvSpPr>
          <p:cNvPr id="19" name="CaixaDeTexto 18"/>
          <p:cNvSpPr txBox="1"/>
          <p:nvPr/>
        </p:nvSpPr>
        <p:spPr>
          <a:xfrm>
            <a:off x="4224015" y="4898266"/>
            <a:ext cx="672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 smtClean="0"/>
              <a:t>COPIAR</a:t>
            </a:r>
            <a:endParaRPr lang="en-US" sz="1200" b="1" dirty="0"/>
          </a:p>
        </p:txBody>
      </p:sp>
      <p:pic>
        <p:nvPicPr>
          <p:cNvPr id="20" name="Imagem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192862">
            <a:off x="3598020" y="5686517"/>
            <a:ext cx="994491" cy="711250"/>
          </a:xfrm>
          <a:prstGeom prst="rect">
            <a:avLst/>
          </a:prstGeom>
        </p:spPr>
      </p:pic>
      <p:sp>
        <p:nvSpPr>
          <p:cNvPr id="21" name="CaixaDeTexto 20"/>
          <p:cNvSpPr txBox="1"/>
          <p:nvPr/>
        </p:nvSpPr>
        <p:spPr>
          <a:xfrm>
            <a:off x="3825481" y="6329968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 smtClean="0"/>
              <a:t>PASTAS</a:t>
            </a:r>
          </a:p>
          <a:p>
            <a:pPr algn="ctr"/>
            <a:r>
              <a:rPr lang="pt-BR" sz="1200" b="1" dirty="0" smtClean="0"/>
              <a:t>LOCAIS</a:t>
            </a:r>
            <a:endParaRPr lang="en-US" sz="1200" b="1" dirty="0"/>
          </a:p>
        </p:txBody>
      </p:sp>
      <p:pic>
        <p:nvPicPr>
          <p:cNvPr id="22" name="Imagem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95256" y="5790866"/>
            <a:ext cx="1162050" cy="942975"/>
          </a:xfrm>
          <a:prstGeom prst="rect">
            <a:avLst/>
          </a:prstGeom>
        </p:spPr>
      </p:pic>
      <p:sp>
        <p:nvSpPr>
          <p:cNvPr id="23" name="CaixaDeTexto 22"/>
          <p:cNvSpPr txBox="1"/>
          <p:nvPr/>
        </p:nvSpPr>
        <p:spPr>
          <a:xfrm>
            <a:off x="1325819" y="6123907"/>
            <a:ext cx="857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 err="1" smtClean="0"/>
              <a:t>Client</a:t>
            </a:r>
            <a:r>
              <a:rPr lang="pt-BR" sz="1200" b="1" dirty="0" smtClean="0"/>
              <a:t> do </a:t>
            </a:r>
          </a:p>
          <a:p>
            <a:pPr algn="ctr"/>
            <a:r>
              <a:rPr lang="pt-BR" sz="1200" b="1" dirty="0" smtClean="0"/>
              <a:t>ONEDRIVE</a:t>
            </a:r>
            <a:endParaRPr lang="en-US" sz="1200" b="1" dirty="0"/>
          </a:p>
        </p:txBody>
      </p:sp>
      <p:sp>
        <p:nvSpPr>
          <p:cNvPr id="24" name="CaixaDeTexto 23"/>
          <p:cNvSpPr txBox="1"/>
          <p:nvPr/>
        </p:nvSpPr>
        <p:spPr>
          <a:xfrm>
            <a:off x="3017382" y="4256467"/>
            <a:ext cx="1724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 smtClean="0"/>
              <a:t>HTTP://ONEDRIVE.COM</a:t>
            </a:r>
            <a:endParaRPr lang="en-US" sz="1200" b="1" dirty="0"/>
          </a:p>
        </p:txBody>
      </p:sp>
      <p:sp>
        <p:nvSpPr>
          <p:cNvPr id="27" name="CaixaDeTexto 26"/>
          <p:cNvSpPr txBox="1"/>
          <p:nvPr/>
        </p:nvSpPr>
        <p:spPr>
          <a:xfrm>
            <a:off x="2040872" y="4887532"/>
            <a:ext cx="169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 smtClean="0"/>
              <a:t>Sincroniza as alterações</a:t>
            </a:r>
          </a:p>
          <a:p>
            <a:pPr algn="ctr"/>
            <a:r>
              <a:rPr lang="pt-BR" sz="1200" b="1" dirty="0" smtClean="0"/>
              <a:t>bidireccionalmente</a:t>
            </a:r>
            <a:endParaRPr lang="en-US" sz="1200" b="1" dirty="0"/>
          </a:p>
        </p:txBody>
      </p:sp>
      <p:pic>
        <p:nvPicPr>
          <p:cNvPr id="28" name="Imagem 2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09944" y="2674713"/>
            <a:ext cx="2047875" cy="1019175"/>
          </a:xfrm>
          <a:prstGeom prst="rect">
            <a:avLst/>
          </a:prstGeom>
        </p:spPr>
      </p:pic>
      <p:sp>
        <p:nvSpPr>
          <p:cNvPr id="29" name="CaixaDeTexto 28"/>
          <p:cNvSpPr txBox="1"/>
          <p:nvPr/>
        </p:nvSpPr>
        <p:spPr>
          <a:xfrm>
            <a:off x="5901418" y="3561008"/>
            <a:ext cx="1005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 smtClean="0"/>
              <a:t>Mais sobre o</a:t>
            </a:r>
          </a:p>
          <a:p>
            <a:pPr algn="ctr"/>
            <a:r>
              <a:rPr lang="pt-BR" sz="1200" b="1" dirty="0" smtClean="0"/>
              <a:t>ONEDRIVE...</a:t>
            </a:r>
            <a:endParaRPr lang="en-US" sz="1200" b="1" dirty="0"/>
          </a:p>
        </p:txBody>
      </p:sp>
      <p:grpSp>
        <p:nvGrpSpPr>
          <p:cNvPr id="42" name="Grupo 41"/>
          <p:cNvGrpSpPr/>
          <p:nvPr/>
        </p:nvGrpSpPr>
        <p:grpSpPr>
          <a:xfrm>
            <a:off x="7191441" y="309093"/>
            <a:ext cx="1125501" cy="1740966"/>
            <a:chOff x="7191441" y="309093"/>
            <a:chExt cx="1125501" cy="1740966"/>
          </a:xfrm>
        </p:grpSpPr>
        <p:pic>
          <p:nvPicPr>
            <p:cNvPr id="30" name="Imagem 29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336865" y="309093"/>
              <a:ext cx="866775" cy="1371600"/>
            </a:xfrm>
            <a:prstGeom prst="rect">
              <a:avLst/>
            </a:prstGeom>
          </p:spPr>
        </p:pic>
        <p:sp>
          <p:nvSpPr>
            <p:cNvPr id="31" name="CaixaDeTexto 30"/>
            <p:cNvSpPr txBox="1"/>
            <p:nvPr/>
          </p:nvSpPr>
          <p:spPr>
            <a:xfrm>
              <a:off x="7191441" y="1588394"/>
              <a:ext cx="11255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200" b="1" dirty="0" smtClean="0"/>
                <a:t>Destinado aos </a:t>
              </a:r>
            </a:p>
            <a:p>
              <a:pPr algn="ctr"/>
              <a:r>
                <a:rPr lang="pt-BR" sz="1200" b="1" dirty="0" smtClean="0"/>
                <a:t>consumidores</a:t>
              </a:r>
              <a:endParaRPr lang="en-US" sz="1200" b="1" dirty="0"/>
            </a:p>
          </p:txBody>
        </p:sp>
      </p:grpSp>
      <p:grpSp>
        <p:nvGrpSpPr>
          <p:cNvPr id="43" name="Grupo 42"/>
          <p:cNvGrpSpPr/>
          <p:nvPr/>
        </p:nvGrpSpPr>
        <p:grpSpPr>
          <a:xfrm>
            <a:off x="8752820" y="917686"/>
            <a:ext cx="1604542" cy="1065832"/>
            <a:chOff x="8752820" y="917686"/>
            <a:chExt cx="1604542" cy="1065832"/>
          </a:xfrm>
        </p:grpSpPr>
        <p:pic>
          <p:nvPicPr>
            <p:cNvPr id="32" name="Imagem 31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849731" y="917686"/>
              <a:ext cx="1266825" cy="695325"/>
            </a:xfrm>
            <a:prstGeom prst="rect">
              <a:avLst/>
            </a:prstGeom>
          </p:spPr>
        </p:pic>
        <p:sp>
          <p:nvSpPr>
            <p:cNvPr id="33" name="CaixaDeTexto 32"/>
            <p:cNvSpPr txBox="1"/>
            <p:nvPr/>
          </p:nvSpPr>
          <p:spPr>
            <a:xfrm>
              <a:off x="8752820" y="1521853"/>
              <a:ext cx="16045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200" b="1" dirty="0" smtClean="0"/>
                <a:t>Você pode armazenar </a:t>
              </a:r>
            </a:p>
            <a:p>
              <a:pPr algn="ctr"/>
              <a:r>
                <a:rPr lang="pt-BR" sz="1200" b="1" dirty="0" smtClean="0"/>
                <a:t>7 GB FREE</a:t>
              </a:r>
              <a:endParaRPr lang="en-US" sz="1200" b="1" dirty="0"/>
            </a:p>
          </p:txBody>
        </p:sp>
      </p:grpSp>
      <p:grpSp>
        <p:nvGrpSpPr>
          <p:cNvPr id="44" name="Grupo 43"/>
          <p:cNvGrpSpPr/>
          <p:nvPr/>
        </p:nvGrpSpPr>
        <p:grpSpPr>
          <a:xfrm>
            <a:off x="10676265" y="885221"/>
            <a:ext cx="1426929" cy="1121908"/>
            <a:chOff x="10676265" y="885221"/>
            <a:chExt cx="1426929" cy="1121908"/>
          </a:xfrm>
        </p:grpSpPr>
        <p:pic>
          <p:nvPicPr>
            <p:cNvPr id="34" name="Imagem 33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898679" y="885221"/>
              <a:ext cx="981075" cy="657225"/>
            </a:xfrm>
            <a:prstGeom prst="rect">
              <a:avLst/>
            </a:prstGeom>
          </p:spPr>
        </p:pic>
        <p:sp>
          <p:nvSpPr>
            <p:cNvPr id="35" name="CaixaDeTexto 34"/>
            <p:cNvSpPr txBox="1"/>
            <p:nvPr/>
          </p:nvSpPr>
          <p:spPr>
            <a:xfrm>
              <a:off x="10676265" y="1545464"/>
              <a:ext cx="14269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200" b="1" dirty="0" smtClean="0"/>
                <a:t>Você pode comprar</a:t>
              </a:r>
            </a:p>
            <a:p>
              <a:pPr algn="ctr"/>
              <a:r>
                <a:rPr lang="pt-BR" sz="1200" b="1" dirty="0"/>
                <a:t>e</a:t>
              </a:r>
              <a:r>
                <a:rPr lang="pt-BR" sz="1200" b="1" dirty="0" smtClean="0"/>
                <a:t>spaço adicional</a:t>
              </a:r>
            </a:p>
          </p:txBody>
        </p:sp>
      </p:grpSp>
      <p:grpSp>
        <p:nvGrpSpPr>
          <p:cNvPr id="45" name="Grupo 44"/>
          <p:cNvGrpSpPr/>
          <p:nvPr/>
        </p:nvGrpSpPr>
        <p:grpSpPr>
          <a:xfrm>
            <a:off x="6919050" y="3603200"/>
            <a:ext cx="1614481" cy="1342459"/>
            <a:chOff x="6919050" y="3603200"/>
            <a:chExt cx="1614481" cy="1342459"/>
          </a:xfrm>
        </p:grpSpPr>
        <p:pic>
          <p:nvPicPr>
            <p:cNvPr id="36" name="Imagem 35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205797" y="3603200"/>
              <a:ext cx="1000125" cy="733425"/>
            </a:xfrm>
            <a:prstGeom prst="rect">
              <a:avLst/>
            </a:prstGeom>
          </p:spPr>
        </p:pic>
        <p:sp>
          <p:nvSpPr>
            <p:cNvPr id="37" name="CaixaDeTexto 36"/>
            <p:cNvSpPr txBox="1"/>
            <p:nvPr/>
          </p:nvSpPr>
          <p:spPr>
            <a:xfrm>
              <a:off x="6919050" y="4483994"/>
              <a:ext cx="16144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200" b="1" dirty="0" smtClean="0"/>
                <a:t>Pode facilmente</a:t>
              </a:r>
            </a:p>
            <a:p>
              <a:pPr algn="ctr"/>
              <a:r>
                <a:rPr lang="pt-BR" sz="1200" b="1" dirty="0" smtClean="0"/>
                <a:t>Compartilhar arquivos</a:t>
              </a:r>
              <a:endParaRPr lang="en-US" sz="1200" b="1" dirty="0"/>
            </a:p>
          </p:txBody>
        </p:sp>
      </p:grpSp>
      <p:grpSp>
        <p:nvGrpSpPr>
          <p:cNvPr id="46" name="Grupo 45"/>
          <p:cNvGrpSpPr/>
          <p:nvPr/>
        </p:nvGrpSpPr>
        <p:grpSpPr>
          <a:xfrm>
            <a:off x="8670786" y="3295717"/>
            <a:ext cx="2021900" cy="1780947"/>
            <a:chOff x="8670786" y="3295717"/>
            <a:chExt cx="2021900" cy="1780947"/>
          </a:xfrm>
        </p:grpSpPr>
        <p:pic>
          <p:nvPicPr>
            <p:cNvPr id="38" name="Imagem 37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9153323" y="3295717"/>
              <a:ext cx="942975" cy="962025"/>
            </a:xfrm>
            <a:prstGeom prst="rect">
              <a:avLst/>
            </a:prstGeom>
          </p:spPr>
        </p:pic>
        <p:sp>
          <p:nvSpPr>
            <p:cNvPr id="39" name="CaixaDeTexto 38"/>
            <p:cNvSpPr txBox="1"/>
            <p:nvPr/>
          </p:nvSpPr>
          <p:spPr>
            <a:xfrm>
              <a:off x="8670786" y="4430333"/>
              <a:ext cx="202190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200" b="1" dirty="0" smtClean="0"/>
                <a:t>Pode usar o ONEDRIVE</a:t>
              </a:r>
            </a:p>
            <a:p>
              <a:pPr algn="ctr"/>
              <a:r>
                <a:rPr lang="pt-BR" sz="1200" b="1" dirty="0" smtClean="0"/>
                <a:t>APP em qualquer dispositivo</a:t>
              </a:r>
              <a:br>
                <a:rPr lang="pt-BR" sz="1200" b="1" dirty="0" smtClean="0"/>
              </a:br>
              <a:r>
                <a:rPr lang="pt-BR" sz="1200" b="1" dirty="0" smtClean="0"/>
                <a:t>móvel</a:t>
              </a:r>
              <a:endParaRPr lang="en-US" sz="1200" b="1" dirty="0"/>
            </a:p>
          </p:txBody>
        </p:sp>
      </p:grpSp>
      <p:grpSp>
        <p:nvGrpSpPr>
          <p:cNvPr id="47" name="Grupo 46"/>
          <p:cNvGrpSpPr/>
          <p:nvPr/>
        </p:nvGrpSpPr>
        <p:grpSpPr>
          <a:xfrm>
            <a:off x="10853492" y="3520628"/>
            <a:ext cx="1338508" cy="1712798"/>
            <a:chOff x="10853492" y="3520628"/>
            <a:chExt cx="1338508" cy="1712798"/>
          </a:xfrm>
        </p:grpSpPr>
        <p:pic>
          <p:nvPicPr>
            <p:cNvPr id="40" name="Imagem 39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1030286" y="3520628"/>
              <a:ext cx="923925" cy="666750"/>
            </a:xfrm>
            <a:prstGeom prst="rect">
              <a:avLst/>
            </a:prstGeom>
          </p:spPr>
        </p:pic>
        <p:sp>
          <p:nvSpPr>
            <p:cNvPr id="41" name="CaixaDeTexto 40"/>
            <p:cNvSpPr txBox="1"/>
            <p:nvPr/>
          </p:nvSpPr>
          <p:spPr>
            <a:xfrm>
              <a:off x="10853492" y="4402429"/>
              <a:ext cx="133850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200" b="1" dirty="0" smtClean="0"/>
                <a:t>Pode escolher as</a:t>
              </a:r>
            </a:p>
            <a:p>
              <a:pPr algn="ctr"/>
              <a:r>
                <a:rPr lang="pt-BR" sz="1200" b="1" dirty="0" smtClean="0"/>
                <a:t>pastas para serem</a:t>
              </a:r>
            </a:p>
            <a:p>
              <a:pPr algn="ctr"/>
              <a:r>
                <a:rPr lang="pt-BR" sz="1200" b="1" dirty="0" smtClean="0"/>
                <a:t>Sincronizadas</a:t>
              </a:r>
            </a:p>
            <a:p>
              <a:pPr algn="ctr"/>
              <a:r>
                <a:rPr lang="pt-BR" sz="1200" b="1" dirty="0" smtClean="0"/>
                <a:t>localmente</a:t>
              </a:r>
              <a:endParaRPr 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592153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2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50"/>
                            </p:stCondLst>
                            <p:childTnLst>
                              <p:par>
                                <p:cTn id="28" presetID="16" presetClass="entr" presetSubtype="2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16" presetClass="entr" presetSubtype="2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75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250"/>
                            </p:stCondLst>
                            <p:childTnLst>
                              <p:par>
                                <p:cTn id="44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7000"/>
                            </p:stCondLst>
                            <p:childTnLst>
                              <p:par>
                                <p:cTn id="48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750"/>
                            </p:stCondLst>
                            <p:childTnLst>
                              <p:par>
                                <p:cTn id="52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8500"/>
                            </p:stCondLst>
                            <p:childTnLst>
                              <p:par>
                                <p:cTn id="56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0"/>
                            </p:stCondLst>
                            <p:childTnLst>
                              <p:par>
                                <p:cTn id="6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5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20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3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4000"/>
                            </p:stCondLst>
                            <p:childTnLst>
                              <p:par>
                                <p:cTn id="7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000"/>
                            </p:stCondLst>
                            <p:childTnLst>
                              <p:par>
                                <p:cTn id="83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5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6500"/>
                            </p:stCondLst>
                            <p:childTnLst>
                              <p:par>
                                <p:cTn id="8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7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8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7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2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7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2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7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2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4" grpId="0"/>
      <p:bldP spid="15" grpId="0"/>
      <p:bldP spid="16" grpId="0"/>
      <p:bldP spid="19" grpId="0"/>
      <p:bldP spid="21" grpId="0"/>
      <p:bldP spid="23" grpId="0"/>
      <p:bldP spid="24" grpId="0"/>
      <p:bldP spid="27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1562636" y="1856459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b="1" dirty="0" smtClean="0"/>
              <a:t>Então qual é a diferença do ONEDRIVE FOR BUSINESS?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78554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501" y="2525531"/>
            <a:ext cx="2524125" cy="1781175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2005398" y="3054435"/>
            <a:ext cx="15392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 smtClean="0"/>
              <a:t>SHAREPOINT ONLINE</a:t>
            </a:r>
            <a:endParaRPr lang="en-US" sz="1200" b="1" dirty="0"/>
          </a:p>
        </p:txBody>
      </p:sp>
      <p:sp>
        <p:nvSpPr>
          <p:cNvPr id="6" name="CaixaDeTexto 5"/>
          <p:cNvSpPr txBox="1"/>
          <p:nvPr/>
        </p:nvSpPr>
        <p:spPr>
          <a:xfrm>
            <a:off x="605311" y="1596978"/>
            <a:ext cx="44638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 smtClean="0"/>
              <a:t>ONEDRIVE FOR BUSINESS também armazena</a:t>
            </a:r>
          </a:p>
          <a:p>
            <a:pPr algn="ctr"/>
            <a:r>
              <a:rPr lang="pt-BR" b="1" dirty="0" smtClean="0"/>
              <a:t>dados na nuvem, mas agora no...</a:t>
            </a:r>
            <a:endParaRPr lang="en-US" b="1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87364">
            <a:off x="3977362" y="2571680"/>
            <a:ext cx="2047875" cy="1019175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 rot="20684358">
            <a:off x="4211412" y="3322747"/>
            <a:ext cx="17850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 smtClean="0"/>
              <a:t>Que faz parte de um </a:t>
            </a:r>
          </a:p>
          <a:p>
            <a:pPr algn="ctr"/>
            <a:r>
              <a:rPr lang="pt-BR" sz="1200" b="1" dirty="0" smtClean="0"/>
              <a:t>grande serviço de nuvem</a:t>
            </a:r>
            <a:br>
              <a:rPr lang="pt-BR" sz="1200" b="1" dirty="0" smtClean="0"/>
            </a:br>
            <a:r>
              <a:rPr lang="pt-BR" sz="1200" b="1" dirty="0" smtClean="0"/>
              <a:t>chamado...</a:t>
            </a:r>
            <a:endParaRPr lang="en-US" sz="1200" b="1" dirty="0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976" y="141732"/>
            <a:ext cx="5067300" cy="3895725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7992373" y="12879"/>
            <a:ext cx="1293295" cy="375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/>
              <a:t>OFFICE 365</a:t>
            </a:r>
            <a:endParaRPr lang="en-US" b="1" dirty="0"/>
          </a:p>
        </p:txBody>
      </p:sp>
      <p:sp>
        <p:nvSpPr>
          <p:cNvPr id="11" name="CaixaDeTexto 10"/>
          <p:cNvSpPr txBox="1"/>
          <p:nvPr/>
        </p:nvSpPr>
        <p:spPr>
          <a:xfrm rot="1843348">
            <a:off x="10086867" y="590280"/>
            <a:ext cx="1620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 smtClean="0"/>
              <a:t>Que se destina ao uso </a:t>
            </a:r>
          </a:p>
          <a:p>
            <a:pPr algn="ctr"/>
            <a:r>
              <a:rPr lang="pt-BR" sz="1200" b="1" dirty="0" smtClean="0"/>
              <a:t>Comercial e consiste </a:t>
            </a:r>
          </a:p>
          <a:p>
            <a:pPr algn="ctr"/>
            <a:r>
              <a:rPr lang="pt-BR" sz="1200" b="1" dirty="0" smtClean="0"/>
              <a:t>em...</a:t>
            </a:r>
            <a:endParaRPr lang="en-US" sz="1200" b="1" dirty="0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6567" y="1025175"/>
            <a:ext cx="2249512" cy="2206114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5446" y="1506826"/>
            <a:ext cx="570548" cy="727656"/>
          </a:xfrm>
          <a:prstGeom prst="rect">
            <a:avLst/>
          </a:prstGeom>
        </p:spPr>
      </p:pic>
      <p:sp>
        <p:nvSpPr>
          <p:cNvPr id="15" name="CaixaDeTexto 14"/>
          <p:cNvSpPr txBox="1"/>
          <p:nvPr/>
        </p:nvSpPr>
        <p:spPr>
          <a:xfrm>
            <a:off x="9378320" y="1412381"/>
            <a:ext cx="1050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 smtClean="0"/>
              <a:t>SHAREPOINT </a:t>
            </a:r>
          </a:p>
          <a:p>
            <a:pPr algn="ctr"/>
            <a:r>
              <a:rPr lang="pt-BR" sz="1200" b="1" dirty="0" smtClean="0"/>
              <a:t>ONLINE</a:t>
            </a:r>
            <a:endParaRPr lang="en-US" sz="1200" b="1" dirty="0"/>
          </a:p>
        </p:txBody>
      </p:sp>
      <p:pic>
        <p:nvPicPr>
          <p:cNvPr id="16" name="Imagem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8081" y="1481069"/>
            <a:ext cx="579204" cy="444322"/>
          </a:xfrm>
          <a:prstGeom prst="rect">
            <a:avLst/>
          </a:prstGeom>
        </p:spPr>
      </p:pic>
      <p:sp>
        <p:nvSpPr>
          <p:cNvPr id="17" name="CaixaDeTexto 16"/>
          <p:cNvSpPr txBox="1"/>
          <p:nvPr/>
        </p:nvSpPr>
        <p:spPr>
          <a:xfrm>
            <a:off x="6611922" y="1294324"/>
            <a:ext cx="886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 smtClean="0"/>
              <a:t>EXCHANGE</a:t>
            </a:r>
          </a:p>
          <a:p>
            <a:pPr algn="ctr"/>
            <a:r>
              <a:rPr lang="pt-BR" sz="1200" b="1" dirty="0" smtClean="0"/>
              <a:t>ONLINE</a:t>
            </a:r>
            <a:endParaRPr lang="en-US" sz="1200" b="1" dirty="0"/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4145" y="2202397"/>
            <a:ext cx="394952" cy="469856"/>
          </a:xfrm>
          <a:prstGeom prst="rect">
            <a:avLst/>
          </a:prstGeom>
        </p:spPr>
      </p:pic>
      <p:sp>
        <p:nvSpPr>
          <p:cNvPr id="19" name="CaixaDeTexto 18"/>
          <p:cNvSpPr txBox="1"/>
          <p:nvPr/>
        </p:nvSpPr>
        <p:spPr>
          <a:xfrm>
            <a:off x="6499831" y="2258093"/>
            <a:ext cx="874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 smtClean="0"/>
              <a:t>SKYPE FOR</a:t>
            </a:r>
          </a:p>
          <a:p>
            <a:pPr algn="ctr"/>
            <a:r>
              <a:rPr lang="pt-BR" sz="1200" b="1" dirty="0" smtClean="0"/>
              <a:t>BUSINESS</a:t>
            </a:r>
            <a:endParaRPr lang="en-US" sz="1200" b="1" dirty="0"/>
          </a:p>
        </p:txBody>
      </p:sp>
      <p:pic>
        <p:nvPicPr>
          <p:cNvPr id="20" name="Imagem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7720" y="2485620"/>
            <a:ext cx="435994" cy="495838"/>
          </a:xfrm>
          <a:prstGeom prst="rect">
            <a:avLst/>
          </a:prstGeom>
        </p:spPr>
      </p:pic>
      <p:sp>
        <p:nvSpPr>
          <p:cNvPr id="21" name="CaixaDeTexto 20"/>
          <p:cNvSpPr txBox="1"/>
          <p:nvPr/>
        </p:nvSpPr>
        <p:spPr>
          <a:xfrm>
            <a:off x="8004431" y="3234741"/>
            <a:ext cx="11063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 smtClean="0"/>
              <a:t>OFFICE CLIENT</a:t>
            </a:r>
            <a:endParaRPr lang="en-US" sz="1200" b="1" dirty="0"/>
          </a:p>
        </p:txBody>
      </p:sp>
      <p:sp>
        <p:nvSpPr>
          <p:cNvPr id="22" name="CaixaDeTexto 21"/>
          <p:cNvSpPr txBox="1"/>
          <p:nvPr/>
        </p:nvSpPr>
        <p:spPr>
          <a:xfrm>
            <a:off x="1718786" y="3372116"/>
            <a:ext cx="20265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 smtClean="0"/>
              <a:t>Existem dois tipos de lugares</a:t>
            </a:r>
          </a:p>
          <a:p>
            <a:pPr algn="ctr"/>
            <a:r>
              <a:rPr lang="pt-BR" sz="1200" b="1" dirty="0"/>
              <a:t>o</a:t>
            </a:r>
            <a:r>
              <a:rPr lang="pt-BR" sz="1200" b="1" dirty="0" smtClean="0"/>
              <a:t>nde você pode armazenar </a:t>
            </a:r>
          </a:p>
          <a:p>
            <a:pPr algn="ctr"/>
            <a:r>
              <a:rPr lang="pt-BR" sz="1200" b="1" dirty="0" smtClean="0"/>
              <a:t>dados</a:t>
            </a:r>
            <a:endParaRPr lang="en-US" sz="1200" b="1" dirty="0"/>
          </a:p>
        </p:txBody>
      </p:sp>
      <p:pic>
        <p:nvPicPr>
          <p:cNvPr id="23" name="Imagem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57978" y="4228027"/>
            <a:ext cx="1933575" cy="1905000"/>
          </a:xfrm>
          <a:prstGeom prst="rect">
            <a:avLst/>
          </a:prstGeom>
        </p:spPr>
      </p:pic>
      <p:pic>
        <p:nvPicPr>
          <p:cNvPr id="24" name="Imagem 2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172" y="4269615"/>
            <a:ext cx="1009650" cy="1409700"/>
          </a:xfrm>
          <a:prstGeom prst="rect">
            <a:avLst/>
          </a:prstGeom>
        </p:spPr>
      </p:pic>
      <p:sp>
        <p:nvSpPr>
          <p:cNvPr id="25" name="CaixaDeTexto 24"/>
          <p:cNvSpPr txBox="1"/>
          <p:nvPr/>
        </p:nvSpPr>
        <p:spPr>
          <a:xfrm>
            <a:off x="2168393" y="4507603"/>
            <a:ext cx="1157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 smtClean="0"/>
              <a:t>Sites de equipe</a:t>
            </a:r>
            <a:endParaRPr lang="en-US" sz="1200" b="1" dirty="0"/>
          </a:p>
        </p:txBody>
      </p:sp>
      <p:pic>
        <p:nvPicPr>
          <p:cNvPr id="26" name="Imagem 2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04232" y="4193213"/>
            <a:ext cx="1466850" cy="1304925"/>
          </a:xfrm>
          <a:prstGeom prst="rect">
            <a:avLst/>
          </a:prstGeom>
        </p:spPr>
      </p:pic>
      <p:sp>
        <p:nvSpPr>
          <p:cNvPr id="27" name="CaixaDeTexto 26"/>
          <p:cNvSpPr txBox="1"/>
          <p:nvPr/>
        </p:nvSpPr>
        <p:spPr>
          <a:xfrm>
            <a:off x="2181751" y="4917581"/>
            <a:ext cx="12552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 smtClean="0"/>
              <a:t>Sites de pessoais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893806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0"/>
                            </p:stCondLst>
                            <p:childTnLst>
                              <p:par>
                                <p:cTn id="14" presetID="26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8000"/>
                            </p:stCondLst>
                            <p:childTnLst>
                              <p:par>
                                <p:cTn id="31" presetID="6" presetClass="entr" presetSubtype="16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6500"/>
                            </p:stCondLst>
                            <p:childTnLst>
                              <p:par>
                                <p:cTn id="3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8000"/>
                            </p:stCondLst>
                            <p:childTnLst>
                              <p:par>
                                <p:cTn id="4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90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3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2000"/>
                            </p:stCondLst>
                            <p:childTnLst>
                              <p:par>
                                <p:cTn id="5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2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2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4500"/>
                            </p:stCondLst>
                            <p:childTnLst>
                              <p:par>
                                <p:cTn id="58" presetID="6" presetClass="entr" presetSubtype="16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9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3500"/>
                            </p:stCondLst>
                            <p:childTnLst>
                              <p:par>
                                <p:cTn id="66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55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9500"/>
                            </p:stCondLst>
                            <p:childTnLst>
                              <p:par>
                                <p:cTn id="74" presetID="6" presetClass="entr" presetSubtype="16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45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8500"/>
                            </p:stCondLst>
                            <p:childTnLst>
                              <p:par>
                                <p:cTn id="82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4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5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4500"/>
                            </p:stCondLst>
                            <p:childTnLst>
                              <p:par>
                                <p:cTn id="90" presetID="2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9500"/>
                            </p:stCondLst>
                            <p:childTnLst>
                              <p:par>
                                <p:cTn id="94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3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3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62500"/>
                            </p:stCondLst>
                            <p:childTnLst>
                              <p:par>
                                <p:cTn id="100" presetID="16" presetClass="entr" presetSubtype="2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6450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68500"/>
                            </p:stCondLst>
                            <p:childTnLst>
                              <p:par>
                                <p:cTn id="10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6950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10" grpId="0"/>
      <p:bldP spid="11" grpId="0"/>
      <p:bldP spid="15" grpId="0"/>
      <p:bldP spid="17" grpId="0"/>
      <p:bldP spid="19" grpId="0"/>
      <p:bldP spid="21" grpId="0"/>
      <p:bldP spid="22" grpId="0"/>
      <p:bldP spid="25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7943" y="206933"/>
            <a:ext cx="1940416" cy="2709260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1001880" y="193179"/>
            <a:ext cx="37222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 smtClean="0"/>
              <a:t>SOBRE OS SITES DE EQUIPE:</a:t>
            </a:r>
            <a:endParaRPr lang="en-US" sz="2400" b="1" dirty="0"/>
          </a:p>
        </p:txBody>
      </p:sp>
      <p:grpSp>
        <p:nvGrpSpPr>
          <p:cNvPr id="18" name="Grupo 17"/>
          <p:cNvGrpSpPr/>
          <p:nvPr/>
        </p:nvGrpSpPr>
        <p:grpSpPr>
          <a:xfrm>
            <a:off x="1036622" y="1101144"/>
            <a:ext cx="2180277" cy="1646656"/>
            <a:chOff x="1036622" y="1101144"/>
            <a:chExt cx="2180277" cy="1646656"/>
          </a:xfrm>
        </p:grpSpPr>
        <p:pic>
          <p:nvPicPr>
            <p:cNvPr id="6" name="Imagem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43442" y="1101144"/>
              <a:ext cx="868700" cy="792050"/>
            </a:xfrm>
            <a:prstGeom prst="rect">
              <a:avLst/>
            </a:prstGeom>
          </p:spPr>
        </p:pic>
        <p:sp>
          <p:nvSpPr>
            <p:cNvPr id="7" name="CaixaDeTexto 6"/>
            <p:cNvSpPr txBox="1"/>
            <p:nvPr/>
          </p:nvSpPr>
          <p:spPr>
            <a:xfrm>
              <a:off x="1036622" y="1916803"/>
              <a:ext cx="218027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b="1" dirty="0" smtClean="0"/>
                <a:t>Destina a colaboração</a:t>
              </a:r>
            </a:p>
            <a:p>
              <a:pPr algn="ctr"/>
              <a:r>
                <a:rPr lang="pt-BR" sz="1600" b="1" dirty="0" smtClean="0"/>
                <a:t>e compartilhamento de</a:t>
              </a:r>
            </a:p>
            <a:p>
              <a:pPr algn="ctr"/>
              <a:r>
                <a:rPr lang="pt-BR" sz="1600" b="1" dirty="0" smtClean="0"/>
                <a:t>arquivos do escritório</a:t>
              </a:r>
              <a:endParaRPr lang="en-US" sz="1600" b="1" dirty="0"/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3465058" y="799069"/>
            <a:ext cx="2290371" cy="1920827"/>
            <a:chOff x="3465058" y="799069"/>
            <a:chExt cx="2290371" cy="1920827"/>
          </a:xfrm>
        </p:grpSpPr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4119" y="799069"/>
              <a:ext cx="961620" cy="1035592"/>
            </a:xfrm>
            <a:prstGeom prst="rect">
              <a:avLst/>
            </a:prstGeom>
          </p:spPr>
        </p:pic>
        <p:sp>
          <p:nvSpPr>
            <p:cNvPr id="9" name="CaixaDeTexto 8"/>
            <p:cNvSpPr txBox="1"/>
            <p:nvPr/>
          </p:nvSpPr>
          <p:spPr>
            <a:xfrm>
              <a:off x="3465058" y="1888899"/>
              <a:ext cx="229037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b="1" dirty="0" smtClean="0"/>
                <a:t>Útil para manter o</a:t>
              </a:r>
            </a:p>
            <a:p>
              <a:pPr algn="ctr"/>
              <a:r>
                <a:rPr lang="pt-BR" sz="1600" b="1" dirty="0" smtClean="0"/>
                <a:t>controle de suas equipes</a:t>
              </a:r>
            </a:p>
            <a:p>
              <a:pPr algn="ctr"/>
              <a:r>
                <a:rPr lang="pt-BR" sz="1600" b="1" dirty="0"/>
                <a:t>e</a:t>
              </a:r>
              <a:r>
                <a:rPr lang="pt-BR" sz="1600" b="1" dirty="0" smtClean="0"/>
                <a:t> projetos</a:t>
              </a:r>
              <a:endParaRPr lang="en-US" sz="1600" b="1" dirty="0"/>
            </a:p>
          </p:txBody>
        </p:sp>
      </p:grpSp>
      <p:grpSp>
        <p:nvGrpSpPr>
          <p:cNvPr id="20" name="Grupo 19"/>
          <p:cNvGrpSpPr/>
          <p:nvPr/>
        </p:nvGrpSpPr>
        <p:grpSpPr>
          <a:xfrm>
            <a:off x="6092468" y="807572"/>
            <a:ext cx="2054024" cy="1923056"/>
            <a:chOff x="6092468" y="807572"/>
            <a:chExt cx="2054024" cy="1923056"/>
          </a:xfrm>
        </p:grpSpPr>
        <p:pic>
          <p:nvPicPr>
            <p:cNvPr id="10" name="Imagem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23528" y="807572"/>
              <a:ext cx="1554048" cy="1121616"/>
            </a:xfrm>
            <a:prstGeom prst="rect">
              <a:avLst/>
            </a:prstGeom>
          </p:spPr>
        </p:pic>
        <p:sp>
          <p:nvSpPr>
            <p:cNvPr id="11" name="CaixaDeTexto 10"/>
            <p:cNvSpPr txBox="1"/>
            <p:nvPr/>
          </p:nvSpPr>
          <p:spPr>
            <a:xfrm>
              <a:off x="6092468" y="1899631"/>
              <a:ext cx="205402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b="1" dirty="0" smtClean="0"/>
                <a:t>Você tem um site raiz,</a:t>
              </a:r>
            </a:p>
            <a:p>
              <a:pPr algn="ctr"/>
              <a:r>
                <a:rPr lang="pt-BR" sz="1600" b="1" dirty="0" smtClean="0"/>
                <a:t>que contem múltiplos</a:t>
              </a:r>
            </a:p>
            <a:p>
              <a:pPr algn="ctr"/>
              <a:r>
                <a:rPr lang="pt-BR" sz="1600" b="1" dirty="0" err="1" smtClean="0"/>
                <a:t>subsites</a:t>
              </a:r>
              <a:endParaRPr lang="en-US" sz="1600" b="1" dirty="0"/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476723" y="3773510"/>
            <a:ext cx="2900858" cy="2227728"/>
            <a:chOff x="476723" y="3773510"/>
            <a:chExt cx="2900858" cy="2227728"/>
          </a:xfrm>
        </p:grpSpPr>
        <p:pic>
          <p:nvPicPr>
            <p:cNvPr id="12" name="Imagem 1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33021" y="3773510"/>
              <a:ext cx="889540" cy="1062508"/>
            </a:xfrm>
            <a:prstGeom prst="rect">
              <a:avLst/>
            </a:prstGeom>
          </p:spPr>
        </p:pic>
        <p:sp>
          <p:nvSpPr>
            <p:cNvPr id="13" name="CaixaDeTexto 12"/>
            <p:cNvSpPr txBox="1"/>
            <p:nvPr/>
          </p:nvSpPr>
          <p:spPr>
            <a:xfrm>
              <a:off x="476723" y="4924020"/>
              <a:ext cx="2900858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b="1" dirty="0" smtClean="0"/>
                <a:t>Cada site pode ter uma ou mais</a:t>
              </a:r>
            </a:p>
            <a:p>
              <a:pPr algn="ctr"/>
              <a:r>
                <a:rPr lang="pt-BR" sz="1600" b="1" dirty="0" smtClean="0"/>
                <a:t>bibliotecas de documentos para</a:t>
              </a:r>
            </a:p>
            <a:p>
              <a:pPr algn="ctr"/>
              <a:r>
                <a:rPr lang="pt-BR" sz="1600" b="1" dirty="0" smtClean="0"/>
                <a:t>armazenar arquivos do</a:t>
              </a:r>
            </a:p>
            <a:p>
              <a:pPr algn="ctr"/>
              <a:r>
                <a:rPr lang="pt-BR" sz="1600" b="1" dirty="0" smtClean="0"/>
                <a:t>escritório</a:t>
              </a:r>
              <a:endParaRPr lang="en-US" sz="1600" b="1" dirty="0"/>
            </a:p>
          </p:txBody>
        </p:sp>
      </p:grpSp>
      <p:grpSp>
        <p:nvGrpSpPr>
          <p:cNvPr id="22" name="Grupo 21"/>
          <p:cNvGrpSpPr/>
          <p:nvPr/>
        </p:nvGrpSpPr>
        <p:grpSpPr>
          <a:xfrm>
            <a:off x="3498136" y="4250028"/>
            <a:ext cx="2365904" cy="1464206"/>
            <a:chOff x="3498136" y="4250028"/>
            <a:chExt cx="2365904" cy="1464206"/>
          </a:xfrm>
        </p:grpSpPr>
        <p:pic>
          <p:nvPicPr>
            <p:cNvPr id="14" name="Imagem 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95710" y="4250028"/>
              <a:ext cx="1386924" cy="573110"/>
            </a:xfrm>
            <a:prstGeom prst="rect">
              <a:avLst/>
            </a:prstGeom>
          </p:spPr>
        </p:pic>
        <p:sp>
          <p:nvSpPr>
            <p:cNvPr id="15" name="CaixaDeTexto 14"/>
            <p:cNvSpPr txBox="1"/>
            <p:nvPr/>
          </p:nvSpPr>
          <p:spPr>
            <a:xfrm>
              <a:off x="3498136" y="4883237"/>
              <a:ext cx="236590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b="1" dirty="0" smtClean="0"/>
                <a:t>Por assinatura você pode </a:t>
              </a:r>
            </a:p>
            <a:p>
              <a:pPr algn="ctr"/>
              <a:r>
                <a:rPr lang="pt-BR" sz="1600" b="1" dirty="0" smtClean="0"/>
                <a:t>armazenar até 1 </a:t>
              </a:r>
              <a:r>
                <a:rPr lang="pt-BR" sz="1600" b="1" dirty="0" err="1" smtClean="0"/>
                <a:t>Terabyte</a:t>
              </a:r>
              <a:endParaRPr lang="pt-BR" sz="1600" b="1" dirty="0" smtClean="0"/>
            </a:p>
            <a:p>
              <a:pPr algn="ctr"/>
              <a:r>
                <a:rPr lang="pt-BR" sz="1600" b="1" dirty="0" smtClean="0"/>
                <a:t>por usuário</a:t>
              </a:r>
              <a:endParaRPr lang="en-US" sz="1600" b="1" dirty="0"/>
            </a:p>
          </p:txBody>
        </p:sp>
      </p:grpSp>
      <p:grpSp>
        <p:nvGrpSpPr>
          <p:cNvPr id="23" name="Grupo 22"/>
          <p:cNvGrpSpPr/>
          <p:nvPr/>
        </p:nvGrpSpPr>
        <p:grpSpPr>
          <a:xfrm>
            <a:off x="6086156" y="4066303"/>
            <a:ext cx="2259849" cy="1594269"/>
            <a:chOff x="6086156" y="4066303"/>
            <a:chExt cx="2259849" cy="1594269"/>
          </a:xfrm>
        </p:grpSpPr>
        <p:pic>
          <p:nvPicPr>
            <p:cNvPr id="16" name="Imagem 1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22894" y="4066303"/>
              <a:ext cx="981075" cy="657225"/>
            </a:xfrm>
            <a:prstGeom prst="rect">
              <a:avLst/>
            </a:prstGeom>
          </p:spPr>
        </p:pic>
        <p:sp>
          <p:nvSpPr>
            <p:cNvPr id="17" name="CaixaDeTexto 16"/>
            <p:cNvSpPr txBox="1"/>
            <p:nvPr/>
          </p:nvSpPr>
          <p:spPr>
            <a:xfrm>
              <a:off x="6086156" y="4829575"/>
              <a:ext cx="225984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b="1" dirty="0" smtClean="0"/>
                <a:t>Também pode comprar</a:t>
              </a:r>
            </a:p>
            <a:p>
              <a:pPr algn="ctr"/>
              <a:r>
                <a:rPr lang="pt-BR" sz="1600" b="1" dirty="0" smtClean="0"/>
                <a:t>espaço adicional para os</a:t>
              </a:r>
            </a:p>
            <a:p>
              <a:pPr algn="ctr"/>
              <a:r>
                <a:rPr lang="pt-BR" sz="1600" b="1" dirty="0" smtClean="0"/>
                <a:t>usuários</a:t>
              </a:r>
              <a:endParaRPr lang="en-US" sz="1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882880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075011" y="193179"/>
            <a:ext cx="35759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 smtClean="0"/>
              <a:t>SOBRE OS SITES PESSOAIS:</a:t>
            </a:r>
            <a:endParaRPr lang="en-US" sz="2400" b="1" dirty="0"/>
          </a:p>
        </p:txBody>
      </p:sp>
      <p:grpSp>
        <p:nvGrpSpPr>
          <p:cNvPr id="21" name="Grupo 20"/>
          <p:cNvGrpSpPr/>
          <p:nvPr/>
        </p:nvGrpSpPr>
        <p:grpSpPr>
          <a:xfrm>
            <a:off x="852407" y="1101144"/>
            <a:ext cx="2548711" cy="1646656"/>
            <a:chOff x="852407" y="1101144"/>
            <a:chExt cx="2548711" cy="1646656"/>
          </a:xfrm>
        </p:grpSpPr>
        <p:pic>
          <p:nvPicPr>
            <p:cNvPr id="6" name="Imagem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3442" y="1101144"/>
              <a:ext cx="868700" cy="792050"/>
            </a:xfrm>
            <a:prstGeom prst="rect">
              <a:avLst/>
            </a:prstGeom>
          </p:spPr>
        </p:pic>
        <p:sp>
          <p:nvSpPr>
            <p:cNvPr id="7" name="CaixaDeTexto 6"/>
            <p:cNvSpPr txBox="1"/>
            <p:nvPr/>
          </p:nvSpPr>
          <p:spPr>
            <a:xfrm>
              <a:off x="852407" y="1916803"/>
              <a:ext cx="254871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b="1" dirty="0" smtClean="0"/>
                <a:t>Destina Ao armazenamento</a:t>
              </a:r>
            </a:p>
            <a:p>
              <a:pPr algn="ctr"/>
              <a:r>
                <a:rPr lang="pt-BR" sz="1600" b="1" dirty="0" smtClean="0"/>
                <a:t>dos arquivos pessoais</a:t>
              </a:r>
            </a:p>
            <a:p>
              <a:pPr algn="ctr"/>
              <a:r>
                <a:rPr lang="pt-BR" sz="1600" b="1" dirty="0" smtClean="0"/>
                <a:t>do escritório</a:t>
              </a:r>
              <a:endParaRPr lang="en-US" sz="1600" b="1" dirty="0"/>
            </a:p>
          </p:txBody>
        </p:sp>
      </p:grpSp>
      <p:grpSp>
        <p:nvGrpSpPr>
          <p:cNvPr id="25" name="Grupo 24"/>
          <p:cNvGrpSpPr/>
          <p:nvPr/>
        </p:nvGrpSpPr>
        <p:grpSpPr>
          <a:xfrm>
            <a:off x="3649852" y="4250028"/>
            <a:ext cx="2062488" cy="1464206"/>
            <a:chOff x="3649852" y="4250028"/>
            <a:chExt cx="2062488" cy="1464206"/>
          </a:xfrm>
        </p:grpSpPr>
        <p:pic>
          <p:nvPicPr>
            <p:cNvPr id="14" name="Imagem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95710" y="4250028"/>
              <a:ext cx="1386924" cy="573110"/>
            </a:xfrm>
            <a:prstGeom prst="rect">
              <a:avLst/>
            </a:prstGeom>
          </p:spPr>
        </p:pic>
        <p:sp>
          <p:nvSpPr>
            <p:cNvPr id="15" name="CaixaDeTexto 14"/>
            <p:cNvSpPr txBox="1"/>
            <p:nvPr/>
          </p:nvSpPr>
          <p:spPr>
            <a:xfrm>
              <a:off x="3649852" y="4883237"/>
              <a:ext cx="206248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b="1" dirty="0" smtClean="0"/>
                <a:t>Cada usuário pode ter</a:t>
              </a:r>
            </a:p>
            <a:p>
              <a:pPr algn="ctr"/>
              <a:r>
                <a:rPr lang="pt-BR" sz="1600" b="1" dirty="0" smtClean="0"/>
                <a:t>25 </a:t>
              </a:r>
              <a:r>
                <a:rPr lang="pt-BR" sz="1600" b="1" dirty="0" err="1" smtClean="0"/>
                <a:t>Gibytes</a:t>
              </a:r>
              <a:r>
                <a:rPr lang="pt-BR" sz="1600" b="1" dirty="0" smtClean="0"/>
                <a:t> nos seus</a:t>
              </a:r>
            </a:p>
            <a:p>
              <a:pPr algn="ctr"/>
              <a:r>
                <a:rPr lang="pt-BR" sz="1600" b="1" dirty="0" smtClean="0"/>
                <a:t>sites pessoais</a:t>
              </a:r>
              <a:endParaRPr lang="en-US" sz="1600" b="1" dirty="0"/>
            </a:p>
          </p:txBody>
        </p:sp>
      </p:grpSp>
      <p:pic>
        <p:nvPicPr>
          <p:cNvPr id="18" name="Imagem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5143" y="0"/>
            <a:ext cx="2699958" cy="2401908"/>
          </a:xfrm>
          <a:prstGeom prst="rect">
            <a:avLst/>
          </a:prstGeom>
        </p:spPr>
      </p:pic>
      <p:grpSp>
        <p:nvGrpSpPr>
          <p:cNvPr id="22" name="Grupo 21"/>
          <p:cNvGrpSpPr/>
          <p:nvPr/>
        </p:nvGrpSpPr>
        <p:grpSpPr>
          <a:xfrm>
            <a:off x="3353232" y="903572"/>
            <a:ext cx="2617063" cy="1608739"/>
            <a:chOff x="3353232" y="903572"/>
            <a:chExt cx="2617063" cy="1608739"/>
          </a:xfrm>
        </p:grpSpPr>
        <p:sp>
          <p:nvSpPr>
            <p:cNvPr id="9" name="CaixaDeTexto 8"/>
            <p:cNvSpPr txBox="1"/>
            <p:nvPr/>
          </p:nvSpPr>
          <p:spPr>
            <a:xfrm>
              <a:off x="3353232" y="1927536"/>
              <a:ext cx="261706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b="1" dirty="0" smtClean="0"/>
                <a:t>Pode compartilhar arquivos</a:t>
              </a:r>
            </a:p>
            <a:p>
              <a:pPr algn="ctr"/>
              <a:r>
                <a:rPr lang="pt-BR" sz="1600" b="1" dirty="0" smtClean="0"/>
                <a:t>dentro e fora da organização</a:t>
              </a:r>
            </a:p>
          </p:txBody>
        </p:sp>
        <p:pic>
          <p:nvPicPr>
            <p:cNvPr id="2" name="Imagem 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52553" y="903572"/>
              <a:ext cx="970208" cy="1058408"/>
            </a:xfrm>
            <a:prstGeom prst="rect">
              <a:avLst/>
            </a:prstGeom>
          </p:spPr>
        </p:pic>
      </p:grpSp>
      <p:grpSp>
        <p:nvGrpSpPr>
          <p:cNvPr id="23" name="Grupo 22"/>
          <p:cNvGrpSpPr/>
          <p:nvPr/>
        </p:nvGrpSpPr>
        <p:grpSpPr>
          <a:xfrm>
            <a:off x="5926269" y="1032964"/>
            <a:ext cx="2850075" cy="1477200"/>
            <a:chOff x="5926269" y="1032964"/>
            <a:chExt cx="2850075" cy="1477200"/>
          </a:xfrm>
        </p:grpSpPr>
        <p:sp>
          <p:nvSpPr>
            <p:cNvPr id="11" name="CaixaDeTexto 10"/>
            <p:cNvSpPr txBox="1"/>
            <p:nvPr/>
          </p:nvSpPr>
          <p:spPr>
            <a:xfrm>
              <a:off x="5926269" y="1925389"/>
              <a:ext cx="285007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b="1" dirty="0" smtClean="0"/>
                <a:t>Sites pessoais são formalmente</a:t>
              </a:r>
            </a:p>
            <a:p>
              <a:pPr algn="ctr"/>
              <a:r>
                <a:rPr lang="pt-BR" sz="1600" b="1" dirty="0" smtClean="0"/>
                <a:t>conhecidos como meu site</a:t>
              </a:r>
              <a:endParaRPr lang="en-US" sz="1600" b="1" dirty="0"/>
            </a:p>
          </p:txBody>
        </p:sp>
        <p:pic>
          <p:nvPicPr>
            <p:cNvPr id="3" name="Imagem 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12925" y="1032964"/>
              <a:ext cx="804125" cy="867609"/>
            </a:xfrm>
            <a:prstGeom prst="rect">
              <a:avLst/>
            </a:prstGeom>
          </p:spPr>
        </p:pic>
      </p:grpSp>
      <p:grpSp>
        <p:nvGrpSpPr>
          <p:cNvPr id="24" name="Grupo 23"/>
          <p:cNvGrpSpPr/>
          <p:nvPr/>
        </p:nvGrpSpPr>
        <p:grpSpPr>
          <a:xfrm>
            <a:off x="414211" y="4005837"/>
            <a:ext cx="3025892" cy="1995401"/>
            <a:chOff x="414211" y="4005837"/>
            <a:chExt cx="3025892" cy="1995401"/>
          </a:xfrm>
        </p:grpSpPr>
        <p:sp>
          <p:nvSpPr>
            <p:cNvPr id="13" name="CaixaDeTexto 12"/>
            <p:cNvSpPr txBox="1"/>
            <p:nvPr/>
          </p:nvSpPr>
          <p:spPr>
            <a:xfrm>
              <a:off x="414211" y="4924020"/>
              <a:ext cx="3025892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b="1" dirty="0" smtClean="0"/>
                <a:t>No SHAREPOINT Online seus</a:t>
              </a:r>
            </a:p>
            <a:p>
              <a:pPr algn="ctr"/>
              <a:r>
                <a:rPr lang="pt-BR" sz="1600" b="1" dirty="0" smtClean="0"/>
                <a:t>Sites pessoais são chamados pelo</a:t>
              </a:r>
            </a:p>
            <a:p>
              <a:pPr algn="ctr"/>
              <a:r>
                <a:rPr lang="pt-BR" sz="1600" b="1" dirty="0" smtClean="0"/>
                <a:t>ONEDRIVE</a:t>
              </a:r>
            </a:p>
            <a:p>
              <a:pPr algn="ctr"/>
              <a:r>
                <a:rPr lang="pt-BR" sz="1600" b="1" dirty="0" smtClean="0"/>
                <a:t>(isto é um pouco confuso)</a:t>
              </a:r>
              <a:endParaRPr lang="en-US" sz="1600" b="1" dirty="0"/>
            </a:p>
          </p:txBody>
        </p:sp>
        <p:pic>
          <p:nvPicPr>
            <p:cNvPr id="19" name="Imagem 1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33471" y="4005837"/>
              <a:ext cx="804125" cy="867609"/>
            </a:xfrm>
            <a:prstGeom prst="rect">
              <a:avLst/>
            </a:prstGeom>
          </p:spPr>
        </p:pic>
      </p:grpSp>
      <p:grpSp>
        <p:nvGrpSpPr>
          <p:cNvPr id="26" name="Grupo 25"/>
          <p:cNvGrpSpPr/>
          <p:nvPr/>
        </p:nvGrpSpPr>
        <p:grpSpPr>
          <a:xfrm>
            <a:off x="5828594" y="3998890"/>
            <a:ext cx="2774990" cy="1661682"/>
            <a:chOff x="5828594" y="3998890"/>
            <a:chExt cx="2774990" cy="1661682"/>
          </a:xfrm>
        </p:grpSpPr>
        <p:sp>
          <p:nvSpPr>
            <p:cNvPr id="17" name="CaixaDeTexto 16"/>
            <p:cNvSpPr txBox="1"/>
            <p:nvPr/>
          </p:nvSpPr>
          <p:spPr>
            <a:xfrm>
              <a:off x="5828594" y="4829575"/>
              <a:ext cx="277499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b="1" dirty="0" smtClean="0"/>
                <a:t>O espaço pode ser aumentado</a:t>
              </a:r>
            </a:p>
            <a:p>
              <a:pPr algn="ctr"/>
              <a:r>
                <a:rPr lang="pt-BR" sz="1600" b="1" dirty="0" smtClean="0"/>
                <a:t>Para incríveis 1000 Gigabytes</a:t>
              </a:r>
            </a:p>
            <a:p>
              <a:pPr algn="ctr"/>
              <a:r>
                <a:rPr lang="pt-BR" sz="1600" b="1" dirty="0" smtClean="0"/>
                <a:t>por usuário</a:t>
              </a:r>
              <a:endParaRPr lang="en-US" sz="1600" b="1" dirty="0"/>
            </a:p>
          </p:txBody>
        </p:sp>
        <p:pic>
          <p:nvPicPr>
            <p:cNvPr id="20" name="Imagem 1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78387" y="3998890"/>
              <a:ext cx="927664" cy="8178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13187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296" y="135223"/>
            <a:ext cx="3714044" cy="2620856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219" y="713098"/>
            <a:ext cx="941900" cy="1315106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6698" y="787716"/>
            <a:ext cx="1297144" cy="1153954"/>
          </a:xfrm>
          <a:prstGeom prst="rect">
            <a:avLst/>
          </a:prstGeom>
        </p:spPr>
      </p:pic>
      <p:grpSp>
        <p:nvGrpSpPr>
          <p:cNvPr id="46" name="Grupo 45"/>
          <p:cNvGrpSpPr/>
          <p:nvPr/>
        </p:nvGrpSpPr>
        <p:grpSpPr>
          <a:xfrm>
            <a:off x="5460643" y="3861787"/>
            <a:ext cx="1262808" cy="645302"/>
            <a:chOff x="5460643" y="3861787"/>
            <a:chExt cx="1262808" cy="645302"/>
          </a:xfrm>
        </p:grpSpPr>
        <p:pic>
          <p:nvPicPr>
            <p:cNvPr id="12" name="Imagem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061984">
              <a:off x="5910577" y="3861787"/>
              <a:ext cx="812874" cy="581359"/>
            </a:xfrm>
            <a:prstGeom prst="rect">
              <a:avLst/>
            </a:prstGeom>
          </p:spPr>
        </p:pic>
        <p:pic>
          <p:nvPicPr>
            <p:cNvPr id="13" name="Imagem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60643" y="3863442"/>
              <a:ext cx="460990" cy="643647"/>
            </a:xfrm>
            <a:prstGeom prst="rect">
              <a:avLst/>
            </a:prstGeom>
          </p:spPr>
        </p:pic>
      </p:grpSp>
      <p:sp>
        <p:nvSpPr>
          <p:cNvPr id="14" name="CaixaDeTexto 13"/>
          <p:cNvSpPr txBox="1"/>
          <p:nvPr/>
        </p:nvSpPr>
        <p:spPr>
          <a:xfrm>
            <a:off x="5122619" y="4466822"/>
            <a:ext cx="1793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 smtClean="0"/>
              <a:t>Pastas locais</a:t>
            </a:r>
          </a:p>
          <a:p>
            <a:pPr algn="ctr"/>
            <a:r>
              <a:rPr lang="pt-BR" sz="1400" b="1" dirty="0" smtClean="0"/>
              <a:t>chamadas SharePoint</a:t>
            </a:r>
            <a:endParaRPr lang="en-US" sz="1400" b="1" dirty="0"/>
          </a:p>
        </p:txBody>
      </p:sp>
      <p:grpSp>
        <p:nvGrpSpPr>
          <p:cNvPr id="47" name="Grupo 46"/>
          <p:cNvGrpSpPr/>
          <p:nvPr/>
        </p:nvGrpSpPr>
        <p:grpSpPr>
          <a:xfrm>
            <a:off x="7414114" y="3812148"/>
            <a:ext cx="1521819" cy="724977"/>
            <a:chOff x="7414114" y="3812148"/>
            <a:chExt cx="1521819" cy="724977"/>
          </a:xfrm>
        </p:grpSpPr>
        <p:pic>
          <p:nvPicPr>
            <p:cNvPr id="15" name="Imagem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061984">
              <a:off x="7414114" y="3894474"/>
              <a:ext cx="898575" cy="642651"/>
            </a:xfrm>
            <a:prstGeom prst="rect">
              <a:avLst/>
            </a:prstGeom>
          </p:spPr>
        </p:pic>
        <p:pic>
          <p:nvPicPr>
            <p:cNvPr id="16" name="Imagem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99551" y="3812148"/>
              <a:ext cx="736382" cy="655094"/>
            </a:xfrm>
            <a:prstGeom prst="rect">
              <a:avLst/>
            </a:prstGeom>
          </p:spPr>
        </p:pic>
      </p:grpSp>
      <p:sp>
        <p:nvSpPr>
          <p:cNvPr id="17" name="CaixaDeTexto 16"/>
          <p:cNvSpPr txBox="1"/>
          <p:nvPr/>
        </p:nvSpPr>
        <p:spPr>
          <a:xfrm>
            <a:off x="6800046" y="4464674"/>
            <a:ext cx="3013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 smtClean="0"/>
              <a:t>Pastas locais</a:t>
            </a:r>
          </a:p>
          <a:p>
            <a:pPr algn="ctr"/>
            <a:r>
              <a:rPr lang="pt-BR" sz="1400" b="1" dirty="0" smtClean="0"/>
              <a:t>chamadas </a:t>
            </a:r>
            <a:r>
              <a:rPr lang="pt-BR" sz="1400" b="1" dirty="0" err="1" smtClean="0"/>
              <a:t>onedrive@companyname</a:t>
            </a:r>
            <a:endParaRPr lang="en-US" sz="1400" b="1" dirty="0"/>
          </a:p>
        </p:txBody>
      </p:sp>
      <p:sp>
        <p:nvSpPr>
          <p:cNvPr id="18" name="CaixaDeTexto 17"/>
          <p:cNvSpPr txBox="1"/>
          <p:nvPr/>
        </p:nvSpPr>
        <p:spPr>
          <a:xfrm>
            <a:off x="6210618" y="2968580"/>
            <a:ext cx="1417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 smtClean="0"/>
              <a:t>Sincroniza as</a:t>
            </a:r>
          </a:p>
          <a:p>
            <a:pPr algn="ctr"/>
            <a:r>
              <a:rPr lang="pt-BR" sz="1200" b="1" dirty="0" smtClean="0"/>
              <a:t> alterações</a:t>
            </a:r>
          </a:p>
          <a:p>
            <a:pPr algn="ctr"/>
            <a:r>
              <a:rPr lang="pt-BR" sz="1200" b="1" dirty="0" smtClean="0"/>
              <a:t>bidireccionalmente</a:t>
            </a:r>
            <a:endParaRPr lang="en-US" sz="1200" b="1" dirty="0"/>
          </a:p>
        </p:txBody>
      </p:sp>
      <p:pic>
        <p:nvPicPr>
          <p:cNvPr id="19" name="Imagem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4658" y="5533288"/>
            <a:ext cx="1162050" cy="942975"/>
          </a:xfrm>
          <a:prstGeom prst="rect">
            <a:avLst/>
          </a:prstGeom>
        </p:spPr>
      </p:pic>
      <p:sp>
        <p:nvSpPr>
          <p:cNvPr id="20" name="CaixaDeTexto 19"/>
          <p:cNvSpPr txBox="1"/>
          <p:nvPr/>
        </p:nvSpPr>
        <p:spPr>
          <a:xfrm>
            <a:off x="2293853" y="5709633"/>
            <a:ext cx="1390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 err="1" smtClean="0"/>
              <a:t>Client</a:t>
            </a:r>
            <a:r>
              <a:rPr lang="pt-BR" sz="1200" b="1" dirty="0" smtClean="0"/>
              <a:t> do ONDRIVE</a:t>
            </a:r>
          </a:p>
          <a:p>
            <a:pPr algn="ctr"/>
            <a:r>
              <a:rPr lang="pt-BR" sz="1200" b="1" dirty="0" smtClean="0"/>
              <a:t>FOR BUSINESS</a:t>
            </a:r>
            <a:endParaRPr lang="en-US" sz="1200" b="1" dirty="0"/>
          </a:p>
        </p:txBody>
      </p:sp>
      <p:pic>
        <p:nvPicPr>
          <p:cNvPr id="21" name="Imagem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795497">
            <a:off x="3905448" y="4086444"/>
            <a:ext cx="989128" cy="1294414"/>
          </a:xfrm>
          <a:prstGeom prst="rect">
            <a:avLst/>
          </a:prstGeom>
        </p:spPr>
      </p:pic>
      <p:pic>
        <p:nvPicPr>
          <p:cNvPr id="22" name="Imagem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712439">
            <a:off x="2745221" y="4439803"/>
            <a:ext cx="908354" cy="1188710"/>
          </a:xfrm>
          <a:prstGeom prst="rect">
            <a:avLst/>
          </a:prstGeom>
        </p:spPr>
      </p:pic>
      <p:sp>
        <p:nvSpPr>
          <p:cNvPr id="23" name="CaixaDeTexto 22"/>
          <p:cNvSpPr txBox="1"/>
          <p:nvPr/>
        </p:nvSpPr>
        <p:spPr>
          <a:xfrm rot="20862660">
            <a:off x="3039806" y="4587275"/>
            <a:ext cx="148886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 smtClean="0"/>
              <a:t>O cliente pode</a:t>
            </a:r>
          </a:p>
          <a:p>
            <a:pPr algn="ctr"/>
            <a:r>
              <a:rPr lang="pt-BR" sz="1100" b="1" dirty="0" smtClean="0"/>
              <a:t>Também sincronizar com</a:t>
            </a:r>
            <a:endParaRPr lang="en-US" sz="1100" b="1" dirty="0"/>
          </a:p>
        </p:txBody>
      </p:sp>
      <p:pic>
        <p:nvPicPr>
          <p:cNvPr id="24" name="Imagem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6980" y="3478972"/>
            <a:ext cx="906686" cy="592368"/>
          </a:xfrm>
          <a:prstGeom prst="rect">
            <a:avLst/>
          </a:prstGeom>
        </p:spPr>
      </p:pic>
      <p:pic>
        <p:nvPicPr>
          <p:cNvPr id="25" name="Imagem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2743" y="3641974"/>
            <a:ext cx="534406" cy="821160"/>
          </a:xfrm>
          <a:prstGeom prst="rect">
            <a:avLst/>
          </a:prstGeom>
        </p:spPr>
      </p:pic>
      <p:sp>
        <p:nvSpPr>
          <p:cNvPr id="26" name="CaixaDeTexto 25"/>
          <p:cNvSpPr txBox="1"/>
          <p:nvPr/>
        </p:nvSpPr>
        <p:spPr>
          <a:xfrm>
            <a:off x="3323850" y="3002923"/>
            <a:ext cx="1824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 smtClean="0"/>
              <a:t>SHAREPOINT hospedados</a:t>
            </a:r>
          </a:p>
          <a:p>
            <a:pPr algn="ctr"/>
            <a:r>
              <a:rPr lang="pt-BR" sz="1200" b="1" dirty="0" smtClean="0"/>
              <a:t>De outras empresas</a:t>
            </a:r>
            <a:endParaRPr lang="en-US" sz="1200" b="1" dirty="0"/>
          </a:p>
        </p:txBody>
      </p:sp>
      <p:sp>
        <p:nvSpPr>
          <p:cNvPr id="27" name="CaixaDeTexto 26"/>
          <p:cNvSpPr txBox="1"/>
          <p:nvPr/>
        </p:nvSpPr>
        <p:spPr>
          <a:xfrm rot="20817762">
            <a:off x="1319665" y="3232598"/>
            <a:ext cx="18619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 smtClean="0"/>
              <a:t>SHAREPOINT hospedado</a:t>
            </a:r>
          </a:p>
          <a:p>
            <a:pPr algn="ctr"/>
            <a:r>
              <a:rPr lang="pt-BR" sz="1200" b="1" dirty="0" smtClean="0"/>
              <a:t>Localmente (</a:t>
            </a:r>
            <a:r>
              <a:rPr lang="pt-BR" sz="1200" b="1" dirty="0" err="1" smtClean="0"/>
              <a:t>On-Premises</a:t>
            </a:r>
            <a:r>
              <a:rPr lang="pt-BR" sz="1200" b="1" dirty="0" smtClean="0"/>
              <a:t>)</a:t>
            </a:r>
          </a:p>
        </p:txBody>
      </p:sp>
      <p:sp>
        <p:nvSpPr>
          <p:cNvPr id="28" name="CaixaDeTexto 27"/>
          <p:cNvSpPr txBox="1"/>
          <p:nvPr/>
        </p:nvSpPr>
        <p:spPr>
          <a:xfrm rot="20848781">
            <a:off x="3817251" y="6312793"/>
            <a:ext cx="17392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 smtClean="0"/>
              <a:t>Para cada site de time</a:t>
            </a:r>
          </a:p>
          <a:p>
            <a:pPr algn="ctr"/>
            <a:r>
              <a:rPr lang="pt-BR" sz="1200" b="1" dirty="0" smtClean="0"/>
              <a:t>Você terá pastas como...</a:t>
            </a:r>
            <a:endParaRPr lang="en-US" sz="1200" b="1" dirty="0"/>
          </a:p>
        </p:txBody>
      </p:sp>
      <p:pic>
        <p:nvPicPr>
          <p:cNvPr id="30" name="Imagem 2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67411" y="4937438"/>
            <a:ext cx="561975" cy="533400"/>
          </a:xfrm>
          <a:prstGeom prst="rect">
            <a:avLst/>
          </a:prstGeom>
        </p:spPr>
      </p:pic>
      <p:grpSp>
        <p:nvGrpSpPr>
          <p:cNvPr id="48" name="Grupo 47"/>
          <p:cNvGrpSpPr/>
          <p:nvPr/>
        </p:nvGrpSpPr>
        <p:grpSpPr>
          <a:xfrm>
            <a:off x="6449246" y="4992174"/>
            <a:ext cx="905797" cy="685800"/>
            <a:chOff x="6449246" y="4992174"/>
            <a:chExt cx="905797" cy="685800"/>
          </a:xfrm>
        </p:grpSpPr>
        <p:pic>
          <p:nvPicPr>
            <p:cNvPr id="31" name="Imagem 3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497793" y="4992174"/>
              <a:ext cx="857250" cy="685800"/>
            </a:xfrm>
            <a:prstGeom prst="rect">
              <a:avLst/>
            </a:prstGeom>
          </p:spPr>
        </p:pic>
        <p:sp>
          <p:nvSpPr>
            <p:cNvPr id="32" name="CaixaDeTexto 31"/>
            <p:cNvSpPr txBox="1"/>
            <p:nvPr/>
          </p:nvSpPr>
          <p:spPr>
            <a:xfrm>
              <a:off x="6449246" y="5179452"/>
              <a:ext cx="878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900" b="1" dirty="0" smtClean="0"/>
                <a:t>Site de vendas</a:t>
              </a:r>
            </a:p>
            <a:p>
              <a:pPr algn="ctr"/>
              <a:r>
                <a:rPr lang="pt-BR" sz="900" b="1" dirty="0" smtClean="0"/>
                <a:t>propostas</a:t>
              </a:r>
              <a:endParaRPr lang="en-US" sz="900" b="1" dirty="0"/>
            </a:p>
          </p:txBody>
        </p:sp>
      </p:grpSp>
      <p:pic>
        <p:nvPicPr>
          <p:cNvPr id="33" name="Imagem 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7886" y="5537513"/>
            <a:ext cx="561975" cy="533400"/>
          </a:xfrm>
          <a:prstGeom prst="rect">
            <a:avLst/>
          </a:prstGeom>
        </p:spPr>
      </p:pic>
      <p:grpSp>
        <p:nvGrpSpPr>
          <p:cNvPr id="49" name="Grupo 48"/>
          <p:cNvGrpSpPr/>
          <p:nvPr/>
        </p:nvGrpSpPr>
        <p:grpSpPr>
          <a:xfrm>
            <a:off x="6472677" y="5649399"/>
            <a:ext cx="882366" cy="685800"/>
            <a:chOff x="6472677" y="5649399"/>
            <a:chExt cx="882366" cy="685800"/>
          </a:xfrm>
        </p:grpSpPr>
        <p:pic>
          <p:nvPicPr>
            <p:cNvPr id="34" name="Imagem 33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497793" y="5649399"/>
              <a:ext cx="857250" cy="685800"/>
            </a:xfrm>
            <a:prstGeom prst="rect">
              <a:avLst/>
            </a:prstGeom>
          </p:spPr>
        </p:pic>
        <p:sp>
          <p:nvSpPr>
            <p:cNvPr id="35" name="CaixaDeTexto 34"/>
            <p:cNvSpPr txBox="1"/>
            <p:nvPr/>
          </p:nvSpPr>
          <p:spPr>
            <a:xfrm>
              <a:off x="6472677" y="5836677"/>
              <a:ext cx="7938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900" b="1" dirty="0" smtClean="0"/>
                <a:t>Site RH</a:t>
              </a:r>
            </a:p>
            <a:p>
              <a:pPr algn="ctr"/>
              <a:r>
                <a:rPr lang="pt-BR" sz="900" b="1" dirty="0" smtClean="0"/>
                <a:t>Documentos</a:t>
              </a:r>
              <a:endParaRPr lang="en-US" sz="900" b="1" dirty="0"/>
            </a:p>
          </p:txBody>
        </p:sp>
      </p:grpSp>
      <p:sp>
        <p:nvSpPr>
          <p:cNvPr id="41" name="CaixaDeTexto 40"/>
          <p:cNvSpPr txBox="1"/>
          <p:nvPr/>
        </p:nvSpPr>
        <p:spPr>
          <a:xfrm>
            <a:off x="6092882" y="599595"/>
            <a:ext cx="15392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b="1" dirty="0" smtClean="0"/>
              <a:t>SHAREPOINT ONLINE</a:t>
            </a:r>
          </a:p>
        </p:txBody>
      </p:sp>
      <p:pic>
        <p:nvPicPr>
          <p:cNvPr id="42" name="Imagem 4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45753" y="2442607"/>
            <a:ext cx="354185" cy="1406323"/>
          </a:xfrm>
          <a:prstGeom prst="rect">
            <a:avLst/>
          </a:prstGeom>
        </p:spPr>
      </p:pic>
      <p:pic>
        <p:nvPicPr>
          <p:cNvPr id="43" name="Imagem 4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77802" y="2442608"/>
            <a:ext cx="354185" cy="1406323"/>
          </a:xfrm>
          <a:prstGeom prst="rect">
            <a:avLst/>
          </a:prstGeom>
        </p:spPr>
      </p:pic>
      <p:pic>
        <p:nvPicPr>
          <p:cNvPr id="44" name="Imagem 4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0800000">
            <a:off x="5469840" y="2400404"/>
            <a:ext cx="354185" cy="1406323"/>
          </a:xfrm>
          <a:prstGeom prst="rect">
            <a:avLst/>
          </a:prstGeom>
        </p:spPr>
      </p:pic>
      <p:pic>
        <p:nvPicPr>
          <p:cNvPr id="45" name="Imagem 4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0800000">
            <a:off x="7591716" y="2426195"/>
            <a:ext cx="354185" cy="140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749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9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000"/>
                            </p:stCondLst>
                            <p:childTnLst>
                              <p:par>
                                <p:cTn id="3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9000"/>
                            </p:stCondLst>
                            <p:childTnLst>
                              <p:par>
                                <p:cTn id="3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0"/>
                            </p:stCondLst>
                            <p:childTnLst>
                              <p:par>
                                <p:cTn id="41" presetID="6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3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7000"/>
                            </p:stCondLst>
                            <p:childTnLst>
                              <p:par>
                                <p:cTn id="49" presetID="6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4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80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90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30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4500"/>
                            </p:stCondLst>
                            <p:childTnLst>
                              <p:par>
                                <p:cTn id="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60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40000"/>
                            </p:stCondLst>
                            <p:childTnLst>
                              <p:par>
                                <p:cTn id="8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410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4000"/>
                            </p:stCondLst>
                            <p:childTnLst>
                              <p:par>
                                <p:cTn id="9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450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900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3000"/>
                            </p:stCondLst>
                            <p:childTnLst>
                              <p:par>
                                <p:cTn id="10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3500"/>
                            </p:stCondLst>
                            <p:childTnLst>
                              <p:par>
                                <p:cTn id="10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4000"/>
                            </p:stCondLst>
                            <p:childTnLst>
                              <p:par>
                                <p:cTn id="113" presetID="16" presetClass="entr" presetSubtype="2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6500"/>
                            </p:stCondLst>
                            <p:childTnLst>
                              <p:par>
                                <p:cTn id="1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8" grpId="0"/>
      <p:bldP spid="20" grpId="0"/>
      <p:bldP spid="23" grpId="0"/>
      <p:bldP spid="26" grpId="0"/>
      <p:bldP spid="27" grpId="0"/>
      <p:bldP spid="28" grpId="0"/>
      <p:bldP spid="4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1562636" y="1856459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b="1" dirty="0" smtClean="0"/>
              <a:t>Agora você sabe a diferença entre </a:t>
            </a:r>
          </a:p>
          <a:p>
            <a:pPr algn="ctr"/>
            <a:r>
              <a:rPr lang="pt-BR" b="1" dirty="0" smtClean="0"/>
              <a:t>ONEDRIVE e ONDRIVE FOR BUSINESS!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9473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344</Words>
  <Application>Microsoft Office PowerPoint</Application>
  <PresentationFormat>Widescreen</PresentationFormat>
  <Paragraphs>116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do Office</vt:lpstr>
      <vt:lpstr>O que é o Onedrive?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que é o Onedrive?</dc:title>
  <dc:creator>Rodrigo Velkis</dc:creator>
  <cp:lastModifiedBy>Rodrigo Velkis de Lima</cp:lastModifiedBy>
  <cp:revision>21</cp:revision>
  <dcterms:created xsi:type="dcterms:W3CDTF">2015-07-06T12:52:40Z</dcterms:created>
  <dcterms:modified xsi:type="dcterms:W3CDTF">2016-08-10T13:04:41Z</dcterms:modified>
</cp:coreProperties>
</file>