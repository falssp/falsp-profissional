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339" r:id="rId2"/>
  </p:sldIdLst>
  <p:sldSz cx="9601200" cy="12801600" type="A3"/>
  <p:notesSz cx="6858000" cy="9144000"/>
  <p:defaultTextStyle>
    <a:defPPr>
      <a:defRPr lang="en-US"/>
    </a:defPPr>
    <a:lvl1pPr marL="0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10845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21692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32539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43384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54231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65077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75923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86769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orient="horz" pos="4032">
          <p15:clr>
            <a:srgbClr val="A4A3A4"/>
          </p15:clr>
        </p15:guide>
        <p15:guide id="4" pos="30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7124"/>
    <a:srgbClr val="FF6600"/>
    <a:srgbClr val="FF9900"/>
    <a:srgbClr val="FF8E2D"/>
    <a:srgbClr val="F68E1E"/>
    <a:srgbClr val="99CCFF"/>
    <a:srgbClr val="000000"/>
    <a:srgbClr val="EE6829"/>
    <a:srgbClr val="E28734"/>
    <a:srgbClr val="F4BC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18" autoAdjust="0"/>
    <p:restoredTop sz="94660"/>
  </p:normalViewPr>
  <p:slideViewPr>
    <p:cSldViewPr snapToGrid="0" snapToObjects="1">
      <p:cViewPr varScale="1">
        <p:scale>
          <a:sx n="38" d="100"/>
          <a:sy n="38" d="100"/>
        </p:scale>
        <p:origin x="2322" y="114"/>
      </p:cViewPr>
      <p:guideLst>
        <p:guide orient="horz" pos="3120"/>
        <p:guide pos="2160"/>
        <p:guide orient="horz" pos="4032"/>
        <p:guide pos="302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22/08/2016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685800"/>
            <a:ext cx="2571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10845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21692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32539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43384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54231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65077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75923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86769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0091" y="3976801"/>
            <a:ext cx="8161020" cy="27440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181" y="7254240"/>
            <a:ext cx="6720840" cy="32715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823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646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46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5292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41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2938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1761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70584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8429" y="8226220"/>
            <a:ext cx="8161020" cy="2542540"/>
          </a:xfrm>
        </p:spPr>
        <p:txBody>
          <a:bodyPr anchor="t"/>
          <a:lstStyle>
            <a:lvl1pPr algn="l">
              <a:defRPr sz="7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429" y="5425867"/>
            <a:ext cx="8161020" cy="2800349"/>
          </a:xfrm>
        </p:spPr>
        <p:txBody>
          <a:bodyPr anchor="b"/>
          <a:lstStyle>
            <a:lvl1pPr marL="0" indent="0">
              <a:buNone/>
              <a:defRPr sz="3900">
                <a:solidFill>
                  <a:schemeClr val="tx1">
                    <a:tint val="75000"/>
                  </a:schemeClr>
                </a:solidFill>
              </a:defRPr>
            </a:lvl1pPr>
            <a:lvl2pPr marL="882307" indent="0">
              <a:buNone/>
              <a:defRPr sz="3500">
                <a:solidFill>
                  <a:schemeClr val="tx1">
                    <a:tint val="75000"/>
                  </a:schemeClr>
                </a:solidFill>
              </a:defRPr>
            </a:lvl2pPr>
            <a:lvl3pPr marL="1764612" indent="0">
              <a:buNone/>
              <a:defRPr sz="3100">
                <a:solidFill>
                  <a:schemeClr val="tx1">
                    <a:tint val="75000"/>
                  </a:schemeClr>
                </a:solidFill>
              </a:defRPr>
            </a:lvl3pPr>
            <a:lvl4pPr marL="264691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4pPr>
            <a:lvl5pPr marL="3529226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5pPr>
            <a:lvl6pPr marL="441153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6pPr>
            <a:lvl7pPr marL="5293837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7pPr>
            <a:lvl8pPr marL="6176143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8pPr>
            <a:lvl9pPr marL="705844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0061" y="2987047"/>
            <a:ext cx="4240530" cy="8448464"/>
          </a:xfrm>
        </p:spPr>
        <p:txBody>
          <a:bodyPr/>
          <a:lstStyle>
            <a:lvl1pPr>
              <a:defRPr sz="5300"/>
            </a:lvl1pPr>
            <a:lvl2pPr>
              <a:defRPr sz="4500"/>
            </a:lvl2pPr>
            <a:lvl3pPr>
              <a:defRPr sz="3900"/>
            </a:lvl3pPr>
            <a:lvl4pPr>
              <a:defRPr sz="3500"/>
            </a:lvl4pPr>
            <a:lvl5pPr>
              <a:defRPr sz="3500"/>
            </a:lvl5pPr>
            <a:lvl6pPr>
              <a:defRPr sz="3500"/>
            </a:lvl6pPr>
            <a:lvl7pPr>
              <a:defRPr sz="3500"/>
            </a:lvl7pPr>
            <a:lvl8pPr>
              <a:defRPr sz="3500"/>
            </a:lvl8pPr>
            <a:lvl9pPr>
              <a:defRPr sz="3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0610" y="2987047"/>
            <a:ext cx="4240530" cy="8448464"/>
          </a:xfrm>
        </p:spPr>
        <p:txBody>
          <a:bodyPr/>
          <a:lstStyle>
            <a:lvl1pPr>
              <a:defRPr sz="5300"/>
            </a:lvl1pPr>
            <a:lvl2pPr>
              <a:defRPr sz="4500"/>
            </a:lvl2pPr>
            <a:lvl3pPr>
              <a:defRPr sz="3900"/>
            </a:lvl3pPr>
            <a:lvl4pPr>
              <a:defRPr sz="3500"/>
            </a:lvl4pPr>
            <a:lvl5pPr>
              <a:defRPr sz="3500"/>
            </a:lvl5pPr>
            <a:lvl6pPr>
              <a:defRPr sz="3500"/>
            </a:lvl6pPr>
            <a:lvl7pPr>
              <a:defRPr sz="3500"/>
            </a:lvl7pPr>
            <a:lvl8pPr>
              <a:defRPr sz="3500"/>
            </a:lvl8pPr>
            <a:lvl9pPr>
              <a:defRPr sz="3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62" y="2865546"/>
            <a:ext cx="4242197" cy="1194223"/>
          </a:xfrm>
        </p:spPr>
        <p:txBody>
          <a:bodyPr anchor="b"/>
          <a:lstStyle>
            <a:lvl1pPr marL="0" indent="0">
              <a:buNone/>
              <a:defRPr sz="4500" b="1"/>
            </a:lvl1pPr>
            <a:lvl2pPr marL="882307" indent="0">
              <a:buNone/>
              <a:defRPr sz="3900" b="1"/>
            </a:lvl2pPr>
            <a:lvl3pPr marL="1764612" indent="0">
              <a:buNone/>
              <a:defRPr sz="3500" b="1"/>
            </a:lvl3pPr>
            <a:lvl4pPr marL="2646919" indent="0">
              <a:buNone/>
              <a:defRPr sz="3100" b="1"/>
            </a:lvl4pPr>
            <a:lvl5pPr marL="3529226" indent="0">
              <a:buNone/>
              <a:defRPr sz="3100" b="1"/>
            </a:lvl5pPr>
            <a:lvl6pPr marL="4411530" indent="0">
              <a:buNone/>
              <a:defRPr sz="3100" b="1"/>
            </a:lvl6pPr>
            <a:lvl7pPr marL="5293837" indent="0">
              <a:buNone/>
              <a:defRPr sz="3100" b="1"/>
            </a:lvl7pPr>
            <a:lvl8pPr marL="6176143" indent="0">
              <a:buNone/>
              <a:defRPr sz="3100" b="1"/>
            </a:lvl8pPr>
            <a:lvl9pPr marL="7058449" indent="0">
              <a:buNone/>
              <a:defRPr sz="3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2" y="4059766"/>
            <a:ext cx="4242197" cy="7375738"/>
          </a:xfrm>
        </p:spPr>
        <p:txBody>
          <a:bodyPr/>
          <a:lstStyle>
            <a:lvl1pPr>
              <a:defRPr sz="4500"/>
            </a:lvl1pPr>
            <a:lvl2pPr>
              <a:defRPr sz="3900"/>
            </a:lvl2pPr>
            <a:lvl3pPr>
              <a:defRPr sz="35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77278" y="2865546"/>
            <a:ext cx="4243865" cy="1194223"/>
          </a:xfrm>
        </p:spPr>
        <p:txBody>
          <a:bodyPr anchor="b"/>
          <a:lstStyle>
            <a:lvl1pPr marL="0" indent="0">
              <a:buNone/>
              <a:defRPr sz="4500" b="1"/>
            </a:lvl1pPr>
            <a:lvl2pPr marL="882307" indent="0">
              <a:buNone/>
              <a:defRPr sz="3900" b="1"/>
            </a:lvl2pPr>
            <a:lvl3pPr marL="1764612" indent="0">
              <a:buNone/>
              <a:defRPr sz="3500" b="1"/>
            </a:lvl3pPr>
            <a:lvl4pPr marL="2646919" indent="0">
              <a:buNone/>
              <a:defRPr sz="3100" b="1"/>
            </a:lvl4pPr>
            <a:lvl5pPr marL="3529226" indent="0">
              <a:buNone/>
              <a:defRPr sz="3100" b="1"/>
            </a:lvl5pPr>
            <a:lvl6pPr marL="4411530" indent="0">
              <a:buNone/>
              <a:defRPr sz="3100" b="1"/>
            </a:lvl6pPr>
            <a:lvl7pPr marL="5293837" indent="0">
              <a:buNone/>
              <a:defRPr sz="3100" b="1"/>
            </a:lvl7pPr>
            <a:lvl8pPr marL="6176143" indent="0">
              <a:buNone/>
              <a:defRPr sz="3100" b="1"/>
            </a:lvl8pPr>
            <a:lvl9pPr marL="7058449" indent="0">
              <a:buNone/>
              <a:defRPr sz="3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77278" y="4059766"/>
            <a:ext cx="4243865" cy="7375738"/>
          </a:xfrm>
        </p:spPr>
        <p:txBody>
          <a:bodyPr/>
          <a:lstStyle>
            <a:lvl1pPr>
              <a:defRPr sz="4500"/>
            </a:lvl1pPr>
            <a:lvl2pPr>
              <a:defRPr sz="3900"/>
            </a:lvl2pPr>
            <a:lvl3pPr>
              <a:defRPr sz="35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2" y="509693"/>
            <a:ext cx="3158729" cy="2169160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53806" y="509699"/>
            <a:ext cx="5367337" cy="10925812"/>
          </a:xfrm>
        </p:spPr>
        <p:txBody>
          <a:bodyPr/>
          <a:lstStyle>
            <a:lvl1pPr>
              <a:defRPr sz="6100"/>
            </a:lvl1pPr>
            <a:lvl2pPr>
              <a:defRPr sz="5300"/>
            </a:lvl2pPr>
            <a:lvl3pPr>
              <a:defRPr sz="4500"/>
            </a:lvl3pPr>
            <a:lvl4pPr>
              <a:defRPr sz="3900"/>
            </a:lvl4pPr>
            <a:lvl5pPr>
              <a:defRPr sz="3900"/>
            </a:lvl5pPr>
            <a:lvl6pPr>
              <a:defRPr sz="3900"/>
            </a:lvl6pPr>
            <a:lvl7pPr>
              <a:defRPr sz="3900"/>
            </a:lvl7pPr>
            <a:lvl8pPr>
              <a:defRPr sz="3900"/>
            </a:lvl8pPr>
            <a:lvl9pPr>
              <a:defRPr sz="3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62" y="2678861"/>
            <a:ext cx="3158729" cy="8756651"/>
          </a:xfrm>
        </p:spPr>
        <p:txBody>
          <a:bodyPr/>
          <a:lstStyle>
            <a:lvl1pPr marL="0" indent="0">
              <a:buNone/>
              <a:defRPr sz="2700"/>
            </a:lvl1pPr>
            <a:lvl2pPr marL="882307" indent="0">
              <a:buNone/>
              <a:defRPr sz="2300"/>
            </a:lvl2pPr>
            <a:lvl3pPr marL="1764612" indent="0">
              <a:buNone/>
              <a:defRPr sz="1900"/>
            </a:lvl3pPr>
            <a:lvl4pPr marL="2646919" indent="0">
              <a:buNone/>
              <a:defRPr sz="1700"/>
            </a:lvl4pPr>
            <a:lvl5pPr marL="3529226" indent="0">
              <a:buNone/>
              <a:defRPr sz="1700"/>
            </a:lvl5pPr>
            <a:lvl6pPr marL="4411530" indent="0">
              <a:buNone/>
              <a:defRPr sz="1700"/>
            </a:lvl6pPr>
            <a:lvl7pPr marL="5293837" indent="0">
              <a:buNone/>
              <a:defRPr sz="1700"/>
            </a:lvl7pPr>
            <a:lvl8pPr marL="6176143" indent="0">
              <a:buNone/>
              <a:defRPr sz="1700"/>
            </a:lvl8pPr>
            <a:lvl9pPr marL="7058449" indent="0">
              <a:buNone/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1904" y="8961120"/>
            <a:ext cx="5760720" cy="1057912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881904" y="1143846"/>
            <a:ext cx="5760720" cy="7680960"/>
          </a:xfrm>
        </p:spPr>
        <p:txBody>
          <a:bodyPr/>
          <a:lstStyle>
            <a:lvl1pPr marL="0" indent="0">
              <a:buNone/>
              <a:defRPr sz="6100"/>
            </a:lvl1pPr>
            <a:lvl2pPr marL="882307" indent="0">
              <a:buNone/>
              <a:defRPr sz="5300"/>
            </a:lvl2pPr>
            <a:lvl3pPr marL="1764612" indent="0">
              <a:buNone/>
              <a:defRPr sz="4500"/>
            </a:lvl3pPr>
            <a:lvl4pPr marL="2646919" indent="0">
              <a:buNone/>
              <a:defRPr sz="3900"/>
            </a:lvl4pPr>
            <a:lvl5pPr marL="3529226" indent="0">
              <a:buNone/>
              <a:defRPr sz="3900"/>
            </a:lvl5pPr>
            <a:lvl6pPr marL="4411530" indent="0">
              <a:buNone/>
              <a:defRPr sz="3900"/>
            </a:lvl6pPr>
            <a:lvl7pPr marL="5293837" indent="0">
              <a:buNone/>
              <a:defRPr sz="3900"/>
            </a:lvl7pPr>
            <a:lvl8pPr marL="6176143" indent="0">
              <a:buNone/>
              <a:defRPr sz="3900"/>
            </a:lvl8pPr>
            <a:lvl9pPr marL="7058449" indent="0">
              <a:buNone/>
              <a:defRPr sz="39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1904" y="10019032"/>
            <a:ext cx="5760720" cy="1502408"/>
          </a:xfrm>
        </p:spPr>
        <p:txBody>
          <a:bodyPr/>
          <a:lstStyle>
            <a:lvl1pPr marL="0" indent="0">
              <a:buNone/>
              <a:defRPr sz="2700"/>
            </a:lvl1pPr>
            <a:lvl2pPr marL="882307" indent="0">
              <a:buNone/>
              <a:defRPr sz="2300"/>
            </a:lvl2pPr>
            <a:lvl3pPr marL="1764612" indent="0">
              <a:buNone/>
              <a:defRPr sz="1900"/>
            </a:lvl3pPr>
            <a:lvl4pPr marL="2646919" indent="0">
              <a:buNone/>
              <a:defRPr sz="1700"/>
            </a:lvl4pPr>
            <a:lvl5pPr marL="3529226" indent="0">
              <a:buNone/>
              <a:defRPr sz="1700"/>
            </a:lvl5pPr>
            <a:lvl6pPr marL="4411530" indent="0">
              <a:buNone/>
              <a:defRPr sz="1700"/>
            </a:lvl6pPr>
            <a:lvl7pPr marL="5293837" indent="0">
              <a:buNone/>
              <a:defRPr sz="1700"/>
            </a:lvl7pPr>
            <a:lvl8pPr marL="6176143" indent="0">
              <a:buNone/>
              <a:defRPr sz="1700"/>
            </a:lvl8pPr>
            <a:lvl9pPr marL="7058449" indent="0">
              <a:buNone/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60870" y="512666"/>
            <a:ext cx="2160270" cy="109228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0060" y="512666"/>
            <a:ext cx="6320790" cy="109228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0060" y="512657"/>
            <a:ext cx="8641080" cy="2133600"/>
          </a:xfrm>
          <a:prstGeom prst="rect">
            <a:avLst/>
          </a:prstGeom>
        </p:spPr>
        <p:txBody>
          <a:bodyPr vert="horz" lIns="122169" tIns="61085" rIns="122169" bIns="61085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60" y="2987047"/>
            <a:ext cx="8641080" cy="8448464"/>
          </a:xfrm>
          <a:prstGeom prst="rect">
            <a:avLst/>
          </a:prstGeom>
        </p:spPr>
        <p:txBody>
          <a:bodyPr vert="horz" lIns="122169" tIns="61085" rIns="122169" bIns="61085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0060" y="11865194"/>
            <a:ext cx="2240280" cy="681567"/>
          </a:xfrm>
          <a:prstGeom prst="rect">
            <a:avLst/>
          </a:prstGeom>
        </p:spPr>
        <p:txBody>
          <a:bodyPr vert="horz" lIns="122169" tIns="61085" rIns="122169" bIns="61085" rtlCol="0" anchor="ctr"/>
          <a:lstStyle>
            <a:lvl1pPr algn="l">
              <a:defRPr sz="2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8/22/2016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0410" y="11865194"/>
            <a:ext cx="3040380" cy="681567"/>
          </a:xfrm>
          <a:prstGeom prst="rect">
            <a:avLst/>
          </a:prstGeom>
        </p:spPr>
        <p:txBody>
          <a:bodyPr vert="horz" lIns="122169" tIns="61085" rIns="122169" bIns="61085" rtlCol="0" anchor="ctr"/>
          <a:lstStyle>
            <a:lvl1pPr algn="ctr">
              <a:defRPr sz="2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0860" y="11865194"/>
            <a:ext cx="2240280" cy="681567"/>
          </a:xfrm>
          <a:prstGeom prst="rect">
            <a:avLst/>
          </a:prstGeom>
        </p:spPr>
        <p:txBody>
          <a:bodyPr vert="horz" lIns="122169" tIns="61085" rIns="122169" bIns="61085" rtlCol="0" anchor="ctr"/>
          <a:lstStyle>
            <a:lvl1pPr algn="r">
              <a:defRPr sz="2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2307" rtl="0" eaLnBrk="1" latinLnBrk="0" hangingPunct="1">
        <a:spcBef>
          <a:spcPct val="0"/>
        </a:spcBef>
        <a:buNone/>
        <a:defRPr sz="8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61729" indent="-661729" algn="l" defTabSz="882307" rtl="0" eaLnBrk="1" latinLnBrk="0" hangingPunct="1">
        <a:spcBef>
          <a:spcPct val="20000"/>
        </a:spcBef>
        <a:buFont typeface="Arial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1pPr>
      <a:lvl2pPr marL="1433747" indent="-551440" algn="l" defTabSz="882307" rtl="0" eaLnBrk="1" latinLnBrk="0" hangingPunct="1">
        <a:spcBef>
          <a:spcPct val="20000"/>
        </a:spcBef>
        <a:buFont typeface="Arial"/>
        <a:buChar char="–"/>
        <a:defRPr sz="5300" kern="1200">
          <a:solidFill>
            <a:schemeClr val="tx1"/>
          </a:solidFill>
          <a:latin typeface="+mn-lt"/>
          <a:ea typeface="+mn-ea"/>
          <a:cs typeface="+mn-cs"/>
        </a:defRPr>
      </a:lvl2pPr>
      <a:lvl3pPr marL="2205765" indent="-441154" algn="l" defTabSz="882307" rtl="0" eaLnBrk="1" latinLnBrk="0" hangingPunct="1">
        <a:spcBef>
          <a:spcPct val="20000"/>
        </a:spcBef>
        <a:buFont typeface="Arial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088072" indent="-441154" algn="l" defTabSz="882307" rtl="0" eaLnBrk="1" latinLnBrk="0" hangingPunct="1">
        <a:spcBef>
          <a:spcPct val="20000"/>
        </a:spcBef>
        <a:buFont typeface="Arial"/>
        <a:buChar char="–"/>
        <a:defRPr sz="3900" kern="1200">
          <a:solidFill>
            <a:schemeClr val="tx1"/>
          </a:solidFill>
          <a:latin typeface="+mn-lt"/>
          <a:ea typeface="+mn-ea"/>
          <a:cs typeface="+mn-cs"/>
        </a:defRPr>
      </a:lvl4pPr>
      <a:lvl5pPr marL="3970378" indent="-441154" algn="l" defTabSz="882307" rtl="0" eaLnBrk="1" latinLnBrk="0" hangingPunct="1">
        <a:spcBef>
          <a:spcPct val="20000"/>
        </a:spcBef>
        <a:buFont typeface="Arial"/>
        <a:buChar char="»"/>
        <a:defRPr sz="3900" kern="1200">
          <a:solidFill>
            <a:schemeClr val="tx1"/>
          </a:solidFill>
          <a:latin typeface="+mn-lt"/>
          <a:ea typeface="+mn-ea"/>
          <a:cs typeface="+mn-cs"/>
        </a:defRPr>
      </a:lvl5pPr>
      <a:lvl6pPr marL="4852684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6pPr>
      <a:lvl7pPr marL="5734991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7pPr>
      <a:lvl8pPr marL="6617297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8pPr>
      <a:lvl9pPr marL="7499603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82307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764612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3pPr>
      <a:lvl4pPr marL="2646919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4pPr>
      <a:lvl5pPr marL="3529226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5pPr>
      <a:lvl6pPr marL="4411530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5293837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7pPr>
      <a:lvl8pPr marL="6176143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8pPr>
      <a:lvl9pPr marL="7058449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aixaDeTexto 22"/>
          <p:cNvSpPr txBox="1"/>
          <p:nvPr/>
        </p:nvSpPr>
        <p:spPr>
          <a:xfrm>
            <a:off x="5220209" y="6463808"/>
            <a:ext cx="3852000" cy="1328302"/>
          </a:xfrm>
          <a:prstGeom prst="roundRect">
            <a:avLst>
              <a:gd name="adj" fmla="val 17666"/>
            </a:avLst>
          </a:prstGeom>
          <a:noFill/>
          <a:ln>
            <a:solidFill>
              <a:srgbClr val="F57124"/>
            </a:solidFill>
          </a:ln>
        </p:spPr>
        <p:txBody>
          <a:bodyPr wrap="square" lIns="122169" tIns="61085" rIns="122169" bIns="61085" rtlCol="0">
            <a:spAutoFit/>
          </a:bodyPr>
          <a:lstStyle/>
          <a:p>
            <a:pPr marL="1080000">
              <a:lnSpc>
                <a:spcPts val="2100"/>
              </a:lnSpc>
            </a:pPr>
            <a:r>
              <a:rPr lang="pt-BR" sz="1600" u="sng" dirty="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Atenção</a:t>
            </a:r>
            <a:r>
              <a:rPr lang="pt-BR" sz="1600" dirty="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pt-BR" sz="1600" b="1" dirty="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 serviço de e-mails estará indisponível das 10h00 do dia 27/08 até 04h00 do dia </a:t>
            </a:r>
            <a:r>
              <a:rPr lang="pt-BR" sz="1600" b="1" dirty="0" smtClean="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29/08</a:t>
            </a:r>
            <a:r>
              <a:rPr lang="pt-BR" sz="1600" b="1" dirty="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" y="86165"/>
            <a:ext cx="9361170" cy="2043332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120015" y="86163"/>
            <a:ext cx="9359280" cy="12607754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2169" tIns="61085" rIns="122169" bIns="61085" rtlCol="0" anchor="ctr"/>
          <a:lstStyle/>
          <a:p>
            <a:pPr algn="ctr"/>
            <a:endParaRPr lang="en-US"/>
          </a:p>
        </p:txBody>
      </p:sp>
      <p:sp>
        <p:nvSpPr>
          <p:cNvPr id="20" name="CaixaDeTexto 19"/>
          <p:cNvSpPr txBox="1"/>
          <p:nvPr/>
        </p:nvSpPr>
        <p:spPr>
          <a:xfrm>
            <a:off x="236670" y="3536731"/>
            <a:ext cx="4547235" cy="4534827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1604"/>
              </a:spcAft>
            </a:pPr>
            <a:r>
              <a:rPr lang="pt-BR" sz="20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Objetivo</a:t>
            </a:r>
            <a:endParaRPr lang="pt-BR" b="1" dirty="0">
              <a:solidFill>
                <a:srgbClr val="7030A0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720000" indent="-36000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 a Finalidade de melhorar e facilitar a atividade do dia a dia, a TI de Infraestrutura vai proporcionar aos seus usuários a unificação das credenciais de rede com a mesma credencial de e-mail.</a:t>
            </a:r>
          </a:p>
          <a:p>
            <a:pPr marL="720000" indent="-36000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TI-Infra </a:t>
            </a:r>
            <a:r>
              <a:rPr lang="pt-BR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 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vai realizar a migração e todas as contas de e-mail que estão sobre a gestão da GOL para Smiles (nome.sobrenome@smiles.com.br).</a:t>
            </a:r>
          </a:p>
          <a:p>
            <a:pPr marL="720000" indent="-36000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 objetivo desta unificação é proporcionar maior facilidade de acesso às contas de rede com as contas de e-mail Smiles, ganhando agilidade no dia a dia.</a:t>
            </a:r>
            <a:endParaRPr lang="pt-BR" sz="1600" u="sng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m 24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535920" y="3603108"/>
            <a:ext cx="554400" cy="511754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1" name="CaixaDeTexto 30"/>
          <p:cNvSpPr txBox="1"/>
          <p:nvPr/>
        </p:nvSpPr>
        <p:spPr>
          <a:xfrm>
            <a:off x="330839" y="7898749"/>
            <a:ext cx="8987331" cy="3390924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1604"/>
              </a:spcAft>
            </a:pPr>
            <a:r>
              <a:rPr lang="pt-BR" sz="20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 que muda para os colaboradores Smiles?</a:t>
            </a:r>
            <a:endParaRPr lang="pt-BR" b="1" dirty="0">
              <a:solidFill>
                <a:srgbClr val="7030A0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>
              <a:spcAft>
                <a:spcPts val="1800"/>
              </a:spcAft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partir dessa alteração, os colaboradores Smiles passarão a utilizar a </a:t>
            </a:r>
            <a:r>
              <a:rPr lang="pt-BR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MESMA SENHA DE REDE SMILES 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acessar as suas contas de e-mail, isso de forma automática.</a:t>
            </a:r>
          </a:p>
          <a:p>
            <a:pPr>
              <a:spcAft>
                <a:spcPts val="802"/>
              </a:spcAft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É importante ressaltar que os </a:t>
            </a:r>
            <a:r>
              <a:rPr lang="pt-BR" sz="16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usuários não serão alterados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pPr lvl="1" indent="-36000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acessar a Rede e recursos da GOL (</a:t>
            </a:r>
            <a:r>
              <a:rPr lang="pt-BR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File server, Portal GOL, </a:t>
            </a:r>
            <a:r>
              <a:rPr lang="pt-BR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etc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), os usuários permanecem GOL_SBC\</a:t>
            </a:r>
            <a:r>
              <a:rPr lang="pt-BR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.&lt;</a:t>
            </a:r>
            <a:r>
              <a:rPr lang="pt-BR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seu_usuário</a:t>
            </a: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&gt;.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 indent="-36000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600" b="1" dirty="0" smtClean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Podem </a:t>
            </a:r>
            <a:r>
              <a:rPr lang="pt-BR" sz="1600" b="1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ficar tranquilos, nenhum e-mail será perdido! 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 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802"/>
              </a:spcAft>
            </a:pPr>
            <a:r>
              <a:rPr lang="pt-BR" sz="16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Importante: 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 recurso de </a:t>
            </a:r>
            <a:r>
              <a:rPr lang="pt-BR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Auto-completar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não irá funcionar para os e-mails </a:t>
            </a:r>
            <a:r>
              <a:rPr lang="pt-BR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@smiles.com.br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por conta disso será necessário seguir o procedimento anexo de renovação do </a:t>
            </a:r>
            <a:r>
              <a:rPr lang="pt-BR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Auto-completar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Também teremos analistas a disposição para ajudar no procedimento em caso de duvidas.</a:t>
            </a:r>
          </a:p>
        </p:txBody>
      </p:sp>
      <p:pic>
        <p:nvPicPr>
          <p:cNvPr id="1024" name="Imagem 1023"/>
          <p:cNvPicPr>
            <a:picLocks noChangeAspect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2191" y="4717106"/>
            <a:ext cx="540000" cy="498461"/>
          </a:xfrm>
          <a:prstGeom prst="rect">
            <a:avLst/>
          </a:prstGeom>
        </p:spPr>
      </p:pic>
      <p:sp>
        <p:nvSpPr>
          <p:cNvPr id="34" name="CaixaDeTexto 33"/>
          <p:cNvSpPr txBox="1"/>
          <p:nvPr/>
        </p:nvSpPr>
        <p:spPr>
          <a:xfrm>
            <a:off x="409296" y="11224869"/>
            <a:ext cx="8749218" cy="1292914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 marL="0" lvl="1">
              <a:spcAft>
                <a:spcPts val="600"/>
              </a:spcAft>
            </a:pPr>
            <a:r>
              <a:rPr lang="pt-BR" sz="1600" b="1" dirty="0" smtClean="0">
                <a:solidFill>
                  <a:srgbClr val="FF660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No dia (29/08</a:t>
            </a:r>
            <a:r>
              <a:rPr lang="pt-BR" sz="1600" b="1" dirty="0">
                <a:solidFill>
                  <a:srgbClr val="FF660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) temos um contingente maior de analistas desde as 8:00 da manhã para ajudar os usuários em caso de problema de acesso ao e-mail. Conte conosco.	</a:t>
            </a:r>
            <a:endParaRPr lang="pt-BR" sz="1600" b="1" dirty="0" smtClean="0">
              <a:solidFill>
                <a:srgbClr val="FF6600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0" lvl="1">
              <a:spcAft>
                <a:spcPts val="600"/>
              </a:spcAft>
            </a:pPr>
            <a:endParaRPr lang="pt-BR" sz="1600" b="1" dirty="0">
              <a:solidFill>
                <a:srgbClr val="FF6600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0" lvl="1">
              <a:spcAft>
                <a:spcPts val="600"/>
              </a:spcAft>
            </a:pPr>
            <a:r>
              <a:rPr lang="pt-BR" sz="1600" b="1" dirty="0">
                <a:solidFill>
                  <a:srgbClr val="FF660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		</a:t>
            </a:r>
            <a:r>
              <a:rPr lang="pt-BR" sz="18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Obrigado! Central de Serviços de TI</a:t>
            </a:r>
            <a:endParaRPr lang="pt-BR" sz="18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CaixaDeTexto 34"/>
          <p:cNvSpPr txBox="1"/>
          <p:nvPr/>
        </p:nvSpPr>
        <p:spPr>
          <a:xfrm>
            <a:off x="8032202" y="158571"/>
            <a:ext cx="1447095" cy="492695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 algn="ctr">
              <a:spcAft>
                <a:spcPts val="1604"/>
              </a:spcAft>
            </a:pPr>
            <a:r>
              <a:rPr lang="pt-BR" b="1" smtClean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27.Ago</a:t>
            </a:r>
            <a:endParaRPr lang="pt-BR" b="1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CaixaDeTexto 17"/>
          <p:cNvSpPr txBox="1"/>
          <p:nvPr/>
        </p:nvSpPr>
        <p:spPr>
          <a:xfrm>
            <a:off x="265890" y="2395103"/>
            <a:ext cx="5249540" cy="1108248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3000"/>
              </a:spcAft>
            </a:pPr>
            <a:r>
              <a:rPr lang="pt-BR" sz="32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Unificação de Senhas de E-mail com a da Rede Smiles</a:t>
            </a:r>
          </a:p>
        </p:txBody>
      </p:sp>
      <p:sp>
        <p:nvSpPr>
          <p:cNvPr id="19" name="CaixaDeTexto 18"/>
          <p:cNvSpPr txBox="1"/>
          <p:nvPr/>
        </p:nvSpPr>
        <p:spPr>
          <a:xfrm>
            <a:off x="4813125" y="4863101"/>
            <a:ext cx="4240525" cy="1374988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1604"/>
              </a:spcAft>
            </a:pPr>
            <a:r>
              <a:rPr lang="pt-BR" sz="20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Programação da Unificação</a:t>
            </a:r>
            <a:endParaRPr lang="pt-BR" b="1" dirty="0">
              <a:solidFill>
                <a:srgbClr val="7030A0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360000">
              <a:spcAft>
                <a:spcPts val="802"/>
              </a:spcAft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TI-Infraestrutura realizará a unificação das contas de Rede SMILES com as contas de e-mail em </a:t>
            </a:r>
            <a:r>
              <a:rPr lang="pt-BR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27 de Agosto</a:t>
            </a: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1026" name="Picture 2" descr="http://noticias.universia.com.br/br/images/docentes/m/ma/man/maneiras-de-escrever-email-para-network-noticias.jpg"/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8455" y="2395103"/>
            <a:ext cx="3238500" cy="185737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solidFill>
              <a:srgbClr val="F5712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/>
        </p:spPr>
      </p:pic>
      <p:pic>
        <p:nvPicPr>
          <p:cNvPr id="1028" name="Picture 4" descr="https://pixabay.com/static/uploads/photo/2014/04/02/16/21/attention-307030_960_720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0811" y="6712315"/>
            <a:ext cx="896913" cy="808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329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3489</TotalTime>
  <Words>302</Words>
  <Application>Microsoft Office PowerPoint</Application>
  <PresentationFormat>Papel A3 (297x420 mm)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Arial</vt:lpstr>
      <vt:lpstr>Calibri</vt:lpstr>
      <vt:lpstr>Segoe UI</vt:lpstr>
      <vt:lpstr>Segoe UI Semibold</vt:lpstr>
      <vt:lpstr>Wingdings</vt:lpstr>
      <vt:lpstr>Office Theme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fred</dc:creator>
  <cp:lastModifiedBy>Luiz Rabello</cp:lastModifiedBy>
  <cp:revision>289</cp:revision>
  <dcterms:created xsi:type="dcterms:W3CDTF">2014-01-24T21:35:00Z</dcterms:created>
  <dcterms:modified xsi:type="dcterms:W3CDTF">2016-08-22T11:56:38Z</dcterms:modified>
</cp:coreProperties>
</file>