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344" r:id="rId2"/>
    <p:sldId id="339" r:id="rId3"/>
    <p:sldId id="343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8E2D"/>
    <a:srgbClr val="FF6600"/>
    <a:srgbClr val="F57124"/>
    <a:srgbClr val="FF9900"/>
    <a:srgbClr val="F68E1E"/>
    <a:srgbClr val="99CCFF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29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2118" y="66"/>
      </p:cViewPr>
      <p:guideLst>
        <p:guide orient="horz" pos="312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11/10/2016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1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603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207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981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6415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301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962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6226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2830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5778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1pPr>
            <a:lvl2pPr marL="660380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1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217385"/>
            <a:ext cx="3031332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3141486"/>
            <a:ext cx="3031332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9" y="394410"/>
            <a:ext cx="3833812" cy="8454497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072927"/>
            <a:ext cx="2256235" cy="6775980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7" y="6934200"/>
            <a:ext cx="4114800" cy="818622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7" y="885119"/>
            <a:ext cx="4114800" cy="5943600"/>
          </a:xfrm>
        </p:spPr>
        <p:txBody>
          <a:bodyPr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7" y="7752822"/>
            <a:ext cx="4114800" cy="1162578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396704"/>
            <a:ext cx="1543050" cy="845220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704"/>
            <a:ext cx="4514850" cy="84522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10/11/2016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60380" rtl="0" eaLnBrk="1" latinLnBrk="0" hangingPunct="1"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5285" indent="-495285" algn="l" defTabSz="660380" rtl="0" eaLnBrk="1" latinLnBrk="0" hangingPunct="1">
        <a:spcBef>
          <a:spcPct val="20000"/>
        </a:spcBef>
        <a:buFont typeface="Arial"/>
        <a:buChar char="•"/>
        <a:defRPr sz="4622" kern="1200">
          <a:solidFill>
            <a:schemeClr val="tx1"/>
          </a:solidFill>
          <a:latin typeface="+mn-lt"/>
          <a:ea typeface="+mn-ea"/>
          <a:cs typeface="+mn-cs"/>
        </a:defRPr>
      </a:lvl1pPr>
      <a:lvl2pPr marL="1073117" indent="-412737" algn="l" defTabSz="660380" rtl="0" eaLnBrk="1" latinLnBrk="0" hangingPunct="1">
        <a:spcBef>
          <a:spcPct val="20000"/>
        </a:spcBef>
        <a:buFont typeface="Arial"/>
        <a:buChar char="–"/>
        <a:defRPr sz="4044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660380" rtl="0" eaLnBrk="1" latinLnBrk="0" hangingPunct="1">
        <a:spcBef>
          <a:spcPct val="20000"/>
        </a:spcBef>
        <a:buFont typeface="Arial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660380" rtl="0" eaLnBrk="1" latinLnBrk="0" hangingPunct="1">
        <a:spcBef>
          <a:spcPct val="20000"/>
        </a:spcBef>
        <a:buFont typeface="Arial"/>
        <a:buChar char="–"/>
        <a:defRPr sz="2889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660380" rtl="0" eaLnBrk="1" latinLnBrk="0" hangingPunct="1">
        <a:spcBef>
          <a:spcPct val="20000"/>
        </a:spcBef>
        <a:buFont typeface="Arial"/>
        <a:buChar char="»"/>
        <a:defRPr sz="2889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8775433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897" y="1993901"/>
            <a:ext cx="596415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24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Calendário das Reuniões de</a:t>
            </a:r>
          </a:p>
          <a:p>
            <a:pPr>
              <a:spcAft>
                <a:spcPts val="3000"/>
              </a:spcAft>
            </a:pPr>
            <a:r>
              <a:rPr lang="pt-BR" sz="24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Prestação de Contas </a:t>
            </a:r>
          </a:p>
          <a:p>
            <a:pPr marL="540000" algn="just"/>
            <a:endParaRPr lang="pt-BR" sz="20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1477966" y="7850646"/>
            <a:ext cx="5025514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pt-BR" sz="1600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SLM TI Smiles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just">
              <a:spcAft>
                <a:spcPts val="1200"/>
              </a:spcAft>
            </a:pPr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Processo de Gerenciamento de Fornecedores Críticos de TI</a:t>
            </a:r>
          </a:p>
        </p:txBody>
      </p:sp>
      <p:pic>
        <p:nvPicPr>
          <p:cNvPr id="2052" name="Picture 4" descr="https://www.klipfolio.com/sites/all/themes/klipfolio_theme/img/icons/icon-klipstarts.png"/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11" y="7763020"/>
            <a:ext cx="1387789" cy="883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http://icalendario.br.com/media/imprimir/2016/mensal/outubro/calendario-outubro-2016.p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6" r="2889" b="7377"/>
          <a:stretch/>
        </p:blipFill>
        <p:spPr bwMode="auto">
          <a:xfrm>
            <a:off x="193635" y="3061202"/>
            <a:ext cx="6469380" cy="4489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988771" y="5846589"/>
            <a:ext cx="10302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>
                <a:solidFill>
                  <a:srgbClr val="7030A0"/>
                </a:solidFill>
              </a:rPr>
              <a:t>Oracle</a:t>
            </a:r>
          </a:p>
        </p:txBody>
      </p:sp>
      <p:sp>
        <p:nvSpPr>
          <p:cNvPr id="3" name="Retângulo 2"/>
          <p:cNvSpPr/>
          <p:nvPr/>
        </p:nvSpPr>
        <p:spPr>
          <a:xfrm>
            <a:off x="1736449" y="6393782"/>
            <a:ext cx="15348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 err="1">
                <a:solidFill>
                  <a:srgbClr val="7030A0"/>
                </a:solidFill>
              </a:rPr>
              <a:t>Credibilit</a:t>
            </a:r>
            <a:endParaRPr lang="pt-BR" sz="1400" b="1" dirty="0">
              <a:solidFill>
                <a:srgbClr val="7030A0"/>
              </a:solidFill>
            </a:endParaRPr>
          </a:p>
          <a:p>
            <a:pPr algn="ctr"/>
            <a:r>
              <a:rPr lang="pt-BR" sz="1400" b="1" dirty="0">
                <a:solidFill>
                  <a:srgbClr val="7030A0"/>
                </a:solidFill>
              </a:rPr>
              <a:t>AWS</a:t>
            </a:r>
          </a:p>
        </p:txBody>
      </p:sp>
      <p:sp>
        <p:nvSpPr>
          <p:cNvPr id="4" name="Retângulo 3"/>
          <p:cNvSpPr/>
          <p:nvPr/>
        </p:nvSpPr>
        <p:spPr>
          <a:xfrm>
            <a:off x="3974963" y="5846589"/>
            <a:ext cx="72513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>
                <a:solidFill>
                  <a:srgbClr val="7030A0"/>
                </a:solidFill>
              </a:rPr>
              <a:t>Level3</a:t>
            </a:r>
          </a:p>
        </p:txBody>
      </p:sp>
      <p:sp>
        <p:nvSpPr>
          <p:cNvPr id="5" name="Retângulo 4"/>
          <p:cNvSpPr/>
          <p:nvPr/>
        </p:nvSpPr>
        <p:spPr>
          <a:xfrm>
            <a:off x="3114136" y="6471601"/>
            <a:ext cx="61747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>
                <a:solidFill>
                  <a:srgbClr val="7030A0"/>
                </a:solidFill>
              </a:rPr>
              <a:t>TIVIT</a:t>
            </a:r>
          </a:p>
        </p:txBody>
      </p:sp>
      <p:sp>
        <p:nvSpPr>
          <p:cNvPr id="6" name="Retângulo 5"/>
          <p:cNvSpPr/>
          <p:nvPr/>
        </p:nvSpPr>
        <p:spPr>
          <a:xfrm>
            <a:off x="3114136" y="5846589"/>
            <a:ext cx="628377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>
                <a:solidFill>
                  <a:srgbClr val="7030A0"/>
                </a:solidFill>
              </a:rPr>
              <a:t>Algar</a:t>
            </a:r>
          </a:p>
        </p:txBody>
      </p:sp>
      <p:sp>
        <p:nvSpPr>
          <p:cNvPr id="8" name="Retângulo 7"/>
          <p:cNvSpPr/>
          <p:nvPr/>
        </p:nvSpPr>
        <p:spPr>
          <a:xfrm>
            <a:off x="849471" y="6393782"/>
            <a:ext cx="150733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400" b="1" dirty="0">
                <a:solidFill>
                  <a:srgbClr val="7030A0"/>
                </a:solidFill>
              </a:rPr>
              <a:t>Vivo</a:t>
            </a:r>
          </a:p>
          <a:p>
            <a:pPr algn="ctr"/>
            <a:r>
              <a:rPr lang="pt-BR" sz="1400" b="1" dirty="0">
                <a:solidFill>
                  <a:srgbClr val="7030A0"/>
                </a:solidFill>
              </a:rPr>
              <a:t>MPLS</a:t>
            </a:r>
          </a:p>
        </p:txBody>
      </p:sp>
      <p:sp>
        <p:nvSpPr>
          <p:cNvPr id="7" name="Retângulo: Cantos Arredondados 6"/>
          <p:cNvSpPr>
            <a:spLocks noChangeAspect="1"/>
          </p:cNvSpPr>
          <p:nvPr/>
        </p:nvSpPr>
        <p:spPr>
          <a:xfrm>
            <a:off x="4338837" y="2144386"/>
            <a:ext cx="2164643" cy="926851"/>
          </a:xfrm>
          <a:prstGeom prst="roundRect">
            <a:avLst>
              <a:gd name="adj" fmla="val 15904"/>
            </a:avLst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1047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9756000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588" y="1857828"/>
            <a:ext cx="43046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pt-BR" sz="2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Processo de Gerenciamento dos Fornecedores Críticos de TI</a:t>
            </a:r>
          </a:p>
        </p:txBody>
      </p:sp>
      <p:sp>
        <p:nvSpPr>
          <p:cNvPr id="20" name="CaixaDeTexto 19"/>
          <p:cNvSpPr txBox="1"/>
          <p:nvPr/>
        </p:nvSpPr>
        <p:spPr>
          <a:xfrm>
            <a:off x="941702" y="3925237"/>
            <a:ext cx="5559251" cy="255454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Objetivos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Aprimorar as práticas de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gestão sobre os níveis de serviço contratados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(SLAs e indicadores)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Aumentar a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eficiência operacional dos serviços 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 TI contratados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Promover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encontros mensais para prestação de contas do Fornecedor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à Smiles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Ampliar o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relacionamento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entre Smiles e o Fornecedor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Maior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conformidade</a:t>
            </a: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59425" y="3986448"/>
            <a:ext cx="582967" cy="582967"/>
          </a:xfrm>
          <a:prstGeom prst="rect">
            <a:avLst/>
          </a:prstGeom>
        </p:spPr>
      </p:pic>
      <p:pic>
        <p:nvPicPr>
          <p:cNvPr id="1024" name="Imagem 1023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700" y="6865914"/>
            <a:ext cx="553682" cy="553682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3664177" y="9253338"/>
            <a:ext cx="30495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</a:t>
            </a:r>
          </a:p>
          <a:p>
            <a:pPr algn="r"/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SLM TI Smiles</a:t>
            </a:r>
            <a:endParaRPr lang="pt-BR" sz="12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5737286" y="122702"/>
            <a:ext cx="1033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b="1" dirty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11.Out</a:t>
            </a:r>
          </a:p>
        </p:txBody>
      </p:sp>
      <p:sp>
        <p:nvSpPr>
          <p:cNvPr id="5" name="Retângulo: Cantos Arredondados 4"/>
          <p:cNvSpPr>
            <a:spLocks noChangeAspect="1"/>
          </p:cNvSpPr>
          <p:nvPr/>
        </p:nvSpPr>
        <p:spPr>
          <a:xfrm>
            <a:off x="3910846" y="2491111"/>
            <a:ext cx="2609158" cy="1117177"/>
          </a:xfrm>
          <a:prstGeom prst="roundRect">
            <a:avLst>
              <a:gd name="adj" fmla="val 14191"/>
            </a:avLst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/>
          <p:cNvSpPr txBox="1"/>
          <p:nvPr/>
        </p:nvSpPr>
        <p:spPr>
          <a:xfrm>
            <a:off x="150588" y="2653074"/>
            <a:ext cx="37398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Saiba mais sobre o novo processo e o que muda no dia-a-dia entre sua empresa e a TI da Smiles</a:t>
            </a:r>
            <a:endParaRPr lang="en-US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CaixaDeTexto 22"/>
          <p:cNvSpPr txBox="1"/>
          <p:nvPr/>
        </p:nvSpPr>
        <p:spPr>
          <a:xfrm>
            <a:off x="254087" y="6865914"/>
            <a:ext cx="5559251" cy="22621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vem por aí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Até quinta-feira (13/10), será enviada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convocação 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uma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reunião de Prestação de Contas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sobre os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indicadores e SLAs</a:t>
            </a: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referentes ao mês de </a:t>
            </a:r>
            <a:r>
              <a:rPr lang="pt-B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Setembro de 2016.</a:t>
            </a:r>
            <a:endParaRPr lang="pt-BR" sz="14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reunião será agendada entre os dias 17/10 e 28/10. </a:t>
            </a: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Prepare-se para apresentar os resultados desses indicadores e eventuais desvios ocorridos no período.</a:t>
            </a:r>
            <a:endParaRPr lang="pt-BR" sz="14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6800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Fique atento à convocação, data e horário. </a:t>
            </a:r>
          </a:p>
        </p:txBody>
      </p:sp>
      <p:sp>
        <p:nvSpPr>
          <p:cNvPr id="6" name="Retângulo 5"/>
          <p:cNvSpPr/>
          <p:nvPr/>
        </p:nvSpPr>
        <p:spPr>
          <a:xfrm>
            <a:off x="259425" y="9323080"/>
            <a:ext cx="478645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pt-BR" sz="1600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Sua presença é fundamental. </a:t>
            </a:r>
          </a:p>
        </p:txBody>
      </p:sp>
    </p:spTree>
    <p:extLst>
      <p:ext uri="{BB962C8B-B14F-4D97-AF65-F5344CB8AC3E}">
        <p14:creationId xmlns:p14="http://schemas.microsoft.com/office/powerpoint/2010/main" val="425329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7077076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265200" y="1895928"/>
            <a:ext cx="596415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2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Reunião de Prestação de Contas</a:t>
            </a:r>
          </a:p>
          <a:p>
            <a:pPr>
              <a:spcAft>
                <a:spcPts val="3000"/>
              </a:spcAft>
            </a:pPr>
            <a:r>
              <a:rPr lang="pt-BR" sz="2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Convocação</a:t>
            </a:r>
            <a:endParaRPr lang="pt-BR" sz="2400" b="1" dirty="0">
              <a:solidFill>
                <a:srgbClr val="F57124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marL="540000" algn="just"/>
            <a:r>
              <a:rPr lang="pt-BR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Conforme comunicado enviado em 11 de outubro, estamos enviando esta </a:t>
            </a:r>
            <a:r>
              <a:rPr lang="pt-BR" b="1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convocação para a reunião de Prestação de Contas mensal</a:t>
            </a:r>
            <a:r>
              <a:rPr lang="pt-BR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dos serviços contratados.</a:t>
            </a:r>
          </a:p>
          <a:p>
            <a:pPr marL="540000" algn="just"/>
            <a:endParaRPr lang="pt-BR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540000" algn="just"/>
            <a:r>
              <a:rPr lang="pt-BR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Nesta reunião deverão ser apresentados e posteriormente debatidos os </a:t>
            </a:r>
            <a:r>
              <a:rPr lang="pt-BR" b="1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níveis de serviço (indicadores e SLAs) referentes ao mês de </a:t>
            </a:r>
            <a:r>
              <a:rPr lang="pt-BR" b="1" u="sng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Setembro de 2016</a:t>
            </a:r>
            <a:r>
              <a:rPr lang="pt-BR" dirty="0">
                <a:solidFill>
                  <a:srgbClr val="7030A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US" sz="2000" dirty="0">
              <a:solidFill>
                <a:srgbClr val="7030A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1477966" y="5986770"/>
            <a:ext cx="5025514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Obrigado,</a:t>
            </a:r>
          </a:p>
          <a:p>
            <a:pPr algn="just">
              <a:spcAft>
                <a:spcPts val="1200"/>
              </a:spcAft>
            </a:pPr>
            <a:r>
              <a:rPr lang="pt-BR" sz="1600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SLM TI Smiles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just">
              <a:spcAft>
                <a:spcPts val="1200"/>
              </a:spcAft>
            </a:pPr>
            <a:r>
              <a:rPr lang="pt-BR" sz="1400" b="1" dirty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Processo de Gerenciamento de Fornecedores Críticos de TI</a:t>
            </a:r>
          </a:p>
        </p:txBody>
      </p:sp>
      <p:sp>
        <p:nvSpPr>
          <p:cNvPr id="7" name="Retângulo: Cantos Arredondados 6"/>
          <p:cNvSpPr>
            <a:spLocks noChangeAspect="1"/>
          </p:cNvSpPr>
          <p:nvPr/>
        </p:nvSpPr>
        <p:spPr>
          <a:xfrm>
            <a:off x="4703480" y="1914320"/>
            <a:ext cx="1800000" cy="770719"/>
          </a:xfrm>
          <a:prstGeom prst="roundRect">
            <a:avLst>
              <a:gd name="adj" fmla="val 15904"/>
            </a:avLst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52" name="Picture 4" descr="https://www.klipfolio.com/sites/all/themes/klipfolio_theme/img/icons/icon-klipstarts.png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11" y="6006865"/>
            <a:ext cx="1387789" cy="883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8810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3740</TotalTime>
  <Words>247</Words>
  <Application>Microsoft Office PowerPoint</Application>
  <PresentationFormat>Papel A4 (210 x 297 mm)</PresentationFormat>
  <Paragraphs>37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9" baseType="lpstr">
      <vt:lpstr>Arial</vt:lpstr>
      <vt:lpstr>Calibri</vt:lpstr>
      <vt:lpstr>Segoe UI</vt:lpstr>
      <vt:lpstr>Segoe UI Semibold</vt:lpstr>
      <vt:lpstr>Wingdings</vt:lpstr>
      <vt:lpstr>Office Theme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Jorge Filho</cp:lastModifiedBy>
  <cp:revision>279</cp:revision>
  <dcterms:created xsi:type="dcterms:W3CDTF">2014-01-24T21:35:00Z</dcterms:created>
  <dcterms:modified xsi:type="dcterms:W3CDTF">2016-10-11T22:03:51Z</dcterms:modified>
</cp:coreProperties>
</file>