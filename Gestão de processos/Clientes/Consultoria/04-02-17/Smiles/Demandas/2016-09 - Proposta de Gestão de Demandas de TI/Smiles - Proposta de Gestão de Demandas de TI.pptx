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354" r:id="rId3"/>
    <p:sldId id="350" r:id="rId4"/>
    <p:sldId id="351" r:id="rId5"/>
    <p:sldId id="347" r:id="rId6"/>
    <p:sldId id="352" r:id="rId7"/>
    <p:sldId id="353" r:id="rId8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58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Demandas de TI (PMO)</a:t>
            </a:r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Revisão Set-2016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</a:t>
            </a:r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751590" y="1286845"/>
            <a:ext cx="8638070" cy="332609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do Processo de Gestão de Demandas de TI (PMO) à luz das práticas atualmente estabelecidas (ex.: Elaboração de EF e Desenho da Solução somente após aprovação do COMEX).</a:t>
            </a:r>
            <a:endParaRPr lang="pt-BR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time de Arquitetura deve realizar alinhamento técnico (micro “Desenho de Solução”) das Melhorias Priorizadas.</a:t>
            </a:r>
          </a:p>
        </p:txBody>
      </p: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tângulo 142"/>
          <p:cNvSpPr/>
          <p:nvPr/>
        </p:nvSpPr>
        <p:spPr>
          <a:xfrm>
            <a:off x="842617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378434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Gestão de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Demandas de TI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426974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314430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0"/>
          </p:cNvCxnSpPr>
          <p:nvPr/>
        </p:nvCxnSpPr>
        <p:spPr>
          <a:xfrm rot="16200000" flipV="1">
            <a:off x="6590402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018347" y="2504063"/>
            <a:ext cx="0" cy="480923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965668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10221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4998750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5972144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17327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402455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766419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829874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8" name="Retângulo 77"/>
          <p:cNvSpPr/>
          <p:nvPr/>
        </p:nvSpPr>
        <p:spPr>
          <a:xfrm>
            <a:off x="51282" y="651755"/>
            <a:ext cx="33493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ATUAL</a:t>
            </a:r>
            <a:endParaRPr lang="pt-BR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78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Agrupar 83"/>
          <p:cNvGrpSpPr/>
          <p:nvPr/>
        </p:nvGrpSpPr>
        <p:grpSpPr>
          <a:xfrm>
            <a:off x="4326072" y="5361882"/>
            <a:ext cx="3412844" cy="1296638"/>
            <a:chOff x="2259518" y="2881012"/>
            <a:chExt cx="3412844" cy="1296638"/>
          </a:xfrm>
        </p:grpSpPr>
        <p:sp>
          <p:nvSpPr>
            <p:cNvPr id="85" name="Retângulo Arredondado 84"/>
            <p:cNvSpPr/>
            <p:nvPr/>
          </p:nvSpPr>
          <p:spPr>
            <a:xfrm>
              <a:off x="2271895" y="2881012"/>
              <a:ext cx="3400467" cy="1296638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Retângulo 85"/>
            <p:cNvSpPr/>
            <p:nvPr/>
          </p:nvSpPr>
          <p:spPr>
            <a:xfrm>
              <a:off x="2259518" y="2933076"/>
              <a:ext cx="33673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Elaboração Desenho da Solução </a:t>
              </a:r>
            </a:p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 dias úteis)</a:t>
              </a:r>
            </a:p>
          </p:txBody>
        </p:sp>
      </p:grpSp>
      <p:grpSp>
        <p:nvGrpSpPr>
          <p:cNvPr id="87" name="Agrupar 86"/>
          <p:cNvGrpSpPr/>
          <p:nvPr/>
        </p:nvGrpSpPr>
        <p:grpSpPr>
          <a:xfrm>
            <a:off x="6400187" y="5713045"/>
            <a:ext cx="3445178" cy="1080000"/>
            <a:chOff x="2227184" y="2881012"/>
            <a:chExt cx="3445178" cy="1142538"/>
          </a:xfrm>
        </p:grpSpPr>
        <p:sp>
          <p:nvSpPr>
            <p:cNvPr id="88" name="Retângulo Arredondado 87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Retângulo 89"/>
            <p:cNvSpPr/>
            <p:nvPr/>
          </p:nvSpPr>
          <p:spPr>
            <a:xfrm>
              <a:off x="2227184" y="3792718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Validação EF da Arquitetura (10 dias úteis)</a:t>
              </a:r>
            </a:p>
          </p:txBody>
        </p:sp>
      </p:grpSp>
      <p:grpSp>
        <p:nvGrpSpPr>
          <p:cNvPr id="78" name="Agrupar 77"/>
          <p:cNvGrpSpPr/>
          <p:nvPr/>
        </p:nvGrpSpPr>
        <p:grpSpPr>
          <a:xfrm>
            <a:off x="2259083" y="2934177"/>
            <a:ext cx="3413279" cy="1057388"/>
            <a:chOff x="2259083" y="2881012"/>
            <a:chExt cx="3413279" cy="1129667"/>
          </a:xfrm>
        </p:grpSpPr>
        <p:sp>
          <p:nvSpPr>
            <p:cNvPr id="79" name="Retângulo Arredondado 78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Retângulo 80"/>
            <p:cNvSpPr/>
            <p:nvPr/>
          </p:nvSpPr>
          <p:spPr>
            <a:xfrm>
              <a:off x="2259083" y="3759365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Estimativa da Arquitetura (10 dias úteis)</a:t>
              </a:r>
            </a:p>
          </p:txBody>
        </p:sp>
      </p:grpSp>
      <p:sp>
        <p:nvSpPr>
          <p:cNvPr id="143" name="Retângulo 142"/>
          <p:cNvSpPr/>
          <p:nvPr/>
        </p:nvSpPr>
        <p:spPr>
          <a:xfrm>
            <a:off x="842617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378434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426974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314430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0"/>
          </p:cNvCxnSpPr>
          <p:nvPr/>
        </p:nvCxnSpPr>
        <p:spPr>
          <a:xfrm rot="16200000" flipV="1">
            <a:off x="6590402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018347" y="2504063"/>
            <a:ext cx="0" cy="480923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965668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10221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4998750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5972144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17327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402455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766419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829874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91" name="Retângulo 90"/>
          <p:cNvSpPr/>
          <p:nvPr/>
        </p:nvSpPr>
        <p:spPr>
          <a:xfrm>
            <a:off x="51282" y="651755"/>
            <a:ext cx="33493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ATUAL</a:t>
            </a:r>
            <a:endParaRPr lang="pt-BR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2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Gestão de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Demandas de TI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16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tângulo 142"/>
          <p:cNvSpPr/>
          <p:nvPr/>
        </p:nvSpPr>
        <p:spPr>
          <a:xfrm>
            <a:off x="1306639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473970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 smtClean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Reprovado</a:t>
            </a:r>
          </a:p>
          <a:p>
            <a:r>
              <a:rPr lang="pt-BR" sz="900" b="1" dirty="0" smtClean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  <a:endParaRPr lang="pt-BR" sz="900" b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Gestão de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Demandas de TI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0" name="Agrupar 129"/>
          <p:cNvGrpSpPr/>
          <p:nvPr/>
        </p:nvGrpSpPr>
        <p:grpSpPr>
          <a:xfrm>
            <a:off x="527496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89494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890996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778452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976655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482369" y="2504063"/>
            <a:ext cx="0" cy="480923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74294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82465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90636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</a:t>
            </a:r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906369" y="1965668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825609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4140717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4" name="Retângulo 133"/>
          <p:cNvSpPr/>
          <p:nvPr/>
        </p:nvSpPr>
        <p:spPr>
          <a:xfrm>
            <a:off x="7935211" y="4017669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</a:t>
            </a:r>
            <a:endParaRPr lang="pt-BR" sz="900" b="1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 da EF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5" name="Retângulo 134"/>
          <p:cNvSpPr/>
          <p:nvPr/>
        </p:nvSpPr>
        <p:spPr>
          <a:xfrm>
            <a:off x="9158093" y="5287589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</a:t>
            </a:r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14773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3374243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</a:t>
            </a:r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5462772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6204155" y="2089080"/>
            <a:ext cx="750120" cy="1041692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99215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742941" y="3452081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1065716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</a:t>
            </a:r>
          </a:p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</a:t>
            </a:r>
          </a:p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do</a:t>
            </a:r>
          </a:p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8" name="Retângulo 167"/>
          <p:cNvSpPr/>
          <p:nvPr/>
        </p:nvSpPr>
        <p:spPr>
          <a:xfrm>
            <a:off x="7698419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Validação </a:t>
            </a:r>
          </a:p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9" name="Retângulo 168"/>
          <p:cNvSpPr/>
          <p:nvPr/>
        </p:nvSpPr>
        <p:spPr>
          <a:xfrm>
            <a:off x="5614373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Retângulo 70"/>
          <p:cNvSpPr/>
          <p:nvPr/>
        </p:nvSpPr>
        <p:spPr>
          <a:xfrm>
            <a:off x="3866477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3293896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cxnSp>
        <p:nvCxnSpPr>
          <p:cNvPr id="78" name="Conector de Seta Reta 88"/>
          <p:cNvCxnSpPr/>
          <p:nvPr/>
        </p:nvCxnSpPr>
        <p:spPr>
          <a:xfrm flipH="1">
            <a:off x="9185913" y="3514998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de Seta Reta 68"/>
          <p:cNvCxnSpPr>
            <a:stCxn id="61" idx="0"/>
            <a:endCxn id="60" idx="1"/>
          </p:cNvCxnSpPr>
          <p:nvPr/>
        </p:nvCxnSpPr>
        <p:spPr>
          <a:xfrm rot="16200000" flipH="1" flipV="1">
            <a:off x="4930238" y="415380"/>
            <a:ext cx="1681931" cy="6821142"/>
          </a:xfrm>
          <a:prstGeom prst="bentConnector4">
            <a:avLst>
              <a:gd name="adj1" fmla="val -89867"/>
              <a:gd name="adj2" fmla="val 128962"/>
            </a:avLst>
          </a:prstGeom>
          <a:ln>
            <a:solidFill>
              <a:srgbClr val="FF6600"/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tângulo 89"/>
          <p:cNvSpPr/>
          <p:nvPr/>
        </p:nvSpPr>
        <p:spPr>
          <a:xfrm>
            <a:off x="1456442" y="6092393"/>
            <a:ext cx="915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81" name="Conector de Seta Reta 102"/>
          <p:cNvCxnSpPr>
            <a:stCxn id="85" idx="1"/>
            <a:endCxn id="86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108"/>
          <p:cNvCxnSpPr>
            <a:stCxn id="86" idx="0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luxograma: Processo 84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REVISÃO DO PMO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Fluxograma: Processo 85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Retângulo 91"/>
          <p:cNvSpPr/>
          <p:nvPr/>
        </p:nvSpPr>
        <p:spPr>
          <a:xfrm>
            <a:off x="51282" y="651755"/>
            <a:ext cx="33493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</a:t>
            </a:r>
            <a:endParaRPr lang="pt-BR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2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tângulo Arredondado 87"/>
          <p:cNvSpPr/>
          <p:nvPr/>
        </p:nvSpPr>
        <p:spPr>
          <a:xfrm>
            <a:off x="2269828" y="5438054"/>
            <a:ext cx="3400467" cy="1191044"/>
          </a:xfrm>
          <a:prstGeom prst="roundRect">
            <a:avLst>
              <a:gd name="adj" fmla="val 5688"/>
            </a:avLst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96" name="Agrupar 86"/>
          <p:cNvGrpSpPr/>
          <p:nvPr/>
        </p:nvGrpSpPr>
        <p:grpSpPr>
          <a:xfrm>
            <a:off x="4312781" y="5699081"/>
            <a:ext cx="3445178" cy="1080000"/>
            <a:chOff x="2227184" y="2881012"/>
            <a:chExt cx="3445178" cy="1142538"/>
          </a:xfrm>
        </p:grpSpPr>
        <p:sp>
          <p:nvSpPr>
            <p:cNvPr id="97" name="Retângulo Arredondado 87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8" name="Retângulo 97"/>
            <p:cNvSpPr/>
            <p:nvPr/>
          </p:nvSpPr>
          <p:spPr>
            <a:xfrm>
              <a:off x="2227184" y="3792718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Validação EF da Arquitetura (10 dias úteis)</a:t>
              </a:r>
            </a:p>
          </p:txBody>
        </p:sp>
      </p:grpSp>
      <p:grpSp>
        <p:nvGrpSpPr>
          <p:cNvPr id="88" name="Agrupar 77"/>
          <p:cNvGrpSpPr/>
          <p:nvPr/>
        </p:nvGrpSpPr>
        <p:grpSpPr>
          <a:xfrm>
            <a:off x="2737445" y="2909036"/>
            <a:ext cx="3413279" cy="1057388"/>
            <a:chOff x="2259083" y="2953917"/>
            <a:chExt cx="3413279" cy="1129667"/>
          </a:xfrm>
        </p:grpSpPr>
        <p:sp>
          <p:nvSpPr>
            <p:cNvPr id="91" name="Retângulo Arredondado 78"/>
            <p:cNvSpPr/>
            <p:nvPr/>
          </p:nvSpPr>
          <p:spPr>
            <a:xfrm>
              <a:off x="2271895" y="2953917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Retângulo 91"/>
            <p:cNvSpPr/>
            <p:nvPr/>
          </p:nvSpPr>
          <p:spPr>
            <a:xfrm>
              <a:off x="2259083" y="3803107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Estimativa da Arquitetura (10 dias úteis)</a:t>
              </a:r>
            </a:p>
          </p:txBody>
        </p:sp>
      </p:grpSp>
      <p:sp>
        <p:nvSpPr>
          <p:cNvPr id="143" name="Retângulo 142"/>
          <p:cNvSpPr/>
          <p:nvPr/>
        </p:nvSpPr>
        <p:spPr>
          <a:xfrm>
            <a:off x="1306639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473970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 smtClean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Reprovado</a:t>
            </a:r>
          </a:p>
          <a:p>
            <a:r>
              <a:rPr lang="pt-BR" sz="900" b="1" dirty="0" smtClean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89494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890996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778452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976655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482369" y="2504063"/>
            <a:ext cx="0" cy="48092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74294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82465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90636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906369" y="1965668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825609" y="3270144"/>
            <a:ext cx="986167" cy="50783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4140717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 smtClean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4" name="Retângulo 133"/>
          <p:cNvSpPr/>
          <p:nvPr/>
        </p:nvSpPr>
        <p:spPr>
          <a:xfrm>
            <a:off x="7935211" y="4017669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</a:t>
            </a:r>
            <a:endParaRPr lang="pt-BR" sz="900" b="1" dirty="0" smtClean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 smtClean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 da EF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5" name="Retângulo 134"/>
          <p:cNvSpPr/>
          <p:nvPr/>
        </p:nvSpPr>
        <p:spPr>
          <a:xfrm>
            <a:off x="9158093" y="5287589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</a:t>
            </a:r>
            <a:r>
              <a:rPr lang="pt-BR" sz="900" b="1" dirty="0" smtClean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14773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3374243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5462772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6204155" y="2089080"/>
            <a:ext cx="750120" cy="1041692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99215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742941" y="3452081"/>
            <a:ext cx="612000" cy="216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1065716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 smtClean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</a:t>
            </a:r>
          </a:p>
          <a:p>
            <a:r>
              <a:rPr lang="pt-BR" sz="900" b="1" dirty="0" smtClean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698419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 smtClean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 smtClean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Validação </a:t>
            </a:r>
          </a:p>
          <a:p>
            <a:r>
              <a:rPr lang="pt-BR" sz="900" b="1" dirty="0" smtClean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9" name="Retângulo 168"/>
          <p:cNvSpPr/>
          <p:nvPr/>
        </p:nvSpPr>
        <p:spPr>
          <a:xfrm>
            <a:off x="5614373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Retângulo 70"/>
          <p:cNvSpPr/>
          <p:nvPr/>
        </p:nvSpPr>
        <p:spPr>
          <a:xfrm>
            <a:off x="3866477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3293896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cxnSp>
        <p:nvCxnSpPr>
          <p:cNvPr id="78" name="Conector de Seta Reta 88"/>
          <p:cNvCxnSpPr/>
          <p:nvPr/>
        </p:nvCxnSpPr>
        <p:spPr>
          <a:xfrm flipH="1">
            <a:off x="9185913" y="3514998"/>
            <a:ext cx="12299" cy="87433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de Seta Reta 68"/>
          <p:cNvCxnSpPr>
            <a:stCxn id="61" idx="0"/>
            <a:endCxn id="60" idx="1"/>
          </p:cNvCxnSpPr>
          <p:nvPr/>
        </p:nvCxnSpPr>
        <p:spPr>
          <a:xfrm rot="16200000" flipH="1" flipV="1">
            <a:off x="4930238" y="415380"/>
            <a:ext cx="1681931" cy="6821142"/>
          </a:xfrm>
          <a:prstGeom prst="bentConnector4">
            <a:avLst>
              <a:gd name="adj1" fmla="val -89867"/>
              <a:gd name="adj2" fmla="val 128962"/>
            </a:avLst>
          </a:prstGeom>
          <a:ln>
            <a:solidFill>
              <a:schemeClr val="bg1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tângulo 89"/>
          <p:cNvSpPr/>
          <p:nvPr/>
        </p:nvSpPr>
        <p:spPr>
          <a:xfrm>
            <a:off x="1456442" y="6092393"/>
            <a:ext cx="915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81" name="Conector de Seta Reta 102"/>
          <p:cNvCxnSpPr>
            <a:stCxn id="85" idx="1"/>
            <a:endCxn id="86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108"/>
          <p:cNvCxnSpPr>
            <a:stCxn id="86" idx="0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luxograma: Processo 84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REVISÃO DO PMO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Fluxograma: Processo 85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3" name="Agrupar 129"/>
          <p:cNvGrpSpPr/>
          <p:nvPr/>
        </p:nvGrpSpPr>
        <p:grpSpPr>
          <a:xfrm>
            <a:off x="513854" y="2246388"/>
            <a:ext cx="716274" cy="682180"/>
            <a:chOff x="256478" y="2393574"/>
            <a:chExt cx="716274" cy="682180"/>
          </a:xfrm>
        </p:grpSpPr>
        <p:pic>
          <p:nvPicPr>
            <p:cNvPr id="75" name="Imagem 74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87" name="Retângulo 86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100" name="Retângulo 99"/>
          <p:cNvSpPr/>
          <p:nvPr/>
        </p:nvSpPr>
        <p:spPr>
          <a:xfrm>
            <a:off x="2314328" y="5471702"/>
            <a:ext cx="3367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SLA: Tempo de </a:t>
            </a:r>
            <a:r>
              <a:rPr lang="pt-BR" sz="9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 Desenho da Solução (</a:t>
            </a:r>
            <a:r>
              <a:rPr lang="pt-BR" sz="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 dias úteis)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Gestão de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Demandas de TI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Retângulo 101"/>
          <p:cNvSpPr/>
          <p:nvPr/>
        </p:nvSpPr>
        <p:spPr>
          <a:xfrm>
            <a:off x="51282" y="651755"/>
            <a:ext cx="33493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</a:t>
            </a:r>
            <a:endParaRPr lang="pt-BR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05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graphicFrame>
        <p:nvGraphicFramePr>
          <p:cNvPr id="9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451561"/>
              </p:ext>
            </p:extLst>
          </p:nvPr>
        </p:nvGraphicFramePr>
        <p:xfrm>
          <a:off x="272120" y="1272188"/>
          <a:ext cx="9335908" cy="42681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33977">
                  <a:extLst>
                    <a:ext uri="{9D8B030D-6E8A-4147-A177-3AD203B41FA5}">
                      <a16:colId xmlns="" xmlns:a16="http://schemas.microsoft.com/office/drawing/2014/main" val="1989880496"/>
                    </a:ext>
                  </a:extLst>
                </a:gridCol>
                <a:gridCol w="233397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3397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3397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97136">
                <a:tc gridSpan="4">
                  <a:txBody>
                    <a:bodyPr/>
                    <a:lstStyle/>
                    <a:p>
                      <a:pPr algn="ctr"/>
                      <a:r>
                        <a:rPr lang="pt-BR" sz="1600" i="1" dirty="0" err="1" smtClean="0"/>
                        <a:t>Timeline</a:t>
                      </a:r>
                      <a:endParaRPr lang="en-US" sz="1600" b="1" i="1" dirty="0"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endParaRPr lang="en-US" sz="1600" b="0" dirty="0"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0123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 &lt; </a:t>
                      </a:r>
                      <a:r>
                        <a:rPr lang="en-US" sz="1600" b="1" dirty="0" err="1" smtClean="0"/>
                        <a:t>Mês</a:t>
                      </a:r>
                      <a:r>
                        <a:rPr lang="en-US" sz="1600" b="1" dirty="0" smtClean="0"/>
                        <a:t> / </a:t>
                      </a:r>
                      <a:r>
                        <a:rPr lang="en-US" sz="1600" b="1" dirty="0" err="1" smtClean="0"/>
                        <a:t>Ano</a:t>
                      </a:r>
                      <a:r>
                        <a:rPr lang="en-US" sz="1600" b="1" dirty="0" smtClean="0"/>
                        <a:t> &gt;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17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</a:rPr>
                        <a:t> &lt; </a:t>
                      </a:r>
                      <a:r>
                        <a:rPr lang="en-US" sz="1600" b="1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</a:rPr>
                        <a:t>Semana</a:t>
                      </a:r>
                      <a:r>
                        <a:rPr lang="en-US" sz="1600" b="1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</a:rPr>
                        <a:t> 1 &gt;</a:t>
                      </a: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&lt; </a:t>
                      </a:r>
                      <a:r>
                        <a:rPr lang="en-US" sz="1600" b="1" kern="120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Semana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2 &gt;</a:t>
                      </a: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&lt; </a:t>
                      </a:r>
                      <a:r>
                        <a:rPr lang="en-US" sz="1600" b="1" kern="120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Semana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3 &gt;</a:t>
                      </a: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&lt; </a:t>
                      </a:r>
                      <a:r>
                        <a:rPr lang="en-US" sz="1600" b="1" kern="120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Semana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4 &gt;</a:t>
                      </a: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62397">
                <a:tc>
                  <a:txBody>
                    <a:bodyPr/>
                    <a:lstStyle/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" name="Rectangle 107"/>
          <p:cNvSpPr>
            <a:spLocks/>
          </p:cNvSpPr>
          <p:nvPr/>
        </p:nvSpPr>
        <p:spPr bwMode="auto">
          <a:xfrm>
            <a:off x="318922" y="2482495"/>
            <a:ext cx="1226542" cy="288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</a:rPr>
              <a:t>Arquitetura</a:t>
            </a:r>
            <a:r>
              <a:rPr kumimoji="0" lang="pt-BR" sz="120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</a:rPr>
              <a:t> Day</a:t>
            </a:r>
            <a:endParaRPr kumimoji="0" lang="pt-BR" sz="12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</a:endParaRPr>
          </a:p>
        </p:txBody>
      </p:sp>
      <p:sp>
        <p:nvSpPr>
          <p:cNvPr id="123" name="Rectangle 107"/>
          <p:cNvSpPr>
            <a:spLocks/>
          </p:cNvSpPr>
          <p:nvPr/>
        </p:nvSpPr>
        <p:spPr bwMode="auto">
          <a:xfrm>
            <a:off x="1419457" y="2901983"/>
            <a:ext cx="5040000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algn="ctr" defTabSz="914400"/>
            <a:r>
              <a:rPr lang="pt-BR" sz="1200" kern="0" dirty="0" smtClean="0">
                <a:solidFill>
                  <a:schemeClr val="bg1"/>
                </a:solidFill>
              </a:rPr>
              <a:t>Desenvolvimento</a:t>
            </a:r>
            <a:endParaRPr lang="pt-BR" sz="1200" kern="0" dirty="0">
              <a:solidFill>
                <a:schemeClr val="bg1"/>
              </a:solidFill>
            </a:endParaRPr>
          </a:p>
        </p:txBody>
      </p:sp>
      <p:sp>
        <p:nvSpPr>
          <p:cNvPr id="124" name="Rectangle 107"/>
          <p:cNvSpPr>
            <a:spLocks/>
          </p:cNvSpPr>
          <p:nvPr/>
        </p:nvSpPr>
        <p:spPr bwMode="auto">
          <a:xfrm>
            <a:off x="1419457" y="3404251"/>
            <a:ext cx="5040000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algn="ctr" defTabSz="914400"/>
            <a:r>
              <a:rPr lang="pt-BR" sz="1200" kern="0" dirty="0">
                <a:solidFill>
                  <a:schemeClr val="bg1"/>
                </a:solidFill>
              </a:rPr>
              <a:t>Fornecedor</a:t>
            </a:r>
          </a:p>
        </p:txBody>
      </p:sp>
      <p:sp>
        <p:nvSpPr>
          <p:cNvPr id="3" name="Retângulo 2"/>
          <p:cNvSpPr/>
          <p:nvPr/>
        </p:nvSpPr>
        <p:spPr>
          <a:xfrm>
            <a:off x="272119" y="5570522"/>
            <a:ext cx="9335909" cy="1000274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“Arquitetura Day” deve </a:t>
            </a:r>
            <a:r>
              <a:rPr lang="pt-BR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ocorrer até o 2º dia útil de cada mês </a:t>
            </a:r>
            <a:r>
              <a:rPr lang="pt-BR" sz="140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a participação (PMO </a:t>
            </a:r>
            <a:r>
              <a:rPr lang="pt-BR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</a:t>
            </a:r>
            <a:r>
              <a:rPr lang="pt-BR" sz="140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time de Arquitetura</a:t>
            </a:r>
            <a:r>
              <a:rPr lang="pt-BR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);</a:t>
            </a: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time de </a:t>
            </a:r>
            <a:r>
              <a:rPr lang="pt-BR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 </a:t>
            </a:r>
            <a:r>
              <a:rPr lang="pt-BR" sz="140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 utilizar o </a:t>
            </a:r>
            <a:r>
              <a:rPr lang="pt-BR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  <a:r>
              <a:rPr lang="pt-BR" sz="140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 e Projeto EA, mantendo os respectivos status atualizados.</a:t>
            </a:r>
          </a:p>
          <a:p>
            <a:pPr algn="just">
              <a:spcAft>
                <a:spcPts val="1800"/>
              </a:spcAft>
            </a:pPr>
            <a:endParaRPr lang="pt-BR" sz="1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07"/>
          <p:cNvSpPr>
            <a:spLocks/>
          </p:cNvSpPr>
          <p:nvPr/>
        </p:nvSpPr>
        <p:spPr bwMode="auto">
          <a:xfrm>
            <a:off x="6347364" y="3826049"/>
            <a:ext cx="1080000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algn="ctr" defTabSz="914400"/>
            <a:r>
              <a:rPr lang="pt-BR" sz="1200" kern="0" dirty="0" smtClean="0">
                <a:solidFill>
                  <a:schemeClr val="bg1"/>
                </a:solidFill>
              </a:rPr>
              <a:t>QA</a:t>
            </a:r>
            <a:endParaRPr lang="pt-BR" sz="1200" kern="0" dirty="0">
              <a:solidFill>
                <a:schemeClr val="bg1"/>
              </a:solidFill>
            </a:endParaRPr>
          </a:p>
        </p:txBody>
      </p:sp>
      <p:sp>
        <p:nvSpPr>
          <p:cNvPr id="14" name="Rectangle 107"/>
          <p:cNvSpPr>
            <a:spLocks/>
          </p:cNvSpPr>
          <p:nvPr/>
        </p:nvSpPr>
        <p:spPr bwMode="auto">
          <a:xfrm>
            <a:off x="7515596" y="4247847"/>
            <a:ext cx="1080000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algn="ctr" defTabSz="914400"/>
            <a:r>
              <a:rPr lang="pt-BR" sz="1200" kern="0" dirty="0" smtClean="0">
                <a:solidFill>
                  <a:schemeClr val="bg1"/>
                </a:solidFill>
              </a:rPr>
              <a:t>Homologação</a:t>
            </a:r>
            <a:endParaRPr lang="pt-BR" sz="1200" kern="0" dirty="0">
              <a:solidFill>
                <a:schemeClr val="bg1"/>
              </a:solidFill>
            </a:endParaRPr>
          </a:p>
        </p:txBody>
      </p:sp>
      <p:sp>
        <p:nvSpPr>
          <p:cNvPr id="15" name="Rectangle 107"/>
          <p:cNvSpPr>
            <a:spLocks/>
          </p:cNvSpPr>
          <p:nvPr/>
        </p:nvSpPr>
        <p:spPr bwMode="auto">
          <a:xfrm>
            <a:off x="8518322" y="4667373"/>
            <a:ext cx="1080000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algn="ctr" defTabSz="914400"/>
            <a:r>
              <a:rPr lang="pt-BR" sz="1200" kern="0" dirty="0" smtClean="0">
                <a:solidFill>
                  <a:schemeClr val="bg1"/>
                </a:solidFill>
              </a:rPr>
              <a:t>Publicação</a:t>
            </a:r>
            <a:endParaRPr lang="pt-BR" sz="1200" kern="0" dirty="0">
              <a:solidFill>
                <a:schemeClr val="bg1"/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51282" y="651755"/>
            <a:ext cx="33493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</a:t>
            </a:r>
            <a:endParaRPr lang="pt-BR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Gestão de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Demandas de TI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64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5740</TotalTime>
  <Words>715</Words>
  <PresentationFormat>Personalizar</PresentationFormat>
  <Paragraphs>293</Paragraphs>
  <Slides>7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Cambria</vt:lpstr>
      <vt:lpstr>Gotham Rounded Book</vt:lpstr>
      <vt:lpstr>Segoe UI</vt:lpstr>
      <vt:lpstr>Trebuchet MS</vt:lpstr>
      <vt:lpstr>ヒラギノ角ゴ ProN W3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2016-09-05T23:55:48Z</dcterms:modified>
</cp:coreProperties>
</file>