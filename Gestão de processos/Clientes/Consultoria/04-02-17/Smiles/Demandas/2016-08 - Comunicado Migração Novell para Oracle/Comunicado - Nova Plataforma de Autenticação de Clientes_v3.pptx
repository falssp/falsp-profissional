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2" r:id="rId2"/>
  </p:sldIdLst>
  <p:sldSz cx="6858000" cy="12239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56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57124"/>
    <a:srgbClr val="FF9900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41" d="100"/>
          <a:sy n="41" d="100"/>
        </p:scale>
        <p:origin x="2502" y="60"/>
      </p:cViewPr>
      <p:guideLst>
        <p:guide orient="horz" pos="3856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02/09/2016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468563" y="685800"/>
            <a:ext cx="19208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802226"/>
            <a:ext cx="5829300" cy="262358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6935789"/>
            <a:ext cx="4800600" cy="312790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2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2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8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2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7865099"/>
            <a:ext cx="5829300" cy="2430926"/>
          </a:xfrm>
        </p:spPr>
        <p:txBody>
          <a:bodyPr anchor="t"/>
          <a:lstStyle>
            <a:lvl1pPr algn="l">
              <a:defRPr sz="577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5187677"/>
            <a:ext cx="5829300" cy="2677418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41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820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231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641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2051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462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873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282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855919"/>
            <a:ext cx="3028950" cy="8077586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855919"/>
            <a:ext cx="3028950" cy="8077586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739752"/>
            <a:ext cx="3030141" cy="1141797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410" indent="0">
              <a:buNone/>
              <a:defRPr sz="2889" b="1"/>
            </a:lvl2pPr>
            <a:lvl3pPr marL="1320820" indent="0">
              <a:buNone/>
              <a:defRPr sz="2600" b="1"/>
            </a:lvl3pPr>
            <a:lvl4pPr marL="1981231" indent="0">
              <a:buNone/>
              <a:defRPr sz="2311" b="1"/>
            </a:lvl4pPr>
            <a:lvl5pPr marL="2641641" indent="0">
              <a:buNone/>
              <a:defRPr sz="2311" b="1"/>
            </a:lvl5pPr>
            <a:lvl6pPr marL="3302051" indent="0">
              <a:buNone/>
              <a:defRPr sz="2311" b="1"/>
            </a:lvl6pPr>
            <a:lvl7pPr marL="3962462" indent="0">
              <a:buNone/>
              <a:defRPr sz="2311" b="1"/>
            </a:lvl7pPr>
            <a:lvl8pPr marL="4622873" indent="0">
              <a:buNone/>
              <a:defRPr sz="2311" b="1"/>
            </a:lvl8pPr>
            <a:lvl9pPr marL="5283282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881549"/>
            <a:ext cx="3030141" cy="7051951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739752"/>
            <a:ext cx="3031332" cy="1141797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410" indent="0">
              <a:buNone/>
              <a:defRPr sz="2889" b="1"/>
            </a:lvl2pPr>
            <a:lvl3pPr marL="1320820" indent="0">
              <a:buNone/>
              <a:defRPr sz="2600" b="1"/>
            </a:lvl3pPr>
            <a:lvl4pPr marL="1981231" indent="0">
              <a:buNone/>
              <a:defRPr sz="2311" b="1"/>
            </a:lvl4pPr>
            <a:lvl5pPr marL="2641641" indent="0">
              <a:buNone/>
              <a:defRPr sz="2311" b="1"/>
            </a:lvl5pPr>
            <a:lvl6pPr marL="3302051" indent="0">
              <a:buNone/>
              <a:defRPr sz="2311" b="1"/>
            </a:lvl6pPr>
            <a:lvl7pPr marL="3962462" indent="0">
              <a:buNone/>
              <a:defRPr sz="2311" b="1"/>
            </a:lvl7pPr>
            <a:lvl8pPr marL="4622873" indent="0">
              <a:buNone/>
              <a:defRPr sz="2311" b="1"/>
            </a:lvl8pPr>
            <a:lvl9pPr marL="5283282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881549"/>
            <a:ext cx="3031332" cy="7051951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4" y="487319"/>
            <a:ext cx="2256235" cy="207393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487326"/>
            <a:ext cx="3833812" cy="10446181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4" y="2561262"/>
            <a:ext cx="2256235" cy="8372245"/>
          </a:xfrm>
        </p:spPr>
        <p:txBody>
          <a:bodyPr/>
          <a:lstStyle>
            <a:lvl1pPr marL="0" indent="0">
              <a:buNone/>
              <a:defRPr sz="2022"/>
            </a:lvl1pPr>
            <a:lvl2pPr marL="660410" indent="0">
              <a:buNone/>
              <a:defRPr sz="1733"/>
            </a:lvl2pPr>
            <a:lvl3pPr marL="1320820" indent="0">
              <a:buNone/>
              <a:defRPr sz="1444"/>
            </a:lvl3pPr>
            <a:lvl4pPr marL="1981231" indent="0">
              <a:buNone/>
              <a:defRPr sz="1300"/>
            </a:lvl4pPr>
            <a:lvl5pPr marL="2641641" indent="0">
              <a:buNone/>
              <a:defRPr sz="1300"/>
            </a:lvl5pPr>
            <a:lvl6pPr marL="3302051" indent="0">
              <a:buNone/>
              <a:defRPr sz="1300"/>
            </a:lvl6pPr>
            <a:lvl7pPr marL="3962462" indent="0">
              <a:buNone/>
              <a:defRPr sz="1300"/>
            </a:lvl7pPr>
            <a:lvl8pPr marL="4622873" indent="0">
              <a:buNone/>
              <a:defRPr sz="1300"/>
            </a:lvl8pPr>
            <a:lvl9pPr marL="52832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8567737"/>
            <a:ext cx="4114800" cy="1011471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1093633"/>
            <a:ext cx="4114800" cy="7343775"/>
          </a:xfrm>
        </p:spPr>
        <p:txBody>
          <a:bodyPr/>
          <a:lstStyle>
            <a:lvl1pPr marL="0" indent="0">
              <a:buNone/>
              <a:defRPr sz="4622"/>
            </a:lvl1pPr>
            <a:lvl2pPr marL="660410" indent="0">
              <a:buNone/>
              <a:defRPr sz="4044"/>
            </a:lvl2pPr>
            <a:lvl3pPr marL="1320820" indent="0">
              <a:buNone/>
              <a:defRPr sz="3467"/>
            </a:lvl3pPr>
            <a:lvl4pPr marL="1981231" indent="0">
              <a:buNone/>
              <a:defRPr sz="2889"/>
            </a:lvl4pPr>
            <a:lvl5pPr marL="2641641" indent="0">
              <a:buNone/>
              <a:defRPr sz="2889"/>
            </a:lvl5pPr>
            <a:lvl6pPr marL="3302051" indent="0">
              <a:buNone/>
              <a:defRPr sz="2889"/>
            </a:lvl6pPr>
            <a:lvl7pPr marL="3962462" indent="0">
              <a:buNone/>
              <a:defRPr sz="2889"/>
            </a:lvl7pPr>
            <a:lvl8pPr marL="4622873" indent="0">
              <a:buNone/>
              <a:defRPr sz="2889"/>
            </a:lvl8pPr>
            <a:lvl9pPr marL="5283282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9579209"/>
            <a:ext cx="4114800" cy="1436455"/>
          </a:xfrm>
        </p:spPr>
        <p:txBody>
          <a:bodyPr/>
          <a:lstStyle>
            <a:lvl1pPr marL="0" indent="0">
              <a:buNone/>
              <a:defRPr sz="2022"/>
            </a:lvl1pPr>
            <a:lvl2pPr marL="660410" indent="0">
              <a:buNone/>
              <a:defRPr sz="1733"/>
            </a:lvl2pPr>
            <a:lvl3pPr marL="1320820" indent="0">
              <a:buNone/>
              <a:defRPr sz="1444"/>
            </a:lvl3pPr>
            <a:lvl4pPr marL="1981231" indent="0">
              <a:buNone/>
              <a:defRPr sz="1300"/>
            </a:lvl4pPr>
            <a:lvl5pPr marL="2641641" indent="0">
              <a:buNone/>
              <a:defRPr sz="1300"/>
            </a:lvl5pPr>
            <a:lvl6pPr marL="3302051" indent="0">
              <a:buNone/>
              <a:defRPr sz="1300"/>
            </a:lvl6pPr>
            <a:lvl7pPr marL="3962462" indent="0">
              <a:buNone/>
              <a:defRPr sz="1300"/>
            </a:lvl7pPr>
            <a:lvl8pPr marL="4622873" indent="0">
              <a:buNone/>
              <a:defRPr sz="1300"/>
            </a:lvl8pPr>
            <a:lvl9pPr marL="52832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490160"/>
            <a:ext cx="1543050" cy="104433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490160"/>
            <a:ext cx="4514850" cy="104433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490153"/>
            <a:ext cx="6172200" cy="2039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855919"/>
            <a:ext cx="6172200" cy="8077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11344327"/>
            <a:ext cx="1600200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9/2/2016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11344327"/>
            <a:ext cx="2171700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11344327"/>
            <a:ext cx="1600200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410" rtl="0" eaLnBrk="1" latinLnBrk="0" hangingPunct="1">
        <a:spcBef>
          <a:spcPct val="0"/>
        </a:spcBef>
        <a:buNone/>
        <a:defRPr sz="63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308" indent="-495308" algn="l" defTabSz="66041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67" indent="-412756" algn="l" defTabSz="66041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1026" indent="-330206" algn="l" defTabSz="66041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436" indent="-330206" algn="l" defTabSz="66041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847" indent="-330206" algn="l" defTabSz="66041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257" indent="-330206" algn="l" defTabSz="66041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667" indent="-330206" algn="l" defTabSz="66041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3078" indent="-330206" algn="l" defTabSz="66041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488" indent="-330206" algn="l" defTabSz="66041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410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820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231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641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2051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62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873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282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100012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100011"/>
            <a:ext cx="6685200" cy="12034839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204939" y="1860705"/>
            <a:ext cx="4433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Projeto </a:t>
            </a:r>
            <a:r>
              <a:rPr lang="pt-BR" sz="2000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Nova Plataforma de Autenticação de Clientes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532144" y="11805178"/>
            <a:ext cx="1850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Diretoria de TI</a:t>
            </a:r>
            <a:endParaRPr lang="pt-BR" sz="12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8" y="156039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02.Set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85888" y="2656826"/>
            <a:ext cx="4865910" cy="954360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>
              <a:spcAft>
                <a:spcPts val="3000"/>
              </a:spcAft>
            </a:pPr>
            <a:r>
              <a:rPr lang="pt-BR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Comunicado de </a:t>
            </a:r>
            <a:r>
              <a:rPr lang="pt-BR" b="1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indisponibilidade nos serviços de reset e alteração de senha </a:t>
            </a:r>
            <a:r>
              <a:rPr lang="pt-BR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devido a manutenção no Site e APP Smiles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185887" y="3890056"/>
            <a:ext cx="6436380" cy="8007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000"/>
              </a:lnSpc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 o objetivo de substituir a plataforma atual de autenticação de clientes e parceiros (obsoleta e descontinuada), por uma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nova plataforma mais robusta e com melhores níveis de suporte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realizaremos uma atividade de manutenção técnica em 3 fases, conforme planejamento abaixo:</a:t>
            </a:r>
          </a:p>
          <a:p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00227" lvl="2" indent="-285763">
              <a:lnSpc>
                <a:spcPts val="18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Fase 1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Preparação: </a:t>
            </a:r>
            <a:r>
              <a:rPr lang="pt-BR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 06h00 de 04-Set (domingo) até 22h00 de 05-Set (segunda)</a:t>
            </a:r>
          </a:p>
          <a:p>
            <a:pPr marL="1657448" lvl="3" indent="-285763">
              <a:lnSpc>
                <a:spcPts val="1800"/>
              </a:lnSpc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que ficará </a:t>
            </a:r>
            <a:r>
              <a:rPr lang="pt-BR" sz="1400" b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indisponível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pt-BR" sz="14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Sorry</a:t>
            </a:r>
            <a:r>
              <a:rPr lang="pt-B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Page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Parcial):</a:t>
            </a:r>
          </a:p>
          <a:p>
            <a:pPr marL="2114669" lvl="4" indent="-285763">
              <a:lnSpc>
                <a:spcPts val="1700"/>
              </a:lnSpc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Alteração de senha</a:t>
            </a:r>
          </a:p>
          <a:p>
            <a:pPr marL="2114669" lvl="4" indent="-285763">
              <a:lnSpc>
                <a:spcPts val="1700"/>
              </a:lnSpc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Reset de Senha</a:t>
            </a:r>
          </a:p>
          <a:p>
            <a:pPr marL="2114669" lvl="4" indent="-285763">
              <a:lnSpc>
                <a:spcPts val="1700"/>
              </a:lnSpc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Cadastro de novos parceiros</a:t>
            </a:r>
          </a:p>
          <a:p>
            <a:pPr marL="2114669" lvl="4" indent="-285763">
              <a:lnSpc>
                <a:spcPts val="1700"/>
              </a:lnSpc>
              <a:buFont typeface="Wingdings" panose="05000000000000000000" pitchFamily="2" charset="2"/>
              <a:buChar char="q"/>
            </a:pP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Pré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-cadastro para adesão ao Clube Smiles</a:t>
            </a:r>
          </a:p>
          <a:p>
            <a:pPr marL="2114669" lvl="4" indent="-285763">
              <a:lnSpc>
                <a:spcPts val="17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Cadastros provenientes da GOL</a:t>
            </a:r>
          </a:p>
          <a:p>
            <a:pPr marL="1657448" lvl="3" indent="-285763">
              <a:lnSpc>
                <a:spcPts val="1800"/>
              </a:lnSpc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que </a:t>
            </a:r>
            <a:r>
              <a:rPr lang="pt-BR" sz="1400" b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não será afetado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2114669" lvl="4" indent="-285763">
              <a:lnSpc>
                <a:spcPts val="1700"/>
              </a:lnSpc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Navegação site Smiles e APP</a:t>
            </a:r>
          </a:p>
          <a:p>
            <a:pPr marL="2114669" lvl="4" indent="-285763">
              <a:lnSpc>
                <a:spcPts val="1700"/>
              </a:lnSpc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Emissão G3 e Amadeus</a:t>
            </a:r>
          </a:p>
          <a:p>
            <a:pPr marL="2114669" lvl="4" indent="-285763">
              <a:lnSpc>
                <a:spcPts val="1700"/>
              </a:lnSpc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Produto B2C (NOTA: adesão Clube Smiles somente para clientes já cadastrados na Smiles)</a:t>
            </a:r>
          </a:p>
          <a:p>
            <a:pPr marL="2114669" lvl="4" indent="-285763">
              <a:lnSpc>
                <a:spcPts val="1700"/>
              </a:lnSpc>
              <a:buFont typeface="Wingdings" panose="05000000000000000000" pitchFamily="2" charset="2"/>
              <a:buChar char="q"/>
            </a:pP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Login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 Minha Conta</a:t>
            </a:r>
          </a:p>
          <a:p>
            <a:pPr marL="2114669" lvl="4" indent="-285763">
              <a:lnSpc>
                <a:spcPts val="1700"/>
              </a:lnSpc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Cadastros de clientes (disponível mas novos acessos serão ativados somente após 06-Set a partir das 23h30)</a:t>
            </a:r>
          </a:p>
          <a:p>
            <a:pPr marL="2114669" lvl="4" indent="-285763">
              <a:lnSpc>
                <a:spcPts val="1700"/>
              </a:lnSpc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Central de Atendimento (Siebel)</a:t>
            </a:r>
          </a:p>
          <a:p>
            <a:pPr marL="1657448" lvl="3" indent="-285763">
              <a:buFont typeface="Wingdings" panose="05000000000000000000" pitchFamily="2" charset="2"/>
              <a:buChar char="q"/>
            </a:pP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00227" lvl="2" indent="-285763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Fase 2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Go-Live: </a:t>
            </a:r>
            <a:r>
              <a:rPr lang="pt-BR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 22h00 de 05-Set (segunda) até 08h15 de 06-Set (terça)</a:t>
            </a:r>
          </a:p>
          <a:p>
            <a:pPr marL="1657448" lvl="3" indent="-285763">
              <a:lnSpc>
                <a:spcPts val="1800"/>
              </a:lnSpc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que ficará </a:t>
            </a:r>
            <a:r>
              <a:rPr lang="pt-BR" sz="1400" b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indisponível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pt-BR" sz="14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Sorry</a:t>
            </a:r>
            <a:r>
              <a:rPr lang="pt-B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Page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Geral):</a:t>
            </a:r>
          </a:p>
          <a:p>
            <a:pPr marL="2114669" lvl="4" indent="-285763">
              <a:lnSpc>
                <a:spcPts val="1700"/>
              </a:lnSpc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Site Smiles</a:t>
            </a:r>
          </a:p>
          <a:p>
            <a:pPr marL="2114669" lvl="4" indent="-285763">
              <a:lnSpc>
                <a:spcPts val="1700"/>
              </a:lnSpc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 Smiles</a:t>
            </a:r>
          </a:p>
          <a:p>
            <a:pPr marL="2114669" lvl="4" indent="-285763">
              <a:lnSpc>
                <a:spcPts val="1700"/>
              </a:lnSpc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Siebel (Central)</a:t>
            </a:r>
          </a:p>
          <a:p>
            <a:pPr marL="1828906" lvl="4"/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00227" lvl="2" indent="-285763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Fase 3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Estabilização: </a:t>
            </a:r>
            <a:r>
              <a:rPr lang="pt-BR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 08h15 de 06-Set (terça) até 23h30 de 06-Set (terça)</a:t>
            </a:r>
            <a:endParaRPr lang="pt-BR" sz="1400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657427" lvl="3" indent="-285763"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Idem a Fase 1.</a:t>
            </a:r>
          </a:p>
          <a:p>
            <a:pPr marL="1200227" lvl="2" indent="-285763">
              <a:buFont typeface="Wingdings" panose="05000000000000000000" pitchFamily="2" charset="2"/>
              <a:buChar char="q"/>
            </a:pPr>
            <a:endParaRPr lang="pt-BR" sz="14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28" name="Picture 4" descr="http://www.rightawaysigns.com/wp-content/uploads/6080-7x10-Out-of-Service-for-Repairs-Red-on-White.jp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3" t="2693" r="2277" b="4240"/>
          <a:stretch/>
        </p:blipFill>
        <p:spPr bwMode="auto">
          <a:xfrm rot="786738">
            <a:off x="4640409" y="1898191"/>
            <a:ext cx="1843923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Agrupar 6"/>
          <p:cNvGrpSpPr/>
          <p:nvPr/>
        </p:nvGrpSpPr>
        <p:grpSpPr>
          <a:xfrm>
            <a:off x="530697" y="10084158"/>
            <a:ext cx="1312713" cy="457200"/>
            <a:chOff x="185887" y="5936076"/>
            <a:chExt cx="1312713" cy="457200"/>
          </a:xfrm>
        </p:grpSpPr>
        <p:sp>
          <p:nvSpPr>
            <p:cNvPr id="20" name="Retângulo: Cantos Arredondados 19"/>
            <p:cNvSpPr/>
            <p:nvPr/>
          </p:nvSpPr>
          <p:spPr>
            <a:xfrm>
              <a:off x="622300" y="5936076"/>
              <a:ext cx="876300" cy="45720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100" b="1" i="1" dirty="0" err="1">
                  <a:solidFill>
                    <a:schemeClr val="tx1"/>
                  </a:solidFill>
                </a:rPr>
                <a:t>Sorry</a:t>
              </a:r>
              <a:r>
                <a:rPr lang="pt-BR" sz="1100" b="1" i="1" dirty="0">
                  <a:solidFill>
                    <a:schemeClr val="tx1"/>
                  </a:solidFill>
                </a:rPr>
                <a:t> Page </a:t>
              </a:r>
              <a:r>
                <a:rPr lang="pt-BR" sz="1100" b="1" dirty="0">
                  <a:solidFill>
                    <a:schemeClr val="tx1"/>
                  </a:solidFill>
                </a:rPr>
                <a:t>Geral</a:t>
              </a:r>
              <a:endParaRPr lang="pt-BR" b="1" dirty="0">
                <a:solidFill>
                  <a:schemeClr val="tx1"/>
                </a:solidFill>
              </a:endParaRPr>
            </a:p>
          </p:txBody>
        </p: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5887" y="5989807"/>
              <a:ext cx="360000" cy="360000"/>
            </a:xfrm>
            <a:prstGeom prst="rect">
              <a:avLst/>
            </a:prstGeom>
          </p:spPr>
        </p:pic>
      </p:grpSp>
      <p:grpSp>
        <p:nvGrpSpPr>
          <p:cNvPr id="5" name="Agrupar 4"/>
          <p:cNvGrpSpPr/>
          <p:nvPr/>
        </p:nvGrpSpPr>
        <p:grpSpPr>
          <a:xfrm>
            <a:off x="474892" y="6223194"/>
            <a:ext cx="1368518" cy="457200"/>
            <a:chOff x="130082" y="5139580"/>
            <a:chExt cx="1368518" cy="457200"/>
          </a:xfrm>
        </p:grpSpPr>
        <p:sp>
          <p:nvSpPr>
            <p:cNvPr id="3" name="Retângulo: Cantos Arredondados 2"/>
            <p:cNvSpPr/>
            <p:nvPr/>
          </p:nvSpPr>
          <p:spPr>
            <a:xfrm>
              <a:off x="622300" y="5139580"/>
              <a:ext cx="876300" cy="4572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100" b="1" i="1" dirty="0" err="1">
                  <a:solidFill>
                    <a:schemeClr val="tx1"/>
                  </a:solidFill>
                </a:rPr>
                <a:t>Sorry</a:t>
              </a:r>
              <a:r>
                <a:rPr lang="pt-BR" sz="1100" b="1" i="1" dirty="0">
                  <a:solidFill>
                    <a:schemeClr val="tx1"/>
                  </a:solidFill>
                </a:rPr>
                <a:t> Page </a:t>
              </a:r>
              <a:r>
                <a:rPr lang="pt-BR" sz="1100" b="1" dirty="0">
                  <a:solidFill>
                    <a:schemeClr val="tx1"/>
                  </a:solidFill>
                </a:rPr>
                <a:t>Parcial</a:t>
              </a:r>
              <a:endParaRPr lang="pt-BR" b="1" dirty="0">
                <a:solidFill>
                  <a:schemeClr val="tx1"/>
                </a:solidFill>
              </a:endParaRPr>
            </a:p>
          </p:txBody>
        </p:sp>
        <p:pic>
          <p:nvPicPr>
            <p:cNvPr id="1030" name="Picture 6" descr="http://www.clipartkid.com/images/397/caution-symbol-clip-art-lN0mIh-clipart.jpeg"/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082" y="5174946"/>
              <a:ext cx="483084" cy="3864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78263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3511</TotalTime>
  <Words>249</Words>
  <Application>Microsoft Office PowerPoint</Application>
  <PresentationFormat>Personalizar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Adriano Sarno Barbosa</dc:creator>
  <cp:lastModifiedBy>Jorge Filho</cp:lastModifiedBy>
  <cp:revision>18</cp:revision>
  <dcterms:created xsi:type="dcterms:W3CDTF">2014-01-24T21:35:00Z</dcterms:created>
  <dcterms:modified xsi:type="dcterms:W3CDTF">2016-09-02T17:44:14Z</dcterms:modified>
</cp:coreProperties>
</file>