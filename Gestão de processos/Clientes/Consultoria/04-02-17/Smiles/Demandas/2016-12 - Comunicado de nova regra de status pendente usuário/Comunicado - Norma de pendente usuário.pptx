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2" r:id="rId2"/>
  </p:sldIdLst>
  <p:sldSz cx="6858000" cy="12239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5737" userDrawn="1">
          <p15:clr>
            <a:srgbClr val="A4A3A4"/>
          </p15:clr>
        </p15:guide>
        <p15:guide id="3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6" autoAdjust="0"/>
    <p:restoredTop sz="94664" autoAdjust="0"/>
  </p:normalViewPr>
  <p:slideViewPr>
    <p:cSldViewPr snapToGrid="0" snapToObjects="1">
      <p:cViewPr>
        <p:scale>
          <a:sx n="30" d="100"/>
          <a:sy n="30" d="100"/>
        </p:scale>
        <p:origin x="2748" y="408"/>
      </p:cViewPr>
      <p:guideLst>
        <p:guide orient="horz" pos="5737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19/12/2016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468563" y="685800"/>
            <a:ext cx="19208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245040-EFBE-493F-96A2-B5DCAE3ADE4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5859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802226"/>
            <a:ext cx="5829300" cy="26235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6935789"/>
            <a:ext cx="4800600" cy="312790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2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2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8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2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7865099"/>
            <a:ext cx="5829300" cy="2430926"/>
          </a:xfrm>
        </p:spPr>
        <p:txBody>
          <a:bodyPr anchor="t"/>
          <a:lstStyle>
            <a:lvl1pPr algn="l">
              <a:defRPr sz="577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5187677"/>
            <a:ext cx="5829300" cy="2677418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41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820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23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64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205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462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873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282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855919"/>
            <a:ext cx="3028950" cy="8077586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855919"/>
            <a:ext cx="3028950" cy="8077586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739752"/>
            <a:ext cx="3030141" cy="1141797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410" indent="0">
              <a:buNone/>
              <a:defRPr sz="2889" b="1"/>
            </a:lvl2pPr>
            <a:lvl3pPr marL="1320820" indent="0">
              <a:buNone/>
              <a:defRPr sz="2600" b="1"/>
            </a:lvl3pPr>
            <a:lvl4pPr marL="1981231" indent="0">
              <a:buNone/>
              <a:defRPr sz="2311" b="1"/>
            </a:lvl4pPr>
            <a:lvl5pPr marL="2641641" indent="0">
              <a:buNone/>
              <a:defRPr sz="2311" b="1"/>
            </a:lvl5pPr>
            <a:lvl6pPr marL="3302051" indent="0">
              <a:buNone/>
              <a:defRPr sz="2311" b="1"/>
            </a:lvl6pPr>
            <a:lvl7pPr marL="3962462" indent="0">
              <a:buNone/>
              <a:defRPr sz="2311" b="1"/>
            </a:lvl7pPr>
            <a:lvl8pPr marL="4622873" indent="0">
              <a:buNone/>
              <a:defRPr sz="2311" b="1"/>
            </a:lvl8pPr>
            <a:lvl9pPr marL="5283282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881549"/>
            <a:ext cx="3030141" cy="7051951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739752"/>
            <a:ext cx="3031332" cy="1141797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410" indent="0">
              <a:buNone/>
              <a:defRPr sz="2889" b="1"/>
            </a:lvl2pPr>
            <a:lvl3pPr marL="1320820" indent="0">
              <a:buNone/>
              <a:defRPr sz="2600" b="1"/>
            </a:lvl3pPr>
            <a:lvl4pPr marL="1981231" indent="0">
              <a:buNone/>
              <a:defRPr sz="2311" b="1"/>
            </a:lvl4pPr>
            <a:lvl5pPr marL="2641641" indent="0">
              <a:buNone/>
              <a:defRPr sz="2311" b="1"/>
            </a:lvl5pPr>
            <a:lvl6pPr marL="3302051" indent="0">
              <a:buNone/>
              <a:defRPr sz="2311" b="1"/>
            </a:lvl6pPr>
            <a:lvl7pPr marL="3962462" indent="0">
              <a:buNone/>
              <a:defRPr sz="2311" b="1"/>
            </a:lvl7pPr>
            <a:lvl8pPr marL="4622873" indent="0">
              <a:buNone/>
              <a:defRPr sz="2311" b="1"/>
            </a:lvl8pPr>
            <a:lvl9pPr marL="5283282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881549"/>
            <a:ext cx="3031332" cy="7051951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12/19/2016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12/19/2016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487319"/>
            <a:ext cx="2256235" cy="207393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487326"/>
            <a:ext cx="3833812" cy="104461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561262"/>
            <a:ext cx="2256235" cy="8372245"/>
          </a:xfrm>
        </p:spPr>
        <p:txBody>
          <a:bodyPr/>
          <a:lstStyle>
            <a:lvl1pPr marL="0" indent="0">
              <a:buNone/>
              <a:defRPr sz="2022"/>
            </a:lvl1pPr>
            <a:lvl2pPr marL="660410" indent="0">
              <a:buNone/>
              <a:defRPr sz="1733"/>
            </a:lvl2pPr>
            <a:lvl3pPr marL="1320820" indent="0">
              <a:buNone/>
              <a:defRPr sz="1444"/>
            </a:lvl3pPr>
            <a:lvl4pPr marL="1981231" indent="0">
              <a:buNone/>
              <a:defRPr sz="1300"/>
            </a:lvl4pPr>
            <a:lvl5pPr marL="2641641" indent="0">
              <a:buNone/>
              <a:defRPr sz="1300"/>
            </a:lvl5pPr>
            <a:lvl6pPr marL="3302051" indent="0">
              <a:buNone/>
              <a:defRPr sz="1300"/>
            </a:lvl6pPr>
            <a:lvl7pPr marL="3962462" indent="0">
              <a:buNone/>
              <a:defRPr sz="1300"/>
            </a:lvl7pPr>
            <a:lvl8pPr marL="4622873" indent="0">
              <a:buNone/>
              <a:defRPr sz="1300"/>
            </a:lvl8pPr>
            <a:lvl9pPr marL="52832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8567737"/>
            <a:ext cx="4114800" cy="1011471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1093633"/>
            <a:ext cx="4114800" cy="7343775"/>
          </a:xfrm>
        </p:spPr>
        <p:txBody>
          <a:bodyPr/>
          <a:lstStyle>
            <a:lvl1pPr marL="0" indent="0">
              <a:buNone/>
              <a:defRPr sz="4622"/>
            </a:lvl1pPr>
            <a:lvl2pPr marL="660410" indent="0">
              <a:buNone/>
              <a:defRPr sz="4044"/>
            </a:lvl2pPr>
            <a:lvl3pPr marL="1320820" indent="0">
              <a:buNone/>
              <a:defRPr sz="3467"/>
            </a:lvl3pPr>
            <a:lvl4pPr marL="1981231" indent="0">
              <a:buNone/>
              <a:defRPr sz="2889"/>
            </a:lvl4pPr>
            <a:lvl5pPr marL="2641641" indent="0">
              <a:buNone/>
              <a:defRPr sz="2889"/>
            </a:lvl5pPr>
            <a:lvl6pPr marL="3302051" indent="0">
              <a:buNone/>
              <a:defRPr sz="2889"/>
            </a:lvl6pPr>
            <a:lvl7pPr marL="3962462" indent="0">
              <a:buNone/>
              <a:defRPr sz="2889"/>
            </a:lvl7pPr>
            <a:lvl8pPr marL="4622873" indent="0">
              <a:buNone/>
              <a:defRPr sz="2889"/>
            </a:lvl8pPr>
            <a:lvl9pPr marL="5283282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9579209"/>
            <a:ext cx="4114800" cy="1436455"/>
          </a:xfrm>
        </p:spPr>
        <p:txBody>
          <a:bodyPr/>
          <a:lstStyle>
            <a:lvl1pPr marL="0" indent="0">
              <a:buNone/>
              <a:defRPr sz="2022"/>
            </a:lvl1pPr>
            <a:lvl2pPr marL="660410" indent="0">
              <a:buNone/>
              <a:defRPr sz="1733"/>
            </a:lvl2pPr>
            <a:lvl3pPr marL="1320820" indent="0">
              <a:buNone/>
              <a:defRPr sz="1444"/>
            </a:lvl3pPr>
            <a:lvl4pPr marL="1981231" indent="0">
              <a:buNone/>
              <a:defRPr sz="1300"/>
            </a:lvl4pPr>
            <a:lvl5pPr marL="2641641" indent="0">
              <a:buNone/>
              <a:defRPr sz="1300"/>
            </a:lvl5pPr>
            <a:lvl6pPr marL="3302051" indent="0">
              <a:buNone/>
              <a:defRPr sz="1300"/>
            </a:lvl6pPr>
            <a:lvl7pPr marL="3962462" indent="0">
              <a:buNone/>
              <a:defRPr sz="1300"/>
            </a:lvl7pPr>
            <a:lvl8pPr marL="4622873" indent="0">
              <a:buNone/>
              <a:defRPr sz="1300"/>
            </a:lvl8pPr>
            <a:lvl9pPr marL="52832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490160"/>
            <a:ext cx="1543050" cy="104433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490160"/>
            <a:ext cx="4514850" cy="104433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490153"/>
            <a:ext cx="6172200" cy="2039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855919"/>
            <a:ext cx="6172200" cy="8077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11344327"/>
            <a:ext cx="1600200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11344327"/>
            <a:ext cx="2171700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11344327"/>
            <a:ext cx="1600200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410" rtl="0" eaLnBrk="1" latinLnBrk="0" hangingPunct="1">
        <a:spcBef>
          <a:spcPct val="0"/>
        </a:spcBef>
        <a:buNone/>
        <a:defRPr sz="63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308" indent="-495308" algn="l" defTabSz="66041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67" indent="-412756" algn="l" defTabSz="66041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1026" indent="-330206" algn="l" defTabSz="66041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436" indent="-330206" algn="l" defTabSz="66041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847" indent="-330206" algn="l" defTabSz="66041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257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667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3078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488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410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820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231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641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2051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62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873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282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2" y="1682407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72740" y="1687500"/>
            <a:ext cx="6685200" cy="8969045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188956" y="3443100"/>
            <a:ext cx="4348011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Encerramento de chamados por falta de retorno</a:t>
            </a:r>
            <a:endParaRPr lang="pt-BR" sz="2800" b="1" dirty="0">
              <a:solidFill>
                <a:srgbClr val="F57124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1422517" y="10272479"/>
            <a:ext cx="3600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Atenciosamente | Diretoria de TI</a:t>
            </a:r>
            <a:endParaRPr lang="pt-BR" sz="12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21305" y="1738434"/>
            <a:ext cx="103363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15.Dez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69905" y="4372571"/>
            <a:ext cx="3871762" cy="954360"/>
          </a:xfrm>
          <a:prstGeom prst="rect">
            <a:avLst/>
          </a:prstGeom>
          <a:noFill/>
        </p:spPr>
        <p:txBody>
          <a:bodyPr wrap="square" lIns="122169" tIns="61085" rIns="122169" bIns="61085" rtlCol="0" anchor="ctr">
            <a:spAutoFit/>
          </a:bodyPr>
          <a:lstStyle/>
          <a:p>
            <a:pPr>
              <a:spcAft>
                <a:spcPts val="3000"/>
              </a:spcAft>
            </a:pPr>
            <a:r>
              <a:rPr lang="pt-BR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Chamados com status “pendente usuário” sem retorno ha mais de 5 dias poderão ser encerrados.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194827" y="5701051"/>
            <a:ext cx="6436380" cy="34265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lnSpc>
                <a:spcPts val="2000"/>
              </a:lnSpc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equipe de Operações de TI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 o objetivo de aprimorar os controles sobre os chamados, informa a alteração da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regra de </a:t>
            </a:r>
            <a:r>
              <a:rPr lang="pt-BR" sz="14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“pendente usuário” </a:t>
            </a: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 chamados que apresentam </a:t>
            </a:r>
            <a:r>
              <a:rPr lang="pt-B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“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”,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sem atualização há mais de 05 dias úteis na ferramenta de gestão de serviços (JIRA)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poderão ser encerrados por falta de informações a partir da publicação do Documento Normativo de Central de Serviços.</a:t>
            </a: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 isso garantimos mais assertividade na categorização dos chamados, ou seja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um melhor atendimento e qualidade  na tratativa dos chamados.</a:t>
            </a: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caso de dúvidas ou esclarecimentos, procurar Nei </a:t>
            </a:r>
            <a:r>
              <a:rPr lang="pt-B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Henckes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coordenador da área de Operações de TI.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4126" y="4096995"/>
            <a:ext cx="2634516" cy="146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26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3690</TotalTime>
  <Words>149</Words>
  <Application>Microsoft Office PowerPoint</Application>
  <PresentationFormat>Personalizar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Semibold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Jorge Maluf</dc:creator>
  <cp:lastModifiedBy>Felipe Lima</cp:lastModifiedBy>
  <cp:revision>39</cp:revision>
  <dcterms:created xsi:type="dcterms:W3CDTF">2014-01-24T21:35:00Z</dcterms:created>
  <dcterms:modified xsi:type="dcterms:W3CDTF">2016-12-19T16:29:16Z</dcterms:modified>
</cp:coreProperties>
</file>