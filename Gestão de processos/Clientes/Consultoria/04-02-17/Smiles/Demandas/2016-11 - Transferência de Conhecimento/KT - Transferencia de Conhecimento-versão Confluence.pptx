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02" r:id="rId2"/>
    <p:sldId id="30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E28734"/>
    <a:srgbClr val="F4BC71"/>
    <a:srgbClr val="D0462D"/>
    <a:srgbClr val="C3432A"/>
    <a:srgbClr val="FFFFFF"/>
    <a:srgbClr val="7D1A1D"/>
    <a:srgbClr val="A33922"/>
    <a:srgbClr val="903D17"/>
    <a:srgbClr val="EE68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71" autoAdjust="0"/>
  </p:normalViewPr>
  <p:slideViewPr>
    <p:cSldViewPr snapToGrid="0" snapToObjects="1">
      <p:cViewPr varScale="1">
        <p:scale>
          <a:sx n="66" d="100"/>
          <a:sy n="66" d="100"/>
        </p:scale>
        <p:origin x="1518" y="72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295DE-75AE-4726-9F6E-139FDEE712F1}" type="datetimeFigureOut">
              <a:rPr lang="pt-BR" smtClean="0"/>
              <a:t>21/11/2016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A573A-2955-4B78-88F6-99A7D4FDE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4348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t>11/21/2016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692394"/>
            <a:ext cx="4489496" cy="15626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1. Objetivo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descreva de forma </a:t>
            </a:r>
            <a:r>
              <a:rPr lang="pt-BR" sz="1600" dirty="0"/>
              <a:t>resumida </a:t>
            </a:r>
            <a:r>
              <a:rPr lang="pt-BR" sz="1600" dirty="0" smtClean="0"/>
              <a:t>qual é o </a:t>
            </a:r>
            <a:r>
              <a:rPr lang="pt-BR" sz="1600" b="1" dirty="0"/>
              <a:t>objetivo</a:t>
            </a:r>
            <a:r>
              <a:rPr lang="pt-BR" sz="1600" dirty="0"/>
              <a:t> do projeto / </a:t>
            </a:r>
            <a:r>
              <a:rPr lang="pt-BR" sz="1600" dirty="0" smtClean="0"/>
              <a:t>melhoria / bug.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5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133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bg1">
                  <a:lumMod val="50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1182915"/>
            <a:ext cx="4489496" cy="45172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2. Solução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b="1" dirty="0" smtClean="0"/>
              <a:t>Tecnologias: </a:t>
            </a:r>
            <a:r>
              <a:rPr lang="pt-BR" sz="1600" dirty="0" smtClean="0"/>
              <a:t>Caso envolva várias </a:t>
            </a:r>
            <a:r>
              <a:rPr lang="pt-BR" sz="1600" dirty="0"/>
              <a:t>tecnologias (Java, Siebel, SOA, </a:t>
            </a:r>
            <a:r>
              <a:rPr lang="pt-BR" sz="1600" dirty="0" err="1"/>
              <a:t>etc</a:t>
            </a:r>
            <a:r>
              <a:rPr lang="pt-BR" sz="1600" dirty="0" smtClean="0"/>
              <a:t>), descreva </a:t>
            </a:r>
            <a:r>
              <a:rPr lang="pt-BR" sz="1600" dirty="0"/>
              <a:t>cada uma </a:t>
            </a:r>
            <a:r>
              <a:rPr lang="pt-BR" sz="1600" dirty="0" smtClean="0"/>
              <a:t>dessas tecnologias envolvidas;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b="1" dirty="0" smtClean="0"/>
              <a:t>Sistemas de terceiros: </a:t>
            </a:r>
            <a:r>
              <a:rPr lang="pt-BR" sz="1600" dirty="0"/>
              <a:t>Caso </a:t>
            </a:r>
            <a:r>
              <a:rPr lang="pt-BR" sz="1600" dirty="0" smtClean="0"/>
              <a:t>envolva sistemas de terceiros (B2E</a:t>
            </a:r>
            <a:r>
              <a:rPr lang="pt-BR" sz="1600" dirty="0"/>
              <a:t>, Gateway de Pagamentos, </a:t>
            </a:r>
            <a:r>
              <a:rPr lang="pt-BR" sz="1600" dirty="0" err="1"/>
              <a:t>ClearSale</a:t>
            </a:r>
            <a:r>
              <a:rPr lang="pt-BR" sz="1600" dirty="0"/>
              <a:t>, </a:t>
            </a:r>
            <a:r>
              <a:rPr lang="pt-BR" sz="1600" dirty="0" err="1"/>
              <a:t>etc</a:t>
            </a:r>
            <a:r>
              <a:rPr lang="pt-BR" sz="1600" dirty="0"/>
              <a:t>), </a:t>
            </a:r>
            <a:r>
              <a:rPr lang="pt-BR" sz="1600" dirty="0" smtClean="0"/>
              <a:t>descreva cada um desses sistemas de terceiros envolvidos;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b="1" dirty="0" smtClean="0"/>
              <a:t>Integração: </a:t>
            </a:r>
            <a:r>
              <a:rPr lang="pt-BR" sz="1600" dirty="0" smtClean="0"/>
              <a:t>Caso envolva integração, descreva a solução aplicada de integração;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b="1" dirty="0" smtClean="0"/>
              <a:t>Fluxo: </a:t>
            </a:r>
            <a:r>
              <a:rPr lang="pt-BR" sz="1600" dirty="0"/>
              <a:t>Caso </a:t>
            </a:r>
            <a:r>
              <a:rPr lang="pt-BR" sz="1600" dirty="0" smtClean="0"/>
              <a:t>contenha fluxos, adicione.</a:t>
            </a:r>
            <a:endParaRPr lang="pt-BR" sz="1600" dirty="0"/>
          </a:p>
          <a:p>
            <a:pPr lvl="1"/>
            <a:endParaRPr lang="pt-BR" sz="15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270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721420"/>
            <a:ext cx="4489496" cy="1316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>
                <a:latin typeface="Trebuchet MS" panose="020B0603020202020204" pitchFamily="34" charset="0"/>
              </a:rPr>
              <a:t>3</a:t>
            </a:r>
            <a:r>
              <a:rPr lang="pt-BR" sz="1627" b="1" dirty="0" smtClean="0">
                <a:latin typeface="Trebuchet MS" panose="020B0603020202020204" pitchFamily="34" charset="0"/>
              </a:rPr>
              <a:t>. Benefícios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descreva quais são os </a:t>
            </a:r>
            <a:r>
              <a:rPr lang="pt-BR" sz="1600" b="1" dirty="0" smtClean="0"/>
              <a:t>benefícios para o negócio da </a:t>
            </a:r>
            <a:r>
              <a:rPr lang="pt-BR" sz="1600" b="1" dirty="0" err="1" smtClean="0"/>
              <a:t>Smiles</a:t>
            </a:r>
            <a:r>
              <a:rPr lang="pt-BR" sz="1600" dirty="0" smtClean="0"/>
              <a:t>.</a:t>
            </a:r>
            <a:endParaRPr lang="pt-BR" sz="1600" dirty="0"/>
          </a:p>
          <a:p>
            <a:pPr lvl="1"/>
            <a:endParaRPr lang="pt-BR" sz="15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711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50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1923136"/>
            <a:ext cx="4489496" cy="30399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4. Impactos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descreva quais são os </a:t>
            </a:r>
            <a:r>
              <a:rPr lang="pt-BR" sz="1600" b="1" dirty="0" smtClean="0"/>
              <a:t>Impactos</a:t>
            </a:r>
            <a:r>
              <a:rPr lang="pt-BR" sz="1600" dirty="0"/>
              <a:t>;</a:t>
            </a: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Descreva as </a:t>
            </a:r>
            <a:r>
              <a:rPr lang="pt-BR" sz="1600" b="1" dirty="0"/>
              <a:t>atividades / </a:t>
            </a:r>
            <a:r>
              <a:rPr lang="pt-BR" sz="1600" b="1" dirty="0" smtClean="0"/>
              <a:t>processos</a:t>
            </a:r>
            <a:r>
              <a:rPr lang="pt-BR" sz="1600" dirty="0"/>
              <a:t>;</a:t>
            </a: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Importante descrever quais são os </a:t>
            </a:r>
            <a:r>
              <a:rPr lang="pt-BR" sz="1600" b="1" dirty="0" smtClean="0"/>
              <a:t>itens </a:t>
            </a:r>
            <a:r>
              <a:rPr lang="pt-BR" sz="1600" b="1" dirty="0"/>
              <a:t>que não sofreram impactos</a:t>
            </a:r>
            <a:r>
              <a:rPr lang="pt-BR" sz="1600" dirty="0"/>
              <a:t>, mas que foram considerados ou podem gerar </a:t>
            </a:r>
            <a:r>
              <a:rPr lang="pt-BR" sz="1600" dirty="0" smtClean="0"/>
              <a:t>dúvida de entendimento.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5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677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Fluxo de </a:t>
            </a:r>
            <a:r>
              <a:rPr lang="pt-BR" b="1" dirty="0" err="1" smtClean="0">
                <a:solidFill>
                  <a:schemeClr val="accent6">
                    <a:lumMod val="75000"/>
                  </a:schemeClr>
                </a:solidFill>
              </a:rPr>
              <a:t>Rollback</a:t>
            </a: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1792507"/>
            <a:ext cx="4489496" cy="33057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>
                <a:latin typeface="Trebuchet MS" panose="020B0603020202020204" pitchFamily="34" charset="0"/>
              </a:rPr>
              <a:t>5</a:t>
            </a:r>
            <a:r>
              <a:rPr lang="pt-BR" sz="1627" b="1" dirty="0" smtClean="0">
                <a:latin typeface="Trebuchet MS" panose="020B0603020202020204" pitchFamily="34" charset="0"/>
              </a:rPr>
              <a:t>. Fluxo de </a:t>
            </a:r>
            <a:r>
              <a:rPr lang="pt-BR" sz="1627" b="1" i="1" dirty="0" err="1" smtClean="0">
                <a:latin typeface="Trebuchet MS" panose="020B0603020202020204" pitchFamily="34" charset="0"/>
              </a:rPr>
              <a:t>Rollback</a:t>
            </a:r>
            <a:r>
              <a:rPr lang="pt-BR" sz="1627" b="1" dirty="0" smtClean="0">
                <a:latin typeface="Trebuchet MS" panose="020B0603020202020204" pitchFamily="34" charset="0"/>
              </a:rPr>
              <a:t> / Estorno / Cancelamento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descreva o </a:t>
            </a:r>
            <a:r>
              <a:rPr lang="pt-BR" sz="1600" b="1" dirty="0" smtClean="0"/>
              <a:t>Fluxo de </a:t>
            </a:r>
            <a:r>
              <a:rPr lang="pt-BR" sz="1600" b="1" i="1" dirty="0" err="1"/>
              <a:t>Rollback</a:t>
            </a:r>
            <a:r>
              <a:rPr lang="pt-BR" sz="1600" b="1" i="1" dirty="0"/>
              <a:t> </a:t>
            </a:r>
            <a:r>
              <a:rPr lang="pt-BR" sz="1600" dirty="0"/>
              <a:t>em caso de </a:t>
            </a:r>
            <a:r>
              <a:rPr lang="pt-BR" sz="1600" dirty="0" smtClean="0"/>
              <a:t>erro;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Descreva o </a:t>
            </a:r>
            <a:r>
              <a:rPr lang="pt-BR" sz="1600" b="1" dirty="0" smtClean="0"/>
              <a:t>Fluxo de Estorno</a:t>
            </a:r>
            <a:r>
              <a:rPr lang="pt-BR" sz="1600" dirty="0"/>
              <a:t>;</a:t>
            </a: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Descreva o </a:t>
            </a:r>
            <a:r>
              <a:rPr lang="pt-BR" sz="1600" b="1" dirty="0" smtClean="0"/>
              <a:t>Fluxo de Cancelamento</a:t>
            </a:r>
            <a:r>
              <a:rPr lang="pt-BR" sz="1600" dirty="0"/>
              <a:t>;</a:t>
            </a: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Descreva como será a </a:t>
            </a:r>
            <a:r>
              <a:rPr lang="pt-BR" sz="1600" b="1" dirty="0" smtClean="0"/>
              <a:t>Execução </a:t>
            </a:r>
            <a:r>
              <a:rPr lang="pt-BR" sz="1600" b="1" dirty="0"/>
              <a:t>manual do processo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4593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285991"/>
            <a:ext cx="4489496" cy="2316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6. Documentação do projeto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a Referência </a:t>
            </a:r>
            <a:r>
              <a:rPr lang="pt-BR" sz="1600" b="1" dirty="0" smtClean="0"/>
              <a:t>(link do </a:t>
            </a:r>
            <a:r>
              <a:rPr lang="pt-BR" sz="1600" b="1" dirty="0" err="1" smtClean="0"/>
              <a:t>Jira</a:t>
            </a:r>
            <a:r>
              <a:rPr lang="pt-BR" sz="1600" b="1" dirty="0" smtClean="0"/>
              <a:t>) do PMO, Melhoria ou Bug</a:t>
            </a:r>
            <a:r>
              <a:rPr lang="pt-BR" sz="1600" dirty="0"/>
              <a:t>;</a:t>
            </a:r>
            <a:endParaRPr lang="pt-BR" sz="16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Informe a Referência dos </a:t>
            </a:r>
            <a:r>
              <a:rPr lang="pt-BR" sz="1600" dirty="0"/>
              <a:t>documentos obrigatórios (EF, ET e TA) que estejam </a:t>
            </a:r>
            <a:r>
              <a:rPr lang="pt-BR" sz="1600" dirty="0" err="1" smtClean="0"/>
              <a:t>versionados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1112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663364"/>
            <a:ext cx="4489496" cy="15779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>
                <a:latin typeface="Trebuchet MS" panose="020B0603020202020204" pitchFamily="34" charset="0"/>
              </a:rPr>
              <a:t>7</a:t>
            </a:r>
            <a:r>
              <a:rPr lang="pt-BR" sz="1627" b="1" dirty="0" smtClean="0">
                <a:latin typeface="Trebuchet MS" panose="020B0603020202020204" pitchFamily="34" charset="0"/>
              </a:rPr>
              <a:t>. Guia técnico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os </a:t>
            </a:r>
            <a:r>
              <a:rPr lang="pt-BR" sz="1600" b="1" dirty="0" smtClean="0"/>
              <a:t>documentos </a:t>
            </a:r>
            <a:r>
              <a:rPr lang="pt-BR" sz="1600" b="1" dirty="0"/>
              <a:t>de alterações</a:t>
            </a:r>
            <a:r>
              <a:rPr lang="pt-BR" sz="1600" dirty="0"/>
              <a:t> do Siebel onde constam os itens modificados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282708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764962"/>
            <a:ext cx="4489496" cy="1331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8. Outros documentos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outros </a:t>
            </a:r>
            <a:r>
              <a:rPr lang="pt-BR" sz="1600" b="1" dirty="0"/>
              <a:t>documentos que auxiliaram no desenvolvimento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 smtClean="0"/>
          </a:p>
        </p:txBody>
      </p:sp>
    </p:spTree>
    <p:extLst>
      <p:ext uri="{BB962C8B-B14F-4D97-AF65-F5344CB8AC3E}">
        <p14:creationId xmlns:p14="http://schemas.microsoft.com/office/powerpoint/2010/main" val="3715718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 smtClean="0">
                <a:solidFill>
                  <a:schemeClr val="accent6">
                    <a:lumMod val="7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300504"/>
            <a:ext cx="4489496" cy="2316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>
                <a:latin typeface="Trebuchet MS" panose="020B0603020202020204" pitchFamily="34" charset="0"/>
              </a:rPr>
              <a:t>9</a:t>
            </a:r>
            <a:r>
              <a:rPr lang="pt-BR" sz="1627" b="1" dirty="0" smtClean="0">
                <a:latin typeface="Trebuchet MS" panose="020B0603020202020204" pitchFamily="34" charset="0"/>
              </a:rPr>
              <a:t>. Contatos / Envolvidos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a </a:t>
            </a:r>
            <a:r>
              <a:rPr lang="pt-BR" sz="1600" b="1" dirty="0" smtClean="0"/>
              <a:t>listagem </a:t>
            </a:r>
            <a:r>
              <a:rPr lang="pt-BR" sz="1600" b="1" dirty="0"/>
              <a:t>de pessoas, empresa, função e e-mail </a:t>
            </a:r>
            <a:r>
              <a:rPr lang="pt-BR" sz="1600" dirty="0"/>
              <a:t>dos envolvidos no </a:t>
            </a:r>
            <a:r>
              <a:rPr lang="pt-BR" sz="1600" dirty="0" smtClean="0"/>
              <a:t>projeto, melhoria ou bug;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Informe o </a:t>
            </a:r>
            <a:r>
              <a:rPr lang="pt-BR" sz="1600" b="1" dirty="0"/>
              <a:t>fluxo de </a:t>
            </a:r>
            <a:r>
              <a:rPr lang="pt-BR" sz="1600" b="1" dirty="0" smtClean="0"/>
              <a:t>escalonamento </a:t>
            </a:r>
            <a:r>
              <a:rPr lang="pt-BR" sz="1600" dirty="0" smtClean="0"/>
              <a:t>de fornecedores terceiros e prazos (</a:t>
            </a:r>
            <a:r>
              <a:rPr lang="pt-BR" sz="1600" dirty="0" err="1" smtClean="0"/>
              <a:t>SLAs</a:t>
            </a:r>
            <a:r>
              <a:rPr lang="pt-BR" sz="1600" dirty="0" smtClean="0"/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4303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700" b="1" dirty="0" smtClean="0">
                <a:solidFill>
                  <a:schemeClr val="accent6">
                    <a:lumMod val="75000"/>
                  </a:schemeClr>
                </a:solidFill>
              </a:rPr>
              <a:t>Catálogo de Serviços de </a:t>
            </a:r>
            <a:r>
              <a:rPr lang="pt-BR" sz="1700" b="1" dirty="0">
                <a:solidFill>
                  <a:schemeClr val="accent6">
                    <a:lumMod val="7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285990"/>
            <a:ext cx="4489496" cy="2316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10. Catálogo de Serviços de Operações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o </a:t>
            </a:r>
            <a:r>
              <a:rPr lang="pt-BR" sz="1600" b="1" dirty="0" smtClean="0"/>
              <a:t>nome do serviço ou sistema</a:t>
            </a:r>
            <a:r>
              <a:rPr lang="pt-BR" sz="1600" dirty="0" smtClean="0"/>
              <a:t>, caso não exista no catálogo de serviços;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Informe passo-a-passo a </a:t>
            </a:r>
            <a:r>
              <a:rPr lang="pt-BR" sz="1600" b="1" dirty="0" smtClean="0"/>
              <a:t>estimativa de prazo (</a:t>
            </a:r>
            <a:r>
              <a:rPr lang="pt-BR" sz="1600" b="1" dirty="0" err="1" smtClean="0"/>
              <a:t>SLA´s</a:t>
            </a:r>
            <a:r>
              <a:rPr lang="pt-BR" sz="1600" b="1" dirty="0" smtClean="0"/>
              <a:t>) de resolução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621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dirty="0" smtClean="0">
                <a:solidFill>
                  <a:schemeClr val="bg1">
                    <a:lumMod val="6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700" dirty="0" smtClean="0">
                <a:solidFill>
                  <a:schemeClr val="bg1">
                    <a:lumMod val="65000"/>
                  </a:schemeClr>
                </a:solidFill>
              </a:rPr>
              <a:t>Catálogo de Serviços de </a:t>
            </a:r>
            <a:r>
              <a:rPr lang="pt-BR" sz="1700" dirty="0">
                <a:solidFill>
                  <a:schemeClr val="bg1">
                    <a:lumMod val="6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2285990"/>
            <a:ext cx="4489496" cy="2316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11. Monitoramento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se </a:t>
            </a:r>
            <a:r>
              <a:rPr lang="pt-BR" sz="1600" b="1" dirty="0" smtClean="0"/>
              <a:t>será necessário ou não monitoramento</a:t>
            </a:r>
            <a:r>
              <a:rPr lang="pt-BR" sz="1600" dirty="0" smtClean="0"/>
              <a:t>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Caso seja necessário, informe </a:t>
            </a:r>
            <a:r>
              <a:rPr lang="pt-BR" sz="1600" b="1" dirty="0" smtClean="0"/>
              <a:t>o que monitorar</a:t>
            </a:r>
            <a:r>
              <a:rPr lang="pt-BR" sz="1600" dirty="0" smtClean="0"/>
              <a:t>, </a:t>
            </a:r>
            <a:r>
              <a:rPr lang="pt-BR" sz="1600" b="1" dirty="0" smtClean="0"/>
              <a:t>como capturar os dados </a:t>
            </a:r>
            <a:r>
              <a:rPr lang="pt-BR" sz="1600" dirty="0" smtClean="0"/>
              <a:t>e o </a:t>
            </a:r>
            <a:r>
              <a:rPr lang="pt-BR" sz="1600" b="1" dirty="0" smtClean="0"/>
              <a:t>que deve ser realizado</a:t>
            </a:r>
            <a:r>
              <a:rPr lang="pt-BR" sz="1600" dirty="0" smtClean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052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1" y="329823"/>
            <a:ext cx="9143999" cy="678428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27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777490" y="448026"/>
            <a:ext cx="7589021" cy="426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69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Estrutura do Procedimento</a:t>
            </a:r>
            <a:endParaRPr lang="pt-BR" sz="2169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91062" y="1754683"/>
            <a:ext cx="3716787" cy="497994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181"/>
              </a:spcBef>
              <a:spcAft>
                <a:spcPts val="181"/>
              </a:spcAft>
            </a:pPr>
            <a:endParaRPr lang="pt-BR" sz="1085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Objetivo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Solução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Benefícios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Impactos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Fluxo de </a:t>
            </a:r>
            <a:r>
              <a:rPr lang="pt-BR" sz="1600" dirty="0" err="1" smtClean="0">
                <a:solidFill>
                  <a:schemeClr val="bg1">
                    <a:lumMod val="65000"/>
                  </a:schemeClr>
                </a:solidFill>
              </a:rPr>
              <a:t>Rollback</a:t>
            </a: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 / Estorno / Cancelamento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Documentações do projeto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Guia técnico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Outros documentos 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Contatos / Envolvidos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 smtClean="0">
                <a:solidFill>
                  <a:schemeClr val="bg1">
                    <a:lumMod val="65000"/>
                  </a:schemeClr>
                </a:solidFill>
              </a:rPr>
              <a:t>Catálogo de Serviços de </a:t>
            </a: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Operações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Monitoramento</a:t>
            </a:r>
          </a:p>
          <a:p>
            <a:pPr marL="342900" lvl="1" indent="-342900">
              <a:lnSpc>
                <a:spcPts val="1898"/>
              </a:lnSpc>
              <a:spcBef>
                <a:spcPts val="542"/>
              </a:spcBef>
              <a:spcAft>
                <a:spcPts val="542"/>
              </a:spcAft>
              <a:buFont typeface="+mj-lt"/>
              <a:buAutoNum type="arabicPeriod"/>
            </a:pP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Outras Informações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163" y="1227844"/>
            <a:ext cx="3824582" cy="564231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2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do Procedimento</a:t>
            </a:r>
            <a:endParaRPr lang="pt-BR" sz="1446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044139" y="3318897"/>
            <a:ext cx="365316" cy="443167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27"/>
          </a:p>
        </p:txBody>
      </p:sp>
      <p:sp>
        <p:nvSpPr>
          <p:cNvPr id="14" name="Retângulo 13"/>
          <p:cNvSpPr/>
          <p:nvPr/>
        </p:nvSpPr>
        <p:spPr>
          <a:xfrm>
            <a:off x="4572001" y="1937647"/>
            <a:ext cx="4489496" cy="30553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sz="1627" b="1" dirty="0" smtClean="0">
                <a:latin typeface="Trebuchet MS" panose="020B0603020202020204" pitchFamily="34" charset="0"/>
              </a:rPr>
              <a:t>12. Outras Informações</a:t>
            </a:r>
          </a:p>
          <a:p>
            <a:endParaRPr lang="pt-BR" sz="1627" b="1" dirty="0">
              <a:latin typeface="Trebuchet MS" panose="020B0603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Neste campo informe </a:t>
            </a:r>
            <a:r>
              <a:rPr lang="pt-BR" sz="1600" b="1" dirty="0" smtClean="0"/>
              <a:t>outras informações </a:t>
            </a:r>
            <a:r>
              <a:rPr lang="pt-BR" sz="1600" dirty="0"/>
              <a:t>que não foram contempladas nos itens </a:t>
            </a:r>
            <a:r>
              <a:rPr lang="pt-BR" sz="1600" dirty="0" smtClean="0"/>
              <a:t>anteriores. Como por exemplos: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1600" dirty="0"/>
              <a:t>Como serão abertos os chamados no </a:t>
            </a:r>
            <a:r>
              <a:rPr lang="pt-BR" sz="1600" dirty="0" smtClean="0"/>
              <a:t>JIRA?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1600" dirty="0" smtClean="0"/>
              <a:t>Haverá automática </a:t>
            </a:r>
            <a:r>
              <a:rPr lang="pt-BR" sz="1600" dirty="0"/>
              <a:t>de </a:t>
            </a:r>
            <a:r>
              <a:rPr lang="pt-BR" sz="1600" dirty="0" err="1"/>
              <a:t>JIRAs</a:t>
            </a:r>
            <a:r>
              <a:rPr lang="pt-BR" sz="1600" dirty="0"/>
              <a:t> pela funcionalidade</a:t>
            </a:r>
            <a:r>
              <a:rPr lang="pt-BR" sz="1600" dirty="0" smtClean="0"/>
              <a:t>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756297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3197</TotalTime>
  <Words>830</Words>
  <PresentationFormat>Apresentação na tela (4:3)</PresentationFormat>
  <Paragraphs>244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Segoe UI</vt:lpstr>
      <vt:lpstr>Times New Roman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2016-11-21T13:21:54Z</dcterms:modified>
</cp:coreProperties>
</file>