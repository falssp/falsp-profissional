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39"/>
  </p:notesMasterIdLst>
  <p:sldIdLst>
    <p:sldId id="257" r:id="rId2"/>
    <p:sldId id="339" r:id="rId3"/>
    <p:sldId id="384" r:id="rId4"/>
    <p:sldId id="382" r:id="rId5"/>
    <p:sldId id="413" r:id="rId6"/>
    <p:sldId id="383" r:id="rId7"/>
    <p:sldId id="388" r:id="rId8"/>
    <p:sldId id="385" r:id="rId9"/>
    <p:sldId id="411" r:id="rId10"/>
    <p:sldId id="432" r:id="rId11"/>
    <p:sldId id="433" r:id="rId12"/>
    <p:sldId id="434" r:id="rId13"/>
    <p:sldId id="436" r:id="rId14"/>
    <p:sldId id="435" r:id="rId15"/>
    <p:sldId id="443" r:id="rId16"/>
    <p:sldId id="442" r:id="rId17"/>
    <p:sldId id="444" r:id="rId18"/>
    <p:sldId id="437" r:id="rId19"/>
    <p:sldId id="445" r:id="rId20"/>
    <p:sldId id="389" r:id="rId21"/>
    <p:sldId id="408" r:id="rId22"/>
    <p:sldId id="410" r:id="rId23"/>
    <p:sldId id="416" r:id="rId24"/>
    <p:sldId id="417" r:id="rId25"/>
    <p:sldId id="441" r:id="rId26"/>
    <p:sldId id="409" r:id="rId27"/>
    <p:sldId id="439" r:id="rId28"/>
    <p:sldId id="446" r:id="rId29"/>
    <p:sldId id="447" r:id="rId30"/>
    <p:sldId id="424" r:id="rId31"/>
    <p:sldId id="426" r:id="rId32"/>
    <p:sldId id="427" r:id="rId33"/>
    <p:sldId id="428" r:id="rId34"/>
    <p:sldId id="420" r:id="rId35"/>
    <p:sldId id="422" r:id="rId36"/>
    <p:sldId id="423" r:id="rId37"/>
    <p:sldId id="406" r:id="rId38"/>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7124"/>
    <a:srgbClr val="99CCFF"/>
    <a:srgbClr val="00FF00"/>
    <a:srgbClr val="D0462D"/>
    <a:srgbClr val="EE6829"/>
    <a:srgbClr val="000000"/>
    <a:srgbClr val="F68E1E"/>
    <a:srgbClr val="FF9900"/>
    <a:srgbClr val="FF6600"/>
    <a:srgbClr val="E2873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0"/>
  </p:normalViewPr>
  <p:slideViewPr>
    <p:cSldViewPr snapToGrid="0" snapToObjects="1">
      <p:cViewPr>
        <p:scale>
          <a:sx n="70" d="100"/>
          <a:sy n="70" d="100"/>
        </p:scale>
        <p:origin x="450" y="48"/>
      </p:cViewPr>
      <p:guideLst>
        <p:guide orient="horz" pos="2092"/>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23/01/2017</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245040-EFBE-493F-96A2-B5DCAE3ADE4E}" type="slidenum">
              <a:rPr lang="pt-BR" smtClean="0"/>
              <a:t>2</a:t>
            </a:fld>
            <a:endParaRPr lang="pt-BR"/>
          </a:p>
        </p:txBody>
      </p:sp>
    </p:spTree>
    <p:extLst>
      <p:ext uri="{BB962C8B-B14F-4D97-AF65-F5344CB8AC3E}">
        <p14:creationId xmlns:p14="http://schemas.microsoft.com/office/powerpoint/2010/main" val="2314425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52719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6</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02655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25200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8</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4934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20</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717537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21</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81036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22</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9384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26</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80919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37</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62417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1/23/2017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1/23/2017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1/23/2017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0892" y="228608"/>
            <a:ext cx="9254058" cy="609399"/>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430883" y="1447802"/>
            <a:ext cx="9254058" cy="228370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051449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1/23/2017</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emf"/><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emf"/><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1.jpeg"/><Relationship Id="rId5" Type="http://schemas.openxmlformats.org/officeDocument/2006/relationships/image" Target="../media/image6.emf"/><Relationship Id="rId4" Type="http://schemas.openxmlformats.org/officeDocument/2006/relationships/image" Target="../media/image19.jpe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6.emf"/><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5.xml"/><Relationship Id="rId16"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6.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48.png"/><Relationship Id="rId5" Type="http://schemas.openxmlformats.org/officeDocument/2006/relationships/image" Target="../media/image6.emf"/><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hemeOverride" Target="../theme/themeOverride1.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emf"/><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emf"/><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3.jp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4.jp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4.jpg"/></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support.office.com/pt-br/article/Centro-de-Treinamento-do-Office-b8f02f81-ec85-4493-a39b-4c48e6bc4bfb?ui=pt-BR&amp;rs=pt-BR&amp;ad=BR" TargetMode="External"/><Relationship Id="rId5" Type="http://schemas.openxmlformats.org/officeDocument/2006/relationships/image" Target="../media/image69.jpeg"/><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2"/>
          <p:cNvSpPr/>
          <p:nvPr/>
        </p:nvSpPr>
        <p:spPr>
          <a:xfrm>
            <a:off x="1" y="1"/>
            <a:ext cx="6375313" cy="6857999"/>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7111303" y="1749124"/>
            <a:ext cx="2206288" cy="787514"/>
          </a:xfrm>
          <a:prstGeom prst="rect">
            <a:avLst/>
          </a:prstGeom>
        </p:spPr>
      </p:pic>
      <p:sp>
        <p:nvSpPr>
          <p:cNvPr id="7" name="TextBox 6"/>
          <p:cNvSpPr txBox="1"/>
          <p:nvPr/>
        </p:nvSpPr>
        <p:spPr>
          <a:xfrm>
            <a:off x="1" y="1695350"/>
            <a:ext cx="5688627" cy="4439677"/>
          </a:xfrm>
          <a:prstGeom prst="rect">
            <a:avLst/>
          </a:prstGeom>
          <a:noFill/>
        </p:spPr>
        <p:txBody>
          <a:bodyPr wrap="square" rtlCol="0">
            <a:spAutoFit/>
          </a:bodyPr>
          <a:lstStyle/>
          <a:p>
            <a:pPr algn="r"/>
            <a:r>
              <a:rPr lang="pt-BR" sz="3200" b="1" dirty="0">
                <a:solidFill>
                  <a:schemeClr val="bg1"/>
                </a:solidFill>
                <a:effectLst>
                  <a:outerShdw blurRad="50800" dist="38100" dir="5400000" algn="t" rotWithShape="0">
                    <a:srgbClr val="C00000"/>
                  </a:outerShdw>
                </a:effectLst>
                <a:cs typeface="Gotham Rounded Book"/>
              </a:rPr>
              <a:t>Workshop Office 365</a:t>
            </a:r>
          </a:p>
          <a:p>
            <a:pPr algn="r"/>
            <a:r>
              <a:rPr lang="pt-BR" sz="3200" b="1" i="1" dirty="0">
                <a:solidFill>
                  <a:schemeClr val="bg1"/>
                </a:solidFill>
                <a:effectLst>
                  <a:outerShdw blurRad="50800" dist="38100" dir="5400000" algn="t" rotWithShape="0">
                    <a:srgbClr val="C00000"/>
                  </a:outerShdw>
                </a:effectLst>
                <a:latin typeface="Gotham Rounded Book"/>
                <a:cs typeface="Gotham Rounded Book"/>
              </a:rPr>
              <a:t>OneDrive e SharePoint</a:t>
            </a:r>
            <a:endParaRPr lang="en-US" sz="3200" i="1" dirty="0">
              <a:solidFill>
                <a:schemeClr val="bg1"/>
              </a:solidFill>
              <a:effectLst>
                <a:outerShdw blurRad="38100" dist="38100" dir="2700000" algn="tl">
                  <a:srgbClr val="000000">
                    <a:alpha val="43137"/>
                  </a:srgbClr>
                </a:outerShdw>
              </a:effectLst>
              <a:latin typeface="Gotham Rounded Book"/>
              <a:cs typeface="Gotham Rounded Book"/>
            </a:endParaRPr>
          </a:p>
          <a:p>
            <a:pPr algn="r"/>
            <a:endParaRPr lang="pt-BR" sz="2000" i="1"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r>
              <a:rPr lang="pt-BR" sz="2000" dirty="0">
                <a:solidFill>
                  <a:schemeClr val="bg1"/>
                </a:solidFill>
                <a:effectLst>
                  <a:outerShdw blurRad="50800" dist="38100" dir="5400000" algn="t" rotWithShape="0">
                    <a:srgbClr val="C00000"/>
                  </a:outerShdw>
                </a:effectLst>
                <a:cs typeface="Gotham Rounded Book"/>
              </a:rPr>
              <a:t>Gerência de Infraestrutura </a:t>
            </a:r>
          </a:p>
          <a:p>
            <a:pPr algn="r"/>
            <a:r>
              <a:rPr lang="pt-BR" sz="2000" dirty="0">
                <a:solidFill>
                  <a:schemeClr val="bg1"/>
                </a:solidFill>
                <a:effectLst>
                  <a:outerShdw blurRad="50800" dist="38100" dir="5400000" algn="t" rotWithShape="0">
                    <a:srgbClr val="C00000"/>
                  </a:outerShdw>
                </a:effectLst>
                <a:cs typeface="Gotham Rounded Book"/>
              </a:rPr>
              <a:t>e Operações de TI</a:t>
            </a: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r>
              <a:rPr lang="en-US" sz="1600" dirty="0">
                <a:solidFill>
                  <a:schemeClr val="bg1"/>
                </a:solidFill>
                <a:effectLst>
                  <a:outerShdw blurRad="50800" dist="38100" dir="5400000" algn="t" rotWithShape="0">
                    <a:srgbClr val="C00000"/>
                  </a:outerShdw>
                </a:effectLst>
                <a:latin typeface="Gotham Rounded Book"/>
                <a:cs typeface="Gotham Rounded Book"/>
              </a:rPr>
              <a:t>Jan/2017</a:t>
            </a:r>
          </a:p>
          <a:p>
            <a:pPr algn="r"/>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2.0</a:t>
            </a:r>
          </a:p>
        </p:txBody>
      </p:sp>
      <p:pic>
        <p:nvPicPr>
          <p:cNvPr id="5" name="Imagem 4"/>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24585" y="4029095"/>
            <a:ext cx="1518363" cy="1518363"/>
          </a:xfrm>
          <a:prstGeom prst="rect">
            <a:avLst/>
          </a:prstGeom>
        </p:spPr>
      </p:pic>
      <p:pic>
        <p:nvPicPr>
          <p:cNvPr id="8" name="Picture 2" descr="http://www.miami.edu/EE/images/uploads/it/logophotos/o365-logo.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75367" y="3235949"/>
            <a:ext cx="1491987" cy="14919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www.schudio.com/wp-content/uploads/2015/01/one-drive.png">
            <a:hlinkClick r:id="rId5" action="ppaction://hlinksldjump"/>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4649" y="5158859"/>
            <a:ext cx="1265039" cy="105118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26" name="Picture 2" descr="Resultado de imagem para sharepoi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669" y="4853236"/>
            <a:ext cx="1518472" cy="151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35993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8218106" y="129598"/>
              <a:ext cx="843390" cy="334448"/>
            </a:xfrm>
            <a:prstGeom prst="rect">
              <a:avLst/>
            </a:prstGeom>
          </p:spPr>
        </p:pic>
      </p:grpSp>
      <p:sp>
        <p:nvSpPr>
          <p:cNvPr id="8" name="TextBox 8"/>
          <p:cNvSpPr txBox="1"/>
          <p:nvPr/>
        </p:nvSpPr>
        <p:spPr>
          <a:xfrm>
            <a:off x="2328020" y="92680"/>
            <a:ext cx="5461099"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Agenda</a:t>
            </a:r>
          </a:p>
        </p:txBody>
      </p:sp>
      <p:pic>
        <p:nvPicPr>
          <p:cNvPr id="2050" name="Picture 2" descr="Resultado de imagem para icone agen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83168"/>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p:cNvSpPr txBox="1"/>
          <p:nvPr/>
        </p:nvSpPr>
        <p:spPr>
          <a:xfrm>
            <a:off x="4876800" y="1989405"/>
            <a:ext cx="4937015" cy="3062377"/>
          </a:xfrm>
          <a:prstGeom prst="rect">
            <a:avLst/>
          </a:prstGeom>
          <a:noFill/>
        </p:spPr>
        <p:txBody>
          <a:bodyPr wrap="square" rtlCol="0">
            <a:spAutoFit/>
          </a:bodyPr>
          <a:lstStyle/>
          <a:p>
            <a:pPr marL="180000" lvl="1"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Tendências que impactam nossa forma de trabalhar </a:t>
            </a:r>
          </a:p>
          <a:p>
            <a:pPr marL="180000" lvl="1" indent="360000" algn="just">
              <a:spcBef>
                <a:spcPts val="600"/>
              </a:spcBef>
              <a:spcAft>
                <a:spcPts val="600"/>
              </a:spcAft>
              <a:buFont typeface="Wingdings" panose="05000000000000000000" pitchFamily="2" charset="2"/>
              <a:buChar char="q"/>
            </a:pPr>
            <a:r>
              <a:rPr lang="pt-BR" sz="2800" i="1" dirty="0">
                <a:solidFill>
                  <a:schemeClr val="tx1">
                    <a:lumMod val="95000"/>
                    <a:lumOff val="5000"/>
                  </a:schemeClr>
                </a:solidFill>
              </a:rPr>
              <a:t>Visão Geral</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OneDrive</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SharePoint</a:t>
            </a:r>
          </a:p>
          <a:p>
            <a:endParaRPr lang="pt-BR" dirty="0"/>
          </a:p>
        </p:txBody>
      </p:sp>
    </p:spTree>
    <p:extLst>
      <p:ext uri="{BB962C8B-B14F-4D97-AF65-F5344CB8AC3E}">
        <p14:creationId xmlns:p14="http://schemas.microsoft.com/office/powerpoint/2010/main" val="10926020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15" name="Picture 5"/>
          <p:cNvPicPr>
            <a:picLocks noChangeAspect="1"/>
          </p:cNvPicPr>
          <p:nvPr/>
        </p:nvPicPr>
        <p:blipFill>
          <a:blip r:embed="rId3"/>
          <a:stretch>
            <a:fillRect/>
          </a:stretch>
        </p:blipFill>
        <p:spPr>
          <a:xfrm>
            <a:off x="9092707" y="129598"/>
            <a:ext cx="933147" cy="334448"/>
          </a:xfrm>
          <a:prstGeom prst="rect">
            <a:avLst/>
          </a:prstGeom>
        </p:spPr>
      </p:pic>
      <p:grpSp>
        <p:nvGrpSpPr>
          <p:cNvPr id="14" name="Group 4"/>
          <p:cNvGrpSpPr/>
          <p:nvPr/>
        </p:nvGrpSpPr>
        <p:grpSpPr>
          <a:xfrm>
            <a:off x="136133" y="2135323"/>
            <a:ext cx="2880000" cy="4241791"/>
            <a:chOff x="435149" y="1516385"/>
            <a:chExt cx="3588433" cy="4242344"/>
          </a:xfrm>
        </p:grpSpPr>
        <p:sp>
          <p:nvSpPr>
            <p:cNvPr id="17" name="Rectangle 18"/>
            <p:cNvSpPr/>
            <p:nvPr/>
          </p:nvSpPr>
          <p:spPr>
            <a:xfrm>
              <a:off x="475928" y="1516385"/>
              <a:ext cx="3453088" cy="430943"/>
            </a:xfrm>
            <a:prstGeom prst="rect">
              <a:avLst/>
            </a:prstGeom>
          </p:spPr>
          <p:txBody>
            <a:bodyPr wrap="square" lIns="0" tIns="0" rIns="0" bIns="0">
              <a:spAutoFit/>
            </a:bodyPr>
            <a:lstStyle/>
            <a:p>
              <a:pPr algn="ctr" defTabSz="1218814"/>
              <a:r>
                <a:rPr lang="en-US" sz="2800" dirty="0" err="1">
                  <a:solidFill>
                    <a:srgbClr val="EB3C00">
                      <a:alpha val="99000"/>
                    </a:srgbClr>
                  </a:solidFill>
                </a:rPr>
                <a:t>Dispositivos</a:t>
              </a:r>
              <a:endParaRPr lang="en-US" sz="2800" dirty="0">
                <a:solidFill>
                  <a:srgbClr val="EB3C00">
                    <a:alpha val="99000"/>
                  </a:srgbClr>
                </a:solidFill>
              </a:endParaRPr>
            </a:p>
          </p:txBody>
        </p:sp>
        <p:sp>
          <p:nvSpPr>
            <p:cNvPr id="18" name="Rectangle 26"/>
            <p:cNvSpPr/>
            <p:nvPr/>
          </p:nvSpPr>
          <p:spPr>
            <a:xfrm>
              <a:off x="435149" y="3706190"/>
              <a:ext cx="3534644"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1</a:t>
              </a:r>
              <a:r>
                <a:rPr lang="en-US" sz="3600" spc="-200" dirty="0">
                  <a:ln w="3175">
                    <a:noFill/>
                  </a:ln>
                  <a:solidFill>
                    <a:srgbClr val="000000">
                      <a:lumMod val="65000"/>
                      <a:lumOff val="35000"/>
                    </a:srgbClr>
                  </a:solidFill>
                  <a:cs typeface="Arial" charset="0"/>
                </a:rPr>
                <a:t> </a:t>
              </a:r>
              <a:r>
                <a:rPr lang="en-US" sz="4000" spc="-200" dirty="0" err="1">
                  <a:ln w="3175">
                    <a:noFill/>
                  </a:ln>
                  <a:solidFill>
                    <a:srgbClr val="000000">
                      <a:lumMod val="65000"/>
                      <a:lumOff val="35000"/>
                    </a:srgbClr>
                  </a:solidFill>
                  <a:cs typeface="Arial" charset="0"/>
                </a:rPr>
                <a:t>bilhão</a:t>
              </a:r>
              <a:endParaRPr lang="en-US" sz="7200" spc="-200" dirty="0">
                <a:ln w="3175">
                  <a:noFill/>
                </a:ln>
                <a:solidFill>
                  <a:srgbClr val="000000">
                    <a:lumMod val="65000"/>
                    <a:lumOff val="35000"/>
                  </a:srgbClr>
                </a:solidFill>
                <a:cs typeface="Arial" charset="0"/>
              </a:endParaRPr>
            </a:p>
          </p:txBody>
        </p:sp>
        <p:grpSp>
          <p:nvGrpSpPr>
            <p:cNvPr id="20" name="Group 8"/>
            <p:cNvGrpSpPr/>
            <p:nvPr/>
          </p:nvGrpSpPr>
          <p:grpSpPr>
            <a:xfrm>
              <a:off x="488824" y="2113978"/>
              <a:ext cx="3534758" cy="1500589"/>
              <a:chOff x="366713" y="1585482"/>
              <a:chExt cx="2651760" cy="1125442"/>
            </a:xfrm>
          </p:grpSpPr>
          <p:sp>
            <p:nvSpPr>
              <p:cNvPr id="23" name="Rectangle 41"/>
              <p:cNvSpPr/>
              <p:nvPr/>
            </p:nvSpPr>
            <p:spPr>
              <a:xfrm>
                <a:off x="366713" y="1585482"/>
                <a:ext cx="2651760" cy="1125442"/>
              </a:xfrm>
              <a:prstGeom prst="rect">
                <a:avLst/>
              </a:prstGeom>
              <a:solidFill>
                <a:schemeClr val="bg1">
                  <a:lumMod val="95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defTabSz="1218814"/>
                <a:endParaRPr lang="en-US" sz="1400">
                  <a:solidFill>
                    <a:prstClr val="white"/>
                  </a:solidFill>
                </a:endParaRPr>
              </a:p>
            </p:txBody>
          </p:sp>
          <p:pic>
            <p:nvPicPr>
              <p:cNvPr id="24" name="Picture 3"/>
              <p:cNvPicPr>
                <a:picLocks noChangeAspect="1" noChangeArrowheads="1"/>
              </p:cNvPicPr>
              <p:nvPr/>
            </p:nvPicPr>
            <p:blipFill rotWithShape="1">
              <a:blip r:embed="rId4" cstate="email">
                <a:extLst>
                  <a:ext uri="{28A0092B-C50C-407E-A947-70E740481C1C}">
                    <a14:useLocalDpi xmlns:a14="http://schemas.microsoft.com/office/drawing/2010/main" val="0"/>
                  </a:ext>
                </a:extLst>
              </a:blip>
              <a:stretch/>
            </p:blipFill>
            <p:spPr bwMode="auto">
              <a:xfrm>
                <a:off x="1951451" y="1851117"/>
                <a:ext cx="1005840" cy="647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3546" y="1871449"/>
                <a:ext cx="365760" cy="578940"/>
              </a:xfrm>
              <a:prstGeom prst="rect">
                <a:avLst/>
              </a:prstGeom>
            </p:spPr>
          </p:pic>
          <p:grpSp>
            <p:nvGrpSpPr>
              <p:cNvPr id="26" name="Group 7"/>
              <p:cNvGrpSpPr/>
              <p:nvPr/>
            </p:nvGrpSpPr>
            <p:grpSpPr>
              <a:xfrm>
                <a:off x="945834" y="1787841"/>
                <a:ext cx="1234440" cy="720726"/>
                <a:chOff x="1010609" y="1787841"/>
                <a:chExt cx="1234440" cy="720726"/>
              </a:xfrm>
            </p:grpSpPr>
            <p:pic>
              <p:nvPicPr>
                <p:cNvPr id="27" name="Picture 51"/>
                <p:cNvPicPr>
                  <a:picLocks noChangeAspect="1"/>
                </p:cNvPicPr>
                <p:nvPr/>
              </p:nvPicPr>
              <p:blipFill rotWithShape="1">
                <a:blip r:embed="rId6" cstate="print">
                  <a:extLst>
                    <a:ext uri="{28A0092B-C50C-407E-A947-70E740481C1C}">
                      <a14:useLocalDpi xmlns:a14="http://schemas.microsoft.com/office/drawing/2010/main" val="0"/>
                    </a:ext>
                  </a:extLst>
                </a:blip>
                <a:srcRect t="7638" b="12231"/>
                <a:stretch/>
              </p:blipFill>
              <p:spPr>
                <a:xfrm>
                  <a:off x="1010609" y="1787841"/>
                  <a:ext cx="1234440" cy="720726"/>
                </a:xfrm>
                <a:prstGeom prst="rect">
                  <a:avLst/>
                </a:prstGeom>
                <a:noFill/>
                <a:ln>
                  <a:noFill/>
                </a:ln>
              </p:spPr>
            </p:pic>
            <p:pic>
              <p:nvPicPr>
                <p:cNvPr id="28"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 b="1954"/>
                <a:stretch/>
              </p:blipFill>
              <p:spPr bwMode="auto">
                <a:xfrm>
                  <a:off x="1215923" y="1843900"/>
                  <a:ext cx="822960" cy="45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1" name="Rectangle 2"/>
            <p:cNvSpPr/>
            <p:nvPr/>
          </p:nvSpPr>
          <p:spPr>
            <a:xfrm>
              <a:off x="583578" y="4650589"/>
              <a:ext cx="3237787" cy="1108140"/>
            </a:xfrm>
            <a:prstGeom prst="rect">
              <a:avLst/>
            </a:prstGeom>
          </p:spPr>
          <p:txBody>
            <a:bodyPr wrap="square" lIns="182856" tIns="0" bIns="0">
              <a:spAutoFit/>
            </a:bodyPr>
            <a:lstStyle/>
            <a:p>
              <a:pPr algn="ctr" defTabSz="1949444" fontAlgn="base">
                <a:spcBef>
                  <a:spcPct val="0"/>
                </a:spcBef>
                <a:spcAft>
                  <a:spcPct val="0"/>
                </a:spcAft>
              </a:pPr>
              <a:r>
                <a:rPr lang="en-US" dirty="0">
                  <a:solidFill>
                    <a:prstClr val="black">
                      <a:lumMod val="65000"/>
                      <a:lumOff val="35000"/>
                    </a:prstClr>
                  </a:solidFill>
                </a:rPr>
                <a:t>de</a:t>
              </a:r>
              <a:r>
                <a:rPr lang="en-US" dirty="0">
                  <a:solidFill>
                    <a:prstClr val="black">
                      <a:lumMod val="65000"/>
                      <a:lumOff val="35000"/>
                    </a:prstClr>
                  </a:solidFill>
                  <a:cs typeface="Segoe UI Semibold" pitchFamily="34" charset="0"/>
                </a:rPr>
                <a:t> </a:t>
              </a:r>
              <a:r>
                <a:rPr lang="en-US" i="1" dirty="0">
                  <a:solidFill>
                    <a:prstClr val="black">
                      <a:lumMod val="65000"/>
                      <a:lumOff val="35000"/>
                    </a:prstClr>
                  </a:solidFill>
                  <a:cs typeface="Segoe UI Semibold" pitchFamily="34" charset="0"/>
                </a:rPr>
                <a:t>smartphones</a:t>
              </a:r>
              <a:r>
                <a:rPr lang="en-US" dirty="0">
                  <a:solidFill>
                    <a:prstClr val="black">
                      <a:lumMod val="65000"/>
                      <a:lumOff val="35000"/>
                    </a:prstClr>
                  </a:solidFill>
                </a:rPr>
                <a:t> </a:t>
              </a:r>
              <a:r>
                <a:rPr lang="pt-BR" dirty="0">
                  <a:solidFill>
                    <a:prstClr val="black">
                      <a:lumMod val="65000"/>
                      <a:lumOff val="35000"/>
                    </a:prstClr>
                  </a:solidFill>
                </a:rPr>
                <a:t>até 2016 (350 milhões de pessoas usando no trabalho)</a:t>
              </a:r>
              <a:endParaRPr lang="en-US" dirty="0">
                <a:solidFill>
                  <a:prstClr val="black">
                    <a:lumMod val="65000"/>
                    <a:lumOff val="35000"/>
                  </a:prstClr>
                </a:solidFill>
                <a:ea typeface="Segoe UI" pitchFamily="34" charset="0"/>
                <a:cs typeface="Segoe UI" pitchFamily="34" charset="0"/>
              </a:endParaRPr>
            </a:p>
          </p:txBody>
        </p:sp>
      </p:grpSp>
      <p:grpSp>
        <p:nvGrpSpPr>
          <p:cNvPr id="30" name="Group 6"/>
          <p:cNvGrpSpPr/>
          <p:nvPr/>
        </p:nvGrpSpPr>
        <p:grpSpPr>
          <a:xfrm>
            <a:off x="3611756" y="2135318"/>
            <a:ext cx="2879903" cy="3964792"/>
            <a:chOff x="4172527" y="1516385"/>
            <a:chExt cx="3534757" cy="3965308"/>
          </a:xfrm>
        </p:grpSpPr>
        <p:pic>
          <p:nvPicPr>
            <p:cNvPr id="31" name="Picture 4" descr="C:\Users\v-junyo\Documents\Jun_Mesh\Microsoft Files\DesignTools\Brand Photos\Windows 7\Commercial\COMMERCIAL\WIN12_Claudia_04.png"/>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4172527" y="2113980"/>
              <a:ext cx="3534757" cy="1500589"/>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9"/>
            <p:cNvSpPr/>
            <p:nvPr/>
          </p:nvSpPr>
          <p:spPr>
            <a:xfrm>
              <a:off x="4172585" y="1516385"/>
              <a:ext cx="3534640" cy="430943"/>
            </a:xfrm>
            <a:prstGeom prst="rect">
              <a:avLst/>
            </a:prstGeom>
          </p:spPr>
          <p:txBody>
            <a:bodyPr wrap="square" lIns="0" tIns="0" rIns="0" bIns="0">
              <a:spAutoFit/>
            </a:bodyPr>
            <a:lstStyle/>
            <a:p>
              <a:pPr algn="ctr" defTabSz="1218814"/>
              <a:r>
                <a:rPr lang="en-US" sz="2800" dirty="0" err="1">
                  <a:solidFill>
                    <a:srgbClr val="EB3C00">
                      <a:alpha val="99000"/>
                    </a:srgbClr>
                  </a:solidFill>
                </a:rPr>
                <a:t>Pessoas</a:t>
              </a:r>
              <a:endParaRPr lang="en-US" sz="2800" dirty="0">
                <a:solidFill>
                  <a:srgbClr val="EB3C00">
                    <a:alpha val="99000"/>
                  </a:srgbClr>
                </a:solidFill>
              </a:endParaRPr>
            </a:p>
          </p:txBody>
        </p:sp>
        <p:sp>
          <p:nvSpPr>
            <p:cNvPr id="33" name="Rectangle 28"/>
            <p:cNvSpPr/>
            <p:nvPr/>
          </p:nvSpPr>
          <p:spPr>
            <a:xfrm>
              <a:off x="4172527" y="3706190"/>
              <a:ext cx="3534757"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82</a:t>
              </a:r>
              <a:r>
                <a:rPr lang="en-US" sz="4000" spc="-200" dirty="0">
                  <a:ln w="3175">
                    <a:noFill/>
                  </a:ln>
                  <a:solidFill>
                    <a:srgbClr val="000000">
                      <a:lumMod val="65000"/>
                      <a:lumOff val="35000"/>
                    </a:srgbClr>
                  </a:solidFill>
                  <a:cs typeface="Arial" charset="0"/>
                </a:rPr>
                <a:t>% </a:t>
              </a:r>
              <a:endParaRPr lang="en-US" sz="5400" spc="800" dirty="0">
                <a:ln w="3175">
                  <a:noFill/>
                </a:ln>
                <a:solidFill>
                  <a:srgbClr val="000000">
                    <a:lumMod val="65000"/>
                    <a:lumOff val="35000"/>
                  </a:srgbClr>
                </a:solidFill>
                <a:cs typeface="Arial" charset="0"/>
              </a:endParaRPr>
            </a:p>
          </p:txBody>
        </p:sp>
        <p:sp>
          <p:nvSpPr>
            <p:cNvPr id="34" name="Rectangle 5"/>
            <p:cNvSpPr/>
            <p:nvPr/>
          </p:nvSpPr>
          <p:spPr>
            <a:xfrm>
              <a:off x="4182696" y="4650588"/>
              <a:ext cx="3514419" cy="831105"/>
            </a:xfrm>
            <a:prstGeom prst="rect">
              <a:avLst/>
            </a:prstGeom>
          </p:spPr>
          <p:txBody>
            <a:bodyPr wrap="square" lIns="182856" tIns="0" rIns="0" bIns="0">
              <a:spAutoFit/>
            </a:bodyPr>
            <a:lstStyle/>
            <a:p>
              <a:pPr algn="ctr" defTabSz="1949444" fontAlgn="base">
                <a:spcBef>
                  <a:spcPct val="0"/>
                </a:spcBef>
                <a:spcAft>
                  <a:spcPct val="0"/>
                </a:spcAft>
              </a:pPr>
              <a:r>
                <a:rPr lang="pt-BR" dirty="0">
                  <a:solidFill>
                    <a:prstClr val="black">
                      <a:lumMod val="65000"/>
                      <a:lumOff val="35000"/>
                    </a:prstClr>
                  </a:solidFill>
                  <a:ea typeface="Segoe UI" pitchFamily="34" charset="0"/>
                  <a:cs typeface="Segoe UI" pitchFamily="34" charset="0"/>
                </a:rPr>
                <a:t>da população online do mundo utilizando </a:t>
              </a:r>
              <a:r>
                <a:rPr lang="en-US" dirty="0" err="1">
                  <a:solidFill>
                    <a:prstClr val="black">
                      <a:lumMod val="65000"/>
                      <a:lumOff val="35000"/>
                    </a:prstClr>
                  </a:solidFill>
                  <a:cs typeface="Segoe UI Semibold" pitchFamily="34" charset="0"/>
                </a:rPr>
                <a:t>redes</a:t>
              </a:r>
              <a:r>
                <a:rPr lang="en-US" dirty="0">
                  <a:solidFill>
                    <a:prstClr val="black">
                      <a:lumMod val="65000"/>
                      <a:lumOff val="35000"/>
                    </a:prstClr>
                  </a:solidFill>
                  <a:cs typeface="Segoe UI Semibold" pitchFamily="34" charset="0"/>
                </a:rPr>
                <a:t> </a:t>
              </a:r>
              <a:r>
                <a:rPr lang="en-US" dirty="0" err="1">
                  <a:solidFill>
                    <a:prstClr val="black">
                      <a:lumMod val="65000"/>
                      <a:lumOff val="35000"/>
                    </a:prstClr>
                  </a:solidFill>
                  <a:cs typeface="Segoe UI Semibold" pitchFamily="34" charset="0"/>
                </a:rPr>
                <a:t>sociais</a:t>
              </a:r>
              <a:endParaRPr lang="en-US" dirty="0">
                <a:solidFill>
                  <a:prstClr val="black">
                    <a:lumMod val="65000"/>
                    <a:lumOff val="35000"/>
                  </a:prstClr>
                </a:solidFill>
                <a:cs typeface="Segoe UI Semibold" pitchFamily="34" charset="0"/>
              </a:endParaRPr>
            </a:p>
          </p:txBody>
        </p:sp>
      </p:grpSp>
      <p:grpSp>
        <p:nvGrpSpPr>
          <p:cNvPr id="35" name="Group 1"/>
          <p:cNvGrpSpPr/>
          <p:nvPr/>
        </p:nvGrpSpPr>
        <p:grpSpPr>
          <a:xfrm>
            <a:off x="7033741" y="2135323"/>
            <a:ext cx="2880000" cy="3717480"/>
            <a:chOff x="7992708" y="1516385"/>
            <a:chExt cx="3534759" cy="3717964"/>
          </a:xfrm>
        </p:grpSpPr>
        <p:pic>
          <p:nvPicPr>
            <p:cNvPr id="36" name="Picture 2" descr="\\sfp\Public\Mitchell\iStock_000008114474Medium.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7992708" y="2113979"/>
              <a:ext cx="3534759" cy="150058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14"/>
            <p:cNvGrpSpPr/>
            <p:nvPr/>
          </p:nvGrpSpPr>
          <p:grpSpPr>
            <a:xfrm>
              <a:off x="7992708" y="1516385"/>
              <a:ext cx="3534759" cy="3717964"/>
              <a:chOff x="7856228" y="1516385"/>
              <a:chExt cx="3534759" cy="3717964"/>
            </a:xfrm>
          </p:grpSpPr>
          <p:sp>
            <p:nvSpPr>
              <p:cNvPr id="38" name="Rectangle 22"/>
              <p:cNvSpPr/>
              <p:nvPr/>
            </p:nvSpPr>
            <p:spPr>
              <a:xfrm>
                <a:off x="7856228" y="1516385"/>
                <a:ext cx="3534759" cy="430943"/>
              </a:xfrm>
              <a:prstGeom prst="rect">
                <a:avLst/>
              </a:prstGeom>
            </p:spPr>
            <p:txBody>
              <a:bodyPr wrap="square" lIns="0" tIns="0" rIns="0" bIns="0">
                <a:spAutoFit/>
              </a:bodyPr>
              <a:lstStyle/>
              <a:p>
                <a:pPr algn="ctr" defTabSz="1218814"/>
                <a:r>
                  <a:rPr lang="en-US" sz="2800" dirty="0" err="1">
                    <a:solidFill>
                      <a:srgbClr val="EB3C00">
                        <a:alpha val="99000"/>
                      </a:srgbClr>
                    </a:solidFill>
                  </a:rPr>
                  <a:t>Nuvem</a:t>
                </a:r>
                <a:endParaRPr lang="en-US" sz="2800" dirty="0">
                  <a:solidFill>
                    <a:srgbClr val="EB3C00">
                      <a:alpha val="99000"/>
                    </a:srgbClr>
                  </a:solidFill>
                </a:endParaRPr>
              </a:p>
            </p:txBody>
          </p:sp>
          <p:sp>
            <p:nvSpPr>
              <p:cNvPr id="39" name="Rectangle 31"/>
              <p:cNvSpPr/>
              <p:nvPr/>
            </p:nvSpPr>
            <p:spPr>
              <a:xfrm>
                <a:off x="8429487" y="3706190"/>
                <a:ext cx="2388242"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50</a:t>
                </a:r>
                <a:r>
                  <a:rPr lang="en-US" sz="4000" spc="-200" dirty="0">
                    <a:ln w="3175">
                      <a:noFill/>
                    </a:ln>
                    <a:solidFill>
                      <a:srgbClr val="000000">
                        <a:lumMod val="65000"/>
                        <a:lumOff val="35000"/>
                      </a:srgbClr>
                    </a:solidFill>
                    <a:cs typeface="Arial" charset="0"/>
                  </a:rPr>
                  <a:t>%</a:t>
                </a:r>
                <a:endParaRPr lang="en-US" sz="4400" spc="-400" dirty="0">
                  <a:ln w="3175">
                    <a:noFill/>
                  </a:ln>
                  <a:solidFill>
                    <a:srgbClr val="000000">
                      <a:lumMod val="65000"/>
                      <a:lumOff val="35000"/>
                    </a:srgbClr>
                  </a:solidFill>
                  <a:cs typeface="Arial" charset="0"/>
                </a:endParaRPr>
              </a:p>
            </p:txBody>
          </p:sp>
          <p:sp>
            <p:nvSpPr>
              <p:cNvPr id="40" name="Rectangle 13"/>
              <p:cNvSpPr/>
              <p:nvPr/>
            </p:nvSpPr>
            <p:spPr>
              <a:xfrm>
                <a:off x="8053361" y="4680279"/>
                <a:ext cx="3140493" cy="554070"/>
              </a:xfrm>
              <a:prstGeom prst="rect">
                <a:avLst/>
              </a:prstGeom>
            </p:spPr>
            <p:txBody>
              <a:bodyPr wrap="square" lIns="182856" tIns="0" rIns="0" bIns="0">
                <a:spAutoFit/>
              </a:bodyPr>
              <a:lstStyle/>
              <a:p>
                <a:pPr algn="ctr" defTabSz="1949444" fontAlgn="base">
                  <a:spcBef>
                    <a:spcPct val="0"/>
                  </a:spcBef>
                  <a:spcAft>
                    <a:spcPct val="0"/>
                  </a:spcAft>
                </a:pPr>
                <a:r>
                  <a:rPr lang="en-US" dirty="0">
                    <a:solidFill>
                      <a:prstClr val="black">
                        <a:lumMod val="65000"/>
                        <a:lumOff val="35000"/>
                      </a:prstClr>
                    </a:solidFill>
                    <a:ea typeface="Segoe UI" pitchFamily="34" charset="0"/>
                    <a:cs typeface="Segoe UI" pitchFamily="34" charset="0"/>
                  </a:rPr>
                  <a:t>de </a:t>
                </a:r>
                <a:r>
                  <a:rPr lang="en-US" dirty="0" err="1">
                    <a:solidFill>
                      <a:prstClr val="black">
                        <a:lumMod val="65000"/>
                        <a:lumOff val="35000"/>
                      </a:prstClr>
                    </a:solidFill>
                    <a:ea typeface="Segoe UI" pitchFamily="34" charset="0"/>
                    <a:cs typeface="Segoe UI" pitchFamily="34" charset="0"/>
                  </a:rPr>
                  <a:t>clientes</a:t>
                </a:r>
                <a:r>
                  <a:rPr lang="en-US" dirty="0">
                    <a:solidFill>
                      <a:prstClr val="black">
                        <a:lumMod val="65000"/>
                        <a:lumOff val="35000"/>
                      </a:prstClr>
                    </a:solidFill>
                    <a:ea typeface="Segoe UI" pitchFamily="34" charset="0"/>
                    <a:cs typeface="Segoe UI" pitchFamily="34" charset="0"/>
                  </a:rPr>
                  <a:t> </a:t>
                </a:r>
                <a:r>
                  <a:rPr lang="en-US" dirty="0" err="1">
                    <a:solidFill>
                      <a:prstClr val="black">
                        <a:lumMod val="65000"/>
                        <a:lumOff val="35000"/>
                      </a:prstClr>
                    </a:solidFill>
                    <a:ea typeface="Segoe UI" pitchFamily="34" charset="0"/>
                    <a:cs typeface="Segoe UI" pitchFamily="34" charset="0"/>
                  </a:rPr>
                  <a:t>corporativos</a:t>
                </a:r>
                <a:r>
                  <a:rPr lang="en-US" dirty="0">
                    <a:solidFill>
                      <a:prstClr val="black">
                        <a:lumMod val="65000"/>
                        <a:lumOff val="35000"/>
                      </a:prstClr>
                    </a:solidFill>
                    <a:ea typeface="Segoe UI" pitchFamily="34" charset="0"/>
                    <a:cs typeface="Segoe UI" pitchFamily="34" charset="0"/>
                  </a:rPr>
                  <a:t> </a:t>
                </a:r>
                <a:r>
                  <a:rPr lang="en-US" b="1" dirty="0">
                    <a:solidFill>
                      <a:prstClr val="black">
                        <a:lumMod val="65000"/>
                        <a:lumOff val="35000"/>
                      </a:prstClr>
                    </a:solidFill>
                    <a:ea typeface="Segoe UI" pitchFamily="34" charset="0"/>
                    <a:cs typeface="Segoe UI" pitchFamily="34" charset="0"/>
                  </a:rPr>
                  <a:t>“</a:t>
                </a:r>
                <a:r>
                  <a:rPr lang="en-US" dirty="0">
                    <a:solidFill>
                      <a:prstClr val="black">
                        <a:lumMod val="65000"/>
                        <a:lumOff val="35000"/>
                      </a:prstClr>
                    </a:solidFill>
                    <a:ea typeface="Segoe UI" pitchFamily="34" charset="0"/>
                    <a:cs typeface="Segoe UI" pitchFamily="34" charset="0"/>
                  </a:rPr>
                  <a:t>n</a:t>
                </a:r>
                <a:r>
                  <a:rPr lang="en-US" dirty="0">
                    <a:solidFill>
                      <a:prstClr val="black">
                        <a:lumMod val="65000"/>
                        <a:lumOff val="35000"/>
                      </a:prstClr>
                    </a:solidFill>
                    <a:ea typeface="Segoe UI" pitchFamily="34" charset="0"/>
                    <a:cs typeface="Segoe UI Semibold" pitchFamily="34" charset="0"/>
                  </a:rPr>
                  <a:t>o </a:t>
                </a:r>
                <a:r>
                  <a:rPr lang="en-US" dirty="0" err="1">
                    <a:solidFill>
                      <a:prstClr val="black">
                        <a:lumMod val="65000"/>
                        <a:lumOff val="35000"/>
                      </a:prstClr>
                    </a:solidFill>
                    <a:ea typeface="Segoe UI" pitchFamily="34" charset="0"/>
                    <a:cs typeface="Segoe UI Semibold" pitchFamily="34" charset="0"/>
                  </a:rPr>
                  <a:t>caminho</a:t>
                </a:r>
                <a:r>
                  <a:rPr lang="en-US" b="1" dirty="0">
                    <a:solidFill>
                      <a:prstClr val="black">
                        <a:lumMod val="65000"/>
                        <a:lumOff val="35000"/>
                      </a:prstClr>
                    </a:solidFill>
                    <a:ea typeface="Segoe UI" pitchFamily="34" charset="0"/>
                    <a:cs typeface="Segoe UI" pitchFamily="34" charset="0"/>
                  </a:rPr>
                  <a:t>” </a:t>
                </a:r>
                <a:r>
                  <a:rPr lang="en-US" dirty="0">
                    <a:solidFill>
                      <a:prstClr val="black">
                        <a:lumMod val="65000"/>
                        <a:lumOff val="35000"/>
                      </a:prstClr>
                    </a:solidFill>
                    <a:ea typeface="Segoe UI" pitchFamily="34" charset="0"/>
                    <a:cs typeface="Segoe UI" pitchFamily="34" charset="0"/>
                  </a:rPr>
                  <a:t>à </a:t>
                </a:r>
                <a:r>
                  <a:rPr lang="en-US" dirty="0" err="1">
                    <a:solidFill>
                      <a:prstClr val="black">
                        <a:lumMod val="65000"/>
                        <a:lumOff val="35000"/>
                      </a:prstClr>
                    </a:solidFill>
                    <a:ea typeface="Segoe UI" pitchFamily="34" charset="0"/>
                    <a:cs typeface="Segoe UI" pitchFamily="34" charset="0"/>
                  </a:rPr>
                  <a:t>nuvem</a:t>
                </a:r>
                <a:endParaRPr lang="en-US" dirty="0">
                  <a:solidFill>
                    <a:prstClr val="black">
                      <a:lumMod val="65000"/>
                      <a:lumOff val="35000"/>
                    </a:prstClr>
                  </a:solidFill>
                  <a:ea typeface="Segoe UI" pitchFamily="34" charset="0"/>
                  <a:cs typeface="Segoe UI" pitchFamily="34" charset="0"/>
                </a:endParaRPr>
              </a:p>
            </p:txBody>
          </p:sp>
        </p:grpSp>
      </p:grpSp>
      <p:sp>
        <p:nvSpPr>
          <p:cNvPr id="29"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Tendências</a:t>
            </a:r>
            <a:r>
              <a:rPr lang="en-US" sz="2800" b="1" spc="-83" dirty="0">
                <a:ln w="3175">
                  <a:noFill/>
                </a:ln>
                <a:solidFill>
                  <a:schemeClr val="accent6"/>
                </a:solidFill>
                <a:cs typeface="Arial" charset="0"/>
              </a:rPr>
              <a:t> que </a:t>
            </a:r>
            <a:r>
              <a:rPr lang="en-US" sz="2800" b="1" spc="-83" dirty="0" err="1">
                <a:ln w="3175">
                  <a:noFill/>
                </a:ln>
                <a:solidFill>
                  <a:schemeClr val="accent6"/>
                </a:solidFill>
                <a:cs typeface="Arial" charset="0"/>
              </a:rPr>
              <a:t>impactam</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nossa</a:t>
            </a:r>
            <a:r>
              <a:rPr lang="en-US" sz="2800" b="1" spc="-83" dirty="0">
                <a:ln w="3175">
                  <a:noFill/>
                </a:ln>
                <a:solidFill>
                  <a:schemeClr val="accent6"/>
                </a:solidFill>
                <a:cs typeface="Arial" charset="0"/>
              </a:rPr>
              <a:t> forma de </a:t>
            </a:r>
            <a:r>
              <a:rPr lang="en-US" sz="2800" b="1" spc="-83" dirty="0" err="1">
                <a:ln w="3175">
                  <a:noFill/>
                </a:ln>
                <a:solidFill>
                  <a:schemeClr val="accent6"/>
                </a:solidFill>
                <a:cs typeface="Arial" charset="0"/>
              </a:rPr>
              <a:t>trabalhar</a:t>
            </a:r>
            <a:r>
              <a:rPr lang="en-US" sz="2800" b="1" spc="-83" dirty="0">
                <a:ln w="3175">
                  <a:noFill/>
                </a:ln>
                <a:solidFill>
                  <a:schemeClr val="accent6"/>
                </a:solidFill>
                <a:cs typeface="Arial" charset="0"/>
              </a:rPr>
              <a:t>…</a:t>
            </a:r>
            <a:endParaRPr lang="en-US" sz="2800" dirty="0">
              <a:solidFill>
                <a:schemeClr val="accent6"/>
              </a:solidFill>
            </a:endParaRPr>
          </a:p>
        </p:txBody>
      </p:sp>
    </p:spTree>
    <p:extLst>
      <p:ext uri="{BB962C8B-B14F-4D97-AF65-F5344CB8AC3E}">
        <p14:creationId xmlns:p14="http://schemas.microsoft.com/office/powerpoint/2010/main" val="4217184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1+#ppt_w/2"/>
                                          </p:val>
                                        </p:tav>
                                        <p:tav tm="100000">
                                          <p:val>
                                            <p:strVal val="#ppt_x"/>
                                          </p:val>
                                        </p:tav>
                                      </p:tavLst>
                                    </p:anim>
                                    <p:anim calcmode="lin" valueType="num">
                                      <p:cBhvr additive="base">
                                        <p:cTn id="8" dur="75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750" fill="hold"/>
                                        <p:tgtEl>
                                          <p:spTgt spid="30"/>
                                        </p:tgtEl>
                                        <p:attrNameLst>
                                          <p:attrName>ppt_x</p:attrName>
                                        </p:attrNameLst>
                                      </p:cBhvr>
                                      <p:tavLst>
                                        <p:tav tm="0">
                                          <p:val>
                                            <p:strVal val="1+#ppt_w/2"/>
                                          </p:val>
                                        </p:tav>
                                        <p:tav tm="100000">
                                          <p:val>
                                            <p:strVal val="#ppt_x"/>
                                          </p:val>
                                        </p:tav>
                                      </p:tavLst>
                                    </p:anim>
                                    <p:anim calcmode="lin" valueType="num">
                                      <p:cBhvr additive="base">
                                        <p:cTn id="12" dur="75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1+#ppt_w/2"/>
                                          </p:val>
                                        </p:tav>
                                        <p:tav tm="100000">
                                          <p:val>
                                            <p:strVal val="#ppt_x"/>
                                          </p:val>
                                        </p:tav>
                                      </p:tavLst>
                                    </p:anim>
                                    <p:anim calcmode="lin" valueType="num">
                                      <p:cBhvr additive="base">
                                        <p:cTn id="16" dur="75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9" name="Agrupar 8"/>
          <p:cNvGrpSpPr/>
          <p:nvPr/>
        </p:nvGrpSpPr>
        <p:grpSpPr>
          <a:xfrm>
            <a:off x="186489" y="1434670"/>
            <a:ext cx="2340001" cy="5218462"/>
            <a:chOff x="186489" y="1434670"/>
            <a:chExt cx="2340001" cy="5218462"/>
          </a:xfrm>
        </p:grpSpPr>
        <p:grpSp>
          <p:nvGrpSpPr>
            <p:cNvPr id="8" name="Agrupar 7"/>
            <p:cNvGrpSpPr/>
            <p:nvPr/>
          </p:nvGrpSpPr>
          <p:grpSpPr>
            <a:xfrm>
              <a:off x="186489" y="1434670"/>
              <a:ext cx="2340001" cy="5218462"/>
              <a:chOff x="186489" y="880228"/>
              <a:chExt cx="2340001" cy="5218462"/>
            </a:xfrm>
          </p:grpSpPr>
          <p:sp>
            <p:nvSpPr>
              <p:cNvPr id="43" name="Retângulo 42"/>
              <p:cNvSpPr/>
              <p:nvPr/>
            </p:nvSpPr>
            <p:spPr>
              <a:xfrm>
                <a:off x="186490"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AD GOL</a:t>
                </a:r>
              </a:p>
              <a:p>
                <a:pPr marL="216000" indent="-216000">
                  <a:spcBef>
                    <a:spcPts val="200"/>
                  </a:spcBef>
                  <a:spcAft>
                    <a:spcPts val="200"/>
                  </a:spcAft>
                  <a:buFont typeface="Wingdings" panose="05000000000000000000" pitchFamily="2" charset="2"/>
                  <a:buChar char="q"/>
                </a:pPr>
                <a:r>
                  <a:rPr lang="pt-BR" sz="1300" i="1" dirty="0">
                    <a:solidFill>
                      <a:schemeClr val="tx1">
                        <a:lumMod val="95000"/>
                        <a:lumOff val="5000"/>
                      </a:schemeClr>
                    </a:solidFill>
                  </a:rPr>
                  <a:t>File Server </a:t>
                </a:r>
                <a:r>
                  <a:rPr lang="pt-BR" sz="1300" dirty="0">
                    <a:solidFill>
                      <a:schemeClr val="tx1">
                        <a:lumMod val="95000"/>
                        <a:lumOff val="5000"/>
                      </a:schemeClr>
                    </a:solidFill>
                  </a:rPr>
                  <a:t>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Gestão de Acessos 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Operação dos ambientes AD e FS GOL (Incidentes, Problemas, Mudanças)</a:t>
                </a:r>
              </a:p>
            </p:txBody>
          </p:sp>
          <p:sp>
            <p:nvSpPr>
              <p:cNvPr id="45" name="Retângulo de cantos arredondados 13"/>
              <p:cNvSpPr/>
              <p:nvPr/>
            </p:nvSpPr>
            <p:spPr>
              <a:xfrm>
                <a:off x="18648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just"/>
                <a:r>
                  <a:rPr lang="pt-BR" sz="1600" b="1" dirty="0">
                    <a:effectLst>
                      <a:outerShdw blurRad="38100" dist="38100" dir="2700000" algn="tl">
                        <a:srgbClr val="000000">
                          <a:alpha val="43137"/>
                        </a:srgbClr>
                      </a:outerShdw>
                    </a:effectLst>
                  </a:rPr>
                  <a:t>Cenário </a:t>
                </a:r>
              </a:p>
              <a:p>
                <a:pPr algn="just"/>
                <a:r>
                  <a:rPr lang="pt-BR" sz="1600" b="1" dirty="0">
                    <a:effectLst>
                      <a:outerShdw blurRad="38100" dist="38100" dir="2700000" algn="tl">
                        <a:srgbClr val="000000">
                          <a:alpha val="43137"/>
                        </a:srgbClr>
                      </a:outerShdw>
                    </a:effectLst>
                  </a:rPr>
                  <a:t>Anterior</a:t>
                </a:r>
              </a:p>
            </p:txBody>
          </p:sp>
        </p:grpSp>
        <p:pic>
          <p:nvPicPr>
            <p:cNvPr id="10" name="Imagem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861" y="1542670"/>
              <a:ext cx="684000" cy="684000"/>
            </a:xfrm>
            <a:prstGeom prst="rect">
              <a:avLst/>
            </a:prstGeom>
            <a:effectLst>
              <a:glow rad="101600">
                <a:schemeClr val="bg1">
                  <a:alpha val="60000"/>
                </a:schemeClr>
              </a:glow>
            </a:effectLst>
          </p:spPr>
        </p:pic>
      </p:grpSp>
      <p:grpSp>
        <p:nvGrpSpPr>
          <p:cNvPr id="11" name="Agrupar 10"/>
          <p:cNvGrpSpPr/>
          <p:nvPr/>
        </p:nvGrpSpPr>
        <p:grpSpPr>
          <a:xfrm>
            <a:off x="2625978" y="1434670"/>
            <a:ext cx="2340000" cy="5218462"/>
            <a:chOff x="2625978" y="1434670"/>
            <a:chExt cx="2340000" cy="5218462"/>
          </a:xfrm>
        </p:grpSpPr>
        <p:grpSp>
          <p:nvGrpSpPr>
            <p:cNvPr id="3" name="Agrupar 2"/>
            <p:cNvGrpSpPr/>
            <p:nvPr/>
          </p:nvGrpSpPr>
          <p:grpSpPr>
            <a:xfrm>
              <a:off x="2625978" y="1434670"/>
              <a:ext cx="2340000" cy="5218462"/>
              <a:chOff x="2991739" y="880228"/>
              <a:chExt cx="2340000" cy="5218462"/>
            </a:xfrm>
          </p:grpSpPr>
          <p:sp>
            <p:nvSpPr>
              <p:cNvPr id="47" name="Retângulo 46"/>
              <p:cNvSpPr/>
              <p:nvPr/>
            </p:nvSpPr>
            <p:spPr>
              <a:xfrm>
                <a:off x="299173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lento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Pouca agilidade </a:t>
                </a:r>
                <a:r>
                  <a:rPr lang="pt-BR" sz="1300" dirty="0">
                    <a:solidFill>
                      <a:schemeClr val="tx1">
                        <a:lumMod val="95000"/>
                        <a:lumOff val="5000"/>
                      </a:schemeClr>
                    </a:solidFill>
                  </a:rPr>
                  <a:t>na Gestão de Acessos </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Prazos estendidos e retrabalho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Infraestrutura não adequada </a:t>
                </a:r>
                <a:r>
                  <a:rPr lang="pt-BR" sz="1300" dirty="0">
                    <a:solidFill>
                      <a:schemeClr val="tx1">
                        <a:lumMod val="95000"/>
                        <a:lumOff val="5000"/>
                      </a:schemeClr>
                    </a:solidFill>
                  </a:rPr>
                  <a:t>às necessidades da </a:t>
                </a:r>
                <a:r>
                  <a:rPr lang="pt-BR" sz="1300" dirty="0" err="1">
                    <a:solidFill>
                      <a:schemeClr val="tx1">
                        <a:lumMod val="95000"/>
                        <a:lumOff val="5000"/>
                      </a:schemeClr>
                    </a:solidFill>
                  </a:rPr>
                  <a:t>Smiles</a:t>
                </a:r>
                <a:endParaRPr lang="pt-BR" sz="13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Falta de padronização</a:t>
                </a:r>
                <a:r>
                  <a:rPr lang="pt-BR" sz="1300" dirty="0">
                    <a:solidFill>
                      <a:schemeClr val="tx1">
                        <a:lumMod val="95000"/>
                        <a:lumOff val="5000"/>
                      </a:schemeClr>
                    </a:solidFill>
                  </a:rPr>
                  <a:t> na estrutura do </a:t>
                </a:r>
                <a:r>
                  <a:rPr lang="pt-BR" sz="1300" i="1" dirty="0">
                    <a:solidFill>
                      <a:schemeClr val="tx1">
                        <a:lumMod val="95000"/>
                        <a:lumOff val="5000"/>
                      </a:schemeClr>
                    </a:solidFill>
                  </a:rPr>
                  <a:t>File Server</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Inexistência de controle de cotas </a:t>
                </a:r>
                <a:r>
                  <a:rPr lang="pt-BR" sz="1300" dirty="0">
                    <a:solidFill>
                      <a:schemeClr val="tx1">
                        <a:lumMod val="95000"/>
                        <a:lumOff val="5000"/>
                      </a:schemeClr>
                    </a:solidFill>
                  </a:rPr>
                  <a:t>por área e usuário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Pacote Office desatualizado</a:t>
                </a:r>
              </a:p>
              <a:p>
                <a:pPr marL="216000" indent="-216000">
                  <a:spcBef>
                    <a:spcPts val="200"/>
                  </a:spcBef>
                  <a:spcAft>
                    <a:spcPts val="200"/>
                  </a:spcAft>
                  <a:buFont typeface="Wingdings" panose="05000000000000000000" pitchFamily="2" charset="2"/>
                  <a:buChar char="q"/>
                </a:pPr>
                <a:endParaRPr lang="pt-BR" sz="1300" b="1" dirty="0">
                  <a:solidFill>
                    <a:schemeClr val="tx1">
                      <a:lumMod val="95000"/>
                      <a:lumOff val="5000"/>
                    </a:schemeClr>
                  </a:solidFill>
                </a:endParaRPr>
              </a:p>
            </p:txBody>
          </p:sp>
          <p:sp>
            <p:nvSpPr>
              <p:cNvPr id="52" name="Retângulo de cantos arredondados 16"/>
              <p:cNvSpPr/>
              <p:nvPr/>
            </p:nvSpPr>
            <p:spPr>
              <a:xfrm>
                <a:off x="299173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Principais </a:t>
                </a:r>
              </a:p>
              <a:p>
                <a:r>
                  <a:rPr lang="pt-BR" sz="1600" b="1" dirty="0">
                    <a:effectLst>
                      <a:outerShdw blurRad="38100" dist="38100" dir="2700000" algn="tl">
                        <a:srgbClr val="000000">
                          <a:alpha val="43137"/>
                        </a:srgbClr>
                      </a:outerShdw>
                    </a:effectLst>
                  </a:rPr>
                  <a:t>Dificuldades</a:t>
                </a:r>
              </a:p>
            </p:txBody>
          </p:sp>
        </p:grpSp>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1664" y="1474197"/>
              <a:ext cx="828000" cy="828000"/>
            </a:xfrm>
            <a:prstGeom prst="rect">
              <a:avLst/>
            </a:prstGeom>
            <a:effectLst>
              <a:glow rad="101600">
                <a:schemeClr val="bg1">
                  <a:alpha val="60000"/>
                </a:schemeClr>
              </a:glow>
            </a:effectLst>
          </p:spPr>
        </p:pic>
      </p:grpSp>
      <p:grpSp>
        <p:nvGrpSpPr>
          <p:cNvPr id="13" name="Agrupar 12"/>
          <p:cNvGrpSpPr/>
          <p:nvPr/>
        </p:nvGrpSpPr>
        <p:grpSpPr>
          <a:xfrm>
            <a:off x="7504954" y="1434670"/>
            <a:ext cx="2340001" cy="5218462"/>
            <a:chOff x="7504954" y="1434670"/>
            <a:chExt cx="2340001" cy="5218462"/>
          </a:xfrm>
        </p:grpSpPr>
        <p:grpSp>
          <p:nvGrpSpPr>
            <p:cNvPr id="5" name="Agrupar 4"/>
            <p:cNvGrpSpPr/>
            <p:nvPr/>
          </p:nvGrpSpPr>
          <p:grpSpPr>
            <a:xfrm>
              <a:off x="7504954" y="1434670"/>
              <a:ext cx="2340001" cy="5218462"/>
              <a:chOff x="8445479" y="880228"/>
              <a:chExt cx="2340001" cy="5218462"/>
            </a:xfrm>
          </p:grpSpPr>
          <p:sp>
            <p:nvSpPr>
              <p:cNvPr id="56" name="Retângulo 55"/>
              <p:cNvSpPr/>
              <p:nvPr/>
            </p:nvSpPr>
            <p:spPr>
              <a:xfrm>
                <a:off x="844547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mais rápido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agilidade </a:t>
                </a:r>
                <a:r>
                  <a:rPr lang="pt-BR" sz="1300" dirty="0">
                    <a:solidFill>
                      <a:schemeClr val="tx1">
                        <a:lumMod val="95000"/>
                        <a:lumOff val="5000"/>
                      </a:schemeClr>
                    </a:solidFill>
                  </a:rPr>
                  <a:t>na Gestão de Acessos</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Ambiente escalável e redundante </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eficiência na Gestão </a:t>
                </a:r>
                <a:r>
                  <a:rPr lang="pt-BR" sz="1300" dirty="0">
                    <a:solidFill>
                      <a:schemeClr val="tx1">
                        <a:lumMod val="95000"/>
                        <a:lumOff val="5000"/>
                      </a:schemeClr>
                    </a:solidFill>
                  </a:rPr>
                  <a:t>(gestão interna permite maior </a:t>
                </a:r>
                <a:r>
                  <a:rPr lang="pt-BR" sz="1300" b="1" dirty="0">
                    <a:solidFill>
                      <a:schemeClr val="tx1">
                        <a:lumMod val="95000"/>
                        <a:lumOff val="5000"/>
                      </a:schemeClr>
                    </a:solidFill>
                  </a:rPr>
                  <a:t>rastreabilidade e visibilidade</a:t>
                </a:r>
                <a:r>
                  <a:rPr lang="pt-BR" sz="1300" dirty="0">
                    <a:solidFill>
                      <a:schemeClr val="tx1">
                        <a:lumMod val="95000"/>
                        <a:lumOff val="5000"/>
                      </a:schemeClr>
                    </a:solidFill>
                  </a:rPr>
                  <a:t>)</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Padronização</a:t>
                </a:r>
                <a:r>
                  <a:rPr lang="pt-BR" sz="1300" dirty="0">
                    <a:solidFill>
                      <a:schemeClr val="tx1">
                        <a:lumMod val="95000"/>
                        <a:lumOff val="5000"/>
                      </a:schemeClr>
                    </a:solidFill>
                  </a:rPr>
                  <a:t> de Diretórios e Pastas na rede com uso de cotas por área e usuário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Independência da estrutura de TI da GOL</a:t>
                </a: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p:txBody>
          </p:sp>
          <p:sp>
            <p:nvSpPr>
              <p:cNvPr id="57" name="Retângulo de cantos arredondados 17"/>
              <p:cNvSpPr/>
              <p:nvPr/>
            </p:nvSpPr>
            <p:spPr>
              <a:xfrm>
                <a:off x="8445480" y="880228"/>
                <a:ext cx="2340000" cy="90000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Benefícios</a:t>
                </a:r>
              </a:p>
            </p:txBody>
          </p:sp>
        </p:grpSp>
        <p:pic>
          <p:nvPicPr>
            <p:cNvPr id="16" name="Imagem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5153" y="1556950"/>
              <a:ext cx="684000" cy="684000"/>
            </a:xfrm>
            <a:prstGeom prst="rect">
              <a:avLst/>
            </a:prstGeom>
            <a:effectLst>
              <a:glow rad="101600">
                <a:schemeClr val="bg1">
                  <a:alpha val="60000"/>
                </a:schemeClr>
              </a:glow>
            </a:effectLst>
          </p:spPr>
        </p:pic>
      </p:grpSp>
      <p:grpSp>
        <p:nvGrpSpPr>
          <p:cNvPr id="12" name="Agrupar 11"/>
          <p:cNvGrpSpPr/>
          <p:nvPr/>
        </p:nvGrpSpPr>
        <p:grpSpPr>
          <a:xfrm>
            <a:off x="5065466" y="1434670"/>
            <a:ext cx="2340000" cy="5218462"/>
            <a:chOff x="5065466" y="1434670"/>
            <a:chExt cx="2340000" cy="5218462"/>
          </a:xfrm>
        </p:grpSpPr>
        <p:grpSp>
          <p:nvGrpSpPr>
            <p:cNvPr id="4" name="Agrupar 3"/>
            <p:cNvGrpSpPr/>
            <p:nvPr/>
          </p:nvGrpSpPr>
          <p:grpSpPr>
            <a:xfrm>
              <a:off x="5065466" y="1434670"/>
              <a:ext cx="2340000" cy="5218462"/>
              <a:chOff x="5718609" y="880228"/>
              <a:chExt cx="2340000" cy="5218462"/>
            </a:xfrm>
          </p:grpSpPr>
          <p:sp>
            <p:nvSpPr>
              <p:cNvPr id="49" name="Retângulo 48"/>
              <p:cNvSpPr/>
              <p:nvPr/>
            </p:nvSpPr>
            <p:spPr>
              <a:xfrm>
                <a:off x="571860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 </a:t>
                </a:r>
                <a:r>
                  <a:rPr lang="pt-BR" sz="1300" b="1" dirty="0">
                    <a:solidFill>
                      <a:schemeClr val="tx1">
                        <a:lumMod val="95000"/>
                        <a:lumOff val="5000"/>
                      </a:schemeClr>
                    </a:solidFill>
                  </a:rPr>
                  <a:t>AD específico para Smiles</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uma </a:t>
                </a:r>
                <a:r>
                  <a:rPr lang="pt-BR" sz="1300" b="1" dirty="0">
                    <a:solidFill>
                      <a:schemeClr val="tx1">
                        <a:lumMod val="95000"/>
                        <a:lumOff val="5000"/>
                      </a:schemeClr>
                    </a:solidFill>
                  </a:rPr>
                  <a:t>Solução de Colaboração e Produtividade para a Smiles (Office 365, OneDrive e SharePoint)</a:t>
                </a:r>
              </a:p>
            </p:txBody>
          </p:sp>
          <p:sp>
            <p:nvSpPr>
              <p:cNvPr id="53" name="Retângulo de cantos arredondados 17"/>
              <p:cNvSpPr/>
              <p:nvPr/>
            </p:nvSpPr>
            <p:spPr>
              <a:xfrm>
                <a:off x="5718609" y="880228"/>
                <a:ext cx="2340000" cy="900000"/>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Solução</a:t>
                </a:r>
              </a:p>
              <a:p>
                <a:r>
                  <a:rPr lang="pt-BR" sz="1600" b="1" dirty="0">
                    <a:effectLst>
                      <a:outerShdw blurRad="38100" dist="38100" dir="2700000" algn="tl">
                        <a:srgbClr val="000000">
                          <a:alpha val="43137"/>
                        </a:srgbClr>
                      </a:outerShdw>
                    </a:effectLst>
                  </a:rPr>
                  <a:t>Definida </a:t>
                </a:r>
              </a:p>
            </p:txBody>
          </p:sp>
        </p:grpSp>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6472" y="1547604"/>
              <a:ext cx="684000" cy="684000"/>
            </a:xfrm>
            <a:prstGeom prst="rect">
              <a:avLst/>
            </a:prstGeom>
            <a:effectLst>
              <a:glow rad="101600">
                <a:schemeClr val="bg1">
                  <a:alpha val="40000"/>
                </a:schemeClr>
              </a:glow>
            </a:effectLst>
          </p:spPr>
        </p:pic>
      </p:grpSp>
      <p:sp>
        <p:nvSpPr>
          <p:cNvPr id="23" name="Rectangle 2"/>
          <p:cNvSpPr/>
          <p:nvPr/>
        </p:nvSpPr>
        <p:spPr>
          <a:xfrm>
            <a:off x="186489" y="781605"/>
            <a:ext cx="8694057" cy="507484"/>
          </a:xfrm>
          <a:prstGeom prst="rect">
            <a:avLst/>
          </a:prstGeom>
        </p:spPr>
        <p:txBody>
          <a:bodyPr wrap="square" lIns="75848" tIns="37928" rIns="75848" bIns="37928">
            <a:spAutoFit/>
          </a:bodyPr>
          <a:lstStyle/>
          <a:p>
            <a:pPr defTabSz="758379"/>
            <a:r>
              <a:rPr lang="en-US" sz="2800" b="1" i="1" spc="-83" dirty="0" err="1">
                <a:ln w="3175">
                  <a:noFill/>
                </a:ln>
                <a:solidFill>
                  <a:schemeClr val="accent6"/>
                </a:solidFill>
                <a:cs typeface="Arial" charset="0"/>
              </a:rPr>
              <a:t>RoadMap</a:t>
            </a:r>
            <a:endParaRPr lang="en-US" sz="2800" i="1" dirty="0">
              <a:solidFill>
                <a:schemeClr val="accent6"/>
              </a:solidFill>
            </a:endParaRPr>
          </a:p>
        </p:txBody>
      </p:sp>
      <p:sp>
        <p:nvSpPr>
          <p:cNvPr id="27"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248871321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8218106" y="129598"/>
              <a:ext cx="843390" cy="334448"/>
            </a:xfrm>
            <a:prstGeom prst="rect">
              <a:avLst/>
            </a:prstGeom>
          </p:spPr>
        </p:pic>
      </p:grpSp>
      <p:pic>
        <p:nvPicPr>
          <p:cNvPr id="9" name="Content Placeholder 3"/>
          <p:cNvPicPr>
            <a:picLocks noGrp="1" noChangeAspect="1"/>
          </p:cNvPicPr>
          <p:nvPr/>
        </p:nvPicPr>
        <p:blipFill rotWithShape="1">
          <a:blip r:embed="rId3">
            <a:extLst>
              <a:ext uri="{28A0092B-C50C-407E-A947-70E740481C1C}">
                <a14:useLocalDpi xmlns:a14="http://schemas.microsoft.com/office/drawing/2010/main" val="0"/>
              </a:ext>
            </a:extLst>
          </a:blip>
          <a:srcRect l="8977"/>
          <a:stretch/>
        </p:blipFill>
        <p:spPr bwMode="auto">
          <a:xfrm>
            <a:off x="1" y="990059"/>
            <a:ext cx="10117137" cy="5627644"/>
          </a:xfrm>
          <a:prstGeom prst="rect">
            <a:avLst/>
          </a:prstGeom>
          <a:noFill/>
          <a:ln w="9525">
            <a:noFill/>
            <a:miter lim="800000"/>
            <a:headEnd/>
            <a:tailEnd/>
          </a:ln>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20452449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6" descr="http://sharepoint/sites/gfspublic/Shared%20Documents/Chicago%20DC%20Photoshare/CH1-495.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6016227" y="2140607"/>
            <a:ext cx="3543053" cy="3523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58531" y="2140608"/>
            <a:ext cx="5110750" cy="3523694"/>
          </a:xfrm>
          <a:prstGeom prst="rect">
            <a:avLst/>
          </a:prstGeom>
          <a:solidFill>
            <a:schemeClr val="accent1">
              <a:lumMod val="75000"/>
            </a:schemeClr>
          </a:solidFill>
        </p:spPr>
        <p:txBody>
          <a:bodyPr wrap="square" lIns="75848" tIns="37928" rIns="75848" bIns="37928">
            <a:spAutoFit/>
          </a:bodyPr>
          <a:lstStyle/>
          <a:p>
            <a:pPr defTabSz="758379"/>
            <a:endPar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endParaRPr>
          </a:p>
          <a:p>
            <a:pPr marL="180000" lvl="1" defTabSz="758379"/>
            <a:r>
              <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rPr>
              <a:t>O que </a:t>
            </a:r>
            <a:r>
              <a:rPr lang="en-US" sz="3200" b="1" spc="-83" dirty="0" err="1">
                <a:ln w="3175">
                  <a:noFill/>
                </a:ln>
                <a:solidFill>
                  <a:schemeClr val="bg1">
                    <a:lumMod val="95000"/>
                  </a:schemeClr>
                </a:solidFill>
                <a:effectLst>
                  <a:outerShdw blurRad="38100" dist="38100" dir="2700000" algn="tl">
                    <a:srgbClr val="000000">
                      <a:alpha val="43137"/>
                    </a:srgbClr>
                  </a:outerShdw>
                </a:effectLst>
                <a:cs typeface="Arial" charset="0"/>
              </a:rPr>
              <a:t>são</a:t>
            </a:r>
            <a:r>
              <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rPr>
              <a:t> OneDrive e SharePoint?</a:t>
            </a:r>
          </a:p>
          <a:p>
            <a:pPr marL="180000" lvl="1" defTabSz="758379"/>
            <a:endParaRPr lang="en-US" sz="1600" b="1" spc="-83" dirty="0">
              <a:ln w="3175">
                <a:noFill/>
              </a:ln>
              <a:solidFill>
                <a:schemeClr val="bg1">
                  <a:lumMod val="95000"/>
                </a:schemeClr>
              </a:solidFill>
              <a:effectLst>
                <a:outerShdw blurRad="38100" dist="38100" dir="2700000" algn="tl">
                  <a:srgbClr val="000000">
                    <a:alpha val="43137"/>
                  </a:srgbClr>
                </a:outerShdw>
              </a:effectLst>
              <a:cs typeface="Arial" charset="0"/>
            </a:endParaRPr>
          </a:p>
          <a:p>
            <a:pPr marL="180000" lvl="1" defTabSz="758379"/>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São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serviços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da Microsoft,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disponíveis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para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uso</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através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de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sua</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nuvem</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pública</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a:t>
            </a:r>
          </a:p>
          <a:p>
            <a:pPr defTabSz="758379"/>
            <a:endParaRPr lang="en-US" sz="2800" dirty="0">
              <a:solidFill>
                <a:schemeClr val="bg1">
                  <a:lumMod val="95000"/>
                </a:schemeClr>
              </a:solidFill>
              <a:effectLst>
                <a:outerShdw blurRad="38100" dist="38100" dir="2700000" algn="tl">
                  <a:srgbClr val="000000">
                    <a:alpha val="43137"/>
                  </a:srgbClr>
                </a:outerShdw>
              </a:effectLst>
            </a:endParaRP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867733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4" name="Group 4"/>
          <p:cNvGrpSpPr/>
          <p:nvPr/>
        </p:nvGrpSpPr>
        <p:grpSpPr>
          <a:xfrm>
            <a:off x="6459526" y="1993529"/>
            <a:ext cx="3511791" cy="3913394"/>
            <a:chOff x="3365076" y="1232597"/>
            <a:chExt cx="2745941" cy="3568877"/>
          </a:xfrm>
        </p:grpSpPr>
        <p:pic>
          <p:nvPicPr>
            <p:cNvPr id="25" name="Picture 4" descr="http://farm7.staticflickr.com/6198/6149648253_a3f453cb9e_z.jpg"/>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l="1" t="5733" r="18331" b="39762"/>
            <a:stretch/>
          </p:blipFill>
          <p:spPr bwMode="auto">
            <a:xfrm>
              <a:off x="3365076" y="1232597"/>
              <a:ext cx="2745941" cy="2746738"/>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8"/>
            <p:cNvGrpSpPr/>
            <p:nvPr/>
          </p:nvGrpSpPr>
          <p:grpSpPr>
            <a:xfrm>
              <a:off x="3365076" y="3979336"/>
              <a:ext cx="2745941" cy="822138"/>
              <a:chOff x="3346615" y="4451875"/>
              <a:chExt cx="2745941" cy="822138"/>
            </a:xfrm>
          </p:grpSpPr>
          <p:sp>
            <p:nvSpPr>
              <p:cNvPr id="27" name="Rectangle 52"/>
              <p:cNvSpPr/>
              <p:nvPr/>
            </p:nvSpPr>
            <p:spPr bwMode="auto">
              <a:xfrm>
                <a:off x="3346615" y="4451875"/>
                <a:ext cx="2745941" cy="822138"/>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OneDrive</a:t>
                </a:r>
              </a:p>
            </p:txBody>
          </p:sp>
          <p:pic>
            <p:nvPicPr>
              <p:cNvPr id="28" name="Picture 71" descr="C:\Users\chrisw\Desktop\Cloud Services 3.png"/>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4936006" y="4538785"/>
                <a:ext cx="904219" cy="62347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0" name="Rectangle 3"/>
          <p:cNvSpPr/>
          <p:nvPr>
            <p:custDataLst>
              <p:tags r:id="rId1"/>
            </p:custDataLst>
          </p:nvPr>
        </p:nvSpPr>
        <p:spPr bwMode="auto">
          <a:xfrm>
            <a:off x="413388"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21" name="Rectangle 44"/>
          <p:cNvSpPr/>
          <p:nvPr/>
        </p:nvSpPr>
        <p:spPr bwMode="auto">
          <a:xfrm>
            <a:off x="3149859" y="3176414"/>
            <a:ext cx="1896963" cy="1896963"/>
          </a:xfrm>
          <a:prstGeom prst="rect">
            <a:avLst/>
          </a:prstGeom>
          <a:solidFill>
            <a:schemeClr val="bg1">
              <a:lumMod val="75000"/>
            </a:scheme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782441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p:cNvPicPr>
            <a:picLocks noChangeAspect="1"/>
          </p:cNvPicPr>
          <p:nvPr/>
        </p:nvPicPr>
        <p:blipFill>
          <a:blip r:embed="rId3"/>
          <a:stretch>
            <a:fillRect/>
          </a:stretch>
        </p:blipFill>
        <p:spPr>
          <a:xfrm>
            <a:off x="1996821" y="2904433"/>
            <a:ext cx="2696539" cy="2088964"/>
          </a:xfrm>
          <a:prstGeom prst="rect">
            <a:avLst/>
          </a:prstGeom>
        </p:spPr>
      </p:pic>
      <p:pic>
        <p:nvPicPr>
          <p:cNvPr id="17" name="Imagem 16"/>
          <p:cNvPicPr>
            <a:picLocks noChangeAspect="1"/>
          </p:cNvPicPr>
          <p:nvPr/>
        </p:nvPicPr>
        <p:blipFill>
          <a:blip r:embed="rId4"/>
          <a:stretch>
            <a:fillRect/>
          </a:stretch>
        </p:blipFill>
        <p:spPr>
          <a:xfrm>
            <a:off x="3037288" y="5087155"/>
            <a:ext cx="253849" cy="1007930"/>
          </a:xfrm>
          <a:prstGeom prst="rect">
            <a:avLst/>
          </a:prstGeom>
        </p:spPr>
      </p:pic>
      <p:pic>
        <p:nvPicPr>
          <p:cNvPr id="18" name="Imagem 17"/>
          <p:cNvPicPr>
            <a:picLocks noChangeAspect="1"/>
          </p:cNvPicPr>
          <p:nvPr/>
        </p:nvPicPr>
        <p:blipFill>
          <a:blip r:embed="rId4"/>
          <a:stretch>
            <a:fillRect/>
          </a:stretch>
        </p:blipFill>
        <p:spPr>
          <a:xfrm rot="10800000">
            <a:off x="2686816" y="5047361"/>
            <a:ext cx="253849" cy="1007930"/>
          </a:xfrm>
          <a:prstGeom prst="rect">
            <a:avLst/>
          </a:prstGeom>
        </p:spPr>
      </p:pic>
      <p:sp>
        <p:nvSpPr>
          <p:cNvPr id="20" name="CaixaDeTexto 19"/>
          <p:cNvSpPr txBox="1"/>
          <p:nvPr/>
        </p:nvSpPr>
        <p:spPr>
          <a:xfrm>
            <a:off x="2418322" y="3844092"/>
            <a:ext cx="1758955" cy="461665"/>
          </a:xfrm>
          <a:prstGeom prst="rect">
            <a:avLst/>
          </a:prstGeom>
          <a:noFill/>
        </p:spPr>
        <p:txBody>
          <a:bodyPr wrap="square" rtlCol="0">
            <a:spAutoFit/>
          </a:bodyPr>
          <a:lstStyle/>
          <a:p>
            <a:pPr algn="ctr"/>
            <a:r>
              <a:rPr lang="pt-BR" sz="1200" dirty="0"/>
              <a:t>Como um </a:t>
            </a:r>
            <a:r>
              <a:rPr lang="pt-BR" sz="1200" i="1" dirty="0" err="1"/>
              <a:t>Pendrive</a:t>
            </a:r>
            <a:r>
              <a:rPr lang="pt-BR" sz="1200" dirty="0"/>
              <a:t> </a:t>
            </a:r>
          </a:p>
          <a:p>
            <a:pPr algn="ctr"/>
            <a:r>
              <a:rPr lang="pt-BR" sz="1200" dirty="0"/>
              <a:t>Na nuvem</a:t>
            </a:r>
            <a:endParaRPr lang="en-US" sz="1200" dirty="0"/>
          </a:p>
        </p:txBody>
      </p:sp>
      <p:sp>
        <p:nvSpPr>
          <p:cNvPr id="21" name="CaixaDeTexto 20"/>
          <p:cNvSpPr txBox="1"/>
          <p:nvPr/>
        </p:nvSpPr>
        <p:spPr>
          <a:xfrm>
            <a:off x="327976" y="3481337"/>
            <a:ext cx="1692868" cy="461665"/>
          </a:xfrm>
          <a:prstGeom prst="rect">
            <a:avLst/>
          </a:prstGeom>
          <a:noFill/>
        </p:spPr>
        <p:txBody>
          <a:bodyPr wrap="square" rtlCol="0">
            <a:spAutoFit/>
          </a:bodyPr>
          <a:lstStyle/>
          <a:p>
            <a:pPr algn="ctr"/>
            <a:r>
              <a:rPr lang="pt-BR" sz="1200" dirty="0"/>
              <a:t>Pode armazenar coisas</a:t>
            </a:r>
          </a:p>
          <a:p>
            <a:pPr algn="ctr"/>
            <a:r>
              <a:rPr lang="pt-BR" sz="1200" dirty="0"/>
              <a:t>Como quiser...</a:t>
            </a:r>
            <a:endParaRPr lang="en-US" sz="1200" dirty="0"/>
          </a:p>
        </p:txBody>
      </p:sp>
      <p:pic>
        <p:nvPicPr>
          <p:cNvPr id="23" name="Imagem 22"/>
          <p:cNvPicPr>
            <a:picLocks noChangeAspect="1"/>
          </p:cNvPicPr>
          <p:nvPr/>
        </p:nvPicPr>
        <p:blipFill>
          <a:blip r:embed="rId5"/>
          <a:stretch>
            <a:fillRect/>
          </a:stretch>
        </p:blipFill>
        <p:spPr>
          <a:xfrm>
            <a:off x="786022" y="2295276"/>
            <a:ext cx="1078616" cy="771415"/>
          </a:xfrm>
          <a:prstGeom prst="rect">
            <a:avLst/>
          </a:prstGeom>
        </p:spPr>
      </p:pic>
      <p:pic>
        <p:nvPicPr>
          <p:cNvPr id="24" name="Imagem 23"/>
          <p:cNvPicPr>
            <a:picLocks noChangeAspect="1"/>
          </p:cNvPicPr>
          <p:nvPr/>
        </p:nvPicPr>
        <p:blipFill>
          <a:blip r:embed="rId6"/>
          <a:stretch>
            <a:fillRect/>
          </a:stretch>
        </p:blipFill>
        <p:spPr>
          <a:xfrm>
            <a:off x="2784002" y="1704694"/>
            <a:ext cx="716802" cy="839682"/>
          </a:xfrm>
          <a:prstGeom prst="rect">
            <a:avLst/>
          </a:prstGeom>
        </p:spPr>
      </p:pic>
      <p:pic>
        <p:nvPicPr>
          <p:cNvPr id="25" name="Imagem 24"/>
          <p:cNvPicPr>
            <a:picLocks noChangeAspect="1"/>
          </p:cNvPicPr>
          <p:nvPr/>
        </p:nvPicPr>
        <p:blipFill>
          <a:blip r:embed="rId7"/>
          <a:stretch>
            <a:fillRect/>
          </a:stretch>
        </p:blipFill>
        <p:spPr>
          <a:xfrm>
            <a:off x="4213922" y="2264683"/>
            <a:ext cx="662188" cy="689495"/>
          </a:xfrm>
          <a:prstGeom prst="rect">
            <a:avLst/>
          </a:prstGeom>
        </p:spPr>
      </p:pic>
      <p:pic>
        <p:nvPicPr>
          <p:cNvPr id="26" name="Imagem 25"/>
          <p:cNvPicPr>
            <a:picLocks noChangeAspect="1"/>
          </p:cNvPicPr>
          <p:nvPr/>
        </p:nvPicPr>
        <p:blipFill>
          <a:blip r:embed="rId8"/>
          <a:stretch>
            <a:fillRect/>
          </a:stretch>
        </p:blipFill>
        <p:spPr>
          <a:xfrm>
            <a:off x="1531736" y="2840411"/>
            <a:ext cx="525654" cy="505174"/>
          </a:xfrm>
          <a:prstGeom prst="rect">
            <a:avLst/>
          </a:prstGeom>
        </p:spPr>
      </p:pic>
      <p:pic>
        <p:nvPicPr>
          <p:cNvPr id="27" name="Imagem 26"/>
          <p:cNvPicPr>
            <a:picLocks noChangeAspect="1"/>
          </p:cNvPicPr>
          <p:nvPr/>
        </p:nvPicPr>
        <p:blipFill>
          <a:blip r:embed="rId9"/>
          <a:stretch>
            <a:fillRect/>
          </a:stretch>
        </p:blipFill>
        <p:spPr>
          <a:xfrm>
            <a:off x="2985118" y="2455188"/>
            <a:ext cx="279894" cy="587095"/>
          </a:xfrm>
          <a:prstGeom prst="rect">
            <a:avLst/>
          </a:prstGeom>
        </p:spPr>
      </p:pic>
      <p:pic>
        <p:nvPicPr>
          <p:cNvPr id="28" name="Imagem 27"/>
          <p:cNvPicPr>
            <a:picLocks noChangeAspect="1"/>
          </p:cNvPicPr>
          <p:nvPr/>
        </p:nvPicPr>
        <p:blipFill>
          <a:blip r:embed="rId10"/>
          <a:stretch>
            <a:fillRect/>
          </a:stretch>
        </p:blipFill>
        <p:spPr>
          <a:xfrm>
            <a:off x="4177278" y="2830578"/>
            <a:ext cx="416428" cy="539308"/>
          </a:xfrm>
          <a:prstGeom prst="rect">
            <a:avLst/>
          </a:prstGeom>
        </p:spPr>
      </p:pic>
      <p:sp>
        <p:nvSpPr>
          <p:cNvPr id="30" name="CaixaDeTexto 29"/>
          <p:cNvSpPr txBox="1"/>
          <p:nvPr/>
        </p:nvSpPr>
        <p:spPr>
          <a:xfrm rot="20388185">
            <a:off x="806199" y="2178377"/>
            <a:ext cx="699211" cy="246221"/>
          </a:xfrm>
          <a:prstGeom prst="rect">
            <a:avLst/>
          </a:prstGeom>
          <a:noFill/>
        </p:spPr>
        <p:txBody>
          <a:bodyPr wrap="square" rtlCol="0">
            <a:spAutoFit/>
          </a:bodyPr>
          <a:lstStyle/>
          <a:p>
            <a:pPr algn="ctr"/>
            <a:r>
              <a:rPr lang="pt-BR" sz="1000" dirty="0"/>
              <a:t>PASTAS</a:t>
            </a:r>
            <a:endParaRPr lang="en-US" sz="1000" dirty="0"/>
          </a:p>
        </p:txBody>
      </p:sp>
      <p:sp>
        <p:nvSpPr>
          <p:cNvPr id="31" name="CaixaDeTexto 30"/>
          <p:cNvSpPr txBox="1"/>
          <p:nvPr/>
        </p:nvSpPr>
        <p:spPr>
          <a:xfrm rot="21079820">
            <a:off x="2583590" y="1467589"/>
            <a:ext cx="968871" cy="246221"/>
          </a:xfrm>
          <a:prstGeom prst="rect">
            <a:avLst/>
          </a:prstGeom>
          <a:noFill/>
        </p:spPr>
        <p:txBody>
          <a:bodyPr wrap="square" rtlCol="0">
            <a:spAutoFit/>
          </a:bodyPr>
          <a:lstStyle/>
          <a:p>
            <a:pPr algn="ctr"/>
            <a:r>
              <a:rPr lang="pt-BR" sz="1000" dirty="0"/>
              <a:t>DOCUMENTOS</a:t>
            </a:r>
            <a:endParaRPr lang="en-US" sz="1000" dirty="0"/>
          </a:p>
        </p:txBody>
      </p:sp>
      <p:sp>
        <p:nvSpPr>
          <p:cNvPr id="32" name="CaixaDeTexto 31"/>
          <p:cNvSpPr txBox="1"/>
          <p:nvPr/>
        </p:nvSpPr>
        <p:spPr>
          <a:xfrm rot="801430">
            <a:off x="4386595" y="2165764"/>
            <a:ext cx="738615" cy="246221"/>
          </a:xfrm>
          <a:prstGeom prst="rect">
            <a:avLst/>
          </a:prstGeom>
          <a:noFill/>
        </p:spPr>
        <p:txBody>
          <a:bodyPr wrap="square" rtlCol="0">
            <a:spAutoFit/>
          </a:bodyPr>
          <a:lstStyle/>
          <a:p>
            <a:pPr algn="ctr"/>
            <a:r>
              <a:rPr lang="pt-BR" sz="1000" dirty="0"/>
              <a:t>FOTOS</a:t>
            </a:r>
            <a:endParaRPr lang="en-US" sz="1000" dirty="0"/>
          </a:p>
        </p:txBody>
      </p:sp>
      <p:sp>
        <p:nvSpPr>
          <p:cNvPr id="33" name="CaixaDeTexto 32"/>
          <p:cNvSpPr txBox="1"/>
          <p:nvPr/>
        </p:nvSpPr>
        <p:spPr>
          <a:xfrm>
            <a:off x="3320088" y="5353987"/>
            <a:ext cx="824384" cy="246221"/>
          </a:xfrm>
          <a:prstGeom prst="rect">
            <a:avLst/>
          </a:prstGeom>
          <a:noFill/>
        </p:spPr>
        <p:txBody>
          <a:bodyPr wrap="square" rtlCol="0">
            <a:spAutoFit/>
          </a:bodyPr>
          <a:lstStyle/>
          <a:p>
            <a:pPr algn="ctr"/>
            <a:r>
              <a:rPr lang="pt-BR" sz="1000" dirty="0"/>
              <a:t>COPIAR</a:t>
            </a:r>
            <a:endParaRPr lang="en-US" sz="1000" dirty="0"/>
          </a:p>
        </p:txBody>
      </p:sp>
      <p:pic>
        <p:nvPicPr>
          <p:cNvPr id="34" name="Imagem 33"/>
          <p:cNvPicPr>
            <a:picLocks noChangeAspect="1"/>
          </p:cNvPicPr>
          <p:nvPr/>
        </p:nvPicPr>
        <p:blipFill>
          <a:blip r:embed="rId5"/>
          <a:stretch>
            <a:fillRect/>
          </a:stretch>
        </p:blipFill>
        <p:spPr>
          <a:xfrm rot="1192862">
            <a:off x="2742675" y="6039658"/>
            <a:ext cx="712764" cy="509762"/>
          </a:xfrm>
          <a:prstGeom prst="rect">
            <a:avLst/>
          </a:prstGeom>
        </p:spPr>
      </p:pic>
      <p:sp>
        <p:nvSpPr>
          <p:cNvPr id="35" name="CaixaDeTexto 34"/>
          <p:cNvSpPr txBox="1"/>
          <p:nvPr/>
        </p:nvSpPr>
        <p:spPr>
          <a:xfrm>
            <a:off x="2951112" y="6140355"/>
            <a:ext cx="1329531" cy="400110"/>
          </a:xfrm>
          <a:prstGeom prst="rect">
            <a:avLst/>
          </a:prstGeom>
          <a:noFill/>
        </p:spPr>
        <p:txBody>
          <a:bodyPr wrap="square" rtlCol="0">
            <a:spAutoFit/>
          </a:bodyPr>
          <a:lstStyle/>
          <a:p>
            <a:pPr algn="ctr"/>
            <a:r>
              <a:rPr lang="pt-BR" sz="1000" dirty="0"/>
              <a:t>PASTAS</a:t>
            </a:r>
          </a:p>
          <a:p>
            <a:pPr algn="ctr"/>
            <a:r>
              <a:rPr lang="pt-BR" sz="1000" dirty="0"/>
              <a:t>LOCAIS</a:t>
            </a:r>
            <a:endParaRPr lang="en-US" sz="1000" dirty="0"/>
          </a:p>
        </p:txBody>
      </p:sp>
      <p:pic>
        <p:nvPicPr>
          <p:cNvPr id="36" name="Imagem 35"/>
          <p:cNvPicPr>
            <a:picLocks noChangeAspect="1"/>
          </p:cNvPicPr>
          <p:nvPr/>
        </p:nvPicPr>
        <p:blipFill>
          <a:blip r:embed="rId11"/>
          <a:stretch>
            <a:fillRect/>
          </a:stretch>
        </p:blipFill>
        <p:spPr>
          <a:xfrm>
            <a:off x="1654079" y="5831826"/>
            <a:ext cx="832855" cy="675841"/>
          </a:xfrm>
          <a:prstGeom prst="rect">
            <a:avLst/>
          </a:prstGeom>
        </p:spPr>
      </p:pic>
      <p:sp>
        <p:nvSpPr>
          <p:cNvPr id="37" name="CaixaDeTexto 36"/>
          <p:cNvSpPr txBox="1"/>
          <p:nvPr/>
        </p:nvSpPr>
        <p:spPr>
          <a:xfrm>
            <a:off x="842516" y="5942443"/>
            <a:ext cx="1051975" cy="400110"/>
          </a:xfrm>
          <a:prstGeom prst="rect">
            <a:avLst/>
          </a:prstGeom>
          <a:noFill/>
        </p:spPr>
        <p:txBody>
          <a:bodyPr wrap="square" rtlCol="0">
            <a:spAutoFit/>
          </a:bodyPr>
          <a:lstStyle/>
          <a:p>
            <a:pPr algn="ctr"/>
            <a:r>
              <a:rPr lang="pt-BR" sz="1000" i="1" dirty="0" err="1"/>
              <a:t>Client</a:t>
            </a:r>
            <a:r>
              <a:rPr lang="pt-BR" sz="1000" dirty="0"/>
              <a:t> do </a:t>
            </a:r>
          </a:p>
          <a:p>
            <a:pPr algn="ctr"/>
            <a:r>
              <a:rPr lang="pt-BR" sz="1000" dirty="0"/>
              <a:t>ONEDRIVE</a:t>
            </a:r>
            <a:endParaRPr lang="en-US" sz="1000" dirty="0"/>
          </a:p>
        </p:txBody>
      </p:sp>
      <p:sp>
        <p:nvSpPr>
          <p:cNvPr id="39" name="CaixaDeTexto 38"/>
          <p:cNvSpPr txBox="1"/>
          <p:nvPr/>
        </p:nvSpPr>
        <p:spPr>
          <a:xfrm>
            <a:off x="1426487" y="5119352"/>
            <a:ext cx="1214471" cy="553998"/>
          </a:xfrm>
          <a:prstGeom prst="rect">
            <a:avLst/>
          </a:prstGeom>
          <a:noFill/>
        </p:spPr>
        <p:txBody>
          <a:bodyPr wrap="square" rtlCol="0">
            <a:spAutoFit/>
          </a:bodyPr>
          <a:lstStyle/>
          <a:p>
            <a:pPr algn="ctr"/>
            <a:r>
              <a:rPr lang="pt-BR" sz="1000" dirty="0"/>
              <a:t>Sincroniza as alterações</a:t>
            </a:r>
          </a:p>
          <a:p>
            <a:pPr algn="ctr"/>
            <a:r>
              <a:rPr lang="pt-BR" sz="1000" dirty="0"/>
              <a:t>bidireccionalmente</a:t>
            </a:r>
            <a:endParaRPr lang="en-US" sz="1000" dirty="0"/>
          </a:p>
        </p:txBody>
      </p:sp>
      <p:pic>
        <p:nvPicPr>
          <p:cNvPr id="40" name="Imagem 39"/>
          <p:cNvPicPr>
            <a:picLocks noChangeAspect="1"/>
          </p:cNvPicPr>
          <p:nvPr/>
        </p:nvPicPr>
        <p:blipFill>
          <a:blip r:embed="rId12"/>
          <a:stretch>
            <a:fillRect/>
          </a:stretch>
        </p:blipFill>
        <p:spPr>
          <a:xfrm>
            <a:off x="4995665" y="3263688"/>
            <a:ext cx="1467737" cy="730455"/>
          </a:xfrm>
          <a:prstGeom prst="rect">
            <a:avLst/>
          </a:prstGeom>
        </p:spPr>
      </p:pic>
      <p:sp>
        <p:nvSpPr>
          <p:cNvPr id="41" name="CaixaDeTexto 40"/>
          <p:cNvSpPr txBox="1"/>
          <p:nvPr/>
        </p:nvSpPr>
        <p:spPr>
          <a:xfrm>
            <a:off x="5091783" y="4120374"/>
            <a:ext cx="1546101" cy="400110"/>
          </a:xfrm>
          <a:prstGeom prst="rect">
            <a:avLst/>
          </a:prstGeom>
          <a:noFill/>
        </p:spPr>
        <p:txBody>
          <a:bodyPr wrap="square" rtlCol="0">
            <a:spAutoFit/>
          </a:bodyPr>
          <a:lstStyle/>
          <a:p>
            <a:pPr algn="ctr"/>
            <a:r>
              <a:rPr lang="pt-BR" sz="1000" dirty="0"/>
              <a:t>Mais sobre o</a:t>
            </a:r>
          </a:p>
          <a:p>
            <a:pPr algn="ctr"/>
            <a:r>
              <a:rPr lang="pt-BR" sz="1000" dirty="0"/>
              <a:t>ONEDRIVE...</a:t>
            </a:r>
            <a:endParaRPr lang="en-US" sz="1000" dirty="0"/>
          </a:p>
        </p:txBody>
      </p:sp>
      <p:grpSp>
        <p:nvGrpSpPr>
          <p:cNvPr id="42" name="Grupo 41"/>
          <p:cNvGrpSpPr/>
          <p:nvPr/>
        </p:nvGrpSpPr>
        <p:grpSpPr>
          <a:xfrm>
            <a:off x="6292186" y="2370240"/>
            <a:ext cx="966931" cy="961400"/>
            <a:chOff x="7079630" y="309093"/>
            <a:chExt cx="1349121" cy="2191240"/>
          </a:xfrm>
        </p:grpSpPr>
        <p:pic>
          <p:nvPicPr>
            <p:cNvPr id="43" name="Imagem 42"/>
            <p:cNvPicPr>
              <a:picLocks noChangeAspect="1"/>
            </p:cNvPicPr>
            <p:nvPr/>
          </p:nvPicPr>
          <p:blipFill>
            <a:blip r:embed="rId13"/>
            <a:stretch>
              <a:fillRect/>
            </a:stretch>
          </p:blipFill>
          <p:spPr>
            <a:xfrm>
              <a:off x="7336865" y="309093"/>
              <a:ext cx="866775" cy="1371600"/>
            </a:xfrm>
            <a:prstGeom prst="rect">
              <a:avLst/>
            </a:prstGeom>
          </p:spPr>
        </p:pic>
        <p:sp>
          <p:nvSpPr>
            <p:cNvPr id="44" name="CaixaDeTexto 43"/>
            <p:cNvSpPr txBox="1"/>
            <p:nvPr/>
          </p:nvSpPr>
          <p:spPr>
            <a:xfrm>
              <a:off x="7079630" y="1588395"/>
              <a:ext cx="1349121" cy="911938"/>
            </a:xfrm>
            <a:prstGeom prst="rect">
              <a:avLst/>
            </a:prstGeom>
            <a:noFill/>
          </p:spPr>
          <p:txBody>
            <a:bodyPr wrap="none" rtlCol="0">
              <a:spAutoFit/>
            </a:bodyPr>
            <a:lstStyle/>
            <a:p>
              <a:pPr algn="ctr"/>
              <a:r>
                <a:rPr lang="pt-BR" sz="1000" dirty="0"/>
                <a:t>Destinado aos </a:t>
              </a:r>
            </a:p>
            <a:p>
              <a:pPr algn="ctr"/>
              <a:r>
                <a:rPr lang="pt-BR" sz="1000" dirty="0"/>
                <a:t>consumidores</a:t>
              </a:r>
              <a:endParaRPr lang="en-US" sz="1000" dirty="0"/>
            </a:p>
          </p:txBody>
        </p:sp>
      </p:grpSp>
      <p:grpSp>
        <p:nvGrpSpPr>
          <p:cNvPr id="46" name="Grupo 45"/>
          <p:cNvGrpSpPr/>
          <p:nvPr/>
        </p:nvGrpSpPr>
        <p:grpSpPr>
          <a:xfrm>
            <a:off x="7669473" y="2599911"/>
            <a:ext cx="1369286" cy="665187"/>
            <a:chOff x="8599834" y="917686"/>
            <a:chExt cx="1910513" cy="1516106"/>
          </a:xfrm>
        </p:grpSpPr>
        <p:pic>
          <p:nvPicPr>
            <p:cNvPr id="47" name="Imagem 46"/>
            <p:cNvPicPr>
              <a:picLocks noChangeAspect="1"/>
            </p:cNvPicPr>
            <p:nvPr/>
          </p:nvPicPr>
          <p:blipFill>
            <a:blip r:embed="rId14"/>
            <a:stretch>
              <a:fillRect/>
            </a:stretch>
          </p:blipFill>
          <p:spPr>
            <a:xfrm>
              <a:off x="8849731" y="917686"/>
              <a:ext cx="1266825" cy="695325"/>
            </a:xfrm>
            <a:prstGeom prst="rect">
              <a:avLst/>
            </a:prstGeom>
          </p:spPr>
        </p:pic>
        <p:sp>
          <p:nvSpPr>
            <p:cNvPr id="48" name="CaixaDeTexto 47"/>
            <p:cNvSpPr txBox="1"/>
            <p:nvPr/>
          </p:nvSpPr>
          <p:spPr>
            <a:xfrm>
              <a:off x="8599834" y="1521854"/>
              <a:ext cx="1910513" cy="911938"/>
            </a:xfrm>
            <a:prstGeom prst="rect">
              <a:avLst/>
            </a:prstGeom>
            <a:noFill/>
          </p:spPr>
          <p:txBody>
            <a:bodyPr wrap="none" rtlCol="0">
              <a:spAutoFit/>
            </a:bodyPr>
            <a:lstStyle/>
            <a:p>
              <a:pPr algn="ctr"/>
              <a:r>
                <a:rPr lang="pt-BR" sz="1000" dirty="0"/>
                <a:t>Você pode armazenar </a:t>
              </a:r>
            </a:p>
            <a:p>
              <a:pPr algn="ctr"/>
              <a:r>
                <a:rPr lang="pt-BR" sz="1000" dirty="0"/>
                <a:t>1TB </a:t>
              </a:r>
              <a:endParaRPr lang="en-US" sz="1000" dirty="0"/>
            </a:p>
          </p:txBody>
        </p:sp>
      </p:grpSp>
      <p:grpSp>
        <p:nvGrpSpPr>
          <p:cNvPr id="52" name="Grupo 51"/>
          <p:cNvGrpSpPr/>
          <p:nvPr/>
        </p:nvGrpSpPr>
        <p:grpSpPr>
          <a:xfrm>
            <a:off x="4794651" y="5237486"/>
            <a:ext cx="1374094" cy="786556"/>
            <a:chOff x="6767682" y="3603200"/>
            <a:chExt cx="1917219" cy="1792731"/>
          </a:xfrm>
        </p:grpSpPr>
        <p:pic>
          <p:nvPicPr>
            <p:cNvPr id="53" name="Imagem 52"/>
            <p:cNvPicPr>
              <a:picLocks noChangeAspect="1"/>
            </p:cNvPicPr>
            <p:nvPr/>
          </p:nvPicPr>
          <p:blipFill>
            <a:blip r:embed="rId15"/>
            <a:stretch>
              <a:fillRect/>
            </a:stretch>
          </p:blipFill>
          <p:spPr>
            <a:xfrm>
              <a:off x="7205797" y="3603200"/>
              <a:ext cx="1000125" cy="733425"/>
            </a:xfrm>
            <a:prstGeom prst="rect">
              <a:avLst/>
            </a:prstGeom>
          </p:spPr>
        </p:pic>
        <p:sp>
          <p:nvSpPr>
            <p:cNvPr id="54" name="CaixaDeTexto 53"/>
            <p:cNvSpPr txBox="1"/>
            <p:nvPr/>
          </p:nvSpPr>
          <p:spPr>
            <a:xfrm>
              <a:off x="6767682" y="4483994"/>
              <a:ext cx="1917219" cy="911937"/>
            </a:xfrm>
            <a:prstGeom prst="rect">
              <a:avLst/>
            </a:prstGeom>
            <a:noFill/>
          </p:spPr>
          <p:txBody>
            <a:bodyPr wrap="none" rtlCol="0">
              <a:spAutoFit/>
            </a:bodyPr>
            <a:lstStyle/>
            <a:p>
              <a:pPr algn="ctr"/>
              <a:r>
                <a:rPr lang="pt-BR" sz="1000" dirty="0"/>
                <a:t>Pode facilmente</a:t>
              </a:r>
            </a:p>
            <a:p>
              <a:pPr algn="ctr"/>
              <a:r>
                <a:rPr lang="pt-BR" sz="1000" dirty="0"/>
                <a:t>Compartilhar arquivos</a:t>
              </a:r>
              <a:endParaRPr lang="en-US" sz="1000" dirty="0"/>
            </a:p>
          </p:txBody>
        </p:sp>
      </p:grpSp>
      <p:grpSp>
        <p:nvGrpSpPr>
          <p:cNvPr id="55" name="Grupo 54"/>
          <p:cNvGrpSpPr/>
          <p:nvPr/>
        </p:nvGrpSpPr>
        <p:grpSpPr>
          <a:xfrm>
            <a:off x="6637884" y="5176105"/>
            <a:ext cx="1713932" cy="1051808"/>
            <a:chOff x="8486045" y="3295717"/>
            <a:chExt cx="2391382" cy="2397297"/>
          </a:xfrm>
        </p:grpSpPr>
        <p:pic>
          <p:nvPicPr>
            <p:cNvPr id="56" name="Imagem 55"/>
            <p:cNvPicPr>
              <a:picLocks noChangeAspect="1"/>
            </p:cNvPicPr>
            <p:nvPr/>
          </p:nvPicPr>
          <p:blipFill>
            <a:blip r:embed="rId16"/>
            <a:stretch>
              <a:fillRect/>
            </a:stretch>
          </p:blipFill>
          <p:spPr>
            <a:xfrm>
              <a:off x="9153323" y="3295717"/>
              <a:ext cx="942975" cy="962025"/>
            </a:xfrm>
            <a:prstGeom prst="rect">
              <a:avLst/>
            </a:prstGeom>
          </p:spPr>
        </p:pic>
        <p:sp>
          <p:nvSpPr>
            <p:cNvPr id="57" name="CaixaDeTexto 56"/>
            <p:cNvSpPr txBox="1"/>
            <p:nvPr/>
          </p:nvSpPr>
          <p:spPr>
            <a:xfrm>
              <a:off x="8486045" y="4430333"/>
              <a:ext cx="2391382" cy="1262681"/>
            </a:xfrm>
            <a:prstGeom prst="rect">
              <a:avLst/>
            </a:prstGeom>
            <a:noFill/>
          </p:spPr>
          <p:txBody>
            <a:bodyPr wrap="none" rtlCol="0">
              <a:spAutoFit/>
            </a:bodyPr>
            <a:lstStyle/>
            <a:p>
              <a:pPr algn="ctr"/>
              <a:r>
                <a:rPr lang="pt-BR" sz="1000" dirty="0"/>
                <a:t>Pode utilizar o ONEDRIVE</a:t>
              </a:r>
            </a:p>
            <a:p>
              <a:pPr algn="ctr"/>
              <a:r>
                <a:rPr lang="pt-BR" sz="1000" dirty="0"/>
                <a:t>APP em qualquer dispositivo</a:t>
              </a:r>
              <a:br>
                <a:rPr lang="pt-BR" sz="1000" dirty="0"/>
              </a:br>
              <a:r>
                <a:rPr lang="pt-BR" sz="1000" dirty="0"/>
                <a:t>móvel</a:t>
              </a:r>
              <a:endParaRPr lang="en-US" sz="1000" dirty="0"/>
            </a:p>
          </p:txBody>
        </p:sp>
      </p:grpSp>
      <p:grpSp>
        <p:nvGrpSpPr>
          <p:cNvPr id="58" name="Grupo 57"/>
          <p:cNvGrpSpPr/>
          <p:nvPr/>
        </p:nvGrpSpPr>
        <p:grpSpPr>
          <a:xfrm>
            <a:off x="8709914" y="5362767"/>
            <a:ext cx="1058303" cy="1094774"/>
            <a:chOff x="10784440" y="3520628"/>
            <a:chExt cx="1476607" cy="2495225"/>
          </a:xfrm>
        </p:grpSpPr>
        <p:pic>
          <p:nvPicPr>
            <p:cNvPr id="59" name="Imagem 58"/>
            <p:cNvPicPr>
              <a:picLocks noChangeAspect="1"/>
            </p:cNvPicPr>
            <p:nvPr/>
          </p:nvPicPr>
          <p:blipFill>
            <a:blip r:embed="rId17"/>
            <a:stretch>
              <a:fillRect/>
            </a:stretch>
          </p:blipFill>
          <p:spPr>
            <a:xfrm>
              <a:off x="11030286" y="3520628"/>
              <a:ext cx="923925" cy="666750"/>
            </a:xfrm>
            <a:prstGeom prst="rect">
              <a:avLst/>
            </a:prstGeom>
          </p:spPr>
        </p:pic>
        <p:sp>
          <p:nvSpPr>
            <p:cNvPr id="60" name="CaixaDeTexto 59"/>
            <p:cNvSpPr txBox="1"/>
            <p:nvPr/>
          </p:nvSpPr>
          <p:spPr>
            <a:xfrm>
              <a:off x="10784440" y="4402429"/>
              <a:ext cx="1476607" cy="1613424"/>
            </a:xfrm>
            <a:prstGeom prst="rect">
              <a:avLst/>
            </a:prstGeom>
            <a:noFill/>
          </p:spPr>
          <p:txBody>
            <a:bodyPr wrap="none" rtlCol="0">
              <a:spAutoFit/>
            </a:bodyPr>
            <a:lstStyle/>
            <a:p>
              <a:pPr algn="ctr"/>
              <a:r>
                <a:rPr lang="pt-BR" sz="1000" dirty="0"/>
                <a:t>Pode escolher as</a:t>
              </a:r>
            </a:p>
            <a:p>
              <a:pPr algn="ctr"/>
              <a:r>
                <a:rPr lang="pt-BR" sz="1000" dirty="0"/>
                <a:t>pastas à serem</a:t>
              </a:r>
            </a:p>
            <a:p>
              <a:pPr algn="ctr"/>
              <a:r>
                <a:rPr lang="pt-BR" sz="1000" dirty="0"/>
                <a:t>sincronizadas</a:t>
              </a:r>
            </a:p>
            <a:p>
              <a:pPr algn="ctr"/>
              <a:r>
                <a:rPr lang="pt-BR" sz="1000" dirty="0"/>
                <a:t>localmente</a:t>
              </a:r>
              <a:endParaRPr lang="en-US" sz="1000" dirty="0"/>
            </a:p>
          </p:txBody>
        </p:sp>
      </p:grpSp>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18"/>
          <a:stretch>
            <a:fillRect/>
          </a:stretch>
        </p:blipFill>
        <p:spPr>
          <a:xfrm>
            <a:off x="9092707" y="129598"/>
            <a:ext cx="933147" cy="334448"/>
          </a:xfrm>
          <a:prstGeom prst="rect">
            <a:avLst/>
          </a:prstGeom>
        </p:spPr>
      </p:pic>
      <p:sp>
        <p:nvSpPr>
          <p:cNvPr id="64"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 que é OneDrive?</a:t>
            </a:r>
            <a:endParaRPr lang="en-US" sz="2800" dirty="0">
              <a:solidFill>
                <a:schemeClr val="accent6"/>
              </a:solidFill>
            </a:endParaRPr>
          </a:p>
        </p:txBody>
      </p:sp>
      <p:sp>
        <p:nvSpPr>
          <p:cNvPr id="5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17813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childTnLst>
                                </p:cTn>
                              </p:par>
                            </p:childTnLst>
                          </p:cTn>
                        </p:par>
                        <p:par>
                          <p:cTn id="64" fill="hold">
                            <p:stCondLst>
                              <p:cond delay="0"/>
                            </p:stCondLst>
                            <p:childTnLst>
                              <p:par>
                                <p:cTn id="65" presetID="53" presetClass="entr" presetSubtype="16" fill="hold" nodeType="after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p:cTn id="67" dur="250" fill="hold"/>
                                        <p:tgtEl>
                                          <p:spTgt spid="40"/>
                                        </p:tgtEl>
                                        <p:attrNameLst>
                                          <p:attrName>ppt_w</p:attrName>
                                        </p:attrNameLst>
                                      </p:cBhvr>
                                      <p:tavLst>
                                        <p:tav tm="0">
                                          <p:val>
                                            <p:fltVal val="0"/>
                                          </p:val>
                                        </p:tav>
                                        <p:tav tm="100000">
                                          <p:val>
                                            <p:strVal val="#ppt_w"/>
                                          </p:val>
                                        </p:tav>
                                      </p:tavLst>
                                    </p:anim>
                                    <p:anim calcmode="lin" valueType="num">
                                      <p:cBhvr>
                                        <p:cTn id="68" dur="250" fill="hold"/>
                                        <p:tgtEl>
                                          <p:spTgt spid="40"/>
                                        </p:tgtEl>
                                        <p:attrNameLst>
                                          <p:attrName>ppt_h</p:attrName>
                                        </p:attrNameLst>
                                      </p:cBhvr>
                                      <p:tavLst>
                                        <p:tav tm="0">
                                          <p:val>
                                            <p:fltVal val="0"/>
                                          </p:val>
                                        </p:tav>
                                        <p:tav tm="100000">
                                          <p:val>
                                            <p:strVal val="#ppt_h"/>
                                          </p:val>
                                        </p:tav>
                                      </p:tavLst>
                                    </p:anim>
                                    <p:animEffect transition="in" filter="fade">
                                      <p:cBhvr>
                                        <p:cTn id="69" dur="250"/>
                                        <p:tgtEl>
                                          <p:spTgt spid="40"/>
                                        </p:tgtEl>
                                      </p:cBhvr>
                                    </p:animEffect>
                                  </p:childTnLst>
                                </p:cTn>
                              </p:par>
                            </p:childTnLst>
                          </p:cTn>
                        </p:par>
                        <p:par>
                          <p:cTn id="70" fill="hold">
                            <p:stCondLst>
                              <p:cond delay="250"/>
                            </p:stCondLst>
                            <p:childTnLst>
                              <p:par>
                                <p:cTn id="71" presetID="53" presetClass="entr" presetSubtype="16" fill="hold" grpId="0" nodeType="after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p:cTn id="73" dur="250" fill="hold"/>
                                        <p:tgtEl>
                                          <p:spTgt spid="41"/>
                                        </p:tgtEl>
                                        <p:attrNameLst>
                                          <p:attrName>ppt_w</p:attrName>
                                        </p:attrNameLst>
                                      </p:cBhvr>
                                      <p:tavLst>
                                        <p:tav tm="0">
                                          <p:val>
                                            <p:fltVal val="0"/>
                                          </p:val>
                                        </p:tav>
                                        <p:tav tm="100000">
                                          <p:val>
                                            <p:strVal val="#ppt_w"/>
                                          </p:val>
                                        </p:tav>
                                      </p:tavLst>
                                    </p:anim>
                                    <p:anim calcmode="lin" valueType="num">
                                      <p:cBhvr>
                                        <p:cTn id="74" dur="250" fill="hold"/>
                                        <p:tgtEl>
                                          <p:spTgt spid="41"/>
                                        </p:tgtEl>
                                        <p:attrNameLst>
                                          <p:attrName>ppt_h</p:attrName>
                                        </p:attrNameLst>
                                      </p:cBhvr>
                                      <p:tavLst>
                                        <p:tav tm="0">
                                          <p:val>
                                            <p:fltVal val="0"/>
                                          </p:val>
                                        </p:tav>
                                        <p:tav tm="100000">
                                          <p:val>
                                            <p:strVal val="#ppt_h"/>
                                          </p:val>
                                        </p:tav>
                                      </p:tavLst>
                                    </p:anim>
                                    <p:animEffect transition="in" filter="fade">
                                      <p:cBhvr>
                                        <p:cTn id="75" dur="250"/>
                                        <p:tgtEl>
                                          <p:spTgt spid="41"/>
                                        </p:tgtEl>
                                      </p:cBhvr>
                                    </p:animEffect>
                                  </p:childTnLst>
                                </p:cTn>
                              </p:par>
                            </p:childTnLst>
                          </p:cTn>
                        </p:par>
                        <p:par>
                          <p:cTn id="76" fill="hold">
                            <p:stCondLst>
                              <p:cond delay="500"/>
                            </p:stCondLst>
                            <p:childTnLst>
                              <p:par>
                                <p:cTn id="77" presetID="53" presetClass="entr" presetSubtype="16" fill="hold" nodeType="after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p:cTn id="79" dur="500" fill="hold"/>
                                        <p:tgtEl>
                                          <p:spTgt spid="42"/>
                                        </p:tgtEl>
                                        <p:attrNameLst>
                                          <p:attrName>ppt_w</p:attrName>
                                        </p:attrNameLst>
                                      </p:cBhvr>
                                      <p:tavLst>
                                        <p:tav tm="0">
                                          <p:val>
                                            <p:fltVal val="0"/>
                                          </p:val>
                                        </p:tav>
                                        <p:tav tm="100000">
                                          <p:val>
                                            <p:strVal val="#ppt_w"/>
                                          </p:val>
                                        </p:tav>
                                      </p:tavLst>
                                    </p:anim>
                                    <p:anim calcmode="lin" valueType="num">
                                      <p:cBhvr>
                                        <p:cTn id="80" dur="500" fill="hold"/>
                                        <p:tgtEl>
                                          <p:spTgt spid="42"/>
                                        </p:tgtEl>
                                        <p:attrNameLst>
                                          <p:attrName>ppt_h</p:attrName>
                                        </p:attrNameLst>
                                      </p:cBhvr>
                                      <p:tavLst>
                                        <p:tav tm="0">
                                          <p:val>
                                            <p:fltVal val="0"/>
                                          </p:val>
                                        </p:tav>
                                        <p:tav tm="100000">
                                          <p:val>
                                            <p:strVal val="#ppt_h"/>
                                          </p:val>
                                        </p:tav>
                                      </p:tavLst>
                                    </p:anim>
                                    <p:animEffect transition="in" filter="fade">
                                      <p:cBhvr>
                                        <p:cTn id="81" dur="500"/>
                                        <p:tgtEl>
                                          <p:spTgt spid="42"/>
                                        </p:tgtEl>
                                      </p:cBhvr>
                                    </p:animEffect>
                                  </p:childTnLst>
                                </p:cTn>
                              </p:par>
                            </p:childTnLst>
                          </p:cTn>
                        </p:par>
                        <p:par>
                          <p:cTn id="82" fill="hold">
                            <p:stCondLst>
                              <p:cond delay="1000"/>
                            </p:stCondLst>
                            <p:childTnLst>
                              <p:par>
                                <p:cTn id="83" presetID="53" presetClass="entr" presetSubtype="16" fill="hold" nodeType="afterEffect">
                                  <p:stCondLst>
                                    <p:cond delay="0"/>
                                  </p:stCondLst>
                                  <p:childTnLst>
                                    <p:set>
                                      <p:cBhvr>
                                        <p:cTn id="84" dur="1" fill="hold">
                                          <p:stCondLst>
                                            <p:cond delay="0"/>
                                          </p:stCondLst>
                                        </p:cTn>
                                        <p:tgtEl>
                                          <p:spTgt spid="46"/>
                                        </p:tgtEl>
                                        <p:attrNameLst>
                                          <p:attrName>style.visibility</p:attrName>
                                        </p:attrNameLst>
                                      </p:cBhvr>
                                      <p:to>
                                        <p:strVal val="visible"/>
                                      </p:to>
                                    </p:set>
                                    <p:anim calcmode="lin" valueType="num">
                                      <p:cBhvr>
                                        <p:cTn id="85" dur="500" fill="hold"/>
                                        <p:tgtEl>
                                          <p:spTgt spid="46"/>
                                        </p:tgtEl>
                                        <p:attrNameLst>
                                          <p:attrName>ppt_w</p:attrName>
                                        </p:attrNameLst>
                                      </p:cBhvr>
                                      <p:tavLst>
                                        <p:tav tm="0">
                                          <p:val>
                                            <p:fltVal val="0"/>
                                          </p:val>
                                        </p:tav>
                                        <p:tav tm="100000">
                                          <p:val>
                                            <p:strVal val="#ppt_w"/>
                                          </p:val>
                                        </p:tav>
                                      </p:tavLst>
                                    </p:anim>
                                    <p:anim calcmode="lin" valueType="num">
                                      <p:cBhvr>
                                        <p:cTn id="86" dur="500" fill="hold"/>
                                        <p:tgtEl>
                                          <p:spTgt spid="46"/>
                                        </p:tgtEl>
                                        <p:attrNameLst>
                                          <p:attrName>ppt_h</p:attrName>
                                        </p:attrNameLst>
                                      </p:cBhvr>
                                      <p:tavLst>
                                        <p:tav tm="0">
                                          <p:val>
                                            <p:fltVal val="0"/>
                                          </p:val>
                                        </p:tav>
                                        <p:tav tm="100000">
                                          <p:val>
                                            <p:strVal val="#ppt_h"/>
                                          </p:val>
                                        </p:tav>
                                      </p:tavLst>
                                    </p:anim>
                                    <p:animEffect transition="in" filter="fade">
                                      <p:cBhvr>
                                        <p:cTn id="87" dur="500"/>
                                        <p:tgtEl>
                                          <p:spTgt spid="46"/>
                                        </p:tgtEl>
                                      </p:cBhvr>
                                    </p:animEffect>
                                  </p:childTnLst>
                                </p:cTn>
                              </p:par>
                            </p:childTnLst>
                          </p:cTn>
                        </p:par>
                        <p:par>
                          <p:cTn id="88" fill="hold">
                            <p:stCondLst>
                              <p:cond delay="1500"/>
                            </p:stCondLst>
                            <p:childTnLst>
                              <p:par>
                                <p:cTn id="89" presetID="53" presetClass="entr" presetSubtype="16"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 calcmode="lin" valueType="num">
                                      <p:cBhvr>
                                        <p:cTn id="91" dur="500" fill="hold"/>
                                        <p:tgtEl>
                                          <p:spTgt spid="58"/>
                                        </p:tgtEl>
                                        <p:attrNameLst>
                                          <p:attrName>ppt_w</p:attrName>
                                        </p:attrNameLst>
                                      </p:cBhvr>
                                      <p:tavLst>
                                        <p:tav tm="0">
                                          <p:val>
                                            <p:fltVal val="0"/>
                                          </p:val>
                                        </p:tav>
                                        <p:tav tm="100000">
                                          <p:val>
                                            <p:strVal val="#ppt_w"/>
                                          </p:val>
                                        </p:tav>
                                      </p:tavLst>
                                    </p:anim>
                                    <p:anim calcmode="lin" valueType="num">
                                      <p:cBhvr>
                                        <p:cTn id="92" dur="500" fill="hold"/>
                                        <p:tgtEl>
                                          <p:spTgt spid="58"/>
                                        </p:tgtEl>
                                        <p:attrNameLst>
                                          <p:attrName>ppt_h</p:attrName>
                                        </p:attrNameLst>
                                      </p:cBhvr>
                                      <p:tavLst>
                                        <p:tav tm="0">
                                          <p:val>
                                            <p:fltVal val="0"/>
                                          </p:val>
                                        </p:tav>
                                        <p:tav tm="100000">
                                          <p:val>
                                            <p:strVal val="#ppt_h"/>
                                          </p:val>
                                        </p:tav>
                                      </p:tavLst>
                                    </p:anim>
                                    <p:animEffect transition="in" filter="fade">
                                      <p:cBhvr>
                                        <p:cTn id="93" dur="500"/>
                                        <p:tgtEl>
                                          <p:spTgt spid="58"/>
                                        </p:tgtEl>
                                      </p:cBhvr>
                                    </p:animEffect>
                                  </p:childTnLst>
                                </p:cTn>
                              </p:par>
                            </p:childTnLst>
                          </p:cTn>
                        </p:par>
                        <p:par>
                          <p:cTn id="94" fill="hold">
                            <p:stCondLst>
                              <p:cond delay="2000"/>
                            </p:stCondLst>
                            <p:childTnLst>
                              <p:par>
                                <p:cTn id="95" presetID="53" presetClass="entr" presetSubtype="16" fill="hold" nodeType="afterEffect">
                                  <p:stCondLst>
                                    <p:cond delay="0"/>
                                  </p:stCondLst>
                                  <p:childTnLst>
                                    <p:set>
                                      <p:cBhvr>
                                        <p:cTn id="96" dur="1" fill="hold">
                                          <p:stCondLst>
                                            <p:cond delay="0"/>
                                          </p:stCondLst>
                                        </p:cTn>
                                        <p:tgtEl>
                                          <p:spTgt spid="55"/>
                                        </p:tgtEl>
                                        <p:attrNameLst>
                                          <p:attrName>style.visibility</p:attrName>
                                        </p:attrNameLst>
                                      </p:cBhvr>
                                      <p:to>
                                        <p:strVal val="visible"/>
                                      </p:to>
                                    </p:set>
                                    <p:anim calcmode="lin" valueType="num">
                                      <p:cBhvr>
                                        <p:cTn id="97" dur="500" fill="hold"/>
                                        <p:tgtEl>
                                          <p:spTgt spid="55"/>
                                        </p:tgtEl>
                                        <p:attrNameLst>
                                          <p:attrName>ppt_w</p:attrName>
                                        </p:attrNameLst>
                                      </p:cBhvr>
                                      <p:tavLst>
                                        <p:tav tm="0">
                                          <p:val>
                                            <p:fltVal val="0"/>
                                          </p:val>
                                        </p:tav>
                                        <p:tav tm="100000">
                                          <p:val>
                                            <p:strVal val="#ppt_w"/>
                                          </p:val>
                                        </p:tav>
                                      </p:tavLst>
                                    </p:anim>
                                    <p:anim calcmode="lin" valueType="num">
                                      <p:cBhvr>
                                        <p:cTn id="98" dur="500" fill="hold"/>
                                        <p:tgtEl>
                                          <p:spTgt spid="55"/>
                                        </p:tgtEl>
                                        <p:attrNameLst>
                                          <p:attrName>ppt_h</p:attrName>
                                        </p:attrNameLst>
                                      </p:cBhvr>
                                      <p:tavLst>
                                        <p:tav tm="0">
                                          <p:val>
                                            <p:fltVal val="0"/>
                                          </p:val>
                                        </p:tav>
                                        <p:tav tm="100000">
                                          <p:val>
                                            <p:strVal val="#ppt_h"/>
                                          </p:val>
                                        </p:tav>
                                      </p:tavLst>
                                    </p:anim>
                                    <p:animEffect transition="in" filter="fade">
                                      <p:cBhvr>
                                        <p:cTn id="99" dur="500"/>
                                        <p:tgtEl>
                                          <p:spTgt spid="55"/>
                                        </p:tgtEl>
                                      </p:cBhvr>
                                    </p:animEffect>
                                  </p:childTnLst>
                                </p:cTn>
                              </p:par>
                            </p:childTnLst>
                          </p:cTn>
                        </p:par>
                        <p:par>
                          <p:cTn id="100" fill="hold">
                            <p:stCondLst>
                              <p:cond delay="2500"/>
                            </p:stCondLst>
                            <p:childTnLst>
                              <p:par>
                                <p:cTn id="101" presetID="53" presetClass="entr" presetSubtype="16" fill="hold" nodeType="after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p:cTn id="103" dur="500" fill="hold"/>
                                        <p:tgtEl>
                                          <p:spTgt spid="52"/>
                                        </p:tgtEl>
                                        <p:attrNameLst>
                                          <p:attrName>ppt_w</p:attrName>
                                        </p:attrNameLst>
                                      </p:cBhvr>
                                      <p:tavLst>
                                        <p:tav tm="0">
                                          <p:val>
                                            <p:fltVal val="0"/>
                                          </p:val>
                                        </p:tav>
                                        <p:tav tm="100000">
                                          <p:val>
                                            <p:strVal val="#ppt_w"/>
                                          </p:val>
                                        </p:tav>
                                      </p:tavLst>
                                    </p:anim>
                                    <p:anim calcmode="lin" valueType="num">
                                      <p:cBhvr>
                                        <p:cTn id="104" dur="500" fill="hold"/>
                                        <p:tgtEl>
                                          <p:spTgt spid="52"/>
                                        </p:tgtEl>
                                        <p:attrNameLst>
                                          <p:attrName>ppt_h</p:attrName>
                                        </p:attrNameLst>
                                      </p:cBhvr>
                                      <p:tavLst>
                                        <p:tav tm="0">
                                          <p:val>
                                            <p:fltVal val="0"/>
                                          </p:val>
                                        </p:tav>
                                        <p:tav tm="100000">
                                          <p:val>
                                            <p:strVal val="#ppt_h"/>
                                          </p:val>
                                        </p:tav>
                                      </p:tavLst>
                                    </p:anim>
                                    <p:animEffect transition="in" filter="fade">
                                      <p:cBhvr>
                                        <p:cTn id="10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0" grpId="0"/>
      <p:bldP spid="31" grpId="0"/>
      <p:bldP spid="32" grpId="0"/>
      <p:bldP spid="33" grpId="0"/>
      <p:bldP spid="35" grpId="0"/>
      <p:bldP spid="37" grpId="0"/>
      <p:bldP spid="39"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ixaDeTexto 12"/>
          <p:cNvSpPr txBox="1"/>
          <p:nvPr/>
        </p:nvSpPr>
        <p:spPr>
          <a:xfrm>
            <a:off x="154745" y="1583827"/>
            <a:ext cx="4855945" cy="1200329"/>
          </a:xfrm>
          <a:prstGeom prst="rect">
            <a:avLst/>
          </a:prstGeom>
          <a:noFill/>
        </p:spPr>
        <p:txBody>
          <a:bodyPr wrap="none" rtlCol="0">
            <a:spAutoFit/>
          </a:bodyPr>
          <a:lstStyle/>
          <a:p>
            <a:r>
              <a:rPr lang="pt-BR" dirty="0"/>
              <a:t>Há duas formas de encontrar e iniciar o OneDrive</a:t>
            </a:r>
          </a:p>
          <a:p>
            <a:r>
              <a:rPr lang="pt-BR" dirty="0"/>
              <a:t>	1 – Menu Iniciar &gt; Programas &gt; OneDrive</a:t>
            </a:r>
          </a:p>
          <a:p>
            <a:r>
              <a:rPr lang="pt-BR" dirty="0"/>
              <a:t>	2 – No menu Executar, digitar OneDrive</a:t>
            </a:r>
          </a:p>
          <a:p>
            <a:r>
              <a:rPr lang="pt-BR" dirty="0"/>
              <a:t> </a:t>
            </a:r>
          </a:p>
        </p:txBody>
      </p:sp>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32350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7" name="Imagem 6"/>
          <p:cNvPicPr>
            <a:picLocks noChangeAspect="1"/>
          </p:cNvPicPr>
          <p:nvPr/>
        </p:nvPicPr>
        <p:blipFill rotWithShape="1">
          <a:blip r:embed="rId3"/>
          <a:srcRect l="2168" t="8577" r="6652" b="3687"/>
          <a:stretch/>
        </p:blipFill>
        <p:spPr>
          <a:xfrm>
            <a:off x="2358569" y="1790414"/>
            <a:ext cx="5400000" cy="4458855"/>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456457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9" name="Imagem 8"/>
          <p:cNvPicPr>
            <a:picLocks noChangeAspect="1"/>
          </p:cNvPicPr>
          <p:nvPr/>
        </p:nvPicPr>
        <p:blipFill>
          <a:blip r:embed="rId3"/>
          <a:stretch>
            <a:fillRect/>
          </a:stretch>
        </p:blipFill>
        <p:spPr>
          <a:xfrm>
            <a:off x="2234407" y="1671570"/>
            <a:ext cx="5400000" cy="4580438"/>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24703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7" name="Imagem 6"/>
          <p:cNvPicPr>
            <a:picLocks noChangeAspect="1"/>
          </p:cNvPicPr>
          <p:nvPr/>
        </p:nvPicPr>
        <p:blipFill>
          <a:blip r:embed="rId3"/>
          <a:stretch>
            <a:fillRect/>
          </a:stretch>
        </p:blipFill>
        <p:spPr>
          <a:xfrm>
            <a:off x="2234407" y="1629370"/>
            <a:ext cx="5400000" cy="4580438"/>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756494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Tela</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inicial</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dentro</a:t>
            </a:r>
            <a:r>
              <a:rPr lang="en-US" sz="2800" b="1" spc="-83" dirty="0">
                <a:ln w="3175">
                  <a:noFill/>
                </a:ln>
                <a:solidFill>
                  <a:schemeClr val="accent6"/>
                </a:solidFill>
                <a:cs typeface="Arial" charset="0"/>
              </a:rPr>
              <a:t> do Windows Explorer</a:t>
            </a:r>
            <a:endParaRPr lang="en-US" sz="2800" dirty="0">
              <a:solidFill>
                <a:schemeClr val="accent6"/>
              </a:solidFill>
            </a:endParaRPr>
          </a:p>
        </p:txBody>
      </p:sp>
      <p:pic>
        <p:nvPicPr>
          <p:cNvPr id="7" name="Imagem 6"/>
          <p:cNvPicPr>
            <a:picLocks noChangeAspect="1"/>
          </p:cNvPicPr>
          <p:nvPr/>
        </p:nvPicPr>
        <p:blipFill>
          <a:blip r:embed="rId3"/>
          <a:stretch>
            <a:fillRect/>
          </a:stretch>
        </p:blipFill>
        <p:spPr>
          <a:xfrm>
            <a:off x="451400" y="1663561"/>
            <a:ext cx="9214338" cy="4856980"/>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2" name="CaixaDeTexto 1"/>
          <p:cNvSpPr txBox="1"/>
          <p:nvPr/>
        </p:nvSpPr>
        <p:spPr>
          <a:xfrm>
            <a:off x="483484" y="2775284"/>
            <a:ext cx="1682200" cy="641685"/>
          </a:xfrm>
          <a:prstGeom prst="rect">
            <a:avLst/>
          </a:prstGeom>
          <a:noFill/>
          <a:ln w="19050">
            <a:solidFill>
              <a:srgbClr val="FF0000"/>
            </a:solidFill>
          </a:ln>
        </p:spPr>
        <p:txBody>
          <a:bodyPr wrap="square" rtlCol="0">
            <a:spAutoFit/>
          </a:bodyPr>
          <a:lstStyle/>
          <a:p>
            <a:endParaRPr lang="pt-BR" dirty="0"/>
          </a:p>
        </p:txBody>
      </p:sp>
    </p:spTree>
    <p:extLst>
      <p:ext uri="{BB962C8B-B14F-4D97-AF65-F5344CB8AC3E}">
        <p14:creationId xmlns:p14="http://schemas.microsoft.com/office/powerpoint/2010/main" val="2612038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endParaRPr lang="en-US" sz="2000" dirty="0">
              <a:latin typeface="+mj-lt"/>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r="2210" b="74179"/>
          <a:stretch/>
        </p:blipFill>
        <p:spPr>
          <a:xfrm>
            <a:off x="192032" y="2802014"/>
            <a:ext cx="9701476" cy="1440202"/>
          </a:xfrm>
          <a:prstGeom prst="rect">
            <a:avLst/>
          </a:prstGeom>
        </p:spPr>
      </p:pic>
    </p:spTree>
    <p:extLst>
      <p:ext uri="{BB962C8B-B14F-4D97-AF65-F5344CB8AC3E}">
        <p14:creationId xmlns:p14="http://schemas.microsoft.com/office/powerpoint/2010/main" val="3182819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endParaRPr lang="en-US" sz="2000" dirty="0">
              <a:latin typeface="+mj-lt"/>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3" name="Imagem 2"/>
          <p:cNvPicPr>
            <a:picLocks noChangeAspect="1"/>
          </p:cNvPicPr>
          <p:nvPr/>
        </p:nvPicPr>
        <p:blipFill rotWithShape="1">
          <a:blip r:embed="rId3"/>
          <a:srcRect t="15024" r="2507" b="5916"/>
          <a:stretch/>
        </p:blipFill>
        <p:spPr>
          <a:xfrm>
            <a:off x="126805" y="2077825"/>
            <a:ext cx="9863527" cy="4497050"/>
          </a:xfrm>
          <a:prstGeom prst="rect">
            <a:avLst/>
          </a:prstGeom>
        </p:spPr>
      </p:pic>
    </p:spTree>
    <p:extLst>
      <p:ext uri="{BB962C8B-B14F-4D97-AF65-F5344CB8AC3E}">
        <p14:creationId xmlns:p14="http://schemas.microsoft.com/office/powerpoint/2010/main" val="1333947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endParaRPr lang="en-US" sz="2000" dirty="0">
              <a:latin typeface="+mj-lt"/>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l="4728" t="18900" r="1971" b="21002"/>
          <a:stretch/>
        </p:blipFill>
        <p:spPr>
          <a:xfrm>
            <a:off x="192032" y="2996419"/>
            <a:ext cx="9439421" cy="3418450"/>
          </a:xfrm>
          <a:prstGeom prst="rect">
            <a:avLst/>
          </a:prstGeom>
        </p:spPr>
      </p:pic>
      <p:cxnSp>
        <p:nvCxnSpPr>
          <p:cNvPr id="5" name="Conector de Seta Reta 4"/>
          <p:cNvCxnSpPr>
            <a:cxnSpLocks/>
          </p:cNvCxnSpPr>
          <p:nvPr/>
        </p:nvCxnSpPr>
        <p:spPr>
          <a:xfrm>
            <a:off x="4459458" y="3193366"/>
            <a:ext cx="492370" cy="773723"/>
          </a:xfrm>
          <a:prstGeom prst="straightConnector1">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114781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endParaRPr lang="en-US" sz="2000" dirty="0">
              <a:latin typeface="+mj-lt"/>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t="12117" b="6715"/>
          <a:stretch/>
        </p:blipFill>
        <p:spPr>
          <a:xfrm>
            <a:off x="1046369" y="2294016"/>
            <a:ext cx="8024400" cy="3661946"/>
          </a:xfrm>
          <a:prstGeom prst="rect">
            <a:avLst/>
          </a:prstGeom>
        </p:spPr>
      </p:pic>
    </p:spTree>
    <p:extLst>
      <p:ext uri="{BB962C8B-B14F-4D97-AF65-F5344CB8AC3E}">
        <p14:creationId xmlns:p14="http://schemas.microsoft.com/office/powerpoint/2010/main" val="175301635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OneDrive - </a:t>
            </a:r>
            <a:r>
              <a:rPr lang="en-US" sz="2800" b="1" spc="-83" dirty="0" err="1">
                <a:ln w="3175">
                  <a:noFill/>
                </a:ln>
                <a:solidFill>
                  <a:schemeClr val="accent6"/>
                </a:solidFill>
                <a:cs typeface="Arial" charset="0"/>
              </a:rPr>
              <a:t>Política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Uso</a:t>
            </a:r>
            <a:endParaRPr lang="en-US" sz="2800" dirty="0">
              <a:solidFill>
                <a:schemeClr val="accent6"/>
              </a:solidFill>
            </a:endParaRPr>
          </a:p>
        </p:txBody>
      </p:sp>
      <p:sp>
        <p:nvSpPr>
          <p:cNvPr id="7" name="CaixaDeTexto 6"/>
          <p:cNvSpPr txBox="1"/>
          <p:nvPr/>
        </p:nvSpPr>
        <p:spPr>
          <a:xfrm>
            <a:off x="3001387" y="2048752"/>
            <a:ext cx="6679650" cy="2862322"/>
          </a:xfrm>
          <a:prstGeom prst="rect">
            <a:avLst/>
          </a:prstGeom>
          <a:noFill/>
        </p:spPr>
        <p:txBody>
          <a:bodyPr wrap="square" rtlCol="0">
            <a:spAutoFit/>
          </a:bodyPr>
          <a:lstStyle/>
          <a:p>
            <a:pPr marL="285750" indent="-285750" algn="just">
              <a:buFont typeface="Arial" panose="020B0604020202020204" pitchFamily="34" charset="0"/>
              <a:buChar char="•"/>
            </a:pPr>
            <a:r>
              <a:rPr lang="pt-BR" b="1" dirty="0"/>
              <a:t>Toda a informação pertinente a SMILES deve ser salva dentro do OneDrive</a:t>
            </a:r>
            <a:r>
              <a:rPr lang="pt-BR" dirty="0"/>
              <a:t>. Neste local é </a:t>
            </a:r>
            <a:r>
              <a:rPr lang="pt-BR" b="1" dirty="0"/>
              <a:t>garantido o </a:t>
            </a:r>
            <a:r>
              <a:rPr lang="pt-BR" b="1" i="1" dirty="0"/>
              <a:t>backup</a:t>
            </a:r>
            <a:r>
              <a:rPr lang="pt-BR" b="1" dirty="0"/>
              <a:t> </a:t>
            </a:r>
            <a:r>
              <a:rPr lang="pt-BR" dirty="0"/>
              <a:t>das informações, mesmo em caso de perda, extravio ou falha do equipamento.</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Toda a informação ou arquivo do OneDrive poderá ser deletada, porém ao realizar essa ação ela irá para a lixeira do Windows. </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Mesmo excluindo o arquivo da Lixeira do computador, o mesmo ainda estará disponível na lixeira “via web” pelo período de até 30 dias. Após esse período </a:t>
            </a:r>
            <a:r>
              <a:rPr lang="pt-BR" b="1" dirty="0"/>
              <a:t>não é possível </a:t>
            </a:r>
            <a:r>
              <a:rPr lang="pt-BR" dirty="0"/>
              <a:t>recuperar o arquivo.</a:t>
            </a:r>
          </a:p>
        </p:txBody>
      </p:sp>
      <p:pic>
        <p:nvPicPr>
          <p:cNvPr id="10"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75" y="2504761"/>
            <a:ext cx="2057400" cy="2781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25462125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OneDrive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4648513" y="2048752"/>
            <a:ext cx="5032523" cy="1754326"/>
          </a:xfrm>
          <a:prstGeom prst="rect">
            <a:avLst/>
          </a:prstGeom>
          <a:noFill/>
        </p:spPr>
        <p:txBody>
          <a:bodyPr wrap="square" rtlCol="0">
            <a:spAutoFit/>
          </a:bodyPr>
          <a:lstStyle/>
          <a:p>
            <a:pPr marL="742950" lvl="1" indent="-285750" algn="just">
              <a:buFont typeface="Arial" panose="020B0604020202020204" pitchFamily="34" charset="0"/>
              <a:buChar char="•"/>
            </a:pPr>
            <a:r>
              <a:rPr lang="pt-BR" dirty="0"/>
              <a:t>O acesso deve ser feito pelo portal no menu a direita.</a:t>
            </a:r>
          </a:p>
          <a:p>
            <a:pPr marL="742950" lvl="1" indent="-285750" algn="just">
              <a:buFont typeface="Arial" panose="020B0604020202020204" pitchFamily="34" charset="0"/>
              <a:buChar char="•"/>
            </a:pPr>
            <a:endParaRPr lang="pt-BR" dirty="0"/>
          </a:p>
          <a:p>
            <a:pPr marL="742950" lvl="1" indent="-285750" algn="just">
              <a:buFont typeface="Arial" panose="020B0604020202020204" pitchFamily="34" charset="0"/>
              <a:buChar char="•"/>
            </a:pPr>
            <a:r>
              <a:rPr lang="pt-BR" dirty="0"/>
              <a:t>São disponibilizados os itens excluídos nos últimos 30 dias referente a data de exclusão.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a:blip r:embed="rId3"/>
          <a:stretch>
            <a:fillRect/>
          </a:stretch>
        </p:blipFill>
        <p:spPr>
          <a:xfrm>
            <a:off x="1209989" y="2048752"/>
            <a:ext cx="3438525" cy="3800475"/>
          </a:xfrm>
          <a:prstGeom prst="rect">
            <a:avLst/>
          </a:prstGeom>
        </p:spPr>
      </p:pic>
      <p:sp>
        <p:nvSpPr>
          <p:cNvPr id="3" name="CaixaDeTexto 2"/>
          <p:cNvSpPr txBox="1"/>
          <p:nvPr/>
        </p:nvSpPr>
        <p:spPr>
          <a:xfrm>
            <a:off x="1209989" y="4740812"/>
            <a:ext cx="759488" cy="369332"/>
          </a:xfrm>
          <a:prstGeom prst="rect">
            <a:avLst/>
          </a:prstGeom>
          <a:noFill/>
          <a:ln w="19050">
            <a:solidFill>
              <a:srgbClr val="FF0000"/>
            </a:solidFill>
          </a:ln>
        </p:spPr>
        <p:txBody>
          <a:bodyPr wrap="square" rtlCol="0">
            <a:spAutoFit/>
          </a:bodyPr>
          <a:lstStyle/>
          <a:p>
            <a:endParaRPr lang="pt-BR" dirty="0">
              <a:solidFill>
                <a:srgbClr val="FF0000"/>
              </a:solidFill>
            </a:endParaRPr>
          </a:p>
        </p:txBody>
      </p:sp>
    </p:spTree>
    <p:extLst>
      <p:ext uri="{BB962C8B-B14F-4D97-AF65-F5344CB8AC3E}">
        <p14:creationId xmlns:p14="http://schemas.microsoft.com/office/powerpoint/2010/main" val="267514116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3176414"/>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3149859"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8" name="Group 7"/>
          <p:cNvGrpSpPr/>
          <p:nvPr/>
        </p:nvGrpSpPr>
        <p:grpSpPr>
          <a:xfrm>
            <a:off x="6438599" y="2021304"/>
            <a:ext cx="3532717" cy="3888138"/>
            <a:chOff x="6219568" y="1711216"/>
            <a:chExt cx="2745942" cy="3570259"/>
          </a:xfrm>
        </p:grpSpPr>
        <p:sp>
          <p:nvSpPr>
            <p:cNvPr id="30" name="Rectangle 58"/>
            <p:cNvSpPr/>
            <p:nvPr/>
          </p:nvSpPr>
          <p:spPr bwMode="auto">
            <a:xfrm>
              <a:off x="6219569" y="4451874"/>
              <a:ext cx="2745941" cy="829601"/>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SharePoint</a:t>
              </a:r>
            </a:p>
          </p:txBody>
        </p:sp>
        <p:pic>
          <p:nvPicPr>
            <p:cNvPr id="32" name="Picture 2" descr="C:\Users\v-junyo\Documents\Jun_Mesh\Microsoft Files\DesignTools\Brand Photos\Office Brand - No_exp\NEW\OFF12_Joi_01.png"/>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219568" y="1711216"/>
              <a:ext cx="2745941" cy="2740658"/>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502403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53" presetClass="entr" presetSubtype="16"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4"/>
          <a:stretch>
            <a:fillRect/>
          </a:stretch>
        </p:blipFill>
        <p:spPr>
          <a:xfrm>
            <a:off x="9092707" y="129598"/>
            <a:ext cx="933147" cy="334448"/>
          </a:xfrm>
          <a:prstGeom prst="rect">
            <a:avLst/>
          </a:prstGeom>
        </p:spPr>
      </p:pic>
      <p:sp>
        <p:nvSpPr>
          <p:cNvPr id="14" name="Rectangle 17"/>
          <p:cNvSpPr/>
          <p:nvPr/>
        </p:nvSpPr>
        <p:spPr bwMode="auto">
          <a:xfrm>
            <a:off x="213551" y="3060416"/>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Acesso</a:t>
            </a:r>
            <a:r>
              <a:rPr kumimoji="0" lang="en-US" sz="2400" b="0" i="0" u="none" strike="noStrike" kern="0" cap="none" spc="-70" normalizeH="0" baseline="0" noProof="0" dirty="0">
                <a:ln>
                  <a:noFill/>
                </a:ln>
                <a:solidFill>
                  <a:prstClr val="black"/>
                </a:solidFill>
                <a:effectLst/>
                <a:uLnTx/>
                <a:uFillTx/>
                <a:latin typeface="+mj-lt"/>
                <a:ea typeface="+mn-ea"/>
                <a:cs typeface="+mn-cs"/>
              </a:rPr>
              <a:t> </a:t>
            </a:r>
            <a:r>
              <a:rPr kumimoji="0" lang="en-US" sz="2400" b="0" i="0" u="none" strike="noStrike" kern="0" cap="none" spc="-70" normalizeH="0" baseline="0" noProof="0" dirty="0" err="1">
                <a:ln>
                  <a:noFill/>
                </a:ln>
                <a:solidFill>
                  <a:prstClr val="black"/>
                </a:solidFill>
                <a:effectLst/>
                <a:uLnTx/>
                <a:uFillTx/>
                <a:latin typeface="+mj-lt"/>
                <a:ea typeface="+mn-ea"/>
                <a:cs typeface="+mn-cs"/>
              </a:rPr>
              <a:t>disponível</a:t>
            </a:r>
            <a:r>
              <a:rPr kumimoji="0" lang="en-US" sz="2400" b="0" i="0" u="none" strike="noStrike" kern="0" cap="none" spc="-70" normalizeH="0" baseline="0" noProof="0" dirty="0">
                <a:ln>
                  <a:noFill/>
                </a:ln>
                <a:solidFill>
                  <a:prstClr val="black"/>
                </a:solidFill>
                <a:effectLst/>
                <a:uLnTx/>
                <a:uFillTx/>
                <a:latin typeface="+mj-lt"/>
                <a:ea typeface="+mn-ea"/>
                <a:cs typeface="+mn-cs"/>
              </a:rPr>
              <a:t> de </a:t>
            </a:r>
            <a:r>
              <a:rPr kumimoji="0" lang="en-US" sz="2400" b="0" i="0" u="none" strike="noStrike" kern="0" cap="none" spc="-70" normalizeH="0" baseline="0" noProof="0" dirty="0" err="1">
                <a:ln>
                  <a:noFill/>
                </a:ln>
                <a:solidFill>
                  <a:prstClr val="black"/>
                </a:solidFill>
                <a:effectLst/>
                <a:uLnTx/>
                <a:uFillTx/>
                <a:latin typeface="+mj-lt"/>
                <a:ea typeface="+mn-ea"/>
                <a:cs typeface="+mn-cs"/>
              </a:rPr>
              <a:t>qualquer</a:t>
            </a:r>
            <a:r>
              <a:rPr kumimoji="0" lang="en-US" sz="2400" b="0" i="0" u="none" strike="noStrike" kern="0" cap="none" spc="-70" normalizeH="0" baseline="0" noProof="0" dirty="0">
                <a:ln>
                  <a:noFill/>
                </a:ln>
                <a:solidFill>
                  <a:prstClr val="black"/>
                </a:solidFill>
                <a:effectLst/>
                <a:uLnTx/>
                <a:uFillTx/>
                <a:latin typeface="+mj-lt"/>
                <a:ea typeface="+mn-ea"/>
                <a:cs typeface="+mn-cs"/>
              </a:rPr>
              <a:t> </a:t>
            </a:r>
            <a:r>
              <a:rPr kumimoji="0" lang="en-US" sz="2400" b="0" i="0" u="none" strike="noStrike" kern="0" cap="none" spc="-70" normalizeH="0" baseline="0" noProof="0" dirty="0" err="1">
                <a:ln>
                  <a:noFill/>
                </a:ln>
                <a:solidFill>
                  <a:prstClr val="black"/>
                </a:solidFill>
                <a:effectLst/>
                <a:uLnTx/>
                <a:uFillTx/>
                <a:latin typeface="+mj-lt"/>
                <a:ea typeface="+mn-ea"/>
                <a:cs typeface="+mn-cs"/>
              </a:rPr>
              <a:t>lugar</a:t>
            </a:r>
            <a:r>
              <a:rPr kumimoji="0" lang="en-US" sz="2400" b="0" i="0" u="none" strike="noStrike" kern="0" cap="none" spc="-70" normalizeH="0" baseline="0" noProof="0" dirty="0">
                <a:ln>
                  <a:noFill/>
                </a:ln>
                <a:solidFill>
                  <a:prstClr val="black"/>
                </a:solidFill>
                <a:effectLst/>
                <a:uLnTx/>
                <a:uFillTx/>
                <a:latin typeface="+mj-lt"/>
                <a:ea typeface="+mn-ea"/>
                <a:cs typeface="+mn-cs"/>
              </a:rPr>
              <a:t> e a </a:t>
            </a:r>
            <a:r>
              <a:rPr kumimoji="0" lang="en-US" sz="2400" b="0" i="0" u="none" strike="noStrike" kern="0" cap="none" spc="-70" normalizeH="0" baseline="0" noProof="0" dirty="0" err="1">
                <a:ln>
                  <a:noFill/>
                </a:ln>
                <a:solidFill>
                  <a:prstClr val="black"/>
                </a:solidFill>
                <a:effectLst/>
                <a:uLnTx/>
                <a:uFillTx/>
                <a:latin typeface="+mj-lt"/>
                <a:ea typeface="+mn-ea"/>
                <a:cs typeface="+mn-cs"/>
              </a:rPr>
              <a:t>qualquer</a:t>
            </a:r>
            <a:r>
              <a:rPr kumimoji="0" lang="en-US" sz="2400" b="0" i="0" u="none" strike="noStrike" kern="0" cap="none" spc="-70" normalizeH="0" baseline="0" noProof="0" dirty="0">
                <a:ln>
                  <a:noFill/>
                </a:ln>
                <a:solidFill>
                  <a:prstClr val="black"/>
                </a:solidFill>
                <a:effectLst/>
                <a:uLnTx/>
                <a:uFillTx/>
                <a:latin typeface="+mj-lt"/>
                <a:ea typeface="+mn-ea"/>
                <a:cs typeface="+mn-cs"/>
              </a:rPr>
              <a:t> hora</a:t>
            </a:r>
          </a:p>
        </p:txBody>
      </p:sp>
      <p:sp>
        <p:nvSpPr>
          <p:cNvPr id="15" name="Rectangle 18"/>
          <p:cNvSpPr/>
          <p:nvPr/>
        </p:nvSpPr>
        <p:spPr bwMode="auto">
          <a:xfrm>
            <a:off x="213551" y="4095565"/>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Integração</a:t>
            </a:r>
            <a:r>
              <a:rPr kumimoji="0" lang="en-US" sz="2400" b="0" i="0" u="none" strike="noStrike" kern="0" cap="none" spc="-70" normalizeH="0" baseline="0" noProof="0" dirty="0">
                <a:ln>
                  <a:noFill/>
                </a:ln>
                <a:solidFill>
                  <a:prstClr val="black"/>
                </a:solidFill>
                <a:effectLst/>
                <a:uLnTx/>
                <a:uFillTx/>
                <a:latin typeface="Calibri Light" panose="020F0302020204030204"/>
                <a:ea typeface="+mn-ea"/>
                <a:cs typeface="+mn-cs"/>
              </a:rPr>
              <a:t> com </a:t>
            </a:r>
            <a:r>
              <a:rPr kumimoji="0" lang="en-US" sz="2400" b="0" i="0" u="none" strike="noStrike" kern="0" cap="none" spc="-70" normalizeH="0" baseline="0" noProof="0" dirty="0" err="1">
                <a:ln>
                  <a:noFill/>
                </a:ln>
                <a:solidFill>
                  <a:prstClr val="black"/>
                </a:solidFill>
                <a:effectLst/>
                <a:uLnTx/>
                <a:uFillTx/>
                <a:latin typeface="Calibri Light" panose="020F0302020204030204"/>
                <a:ea typeface="+mn-ea"/>
                <a:cs typeface="+mn-cs"/>
              </a:rPr>
              <a:t>aplicativos</a:t>
            </a:r>
            <a:r>
              <a:rPr kumimoji="0" lang="en-US" sz="2400" b="0" i="0" u="none" strike="noStrike" kern="0" cap="none" spc="-70" normalizeH="0" noProof="0" dirty="0">
                <a:ln>
                  <a:noFill/>
                </a:ln>
                <a:solidFill>
                  <a:prstClr val="black"/>
                </a:solidFill>
                <a:effectLst/>
                <a:uLnTx/>
                <a:uFillTx/>
                <a:latin typeface="Calibri Light" panose="020F0302020204030204"/>
                <a:ea typeface="+mn-ea"/>
                <a:cs typeface="+mn-cs"/>
              </a:rPr>
              <a:t> Office 365</a:t>
            </a:r>
            <a:endParaRPr kumimoji="0" lang="en-US" sz="2400" b="0" i="0" u="none" strike="noStrike" kern="0" cap="none" spc="-70" normalizeH="0" baseline="0" noProof="0" dirty="0">
              <a:ln>
                <a:noFill/>
              </a:ln>
              <a:solidFill>
                <a:prstClr val="black"/>
              </a:solidFill>
              <a:effectLst/>
              <a:uLnTx/>
              <a:uFillTx/>
              <a:latin typeface="Calibri Light" panose="020F0302020204030204"/>
              <a:ea typeface="+mn-ea"/>
              <a:cs typeface="+mn-cs"/>
            </a:endParaRPr>
          </a:p>
        </p:txBody>
      </p:sp>
      <p:sp>
        <p:nvSpPr>
          <p:cNvPr id="16" name="Rectangle 19"/>
          <p:cNvSpPr/>
          <p:nvPr/>
        </p:nvSpPr>
        <p:spPr bwMode="auto">
          <a:xfrm>
            <a:off x="213551" y="5130714"/>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Segurança</a:t>
            </a:r>
            <a:r>
              <a:rPr lang="en-US" sz="2400" kern="0" spc="-70" dirty="0">
                <a:solidFill>
                  <a:prstClr val="black"/>
                </a:solidFill>
                <a:latin typeface="+mj-lt"/>
              </a:rPr>
              <a:t>, </a:t>
            </a:r>
            <a:r>
              <a:rPr lang="en-US" sz="2400" i="1" kern="0" spc="-70" dirty="0">
                <a:solidFill>
                  <a:prstClr val="black"/>
                </a:solidFill>
                <a:latin typeface="+mj-lt"/>
              </a:rPr>
              <a:t>compliance</a:t>
            </a:r>
            <a:r>
              <a:rPr lang="en-US" sz="2400" kern="0" spc="-70" dirty="0">
                <a:solidFill>
                  <a:prstClr val="black"/>
                </a:solidFill>
                <a:latin typeface="+mj-lt"/>
              </a:rPr>
              <a:t> e auditoria</a:t>
            </a:r>
            <a:endParaRPr kumimoji="0" lang="en-US" sz="2400" b="0" i="0" u="none" strike="noStrike" kern="0" cap="none" spc="-70" normalizeH="0" baseline="0" noProof="0" dirty="0">
              <a:ln>
                <a:noFill/>
              </a:ln>
              <a:solidFill>
                <a:prstClr val="black"/>
              </a:solidFill>
              <a:effectLst/>
              <a:uLnTx/>
              <a:uFillTx/>
              <a:latin typeface="+mj-lt"/>
              <a:ea typeface="+mn-ea"/>
              <a:cs typeface="+mn-cs"/>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8846727" cy="1530841"/>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 que é o SharePoint?</a:t>
            </a:r>
          </a:p>
          <a:p>
            <a:pPr defTabSz="758379"/>
            <a:endParaRPr lang="en-US" sz="1050" b="1" spc="-83" dirty="0">
              <a:ln w="3175">
                <a:noFill/>
              </a:ln>
              <a:solidFill>
                <a:schemeClr val="accent6"/>
              </a:solidFill>
              <a:cs typeface="Arial" charset="0"/>
            </a:endParaRPr>
          </a:p>
          <a:p>
            <a:pPr defTabSz="758379"/>
            <a:r>
              <a:rPr lang="pt-BR" sz="2800" spc="-83" dirty="0">
                <a:ln w="3175">
                  <a:noFill/>
                </a:ln>
                <a:cs typeface="Arial" charset="0"/>
              </a:rPr>
              <a:t>Similar as “pastas da rede” o SharePoint serve para o compartilhamento e sincronismo de arquivos corporativos</a:t>
            </a:r>
            <a:endParaRPr lang="en-US" sz="2800" dirty="0"/>
          </a:p>
        </p:txBody>
      </p:sp>
    </p:spTree>
    <p:extLst>
      <p:ext uri="{BB962C8B-B14F-4D97-AF65-F5344CB8AC3E}">
        <p14:creationId xmlns:p14="http://schemas.microsoft.com/office/powerpoint/2010/main" val="4080319423"/>
      </p:ext>
    </p:extLst>
  </p:cSld>
  <p:clrMapOvr>
    <a:overrideClrMapping bg1="lt1" tx1="dk1" bg2="lt2" tx2="dk2" accent1="accent1" accent2="accent2" accent3="accent3" accent4="accent4" accent5="accent5" accent6="accent6" hlink="hlink" folHlink="folHlink"/>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3" name="Imagem 2"/>
          <p:cNvPicPr>
            <a:picLocks noChangeAspect="1"/>
          </p:cNvPicPr>
          <p:nvPr/>
        </p:nvPicPr>
        <p:blipFill rotWithShape="1">
          <a:blip r:embed="rId4"/>
          <a:srcRect b="34404"/>
          <a:stretch/>
        </p:blipFill>
        <p:spPr>
          <a:xfrm>
            <a:off x="661181" y="2066486"/>
            <a:ext cx="8681233" cy="3068228"/>
          </a:xfrm>
          <a:prstGeom prst="rect">
            <a:avLst/>
          </a:prstGeom>
        </p:spPr>
      </p:pic>
      <p:sp>
        <p:nvSpPr>
          <p:cNvPr id="4" name="Elipse 3"/>
          <p:cNvSpPr/>
          <p:nvPr/>
        </p:nvSpPr>
        <p:spPr>
          <a:xfrm>
            <a:off x="548640" y="4093703"/>
            <a:ext cx="2110153" cy="703385"/>
          </a:xfrm>
          <a:prstGeom prst="ellipse">
            <a:avLst/>
          </a:prstGeom>
          <a:noFill/>
          <a:ln>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5" name="CaixaDeTexto 4"/>
          <p:cNvSpPr txBox="1"/>
          <p:nvPr/>
        </p:nvSpPr>
        <p:spPr>
          <a:xfrm>
            <a:off x="801864" y="5613013"/>
            <a:ext cx="5120640" cy="646331"/>
          </a:xfrm>
          <a:prstGeom prst="rect">
            <a:avLst/>
          </a:prstGeom>
          <a:noFill/>
        </p:spPr>
        <p:txBody>
          <a:bodyPr wrap="square" rtlCol="0">
            <a:spAutoFit/>
          </a:bodyPr>
          <a:lstStyle/>
          <a:p>
            <a:pPr algn="just"/>
            <a:r>
              <a:rPr lang="pt-BR" dirty="0"/>
              <a:t>Após clicar no link em destaque será transferido para tela de autenticação do Portal do Office 365:</a:t>
            </a:r>
          </a:p>
        </p:txBody>
      </p:sp>
      <p:pic>
        <p:nvPicPr>
          <p:cNvPr id="6" name="Imagem 5"/>
          <p:cNvPicPr>
            <a:picLocks noChangeAspect="1"/>
          </p:cNvPicPr>
          <p:nvPr/>
        </p:nvPicPr>
        <p:blipFill>
          <a:blip r:embed="rId5"/>
          <a:stretch>
            <a:fillRect/>
          </a:stretch>
        </p:blipFill>
        <p:spPr>
          <a:xfrm>
            <a:off x="5905194" y="3235254"/>
            <a:ext cx="3933825" cy="3552825"/>
          </a:xfrm>
          <a:prstGeom prst="rect">
            <a:avLst/>
          </a:prstGeom>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err="1">
                <a:ln w="3175">
                  <a:noFill/>
                </a:ln>
                <a:cs typeface="Arial" charset="0"/>
              </a:rPr>
              <a:t>Todos</a:t>
            </a:r>
            <a:r>
              <a:rPr lang="en-US" sz="2000" spc="-83" dirty="0">
                <a:ln w="3175">
                  <a:noFill/>
                </a:ln>
                <a:cs typeface="Arial" charset="0"/>
              </a:rPr>
              <a:t> </a:t>
            </a:r>
            <a:r>
              <a:rPr lang="en-US" sz="2000" spc="-83" dirty="0" err="1">
                <a:ln w="3175">
                  <a:noFill/>
                </a:ln>
                <a:cs typeface="Arial" charset="0"/>
              </a:rPr>
              <a:t>receberão</a:t>
            </a:r>
            <a:r>
              <a:rPr lang="en-US" sz="2000" spc="-83" dirty="0">
                <a:ln w="3175">
                  <a:noFill/>
                </a:ln>
                <a:cs typeface="Arial" charset="0"/>
              </a:rPr>
              <a:t> um e-mail para </a:t>
            </a:r>
            <a:r>
              <a:rPr lang="en-US" sz="2000" spc="-83" dirty="0" err="1">
                <a:ln w="3175">
                  <a:noFill/>
                </a:ln>
                <a:cs typeface="Arial" charset="0"/>
              </a:rPr>
              <a:t>acesso</a:t>
            </a:r>
            <a:r>
              <a:rPr lang="en-US" sz="2000" spc="-83" dirty="0">
                <a:ln w="3175">
                  <a:noFill/>
                </a:ln>
                <a:cs typeface="Arial" charset="0"/>
              </a:rPr>
              <a:t> </a:t>
            </a:r>
            <a:r>
              <a:rPr lang="en-US" sz="2000" spc="-83" dirty="0" err="1">
                <a:ln w="3175">
                  <a:noFill/>
                </a:ln>
                <a:cs typeface="Arial" charset="0"/>
              </a:rPr>
              <a:t>ao</a:t>
            </a:r>
            <a:r>
              <a:rPr lang="en-US" sz="2000" spc="-83" dirty="0">
                <a:ln w="3175">
                  <a:noFill/>
                </a:ln>
                <a:cs typeface="Arial" charset="0"/>
              </a:rPr>
              <a:t> SharePoint</a:t>
            </a:r>
            <a:endParaRPr lang="en-US" sz="2000" dirty="0"/>
          </a:p>
        </p:txBody>
      </p:sp>
    </p:spTree>
    <p:extLst>
      <p:ext uri="{BB962C8B-B14F-4D97-AF65-F5344CB8AC3E}">
        <p14:creationId xmlns:p14="http://schemas.microsoft.com/office/powerpoint/2010/main" val="2227002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Imagem 5"/>
          <p:cNvPicPr>
            <a:picLocks noChangeAspect="1"/>
          </p:cNvPicPr>
          <p:nvPr/>
        </p:nvPicPr>
        <p:blipFill rotWithShape="1">
          <a:blip r:embed="rId2"/>
          <a:srcRect t="17489"/>
          <a:stretch/>
        </p:blipFill>
        <p:spPr>
          <a:xfrm>
            <a:off x="154744" y="2220686"/>
            <a:ext cx="9819249" cy="3066400"/>
          </a:xfrm>
          <a:prstGeom prst="rect">
            <a:avLst/>
          </a:prstGeom>
        </p:spPr>
      </p:pic>
      <p:sp>
        <p:nvSpPr>
          <p:cNvPr id="7" name="CaixaDeTexto 6"/>
          <p:cNvSpPr txBox="1"/>
          <p:nvPr/>
        </p:nvSpPr>
        <p:spPr>
          <a:xfrm>
            <a:off x="154744" y="5310465"/>
            <a:ext cx="4883955" cy="646331"/>
          </a:xfrm>
          <a:prstGeom prst="rect">
            <a:avLst/>
          </a:prstGeom>
          <a:noFill/>
        </p:spPr>
        <p:txBody>
          <a:bodyPr wrap="square" rtlCol="0">
            <a:spAutoFit/>
          </a:bodyPr>
          <a:lstStyle/>
          <a:p>
            <a:pPr algn="just"/>
            <a:r>
              <a:rPr lang="pt-BR" dirty="0"/>
              <a:t>Clique em “Sincronizar” e depois no botão “Sincronizar Agora” para que o aplicativo apareça</a:t>
            </a:r>
          </a:p>
        </p:txBody>
      </p:sp>
      <p:pic>
        <p:nvPicPr>
          <p:cNvPr id="8" name="Imagem 7"/>
          <p:cNvPicPr>
            <a:picLocks noChangeAspect="1"/>
          </p:cNvPicPr>
          <p:nvPr/>
        </p:nvPicPr>
        <p:blipFill>
          <a:blip r:embed="rId3"/>
          <a:stretch>
            <a:fillRect/>
          </a:stretch>
        </p:blipFill>
        <p:spPr>
          <a:xfrm>
            <a:off x="5710884" y="4233770"/>
            <a:ext cx="3590925" cy="2371725"/>
          </a:xfrm>
          <a:prstGeom prst="rect">
            <a:avLst/>
          </a:prstGeom>
        </p:spPr>
      </p:pic>
      <p:cxnSp>
        <p:nvCxnSpPr>
          <p:cNvPr id="10" name="Conector de Seta Reta 9"/>
          <p:cNvCxnSpPr>
            <a:cxnSpLocks/>
          </p:cNvCxnSpPr>
          <p:nvPr/>
        </p:nvCxnSpPr>
        <p:spPr>
          <a:xfrm>
            <a:off x="5247249" y="5613009"/>
            <a:ext cx="604910"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3" name="Elipse 12"/>
          <p:cNvSpPr/>
          <p:nvPr/>
        </p:nvSpPr>
        <p:spPr>
          <a:xfrm>
            <a:off x="3080825" y="3921867"/>
            <a:ext cx="998806" cy="461666"/>
          </a:xfrm>
          <a:prstGeom prst="ellipse">
            <a:avLst/>
          </a:prstGeom>
          <a:noFill/>
          <a:ln w="28575">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4" name="CaixaDeTexto 13"/>
          <p:cNvSpPr txBox="1"/>
          <p:nvPr/>
        </p:nvSpPr>
        <p:spPr>
          <a:xfrm>
            <a:off x="153212" y="6042783"/>
            <a:ext cx="5445730" cy="646331"/>
          </a:xfrm>
          <a:prstGeom prst="rect">
            <a:avLst/>
          </a:prstGeom>
          <a:noFill/>
        </p:spPr>
        <p:txBody>
          <a:bodyPr wrap="square" rtlCol="0">
            <a:spAutoFit/>
          </a:bodyPr>
          <a:lstStyle/>
          <a:p>
            <a:r>
              <a:rPr lang="pt-BR" dirty="0"/>
              <a:t>OBS: Os computadores já estão com o aplicativo instalado</a:t>
            </a:r>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sp>
        <p:nvSpPr>
          <p:cNvPr id="1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7"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pt-BR" sz="2000" spc="-83" dirty="0">
                <a:ln w="3175">
                  <a:noFill/>
                </a:ln>
                <a:cs typeface="Arial" charset="0"/>
              </a:rPr>
              <a:t>Estarão disponíveis apenas as pastas (grupos) que referentes a sua área </a:t>
            </a:r>
          </a:p>
        </p:txBody>
      </p:sp>
    </p:spTree>
    <p:extLst>
      <p:ext uri="{BB962C8B-B14F-4D97-AF65-F5344CB8AC3E}">
        <p14:creationId xmlns:p14="http://schemas.microsoft.com/office/powerpoint/2010/main" val="3488122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Imagem 6"/>
          <p:cNvPicPr>
            <a:picLocks noChangeAspect="1"/>
          </p:cNvPicPr>
          <p:nvPr/>
        </p:nvPicPr>
        <p:blipFill>
          <a:blip r:embed="rId2"/>
          <a:stretch>
            <a:fillRect/>
          </a:stretch>
        </p:blipFill>
        <p:spPr>
          <a:xfrm>
            <a:off x="2718569" y="2241120"/>
            <a:ext cx="4680000" cy="3002927"/>
          </a:xfrm>
          <a:prstGeom prst="rect">
            <a:avLst/>
          </a:prstGeom>
        </p:spPr>
      </p:pic>
      <p:pic>
        <p:nvPicPr>
          <p:cNvPr id="10" name="Picture 5"/>
          <p:cNvPicPr>
            <a:picLocks noChangeAspect="1"/>
          </p:cNvPicPr>
          <p:nvPr/>
        </p:nvPicPr>
        <p:blipFill>
          <a:blip r:embed="rId3"/>
          <a:stretch>
            <a:fillRect/>
          </a:stretch>
        </p:blipFill>
        <p:spPr>
          <a:xfrm>
            <a:off x="9092707" y="129598"/>
            <a:ext cx="933147" cy="334448"/>
          </a:xfrm>
          <a:prstGeom prst="rect">
            <a:avLst/>
          </a:prstGeom>
        </p:spPr>
      </p:pic>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4"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a:ln w="3175">
                  <a:noFill/>
                </a:ln>
                <a:cs typeface="Arial" charset="0"/>
              </a:rPr>
              <a:t>Clique </a:t>
            </a:r>
            <a:r>
              <a:rPr lang="en-US" sz="2000" spc="-83" dirty="0" err="1">
                <a:ln w="3175">
                  <a:noFill/>
                </a:ln>
                <a:cs typeface="Arial" charset="0"/>
              </a:rPr>
              <a:t>em</a:t>
            </a:r>
            <a:r>
              <a:rPr lang="en-US" sz="2000" spc="-83" dirty="0">
                <a:ln w="3175">
                  <a:noFill/>
                </a:ln>
                <a:cs typeface="Arial" charset="0"/>
              </a:rPr>
              <a:t> “</a:t>
            </a:r>
            <a:r>
              <a:rPr lang="en-US" sz="2000" spc="-83" dirty="0" err="1">
                <a:ln w="3175">
                  <a:noFill/>
                </a:ln>
                <a:cs typeface="Arial" charset="0"/>
              </a:rPr>
              <a:t>Sincronizar</a:t>
            </a:r>
            <a:r>
              <a:rPr lang="en-US" sz="2000" spc="-83" dirty="0">
                <a:ln w="3175">
                  <a:noFill/>
                </a:ln>
                <a:cs typeface="Arial" charset="0"/>
              </a:rPr>
              <a:t> Agora”</a:t>
            </a:r>
            <a:endParaRPr lang="en-US" sz="2000" dirty="0"/>
          </a:p>
        </p:txBody>
      </p:sp>
    </p:spTree>
    <p:extLst>
      <p:ext uri="{BB962C8B-B14F-4D97-AF65-F5344CB8AC3E}">
        <p14:creationId xmlns:p14="http://schemas.microsoft.com/office/powerpoint/2010/main" val="30196731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5"/>
          <p:cNvPicPr>
            <a:picLocks noChangeAspect="1"/>
          </p:cNvPicPr>
          <p:nvPr/>
        </p:nvPicPr>
        <p:blipFill>
          <a:blip r:embed="rId2"/>
          <a:stretch>
            <a:fillRect/>
          </a:stretch>
        </p:blipFill>
        <p:spPr>
          <a:xfrm>
            <a:off x="9092707" y="129598"/>
            <a:ext cx="933147" cy="334448"/>
          </a:xfrm>
          <a:prstGeom prst="rect">
            <a:avLst/>
          </a:prstGeom>
        </p:spPr>
      </p:pic>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4"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err="1">
                <a:ln w="3175">
                  <a:noFill/>
                </a:ln>
                <a:cs typeface="Arial" charset="0"/>
              </a:rPr>
              <a:t>Aguarde</a:t>
            </a:r>
            <a:r>
              <a:rPr lang="en-US" sz="2000" spc="-83" dirty="0">
                <a:ln w="3175">
                  <a:noFill/>
                </a:ln>
                <a:cs typeface="Arial" charset="0"/>
              </a:rPr>
              <a:t> a </a:t>
            </a:r>
            <a:r>
              <a:rPr lang="en-US" sz="2000" spc="-83" dirty="0" err="1">
                <a:ln w="3175">
                  <a:noFill/>
                </a:ln>
                <a:cs typeface="Arial" charset="0"/>
              </a:rPr>
              <a:t>sincronização</a:t>
            </a:r>
            <a:r>
              <a:rPr lang="en-US" sz="2000" spc="-83" dirty="0">
                <a:ln w="3175">
                  <a:noFill/>
                </a:ln>
                <a:cs typeface="Arial" charset="0"/>
              </a:rPr>
              <a:t> dos </a:t>
            </a:r>
            <a:r>
              <a:rPr lang="en-US" sz="2000" spc="-83" dirty="0" err="1">
                <a:ln w="3175">
                  <a:noFill/>
                </a:ln>
                <a:cs typeface="Arial" charset="0"/>
              </a:rPr>
              <a:t>arquivos</a:t>
            </a:r>
            <a:r>
              <a:rPr lang="en-US" sz="2000" spc="-83" dirty="0">
                <a:ln w="3175">
                  <a:noFill/>
                </a:ln>
                <a:cs typeface="Arial" charset="0"/>
              </a:rPr>
              <a:t> da </a:t>
            </a:r>
            <a:r>
              <a:rPr lang="en-US" sz="2000" spc="-83" dirty="0" err="1">
                <a:ln w="3175">
                  <a:noFill/>
                </a:ln>
                <a:cs typeface="Arial" charset="0"/>
              </a:rPr>
              <a:t>sua</a:t>
            </a:r>
            <a:r>
              <a:rPr lang="en-US" sz="2000" spc="-83" dirty="0">
                <a:ln w="3175">
                  <a:noFill/>
                </a:ln>
                <a:cs typeface="Arial" charset="0"/>
              </a:rPr>
              <a:t> </a:t>
            </a:r>
            <a:r>
              <a:rPr lang="en-US" sz="2000" spc="-83" dirty="0" err="1">
                <a:ln w="3175">
                  <a:noFill/>
                </a:ln>
                <a:cs typeface="Arial" charset="0"/>
              </a:rPr>
              <a:t>área</a:t>
            </a:r>
            <a:endParaRPr lang="en-US" sz="2000" dirty="0"/>
          </a:p>
        </p:txBody>
      </p:sp>
      <p:pic>
        <p:nvPicPr>
          <p:cNvPr id="8" name="Imagem 7"/>
          <p:cNvPicPr>
            <a:picLocks noChangeAspect="1"/>
          </p:cNvPicPr>
          <p:nvPr/>
        </p:nvPicPr>
        <p:blipFill>
          <a:blip r:embed="rId3"/>
          <a:stretch>
            <a:fillRect/>
          </a:stretch>
        </p:blipFill>
        <p:spPr>
          <a:xfrm>
            <a:off x="2758682" y="2354543"/>
            <a:ext cx="4680000" cy="3002927"/>
          </a:xfrm>
          <a:prstGeom prst="rect">
            <a:avLst/>
          </a:prstGeom>
        </p:spPr>
      </p:pic>
    </p:spTree>
    <p:extLst>
      <p:ext uri="{BB962C8B-B14F-4D97-AF65-F5344CB8AC3E}">
        <p14:creationId xmlns:p14="http://schemas.microsoft.com/office/powerpoint/2010/main" val="231597398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9" name="Rectangle 2"/>
          <p:cNvSpPr/>
          <p:nvPr/>
        </p:nvSpPr>
        <p:spPr>
          <a:xfrm>
            <a:off x="192032" y="914263"/>
            <a:ext cx="8846727" cy="2084839"/>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pc="-83" dirty="0" err="1">
                <a:ln w="3175">
                  <a:noFill/>
                </a:ln>
                <a:cs typeface="Arial" charset="0"/>
              </a:rPr>
              <a:t>Ao</a:t>
            </a:r>
            <a:r>
              <a:rPr lang="en-US" spc="-83" dirty="0">
                <a:ln w="3175">
                  <a:noFill/>
                </a:ln>
                <a:cs typeface="Arial" charset="0"/>
              </a:rPr>
              <a:t> </a:t>
            </a:r>
            <a:r>
              <a:rPr lang="en-US" spc="-83" dirty="0" err="1">
                <a:ln w="3175">
                  <a:noFill/>
                </a:ln>
                <a:cs typeface="Arial" charset="0"/>
              </a:rPr>
              <a:t>conectar</a:t>
            </a:r>
            <a:r>
              <a:rPr lang="en-US" spc="-83" dirty="0">
                <a:ln w="3175">
                  <a:noFill/>
                </a:ln>
                <a:cs typeface="Arial" charset="0"/>
              </a:rPr>
              <a:t>-se </a:t>
            </a:r>
            <a:r>
              <a:rPr lang="en-US" spc="-83" dirty="0" err="1">
                <a:ln w="3175">
                  <a:noFill/>
                </a:ln>
                <a:cs typeface="Arial" charset="0"/>
              </a:rPr>
              <a:t>somente</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exibida</a:t>
            </a:r>
            <a:r>
              <a:rPr lang="en-US" spc="-83" dirty="0">
                <a:ln w="3175">
                  <a:noFill/>
                </a:ln>
                <a:cs typeface="Arial" charset="0"/>
              </a:rPr>
              <a:t> a pasta de </a:t>
            </a:r>
            <a:r>
              <a:rPr lang="en-US" spc="-83" dirty="0" err="1">
                <a:ln w="3175">
                  <a:noFill/>
                </a:ln>
                <a:cs typeface="Arial" charset="0"/>
              </a:rPr>
              <a:t>sua</a:t>
            </a:r>
            <a:r>
              <a:rPr lang="en-US" spc="-83" dirty="0">
                <a:ln w="3175">
                  <a:noFill/>
                </a:ln>
                <a:cs typeface="Arial" charset="0"/>
              </a:rPr>
              <a:t> </a:t>
            </a:r>
            <a:r>
              <a:rPr lang="en-US" spc="-83" dirty="0" err="1">
                <a:ln w="3175">
                  <a:noFill/>
                </a:ln>
                <a:cs typeface="Arial" charset="0"/>
              </a:rPr>
              <a:t>respectiva</a:t>
            </a:r>
            <a:r>
              <a:rPr lang="en-US" spc="-83" dirty="0">
                <a:ln w="3175">
                  <a:noFill/>
                </a:ln>
                <a:cs typeface="Arial" charset="0"/>
              </a:rPr>
              <a:t> </a:t>
            </a:r>
            <a:r>
              <a:rPr lang="en-US" spc="-83" dirty="0" err="1">
                <a:ln w="3175">
                  <a:noFill/>
                </a:ln>
                <a:cs typeface="Arial" charset="0"/>
              </a:rPr>
              <a:t>área</a:t>
            </a:r>
            <a:r>
              <a:rPr lang="en-US" spc="-83" dirty="0">
                <a:ln w="3175">
                  <a:noFill/>
                </a:ln>
                <a:cs typeface="Arial" charset="0"/>
              </a:rPr>
              <a:t> e a pasta “</a:t>
            </a:r>
            <a:r>
              <a:rPr lang="en-US" spc="-83" dirty="0" err="1">
                <a:ln w="3175">
                  <a:noFill/>
                </a:ln>
                <a:cs typeface="Arial" charset="0"/>
              </a:rPr>
              <a:t>Público</a:t>
            </a:r>
            <a:r>
              <a:rPr lang="en-US" spc="-83" dirty="0">
                <a:ln w="3175">
                  <a:noFill/>
                </a:ln>
                <a:cs typeface="Arial" charset="0"/>
              </a:rPr>
              <a:t>”.</a:t>
            </a:r>
          </a:p>
          <a:p>
            <a:pPr marL="342900" indent="-342900" defTabSz="758379">
              <a:buFont typeface="Arial" panose="020B0604020202020204" pitchFamily="34" charset="0"/>
              <a:buChar char="•"/>
            </a:pPr>
            <a:r>
              <a:rPr lang="en-US" spc="-83" dirty="0">
                <a:ln w="3175">
                  <a:noFill/>
                </a:ln>
                <a:cs typeface="Arial" charset="0"/>
              </a:rPr>
              <a:t>Pasta de </a:t>
            </a:r>
            <a:r>
              <a:rPr lang="en-US" spc="-83" dirty="0" err="1">
                <a:ln w="3175">
                  <a:noFill/>
                </a:ln>
                <a:cs typeface="Arial" charset="0"/>
              </a:rPr>
              <a:t>área</a:t>
            </a:r>
            <a:r>
              <a:rPr lang="en-US" spc="-83" dirty="0">
                <a:ln w="3175">
                  <a:noFill/>
                </a:ln>
                <a:cs typeface="Arial" charset="0"/>
              </a:rPr>
              <a:t> - </a:t>
            </a:r>
            <a:r>
              <a:rPr lang="en-US" spc="-83" dirty="0" err="1">
                <a:ln w="3175">
                  <a:noFill/>
                </a:ln>
                <a:cs typeface="Arial" charset="0"/>
              </a:rPr>
              <a:t>Uso</a:t>
            </a:r>
            <a:r>
              <a:rPr lang="en-US" spc="-83" dirty="0">
                <a:ln w="3175">
                  <a:noFill/>
                </a:ln>
                <a:cs typeface="Arial" charset="0"/>
              </a:rPr>
              <a:t> </a:t>
            </a:r>
            <a:r>
              <a:rPr lang="en-US" spc="-83" dirty="0" err="1">
                <a:ln w="3175">
                  <a:noFill/>
                </a:ln>
                <a:cs typeface="Arial" charset="0"/>
              </a:rPr>
              <a:t>exclusivo</a:t>
            </a:r>
            <a:r>
              <a:rPr lang="en-US" spc="-83" dirty="0">
                <a:ln w="3175">
                  <a:noFill/>
                </a:ln>
                <a:cs typeface="Arial" charset="0"/>
              </a:rPr>
              <a:t> dos </a:t>
            </a:r>
            <a:r>
              <a:rPr lang="en-US" spc="-83" dirty="0" err="1">
                <a:ln w="3175">
                  <a:noFill/>
                </a:ln>
                <a:cs typeface="Arial" charset="0"/>
              </a:rPr>
              <a:t>colaboradores</a:t>
            </a:r>
            <a:r>
              <a:rPr lang="en-US" spc="-83" dirty="0">
                <a:ln w="3175">
                  <a:noFill/>
                </a:ln>
                <a:cs typeface="Arial" charset="0"/>
              </a:rPr>
              <a:t> que </a:t>
            </a:r>
            <a:r>
              <a:rPr lang="en-US" spc="-83" dirty="0" err="1">
                <a:ln w="3175">
                  <a:noFill/>
                </a:ln>
                <a:cs typeface="Arial" charset="0"/>
              </a:rPr>
              <a:t>fazem</a:t>
            </a:r>
            <a:r>
              <a:rPr lang="en-US" spc="-83" dirty="0">
                <a:ln w="3175">
                  <a:noFill/>
                </a:ln>
                <a:cs typeface="Arial" charset="0"/>
              </a:rPr>
              <a:t> </a:t>
            </a:r>
            <a:r>
              <a:rPr lang="en-US" spc="-83" dirty="0" err="1">
                <a:ln w="3175">
                  <a:noFill/>
                </a:ln>
                <a:cs typeface="Arial" charset="0"/>
              </a:rPr>
              <a:t>parte</a:t>
            </a:r>
            <a:r>
              <a:rPr lang="en-US" spc="-83" dirty="0">
                <a:ln w="3175">
                  <a:noFill/>
                </a:ln>
                <a:cs typeface="Arial" charset="0"/>
              </a:rPr>
              <a:t> </a:t>
            </a:r>
            <a:r>
              <a:rPr lang="en-US" spc="-83" dirty="0" err="1">
                <a:ln w="3175">
                  <a:noFill/>
                </a:ln>
                <a:cs typeface="Arial" charset="0"/>
              </a:rPr>
              <a:t>desse</a:t>
            </a:r>
            <a:r>
              <a:rPr lang="en-US" spc="-83" dirty="0">
                <a:ln w="3175">
                  <a:noFill/>
                </a:ln>
                <a:cs typeface="Arial" charset="0"/>
              </a:rPr>
              <a:t> </a:t>
            </a:r>
            <a:r>
              <a:rPr lang="en-US" spc="-83" dirty="0" err="1">
                <a:ln w="3175">
                  <a:noFill/>
                </a:ln>
                <a:cs typeface="Arial" charset="0"/>
              </a:rPr>
              <a:t>setor</a:t>
            </a:r>
            <a:r>
              <a:rPr lang="en-US" spc="-83" dirty="0">
                <a:ln w="3175">
                  <a:noFill/>
                </a:ln>
                <a:cs typeface="Arial" charset="0"/>
              </a:rPr>
              <a:t>.</a:t>
            </a:r>
          </a:p>
          <a:p>
            <a:pPr marL="342900" indent="-342900" defTabSz="758379">
              <a:buFont typeface="Arial" panose="020B0604020202020204" pitchFamily="34" charset="0"/>
              <a:buChar char="•"/>
            </a:pPr>
            <a:r>
              <a:rPr lang="en-US" spc="-83" dirty="0">
                <a:ln w="3175">
                  <a:noFill/>
                </a:ln>
                <a:cs typeface="Arial" charset="0"/>
              </a:rPr>
              <a:t>Pasta </a:t>
            </a:r>
            <a:r>
              <a:rPr lang="en-US" spc="-83" dirty="0" err="1">
                <a:ln w="3175">
                  <a:noFill/>
                </a:ln>
                <a:cs typeface="Arial" charset="0"/>
              </a:rPr>
              <a:t>pública</a:t>
            </a:r>
            <a:r>
              <a:rPr lang="en-US" spc="-83" dirty="0">
                <a:ln w="3175">
                  <a:noFill/>
                </a:ln>
                <a:cs typeface="Arial" charset="0"/>
              </a:rPr>
              <a:t> - </a:t>
            </a:r>
            <a:r>
              <a:rPr lang="en-US" spc="-83" dirty="0" err="1">
                <a:ln w="3175">
                  <a:noFill/>
                </a:ln>
                <a:cs typeface="Arial" charset="0"/>
              </a:rPr>
              <a:t>Deve</a:t>
            </a:r>
            <a:r>
              <a:rPr lang="en-US" spc="-83" dirty="0">
                <a:ln w="3175">
                  <a:noFill/>
                </a:ln>
                <a:cs typeface="Arial" charset="0"/>
              </a:rPr>
              <a:t> </a:t>
            </a:r>
            <a:r>
              <a:rPr lang="en-US" spc="-83" dirty="0" err="1">
                <a:ln w="3175">
                  <a:noFill/>
                </a:ln>
                <a:cs typeface="Arial" charset="0"/>
              </a:rPr>
              <a:t>ser</a:t>
            </a:r>
            <a:r>
              <a:rPr lang="en-US" spc="-83" dirty="0">
                <a:ln w="3175">
                  <a:noFill/>
                </a:ln>
                <a:cs typeface="Arial" charset="0"/>
              </a:rPr>
              <a:t> </a:t>
            </a:r>
            <a:r>
              <a:rPr lang="en-US" spc="-83" dirty="0" err="1">
                <a:ln w="3175">
                  <a:noFill/>
                </a:ln>
                <a:cs typeface="Arial" charset="0"/>
              </a:rPr>
              <a:t>utilizada</a:t>
            </a:r>
            <a:r>
              <a:rPr lang="en-US" spc="-83" dirty="0">
                <a:ln w="3175">
                  <a:noFill/>
                </a:ln>
                <a:cs typeface="Arial" charset="0"/>
              </a:rPr>
              <a:t> para </a:t>
            </a:r>
            <a:r>
              <a:rPr lang="en-US" spc="-83" dirty="0" err="1">
                <a:ln w="3175">
                  <a:noFill/>
                </a:ln>
                <a:cs typeface="Arial" charset="0"/>
              </a:rPr>
              <a:t>troca</a:t>
            </a:r>
            <a:r>
              <a:rPr lang="en-US" spc="-83" dirty="0">
                <a:ln w="3175">
                  <a:noFill/>
                </a:ln>
                <a:cs typeface="Arial" charset="0"/>
              </a:rPr>
              <a:t> de </a:t>
            </a:r>
            <a:r>
              <a:rPr lang="en-US" spc="-83" dirty="0" err="1">
                <a:ln w="3175">
                  <a:noFill/>
                </a:ln>
                <a:cs typeface="Arial" charset="0"/>
              </a:rPr>
              <a:t>informações</a:t>
            </a:r>
            <a:r>
              <a:rPr lang="en-US" spc="-83" dirty="0">
                <a:ln w="3175">
                  <a:noFill/>
                </a:ln>
                <a:cs typeface="Arial" charset="0"/>
              </a:rPr>
              <a:t> entre </a:t>
            </a:r>
            <a:r>
              <a:rPr lang="en-US" spc="-83" dirty="0" err="1">
                <a:ln w="3175">
                  <a:noFill/>
                </a:ln>
                <a:cs typeface="Arial" charset="0"/>
              </a:rPr>
              <a:t>áreas</a:t>
            </a:r>
            <a:r>
              <a:rPr lang="en-US" spc="-83" dirty="0">
                <a:ln w="3175">
                  <a:noFill/>
                </a:ln>
                <a:cs typeface="Arial" charset="0"/>
              </a:rPr>
              <a:t>. O </a:t>
            </a:r>
            <a:r>
              <a:rPr lang="en-US" spc="-83" dirty="0" err="1">
                <a:ln w="3175">
                  <a:noFill/>
                </a:ln>
                <a:cs typeface="Arial" charset="0"/>
              </a:rPr>
              <a:t>conteúdo</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excluído</a:t>
            </a:r>
            <a:r>
              <a:rPr lang="en-US" spc="-83" dirty="0">
                <a:ln w="3175">
                  <a:noFill/>
                </a:ln>
                <a:cs typeface="Arial" charset="0"/>
              </a:rPr>
              <a:t> </a:t>
            </a:r>
            <a:r>
              <a:rPr lang="en-US" spc="-83" dirty="0" err="1">
                <a:ln w="3175">
                  <a:noFill/>
                </a:ln>
                <a:cs typeface="Arial" charset="0"/>
              </a:rPr>
              <a:t>em</a:t>
            </a:r>
            <a:r>
              <a:rPr lang="en-US" spc="-83" dirty="0">
                <a:ln w="3175">
                  <a:noFill/>
                </a:ln>
                <a:cs typeface="Arial" charset="0"/>
              </a:rPr>
              <a:t> 5 </a:t>
            </a:r>
            <a:r>
              <a:rPr lang="en-US" spc="-83" dirty="0" err="1">
                <a:ln w="3175">
                  <a:noFill/>
                </a:ln>
                <a:cs typeface="Arial" charset="0"/>
              </a:rPr>
              <a:t>dias</a:t>
            </a:r>
            <a:r>
              <a:rPr lang="en-US" spc="-83" dirty="0">
                <a:ln w="3175">
                  <a:noFill/>
                </a:ln>
                <a:cs typeface="Arial" charset="0"/>
              </a:rPr>
              <a:t> e </a:t>
            </a:r>
            <a:r>
              <a:rPr lang="en-US" spc="-83" dirty="0" err="1">
                <a:ln w="3175">
                  <a:noFill/>
                </a:ln>
                <a:cs typeface="Arial" charset="0"/>
              </a:rPr>
              <a:t>não</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possível</a:t>
            </a:r>
            <a:r>
              <a:rPr lang="en-US" spc="-83" dirty="0">
                <a:ln w="3175">
                  <a:noFill/>
                </a:ln>
                <a:cs typeface="Arial" charset="0"/>
              </a:rPr>
              <a:t> </a:t>
            </a:r>
            <a:r>
              <a:rPr lang="en-US" spc="-83" dirty="0" err="1">
                <a:ln w="3175">
                  <a:noFill/>
                </a:ln>
                <a:cs typeface="Arial" charset="0"/>
              </a:rPr>
              <a:t>recuperá</a:t>
            </a:r>
            <a:r>
              <a:rPr lang="en-US" spc="-83" dirty="0">
                <a:ln w="3175">
                  <a:noFill/>
                </a:ln>
                <a:cs typeface="Arial" charset="0"/>
              </a:rPr>
              <a:t>-lo, </a:t>
            </a:r>
            <a:r>
              <a:rPr lang="en-US" spc="-83" dirty="0" err="1">
                <a:ln w="3175">
                  <a:noFill/>
                </a:ln>
                <a:cs typeface="Arial" charset="0"/>
              </a:rPr>
              <a:t>pois</a:t>
            </a:r>
            <a:r>
              <a:rPr lang="en-US" spc="-83" dirty="0">
                <a:ln w="3175">
                  <a:noFill/>
                </a:ln>
                <a:cs typeface="Arial" charset="0"/>
              </a:rPr>
              <a:t> </a:t>
            </a:r>
            <a:r>
              <a:rPr lang="en-US" spc="-83" dirty="0" err="1">
                <a:ln w="3175">
                  <a:noFill/>
                </a:ln>
                <a:cs typeface="Arial" charset="0"/>
              </a:rPr>
              <a:t>esta</a:t>
            </a:r>
            <a:r>
              <a:rPr lang="en-US" spc="-83" dirty="0">
                <a:ln w="3175">
                  <a:noFill/>
                </a:ln>
                <a:cs typeface="Arial" charset="0"/>
              </a:rPr>
              <a:t> é </a:t>
            </a:r>
            <a:r>
              <a:rPr lang="en-US" spc="-83" dirty="0" err="1">
                <a:ln w="3175">
                  <a:noFill/>
                </a:ln>
                <a:cs typeface="Arial" charset="0"/>
              </a:rPr>
              <a:t>uma</a:t>
            </a:r>
            <a:r>
              <a:rPr lang="en-US" spc="-83" dirty="0">
                <a:ln w="3175">
                  <a:noFill/>
                </a:ln>
                <a:cs typeface="Arial" charset="0"/>
              </a:rPr>
              <a:t> </a:t>
            </a:r>
            <a:r>
              <a:rPr lang="en-US" spc="-83" dirty="0" err="1">
                <a:ln w="3175">
                  <a:noFill/>
                </a:ln>
                <a:cs typeface="Arial" charset="0"/>
              </a:rPr>
              <a:t>área</a:t>
            </a:r>
            <a:r>
              <a:rPr lang="en-US" spc="-83" dirty="0">
                <a:ln w="3175">
                  <a:noFill/>
                </a:ln>
                <a:cs typeface="Arial" charset="0"/>
              </a:rPr>
              <a:t> de </a:t>
            </a:r>
            <a:r>
              <a:rPr lang="en-US" spc="-83" dirty="0" err="1">
                <a:ln w="3175">
                  <a:noFill/>
                </a:ln>
                <a:cs typeface="Arial" charset="0"/>
              </a:rPr>
              <a:t>transição</a:t>
            </a:r>
            <a:r>
              <a:rPr lang="en-US" spc="-83" dirty="0">
                <a:ln w="3175">
                  <a:noFill/>
                </a:ln>
                <a:cs typeface="Arial" charset="0"/>
              </a:rPr>
              <a:t> de </a:t>
            </a:r>
            <a:r>
              <a:rPr lang="en-US" spc="-83" dirty="0" err="1">
                <a:ln w="3175">
                  <a:noFill/>
                </a:ln>
                <a:cs typeface="Arial" charset="0"/>
              </a:rPr>
              <a:t>arquivos</a:t>
            </a:r>
            <a:r>
              <a:rPr lang="en-US" spc="-83" dirty="0">
                <a:ln w="3175">
                  <a:noFill/>
                </a:ln>
                <a:cs typeface="Arial" charset="0"/>
              </a:rPr>
              <a:t>.</a:t>
            </a:r>
            <a:endParaRPr lang="en-US" spc="-83" dirty="0">
              <a:ln w="3175">
                <a:noFill/>
              </a:ln>
              <a:cs typeface="Arial" charset="0"/>
            </a:endParaRPr>
          </a:p>
          <a:p>
            <a:pPr defTabSz="758379"/>
            <a:endParaRPr lang="en-US" sz="2000" spc="-83" dirty="0">
              <a:ln w="3175">
                <a:noFill/>
              </a:ln>
              <a:cs typeface="Arial" charset="0"/>
            </a:endParaRPr>
          </a:p>
        </p:txBody>
      </p:sp>
      <p:pic>
        <p:nvPicPr>
          <p:cNvPr id="11" name="Imagem 10"/>
          <p:cNvPicPr>
            <a:picLocks noChangeAspect="1"/>
          </p:cNvPicPr>
          <p:nvPr/>
        </p:nvPicPr>
        <p:blipFill rotWithShape="1">
          <a:blip r:embed="rId4"/>
          <a:srcRect l="705" t="2127" r="604"/>
          <a:stretch/>
        </p:blipFill>
        <p:spPr>
          <a:xfrm>
            <a:off x="250723" y="3489907"/>
            <a:ext cx="9500602" cy="2879793"/>
          </a:xfrm>
          <a:prstGeom prst="rect">
            <a:avLst/>
          </a:prstGeom>
        </p:spPr>
      </p:pic>
      <p:grpSp>
        <p:nvGrpSpPr>
          <p:cNvPr id="10" name="Agrupar 9"/>
          <p:cNvGrpSpPr/>
          <p:nvPr/>
        </p:nvGrpSpPr>
        <p:grpSpPr>
          <a:xfrm>
            <a:off x="2316538" y="4681827"/>
            <a:ext cx="1152525" cy="271866"/>
            <a:chOff x="5230526" y="2865752"/>
            <a:chExt cx="1152525" cy="271866"/>
          </a:xfrm>
        </p:grpSpPr>
        <p:pic>
          <p:nvPicPr>
            <p:cNvPr id="4" name="Imagem 3"/>
            <p:cNvPicPr>
              <a:picLocks noChangeAspect="1"/>
            </p:cNvPicPr>
            <p:nvPr/>
          </p:nvPicPr>
          <p:blipFill>
            <a:blip r:embed="rId5"/>
            <a:stretch>
              <a:fillRect/>
            </a:stretch>
          </p:blipFill>
          <p:spPr>
            <a:xfrm>
              <a:off x="5230526" y="2865752"/>
              <a:ext cx="1152525" cy="266700"/>
            </a:xfrm>
            <a:prstGeom prst="rect">
              <a:avLst/>
            </a:prstGeom>
          </p:spPr>
        </p:pic>
        <p:pic>
          <p:nvPicPr>
            <p:cNvPr id="5" name="Imagem 4"/>
            <p:cNvPicPr>
              <a:picLocks noChangeAspect="1"/>
            </p:cNvPicPr>
            <p:nvPr/>
          </p:nvPicPr>
          <p:blipFill rotWithShape="1">
            <a:blip r:embed="rId5"/>
            <a:srcRect l="43094" t="-760"/>
            <a:stretch/>
          </p:blipFill>
          <p:spPr>
            <a:xfrm>
              <a:off x="5536644" y="2868893"/>
              <a:ext cx="655860" cy="268725"/>
            </a:xfrm>
            <a:prstGeom prst="rect">
              <a:avLst/>
            </a:prstGeom>
          </p:spPr>
        </p:pic>
      </p:grpSp>
      <p:sp>
        <p:nvSpPr>
          <p:cNvPr id="12" name="Retângulo 11"/>
          <p:cNvSpPr/>
          <p:nvPr/>
        </p:nvSpPr>
        <p:spPr>
          <a:xfrm>
            <a:off x="192031" y="4815177"/>
            <a:ext cx="2291861" cy="766757"/>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3516690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a:t>
            </a:r>
            <a:r>
              <a:rPr lang="en-US" sz="2800" b="1" spc="-83" dirty="0" err="1">
                <a:ln w="3175">
                  <a:noFill/>
                </a:ln>
                <a:solidFill>
                  <a:schemeClr val="accent6"/>
                </a:solidFill>
                <a:cs typeface="Arial" charset="0"/>
              </a:rPr>
              <a:t>Política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Uso</a:t>
            </a:r>
            <a:endParaRPr lang="en-US" sz="2800" dirty="0">
              <a:solidFill>
                <a:schemeClr val="accent6"/>
              </a:solidFill>
            </a:endParaRPr>
          </a:p>
        </p:txBody>
      </p:sp>
      <p:sp>
        <p:nvSpPr>
          <p:cNvPr id="7" name="CaixaDeTexto 6"/>
          <p:cNvSpPr txBox="1"/>
          <p:nvPr/>
        </p:nvSpPr>
        <p:spPr>
          <a:xfrm>
            <a:off x="3001387" y="2048752"/>
            <a:ext cx="6679650" cy="3970318"/>
          </a:xfrm>
          <a:prstGeom prst="rect">
            <a:avLst/>
          </a:prstGeom>
          <a:noFill/>
        </p:spPr>
        <p:txBody>
          <a:bodyPr wrap="square" rtlCol="0">
            <a:spAutoFit/>
          </a:bodyPr>
          <a:lstStyle/>
          <a:p>
            <a:pPr marL="285750" indent="-285750" algn="just">
              <a:buFont typeface="Arial" panose="020B0604020202020204" pitchFamily="34" charset="0"/>
              <a:buChar char="•"/>
            </a:pPr>
            <a:r>
              <a:rPr lang="pt-BR" b="1" dirty="0"/>
              <a:t>Toda a informação pertinente a SMILES (Departamental) e de uso em comum deve ser salva dentro do SharePoint</a:t>
            </a:r>
            <a:r>
              <a:rPr lang="pt-BR" dirty="0"/>
              <a:t>. Neste local é </a:t>
            </a:r>
            <a:r>
              <a:rPr lang="pt-BR" b="1" dirty="0"/>
              <a:t>garantido o </a:t>
            </a:r>
            <a:r>
              <a:rPr lang="pt-BR" b="1" i="1" dirty="0"/>
              <a:t>backup</a:t>
            </a:r>
            <a:r>
              <a:rPr lang="pt-BR" b="1" dirty="0"/>
              <a:t> </a:t>
            </a:r>
            <a:r>
              <a:rPr lang="pt-BR" dirty="0"/>
              <a:t>das informações, mesmo em caso de perda, extravio ou falha do sistema operacional.</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Para cada Grupo de Pastas Departamentais existe um responsável. </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O responsável poderá incluir e excluir acessos através da abertura de um chamado na ferramenta JIRA na área “Central de Acessos”. </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Caso queira recuperar um arquivo deletado, o mesmo ficará  disponível “via web” por 30 dias e, </a:t>
            </a:r>
            <a:r>
              <a:rPr lang="pt-BR" b="1" dirty="0"/>
              <a:t>não</a:t>
            </a:r>
            <a:r>
              <a:rPr lang="pt-BR" dirty="0"/>
              <a:t> estará na lixeira do Windows. Após esse período </a:t>
            </a:r>
            <a:r>
              <a:rPr lang="pt-BR" b="1" dirty="0"/>
              <a:t>não será possível</a:t>
            </a:r>
            <a:r>
              <a:rPr lang="pt-BR" dirty="0"/>
              <a:t> recuperar a informação.</a:t>
            </a:r>
          </a:p>
        </p:txBody>
      </p:sp>
      <p:pic>
        <p:nvPicPr>
          <p:cNvPr id="10"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75" y="2504761"/>
            <a:ext cx="2057400" cy="2781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85275822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5545082" y="2048752"/>
            <a:ext cx="4135954" cy="923330"/>
          </a:xfrm>
          <a:prstGeom prst="rect">
            <a:avLst/>
          </a:prstGeom>
          <a:noFill/>
        </p:spPr>
        <p:txBody>
          <a:bodyPr wrap="square" rtlCol="0">
            <a:spAutoFit/>
          </a:bodyPr>
          <a:lstStyle/>
          <a:p>
            <a:pPr lvl="1" algn="just"/>
            <a:r>
              <a:rPr lang="pt-BR" dirty="0"/>
              <a:t>Para ter acesso ao conteúdo do SharePoint é preciso clicar no link </a:t>
            </a:r>
            <a:r>
              <a:rPr lang="pt-BR" dirty="0" err="1"/>
              <a:t>Smiles</a:t>
            </a:r>
            <a:r>
              <a:rPr lang="pt-BR" dirty="0"/>
              <a:t>.</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grpSp>
        <p:nvGrpSpPr>
          <p:cNvPr id="15" name="Agrupar 14"/>
          <p:cNvGrpSpPr/>
          <p:nvPr/>
        </p:nvGrpSpPr>
        <p:grpSpPr>
          <a:xfrm>
            <a:off x="192032" y="1492996"/>
            <a:ext cx="5353050" cy="4920504"/>
            <a:chOff x="192032" y="1492996"/>
            <a:chExt cx="5353050" cy="4920504"/>
          </a:xfrm>
        </p:grpSpPr>
        <p:pic>
          <p:nvPicPr>
            <p:cNvPr id="10" name="Imagem 9"/>
            <p:cNvPicPr>
              <a:picLocks noChangeAspect="1"/>
            </p:cNvPicPr>
            <p:nvPr/>
          </p:nvPicPr>
          <p:blipFill rotWithShape="1">
            <a:blip r:embed="rId3"/>
            <a:srcRect b="3261"/>
            <a:stretch/>
          </p:blipFill>
          <p:spPr>
            <a:xfrm>
              <a:off x="192032" y="1492996"/>
              <a:ext cx="5353050" cy="4920504"/>
            </a:xfrm>
            <a:prstGeom prst="rect">
              <a:avLst/>
            </a:prstGeom>
          </p:spPr>
        </p:pic>
        <p:pic>
          <p:nvPicPr>
            <p:cNvPr id="14" name="Imagem 13"/>
            <p:cNvPicPr>
              <a:picLocks noChangeAspect="1"/>
            </p:cNvPicPr>
            <p:nvPr/>
          </p:nvPicPr>
          <p:blipFill>
            <a:blip r:embed="rId4"/>
            <a:stretch>
              <a:fillRect/>
            </a:stretch>
          </p:blipFill>
          <p:spPr>
            <a:xfrm>
              <a:off x="2970106" y="4405077"/>
              <a:ext cx="2476500" cy="1779823"/>
            </a:xfrm>
            <a:prstGeom prst="rect">
              <a:avLst/>
            </a:prstGeom>
          </p:spPr>
        </p:pic>
      </p:grpSp>
      <p:sp>
        <p:nvSpPr>
          <p:cNvPr id="16" name="CaixaDeTexto 15"/>
          <p:cNvSpPr txBox="1"/>
          <p:nvPr/>
        </p:nvSpPr>
        <p:spPr>
          <a:xfrm>
            <a:off x="330200" y="5765800"/>
            <a:ext cx="2362200" cy="749300"/>
          </a:xfrm>
          <a:prstGeom prst="rect">
            <a:avLst/>
          </a:prstGeom>
          <a:noFill/>
          <a:ln w="19050">
            <a:solidFill>
              <a:srgbClr val="FF0000"/>
            </a:solidFill>
          </a:ln>
        </p:spPr>
        <p:txBody>
          <a:bodyPr wrap="square" rtlCol="0">
            <a:spAutoFit/>
          </a:bodyPr>
          <a:lstStyle/>
          <a:p>
            <a:endParaRPr lang="pt-BR" dirty="0"/>
          </a:p>
        </p:txBody>
      </p:sp>
      <p:sp>
        <p:nvSpPr>
          <p:cNvPr id="18" name="Retângulo 17"/>
          <p:cNvSpPr/>
          <p:nvPr/>
        </p:nvSpPr>
        <p:spPr>
          <a:xfrm>
            <a:off x="3124200" y="3098800"/>
            <a:ext cx="2322406" cy="1306277"/>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7976920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4648513" y="2048752"/>
            <a:ext cx="5032523" cy="1477328"/>
          </a:xfrm>
          <a:prstGeom prst="rect">
            <a:avLst/>
          </a:prstGeom>
          <a:noFill/>
        </p:spPr>
        <p:txBody>
          <a:bodyPr wrap="square" rtlCol="0">
            <a:spAutoFit/>
          </a:bodyPr>
          <a:lstStyle/>
          <a:p>
            <a:pPr marL="742950" lvl="1" indent="-285750" algn="just">
              <a:buFont typeface="Arial" panose="020B0604020202020204" pitchFamily="34" charset="0"/>
              <a:buChar char="•"/>
            </a:pPr>
            <a:r>
              <a:rPr lang="pt-BR" dirty="0"/>
              <a:t>O acesso deve ser feito no menu a direita.</a:t>
            </a:r>
          </a:p>
          <a:p>
            <a:pPr marL="742950" lvl="1" indent="-285750" algn="just">
              <a:buFont typeface="Arial" panose="020B0604020202020204" pitchFamily="34" charset="0"/>
              <a:buChar char="•"/>
            </a:pPr>
            <a:endParaRPr lang="pt-BR" dirty="0"/>
          </a:p>
          <a:p>
            <a:pPr marL="742950" lvl="1" indent="-285750" algn="just">
              <a:buFont typeface="Arial" panose="020B0604020202020204" pitchFamily="34" charset="0"/>
              <a:buChar char="•"/>
            </a:pPr>
            <a:r>
              <a:rPr lang="pt-BR" dirty="0"/>
              <a:t>São disponibilizados os itens excluídos nos últimos 30 dias </a:t>
            </a:r>
            <a:r>
              <a:rPr lang="pt-BR" dirty="0"/>
              <a:t>referente</a:t>
            </a:r>
            <a:r>
              <a:rPr lang="pt-BR" dirty="0"/>
              <a:t> a data de exclusão.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3" name="CaixaDeTexto 2"/>
          <p:cNvSpPr txBox="1"/>
          <p:nvPr/>
        </p:nvSpPr>
        <p:spPr>
          <a:xfrm>
            <a:off x="1209989" y="4740812"/>
            <a:ext cx="759488" cy="369332"/>
          </a:xfrm>
          <a:prstGeom prst="rect">
            <a:avLst/>
          </a:prstGeom>
          <a:noFill/>
          <a:ln w="19050">
            <a:solidFill>
              <a:srgbClr val="FF0000"/>
            </a:solidFill>
          </a:ln>
        </p:spPr>
        <p:txBody>
          <a:bodyPr wrap="square" rtlCol="0">
            <a:spAutoFit/>
          </a:bodyPr>
          <a:lstStyle/>
          <a:p>
            <a:endParaRPr lang="pt-BR" dirty="0">
              <a:solidFill>
                <a:srgbClr val="FF0000"/>
              </a:solidFill>
            </a:endParaRPr>
          </a:p>
        </p:txBody>
      </p:sp>
      <p:grpSp>
        <p:nvGrpSpPr>
          <p:cNvPr id="6" name="Agrupar 5"/>
          <p:cNvGrpSpPr/>
          <p:nvPr/>
        </p:nvGrpSpPr>
        <p:grpSpPr>
          <a:xfrm>
            <a:off x="309491" y="1927274"/>
            <a:ext cx="4403656" cy="3851225"/>
            <a:chOff x="309491" y="1927274"/>
            <a:chExt cx="4403656" cy="3851225"/>
          </a:xfrm>
        </p:grpSpPr>
        <p:pic>
          <p:nvPicPr>
            <p:cNvPr id="5" name="Imagem 4"/>
            <p:cNvPicPr>
              <a:picLocks noChangeAspect="1"/>
            </p:cNvPicPr>
            <p:nvPr/>
          </p:nvPicPr>
          <p:blipFill rotWithShape="1">
            <a:blip r:embed="rId3"/>
            <a:srcRect t="23598" r="61205" b="16057"/>
            <a:stretch/>
          </p:blipFill>
          <p:spPr>
            <a:xfrm>
              <a:off x="309491" y="1927274"/>
              <a:ext cx="4403656" cy="3851225"/>
            </a:xfrm>
            <a:prstGeom prst="rect">
              <a:avLst/>
            </a:prstGeom>
          </p:spPr>
        </p:pic>
        <p:sp>
          <p:nvSpPr>
            <p:cNvPr id="2" name="Retângulo 1"/>
            <p:cNvSpPr/>
            <p:nvPr/>
          </p:nvSpPr>
          <p:spPr>
            <a:xfrm>
              <a:off x="309491" y="2463800"/>
              <a:ext cx="1062109" cy="228600"/>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pic>
        <p:nvPicPr>
          <p:cNvPr id="9" name="Imagem 8"/>
          <p:cNvPicPr>
            <a:picLocks noChangeAspect="1"/>
          </p:cNvPicPr>
          <p:nvPr/>
        </p:nvPicPr>
        <p:blipFill rotWithShape="1">
          <a:blip r:embed="rId4"/>
          <a:srcRect r="39670"/>
          <a:stretch/>
        </p:blipFill>
        <p:spPr>
          <a:xfrm>
            <a:off x="5192971" y="4191001"/>
            <a:ext cx="4488065" cy="2346324"/>
          </a:xfrm>
          <a:prstGeom prst="rect">
            <a:avLst/>
          </a:prstGeom>
        </p:spPr>
      </p:pic>
    </p:spTree>
    <p:extLst>
      <p:ext uri="{BB962C8B-B14F-4D97-AF65-F5344CB8AC3E}">
        <p14:creationId xmlns:p14="http://schemas.microsoft.com/office/powerpoint/2010/main" val="267572134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pic>
        <p:nvPicPr>
          <p:cNvPr id="1026" name="Picture 2" descr="http://www.umkc.edu/hr/images/how-do-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131" y="1826947"/>
            <a:ext cx="4783232" cy="29230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0" name="Retângulo 19"/>
          <p:cNvSpPr/>
          <p:nvPr/>
        </p:nvSpPr>
        <p:spPr>
          <a:xfrm>
            <a:off x="348457" y="2349376"/>
            <a:ext cx="4985449" cy="2400657"/>
          </a:xfrm>
          <a:prstGeom prst="rect">
            <a:avLst/>
          </a:prstGeom>
        </p:spPr>
        <p:txBody>
          <a:bodyPr wrap="square">
            <a:spAutoFit/>
          </a:bodyPr>
          <a:lstStyle/>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Como solicitar acesso ao SharePoint?</a:t>
            </a:r>
          </a:p>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Como criar pasta no SharePoint?</a:t>
            </a:r>
          </a:p>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Não consigo acesso a determinada pasta (erro).</a:t>
            </a:r>
          </a:p>
          <a:p>
            <a:pPr marL="342900" indent="-342900">
              <a:spcBef>
                <a:spcPts val="600"/>
              </a:spcBef>
              <a:spcAft>
                <a:spcPts val="1800"/>
              </a:spcAft>
              <a:buFont typeface="+mj-lt"/>
              <a:buAutoNum type="arabicPeriod"/>
            </a:pPr>
            <a:endParaRPr lang="pt-BR" b="1" dirty="0">
              <a:solidFill>
                <a:srgbClr val="7030A0"/>
              </a:solidFill>
              <a:latin typeface="Segoe UI" panose="020B0502040204020203" pitchFamily="34" charset="0"/>
              <a:cs typeface="Segoe UI" panose="020B0502040204020203" pitchFamily="34" charset="0"/>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1"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Abertura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Chamados</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referentes</a:t>
            </a:r>
            <a:r>
              <a:rPr lang="en-US" sz="2800" b="1" spc="-83" dirty="0">
                <a:ln w="3175">
                  <a:noFill/>
                </a:ln>
                <a:solidFill>
                  <a:schemeClr val="accent6"/>
                </a:solidFill>
                <a:cs typeface="Arial" charset="0"/>
              </a:rPr>
              <a:t> a SharePoint</a:t>
            </a:r>
            <a:endParaRPr lang="en-US" sz="2800" dirty="0">
              <a:solidFill>
                <a:schemeClr val="accent6"/>
              </a:solidFill>
            </a:endParaRPr>
          </a:p>
        </p:txBody>
      </p:sp>
    </p:spTree>
    <p:extLst>
      <p:ext uri="{BB962C8B-B14F-4D97-AF65-F5344CB8AC3E}">
        <p14:creationId xmlns:p14="http://schemas.microsoft.com/office/powerpoint/2010/main" val="124269160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solicitar acesso ao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724096"/>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Conceder Acesso à Pasta ou 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Gestão de Acessos &gt; Concessão de Acesso.</a:t>
            </a:r>
          </a:p>
        </p:txBody>
      </p:sp>
      <p:grpSp>
        <p:nvGrpSpPr>
          <p:cNvPr id="12" name="Agrupar 11"/>
          <p:cNvGrpSpPr/>
          <p:nvPr/>
        </p:nvGrpSpPr>
        <p:grpSpPr>
          <a:xfrm>
            <a:off x="4263221" y="2451489"/>
            <a:ext cx="5296059" cy="2500285"/>
            <a:chOff x="4263221" y="2451489"/>
            <a:chExt cx="5296059" cy="2500285"/>
          </a:xfrm>
        </p:grpSpPr>
        <p:pic>
          <p:nvPicPr>
            <p:cNvPr id="3" name="Imagem 2"/>
            <p:cNvPicPr>
              <a:picLocks noChangeAspect="1"/>
            </p:cNvPicPr>
            <p:nvPr/>
          </p:nvPicPr>
          <p:blipFill>
            <a:blip r:embed="rId4"/>
            <a:stretch>
              <a:fillRect/>
            </a:stretch>
          </p:blipFill>
          <p:spPr>
            <a:xfrm>
              <a:off x="4263221" y="2451489"/>
              <a:ext cx="5296059" cy="2500285"/>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008914" y="4164039"/>
              <a:ext cx="3461658" cy="703384"/>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82947177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criar pasta no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447098"/>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Criar pasta/diretório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682154" y="2494268"/>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320476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Não consigo acesso a determinada pasta (erro).</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724096"/>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Não consegue acessar pasta ou 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grpSp>
        <p:nvGrpSpPr>
          <p:cNvPr id="5" name="Agrupar 4"/>
          <p:cNvGrpSpPr/>
          <p:nvPr/>
        </p:nvGrpSpPr>
        <p:grpSpPr>
          <a:xfrm>
            <a:off x="5073920" y="2451489"/>
            <a:ext cx="4694600" cy="3194264"/>
            <a:chOff x="5073920" y="2451489"/>
            <a:chExt cx="4694600" cy="3194264"/>
          </a:xfrm>
        </p:grpSpPr>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752494" y="3042911"/>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776517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214935" y="1829561"/>
            <a:ext cx="3794357" cy="4247317"/>
          </a:xfrm>
          <a:prstGeom prst="rect">
            <a:avLst/>
          </a:prstGeom>
        </p:spPr>
        <p:txBody>
          <a:bodyPr wrap="square">
            <a:spAutoFit/>
          </a:bodyPr>
          <a:lstStyle/>
          <a:p>
            <a:endParaRPr lang="pt-BR" dirty="0"/>
          </a:p>
          <a:p>
            <a:endParaRPr lang="pt-BR" dirty="0"/>
          </a:p>
          <a:p>
            <a:r>
              <a:rPr lang="pt-BR" dirty="0"/>
              <a:t>Clique em </a:t>
            </a:r>
            <a:r>
              <a:rPr lang="pt-BR" b="1" dirty="0"/>
              <a:t>Arquivo </a:t>
            </a:r>
            <a:r>
              <a:rPr lang="pt-BR" dirty="0"/>
              <a:t>&gt; </a:t>
            </a:r>
            <a:r>
              <a:rPr lang="pt-BR" b="1" dirty="0"/>
              <a:t>Salvar como</a:t>
            </a:r>
            <a:r>
              <a:rPr lang="pt-BR" dirty="0"/>
              <a:t>.</a:t>
            </a:r>
          </a:p>
          <a:p>
            <a:pPr algn="just"/>
            <a:endParaRPr lang="pt-BR" dirty="0"/>
          </a:p>
          <a:p>
            <a:pPr algn="just"/>
            <a:r>
              <a:rPr lang="pt-BR" dirty="0"/>
              <a:t>Na página Salvar como, clique duas vezes no local que deseja usar - como na </a:t>
            </a:r>
            <a:r>
              <a:rPr lang="pt-BR" b="1" dirty="0"/>
              <a:t>biblioteca de documentos do SharePoint</a:t>
            </a:r>
            <a:r>
              <a:rPr lang="pt-BR" dirty="0"/>
              <a:t>, em um local no seu computador ou no seu </a:t>
            </a:r>
            <a:r>
              <a:rPr lang="pt-BR" b="1" dirty="0"/>
              <a:t>OneDrive Corporativo.</a:t>
            </a:r>
          </a:p>
          <a:p>
            <a:pPr algn="just"/>
            <a:endParaRPr lang="pt-BR" dirty="0"/>
          </a:p>
          <a:p>
            <a:pPr algn="just"/>
            <a:r>
              <a:rPr lang="pt-BR" dirty="0"/>
              <a:t>Dê um nome ao arquivo e clique em Salvar. Se você for levado de volta à guia Informações, clique novamente em Compartilhar.</a:t>
            </a:r>
          </a:p>
        </p:txBody>
      </p:sp>
      <p:pic>
        <p:nvPicPr>
          <p:cNvPr id="12" name="Imagem 11"/>
          <p:cNvPicPr>
            <a:picLocks noChangeAspect="1"/>
          </p:cNvPicPr>
          <p:nvPr/>
        </p:nvPicPr>
        <p:blipFill>
          <a:blip r:embed="rId2"/>
          <a:stretch>
            <a:fillRect/>
          </a:stretch>
        </p:blipFill>
        <p:spPr>
          <a:xfrm>
            <a:off x="4009292" y="1997613"/>
            <a:ext cx="5997514" cy="3854548"/>
          </a:xfrm>
          <a:prstGeom prst="rect">
            <a:avLst/>
          </a:prstGeom>
        </p:spPr>
      </p:pic>
      <p:sp>
        <p:nvSpPr>
          <p:cNvPr id="13" name="Retângulo: Cantos Arredondados 12"/>
          <p:cNvSpPr/>
          <p:nvPr/>
        </p:nvSpPr>
        <p:spPr>
          <a:xfrm>
            <a:off x="4019703" y="3587262"/>
            <a:ext cx="636706" cy="33762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5" name="Retângulo: Cantos Arredondados 14"/>
          <p:cNvSpPr/>
          <p:nvPr/>
        </p:nvSpPr>
        <p:spPr>
          <a:xfrm>
            <a:off x="4824622" y="4316437"/>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6" name="Retângulo: Cantos Arredondados 15"/>
          <p:cNvSpPr/>
          <p:nvPr/>
        </p:nvSpPr>
        <p:spPr>
          <a:xfrm>
            <a:off x="4824621" y="3415311"/>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7" name="Retângulo: Cantos Arredondados 16"/>
          <p:cNvSpPr/>
          <p:nvPr/>
        </p:nvSpPr>
        <p:spPr>
          <a:xfrm>
            <a:off x="6723756" y="3111682"/>
            <a:ext cx="3220650" cy="43337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4"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8"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Como </a:t>
            </a:r>
            <a:r>
              <a:rPr lang="en-US" sz="2800" b="1" spc="-83" dirty="0" err="1">
                <a:ln w="3175">
                  <a:noFill/>
                </a:ln>
                <a:solidFill>
                  <a:schemeClr val="accent6"/>
                </a:solidFill>
                <a:cs typeface="Arial" charset="0"/>
              </a:rPr>
              <a:t>Salvar</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via Office 365 (OneDrive </a:t>
            </a:r>
            <a:r>
              <a:rPr lang="en-US" sz="2800" b="1" spc="-83" dirty="0" err="1">
                <a:ln w="3175">
                  <a:noFill/>
                </a:ln>
                <a:solidFill>
                  <a:schemeClr val="accent6"/>
                </a:solidFill>
                <a:cs typeface="Arial" charset="0"/>
              </a:rPr>
              <a:t>ou</a:t>
            </a:r>
            <a:r>
              <a:rPr lang="en-US" sz="2800" b="1" spc="-83" dirty="0">
                <a:ln w="3175">
                  <a:noFill/>
                </a:ln>
                <a:solidFill>
                  <a:schemeClr val="accent6"/>
                </a:solidFill>
                <a:cs typeface="Arial" charset="0"/>
              </a:rPr>
              <a:t> SharePoint)</a:t>
            </a:r>
            <a:endParaRPr lang="en-US" sz="2800" dirty="0">
              <a:solidFill>
                <a:schemeClr val="accent6"/>
              </a:solidFill>
            </a:endParaRPr>
          </a:p>
        </p:txBody>
      </p:sp>
    </p:spTree>
    <p:extLst>
      <p:ext uri="{BB962C8B-B14F-4D97-AF65-F5344CB8AC3E}">
        <p14:creationId xmlns:p14="http://schemas.microsoft.com/office/powerpoint/2010/main" val="1552268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110330" y="2167546"/>
            <a:ext cx="4357066" cy="3139321"/>
          </a:xfrm>
          <a:prstGeom prst="rect">
            <a:avLst/>
          </a:prstGeom>
        </p:spPr>
        <p:txBody>
          <a:bodyPr wrap="square">
            <a:spAutoFit/>
          </a:bodyPr>
          <a:lstStyle/>
          <a:p>
            <a:pPr algn="just"/>
            <a:r>
              <a:rPr lang="pt-BR" dirty="0"/>
              <a:t>Caso queira fazer alterações em um arquivo e se certificar de que ninguém mais possa editá-lo, você precisa fazer o </a:t>
            </a:r>
            <a:r>
              <a:rPr lang="pt-BR" i="1" dirty="0" err="1"/>
              <a:t>Check</a:t>
            </a:r>
            <a:r>
              <a:rPr lang="pt-BR" i="1" dirty="0"/>
              <a:t> Out</a:t>
            </a:r>
            <a:r>
              <a:rPr lang="pt-BR" dirty="0"/>
              <a:t> do arquivo na página do SharePoint. Feito isso, é possível editá-lo e salvá-lo.</a:t>
            </a:r>
          </a:p>
          <a:p>
            <a:endParaRPr lang="pt-BR" dirty="0"/>
          </a:p>
          <a:p>
            <a:r>
              <a:rPr lang="pt-BR" dirty="0"/>
              <a:t>Para realizar o </a:t>
            </a:r>
            <a:r>
              <a:rPr lang="pt-BR" dirty="0" err="1"/>
              <a:t>Check</a:t>
            </a:r>
            <a:r>
              <a:rPr lang="pt-BR" dirty="0"/>
              <a:t>-Out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err="1"/>
              <a:t>Check</a:t>
            </a:r>
            <a:r>
              <a:rPr lang="pt-BR" b="1" dirty="0"/>
              <a:t>-Out</a:t>
            </a:r>
          </a:p>
          <a:p>
            <a:endParaRPr lang="pt-BR" b="1" dirty="0"/>
          </a:p>
          <a:p>
            <a:endParaRPr lang="pt-BR" b="1" dirty="0"/>
          </a:p>
        </p:txBody>
      </p:sp>
      <p:pic>
        <p:nvPicPr>
          <p:cNvPr id="6" name="Imagem 5"/>
          <p:cNvPicPr>
            <a:picLocks noChangeAspect="1"/>
          </p:cNvPicPr>
          <p:nvPr/>
        </p:nvPicPr>
        <p:blipFill rotWithShape="1">
          <a:blip r:embed="rId2"/>
          <a:srcRect t="5008" r="1598"/>
          <a:stretch/>
        </p:blipFill>
        <p:spPr>
          <a:xfrm>
            <a:off x="4702187" y="1172088"/>
            <a:ext cx="4798864" cy="5130238"/>
          </a:xfrm>
          <a:prstGeom prst="rect">
            <a:avLst/>
          </a:prstGeom>
        </p:spPr>
      </p:pic>
      <p:sp>
        <p:nvSpPr>
          <p:cNvPr id="7"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8" name="Rectangle 2"/>
          <p:cNvSpPr/>
          <p:nvPr/>
        </p:nvSpPr>
        <p:spPr>
          <a:xfrm>
            <a:off x="192032" y="914263"/>
            <a:ext cx="4510155" cy="938371"/>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Check-out de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no SharePoint</a:t>
            </a:r>
            <a:endParaRPr lang="en-US" sz="2800" dirty="0">
              <a:solidFill>
                <a:schemeClr val="accent6"/>
              </a:solidFill>
            </a:endParaRPr>
          </a:p>
        </p:txBody>
      </p:sp>
    </p:spTree>
    <p:extLst>
      <p:ext uri="{BB962C8B-B14F-4D97-AF65-F5344CB8AC3E}">
        <p14:creationId xmlns:p14="http://schemas.microsoft.com/office/powerpoint/2010/main" val="426315506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214935" y="1652684"/>
            <a:ext cx="4357066" cy="4801314"/>
          </a:xfrm>
          <a:prstGeom prst="rect">
            <a:avLst/>
          </a:prstGeom>
        </p:spPr>
        <p:txBody>
          <a:bodyPr wrap="square">
            <a:spAutoFit/>
          </a:bodyPr>
          <a:lstStyle/>
          <a:p>
            <a:pPr algn="just"/>
            <a:r>
              <a:rPr lang="pt-BR" dirty="0"/>
              <a:t>Quando terminar de editar o arquivo e realizar o check-in na biblioteca novamente, outras pessoas poderão ver as alterações e editar o arquivo, se tiver permissão. E, caso decidir não realizar nenhuma alteração no arquivo, simplesmente descarte o </a:t>
            </a:r>
            <a:r>
              <a:rPr lang="pt-BR" dirty="0" err="1"/>
              <a:t>check</a:t>
            </a:r>
            <a:r>
              <a:rPr lang="pt-BR" dirty="0"/>
              <a:t>-out para não afetar o histórico de versões.</a:t>
            </a:r>
          </a:p>
          <a:p>
            <a:pPr algn="just"/>
            <a:endParaRPr lang="pt-BR" dirty="0"/>
          </a:p>
          <a:p>
            <a:r>
              <a:rPr lang="pt-BR" dirty="0"/>
              <a:t>Para realizar o Check-In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a:t>Check-In</a:t>
            </a:r>
          </a:p>
          <a:p>
            <a:endParaRPr lang="pt-BR" b="1" dirty="0"/>
          </a:p>
          <a:p>
            <a:pPr algn="just"/>
            <a:r>
              <a:rPr lang="pt-BR" dirty="0"/>
              <a:t>Obs.: Você consegue verificar se um arquivos está em uso</a:t>
            </a:r>
            <a:r>
              <a:rPr lang="pt-BR" b="1" dirty="0"/>
              <a:t> </a:t>
            </a:r>
            <a:r>
              <a:rPr lang="pt-BR" dirty="0"/>
              <a:t>quando estiver marcado com uma seta verde apontado para baixo.</a:t>
            </a:r>
          </a:p>
          <a:p>
            <a:endParaRPr lang="pt-BR" b="1" dirty="0"/>
          </a:p>
        </p:txBody>
      </p:sp>
      <p:pic>
        <p:nvPicPr>
          <p:cNvPr id="2" name="Imagem 1"/>
          <p:cNvPicPr>
            <a:picLocks noChangeAspect="1"/>
          </p:cNvPicPr>
          <p:nvPr/>
        </p:nvPicPr>
        <p:blipFill>
          <a:blip r:embed="rId2"/>
          <a:stretch>
            <a:fillRect/>
          </a:stretch>
        </p:blipFill>
        <p:spPr>
          <a:xfrm>
            <a:off x="976022" y="6069792"/>
            <a:ext cx="3595979" cy="561454"/>
          </a:xfrm>
          <a:prstGeom prst="rect">
            <a:avLst/>
          </a:prstGeom>
        </p:spPr>
      </p:pic>
      <p:pic>
        <p:nvPicPr>
          <p:cNvPr id="7" name="Imagem 6"/>
          <p:cNvPicPr>
            <a:picLocks noChangeAspect="1"/>
          </p:cNvPicPr>
          <p:nvPr/>
        </p:nvPicPr>
        <p:blipFill>
          <a:blip r:embed="rId3"/>
          <a:stretch>
            <a:fillRect/>
          </a:stretch>
        </p:blipFill>
        <p:spPr>
          <a:xfrm>
            <a:off x="4572001" y="2809874"/>
            <a:ext cx="5489697" cy="1762125"/>
          </a:xfrm>
          <a:prstGeom prst="rect">
            <a:avLst/>
          </a:prstGeom>
        </p:spPr>
      </p:pic>
      <p:sp>
        <p:nvSpPr>
          <p:cNvPr id="10" name="Retângulo: Cantos Arredondados 9"/>
          <p:cNvSpPr/>
          <p:nvPr/>
        </p:nvSpPr>
        <p:spPr>
          <a:xfrm>
            <a:off x="8096022" y="3564559"/>
            <a:ext cx="1863904" cy="76829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6337105"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Check-in de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no SharePoint</a:t>
            </a:r>
            <a:endParaRPr lang="en-US" sz="2800" dirty="0">
              <a:solidFill>
                <a:schemeClr val="accent6"/>
              </a:solidFill>
            </a:endParaRPr>
          </a:p>
        </p:txBody>
      </p:sp>
    </p:spTree>
    <p:extLst>
      <p:ext uri="{BB962C8B-B14F-4D97-AF65-F5344CB8AC3E}">
        <p14:creationId xmlns:p14="http://schemas.microsoft.com/office/powerpoint/2010/main" val="295193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pic>
        <p:nvPicPr>
          <p:cNvPr id="4103" name="Picture 7" descr="http://queconceito.com.br/wp-content/uploads/duvid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836" y="1448209"/>
            <a:ext cx="4680863" cy="3180062"/>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58"/>
          <p:cNvSpPr/>
          <p:nvPr/>
        </p:nvSpPr>
        <p:spPr bwMode="auto">
          <a:xfrm>
            <a:off x="280836" y="4156829"/>
            <a:ext cx="4680863" cy="2311968"/>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lvl="1" defTabSz="914008" fontAlgn="base">
              <a:lnSpc>
                <a:spcPct val="90000"/>
              </a:lnSpc>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914008" fontAlgn="base">
              <a:lnSpc>
                <a:spcPct val="90000"/>
              </a:lnSpc>
              <a:spcBef>
                <a:spcPct val="0"/>
              </a:spcBef>
              <a:spcAft>
                <a:spcPct val="0"/>
              </a:spcAft>
            </a:pP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Suporte</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ou</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dúvidas</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defTabSz="914008" fontAlgn="base">
              <a:lnSpc>
                <a:spcPct val="90000"/>
              </a:lnSpc>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r>
              <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rPr>
              <a:t>Entre em contato através do Jira pela Central de Serviços</a:t>
            </a:r>
          </a:p>
        </p:txBody>
      </p:sp>
      <p:sp>
        <p:nvSpPr>
          <p:cNvPr id="8" name="Retângulo 7"/>
          <p:cNvSpPr/>
          <p:nvPr/>
        </p:nvSpPr>
        <p:spPr>
          <a:xfrm>
            <a:off x="5242528" y="1462277"/>
            <a:ext cx="4677175" cy="2350068"/>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lvl="1" defTabSz="758158" fontAlgn="base">
              <a:spcBef>
                <a:spcPct val="0"/>
              </a:spcBef>
              <a:spcAft>
                <a:spcPct val="0"/>
              </a:spcAft>
            </a:pPr>
            <a:r>
              <a:rPr lang="pt-BR" sz="2000" dirty="0">
                <a:solidFill>
                  <a:schemeClr val="tx1"/>
                </a:solidFill>
                <a:ea typeface="Segoe UI" pitchFamily="34" charset="0"/>
                <a:cs typeface="Segoe UI" pitchFamily="34" charset="0"/>
              </a:rPr>
              <a:t>Para mais informações acesse </a:t>
            </a:r>
            <a:r>
              <a:rPr lang="pt-BR" sz="2000" dirty="0">
                <a:solidFill>
                  <a:schemeClr val="tx1"/>
                </a:solidFill>
                <a:ea typeface="Segoe UI" pitchFamily="34" charset="0"/>
                <a:cs typeface="Segoe UI" pitchFamily="34" charset="0"/>
                <a:hlinkClick r:id="rId6"/>
              </a:rPr>
              <a:t>https://support.office.com/pt-br/article/Centro-de-Treinamento-do-Office</a:t>
            </a:r>
            <a:r>
              <a:rPr lang="pt-BR" sz="2000" dirty="0">
                <a:solidFill>
                  <a:schemeClr val="tx1"/>
                </a:solidFill>
                <a:ea typeface="Segoe UI" pitchFamily="34" charset="0"/>
                <a:cs typeface="Segoe UI" pitchFamily="34" charset="0"/>
              </a:rPr>
              <a:t> onde você encontrará outras opções de treinamento gratuitas.</a:t>
            </a:r>
          </a:p>
        </p:txBody>
      </p:sp>
      <p:sp>
        <p:nvSpPr>
          <p:cNvPr id="10" name="Retângulo 9"/>
          <p:cNvSpPr/>
          <p:nvPr/>
        </p:nvSpPr>
        <p:spPr>
          <a:xfrm>
            <a:off x="5242529" y="4118728"/>
            <a:ext cx="4637061" cy="2350068"/>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lvl="1" defTabSz="758158" fontAlgn="base">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Operação</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Assistida</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endPar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endParaRPr>
          </a:p>
          <a:p>
            <a:pPr lvl="1" defTabSz="758158" fontAlgn="base">
              <a:spcBef>
                <a:spcPct val="0"/>
              </a:spcBef>
              <a:spcAft>
                <a:spcPct val="0"/>
              </a:spcAft>
            </a:pPr>
            <a:r>
              <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rPr>
              <a:t>De 24 de Janeiro a 03 de Fevereiro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69163032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ags/tag2.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2779</Words>
  <Application>Microsoft Office PowerPoint</Application>
  <PresentationFormat>Personalizar</PresentationFormat>
  <Paragraphs>295</Paragraphs>
  <Slides>37</Slides>
  <Notes>10</Notes>
  <HiddenSlides>1</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37</vt:i4>
      </vt:variant>
    </vt:vector>
  </HeadingPairs>
  <TitlesOfParts>
    <vt:vector size="46" baseType="lpstr">
      <vt:lpstr>Arial</vt:lpstr>
      <vt:lpstr>Calibri</vt:lpstr>
      <vt:lpstr>Calibri Light</vt:lpstr>
      <vt:lpstr>Gotham Rounded Book</vt:lpstr>
      <vt:lpstr>Segoe UI</vt:lpstr>
      <vt:lpstr>Segoe UI Light</vt:lpstr>
      <vt:lpstr>Segoe UI Semibold</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2016-08-19T13:34:39Z</dcterms:created>
  <dcterms:modified xsi:type="dcterms:W3CDTF">2017-01-23T21:18:20Z</dcterms:modified>
</cp:coreProperties>
</file>