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64" r:id="rId3"/>
    <p:sldId id="262" r:id="rId4"/>
    <p:sldId id="263" r:id="rId5"/>
    <p:sldId id="301" r:id="rId6"/>
    <p:sldId id="295" r:id="rId7"/>
    <p:sldId id="296" r:id="rId8"/>
    <p:sldId id="305" r:id="rId9"/>
    <p:sldId id="298" r:id="rId10"/>
    <p:sldId id="303" r:id="rId11"/>
    <p:sldId id="304" r:id="rId12"/>
    <p:sldId id="302" r:id="rId13"/>
    <p:sldId id="294" r:id="rId14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259"/>
    <a:srgbClr val="FFFF66"/>
    <a:srgbClr val="009999"/>
    <a:srgbClr val="FFFFCC"/>
    <a:srgbClr val="FF3300"/>
    <a:srgbClr val="00AEC7"/>
    <a:srgbClr val="D9D9D6"/>
    <a:srgbClr val="7C6992"/>
    <a:srgbClr val="888B8D"/>
    <a:srgbClr val="B9D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5" autoAdjust="0"/>
    <p:restoredTop sz="98046" autoAdjust="0"/>
  </p:normalViewPr>
  <p:slideViewPr>
    <p:cSldViewPr>
      <p:cViewPr>
        <p:scale>
          <a:sx n="90" d="100"/>
          <a:sy n="90" d="100"/>
        </p:scale>
        <p:origin x="-768" y="-204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26/05/2015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mailto:GMUD@natura.net" TargetMode="External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enriquegherardi@natura.net" TargetMode="External"/><Relationship Id="rId5" Type="http://schemas.openxmlformats.org/officeDocument/2006/relationships/hyperlink" Target="mailto:marcusmarques@natura.net" TargetMode="External"/><Relationship Id="rId4" Type="http://schemas.openxmlformats.org/officeDocument/2006/relationships/hyperlink" Target="mailto:solangedias@natura.ne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esktop\Apresentação TD\Fotos\P_PE_Ciclo15-14_0001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2000"/>
                    </a14:imgEffect>
                    <a14:imgEffect>
                      <a14:brightnessContrast bright="5000"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516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07504" y="124272"/>
            <a:ext cx="5184576" cy="861774"/>
          </a:xfrm>
          <a:prstGeom prst="rect">
            <a:avLst/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3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Parada Programada</a:t>
            </a:r>
            <a:endParaRPr lang="pt-BR" sz="3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  <a:p>
            <a:r>
              <a:rPr lang="pt-BR" sz="20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Gerência de Processos e Performance</a:t>
            </a:r>
            <a:endParaRPr lang="pt-BR" sz="1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6" name="Picture 8" descr="NAT_marca_branca_natura-01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4281381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341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Users\BR92457\Desktop\Apresentação TD\Fotos\P_PE_Ciclo15-14_0005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19" t="37287" r="6670"/>
          <a:stretch/>
        </p:blipFill>
        <p:spPr bwMode="auto">
          <a:xfrm>
            <a:off x="821550" y="2718924"/>
            <a:ext cx="7638882" cy="242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51520" y="406612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SUMÁRIO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22362" y="1983706"/>
            <a:ext cx="11288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Introdução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586458" y="1390799"/>
            <a:ext cx="15841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2.Objetivos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397466" y="2343599"/>
            <a:ext cx="10701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3.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Benefícios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378546" y="988368"/>
            <a:ext cx="1587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4.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Descrição do Processo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89015" y="2458280"/>
            <a:ext cx="1040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5.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Etapas </a:t>
            </a:r>
            <a:endParaRPr lang="pt-BR" sz="1200" b="1" dirty="0" smtClean="0">
              <a:solidFill>
                <a:srgbClr val="6E6259"/>
              </a:solidFill>
              <a:latin typeface="Gill Sans Std" pitchFamily="34" charset="0"/>
            </a:endParaRPr>
          </a:p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do processo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250754" y="1390799"/>
            <a:ext cx="15164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6.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Calendário 2015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866378" y="2308612"/>
            <a:ext cx="0" cy="1056020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 flipV="1">
            <a:off x="1874490" y="1845199"/>
            <a:ext cx="0" cy="953938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2541482" y="2621750"/>
            <a:ext cx="0" cy="668522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V="1">
            <a:off x="3818706" y="1450034"/>
            <a:ext cx="0" cy="1249830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 flipV="1">
            <a:off x="5053111" y="2919945"/>
            <a:ext cx="0" cy="483585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V="1">
            <a:off x="5618906" y="1876564"/>
            <a:ext cx="0" cy="1488068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tângulo 18"/>
          <p:cNvSpPr/>
          <p:nvPr/>
        </p:nvSpPr>
        <p:spPr>
          <a:xfrm>
            <a:off x="5940807" y="1800781"/>
            <a:ext cx="15164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>
                <a:solidFill>
                  <a:srgbClr val="6E6259"/>
                </a:solidFill>
                <a:latin typeface="Gill Sans Std" pitchFamily="34" charset="0"/>
              </a:rPr>
              <a:t>8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Papéis e</a:t>
            </a:r>
          </a:p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Responsabilidades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20" name="Conector reto 19"/>
          <p:cNvCxnSpPr/>
          <p:nvPr/>
        </p:nvCxnSpPr>
        <p:spPr>
          <a:xfrm flipV="1">
            <a:off x="8139186" y="1561367"/>
            <a:ext cx="0" cy="1138497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>
          <a:xfrm>
            <a:off x="5657987" y="2550614"/>
            <a:ext cx="13533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7.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Comunicação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27" name="Conector reto 26"/>
          <p:cNvCxnSpPr/>
          <p:nvPr/>
        </p:nvCxnSpPr>
        <p:spPr>
          <a:xfrm flipV="1">
            <a:off x="6699026" y="2930795"/>
            <a:ext cx="0" cy="577853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 flipV="1">
            <a:off x="7315201" y="2267903"/>
            <a:ext cx="0" cy="380754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6799979" y="1214883"/>
            <a:ext cx="15164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9.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Suporte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8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Users\BR92457\Desktop\Apresentação TD\Fotos\EK_Ciclo18-14_0014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7488"/>
          <a:stretch/>
        </p:blipFill>
        <p:spPr bwMode="auto">
          <a:xfrm>
            <a:off x="7694986" y="3850706"/>
            <a:ext cx="1413518" cy="124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251520" y="268288"/>
            <a:ext cx="226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INTRODUÇÃO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6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51519" y="916360"/>
            <a:ext cx="796186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 propósito da Parada Programada é </a:t>
            </a:r>
            <a:r>
              <a:rPr lang="pt-BR" sz="1400" b="1" i="1" dirty="0">
                <a:solidFill>
                  <a:srgbClr val="6E6259"/>
                </a:solidFill>
                <a:latin typeface="Gill Sans Std Light" pitchFamily="34" charset="0"/>
              </a:rPr>
              <a:t>reduzir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 o número de indisponibilidades dos sistemas para o Negócio, concentrando todas as mudanças críticas em ambiente produtivo em um período </a:t>
            </a:r>
            <a:r>
              <a:rPr lang="pt-BR" sz="1400" b="1" i="1" dirty="0">
                <a:solidFill>
                  <a:srgbClr val="6E6259"/>
                </a:solidFill>
                <a:latin typeface="Gill Sans Std Light" pitchFamily="34" charset="0"/>
              </a:rPr>
              <a:t>pré-acordado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, e garantir o nível apropriado de </a:t>
            </a:r>
            <a:r>
              <a:rPr lang="pt-BR" sz="1400" b="1" i="1" dirty="0">
                <a:solidFill>
                  <a:srgbClr val="6E6259"/>
                </a:solidFill>
                <a:latin typeface="Gill Sans Std Light" pitchFamily="34" charset="0"/>
              </a:rPr>
              <a:t>comunicação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 das mudanças com o cliente. 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calendário proposto é </a:t>
            </a:r>
            <a:r>
              <a:rPr lang="pt-BR" sz="1400" b="1" i="1" dirty="0">
                <a:solidFill>
                  <a:srgbClr val="6E6259"/>
                </a:solidFill>
                <a:latin typeface="Gill Sans Std Light" pitchFamily="34" charset="0"/>
              </a:rPr>
              <a:t>validado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 pelas principais </a:t>
            </a:r>
            <a:r>
              <a:rPr lang="pt-BR" sz="1400" b="1" i="1" dirty="0">
                <a:solidFill>
                  <a:srgbClr val="6E6259"/>
                </a:solidFill>
                <a:latin typeface="Gill Sans Std Light" pitchFamily="34" charset="0"/>
              </a:rPr>
              <a:t>áreas de Negócio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divulgado anualmente pela Natura. O período da janela será um turno de fábrica, iniciando Sábado às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22h40 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encerrando Domingo às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6h40.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Durante este período todos os Sistemas de TI ficarão </a:t>
            </a:r>
            <a:r>
              <a:rPr lang="pt-BR" sz="1400" b="1" i="1" dirty="0">
                <a:solidFill>
                  <a:srgbClr val="6E6259"/>
                </a:solidFill>
                <a:latin typeface="Gill Sans Std Light" pitchFamily="34" charset="0"/>
              </a:rPr>
              <a:t>indisponíveis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.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3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Users\BR92457\Desktop\Apresentação TD\Fotos\LT_EK_Ciclo01-15_0001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0" t="3281" r="16534" b="57907"/>
          <a:stretch/>
        </p:blipFill>
        <p:spPr bwMode="auto">
          <a:xfrm>
            <a:off x="7481817" y="3783666"/>
            <a:ext cx="1655248" cy="13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51520" y="268288"/>
            <a:ext cx="170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2.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OBJETIVO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Reduzir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 número de solicitações de paradas ao negócio, concentrando as mudanças nas janelas planejadas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Utilizar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as janelas para realizar as mudanças planejadas e rotineiras de qualquer componente de TI (Sistema ou Infra) de forma lógica e ordenada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Evoluir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 processo de Gestão de Mudanças em TI, aumentando a qualidade e previsibilidade das alterações feitas em ambiente produtivo.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4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1979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3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BENEFÍCIOS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Concentração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as mudanças em um período acordado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Redução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dos impactos de indisponibilidade dos sistemas ao Negócio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Melhor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gerenciamento do conflito entre as mudanças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Maior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garantia e controle nas mudanças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Acompanhamento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monitoramento mais eficaz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Integração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sinergia das atividades entre as equipes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Redução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dos custos com manutenções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6" name="Picture 2" descr="E:\Users\BR92457\Desktop\Apresentação TD\Fotos\EK_Ciclo18-14_0014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7488"/>
          <a:stretch/>
        </p:blipFill>
        <p:spPr bwMode="auto">
          <a:xfrm>
            <a:off x="7694986" y="3850706"/>
            <a:ext cx="1413518" cy="124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27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380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4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DESCRIÇÃO DO PROCESSO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835288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equipe de mudanças envia com antecedência o convite para a reunião para avaliação das propostas, incluindo o template anexo que deve ser preenchido e enviado de volta até às 10h do dia da reunião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.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Solicitante envia para o Gestor de Mudanças as propostas para a Parada Programada no template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definido.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equipe de Mudanças envia pauta com as mudanças consolidadas que serão avaliadas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na reunião;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É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realizada a reunião para eleger e priorizar as mudanças. Participa da reunião o gestor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 mudanças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, um representante de cada área de TI Natura e provedores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Após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reunião a equipe de mudanças envia a minuta aos participantes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Solicitante elabora a SM e submete para aprovação dos responsáveis e validação da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GMUD (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segundo o timeline de mudanças Planejadas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);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SM é liberada para execução;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equipe de Mudanças envia o cronograma aos responsáveis de TI Natura e provedores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7" name="Picture 2" descr="E:\Users\BR92457\Desktop\Apresentação TD\Fotos\LT_EK_Ciclo01-15_0001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0" t="3281" r="16534" b="57907"/>
          <a:stretch/>
        </p:blipFill>
        <p:spPr bwMode="auto">
          <a:xfrm>
            <a:off x="7481817" y="3783666"/>
            <a:ext cx="1655248" cy="13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1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330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ETAPAS DO PROCESSO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E:\Users\BR92457\Desktop\Apresentação TD\Fotos\EK_Ciclo18-14_0014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7488"/>
          <a:stretch/>
        </p:blipFill>
        <p:spPr bwMode="auto">
          <a:xfrm>
            <a:off x="7694986" y="3868688"/>
            <a:ext cx="1413518" cy="124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3" y="1420416"/>
            <a:ext cx="7549405" cy="233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400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905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6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CALENDÁRIO 2015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E:\Users\BR92457\Desktop\Apresentação TD\Fotos\EK_Ciclo18-14_0014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7488"/>
          <a:stretch/>
        </p:blipFill>
        <p:spPr bwMode="auto">
          <a:xfrm>
            <a:off x="7694986" y="3868688"/>
            <a:ext cx="1413518" cy="124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700336"/>
            <a:ext cx="4680520" cy="4298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905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 descr="E:\Users\BR92457\Desktop\Apresentação TD\Fotos\LT_EK_Ciclo01-15_0001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0" t="3281" r="16534" b="57907"/>
          <a:stretch/>
        </p:blipFill>
        <p:spPr bwMode="auto">
          <a:xfrm>
            <a:off x="7481817" y="3783666"/>
            <a:ext cx="1655248" cy="13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51520" y="268288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7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COMUNICAÇÃO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51520" y="700336"/>
            <a:ext cx="835288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Comunicação corporativa </a:t>
            </a:r>
          </a:p>
          <a:p>
            <a:pPr algn="just" eaLnBrk="1" hangingPunct="1"/>
            <a:endParaRPr lang="pt-BR" sz="8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comunicação corporativa tem o objetivo de informar todos os usuários chaves e as áreas de Negócio da Companhia sobre a Parada Programada, apesar de a mesma já ter sido previamente acordada. A comunicação é disponibilizada aos usuários por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e-mail (Via comunicado Time TD)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intranet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(Portal do Colaborador).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É feito também um comunicado específico para a  Força de Vendas. Para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que este comunicado seja feito, é necessário que a equipe de Mudanças da Natura preencha um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template 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envie para a área de comunicação interna com pelo menos 7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dias de antecedência à data planejada para envio.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251520" y="2793792"/>
            <a:ext cx="835288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Comunicação durante a janela de execução</a:t>
            </a:r>
          </a:p>
          <a:p>
            <a:pPr algn="just" eaLnBrk="1" hangingPunct="1"/>
            <a:endParaRPr lang="pt-BR" sz="8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checkpoints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 acompanhamento da Parada Programada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são feitos por conferência telefônica com as equipes técnicas às </a:t>
            </a:r>
            <a:r>
              <a:rPr lang="pt-BR" sz="1400" b="1" i="1" dirty="0" smtClean="0">
                <a:solidFill>
                  <a:srgbClr val="6E6259"/>
                </a:solidFill>
                <a:latin typeface="Gill Sans Std Light" pitchFamily="34" charset="0"/>
              </a:rPr>
              <a:t>00h00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, </a:t>
            </a:r>
            <a:r>
              <a:rPr lang="pt-BR" sz="1400" b="1" i="1" dirty="0" smtClean="0">
                <a:solidFill>
                  <a:srgbClr val="6E6259"/>
                </a:solidFill>
                <a:latin typeface="Gill Sans Std Light" pitchFamily="34" charset="0"/>
              </a:rPr>
              <a:t>03h00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, </a:t>
            </a:r>
            <a:r>
              <a:rPr lang="pt-BR" sz="1400" b="1" i="1" dirty="0" smtClean="0">
                <a:solidFill>
                  <a:srgbClr val="6E6259"/>
                </a:solidFill>
                <a:latin typeface="Gill Sans Std Light" pitchFamily="34" charset="0"/>
              </a:rPr>
              <a:t>05h00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</a:t>
            </a:r>
            <a:r>
              <a:rPr lang="pt-BR" sz="1400" b="1" i="1" dirty="0" smtClean="0">
                <a:solidFill>
                  <a:srgbClr val="6E6259"/>
                </a:solidFill>
                <a:latin typeface="Gill Sans Std Light" pitchFamily="34" charset="0"/>
              </a:rPr>
              <a:t>06h40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.  Após cada conferência é enviado um e-mail aos envolvidos de TD para comunicar o andamento das atividades.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Se houver problema ou incidente crítico com alguma mudança durante a janela de execução,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 o gestor 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 mudanças deverá ser acionado para convocar o fórum devido (Líder técnico, Gerente, Diretor, etc.) 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para  tomar as decisões do que será feito.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7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 descr="E:\Users\BR92457\Desktop\Apresentação TD\Fotos\LT_EK_Ciclo01-15_0001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0" t="3281" r="16534" b="57907"/>
          <a:stretch/>
        </p:blipFill>
        <p:spPr bwMode="auto">
          <a:xfrm>
            <a:off x="7481817" y="3783666"/>
            <a:ext cx="1655248" cy="13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51520" y="268288"/>
            <a:ext cx="43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8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51520" y="700336"/>
            <a:ext cx="8352888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Solicitante da Mudança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Identificar escopo e atividades da mudança;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Preencher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modelo definido para as propostas;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Participar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da reunião para eleger as mudanças;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Submeter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SM de cada proposta sua aprovada na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reunião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.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Líder da Mudança</a:t>
            </a:r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Participar da reunião para eleger as mudanças;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Acompanhar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as SMs durante a Parada;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Comunicar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qualquer problema ou cancelamento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SM;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Negociar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prazos e indisponibilidades com o Negócio caso seja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necessário ultrapassar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janela da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parada;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Participar das conferências de alinhamento dos status durante a execução;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Escalar eventuais problemas ao Gestor de Mudança.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Executor da </a:t>
            </a:r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</a:rPr>
              <a:t>Mudança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Executar a solicitação de mudança dentro do prazo e escopo definidos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dentro da janela;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Fazer a alteração dos status das atividades das SMs;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Finalizar a mudança no sistema logo após a execução;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Participar das conferências de alinhamento dos status durante a execução;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Reportar eventuais problemas durante a execução da mudança.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33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 descr="E:\Users\BR92457\Desktop\Apresentação TD\Fotos\LT_EK_Ciclo01-15_0001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0" t="3281" r="16534" b="57907"/>
          <a:stretch/>
        </p:blipFill>
        <p:spPr bwMode="auto">
          <a:xfrm>
            <a:off x="7481817" y="3783666"/>
            <a:ext cx="1655248" cy="13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51520" y="268288"/>
            <a:ext cx="43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8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51520" y="700336"/>
            <a:ext cx="835288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Equipe GMUD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Fazer a solicitação do comunicado interno sobre a Parada Programada,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para garantir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que os usuários chaves e áreas de Negócio sejam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devidamente informados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Conduzir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reunião para eleger as mudanças;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Enviar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 cronograma de mudanças da parada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Conduzir as conferências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 alinhamento dos status durante a execução 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Ponto focal Natura para escalação de problemas relacionados à Parada (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Cancelamento, incidente, </a:t>
            </a:r>
            <a:r>
              <a:rPr lang="pt-BR" sz="1400" dirty="0" err="1">
                <a:solidFill>
                  <a:srgbClr val="6E6259"/>
                </a:solidFill>
                <a:latin typeface="Gill Sans Std Light" pitchFamily="34" charset="0"/>
              </a:rPr>
              <a:t>etc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).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1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9.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SUPORTE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2008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600" b="1" dirty="0" smtClean="0">
                <a:solidFill>
                  <a:srgbClr val="0070C0"/>
                </a:solidFill>
                <a:latin typeface="Gill Sans Std ExtraBold" pitchFamily="34" charset="0"/>
              </a:rPr>
              <a:t>Gerência </a:t>
            </a:r>
            <a:r>
              <a:rPr lang="pt-BR" sz="1600" b="1" dirty="0" smtClean="0">
                <a:solidFill>
                  <a:srgbClr val="0070C0"/>
                </a:solidFill>
                <a:latin typeface="Gill Sans Std ExtraBold" pitchFamily="34" charset="0"/>
              </a:rPr>
              <a:t>de Processos e </a:t>
            </a:r>
            <a:r>
              <a:rPr lang="pt-BR" sz="1600" b="1" dirty="0" smtClean="0">
                <a:solidFill>
                  <a:srgbClr val="0070C0"/>
                </a:solidFill>
                <a:latin typeface="Gill Sans Std ExtraBold" pitchFamily="34" charset="0"/>
              </a:rPr>
              <a:t>Performance</a:t>
            </a:r>
            <a:endParaRPr lang="pt-BR" sz="1600" b="1" dirty="0" smtClean="0">
              <a:solidFill>
                <a:srgbClr val="0070C0"/>
              </a:solidFill>
              <a:latin typeface="Gill Sans Std ExtraBold" pitchFamily="34" charset="0"/>
            </a:endParaRP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" pitchFamily="34" charset="0"/>
              </a:rPr>
              <a:t>Horário de atendimento:</a:t>
            </a: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Segunda à Sexta das 8h às 22h</a:t>
            </a: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E-mail: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3"/>
              </a:rPr>
              <a:t>GMUD@natura.net</a:t>
            </a:r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Telefone:  11 4196-2450</a:t>
            </a: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" pitchFamily="34" charset="0"/>
              </a:rPr>
              <a:t>Escalação:</a:t>
            </a: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Solange Dias (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4"/>
              </a:rPr>
              <a:t>solangedias@natura.net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)</a:t>
            </a: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Marcus Marques (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5"/>
              </a:rPr>
              <a:t>marcusmarques@natura.net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)</a:t>
            </a: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Henrique Gherardi (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6"/>
              </a:rPr>
              <a:t>henriquegherardi@natura.net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) </a:t>
            </a:r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1027" name="Picture 3" descr="E:\Users\mvmarque\AppData\Local\Microsoft\Windows\Temporary Internet Files\Content.IE5\PNGB27IB\call-center-thinkoutside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420416"/>
            <a:ext cx="1947259" cy="1584176"/>
          </a:xfrm>
          <a:prstGeom prst="ellipse">
            <a:avLst/>
          </a:prstGeom>
          <a:noFill/>
          <a:ln>
            <a:solidFill>
              <a:schemeClr val="l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E:\Users\BR92457\Desktop\Apresentação TD\Fotos\LT_EK_Ciclo01-15_0001.jpg"/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0" t="3281" r="16534" b="57907"/>
          <a:stretch/>
        </p:blipFill>
        <p:spPr bwMode="auto">
          <a:xfrm>
            <a:off x="7481817" y="3783666"/>
            <a:ext cx="1655248" cy="135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33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8156</TotalTime>
  <Words>919</Words>
  <Application>Microsoft Office PowerPoint</Application>
  <PresentationFormat>Personalizar</PresentationFormat>
  <Paragraphs>112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mvmarque</cp:lastModifiedBy>
  <cp:revision>340</cp:revision>
  <dcterms:created xsi:type="dcterms:W3CDTF">2014-10-02T13:42:42Z</dcterms:created>
  <dcterms:modified xsi:type="dcterms:W3CDTF">2015-05-26T21:38:20Z</dcterms:modified>
</cp:coreProperties>
</file>