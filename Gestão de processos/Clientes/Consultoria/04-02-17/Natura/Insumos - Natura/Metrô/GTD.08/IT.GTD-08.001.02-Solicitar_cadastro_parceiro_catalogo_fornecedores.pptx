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76" r:id="rId5"/>
    <p:sldId id="277" r:id="rId6"/>
    <p:sldId id="283" r:id="rId7"/>
    <p:sldId id="284" r:id="rId8"/>
    <p:sldId id="285" r:id="rId9"/>
    <p:sldId id="286" r:id="rId10"/>
    <p:sldId id="262" r:id="rId11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D6A9"/>
    <a:srgbClr val="E4C280"/>
    <a:srgbClr val="B4B53E"/>
    <a:srgbClr val="A59F7F"/>
    <a:srgbClr val="7F3D1A"/>
    <a:srgbClr val="A86E3E"/>
    <a:srgbClr val="333333"/>
    <a:srgbClr val="AA000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>
      <p:cViewPr varScale="1">
        <p:scale>
          <a:sx n="53" d="100"/>
          <a:sy n="53" d="100"/>
        </p:scale>
        <p:origin x="-96" y="-5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F13A13-2351-4A5E-955E-0BC32EEA7D37}" type="datetimeFigureOut">
              <a:rPr lang="en-US"/>
              <a:pPr>
                <a:defRPr/>
              </a:pPr>
              <a:t>11/18/2013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310A47-54EA-49DE-98E0-8C02A97495C5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03332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47AA01-5055-4B0F-BBA6-4573EE971BA3}" type="datetimeFigureOut">
              <a:rPr lang="en-US"/>
              <a:pPr>
                <a:defRPr/>
              </a:pPr>
              <a:t>11/18/2013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196F9F-342E-4C32-9939-B49E64C3813D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825339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5BAB19-E599-45EB-AA69-A6A1091CDE62}" type="datetimeFigureOut">
              <a:rPr lang="en-US"/>
              <a:pPr>
                <a:defRPr/>
              </a:pPr>
              <a:t>11/18/2013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3D55CE-A335-485C-8D79-0497EC35F98E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291409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40A575-61F1-4E40-89ED-A19AA72A082F}" type="datetimeFigureOut">
              <a:rPr lang="en-US"/>
              <a:pPr>
                <a:defRPr/>
              </a:pPr>
              <a:t>11/18/2013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210D90-9E73-4470-9484-5146575D4BAD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781208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1351C0-153C-4658-B339-C14D4BFE514F}" type="datetimeFigureOut">
              <a:rPr lang="en-US"/>
              <a:pPr>
                <a:defRPr/>
              </a:pPr>
              <a:t>11/18/2013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0693DF-CAD1-417A-9940-1C2532D940F3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7821517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5AFCE2-018E-4647-BD7F-61A04C01020D}" type="datetimeFigureOut">
              <a:rPr lang="en-US"/>
              <a:pPr>
                <a:defRPr/>
              </a:pPr>
              <a:t>11/18/2013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6E74CE-491C-4942-98AD-FBC1FEF83ECB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4208131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113F20-84A5-40C5-A6C0-C46ADC23C5BE}" type="datetimeFigureOut">
              <a:rPr lang="en-US"/>
              <a:pPr>
                <a:defRPr/>
              </a:pPr>
              <a:t>11/18/2013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DE5DE1-8064-49C8-B979-6CF670490A6D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81954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34E1C1-ECAD-4ED2-9C60-FC9B80D6B2AB}" type="datetimeFigureOut">
              <a:rPr lang="en-US"/>
              <a:pPr>
                <a:defRPr/>
              </a:pPr>
              <a:t>11/18/2013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94E793-C06D-40D9-BE35-37BA171CD85D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3195046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66E9A6-8B38-4696-9BC0-989532BCF2E1}" type="datetimeFigureOut">
              <a:rPr lang="en-US"/>
              <a:pPr>
                <a:defRPr/>
              </a:pPr>
              <a:t>11/18/2013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C1378A-6F6A-493E-BCBA-7ED577020681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188816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715980-82B5-4A31-BB93-62CCFE41E7C9}" type="datetimeFigureOut">
              <a:rPr lang="en-US"/>
              <a:pPr>
                <a:defRPr/>
              </a:pPr>
              <a:t>11/18/2013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CFE940-4CD4-4F1A-BBB2-B958830EA7AC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320163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C3CEE0-C6D6-4736-98CC-D8A63FD2BE0B}" type="datetimeFigureOut">
              <a:rPr lang="en-US"/>
              <a:pPr>
                <a:defRPr/>
              </a:pPr>
              <a:t>11/18/2013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B05852-35E5-4BBD-A33C-DAE30D5C96E6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119332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9BDF48-5CA4-4469-AFB5-61BC105CC0D9}" type="datetimeFigureOut">
              <a:rPr lang="en-US"/>
              <a:pPr>
                <a:defRPr/>
              </a:pPr>
              <a:t>11/18/2013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4D7CC4-752E-4FAF-9258-2836486EB9D4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847896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pPr>
              <a:defRPr/>
            </a:pPr>
            <a:fld id="{3FE3913E-1FB7-4B3C-8626-4767150F0B12}" type="datetimeFigureOut">
              <a:rPr lang="en-US"/>
              <a:pPr>
                <a:defRPr/>
              </a:pPr>
              <a:t>11/18/2013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pPr>
              <a:defRPr/>
            </a:pPr>
            <a:fld id="{65E6C71E-FE65-4D15-8A3E-0869BDE3B3D6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://equipes.natura.net/vptd/governanca/Contratos/_layouts/15/start.aspx" TargetMode="Externa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1" descr="img02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50" t="9000" r="4750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1" name="Text Box 12"/>
          <p:cNvSpPr txBox="1">
            <a:spLocks noChangeArrowheads="1"/>
          </p:cNvSpPr>
          <p:nvPr/>
        </p:nvSpPr>
        <p:spPr bwMode="auto">
          <a:xfrm>
            <a:off x="1187624" y="3392377"/>
            <a:ext cx="433705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sz="2000" dirty="0" smtClean="0">
                <a:solidFill>
                  <a:schemeClr val="bg1"/>
                </a:solidFill>
                <a:latin typeface="Verdana" pitchFamily="34" charset="0"/>
              </a:rPr>
              <a:t>Solicitar Cadastro </a:t>
            </a:r>
          </a:p>
          <a:p>
            <a:pPr eaLnBrk="1" hangingPunct="1"/>
            <a:r>
              <a:rPr lang="pt-BR" sz="2000" dirty="0" smtClean="0">
                <a:solidFill>
                  <a:schemeClr val="bg1"/>
                </a:solidFill>
                <a:latin typeface="Verdana" pitchFamily="34" charset="0"/>
              </a:rPr>
              <a:t>do Potencial Fornecedor</a:t>
            </a:r>
            <a:endParaRPr lang="pt-BR" sz="2600" b="1" dirty="0">
              <a:solidFill>
                <a:schemeClr val="bg1"/>
              </a:solidFill>
              <a:latin typeface="Verdana" pitchFamily="34" charset="0"/>
            </a:endParaRPr>
          </a:p>
        </p:txBody>
      </p:sp>
      <p:sp>
        <p:nvSpPr>
          <p:cNvPr id="2052" name="Text Box 4"/>
          <p:cNvSpPr txBox="1">
            <a:spLocks noChangeArrowheads="1"/>
          </p:cNvSpPr>
          <p:nvPr/>
        </p:nvSpPr>
        <p:spPr bwMode="auto">
          <a:xfrm>
            <a:off x="1714500" y="4208463"/>
            <a:ext cx="242887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1300" dirty="0" err="1" smtClean="0">
                <a:solidFill>
                  <a:schemeClr val="bg1"/>
                </a:solidFill>
                <a:latin typeface="Verdana" pitchFamily="34" charset="0"/>
              </a:rPr>
              <a:t>Novembro</a:t>
            </a:r>
            <a:r>
              <a:rPr lang="en-US" sz="1300" dirty="0" smtClean="0">
                <a:solidFill>
                  <a:schemeClr val="bg1"/>
                </a:solidFill>
                <a:latin typeface="Verdana" pitchFamily="34" charset="0"/>
              </a:rPr>
              <a:t>/2013</a:t>
            </a:r>
            <a:r>
              <a:rPr lang="en-US" sz="1300" dirty="0">
                <a:solidFill>
                  <a:schemeClr val="bg1"/>
                </a:solidFill>
                <a:latin typeface="Verdana" pitchFamily="34" charset="0"/>
              </a:rPr>
              <a:t>	</a:t>
            </a:r>
            <a:endParaRPr lang="pt-BR" sz="1300" dirty="0">
              <a:solidFill>
                <a:schemeClr val="bg1"/>
              </a:solidFill>
              <a:latin typeface="Verdana" pitchFamily="34" charset="0"/>
            </a:endParaRPr>
          </a:p>
        </p:txBody>
      </p:sp>
      <p:pic>
        <p:nvPicPr>
          <p:cNvPr id="2053" name="Picture 4" descr="C:\Users\Takae\AppData\Local\Temp\Rar$DR00.065\logo1cor_branco_wmf\logo1cor_branco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4975" y="5810250"/>
            <a:ext cx="788988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rgbClr val="A59F7F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lang="pt-BR">
              <a:solidFill>
                <a:srgbClr val="FFFFFF"/>
              </a:solidFill>
              <a:latin typeface="Calibri" pitchFamily="34" charset="0"/>
            </a:endParaRPr>
          </a:p>
        </p:txBody>
      </p:sp>
      <p:sp>
        <p:nvSpPr>
          <p:cNvPr id="3075" name="Text Box 12"/>
          <p:cNvSpPr txBox="1">
            <a:spLocks noChangeArrowheads="1"/>
          </p:cNvSpPr>
          <p:nvPr/>
        </p:nvSpPr>
        <p:spPr bwMode="auto">
          <a:xfrm>
            <a:off x="725488" y="1189038"/>
            <a:ext cx="158908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sz="2600">
                <a:solidFill>
                  <a:srgbClr val="EDD6A9"/>
                </a:solidFill>
                <a:latin typeface="Verdana" pitchFamily="34" charset="0"/>
              </a:rPr>
              <a:t>Objetivo</a:t>
            </a:r>
          </a:p>
        </p:txBody>
      </p:sp>
      <p:pic>
        <p:nvPicPr>
          <p:cNvPr id="3076" name="Picture 4" descr="C:\Users\Takae\AppData\Local\Temp\Rar$DR00.065\logo1cor_branco_wmf\logo1cor_branco.wm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4975" y="5810250"/>
            <a:ext cx="788988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7" name="Text Box 4"/>
          <p:cNvSpPr txBox="1">
            <a:spLocks noChangeArrowheads="1"/>
          </p:cNvSpPr>
          <p:nvPr/>
        </p:nvSpPr>
        <p:spPr bwMode="auto">
          <a:xfrm>
            <a:off x="750888" y="2000250"/>
            <a:ext cx="6678612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1600" dirty="0">
                <a:solidFill>
                  <a:schemeClr val="bg1"/>
                </a:solidFill>
                <a:latin typeface="Verdana" pitchFamily="34" charset="0"/>
              </a:rPr>
              <a:t>O </a:t>
            </a:r>
            <a:r>
              <a:rPr lang="en-US" sz="1600" dirty="0" err="1">
                <a:solidFill>
                  <a:schemeClr val="bg1"/>
                </a:solidFill>
                <a:latin typeface="Verdana" pitchFamily="34" charset="0"/>
              </a:rPr>
              <a:t>objetivo</a:t>
            </a:r>
            <a:r>
              <a:rPr lang="en-US" sz="1600" dirty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Verdana" pitchFamily="34" charset="0"/>
              </a:rPr>
              <a:t>deste</a:t>
            </a:r>
            <a:r>
              <a:rPr lang="en-US" sz="1600" dirty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Verdana" pitchFamily="34" charset="0"/>
              </a:rPr>
              <a:t>documento</a:t>
            </a:r>
            <a:r>
              <a:rPr lang="en-US" sz="1600" dirty="0">
                <a:solidFill>
                  <a:schemeClr val="bg1"/>
                </a:solidFill>
                <a:latin typeface="Verdana" pitchFamily="34" charset="0"/>
              </a:rPr>
              <a:t> é </a:t>
            </a:r>
            <a:r>
              <a:rPr lang="en-US" sz="1600" dirty="0" err="1">
                <a:solidFill>
                  <a:schemeClr val="bg1"/>
                </a:solidFill>
                <a:latin typeface="Verdana" pitchFamily="34" charset="0"/>
              </a:rPr>
              <a:t>instruir</a:t>
            </a:r>
            <a:r>
              <a:rPr lang="en-US" sz="1600" dirty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en-US" sz="1600" dirty="0" err="1" smtClean="0">
                <a:solidFill>
                  <a:schemeClr val="bg1"/>
                </a:solidFill>
                <a:latin typeface="Verdana" pitchFamily="34" charset="0"/>
              </a:rPr>
              <a:t>como</a:t>
            </a:r>
            <a:r>
              <a:rPr lang="en-US" sz="16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en-US" sz="1600" dirty="0" err="1" smtClean="0">
                <a:solidFill>
                  <a:schemeClr val="bg1"/>
                </a:solidFill>
                <a:latin typeface="Verdana" pitchFamily="34" charset="0"/>
              </a:rPr>
              <a:t>cadastrar</a:t>
            </a:r>
            <a:r>
              <a:rPr lang="en-US" sz="1600" dirty="0" smtClean="0">
                <a:solidFill>
                  <a:schemeClr val="bg1"/>
                </a:solidFill>
                <a:latin typeface="Verdana" pitchFamily="34" charset="0"/>
              </a:rPr>
              <a:t> um novo </a:t>
            </a:r>
            <a:r>
              <a:rPr lang="en-US" sz="1600" dirty="0" err="1" smtClean="0">
                <a:solidFill>
                  <a:schemeClr val="bg1"/>
                </a:solidFill>
                <a:latin typeface="Verdana" pitchFamily="34" charset="0"/>
              </a:rPr>
              <a:t>parceiro</a:t>
            </a:r>
            <a:r>
              <a:rPr lang="en-US" sz="16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en-US" sz="1600" dirty="0" err="1" smtClean="0">
                <a:solidFill>
                  <a:schemeClr val="bg1"/>
                </a:solidFill>
                <a:latin typeface="Verdana" pitchFamily="34" charset="0"/>
              </a:rPr>
              <a:t>potencial</a:t>
            </a:r>
            <a:r>
              <a:rPr lang="en-US" sz="1600" dirty="0" smtClean="0">
                <a:solidFill>
                  <a:schemeClr val="bg1"/>
                </a:solidFill>
                <a:latin typeface="Verdana" pitchFamily="34" charset="0"/>
              </a:rPr>
              <a:t> no </a:t>
            </a:r>
            <a:r>
              <a:rPr lang="en-US" sz="1600" dirty="0" err="1" smtClean="0">
                <a:solidFill>
                  <a:schemeClr val="bg1"/>
                </a:solidFill>
                <a:latin typeface="Verdana" pitchFamily="34" charset="0"/>
              </a:rPr>
              <a:t>cátalogo</a:t>
            </a:r>
            <a:r>
              <a:rPr lang="en-US" sz="1600" dirty="0" smtClean="0">
                <a:solidFill>
                  <a:schemeClr val="bg1"/>
                </a:solidFill>
                <a:latin typeface="Verdana" pitchFamily="34" charset="0"/>
              </a:rPr>
              <a:t> de </a:t>
            </a:r>
            <a:r>
              <a:rPr lang="en-US" sz="1600" dirty="0" err="1" smtClean="0">
                <a:solidFill>
                  <a:schemeClr val="bg1"/>
                </a:solidFill>
                <a:latin typeface="Verdana" pitchFamily="34" charset="0"/>
              </a:rPr>
              <a:t>fornecedores</a:t>
            </a:r>
            <a:endParaRPr lang="en-US" sz="1600" dirty="0">
              <a:solidFill>
                <a:schemeClr val="bg1"/>
              </a:solidFill>
              <a:latin typeface="Verdana" pitchFamily="34" charset="0"/>
            </a:endParaRPr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 Box 12"/>
          <p:cNvSpPr txBox="1">
            <a:spLocks noChangeArrowheads="1"/>
          </p:cNvSpPr>
          <p:nvPr/>
        </p:nvSpPr>
        <p:spPr bwMode="auto">
          <a:xfrm>
            <a:off x="107504" y="182403"/>
            <a:ext cx="8928992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pt-BR" sz="2600" b="1" u="sng" dirty="0" smtClean="0">
                <a:solidFill>
                  <a:srgbClr val="B4B53E"/>
                </a:solidFill>
                <a:latin typeface="Verdana" pitchFamily="34" charset="0"/>
              </a:rPr>
              <a:t>Solicitar Cadastro de Fornecedor</a:t>
            </a:r>
            <a:endParaRPr lang="pt-BR" sz="2600" b="1" u="sng" dirty="0">
              <a:solidFill>
                <a:srgbClr val="B4B53E"/>
              </a:solidFill>
              <a:latin typeface="Verdana" pitchFamily="34" charset="0"/>
            </a:endParaRPr>
          </a:p>
        </p:txBody>
      </p:sp>
      <p:sp>
        <p:nvSpPr>
          <p:cNvPr id="4099" name="Retângulo 45"/>
          <p:cNvSpPr>
            <a:spLocks noChangeArrowheads="1"/>
          </p:cNvSpPr>
          <p:nvPr/>
        </p:nvSpPr>
        <p:spPr bwMode="auto">
          <a:xfrm>
            <a:off x="127654" y="694915"/>
            <a:ext cx="8917519" cy="8694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rgbClr val="B4B53E"/>
                </a:solidFill>
              </a:rPr>
              <a:t>Utilizar o Internet Explorer ou </a:t>
            </a:r>
            <a:r>
              <a:rPr lang="pt-BR" sz="1400" b="1" dirty="0" err="1">
                <a:solidFill>
                  <a:srgbClr val="B4B53E"/>
                </a:solidFill>
              </a:rPr>
              <a:t>FireFox</a:t>
            </a:r>
            <a:r>
              <a:rPr lang="pt-BR" sz="1400" b="1" dirty="0">
                <a:solidFill>
                  <a:srgbClr val="B4B53E"/>
                </a:solidFill>
              </a:rPr>
              <a:t> para acesso à página </a:t>
            </a:r>
            <a:r>
              <a:rPr lang="pt-BR" sz="1400" b="1" dirty="0" smtClean="0">
                <a:solidFill>
                  <a:srgbClr val="B4B53E"/>
                </a:solidFill>
              </a:rPr>
              <a:t>Sharepoint da VP TD -&gt; Governança </a:t>
            </a:r>
            <a:r>
              <a:rPr lang="pt-BR" sz="1400" b="1" dirty="0">
                <a:solidFill>
                  <a:srgbClr val="B4B53E"/>
                </a:solidFill>
              </a:rPr>
              <a:t>de </a:t>
            </a:r>
            <a:r>
              <a:rPr lang="pt-BR" sz="1400" b="1" dirty="0" smtClean="0">
                <a:solidFill>
                  <a:srgbClr val="B4B53E"/>
                </a:solidFill>
              </a:rPr>
              <a:t>TD -&gt; Contratos e Licenças -&gt; CATALOGO DE FORNECEDORES.</a:t>
            </a:r>
          </a:p>
          <a:p>
            <a:endParaRPr lang="pt-BR" sz="1050" b="1" dirty="0">
              <a:solidFill>
                <a:srgbClr val="B4B53E"/>
              </a:solidFill>
            </a:endParaRPr>
          </a:p>
          <a:p>
            <a:r>
              <a:rPr lang="pt-BR" sz="1200" dirty="0">
                <a:hlinkClick r:id="rId2"/>
              </a:rPr>
              <a:t>http://equipes.natura.net/vptd/governanca/Contratos/_layouts/15/start.aspx#/</a:t>
            </a:r>
            <a:r>
              <a:rPr lang="pt-BR" sz="1200" dirty="0" smtClean="0">
                <a:hlinkClick r:id="rId2"/>
              </a:rPr>
              <a:t>Lists/Catlogo%20de%20Fornecedores/AllItems.aspx</a:t>
            </a:r>
            <a:endParaRPr lang="pt-BR" sz="1200" dirty="0" smtClean="0"/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450" y="1688926"/>
            <a:ext cx="7277100" cy="5124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etângulo 1"/>
          <p:cNvSpPr/>
          <p:nvPr/>
        </p:nvSpPr>
        <p:spPr>
          <a:xfrm>
            <a:off x="2797706" y="3308181"/>
            <a:ext cx="1342246" cy="36089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3247254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692696"/>
            <a:ext cx="7467600" cy="5686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123" name="Text Box 4"/>
          <p:cNvSpPr txBox="1">
            <a:spLocks noChangeArrowheads="1"/>
          </p:cNvSpPr>
          <p:nvPr/>
        </p:nvSpPr>
        <p:spPr bwMode="auto">
          <a:xfrm>
            <a:off x="107504" y="1772816"/>
            <a:ext cx="2957711" cy="4339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just" eaLnBrk="1" hangingPunct="1"/>
            <a:r>
              <a:rPr lang="pt-BR" sz="1200" b="1" u="sng" dirty="0" smtClean="0">
                <a:solidFill>
                  <a:srgbClr val="333333"/>
                </a:solidFill>
                <a:latin typeface="Verdana" pitchFamily="34" charset="0"/>
              </a:rPr>
              <a:t>PASSOS</a:t>
            </a:r>
          </a:p>
          <a:p>
            <a:pPr algn="just" eaLnBrk="1" hangingPunct="1"/>
            <a:endParaRPr lang="pt-BR" sz="1200" dirty="0" smtClean="0">
              <a:solidFill>
                <a:srgbClr val="333333"/>
              </a:solidFill>
              <a:latin typeface="Verdana" pitchFamily="34" charset="0"/>
            </a:endParaRPr>
          </a:p>
          <a:p>
            <a:r>
              <a:rPr lang="pt-BR" sz="1200" dirty="0"/>
              <a:t>Inserir as seguintes informações:</a:t>
            </a:r>
          </a:p>
          <a:p>
            <a:pPr marL="342900" lvl="0" indent="-342900">
              <a:buFont typeface="+mj-lt"/>
              <a:buAutoNum type="arabicPeriod"/>
            </a:pPr>
            <a:r>
              <a:rPr lang="pt-BR" sz="1200" dirty="0" smtClean="0"/>
              <a:t>Informar se o Fornecedor foi prospectado por instituições de Pesquisa de Mercado.</a:t>
            </a:r>
            <a:endParaRPr lang="pt-BR" sz="1200" dirty="0"/>
          </a:p>
          <a:p>
            <a:pPr marL="342900" lvl="0" indent="-342900">
              <a:buFont typeface="+mj-lt"/>
              <a:buAutoNum type="arabicPeriod"/>
            </a:pPr>
            <a:r>
              <a:rPr lang="pt-BR" sz="1200" dirty="0" smtClean="0"/>
              <a:t>Informar se foi realizado o processo de benchmarking.</a:t>
            </a:r>
          </a:p>
          <a:p>
            <a:pPr marL="342900" lvl="0" indent="-342900">
              <a:buFont typeface="+mj-lt"/>
              <a:buAutoNum type="arabicPeriod"/>
            </a:pPr>
            <a:r>
              <a:rPr lang="pt-BR" sz="1200" dirty="0" smtClean="0"/>
              <a:t>Justificar a resposta com base na instrução do campo (abaixo da caixa de preenchimento)</a:t>
            </a:r>
            <a:endParaRPr lang="pt-BR" sz="1200" dirty="0"/>
          </a:p>
          <a:p>
            <a:pPr marL="342900" lvl="0" indent="-342900">
              <a:buFont typeface="+mj-lt"/>
              <a:buAutoNum type="arabicPeriod"/>
            </a:pPr>
            <a:r>
              <a:rPr lang="pt-BR" sz="1200" dirty="0" smtClean="0"/>
              <a:t>Preencher o Nome da Empresa</a:t>
            </a:r>
            <a:endParaRPr lang="pt-BR" sz="1200" dirty="0"/>
          </a:p>
          <a:p>
            <a:pPr marL="342900" lvl="0" indent="-342900">
              <a:buFont typeface="+mj-lt"/>
              <a:buAutoNum type="arabicPeriod"/>
            </a:pPr>
            <a:r>
              <a:rPr lang="pt-BR" sz="1200" dirty="0" smtClean="0"/>
              <a:t>Preencher a descrição da empresa (Tipo de serviço prestado)</a:t>
            </a:r>
          </a:p>
          <a:p>
            <a:pPr marL="342900" lvl="0" indent="-342900">
              <a:buFont typeface="+mj-lt"/>
              <a:buAutoNum type="arabicPeriod"/>
            </a:pPr>
            <a:r>
              <a:rPr lang="pt-BR" sz="1200" dirty="0" smtClean="0"/>
              <a:t>Preencher o histórico da empresa conforme instrução do </a:t>
            </a:r>
            <a:r>
              <a:rPr lang="pt-BR" sz="1200" dirty="0"/>
              <a:t>campo (abaixo da caixa de preenchimento)</a:t>
            </a:r>
          </a:p>
          <a:p>
            <a:pPr marL="342900" lvl="0" indent="-342900">
              <a:buFont typeface="+mj-lt"/>
              <a:buAutoNum type="arabicPeriod"/>
            </a:pPr>
            <a:r>
              <a:rPr lang="pt-BR" sz="1200" dirty="0" smtClean="0"/>
              <a:t>Preencher o Nome Fantasia da Empresa</a:t>
            </a:r>
          </a:p>
          <a:p>
            <a:pPr marL="342900" lvl="0" indent="-342900">
              <a:buFont typeface="+mj-lt"/>
              <a:buAutoNum type="arabicPeriod"/>
            </a:pPr>
            <a:r>
              <a:rPr lang="pt-BR" sz="1200" dirty="0" smtClean="0"/>
              <a:t>Preencher o CNPJ da Empresa</a:t>
            </a:r>
            <a:endParaRPr lang="pt-BR" sz="1200" dirty="0"/>
          </a:p>
          <a:p>
            <a:pPr marL="342900" lvl="0" indent="-342900">
              <a:buFont typeface="+mj-lt"/>
              <a:buAutoNum type="arabicPeriod"/>
            </a:pPr>
            <a:r>
              <a:rPr lang="pt-BR" sz="1200" dirty="0" smtClean="0"/>
              <a:t>Preencher a Inscrição Estadual</a:t>
            </a:r>
            <a:endParaRPr lang="pt-BR" sz="1200" dirty="0"/>
          </a:p>
          <a:p>
            <a:pPr marL="342900" lvl="0" indent="-342900">
              <a:buFont typeface="+mj-lt"/>
              <a:buAutoNum type="arabicPeriod"/>
            </a:pPr>
            <a:r>
              <a:rPr lang="pt-BR" sz="1200" dirty="0" smtClean="0"/>
              <a:t>Preencher o endereço comercial Completo)</a:t>
            </a:r>
            <a:endParaRPr lang="pt-BR" sz="1200" dirty="0"/>
          </a:p>
        </p:txBody>
      </p:sp>
      <p:sp>
        <p:nvSpPr>
          <p:cNvPr id="16" name="Retângulo 15"/>
          <p:cNvSpPr/>
          <p:nvPr/>
        </p:nvSpPr>
        <p:spPr>
          <a:xfrm>
            <a:off x="4292793" y="2344812"/>
            <a:ext cx="288032" cy="400110"/>
          </a:xfrm>
          <a:prstGeom prst="rect">
            <a:avLst/>
          </a:prstGeom>
          <a:noFill/>
        </p:spPr>
        <p:txBody>
          <a:bodyPr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>
              <a:defRPr/>
            </a:pPr>
            <a:r>
              <a:rPr lang="pt-BR" sz="2000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3</a:t>
            </a:r>
            <a:endParaRPr lang="pt-BR" sz="2000" b="1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</p:txBody>
      </p:sp>
      <p:sp>
        <p:nvSpPr>
          <p:cNvPr id="18" name="Retângulo 17"/>
          <p:cNvSpPr/>
          <p:nvPr/>
        </p:nvSpPr>
        <p:spPr>
          <a:xfrm>
            <a:off x="3707904" y="3611144"/>
            <a:ext cx="288032" cy="400110"/>
          </a:xfrm>
          <a:prstGeom prst="rect">
            <a:avLst/>
          </a:prstGeom>
          <a:noFill/>
        </p:spPr>
        <p:txBody>
          <a:bodyPr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>
              <a:defRPr/>
            </a:pPr>
            <a:r>
              <a:rPr lang="pt-BR" sz="2000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5</a:t>
            </a:r>
            <a:endParaRPr lang="pt-BR" sz="2000" b="1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</p:txBody>
      </p:sp>
      <p:sp>
        <p:nvSpPr>
          <p:cNvPr id="12" name="Retângulo 11"/>
          <p:cNvSpPr/>
          <p:nvPr/>
        </p:nvSpPr>
        <p:spPr>
          <a:xfrm>
            <a:off x="6660232" y="1720095"/>
            <a:ext cx="288032" cy="400110"/>
          </a:xfrm>
          <a:prstGeom prst="rect">
            <a:avLst/>
          </a:prstGeom>
          <a:noFill/>
        </p:spPr>
        <p:txBody>
          <a:bodyPr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>
              <a:defRPr/>
            </a:pPr>
            <a:r>
              <a:rPr lang="pt-BR" sz="2000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1</a:t>
            </a:r>
            <a:endParaRPr lang="pt-BR" sz="2000" b="1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</p:txBody>
      </p:sp>
      <p:sp>
        <p:nvSpPr>
          <p:cNvPr id="15" name="Retângulo 14"/>
          <p:cNvSpPr/>
          <p:nvPr/>
        </p:nvSpPr>
        <p:spPr>
          <a:xfrm>
            <a:off x="6660232" y="2092786"/>
            <a:ext cx="288032" cy="400110"/>
          </a:xfrm>
          <a:prstGeom prst="rect">
            <a:avLst/>
          </a:prstGeom>
          <a:noFill/>
        </p:spPr>
        <p:txBody>
          <a:bodyPr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>
              <a:defRPr/>
            </a:pPr>
            <a:r>
              <a:rPr lang="pt-BR" sz="20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2</a:t>
            </a:r>
          </a:p>
        </p:txBody>
      </p:sp>
      <p:sp>
        <p:nvSpPr>
          <p:cNvPr id="17" name="Retângulo 16"/>
          <p:cNvSpPr/>
          <p:nvPr/>
        </p:nvSpPr>
        <p:spPr>
          <a:xfrm>
            <a:off x="4148777" y="3228945"/>
            <a:ext cx="288032" cy="400110"/>
          </a:xfrm>
          <a:prstGeom prst="rect">
            <a:avLst/>
          </a:prstGeom>
          <a:noFill/>
        </p:spPr>
        <p:txBody>
          <a:bodyPr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>
              <a:defRPr/>
            </a:pPr>
            <a:r>
              <a:rPr lang="pt-BR" sz="20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4</a:t>
            </a:r>
          </a:p>
        </p:txBody>
      </p:sp>
      <p:sp>
        <p:nvSpPr>
          <p:cNvPr id="11" name="Text Box 12"/>
          <p:cNvSpPr txBox="1">
            <a:spLocks noChangeArrowheads="1"/>
          </p:cNvSpPr>
          <p:nvPr/>
        </p:nvSpPr>
        <p:spPr bwMode="auto">
          <a:xfrm>
            <a:off x="107504" y="182403"/>
            <a:ext cx="8928992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pt-BR" sz="2600" b="1" u="sng" dirty="0" smtClean="0">
                <a:solidFill>
                  <a:srgbClr val="B4B53E"/>
                </a:solidFill>
                <a:latin typeface="Verdana" pitchFamily="34" charset="0"/>
              </a:rPr>
              <a:t>Solicitar Cadastro de Fornecedor</a:t>
            </a:r>
            <a:endParaRPr lang="pt-BR" sz="2600" b="1" u="sng" dirty="0">
              <a:solidFill>
                <a:srgbClr val="B4B53E"/>
              </a:solidFill>
              <a:latin typeface="Verdana" pitchFamily="34" charset="0"/>
            </a:endParaRPr>
          </a:p>
        </p:txBody>
      </p:sp>
      <p:sp>
        <p:nvSpPr>
          <p:cNvPr id="3" name="CaixaDeTexto 2"/>
          <p:cNvSpPr txBox="1"/>
          <p:nvPr/>
        </p:nvSpPr>
        <p:spPr>
          <a:xfrm>
            <a:off x="7784484" y="6381328"/>
            <a:ext cx="797013" cy="27699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pt-BR" sz="1200" dirty="0" smtClean="0"/>
              <a:t>Continua</a:t>
            </a:r>
            <a:endParaRPr lang="pt-BR" sz="1200" dirty="0"/>
          </a:p>
        </p:txBody>
      </p:sp>
      <p:sp>
        <p:nvSpPr>
          <p:cNvPr id="13" name="Retângulo 12"/>
          <p:cNvSpPr/>
          <p:nvPr/>
        </p:nvSpPr>
        <p:spPr>
          <a:xfrm>
            <a:off x="3759494" y="4149080"/>
            <a:ext cx="288032" cy="400110"/>
          </a:xfrm>
          <a:prstGeom prst="rect">
            <a:avLst/>
          </a:prstGeom>
          <a:noFill/>
        </p:spPr>
        <p:txBody>
          <a:bodyPr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>
              <a:defRPr/>
            </a:pPr>
            <a:r>
              <a:rPr lang="pt-BR" sz="2000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6</a:t>
            </a:r>
            <a:endParaRPr lang="pt-BR" sz="2000" b="1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</p:txBody>
      </p:sp>
      <p:sp>
        <p:nvSpPr>
          <p:cNvPr id="14" name="Retângulo 13"/>
          <p:cNvSpPr/>
          <p:nvPr/>
        </p:nvSpPr>
        <p:spPr>
          <a:xfrm>
            <a:off x="4004761" y="5202942"/>
            <a:ext cx="288032" cy="400110"/>
          </a:xfrm>
          <a:prstGeom prst="rect">
            <a:avLst/>
          </a:prstGeom>
          <a:noFill/>
        </p:spPr>
        <p:txBody>
          <a:bodyPr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>
              <a:defRPr/>
            </a:pPr>
            <a:r>
              <a:rPr lang="pt-BR" sz="20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7</a:t>
            </a:r>
          </a:p>
        </p:txBody>
      </p:sp>
      <p:sp>
        <p:nvSpPr>
          <p:cNvPr id="19" name="Retângulo 18"/>
          <p:cNvSpPr/>
          <p:nvPr/>
        </p:nvSpPr>
        <p:spPr>
          <a:xfrm>
            <a:off x="3716729" y="5446881"/>
            <a:ext cx="288032" cy="400110"/>
          </a:xfrm>
          <a:prstGeom prst="rect">
            <a:avLst/>
          </a:prstGeom>
          <a:noFill/>
        </p:spPr>
        <p:txBody>
          <a:bodyPr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>
              <a:defRPr/>
            </a:pPr>
            <a:r>
              <a:rPr lang="pt-BR" sz="2000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8</a:t>
            </a:r>
            <a:endParaRPr lang="pt-BR" sz="2000" b="1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</p:txBody>
      </p:sp>
      <p:sp>
        <p:nvSpPr>
          <p:cNvPr id="20" name="Retângulo 19"/>
          <p:cNvSpPr/>
          <p:nvPr/>
        </p:nvSpPr>
        <p:spPr>
          <a:xfrm>
            <a:off x="4157161" y="5646936"/>
            <a:ext cx="288032" cy="400110"/>
          </a:xfrm>
          <a:prstGeom prst="rect">
            <a:avLst/>
          </a:prstGeom>
          <a:noFill/>
        </p:spPr>
        <p:txBody>
          <a:bodyPr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>
              <a:defRPr/>
            </a:pPr>
            <a:r>
              <a:rPr lang="pt-BR" sz="2000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9</a:t>
            </a:r>
            <a:endParaRPr lang="pt-BR" sz="2000" b="1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</p:txBody>
      </p:sp>
      <p:sp>
        <p:nvSpPr>
          <p:cNvPr id="22" name="Retângulo 21"/>
          <p:cNvSpPr/>
          <p:nvPr/>
        </p:nvSpPr>
        <p:spPr>
          <a:xfrm>
            <a:off x="5314919" y="5965087"/>
            <a:ext cx="576064" cy="400110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>
              <a:defRPr/>
            </a:pPr>
            <a:r>
              <a:rPr lang="pt-BR" sz="2000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10</a:t>
            </a:r>
            <a:endParaRPr lang="pt-BR" sz="2000" b="1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94656014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7230" y="675044"/>
            <a:ext cx="7486650" cy="562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 Box 12"/>
          <p:cNvSpPr txBox="1">
            <a:spLocks noChangeArrowheads="1"/>
          </p:cNvSpPr>
          <p:nvPr/>
        </p:nvSpPr>
        <p:spPr bwMode="auto">
          <a:xfrm>
            <a:off x="107504" y="182403"/>
            <a:ext cx="8928992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pt-BR" sz="2600" b="1" u="sng" dirty="0" smtClean="0">
                <a:solidFill>
                  <a:srgbClr val="B4B53E"/>
                </a:solidFill>
                <a:latin typeface="Verdana" pitchFamily="34" charset="0"/>
              </a:rPr>
              <a:t>Solicitar Cadastro de Fornecedor</a:t>
            </a:r>
            <a:endParaRPr lang="pt-BR" sz="2600" b="1" u="sng" dirty="0">
              <a:solidFill>
                <a:srgbClr val="B4B53E"/>
              </a:solidFill>
              <a:latin typeface="Verdana" pitchFamily="34" charset="0"/>
            </a:endParaRPr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89242" y="1596856"/>
            <a:ext cx="2957711" cy="4524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just" eaLnBrk="1" hangingPunct="1"/>
            <a:r>
              <a:rPr lang="pt-BR" sz="1200" b="1" u="sng" dirty="0" smtClean="0">
                <a:solidFill>
                  <a:srgbClr val="333333"/>
                </a:solidFill>
                <a:latin typeface="Verdana" pitchFamily="34" charset="0"/>
              </a:rPr>
              <a:t>PASSOS</a:t>
            </a:r>
          </a:p>
          <a:p>
            <a:pPr algn="just" eaLnBrk="1" hangingPunct="1"/>
            <a:endParaRPr lang="pt-BR" sz="1200" dirty="0" smtClean="0">
              <a:solidFill>
                <a:srgbClr val="333333"/>
              </a:solidFill>
              <a:latin typeface="Verdana" pitchFamily="34" charset="0"/>
            </a:endParaRPr>
          </a:p>
          <a:p>
            <a:r>
              <a:rPr lang="pt-BR" sz="1200" dirty="0"/>
              <a:t>Inserir as seguintes </a:t>
            </a:r>
            <a:r>
              <a:rPr lang="pt-BR" sz="1200" dirty="0" smtClean="0"/>
              <a:t>informações (cont.):</a:t>
            </a:r>
            <a:endParaRPr lang="pt-BR" sz="1200" dirty="0"/>
          </a:p>
          <a:p>
            <a:pPr marL="342900" indent="-342900">
              <a:buFont typeface="+mj-lt"/>
              <a:buAutoNum type="arabicPeriod" startAt="11"/>
            </a:pPr>
            <a:r>
              <a:rPr lang="pt-BR" sz="1200" dirty="0" smtClean="0"/>
              <a:t>Preencher o Nome de contato do fornecedor </a:t>
            </a:r>
            <a:endParaRPr lang="pt-BR" sz="1200" dirty="0"/>
          </a:p>
          <a:p>
            <a:pPr marL="342900" lvl="0" indent="-342900">
              <a:buFont typeface="+mj-lt"/>
              <a:buAutoNum type="arabicPeriod" startAt="11"/>
            </a:pPr>
            <a:r>
              <a:rPr lang="pt-BR" sz="1200" dirty="0" smtClean="0"/>
              <a:t>Preencher o cargo do contato do fornecedor</a:t>
            </a:r>
            <a:endParaRPr lang="pt-BR" sz="1200" dirty="0"/>
          </a:p>
          <a:p>
            <a:pPr marL="342900" lvl="0" indent="-342900">
              <a:buFont typeface="+mj-lt"/>
              <a:buAutoNum type="arabicPeriod" startAt="11"/>
            </a:pPr>
            <a:r>
              <a:rPr lang="pt-BR" sz="1200" dirty="0" smtClean="0"/>
              <a:t>Preencher o Telefone fixo do fornecedor</a:t>
            </a:r>
            <a:endParaRPr lang="pt-BR" sz="1200" dirty="0"/>
          </a:p>
          <a:p>
            <a:pPr marL="342900" lvl="0" indent="-342900">
              <a:buFont typeface="+mj-lt"/>
              <a:buAutoNum type="arabicPeriod" startAt="11"/>
            </a:pPr>
            <a:r>
              <a:rPr lang="pt-BR" sz="1200" dirty="0" smtClean="0"/>
              <a:t>Preencher o Número de Celular de contato do fornecedor</a:t>
            </a:r>
            <a:endParaRPr lang="pt-BR" sz="1200" dirty="0"/>
          </a:p>
          <a:p>
            <a:pPr marL="342900" lvl="0" indent="-342900">
              <a:buFont typeface="+mj-lt"/>
              <a:buAutoNum type="arabicPeriod" startAt="11"/>
            </a:pPr>
            <a:r>
              <a:rPr lang="pt-BR" sz="1200" dirty="0" smtClean="0"/>
              <a:t>Preencher o e-mail de contato do fornecedor</a:t>
            </a:r>
            <a:endParaRPr lang="pt-BR" sz="1200" dirty="0"/>
          </a:p>
          <a:p>
            <a:pPr marL="342900" lvl="0" indent="-342900">
              <a:buFont typeface="+mj-lt"/>
              <a:buAutoNum type="arabicPeriod" startAt="11"/>
            </a:pPr>
            <a:r>
              <a:rPr lang="pt-BR" sz="1200" dirty="0" smtClean="0"/>
              <a:t>Preencher o site da empresa</a:t>
            </a:r>
            <a:endParaRPr lang="pt-BR" sz="1200" dirty="0"/>
          </a:p>
          <a:p>
            <a:pPr marL="342900" lvl="0" indent="-342900">
              <a:buFont typeface="+mj-lt"/>
              <a:buAutoNum type="arabicPeriod" startAt="11"/>
            </a:pPr>
            <a:r>
              <a:rPr lang="pt-BR" sz="1200" dirty="0"/>
              <a:t>Informar o tipo de categoria: HARDWARE, SOFTWARE, </a:t>
            </a:r>
            <a:r>
              <a:rPr lang="pt-BR" sz="1200" dirty="0" smtClean="0"/>
              <a:t>SERVIÇOS - SUSTENTAÇÃO</a:t>
            </a:r>
            <a:endParaRPr lang="pt-BR" sz="1200" dirty="0"/>
          </a:p>
          <a:p>
            <a:pPr marL="342900" lvl="0" indent="-342900">
              <a:buFont typeface="+mj-lt"/>
              <a:buAutoNum type="arabicPeriod" startAt="11"/>
            </a:pPr>
            <a:r>
              <a:rPr lang="pt-BR" sz="1200" dirty="0" smtClean="0"/>
              <a:t>Selecionar os Tipos </a:t>
            </a:r>
            <a:r>
              <a:rPr lang="pt-BR" sz="1200" dirty="0"/>
              <a:t>de serviços </a:t>
            </a:r>
            <a:r>
              <a:rPr lang="pt-BR" sz="1200" dirty="0" smtClean="0"/>
              <a:t>prestados</a:t>
            </a:r>
          </a:p>
          <a:p>
            <a:pPr marL="342900" lvl="0" indent="-342900">
              <a:buFont typeface="+mj-lt"/>
              <a:buAutoNum type="arabicPeriod" startAt="11"/>
            </a:pPr>
            <a:r>
              <a:rPr lang="pt-BR" sz="1200" dirty="0" smtClean="0"/>
              <a:t>Preencher o nome do </a:t>
            </a:r>
            <a:r>
              <a:rPr lang="pt-BR" sz="1200" dirty="0" err="1" smtClean="0"/>
              <a:t>solucutante</a:t>
            </a:r>
            <a:r>
              <a:rPr lang="pt-BR" sz="1200" dirty="0" smtClean="0"/>
              <a:t> do Cadastro (Nome ou E-mail)</a:t>
            </a:r>
          </a:p>
          <a:p>
            <a:pPr marL="342900" lvl="0" indent="-342900">
              <a:buFont typeface="+mj-lt"/>
              <a:buAutoNum type="arabicPeriod" startAt="11"/>
            </a:pPr>
            <a:r>
              <a:rPr lang="pt-BR" sz="1200" dirty="0" smtClean="0"/>
              <a:t>Preencher o cargo do solicitante do cadastro</a:t>
            </a:r>
          </a:p>
          <a:p>
            <a:pPr marL="342900" lvl="0" indent="-342900">
              <a:buFont typeface="+mj-lt"/>
              <a:buAutoNum type="arabicPeriod" startAt="11"/>
            </a:pPr>
            <a:endParaRPr lang="pt-BR" sz="1200" dirty="0"/>
          </a:p>
        </p:txBody>
      </p:sp>
      <p:sp>
        <p:nvSpPr>
          <p:cNvPr id="12" name="Retângulo 11"/>
          <p:cNvSpPr/>
          <p:nvPr/>
        </p:nvSpPr>
        <p:spPr>
          <a:xfrm>
            <a:off x="3595779" y="2204864"/>
            <a:ext cx="576064" cy="400110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>
              <a:defRPr/>
            </a:pPr>
            <a:r>
              <a:rPr lang="pt-BR" sz="2000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13</a:t>
            </a:r>
            <a:endParaRPr lang="pt-BR" sz="2000" b="1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</p:txBody>
      </p:sp>
      <p:sp>
        <p:nvSpPr>
          <p:cNvPr id="14" name="Retângulo 13"/>
          <p:cNvSpPr/>
          <p:nvPr/>
        </p:nvSpPr>
        <p:spPr>
          <a:xfrm>
            <a:off x="4558627" y="2172926"/>
            <a:ext cx="576064" cy="400110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>
              <a:defRPr/>
            </a:pPr>
            <a:r>
              <a:rPr lang="pt-BR" sz="2000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12</a:t>
            </a:r>
            <a:endParaRPr lang="pt-BR" sz="2000" b="1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</p:txBody>
      </p:sp>
      <p:sp>
        <p:nvSpPr>
          <p:cNvPr id="15" name="Retângulo 14"/>
          <p:cNvSpPr/>
          <p:nvPr/>
        </p:nvSpPr>
        <p:spPr>
          <a:xfrm>
            <a:off x="4558627" y="1769212"/>
            <a:ext cx="576064" cy="400110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>
              <a:defRPr/>
            </a:pPr>
            <a:r>
              <a:rPr lang="pt-BR" sz="2000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11</a:t>
            </a:r>
            <a:endParaRPr lang="pt-BR" sz="2000" b="1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</p:txBody>
      </p:sp>
      <p:sp>
        <p:nvSpPr>
          <p:cNvPr id="16" name="Retângulo 15"/>
          <p:cNvSpPr/>
          <p:nvPr/>
        </p:nvSpPr>
        <p:spPr>
          <a:xfrm>
            <a:off x="3495546" y="2631900"/>
            <a:ext cx="576064" cy="400110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>
              <a:defRPr/>
            </a:pPr>
            <a:r>
              <a:rPr lang="pt-BR" sz="2000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14</a:t>
            </a:r>
            <a:endParaRPr lang="pt-BR" sz="2000" b="1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</p:txBody>
      </p:sp>
      <p:sp>
        <p:nvSpPr>
          <p:cNvPr id="17" name="Retângulo 16"/>
          <p:cNvSpPr/>
          <p:nvPr/>
        </p:nvSpPr>
        <p:spPr>
          <a:xfrm>
            <a:off x="3495546" y="2984355"/>
            <a:ext cx="576064" cy="400110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>
              <a:defRPr/>
            </a:pPr>
            <a:r>
              <a:rPr lang="pt-BR" sz="2000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15</a:t>
            </a:r>
            <a:endParaRPr lang="pt-BR" sz="2000" b="1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</p:txBody>
      </p:sp>
      <p:sp>
        <p:nvSpPr>
          <p:cNvPr id="18" name="Retângulo 17"/>
          <p:cNvSpPr/>
          <p:nvPr/>
        </p:nvSpPr>
        <p:spPr>
          <a:xfrm>
            <a:off x="3731151" y="3289627"/>
            <a:ext cx="576064" cy="400110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>
              <a:defRPr/>
            </a:pPr>
            <a:r>
              <a:rPr lang="pt-BR" sz="2000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16</a:t>
            </a:r>
            <a:endParaRPr lang="pt-BR" sz="2000" b="1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</p:txBody>
      </p:sp>
      <p:sp>
        <p:nvSpPr>
          <p:cNvPr id="19" name="Retângulo 18"/>
          <p:cNvSpPr/>
          <p:nvPr/>
        </p:nvSpPr>
        <p:spPr>
          <a:xfrm>
            <a:off x="3595779" y="3573279"/>
            <a:ext cx="576064" cy="400110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>
              <a:defRPr/>
            </a:pPr>
            <a:r>
              <a:rPr lang="pt-BR" sz="2000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17</a:t>
            </a:r>
            <a:endParaRPr lang="pt-BR" sz="2000" b="1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</p:txBody>
      </p:sp>
      <p:sp>
        <p:nvSpPr>
          <p:cNvPr id="20" name="Retângulo 19"/>
          <p:cNvSpPr/>
          <p:nvPr/>
        </p:nvSpPr>
        <p:spPr>
          <a:xfrm>
            <a:off x="3821243" y="4149080"/>
            <a:ext cx="576064" cy="400110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>
              <a:defRPr/>
            </a:pPr>
            <a:r>
              <a:rPr lang="pt-BR" sz="2000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18</a:t>
            </a:r>
            <a:endParaRPr lang="pt-BR" sz="2000" b="1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</p:txBody>
      </p:sp>
      <p:sp>
        <p:nvSpPr>
          <p:cNvPr id="21" name="Retângulo 20"/>
          <p:cNvSpPr/>
          <p:nvPr/>
        </p:nvSpPr>
        <p:spPr>
          <a:xfrm>
            <a:off x="4374836" y="5684616"/>
            <a:ext cx="576064" cy="400110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>
              <a:defRPr/>
            </a:pPr>
            <a:r>
              <a:rPr lang="pt-BR" sz="2000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19</a:t>
            </a:r>
            <a:endParaRPr lang="pt-BR" sz="2000" b="1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</p:txBody>
      </p:sp>
      <p:sp>
        <p:nvSpPr>
          <p:cNvPr id="22" name="Retângulo 21"/>
          <p:cNvSpPr/>
          <p:nvPr/>
        </p:nvSpPr>
        <p:spPr>
          <a:xfrm>
            <a:off x="4486051" y="6007452"/>
            <a:ext cx="576064" cy="400110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>
              <a:defRPr/>
            </a:pPr>
            <a:r>
              <a:rPr lang="pt-BR" sz="2000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20</a:t>
            </a:r>
            <a:endParaRPr lang="pt-BR" sz="2000" b="1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06793402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8097" y="706815"/>
            <a:ext cx="7515225" cy="541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 Box 4"/>
          <p:cNvSpPr txBox="1">
            <a:spLocks noChangeArrowheads="1"/>
          </p:cNvSpPr>
          <p:nvPr/>
        </p:nvSpPr>
        <p:spPr bwMode="auto">
          <a:xfrm>
            <a:off x="89242" y="2147372"/>
            <a:ext cx="2957711" cy="1754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just" eaLnBrk="1" hangingPunct="1"/>
            <a:r>
              <a:rPr lang="pt-BR" sz="1200" b="1" u="sng" dirty="0" smtClean="0">
                <a:solidFill>
                  <a:srgbClr val="333333"/>
                </a:solidFill>
                <a:latin typeface="Verdana" pitchFamily="34" charset="0"/>
              </a:rPr>
              <a:t>PASSOS</a:t>
            </a:r>
          </a:p>
          <a:p>
            <a:pPr algn="just" eaLnBrk="1" hangingPunct="1"/>
            <a:endParaRPr lang="pt-BR" sz="1200" dirty="0" smtClean="0">
              <a:solidFill>
                <a:srgbClr val="333333"/>
              </a:solidFill>
              <a:latin typeface="Verdana" pitchFamily="34" charset="0"/>
            </a:endParaRPr>
          </a:p>
          <a:p>
            <a:r>
              <a:rPr lang="pt-BR" sz="1200" dirty="0"/>
              <a:t>Inserir as seguintes </a:t>
            </a:r>
            <a:r>
              <a:rPr lang="pt-BR" sz="1200" dirty="0" smtClean="0"/>
              <a:t>informações (cont.):</a:t>
            </a:r>
            <a:endParaRPr lang="pt-BR" sz="1200" dirty="0"/>
          </a:p>
          <a:p>
            <a:pPr marL="342900" lvl="0" indent="-342900">
              <a:buFont typeface="+mj-lt"/>
              <a:buAutoNum type="arabicPeriod" startAt="21"/>
            </a:pPr>
            <a:r>
              <a:rPr lang="pt-BR" sz="1200" dirty="0" smtClean="0"/>
              <a:t>Preencher a data do cadastro</a:t>
            </a:r>
            <a:endParaRPr lang="pt-BR" sz="1200" dirty="0"/>
          </a:p>
          <a:p>
            <a:pPr marL="342900" lvl="0" indent="-342900">
              <a:buFont typeface="+mj-lt"/>
              <a:buAutoNum type="arabicPeriod" startAt="21"/>
            </a:pPr>
            <a:r>
              <a:rPr lang="pt-BR" sz="1200" dirty="0" smtClean="0"/>
              <a:t>O preenchimento dos campos Status, Observações, Performance do Fornecedor e Situação Ativo são de preenchimento da área de gestão de contratos.</a:t>
            </a:r>
            <a:endParaRPr lang="pt-BR" sz="1200" dirty="0"/>
          </a:p>
        </p:txBody>
      </p:sp>
      <p:sp>
        <p:nvSpPr>
          <p:cNvPr id="5" name="Text Box 12"/>
          <p:cNvSpPr txBox="1">
            <a:spLocks noChangeArrowheads="1"/>
          </p:cNvSpPr>
          <p:nvPr/>
        </p:nvSpPr>
        <p:spPr bwMode="auto">
          <a:xfrm>
            <a:off x="107504" y="182403"/>
            <a:ext cx="8928992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pt-BR" sz="2600" b="1" u="sng" dirty="0" smtClean="0">
                <a:solidFill>
                  <a:srgbClr val="B4B53E"/>
                </a:solidFill>
                <a:latin typeface="Verdana" pitchFamily="34" charset="0"/>
              </a:rPr>
              <a:t>Solicitar Cadastro de Fornecedor</a:t>
            </a:r>
            <a:endParaRPr lang="pt-BR" sz="2600" b="1" u="sng" dirty="0">
              <a:solidFill>
                <a:srgbClr val="B4B53E"/>
              </a:solidFill>
              <a:latin typeface="Verdana" pitchFamily="34" charset="0"/>
            </a:endParaRPr>
          </a:p>
        </p:txBody>
      </p:sp>
      <p:sp>
        <p:nvSpPr>
          <p:cNvPr id="6" name="Retângulo 5"/>
          <p:cNvSpPr/>
          <p:nvPr/>
        </p:nvSpPr>
        <p:spPr>
          <a:xfrm>
            <a:off x="3906427" y="2636912"/>
            <a:ext cx="576064" cy="400110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>
              <a:defRPr/>
            </a:pPr>
            <a:r>
              <a:rPr lang="pt-BR" sz="2000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21</a:t>
            </a:r>
            <a:endParaRPr lang="pt-BR" sz="2000" b="1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3046953" y="3209201"/>
            <a:ext cx="6097047" cy="2812087"/>
          </a:xfrm>
          <a:prstGeom prst="rect">
            <a:avLst/>
          </a:prstGeom>
          <a:solidFill>
            <a:schemeClr val="accent1">
              <a:alpha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Retângulo 15"/>
          <p:cNvSpPr/>
          <p:nvPr/>
        </p:nvSpPr>
        <p:spPr>
          <a:xfrm>
            <a:off x="4444497" y="3284984"/>
            <a:ext cx="576064" cy="400110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>
              <a:defRPr/>
            </a:pPr>
            <a:r>
              <a:rPr lang="pt-BR" sz="2000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22</a:t>
            </a:r>
            <a:endParaRPr lang="pt-BR" sz="2000" b="1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67569645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frame_1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4F50E9EA426424A8E8E274C50F6FAAD" ma:contentTypeVersion="0" ma:contentTypeDescription="Crie um novo documento." ma:contentTypeScope="" ma:versionID="b084ed81fd98ca7061dbf55ce1617e52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acb358bd3c4937f8c29cf3e1e721863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3E0BDB8-9F36-4318-A6E4-58F65F89C6F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D74F2E16-A1FB-46F4-94E7-119DF7036D0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457900A-6049-43FB-B168-4B9BB02A7219}">
  <ds:schemaRefs>
    <ds:schemaRef ds:uri="http://schemas.microsoft.com/office/infopath/2007/PartnerControls"/>
    <ds:schemaRef ds:uri="http://schemas.microsoft.com/office/2006/metadata/properties"/>
    <ds:schemaRef ds:uri="http://purl.org/dc/dcmitype/"/>
    <ds:schemaRef ds:uri="http://purl.org/dc/elements/1.1/"/>
    <ds:schemaRef ds:uri="http://schemas.microsoft.com/office/2006/documentManagement/types"/>
    <ds:schemaRef ds:uri="http://schemas.openxmlformats.org/package/2006/metadata/core-properties"/>
    <ds:schemaRef ds:uri="http://www.w3.org/XML/1998/namespace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Apex</Template>
  <TotalTime>3113</TotalTime>
  <Words>317</Words>
  <Application>Microsoft Office PowerPoint</Application>
  <PresentationFormat>Apresentação na tela (4:3)</PresentationFormat>
  <Paragraphs>66</Paragraphs>
  <Slides>7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8" baseType="lpstr"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Aquela Mesmo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pcazella</dc:creator>
  <cp:lastModifiedBy>br89699</cp:lastModifiedBy>
  <cp:revision>196</cp:revision>
  <dcterms:created xsi:type="dcterms:W3CDTF">2007-11-04T19:27:17Z</dcterms:created>
  <dcterms:modified xsi:type="dcterms:W3CDTF">2013-11-18T15:15:21Z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0x010100C4F50E9EA426424A8E8E274C50F6FAAD</vt:lpwstr>
  </property>
</Properties>
</file>