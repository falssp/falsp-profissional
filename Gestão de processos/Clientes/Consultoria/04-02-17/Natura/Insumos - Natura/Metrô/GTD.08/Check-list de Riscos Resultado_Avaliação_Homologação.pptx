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31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02/12/2013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016567"/>
              </p:ext>
            </p:extLst>
          </p:nvPr>
        </p:nvGraphicFramePr>
        <p:xfrm>
          <a:off x="457200" y="476672"/>
          <a:ext cx="8229600" cy="2376265"/>
        </p:xfrm>
        <a:graphic>
          <a:graphicData uri="http://schemas.openxmlformats.org/drawingml/2006/table">
            <a:tbl>
              <a:tblPr firstRow="1" firstCol="1" bandRow="1"/>
              <a:tblGrid>
                <a:gridCol w="2252566"/>
                <a:gridCol w="5977034"/>
              </a:tblGrid>
              <a:tr h="365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b="1" dirty="0">
                          <a:effectLst/>
                          <a:latin typeface="Verdana"/>
                          <a:ea typeface="Calibri"/>
                          <a:cs typeface="Times New Roman"/>
                        </a:rPr>
                        <a:t>Resultado da Avaliação da Homologação</a:t>
                      </a:r>
                      <a:endParaRPr lang="pt-BR" sz="110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b="1">
                          <a:effectLst/>
                          <a:latin typeface="Verdana"/>
                          <a:ea typeface="Calibri"/>
                          <a:cs typeface="Times New Roman"/>
                        </a:rPr>
                        <a:t>Critérios para contratação sem documentação de risco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483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Muito Alto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Implementação de todos os controles com maturidade abaixo de 3 antes da contratação, caso contrário o risco deve ser assumido e aprovado seguindo tabela abaixo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</a:tr>
              <a:tr h="5483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Alto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Implementação de todos os controles com maturidade abaixo de 3 antes da contratação, caso contrário o risco deve ser assumido e aprovado seguindo tabela abaixo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7311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Moderado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Implementação de todos os controles com maturidade abaixo de 3 até 30 dias após a contratação e armazenar as evidencias junto com a documentação da contratação, caso contrário o risco deve ser assumido e aprovado seguindo tabela abaixo</a:t>
                      </a:r>
                      <a:endParaRPr lang="pt-BR" sz="110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27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Baixo</a:t>
                      </a:r>
                      <a:endParaRPr lang="pt-BR" sz="110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Prestador Homologado, pode seguir com a contratação</a:t>
                      </a:r>
                      <a:endParaRPr lang="pt-BR" sz="110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33837" marR="338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42912"/>
              </p:ext>
            </p:extLst>
          </p:nvPr>
        </p:nvGraphicFramePr>
        <p:xfrm>
          <a:off x="457200" y="3212936"/>
          <a:ext cx="8291264" cy="3375653"/>
        </p:xfrm>
        <a:graphic>
          <a:graphicData uri="http://schemas.openxmlformats.org/drawingml/2006/table">
            <a:tbl>
              <a:tblPr firstRow="1" firstCol="1" bandRow="1"/>
              <a:tblGrid>
                <a:gridCol w="2242592"/>
                <a:gridCol w="2448272"/>
                <a:gridCol w="3600400"/>
              </a:tblGrid>
              <a:tr h="3223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effectLst/>
                          <a:latin typeface="Verdana"/>
                          <a:ea typeface="Calibri"/>
                          <a:cs typeface="Times New Roman"/>
                        </a:rPr>
                        <a:t>Resultado da Avaliação da Homologação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Valor Total do Contrato (Brasil)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Aprovador do risco de contratação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61163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Muito Alto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Acima de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Comitê Executivo (COMEX)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R$ 5 M a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Vice-Presidência Executiva + Vice-Presidência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R$ 1 M a R$ 5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Diretoria do Negócio + Diretoria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</a:tr>
              <a:tr h="16116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Até R$ 1M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Gestores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</a:tr>
              <a:tr h="161163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Alto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Acima de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Comitê Executivo (COMEX)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R$ 5 M a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Vice-Presidência Executiva + Vice-Presidência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R$ 1 M a R$ 5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Diretoria do Negócio + Diretoria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16116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Até R$ 1M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Gestores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161163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Moderado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Acima de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Comitê Executivo (COMEX)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R$ 5 M a R$ 10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Vice-Presidência Executiva + Vice-Presidência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223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De R$ 1 M a R$ 5 M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Diretoria do Negócio + Diretoria de Finanças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42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Até R$ 1M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Gestores</a:t>
                      </a:r>
                      <a:endParaRPr lang="pt-BR" sz="105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611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Baixo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Calibri"/>
                          <a:cs typeface="Times New Roman"/>
                        </a:rPr>
                        <a:t>Prestador Homologado, pode seguir com a contratação</a:t>
                      </a:r>
                      <a:endParaRPr lang="pt-BR" sz="1050" dirty="0">
                        <a:effectLst/>
                        <a:latin typeface="Verdana"/>
                        <a:ea typeface="Calibri"/>
                        <a:cs typeface="Times New Roman"/>
                      </a:endParaRPr>
                    </a:p>
                  </a:txBody>
                  <a:tcPr marL="28239" marR="2823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57200" y="30035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9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740247-E683-4C65-8DBF-E2CA4DC1A57C}"/>
</file>

<file path=customXml/itemProps2.xml><?xml version="1.0" encoding="utf-8"?>
<ds:datastoreItem xmlns:ds="http://schemas.openxmlformats.org/officeDocument/2006/customXml" ds:itemID="{283A4EF0-80DB-483E-8B81-1EC26BF8E31C}"/>
</file>

<file path=customXml/itemProps3.xml><?xml version="1.0" encoding="utf-8"?>
<ds:datastoreItem xmlns:ds="http://schemas.openxmlformats.org/officeDocument/2006/customXml" ds:itemID="{AD0C31CA-4343-4AA2-9E54-FA203037DC06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477</TotalTime>
  <Words>293</Words>
  <Application>Microsoft Office PowerPoint</Application>
  <PresentationFormat>Apresentação na tela (4:3)</PresentationFormat>
  <Paragraphs>42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Blank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elima</dc:creator>
  <cp:lastModifiedBy>elima</cp:lastModifiedBy>
  <cp:revision>2</cp:revision>
  <dcterms:created xsi:type="dcterms:W3CDTF">2013-12-02T10:58:22Z</dcterms:created>
  <dcterms:modified xsi:type="dcterms:W3CDTF">2013-12-02T18:55:30Z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