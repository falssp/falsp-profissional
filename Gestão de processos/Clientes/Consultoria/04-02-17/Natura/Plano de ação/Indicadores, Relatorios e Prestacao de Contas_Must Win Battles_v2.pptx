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5" r:id="rId2"/>
    <p:sldId id="325" r:id="rId3"/>
    <p:sldId id="327" r:id="rId4"/>
    <p:sldId id="324" r:id="rId5"/>
    <p:sldId id="326" r:id="rId6"/>
    <p:sldId id="328" r:id="rId7"/>
    <p:sldId id="329" r:id="rId8"/>
    <p:sldId id="330" r:id="rId9"/>
    <p:sldId id="323" r:id="rId10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DFD"/>
    <a:srgbClr val="3333CC"/>
    <a:srgbClr val="6E6259"/>
    <a:srgbClr val="FFFF66"/>
    <a:srgbClr val="009999"/>
    <a:srgbClr val="FFFFCC"/>
    <a:srgbClr val="FF3300"/>
    <a:srgbClr val="00AEC7"/>
    <a:srgbClr val="D9D9D6"/>
    <a:srgbClr val="7C69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06" autoAdjust="0"/>
    <p:restoredTop sz="99668" autoAdjust="0"/>
  </p:normalViewPr>
  <p:slideViewPr>
    <p:cSldViewPr>
      <p:cViewPr>
        <p:scale>
          <a:sx n="100" d="100"/>
          <a:sy n="100" d="100"/>
        </p:scale>
        <p:origin x="-1494" y="-456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6CF8B50-08C0-418A-90DF-FB8B85CF1444}" type="slidenum">
              <a:rPr lang="de-DE" smtClean="0"/>
              <a:pPr eaLnBrk="1" hangingPunct="1"/>
              <a:t>9</a:t>
            </a:fld>
            <a:endParaRPr lang="de-D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01/06/2015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equipes.natura.net/vptd/indicadorestd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Onde estamos? Problemas e Causas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 Box 259"/>
          <p:cNvSpPr txBox="1">
            <a:spLocks noChangeArrowheads="1"/>
          </p:cNvSpPr>
          <p:nvPr/>
        </p:nvSpPr>
        <p:spPr bwMode="auto">
          <a:xfrm>
            <a:off x="4189099" y="1261160"/>
            <a:ext cx="1337181" cy="187388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fr-CH" sz="1000" b="1" i="1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Problema</a:t>
            </a:r>
            <a:endParaRPr kumimoji="0" lang="fr-CH" sz="10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3" name="Rectangle 13"/>
          <p:cNvSpPr/>
          <p:nvPr/>
        </p:nvSpPr>
        <p:spPr>
          <a:xfrm>
            <a:off x="4189100" y="1500492"/>
            <a:ext cx="1337181" cy="788981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Gestão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ineficiente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lang="en-US" sz="1100" b="0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prestação</a:t>
            </a:r>
            <a:r>
              <a:rPr kumimoji="0" lang="en-US" sz="11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lang="en-US" sz="1100" b="0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contas</a:t>
            </a:r>
            <a:r>
              <a:rPr kumimoji="0" lang="en-US" sz="11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100" b="0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</a:t>
            </a:r>
            <a:r>
              <a:rPr kumimoji="0" lang="en-US" sz="11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100" b="0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clientes</a:t>
            </a:r>
            <a:r>
              <a:rPr kumimoji="0" lang="en-US" sz="11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 TD - 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GTD.1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Freeform 236"/>
          <p:cNvSpPr>
            <a:spLocks noEditPoints="1"/>
          </p:cNvSpPr>
          <p:nvPr/>
        </p:nvSpPr>
        <p:spPr bwMode="auto">
          <a:xfrm>
            <a:off x="1156544" y="923840"/>
            <a:ext cx="662441" cy="936489"/>
          </a:xfrm>
          <a:custGeom>
            <a:avLst/>
            <a:gdLst>
              <a:gd name="T0" fmla="*/ 2147483647 w 3051"/>
              <a:gd name="T1" fmla="*/ 2147483647 h 6513"/>
              <a:gd name="T2" fmla="*/ 2147483647 w 3051"/>
              <a:gd name="T3" fmla="*/ 2147483647 h 6513"/>
              <a:gd name="T4" fmla="*/ 2147483647 w 3051"/>
              <a:gd name="T5" fmla="*/ 2147483647 h 6513"/>
              <a:gd name="T6" fmla="*/ 2147483647 w 3051"/>
              <a:gd name="T7" fmla="*/ 2147483647 h 6513"/>
              <a:gd name="T8" fmla="*/ 2147483647 w 3051"/>
              <a:gd name="T9" fmla="*/ 2147483647 h 6513"/>
              <a:gd name="T10" fmla="*/ 2147483647 w 3051"/>
              <a:gd name="T11" fmla="*/ 2147483647 h 6513"/>
              <a:gd name="T12" fmla="*/ 2147483647 w 3051"/>
              <a:gd name="T13" fmla="*/ 2147483647 h 6513"/>
              <a:gd name="T14" fmla="*/ 2147483647 w 3051"/>
              <a:gd name="T15" fmla="*/ 2147483647 h 6513"/>
              <a:gd name="T16" fmla="*/ 2147483647 w 3051"/>
              <a:gd name="T17" fmla="*/ 2147483647 h 6513"/>
              <a:gd name="T18" fmla="*/ 2147483647 w 3051"/>
              <a:gd name="T19" fmla="*/ 2147483647 h 6513"/>
              <a:gd name="T20" fmla="*/ 2147483647 w 3051"/>
              <a:gd name="T21" fmla="*/ 2147483647 h 6513"/>
              <a:gd name="T22" fmla="*/ 2147483647 w 3051"/>
              <a:gd name="T23" fmla="*/ 2147483647 h 651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51"/>
              <a:gd name="T37" fmla="*/ 0 h 6513"/>
              <a:gd name="T38" fmla="*/ 3051 w 3051"/>
              <a:gd name="T39" fmla="*/ 6513 h 651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51" h="6513">
                <a:moveTo>
                  <a:pt x="68" y="24"/>
                </a:moveTo>
                <a:lnTo>
                  <a:pt x="2956" y="6257"/>
                </a:lnTo>
                <a:cubicBezTo>
                  <a:pt x="2964" y="6274"/>
                  <a:pt x="2957" y="6294"/>
                  <a:pt x="2940" y="6301"/>
                </a:cubicBezTo>
                <a:cubicBezTo>
                  <a:pt x="2923" y="6309"/>
                  <a:pt x="2904" y="6302"/>
                  <a:pt x="2896" y="6285"/>
                </a:cubicBezTo>
                <a:lnTo>
                  <a:pt x="8" y="52"/>
                </a:lnTo>
                <a:cubicBezTo>
                  <a:pt x="0" y="35"/>
                  <a:pt x="7" y="16"/>
                  <a:pt x="24" y="8"/>
                </a:cubicBezTo>
                <a:cubicBezTo>
                  <a:pt x="41" y="0"/>
                  <a:pt x="61" y="7"/>
                  <a:pt x="68" y="24"/>
                </a:cubicBezTo>
                <a:close/>
                <a:moveTo>
                  <a:pt x="2926" y="6271"/>
                </a:moveTo>
                <a:lnTo>
                  <a:pt x="3051" y="6066"/>
                </a:lnTo>
                <a:lnTo>
                  <a:pt x="3038" y="6513"/>
                </a:lnTo>
                <a:lnTo>
                  <a:pt x="2689" y="6234"/>
                </a:lnTo>
                <a:lnTo>
                  <a:pt x="2926" y="6271"/>
                </a:lnTo>
                <a:close/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236"/>
          <p:cNvSpPr>
            <a:spLocks noEditPoints="1"/>
          </p:cNvSpPr>
          <p:nvPr/>
        </p:nvSpPr>
        <p:spPr bwMode="auto">
          <a:xfrm flipV="1">
            <a:off x="1482634" y="1927002"/>
            <a:ext cx="631627" cy="1479365"/>
          </a:xfrm>
          <a:custGeom>
            <a:avLst/>
            <a:gdLst>
              <a:gd name="T0" fmla="*/ 2147483647 w 3051"/>
              <a:gd name="T1" fmla="*/ 2147483647 h 6513"/>
              <a:gd name="T2" fmla="*/ 2147483647 w 3051"/>
              <a:gd name="T3" fmla="*/ 2147483647 h 6513"/>
              <a:gd name="T4" fmla="*/ 2147483647 w 3051"/>
              <a:gd name="T5" fmla="*/ 2147483647 h 6513"/>
              <a:gd name="T6" fmla="*/ 2147483647 w 3051"/>
              <a:gd name="T7" fmla="*/ 2147483647 h 6513"/>
              <a:gd name="T8" fmla="*/ 2147483647 w 3051"/>
              <a:gd name="T9" fmla="*/ 2147483647 h 6513"/>
              <a:gd name="T10" fmla="*/ 2147483647 w 3051"/>
              <a:gd name="T11" fmla="*/ 2147483647 h 6513"/>
              <a:gd name="T12" fmla="*/ 2147483647 w 3051"/>
              <a:gd name="T13" fmla="*/ 2147483647 h 6513"/>
              <a:gd name="T14" fmla="*/ 2147483647 w 3051"/>
              <a:gd name="T15" fmla="*/ 2147483647 h 6513"/>
              <a:gd name="T16" fmla="*/ 2147483647 w 3051"/>
              <a:gd name="T17" fmla="*/ 2147483647 h 6513"/>
              <a:gd name="T18" fmla="*/ 2147483647 w 3051"/>
              <a:gd name="T19" fmla="*/ 2147483647 h 6513"/>
              <a:gd name="T20" fmla="*/ 2147483647 w 3051"/>
              <a:gd name="T21" fmla="*/ 2147483647 h 6513"/>
              <a:gd name="T22" fmla="*/ 2147483647 w 3051"/>
              <a:gd name="T23" fmla="*/ 2147483647 h 651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51"/>
              <a:gd name="T37" fmla="*/ 0 h 6513"/>
              <a:gd name="T38" fmla="*/ 3051 w 3051"/>
              <a:gd name="T39" fmla="*/ 6513 h 651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51" h="6513">
                <a:moveTo>
                  <a:pt x="68" y="24"/>
                </a:moveTo>
                <a:lnTo>
                  <a:pt x="2956" y="6257"/>
                </a:lnTo>
                <a:cubicBezTo>
                  <a:pt x="2964" y="6274"/>
                  <a:pt x="2957" y="6294"/>
                  <a:pt x="2940" y="6301"/>
                </a:cubicBezTo>
                <a:cubicBezTo>
                  <a:pt x="2923" y="6309"/>
                  <a:pt x="2904" y="6302"/>
                  <a:pt x="2896" y="6285"/>
                </a:cubicBezTo>
                <a:lnTo>
                  <a:pt x="8" y="52"/>
                </a:lnTo>
                <a:cubicBezTo>
                  <a:pt x="0" y="35"/>
                  <a:pt x="7" y="16"/>
                  <a:pt x="24" y="8"/>
                </a:cubicBezTo>
                <a:cubicBezTo>
                  <a:pt x="41" y="0"/>
                  <a:pt x="61" y="7"/>
                  <a:pt x="68" y="24"/>
                </a:cubicBezTo>
                <a:close/>
                <a:moveTo>
                  <a:pt x="2926" y="6271"/>
                </a:moveTo>
                <a:lnTo>
                  <a:pt x="3051" y="6066"/>
                </a:lnTo>
                <a:lnTo>
                  <a:pt x="3038" y="6513"/>
                </a:lnTo>
                <a:lnTo>
                  <a:pt x="2689" y="6234"/>
                </a:lnTo>
                <a:lnTo>
                  <a:pt x="2926" y="6271"/>
                </a:lnTo>
                <a:close/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236"/>
          <p:cNvSpPr>
            <a:spLocks noEditPoints="1"/>
          </p:cNvSpPr>
          <p:nvPr/>
        </p:nvSpPr>
        <p:spPr bwMode="auto">
          <a:xfrm>
            <a:off x="1979712" y="988367"/>
            <a:ext cx="667448" cy="862907"/>
          </a:xfrm>
          <a:custGeom>
            <a:avLst/>
            <a:gdLst>
              <a:gd name="T0" fmla="*/ 2147483647 w 3051"/>
              <a:gd name="T1" fmla="*/ 2147483647 h 6513"/>
              <a:gd name="T2" fmla="*/ 2147483647 w 3051"/>
              <a:gd name="T3" fmla="*/ 2147483647 h 6513"/>
              <a:gd name="T4" fmla="*/ 2147483647 w 3051"/>
              <a:gd name="T5" fmla="*/ 2147483647 h 6513"/>
              <a:gd name="T6" fmla="*/ 2147483647 w 3051"/>
              <a:gd name="T7" fmla="*/ 2147483647 h 6513"/>
              <a:gd name="T8" fmla="*/ 2147483647 w 3051"/>
              <a:gd name="T9" fmla="*/ 2147483647 h 6513"/>
              <a:gd name="T10" fmla="*/ 2147483647 w 3051"/>
              <a:gd name="T11" fmla="*/ 2147483647 h 6513"/>
              <a:gd name="T12" fmla="*/ 2147483647 w 3051"/>
              <a:gd name="T13" fmla="*/ 2147483647 h 6513"/>
              <a:gd name="T14" fmla="*/ 2147483647 w 3051"/>
              <a:gd name="T15" fmla="*/ 2147483647 h 6513"/>
              <a:gd name="T16" fmla="*/ 2147483647 w 3051"/>
              <a:gd name="T17" fmla="*/ 2147483647 h 6513"/>
              <a:gd name="T18" fmla="*/ 2147483647 w 3051"/>
              <a:gd name="T19" fmla="*/ 2147483647 h 6513"/>
              <a:gd name="T20" fmla="*/ 2147483647 w 3051"/>
              <a:gd name="T21" fmla="*/ 2147483647 h 6513"/>
              <a:gd name="T22" fmla="*/ 2147483647 w 3051"/>
              <a:gd name="T23" fmla="*/ 2147483647 h 651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51"/>
              <a:gd name="T37" fmla="*/ 0 h 6513"/>
              <a:gd name="T38" fmla="*/ 3051 w 3051"/>
              <a:gd name="T39" fmla="*/ 6513 h 651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51" h="6513">
                <a:moveTo>
                  <a:pt x="68" y="24"/>
                </a:moveTo>
                <a:lnTo>
                  <a:pt x="2956" y="6257"/>
                </a:lnTo>
                <a:cubicBezTo>
                  <a:pt x="2964" y="6274"/>
                  <a:pt x="2957" y="6294"/>
                  <a:pt x="2940" y="6301"/>
                </a:cubicBezTo>
                <a:cubicBezTo>
                  <a:pt x="2923" y="6309"/>
                  <a:pt x="2904" y="6302"/>
                  <a:pt x="2896" y="6285"/>
                </a:cubicBezTo>
                <a:lnTo>
                  <a:pt x="8" y="52"/>
                </a:lnTo>
                <a:cubicBezTo>
                  <a:pt x="0" y="35"/>
                  <a:pt x="7" y="16"/>
                  <a:pt x="24" y="8"/>
                </a:cubicBezTo>
                <a:cubicBezTo>
                  <a:pt x="41" y="0"/>
                  <a:pt x="61" y="7"/>
                  <a:pt x="68" y="24"/>
                </a:cubicBezTo>
                <a:close/>
                <a:moveTo>
                  <a:pt x="2926" y="6271"/>
                </a:moveTo>
                <a:lnTo>
                  <a:pt x="3051" y="6066"/>
                </a:lnTo>
                <a:lnTo>
                  <a:pt x="3038" y="6513"/>
                </a:lnTo>
                <a:lnTo>
                  <a:pt x="2689" y="6234"/>
                </a:lnTo>
                <a:lnTo>
                  <a:pt x="2926" y="6271"/>
                </a:lnTo>
                <a:close/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8" name="Straight Arrow Connector 19"/>
          <p:cNvCxnSpPr/>
          <p:nvPr/>
        </p:nvCxnSpPr>
        <p:spPr>
          <a:xfrm>
            <a:off x="632231" y="1895254"/>
            <a:ext cx="3507721" cy="0"/>
          </a:xfrm>
          <a:prstGeom prst="straightConnector1">
            <a:avLst/>
          </a:prstGeom>
          <a:noFill/>
          <a:ln w="41275" cap="flat" cmpd="sng" algn="ctr">
            <a:gradFill flip="none" rotWithShape="1">
              <a:gsLst>
                <a:gs pos="0">
                  <a:sysClr val="windowText" lastClr="000000"/>
                </a:gs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1"/>
              <a:tileRect/>
            </a:gradFill>
            <a:prstDash val="solid"/>
            <a:tailEnd type="stealth"/>
          </a:ln>
          <a:effectLst/>
        </p:spPr>
      </p:cxnSp>
      <p:sp>
        <p:nvSpPr>
          <p:cNvPr id="131" name="Text Box 258"/>
          <p:cNvSpPr txBox="1">
            <a:spLocks noChangeArrowheads="1"/>
          </p:cNvSpPr>
          <p:nvPr/>
        </p:nvSpPr>
        <p:spPr bwMode="auto">
          <a:xfrm flipH="1">
            <a:off x="445699" y="731634"/>
            <a:ext cx="609961" cy="19578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Homem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2" name="Text Box 258"/>
          <p:cNvSpPr txBox="1">
            <a:spLocks noChangeArrowheads="1"/>
          </p:cNvSpPr>
          <p:nvPr/>
        </p:nvSpPr>
        <p:spPr bwMode="auto">
          <a:xfrm flipH="1">
            <a:off x="1818985" y="731634"/>
            <a:ext cx="783893" cy="204322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Tecnologia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4" name="Text Box 258"/>
          <p:cNvSpPr txBox="1">
            <a:spLocks noChangeArrowheads="1"/>
          </p:cNvSpPr>
          <p:nvPr/>
        </p:nvSpPr>
        <p:spPr bwMode="auto">
          <a:xfrm flipH="1">
            <a:off x="846657" y="3475692"/>
            <a:ext cx="686207" cy="176972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Processo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7" name="CaixaDeTexto 136"/>
          <p:cNvSpPr txBox="1"/>
          <p:nvPr/>
        </p:nvSpPr>
        <p:spPr>
          <a:xfrm>
            <a:off x="295366" y="1956276"/>
            <a:ext cx="1546400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 smtClean="0"/>
              <a:t>Processo </a:t>
            </a:r>
            <a:r>
              <a:rPr lang="pt-BR" dirty="0"/>
              <a:t>de prestação de </a:t>
            </a:r>
            <a:r>
              <a:rPr lang="pt-BR" dirty="0" smtClean="0"/>
              <a:t>contas não operacionalizado</a:t>
            </a:r>
            <a:endParaRPr lang="pt-BR" dirty="0"/>
          </a:p>
        </p:txBody>
      </p:sp>
      <p:sp>
        <p:nvSpPr>
          <p:cNvPr id="138" name="CaixaDeTexto 137"/>
          <p:cNvSpPr txBox="1"/>
          <p:nvPr/>
        </p:nvSpPr>
        <p:spPr>
          <a:xfrm>
            <a:off x="1851598" y="2550032"/>
            <a:ext cx="1674900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 smtClean="0"/>
              <a:t>Processo de gestão de Performance (cockpit) ineficaz</a:t>
            </a:r>
            <a:endParaRPr lang="pt-BR" dirty="0"/>
          </a:p>
        </p:txBody>
      </p:sp>
      <p:sp>
        <p:nvSpPr>
          <p:cNvPr id="139" name="CaixaDeTexto 138"/>
          <p:cNvSpPr txBox="1"/>
          <p:nvPr/>
        </p:nvSpPr>
        <p:spPr>
          <a:xfrm>
            <a:off x="1645493" y="3406368"/>
            <a:ext cx="1308252" cy="50783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Falta de organização para gestão de serviços por indicadores</a:t>
            </a:r>
            <a:endParaRPr lang="pt-BR" sz="900" dirty="0"/>
          </a:p>
        </p:txBody>
      </p:sp>
      <p:sp>
        <p:nvSpPr>
          <p:cNvPr id="142" name="CaixaDeTexto 141"/>
          <p:cNvSpPr txBox="1"/>
          <p:nvPr/>
        </p:nvSpPr>
        <p:spPr>
          <a:xfrm>
            <a:off x="95396" y="2352002"/>
            <a:ext cx="1524276" cy="50783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Falta de local único para armazenamento de indicadores e planos de ação</a:t>
            </a:r>
          </a:p>
        </p:txBody>
      </p:sp>
      <p:sp>
        <p:nvSpPr>
          <p:cNvPr id="143" name="CaixaDeTexto 142"/>
          <p:cNvSpPr txBox="1"/>
          <p:nvPr/>
        </p:nvSpPr>
        <p:spPr>
          <a:xfrm>
            <a:off x="295366" y="2891370"/>
            <a:ext cx="1187268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Falta de alinhamento estratégico (visão)</a:t>
            </a:r>
          </a:p>
        </p:txBody>
      </p:sp>
      <p:sp>
        <p:nvSpPr>
          <p:cNvPr id="146" name="Text Box 259"/>
          <p:cNvSpPr txBox="1">
            <a:spLocks noChangeArrowheads="1"/>
          </p:cNvSpPr>
          <p:nvPr/>
        </p:nvSpPr>
        <p:spPr bwMode="auto">
          <a:xfrm>
            <a:off x="7668345" y="3124920"/>
            <a:ext cx="1224135" cy="205720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fr-CH" sz="1000" b="1" i="1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Problema</a:t>
            </a:r>
            <a:endParaRPr kumimoji="0" lang="fr-CH" sz="10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7" name="Rectangle 13"/>
          <p:cNvSpPr/>
          <p:nvPr/>
        </p:nvSpPr>
        <p:spPr>
          <a:xfrm>
            <a:off x="7668345" y="3353836"/>
            <a:ext cx="1224135" cy="1009578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Gestão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operacional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relatórios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</a:t>
            </a: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indicadores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ineficiente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GTD.5 e GTD.8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Freeform 236"/>
          <p:cNvSpPr>
            <a:spLocks noEditPoints="1"/>
          </p:cNvSpPr>
          <p:nvPr/>
        </p:nvSpPr>
        <p:spPr bwMode="auto">
          <a:xfrm>
            <a:off x="4841060" y="2803668"/>
            <a:ext cx="662441" cy="936489"/>
          </a:xfrm>
          <a:custGeom>
            <a:avLst/>
            <a:gdLst>
              <a:gd name="T0" fmla="*/ 2147483647 w 3051"/>
              <a:gd name="T1" fmla="*/ 2147483647 h 6513"/>
              <a:gd name="T2" fmla="*/ 2147483647 w 3051"/>
              <a:gd name="T3" fmla="*/ 2147483647 h 6513"/>
              <a:gd name="T4" fmla="*/ 2147483647 w 3051"/>
              <a:gd name="T5" fmla="*/ 2147483647 h 6513"/>
              <a:gd name="T6" fmla="*/ 2147483647 w 3051"/>
              <a:gd name="T7" fmla="*/ 2147483647 h 6513"/>
              <a:gd name="T8" fmla="*/ 2147483647 w 3051"/>
              <a:gd name="T9" fmla="*/ 2147483647 h 6513"/>
              <a:gd name="T10" fmla="*/ 2147483647 w 3051"/>
              <a:gd name="T11" fmla="*/ 2147483647 h 6513"/>
              <a:gd name="T12" fmla="*/ 2147483647 w 3051"/>
              <a:gd name="T13" fmla="*/ 2147483647 h 6513"/>
              <a:gd name="T14" fmla="*/ 2147483647 w 3051"/>
              <a:gd name="T15" fmla="*/ 2147483647 h 6513"/>
              <a:gd name="T16" fmla="*/ 2147483647 w 3051"/>
              <a:gd name="T17" fmla="*/ 2147483647 h 6513"/>
              <a:gd name="T18" fmla="*/ 2147483647 w 3051"/>
              <a:gd name="T19" fmla="*/ 2147483647 h 6513"/>
              <a:gd name="T20" fmla="*/ 2147483647 w 3051"/>
              <a:gd name="T21" fmla="*/ 2147483647 h 6513"/>
              <a:gd name="T22" fmla="*/ 2147483647 w 3051"/>
              <a:gd name="T23" fmla="*/ 2147483647 h 651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51"/>
              <a:gd name="T37" fmla="*/ 0 h 6513"/>
              <a:gd name="T38" fmla="*/ 3051 w 3051"/>
              <a:gd name="T39" fmla="*/ 6513 h 651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51" h="6513">
                <a:moveTo>
                  <a:pt x="68" y="24"/>
                </a:moveTo>
                <a:lnTo>
                  <a:pt x="2956" y="6257"/>
                </a:lnTo>
                <a:cubicBezTo>
                  <a:pt x="2964" y="6274"/>
                  <a:pt x="2957" y="6294"/>
                  <a:pt x="2940" y="6301"/>
                </a:cubicBezTo>
                <a:cubicBezTo>
                  <a:pt x="2923" y="6309"/>
                  <a:pt x="2904" y="6302"/>
                  <a:pt x="2896" y="6285"/>
                </a:cubicBezTo>
                <a:lnTo>
                  <a:pt x="8" y="52"/>
                </a:lnTo>
                <a:cubicBezTo>
                  <a:pt x="0" y="35"/>
                  <a:pt x="7" y="16"/>
                  <a:pt x="24" y="8"/>
                </a:cubicBezTo>
                <a:cubicBezTo>
                  <a:pt x="41" y="0"/>
                  <a:pt x="61" y="7"/>
                  <a:pt x="68" y="24"/>
                </a:cubicBezTo>
                <a:close/>
                <a:moveTo>
                  <a:pt x="2926" y="6271"/>
                </a:moveTo>
                <a:lnTo>
                  <a:pt x="3051" y="6066"/>
                </a:lnTo>
                <a:lnTo>
                  <a:pt x="3038" y="6513"/>
                </a:lnTo>
                <a:lnTo>
                  <a:pt x="2689" y="6234"/>
                </a:lnTo>
                <a:lnTo>
                  <a:pt x="2926" y="6271"/>
                </a:lnTo>
                <a:close/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Freeform 236"/>
          <p:cNvSpPr>
            <a:spLocks noEditPoints="1"/>
          </p:cNvSpPr>
          <p:nvPr/>
        </p:nvSpPr>
        <p:spPr bwMode="auto">
          <a:xfrm flipV="1">
            <a:off x="5220473" y="3806831"/>
            <a:ext cx="578304" cy="945579"/>
          </a:xfrm>
          <a:custGeom>
            <a:avLst/>
            <a:gdLst>
              <a:gd name="T0" fmla="*/ 2147483647 w 3051"/>
              <a:gd name="T1" fmla="*/ 2147483647 h 6513"/>
              <a:gd name="T2" fmla="*/ 2147483647 w 3051"/>
              <a:gd name="T3" fmla="*/ 2147483647 h 6513"/>
              <a:gd name="T4" fmla="*/ 2147483647 w 3051"/>
              <a:gd name="T5" fmla="*/ 2147483647 h 6513"/>
              <a:gd name="T6" fmla="*/ 2147483647 w 3051"/>
              <a:gd name="T7" fmla="*/ 2147483647 h 6513"/>
              <a:gd name="T8" fmla="*/ 2147483647 w 3051"/>
              <a:gd name="T9" fmla="*/ 2147483647 h 6513"/>
              <a:gd name="T10" fmla="*/ 2147483647 w 3051"/>
              <a:gd name="T11" fmla="*/ 2147483647 h 6513"/>
              <a:gd name="T12" fmla="*/ 2147483647 w 3051"/>
              <a:gd name="T13" fmla="*/ 2147483647 h 6513"/>
              <a:gd name="T14" fmla="*/ 2147483647 w 3051"/>
              <a:gd name="T15" fmla="*/ 2147483647 h 6513"/>
              <a:gd name="T16" fmla="*/ 2147483647 w 3051"/>
              <a:gd name="T17" fmla="*/ 2147483647 h 6513"/>
              <a:gd name="T18" fmla="*/ 2147483647 w 3051"/>
              <a:gd name="T19" fmla="*/ 2147483647 h 6513"/>
              <a:gd name="T20" fmla="*/ 2147483647 w 3051"/>
              <a:gd name="T21" fmla="*/ 2147483647 h 6513"/>
              <a:gd name="T22" fmla="*/ 2147483647 w 3051"/>
              <a:gd name="T23" fmla="*/ 2147483647 h 651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51"/>
              <a:gd name="T37" fmla="*/ 0 h 6513"/>
              <a:gd name="T38" fmla="*/ 3051 w 3051"/>
              <a:gd name="T39" fmla="*/ 6513 h 651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51" h="6513">
                <a:moveTo>
                  <a:pt x="68" y="24"/>
                </a:moveTo>
                <a:lnTo>
                  <a:pt x="2956" y="6257"/>
                </a:lnTo>
                <a:cubicBezTo>
                  <a:pt x="2964" y="6274"/>
                  <a:pt x="2957" y="6294"/>
                  <a:pt x="2940" y="6301"/>
                </a:cubicBezTo>
                <a:cubicBezTo>
                  <a:pt x="2923" y="6309"/>
                  <a:pt x="2904" y="6302"/>
                  <a:pt x="2896" y="6285"/>
                </a:cubicBezTo>
                <a:lnTo>
                  <a:pt x="8" y="52"/>
                </a:lnTo>
                <a:cubicBezTo>
                  <a:pt x="0" y="35"/>
                  <a:pt x="7" y="16"/>
                  <a:pt x="24" y="8"/>
                </a:cubicBezTo>
                <a:cubicBezTo>
                  <a:pt x="41" y="0"/>
                  <a:pt x="61" y="7"/>
                  <a:pt x="68" y="24"/>
                </a:cubicBezTo>
                <a:close/>
                <a:moveTo>
                  <a:pt x="2926" y="6271"/>
                </a:moveTo>
                <a:lnTo>
                  <a:pt x="3051" y="6066"/>
                </a:lnTo>
                <a:lnTo>
                  <a:pt x="3038" y="6513"/>
                </a:lnTo>
                <a:lnTo>
                  <a:pt x="2689" y="6234"/>
                </a:lnTo>
                <a:lnTo>
                  <a:pt x="2926" y="6271"/>
                </a:lnTo>
                <a:close/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Freeform 236"/>
          <p:cNvSpPr>
            <a:spLocks noEditPoints="1"/>
          </p:cNvSpPr>
          <p:nvPr/>
        </p:nvSpPr>
        <p:spPr bwMode="auto">
          <a:xfrm>
            <a:off x="6611766" y="2803668"/>
            <a:ext cx="778402" cy="926964"/>
          </a:xfrm>
          <a:custGeom>
            <a:avLst/>
            <a:gdLst>
              <a:gd name="T0" fmla="*/ 2147483647 w 3051"/>
              <a:gd name="T1" fmla="*/ 2147483647 h 6513"/>
              <a:gd name="T2" fmla="*/ 2147483647 w 3051"/>
              <a:gd name="T3" fmla="*/ 2147483647 h 6513"/>
              <a:gd name="T4" fmla="*/ 2147483647 w 3051"/>
              <a:gd name="T5" fmla="*/ 2147483647 h 6513"/>
              <a:gd name="T6" fmla="*/ 2147483647 w 3051"/>
              <a:gd name="T7" fmla="*/ 2147483647 h 6513"/>
              <a:gd name="T8" fmla="*/ 2147483647 w 3051"/>
              <a:gd name="T9" fmla="*/ 2147483647 h 6513"/>
              <a:gd name="T10" fmla="*/ 2147483647 w 3051"/>
              <a:gd name="T11" fmla="*/ 2147483647 h 6513"/>
              <a:gd name="T12" fmla="*/ 2147483647 w 3051"/>
              <a:gd name="T13" fmla="*/ 2147483647 h 6513"/>
              <a:gd name="T14" fmla="*/ 2147483647 w 3051"/>
              <a:gd name="T15" fmla="*/ 2147483647 h 6513"/>
              <a:gd name="T16" fmla="*/ 2147483647 w 3051"/>
              <a:gd name="T17" fmla="*/ 2147483647 h 6513"/>
              <a:gd name="T18" fmla="*/ 2147483647 w 3051"/>
              <a:gd name="T19" fmla="*/ 2147483647 h 6513"/>
              <a:gd name="T20" fmla="*/ 2147483647 w 3051"/>
              <a:gd name="T21" fmla="*/ 2147483647 h 6513"/>
              <a:gd name="T22" fmla="*/ 2147483647 w 3051"/>
              <a:gd name="T23" fmla="*/ 2147483647 h 651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51"/>
              <a:gd name="T37" fmla="*/ 0 h 6513"/>
              <a:gd name="T38" fmla="*/ 3051 w 3051"/>
              <a:gd name="T39" fmla="*/ 6513 h 651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51" h="6513">
                <a:moveTo>
                  <a:pt x="68" y="24"/>
                </a:moveTo>
                <a:lnTo>
                  <a:pt x="2956" y="6257"/>
                </a:lnTo>
                <a:cubicBezTo>
                  <a:pt x="2964" y="6274"/>
                  <a:pt x="2957" y="6294"/>
                  <a:pt x="2940" y="6301"/>
                </a:cubicBezTo>
                <a:cubicBezTo>
                  <a:pt x="2923" y="6309"/>
                  <a:pt x="2904" y="6302"/>
                  <a:pt x="2896" y="6285"/>
                </a:cubicBezTo>
                <a:lnTo>
                  <a:pt x="8" y="52"/>
                </a:lnTo>
                <a:cubicBezTo>
                  <a:pt x="0" y="35"/>
                  <a:pt x="7" y="16"/>
                  <a:pt x="24" y="8"/>
                </a:cubicBezTo>
                <a:cubicBezTo>
                  <a:pt x="41" y="0"/>
                  <a:pt x="61" y="7"/>
                  <a:pt x="68" y="24"/>
                </a:cubicBezTo>
                <a:close/>
                <a:moveTo>
                  <a:pt x="2926" y="6271"/>
                </a:moveTo>
                <a:lnTo>
                  <a:pt x="3051" y="6066"/>
                </a:lnTo>
                <a:lnTo>
                  <a:pt x="3038" y="6513"/>
                </a:lnTo>
                <a:lnTo>
                  <a:pt x="2689" y="6234"/>
                </a:lnTo>
                <a:lnTo>
                  <a:pt x="2926" y="6271"/>
                </a:lnTo>
                <a:close/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9" name="Straight Arrow Connector 19"/>
          <p:cNvCxnSpPr/>
          <p:nvPr/>
        </p:nvCxnSpPr>
        <p:spPr>
          <a:xfrm>
            <a:off x="4316747" y="3775082"/>
            <a:ext cx="3279589" cy="0"/>
          </a:xfrm>
          <a:prstGeom prst="straightConnector1">
            <a:avLst/>
          </a:prstGeom>
          <a:noFill/>
          <a:ln w="41275" cap="flat" cmpd="sng" algn="ctr">
            <a:gradFill flip="none" rotWithShape="1">
              <a:gsLst>
                <a:gs pos="0">
                  <a:sysClr val="windowText" lastClr="000000"/>
                </a:gs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1"/>
              <a:tileRect/>
            </a:gradFill>
            <a:prstDash val="solid"/>
            <a:tailEnd type="stealth"/>
          </a:ln>
          <a:effectLst/>
        </p:spPr>
      </p:cxnSp>
      <p:sp>
        <p:nvSpPr>
          <p:cNvPr id="170" name="Text Box 258"/>
          <p:cNvSpPr txBox="1">
            <a:spLocks noChangeArrowheads="1"/>
          </p:cNvSpPr>
          <p:nvPr/>
        </p:nvSpPr>
        <p:spPr bwMode="auto">
          <a:xfrm flipH="1">
            <a:off x="4893540" y="2572975"/>
            <a:ext cx="609961" cy="19578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Homem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1" name="Text Box 258"/>
          <p:cNvSpPr txBox="1">
            <a:spLocks noChangeArrowheads="1"/>
          </p:cNvSpPr>
          <p:nvPr/>
        </p:nvSpPr>
        <p:spPr bwMode="auto">
          <a:xfrm flipH="1">
            <a:off x="6664181" y="2576186"/>
            <a:ext cx="783893" cy="204322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Tecnologia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2" name="Text Box 258"/>
          <p:cNvSpPr txBox="1">
            <a:spLocks noChangeArrowheads="1"/>
          </p:cNvSpPr>
          <p:nvPr/>
        </p:nvSpPr>
        <p:spPr bwMode="auto">
          <a:xfrm flipH="1">
            <a:off x="5070669" y="4865325"/>
            <a:ext cx="686207" cy="176972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288" tIns="22860" rIns="0" bIns="0" anchor="t" upright="1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kumimoji="0" 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Processo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3" name="CaixaDeTexto 172"/>
          <p:cNvSpPr txBox="1"/>
          <p:nvPr/>
        </p:nvSpPr>
        <p:spPr>
          <a:xfrm>
            <a:off x="4227496" y="3820202"/>
            <a:ext cx="1298785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Inexistência </a:t>
            </a:r>
            <a:r>
              <a:rPr lang="pt-BR" dirty="0" smtClean="0"/>
              <a:t>de RACI – relatórios e indicadores</a:t>
            </a:r>
            <a:endParaRPr lang="pt-BR" dirty="0"/>
          </a:p>
        </p:txBody>
      </p:sp>
      <p:sp>
        <p:nvSpPr>
          <p:cNvPr id="175" name="CaixaDeTexto 174"/>
          <p:cNvSpPr txBox="1"/>
          <p:nvPr/>
        </p:nvSpPr>
        <p:spPr>
          <a:xfrm>
            <a:off x="3779912" y="3152453"/>
            <a:ext cx="1236244" cy="50783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Falta de conhecimento: gestão de serviços / operação</a:t>
            </a:r>
            <a:endParaRPr lang="pt-BR" sz="900" dirty="0"/>
          </a:p>
        </p:txBody>
      </p:sp>
      <p:sp>
        <p:nvSpPr>
          <p:cNvPr id="176" name="CaixaDeTexto 175"/>
          <p:cNvSpPr txBox="1"/>
          <p:nvPr/>
        </p:nvSpPr>
        <p:spPr>
          <a:xfrm>
            <a:off x="5827797" y="3855583"/>
            <a:ext cx="1232325" cy="50783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pPr lvl="0" algn="l"/>
            <a:r>
              <a:rPr lang="pt-BR" dirty="0">
                <a:solidFill>
                  <a:prstClr val="black"/>
                </a:solidFill>
              </a:rPr>
              <a:t>Falta de padronização</a:t>
            </a:r>
            <a:r>
              <a:rPr lang="pt-BR" dirty="0" smtClean="0">
                <a:solidFill>
                  <a:prstClr val="black"/>
                </a:solidFill>
              </a:rPr>
              <a:t>: SLA, relatórios, plano </a:t>
            </a:r>
            <a:r>
              <a:rPr lang="pt-BR" dirty="0">
                <a:solidFill>
                  <a:prstClr val="black"/>
                </a:solidFill>
              </a:rPr>
              <a:t>de </a:t>
            </a:r>
            <a:r>
              <a:rPr lang="pt-BR" dirty="0" smtClean="0">
                <a:solidFill>
                  <a:prstClr val="black"/>
                </a:solidFill>
              </a:rPr>
              <a:t>ação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177" name="CaixaDeTexto 176"/>
          <p:cNvSpPr txBox="1"/>
          <p:nvPr/>
        </p:nvSpPr>
        <p:spPr>
          <a:xfrm>
            <a:off x="3855348" y="4221971"/>
            <a:ext cx="1380260" cy="46166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sz="800" dirty="0"/>
              <a:t>Falta de local único para armazenamento de indicadores e planos de ação</a:t>
            </a:r>
          </a:p>
        </p:txBody>
      </p:sp>
      <p:sp>
        <p:nvSpPr>
          <p:cNvPr id="179" name="CaixaDeTexto 178"/>
          <p:cNvSpPr txBox="1"/>
          <p:nvPr/>
        </p:nvSpPr>
        <p:spPr>
          <a:xfrm>
            <a:off x="3491880" y="4733577"/>
            <a:ext cx="1509044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Cadastro de usuários </a:t>
            </a:r>
            <a:r>
              <a:rPr lang="pt-BR" dirty="0" smtClean="0"/>
              <a:t>deficitário (CA vs SGA vs AD)</a:t>
            </a:r>
            <a:endParaRPr lang="pt-BR" dirty="0"/>
          </a:p>
        </p:txBody>
      </p:sp>
      <p:sp>
        <p:nvSpPr>
          <p:cNvPr id="180" name="CaixaDeTexto 179"/>
          <p:cNvSpPr txBox="1"/>
          <p:nvPr/>
        </p:nvSpPr>
        <p:spPr>
          <a:xfrm>
            <a:off x="5456781" y="4444924"/>
            <a:ext cx="1410619" cy="2308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pPr lvl="0"/>
            <a:r>
              <a:rPr lang="pt-BR" dirty="0">
                <a:solidFill>
                  <a:prstClr val="black"/>
                </a:solidFill>
              </a:rPr>
              <a:t>Falta de </a:t>
            </a:r>
            <a:r>
              <a:rPr lang="pt-BR" dirty="0" smtClean="0">
                <a:solidFill>
                  <a:prstClr val="black"/>
                </a:solidFill>
              </a:rPr>
              <a:t>KPIs operacionais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181" name="CaixaDeTexto 180"/>
          <p:cNvSpPr txBox="1"/>
          <p:nvPr/>
        </p:nvSpPr>
        <p:spPr>
          <a:xfrm>
            <a:off x="2046893" y="2140496"/>
            <a:ext cx="1509044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Cadastro de usuários </a:t>
            </a:r>
            <a:r>
              <a:rPr lang="pt-BR" dirty="0" smtClean="0"/>
              <a:t>deficitário (CA vs SGA vs AD)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555776" y="1138168"/>
            <a:ext cx="1426506" cy="50783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Plataforma tecnológica  para </a:t>
            </a:r>
            <a:r>
              <a:rPr lang="pt-BR" dirty="0" smtClean="0"/>
              <a:t>geração de </a:t>
            </a:r>
            <a:r>
              <a:rPr lang="pt-BR" dirty="0"/>
              <a:t>relatórios </a:t>
            </a:r>
            <a:r>
              <a:rPr lang="pt-BR" dirty="0" smtClean="0"/>
              <a:t>e indicadores inexistente</a:t>
            </a:r>
            <a:endParaRPr lang="pt-BR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1763688" y="2966178"/>
            <a:ext cx="1292225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 smtClean="0"/>
              <a:t>Inexistência de função (equipe) de reporting</a:t>
            </a:r>
            <a:endParaRPr lang="pt-BR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5798777" y="4731107"/>
            <a:ext cx="1292225" cy="3693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 smtClean="0"/>
              <a:t>Inexistência de função (equipe) de reporting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5420209" y="3076725"/>
            <a:ext cx="1426506" cy="50783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900"/>
            </a:lvl1pPr>
          </a:lstStyle>
          <a:p>
            <a:r>
              <a:rPr lang="pt-BR" dirty="0"/>
              <a:t>Plataforma tecnológica  para </a:t>
            </a:r>
            <a:r>
              <a:rPr lang="pt-BR" dirty="0" smtClean="0"/>
              <a:t>geração de </a:t>
            </a:r>
            <a:r>
              <a:rPr lang="pt-BR" dirty="0"/>
              <a:t>relatórios </a:t>
            </a:r>
            <a:r>
              <a:rPr lang="pt-BR" dirty="0" smtClean="0"/>
              <a:t>e indicadores inexistente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739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Onde estamos? Lista de </a:t>
            </a:r>
            <a:r>
              <a:rPr lang="pt-BR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GAPs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158580"/>
              </p:ext>
            </p:extLst>
          </p:nvPr>
        </p:nvGraphicFramePr>
        <p:xfrm>
          <a:off x="107504" y="692384"/>
          <a:ext cx="8784976" cy="4164054"/>
        </p:xfrm>
        <a:graphic>
          <a:graphicData uri="http://schemas.openxmlformats.org/drawingml/2006/table">
            <a:tbl>
              <a:tblPr/>
              <a:tblGrid>
                <a:gridCol w="226581"/>
                <a:gridCol w="2365707"/>
                <a:gridCol w="4320480"/>
                <a:gridCol w="1872208"/>
              </a:tblGrid>
              <a:tr h="1777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#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GAP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Impacto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</a:tr>
              <a:tr h="41724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Gestão de Conhecimento: gestão de serviços / operação e/ou Falta de organização para gestão de serviços por indicadores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Temos indicadores 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definidos e cascateados para as equipes (DA, DI – Processos do Metrô)?</a:t>
                      </a:r>
                    </a:p>
                    <a:p>
                      <a:pPr algn="l" fontAlgn="ctr"/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As equipes sabem realizar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drill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down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Pareto, gráfico de tendência,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etc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?</a:t>
                      </a:r>
                    </a:p>
                    <a:p>
                      <a:pPr algn="l" fontAlgn="ctr"/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Existe controle e cobrança das áreas (PGD)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Gestão inexistente ou ineficaz do serviço / operação</a:t>
                      </a:r>
                    </a:p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3000"/>
                      </a:schemeClr>
                    </a:solidFill>
                  </a:tcPr>
                </a:tc>
              </a:tr>
              <a:tr h="51991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Plataforma tecnológica  para geração de relatórios e indicadores inexistente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Atualmente os usuários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de relatórios TD acessam um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raw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data em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xls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com dados de chamados CA SDM, gerado pela equipe de Indicadores</a:t>
                      </a:r>
                    </a:p>
                    <a:p>
                      <a:pPr algn="l" fontAlgn="ctr"/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Aplicações Críticas – equipe Indicadores gera a informação em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xls</a:t>
                      </a:r>
                      <a:endParaRPr lang="pt-BR" sz="6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  <a:p>
                      <a:pPr algn="l" fontAlgn="ctr"/>
                      <a:r>
                        <a:rPr lang="pt-BR" sz="6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Verdana"/>
                        </a:rPr>
                        <a:t>. SE e Projetos – dados do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FF0000"/>
                          </a:solidFill>
                          <a:effectLst/>
                          <a:latin typeface="Verdana"/>
                        </a:rPr>
                        <a:t>Clarity</a:t>
                      </a:r>
                      <a:r>
                        <a:rPr lang="pt-BR" sz="6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Verdana"/>
                        </a:rPr>
                        <a:t> XXXXX</a:t>
                      </a:r>
                      <a:r>
                        <a:rPr lang="pt-BR" sz="6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Verdana"/>
                        </a:rPr>
                        <a:t>??</a:t>
                      </a:r>
                      <a:endParaRPr lang="pt-BR" sz="600" b="0" i="0" u="none" strike="noStrike" baseline="0" dirty="0" smtClean="0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Gestão inexistente ou ineficaz do serviço / operação</a:t>
                      </a:r>
                    </a:p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3000"/>
                      </a:schemeClr>
                    </a:solidFill>
                  </a:tcPr>
                </a:tc>
              </a:tr>
              <a:tr h="26042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Falta de local único para armazenamento de indicadores e planos de ação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Atualmente, não existe um local público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para disponibilizar indicadores, planos de ação, etc.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Informação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divergente / não confiável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  <a:tr h="51991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Falta de padronização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relatórios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plano de ação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prestação de contas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SLA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prioridade de chamado (severidade e impacto) no ITSM e CA SDM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Qualidade do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Serviço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0000"/>
                      </a:srgbClr>
                    </a:solidFill>
                  </a:tcPr>
                </a:tc>
              </a:tr>
              <a:tr h="2690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Processo de Gestão da Configuração</a:t>
                      </a: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(CMDB) ineficaz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Inexistência de detalhes nos chamados para identificar site,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departamento, sistema, projeto,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item, 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etc.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Gestão inexistente ou ineficaz do serviço / operação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  <a:alpha val="33000"/>
                      </a:schemeClr>
                    </a:solidFill>
                  </a:tcPr>
                </a:tc>
              </a:tr>
              <a:tr h="35281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6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Estrutura de Catálogo e SLA ineficazes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SLA de grupos (contrato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fornecedores)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vs SLA usuário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Matriz de Impacto e Urgência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vs </a:t>
                      </a:r>
                      <a:r>
                        <a:rPr lang="pt-BR" sz="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SLAs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por serviço. Atualmente não existe matriz, e sim SLA por (cada) serviço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600" b="0" i="0" u="none" strike="noStrike" dirty="0" smtClean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  <a:p>
                      <a:pPr algn="l" fontAlgn="b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Complexidade 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na gestão de SLA</a:t>
                      </a:r>
                    </a:p>
                    <a:p>
                      <a:pPr algn="l" fontAlgn="b"/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Transparência e comunicação com 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usuário</a:t>
                      </a:r>
                      <a:endParaRPr lang="pt-BR" sz="6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  <a:p>
                      <a:pPr algn="l" fontAlgn="b"/>
                      <a:endParaRPr lang="pt-BR" sz="6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40000"/>
                      </a:srgbClr>
                    </a:solidFill>
                  </a:tcPr>
                </a:tc>
              </a:tr>
              <a:tr h="29625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7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Cadastro de usuários deficitário (CA vs SGA vs AD x terceiros)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Cadastro dos usuários no CA SDM não têm informação de site, telefone, e-mail, </a:t>
                      </a:r>
                      <a:r>
                        <a:rPr lang="pt-BR" sz="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etc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o que dificulta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organizar os chamados por área / departamento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Gestão inexistente ou ineficaz do serviço / operação</a:t>
                      </a:r>
                    </a:p>
                    <a:p>
                      <a:pPr algn="l" fontAlgn="b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41000"/>
                      </a:schemeClr>
                    </a:solidFill>
                  </a:tcPr>
                </a:tc>
              </a:tr>
              <a:tr h="3593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8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Inexistência Processo relatórios e indicadores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</a:t>
                      </a: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RACI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</a:t>
                      </a: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Portfólio de indicadores (SE, Chamado, </a:t>
                      </a: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Disponibilidade)</a:t>
                      </a:r>
                      <a:endParaRPr lang="pt-BR" sz="600" b="0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Verdan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Gestão de </a:t>
                      </a: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Performance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Gestão inexistente ou ineficaz do serviço / </a:t>
                      </a:r>
                      <a:r>
                        <a:rPr kumimoji="0" lang="pt-BR" sz="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operação</a:t>
                      </a:r>
                    </a:p>
                    <a:p>
                      <a:pPr algn="l" fontAlgn="b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</a:tr>
              <a:tr h="32339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9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Inexistência de função (equipe) de reporting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Capacidade</a:t>
                      </a:r>
                      <a:r>
                        <a:rPr lang="pt-B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de geração de relatórios específicos por área, processo, equipe em frequência diária, semanal e mensal, uma vez que as áreas (DI, DA e GRP) não geram as informações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Gestão inexistente ou ineficaz do serviço / operação</a:t>
                      </a:r>
                    </a:p>
                    <a:p>
                      <a:pPr algn="l" fontAlgn="b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</a:tr>
              <a:tr h="31458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10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Processo de prestação de contas não operacionalizado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Falta de padronização: modelo de prestação de contas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Mapeamento de necessidades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Procedimento</a:t>
                      </a:r>
                      <a:r>
                        <a:rPr lang="pt-BR" sz="6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(operacional)</a:t>
                      </a:r>
                      <a:endParaRPr lang="pt-BR" sz="6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Gestão inexistente ou ineficaz do serviço / operação</a:t>
                      </a:r>
                    </a:p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</a:tr>
              <a:tr h="32339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11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Prioridade de Chamado não eficaz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Falta processo / procedimento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Falta padronização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Gestão inexistente ou ineficaz do serviço / operação</a:t>
                      </a:r>
                    </a:p>
                    <a:p>
                      <a:pPr algn="l" fontAlgn="b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89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de cantos arredondados 27"/>
          <p:cNvSpPr/>
          <p:nvPr/>
        </p:nvSpPr>
        <p:spPr>
          <a:xfrm>
            <a:off x="4443886" y="2470339"/>
            <a:ext cx="2432370" cy="246221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Onde estamos? Lista de </a:t>
            </a:r>
            <a:r>
              <a:rPr lang="pt-BR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GAPs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 – Visão por Processo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/>
          <p:cNvSpPr/>
          <p:nvPr/>
        </p:nvSpPr>
        <p:spPr>
          <a:xfrm>
            <a:off x="4375449" y="1038017"/>
            <a:ext cx="3652935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Definição de regra de Plano de Ação de Implantação de novo indicador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Definição de indicadores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Definição de regra de ritual de comunicação de indicadores para o negócio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Acompanhamento de Plano de Ação (indicadores fora da meta)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885" y="1204392"/>
            <a:ext cx="2962275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4371878" y="2979392"/>
            <a:ext cx="3240360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Criação de Plano de Ação para indicadores fora da meta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Geração de Indicadores Táticos e Estratégicos TD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Disponibilização de Indicadores Táticos e Estratégicos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Disponibilização de Relatórios Operacionais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Manutenção (Gestão de Catálogo de Serviços)</a:t>
            </a: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Geração de Prestação de Contas – Fornecedores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371878" y="4558571"/>
            <a:ext cx="32403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Recebimento de Prestação de Contas – Fornecedores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4375449" y="1008941"/>
            <a:ext cx="3580927" cy="1274786"/>
          </a:xfrm>
          <a:prstGeom prst="roundRect">
            <a:avLst/>
          </a:prstGeom>
          <a:solidFill>
            <a:schemeClr val="accent5">
              <a:lumMod val="75000"/>
              <a:alpha val="3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/>
          <p:nvPr/>
        </p:nvCxnSpPr>
        <p:spPr>
          <a:xfrm flipH="1">
            <a:off x="3923928" y="1038017"/>
            <a:ext cx="519957" cy="454407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</p:cxnSp>
      <p:sp>
        <p:nvSpPr>
          <p:cNvPr id="18" name="Retângulo de cantos arredondados 17"/>
          <p:cNvSpPr/>
          <p:nvPr/>
        </p:nvSpPr>
        <p:spPr>
          <a:xfrm>
            <a:off x="4375449" y="2963489"/>
            <a:ext cx="3236789" cy="1400383"/>
          </a:xfrm>
          <a:prstGeom prst="roundRect">
            <a:avLst/>
          </a:prstGeom>
          <a:solidFill>
            <a:srgbClr val="7030A0">
              <a:alpha val="30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/>
          <p:nvPr/>
        </p:nvCxnSpPr>
        <p:spPr>
          <a:xfrm flipH="1" flipV="1">
            <a:off x="4002132" y="2944992"/>
            <a:ext cx="504056" cy="34400"/>
          </a:xfrm>
          <a:prstGeom prst="line">
            <a:avLst/>
          </a:prstGeom>
          <a:solidFill>
            <a:srgbClr val="7030A0">
              <a:alpha val="30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etângulo de cantos arredondados 19"/>
          <p:cNvSpPr/>
          <p:nvPr/>
        </p:nvSpPr>
        <p:spPr>
          <a:xfrm>
            <a:off x="4371879" y="4558571"/>
            <a:ext cx="3096344" cy="246221"/>
          </a:xfrm>
          <a:prstGeom prst="roundRect">
            <a:avLst/>
          </a:prstGeom>
          <a:solidFill>
            <a:srgbClr val="F93DFD">
              <a:alpha val="29804"/>
            </a:srgbClr>
          </a:solidFill>
          <a:ln>
            <a:solidFill>
              <a:srgbClr val="F93D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reto 20"/>
          <p:cNvCxnSpPr/>
          <p:nvPr/>
        </p:nvCxnSpPr>
        <p:spPr>
          <a:xfrm flipH="1" flipV="1">
            <a:off x="4002132" y="4466555"/>
            <a:ext cx="425852" cy="92015"/>
          </a:xfrm>
          <a:prstGeom prst="line">
            <a:avLst/>
          </a:prstGeom>
          <a:solidFill>
            <a:srgbClr val="F93DFD">
              <a:alpha val="29804"/>
            </a:srgbClr>
          </a:solidFill>
          <a:ln>
            <a:solidFill>
              <a:srgbClr val="F93D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tângulo 26"/>
          <p:cNvSpPr/>
          <p:nvPr/>
        </p:nvSpPr>
        <p:spPr>
          <a:xfrm>
            <a:off x="4443885" y="2470339"/>
            <a:ext cx="32403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000" noProof="1" smtClean="0">
                <a:cs typeface="Arial" pitchFamily="34" charset="0"/>
              </a:rPr>
              <a:t>Criação de Catálogo de Serviços (T2R)</a:t>
            </a:r>
          </a:p>
        </p:txBody>
      </p:sp>
      <p:cxnSp>
        <p:nvCxnSpPr>
          <p:cNvPr id="29" name="Conector reto 28"/>
          <p:cNvCxnSpPr/>
          <p:nvPr/>
        </p:nvCxnSpPr>
        <p:spPr>
          <a:xfrm flipH="1">
            <a:off x="4002132" y="2470338"/>
            <a:ext cx="497859" cy="1"/>
          </a:xfrm>
          <a:prstGeom prst="line">
            <a:avLst/>
          </a:prstGeom>
          <a:solidFill>
            <a:srgbClr val="F93DFD">
              <a:alpha val="29804"/>
            </a:srgbClr>
          </a:solidFill>
          <a:ln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4330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23560" y="700335"/>
            <a:ext cx="8568920" cy="441634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38" name="Retângulo de cantos arredondados 37"/>
          <p:cNvSpPr/>
          <p:nvPr/>
        </p:nvSpPr>
        <p:spPr>
          <a:xfrm>
            <a:off x="4427984" y="1714147"/>
            <a:ext cx="3600400" cy="3306669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3" name="Retângulo de cantos arredondados 2"/>
          <p:cNvSpPr/>
          <p:nvPr/>
        </p:nvSpPr>
        <p:spPr>
          <a:xfrm>
            <a:off x="467544" y="1210091"/>
            <a:ext cx="3888432" cy="38107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Do que precisamos?  Tecnologia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827584" y="1665543"/>
            <a:ext cx="3744416" cy="3273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Disponibilidade Aplicações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Performance Aplicações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Chamados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Incidente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Requisição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Mudança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Problema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Projetos e Evoluções (clarity?)</a:t>
            </a:r>
          </a:p>
          <a:p>
            <a:pPr>
              <a:spcBef>
                <a:spcPct val="50000"/>
              </a:spcBef>
            </a:pPr>
            <a:r>
              <a:rPr lang="pt-BR" sz="1100" noProof="1" smtClean="0">
                <a:cs typeface="Arial" pitchFamily="34" charset="0"/>
              </a:rPr>
              <a:t>O detalhamento da informação, deve considerar a necessidade do negócio, podendo chegar até 7 níveis, conforme exemplo abaixo:</a:t>
            </a:r>
          </a:p>
          <a:p>
            <a:pPr>
              <a:spcBef>
                <a:spcPct val="50000"/>
              </a:spcBef>
            </a:pPr>
            <a:r>
              <a:rPr lang="pt-BR" sz="900" noProof="1" smtClean="0">
                <a:cs typeface="Arial" pitchFamily="34" charset="0"/>
              </a:rPr>
              <a:t>Global &gt; VP &gt; Diretoria &gt; Gerência &gt; Sub-Gerência &gt; Serviço &gt; ABC</a:t>
            </a:r>
          </a:p>
          <a:p>
            <a:pPr>
              <a:spcBef>
                <a:spcPct val="50000"/>
              </a:spcBef>
            </a:pPr>
            <a:endParaRPr lang="pt-BR" sz="900" noProof="1">
              <a:cs typeface="Arial" pitchFamily="34" charset="0"/>
            </a:endParaRPr>
          </a:p>
          <a:p>
            <a:pPr>
              <a:spcBef>
                <a:spcPct val="50000"/>
              </a:spcBef>
            </a:pPr>
            <a:r>
              <a:rPr lang="pt-BR" sz="1100" b="1" noProof="1" smtClean="0">
                <a:cs typeface="Arial" pitchFamily="34" charset="0"/>
              </a:rPr>
              <a:t>Usuários do Sistema:</a:t>
            </a:r>
            <a:r>
              <a:rPr lang="pt-BR" sz="1100" noProof="1" smtClean="0">
                <a:cs typeface="Arial" pitchFamily="34" charset="0"/>
              </a:rPr>
              <a:t> Toda a compania</a:t>
            </a:r>
            <a:endParaRPr lang="pt-BR" sz="1600" noProof="1">
              <a:cs typeface="Arial" pitchFamily="34" charset="0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4837574" y="2140496"/>
            <a:ext cx="322075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Estratificação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Pareto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Linha do Tempo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Histórico</a:t>
            </a:r>
          </a:p>
          <a:p>
            <a:pPr marL="153090" indent="-15309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Plano de Ação</a:t>
            </a:r>
          </a:p>
          <a:p>
            <a:pPr>
              <a:spcBef>
                <a:spcPct val="50000"/>
              </a:spcBef>
            </a:pPr>
            <a:r>
              <a:rPr lang="pt-BR" sz="1100" b="1" noProof="1" smtClean="0">
                <a:cs typeface="Arial" pitchFamily="34" charset="0"/>
              </a:rPr>
              <a:t>Quem gera a informação: </a:t>
            </a:r>
            <a:r>
              <a:rPr lang="pt-BR" sz="1100" noProof="1" smtClean="0">
                <a:cs typeface="Arial" pitchFamily="34" charset="0"/>
              </a:rPr>
              <a:t>Funções específicas da TD:</a:t>
            </a:r>
          </a:p>
          <a:p>
            <a:pPr marL="628650" lvl="1" indent="-17145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DI N1 e N2</a:t>
            </a:r>
          </a:p>
          <a:p>
            <a:pPr marL="628650" lvl="1" indent="-17145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DA Sustentação</a:t>
            </a:r>
          </a:p>
          <a:p>
            <a:pPr marL="628650" lvl="1" indent="-17145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GRP</a:t>
            </a:r>
          </a:p>
          <a:p>
            <a:pPr marL="628650" lvl="1" indent="-171450">
              <a:spcBef>
                <a:spcPct val="50000"/>
              </a:spcBef>
              <a:buFont typeface="Arial" pitchFamily="34" charset="0"/>
              <a:buChar char="•"/>
            </a:pPr>
            <a:r>
              <a:rPr lang="pt-BR" sz="1100" noProof="1" smtClean="0">
                <a:cs typeface="Arial" pitchFamily="34" charset="0"/>
              </a:rPr>
              <a:t>CRC</a:t>
            </a:r>
            <a:endParaRPr lang="pt-BR" sz="1100" b="1" noProof="1" smtClean="0">
              <a:cs typeface="Arial" pitchFamily="34" charset="0"/>
            </a:endParaRPr>
          </a:p>
          <a:p>
            <a:pPr>
              <a:spcBef>
                <a:spcPct val="50000"/>
              </a:spcBef>
            </a:pPr>
            <a:r>
              <a:rPr lang="pt-BR" sz="1100" b="1" noProof="1" smtClean="0">
                <a:cs typeface="Arial" pitchFamily="34" charset="0"/>
              </a:rPr>
              <a:t>Usuários </a:t>
            </a:r>
            <a:r>
              <a:rPr lang="pt-BR" sz="1100" b="1" noProof="1">
                <a:cs typeface="Arial" pitchFamily="34" charset="0"/>
              </a:rPr>
              <a:t>do Sistema:</a:t>
            </a:r>
            <a:r>
              <a:rPr lang="pt-BR" sz="1100" noProof="1">
                <a:cs typeface="Arial" pitchFamily="34" charset="0"/>
              </a:rPr>
              <a:t> Toda a </a:t>
            </a:r>
            <a:r>
              <a:rPr lang="pt-BR" sz="1100" noProof="1" smtClean="0">
                <a:cs typeface="Arial" pitchFamily="34" charset="0"/>
              </a:rPr>
              <a:t>compania</a:t>
            </a:r>
          </a:p>
        </p:txBody>
      </p:sp>
      <p:sp>
        <p:nvSpPr>
          <p:cNvPr id="4" name="CaixaDeTexto 3"/>
          <p:cNvSpPr txBox="1"/>
          <p:nvPr/>
        </p:nvSpPr>
        <p:spPr>
          <a:xfrm rot="16200000">
            <a:off x="-865508" y="2973268"/>
            <a:ext cx="306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Dados Estatísticos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CaixaDeTexto 40"/>
          <p:cNvSpPr txBox="1"/>
          <p:nvPr/>
        </p:nvSpPr>
        <p:spPr>
          <a:xfrm rot="16200000">
            <a:off x="3273611" y="3196192"/>
            <a:ext cx="270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Qualitativa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971600" y="1282099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Aplicação Self-Service</a:t>
            </a:r>
            <a:endParaRPr lang="pt-BR" sz="1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4752004" y="1786155"/>
            <a:ext cx="2988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467544" y="676483"/>
            <a:ext cx="8568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Serviço – Prestação de Contas TD</a:t>
            </a:r>
            <a:endParaRPr lang="pt-BR" sz="1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427984" y="1008888"/>
            <a:ext cx="4353933" cy="6001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/>
              <a:t>Plataforma Web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/>
              <a:t>Centralizador (integração) de informações de diversas fontes de dados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/>
              <a:t>Equipe técnica e funcional para fazer a gestão (função: reporting)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86584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Do que precisamos?  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/>
          <p:cNvSpPr/>
          <p:nvPr/>
        </p:nvSpPr>
        <p:spPr>
          <a:xfrm>
            <a:off x="107504" y="700336"/>
            <a:ext cx="4608512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100" noProof="1" smtClean="0">
                <a:cs typeface="Arial" pitchFamily="34" charset="0"/>
              </a:rPr>
              <a:t>Definição de KPIs operacionais, táticos e estratégicos dos processos do GTD.1 e GTD.5</a:t>
            </a:r>
            <a:br>
              <a:rPr lang="pt-BR" sz="1100" noProof="1" smtClean="0">
                <a:cs typeface="Arial" pitchFamily="34" charset="0"/>
              </a:rPr>
            </a:br>
            <a:endParaRPr lang="pt-BR" sz="1100" noProof="1" smtClean="0">
              <a:cs typeface="Arial" pitchFamily="34" charset="0"/>
            </a:endParaRPr>
          </a:p>
          <a:p>
            <a:pPr marL="171450" indent="-1714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100" noProof="1">
                <a:cs typeface="Arial" pitchFamily="34" charset="0"/>
              </a:rPr>
              <a:t>Profissionalização </a:t>
            </a:r>
            <a:r>
              <a:rPr lang="pt-BR" sz="1100" noProof="1" smtClean="0">
                <a:cs typeface="Arial" pitchFamily="34" charset="0"/>
              </a:rPr>
              <a:t>de </a:t>
            </a:r>
            <a:r>
              <a:rPr lang="pt-BR" sz="1100" noProof="1">
                <a:cs typeface="Arial" pitchFamily="34" charset="0"/>
              </a:rPr>
              <a:t>serviços </a:t>
            </a:r>
            <a:r>
              <a:rPr lang="pt-BR" sz="1100" noProof="1" smtClean="0">
                <a:cs typeface="Arial" pitchFamily="34" charset="0"/>
              </a:rPr>
              <a:t>TD:</a:t>
            </a:r>
            <a:endParaRPr lang="pt-BR" sz="1100" noProof="1">
              <a:cs typeface="Arial" pitchFamily="34" charset="0"/>
            </a:endParaRP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>
                <a:cs typeface="Arial" pitchFamily="34" charset="0"/>
              </a:rPr>
              <a:t>Reporting e Indicadores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>
                <a:cs typeface="Arial" pitchFamily="34" charset="0"/>
              </a:rPr>
              <a:t>Gestão de Acordo de Níveis de Serviços (contratos</a:t>
            </a:r>
            <a:r>
              <a:rPr lang="pt-BR" sz="1100" noProof="1" smtClean="0">
                <a:cs typeface="Arial" pitchFamily="34" charset="0"/>
              </a:rPr>
              <a:t>)</a:t>
            </a:r>
            <a:br>
              <a:rPr lang="pt-BR" sz="1100" noProof="1" smtClean="0">
                <a:cs typeface="Arial" pitchFamily="34" charset="0"/>
              </a:rPr>
            </a:br>
            <a:endParaRPr lang="pt-BR" sz="1100" noProof="1">
              <a:cs typeface="Arial" pitchFamily="34" charset="0"/>
            </a:endParaRPr>
          </a:p>
          <a:p>
            <a:pPr marL="285750" indent="-2857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100" noProof="1" smtClean="0">
                <a:cs typeface="Arial" pitchFamily="34" charset="0"/>
              </a:rPr>
              <a:t>Plataforma / ferramenta de gestão de KPIs</a:t>
            </a:r>
            <a:br>
              <a:rPr lang="pt-BR" sz="1100" noProof="1" smtClean="0">
                <a:cs typeface="Arial" pitchFamily="34" charset="0"/>
              </a:rPr>
            </a:br>
            <a:endParaRPr lang="pt-BR" sz="1100" noProof="1" smtClean="0">
              <a:cs typeface="Arial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932040" y="711098"/>
            <a:ext cx="4104392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100" noProof="1" smtClean="0">
                <a:cs typeface="Arial" pitchFamily="34" charset="0"/>
              </a:rPr>
              <a:t>Processos – </a:t>
            </a:r>
            <a:r>
              <a:rPr lang="pt-BR" sz="1100" i="1" noProof="1" smtClean="0">
                <a:cs typeface="Arial" pitchFamily="34" charset="0"/>
              </a:rPr>
              <a:t>Must Win Battles</a:t>
            </a:r>
            <a:r>
              <a:rPr lang="pt-BR" sz="1100" noProof="1" smtClean="0">
                <a:cs typeface="Arial" pitchFamily="34" charset="0"/>
              </a:rPr>
              <a:t>: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Gestão da Configuração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Gestão de Incidente e Requisição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1100" noProof="1" smtClean="0">
                <a:cs typeface="Arial" pitchFamily="34" charset="0"/>
              </a:rPr>
              <a:t>Gestão do Relacionamento com Parceiros de Negócio</a:t>
            </a:r>
            <a:br>
              <a:rPr lang="pt-BR" sz="1100" noProof="1" smtClean="0">
                <a:cs typeface="Arial" pitchFamily="34" charset="0"/>
              </a:rPr>
            </a:br>
            <a:endParaRPr lang="pt-BR" sz="1100" noProof="1" smtClean="0">
              <a:cs typeface="Arial" pitchFamily="34" charset="0"/>
            </a:endParaRPr>
          </a:p>
          <a:p>
            <a:pPr marL="285750" indent="-285750"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1100" noProof="1" smtClean="0">
                <a:cs typeface="Arial" pitchFamily="34" charset="0"/>
              </a:rPr>
              <a:t>Saneamento de usuários nas bases e unificação / padronização de base única</a:t>
            </a:r>
          </a:p>
          <a:p>
            <a:pPr>
              <a:spcBef>
                <a:spcPct val="50000"/>
              </a:spcBef>
            </a:pPr>
            <a:endParaRPr lang="pt-BR" sz="1100" noProof="1" smtClean="0">
              <a:cs typeface="Arial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19" y="2548691"/>
            <a:ext cx="8095049" cy="1980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18" y="4489162"/>
            <a:ext cx="8095049" cy="634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Elipse 1"/>
          <p:cNvSpPr/>
          <p:nvPr/>
        </p:nvSpPr>
        <p:spPr>
          <a:xfrm>
            <a:off x="6084168" y="4372744"/>
            <a:ext cx="259228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55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Definições Importantes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4" name="Título 3"/>
          <p:cNvSpPr txBox="1">
            <a:spLocks/>
          </p:cNvSpPr>
          <p:nvPr/>
        </p:nvSpPr>
        <p:spPr bwMode="auto">
          <a:xfrm>
            <a:off x="251520" y="844352"/>
            <a:ext cx="8424936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pt-BR" sz="3600" b="0" kern="1200" smtClean="0">
                <a:solidFill>
                  <a:srgbClr val="62568B"/>
                </a:solidFill>
                <a:latin typeface="Gill Sans Std" pitchFamily="34" charset="0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5pPr>
            <a:lvl6pPr marL="720553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44104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161577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882109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  <a:ea typeface="+mn-ea"/>
                <a:cs typeface="+mn-cs"/>
              </a:rPr>
              <a:t>Todo incidente </a:t>
            </a:r>
            <a:r>
              <a:rPr kumimoji="0" lang="pt-B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  <a:ea typeface="+mn-ea"/>
                <a:cs typeface="+mn-cs"/>
              </a:rPr>
              <a:t>cr</a:t>
            </a:r>
            <a:r>
              <a:rPr lang="pt-BR" sz="2000" dirty="0" err="1" smtClean="0">
                <a:solidFill>
                  <a:srgbClr val="000000"/>
                </a:solidFill>
              </a:rPr>
              <a:t>ítico</a:t>
            </a:r>
            <a:r>
              <a:rPr lang="pt-BR" sz="2000" dirty="0" smtClean="0">
                <a:solidFill>
                  <a:srgbClr val="000000"/>
                </a:solidFill>
              </a:rPr>
              <a:t> escalonado para a NCC, é controlado pelo Portal ITSM (Sharepoint) – pela NCC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pt-BR" sz="2000" dirty="0" smtClean="0">
                <a:solidFill>
                  <a:srgbClr val="000000"/>
                </a:solidFill>
              </a:rPr>
              <a:t>100% dos incidentes publicados no ITSM estão contidos no CA SDM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pt-BR" sz="2000" dirty="0" smtClean="0">
                <a:solidFill>
                  <a:srgbClr val="000000"/>
                </a:solidFill>
              </a:rPr>
              <a:t>Não existe processo ou regra para configuração de prioridade de chamados no CA SDM, com exceção dos chamados escalonados para a NCC. Risco alto de prioridades não estarem apropriadamente configurada.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pt-BR" sz="2000" dirty="0">
              <a:solidFill>
                <a:srgbClr val="000000"/>
              </a:solidFill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pt-BR" sz="2000" dirty="0" smtClean="0">
              <a:solidFill>
                <a:srgbClr val="000000"/>
              </a:solidFill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pt-BR" sz="2000" dirty="0" smtClean="0">
              <a:solidFill>
                <a:srgbClr val="000000"/>
              </a:solidFill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Std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0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Evoluções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1" name="Título 3"/>
          <p:cNvSpPr txBox="1">
            <a:spLocks/>
          </p:cNvSpPr>
          <p:nvPr/>
        </p:nvSpPr>
        <p:spPr bwMode="auto">
          <a:xfrm>
            <a:off x="251520" y="844352"/>
            <a:ext cx="8424936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pt-BR" sz="3600" b="0" kern="1200" smtClean="0">
                <a:solidFill>
                  <a:srgbClr val="62568B"/>
                </a:solidFill>
                <a:latin typeface="Gill Sans Std" pitchFamily="34" charset="0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5pPr>
            <a:lvl6pPr marL="720553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44104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161577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882109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lvl="0" indent="-571500" eaLnBrk="1" hangingPunct="1">
              <a:buFont typeface="Wingdings" pitchFamily="2" charset="2"/>
              <a:buChar char="Ø"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  <a:ea typeface="+mn-ea"/>
                <a:cs typeface="+mn-cs"/>
              </a:rPr>
              <a:t>Portal Governança com repositório de Relatórios,  Indicadores e Planos de Ação</a:t>
            </a:r>
            <a:r>
              <a:rPr kumimoji="0" lang="pt-BR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  <a:ea typeface="+mn-ea"/>
                <a:cs typeface="+mn-cs"/>
              </a:rPr>
              <a:t> criado </a:t>
            </a:r>
            <a:r>
              <a:rPr lang="pt-BR" sz="2000" dirty="0">
                <a:solidFill>
                  <a:srgbClr val="000000"/>
                </a:solidFill>
              </a:rPr>
              <a:t>&gt; </a:t>
            </a:r>
            <a:r>
              <a:rPr lang="pt-BR" sz="2000" dirty="0">
                <a:solidFill>
                  <a:srgbClr val="000000"/>
                </a:solidFill>
                <a:hlinkClick r:id="rId2"/>
              </a:rPr>
              <a:t>http://</a:t>
            </a:r>
            <a:r>
              <a:rPr lang="pt-BR" sz="2000" dirty="0" smtClean="0">
                <a:solidFill>
                  <a:srgbClr val="000000"/>
                </a:solidFill>
                <a:hlinkClick r:id="rId2"/>
              </a:rPr>
              <a:t>equipes.natura.net/vptd/indicadorestd</a:t>
            </a:r>
            <a:endParaRPr lang="pt-BR" sz="2000" dirty="0" smtClean="0">
              <a:solidFill>
                <a:srgbClr val="000000"/>
              </a:solidFill>
            </a:endParaRPr>
          </a:p>
          <a:p>
            <a:pPr marL="571500" lvl="0" indent="-571500" eaLnBrk="1" hangingPunct="1">
              <a:buFont typeface="Wingdings" pitchFamily="2" charset="2"/>
              <a:buChar char="Ø"/>
            </a:pPr>
            <a:endParaRPr lang="pt-BR" sz="2000" dirty="0">
              <a:solidFill>
                <a:srgbClr val="000000"/>
              </a:solidFill>
            </a:endParaRPr>
          </a:p>
          <a:p>
            <a:pPr marL="571500" lvl="0" indent="-571500" eaLnBrk="1" hangingPunct="1">
              <a:buFont typeface="Wingdings" pitchFamily="2" charset="2"/>
              <a:buChar char="Ø"/>
            </a:pPr>
            <a:r>
              <a:rPr lang="pt-BR" sz="2000" dirty="0" smtClean="0">
                <a:solidFill>
                  <a:srgbClr val="000000"/>
                </a:solidFill>
              </a:rPr>
              <a:t>Cruzamento de lista de Head </a:t>
            </a:r>
            <a:r>
              <a:rPr lang="pt-BR" sz="2000" dirty="0" err="1" smtClean="0">
                <a:solidFill>
                  <a:srgbClr val="000000"/>
                </a:solidFill>
              </a:rPr>
              <a:t>Count</a:t>
            </a:r>
            <a:r>
              <a:rPr lang="pt-BR" sz="2000" dirty="0" smtClean="0">
                <a:solidFill>
                  <a:srgbClr val="000000"/>
                </a:solidFill>
              </a:rPr>
              <a:t> RH com base CA SDM para criação de </a:t>
            </a:r>
            <a:r>
              <a:rPr lang="pt-BR" sz="2000" dirty="0" err="1" smtClean="0">
                <a:solidFill>
                  <a:srgbClr val="000000"/>
                </a:solidFill>
              </a:rPr>
              <a:t>views</a:t>
            </a:r>
            <a:r>
              <a:rPr lang="pt-BR" sz="2000" dirty="0" smtClean="0">
                <a:solidFill>
                  <a:srgbClr val="000000"/>
                </a:solidFill>
              </a:rPr>
              <a:t> por diretoria &gt; Gerência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pt-BR" sz="2000" dirty="0" smtClean="0">
              <a:solidFill>
                <a:srgbClr val="000000"/>
              </a:solidFill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Std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24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Indicadores, Relatórios e Prestação de contas 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Lista de Relatórios a serem gerados periodicamente, além do pacote padrão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79512" y="772344"/>
            <a:ext cx="61206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pt-BR" sz="1200" dirty="0" smtClean="0"/>
              <a:t>KPI: </a:t>
            </a:r>
            <a:r>
              <a:rPr lang="pt-BR" sz="1200" dirty="0" err="1" smtClean="0"/>
              <a:t>Vol</a:t>
            </a:r>
            <a:r>
              <a:rPr lang="pt-BR" sz="1200" dirty="0" smtClean="0"/>
              <a:t> Chamados (resolvidos) sem prioridade cadastrada | Meta = XX?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lang="pt-BR" sz="1200" dirty="0" smtClean="0"/>
              <a:t>Report: </a:t>
            </a:r>
            <a:r>
              <a:rPr lang="pt-BR" sz="1200" dirty="0" err="1" smtClean="0"/>
              <a:t>Vol</a:t>
            </a:r>
            <a:r>
              <a:rPr lang="pt-BR" sz="1200" dirty="0" smtClean="0"/>
              <a:t> </a:t>
            </a:r>
            <a:r>
              <a:rPr lang="pt-BR" sz="1200" dirty="0" err="1" smtClean="0"/>
              <a:t>Req</a:t>
            </a:r>
            <a:r>
              <a:rPr lang="pt-BR" sz="1200" dirty="0" smtClean="0"/>
              <a:t> sem prioridade cadastrada na resolução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lang="pt-BR" sz="1200" dirty="0"/>
              <a:t>Report: </a:t>
            </a:r>
            <a:r>
              <a:rPr lang="pt-BR" sz="1200" dirty="0" err="1"/>
              <a:t>Vol</a:t>
            </a:r>
            <a:r>
              <a:rPr lang="pt-BR" sz="1200" dirty="0"/>
              <a:t> </a:t>
            </a:r>
            <a:r>
              <a:rPr lang="pt-BR" sz="1200" dirty="0" smtClean="0"/>
              <a:t>INC </a:t>
            </a:r>
            <a:r>
              <a:rPr lang="pt-BR" sz="1200" dirty="0"/>
              <a:t>sem prioridade cadastrada na </a:t>
            </a:r>
            <a:r>
              <a:rPr lang="pt-BR" sz="1200" dirty="0" smtClean="0"/>
              <a:t>resolução</a:t>
            </a:r>
          </a:p>
          <a:p>
            <a:pPr marL="171450" indent="-171450">
              <a:buFont typeface="Wingdings" pitchFamily="2" charset="2"/>
              <a:buChar char="Ø"/>
            </a:pPr>
            <a:endParaRPr lang="pt-BR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pt-BR" sz="1200" dirty="0" smtClean="0"/>
              <a:t>Report: </a:t>
            </a:r>
            <a:r>
              <a:rPr lang="pt-BR" sz="1200" dirty="0" err="1" smtClean="0"/>
              <a:t>Vol</a:t>
            </a:r>
            <a:r>
              <a:rPr lang="pt-BR" sz="1200" dirty="0" smtClean="0"/>
              <a:t> INC por prioridade na resolução</a:t>
            </a:r>
          </a:p>
          <a:p>
            <a:pPr marL="171450" indent="-171450">
              <a:buFont typeface="Wingdings" pitchFamily="2" charset="2"/>
              <a:buChar char="Ø"/>
            </a:pPr>
            <a:endParaRPr lang="pt-BR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pt-BR" sz="1200" dirty="0" smtClean="0"/>
              <a:t>Report: </a:t>
            </a:r>
            <a:r>
              <a:rPr lang="pt-BR" sz="1200" dirty="0" err="1" smtClean="0"/>
              <a:t>Vol</a:t>
            </a:r>
            <a:r>
              <a:rPr lang="pt-BR" sz="1200" dirty="0" smtClean="0"/>
              <a:t> INC por prioridade com PROB associado</a:t>
            </a:r>
          </a:p>
          <a:p>
            <a:pPr marL="171450" indent="-171450">
              <a:buFont typeface="Wingdings" pitchFamily="2" charset="2"/>
              <a:buChar char="Ø"/>
            </a:pPr>
            <a:endParaRPr lang="pt-BR" sz="1200" dirty="0" smtClean="0"/>
          </a:p>
          <a:p>
            <a:pPr marL="171450" indent="-171450">
              <a:buFont typeface="Wingdings" pitchFamily="2" charset="2"/>
              <a:buChar char="Ø"/>
            </a:pPr>
            <a:r>
              <a:rPr lang="pt-BR" sz="1200" dirty="0"/>
              <a:t>Report: </a:t>
            </a:r>
            <a:r>
              <a:rPr lang="pt-BR" sz="1200" dirty="0" err="1"/>
              <a:t>Vol</a:t>
            </a:r>
            <a:r>
              <a:rPr lang="pt-BR" sz="1200" dirty="0"/>
              <a:t> </a:t>
            </a:r>
            <a:r>
              <a:rPr lang="pt-BR" sz="1200" dirty="0" smtClean="0"/>
              <a:t>PROB com INC associado e # de </a:t>
            </a:r>
            <a:r>
              <a:rPr lang="pt-BR" sz="1200" dirty="0" err="1" smtClean="0"/>
              <a:t>INCs</a:t>
            </a:r>
            <a:r>
              <a:rPr lang="pt-BR" sz="1200" dirty="0" smtClean="0"/>
              <a:t> por PROB</a:t>
            </a:r>
          </a:p>
          <a:p>
            <a:pPr marL="171450" indent="-171450">
              <a:buFont typeface="Wingdings" pitchFamily="2" charset="2"/>
              <a:buChar char="Ø"/>
            </a:pPr>
            <a:endParaRPr lang="pt-BR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pt-BR" sz="1200" dirty="0" smtClean="0"/>
              <a:t>Report ou Tabela: INC P1, P2, P3 &gt; PROB associado &gt; </a:t>
            </a:r>
            <a:r>
              <a:rPr lang="pt-BR" sz="1200" dirty="0" err="1" smtClean="0"/>
              <a:t>Aging</a:t>
            </a:r>
            <a:r>
              <a:rPr lang="pt-BR" sz="1200" dirty="0" smtClean="0"/>
              <a:t> </a:t>
            </a:r>
            <a:r>
              <a:rPr lang="pt-BR" sz="1200" dirty="0" err="1" smtClean="0"/>
              <a:t>Prob</a:t>
            </a:r>
            <a:r>
              <a:rPr lang="pt-BR" sz="1200" dirty="0" smtClean="0"/>
              <a:t> &gt; Status </a:t>
            </a:r>
            <a:r>
              <a:rPr lang="pt-BR" sz="1200" dirty="0" err="1" smtClean="0"/>
              <a:t>Prob</a:t>
            </a:r>
            <a:endParaRPr lang="pt-BR" sz="1200" dirty="0" smtClean="0"/>
          </a:p>
          <a:p>
            <a:pPr marL="171450" indent="-171450">
              <a:buFont typeface="Wingdings" pitchFamily="2" charset="2"/>
              <a:buChar char="Ø"/>
            </a:pPr>
            <a:endParaRPr lang="pt-BR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pt-BR" sz="1200" dirty="0"/>
              <a:t>Report: </a:t>
            </a:r>
            <a:r>
              <a:rPr lang="pt-BR" sz="1200" dirty="0" err="1"/>
              <a:t>Vol</a:t>
            </a:r>
            <a:r>
              <a:rPr lang="pt-BR" sz="1200" dirty="0"/>
              <a:t> INC </a:t>
            </a:r>
            <a:r>
              <a:rPr lang="pt-BR" sz="1200" dirty="0" smtClean="0"/>
              <a:t>por </a:t>
            </a:r>
            <a:r>
              <a:rPr lang="pt-BR" sz="1200" dirty="0" err="1" smtClean="0"/>
              <a:t>Aging</a:t>
            </a:r>
            <a:r>
              <a:rPr lang="pt-BR" sz="1200" dirty="0" smtClean="0"/>
              <a:t> e por prioridade </a:t>
            </a:r>
            <a:r>
              <a:rPr lang="pt-BR" sz="1200" dirty="0"/>
              <a:t>na </a:t>
            </a:r>
            <a:r>
              <a:rPr lang="pt-BR" sz="1200" dirty="0" smtClean="0"/>
              <a:t>resolução</a:t>
            </a:r>
          </a:p>
          <a:p>
            <a:pPr marL="171450" indent="-171450">
              <a:buFont typeface="Wingdings" pitchFamily="2" charset="2"/>
              <a:buChar char="Ø"/>
            </a:pPr>
            <a:endParaRPr lang="pt-BR" sz="1200" dirty="0"/>
          </a:p>
          <a:p>
            <a:pPr marL="171450" indent="-171450">
              <a:buFont typeface="Wingdings" pitchFamily="2" charset="2"/>
              <a:buChar char="Ø"/>
            </a:pPr>
            <a:r>
              <a:rPr lang="pt-BR" sz="1200" dirty="0"/>
              <a:t>Report ou </a:t>
            </a:r>
            <a:r>
              <a:rPr lang="pt-BR" sz="1200" dirty="0" smtClean="0"/>
              <a:t>Tabela: </a:t>
            </a:r>
            <a:r>
              <a:rPr lang="pt-BR" sz="1200" dirty="0" err="1" smtClean="0"/>
              <a:t>Vol</a:t>
            </a:r>
            <a:r>
              <a:rPr lang="pt-BR" sz="1200" dirty="0" smtClean="0"/>
              <a:t> PROB por prioridade de INC e </a:t>
            </a:r>
            <a:r>
              <a:rPr lang="pt-BR" sz="1200" dirty="0" err="1" smtClean="0"/>
              <a:t>Aging</a:t>
            </a:r>
            <a:r>
              <a:rPr lang="pt-BR" sz="1200" dirty="0" smtClean="0"/>
              <a:t> PROB</a:t>
            </a:r>
            <a:endParaRPr lang="pt-BR" sz="1200" dirty="0"/>
          </a:p>
          <a:p>
            <a:endParaRPr lang="pt-BR" sz="1200" dirty="0" smtClean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 smtClean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33912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358775" y="87501"/>
            <a:ext cx="8461375" cy="459544"/>
          </a:xfrm>
        </p:spPr>
        <p:txBody>
          <a:bodyPr/>
          <a:lstStyle/>
          <a:p>
            <a:r>
              <a:rPr lang="en-US" sz="2300" dirty="0" err="1" smtClean="0"/>
              <a:t>Linha</a:t>
            </a:r>
            <a:r>
              <a:rPr lang="en-US" sz="2300" dirty="0" smtClean="0"/>
              <a:t> do tempo – Plano de </a:t>
            </a:r>
            <a:r>
              <a:rPr lang="en-US" sz="2300" dirty="0" err="1" smtClean="0"/>
              <a:t>Ação</a:t>
            </a:r>
            <a:endParaRPr lang="en-US" sz="2500" dirty="0"/>
          </a:p>
        </p:txBody>
      </p:sp>
      <p:sp>
        <p:nvSpPr>
          <p:cNvPr id="22531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63325" indent="-25512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20500" indent="-2041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28700" indent="-2041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36901" indent="-2041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245101" indent="-204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653300" indent="-204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61501" indent="-204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469701" indent="-204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A4C6A45-A34C-48BD-9FEE-E6C8A70E507C}" type="datetime5">
              <a:rPr lang="en-US" smtClean="0">
                <a:solidFill>
                  <a:srgbClr val="FFFFFF"/>
                </a:solidFill>
              </a:rPr>
              <a:pPr eaLnBrk="1" hangingPunct="1"/>
              <a:t>1-Jun-15</a:t>
            </a:fld>
            <a:endParaRPr lang="en-US" smtClean="0">
              <a:solidFill>
                <a:srgbClr val="FFFFFF"/>
              </a:solidFill>
            </a:endParaRPr>
          </a:p>
        </p:txBody>
      </p:sp>
      <p:grpSp>
        <p:nvGrpSpPr>
          <p:cNvPr id="22533" name="Group 34"/>
          <p:cNvGrpSpPr>
            <a:grpSpLocks/>
          </p:cNvGrpSpPr>
          <p:nvPr/>
        </p:nvGrpSpPr>
        <p:grpSpPr bwMode="auto">
          <a:xfrm>
            <a:off x="0" y="2223099"/>
            <a:ext cx="9144000" cy="889671"/>
            <a:chOff x="0" y="2086"/>
            <a:chExt cx="5760" cy="1056"/>
          </a:xfrm>
        </p:grpSpPr>
        <p:sp>
          <p:nvSpPr>
            <p:cNvPr id="22564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/>
            <a:p>
              <a:endParaRPr lang="pt-BR" noProof="1"/>
            </a:p>
          </p:txBody>
        </p:sp>
        <p:sp>
          <p:nvSpPr>
            <p:cNvPr id="22565" name="Rectangle 36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/>
            <a:p>
              <a:endParaRPr lang="pt-BR" noProof="1"/>
            </a:p>
          </p:txBody>
        </p:sp>
      </p:grpSp>
      <p:sp>
        <p:nvSpPr>
          <p:cNvPr id="22534" name="Rectangle 3"/>
          <p:cNvSpPr>
            <a:spLocks noChangeArrowheads="1"/>
          </p:cNvSpPr>
          <p:nvPr/>
        </p:nvSpPr>
        <p:spPr bwMode="auto">
          <a:xfrm>
            <a:off x="338138" y="2764145"/>
            <a:ext cx="8486775" cy="240581"/>
          </a:xfrm>
          <a:prstGeom prst="rect">
            <a:avLst/>
          </a:pr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2535" name="Rectangle 4"/>
          <p:cNvSpPr>
            <a:spLocks noChangeArrowheads="1"/>
          </p:cNvSpPr>
          <p:nvPr/>
        </p:nvSpPr>
        <p:spPr bwMode="auto">
          <a:xfrm>
            <a:off x="118389" y="2483800"/>
            <a:ext cx="2281357" cy="300012"/>
          </a:xfrm>
          <a:prstGeom prst="rect">
            <a:avLst/>
          </a:prstGeom>
          <a:gradFill rotWithShape="1">
            <a:gsLst>
              <a:gs pos="0">
                <a:srgbClr val="90B9E6"/>
              </a:gs>
              <a:gs pos="100000">
                <a:srgbClr val="2A79D0"/>
              </a:gs>
            </a:gsLst>
            <a:lin ang="5400000" scaled="1"/>
          </a:gra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wrap="none" lIns="81640" tIns="40821" rIns="81640" bIns="40821" anchor="ctr"/>
          <a:lstStyle/>
          <a:p>
            <a:r>
              <a:rPr lang="pt-BR" sz="1400" b="1" noProof="1" smtClean="0">
                <a:solidFill>
                  <a:srgbClr val="F8F8F8"/>
                </a:solidFill>
              </a:rPr>
              <a:t>Q2 </a:t>
            </a:r>
            <a:r>
              <a:rPr lang="pt-BR" sz="1400" b="1" noProof="1">
                <a:solidFill>
                  <a:srgbClr val="F8F8F8"/>
                </a:solidFill>
              </a:rPr>
              <a:t>2015</a:t>
            </a:r>
          </a:p>
        </p:txBody>
      </p:sp>
      <p:sp>
        <p:nvSpPr>
          <p:cNvPr id="22536" name="Rectangle 5"/>
          <p:cNvSpPr>
            <a:spLocks noChangeArrowheads="1"/>
          </p:cNvSpPr>
          <p:nvPr/>
        </p:nvSpPr>
        <p:spPr bwMode="auto">
          <a:xfrm>
            <a:off x="2399747" y="2489550"/>
            <a:ext cx="2244261" cy="279062"/>
          </a:xfrm>
          <a:prstGeom prst="rect">
            <a:avLst/>
          </a:prstGeom>
          <a:gradFill rotWithShape="1">
            <a:gsLst>
              <a:gs pos="0">
                <a:srgbClr val="90B9E6"/>
              </a:gs>
              <a:gs pos="100000">
                <a:srgbClr val="2A79D0"/>
              </a:gs>
            </a:gsLst>
            <a:lin ang="5400000" scaled="1"/>
          </a:gra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wrap="none" lIns="81640" tIns="40821" rIns="81640" bIns="40821" anchor="ctr"/>
          <a:lstStyle/>
          <a:p>
            <a:r>
              <a:rPr lang="pt-BR" sz="1400" b="1" noProof="1" smtClean="0">
                <a:solidFill>
                  <a:srgbClr val="F8F8F8"/>
                </a:solidFill>
              </a:rPr>
              <a:t>Q1 2016</a:t>
            </a:r>
            <a:endParaRPr lang="pt-BR" sz="1400" b="1" noProof="1">
              <a:solidFill>
                <a:srgbClr val="F8F8F8"/>
              </a:solidFill>
            </a:endParaRPr>
          </a:p>
        </p:txBody>
      </p:sp>
      <p:sp>
        <p:nvSpPr>
          <p:cNvPr id="22537" name="Rectangle 6"/>
          <p:cNvSpPr>
            <a:spLocks noChangeArrowheads="1"/>
          </p:cNvSpPr>
          <p:nvPr/>
        </p:nvSpPr>
        <p:spPr bwMode="auto">
          <a:xfrm>
            <a:off x="4644009" y="2494637"/>
            <a:ext cx="2021904" cy="289175"/>
          </a:xfrm>
          <a:prstGeom prst="rect">
            <a:avLst/>
          </a:prstGeom>
          <a:gradFill rotWithShape="1">
            <a:gsLst>
              <a:gs pos="0">
                <a:srgbClr val="90B9E6"/>
              </a:gs>
              <a:gs pos="100000">
                <a:srgbClr val="2A79D0"/>
              </a:gs>
            </a:gsLst>
            <a:lin ang="5400000" scaled="1"/>
          </a:gra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wrap="none" lIns="81640" tIns="40821" rIns="81640" bIns="40821" anchor="ctr"/>
          <a:lstStyle/>
          <a:p>
            <a:r>
              <a:rPr lang="pt-BR" sz="1400" b="1" noProof="1" smtClean="0">
                <a:solidFill>
                  <a:srgbClr val="F8F8F8"/>
                </a:solidFill>
              </a:rPr>
              <a:t>Q2 2016</a:t>
            </a:r>
            <a:endParaRPr lang="pt-BR" sz="1400" b="1" noProof="1">
              <a:solidFill>
                <a:srgbClr val="F8F8F8"/>
              </a:solidFill>
            </a:endParaRPr>
          </a:p>
        </p:txBody>
      </p:sp>
      <p:sp>
        <p:nvSpPr>
          <p:cNvPr id="22538" name="Rectangle 7"/>
          <p:cNvSpPr>
            <a:spLocks noChangeArrowheads="1"/>
          </p:cNvSpPr>
          <p:nvPr/>
        </p:nvSpPr>
        <p:spPr bwMode="auto">
          <a:xfrm>
            <a:off x="6647351" y="2489550"/>
            <a:ext cx="2173121" cy="29237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F8F8F8"/>
            </a:solidFill>
            <a:miter lim="800000"/>
            <a:headEnd/>
            <a:tailEnd/>
          </a:ln>
          <a:effectLst/>
        </p:spPr>
        <p:txBody>
          <a:bodyPr wrap="none" lIns="81640" tIns="40821" rIns="81640" bIns="40821" anchor="ctr"/>
          <a:lstStyle/>
          <a:p>
            <a:r>
              <a:rPr lang="pt-BR" sz="1400" b="1" noProof="1" smtClean="0">
                <a:solidFill>
                  <a:srgbClr val="F8F8F8"/>
                </a:solidFill>
              </a:rPr>
              <a:t>Q1 </a:t>
            </a:r>
            <a:r>
              <a:rPr lang="pt-BR" sz="1400" b="1" noProof="1">
                <a:solidFill>
                  <a:srgbClr val="F8F8F8"/>
                </a:solidFill>
              </a:rPr>
              <a:t>2017</a:t>
            </a:r>
          </a:p>
        </p:txBody>
      </p:sp>
      <p:sp>
        <p:nvSpPr>
          <p:cNvPr id="22540" name="Oval 11"/>
          <p:cNvSpPr>
            <a:spLocks noChangeArrowheads="1"/>
          </p:cNvSpPr>
          <p:nvPr/>
        </p:nvSpPr>
        <p:spPr bwMode="auto">
          <a:xfrm>
            <a:off x="175204" y="2431933"/>
            <a:ext cx="177800" cy="13339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 flipV="1">
            <a:off x="274990" y="1059909"/>
            <a:ext cx="0" cy="1382743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22543" name="Line 14"/>
          <p:cNvSpPr>
            <a:spLocks noChangeShapeType="1"/>
          </p:cNvSpPr>
          <p:nvPr/>
        </p:nvSpPr>
        <p:spPr bwMode="auto">
          <a:xfrm flipV="1">
            <a:off x="4490418" y="1083842"/>
            <a:ext cx="0" cy="1356541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22544" name="Line 15"/>
          <p:cNvSpPr>
            <a:spLocks noChangeShapeType="1"/>
          </p:cNvSpPr>
          <p:nvPr/>
        </p:nvSpPr>
        <p:spPr bwMode="auto">
          <a:xfrm flipV="1">
            <a:off x="8743041" y="1067886"/>
            <a:ext cx="0" cy="1458967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22545" name="Line 16"/>
          <p:cNvSpPr>
            <a:spLocks noChangeShapeType="1"/>
          </p:cNvSpPr>
          <p:nvPr/>
        </p:nvSpPr>
        <p:spPr bwMode="auto">
          <a:xfrm flipV="1">
            <a:off x="2207866" y="2827343"/>
            <a:ext cx="6350" cy="1413708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22546" name="Line 17"/>
          <p:cNvSpPr>
            <a:spLocks noChangeShapeType="1"/>
          </p:cNvSpPr>
          <p:nvPr/>
        </p:nvSpPr>
        <p:spPr bwMode="auto">
          <a:xfrm flipV="1">
            <a:off x="6647351" y="2713577"/>
            <a:ext cx="0" cy="1535428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22551" name="Oval 22"/>
          <p:cNvSpPr>
            <a:spLocks noChangeArrowheads="1"/>
          </p:cNvSpPr>
          <p:nvPr/>
        </p:nvSpPr>
        <p:spPr bwMode="auto">
          <a:xfrm>
            <a:off x="4394200" y="2431933"/>
            <a:ext cx="177800" cy="13339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2552" name="Oval 23"/>
          <p:cNvSpPr>
            <a:spLocks noChangeArrowheads="1"/>
          </p:cNvSpPr>
          <p:nvPr/>
        </p:nvSpPr>
        <p:spPr bwMode="auto">
          <a:xfrm>
            <a:off x="8655728" y="2439910"/>
            <a:ext cx="177800" cy="13339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2553" name="Oval 24"/>
          <p:cNvSpPr>
            <a:spLocks noChangeArrowheads="1"/>
          </p:cNvSpPr>
          <p:nvPr/>
        </p:nvSpPr>
        <p:spPr bwMode="auto">
          <a:xfrm>
            <a:off x="6556863" y="2727942"/>
            <a:ext cx="177800" cy="14673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2554" name="Oval 25"/>
          <p:cNvSpPr>
            <a:spLocks noChangeArrowheads="1"/>
          </p:cNvSpPr>
          <p:nvPr/>
        </p:nvSpPr>
        <p:spPr bwMode="auto">
          <a:xfrm>
            <a:off x="2123728" y="2726722"/>
            <a:ext cx="177800" cy="13339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2555" name="Text Box 26"/>
          <p:cNvSpPr txBox="1">
            <a:spLocks noChangeArrowheads="1"/>
          </p:cNvSpPr>
          <p:nvPr/>
        </p:nvSpPr>
        <p:spPr bwMode="auto">
          <a:xfrm>
            <a:off x="394865" y="1938793"/>
            <a:ext cx="2160911" cy="2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rgbClr val="7030A0"/>
                </a:solidFill>
                <a:cs typeface="Arial" pitchFamily="34" charset="0"/>
              </a:rPr>
              <a:t>XXXX</a:t>
            </a:r>
            <a:endParaRPr lang="pt-BR" sz="900" noProof="1">
              <a:cs typeface="Arial" pitchFamily="34" charset="0"/>
            </a:endParaRPr>
          </a:p>
        </p:txBody>
      </p:sp>
      <p:sp>
        <p:nvSpPr>
          <p:cNvPr id="22556" name="Text Box 27"/>
          <p:cNvSpPr txBox="1">
            <a:spLocks noChangeArrowheads="1"/>
          </p:cNvSpPr>
          <p:nvPr/>
        </p:nvSpPr>
        <p:spPr bwMode="auto">
          <a:xfrm>
            <a:off x="4572000" y="1982551"/>
            <a:ext cx="2093913" cy="2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rgbClr val="7030A0"/>
                </a:solidFill>
                <a:cs typeface="Arial" pitchFamily="34" charset="0"/>
              </a:rPr>
              <a:t>XXXX</a:t>
            </a:r>
            <a:endParaRPr lang="pt-BR" sz="900" noProof="1">
              <a:cs typeface="Arial" pitchFamily="34" charset="0"/>
            </a:endParaRPr>
          </a:p>
        </p:txBody>
      </p:sp>
      <p:sp>
        <p:nvSpPr>
          <p:cNvPr id="22557" name="Text Box 28"/>
          <p:cNvSpPr txBox="1">
            <a:spLocks noChangeArrowheads="1"/>
          </p:cNvSpPr>
          <p:nvPr/>
        </p:nvSpPr>
        <p:spPr bwMode="auto">
          <a:xfrm>
            <a:off x="6931671" y="1796640"/>
            <a:ext cx="1724057" cy="2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rgbClr val="7030A0"/>
                </a:solidFill>
                <a:cs typeface="Arial" pitchFamily="34" charset="0"/>
              </a:rPr>
              <a:t>XXX</a:t>
            </a:r>
            <a:endParaRPr lang="pt-BR" sz="900" noProof="1">
              <a:cs typeface="Arial" pitchFamily="34" charset="0"/>
            </a:endParaRPr>
          </a:p>
        </p:txBody>
      </p:sp>
      <p:sp>
        <p:nvSpPr>
          <p:cNvPr id="22558" name="Text Box 29"/>
          <p:cNvSpPr txBox="1">
            <a:spLocks noChangeArrowheads="1"/>
          </p:cNvSpPr>
          <p:nvPr/>
        </p:nvSpPr>
        <p:spPr bwMode="auto">
          <a:xfrm>
            <a:off x="2195737" y="2960433"/>
            <a:ext cx="2982939" cy="2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chemeClr val="tx2"/>
                </a:solidFill>
                <a:cs typeface="Arial" pitchFamily="34" charset="0"/>
              </a:rPr>
              <a:t>XX</a:t>
            </a:r>
            <a:endParaRPr lang="pt-BR" sz="900" noProof="1"/>
          </a:p>
        </p:txBody>
      </p:sp>
      <p:sp>
        <p:nvSpPr>
          <p:cNvPr id="22559" name="Text Box 30"/>
          <p:cNvSpPr txBox="1">
            <a:spLocks noChangeArrowheads="1"/>
          </p:cNvSpPr>
          <p:nvPr/>
        </p:nvSpPr>
        <p:spPr bwMode="auto">
          <a:xfrm>
            <a:off x="6768416" y="2989236"/>
            <a:ext cx="1279247" cy="2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rgbClr val="7030A0"/>
                </a:solidFill>
                <a:cs typeface="Arial" pitchFamily="34" charset="0"/>
              </a:rPr>
              <a:t>XX</a:t>
            </a:r>
            <a:endParaRPr lang="pt-BR" sz="900" noProof="1">
              <a:cs typeface="Arial" pitchFamily="34" charset="0"/>
            </a:endParaRPr>
          </a:p>
        </p:txBody>
      </p:sp>
      <p:sp>
        <p:nvSpPr>
          <p:cNvPr id="38" name="Line 16"/>
          <p:cNvSpPr>
            <a:spLocks noChangeShapeType="1"/>
          </p:cNvSpPr>
          <p:nvPr/>
        </p:nvSpPr>
        <p:spPr bwMode="auto">
          <a:xfrm flipV="1">
            <a:off x="1775768" y="2834490"/>
            <a:ext cx="12803" cy="1081504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39" name="Oval 25"/>
          <p:cNvSpPr>
            <a:spLocks noChangeArrowheads="1"/>
          </p:cNvSpPr>
          <p:nvPr/>
        </p:nvSpPr>
        <p:spPr bwMode="auto">
          <a:xfrm>
            <a:off x="1691680" y="2713786"/>
            <a:ext cx="177800" cy="121264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107504" y="3008318"/>
            <a:ext cx="1631741" cy="2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rgbClr val="7030A0"/>
                </a:solidFill>
                <a:cs typeface="Arial" pitchFamily="34" charset="0"/>
              </a:rPr>
              <a:t>XXX</a:t>
            </a:r>
            <a:endParaRPr lang="pt-BR" sz="900" noProof="1">
              <a:cs typeface="Arial" pitchFamily="34" charset="0"/>
            </a:endParaRPr>
          </a:p>
        </p:txBody>
      </p:sp>
      <p:sp>
        <p:nvSpPr>
          <p:cNvPr id="44" name="Oval 22"/>
          <p:cNvSpPr>
            <a:spLocks noChangeArrowheads="1"/>
          </p:cNvSpPr>
          <p:nvPr/>
        </p:nvSpPr>
        <p:spPr bwMode="auto">
          <a:xfrm>
            <a:off x="2555776" y="2424768"/>
            <a:ext cx="177800" cy="13339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45" name="Text Box 27"/>
          <p:cNvSpPr txBox="1">
            <a:spLocks noChangeArrowheads="1"/>
          </p:cNvSpPr>
          <p:nvPr/>
        </p:nvSpPr>
        <p:spPr bwMode="auto">
          <a:xfrm>
            <a:off x="2676232" y="1626921"/>
            <a:ext cx="1818079" cy="6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25" tIns="57855" rIns="112496" bIns="4082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1200" b="1" noProof="1" smtClean="0">
                <a:solidFill>
                  <a:srgbClr val="7030A0"/>
                </a:solidFill>
                <a:cs typeface="Arial" pitchFamily="34" charset="0"/>
              </a:rPr>
              <a:t>XXX</a:t>
            </a:r>
            <a:endParaRPr lang="pt-BR" sz="900" noProof="1">
              <a:cs typeface="Arial" pitchFamily="34" charset="0"/>
            </a:endParaRPr>
          </a:p>
          <a:p>
            <a:pPr marL="153090" indent="-153090"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pt-BR" sz="900" noProof="1"/>
          </a:p>
          <a:p>
            <a:pPr marL="153090" indent="-153090"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pt-BR" sz="900" noProof="1">
              <a:cs typeface="Arial" pitchFamily="34" charset="0"/>
            </a:endParaRPr>
          </a:p>
        </p:txBody>
      </p:sp>
      <p:sp>
        <p:nvSpPr>
          <p:cNvPr id="47" name="Line 14"/>
          <p:cNvSpPr>
            <a:spLocks noChangeShapeType="1"/>
          </p:cNvSpPr>
          <p:nvPr/>
        </p:nvSpPr>
        <p:spPr bwMode="auto">
          <a:xfrm flipV="1">
            <a:off x="2646627" y="1738180"/>
            <a:ext cx="0" cy="720811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51" name="Line 16"/>
          <p:cNvSpPr>
            <a:spLocks noChangeShapeType="1"/>
          </p:cNvSpPr>
          <p:nvPr/>
        </p:nvSpPr>
        <p:spPr bwMode="auto">
          <a:xfrm flipV="1">
            <a:off x="5275188" y="2801241"/>
            <a:ext cx="7990" cy="732955"/>
          </a:xfrm>
          <a:prstGeom prst="line">
            <a:avLst/>
          </a:prstGeom>
          <a:noFill/>
          <a:ln w="19050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1640" tIns="40821" rIns="81640" bIns="40821"/>
          <a:lstStyle/>
          <a:p>
            <a:endParaRPr lang="pt-BR"/>
          </a:p>
        </p:txBody>
      </p:sp>
      <p:sp>
        <p:nvSpPr>
          <p:cNvPr id="52" name="Oval 25"/>
          <p:cNvSpPr>
            <a:spLocks noChangeArrowheads="1"/>
          </p:cNvSpPr>
          <p:nvPr/>
        </p:nvSpPr>
        <p:spPr bwMode="auto">
          <a:xfrm>
            <a:off x="5186289" y="2728549"/>
            <a:ext cx="177800" cy="133391"/>
          </a:xfrm>
          <a:prstGeom prst="ellipse">
            <a:avLst/>
          </a:prstGeom>
          <a:gradFill rotWithShape="1">
            <a:gsLst>
              <a:gs pos="0">
                <a:srgbClr val="FEA501"/>
              </a:gs>
              <a:gs pos="100000">
                <a:srgbClr val="C40505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EAEAEA"/>
            </a:solidFill>
            <a:round/>
            <a:headEnd/>
            <a:tailEnd/>
          </a:ln>
        </p:spPr>
        <p:txBody>
          <a:bodyPr wrap="none" lIns="81640" tIns="40821" rIns="81640" bIns="40821" anchor="ctr"/>
          <a:lstStyle/>
          <a:p>
            <a:endParaRPr lang="en-US"/>
          </a:p>
        </p:txBody>
      </p:sp>
      <p:sp>
        <p:nvSpPr>
          <p:cNvPr id="2" name="CaixaDeTexto 1"/>
          <p:cNvSpPr txBox="1"/>
          <p:nvPr/>
        </p:nvSpPr>
        <p:spPr>
          <a:xfrm>
            <a:off x="5292079" y="3068332"/>
            <a:ext cx="1313947" cy="267111"/>
          </a:xfrm>
          <a:prstGeom prst="rect">
            <a:avLst/>
          </a:prstGeom>
          <a:noFill/>
        </p:spPr>
        <p:txBody>
          <a:bodyPr wrap="square" lIns="81648" tIns="40824" rIns="81648" bIns="40824" rtlCol="0">
            <a:spAutoFit/>
          </a:bodyPr>
          <a:lstStyle/>
          <a:p>
            <a:r>
              <a:rPr lang="pt-BR" sz="12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XXX</a:t>
            </a:r>
            <a:endParaRPr lang="pt-BR" sz="9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 rot="19518473">
            <a:off x="494274" y="2096952"/>
            <a:ext cx="8461375" cy="4595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5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Construção</a:t>
            </a:r>
            <a:endParaRPr lang="en-US" sz="6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522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26040</TotalTime>
  <Words>1269</Words>
  <Application>Microsoft Office PowerPoint</Application>
  <PresentationFormat>Personalizar</PresentationFormat>
  <Paragraphs>201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Linha do tempo – Plano de Ação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br93826</cp:lastModifiedBy>
  <cp:revision>460</cp:revision>
  <dcterms:created xsi:type="dcterms:W3CDTF">2014-10-02T13:42:42Z</dcterms:created>
  <dcterms:modified xsi:type="dcterms:W3CDTF">2015-06-08T11:24:08Z</dcterms:modified>
</cp:coreProperties>
</file>