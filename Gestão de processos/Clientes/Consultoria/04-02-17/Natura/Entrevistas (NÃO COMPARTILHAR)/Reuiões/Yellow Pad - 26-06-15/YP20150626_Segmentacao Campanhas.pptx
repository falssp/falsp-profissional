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4"/>
  </p:notesMasterIdLst>
  <p:sldIdLst>
    <p:sldId id="283" r:id="rId6"/>
    <p:sldId id="284" r:id="rId7"/>
    <p:sldId id="286" r:id="rId8"/>
    <p:sldId id="290" r:id="rId9"/>
    <p:sldId id="295" r:id="rId10"/>
    <p:sldId id="291" r:id="rId11"/>
    <p:sldId id="296" r:id="rId12"/>
    <p:sldId id="292" r:id="rId13"/>
  </p:sldIdLst>
  <p:sldSz cx="9001125" cy="5400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701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99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55" autoAdjust="0"/>
  </p:normalViewPr>
  <p:slideViewPr>
    <p:cSldViewPr>
      <p:cViewPr varScale="1">
        <p:scale>
          <a:sx n="82" d="100"/>
          <a:sy n="82" d="100"/>
        </p:scale>
        <p:origin x="-1062" y="-96"/>
      </p:cViewPr>
      <p:guideLst>
        <p:guide orient="horz" pos="1701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927-49ED-4498-8AAB-9E2FDF065844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85BFE-0C8A-4915-AADD-2E276EF314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buFont typeface="+mj-lt"/>
              <a:buNone/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1. Dinâmica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avaliação técnica das novas demandas para alinhamento do Esboço da Solução de TD.</a:t>
            </a:r>
          </a:p>
          <a:p>
            <a:pPr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2.  Matrícula das Demandas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Confirmar com a Governança de TD -&gt; sharepoint </a:t>
            </a:r>
            <a:r>
              <a:rPr lang="pt-BR" sz="1200" kern="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gov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com calendário,</a:t>
            </a:r>
            <a:r>
              <a:rPr lang="pt-BR" sz="1200" kern="0" baseline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pauta e ata.</a:t>
            </a:r>
            <a:endParaRPr lang="pt-BR" sz="1000" kern="0" dirty="0" smtClean="0">
              <a:solidFill>
                <a:prstClr val="black">
                  <a:lumMod val="75000"/>
                  <a:lumOff val="25000"/>
                </a:prstClr>
              </a:solidFill>
              <a:ea typeface="MS PGothic" pitchFamily="34" charset="-128"/>
              <a:sym typeface="GillSans" pitchFamily="34" charset="0"/>
            </a:endParaRPr>
          </a:p>
          <a:p>
            <a:pPr marL="0" indent="0" algn="l">
              <a:buFontTx/>
              <a:buNone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3.  Apresentar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Esboço da Solução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Software </a:t>
            </a:r>
            <a:r>
              <a:rPr lang="pt-BR" sz="1200" dirty="0" err="1" smtClean="0">
                <a:latin typeface="Gill Sans Std" pitchFamily="34" charset="0"/>
              </a:rPr>
              <a:t>Selection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Plataformas envolvidas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Interdependências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Estimativa Prazo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1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258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053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1677710"/>
            <a:ext cx="7650956" cy="115764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060385"/>
            <a:ext cx="6300788" cy="13801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3470436"/>
            <a:ext cx="7650956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1027" y="2289039"/>
            <a:ext cx="7650956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0058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5573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6" y="1208903"/>
            <a:ext cx="3977060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056" y="1712715"/>
            <a:ext cx="3977060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572448" y="1208903"/>
            <a:ext cx="3978623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572448" y="1712715"/>
            <a:ext cx="3978623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7" y="215029"/>
            <a:ext cx="2961308" cy="9151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19191" y="215027"/>
            <a:ext cx="5031879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057" y="1130142"/>
            <a:ext cx="2961308" cy="36942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5" y="3780475"/>
            <a:ext cx="5400675" cy="4463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64285" y="482563"/>
            <a:ext cx="5400675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64285" y="4226780"/>
            <a:ext cx="5400675" cy="6338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6" y="216278"/>
            <a:ext cx="2025253" cy="460807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0057" y="216278"/>
            <a:ext cx="5925741" cy="460807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677397"/>
            <a:ext cx="7650956" cy="11579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3060382"/>
            <a:ext cx="6300788" cy="1380173"/>
          </a:xfrm>
        </p:spPr>
        <p:txBody>
          <a:bodyPr/>
          <a:lstStyle>
            <a:lvl1pPr marL="0" indent="0" algn="ctr">
              <a:buNone/>
              <a:defRPr/>
            </a:lvl1pPr>
            <a:lvl2pPr marL="259232" indent="0" algn="ctr">
              <a:buNone/>
              <a:defRPr/>
            </a:lvl2pPr>
            <a:lvl3pPr marL="518465" indent="0" algn="ctr">
              <a:buNone/>
              <a:defRPr/>
            </a:lvl3pPr>
            <a:lvl4pPr marL="777697" indent="0" algn="ctr">
              <a:buNone/>
              <a:defRPr/>
            </a:lvl4pPr>
            <a:lvl5pPr marL="1036930" indent="0" algn="ctr">
              <a:buNone/>
              <a:defRPr/>
            </a:lvl5pPr>
            <a:lvl6pPr marL="1296162" indent="0" algn="ctr">
              <a:buNone/>
              <a:defRPr/>
            </a:lvl6pPr>
            <a:lvl7pPr marL="1555394" indent="0" algn="ctr">
              <a:buNone/>
              <a:defRPr/>
            </a:lvl7pPr>
            <a:lvl8pPr marL="1814627" indent="0" algn="ctr">
              <a:buNone/>
              <a:defRPr/>
            </a:lvl8pPr>
            <a:lvl9pPr marL="207385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15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24" y="3470122"/>
            <a:ext cx="7650956" cy="1072634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124" y="2288724"/>
            <a:ext cx="7650956" cy="1181398"/>
          </a:xfrm>
        </p:spPr>
        <p:txBody>
          <a:bodyPr anchor="b"/>
          <a:lstStyle>
            <a:lvl1pPr marL="0" indent="0">
              <a:buNone/>
              <a:defRPr sz="1100"/>
            </a:lvl1pPr>
            <a:lvl2pPr marL="259232" indent="0">
              <a:buNone/>
              <a:defRPr sz="1000"/>
            </a:lvl2pPr>
            <a:lvl3pPr marL="518465" indent="0">
              <a:buNone/>
              <a:defRPr sz="900"/>
            </a:lvl3pPr>
            <a:lvl4pPr marL="777697" indent="0">
              <a:buNone/>
              <a:defRPr sz="800"/>
            </a:lvl4pPr>
            <a:lvl5pPr marL="1036930" indent="0">
              <a:buNone/>
              <a:defRPr sz="800"/>
            </a:lvl5pPr>
            <a:lvl6pPr marL="1296162" indent="0">
              <a:buNone/>
              <a:defRPr sz="800"/>
            </a:lvl6pPr>
            <a:lvl7pPr marL="1555394" indent="0">
              <a:buNone/>
              <a:defRPr sz="800"/>
            </a:lvl7pPr>
            <a:lvl8pPr marL="1814627" indent="0">
              <a:buNone/>
              <a:defRPr sz="800"/>
            </a:lvl8pPr>
            <a:lvl9pPr marL="207385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359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4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9239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671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6590"/>
            <a:ext cx="8101013" cy="90011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1208589"/>
            <a:ext cx="3976669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713027"/>
            <a:ext cx="3976669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642" y="1208589"/>
            <a:ext cx="3978427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642" y="1713027"/>
            <a:ext cx="3978427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98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6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3287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4715"/>
            <a:ext cx="2961406" cy="91511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581" y="214715"/>
            <a:ext cx="5031488" cy="46093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6" y="1129829"/>
            <a:ext cx="2961406" cy="3694212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5552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186" y="3780472"/>
            <a:ext cx="5400675" cy="44630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186" y="482873"/>
            <a:ext cx="5400675" cy="3240405"/>
          </a:xfrm>
        </p:spPr>
        <p:txBody>
          <a:bodyPr/>
          <a:lstStyle>
            <a:lvl1pPr marL="0" indent="0">
              <a:buNone/>
              <a:defRPr sz="1800"/>
            </a:lvl1pPr>
            <a:lvl2pPr marL="259232" indent="0">
              <a:buNone/>
              <a:defRPr sz="1600"/>
            </a:lvl2pPr>
            <a:lvl3pPr marL="518465" indent="0">
              <a:buNone/>
              <a:defRPr sz="1400"/>
            </a:lvl3pPr>
            <a:lvl4pPr marL="777697" indent="0">
              <a:buNone/>
              <a:defRPr sz="1100"/>
            </a:lvl4pPr>
            <a:lvl5pPr marL="1036930" indent="0">
              <a:buNone/>
              <a:defRPr sz="1100"/>
            </a:lvl5pPr>
            <a:lvl6pPr marL="1296162" indent="0">
              <a:buNone/>
              <a:defRPr sz="1100"/>
            </a:lvl6pPr>
            <a:lvl7pPr marL="1555394" indent="0">
              <a:buNone/>
              <a:defRPr sz="1100"/>
            </a:lvl7pPr>
            <a:lvl8pPr marL="1814627" indent="0">
              <a:buNone/>
              <a:defRPr sz="1100"/>
            </a:lvl8pPr>
            <a:lvl9pPr marL="2073859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186" y="4226778"/>
            <a:ext cx="5400675" cy="633829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8692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199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5608" y="142518"/>
            <a:ext cx="1928561" cy="47630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4" y="142518"/>
            <a:ext cx="5701299" cy="476309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82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0057" y="216278"/>
            <a:ext cx="8101013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7" y="1260159"/>
            <a:ext cx="8101013" cy="356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005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22/06/2015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75385" y="5005628"/>
            <a:ext cx="285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080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9924" y="142518"/>
            <a:ext cx="7714245" cy="135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924" y="1537692"/>
            <a:ext cx="7714245" cy="336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9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923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846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769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36930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605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6167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7291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11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6573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24966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84198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43430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102663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769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93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16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5394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1462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73859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Requisitos_CargaMetasESegmentos.xls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41317-0413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8" r="22798"/>
          <a:stretch>
            <a:fillRect/>
          </a:stretch>
        </p:blipFill>
        <p:spPr bwMode="auto">
          <a:xfrm>
            <a:off x="0" y="0"/>
            <a:ext cx="90011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7"/>
          <p:cNvSpPr txBox="1">
            <a:spLocks noChangeArrowheads="1"/>
          </p:cNvSpPr>
          <p:nvPr/>
        </p:nvSpPr>
        <p:spPr bwMode="auto">
          <a:xfrm>
            <a:off x="487562" y="3162896"/>
            <a:ext cx="7210276" cy="97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TD-DAA / Fernanda </a:t>
            </a:r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Vergani</a:t>
            </a:r>
            <a:endParaRPr lang="en-US" sz="2900" dirty="0" smtClean="0">
              <a:solidFill>
                <a:schemeClr val="bg1"/>
              </a:solidFill>
              <a:latin typeface="Verdana" charset="0"/>
            </a:endParaRPr>
          </a:p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06/2015</a:t>
            </a:r>
            <a:endParaRPr lang="en-US" sz="29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28"/>
          <p:cNvSpPr txBox="1">
            <a:spLocks noChangeArrowheads="1"/>
          </p:cNvSpPr>
          <p:nvPr/>
        </p:nvSpPr>
        <p:spPr bwMode="auto">
          <a:xfrm>
            <a:off x="450056" y="321805"/>
            <a:ext cx="7247782" cy="1339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4800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sz="4800" b="1" dirty="0" smtClean="0">
                <a:solidFill>
                  <a:schemeClr val="accent1"/>
                </a:solidFill>
                <a:latin typeface="Gill Sans Std ExtraBold" pitchFamily="34" charset="0"/>
              </a:rPr>
              <a:t> de Campanhas</a:t>
            </a:r>
            <a:endParaRPr lang="en-US" sz="4800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  <p:pic>
        <p:nvPicPr>
          <p:cNvPr id="13318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8" y="2280285"/>
            <a:ext cx="737592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470376" y="4500537"/>
            <a:ext cx="4083554" cy="51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// VP TD</a:t>
            </a:r>
            <a:endParaRPr lang="en-US" sz="1400" b="1" dirty="0">
              <a:solidFill>
                <a:schemeClr val="bg1"/>
              </a:solidFill>
              <a:latin typeface="Gill Sans Std" pitchFamily="34" charset="0"/>
            </a:endParaRPr>
          </a:p>
          <a:p>
            <a:pPr eaLnBrk="1" hangingPunct="1"/>
            <a:r>
              <a:rPr lang="en-US" sz="1400" dirty="0" smtClean="0">
                <a:solidFill>
                  <a:schemeClr val="bg1"/>
                </a:solidFill>
                <a:latin typeface="Gill Sans Std" pitchFamily="34" charset="0"/>
              </a:rPr>
              <a:t>// </a:t>
            </a:r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forum de yellow pad - novas demandas de TD</a:t>
            </a:r>
            <a:endParaRPr lang="en-US" sz="1400" dirty="0">
              <a:solidFill>
                <a:schemeClr val="bg1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70"/>
            <a:ext cx="9001124" cy="4032448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ctangle 3"/>
          <p:cNvSpPr>
            <a:spLocks/>
          </p:cNvSpPr>
          <p:nvPr/>
        </p:nvSpPr>
        <p:spPr bwMode="auto">
          <a:xfrm>
            <a:off x="332652" y="544742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600" dirty="0" smtClean="0">
                <a:solidFill>
                  <a:schemeClr val="tx2"/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CONTEXTO</a:t>
            </a:r>
            <a:endParaRPr lang="en-US" sz="3600" dirty="0">
              <a:solidFill>
                <a:schemeClr val="tx2"/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0082" y="2628329"/>
            <a:ext cx="8568952" cy="1348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ts val="1980"/>
              </a:lnSpc>
              <a:defRPr/>
            </a:pPr>
            <a:r>
              <a:rPr lang="pt-BR" sz="18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A solução proposta tem por objetivo automatizar a carga de segmentação que atualmente é feita de forma manual para replicar a informação necessária para a construção das mecânicas das campanhas e diferenciação de conteúdo no hotsite de campanhas do BD de Individualização para o BD do Estatística (SISCAMP).</a:t>
            </a: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744" y="59181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45474"/>
              </p:ext>
            </p:extLst>
          </p:nvPr>
        </p:nvGraphicFramePr>
        <p:xfrm>
          <a:off x="198797" y="1332185"/>
          <a:ext cx="4442428" cy="777240"/>
        </p:xfrm>
        <a:graphic>
          <a:graphicData uri="http://schemas.openxmlformats.org/drawingml/2006/table">
            <a:tbl>
              <a:tblPr/>
              <a:tblGrid>
                <a:gridCol w="1571998"/>
                <a:gridCol w="2870430"/>
              </a:tblGrid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Solicitante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Erika </a:t>
                      </a:r>
                      <a:r>
                        <a:rPr lang="pt-BR" sz="110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Fiqueiredo</a:t>
                      </a:r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 / Gabriela</a:t>
                      </a:r>
                      <a:r>
                        <a:rPr lang="pt-BR" sz="11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 Fernandes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604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Negócio 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Diretoria</a:t>
                      </a:r>
                      <a:r>
                        <a:rPr lang="pt-BR" sz="11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 de Relacionamento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</a:t>
                      </a:r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Diretoria de Aplicações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068514" y="107792"/>
            <a:ext cx="3781548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b="1" dirty="0" smtClean="0">
                <a:solidFill>
                  <a:schemeClr val="accent1"/>
                </a:solidFill>
                <a:latin typeface="Gill Sans Std ExtraBold" pitchFamily="34" charset="0"/>
              </a:rPr>
              <a:t> de </a:t>
            </a: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campanhas</a:t>
            </a:r>
            <a:endParaRPr lang="en-US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</a:t>
            </a:r>
            <a:r>
              <a:rPr lang="en-US" sz="36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BJETIVOS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52090" y="1140871"/>
            <a:ext cx="5112568" cy="1604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ts val="1980"/>
              </a:lnSpc>
              <a:defRPr/>
            </a:pPr>
            <a:r>
              <a:rPr lang="pt-BR" sz="12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Será desenvolvido um </a:t>
            </a:r>
            <a:r>
              <a:rPr lang="pt-BR" sz="12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ETL que levará a informação de segmentação da “Base de Individualização” para o Estatística (</a:t>
            </a:r>
            <a:r>
              <a:rPr lang="pt-BR" sz="1200" b="1" spc="14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schema</a:t>
            </a:r>
            <a:r>
              <a:rPr lang="pt-BR" sz="12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 SISCAMP). O modelo de dados do Estatística deverá ser ajustado para comportar alguns conceitos (de vigência, por exemplo) existentes na “Base de Individualização”.</a:t>
            </a:r>
            <a:endParaRPr lang="pt-BR" sz="12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52090" y="2985883"/>
            <a:ext cx="8568952" cy="1802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pt-B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Ações: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  <a:p>
            <a:pPr marL="285750" indent="-285750" eaLnBrk="1" hangingPunct="1">
              <a:lnSpc>
                <a:spcPts val="1980"/>
              </a:lnSpc>
              <a:buFontTx/>
              <a:buChar char="-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Deve ser </a:t>
            </a:r>
            <a:r>
              <a:rPr lang="pt-BR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evoluído o modelo de dados atualmente implementado no BD do Estatística para comportar a segmentação, para suportar os conceitos da “Base de Individualização” (vigência de segmentação, tipo)</a:t>
            </a: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eaLnBrk="1" hangingPunct="1">
              <a:lnSpc>
                <a:spcPts val="1980"/>
              </a:lnSpc>
              <a:buFontTx/>
              <a:buChar char="-"/>
              <a:defRPr/>
            </a:pPr>
            <a:r>
              <a:rPr lang="pt-BR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O serviço atualmente utilizado pelo hotsite de campanhas para segmentação de conteúdos (AudienceV1) não deverá ser impactado pela alteração do ponto acima.</a:t>
            </a: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  <a:p>
            <a:pPr marL="285750" indent="-285750" eaLnBrk="1" hangingPunct="1">
              <a:lnSpc>
                <a:spcPct val="110000"/>
              </a:lnSpc>
              <a:buFontTx/>
              <a:buChar char="-"/>
              <a:defRPr/>
            </a:pPr>
            <a:r>
              <a:rPr lang="pt-BR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Deve ser implementado um processo ETL de sincronismo das segmentações para replicar periodicamente as segmentações criadas na “Base de Individualização”.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573795" y="1336486"/>
            <a:ext cx="3301768" cy="109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3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Briefing: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</a:rPr>
              <a:t>Link sharepoint do briefing cadastrado</a:t>
            </a:r>
          </a:p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 smtClean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  <a:hlinkClick r:id="rId3" action="ppaction://hlinkfile"/>
              </a:rPr>
              <a:t>Link planilha de requerimentos</a:t>
            </a:r>
            <a:endParaRPr lang="pt-BR" sz="1600" dirty="0">
              <a:solidFill>
                <a:srgbClr val="0070C0"/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pic>
        <p:nvPicPr>
          <p:cNvPr id="3074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3664529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b="1" dirty="0" smtClean="0">
                <a:solidFill>
                  <a:schemeClr val="accent1"/>
                </a:solidFill>
                <a:latin typeface="Gill Sans Std ExtraBold" pitchFamily="34" charset="0"/>
              </a:rPr>
              <a:t> de </a:t>
            </a: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campanhas</a:t>
            </a:r>
            <a:endParaRPr lang="en-US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algn="r"/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Sincronização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Segmentação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pPr lvl="1" algn="r"/>
            <a:endParaRPr lang="en-US" sz="1600" b="1" u="sng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r"/>
            <a:r>
              <a:rPr lang="en-US" sz="1600" u="sng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Frequência</a:t>
            </a:r>
            <a:r>
              <a:rPr lang="en-US" sz="1600" u="sn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</a:t>
            </a:r>
            <a:r>
              <a:rPr lang="en-US" sz="16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Processamento</a:t>
            </a:r>
            <a:r>
              <a:rPr lang="en-US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742950" lvl="1" indent="-285750" algn="r">
              <a:buFont typeface="Arial" pitchFamily="34" charset="0"/>
              <a:buChar char="•"/>
            </a:pPr>
            <a:r>
              <a:rPr 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Diária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r">
              <a:buFont typeface="Arial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r"/>
            <a:r>
              <a:rPr lang="en-US" sz="1600" u="sng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Parâmetros</a:t>
            </a:r>
            <a:r>
              <a:rPr lang="en-US" sz="1600" u="sn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600" u="sng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entrada</a:t>
            </a:r>
            <a:r>
              <a:rPr lang="en-US" sz="1600" u="sn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endParaRPr lang="en-US" sz="16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r">
              <a:buFont typeface="Arial" pitchFamily="34" charset="0"/>
              <a:buChar char="•"/>
            </a:pPr>
            <a:r>
              <a:rPr 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Vigência</a:t>
            </a:r>
            <a:endParaRPr lang="en-US" sz="1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r">
              <a:buFont typeface="Arial" pitchFamily="34" charset="0"/>
              <a:buChar char="•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r"/>
            <a:r>
              <a:rPr lang="en-US" sz="16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Controle</a:t>
            </a:r>
            <a:r>
              <a:rPr lang="en-US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6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processamento</a:t>
            </a:r>
            <a:r>
              <a:rPr lang="en-US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285750" indent="-285750" algn="r"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processamento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 UC4)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200150" lvl="2" indent="-285750" algn="r"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Identificação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dos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itens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 </a:t>
            </a:r>
            <a:r>
              <a:rPr lang="en-US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falha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3" algn="r"/>
            <a:endParaRPr lang="pt-BR" sz="1600" b="1" u="sng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				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802558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6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3664529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b="1" dirty="0" smtClean="0">
                <a:solidFill>
                  <a:schemeClr val="accent1"/>
                </a:solidFill>
                <a:latin typeface="Gill Sans Std ExtraBold" pitchFamily="34" charset="0"/>
              </a:rPr>
              <a:t> de </a:t>
            </a: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campanhas</a:t>
            </a:r>
            <a:endParaRPr lang="en-US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74" y="1466129"/>
            <a:ext cx="5428672" cy="3250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59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algn="ctr"/>
            <a:endParaRPr lang="pt-BR" sz="1400" dirty="0" smtClean="0">
              <a:solidFill>
                <a:schemeClr val="tx1"/>
              </a:solidFill>
            </a:endParaRPr>
          </a:p>
          <a:p>
            <a:pPr lvl="1" algn="ctr"/>
            <a:endParaRPr lang="pt-BR" sz="1400" dirty="0" smtClean="0">
              <a:solidFill>
                <a:schemeClr val="tx1"/>
              </a:solidFill>
            </a:endParaRPr>
          </a:p>
          <a:p>
            <a:pPr lvl="1" algn="ctr"/>
            <a:endParaRPr lang="pt-BR" sz="1400" dirty="0" smtClean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Regra de transformação/carga:</a:t>
            </a:r>
          </a:p>
          <a:p>
            <a:pPr algn="ctr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Carga inicial: Full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  <a:p>
            <a:pPr algn="ctr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Carga incremental: </a:t>
            </a:r>
            <a:r>
              <a:rPr lang="es-ES_tradnl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Diária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  <a:p>
            <a:pPr algn="ctr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  <a:p>
            <a:pPr algn="ctr"/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Volumetria esperada para 2016:</a:t>
            </a: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~200MM de registros/ano</a:t>
            </a: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~17MM de registros/mês</a:t>
            </a: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~1,5MM de registros/segmentação</a:t>
            </a: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~100 segmentações/ano</a:t>
            </a:r>
          </a:p>
        </p:txBody>
      </p:sp>
      <p:sp>
        <p:nvSpPr>
          <p:cNvPr id="5" name="Rectangle 3"/>
          <p:cNvSpPr>
            <a:spLocks/>
          </p:cNvSpPr>
          <p:nvPr/>
        </p:nvSpPr>
        <p:spPr bwMode="auto">
          <a:xfrm>
            <a:off x="252090" y="802558"/>
            <a:ext cx="741682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6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Volume e Performance 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6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4068514" y="107792"/>
            <a:ext cx="3664529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b="1" dirty="0" smtClean="0">
                <a:solidFill>
                  <a:schemeClr val="accent1"/>
                </a:solidFill>
                <a:latin typeface="Gill Sans Std ExtraBold" pitchFamily="34" charset="0"/>
              </a:rPr>
              <a:t> de </a:t>
            </a: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campanhas</a:t>
            </a:r>
            <a:endParaRPr lang="en-US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65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771026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6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INTERDEPENDÊNCIAS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5" name="Rectangle 3"/>
          <p:cNvSpPr>
            <a:spLocks/>
          </p:cNvSpPr>
          <p:nvPr/>
        </p:nvSpPr>
        <p:spPr bwMode="auto">
          <a:xfrm>
            <a:off x="243587" y="3526194"/>
            <a:ext cx="540060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Plataformas Envolvidas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Rectangle 3"/>
          <p:cNvSpPr>
            <a:spLocks/>
          </p:cNvSpPr>
          <p:nvPr/>
        </p:nvSpPr>
        <p:spPr bwMode="auto">
          <a:xfrm>
            <a:off x="252090" y="1332185"/>
            <a:ext cx="828092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Dependências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75635" y="4031746"/>
            <a:ext cx="5655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Banco de Dados O02 (Individualização)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Banco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de Dados O05 (Estatística do 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Canal/Campanhas)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PowerCenter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 / UC4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836538" y="1837737"/>
            <a:ext cx="650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Projeto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Quickwins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 de Individualização (responsável DA: Valdecir)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068514" y="107792"/>
            <a:ext cx="3664529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b="1" dirty="0" smtClean="0">
                <a:solidFill>
                  <a:schemeClr val="accent1"/>
                </a:solidFill>
                <a:latin typeface="Gill Sans Std ExtraBold" pitchFamily="34" charset="0"/>
              </a:rPr>
              <a:t> de </a:t>
            </a:r>
            <a:r>
              <a:rPr lang="en-US" b="1" dirty="0" err="1" smtClean="0">
                <a:solidFill>
                  <a:schemeClr val="accent1"/>
                </a:solidFill>
                <a:latin typeface="Gill Sans Std ExtraBold" pitchFamily="34" charset="0"/>
              </a:rPr>
              <a:t>campanhas</a:t>
            </a:r>
            <a:endParaRPr lang="en-US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828154" y="2403013"/>
            <a:ext cx="669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Projeto de Campanhas de Marketing  de Incentivo e Ativação (FV)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1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15873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ESTIMATIVA DE RECURSOS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453691"/>
              </p:ext>
            </p:extLst>
          </p:nvPr>
        </p:nvGraphicFramePr>
        <p:xfrm>
          <a:off x="4788594" y="1796201"/>
          <a:ext cx="3576440" cy="130683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48272"/>
                <a:gridCol w="1128168"/>
              </a:tblGrid>
              <a:tr h="11735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Identificação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Valor R$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Desenvolvimento</a:t>
                      </a:r>
                      <a:endParaRPr lang="pt-BR" sz="1400" strike="sng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60.000,00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Serviços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Infra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25.000,00</a:t>
                      </a:r>
                      <a:endParaRPr lang="pt-BR" sz="14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Total</a:t>
                      </a:r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85.000,00</a:t>
                      </a:r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3"/>
          <p:cNvSpPr>
            <a:spLocks/>
          </p:cNvSpPr>
          <p:nvPr/>
        </p:nvSpPr>
        <p:spPr bwMode="auto">
          <a:xfrm>
            <a:off x="5580682" y="1211181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Custos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290339"/>
              </p:ext>
            </p:extLst>
          </p:nvPr>
        </p:nvGraphicFramePr>
        <p:xfrm>
          <a:off x="108074" y="1764233"/>
          <a:ext cx="4176465" cy="23774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24136"/>
                <a:gridCol w="1573567"/>
                <a:gridCol w="1378762"/>
              </a:tblGrid>
              <a:tr h="201882"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Área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Recurso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Respons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TD/DAA</a:t>
                      </a:r>
                      <a:endParaRPr lang="pt-BR" sz="14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Gestor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de Projeto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Fernanda </a:t>
                      </a:r>
                      <a:r>
                        <a:rPr lang="pt-BR" sz="140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Vergani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TD/GRP Redes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GRP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Gabriela Luz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TD/DAA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Desenvolvedor BD (SISCAMP)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Accenture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TD/DAA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Desenvolvedor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PWC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Em estimativa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3"/>
          <p:cNvSpPr>
            <a:spLocks/>
          </p:cNvSpPr>
          <p:nvPr/>
        </p:nvSpPr>
        <p:spPr bwMode="auto">
          <a:xfrm>
            <a:off x="684138" y="122379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Recursos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2141785" y="4428529"/>
            <a:ext cx="4663033" cy="6052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Data </a:t>
            </a: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estimada para apresentação do P0</a:t>
            </a: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: 29/06</a:t>
            </a:r>
            <a:endParaRPr lang="pt-BR" sz="1400" spc="14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Data estimada para apresentação do P1</a:t>
            </a: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: 10/07</a:t>
            </a:r>
            <a:endParaRPr lang="pt-BR" sz="14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</p:txBody>
      </p:sp>
      <p:sp>
        <p:nvSpPr>
          <p:cNvPr id="21" name="Rectangle 3"/>
          <p:cNvSpPr>
            <a:spLocks/>
          </p:cNvSpPr>
          <p:nvPr/>
        </p:nvSpPr>
        <p:spPr bwMode="auto">
          <a:xfrm>
            <a:off x="308414" y="453632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Prazo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err="1">
                <a:solidFill>
                  <a:schemeClr val="accent1"/>
                </a:solidFill>
                <a:latin typeface="Gill Sans Std ExtraBold" pitchFamily="34" charset="0"/>
              </a:rPr>
              <a:t>Segmentação</a:t>
            </a:r>
            <a:r>
              <a:rPr lang="en-US" b="1" dirty="0">
                <a:solidFill>
                  <a:schemeClr val="accent1"/>
                </a:solidFill>
                <a:latin typeface="Gill Sans Std ExtraBold" pitchFamily="34" charset="0"/>
              </a:rPr>
              <a:t> de </a:t>
            </a:r>
            <a:r>
              <a:rPr lang="en-US" b="1" dirty="0" err="1">
                <a:solidFill>
                  <a:schemeClr val="accent1"/>
                </a:solidFill>
                <a:latin typeface="Gill Sans Std ExtraBold" pitchFamily="34" charset="0"/>
              </a:rPr>
              <a:t>campanhas</a:t>
            </a:r>
            <a:endParaRPr lang="en-US" dirty="0">
              <a:solidFill>
                <a:schemeClr val="accent1"/>
              </a:solidFill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76219" y="2125580"/>
            <a:ext cx="7193868" cy="9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3" tIns="41147" rIns="82293" bIns="41147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5600" b="1" dirty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fim. </a:t>
            </a:r>
            <a:r>
              <a:rPr lang="en-US" sz="5600" b="1" dirty="0" err="1" smtClean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obrigada</a:t>
            </a:r>
            <a:r>
              <a:rPr lang="en-US" sz="5600" b="1" dirty="0" smtClean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.</a:t>
            </a:r>
            <a:endParaRPr lang="en-US" sz="5600" b="1" dirty="0">
              <a:solidFill>
                <a:srgbClr val="002060"/>
              </a:solidFill>
              <a:latin typeface="Verdana" pitchFamily="34" charset="0"/>
              <a:ea typeface="MS PGothic" pitchFamily="34" charset="-128"/>
            </a:endParaRP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98" y="2280285"/>
            <a:ext cx="738374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451619" y="4826854"/>
            <a:ext cx="2009653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900" b="1" dirty="0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900" dirty="0">
                <a:solidFill>
                  <a:schemeClr val="bg1"/>
                </a:solidFill>
                <a:latin typeface="Verdana" charset="0"/>
              </a:rPr>
              <a:t> ADICIONAIS </a:t>
            </a:r>
          </a:p>
        </p:txBody>
      </p:sp>
    </p:spTree>
    <p:extLst>
      <p:ext uri="{BB962C8B-B14F-4D97-AF65-F5344CB8AC3E}">
        <p14:creationId xmlns:p14="http://schemas.microsoft.com/office/powerpoint/2010/main" val="3437031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66E7B9F93237478EA8D944643E4D26" ma:contentTypeVersion="0" ma:contentTypeDescription="Crie um novo documento." ma:contentTypeScope="" ma:versionID="e7e6c8ac1ce87c7ce66ee0e28519793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DF529C-1F7B-4D66-8DA1-A4235A0FF776}"/>
</file>

<file path=customXml/itemProps2.xml><?xml version="1.0" encoding="utf-8"?>
<ds:datastoreItem xmlns:ds="http://schemas.openxmlformats.org/officeDocument/2006/customXml" ds:itemID="{F123B346-4C39-4470-9725-0145E70DA245}"/>
</file>

<file path=customXml/itemProps3.xml><?xml version="1.0" encoding="utf-8"?>
<ds:datastoreItem xmlns:ds="http://schemas.openxmlformats.org/officeDocument/2006/customXml" ds:itemID="{345142BF-2FD8-4361-B6CE-C714ACDDB28C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13274</TotalTime>
  <Words>513</Words>
  <Application>Microsoft Office PowerPoint</Application>
  <PresentationFormat>Personalizar</PresentationFormat>
  <Paragraphs>111</Paragraphs>
  <Slides>8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Blank</vt:lpstr>
      <vt:lpstr>Title &amp; Bullets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 – Aprovação da Ideia</dc:title>
  <dc:creator>br92025</dc:creator>
  <cp:lastModifiedBy>BR94095</cp:lastModifiedBy>
  <cp:revision>165</cp:revision>
  <dcterms:created xsi:type="dcterms:W3CDTF">2013-05-14T22:09:27Z</dcterms:created>
  <dcterms:modified xsi:type="dcterms:W3CDTF">2015-06-22T17:24:13Z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0x0101008566E7B9F93237478EA8D944643E4D26</vt:lpwstr>
  </property>
</Properties>
</file>