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4"/>
    <p:sldMasterId id="2147483742" r:id="rId5"/>
  </p:sldMasterIdLst>
  <p:notesMasterIdLst>
    <p:notesMasterId r:id="rId28"/>
  </p:notesMasterIdLst>
  <p:sldIdLst>
    <p:sldId id="487" r:id="rId6"/>
    <p:sldId id="492" r:id="rId7"/>
    <p:sldId id="493" r:id="rId8"/>
    <p:sldId id="511" r:id="rId9"/>
    <p:sldId id="512" r:id="rId10"/>
    <p:sldId id="494" r:id="rId11"/>
    <p:sldId id="496" r:id="rId12"/>
    <p:sldId id="495" r:id="rId13"/>
    <p:sldId id="497" r:id="rId14"/>
    <p:sldId id="498" r:id="rId15"/>
    <p:sldId id="510" r:id="rId16"/>
    <p:sldId id="508" r:id="rId17"/>
    <p:sldId id="509" r:id="rId18"/>
    <p:sldId id="506" r:id="rId19"/>
    <p:sldId id="507" r:id="rId20"/>
    <p:sldId id="505" r:id="rId21"/>
    <p:sldId id="504" r:id="rId22"/>
    <p:sldId id="503" r:id="rId23"/>
    <p:sldId id="502" r:id="rId24"/>
    <p:sldId id="501" r:id="rId25"/>
    <p:sldId id="499" r:id="rId26"/>
    <p:sldId id="500" r:id="rId27"/>
  </p:sldIdLst>
  <p:sldSz cx="9144000" cy="5143500" type="screen16x9"/>
  <p:notesSz cx="6858000" cy="9144000"/>
  <p:embeddedFontLst>
    <p:embeddedFont>
      <p:font typeface="Tahoma" pitchFamily="34" charset="0"/>
      <p:regular r:id="rId29"/>
      <p:bold r:id="rId30"/>
    </p:embeddedFont>
    <p:embeddedFont>
      <p:font typeface="Stencil" pitchFamily="82" charset="0"/>
      <p:regular r:id="rId31"/>
    </p:embeddedFont>
    <p:embeddedFont>
      <p:font typeface="Kartika" pitchFamily="18" charset="0"/>
      <p:regular r:id="rId32"/>
      <p:bold r:id="rId33"/>
    </p:embeddedFont>
    <p:embeddedFont>
      <p:font typeface="Calibri" pitchFamily="34" charset="0"/>
      <p:regular r:id="rId34"/>
      <p:bold r:id="rId35"/>
      <p:italic r:id="rId36"/>
      <p:boldItalic r:id="rId37"/>
    </p:embeddedFont>
  </p:embeddedFontLst>
  <p:defaultTextStyle>
    <a:lvl1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1pPr>
    <a:lvl2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2pPr>
    <a:lvl3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3pPr>
    <a:lvl4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4pPr>
    <a:lvl5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5pPr>
    <a:lvl6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6pPr>
    <a:lvl7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7pPr>
    <a:lvl8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8pPr>
    <a:lvl9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FE5000"/>
    <a:srgbClr val="FFFFFE"/>
    <a:srgbClr val="4F5F6D"/>
    <a:srgbClr val="576A78"/>
    <a:srgbClr val="455765"/>
    <a:srgbClr val="FFFFFF"/>
    <a:srgbClr val="272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AD2E9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CDACA"/>
          </a:solidFill>
        </a:fill>
      </a:tcStyle>
    </a:wholeTbl>
    <a:band2H>
      <a:tcTxStyle/>
      <a:tcStyle>
        <a:tcBdr/>
        <a:fill>
          <a:solidFill>
            <a:srgbClr val="E7EDE7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D0CEE9"/>
          </a:solidFill>
        </a:fill>
      </a:tcStyle>
    </a:wholeTbl>
    <a:band2H>
      <a:tcTxStyle/>
      <a:tcStyle>
        <a:tcBdr/>
        <a:fill>
          <a:solidFill>
            <a:srgbClr val="E9E8F4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/>
      <a:tcStyle>
        <a:tcBdr/>
        <a:fill>
          <a:solidFill>
            <a:srgbClr val="000000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65C1"/>
          </a:solidFill>
        </a:fill>
      </a:tcStyle>
    </a:firstCol>
    <a:la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65C1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CCCCB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firstRow>
  </a:tblStyle>
  <a:tblStyle styleId="{2708684C-4D16-4618-839F-0558EEFCDFE6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solidFill>
            <a:srgbClr val="352E26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solidFill>
            <a:srgbClr val="352E26">
              <a:alpha val="20000"/>
            </a:srgbClr>
          </a:solidFill>
        </a:fill>
      </a:tcStyle>
    </a:firstCol>
    <a:la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508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872" autoAdjust="0"/>
  </p:normalViewPr>
  <p:slideViewPr>
    <p:cSldViewPr snapToGrid="0" snapToObjects="1" showGuides="1">
      <p:cViewPr>
        <p:scale>
          <a:sx n="100" d="100"/>
          <a:sy n="100" d="100"/>
        </p:scale>
        <p:origin x="-216" y="-366"/>
      </p:cViewPr>
      <p:guideLst>
        <p:guide orient="horz" pos="1615"/>
        <p:guide orient="horz" pos="323"/>
        <p:guide orient="horz" pos="2668"/>
        <p:guide orient="horz" pos="623"/>
        <p:guide pos="2885"/>
        <p:guide pos="413"/>
        <p:guide pos="51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font" Target="fonts/font6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5.fntdata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2.fntdata"/><Relationship Id="rId35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61941665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1pPr>
    <a:lvl2pPr indent="85705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2pPr>
    <a:lvl3pPr indent="171410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3pPr>
    <a:lvl4pPr indent="257114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4pPr>
    <a:lvl5pPr indent="34281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5pPr>
    <a:lvl6pPr indent="428521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6pPr>
    <a:lvl7pPr indent="51422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7pPr>
    <a:lvl8pPr indent="599930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8pPr>
    <a:lvl9pPr indent="68563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title"/>
          </p:nvPr>
        </p:nvSpPr>
        <p:spPr>
          <a:xfrm>
            <a:off x="238126" y="3519488"/>
            <a:ext cx="8667750" cy="8001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10" name="Shape 10"/>
          <p:cNvSpPr>
            <a:spLocks noGrp="1"/>
          </p:cNvSpPr>
          <p:nvPr>
            <p:ph type="body" idx="1"/>
          </p:nvPr>
        </p:nvSpPr>
        <p:spPr>
          <a:xfrm>
            <a:off x="238126" y="4319592"/>
            <a:ext cx="8667750" cy="8239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72666769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xfrm>
            <a:off x="619129" y="0"/>
            <a:ext cx="3833813" cy="24384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defTabSz="309488"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619129" y="2509843"/>
            <a:ext cx="3833813" cy="26336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81994802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xfrm>
            <a:off x="633415" y="1"/>
            <a:ext cx="7877175" cy="1123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67811353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/>
          </p:nvPr>
        </p:nvSpPr>
        <p:spPr>
          <a:xfrm>
            <a:off x="633415" y="91679"/>
            <a:ext cx="7877175" cy="9405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20" name="Shape 20"/>
          <p:cNvSpPr>
            <a:spLocks noGrp="1"/>
          </p:cNvSpPr>
          <p:nvPr>
            <p:ph type="body" idx="1"/>
          </p:nvPr>
        </p:nvSpPr>
        <p:spPr>
          <a:xfrm>
            <a:off x="633415" y="1032273"/>
            <a:ext cx="7877175" cy="378380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38068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76136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714202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952270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190339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5453234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xfrm>
            <a:off x="633415" y="91679"/>
            <a:ext cx="7877175" cy="9405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xfrm>
            <a:off x="633416" y="1032273"/>
            <a:ext cx="3833813" cy="378380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09500" indent="-209500" defTabSz="309488">
              <a:spcBef>
                <a:spcPts val="1688"/>
              </a:spcBef>
              <a:buSzPct val="75000"/>
              <a:buFontTx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19000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628498" indent="-209500" defTabSz="309488">
              <a:spcBef>
                <a:spcPts val="1688"/>
              </a:spcBef>
              <a:buSzPct val="75000"/>
              <a:buFontTx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837999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047499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25012273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xfrm>
            <a:off x="633415" y="666756"/>
            <a:ext cx="7877175" cy="381476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38068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76136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714202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952270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190339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0248984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84430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31553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15348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pPr lvl="0">
              <a:defRPr sz="1800" b="0" cap="none"/>
            </a:pPr>
            <a:r>
              <a:rPr sz="3600" b="1" cap="all"/>
              <a:t>Clique para editar o estilo do título mestre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xfrm>
            <a:off x="722313" y="2180040"/>
            <a:ext cx="7772400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13"/>
              </a:spcBef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888888"/>
                </a:solidFill>
              </a:rPr>
              <a:t>Clique para editar os estilos do texto mestre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306125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38600" cy="394335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500"/>
            </a:lvl1pPr>
            <a:lvl2pPr marL="707922" indent="-299815">
              <a:spcBef>
                <a:spcPts val="600"/>
              </a:spcBef>
              <a:defRPr sz="2500"/>
            </a:lvl2pPr>
            <a:lvl3pPr marL="1101040" indent="-284825">
              <a:spcBef>
                <a:spcPts val="600"/>
              </a:spcBef>
              <a:defRPr sz="2500"/>
            </a:lvl3pPr>
            <a:lvl4pPr marL="1542264" indent="-317945">
              <a:spcBef>
                <a:spcPts val="600"/>
              </a:spcBef>
              <a:defRPr sz="2500"/>
            </a:lvl4pPr>
            <a:lvl5pPr marL="1950373" indent="-317945">
              <a:spcBef>
                <a:spcPts val="600"/>
              </a:spcBef>
              <a:defRPr sz="2500"/>
            </a:lvl5pPr>
          </a:lstStyle>
          <a:p>
            <a:pPr lvl="0">
              <a:defRPr sz="1800"/>
            </a:pPr>
            <a:r>
              <a:rPr sz="2500"/>
              <a:t>Clique para editar os estilos do texto mestre</a:t>
            </a:r>
          </a:p>
          <a:p>
            <a:pPr lvl="1">
              <a:defRPr sz="1800"/>
            </a:pPr>
            <a:r>
              <a:rPr sz="2500"/>
              <a:t>Segundo nível</a:t>
            </a:r>
          </a:p>
          <a:p>
            <a:pPr lvl="2">
              <a:defRPr sz="1800"/>
            </a:pPr>
            <a:r>
              <a:rPr sz="2500"/>
              <a:t>Terceiro nível</a:t>
            </a:r>
          </a:p>
          <a:p>
            <a:pPr lvl="3">
              <a:defRPr sz="1800"/>
            </a:pPr>
            <a:r>
              <a:rPr sz="2500"/>
              <a:t>Quarto nível</a:t>
            </a:r>
          </a:p>
          <a:p>
            <a:pPr lvl="4">
              <a:defRPr sz="1800"/>
            </a:pPr>
            <a:r>
              <a:rPr sz="2500"/>
              <a:t>Quinto nível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85168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457201" y="192614"/>
            <a:ext cx="8229601" cy="88399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457200" y="1076599"/>
            <a:ext cx="4040188" cy="55455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88"/>
              </a:spcBef>
              <a:buSzTx/>
              <a:buFontTx/>
              <a:buNone/>
              <a:defRPr sz="2100" b="1"/>
            </a:lvl1pPr>
          </a:lstStyle>
          <a:p>
            <a:pPr lvl="0">
              <a:defRPr sz="1800" b="0"/>
            </a:pPr>
            <a:r>
              <a:rPr sz="2100" b="1"/>
              <a:t>Clique para editar os estilos do texto mestre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0326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xfrm>
            <a:off x="457203" y="2"/>
            <a:ext cx="3008313" cy="107632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pPr lvl="0">
              <a:defRPr sz="1800" b="0"/>
            </a:pPr>
            <a:r>
              <a:rPr sz="1800" b="1"/>
              <a:t>Clique para editar o estilo do título mestre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3575051" y="204792"/>
            <a:ext cx="5111750" cy="493871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15924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xfrm>
            <a:off x="1792289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pPr lvl="0">
              <a:defRPr sz="1800" b="0"/>
            </a:pPr>
            <a:r>
              <a:rPr sz="1800" b="1"/>
              <a:t>Clique para editar o estilo do título mestre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xfrm>
            <a:off x="1792289" y="4025508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63"/>
              </a:spcBef>
              <a:buSzTx/>
              <a:buFontTx/>
              <a:buNone/>
              <a:defRPr sz="1200"/>
            </a:lvl1pPr>
          </a:lstStyle>
          <a:p>
            <a:pPr lvl="0">
              <a:defRPr sz="1800"/>
            </a:pPr>
            <a:r>
              <a:rPr sz="1200"/>
              <a:t>Clique para editar os estilos do texto mestre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667684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66" name="Shape 6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613413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xfrm>
            <a:off x="6629401" y="0"/>
            <a:ext cx="2057400" cy="48006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93752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240169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828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97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1" y="69057"/>
            <a:ext cx="8229601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0811" tIns="40811" rIns="40811" bIns="40811" anchor="ctr"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1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0811" tIns="40811" rIns="40811" bIns="40811"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777640"/>
            <a:ext cx="2133601" cy="253092"/>
          </a:xfrm>
          <a:prstGeom prst="rect">
            <a:avLst/>
          </a:prstGeom>
          <a:ln w="12700">
            <a:miter lim="400000"/>
          </a:ln>
        </p:spPr>
        <p:txBody>
          <a:bodyPr lIns="40811" tIns="40811" rIns="40811" bIns="40811" anchor="ctr">
            <a:spAutoFit/>
          </a:bodyPr>
          <a:lstStyle>
            <a:lvl1pPr algn="r">
              <a:defRPr sz="11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677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2" r:id="rId7"/>
    <p:sldLayoutId id="2147483683" r:id="rId8"/>
    <p:sldLayoutId id="2147483686" r:id="rId9"/>
    <p:sldLayoutId id="2147483687" r:id="rId10"/>
    <p:sldLayoutId id="2147483688" r:id="rId11"/>
    <p:sldLayoutId id="2147483689" r:id="rId12"/>
    <p:sldLayoutId id="2147483692" r:id="rId13"/>
    <p:sldLayoutId id="2147483693" r:id="rId14"/>
    <p:sldLayoutId id="2147483694" r:id="rId15"/>
    <p:sldLayoutId id="2147483695" r:id="rId16"/>
  </p:sldLayoutIdLst>
  <p:transition spd="med"/>
  <p:txStyles>
    <p:titleStyle>
      <a:lvl1pPr algn="ctr">
        <a:defRPr sz="3900">
          <a:latin typeface="Calibri"/>
          <a:ea typeface="Calibri"/>
          <a:cs typeface="Calibri"/>
          <a:sym typeface="Calibri"/>
        </a:defRPr>
      </a:lvl1pPr>
      <a:lvl2pPr algn="ctr">
        <a:defRPr sz="3900">
          <a:latin typeface="Calibri"/>
          <a:ea typeface="Calibri"/>
          <a:cs typeface="Calibri"/>
          <a:sym typeface="Calibri"/>
        </a:defRPr>
      </a:lvl2pPr>
      <a:lvl3pPr algn="ctr">
        <a:defRPr sz="3900">
          <a:latin typeface="Calibri"/>
          <a:ea typeface="Calibri"/>
          <a:cs typeface="Calibri"/>
          <a:sym typeface="Calibri"/>
        </a:defRPr>
      </a:lvl3pPr>
      <a:lvl4pPr algn="ctr">
        <a:defRPr sz="3900">
          <a:latin typeface="Calibri"/>
          <a:ea typeface="Calibri"/>
          <a:cs typeface="Calibri"/>
          <a:sym typeface="Calibri"/>
        </a:defRPr>
      </a:lvl4pPr>
      <a:lvl5pPr algn="ctr">
        <a:defRPr sz="3900">
          <a:latin typeface="Calibri"/>
          <a:ea typeface="Calibri"/>
          <a:cs typeface="Calibri"/>
          <a:sym typeface="Calibri"/>
        </a:defRPr>
      </a:lvl5pPr>
      <a:lvl6pPr indent="408108" algn="ctr">
        <a:defRPr sz="3900">
          <a:latin typeface="Calibri"/>
          <a:ea typeface="Calibri"/>
          <a:cs typeface="Calibri"/>
          <a:sym typeface="Calibri"/>
        </a:defRPr>
      </a:lvl6pPr>
      <a:lvl7pPr indent="816216" algn="ctr">
        <a:defRPr sz="3900">
          <a:latin typeface="Calibri"/>
          <a:ea typeface="Calibri"/>
          <a:cs typeface="Calibri"/>
          <a:sym typeface="Calibri"/>
        </a:defRPr>
      </a:lvl7pPr>
      <a:lvl8pPr indent="1224321" algn="ctr">
        <a:defRPr sz="3900">
          <a:latin typeface="Calibri"/>
          <a:ea typeface="Calibri"/>
          <a:cs typeface="Calibri"/>
          <a:sym typeface="Calibri"/>
        </a:defRPr>
      </a:lvl8pPr>
      <a:lvl9pPr indent="1632428" algn="ctr">
        <a:defRPr sz="3900">
          <a:latin typeface="Calibri"/>
          <a:ea typeface="Calibri"/>
          <a:cs typeface="Calibri"/>
          <a:sym typeface="Calibri"/>
        </a:defRPr>
      </a:lvl9pPr>
    </p:titleStyle>
    <p:bodyStyle>
      <a:lvl1pPr marL="306081" indent="-306081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1pPr>
      <a:lvl2pPr marL="697435" indent="-289331">
        <a:spcBef>
          <a:spcPts val="675"/>
        </a:spcBef>
        <a:buSzPct val="100000"/>
        <a:buFont typeface="Arial"/>
        <a:buChar char="–"/>
        <a:defRPr sz="2800">
          <a:latin typeface="Calibri"/>
          <a:ea typeface="Calibri"/>
          <a:cs typeface="Calibri"/>
          <a:sym typeface="Calibri"/>
        </a:defRPr>
      </a:lvl2pPr>
      <a:lvl3pPr marL="1088287" indent="-272071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3pPr>
      <a:lvl4pPr marL="1547405" indent="-323086">
        <a:spcBef>
          <a:spcPts val="675"/>
        </a:spcBef>
        <a:buSzPct val="100000"/>
        <a:buFont typeface="Arial"/>
        <a:buChar char="–"/>
        <a:defRPr sz="2800">
          <a:latin typeface="Calibri"/>
          <a:ea typeface="Calibri"/>
          <a:cs typeface="Calibri"/>
          <a:sym typeface="Calibri"/>
        </a:defRPr>
      </a:lvl4pPr>
      <a:lvl5pPr marL="1955514" indent="-323086">
        <a:spcBef>
          <a:spcPts val="675"/>
        </a:spcBef>
        <a:buSzPct val="100000"/>
        <a:buFont typeface="Arial"/>
        <a:buChar char="»"/>
        <a:defRPr sz="2800">
          <a:latin typeface="Calibri"/>
          <a:ea typeface="Calibri"/>
          <a:cs typeface="Calibri"/>
          <a:sym typeface="Calibri"/>
        </a:defRPr>
      </a:lvl5pPr>
      <a:lvl6pPr marL="2363623" indent="-323086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6pPr>
      <a:lvl7pPr marL="2771729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7pPr>
      <a:lvl8pPr marL="3179836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8pPr>
      <a:lvl9pPr marL="3587942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9pPr>
    </p:bodyStyle>
    <p:otherStyle>
      <a:lvl1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1pPr>
      <a:lvl2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2pPr>
      <a:lvl3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3pPr>
      <a:lvl4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4pPr>
      <a:lvl5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5pPr>
      <a:lvl6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6pPr>
      <a:lvl7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7pPr>
      <a:lvl8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8pPr>
      <a:lvl9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46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60" r:id="rId2"/>
  </p:sldLayoutIdLst>
  <p:txStyles>
    <p:titleStyle>
      <a:lvl1pPr algn="ctr" defTabSz="408027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6021" indent="-306021" algn="l" defTabSz="408027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63043" indent="-255016" algn="l" defTabSz="408027" rtl="0" eaLnBrk="1" latinLnBrk="0" hangingPunct="1">
        <a:spcBef>
          <a:spcPct val="20000"/>
        </a:spcBef>
        <a:buFont typeface="Arial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0068" indent="-204013" algn="l" defTabSz="408027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093" indent="-204013" algn="l" defTabSz="408027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119" indent="-204013" algn="l" defTabSz="408027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4149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2176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0202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8228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027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053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080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108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136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8162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6189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4215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1"/>
            <a:ext cx="9143999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-2" y="700336"/>
            <a:ext cx="4991102" cy="3691717"/>
          </a:xfrm>
          <a:prstGeom prst="rect">
            <a:avLst/>
          </a:prstGeom>
          <a:solidFill>
            <a:srgbClr val="FE5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s-ES_tradnl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45171" y="989013"/>
            <a:ext cx="4326827" cy="216213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800" dirty="0" smtClean="0">
                <a:solidFill>
                  <a:srgbClr val="FFFFFE"/>
                </a:solidFill>
                <a:latin typeface="Gill Sans Std" pitchFamily="34" charset="0"/>
              </a:rPr>
              <a:t>MELHORIA CONTÍNUA DOS SERVIÇOS DE TD</a:t>
            </a:r>
          </a:p>
          <a:p>
            <a:pPr algn="ctr"/>
            <a:endParaRPr lang="pt-BR" sz="2400" b="1" dirty="0" smtClean="0">
              <a:solidFill>
                <a:srgbClr val="FFFFFE"/>
              </a:solidFill>
              <a:latin typeface="Gill Sans Std" pitchFamily="34" charset="0"/>
            </a:endParaRPr>
          </a:p>
          <a:p>
            <a:pPr algn="ctr"/>
            <a: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  <a:t>LANÇAMENTO </a:t>
            </a:r>
            <a:b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</a:br>
            <a: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  <a:t>DO PROJETO</a:t>
            </a:r>
            <a:endParaRPr lang="pt-BR" sz="2800" dirty="0">
              <a:solidFill>
                <a:srgbClr val="FFFFFE"/>
              </a:solidFill>
              <a:latin typeface="Gill Sans Std Light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2021870" y="3361787"/>
            <a:ext cx="2793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rgbClr val="FFFFFE"/>
                </a:solidFill>
                <a:latin typeface="Gill Sans Std" pitchFamily="34" charset="0"/>
              </a:rPr>
              <a:t>VP Tecnologia Digital</a:t>
            </a:r>
            <a:endParaRPr lang="pt-BR" sz="2000" dirty="0">
              <a:solidFill>
                <a:srgbClr val="FFFFFE"/>
              </a:solidFill>
              <a:latin typeface="Gill Sans Std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3361529" y="3976521"/>
            <a:ext cx="1490148" cy="25170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/>
          <a:p>
            <a:pPr algn="r" defTabSz="816277"/>
            <a:r>
              <a:rPr lang="pt-BR" sz="1100" dirty="0" smtClean="0">
                <a:solidFill>
                  <a:srgbClr val="FFFFFE"/>
                </a:solidFill>
                <a:latin typeface="Gill Sans Std" pitchFamily="34" charset="0"/>
              </a:rPr>
              <a:t>18 Junho 2015</a:t>
            </a:r>
            <a:endParaRPr lang="pt-BR" sz="1100" b="1" i="1" dirty="0">
              <a:solidFill>
                <a:srgbClr val="FFFFFE"/>
              </a:solidFill>
              <a:latin typeface="Gill Sans Std" pitchFamily="34" charset="0"/>
            </a:endParaRPr>
          </a:p>
        </p:txBody>
      </p:sp>
      <p:pic>
        <p:nvPicPr>
          <p:cNvPr id="20" name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9260" y="3502758"/>
            <a:ext cx="802805" cy="7326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489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08112" y="1087293"/>
            <a:ext cx="8530690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smtClean="0"/>
              <a:t>_foco é na </a:t>
            </a:r>
            <a:r>
              <a:rPr lang="pt-BR" dirty="0">
                <a:latin typeface="Gill Sans Std" pitchFamily="34" charset="0"/>
              </a:rPr>
              <a:t>c</a:t>
            </a:r>
            <a:r>
              <a:rPr lang="pt-BR" dirty="0" smtClean="0">
                <a:latin typeface="Gill Sans Std" pitchFamily="34" charset="0"/>
              </a:rPr>
              <a:t>riação </a:t>
            </a:r>
            <a:r>
              <a:rPr lang="pt-BR" dirty="0">
                <a:latin typeface="Gill Sans Std" pitchFamily="34" charset="0"/>
              </a:rPr>
              <a:t>de </a:t>
            </a:r>
            <a:r>
              <a:rPr lang="pt-BR" dirty="0" smtClean="0">
                <a:latin typeface="Gill Sans Std" pitchFamily="34" charset="0"/>
              </a:rPr>
              <a:t>valor </a:t>
            </a:r>
            <a:r>
              <a:rPr lang="pt-BR" dirty="0" smtClean="0"/>
              <a:t>- redução </a:t>
            </a:r>
            <a:r>
              <a:rPr lang="pt-BR" dirty="0"/>
              <a:t>de </a:t>
            </a:r>
            <a:r>
              <a:rPr lang="pt-BR" dirty="0" smtClean="0"/>
              <a:t>desperdício, liberação de </a:t>
            </a:r>
            <a:r>
              <a:rPr lang="pt-BR" dirty="0"/>
              <a:t>tempo para empreender, inovar e </a:t>
            </a:r>
            <a:r>
              <a:rPr lang="pt-BR" dirty="0" smtClean="0"/>
              <a:t>criar</a:t>
            </a:r>
            <a:endParaRPr lang="pt-BR" dirty="0"/>
          </a:p>
        </p:txBody>
      </p:sp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A VISÃO DE MELHORIA CONTÍNUA NA NATURA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18" name="Group 3"/>
          <p:cNvGrpSpPr>
            <a:grpSpLocks/>
          </p:cNvGrpSpPr>
          <p:nvPr/>
        </p:nvGrpSpPr>
        <p:grpSpPr bwMode="auto">
          <a:xfrm>
            <a:off x="1142612" y="1770946"/>
            <a:ext cx="6835555" cy="3037491"/>
            <a:chOff x="1785916" y="1714488"/>
            <a:chExt cx="5715042" cy="3643338"/>
          </a:xfrm>
        </p:grpSpPr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6072198" y="1785926"/>
              <a:ext cx="1428760" cy="2571768"/>
            </a:xfrm>
            <a:custGeom>
              <a:avLst/>
              <a:gdLst>
                <a:gd name="T0" fmla="*/ 0 w 894"/>
                <a:gd name="T1" fmla="*/ 0 h 1769"/>
                <a:gd name="T2" fmla="*/ 2147483647 w 894"/>
                <a:gd name="T3" fmla="*/ 2147483647 h 1769"/>
                <a:gd name="T4" fmla="*/ 2147483647 w 894"/>
                <a:gd name="T5" fmla="*/ 0 h 1769"/>
                <a:gd name="T6" fmla="*/ 0 w 894"/>
                <a:gd name="T7" fmla="*/ 0 h 17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4"/>
                <a:gd name="T13" fmla="*/ 0 h 1769"/>
                <a:gd name="T14" fmla="*/ 894 w 894"/>
                <a:gd name="T15" fmla="*/ 1769 h 17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4" h="1769">
                  <a:moveTo>
                    <a:pt x="0" y="0"/>
                  </a:moveTo>
                  <a:cubicBezTo>
                    <a:pt x="14" y="865"/>
                    <a:pt x="866" y="633"/>
                    <a:pt x="894" y="1769"/>
                  </a:cubicBezTo>
                  <a:cubicBezTo>
                    <a:pt x="894" y="884"/>
                    <a:pt x="894" y="0"/>
                    <a:pt x="894" y="0"/>
                  </a:cubicBezTo>
                  <a:cubicBezTo>
                    <a:pt x="894" y="0"/>
                    <a:pt x="447" y="0"/>
                    <a:pt x="0" y="0"/>
                  </a:cubicBezTo>
                  <a:close/>
                </a:path>
              </a:pathLst>
            </a:custGeom>
            <a:solidFill>
              <a:srgbClr val="9AC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20" name="Freeform 9"/>
            <p:cNvSpPr>
              <a:spLocks/>
            </p:cNvSpPr>
            <p:nvPr/>
          </p:nvSpPr>
          <p:spPr bwMode="auto">
            <a:xfrm>
              <a:off x="1823045" y="1714488"/>
              <a:ext cx="1677386" cy="2739068"/>
            </a:xfrm>
            <a:custGeom>
              <a:avLst/>
              <a:gdLst>
                <a:gd name="T0" fmla="*/ 2147483647 w 1216"/>
                <a:gd name="T1" fmla="*/ 0 h 1861"/>
                <a:gd name="T2" fmla="*/ 2147483647 w 1216"/>
                <a:gd name="T3" fmla="*/ 2147483647 h 1861"/>
                <a:gd name="T4" fmla="*/ 2147483647 w 1216"/>
                <a:gd name="T5" fmla="*/ 2147483647 h 1861"/>
                <a:gd name="T6" fmla="*/ 2147483647 w 1216"/>
                <a:gd name="T7" fmla="*/ 0 h 1861"/>
                <a:gd name="T8" fmla="*/ 2147483647 w 1216"/>
                <a:gd name="T9" fmla="*/ 0 h 18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6"/>
                <a:gd name="T16" fmla="*/ 0 h 1861"/>
                <a:gd name="T17" fmla="*/ 1216 w 1216"/>
                <a:gd name="T18" fmla="*/ 1861 h 18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6" h="1861">
                  <a:moveTo>
                    <a:pt x="2" y="0"/>
                  </a:moveTo>
                  <a:cubicBezTo>
                    <a:pt x="0" y="347"/>
                    <a:pt x="5" y="935"/>
                    <a:pt x="4" y="1861"/>
                  </a:cubicBezTo>
                  <a:cubicBezTo>
                    <a:pt x="244" y="1861"/>
                    <a:pt x="902" y="1857"/>
                    <a:pt x="1216" y="1860"/>
                  </a:cubicBezTo>
                  <a:cubicBezTo>
                    <a:pt x="1208" y="1071"/>
                    <a:pt x="480" y="1079"/>
                    <a:pt x="455" y="0"/>
                  </a:cubicBezTo>
                  <a:cubicBezTo>
                    <a:pt x="228" y="0"/>
                    <a:pt x="2" y="0"/>
                    <a:pt x="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4C373"/>
                </a:gs>
                <a:gs pos="100000">
                  <a:srgbClr val="B0D9A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21" name="Freeform 7"/>
            <p:cNvSpPr>
              <a:spLocks/>
            </p:cNvSpPr>
            <p:nvPr/>
          </p:nvSpPr>
          <p:spPr bwMode="auto">
            <a:xfrm>
              <a:off x="2849410" y="1714488"/>
              <a:ext cx="4651548" cy="3439929"/>
            </a:xfrm>
            <a:custGeom>
              <a:avLst/>
              <a:gdLst>
                <a:gd name="T0" fmla="*/ 0 w 2990"/>
                <a:gd name="T1" fmla="*/ 2147483647 h 1852"/>
                <a:gd name="T2" fmla="*/ 2147483647 w 2990"/>
                <a:gd name="T3" fmla="*/ 2147483647 h 1852"/>
                <a:gd name="T4" fmla="*/ 2147483647 w 2990"/>
                <a:gd name="T5" fmla="*/ 2147483647 h 1852"/>
                <a:gd name="T6" fmla="*/ 2147483647 w 2990"/>
                <a:gd name="T7" fmla="*/ 2147483647 h 1852"/>
                <a:gd name="T8" fmla="*/ 0 w 2990"/>
                <a:gd name="T9" fmla="*/ 2147483647 h 18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90"/>
                <a:gd name="T16" fmla="*/ 0 h 1852"/>
                <a:gd name="T17" fmla="*/ 2990 w 2990"/>
                <a:gd name="T18" fmla="*/ 1852 h 18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90" h="1852">
                  <a:moveTo>
                    <a:pt x="0" y="3"/>
                  </a:moveTo>
                  <a:cubicBezTo>
                    <a:pt x="36" y="1116"/>
                    <a:pt x="2894" y="1220"/>
                    <a:pt x="2973" y="1852"/>
                  </a:cubicBezTo>
                  <a:cubicBezTo>
                    <a:pt x="2969" y="1548"/>
                    <a:pt x="2977" y="1452"/>
                    <a:pt x="2977" y="1220"/>
                  </a:cubicBezTo>
                  <a:cubicBezTo>
                    <a:pt x="2990" y="468"/>
                    <a:pt x="2093" y="568"/>
                    <a:pt x="2082" y="4"/>
                  </a:cubicBezTo>
                  <a:cubicBezTo>
                    <a:pt x="1526" y="4"/>
                    <a:pt x="635" y="0"/>
                    <a:pt x="0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876"/>
                </a:gs>
                <a:gs pos="100000">
                  <a:srgbClr val="D3E6A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22" name="Freeform 8"/>
            <p:cNvSpPr>
              <a:spLocks/>
            </p:cNvSpPr>
            <p:nvPr/>
          </p:nvSpPr>
          <p:spPr bwMode="auto">
            <a:xfrm>
              <a:off x="2071670" y="1714488"/>
              <a:ext cx="4685792" cy="2773538"/>
            </a:xfrm>
            <a:custGeom>
              <a:avLst/>
              <a:gdLst>
                <a:gd name="T0" fmla="*/ 2147483647 w 3596"/>
                <a:gd name="T1" fmla="*/ 2147483647 h 1864"/>
                <a:gd name="T2" fmla="*/ 2147483647 w 3596"/>
                <a:gd name="T3" fmla="*/ 2147483647 h 1864"/>
                <a:gd name="T4" fmla="*/ 2147483647 w 3596"/>
                <a:gd name="T5" fmla="*/ 2147483647 h 1864"/>
                <a:gd name="T6" fmla="*/ 2147483647 w 3596"/>
                <a:gd name="T7" fmla="*/ 2147483647 h 1864"/>
                <a:gd name="T8" fmla="*/ 2147483647 w 3596"/>
                <a:gd name="T9" fmla="*/ 2147483647 h 1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96"/>
                <a:gd name="T16" fmla="*/ 0 h 1864"/>
                <a:gd name="T17" fmla="*/ 3596 w 3596"/>
                <a:gd name="T18" fmla="*/ 1864 h 1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96" h="1864">
                  <a:moveTo>
                    <a:pt x="236" y="3"/>
                  </a:moveTo>
                  <a:cubicBezTo>
                    <a:pt x="220" y="1003"/>
                    <a:pt x="1008" y="1163"/>
                    <a:pt x="1000" y="1864"/>
                  </a:cubicBezTo>
                  <a:cubicBezTo>
                    <a:pt x="1664" y="1864"/>
                    <a:pt x="2726" y="1860"/>
                    <a:pt x="3596" y="1863"/>
                  </a:cubicBezTo>
                  <a:cubicBezTo>
                    <a:pt x="3579" y="1237"/>
                    <a:pt x="696" y="1118"/>
                    <a:pt x="629" y="3"/>
                  </a:cubicBezTo>
                  <a:cubicBezTo>
                    <a:pt x="0" y="3"/>
                    <a:pt x="399" y="0"/>
                    <a:pt x="23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59A145"/>
                </a:gs>
                <a:gs pos="100000">
                  <a:srgbClr val="95C38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23" name="Text Box 11"/>
            <p:cNvSpPr txBox="1">
              <a:spLocks noChangeArrowheads="1"/>
            </p:cNvSpPr>
            <p:nvPr/>
          </p:nvSpPr>
          <p:spPr bwMode="auto">
            <a:xfrm>
              <a:off x="1867482" y="1842907"/>
              <a:ext cx="493474" cy="553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10%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Rotina</a:t>
              </a:r>
              <a:endPara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24" name="Text Box 12"/>
            <p:cNvSpPr txBox="1">
              <a:spLocks noChangeArrowheads="1"/>
            </p:cNvSpPr>
            <p:nvPr/>
          </p:nvSpPr>
          <p:spPr bwMode="auto">
            <a:xfrm>
              <a:off x="2470084" y="1842907"/>
              <a:ext cx="624816" cy="775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10%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Fire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  Fighting</a:t>
              </a:r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3359127" y="1821405"/>
              <a:ext cx="2928978" cy="775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</a:rPr>
                <a:t>60%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kern="0" noProof="0" dirty="0" err="1" smtClean="0">
                  <a:solidFill>
                    <a:srgbClr val="000000"/>
                  </a:solidFill>
                  <a:latin typeface="Gill Sans Std" pitchFamily="34" charset="0"/>
                </a:rPr>
                <a:t>Melhoria</a:t>
              </a:r>
              <a:r>
                <a:rPr lang="en-US" sz="1200" kern="0" noProof="0" dirty="0" smtClean="0">
                  <a:solidFill>
                    <a:srgbClr val="000000"/>
                  </a:solidFill>
                  <a:latin typeface="Gill Sans Std" pitchFamily="34" charset="0"/>
                </a:rPr>
                <a:t> </a:t>
              </a:r>
              <a:r>
                <a:rPr lang="en-US" sz="1200" kern="0" noProof="0" dirty="0" err="1" smtClean="0">
                  <a:solidFill>
                    <a:srgbClr val="000000"/>
                  </a:solidFill>
                  <a:latin typeface="Gill Sans Std" pitchFamily="34" charset="0"/>
                </a:rPr>
                <a:t>Contínua</a:t>
              </a:r>
              <a:endPara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Std" pitchFamily="34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</a:rPr>
                <a:t>(</a:t>
              </a:r>
              <a:r>
                <a:rPr kumimoji="0" lang="en-US" sz="12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</a:rPr>
                <a:t>Empreender</a:t>
              </a: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</a:rPr>
                <a:t> &amp; </a:t>
              </a:r>
              <a:r>
                <a:rPr kumimoji="0" lang="en-US" sz="12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</a:rPr>
                <a:t>Criar</a:t>
              </a: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</a:rPr>
                <a:t>)</a:t>
              </a:r>
            </a:p>
          </p:txBody>
        </p:sp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>
              <a:off x="6600088" y="1842907"/>
              <a:ext cx="659663" cy="553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</a:rPr>
                <a:t>20%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</a:rPr>
                <a:t>Estratégia</a:t>
              </a:r>
              <a:endPara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27" name="AutoShape 20"/>
            <p:cNvSpPr>
              <a:spLocks noChangeArrowheads="1"/>
            </p:cNvSpPr>
            <p:nvPr/>
          </p:nvSpPr>
          <p:spPr bwMode="auto">
            <a:xfrm>
              <a:off x="2359025" y="4013200"/>
              <a:ext cx="258763" cy="130175"/>
            </a:xfrm>
            <a:prstGeom prst="triangle">
              <a:avLst>
                <a:gd name="adj" fmla="val 50000"/>
              </a:avLst>
            </a:prstGeom>
            <a:solidFill>
              <a:srgbClr val="63B3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28" name="AutoShape 21"/>
            <p:cNvSpPr>
              <a:spLocks noChangeArrowheads="1"/>
            </p:cNvSpPr>
            <p:nvPr/>
          </p:nvSpPr>
          <p:spPr bwMode="auto">
            <a:xfrm>
              <a:off x="2359025" y="4143375"/>
              <a:ext cx="258763" cy="130175"/>
            </a:xfrm>
            <a:prstGeom prst="triangle">
              <a:avLst>
                <a:gd name="adj" fmla="val 50000"/>
              </a:avLst>
            </a:prstGeom>
            <a:solidFill>
              <a:srgbClr val="63B3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29" name="AutoShape 22"/>
            <p:cNvSpPr>
              <a:spLocks noChangeArrowheads="1"/>
            </p:cNvSpPr>
            <p:nvPr/>
          </p:nvSpPr>
          <p:spPr bwMode="auto">
            <a:xfrm>
              <a:off x="4894263" y="4013200"/>
              <a:ext cx="260350" cy="130175"/>
            </a:xfrm>
            <a:prstGeom prst="triangle">
              <a:avLst>
                <a:gd name="adj" fmla="val 50000"/>
              </a:avLst>
            </a:prstGeom>
            <a:solidFill>
              <a:srgbClr val="C9E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30" name="AutoShape 23"/>
            <p:cNvSpPr>
              <a:spLocks noChangeArrowheads="1"/>
            </p:cNvSpPr>
            <p:nvPr/>
          </p:nvSpPr>
          <p:spPr bwMode="auto">
            <a:xfrm>
              <a:off x="4894263" y="4143375"/>
              <a:ext cx="260350" cy="130175"/>
            </a:xfrm>
            <a:prstGeom prst="triangle">
              <a:avLst>
                <a:gd name="adj" fmla="val 50000"/>
              </a:avLst>
            </a:prstGeom>
            <a:solidFill>
              <a:srgbClr val="C9E5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6757462" y="4447785"/>
              <a:ext cx="743496" cy="910041"/>
            </a:xfrm>
            <a:prstGeom prst="rect">
              <a:avLst/>
            </a:prstGeom>
            <a:solidFill>
              <a:srgbClr val="B8D67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lvl="0" algn="ctr" defTabSz="914400"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  <a:cs typeface="Arial" charset="0"/>
                </a:rPr>
                <a:t>10%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Std" pitchFamily="34" charset="0"/>
                  <a:cs typeface="Arial" charset="0"/>
                </a:rPr>
              </a:br>
              <a:r>
                <a:rPr lang="en-US" sz="1200" kern="0" dirty="0" err="1" smtClean="0">
                  <a:solidFill>
                    <a:srgbClr val="000000"/>
                  </a:solidFill>
                  <a:latin typeface="Gill Sans Std" pitchFamily="34" charset="0"/>
                  <a:cs typeface="Arial" pitchFamily="34" charset="0"/>
                </a:rPr>
                <a:t>Empreender</a:t>
              </a:r>
              <a:r>
                <a:rPr lang="en-US" sz="1200" kern="0" dirty="0" smtClean="0">
                  <a:solidFill>
                    <a:srgbClr val="000000"/>
                  </a:solidFill>
                  <a:latin typeface="Gill Sans Std" pitchFamily="34" charset="0"/>
                  <a:cs typeface="Arial" pitchFamily="34" charset="0"/>
                </a:rPr>
                <a:t> </a:t>
              </a:r>
            </a:p>
            <a:p>
              <a:pPr lvl="0" algn="ctr" defTabSz="914400">
                <a:defRPr/>
              </a:pPr>
              <a:r>
                <a:rPr lang="en-US" sz="1200" kern="0" dirty="0" smtClean="0">
                  <a:solidFill>
                    <a:srgbClr val="000000"/>
                  </a:solidFill>
                  <a:latin typeface="Gill Sans Std" pitchFamily="34" charset="0"/>
                  <a:cs typeface="Arial" pitchFamily="34" charset="0"/>
                </a:rPr>
                <a:t>&amp; </a:t>
              </a:r>
              <a:r>
                <a:rPr lang="en-US" sz="1200" kern="0" dirty="0" err="1" smtClean="0">
                  <a:solidFill>
                    <a:srgbClr val="000000"/>
                  </a:solidFill>
                  <a:latin typeface="Gill Sans Std" pitchFamily="34" charset="0"/>
                  <a:cs typeface="Arial" pitchFamily="34" charset="0"/>
                </a:rPr>
                <a:t>Criar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Std" pitchFamily="34" charset="0"/>
                <a:cs typeface="Arial" charset="0"/>
              </a:endParaRP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3428993" y="4448189"/>
              <a:ext cx="3328469" cy="909637"/>
            </a:xfrm>
            <a:prstGeom prst="rect">
              <a:avLst/>
            </a:prstGeom>
            <a:solidFill>
              <a:srgbClr val="59A1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50%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Fire Fighting</a:t>
              </a:r>
            </a:p>
          </p:txBody>
        </p:sp>
        <p:sp>
          <p:nvSpPr>
            <p:cNvPr id="33" name="Rectangle 4"/>
            <p:cNvSpPr>
              <a:spLocks noChangeArrowheads="1"/>
            </p:cNvSpPr>
            <p:nvPr/>
          </p:nvSpPr>
          <p:spPr bwMode="auto">
            <a:xfrm>
              <a:off x="1825625" y="4448189"/>
              <a:ext cx="1603367" cy="909637"/>
            </a:xfrm>
            <a:prstGeom prst="rect">
              <a:avLst/>
            </a:prstGeom>
            <a:solidFill>
              <a:srgbClr val="84C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40%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Std" pitchFamily="34" charset="0"/>
                </a:rPr>
                <a:t>Rotina</a:t>
              </a:r>
              <a:endPara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34" name="Rectangle 22"/>
            <p:cNvSpPr/>
            <p:nvPr/>
          </p:nvSpPr>
          <p:spPr>
            <a:xfrm>
              <a:off x="7454920" y="1785957"/>
              <a:ext cx="46038" cy="3571869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H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Std" pitchFamily="34" charset="0"/>
                <a:cs typeface="Arial"/>
              </a:endParaRPr>
            </a:p>
          </p:txBody>
        </p:sp>
        <p:sp>
          <p:nvSpPr>
            <p:cNvPr id="35" name="Rectangle 23"/>
            <p:cNvSpPr/>
            <p:nvPr/>
          </p:nvSpPr>
          <p:spPr>
            <a:xfrm rot="5400000">
              <a:off x="4607702" y="-1107298"/>
              <a:ext cx="71469" cy="571504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H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Std" pitchFamily="34" charset="0"/>
                <a:cs typeface="Arial"/>
              </a:endParaRPr>
            </a:p>
          </p:txBody>
        </p:sp>
      </p:grpSp>
      <p:grpSp>
        <p:nvGrpSpPr>
          <p:cNvPr id="36" name="Group 25"/>
          <p:cNvGrpSpPr>
            <a:grpSpLocks/>
          </p:cNvGrpSpPr>
          <p:nvPr/>
        </p:nvGrpSpPr>
        <p:grpSpPr bwMode="auto">
          <a:xfrm>
            <a:off x="7992096" y="1799373"/>
            <a:ext cx="627519" cy="3009063"/>
            <a:chOff x="7432675" y="1643063"/>
            <a:chExt cx="854075" cy="3501013"/>
          </a:xfrm>
        </p:grpSpPr>
        <p:sp>
          <p:nvSpPr>
            <p:cNvPr id="37" name="AutoShape 32"/>
            <p:cNvSpPr>
              <a:spLocks noChangeArrowheads="1"/>
            </p:cNvSpPr>
            <p:nvPr/>
          </p:nvSpPr>
          <p:spPr bwMode="auto">
            <a:xfrm>
              <a:off x="7432675" y="1643063"/>
              <a:ext cx="854075" cy="3501013"/>
            </a:xfrm>
            <a:prstGeom prst="upArrow">
              <a:avLst>
                <a:gd name="adj1" fmla="val 50000"/>
                <a:gd name="adj2" fmla="val 61905"/>
              </a:avLst>
            </a:prstGeom>
            <a:gradFill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6000000"/>
            </a:gra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H" sz="1200" b="0" i="0" u="none" strike="noStrike" kern="0" cap="none" spc="0" normalizeH="0" baseline="0" noProof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  <p:sp>
          <p:nvSpPr>
            <p:cNvPr id="38" name="Text Box 30"/>
            <p:cNvSpPr txBox="1">
              <a:spLocks noChangeArrowheads="1"/>
            </p:cNvSpPr>
            <p:nvPr/>
          </p:nvSpPr>
          <p:spPr bwMode="auto">
            <a:xfrm rot="16200000">
              <a:off x="6168061" y="3276498"/>
              <a:ext cx="3358149" cy="3770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Gill Sans Std" pitchFamily="34" charset="0"/>
                </a:rPr>
                <a:t>Visão</a:t>
              </a:r>
              <a:endParaRPr kumimoji="0" lang="en-GB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ill Sans Std" pitchFamily="34" charset="0"/>
              </a:endParaRPr>
            </a:p>
          </p:txBody>
        </p:sp>
      </p:grpSp>
      <p:sp>
        <p:nvSpPr>
          <p:cNvPr id="39" name="AutoShape 22"/>
          <p:cNvSpPr>
            <a:spLocks noChangeArrowheads="1"/>
          </p:cNvSpPr>
          <p:nvPr/>
        </p:nvSpPr>
        <p:spPr bwMode="auto">
          <a:xfrm>
            <a:off x="7368913" y="3635925"/>
            <a:ext cx="311395" cy="108528"/>
          </a:xfrm>
          <a:prstGeom prst="triangle">
            <a:avLst>
              <a:gd name="adj" fmla="val 50000"/>
            </a:avLst>
          </a:prstGeom>
          <a:solidFill>
            <a:srgbClr val="9BBB59">
              <a:lumMod val="75000"/>
            </a:srgbClr>
          </a:solidFill>
          <a:ln>
            <a:noFill/>
          </a:ln>
          <a:ex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" pitchFamily="34" charset="0"/>
            </a:endParaRPr>
          </a:p>
        </p:txBody>
      </p:sp>
      <p:sp>
        <p:nvSpPr>
          <p:cNvPr id="40" name="AutoShape 23"/>
          <p:cNvSpPr>
            <a:spLocks noChangeArrowheads="1"/>
          </p:cNvSpPr>
          <p:nvPr/>
        </p:nvSpPr>
        <p:spPr bwMode="auto">
          <a:xfrm>
            <a:off x="7368913" y="3749972"/>
            <a:ext cx="311395" cy="108528"/>
          </a:xfrm>
          <a:prstGeom prst="triangle">
            <a:avLst>
              <a:gd name="adj" fmla="val 50000"/>
            </a:avLst>
          </a:prstGeom>
          <a:solidFill>
            <a:srgbClr val="9BBB59">
              <a:lumMod val="75000"/>
            </a:srgbClr>
          </a:solidFill>
          <a:ln>
            <a:noFill/>
          </a:ln>
          <a:ex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875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581096" y="1170132"/>
            <a:ext cx="7971762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dirty="0" smtClean="0"/>
              <a:t>Buscamos </a:t>
            </a:r>
            <a:r>
              <a:rPr lang="pt-BR" dirty="0"/>
              <a:t>uma </a:t>
            </a:r>
            <a:r>
              <a:rPr lang="pt-BR" dirty="0" smtClean="0"/>
              <a:t>transformação, </a:t>
            </a:r>
            <a:endParaRPr lang="pt-BR" dirty="0" smtClean="0"/>
          </a:p>
          <a:p>
            <a:pPr algn="ctr">
              <a:defRPr/>
            </a:pPr>
            <a:r>
              <a:rPr lang="pt-BR" b="1" dirty="0" smtClean="0">
                <a:latin typeface="Gill Sans Std" pitchFamily="34" charset="0"/>
              </a:rPr>
              <a:t>ganhos </a:t>
            </a:r>
            <a:r>
              <a:rPr lang="pt-BR" b="1" dirty="0" smtClean="0">
                <a:latin typeface="Gill Sans Std" pitchFamily="34" charset="0"/>
              </a:rPr>
              <a:t>de </a:t>
            </a:r>
            <a:r>
              <a:rPr lang="pt-BR" b="1" dirty="0">
                <a:latin typeface="Gill Sans Std" pitchFamily="34" charset="0"/>
              </a:rPr>
              <a:t>sinergia </a:t>
            </a:r>
            <a:r>
              <a:rPr lang="pt-BR" dirty="0"/>
              <a:t>entre </a:t>
            </a:r>
            <a:r>
              <a:rPr lang="pt-BR" dirty="0" smtClean="0"/>
              <a:t>as áreas </a:t>
            </a:r>
            <a:endParaRPr lang="pt-BR" dirty="0" smtClean="0"/>
          </a:p>
          <a:p>
            <a:pPr algn="ctr">
              <a:defRPr/>
            </a:pPr>
            <a:r>
              <a:rPr lang="pt-BR" dirty="0" smtClean="0"/>
              <a:t>e </a:t>
            </a:r>
            <a:r>
              <a:rPr lang="pt-BR" b="1" dirty="0" smtClean="0">
                <a:latin typeface="Gill Sans Std" pitchFamily="34" charset="0"/>
              </a:rPr>
              <a:t>melhoria </a:t>
            </a:r>
            <a:r>
              <a:rPr lang="pt-BR" b="1" dirty="0">
                <a:latin typeface="Gill Sans Std" pitchFamily="34" charset="0"/>
              </a:rPr>
              <a:t>efetiva da qualidade</a:t>
            </a:r>
            <a:r>
              <a:rPr lang="pt-BR" dirty="0">
                <a:latin typeface="Gill Sans Std" pitchFamily="34" charset="0"/>
              </a:rPr>
              <a:t> </a:t>
            </a:r>
            <a:r>
              <a:rPr lang="pt-BR" dirty="0"/>
              <a:t>dos </a:t>
            </a:r>
            <a:r>
              <a:rPr lang="pt-BR" dirty="0" smtClean="0"/>
              <a:t>nossos serviços.</a:t>
            </a:r>
            <a:endParaRPr lang="pt-BR" dirty="0"/>
          </a:p>
        </p:txBody>
      </p:sp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CONTEXTO DESTE MOVIMENTO EM TD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41" name="Picture 2" descr="http://f1banter.files.wordpress.com/2010/03/a_pit_stop_for_kim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400" y="2467099"/>
            <a:ext cx="2912400" cy="163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tângulo 41"/>
          <p:cNvSpPr/>
          <p:nvPr/>
        </p:nvSpPr>
        <p:spPr>
          <a:xfrm>
            <a:off x="321073" y="2565273"/>
            <a:ext cx="4660271" cy="7254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08837" tIns="54419" rIns="108837" bIns="54419">
            <a:spAutoFit/>
          </a:bodyPr>
          <a:lstStyle/>
          <a:p>
            <a:pPr algn="ctr"/>
            <a:r>
              <a:rPr lang="pt-BR" sz="2000" b="1" dirty="0">
                <a:solidFill>
                  <a:schemeClr val="accent1"/>
                </a:solidFill>
              </a:rPr>
              <a:t>e</a:t>
            </a:r>
            <a:r>
              <a:rPr lang="pt-BR" sz="2000" b="1" dirty="0" smtClean="0">
                <a:solidFill>
                  <a:schemeClr val="accent1"/>
                </a:solidFill>
              </a:rPr>
              <a:t>volução </a:t>
            </a:r>
            <a:r>
              <a:rPr lang="pt-BR" sz="2000" b="1" dirty="0">
                <a:solidFill>
                  <a:schemeClr val="accent1"/>
                </a:solidFill>
              </a:rPr>
              <a:t>– e não revolução – é a tônica </a:t>
            </a:r>
            <a:r>
              <a:rPr lang="pt-BR" sz="2000" b="1" dirty="0" smtClean="0">
                <a:solidFill>
                  <a:schemeClr val="accent1"/>
                </a:solidFill>
              </a:rPr>
              <a:t>desta transformação</a:t>
            </a:r>
            <a:r>
              <a:rPr lang="pt-BR" b="1" dirty="0" smtClean="0">
                <a:solidFill>
                  <a:schemeClr val="accent1"/>
                </a:solidFill>
                <a:latin typeface="Gill Sans Std Light" pitchFamily="34" charset="0"/>
              </a:rPr>
              <a:t>!</a:t>
            </a:r>
          </a:p>
        </p:txBody>
      </p:sp>
      <p:sp>
        <p:nvSpPr>
          <p:cNvPr id="44" name="Retângulo 43"/>
          <p:cNvSpPr/>
          <p:nvPr/>
        </p:nvSpPr>
        <p:spPr>
          <a:xfrm>
            <a:off x="441656" y="3317638"/>
            <a:ext cx="4416093" cy="6331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sz="1500" b="1" dirty="0" smtClean="0">
                <a:solidFill>
                  <a:schemeClr val="accent1"/>
                </a:solidFill>
                <a:latin typeface="Gill Sans Std Light" pitchFamily="34" charset="0"/>
              </a:rPr>
              <a:t>não é sobre Tecnologia...</a:t>
            </a:r>
          </a:p>
          <a:p>
            <a:pPr algn="r"/>
            <a:r>
              <a:rPr lang="pt-BR" b="1" dirty="0">
                <a:solidFill>
                  <a:schemeClr val="accent1"/>
                </a:solidFill>
                <a:latin typeface="Gill Sans Std Light" pitchFamily="34" charset="0"/>
              </a:rPr>
              <a:t>é</a:t>
            </a:r>
            <a:r>
              <a:rPr lang="pt-BR" b="1" dirty="0" smtClean="0">
                <a:solidFill>
                  <a:schemeClr val="accent1"/>
                </a:solidFill>
                <a:latin typeface="Gill Sans Std Light" pitchFamily="34" charset="0"/>
              </a:rPr>
              <a:t> sobre Negócios!</a:t>
            </a:r>
          </a:p>
        </p:txBody>
      </p:sp>
    </p:spTree>
    <p:extLst>
      <p:ext uri="{BB962C8B-B14F-4D97-AF65-F5344CB8AC3E}">
        <p14:creationId xmlns:p14="http://schemas.microsoft.com/office/powerpoint/2010/main" val="284016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FOCOS</a:t>
            </a:r>
            <a:endParaRPr lang="en-US" sz="2800" dirty="0" smtClean="0">
              <a:latin typeface="Gill Sans Std Light" pitchFamily="34" charset="0"/>
            </a:endParaRP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43" name="Text Placeholder 17"/>
          <p:cNvSpPr txBox="1">
            <a:spLocks/>
          </p:cNvSpPr>
          <p:nvPr/>
        </p:nvSpPr>
        <p:spPr>
          <a:xfrm>
            <a:off x="453958" y="1457792"/>
            <a:ext cx="8384844" cy="2961808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_desenvolver </a:t>
            </a:r>
            <a:r>
              <a:rPr lang="pt-BR" sz="1800" dirty="0"/>
              <a:t>e manter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práticas baseadas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em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processos</a:t>
            </a:r>
            <a:endParaRPr lang="pt-BR" sz="1800" dirty="0" smtClean="0">
              <a:solidFill>
                <a:srgbClr val="C00000"/>
              </a:solidFill>
              <a:latin typeface="Gill Sans Std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endParaRPr lang="pt-BR" sz="1800" dirty="0" smtClean="0"/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evolução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permanente dos resultados </a:t>
            </a:r>
            <a:r>
              <a:rPr lang="pt-BR" sz="1800" dirty="0"/>
              <a:t>de Governança e Gestão de Serviços de </a:t>
            </a:r>
            <a:r>
              <a:rPr lang="pt-BR" sz="1800" dirty="0" smtClean="0"/>
              <a:t>TD - eficiência </a:t>
            </a:r>
            <a:r>
              <a:rPr lang="pt-BR" sz="1800" dirty="0"/>
              <a:t>e eficácia de </a:t>
            </a:r>
            <a:r>
              <a:rPr lang="pt-BR" sz="1800" dirty="0" smtClean="0"/>
              <a:t>nossos profissionais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endParaRPr lang="pt-BR" sz="1800" dirty="0" smtClean="0"/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</a:t>
            </a:r>
            <a:r>
              <a:rPr lang="pt-BR" sz="1800" dirty="0" smtClean="0"/>
              <a:t>aumentar </a:t>
            </a:r>
            <a:r>
              <a:rPr lang="pt-BR" sz="1800" dirty="0"/>
              <a:t>de forma gradual e sustentável a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contribuição da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TD para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a estratégia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de negócios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Natura</a:t>
            </a:r>
            <a:endParaRPr lang="pt-BR" sz="2400" dirty="0">
              <a:solidFill>
                <a:srgbClr val="C00000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66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FORÇAS CONTRÁRIAS…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3893247" y="1211882"/>
            <a:ext cx="45264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  <a:t>orientação insuficiente </a:t>
            </a:r>
            <a:b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  <a:t>para implantar</a:t>
            </a:r>
            <a:endParaRPr lang="pt-BR" sz="3200" dirty="0">
              <a:solidFill>
                <a:schemeClr val="accent1">
                  <a:lumMod val="60000"/>
                  <a:lumOff val="4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546341" y="1565825"/>
            <a:ext cx="366063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rgbClr val="FF0000"/>
                </a:solidFill>
                <a:latin typeface="Gill Sans Std" pitchFamily="34" charset="0"/>
              </a:rPr>
              <a:t>f</a:t>
            </a:r>
            <a:r>
              <a:rPr lang="pt-BR" sz="4400" b="1" dirty="0" smtClean="0">
                <a:solidFill>
                  <a:srgbClr val="FF0000"/>
                </a:solidFill>
                <a:latin typeface="Gill Sans Std" pitchFamily="34" charset="0"/>
              </a:rPr>
              <a:t>alta de tempo</a:t>
            </a:r>
            <a:endParaRPr lang="pt-BR" sz="4000" dirty="0"/>
          </a:p>
        </p:txBody>
      </p:sp>
      <p:sp>
        <p:nvSpPr>
          <p:cNvPr id="21" name="Retângulo 20"/>
          <p:cNvSpPr/>
          <p:nvPr/>
        </p:nvSpPr>
        <p:spPr>
          <a:xfrm>
            <a:off x="5052022" y="2501817"/>
            <a:ext cx="288252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  <a:t>falta de apoio </a:t>
            </a:r>
            <a:b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  <a:t>da liderança</a:t>
            </a:r>
            <a:endParaRPr lang="pt-B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2208295" y="3255091"/>
            <a:ext cx="284372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schemeClr val="accent2"/>
                </a:solidFill>
                <a:latin typeface="Gill Sans Std" pitchFamily="34" charset="0"/>
              </a:rPr>
              <a:t>	</a:t>
            </a:r>
            <a: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  <a:t>maturidade </a:t>
            </a:r>
            <a:b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  <a:t>do time</a:t>
            </a:r>
            <a:endParaRPr lang="pt-BR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343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FORÇAS CONTRÁRIAS…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22" name="Grupo 21"/>
          <p:cNvGrpSpPr/>
          <p:nvPr/>
        </p:nvGrpSpPr>
        <p:grpSpPr>
          <a:xfrm>
            <a:off x="308114" y="1080364"/>
            <a:ext cx="8389800" cy="3679100"/>
            <a:chOff x="308113" y="1080364"/>
            <a:chExt cx="7874953" cy="3679100"/>
          </a:xfrm>
        </p:grpSpPr>
        <p:sp>
          <p:nvSpPr>
            <p:cNvPr id="23" name="Rectangle 2"/>
            <p:cNvSpPr>
              <a:spLocks noChangeArrowheads="1"/>
            </p:cNvSpPr>
            <p:nvPr/>
          </p:nvSpPr>
          <p:spPr bwMode="auto">
            <a:xfrm>
              <a:off x="308113" y="1080364"/>
              <a:ext cx="7874953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E4720A">
                  <a:gamma/>
                  <a:shade val="60000"/>
                  <a:invGamma/>
                </a:srgbClr>
              </a:prstShdw>
            </a:effectLst>
          </p:spPr>
          <p:txBody>
            <a:bodyPr wrap="square" anchor="ctr">
              <a:spAutoFit/>
            </a:bodyPr>
            <a:lstStyle/>
            <a:p>
              <a:pPr marL="0" marR="0" lvl="0" indent="0" algn="just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000" kern="1200" dirty="0" smtClean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Os maiores </a:t>
              </a:r>
              <a:r>
                <a:rPr lang="pt-BR" sz="2000" kern="1200" dirty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fatores inibidores (barreiras) para </a:t>
              </a:r>
              <a:r>
                <a:rPr lang="pt-BR" sz="2000" kern="1200" dirty="0" smtClean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adoção </a:t>
              </a:r>
              <a:r>
                <a:rPr lang="pt-BR" sz="2000" kern="1200" dirty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de </a:t>
              </a:r>
              <a:r>
                <a:rPr lang="pt-BR" sz="2000" kern="1200" dirty="0" smtClean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um modelo </a:t>
              </a:r>
              <a:r>
                <a:rPr lang="pt-BR" sz="2000" kern="1200" dirty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de processos baseados em boas </a:t>
              </a:r>
              <a:r>
                <a:rPr lang="pt-BR" sz="2000" kern="1200" dirty="0" smtClean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práticas:</a:t>
              </a:r>
              <a:endPara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665207" y="4236244"/>
              <a:ext cx="70306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defTabSz="914400" eaLnBrk="0" hangingPunct="0">
                <a:defRPr/>
              </a:pPr>
              <a:r>
                <a:rPr lang="pt-BR" sz="1400" kern="1200" dirty="0" smtClean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_grandes </a:t>
              </a:r>
              <a:r>
                <a:rPr lang="pt-BR" sz="1400" kern="1200" dirty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empresas de TI nas </a:t>
              </a:r>
              <a:r>
                <a:rPr lang="pt-BR" sz="1400" kern="1200" dirty="0" smtClean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Américas, Europa </a:t>
              </a:r>
              <a:r>
                <a:rPr lang="pt-BR" sz="1400" kern="1200" dirty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e </a:t>
              </a:r>
              <a:r>
                <a:rPr lang="pt-BR" sz="1400" kern="1200" dirty="0" smtClean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centros asiáticos </a:t>
              </a:r>
              <a:r>
                <a:rPr lang="pt-BR" sz="1400" kern="1200" dirty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que suportam operações de diferentes empresas ao redor do mundo (</a:t>
              </a:r>
              <a:r>
                <a:rPr lang="pt-BR" sz="1400" i="1" kern="1200" dirty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off-</a:t>
              </a:r>
              <a:r>
                <a:rPr lang="pt-BR" sz="1400" i="1" kern="1200" dirty="0" err="1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shore</a:t>
              </a:r>
              <a:r>
                <a:rPr lang="pt-BR" sz="1400" kern="1200" dirty="0" smtClean="0">
                  <a:solidFill>
                    <a:srgbClr val="473729"/>
                  </a:solidFill>
                  <a:latin typeface="Gill Sans Std Light"/>
                  <a:ea typeface="+mn-ea"/>
                  <a:cs typeface="Gill Sans Std Light"/>
                </a:rPr>
                <a:t>)</a:t>
              </a:r>
              <a:endParaRPr lang="pt-BR" sz="14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endParaRPr>
            </a:p>
          </p:txBody>
        </p:sp>
        <p:grpSp>
          <p:nvGrpSpPr>
            <p:cNvPr id="25" name="Grupo 24"/>
            <p:cNvGrpSpPr/>
            <p:nvPr/>
          </p:nvGrpSpPr>
          <p:grpSpPr>
            <a:xfrm>
              <a:off x="1442739" y="1828958"/>
              <a:ext cx="6729661" cy="2011155"/>
              <a:chOff x="1479996" y="1557849"/>
              <a:chExt cx="6729661" cy="2011155"/>
            </a:xfrm>
          </p:grpSpPr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4860032" y="3307066"/>
                <a:ext cx="3349625" cy="2619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E4720A">
                    <a:gamma/>
                    <a:shade val="60000"/>
                    <a:invGamma/>
                  </a:srgbClr>
                </a:prstShdw>
              </a:effec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Fonte: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Gartner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Research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 (129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companies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)</a:t>
                </a:r>
                <a:endParaRPr kumimoji="0" lang="pt-BR" sz="1800" i="0" u="none" strike="noStrike" kern="0" cap="none" spc="0" normalizeH="0" baseline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27" name="Picture 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9996" y="1557849"/>
                <a:ext cx="5895975" cy="182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388071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E MAIS…</a:t>
            </a:r>
            <a:endParaRPr lang="en-US" sz="2800" dirty="0" smtClean="0">
              <a:latin typeface="Gill Sans Std Light" pitchFamily="34" charset="0"/>
            </a:endParaRP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320478" y="1510618"/>
            <a:ext cx="8505364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079500" algn="just" eaLnBrk="0" hangingPunct="0"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ausência de </a:t>
            </a:r>
            <a:r>
              <a:rPr lang="pt-BR" sz="2000" kern="1200" dirty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propriedade e autoridade 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sobre os </a:t>
            </a: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processos</a:t>
            </a:r>
            <a:endParaRPr lang="pt-BR" sz="20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falta de </a:t>
            </a:r>
            <a:r>
              <a:rPr lang="pt-BR" sz="2000" kern="1200" dirty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revisão periódica 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dos </a:t>
            </a: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processos</a:t>
            </a:r>
            <a:endParaRPr lang="pt-BR" sz="20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dificuldade para </a:t>
            </a:r>
            <a:r>
              <a:rPr lang="pt-BR" sz="2000" kern="1200" dirty="0" smtClean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manter disciplina de execução</a:t>
            </a:r>
            <a:endParaRPr lang="pt-BR" sz="2000" kern="1200" dirty="0">
              <a:solidFill>
                <a:srgbClr val="473729"/>
              </a:solidFill>
              <a:latin typeface="Gill Sans Std" pitchFamily="34" charset="0"/>
              <a:ea typeface="+mn-ea"/>
              <a:cs typeface="Gill Sans Std Light"/>
            </a:endParaRPr>
          </a:p>
          <a:p>
            <a:pPr marL="1079500" algn="just" eaLnBrk="0" hangingPunct="0"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algn="just" eaLnBrk="0" hangingPunct="0"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hábitos, usos e costumes e a </a:t>
            </a:r>
            <a:r>
              <a:rPr lang="pt-BR" sz="2000" kern="1200" dirty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natural resistência às </a:t>
            </a:r>
            <a:r>
              <a:rPr lang="pt-BR" sz="2000" kern="1200" dirty="0" smtClean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mudanças</a:t>
            </a:r>
            <a:endParaRPr lang="pt-BR" sz="2000" kern="1200" dirty="0">
              <a:solidFill>
                <a:srgbClr val="473729"/>
              </a:solidFill>
              <a:latin typeface="Gill Sans Std" pitchFamily="34" charset="0"/>
              <a:ea typeface="+mn-ea"/>
              <a:cs typeface="Gill Sans Std Light"/>
            </a:endParaRPr>
          </a:p>
        </p:txBody>
      </p:sp>
    </p:spTree>
    <p:extLst>
      <p:ext uri="{BB962C8B-B14F-4D97-AF65-F5344CB8AC3E}">
        <p14:creationId xmlns:p14="http://schemas.microsoft.com/office/powerpoint/2010/main" val="43786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7971762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err="1"/>
              <a:t>Tstee</a:t>
            </a:r>
            <a:r>
              <a:rPr lang="pt-BR" dirty="0"/>
              <a:t> sua </a:t>
            </a:r>
            <a:r>
              <a:rPr lang="pt-BR" dirty="0" err="1"/>
              <a:t>rnisêtecsia</a:t>
            </a:r>
            <a:r>
              <a:rPr lang="pt-BR" dirty="0"/>
              <a:t> a </a:t>
            </a:r>
            <a:r>
              <a:rPr lang="pt-BR" dirty="0" err="1" smtClean="0"/>
              <a:t>mdunaças</a:t>
            </a:r>
            <a:r>
              <a:rPr lang="pt-BR" dirty="0" smtClean="0"/>
              <a:t>...</a:t>
            </a:r>
            <a:endParaRPr lang="pt-BR" dirty="0"/>
          </a:p>
        </p:txBody>
      </p:sp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SOMOS TODOS APEGADOS AOS NOSSOS HÁBITOS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971600" y="1744330"/>
            <a:ext cx="7452320" cy="2932469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Leia as cores das palavras, não as palavras!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251" b="1" i="1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verde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cinza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laranja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roxo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roxo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branco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verde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verde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branco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cinza</a:t>
            </a:r>
            <a:endParaRPr kumimoji="0" lang="pt-BR" sz="2251" b="1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30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3565127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smtClean="0"/>
              <a:t>É difícil mudar</a:t>
            </a:r>
            <a:r>
              <a:rPr lang="pt-BR" dirty="0"/>
              <a:t>?</a:t>
            </a:r>
          </a:p>
        </p:txBody>
      </p:sp>
      <p:sp>
        <p:nvSpPr>
          <p:cNvPr id="5" name="Shape 721"/>
          <p:cNvSpPr/>
          <p:nvPr/>
        </p:nvSpPr>
        <p:spPr>
          <a:xfrm>
            <a:off x="308113" y="985837"/>
            <a:ext cx="2780835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MUDANÇA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4272612" y="370106"/>
            <a:ext cx="2584220" cy="1938974"/>
            <a:chOff x="3404198" y="872416"/>
            <a:chExt cx="2349291" cy="1762704"/>
          </a:xfrm>
        </p:grpSpPr>
        <p:pic>
          <p:nvPicPr>
            <p:cNvPr id="14" name="Espaço Reservado para Conteúdo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4198" y="872416"/>
              <a:ext cx="2148295" cy="1762704"/>
            </a:xfrm>
            <a:prstGeom prst="rect">
              <a:avLst/>
            </a:prstGeom>
          </p:spPr>
        </p:pic>
        <p:sp>
          <p:nvSpPr>
            <p:cNvPr id="16" name="CaixaDeTexto 15"/>
            <p:cNvSpPr txBox="1"/>
            <p:nvPr/>
          </p:nvSpPr>
          <p:spPr>
            <a:xfrm rot="16200000">
              <a:off x="5055051" y="1586654"/>
              <a:ext cx="1089099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0070C0"/>
                  </a:solidFill>
                </a:rPr>
                <a:t>Pessoas</a:t>
              </a:r>
              <a:endParaRPr lang="pt-BR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6855829" y="2145017"/>
            <a:ext cx="1925508" cy="1364149"/>
            <a:chOff x="6217359" y="3060811"/>
            <a:chExt cx="2819137" cy="1997251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7359" y="3060811"/>
              <a:ext cx="2819137" cy="1997251"/>
            </a:xfrm>
            <a:prstGeom prst="rect">
              <a:avLst/>
            </a:prstGeom>
          </p:spPr>
        </p:pic>
        <p:sp>
          <p:nvSpPr>
            <p:cNvPr id="20" name="CaixaDeTexto 19"/>
            <p:cNvSpPr txBox="1"/>
            <p:nvPr/>
          </p:nvSpPr>
          <p:spPr>
            <a:xfrm rot="18175943">
              <a:off x="7347624" y="3685130"/>
              <a:ext cx="1671364" cy="491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bg1"/>
                  </a:solidFill>
                </a:rPr>
                <a:t>Produtos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4682889" y="3482690"/>
            <a:ext cx="1424335" cy="1314772"/>
            <a:chOff x="3450735" y="4636391"/>
            <a:chExt cx="2085370" cy="1924957"/>
          </a:xfrm>
        </p:grpSpPr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0735" y="4636391"/>
              <a:ext cx="2085370" cy="1924957"/>
            </a:xfrm>
            <a:prstGeom prst="rect">
              <a:avLst/>
            </a:prstGeom>
          </p:spPr>
        </p:pic>
        <p:sp>
          <p:nvSpPr>
            <p:cNvPr id="23" name="CaixaDeTexto 22"/>
            <p:cNvSpPr txBox="1"/>
            <p:nvPr/>
          </p:nvSpPr>
          <p:spPr>
            <a:xfrm rot="17730074">
              <a:off x="3206885" y="5392443"/>
              <a:ext cx="1742854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7A5724"/>
                  </a:solidFill>
                </a:rPr>
                <a:t>Parceiros</a:t>
              </a:r>
              <a:endParaRPr lang="pt-BR" sz="1600" b="1" dirty="0">
                <a:solidFill>
                  <a:srgbClr val="7A5724"/>
                </a:solidFill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2374683" y="2165783"/>
            <a:ext cx="1802439" cy="1252254"/>
            <a:chOff x="262642" y="3095899"/>
            <a:chExt cx="2638952" cy="1833425"/>
          </a:xfrm>
        </p:grpSpPr>
        <p:pic>
          <p:nvPicPr>
            <p:cNvPr id="25" name="Imagem 2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642" y="3095899"/>
              <a:ext cx="2473154" cy="1833425"/>
            </a:xfrm>
            <a:prstGeom prst="rect">
              <a:avLst/>
            </a:prstGeom>
          </p:spPr>
        </p:pic>
        <p:sp>
          <p:nvSpPr>
            <p:cNvPr id="26" name="CaixaDeTexto 25"/>
            <p:cNvSpPr txBox="1"/>
            <p:nvPr/>
          </p:nvSpPr>
          <p:spPr>
            <a:xfrm rot="19767345">
              <a:off x="884034" y="4140583"/>
              <a:ext cx="2017560" cy="491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Processos</a:t>
              </a:r>
              <a:endPara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7" name="Setas cruzadas 26"/>
          <p:cNvSpPr/>
          <p:nvPr/>
        </p:nvSpPr>
        <p:spPr>
          <a:xfrm>
            <a:off x="5084313" y="2325134"/>
            <a:ext cx="915203" cy="923062"/>
          </a:xfrm>
          <a:prstGeom prst="quadArrow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78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3679427" cy="41621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smtClean="0"/>
              <a:t>É possível melhorar sem mudar</a:t>
            </a:r>
            <a:r>
              <a:rPr lang="pt-BR" dirty="0"/>
              <a:t>?</a:t>
            </a: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MUDANÇA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3985798" y="2421028"/>
            <a:ext cx="4681952" cy="1816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  <a:t>“Fazer sempre as mesmas coisas,</a:t>
            </a:r>
            <a:b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</a:br>
            <a: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  <a:t>esperando resultados diferentes é </a:t>
            </a:r>
            <a:r>
              <a:rPr lang="pt-BR" sz="2400" b="1" i="1" dirty="0" smtClean="0">
                <a:solidFill>
                  <a:schemeClr val="accent5"/>
                </a:solidFill>
                <a:latin typeface="Gill Sans Std" pitchFamily="34" charset="0"/>
              </a:rPr>
              <a:t>insanidade!</a:t>
            </a:r>
            <a:r>
              <a:rPr lang="pt-BR" sz="2400" i="1" dirty="0" smtClean="0">
                <a:solidFill>
                  <a:schemeClr val="accent5"/>
                </a:solidFill>
                <a:latin typeface="Gill Sans Std" pitchFamily="34" charset="0"/>
              </a:rPr>
              <a:t>”</a:t>
            </a:r>
            <a:endParaRPr lang="pt-BR" sz="2400" dirty="0">
              <a:solidFill>
                <a:schemeClr val="accent5"/>
              </a:solidFill>
              <a:latin typeface="Gill Sans Std" pitchFamily="34" charset="0"/>
            </a:endParaRPr>
          </a:p>
          <a:p>
            <a:pPr algn="r"/>
            <a:endParaRPr lang="pt-BR" sz="2401" dirty="0">
              <a:solidFill>
                <a:schemeClr val="accent5"/>
              </a:solidFill>
              <a:latin typeface="Gill Sans Std" pitchFamily="34" charset="0"/>
            </a:endParaRPr>
          </a:p>
          <a:p>
            <a:pPr algn="r"/>
            <a:r>
              <a:rPr lang="pt-BR" sz="1600" i="1" dirty="0" smtClean="0">
                <a:solidFill>
                  <a:schemeClr val="accent5"/>
                </a:solidFill>
                <a:latin typeface="Gill Sans Std" pitchFamily="34" charset="0"/>
              </a:rPr>
              <a:t>Albert </a:t>
            </a:r>
            <a:r>
              <a:rPr lang="pt-BR" sz="1600" i="1" dirty="0">
                <a:solidFill>
                  <a:schemeClr val="accent5"/>
                </a:solidFill>
                <a:latin typeface="Gill Sans Std" pitchFamily="34" charset="0"/>
              </a:rPr>
              <a:t>Einstein</a:t>
            </a:r>
            <a:endParaRPr lang="pt-BR" sz="1600" b="1" i="1" dirty="0">
              <a:solidFill>
                <a:schemeClr val="accent5"/>
              </a:solidFill>
              <a:latin typeface="Gill Sans Std" pitchFamily="34" charset="0"/>
            </a:endParaRPr>
          </a:p>
        </p:txBody>
      </p:sp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944" y="1671589"/>
            <a:ext cx="2817443" cy="299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" descr="http://2.bp.blogspot.com/-lBTxgsITso4/UOgbH_IFD4I/AAAAAAAABTY/XEMvo-MD-20/s1600/SejaVoceMesm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936" y="1671589"/>
            <a:ext cx="2990862" cy="299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7988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6" presetClass="entr" presetSubtype="16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HIPÓTESES PARA TESTAR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31" name="Shape 721"/>
          <p:cNvSpPr/>
          <p:nvPr/>
        </p:nvSpPr>
        <p:spPr>
          <a:xfrm flipV="1">
            <a:off x="308113" y="985837"/>
            <a:ext cx="394219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6141450" y="50409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Catálogo de Ofertas e </a:t>
            </a:r>
            <a:r>
              <a:rPr lang="pt-BR" sz="1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Serviços</a:t>
            </a:r>
            <a:endParaRPr kumimoji="0" lang="pt-BR" sz="1600" b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112230" y="367250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Eficácia </a:t>
            </a: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dos controles </a:t>
            </a: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de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Mudanças</a:t>
            </a: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6810918" y="271114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Gestão do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Conhecimento</a:t>
            </a:r>
            <a:endParaRPr kumimoji="0" lang="pt-BR" sz="1600" b="1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5922988" y="391962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Demandas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 e Insumos para Projetos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491460" y="244053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Prazos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/>
            </a:r>
            <a:b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</a:b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SLA, OLA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,</a:t>
            </a: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UC</a:t>
            </a:r>
            <a:endParaRPr kumimoji="0" lang="pt-B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3343729" y="4030598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Indicadores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que suportam a Decisão</a:t>
            </a: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847005" y="115177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Tratamento de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Incidentes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e Requisições</a:t>
            </a:r>
          </a:p>
        </p:txBody>
      </p:sp>
      <p:sp>
        <p:nvSpPr>
          <p:cNvPr id="22" name="Seta para a esquerda 21"/>
          <p:cNvSpPr/>
          <p:nvPr/>
        </p:nvSpPr>
        <p:spPr>
          <a:xfrm rot="1661700">
            <a:off x="3008108" y="1567700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3" name="Seta para a esquerda 22"/>
          <p:cNvSpPr/>
          <p:nvPr/>
        </p:nvSpPr>
        <p:spPr>
          <a:xfrm rot="19181624">
            <a:off x="3044945" y="3350882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4" name="Seta para a esquerda 23"/>
          <p:cNvSpPr/>
          <p:nvPr/>
        </p:nvSpPr>
        <p:spPr>
          <a:xfrm>
            <a:off x="2641293" y="2671166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5" name="Seta para a direita 24"/>
          <p:cNvSpPr/>
          <p:nvPr/>
        </p:nvSpPr>
        <p:spPr>
          <a:xfrm rot="672241">
            <a:off x="6328180" y="2935737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6" name="Seta para a direita 25"/>
          <p:cNvSpPr/>
          <p:nvPr/>
        </p:nvSpPr>
        <p:spPr>
          <a:xfrm rot="1924002">
            <a:off x="5633671" y="3571695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7" name="Seta para a esquerda 26"/>
          <p:cNvSpPr/>
          <p:nvPr/>
        </p:nvSpPr>
        <p:spPr>
          <a:xfrm rot="16926708">
            <a:off x="4258774" y="3611778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7042660" y="164500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Problemas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e </a:t>
            </a:r>
            <a:r>
              <a:rPr kumimoji="0" lang="pt-BR" sz="16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Root Cause </a:t>
            </a:r>
            <a:r>
              <a:rPr kumimoji="0" lang="pt-BR" sz="16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Analysis</a:t>
            </a:r>
            <a:endParaRPr kumimoji="0" lang="pt-BR" sz="1600" b="0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33" name="Seta para a direita 32"/>
          <p:cNvSpPr/>
          <p:nvPr/>
        </p:nvSpPr>
        <p:spPr>
          <a:xfrm rot="20038822">
            <a:off x="6537813" y="1991763"/>
            <a:ext cx="320672" cy="298845"/>
          </a:xfrm>
          <a:prstGeom prst="righ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619" y="1338573"/>
            <a:ext cx="2089259" cy="1924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eta para a direita 34"/>
          <p:cNvSpPr/>
          <p:nvPr/>
        </p:nvSpPr>
        <p:spPr>
          <a:xfrm rot="19496181">
            <a:off x="5709605" y="1081926"/>
            <a:ext cx="320672" cy="298845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30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2" grpId="0" animBg="1"/>
      <p:bldP spid="33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DESAFIOS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6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321073" y="1109203"/>
            <a:ext cx="8504768" cy="3680109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400" dirty="0" smtClean="0">
                <a:latin typeface="Gill Sans Std" pitchFamily="34" charset="0"/>
              </a:rPr>
              <a:t>_avaliar </a:t>
            </a:r>
            <a:r>
              <a:rPr lang="pt-BR" sz="1400" dirty="0">
                <a:latin typeface="Gill Sans Std" pitchFamily="34" charset="0"/>
              </a:rPr>
              <a:t>a </a:t>
            </a:r>
            <a:r>
              <a:rPr lang="pt-BR" sz="1400" b="1" dirty="0">
                <a:latin typeface="Gill Sans Std" pitchFamily="34" charset="0"/>
              </a:rPr>
              <a:t>qualidade e a conformidade</a:t>
            </a:r>
            <a:r>
              <a:rPr lang="pt-BR" sz="1400" dirty="0">
                <a:latin typeface="Gill Sans Std" pitchFamily="34" charset="0"/>
              </a:rPr>
              <a:t> dos processos de gerenciamento de serviços </a:t>
            </a:r>
            <a:r>
              <a:rPr lang="pt-BR" sz="1400" dirty="0" smtClean="0">
                <a:latin typeface="Gill Sans Std" pitchFamily="34" charset="0"/>
              </a:rPr>
              <a:t>da TD</a:t>
            </a:r>
            <a:r>
              <a:rPr lang="pt-BR" sz="1400" dirty="0">
                <a:latin typeface="Gill Sans Std" pitchFamily="34" charset="0"/>
              </a:rPr>
              <a:t>, abrangendo toda a dinâmica do </a:t>
            </a:r>
            <a:r>
              <a:rPr lang="pt-BR" sz="1400" b="1" dirty="0">
                <a:latin typeface="Gill Sans Std" pitchFamily="34" charset="0"/>
              </a:rPr>
              <a:t>framework </a:t>
            </a:r>
            <a:r>
              <a:rPr lang="pt-BR" sz="1400" b="1" i="1" dirty="0">
                <a:latin typeface="Gill Sans Std" pitchFamily="34" charset="0"/>
              </a:rPr>
              <a:t>Metrô</a:t>
            </a:r>
            <a:r>
              <a:rPr lang="pt-BR" sz="1400" dirty="0">
                <a:latin typeface="Gill Sans Std" pitchFamily="34" charset="0"/>
              </a:rPr>
              <a:t>, tanto para o </a:t>
            </a:r>
            <a:r>
              <a:rPr lang="pt-BR" sz="1400" dirty="0" smtClean="0">
                <a:latin typeface="Gill Sans Std" pitchFamily="34" charset="0"/>
              </a:rPr>
              <a:t>Brasil, como para </a:t>
            </a:r>
            <a:r>
              <a:rPr lang="pt-BR" sz="1400" dirty="0">
                <a:latin typeface="Gill Sans Std" pitchFamily="34" charset="0"/>
              </a:rPr>
              <a:t>as Operações </a:t>
            </a:r>
            <a:r>
              <a:rPr lang="pt-BR" sz="1400" dirty="0" smtClean="0">
                <a:latin typeface="Gill Sans Std" pitchFamily="34" charset="0"/>
              </a:rPr>
              <a:t>Internacionais</a:t>
            </a:r>
            <a:endParaRPr lang="pt-BR" sz="1400" dirty="0">
              <a:latin typeface="Gill Sans Std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dirty="0" smtClean="0">
                <a:latin typeface="Gill Sans Std" pitchFamily="34" charset="0"/>
              </a:rPr>
              <a:t>_identificar </a:t>
            </a:r>
            <a:r>
              <a:rPr lang="pt-BR" sz="1400" dirty="0">
                <a:latin typeface="Gill Sans Std" pitchFamily="34" charset="0"/>
              </a:rPr>
              <a:t>os GAP de conformidade, eventuais limitações dos processos e de suas ferramentas de automação, </a:t>
            </a:r>
            <a:r>
              <a:rPr lang="pt-BR" sz="1400" b="1" dirty="0">
                <a:latin typeface="Gill Sans Std" pitchFamily="34" charset="0"/>
              </a:rPr>
              <a:t>priorizando todas as oportunidades de </a:t>
            </a:r>
            <a:r>
              <a:rPr lang="pt-BR" sz="1400" b="1" dirty="0" smtClean="0">
                <a:latin typeface="Gill Sans Std" pitchFamily="34" charset="0"/>
              </a:rPr>
              <a:t>melhorias</a:t>
            </a:r>
            <a:r>
              <a:rPr lang="pt-BR" sz="1400" dirty="0" smtClean="0">
                <a:latin typeface="Gill Sans Std" pitchFamily="34" charset="0"/>
              </a:rPr>
              <a:t> </a:t>
            </a:r>
            <a:endParaRPr lang="pt-BR" sz="1400" dirty="0">
              <a:latin typeface="Gill Sans Std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dirty="0" smtClean="0">
                <a:latin typeface="Gill Sans Std" pitchFamily="34" charset="0"/>
              </a:rPr>
              <a:t>_elaborar </a:t>
            </a:r>
            <a:r>
              <a:rPr lang="pt-BR" sz="1400" dirty="0">
                <a:latin typeface="Gill Sans Std" pitchFamily="34" charset="0"/>
              </a:rPr>
              <a:t>e executar </a:t>
            </a:r>
            <a:r>
              <a:rPr lang="pt-BR" sz="1400" b="1" dirty="0">
                <a:latin typeface="Gill Sans Std" pitchFamily="34" charset="0"/>
              </a:rPr>
              <a:t>Planos de Ação</a:t>
            </a:r>
            <a:r>
              <a:rPr lang="pt-BR" sz="1400" dirty="0">
                <a:latin typeface="Gill Sans Std" pitchFamily="34" charset="0"/>
              </a:rPr>
              <a:t> para suprimir os GAP e consolidar as melhorias, estabelecendo </a:t>
            </a:r>
            <a:r>
              <a:rPr lang="pt-BR" sz="1400" b="1" dirty="0">
                <a:latin typeface="Gill Sans Std" pitchFamily="34" charset="0"/>
              </a:rPr>
              <a:t>ciclos de </a:t>
            </a:r>
            <a:r>
              <a:rPr lang="pt-BR" sz="1400" b="1" dirty="0" smtClean="0">
                <a:latin typeface="Gill Sans Std" pitchFamily="34" charset="0"/>
              </a:rPr>
              <a:t>melhoria </a:t>
            </a:r>
            <a:r>
              <a:rPr lang="pt-BR" sz="1400" dirty="0">
                <a:latin typeface="Gill Sans Std" pitchFamily="34" charset="0"/>
              </a:rPr>
              <a:t>orientados aos </a:t>
            </a:r>
            <a:r>
              <a:rPr lang="pt-BR" sz="1400" dirty="0" smtClean="0">
                <a:latin typeface="Gill Sans Std" pitchFamily="34" charset="0"/>
              </a:rPr>
              <a:t>processos</a:t>
            </a:r>
            <a:endParaRPr lang="pt-BR" sz="1400" dirty="0">
              <a:latin typeface="Gill Sans Std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dirty="0" smtClean="0">
                <a:latin typeface="Gill Sans Std" pitchFamily="34" charset="0"/>
              </a:rPr>
              <a:t>_identificar</a:t>
            </a:r>
            <a:r>
              <a:rPr lang="pt-BR" sz="1400" dirty="0">
                <a:latin typeface="Gill Sans Std" pitchFamily="34" charset="0"/>
              </a:rPr>
              <a:t>, analisar, compreender e eliminar </a:t>
            </a:r>
            <a:r>
              <a:rPr lang="pt-BR" sz="1400" b="1" dirty="0">
                <a:latin typeface="Gill Sans Std" pitchFamily="34" charset="0"/>
              </a:rPr>
              <a:t>atitudes e comportamentos não condizentes</a:t>
            </a:r>
            <a:r>
              <a:rPr lang="pt-BR" sz="1400" dirty="0">
                <a:latin typeface="Gill Sans Std" pitchFamily="34" charset="0"/>
              </a:rPr>
              <a:t> com os objetivos de gerenciamento da </a:t>
            </a:r>
            <a:r>
              <a:rPr lang="pt-BR" sz="1400" dirty="0" smtClean="0">
                <a:latin typeface="Gill Sans Std" pitchFamily="34" charset="0"/>
              </a:rPr>
              <a:t>TD</a:t>
            </a:r>
            <a:endParaRPr lang="pt-BR" sz="1400" dirty="0">
              <a:latin typeface="Gill Sans Std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dirty="0" smtClean="0">
                <a:latin typeface="Gill Sans Std" pitchFamily="34" charset="0"/>
              </a:rPr>
              <a:t>_implantar </a:t>
            </a:r>
            <a:r>
              <a:rPr lang="pt-BR" sz="1400" dirty="0">
                <a:latin typeface="Gill Sans Std" pitchFamily="34" charset="0"/>
              </a:rPr>
              <a:t>e executar práticas e controles para engajamento e responsabilização dos profissionais, estimulando a adesão às práticas de gerenciamento, a </a:t>
            </a:r>
            <a:r>
              <a:rPr lang="pt-BR" sz="1400" b="1" dirty="0">
                <a:latin typeface="Gill Sans Std" pitchFamily="34" charset="0"/>
              </a:rPr>
              <a:t>conformidade inegociável para com os processos definidos e o comprometimento com a qualidade dos serviços da </a:t>
            </a:r>
            <a:r>
              <a:rPr lang="pt-BR" sz="1400" b="1" dirty="0" smtClean="0">
                <a:latin typeface="Gill Sans Std" pitchFamily="34" charset="0"/>
              </a:rPr>
              <a:t>TD</a:t>
            </a:r>
            <a:endParaRPr lang="pt-BR" sz="1400" dirty="0">
              <a:latin typeface="Gill Sans Std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dirty="0" smtClean="0">
                <a:latin typeface="Gill Sans Std" pitchFamily="34" charset="0"/>
              </a:rPr>
              <a:t>_monitorar</a:t>
            </a:r>
            <a:r>
              <a:rPr lang="pt-BR" sz="1400" dirty="0">
                <a:latin typeface="Gill Sans Std" pitchFamily="34" charset="0"/>
              </a:rPr>
              <a:t>, medir e divulgar </a:t>
            </a:r>
            <a:r>
              <a:rPr lang="pt-BR" sz="1400" dirty="0" smtClean="0">
                <a:latin typeface="Gill Sans Std" pitchFamily="34" charset="0"/>
              </a:rPr>
              <a:t>resultados, produzindo </a:t>
            </a:r>
            <a:r>
              <a:rPr lang="pt-BR" sz="1400" b="1" dirty="0" smtClean="0">
                <a:latin typeface="Gill Sans Std" pitchFamily="34" charset="0"/>
              </a:rPr>
              <a:t>indicadores </a:t>
            </a:r>
            <a:r>
              <a:rPr lang="pt-BR" sz="1400" b="1" dirty="0">
                <a:latin typeface="Gill Sans Std" pitchFamily="34" charset="0"/>
              </a:rPr>
              <a:t>que favoreçam uma rápida, precisa e eficaz tomada de </a:t>
            </a:r>
            <a:r>
              <a:rPr lang="pt-BR" sz="1400" b="1" dirty="0" smtClean="0">
                <a:latin typeface="Gill Sans Std" pitchFamily="34" charset="0"/>
              </a:rPr>
              <a:t>decisão</a:t>
            </a:r>
            <a:endParaRPr lang="pt-BR" sz="1400" dirty="0"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986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DESAFIOS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6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81023" y="1358174"/>
            <a:ext cx="33131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2800" b="1" dirty="0">
                <a:solidFill>
                  <a:schemeClr val="accent2"/>
                </a:solidFill>
                <a:latin typeface="Gill Sans Std" pitchFamily="34" charset="0"/>
              </a:rPr>
              <a:t>qualidade e </a:t>
            </a:r>
            <a: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  <a:t>conformidade </a:t>
            </a:r>
            <a:b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</a:br>
            <a: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  <a:t>(</a:t>
            </a:r>
            <a:r>
              <a:rPr lang="pt-BR" sz="2800" b="1" i="1" dirty="0" smtClean="0">
                <a:solidFill>
                  <a:schemeClr val="accent2"/>
                </a:solidFill>
                <a:latin typeface="Gill Sans Std" pitchFamily="34" charset="0"/>
              </a:rPr>
              <a:t>Metrô)</a:t>
            </a:r>
            <a:endParaRPr lang="pt-BR" sz="2800" dirty="0">
              <a:solidFill>
                <a:schemeClr val="accent2"/>
              </a:solidFill>
              <a:latin typeface="Gill Sans Std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299372" y="1219674"/>
            <a:ext cx="4196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2400" b="1" dirty="0">
                <a:solidFill>
                  <a:srgbClr val="00B0F0"/>
                </a:solidFill>
                <a:latin typeface="Gill Sans Std" pitchFamily="34" charset="0"/>
              </a:rPr>
              <a:t>priorização das </a:t>
            </a:r>
            <a: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  <a:t/>
            </a:r>
            <a:b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</a:br>
            <a: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  <a:t>oportunidades de </a:t>
            </a:r>
            <a:r>
              <a:rPr lang="pt-BR" sz="2400" b="1" dirty="0">
                <a:solidFill>
                  <a:srgbClr val="00B0F0"/>
                </a:solidFill>
                <a:latin typeface="Gill Sans Std" pitchFamily="34" charset="0"/>
              </a:rPr>
              <a:t>melhorias</a:t>
            </a:r>
            <a:r>
              <a:rPr lang="pt-BR" sz="2400" dirty="0">
                <a:solidFill>
                  <a:srgbClr val="00B0F0"/>
                </a:solidFill>
                <a:latin typeface="Gill Sans Std" pitchFamily="34" charset="0"/>
              </a:rPr>
              <a:t> </a:t>
            </a:r>
            <a:endParaRPr lang="pt-BR" sz="2400" dirty="0">
              <a:solidFill>
                <a:srgbClr val="00B0F0"/>
              </a:solidFill>
              <a:latin typeface="Gill Sans Std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512137" y="2420003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l">
              <a:spcAft>
                <a:spcPts val="1200"/>
              </a:spcAft>
              <a:tabLst>
                <a:tab pos="1619250" algn="l"/>
                <a:tab pos="7448550" algn="l"/>
              </a:tabLst>
            </a:pPr>
            <a:r>
              <a:rPr lang="pt-BR" sz="3600" b="1" dirty="0">
                <a:solidFill>
                  <a:srgbClr val="CC00FF"/>
                </a:solidFill>
                <a:latin typeface="Gill Sans Std" pitchFamily="34" charset="0"/>
              </a:rPr>
              <a:t>PDCA</a:t>
            </a:r>
            <a:endParaRPr lang="pt-BR" sz="3600" dirty="0">
              <a:solidFill>
                <a:srgbClr val="CC00FF"/>
              </a:solidFill>
              <a:latin typeface="Gill Sans Std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21073" y="33140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3600" b="1" dirty="0">
                <a:solidFill>
                  <a:srgbClr val="FF0000"/>
                </a:solidFill>
                <a:latin typeface="Gill Sans Std" pitchFamily="34" charset="0"/>
              </a:rPr>
              <a:t>atitudes e </a:t>
            </a:r>
            <a:r>
              <a:rPr lang="pt-BR" sz="3600" b="1" dirty="0" smtClean="0">
                <a:solidFill>
                  <a:srgbClr val="FF0000"/>
                </a:solidFill>
                <a:latin typeface="Gill Sans Std" pitchFamily="34" charset="0"/>
              </a:rPr>
              <a:t>comportamentos</a:t>
            </a:r>
            <a:endParaRPr lang="pt-BR" sz="3200" dirty="0"/>
          </a:p>
        </p:txBody>
      </p:sp>
      <p:sp>
        <p:nvSpPr>
          <p:cNvPr id="7" name="Retângulo 6"/>
          <p:cNvSpPr/>
          <p:nvPr/>
        </p:nvSpPr>
        <p:spPr>
          <a:xfrm>
            <a:off x="5322088" y="2359957"/>
            <a:ext cx="262123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800" b="1" dirty="0">
                <a:solidFill>
                  <a:srgbClr val="00B050"/>
                </a:solidFill>
                <a:latin typeface="Gill Sans Std" pitchFamily="34" charset="0"/>
              </a:rPr>
              <a:t>conformidade </a:t>
            </a:r>
            <a: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  <a:t/>
            </a:r>
            <a:b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</a:br>
            <a: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  <a:t>inegociável </a:t>
            </a:r>
            <a:endParaRPr lang="pt-BR" sz="2400" dirty="0"/>
          </a:p>
        </p:txBody>
      </p:sp>
      <p:sp>
        <p:nvSpPr>
          <p:cNvPr id="10" name="Retângulo 9"/>
          <p:cNvSpPr/>
          <p:nvPr/>
        </p:nvSpPr>
        <p:spPr>
          <a:xfrm>
            <a:off x="4893073" y="3467099"/>
            <a:ext cx="309219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600" dirty="0">
                <a:latin typeface="Gill Sans Std" pitchFamily="34" charset="0"/>
              </a:rPr>
              <a:t>	</a:t>
            </a:r>
            <a:r>
              <a:rPr lang="pt-BR" sz="3600" b="1" dirty="0">
                <a:solidFill>
                  <a:srgbClr val="0070C0"/>
                </a:solidFill>
                <a:latin typeface="Gill Sans Std" pitchFamily="34" charset="0"/>
              </a:rPr>
              <a:t>indicadores </a:t>
            </a:r>
            <a: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  <a:t/>
            </a:r>
            <a:b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</a:br>
            <a: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  <a:t>e </a:t>
            </a:r>
            <a:r>
              <a:rPr lang="pt-BR" sz="3600" b="1" dirty="0">
                <a:solidFill>
                  <a:srgbClr val="0070C0"/>
                </a:solidFill>
                <a:latin typeface="Gill Sans Std" pitchFamily="34" charset="0"/>
              </a:rPr>
              <a:t>ação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1368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ABRANGÊNCIA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31" name="Shape 721"/>
          <p:cNvSpPr/>
          <p:nvPr/>
        </p:nvSpPr>
        <p:spPr>
          <a:xfrm flipV="1">
            <a:off x="308113" y="985837"/>
            <a:ext cx="3073262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321073" y="1107232"/>
            <a:ext cx="8499399" cy="3664720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sz="2000" kern="1200" dirty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Diagnóstico e Plano de Ação</a:t>
            </a:r>
          </a:p>
          <a:p>
            <a:pPr algn="just">
              <a:spcAft>
                <a:spcPts val="600"/>
              </a:spcAft>
            </a:pP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_validar hipóteses - entrevistas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, análise de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evidências, observação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da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operação</a:t>
            </a:r>
            <a:endParaRPr lang="pt-BR" sz="18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algn="just">
              <a:spcAft>
                <a:spcPts val="600"/>
              </a:spcAft>
            </a:pP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_análise dos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processos e subprocessos do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Metrô - </a:t>
            </a:r>
            <a:r>
              <a:rPr lang="pt-BR" sz="1800" kern="1200" dirty="0" err="1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GTDs</a:t>
            </a:r>
            <a:endParaRPr lang="pt-BR" sz="18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algn="just">
              <a:spcAft>
                <a:spcPts val="600"/>
              </a:spcAft>
            </a:pP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_análise das áreas: Governança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,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GRPs, Dir. Aplicações, Dir. Infraestrutura, SAP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Global,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OI, BI</a:t>
            </a:r>
            <a:endParaRPr lang="pt-BR" sz="18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algn="just">
              <a:spcAft>
                <a:spcPts val="600"/>
              </a:spcAft>
            </a:pP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_análise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de Riscos e </a:t>
            </a:r>
            <a:r>
              <a:rPr lang="pt-BR" sz="1800" kern="1200" dirty="0" err="1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GAPs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 - estruturais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, processuais,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ferramentais, competências</a:t>
            </a:r>
          </a:p>
          <a:p>
            <a:pPr algn="just">
              <a:spcAft>
                <a:spcPts val="600"/>
              </a:spcAft>
            </a:pP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_elaboração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de Plano de Ação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- </a:t>
            </a:r>
            <a:r>
              <a:rPr lang="pt-BR" sz="1800" i="1" kern="1200" dirty="0" err="1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quick-wins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, ações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de curto e médio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prazo</a:t>
            </a:r>
            <a:endParaRPr lang="pt-BR" sz="18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algn="just">
              <a:spcAft>
                <a:spcPts val="600"/>
              </a:spcAft>
            </a:pP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_transferência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de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conhecimento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- eventos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, palestras e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workshops</a:t>
            </a:r>
          </a:p>
          <a:p>
            <a:pPr algn="just">
              <a:spcAft>
                <a:spcPts val="600"/>
              </a:spcAft>
            </a:pP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_implantação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de conjunto de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indicadores-chave - controle </a:t>
            </a:r>
            <a:r>
              <a:rPr lang="pt-BR" sz="18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essencial das </a:t>
            </a:r>
            <a:r>
              <a:rPr lang="pt-BR" sz="18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operações</a:t>
            </a:r>
          </a:p>
          <a:p>
            <a:pPr algn="ctr">
              <a:spcBef>
                <a:spcPts val="1200"/>
              </a:spcBef>
            </a:pPr>
            <a:r>
              <a:rPr lang="pt-BR" sz="2000" kern="1200" dirty="0" smtClean="0">
                <a:solidFill>
                  <a:schemeClr val="accent1"/>
                </a:solidFill>
                <a:latin typeface="Gill Sans Std" pitchFamily="34" charset="0"/>
                <a:ea typeface="+mn-ea"/>
                <a:cs typeface="Gill Sans Std Light"/>
              </a:rPr>
              <a:t>O </a:t>
            </a:r>
            <a:r>
              <a:rPr lang="pt-BR" sz="2000" kern="1200" dirty="0">
                <a:solidFill>
                  <a:schemeClr val="accent1"/>
                </a:solidFill>
                <a:latin typeface="Gill Sans Std" pitchFamily="34" charset="0"/>
                <a:ea typeface="+mn-ea"/>
                <a:cs typeface="Gill Sans Std Light"/>
              </a:rPr>
              <a:t>principal resultado não é a avaliação, mas sim a</a:t>
            </a:r>
          </a:p>
          <a:p>
            <a:pPr algn="ctr"/>
            <a:r>
              <a:rPr lang="pt-BR" sz="2000" kern="1200" dirty="0">
                <a:solidFill>
                  <a:schemeClr val="accent1"/>
                </a:solidFill>
                <a:latin typeface="Gill Sans Std" pitchFamily="34" charset="0"/>
                <a:ea typeface="+mn-ea"/>
                <a:cs typeface="Gill Sans Std Light"/>
              </a:rPr>
              <a:t>transformação para melhoria contínua dos Serviços da </a:t>
            </a:r>
            <a:r>
              <a:rPr lang="pt-BR" sz="2000" kern="1200" dirty="0" smtClean="0">
                <a:solidFill>
                  <a:schemeClr val="accent1"/>
                </a:solidFill>
                <a:latin typeface="Gill Sans Std" pitchFamily="34" charset="0"/>
                <a:ea typeface="+mn-ea"/>
                <a:cs typeface="Gill Sans Std Light"/>
              </a:rPr>
              <a:t>TD.</a:t>
            </a:r>
            <a:endParaRPr lang="pt-BR" sz="2000" kern="1200" dirty="0">
              <a:solidFill>
                <a:schemeClr val="accent1"/>
              </a:solidFill>
              <a:latin typeface="Gill Sans Std" pitchFamily="34" charset="0"/>
              <a:ea typeface="+mn-ea"/>
              <a:cs typeface="Gill Sans Std Light"/>
            </a:endParaRP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620" y="358929"/>
            <a:ext cx="2090852" cy="113469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>
                <a:alpha val="26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4182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ENTREGAS CHAVE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31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3" name="Line 41"/>
          <p:cNvSpPr>
            <a:spLocks noChangeShapeType="1"/>
          </p:cNvSpPr>
          <p:nvPr/>
        </p:nvSpPr>
        <p:spPr bwMode="auto">
          <a:xfrm>
            <a:off x="744599" y="1939002"/>
            <a:ext cx="7326138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>
              <a:latin typeface="Gill Sans Std" pitchFamily="34" charset="0"/>
            </a:endParaRPr>
          </a:p>
        </p:txBody>
      </p:sp>
      <p:sp>
        <p:nvSpPr>
          <p:cNvPr id="14" name="Line 41"/>
          <p:cNvSpPr>
            <a:spLocks noChangeShapeType="1"/>
          </p:cNvSpPr>
          <p:nvPr/>
        </p:nvSpPr>
        <p:spPr bwMode="auto">
          <a:xfrm>
            <a:off x="744598" y="3654471"/>
            <a:ext cx="7326139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>
              <a:latin typeface="Gill Sans Std" pitchFamily="34" charset="0"/>
            </a:endParaRPr>
          </a:p>
        </p:txBody>
      </p:sp>
      <p:sp>
        <p:nvSpPr>
          <p:cNvPr id="16" name="Line 41"/>
          <p:cNvSpPr>
            <a:spLocks noChangeShapeType="1"/>
          </p:cNvSpPr>
          <p:nvPr/>
        </p:nvSpPr>
        <p:spPr bwMode="auto">
          <a:xfrm>
            <a:off x="744599" y="2742117"/>
            <a:ext cx="7326138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>
              <a:latin typeface="Gill Sans Std" pitchFamily="34" charset="0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gray">
          <a:xfrm>
            <a:off x="1644314" y="1487758"/>
            <a:ext cx="6419620" cy="28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>
                <a:latin typeface="Gill Sans Std" pitchFamily="34" charset="0"/>
              </a:rPr>
              <a:t>Relatório de </a:t>
            </a:r>
            <a:r>
              <a:rPr lang="pt-BR" sz="1600" noProof="1">
                <a:latin typeface="Gill Sans Std" pitchFamily="34" charset="0"/>
              </a:rPr>
              <a:t>Assessment, </a:t>
            </a:r>
            <a:r>
              <a:rPr lang="pt-BR" sz="1600" noProof="1" smtClean="0">
                <a:latin typeface="Gill Sans Std" pitchFamily="34" charset="0"/>
              </a:rPr>
              <a:t>contendo lista </a:t>
            </a:r>
            <a:r>
              <a:rPr lang="pt-BR" sz="1600" noProof="1">
                <a:latin typeface="Gill Sans Std" pitchFamily="34" charset="0"/>
              </a:rPr>
              <a:t>de </a:t>
            </a:r>
            <a:r>
              <a:rPr lang="pt-BR" sz="1600" b="1" noProof="1">
                <a:latin typeface="Gill Sans Std" pitchFamily="34" charset="0"/>
              </a:rPr>
              <a:t>GAPs e </a:t>
            </a:r>
            <a:r>
              <a:rPr lang="pt-BR" sz="1600" b="1" noProof="1" smtClean="0">
                <a:latin typeface="Gill Sans Std" pitchFamily="34" charset="0"/>
              </a:rPr>
              <a:t>Riscos</a:t>
            </a:r>
            <a:endParaRPr lang="pt-BR" sz="1600" b="1" noProof="1">
              <a:latin typeface="Gill Sans Std" pitchFamily="34" charset="0"/>
            </a:endParaRPr>
          </a:p>
          <a:p>
            <a:pPr>
              <a:spcAft>
                <a:spcPct val="20000"/>
              </a:spcAft>
            </a:pPr>
            <a:endParaRPr lang="pt-BR" sz="1600" noProof="1">
              <a:latin typeface="Gill Sans Std" pitchFamily="34" charset="0"/>
            </a:endParaRPr>
          </a:p>
        </p:txBody>
      </p:sp>
      <p:grpSp>
        <p:nvGrpSpPr>
          <p:cNvPr id="19" name="Group 26"/>
          <p:cNvGrpSpPr>
            <a:grpSpLocks/>
          </p:cNvGrpSpPr>
          <p:nvPr/>
        </p:nvGrpSpPr>
        <p:grpSpPr bwMode="auto">
          <a:xfrm>
            <a:off x="1252202" y="1408902"/>
            <a:ext cx="349250" cy="349250"/>
            <a:chOff x="406400" y="3100388"/>
            <a:chExt cx="349250" cy="349250"/>
          </a:xfrm>
        </p:grpSpPr>
        <p:sp>
          <p:nvSpPr>
            <p:cNvPr id="20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Gill Sans Std" pitchFamily="34" charset="0"/>
              </a:endParaRPr>
            </a:p>
          </p:txBody>
        </p:sp>
        <p:sp>
          <p:nvSpPr>
            <p:cNvPr id="21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Gill Sans Std" pitchFamily="34" charset="0"/>
                </a:rPr>
                <a:t>ê</a:t>
              </a:r>
            </a:p>
          </p:txBody>
        </p:sp>
      </p:grpSp>
      <p:grpSp>
        <p:nvGrpSpPr>
          <p:cNvPr id="22" name="Group 27"/>
          <p:cNvGrpSpPr>
            <a:grpSpLocks/>
          </p:cNvGrpSpPr>
          <p:nvPr/>
        </p:nvGrpSpPr>
        <p:grpSpPr bwMode="auto">
          <a:xfrm>
            <a:off x="1229977" y="2182652"/>
            <a:ext cx="349250" cy="349250"/>
            <a:chOff x="406400" y="3100388"/>
            <a:chExt cx="349250" cy="349250"/>
          </a:xfrm>
        </p:grpSpPr>
        <p:sp>
          <p:nvSpPr>
            <p:cNvPr id="23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Gill Sans Std" pitchFamily="34" charset="0"/>
              </a:endParaRPr>
            </a:p>
          </p:txBody>
        </p:sp>
        <p:sp>
          <p:nvSpPr>
            <p:cNvPr id="24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Gill Sans Std" pitchFamily="34" charset="0"/>
                </a:rPr>
                <a:t>ê</a:t>
              </a:r>
            </a:p>
          </p:txBody>
        </p:sp>
      </p:grpSp>
      <p:grpSp>
        <p:nvGrpSpPr>
          <p:cNvPr id="25" name="Group 27"/>
          <p:cNvGrpSpPr>
            <a:grpSpLocks/>
          </p:cNvGrpSpPr>
          <p:nvPr/>
        </p:nvGrpSpPr>
        <p:grpSpPr bwMode="auto">
          <a:xfrm>
            <a:off x="1241902" y="3042024"/>
            <a:ext cx="349250" cy="349250"/>
            <a:chOff x="406400" y="3100388"/>
            <a:chExt cx="349250" cy="349250"/>
          </a:xfrm>
        </p:grpSpPr>
        <p:sp>
          <p:nvSpPr>
            <p:cNvPr id="26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Gill Sans Std" pitchFamily="34" charset="0"/>
              </a:endParaRPr>
            </a:p>
          </p:txBody>
        </p:sp>
        <p:sp>
          <p:nvSpPr>
            <p:cNvPr id="27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Gill Sans Std" pitchFamily="34" charset="0"/>
                </a:rPr>
                <a:t>ê</a:t>
              </a:r>
            </a:p>
          </p:txBody>
        </p:sp>
      </p:grpSp>
      <p:grpSp>
        <p:nvGrpSpPr>
          <p:cNvPr id="32" name="Group 26"/>
          <p:cNvGrpSpPr>
            <a:grpSpLocks/>
          </p:cNvGrpSpPr>
          <p:nvPr/>
        </p:nvGrpSpPr>
        <p:grpSpPr bwMode="auto">
          <a:xfrm>
            <a:off x="1269211" y="3870495"/>
            <a:ext cx="349250" cy="349250"/>
            <a:chOff x="406400" y="3100388"/>
            <a:chExt cx="349250" cy="349250"/>
          </a:xfrm>
        </p:grpSpPr>
        <p:sp>
          <p:nvSpPr>
            <p:cNvPr id="33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Gill Sans Std" pitchFamily="34" charset="0"/>
              </a:endParaRPr>
            </a:p>
          </p:txBody>
        </p:sp>
        <p:sp>
          <p:nvSpPr>
            <p:cNvPr id="34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Gill Sans Std" pitchFamily="34" charset="0"/>
                </a:rPr>
                <a:t>ê</a:t>
              </a:r>
            </a:p>
          </p:txBody>
        </p:sp>
      </p:grpSp>
      <p:sp>
        <p:nvSpPr>
          <p:cNvPr id="35" name="Rectangle 14"/>
          <p:cNvSpPr>
            <a:spLocks noChangeArrowheads="1"/>
          </p:cNvSpPr>
          <p:nvPr/>
        </p:nvSpPr>
        <p:spPr bwMode="gray">
          <a:xfrm>
            <a:off x="1640340" y="3932376"/>
            <a:ext cx="6423593" cy="2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>
                <a:latin typeface="Gill Sans Std" pitchFamily="34" charset="0"/>
              </a:rPr>
              <a:t>Estabelecimento de um </a:t>
            </a:r>
            <a:r>
              <a:rPr lang="pt-BR" sz="1600" b="1" noProof="1" smtClean="0">
                <a:latin typeface="Gill Sans Std" pitchFamily="34" charset="0"/>
              </a:rPr>
              <a:t>processo para melhoria contínua</a:t>
            </a:r>
            <a:endParaRPr lang="pt-BR" sz="1600" noProof="1">
              <a:latin typeface="Gill Sans Std" pitchFamily="34" charset="0"/>
            </a:endParaRP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>
            <a:off x="737796" y="4447317"/>
            <a:ext cx="7326139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>
              <a:latin typeface="Gill Sans Std" pitchFamily="34" charset="0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gray">
          <a:xfrm>
            <a:off x="1652815" y="3103905"/>
            <a:ext cx="6417922" cy="2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b="1" noProof="1" smtClean="0">
                <a:latin typeface="Gill Sans Std" pitchFamily="34" charset="0"/>
              </a:rPr>
              <a:t>Melhorias imediatas</a:t>
            </a:r>
            <a:r>
              <a:rPr lang="pt-BR" sz="1600" noProof="1" smtClean="0">
                <a:latin typeface="Gill Sans Std" pitchFamily="34" charset="0"/>
              </a:rPr>
              <a:t> nas práticas e processos</a:t>
            </a:r>
            <a:endParaRPr lang="pt-BR" sz="1600" noProof="1">
              <a:latin typeface="Gill Sans Std" pitchFamily="34" charset="0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gray">
          <a:xfrm>
            <a:off x="1712209" y="2120599"/>
            <a:ext cx="6358528" cy="621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>
                <a:latin typeface="Gill Sans Std" pitchFamily="34" charset="0"/>
              </a:rPr>
              <a:t>Recomendações para os GAPs e Riscos, estabelecendo</a:t>
            </a:r>
            <a:br>
              <a:rPr lang="pt-BR" sz="1600" noProof="1">
                <a:latin typeface="Gill Sans Std" pitchFamily="34" charset="0"/>
              </a:rPr>
            </a:br>
            <a:r>
              <a:rPr lang="pt-BR" sz="1600" noProof="1">
                <a:latin typeface="Gill Sans Std" pitchFamily="34" charset="0"/>
              </a:rPr>
              <a:t>Prioridade + Prazos + Benefícios + </a:t>
            </a:r>
            <a:r>
              <a:rPr lang="pt-BR" sz="1600" b="1" noProof="1">
                <a:latin typeface="Gill Sans Std" pitchFamily="34" charset="0"/>
              </a:rPr>
              <a:t>Plano de Ação</a:t>
            </a:r>
          </a:p>
        </p:txBody>
      </p:sp>
    </p:spTree>
    <p:extLst>
      <p:ext uri="{BB962C8B-B14F-4D97-AF65-F5344CB8AC3E}">
        <p14:creationId xmlns:p14="http://schemas.microsoft.com/office/powerpoint/2010/main" val="2315643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TIME DE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31" name="Shape 721"/>
          <p:cNvSpPr/>
          <p:nvPr/>
        </p:nvSpPr>
        <p:spPr>
          <a:xfrm flipV="1">
            <a:off x="308113" y="985837"/>
            <a:ext cx="2930387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93" y="674275"/>
            <a:ext cx="6548710" cy="377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864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COMUNICAÇÃO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49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graphicFrame>
        <p:nvGraphicFramePr>
          <p:cNvPr id="50" name="Tabela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143122"/>
              </p:ext>
            </p:extLst>
          </p:nvPr>
        </p:nvGraphicFramePr>
        <p:xfrm>
          <a:off x="308113" y="1571625"/>
          <a:ext cx="8517728" cy="32439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18433"/>
                <a:gridCol w="1617825"/>
                <a:gridCol w="1839312"/>
                <a:gridCol w="1781533"/>
                <a:gridCol w="1960625"/>
              </a:tblGrid>
              <a:tr h="42129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>
                          <a:latin typeface="Gill Sans Std" pitchFamily="34" charset="0"/>
                        </a:rPr>
                        <a:t>O que</a:t>
                      </a:r>
                      <a:endParaRPr lang="pt-BR" sz="1600" dirty="0">
                        <a:latin typeface="Gill Sans St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>
                          <a:latin typeface="Gill Sans Std" pitchFamily="34" charset="0"/>
                        </a:rPr>
                        <a:t>Audiência</a:t>
                      </a:r>
                      <a:endParaRPr lang="pt-BR" sz="1600" dirty="0">
                        <a:latin typeface="Gill Sans St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>
                          <a:latin typeface="Gill Sans Std" pitchFamily="34" charset="0"/>
                        </a:rPr>
                        <a:t>Quem</a:t>
                      </a:r>
                      <a:r>
                        <a:rPr lang="pt-BR" sz="1600" baseline="0" dirty="0" smtClean="0">
                          <a:latin typeface="Gill Sans Std" pitchFamily="34" charset="0"/>
                        </a:rPr>
                        <a:t> comunica</a:t>
                      </a:r>
                      <a:endParaRPr lang="pt-BR" sz="1600" dirty="0">
                        <a:latin typeface="Gill Sans St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>
                          <a:latin typeface="Gill Sans Std" pitchFamily="34" charset="0"/>
                        </a:rPr>
                        <a:t>Como</a:t>
                      </a:r>
                      <a:endParaRPr lang="pt-BR" sz="1600" dirty="0">
                        <a:latin typeface="Gill Sans St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>
                          <a:latin typeface="Gill Sans Std" pitchFamily="34" charset="0"/>
                        </a:rPr>
                        <a:t>Quando</a:t>
                      </a:r>
                      <a:endParaRPr lang="pt-BR" sz="1600" dirty="0">
                        <a:latin typeface="Gill Sans Std" pitchFamily="34" charset="0"/>
                      </a:endParaRPr>
                    </a:p>
                  </a:txBody>
                  <a:tcPr/>
                </a:tc>
              </a:tr>
              <a:tr h="380757"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aseline="0" dirty="0" err="1" smtClean="0">
                          <a:latin typeface="Gill Sans Std" pitchFamily="34" charset="0"/>
                        </a:rPr>
                        <a:t>Awareness</a:t>
                      </a:r>
                      <a:r>
                        <a:rPr lang="pt-BR" sz="1400" baseline="0" dirty="0" smtClean="0">
                          <a:latin typeface="Gill Sans Std" pitchFamily="34" charset="0"/>
                        </a:rPr>
                        <a:t> </a:t>
                      </a:r>
                      <a:br>
                        <a:rPr lang="pt-BR" sz="1400" baseline="0" dirty="0" smtClean="0">
                          <a:latin typeface="Gill Sans Std" pitchFamily="34" charset="0"/>
                        </a:rPr>
                      </a:br>
                      <a:r>
                        <a:rPr lang="pt-BR" sz="1400" baseline="0" dirty="0" smtClean="0">
                          <a:latin typeface="Gill Sans Std" pitchFamily="34" charset="0"/>
                        </a:rPr>
                        <a:t>do Projeto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Toda TD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Agenor Leão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E-mail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Go-Live do projeto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</a:tr>
              <a:tr h="636220">
                <a:tc vMerge="1">
                  <a:txBody>
                    <a:bodyPr/>
                    <a:lstStyle/>
                    <a:p>
                      <a:pPr algn="ctr"/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latin typeface="Gill Sans Std" pitchFamily="34" charset="0"/>
                        </a:rPr>
                        <a:t>Henrique Gherardi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Pessoalmente. Encontro TD</a:t>
                      </a:r>
                      <a:r>
                        <a:rPr lang="pt-BR" sz="1400" baseline="0" dirty="0" smtClean="0">
                          <a:latin typeface="Gill Sans Std" pitchFamily="34" charset="0"/>
                        </a:rPr>
                        <a:t> </a:t>
                      </a:r>
                      <a:r>
                        <a:rPr lang="pt-BR" sz="1400" dirty="0" smtClean="0">
                          <a:latin typeface="Gill Sans Std" pitchFamily="34" charset="0"/>
                        </a:rPr>
                        <a:t>(trimestral)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Julho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</a:tr>
              <a:tr h="47747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Status Report</a:t>
                      </a:r>
                      <a:endParaRPr lang="pt-BR" sz="1400" i="1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>
                          <a:latin typeface="Gill Sans Std" pitchFamily="34" charset="0"/>
                        </a:rPr>
                        <a:t>Steering</a:t>
                      </a:r>
                      <a:r>
                        <a:rPr lang="pt-BR" sz="1400" dirty="0" smtClean="0">
                          <a:latin typeface="Gill Sans Std" pitchFamily="34" charset="0"/>
                        </a:rPr>
                        <a:t> </a:t>
                      </a:r>
                      <a:br>
                        <a:rPr lang="pt-BR" sz="1400" dirty="0" smtClean="0">
                          <a:latin typeface="Gill Sans Std" pitchFamily="34" charset="0"/>
                        </a:rPr>
                      </a:br>
                      <a:r>
                        <a:rPr lang="pt-BR" sz="1400" dirty="0" err="1" smtClean="0">
                          <a:latin typeface="Gill Sans Std" pitchFamily="34" charset="0"/>
                        </a:rPr>
                        <a:t>Committee</a:t>
                      </a:r>
                      <a:endParaRPr lang="pt-BR" sz="1400" i="1" dirty="0" smtClean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latin typeface="Gill Sans Std" pitchFamily="34" charset="0"/>
                        </a:rPr>
                        <a:t>GP:</a:t>
                      </a:r>
                      <a:r>
                        <a:rPr lang="pt-BR" sz="1400" baseline="0" dirty="0" smtClean="0">
                          <a:latin typeface="Gill Sans Std" pitchFamily="34" charset="0"/>
                        </a:rPr>
                        <a:t> </a:t>
                      </a:r>
                      <a:r>
                        <a:rPr lang="pt-BR" sz="1400" dirty="0" smtClean="0">
                          <a:latin typeface="Gill Sans Std" pitchFamily="34" charset="0"/>
                        </a:rPr>
                        <a:t>Marcus Marques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E-mail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Semanalmente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</a:tr>
              <a:tr h="674077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err="1" smtClean="0">
                          <a:latin typeface="Gill Sans Std" pitchFamily="34" charset="0"/>
                        </a:rPr>
                        <a:t>Buy</a:t>
                      </a:r>
                      <a:r>
                        <a:rPr lang="pt-BR" sz="1400" dirty="0" smtClean="0">
                          <a:latin typeface="Gill Sans Std" pitchFamily="34" charset="0"/>
                        </a:rPr>
                        <a:t>-In</a:t>
                      </a:r>
                      <a:endParaRPr lang="pt-BR" sz="1400" i="1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Analistas e Coordenadores 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latin typeface="Gill Sans Std" pitchFamily="34" charset="0"/>
                        </a:rPr>
                        <a:t>Marcus Marques / Adolpho Chacon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Workshop - Game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latin typeface="Gill Sans Std" pitchFamily="34" charset="0"/>
                        </a:rPr>
                        <a:t>Go-Live do projeto</a:t>
                      </a:r>
                    </a:p>
                    <a:p>
                      <a:pPr algn="ctr"/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</a:tr>
              <a:tr h="47747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Status </a:t>
                      </a:r>
                      <a:r>
                        <a:rPr lang="pt-BR" sz="1400" dirty="0" err="1" smtClean="0">
                          <a:latin typeface="Gill Sans Std" pitchFamily="34" charset="0"/>
                        </a:rPr>
                        <a:t>Report</a:t>
                      </a:r>
                      <a:endParaRPr lang="pt-BR" sz="1400" i="1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Time</a:t>
                      </a:r>
                      <a:r>
                        <a:rPr lang="pt-BR" sz="1400" baseline="0" dirty="0" smtClean="0">
                          <a:latin typeface="Gill Sans Std" pitchFamily="34" charset="0"/>
                        </a:rPr>
                        <a:t> do </a:t>
                      </a:r>
                      <a:br>
                        <a:rPr lang="pt-BR" sz="1400" baseline="0" dirty="0" smtClean="0">
                          <a:latin typeface="Gill Sans Std" pitchFamily="34" charset="0"/>
                        </a:rPr>
                      </a:br>
                      <a:r>
                        <a:rPr lang="pt-BR" sz="1400" baseline="0" dirty="0" smtClean="0">
                          <a:latin typeface="Gill Sans Std" pitchFamily="34" charset="0"/>
                        </a:rPr>
                        <a:t>Projeto</a:t>
                      </a:r>
                      <a:endParaRPr lang="pt-BR" sz="1400" dirty="0" smtClean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>
                          <a:latin typeface="Gill Sans Std" pitchFamily="34" charset="0"/>
                        </a:rPr>
                        <a:t>Marcus Marques / Adolpho Chacon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Apresentação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latin typeface="Gill Sans Std" pitchFamily="34" charset="0"/>
                        </a:rPr>
                        <a:t>Quinzenal</a:t>
                      </a:r>
                      <a:endParaRPr lang="pt-BR" sz="1400" dirty="0">
                        <a:latin typeface="Gill Sans Std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1" name="Text Placeholder 17"/>
          <p:cNvSpPr txBox="1">
            <a:spLocks/>
          </p:cNvSpPr>
          <p:nvPr/>
        </p:nvSpPr>
        <p:spPr>
          <a:xfrm>
            <a:off x="321073" y="1107786"/>
            <a:ext cx="8470824" cy="41621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smtClean="0"/>
              <a:t>Fundamental! E ao longo do projeto todo, com alguns destaques: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926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TIMELINE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722313" y="1526837"/>
            <a:ext cx="7591425" cy="2845907"/>
            <a:chOff x="3501" y="1427"/>
            <a:chExt cx="8298" cy="6208"/>
          </a:xfrm>
        </p:grpSpPr>
        <p:sp>
          <p:nvSpPr>
            <p:cNvPr id="16" name="AutoShape 10"/>
            <p:cNvSpPr>
              <a:spLocks noChangeAspect="1" noChangeArrowheads="1"/>
            </p:cNvSpPr>
            <p:nvPr/>
          </p:nvSpPr>
          <p:spPr bwMode="auto">
            <a:xfrm>
              <a:off x="3501" y="1427"/>
              <a:ext cx="8298" cy="6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682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2">
              <a:hlinkClick r:id="" action="ppaction://noaction"/>
            </p:cNvPr>
            <p:cNvSpPr>
              <a:spLocks noChangeArrowheads="1"/>
            </p:cNvSpPr>
            <p:nvPr/>
          </p:nvSpPr>
          <p:spPr bwMode="auto">
            <a:xfrm>
              <a:off x="8541" y="1427"/>
              <a:ext cx="1620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10161" y="1427"/>
              <a:ext cx="1638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520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501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700088" y="1526839"/>
            <a:ext cx="415528" cy="2845914"/>
            <a:chOff x="1248" y="768"/>
            <a:chExt cx="192" cy="3216"/>
          </a:xfrm>
        </p:grpSpPr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AutoShape 2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Line 23"/>
          <p:cNvSpPr>
            <a:spLocks noChangeShapeType="1"/>
          </p:cNvSpPr>
          <p:nvPr/>
        </p:nvSpPr>
        <p:spPr bwMode="auto">
          <a:xfrm flipH="1">
            <a:off x="1509712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3064786" y="1504105"/>
            <a:ext cx="10202" cy="2982145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4598989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Line 26"/>
          <p:cNvSpPr>
            <a:spLocks noChangeShapeType="1"/>
          </p:cNvSpPr>
          <p:nvPr/>
        </p:nvSpPr>
        <p:spPr bwMode="auto">
          <a:xfrm>
            <a:off x="6074185" y="1526837"/>
            <a:ext cx="10703" cy="295941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7600156" y="1526837"/>
            <a:ext cx="23019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AutoShape 29"/>
          <p:cNvSpPr>
            <a:spLocks noChangeArrowheads="1"/>
          </p:cNvSpPr>
          <p:nvPr/>
        </p:nvSpPr>
        <p:spPr bwMode="auto">
          <a:xfrm>
            <a:off x="1023007" y="1933687"/>
            <a:ext cx="1255465" cy="311150"/>
          </a:xfrm>
          <a:prstGeom prst="homePlate">
            <a:avLst>
              <a:gd name="adj" fmla="val 20998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Planejamento</a:t>
            </a: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 e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 </a:t>
            </a:r>
            <a:r>
              <a:rPr kumimoji="0" lang="en-US" sz="1100" b="1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Estratégia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" pitchFamily="34" charset="0"/>
            </a:endParaRPr>
          </a:p>
        </p:txBody>
      </p:sp>
      <p:sp>
        <p:nvSpPr>
          <p:cNvPr id="35" name="AutoShape 31"/>
          <p:cNvSpPr>
            <a:spLocks noChangeArrowheads="1"/>
          </p:cNvSpPr>
          <p:nvPr/>
        </p:nvSpPr>
        <p:spPr bwMode="auto">
          <a:xfrm>
            <a:off x="1508626" y="2354998"/>
            <a:ext cx="3567430" cy="217545"/>
          </a:xfrm>
          <a:prstGeom prst="homePlate">
            <a:avLst>
              <a:gd name="adj" fmla="val 37959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Assessment</a:t>
            </a:r>
          </a:p>
        </p:txBody>
      </p:sp>
      <p:grpSp>
        <p:nvGrpSpPr>
          <p:cNvPr id="36" name="Group 40"/>
          <p:cNvGrpSpPr>
            <a:grpSpLocks/>
          </p:cNvGrpSpPr>
          <p:nvPr/>
        </p:nvGrpSpPr>
        <p:grpSpPr bwMode="auto">
          <a:xfrm>
            <a:off x="8085138" y="1526837"/>
            <a:ext cx="192087" cy="2845907"/>
            <a:chOff x="1248" y="768"/>
            <a:chExt cx="192" cy="3216"/>
          </a:xfrm>
        </p:grpSpPr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722313" y="4372744"/>
            <a:ext cx="7597775" cy="227012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50000">
                <a:srgbClr val="FFEAE5"/>
              </a:gs>
              <a:gs pos="100000">
                <a:srgbClr val="FF3300"/>
              </a:gs>
            </a:gsLst>
            <a:lin ang="5400000" scaled="1"/>
          </a:gradFill>
          <a:ln w="9525">
            <a:solidFill>
              <a:srgbClr val="69626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  <a:cs typeface="Arial" pitchFamily="34" charset="0"/>
              </a:rPr>
              <a:t>10 semanas</a:t>
            </a:r>
          </a:p>
        </p:txBody>
      </p:sp>
      <p:sp>
        <p:nvSpPr>
          <p:cNvPr id="40" name="AutoShape 28"/>
          <p:cNvSpPr>
            <a:spLocks noChangeArrowheads="1"/>
          </p:cNvSpPr>
          <p:nvPr/>
        </p:nvSpPr>
        <p:spPr bwMode="auto">
          <a:xfrm>
            <a:off x="1023007" y="1670387"/>
            <a:ext cx="7062132" cy="208756"/>
          </a:xfrm>
          <a:prstGeom prst="homePlate">
            <a:avLst>
              <a:gd name="adj" fmla="val 59781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Gestão do Projeto</a:t>
            </a:r>
          </a:p>
        </p:txBody>
      </p:sp>
      <p:sp>
        <p:nvSpPr>
          <p:cNvPr id="41" name="AutoShape 32"/>
          <p:cNvSpPr>
            <a:spLocks noChangeArrowheads="1"/>
          </p:cNvSpPr>
          <p:nvPr/>
        </p:nvSpPr>
        <p:spPr bwMode="auto">
          <a:xfrm>
            <a:off x="3851099" y="2801392"/>
            <a:ext cx="3457205" cy="317052"/>
          </a:xfrm>
          <a:prstGeom prst="homePlate">
            <a:avLst>
              <a:gd name="adj" fmla="val 74036"/>
            </a:avLst>
          </a:prstGeom>
          <a:gradFill rotWithShape="0">
            <a:gsLst>
              <a:gs pos="0">
                <a:srgbClr val="E4720A"/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en-US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Plano de </a:t>
            </a:r>
            <a:r>
              <a:rPr lang="en-US" sz="1100" b="1" kern="0" dirty="0" err="1">
                <a:solidFill>
                  <a:sysClr val="windowText" lastClr="000000"/>
                </a:solidFill>
                <a:latin typeface="Gill Sans Std" pitchFamily="34" charset="0"/>
              </a:rPr>
              <a:t>Ação</a:t>
            </a:r>
            <a:endParaRPr lang="en-US" sz="1100" b="1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sp>
        <p:nvSpPr>
          <p:cNvPr id="42" name="AutoShape 34"/>
          <p:cNvSpPr>
            <a:spLocks noChangeArrowheads="1"/>
          </p:cNvSpPr>
          <p:nvPr/>
        </p:nvSpPr>
        <p:spPr bwMode="auto">
          <a:xfrm>
            <a:off x="6130057" y="3724672"/>
            <a:ext cx="1538287" cy="404813"/>
          </a:xfrm>
          <a:prstGeom prst="homePlate">
            <a:avLst>
              <a:gd name="adj" fmla="val 36099"/>
            </a:avLst>
          </a:prstGeom>
          <a:gradFill rotWithShape="0">
            <a:gsLst>
              <a:gs pos="0">
                <a:srgbClr val="00FF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lvl="0" algn="ctr">
              <a:lnSpc>
                <a:spcPct val="90000"/>
              </a:lnSpc>
            </a:pPr>
            <a:r>
              <a:rPr lang="pt-BR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Workshop </a:t>
            </a:r>
            <a:r>
              <a:rPr lang="pt-BR" sz="1100" b="1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- </a:t>
            </a:r>
            <a:r>
              <a:rPr lang="pt-BR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Processo de Melhoria </a:t>
            </a:r>
            <a:r>
              <a:rPr lang="pt-BR" sz="1100" b="1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Contínua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" pitchFamily="34" charset="0"/>
            </a:endParaRPr>
          </a:p>
        </p:txBody>
      </p:sp>
      <p:sp>
        <p:nvSpPr>
          <p:cNvPr id="43" name="TextBox 29"/>
          <p:cNvSpPr txBox="1">
            <a:spLocks noChangeArrowheads="1"/>
          </p:cNvSpPr>
          <p:nvPr/>
        </p:nvSpPr>
        <p:spPr bwMode="auto">
          <a:xfrm>
            <a:off x="375444" y="1211718"/>
            <a:ext cx="134458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09/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Jun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/2015</a:t>
            </a:r>
          </a:p>
        </p:txBody>
      </p:sp>
      <p:sp>
        <p:nvSpPr>
          <p:cNvPr id="44" name="TextBox 30"/>
          <p:cNvSpPr txBox="1">
            <a:spLocks noChangeArrowheads="1"/>
          </p:cNvSpPr>
          <p:nvPr/>
        </p:nvSpPr>
        <p:spPr bwMode="auto">
          <a:xfrm>
            <a:off x="7546181" y="1195049"/>
            <a:ext cx="120228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18/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Ago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/2015</a:t>
            </a:r>
          </a:p>
        </p:txBody>
      </p:sp>
      <p:sp>
        <p:nvSpPr>
          <p:cNvPr id="45" name="Texto explicativo retangular 44"/>
          <p:cNvSpPr/>
          <p:nvPr/>
        </p:nvSpPr>
        <p:spPr>
          <a:xfrm>
            <a:off x="4013969" y="1996480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Riscos e </a:t>
            </a:r>
            <a:r>
              <a:rPr lang="pt-BR" sz="1050" kern="0" dirty="0" err="1" smtClean="0">
                <a:solidFill>
                  <a:sysClr val="windowText" lastClr="000000"/>
                </a:solidFill>
                <a:latin typeface="Gill Sans Std" pitchFamily="34" charset="0"/>
              </a:rPr>
              <a:t>GAPs</a:t>
            </a:r>
            <a:endParaRPr lang="pt-BR" sz="1050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sp>
        <p:nvSpPr>
          <p:cNvPr id="46" name="Texto explicativo retangular 45"/>
          <p:cNvSpPr/>
          <p:nvPr/>
        </p:nvSpPr>
        <p:spPr>
          <a:xfrm>
            <a:off x="4829101" y="2414617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i="1" kern="0" dirty="0" err="1">
                <a:solidFill>
                  <a:sysClr val="windowText" lastClr="000000"/>
                </a:solidFill>
                <a:latin typeface="Gill Sans Std" pitchFamily="34" charset="0"/>
              </a:rPr>
              <a:t>Quick-Wins</a:t>
            </a:r>
            <a:r>
              <a:rPr lang="pt-BR" sz="1050" i="1" kern="0" dirty="0">
                <a:solidFill>
                  <a:sysClr val="windowText" lastClr="000000"/>
                </a:solidFill>
                <a:latin typeface="Gill Sans Std" pitchFamily="34" charset="0"/>
              </a:rPr>
              <a:t>!</a:t>
            </a:r>
          </a:p>
        </p:txBody>
      </p:sp>
      <p:sp>
        <p:nvSpPr>
          <p:cNvPr id="47" name="Texto explicativo retangular 46"/>
          <p:cNvSpPr/>
          <p:nvPr/>
        </p:nvSpPr>
        <p:spPr>
          <a:xfrm>
            <a:off x="5543697" y="3170903"/>
            <a:ext cx="1008112" cy="265737"/>
          </a:xfrm>
          <a:prstGeom prst="wedgeRectCallout">
            <a:avLst>
              <a:gd name="adj1" fmla="val -24612"/>
              <a:gd name="adj2" fmla="val -88044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Indicadores</a:t>
            </a:r>
            <a:endParaRPr lang="pt-BR" sz="1050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cxnSp>
        <p:nvCxnSpPr>
          <p:cNvPr id="4" name="Conector reto 3"/>
          <p:cNvCxnSpPr/>
          <p:nvPr/>
        </p:nvCxnSpPr>
        <p:spPr>
          <a:xfrm>
            <a:off x="2297522" y="1211718"/>
            <a:ext cx="0" cy="3598407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29"/>
          <p:cNvSpPr txBox="1">
            <a:spLocks noChangeArrowheads="1"/>
          </p:cNvSpPr>
          <p:nvPr/>
        </p:nvSpPr>
        <p:spPr bwMode="auto">
          <a:xfrm>
            <a:off x="2315224" y="1009479"/>
            <a:ext cx="134458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Lançamento do Projeto</a:t>
            </a:r>
          </a:p>
        </p:txBody>
      </p:sp>
      <p:sp>
        <p:nvSpPr>
          <p:cNvPr id="49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7462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1064439" y="3996408"/>
            <a:ext cx="7030996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/>
              <a:t>e </a:t>
            </a:r>
            <a:r>
              <a:rPr lang="pt-BR" dirty="0" smtClean="0"/>
              <a:t>fale com a gente já hoje </a:t>
            </a:r>
            <a:br>
              <a:rPr lang="pt-BR" dirty="0" smtClean="0"/>
            </a:br>
            <a:r>
              <a:rPr lang="pt-BR" dirty="0" smtClean="0"/>
              <a:t>para agendar uma conversa - marcusmarques@natura.net</a:t>
            </a:r>
            <a:endParaRPr lang="pt-BR" dirty="0"/>
          </a:p>
        </p:txBody>
      </p:sp>
      <p:sp>
        <p:nvSpPr>
          <p:cNvPr id="5" name="Shape 721"/>
          <p:cNvSpPr/>
          <p:nvPr/>
        </p:nvSpPr>
        <p:spPr>
          <a:xfrm>
            <a:off x="308113" y="985837"/>
            <a:ext cx="2780835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CONVERSAS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13" name="Picture 2" descr="http://www.nitmantiqueira.org.br/portal/images/noticias/event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96" y="512762"/>
            <a:ext cx="3716304" cy="357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upo 13"/>
          <p:cNvGrpSpPr/>
          <p:nvPr/>
        </p:nvGrpSpPr>
        <p:grpSpPr>
          <a:xfrm>
            <a:off x="1150474" y="751817"/>
            <a:ext cx="2583304" cy="3239990"/>
            <a:chOff x="1423289" y="1152878"/>
            <a:chExt cx="2985213" cy="3673959"/>
          </a:xfrm>
        </p:grpSpPr>
        <p:pic>
          <p:nvPicPr>
            <p:cNvPr id="16" name="Picture 2" descr="http://apub.org.br/wp-content/uploads/2012/04/CARIMBO-CONFIDENCIAL1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90065">
              <a:off x="1423289" y="2007666"/>
              <a:ext cx="2985213" cy="2173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tângulo 17"/>
            <p:cNvSpPr/>
            <p:nvPr/>
          </p:nvSpPr>
          <p:spPr>
            <a:xfrm rot="18858517">
              <a:off x="618995" y="2723112"/>
              <a:ext cx="3673959" cy="53349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defTabSz="1088369"/>
              <a:r>
                <a:rPr lang="pt-BR" sz="2400" b="1" dirty="0" smtClean="0">
                  <a:solidFill>
                    <a:srgbClr val="BE3A2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tencil" panose="040409050D0802020404" pitchFamily="82" charset="0"/>
                </a:rPr>
                <a:t>Escolha u data</a:t>
              </a:r>
              <a:r>
                <a:rPr lang="pt-BR" sz="2400" b="1" dirty="0">
                  <a:solidFill>
                    <a:srgbClr val="BE3A2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tencil" panose="040409050D0802020404" pitchFamily="82" charset="0"/>
                </a:rPr>
                <a:t>! </a:t>
              </a:r>
              <a:r>
                <a:rPr lang="pt-BR" sz="2400" b="1" dirty="0" err="1">
                  <a:solidFill>
                    <a:srgbClr val="BE3A2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tencil" panose="040409050D0802020404" pitchFamily="82" charset="0"/>
                </a:rPr>
                <a:t>ma</a:t>
              </a:r>
              <a:endParaRPr lang="pt-BR" sz="2400" b="1" dirty="0">
                <a:solidFill>
                  <a:srgbClr val="BE3A2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3307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>
            <a:off x="308113" y="985837"/>
            <a:ext cx="2377937" cy="3176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 smtClean="0">
                <a:latin typeface="Gill Sans Std Light" pitchFamily="34" charset="0"/>
              </a:rPr>
              <a:t>#TAMOJUNTO</a:t>
            </a:r>
            <a:endParaRPr lang="en-US" sz="2800" dirty="0" smtClean="0">
              <a:latin typeface="Gill Sans Std Light" pitchFamily="34" charset="0"/>
            </a:endParaRP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13" name="Espaço Reservado para Conteúdo 4" descr="Barco furado 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80232" y="512763"/>
            <a:ext cx="5776346" cy="43179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4" name="Texto explicativo em elipse 13"/>
          <p:cNvSpPr/>
          <p:nvPr/>
        </p:nvSpPr>
        <p:spPr bwMode="auto">
          <a:xfrm>
            <a:off x="6315477" y="561197"/>
            <a:ext cx="2304256" cy="1647653"/>
          </a:xfrm>
          <a:prstGeom prst="wedgeEllipseCallout">
            <a:avLst>
              <a:gd name="adj1" fmla="val -51996"/>
              <a:gd name="adj2" fmla="val 5528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Mas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eu não </a:t>
            </a: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tenho</a:t>
            </a:r>
          </a:p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nada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com </a:t>
            </a: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isso.</a:t>
            </a:r>
          </a:p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O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FURO É DO SEU</a:t>
            </a:r>
          </a:p>
          <a:p>
            <a:pPr algn="ctr">
              <a:defRPr/>
            </a:pP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LADO DO BARCO!</a:t>
            </a:r>
          </a:p>
        </p:txBody>
      </p:sp>
      <p:sp>
        <p:nvSpPr>
          <p:cNvPr id="16" name="Texto explicativo em elipse 15"/>
          <p:cNvSpPr/>
          <p:nvPr/>
        </p:nvSpPr>
        <p:spPr bwMode="auto">
          <a:xfrm>
            <a:off x="3102521" y="797362"/>
            <a:ext cx="1928812" cy="1428750"/>
          </a:xfrm>
          <a:prstGeom prst="wedgeEllipseCallout">
            <a:avLst>
              <a:gd name="adj1" fmla="val 77945"/>
              <a:gd name="adj2" fmla="val 594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Me ajuda.</a:t>
            </a:r>
            <a:b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</a:b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Precisamos sair</a:t>
            </a:r>
            <a:b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</a:b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dessa</a:t>
            </a:r>
          </a:p>
          <a:p>
            <a:pPr algn="ctr">
              <a:defRPr/>
            </a:pPr>
            <a:r>
              <a:rPr lang="pt-BR" sz="1600" b="1" dirty="0">
                <a:solidFill>
                  <a:schemeClr val="accent5"/>
                </a:solidFill>
                <a:latin typeface="Gill Sans Std Light" pitchFamily="34" charset="0"/>
              </a:rPr>
              <a:t>s</a:t>
            </a:r>
            <a:r>
              <a:rPr lang="pt-BR" sz="1600" b="1" dirty="0" smtClean="0">
                <a:solidFill>
                  <a:schemeClr val="accent5"/>
                </a:solidFill>
                <a:latin typeface="Gill Sans Std Light" pitchFamily="34" charset="0"/>
              </a:rPr>
              <a:t>ituação!</a:t>
            </a:r>
            <a:endParaRPr lang="pt-BR" sz="1400" b="1" dirty="0">
              <a:solidFill>
                <a:schemeClr val="accent5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90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2900665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OBRIGADO!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32" name="Picture 15" descr="NAT_marca_laranja_natura-0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554" y="1424925"/>
            <a:ext cx="1158181" cy="1057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778" y="1052239"/>
            <a:ext cx="3723138" cy="1622675"/>
          </a:xfrm>
          <a:prstGeom prst="rect">
            <a:avLst/>
          </a:prstGeom>
        </p:spPr>
      </p:pic>
      <p:sp>
        <p:nvSpPr>
          <p:cNvPr id="29" name="Retângulo 28"/>
          <p:cNvSpPr/>
          <p:nvPr/>
        </p:nvSpPr>
        <p:spPr>
          <a:xfrm>
            <a:off x="3208778" y="3502310"/>
            <a:ext cx="2321469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#pegaprasi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792252" y="3028946"/>
            <a:ext cx="2509020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#tamojunto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4572000" y="3022311"/>
            <a:ext cx="3627917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#foconoresultado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2046762" y="4346695"/>
            <a:ext cx="30235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semmelindre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210471" y="3794697"/>
            <a:ext cx="2893742" cy="58477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menosémais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5028157" y="3944023"/>
            <a:ext cx="37337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promessaédívida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06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599854"/>
            <a:ext cx="6654009" cy="4216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hape 721"/>
          <p:cNvSpPr/>
          <p:nvPr/>
        </p:nvSpPr>
        <p:spPr>
          <a:xfrm flipV="1">
            <a:off x="308114" y="984459"/>
            <a:ext cx="1320662" cy="1377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MAPA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Lançamento</a:t>
            </a:r>
            <a:r>
              <a:rPr lang="en-US" dirty="0" smtClean="0"/>
              <a:t> do Projeto _ 18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25" name="Line 8"/>
          <p:cNvSpPr>
            <a:spLocks noChangeShapeType="1"/>
          </p:cNvSpPr>
          <p:nvPr/>
        </p:nvSpPr>
        <p:spPr bwMode="auto">
          <a:xfrm>
            <a:off x="4529138" y="1324469"/>
            <a:ext cx="0" cy="647900"/>
          </a:xfrm>
          <a:prstGeom prst="line">
            <a:avLst/>
          </a:prstGeom>
          <a:noFill/>
          <a:ln w="28575">
            <a:solidFill>
              <a:srgbClr val="1F497D">
                <a:lumMod val="75000"/>
              </a:srgbClr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Line 9"/>
          <p:cNvSpPr>
            <a:spLocks noChangeShapeType="1"/>
          </p:cNvSpPr>
          <p:nvPr/>
        </p:nvSpPr>
        <p:spPr bwMode="auto">
          <a:xfrm>
            <a:off x="4526760" y="2522028"/>
            <a:ext cx="0" cy="550528"/>
          </a:xfrm>
          <a:prstGeom prst="line">
            <a:avLst/>
          </a:prstGeom>
          <a:noFill/>
          <a:ln w="28575">
            <a:solidFill>
              <a:srgbClr val="1F497D">
                <a:lumMod val="75000"/>
              </a:srgbClr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4122225" y="1754419"/>
            <a:ext cx="80906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</a:rPr>
              <a:t>Team Leader</a:t>
            </a:r>
            <a:endParaRPr kumimoji="0" lang="pt-BR" sz="12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</a:endParaRPr>
          </a:p>
        </p:txBody>
      </p:sp>
      <p:sp>
        <p:nvSpPr>
          <p:cNvPr id="39" name="Line 13"/>
          <p:cNvSpPr>
            <a:spLocks noChangeShapeType="1"/>
          </p:cNvSpPr>
          <p:nvPr/>
        </p:nvSpPr>
        <p:spPr bwMode="auto">
          <a:xfrm flipV="1">
            <a:off x="2987518" y="2485092"/>
            <a:ext cx="820896" cy="1011276"/>
          </a:xfrm>
          <a:prstGeom prst="line">
            <a:avLst/>
          </a:prstGeom>
          <a:noFill/>
          <a:ln w="9525">
            <a:solidFill>
              <a:srgbClr val="1F497D">
                <a:lumMod val="75000"/>
              </a:srgbClr>
            </a:solidFill>
            <a:prstDash val="dash"/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" name="Line 14"/>
          <p:cNvSpPr>
            <a:spLocks noChangeShapeType="1"/>
          </p:cNvSpPr>
          <p:nvPr/>
        </p:nvSpPr>
        <p:spPr bwMode="auto">
          <a:xfrm>
            <a:off x="3376439" y="1901537"/>
            <a:ext cx="431974" cy="394783"/>
          </a:xfrm>
          <a:prstGeom prst="line">
            <a:avLst/>
          </a:prstGeom>
          <a:noFill/>
          <a:ln w="28575">
            <a:solidFill>
              <a:srgbClr val="1F497D">
                <a:lumMod val="75000"/>
              </a:srgbClr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Rectangle 15"/>
          <p:cNvSpPr>
            <a:spLocks noChangeArrowheads="1"/>
          </p:cNvSpPr>
          <p:nvPr/>
        </p:nvSpPr>
        <p:spPr bwMode="auto">
          <a:xfrm>
            <a:off x="1868333" y="3408698"/>
            <a:ext cx="1305872" cy="377545"/>
          </a:xfrm>
          <a:prstGeom prst="rect">
            <a:avLst/>
          </a:prstGeom>
          <a:solidFill>
            <a:srgbClr val="0070C0"/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1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  <a:cs typeface="+mn-cs"/>
              </a:rPr>
              <a:t>QA </a:t>
            </a:r>
            <a:endParaRPr kumimoji="0" lang="pt-BR" sz="6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ea typeface="ヒラギノ角ゴ Pro W3" pitchFamily="1" charset="-128"/>
              <a:cs typeface="+mn-cs"/>
            </a:endParaRPr>
          </a:p>
        </p:txBody>
      </p:sp>
      <p:sp>
        <p:nvSpPr>
          <p:cNvPr id="42" name="Rectangle 16"/>
          <p:cNvSpPr>
            <a:spLocks noChangeArrowheads="1"/>
          </p:cNvSpPr>
          <p:nvPr/>
        </p:nvSpPr>
        <p:spPr bwMode="auto">
          <a:xfrm>
            <a:off x="1869587" y="3815686"/>
            <a:ext cx="1304618" cy="594305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1F497D"/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Antonio</a:t>
            </a: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Rodrigues - 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Consultor externo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3" name="Rectangle 17"/>
          <p:cNvSpPr>
            <a:spLocks noChangeArrowheads="1"/>
          </p:cNvSpPr>
          <p:nvPr/>
        </p:nvSpPr>
        <p:spPr bwMode="auto">
          <a:xfrm>
            <a:off x="3808416" y="1593635"/>
            <a:ext cx="1584325" cy="540711"/>
          </a:xfrm>
          <a:prstGeom prst="rect">
            <a:avLst/>
          </a:prstGeom>
          <a:solidFill>
            <a:srgbClr val="1F497D">
              <a:lumMod val="50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Project Manager </a:t>
            </a:r>
            <a:r>
              <a:rPr kumimoji="0" lang="pt-BR" sz="6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Criação de plano de trabalho, controle e verificação de escopo e gestão do progresso  e entrega do projeto</a:t>
            </a:r>
            <a:endParaRPr kumimoji="0" lang="pt-BR" sz="6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4" name="Rectangle 18"/>
          <p:cNvSpPr>
            <a:spLocks noChangeArrowheads="1"/>
          </p:cNvSpPr>
          <p:nvPr/>
        </p:nvSpPr>
        <p:spPr bwMode="auto">
          <a:xfrm>
            <a:off x="3808413" y="2145080"/>
            <a:ext cx="1582737" cy="515982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1F497D">
                <a:lumMod val="5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 anchor="ctr" anchorCtr="0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Marcus Marques – Natura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Adolpho Chacon - Consultoria</a:t>
            </a: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5" name="Rectangle 21"/>
          <p:cNvSpPr>
            <a:spLocks noChangeArrowheads="1"/>
          </p:cNvSpPr>
          <p:nvPr/>
        </p:nvSpPr>
        <p:spPr bwMode="auto">
          <a:xfrm>
            <a:off x="7038975" y="886752"/>
            <a:ext cx="1256062" cy="387498"/>
          </a:xfrm>
          <a:prstGeom prst="rect">
            <a:avLst/>
          </a:prstGeom>
          <a:solidFill>
            <a:srgbClr val="1F497D">
              <a:lumMod val="50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Sponsors</a:t>
            </a:r>
            <a:endParaRPr kumimoji="0" lang="pt-BR" sz="14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46" name="Rectangle 22"/>
          <p:cNvSpPr>
            <a:spLocks noChangeArrowheads="1"/>
          </p:cNvSpPr>
          <p:nvPr/>
        </p:nvSpPr>
        <p:spPr bwMode="auto">
          <a:xfrm>
            <a:off x="7061200" y="1305259"/>
            <a:ext cx="1233837" cy="412085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1F497D">
                <a:lumMod val="5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Agenor Leão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Henrique Gherardi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7" name="Rectangle 23"/>
          <p:cNvSpPr>
            <a:spLocks noChangeArrowheads="1"/>
          </p:cNvSpPr>
          <p:nvPr/>
        </p:nvSpPr>
        <p:spPr bwMode="auto">
          <a:xfrm>
            <a:off x="3892674" y="599855"/>
            <a:ext cx="1303214" cy="216761"/>
          </a:xfrm>
          <a:prstGeom prst="rect">
            <a:avLst/>
          </a:prstGeom>
          <a:solidFill>
            <a:srgbClr val="F79646">
              <a:lumMod val="75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D. Aplicação</a:t>
            </a:r>
            <a:endParaRPr kumimoji="0" lang="pt-BR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48" name="Rectangle 24"/>
          <p:cNvSpPr>
            <a:spLocks noChangeArrowheads="1"/>
          </p:cNvSpPr>
          <p:nvPr/>
        </p:nvSpPr>
        <p:spPr bwMode="auto">
          <a:xfrm>
            <a:off x="3894137" y="3212243"/>
            <a:ext cx="1258888" cy="959940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F79646">
                <a:lumMod val="75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Gilson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Manfio</a:t>
            </a: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Sílvio Almeida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Thalita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Begliomini</a:t>
            </a: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Fernanda Cipriano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Eduardo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Mascára</a:t>
            </a: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Solange Dias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9" name="Rectangle 27"/>
          <p:cNvSpPr>
            <a:spLocks noChangeArrowheads="1"/>
          </p:cNvSpPr>
          <p:nvPr/>
        </p:nvSpPr>
        <p:spPr bwMode="auto">
          <a:xfrm>
            <a:off x="3903667" y="2954320"/>
            <a:ext cx="1260150" cy="216761"/>
          </a:xfrm>
          <a:prstGeom prst="rect">
            <a:avLst/>
          </a:prstGeom>
          <a:solidFill>
            <a:srgbClr val="F79646">
              <a:lumMod val="75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Governança</a:t>
            </a:r>
            <a:endParaRPr kumimoji="0" lang="pt-BR" sz="14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50" name="Rectangle 28"/>
          <p:cNvSpPr>
            <a:spLocks noChangeArrowheads="1"/>
          </p:cNvSpPr>
          <p:nvPr/>
        </p:nvSpPr>
        <p:spPr bwMode="auto">
          <a:xfrm>
            <a:off x="3886200" y="846302"/>
            <a:ext cx="1303213" cy="594305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F79646">
                <a:lumMod val="75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Carlos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Kida</a:t>
            </a: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Luciano Abrantes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Weslley Figueiredo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50000"/>
                </a:sysClr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51" name="Rectangle 29"/>
          <p:cNvSpPr>
            <a:spLocks noChangeArrowheads="1"/>
          </p:cNvSpPr>
          <p:nvPr/>
        </p:nvSpPr>
        <p:spPr bwMode="auto">
          <a:xfrm>
            <a:off x="1946277" y="2145079"/>
            <a:ext cx="1395674" cy="356687"/>
          </a:xfrm>
          <a:prstGeom prst="rect">
            <a:avLst/>
          </a:prstGeom>
          <a:solidFill>
            <a:srgbClr val="1F497D">
              <a:lumMod val="75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  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Time </a:t>
            </a:r>
            <a:r>
              <a:rPr kumimoji="0" lang="pt-BR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Chacon</a:t>
            </a:r>
            <a:endParaRPr kumimoji="0" lang="pt-BR" sz="14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52" name="Rectangle 30"/>
          <p:cNvSpPr>
            <a:spLocks noChangeArrowheads="1"/>
          </p:cNvSpPr>
          <p:nvPr/>
        </p:nvSpPr>
        <p:spPr bwMode="auto">
          <a:xfrm>
            <a:off x="1946277" y="2537498"/>
            <a:ext cx="1394083" cy="361459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1F497D">
                <a:lumMod val="75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Sergio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Bertasi</a:t>
            </a: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Felipe Lima</a:t>
            </a:r>
          </a:p>
        </p:txBody>
      </p:sp>
      <p:sp>
        <p:nvSpPr>
          <p:cNvPr id="53" name="Rectangle 31"/>
          <p:cNvSpPr>
            <a:spLocks noChangeArrowheads="1"/>
          </p:cNvSpPr>
          <p:nvPr/>
        </p:nvSpPr>
        <p:spPr bwMode="auto">
          <a:xfrm>
            <a:off x="2409825" y="1360215"/>
            <a:ext cx="1254646" cy="233420"/>
          </a:xfrm>
          <a:prstGeom prst="rect">
            <a:avLst/>
          </a:prstGeom>
          <a:solidFill>
            <a:srgbClr val="F79646">
              <a:lumMod val="75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SAP Global</a:t>
            </a:r>
            <a:endParaRPr kumimoji="0" lang="pt-BR" sz="14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54" name="Rectangle 32"/>
          <p:cNvSpPr>
            <a:spLocks noChangeArrowheads="1"/>
          </p:cNvSpPr>
          <p:nvPr/>
        </p:nvSpPr>
        <p:spPr bwMode="auto">
          <a:xfrm>
            <a:off x="2409495" y="1616279"/>
            <a:ext cx="1253388" cy="270680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F79646">
                <a:lumMod val="75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Daniel Mathias</a:t>
            </a: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55" name="Rectangle 21"/>
          <p:cNvSpPr>
            <a:spLocks noChangeArrowheads="1"/>
          </p:cNvSpPr>
          <p:nvPr/>
        </p:nvSpPr>
        <p:spPr bwMode="auto">
          <a:xfrm>
            <a:off x="7213600" y="2718227"/>
            <a:ext cx="1612241" cy="778141"/>
          </a:xfrm>
          <a:prstGeom prst="rect">
            <a:avLst/>
          </a:prstGeom>
          <a:solidFill>
            <a:srgbClr val="1F497D">
              <a:lumMod val="75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anchor="ctr"/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1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Steering Committee</a:t>
            </a:r>
          </a:p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Aprovar o projeto e/ou modificações de escopo, de acordo com as demandas.</a:t>
            </a:r>
            <a:r>
              <a:rPr kumimoji="0" lang="pt-BR" sz="700" b="1" i="0" u="none" strike="noStrike" kern="0" cap="none" spc="0" normalizeH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 R</a:t>
            </a:r>
            <a:r>
              <a:rPr kumimoji="0" lang="pt-BR" sz="7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esponsáveis por garantir alocação de recursos.</a:t>
            </a:r>
            <a:endParaRPr kumimoji="0" lang="pt-BR" sz="7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56" name="Rectangle 22"/>
          <p:cNvSpPr>
            <a:spLocks noChangeArrowheads="1"/>
          </p:cNvSpPr>
          <p:nvPr/>
        </p:nvSpPr>
        <p:spPr bwMode="auto">
          <a:xfrm>
            <a:off x="7215019" y="3511738"/>
            <a:ext cx="1610822" cy="883715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1F497D">
                <a:lumMod val="75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Agenor Leão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Henrique Gherardi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Fábio Koreeda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Mário Santiago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Luiz Mussini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Mário Esquerdo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57" name="Rectangle 31"/>
          <p:cNvSpPr>
            <a:spLocks noChangeArrowheads="1"/>
          </p:cNvSpPr>
          <p:nvPr/>
        </p:nvSpPr>
        <p:spPr bwMode="auto">
          <a:xfrm>
            <a:off x="5494341" y="1216199"/>
            <a:ext cx="1336426" cy="216761"/>
          </a:xfrm>
          <a:prstGeom prst="rect">
            <a:avLst/>
          </a:prstGeom>
          <a:solidFill>
            <a:srgbClr val="F79646">
              <a:lumMod val="75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GRP</a:t>
            </a:r>
            <a:endParaRPr kumimoji="0" lang="pt-BR" sz="1400" b="1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58" name="Rectangle 32"/>
          <p:cNvSpPr>
            <a:spLocks noChangeArrowheads="1"/>
          </p:cNvSpPr>
          <p:nvPr/>
        </p:nvSpPr>
        <p:spPr bwMode="auto">
          <a:xfrm>
            <a:off x="5494341" y="1472263"/>
            <a:ext cx="1335086" cy="500106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F79646">
                <a:lumMod val="75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Alexandre Azevedo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Anna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Santanna</a:t>
            </a: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Danielle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Langer</a:t>
            </a: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59" name="Rectangle 31"/>
          <p:cNvSpPr>
            <a:spLocks noChangeArrowheads="1"/>
          </p:cNvSpPr>
          <p:nvPr/>
        </p:nvSpPr>
        <p:spPr bwMode="auto">
          <a:xfrm>
            <a:off x="5513389" y="2346972"/>
            <a:ext cx="1525585" cy="216761"/>
          </a:xfrm>
          <a:prstGeom prst="rect">
            <a:avLst/>
          </a:prstGeom>
          <a:solidFill>
            <a:srgbClr val="F79646">
              <a:lumMod val="75000"/>
            </a:srgb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D. </a:t>
            </a:r>
            <a:r>
              <a:rPr kumimoji="0" lang="pt-BR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charset="0"/>
                <a:ea typeface="ヒラギノ角ゴ Pro W3" pitchFamily="1" charset="-128"/>
              </a:rPr>
              <a:t>Infraestrut</a:t>
            </a:r>
            <a:r>
              <a:rPr lang="pt-BR" sz="1400" b="1" dirty="0" smtClean="0">
                <a:solidFill>
                  <a:sysClr val="window" lastClr="FFFFFF"/>
                </a:solidFill>
                <a:latin typeface="Arial" charset="0"/>
                <a:ea typeface="ヒラギノ角ゴ Pro W3" pitchFamily="1" charset="-128"/>
              </a:rPr>
              <a:t>ura</a:t>
            </a:r>
            <a:endParaRPr kumimoji="0" lang="pt-BR" sz="1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60" name="Rectangle 32"/>
          <p:cNvSpPr>
            <a:spLocks noChangeArrowheads="1"/>
          </p:cNvSpPr>
          <p:nvPr/>
        </p:nvSpPr>
        <p:spPr bwMode="auto">
          <a:xfrm>
            <a:off x="5513389" y="2603035"/>
            <a:ext cx="1525585" cy="928345"/>
          </a:xfrm>
          <a:prstGeom prst="rect">
            <a:avLst/>
          </a:prstGeom>
          <a:solidFill>
            <a:sysClr val="window" lastClr="FFFFFF"/>
          </a:solidFill>
          <a:ln w="25400" algn="ctr">
            <a:solidFill>
              <a:srgbClr val="F79646">
                <a:lumMod val="75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EEECE1"/>
            </a:outerShdw>
          </a:effectLst>
        </p:spPr>
        <p:txBody>
          <a:bodyPr wrap="none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Hugo Melo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Igohr</a:t>
            </a: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Schultz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Edson Fidalgo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Ricardo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Caurin</a:t>
            </a:r>
            <a:endParaRPr kumimoji="0" lang="pt-BR" sz="900" b="0" i="1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Claudinei Cardoso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1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Filipe </a:t>
            </a:r>
            <a:r>
              <a:rPr kumimoji="0" lang="pt-BR" sz="900" b="0" i="1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Jaske</a:t>
            </a:r>
            <a:endParaRPr kumimoji="0" lang="pt-BR" sz="9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1" name="Line 9"/>
          <p:cNvSpPr>
            <a:spLocks noChangeShapeType="1"/>
          </p:cNvSpPr>
          <p:nvPr/>
        </p:nvSpPr>
        <p:spPr bwMode="auto">
          <a:xfrm>
            <a:off x="5407821" y="2354512"/>
            <a:ext cx="105568" cy="422990"/>
          </a:xfrm>
          <a:prstGeom prst="line">
            <a:avLst/>
          </a:prstGeom>
          <a:noFill/>
          <a:ln w="28575">
            <a:solidFill>
              <a:srgbClr val="1F497D">
                <a:lumMod val="75000"/>
              </a:srgbClr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2" name="Line 9"/>
          <p:cNvSpPr>
            <a:spLocks noChangeShapeType="1"/>
          </p:cNvSpPr>
          <p:nvPr/>
        </p:nvSpPr>
        <p:spPr bwMode="auto">
          <a:xfrm flipV="1">
            <a:off x="5388770" y="1863990"/>
            <a:ext cx="105568" cy="75095"/>
          </a:xfrm>
          <a:prstGeom prst="line">
            <a:avLst/>
          </a:prstGeom>
          <a:noFill/>
          <a:ln w="28575">
            <a:solidFill>
              <a:srgbClr val="1F497D">
                <a:lumMod val="75000"/>
              </a:srgbClr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3" name="Line 14"/>
          <p:cNvSpPr>
            <a:spLocks noChangeShapeType="1"/>
          </p:cNvSpPr>
          <p:nvPr/>
        </p:nvSpPr>
        <p:spPr bwMode="auto">
          <a:xfrm flipV="1">
            <a:off x="3340361" y="2354511"/>
            <a:ext cx="468051" cy="248523"/>
          </a:xfrm>
          <a:prstGeom prst="line">
            <a:avLst/>
          </a:prstGeom>
          <a:noFill/>
          <a:ln w="28575">
            <a:solidFill>
              <a:srgbClr val="1F497D">
                <a:lumMod val="75000"/>
              </a:srgbClr>
            </a:solidFill>
            <a:round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501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">
  <a:themeElements>
    <a:clrScheme name="Default">
      <a:dk1>
        <a:srgbClr val="352E26"/>
      </a:dk1>
      <a:lt1>
        <a:srgbClr val="000000"/>
      </a:lt1>
      <a:dk2>
        <a:srgbClr val="A7A7A7"/>
      </a:dk2>
      <a:lt2>
        <a:srgbClr val="535353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73729"/>
      </a:dk2>
      <a:lt2>
        <a:srgbClr val="EEECE1"/>
      </a:lt2>
      <a:accent1>
        <a:srgbClr val="FE5000"/>
      </a:accent1>
      <a:accent2>
        <a:srgbClr val="F2A900"/>
      </a:accent2>
      <a:accent3>
        <a:srgbClr val="C5B9AC"/>
      </a:accent3>
      <a:accent4>
        <a:srgbClr val="A39382"/>
      </a:accent4>
      <a:accent5>
        <a:srgbClr val="7A6856"/>
      </a:accent5>
      <a:accent6>
        <a:srgbClr val="6E6259"/>
      </a:accent6>
      <a:hlink>
        <a:srgbClr val="435663"/>
      </a:hlink>
      <a:folHlink>
        <a:srgbClr val="502B3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asta" ma:contentTypeID="0x012000394C6B6E98BB744CB3DA01B0193D4435" ma:contentTypeVersion="0" ma:contentTypeDescription="Crie uma nova pasta." ma:contentTypeScope="" ma:versionID="657fc9f4e1d6e0a93dba3e12b9504fd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ceae06c93b83b44ce5ec9c260e78d7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ItemChildCount" minOccurs="0"/>
                <xsd:element ref="ns1:FolderChild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temChildCount" ma:index="3" nillable="true" ma:displayName="Contagem de Itens Filhos" ma:hidden="true" ma:list="Docs" ma:internalName="ItemChildCount" ma:readOnly="true" ma:showField="ItemChildCount">
      <xsd:simpleType>
        <xsd:restriction base="dms:Lookup"/>
      </xsd:simpleType>
    </xsd:element>
    <xsd:element name="FolderChildCount" ma:index="4" nillable="true" ma:displayName="Contagem de Elementos Filho da Pasta" ma:hidden="true" ma:list="Docs" ma:internalName="FolderChildCount" ma:readOnly="true" ma:showField="FolderChildCount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ListForm</Display>
  <Edit>ListForm</Edit>
  <New>ListForm</New>
</FormTemplates>
</file>

<file path=customXml/itemProps1.xml><?xml version="1.0" encoding="utf-8"?>
<ds:datastoreItem xmlns:ds="http://schemas.openxmlformats.org/officeDocument/2006/customXml" ds:itemID="{20E4097F-0D39-4760-AACA-5727CB180B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077C7B-5D11-4A7D-BE2A-BA001E9087EB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1BEED66-6E83-4822-8F47-F09BDC2590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2818</TotalTime>
  <Words>1381</Words>
  <Application>Microsoft Office PowerPoint</Application>
  <PresentationFormat>Apresentação na tela (16:9)</PresentationFormat>
  <Paragraphs>288</Paragraphs>
  <Slides>22</Slides>
  <Notes>0</Notes>
  <HiddenSlides>8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22</vt:i4>
      </vt:variant>
    </vt:vector>
  </HeadingPairs>
  <TitlesOfParts>
    <vt:vector size="35" baseType="lpstr">
      <vt:lpstr>Arial</vt:lpstr>
      <vt:lpstr>Gill Sans Std</vt:lpstr>
      <vt:lpstr>Tahoma</vt:lpstr>
      <vt:lpstr>Helvetica Neue</vt:lpstr>
      <vt:lpstr>Stencil</vt:lpstr>
      <vt:lpstr>ヒラギノ角ゴ Pro W3</vt:lpstr>
      <vt:lpstr>Kartika</vt:lpstr>
      <vt:lpstr>Gill Sans Std Light</vt:lpstr>
      <vt:lpstr>Helvetica</vt:lpstr>
      <vt:lpstr>Calibri</vt:lpstr>
      <vt:lpstr>Helvetica Light</vt:lpstr>
      <vt:lpstr>1_Default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Fabio Cefaly;gilsonmanfio@natura.net;NEWTONBRANDA@natura.net</dc:creator>
  <cp:lastModifiedBy>Gilson Manfio</cp:lastModifiedBy>
  <cp:revision>410</cp:revision>
  <dcterms:modified xsi:type="dcterms:W3CDTF">2015-06-18T11:29:13Z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0x012000394C6B6E98BB744CB3DA01B0193D4435</vt:lpwstr>
  </property>
</Properties>
</file>