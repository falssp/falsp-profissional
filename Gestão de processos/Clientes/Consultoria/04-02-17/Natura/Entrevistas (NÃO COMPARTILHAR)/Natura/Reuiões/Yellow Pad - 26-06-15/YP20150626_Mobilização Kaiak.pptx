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3"/>
  </p:notesMasterIdLst>
  <p:sldIdLst>
    <p:sldId id="283" r:id="rId6"/>
    <p:sldId id="284" r:id="rId7"/>
    <p:sldId id="286" r:id="rId8"/>
    <p:sldId id="290" r:id="rId9"/>
    <p:sldId id="291" r:id="rId10"/>
    <p:sldId id="287" r:id="rId11"/>
    <p:sldId id="292" r:id="rId12"/>
  </p:sldIdLst>
  <p:sldSz cx="9001125" cy="5400675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99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01" autoAdjust="0"/>
  </p:normalViewPr>
  <p:slideViewPr>
    <p:cSldViewPr>
      <p:cViewPr varScale="1">
        <p:scale>
          <a:sx n="103" d="100"/>
          <a:sy n="103" d="100"/>
        </p:scale>
        <p:origin x="-1056" y="-84"/>
      </p:cViewPr>
      <p:guideLst>
        <p:guide orient="horz" pos="1701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21927-49ED-4498-8AAB-9E2FDF065844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85BFE-0C8A-4915-AADD-2E276EF314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80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buFont typeface="+mj-lt"/>
              <a:buNone/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1. Dinâmica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avaliação técnica das novas demandas para alinhamento do Esboço da Solução de TD.</a:t>
            </a:r>
          </a:p>
          <a:p>
            <a:pPr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2.  Matrícula das Demandas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Confirmar com a Governança de TD -&gt; sharepoint </a:t>
            </a:r>
            <a:r>
              <a:rPr lang="pt-BR" sz="1200" kern="0" dirty="0" err="1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gov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com calendário,</a:t>
            </a:r>
            <a:r>
              <a:rPr lang="pt-BR" sz="1200" kern="0" baseline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pauta e ata.</a:t>
            </a:r>
            <a:endParaRPr lang="pt-BR" sz="1000" kern="0" dirty="0" smtClean="0">
              <a:solidFill>
                <a:prstClr val="black">
                  <a:lumMod val="75000"/>
                  <a:lumOff val="25000"/>
                </a:prstClr>
              </a:solidFill>
              <a:ea typeface="MS PGothic" pitchFamily="34" charset="-128"/>
              <a:sym typeface="GillSans" pitchFamily="34" charset="0"/>
            </a:endParaRPr>
          </a:p>
          <a:p>
            <a:pPr marL="0" indent="0" algn="l">
              <a:buFontTx/>
              <a:buNone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3.  Apresentar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Esboço da Solução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Software </a:t>
            </a:r>
            <a:r>
              <a:rPr lang="pt-BR" sz="1200" dirty="0" err="1" smtClean="0">
                <a:latin typeface="Gill Sans Std" pitchFamily="34" charset="0"/>
              </a:rPr>
              <a:t>Selection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Plataformas envolvidas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Interdependências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Estimativa Prazo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85BFE-0C8A-4915-AADD-2E276EF314E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31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75085" y="1677710"/>
            <a:ext cx="7650956" cy="115764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50169" y="3060385"/>
            <a:ext cx="6300788" cy="13801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783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027" y="3470436"/>
            <a:ext cx="7650956" cy="107263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11027" y="2289039"/>
            <a:ext cx="7650956" cy="118139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64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0058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5573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45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6" y="1208903"/>
            <a:ext cx="3977060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0056" y="1712715"/>
            <a:ext cx="3977060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572448" y="1208903"/>
            <a:ext cx="3978623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572448" y="1712715"/>
            <a:ext cx="3978623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26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8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57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0057" y="215029"/>
            <a:ext cx="2961308" cy="9151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19191" y="215027"/>
            <a:ext cx="5031879" cy="46093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0057" y="1130142"/>
            <a:ext cx="2961308" cy="36942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91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64285" y="3780475"/>
            <a:ext cx="5400675" cy="44630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64285" y="482563"/>
            <a:ext cx="5400675" cy="32404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64285" y="4226780"/>
            <a:ext cx="5400675" cy="6338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0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1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25816" y="216278"/>
            <a:ext cx="2025253" cy="4608076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0057" y="216278"/>
            <a:ext cx="5925741" cy="4608076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116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1677397"/>
            <a:ext cx="7650956" cy="11579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169" y="3060382"/>
            <a:ext cx="6300788" cy="1380173"/>
          </a:xfrm>
        </p:spPr>
        <p:txBody>
          <a:bodyPr/>
          <a:lstStyle>
            <a:lvl1pPr marL="0" indent="0" algn="ctr">
              <a:buNone/>
              <a:defRPr/>
            </a:lvl1pPr>
            <a:lvl2pPr marL="259232" indent="0" algn="ctr">
              <a:buNone/>
              <a:defRPr/>
            </a:lvl2pPr>
            <a:lvl3pPr marL="518465" indent="0" algn="ctr">
              <a:buNone/>
              <a:defRPr/>
            </a:lvl3pPr>
            <a:lvl4pPr marL="777697" indent="0" algn="ctr">
              <a:buNone/>
              <a:defRPr/>
            </a:lvl4pPr>
            <a:lvl5pPr marL="1036930" indent="0" algn="ctr">
              <a:buNone/>
              <a:defRPr/>
            </a:lvl5pPr>
            <a:lvl6pPr marL="1296162" indent="0" algn="ctr">
              <a:buNone/>
              <a:defRPr/>
            </a:lvl6pPr>
            <a:lvl7pPr marL="1555394" indent="0" algn="ctr">
              <a:buNone/>
              <a:defRPr/>
            </a:lvl7pPr>
            <a:lvl8pPr marL="1814627" indent="0" algn="ctr">
              <a:buNone/>
              <a:defRPr/>
            </a:lvl8pPr>
            <a:lvl9pPr marL="2073859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215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0151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24" y="3470122"/>
            <a:ext cx="7650956" cy="1072634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124" y="2288724"/>
            <a:ext cx="7650956" cy="1181398"/>
          </a:xfrm>
        </p:spPr>
        <p:txBody>
          <a:bodyPr anchor="b"/>
          <a:lstStyle>
            <a:lvl1pPr marL="0" indent="0">
              <a:buNone/>
              <a:defRPr sz="1100"/>
            </a:lvl1pPr>
            <a:lvl2pPr marL="259232" indent="0">
              <a:buNone/>
              <a:defRPr sz="1000"/>
            </a:lvl2pPr>
            <a:lvl3pPr marL="518465" indent="0">
              <a:buNone/>
              <a:defRPr sz="900"/>
            </a:lvl3pPr>
            <a:lvl4pPr marL="777697" indent="0">
              <a:buNone/>
              <a:defRPr sz="800"/>
            </a:lvl4pPr>
            <a:lvl5pPr marL="1036930" indent="0">
              <a:buNone/>
              <a:defRPr sz="800"/>
            </a:lvl5pPr>
            <a:lvl6pPr marL="1296162" indent="0">
              <a:buNone/>
              <a:defRPr sz="800"/>
            </a:lvl6pPr>
            <a:lvl7pPr marL="1555394" indent="0">
              <a:buNone/>
              <a:defRPr sz="800"/>
            </a:lvl7pPr>
            <a:lvl8pPr marL="1814627" indent="0">
              <a:buNone/>
              <a:defRPr sz="800"/>
            </a:lvl8pPr>
            <a:lvl9pPr marL="2073859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535974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9924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9239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6715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6590"/>
            <a:ext cx="8101013" cy="90011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6" y="1208589"/>
            <a:ext cx="3976669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056" y="1713027"/>
            <a:ext cx="3976669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642" y="1208589"/>
            <a:ext cx="3978427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642" y="1713027"/>
            <a:ext cx="3978427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3984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8685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32873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4715"/>
            <a:ext cx="2961406" cy="915114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9581" y="214715"/>
            <a:ext cx="5031488" cy="460932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56" y="1129829"/>
            <a:ext cx="2961406" cy="3694212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355521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186" y="3780472"/>
            <a:ext cx="5400675" cy="446306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64186" y="482873"/>
            <a:ext cx="5400675" cy="3240405"/>
          </a:xfrm>
        </p:spPr>
        <p:txBody>
          <a:bodyPr/>
          <a:lstStyle>
            <a:lvl1pPr marL="0" indent="0">
              <a:buNone/>
              <a:defRPr sz="1800"/>
            </a:lvl1pPr>
            <a:lvl2pPr marL="259232" indent="0">
              <a:buNone/>
              <a:defRPr sz="1600"/>
            </a:lvl2pPr>
            <a:lvl3pPr marL="518465" indent="0">
              <a:buNone/>
              <a:defRPr sz="1400"/>
            </a:lvl3pPr>
            <a:lvl4pPr marL="777697" indent="0">
              <a:buNone/>
              <a:defRPr sz="1100"/>
            </a:lvl4pPr>
            <a:lvl5pPr marL="1036930" indent="0">
              <a:buNone/>
              <a:defRPr sz="1100"/>
            </a:lvl5pPr>
            <a:lvl6pPr marL="1296162" indent="0">
              <a:buNone/>
              <a:defRPr sz="1100"/>
            </a:lvl6pPr>
            <a:lvl7pPr marL="1555394" indent="0">
              <a:buNone/>
              <a:defRPr sz="1100"/>
            </a:lvl7pPr>
            <a:lvl8pPr marL="1814627" indent="0">
              <a:buNone/>
              <a:defRPr sz="1100"/>
            </a:lvl8pPr>
            <a:lvl9pPr marL="2073859" indent="0">
              <a:buNone/>
              <a:defRPr sz="1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4186" y="4226778"/>
            <a:ext cx="5400675" cy="633829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38692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4199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25608" y="142518"/>
            <a:ext cx="1928561" cy="47630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9924" y="142518"/>
            <a:ext cx="5701299" cy="476309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2824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0057" y="216278"/>
            <a:ext cx="8101013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7" y="1260159"/>
            <a:ext cx="8101013" cy="3564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005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75385" y="5005628"/>
            <a:ext cx="2850356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080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0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39924" y="142518"/>
            <a:ext cx="7714245" cy="1357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924" y="1537692"/>
            <a:ext cx="7714245" cy="336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849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259232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518465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777697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036930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9605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56167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727291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90011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106573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1324966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1584198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843430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2102663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923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8465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769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3693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9616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55394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1462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73859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 descr="41317-04131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58" r="22798"/>
          <a:stretch>
            <a:fillRect/>
          </a:stretch>
        </p:blipFill>
        <p:spPr bwMode="auto">
          <a:xfrm>
            <a:off x="0" y="0"/>
            <a:ext cx="900112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Box 27"/>
          <p:cNvSpPr txBox="1">
            <a:spLocks noChangeArrowheads="1"/>
          </p:cNvSpPr>
          <p:nvPr/>
        </p:nvSpPr>
        <p:spPr bwMode="auto">
          <a:xfrm>
            <a:off x="487562" y="3162896"/>
            <a:ext cx="7210276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sz="2900" dirty="0">
                <a:solidFill>
                  <a:schemeClr val="bg1"/>
                </a:solidFill>
                <a:latin typeface="Verdana" charset="0"/>
              </a:rPr>
              <a:t>VP Redes. Diretoria de Ativação</a:t>
            </a:r>
            <a:r>
              <a:rPr lang="en-US" sz="2900" dirty="0">
                <a:solidFill>
                  <a:schemeClr val="bg1"/>
                </a:solidFill>
                <a:latin typeface="Verdana" charset="0"/>
              </a:rPr>
              <a:t>/ </a:t>
            </a:r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Keith </a:t>
            </a:r>
            <a:r>
              <a:rPr lang="en-US" sz="2900" dirty="0" err="1" smtClean="0">
                <a:solidFill>
                  <a:schemeClr val="bg1"/>
                </a:solidFill>
                <a:latin typeface="Verdana" charset="0"/>
              </a:rPr>
              <a:t>Seixas</a:t>
            </a:r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. </a:t>
            </a:r>
            <a:r>
              <a:rPr lang="en-US" sz="2900" dirty="0">
                <a:solidFill>
                  <a:schemeClr val="bg1"/>
                </a:solidFill>
                <a:latin typeface="Verdana" charset="0"/>
              </a:rPr>
              <a:t>VP </a:t>
            </a:r>
            <a:r>
              <a:rPr lang="en-US" sz="2900" dirty="0" err="1">
                <a:solidFill>
                  <a:schemeClr val="bg1"/>
                </a:solidFill>
                <a:latin typeface="Verdana" charset="0"/>
              </a:rPr>
              <a:t>Redes</a:t>
            </a:r>
            <a:endParaRPr lang="en-US" sz="2900" dirty="0" smtClean="0">
              <a:solidFill>
                <a:schemeClr val="bg1"/>
              </a:solidFill>
              <a:latin typeface="Verdana" charset="0"/>
            </a:endParaRPr>
          </a:p>
          <a:p>
            <a:pPr eaLnBrk="1" hangingPunct="1"/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26/06/2015</a:t>
            </a:r>
            <a:endParaRPr lang="en-US" sz="2900" dirty="0">
              <a:solidFill>
                <a:schemeClr val="bg1"/>
              </a:solidFill>
              <a:latin typeface="Verdana" charset="0"/>
            </a:endParaRPr>
          </a:p>
        </p:txBody>
      </p:sp>
      <p:sp>
        <p:nvSpPr>
          <p:cNvPr id="13317" name="TextBox 28"/>
          <p:cNvSpPr txBox="1">
            <a:spLocks noChangeArrowheads="1"/>
          </p:cNvSpPr>
          <p:nvPr/>
        </p:nvSpPr>
        <p:spPr bwMode="auto">
          <a:xfrm>
            <a:off x="450056" y="1500188"/>
            <a:ext cx="7578898" cy="1627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5900" b="1" dirty="0" err="1" smtClean="0">
                <a:solidFill>
                  <a:schemeClr val="tx2"/>
                </a:solidFill>
                <a:latin typeface="Gill Sans Std ExtraBold" pitchFamily="34" charset="0"/>
              </a:rPr>
              <a:t>Mobilização</a:t>
            </a:r>
            <a:endParaRPr lang="en-US" sz="5900" b="1" dirty="0" smtClean="0">
              <a:solidFill>
                <a:schemeClr val="tx2"/>
              </a:solidFill>
              <a:latin typeface="Gill Sans Std ExtraBold" pitchFamily="34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5900" b="1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Kaiak</a:t>
            </a:r>
            <a:endParaRPr lang="en-US" sz="59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pic>
        <p:nvPicPr>
          <p:cNvPr id="13318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088" y="2280285"/>
            <a:ext cx="737592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"/>
          <p:cNvSpPr txBox="1">
            <a:spLocks noChangeArrowheads="1"/>
          </p:cNvSpPr>
          <p:nvPr/>
        </p:nvSpPr>
        <p:spPr bwMode="auto">
          <a:xfrm>
            <a:off x="470376" y="4500537"/>
            <a:ext cx="4083554" cy="51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// VP TD</a:t>
            </a:r>
            <a:endParaRPr lang="en-US" sz="1400" b="1" dirty="0">
              <a:solidFill>
                <a:schemeClr val="bg1"/>
              </a:solidFill>
              <a:latin typeface="Gill Sans Std" pitchFamily="34" charset="0"/>
            </a:endParaRPr>
          </a:p>
          <a:p>
            <a:pPr eaLnBrk="1" hangingPunct="1"/>
            <a:r>
              <a:rPr lang="en-US" sz="1400" dirty="0" smtClean="0">
                <a:solidFill>
                  <a:schemeClr val="bg1"/>
                </a:solidFill>
                <a:latin typeface="Gill Sans Std" pitchFamily="34" charset="0"/>
              </a:rPr>
              <a:t>// </a:t>
            </a:r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forum de yellow pad - novas demandas de TD</a:t>
            </a:r>
            <a:endParaRPr lang="en-US" sz="1400" dirty="0">
              <a:solidFill>
                <a:schemeClr val="bg1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34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3235" y="1188170"/>
            <a:ext cx="9001124" cy="4032448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8" name="Rectangle 3"/>
          <p:cNvSpPr>
            <a:spLocks/>
          </p:cNvSpPr>
          <p:nvPr/>
        </p:nvSpPr>
        <p:spPr bwMode="auto">
          <a:xfrm>
            <a:off x="332652" y="544742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tx2"/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CONTEXTO</a:t>
            </a:r>
            <a:endParaRPr lang="en-US" sz="3800" dirty="0">
              <a:solidFill>
                <a:schemeClr val="tx2"/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0082" y="2763876"/>
            <a:ext cx="8788051" cy="322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eaLnBrk="1" hangingPunct="1">
              <a:lnSpc>
                <a:spcPts val="1980"/>
              </a:lnSpc>
              <a:defRPr/>
            </a:pPr>
            <a:r>
              <a:rPr lang="pt-B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+mn-ea"/>
                <a:cs typeface="+mn-cs"/>
              </a:rPr>
              <a:t>Precisamos criar </a:t>
            </a:r>
            <a:r>
              <a:rPr lang="pt-B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+mn-ea"/>
                <a:cs typeface="+mn-cs"/>
              </a:rPr>
              <a:t>uma página mobile para </a:t>
            </a:r>
            <a:r>
              <a:rPr lang="pt-BR" sz="12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+mn-ea"/>
                <a:cs typeface="+mn-cs"/>
              </a:rPr>
              <a:t>Kaiak</a:t>
            </a:r>
            <a:r>
              <a:rPr lang="pt-B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+mn-ea"/>
                <a:cs typeface="+mn-cs"/>
              </a:rPr>
              <a:t> Expedição.</a:t>
            </a:r>
            <a:endParaRPr lang="pt-BR" sz="1200" b="1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+mn-ea"/>
              <a:cs typeface="+mn-cs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308" y="59181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746953"/>
              </p:ext>
            </p:extLst>
          </p:nvPr>
        </p:nvGraphicFramePr>
        <p:xfrm>
          <a:off x="198797" y="1332185"/>
          <a:ext cx="4442428" cy="1112520"/>
        </p:xfrm>
        <a:graphic>
          <a:graphicData uri="http://schemas.openxmlformats.org/drawingml/2006/table">
            <a:tbl>
              <a:tblPr/>
              <a:tblGrid>
                <a:gridCol w="1571998"/>
                <a:gridCol w="2870430"/>
              </a:tblGrid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Solicitante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Keith Seixas (GRP de VP Redes)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6604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Negócio 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Diretoria de Ativação. Gerência de Marketing Digital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</a:t>
                      </a:r>
                      <a:r>
                        <a:rPr lang="pt-BR" sz="11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TD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Diretoria da Aplicações.</a:t>
                      </a:r>
                      <a:r>
                        <a:rPr lang="pt-BR" sz="11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 Gerencia de Aplicações de Negócio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etângulo 3"/>
          <p:cNvSpPr/>
          <p:nvPr/>
        </p:nvSpPr>
        <p:spPr>
          <a:xfrm>
            <a:off x="4068514" y="107792"/>
            <a:ext cx="2792752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Mobilização</a:t>
            </a: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 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Kaiak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72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O</a:t>
            </a: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BJETIVOS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52090" y="1514996"/>
            <a:ext cx="4536504" cy="578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ts val="1980"/>
              </a:lnSpc>
              <a:defRPr/>
            </a:pPr>
            <a:r>
              <a:rPr lang="pt-BR" sz="1600" b="1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Criar e Disponibilizar Página Mobile</a:t>
            </a:r>
            <a:endParaRPr lang="pt-BR" sz="1600" b="1" spc="140" dirty="0" smtClean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  <a:p>
            <a:pPr algn="l" eaLnBrk="1" hangingPunct="1">
              <a:lnSpc>
                <a:spcPts val="1980"/>
              </a:lnSpc>
              <a:defRPr/>
            </a:pPr>
            <a:r>
              <a:rPr lang="pt-BR" sz="16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(PRODUTO FINAL).</a:t>
            </a:r>
            <a:endParaRPr lang="pt-BR" sz="16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Gill Sans Std ExtraBold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84708" y="2844353"/>
            <a:ext cx="8392317" cy="2503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 numCol="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A</a:t>
            </a: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ções</a:t>
            </a:r>
            <a:endParaRPr lang="pt-BR" sz="16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Gill Sans Std ExtraBold"/>
            </a:endParaRP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Criação de Layout</a:t>
            </a: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Aprovação de Layout</a:t>
            </a: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Inicio de Desenvolvimento</a:t>
            </a: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Publicação em OHS de HML</a:t>
            </a:r>
            <a:endParaRPr lang="pt-BR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Validação de Desenvolvimento</a:t>
            </a: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Publicação em OHS de PROD</a:t>
            </a: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Criação de JS para </a:t>
            </a:r>
            <a:r>
              <a:rPr lang="pt-BR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redirect</a:t>
            </a: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 página Desktop</a:t>
            </a: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endParaRPr lang="pt-BR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Publicar JS </a:t>
            </a: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Alterar </a:t>
            </a:r>
            <a:r>
              <a:rPr lang="pt-BR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asset</a:t>
            </a: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 via OWCS para realizar redirecionamento.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  <a:p>
            <a:pPr marL="285750" indent="-285750" algn="l" eaLnBrk="1" hangingPunct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Alteração da Página de Perfumaria, seguindo os mesmos passos.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573795" y="1336486"/>
            <a:ext cx="3301768" cy="55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pt-BR" sz="1300" b="1" spc="14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Briefing: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pt-BR" sz="1600" dirty="0" err="1" smtClean="0">
                <a:solidFill>
                  <a:schemeClr val="tx1"/>
                </a:solidFill>
                <a:latin typeface="Gill Sans Std" pitchFamily="34" charset="0"/>
                <a:ea typeface="MS PGothic" charset="0"/>
                <a:cs typeface="MS PGothic" charset="0"/>
              </a:rPr>
              <a:t>Clarity</a:t>
            </a:r>
            <a:r>
              <a:rPr lang="pt-BR" sz="1600" dirty="0" smtClean="0">
                <a:solidFill>
                  <a:schemeClr val="tx1"/>
                </a:solidFill>
                <a:latin typeface="Gill Sans Std" pitchFamily="34" charset="0"/>
                <a:ea typeface="MS PGothic" charset="0"/>
                <a:cs typeface="MS PGothic" charset="0"/>
              </a:rPr>
              <a:t> (Projeto </a:t>
            </a:r>
            <a:r>
              <a:rPr lang="pt-BR" sz="1600" dirty="0" smtClean="0">
                <a:solidFill>
                  <a:schemeClr val="tx1"/>
                </a:solidFill>
                <a:latin typeface="Gill Sans Std" pitchFamily="34" charset="0"/>
                <a:ea typeface="MS PGothic" charset="0"/>
                <a:cs typeface="MS PGothic" charset="0"/>
              </a:rPr>
              <a:t>00000220)</a:t>
            </a:r>
            <a:endParaRPr lang="pt-BR" sz="1600" dirty="0" smtClean="0">
              <a:solidFill>
                <a:schemeClr val="tx1"/>
              </a:solidFill>
              <a:latin typeface="Gill Sans Std" pitchFamily="34" charset="0"/>
              <a:ea typeface="MS PGothic" charset="0"/>
              <a:cs typeface="MS PGothic" charset="0"/>
            </a:endParaRPr>
          </a:p>
        </p:txBody>
      </p:sp>
      <p:pic>
        <p:nvPicPr>
          <p:cNvPr id="3074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2792752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Mobilização</a:t>
            </a: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 </a:t>
            </a:r>
            <a:r>
              <a:rPr lang="en-US" b="1" smtClean="0">
                <a:solidFill>
                  <a:schemeClr val="tx2"/>
                </a:solidFill>
                <a:latin typeface="Gill Sans Std ExtraBold" pitchFamily="34" charset="0"/>
              </a:rPr>
              <a:t>Kaiak</a:t>
            </a:r>
            <a:r>
              <a:rPr lang="en-US" b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3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669674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ESBOÇO DA SOLUÇÃO DE TD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2792752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Mobilização</a:t>
            </a: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 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Kaiak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pic>
        <p:nvPicPr>
          <p:cNvPr id="2" name="Picture 2" descr="http://www.codate.com.br/wp-content/uploads/2014/02/we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594" y="2421596"/>
            <a:ext cx="1642619" cy="96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de seta reta 4"/>
          <p:cNvCxnSpPr>
            <a:stCxn id="2" idx="3"/>
          </p:cNvCxnSpPr>
          <p:nvPr/>
        </p:nvCxnSpPr>
        <p:spPr>
          <a:xfrm>
            <a:off x="4531213" y="2902832"/>
            <a:ext cx="6444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6" t="14682" r="45527" b="3189"/>
          <a:stretch/>
        </p:blipFill>
        <p:spPr bwMode="auto">
          <a:xfrm>
            <a:off x="252090" y="2161614"/>
            <a:ext cx="1690255" cy="148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612130" y="1845533"/>
            <a:ext cx="959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Layout</a:t>
            </a:r>
            <a:endParaRPr lang="pt-BR" dirty="0"/>
          </a:p>
        </p:txBody>
      </p:sp>
      <p:cxnSp>
        <p:nvCxnSpPr>
          <p:cNvPr id="21" name="Conector de seta reta 20"/>
          <p:cNvCxnSpPr/>
          <p:nvPr/>
        </p:nvCxnSpPr>
        <p:spPr>
          <a:xfrm>
            <a:off x="1942345" y="2917720"/>
            <a:ext cx="8300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http://phonegap.com/uploads/artwork/Packag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188" y="2214865"/>
            <a:ext cx="1453114" cy="1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5177187" y="1976948"/>
            <a:ext cx="1331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Pacote V1</a:t>
            </a:r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7236866" y="2205573"/>
            <a:ext cx="1566689" cy="1321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de seta reta 28"/>
          <p:cNvCxnSpPr/>
          <p:nvPr/>
        </p:nvCxnSpPr>
        <p:spPr>
          <a:xfrm>
            <a:off x="6508770" y="2925653"/>
            <a:ext cx="6444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http://3.bp.blogspot.com/-5BbaCbKtdBk/Uli3eOdYozI/AAAAAAAACwI/HBlvJ__uwLs/s1600/Package-Open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882" y="2419915"/>
            <a:ext cx="1224136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aixaDeTexto 30"/>
          <p:cNvSpPr txBox="1"/>
          <p:nvPr/>
        </p:nvSpPr>
        <p:spPr>
          <a:xfrm>
            <a:off x="7354418" y="1836241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OHS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595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INTERDEPENDÊNCIAS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5" name="Rectangle 3"/>
          <p:cNvSpPr>
            <a:spLocks/>
          </p:cNvSpPr>
          <p:nvPr/>
        </p:nvSpPr>
        <p:spPr bwMode="auto">
          <a:xfrm>
            <a:off x="243587" y="3526194"/>
            <a:ext cx="540060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2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Plataformas Envolvidas</a:t>
            </a:r>
            <a:endParaRPr lang="en-US" sz="32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Rectangle 3"/>
          <p:cNvSpPr>
            <a:spLocks/>
          </p:cNvSpPr>
          <p:nvPr/>
        </p:nvSpPr>
        <p:spPr bwMode="auto">
          <a:xfrm>
            <a:off x="252090" y="1332185"/>
            <a:ext cx="828092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2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Dependências</a:t>
            </a:r>
            <a:endParaRPr lang="en-US" sz="32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75635" y="4031746"/>
            <a:ext cx="276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Oracle </a:t>
            </a: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WebCenter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 Sites</a:t>
            </a: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4068514" y="107792"/>
            <a:ext cx="2792752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Mobilização</a:t>
            </a: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 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Kaiak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08074" y="1837737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OHS 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41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15873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ESTIMATIVA DE RECURSOS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572017"/>
              </p:ext>
            </p:extLst>
          </p:nvPr>
        </p:nvGraphicFramePr>
        <p:xfrm>
          <a:off x="4788594" y="1796201"/>
          <a:ext cx="3576440" cy="200596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48272"/>
                <a:gridCol w="1128168"/>
              </a:tblGrid>
              <a:tr h="11735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Identificação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Valor R$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Desenvolvimento</a:t>
                      </a:r>
                      <a:endParaRPr lang="pt-BR" sz="1400" strike="sng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0,00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Serviços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 Infra</a:t>
                      </a:r>
                      <a:endParaRPr lang="pt-BR" sz="1400" strike="sng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0,00</a:t>
                      </a: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strike="sng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3"/>
          <p:cNvSpPr>
            <a:spLocks/>
          </p:cNvSpPr>
          <p:nvPr/>
        </p:nvSpPr>
        <p:spPr bwMode="auto">
          <a:xfrm>
            <a:off x="5580682" y="1211181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Custos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132239"/>
              </p:ext>
            </p:extLst>
          </p:nvPr>
        </p:nvGraphicFramePr>
        <p:xfrm>
          <a:off x="108074" y="1764233"/>
          <a:ext cx="3960440" cy="215954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914825"/>
                <a:gridCol w="1461439"/>
                <a:gridCol w="1584176"/>
              </a:tblGrid>
              <a:tr h="290537"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Área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Recurso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Respons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493912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GAN</a:t>
                      </a:r>
                      <a:endParaRPr lang="pt-BR" sz="14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Augusto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 </a:t>
                      </a:r>
                      <a:r>
                        <a:rPr lang="pt-BR" sz="1400" baseline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Knijnik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Gerente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 de Projeto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17774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GAN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Douglas Freitas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Desenvolvedor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17774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48644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19590"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3"/>
          <p:cNvSpPr>
            <a:spLocks/>
          </p:cNvSpPr>
          <p:nvPr/>
        </p:nvSpPr>
        <p:spPr bwMode="auto">
          <a:xfrm>
            <a:off x="684138" y="1223794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Recursos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2141785" y="4140497"/>
            <a:ext cx="5470995" cy="6052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980"/>
              </a:lnSpc>
              <a:defRPr/>
            </a:pP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Detalhar a Expectativa de Prazos:</a:t>
            </a:r>
            <a:b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</a:b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Entrega v1 para QA: </a:t>
            </a: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dia </a:t>
            </a: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03</a:t>
            </a: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/07</a:t>
            </a:r>
            <a:endParaRPr lang="pt-BR" sz="14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charset="0"/>
              <a:ea typeface="MS PGothic" charset="0"/>
              <a:cs typeface="MS PGothic" charset="0"/>
            </a:endParaRPr>
          </a:p>
        </p:txBody>
      </p:sp>
      <p:sp>
        <p:nvSpPr>
          <p:cNvPr id="21" name="Rectangle 3"/>
          <p:cNvSpPr>
            <a:spLocks/>
          </p:cNvSpPr>
          <p:nvPr/>
        </p:nvSpPr>
        <p:spPr bwMode="auto">
          <a:xfrm>
            <a:off x="308414" y="4516244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Prazo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4068514" y="107792"/>
            <a:ext cx="2792752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Mobilização</a:t>
            </a: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 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Kaiak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62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8"/>
          <p:cNvSpPr txBox="1">
            <a:spLocks noChangeArrowheads="1"/>
          </p:cNvSpPr>
          <p:nvPr/>
        </p:nvSpPr>
        <p:spPr bwMode="auto">
          <a:xfrm>
            <a:off x="376219" y="2125580"/>
            <a:ext cx="7193868" cy="9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3" tIns="41147" rIns="82293" bIns="41147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5600" b="1" dirty="0">
                <a:solidFill>
                  <a:srgbClr val="002060"/>
                </a:solidFill>
                <a:latin typeface="Verdana" pitchFamily="34" charset="0"/>
                <a:ea typeface="MS PGothic" pitchFamily="34" charset="-128"/>
              </a:rPr>
              <a:t>fim. obrigado.</a:t>
            </a:r>
          </a:p>
        </p:txBody>
      </p:sp>
      <p:pic>
        <p:nvPicPr>
          <p:cNvPr id="31748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698" y="2280285"/>
            <a:ext cx="738374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451619" y="4826854"/>
            <a:ext cx="2009653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900" b="1" dirty="0">
                <a:solidFill>
                  <a:schemeClr val="bg1"/>
                </a:solidFill>
                <a:latin typeface="Verdana" charset="0"/>
              </a:rPr>
              <a:t>INFORMAÇÕES</a:t>
            </a:r>
            <a:r>
              <a:rPr lang="en-US" sz="900" dirty="0">
                <a:solidFill>
                  <a:schemeClr val="bg1"/>
                </a:solidFill>
                <a:latin typeface="Verdana" charset="0"/>
              </a:rPr>
              <a:t> ADICIONAIS </a:t>
            </a:r>
          </a:p>
        </p:txBody>
      </p:sp>
    </p:spTree>
    <p:extLst>
      <p:ext uri="{BB962C8B-B14F-4D97-AF65-F5344CB8AC3E}">
        <p14:creationId xmlns:p14="http://schemas.microsoft.com/office/powerpoint/2010/main" val="3437031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C0037"/>
      </a:accent1>
      <a:accent2>
        <a:srgbClr val="333399"/>
      </a:accent2>
      <a:accent3>
        <a:srgbClr val="FFFFFF"/>
      </a:accent3>
      <a:accent4>
        <a:srgbClr val="000000"/>
      </a:accent4>
      <a:accent5>
        <a:srgbClr val="BFAAAE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66E7B9F93237478EA8D944643E4D26" ma:contentTypeVersion="0" ma:contentTypeDescription="Crie um novo documento." ma:contentTypeScope="" ma:versionID="e7e6c8ac1ce87c7ce66ee0e28519793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A02E6B-EC3E-4DD4-BEEB-A4C4EE78CE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45142BF-2FD8-4361-B6CE-C714ACDDB28C}">
  <ds:schemaRefs>
    <ds:schemaRef ds:uri="http://schemas.openxmlformats.org/package/2006/metadata/core-properties"/>
    <ds:schemaRef ds:uri="http://purl.org/dc/terms/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123B346-4C39-4470-9725-0145E70DA24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2382</TotalTime>
  <Words>327</Words>
  <Application>Microsoft Office PowerPoint</Application>
  <PresentationFormat>Personalizar</PresentationFormat>
  <Paragraphs>82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Blank</vt:lpstr>
      <vt:lpstr>Title &amp; Bullets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br92025</dc:creator>
  <cp:lastModifiedBy>br93343</cp:lastModifiedBy>
  <cp:revision>82</cp:revision>
  <dcterms:created xsi:type="dcterms:W3CDTF">2013-05-14T22:09:27Z</dcterms:created>
  <dcterms:modified xsi:type="dcterms:W3CDTF">2015-06-25T15:51:00Z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0x0101008566E7B9F93237478EA8D944643E4D26</vt:lpwstr>
  </property>
</Properties>
</file>