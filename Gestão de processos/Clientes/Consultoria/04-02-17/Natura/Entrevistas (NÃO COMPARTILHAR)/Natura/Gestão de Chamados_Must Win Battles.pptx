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5" r:id="rId2"/>
    <p:sldId id="316" r:id="rId3"/>
    <p:sldId id="317" r:id="rId4"/>
    <p:sldId id="318" r:id="rId5"/>
    <p:sldId id="320" r:id="rId6"/>
    <p:sldId id="322" r:id="rId7"/>
    <p:sldId id="319" r:id="rId8"/>
    <p:sldId id="321" r:id="rId9"/>
    <p:sldId id="294" r:id="rId10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6E6259"/>
    <a:srgbClr val="FFFF66"/>
    <a:srgbClr val="009999"/>
    <a:srgbClr val="FFFFCC"/>
    <a:srgbClr val="FF3300"/>
    <a:srgbClr val="00AEC7"/>
    <a:srgbClr val="D9D9D6"/>
    <a:srgbClr val="7C6992"/>
    <a:srgbClr val="888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5" autoAdjust="0"/>
    <p:restoredTop sz="98046" autoAdjust="0"/>
  </p:normalViewPr>
  <p:slideViewPr>
    <p:cSldViewPr>
      <p:cViewPr>
        <p:scale>
          <a:sx n="120" d="100"/>
          <a:sy n="120" d="100"/>
        </p:scale>
        <p:origin x="-486" y="-102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12/05/2015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As 7 Regras de Ouro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288848" y="779235"/>
            <a:ext cx="8531624" cy="1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lvl="0" eaLnBrk="1" hangingPunct="1">
              <a:defRPr/>
            </a:pP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As 7 Regras de Ouro foram estabelecidas em conjunto com a Governança TD em linha com a estratégia corporativa e os princípios de liderança do RH da TD.</a:t>
            </a:r>
            <a:b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</a:b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Elas são princípios chaves derivados dos processos e do trabalho das equipes técnicas do Manter e de Projetos. Elas descrevem os comportamentos que devem ser seguidos pela comunidade TD (Interno e Externo) para garantir padronização de trabalho em toda a organização.</a:t>
            </a:r>
          </a:p>
          <a:p>
            <a:pPr lvl="0" eaLnBrk="1" hangingPunct="1">
              <a:defRPr/>
            </a:pPr>
            <a:endParaRPr lang="pt-BR" sz="12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lvl="0" eaLnBrk="1" hangingPunct="1">
              <a:defRPr/>
            </a:pP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Ênfase especial deve ser dada a engajamento das pessoas, compreensão e melhoria contínua da criação de valor, enquanto encorajando foco no resultado e cooperação proativa.</a:t>
            </a:r>
            <a:endParaRPr lang="pt-BR" sz="12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cxnSp>
        <p:nvCxnSpPr>
          <p:cNvPr id="11" name="Conector reto 10"/>
          <p:cNvCxnSpPr/>
          <p:nvPr/>
        </p:nvCxnSpPr>
        <p:spPr bwMode="auto">
          <a:xfrm flipH="1" flipV="1">
            <a:off x="107504" y="2561432"/>
            <a:ext cx="8784976" cy="11112"/>
          </a:xfrm>
          <a:prstGeom prst="lin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  <a:extLst/>
        </p:spPr>
      </p:cxnSp>
    </p:spTree>
    <p:extLst>
      <p:ext uri="{BB962C8B-B14F-4D97-AF65-F5344CB8AC3E}">
        <p14:creationId xmlns:p14="http://schemas.microsoft.com/office/powerpoint/2010/main" val="378739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35339"/>
              </p:ext>
            </p:extLst>
          </p:nvPr>
        </p:nvGraphicFramePr>
        <p:xfrm>
          <a:off x="107504" y="700336"/>
          <a:ext cx="8784976" cy="4392488"/>
        </p:xfrm>
        <a:graphic>
          <a:graphicData uri="http://schemas.openxmlformats.org/drawingml/2006/table">
            <a:tbl>
              <a:tblPr firstRow="1" firstCol="1" bandRow="1"/>
              <a:tblGrid>
                <a:gridCol w="8784976"/>
              </a:tblGrid>
              <a:tr h="4392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pt-BR" sz="700" b="1" kern="1200" dirty="0" smtClean="0">
                        <a:solidFill>
                          <a:schemeClr val="tx1"/>
                        </a:solidFill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kern="1200" dirty="0" smtClean="0">
                          <a:solidFill>
                            <a:schemeClr val="tx1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#1 Trabalhar como UM TIME, Utilizando um Processo Comum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Você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faz parte da TD Natura, independente do grupo ou empresa fornecedora de serviços, fazendo face a nossos clientes.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Seguir os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processos TD Natura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para gestão de chamados.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b="1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#2 Assumir Responsabilidade &amp; Entregar Soluções</a:t>
                      </a:r>
                      <a:endParaRPr lang="pt-BR" sz="1000" dirty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Como membro de um grupo solucionador, assuma responsabilidades para os problemas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dos serviço(s) sob sua gestão.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Para serviços afetados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- 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Você 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tem responsabilidade plena até que o problema seja resolvido e o serviço reestabelecido.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#3 Gerenciar Expectativas e Comunicar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Gerencie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a comunicação com o usuário e com a área do negócio, com atualizações claras e regulares, a fim de gerenciar as expectativas sobre o serviço.</a:t>
                      </a:r>
                      <a:endParaRPr lang="pt-BR" sz="1000" dirty="0" smtClean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pt-BR" sz="800" b="0" dirty="0" smtClean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kern="1200" dirty="0" smtClean="0">
                          <a:solidFill>
                            <a:schemeClr val="tx1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#4</a:t>
                      </a: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Busque</a:t>
                      </a:r>
                      <a:r>
                        <a:rPr lang="pt-BR" sz="1000" b="1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A Qualidade: Certo Da </a:t>
                      </a: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Primeira Vez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Coloque qualidade em todos os passos: Você é responsável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pela qualidade dos dados e da informação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que você cria / disponibiliza.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Garanta que seus colegas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(outros grupos) 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tenham todas as informações para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progredir com o atendimento, sem ter que 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retornar o chamado para lhe solicitar informações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/ histórico das ações.</a:t>
                      </a:r>
                      <a:endParaRPr lang="pt-BR" sz="1000" dirty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b="1" kern="1200" dirty="0" smtClean="0">
                          <a:solidFill>
                            <a:schemeClr val="tx1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#5</a:t>
                      </a: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Dê Visibilidade Do Seu Trabalho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Tenha um ticket para todo trabalho realizado.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solidFill>
                            <a:srgbClr val="000000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Atualize os chamados com informações relevantes durante todo o ciclo de vida.</a:t>
                      </a:r>
                      <a:endParaRPr lang="pt-BR" sz="1000" dirty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 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#6 Escale Sempre que Necessário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Analistas: Utilizar o processo de escalonamento para superar obstáculos e para agilizar soluções dos chamados.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Gerente / Coordenador: Coordenar e suportar atividades de solução, e garantir que sua equipe colabore com outras equipes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para solução de chamados.</a:t>
                      </a:r>
                      <a:endParaRPr lang="pt-BR" sz="1000" dirty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b="1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b="1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#7 Busque a Melhoria Contínua</a:t>
                      </a:r>
                      <a: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Você é responsável</a:t>
                      </a:r>
                      <a:r>
                        <a:rPr lang="pt-BR" sz="1000" baseline="0" dirty="0" smtClean="0"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 por melhoria contínua. Você pode fazer a diferença.</a:t>
                      </a:r>
                      <a:r>
                        <a:rPr lang="pt-BR" sz="1000" dirty="0">
                          <a:solidFill>
                            <a:srgbClr val="000000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pt-BR" sz="1000" dirty="0">
                          <a:solidFill>
                            <a:srgbClr val="000000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</a:br>
                      <a:r>
                        <a:rPr lang="pt-BR" sz="1000" dirty="0" smtClean="0">
                          <a:solidFill>
                            <a:srgbClr val="000000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Melhore o serviço e reduza desperdício (optimização) através de gestão do conhecimento e gestão de problema</a:t>
                      </a:r>
                      <a:r>
                        <a:rPr lang="pt-BR" sz="1000" i="1" dirty="0" smtClean="0">
                          <a:solidFill>
                            <a:srgbClr val="548DD4"/>
                          </a:solidFill>
                          <a:effectLst/>
                          <a:latin typeface="Gill Sans Std Light" pitchFamily="34" charset="0"/>
                          <a:ea typeface="Times New Roman"/>
                          <a:cs typeface="Times New Roman"/>
                        </a:rPr>
                        <a:t>.</a:t>
                      </a:r>
                      <a:endParaRPr lang="pt-BR" sz="1000" dirty="0">
                        <a:effectLst/>
                        <a:latin typeface="Gill Sans Std Light" pitchFamily="34" charset="0"/>
                        <a:ea typeface="Times New Roman"/>
                        <a:cs typeface="Times New Roman"/>
                      </a:endParaRPr>
                    </a:p>
                  </a:txBody>
                  <a:tcPr marL="33146" marR="33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As 7 Regras de Ouro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67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504" y="772344"/>
            <a:ext cx="885698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 assinação dos chamados é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obrigatória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pelo grupo que recebe o chamado, e deve acontecer em até </a:t>
            </a:r>
            <a:r>
              <a:rPr lang="pt-BR" sz="1200" b="1" u="sng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30 minutos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(transferência do chamado para seu grupo &gt; assinação). </a:t>
            </a: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O tempo de assinação de 30 minutos, deve respeitar o turno de trabalho do grupo, conforme cadastro na ferramenta </a:t>
            </a:r>
            <a:r>
              <a:rPr lang="pt-BR" sz="1200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TDInterativa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.</a:t>
            </a: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analista / grupo solucionador na assinação do chamado?</a:t>
            </a:r>
          </a:p>
          <a:p>
            <a:endParaRPr lang="pt-BR" sz="800" b="1" dirty="0" smtClean="0">
              <a:solidFill>
                <a:srgbClr val="002060"/>
              </a:solidFill>
              <a:latin typeface="Gill Sans Std Light" pitchFamily="34" charset="0"/>
              <a:sym typeface="Gill Sans"/>
            </a:endParaRP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Verificar e ajustar, se necessário, o escopo de atendimento (através da categoria do serviço)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Verificar informações básicas do chamado que permita o início do atendimento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Atualizar o status do chamado para “em andamento”</a:t>
            </a:r>
          </a:p>
          <a:p>
            <a:pPr lvl="1"/>
            <a:endParaRPr lang="pt-BR" sz="12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Como fazer para assinar um chamado?</a:t>
            </a:r>
          </a:p>
          <a:p>
            <a:pPr marL="628650" lvl="1" indent="-171450">
              <a:buFont typeface="Courier New" pitchFamily="49" charset="0"/>
              <a:buChar char="o"/>
            </a:pPr>
            <a:endParaRPr lang="pt-BR" sz="8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lvl="1"/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&lt;&lt;Print campo responsável - 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TDInterativa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&gt;&gt;</a:t>
            </a:r>
          </a:p>
          <a:p>
            <a:pPr marL="628650" lvl="1" indent="-171450">
              <a:buFont typeface="Courier New" pitchFamily="49" charset="0"/>
              <a:buChar char="o"/>
            </a:pP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628650" lvl="1" indent="-171450">
              <a:buFont typeface="Courier New" pitchFamily="49" charset="0"/>
              <a:buChar char="o"/>
            </a:pPr>
            <a:endParaRPr lang="pt-BR" sz="1200" b="1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171450" indent="-171450">
              <a:buFont typeface="Courier New" pitchFamily="49" charset="0"/>
              <a:buChar char="o"/>
            </a:pPr>
            <a:endParaRPr lang="pt-BR" sz="1200" b="1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Assinação de Chamados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6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3854" y="756442"/>
            <a:ext cx="884063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 transferência do chamado (para outro grupo), quando necessária, deverá acontecer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preferencialmente no momento da assinação do chamado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, como resultado da ação de verificação do escopo de atendimento.</a:t>
            </a:r>
          </a:p>
          <a:p>
            <a:endParaRPr lang="pt-BR" sz="12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Caso a transferência se faça necessária, algumas regras devem ser observadas: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endParaRPr lang="pt-BR" sz="12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171450" indent="-171450">
              <a:buFont typeface="Wingdings" pitchFamily="2" charset="2"/>
              <a:buChar char="q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Transferência do chamado porque o serviço está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fora do escopo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(o serviço solicitado não faz parte do catálogo de serviços do grupo): 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Quando o analista / grupo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têm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conhecimento do escopo (categoria do serviço) correto: O analista modifica a categoria do serviço para o escopo apropriado e salva o chamado. Ao fazer isso, o chamado será transferido automaticamente para o grupo correspondente.</a:t>
            </a:r>
          </a:p>
          <a:p>
            <a:pPr marL="628650" lvl="1" indent="-171450">
              <a:buFont typeface="Wingdings" pitchFamily="2" charset="2"/>
              <a:buChar char="§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Quando o analista / grupo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não têm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conhecimento do escopo (categoria do serviço) correto: O analista modifica a categoria do serviço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para: “</a:t>
            </a:r>
            <a:r>
              <a:rPr lang="pt-BR" sz="1200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FollowUp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”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e salva o chamado. Ao fazer isso, o chamado será transferido automaticamente para o grupo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do Service Desk para posterior assinação de categoria.</a:t>
            </a:r>
          </a:p>
          <a:p>
            <a:endParaRPr lang="pt-BR" sz="12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analista / grupo solucionador na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transferência do </a:t>
            </a:r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chamado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?</a:t>
            </a:r>
          </a:p>
          <a:p>
            <a:endParaRPr lang="pt-BR" sz="800" b="1" dirty="0" smtClean="0">
              <a:solidFill>
                <a:srgbClr val="002060"/>
              </a:solidFill>
              <a:latin typeface="Gill Sans Std Light" pitchFamily="34" charset="0"/>
              <a:sym typeface="Gill Sans"/>
            </a:endParaRP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Atualização do chamado, informando os motivos da transferência bem como toda informação histórica relevante para continuação do atendimento. </a:t>
            </a:r>
            <a:r>
              <a:rPr lang="pt-BR" sz="1200" u="sng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Importante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observar a necessidade da atualização estar visível para o usuário final.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171450" indent="-171450">
              <a:buFont typeface="Wingdings" pitchFamily="2" charset="2"/>
              <a:buChar char="q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Quando uma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ação de outro grupo se faz necessária para continuação do atendimento do chamado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(exemplo: validações, verificações, aprovações, execuções, </a:t>
            </a:r>
            <a:r>
              <a:rPr lang="pt-BR" sz="1200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etc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) verificar item:  “Chamado Pai e Chamado Filho”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Transferência de Chamados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28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772344"/>
            <a:ext cx="8712968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Para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que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a TD possa trabalhar em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linha com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a regra de outro #3,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algumas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regras devem ser observadas:</a:t>
            </a:r>
          </a:p>
          <a:p>
            <a:endParaRPr lang="pt-BR" sz="8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O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campo “interno” (ver imagem abaixo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) da ferramenta </a:t>
            </a:r>
            <a:r>
              <a:rPr lang="pt-BR" sz="1200" dirty="0" err="1" smtClean="0">
                <a:solidFill>
                  <a:srgbClr val="6E6259"/>
                </a:solidFill>
                <a:latin typeface="Gill Sans Std Light" pitchFamily="34" charset="0"/>
              </a:rPr>
              <a:t>TDInterativa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possibilita controlar que a informação atualizada no chamado fique visível ou não visível para consulta pelo usuário final. </a:t>
            </a:r>
          </a:p>
          <a:p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>Importante: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A marcação ‘</a:t>
            </a:r>
            <a:r>
              <a:rPr lang="pt-BR" sz="1200" i="1" dirty="0" err="1">
                <a:solidFill>
                  <a:srgbClr val="6E6259"/>
                </a:solidFill>
                <a:latin typeface="Gill Sans Std Light" pitchFamily="34" charset="0"/>
              </a:rPr>
              <a:t>flag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’ neste campo, indica que o usuário final não consiga ler as informações que foram salvas na atualização do chamado. </a:t>
            </a:r>
          </a:p>
          <a:p>
            <a:endParaRPr lang="pt-BR" sz="8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Regras 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>para utilização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deste importante mecanismo de comunicação, para gerenciar a expectativa do usuário (visível externamente):</a:t>
            </a:r>
          </a:p>
          <a:p>
            <a:pPr lvl="1"/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- Escrita de forma clara e amigável;</a:t>
            </a:r>
          </a:p>
          <a:p>
            <a:pPr lvl="1"/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-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Atualização de previsão de atendimento;</a:t>
            </a:r>
          </a:p>
          <a:p>
            <a:pPr lvl="1"/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- Atualização para pedidos de teste ou complemento de informação;</a:t>
            </a:r>
          </a:p>
          <a:p>
            <a:pPr lvl="1"/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- Atualização de status do chamado;</a:t>
            </a:r>
          </a:p>
          <a:p>
            <a:pPr lvl="1"/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- Sempre que o chamado tiver o SLA violado, o analista responsável deverá colocar uma nova previsão de atendimento;</a:t>
            </a:r>
          </a:p>
          <a:p>
            <a:pPr lvl="1"/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- Ao solucionar 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chamado (atividade &gt; solução),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para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dar visibilidade ao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colaborador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sobre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a ação que foi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efetuada na resolução;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</a:endParaRPr>
          </a:p>
          <a:p>
            <a:endParaRPr lang="pt-BR" sz="8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>Atenção: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</a:rPr>
              <a:t>Inserir a informação de forma que fique visível para o usuário não significa que ele irá ler. Sempre que uma confirmação de recebimento da informação se faça necessária pelo usuário, além de disponibilizar a atualização no chamado, prefira 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>contatar o usuário também por telefone, </a:t>
            </a:r>
            <a:r>
              <a:rPr lang="pt-BR" sz="1200" b="1" dirty="0" err="1">
                <a:solidFill>
                  <a:srgbClr val="6E6259"/>
                </a:solidFill>
                <a:latin typeface="Gill Sans Std Light" pitchFamily="34" charset="0"/>
              </a:rPr>
              <a:t>lync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</a:rPr>
              <a:t> ou e-mail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</a:rPr>
              <a:t>.</a:t>
            </a: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&lt;&lt;Imagem &gt;&gt;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Gerenciando a expectativa do usuário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21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3854" y="756442"/>
            <a:ext cx="884063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Algumas vezes, para que o serviço seja plenamente restabelecido ou uma solicitação atendida, se faz necessário a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colaboração de outros grupos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. </a:t>
            </a:r>
          </a:p>
          <a:p>
            <a:endParaRPr lang="pt-BR" sz="8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Quando a ação de outro grupo se faz necessária para continuação do atendimento do chamado, a seguinte regra precisa ser observada:</a:t>
            </a:r>
          </a:p>
          <a:p>
            <a:endParaRPr lang="pt-BR" sz="8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Conceitos Chamado Pai e Chamado Filho:</a:t>
            </a:r>
          </a:p>
          <a:p>
            <a:pPr marL="685800" lvl="1" indent="-228600">
              <a:buAutoNum type="alphaLcParenR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Incidente ‘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master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’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, ou seja, o chamado (geralmente o primeiro aberto) utilizado para representar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outros incidentes da mesma natureza / origem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abertos após a identificação de um problema generalizado. Neste caso, o chamado Pai representará os chamados Filhos.</a:t>
            </a:r>
          </a:p>
          <a:p>
            <a:pPr marL="685800" lvl="1" indent="-228600">
              <a:buAutoNum type="alphaLcParenR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Incidente ou Requisição único que 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centraliza o escopo total do chamado e acompanha o progresso até sua resolução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. Neste caso, o grupo detentor do chamado Pai abre chamado(s) Filho(s) para outros grupos com ações (serviços) específicas que contribuem para a solução do chamado Pai.</a:t>
            </a:r>
          </a:p>
          <a:p>
            <a:endParaRPr lang="pt-BR" sz="8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analista / grupo solucionador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que detêm o chamado Pai?</a:t>
            </a:r>
            <a:endParaRPr lang="pt-BR" sz="1200" b="1" dirty="0">
              <a:solidFill>
                <a:srgbClr val="002060"/>
              </a:solidFill>
              <a:latin typeface="Gill Sans Std Light" pitchFamily="34" charset="0"/>
              <a:sym typeface="Gill Sans"/>
            </a:endParaRPr>
          </a:p>
          <a:p>
            <a:pPr marL="628650" lvl="2" indent="-171450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Atualização regular do chamado, gerenciando a expectativa do usuário</a:t>
            </a:r>
          </a:p>
          <a:p>
            <a:pPr marL="628650" lvl="2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Fazer a gestão dos chamados Filhos assinados para outros grupos.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628650" lvl="2" indent="-171450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Notificar o Service Desk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e a Central de Comando Natura sempre que um chamado Pai, do tipo 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‘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master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’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for identificado.</a:t>
            </a:r>
          </a:p>
          <a:p>
            <a:endParaRPr lang="pt-BR" sz="8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analista / grupo solucionador que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recebe um chamado Filho?</a:t>
            </a:r>
          </a:p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Nenhuma ação específica é necessária na atuação de chamado Filho. 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Um chamado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filho, aberto por outro grupo, respeita o mesmo fluxo e regras de chamado normal.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endParaRPr lang="pt-BR" sz="800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Service Desk?</a:t>
            </a:r>
            <a:endParaRPr lang="pt-BR" sz="1200" b="1" dirty="0">
              <a:solidFill>
                <a:srgbClr val="002060"/>
              </a:solidFill>
              <a:latin typeface="Gill Sans Std Light" pitchFamily="34" charset="0"/>
              <a:sym typeface="Gill Sans"/>
            </a:endParaRP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Comunicar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a comunidade usuária e TD quando um chamado Pai do tipo 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‘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master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’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é identificado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Acompanhar o progresso dos chamados Pai do tipo 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‘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master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’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até a resolução</a:t>
            </a: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Chamado Pai e Chamado Filho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68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504" y="772344"/>
            <a:ext cx="8244408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</a:rPr>
              <a:t>Algumas obrigações do analista antes de resolver o chamado devem ser observadas.</a:t>
            </a: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O que é esperado do analista / grupo solucionador na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resolução do </a:t>
            </a:r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chamado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?</a:t>
            </a:r>
          </a:p>
          <a:p>
            <a:endParaRPr lang="pt-BR" sz="1200" b="1" dirty="0">
              <a:solidFill>
                <a:srgbClr val="002060"/>
              </a:solidFill>
              <a:latin typeface="Gill Sans Std Light" pitchFamily="34" charset="0"/>
              <a:sym typeface="Gill Sans"/>
            </a:endParaRP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Ajustar</a:t>
            </a: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, se necessário, o escopo de atendimento (através da categoria do serviço)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Ajustar, se necessário,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o Item de Configuração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Ajustar, se necessário, o 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responsável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Aplicar o resolução dos chamados Filho, quando necessário</a:t>
            </a: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.</a:t>
            </a:r>
          </a:p>
          <a:p>
            <a:pPr marL="628650" lvl="1" indent="-171450">
              <a:buFont typeface="Courier New" pitchFamily="49" charset="0"/>
              <a:buChar char="o"/>
            </a:pPr>
            <a:r>
              <a:rPr lang="pt-BR" sz="1200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Validar a resolução do chamado junto ao usuário final </a:t>
            </a:r>
            <a:r>
              <a:rPr lang="pt-BR" sz="1200" dirty="0" smtClean="0">
                <a:solidFill>
                  <a:srgbClr val="FF0000"/>
                </a:solidFill>
                <a:latin typeface="Gill Sans Std Light" pitchFamily="34" charset="0"/>
                <a:sym typeface="Gill Sans"/>
              </a:rPr>
              <a:t>*</a:t>
            </a:r>
            <a:endParaRPr lang="pt-BR" sz="1200" dirty="0">
              <a:solidFill>
                <a:srgbClr val="FF0000"/>
              </a:solidFill>
              <a:latin typeface="Gill Sans Std Light" pitchFamily="34" charset="0"/>
              <a:sym typeface="Gill Sans"/>
            </a:endParaRPr>
          </a:p>
          <a:p>
            <a:pPr lvl="1"/>
            <a:endParaRPr lang="pt-BR" sz="8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Como fazer para </a:t>
            </a:r>
            <a:r>
              <a:rPr lang="pt-BR" sz="1200" b="1" dirty="0" smtClean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resolver um </a:t>
            </a:r>
            <a:r>
              <a:rPr lang="pt-BR" sz="1200" b="1" dirty="0">
                <a:solidFill>
                  <a:srgbClr val="002060"/>
                </a:solidFill>
                <a:latin typeface="Gill Sans Std Light" pitchFamily="34" charset="0"/>
                <a:sym typeface="Gill Sans"/>
              </a:rPr>
              <a:t>chamado?</a:t>
            </a:r>
          </a:p>
          <a:p>
            <a:pPr marL="628650" lvl="1" indent="-171450">
              <a:buFont typeface="Courier New" pitchFamily="49" charset="0"/>
              <a:buChar char="o"/>
            </a:pPr>
            <a:endParaRPr lang="pt-BR" sz="8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lvl="1"/>
            <a:r>
              <a:rPr lang="pt-BR" sz="1200" i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&lt;&lt;Print </a:t>
            </a:r>
            <a:r>
              <a:rPr lang="pt-BR" sz="1200" i="1" dirty="0" err="1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TDInterativa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&gt;&gt;</a:t>
            </a:r>
          </a:p>
          <a:p>
            <a:pPr lvl="1"/>
            <a:endParaRPr lang="pt-BR" sz="1200" i="1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r>
              <a:rPr lang="pt-BR" sz="1200" b="1" dirty="0" smtClean="0">
                <a:solidFill>
                  <a:srgbClr val="FF0000"/>
                </a:solidFill>
                <a:latin typeface="Gill Sans Std Light" pitchFamily="34" charset="0"/>
                <a:sym typeface="Gill Sans"/>
              </a:rPr>
              <a:t>*</a:t>
            </a:r>
            <a:r>
              <a:rPr lang="pt-BR" sz="1200" b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Atenção</a:t>
            </a:r>
            <a:r>
              <a:rPr lang="pt-BR" sz="1200" b="1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: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</a:t>
            </a:r>
            <a:r>
              <a:rPr lang="pt-BR" sz="1200" i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Sempre que uma confirmação de </a:t>
            </a:r>
            <a:r>
              <a:rPr lang="pt-BR" sz="1200" i="1" dirty="0" smtClean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informação </a:t>
            </a:r>
            <a:r>
              <a:rPr lang="pt-BR" sz="1200" i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se faça necessária pelo usuário, além de disponibilizar a atualização no chamado, prefira </a:t>
            </a:r>
            <a:r>
              <a:rPr lang="pt-BR" sz="1200" b="1" i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contatar o usuário também por 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telefone, </a:t>
            </a:r>
            <a:r>
              <a:rPr lang="pt-BR" sz="1200" b="1" i="1" dirty="0" err="1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lync</a:t>
            </a:r>
            <a:r>
              <a:rPr lang="pt-BR" sz="1200" b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 ou e-mail</a:t>
            </a:r>
            <a:r>
              <a:rPr lang="pt-BR" sz="1200" i="1" dirty="0">
                <a:solidFill>
                  <a:srgbClr val="6E6259"/>
                </a:solidFill>
                <a:latin typeface="Gill Sans Std Light" pitchFamily="34" charset="0"/>
                <a:sym typeface="Gill Sans"/>
              </a:rPr>
              <a:t>.</a:t>
            </a:r>
          </a:p>
          <a:p>
            <a:pPr lvl="1"/>
            <a:endParaRPr lang="pt-BR" sz="1200" i="1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lvl="1"/>
            <a:endParaRPr lang="pt-BR" sz="1200" i="1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lvl="1"/>
            <a:endParaRPr lang="pt-BR" sz="1200" i="1" dirty="0" smtClean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endParaRPr lang="pt-BR" sz="12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Resolução de Chamados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88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Gestão de Chamados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Incidente e Requisição – </a:t>
            </a:r>
            <a:r>
              <a:rPr lang="pt-BR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GAPs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 existentes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79512" y="916360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  <a:p>
            <a:pPr marL="1085850" lvl="2" indent="-171450">
              <a:buFont typeface="Courier New" pitchFamily="49" charset="0"/>
              <a:buChar char="o"/>
            </a:pPr>
            <a:endParaRPr lang="pt-BR" sz="1200" dirty="0">
              <a:solidFill>
                <a:srgbClr val="6E6259"/>
              </a:solidFill>
              <a:latin typeface="Gill Sans Std Light" pitchFamily="34" charset="0"/>
              <a:sym typeface="Gill Sans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762101"/>
              </p:ext>
            </p:extLst>
          </p:nvPr>
        </p:nvGraphicFramePr>
        <p:xfrm>
          <a:off x="107504" y="772344"/>
          <a:ext cx="8856985" cy="1728191"/>
        </p:xfrm>
        <a:graphic>
          <a:graphicData uri="http://schemas.openxmlformats.org/drawingml/2006/table">
            <a:tbl>
              <a:tblPr/>
              <a:tblGrid>
                <a:gridCol w="185222"/>
                <a:gridCol w="2047026"/>
                <a:gridCol w="2304256"/>
                <a:gridCol w="2376264"/>
                <a:gridCol w="1119136"/>
                <a:gridCol w="825081"/>
              </a:tblGrid>
              <a:tr h="15830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#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GAP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Impacto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Área Impactada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Show-</a:t>
                      </a:r>
                      <a:r>
                        <a:rPr lang="pt-BR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Stopper</a:t>
                      </a: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?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</a:tr>
              <a:tr h="11213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TTO vs 'SLA de atendimento' dos fornecedores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Alguns fornecedores tem SLA de Atendimento (contratual), que conflitam com o TTO definido de 30 min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TD pode cobrar o fornecedor por um TTO que não está sendo gerido pelo fornecedor por questões contratuais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GERA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13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SONDA - FIELD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13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Sustentação</a:t>
                      </a: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27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Chamado Filho - Usuário final afetado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Qual deve ser o "usuário final afetado" em chamados filho?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Notificação para usuário indesejada para os chamados filhos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Todas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Chamado Filho - Requisições padrão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Serviço que requer por padrão atuação de mais de um grupo, devem ser mapeados para eventuais ajustes no processo / </a:t>
                      </a:r>
                      <a:r>
                        <a:rPr lang="pt-BR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SLAs</a:t>
                      </a:r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SLA violado; serviço não entregue adequadamente (usuário e grupo)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Gestão de Acessos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Chamados podem ser resolvidos por grupos onde a categoria não faz parte do escopo de atendimento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Chamados só poderiam ser resolvidos pelo grupo, se a categoria fizer parte do seu catálogo de 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serviços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Falta de visibilidade / capacidade analítica para visão por categoria de serviços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Todas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Não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40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Transferência de chamado de Torre Tecnica N1 &gt; N2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É necessário validar as categorias de N2 para os chamados que atualmente são transferidos do N1 para N2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Transferência pode não funcionar se a categoria não estiver cadastrada para o grupo que irá receber o chamado (N2</a:t>
                      </a:r>
                      <a:r>
                        <a:rPr lang="pt-B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)</a:t>
                      </a:r>
                    </a:p>
                    <a:p>
                      <a:pPr algn="l" fontAlgn="b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867" marR="5867" marT="58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Infra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5867" marR="5867" marT="58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993407"/>
              </p:ext>
            </p:extLst>
          </p:nvPr>
        </p:nvGraphicFramePr>
        <p:xfrm>
          <a:off x="457200" y="2932584"/>
          <a:ext cx="8229599" cy="1373479"/>
        </p:xfrm>
        <a:graphic>
          <a:graphicData uri="http://schemas.openxmlformats.org/drawingml/2006/table">
            <a:tbl>
              <a:tblPr/>
              <a:tblGrid>
                <a:gridCol w="2944808"/>
                <a:gridCol w="2944808"/>
                <a:gridCol w="2339983"/>
              </a:tblGrid>
              <a:tr h="19446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Ação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Detalhes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Responsável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6502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Gerenciando expectativa do usuário - campo interno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Campo “interno”: Campo deve ser não-flegado por default na solução do chamado (INC e REQ). O analista N1 e N2 não poderá modificar.</a:t>
                      </a:r>
                    </a:p>
                  </a:txBody>
                  <a:tcPr marL="8455" marR="8455" marT="84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ITSM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20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Campo “interno”: Campo deve ser não-flegado por default nas atualizações do chamado. O Analista poderá modificar (flag / não-flag).</a:t>
                      </a:r>
                    </a:p>
                  </a:txBody>
                  <a:tcPr marL="8455" marR="8455" marT="84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ITSM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TTO vs Turno de trabalho dos grupos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Cadastrar o turno de trabalho dos grupos no CA SDM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ITSM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42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14030</TotalTime>
  <Words>1500</Words>
  <Application>Microsoft Office PowerPoint</Application>
  <PresentationFormat>Personalizar</PresentationFormat>
  <Paragraphs>166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br93826</cp:lastModifiedBy>
  <cp:revision>407</cp:revision>
  <dcterms:created xsi:type="dcterms:W3CDTF">2014-10-02T13:42:42Z</dcterms:created>
  <dcterms:modified xsi:type="dcterms:W3CDTF">2015-05-12T16:48:38Z</dcterms:modified>
</cp:coreProperties>
</file>