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21" r:id="rId2"/>
    <p:sldId id="311" r:id="rId3"/>
    <p:sldId id="328" r:id="rId4"/>
    <p:sldId id="350" r:id="rId5"/>
    <p:sldId id="351" r:id="rId6"/>
    <p:sldId id="359" r:id="rId7"/>
    <p:sldId id="352" r:id="rId8"/>
    <p:sldId id="362" r:id="rId9"/>
    <p:sldId id="353" r:id="rId10"/>
    <p:sldId id="357" r:id="rId11"/>
    <p:sldId id="354" r:id="rId12"/>
    <p:sldId id="355" r:id="rId13"/>
    <p:sldId id="356" r:id="rId14"/>
    <p:sldId id="294" r:id="rId15"/>
    <p:sldId id="363" r:id="rId16"/>
  </p:sldIdLst>
  <p:sldSz cx="9144000" cy="5145088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6992"/>
    <a:srgbClr val="FFFFCC"/>
    <a:srgbClr val="6E6259"/>
    <a:srgbClr val="FFFF66"/>
    <a:srgbClr val="009999"/>
    <a:srgbClr val="FF3300"/>
    <a:srgbClr val="00AEC7"/>
    <a:srgbClr val="D9D9D6"/>
    <a:srgbClr val="888B8D"/>
    <a:srgbClr val="B9D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5" autoAdjust="0"/>
    <p:restoredTop sz="98007" autoAdjust="0"/>
  </p:normalViewPr>
  <p:slideViewPr>
    <p:cSldViewPr>
      <p:cViewPr>
        <p:scale>
          <a:sx n="100" d="100"/>
          <a:sy n="100" d="100"/>
        </p:scale>
        <p:origin x="-414" y="-150"/>
      </p:cViewPr>
      <p:guideLst>
        <p:guide orient="horz" pos="162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DE6E5-E07D-4B09-8E65-F65F958CE3EF}" type="datetimeFigureOut">
              <a:rPr lang="pt-BR" smtClean="0"/>
              <a:t>03/06/2015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78FC1-7175-4FC0-9A71-4055CB28838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762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81781-342B-4DE8-B23F-A8BE0A6A0156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9370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B8AA46C2-DF76-4655-9279-129C2DA078F7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3813" y="381000"/>
            <a:ext cx="6905626" cy="3886200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dirty="0" smtClean="0">
              <a:latin typeface="Arial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03/06/2015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013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03/06/2015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932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03/06/2015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981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03/06/2015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965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03/06/2015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48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03/06/2015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796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03/06/2015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556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03/06/2015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543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03/06/2015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818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03/06/2015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2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829"/>
            <a:ext cx="2057400" cy="329309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829"/>
            <a:ext cx="6019800" cy="329309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03/06/2015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2961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060FA-F017-416B-92AB-F93AA45D987F}" type="datetimeFigureOut">
              <a:rPr lang="pt-BR" smtClean="0"/>
              <a:t>03/06/2015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929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equipes.natura.net/vptd/processo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E:\Users\BR92457\Documents\Treinamento Requisitos\Fotos\WIL_0967.jp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14542" r="7754" b="5856"/>
          <a:stretch/>
        </p:blipFill>
        <p:spPr bwMode="auto">
          <a:xfrm flipH="1">
            <a:off x="-1" y="1"/>
            <a:ext cx="9143999" cy="51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F377-FF4E-4DB0-BA25-7D8400C0382B}" type="slidenum">
              <a:rPr lang="pt-BR" smtClean="0"/>
              <a:t>1</a:t>
            </a:fld>
            <a:endParaRPr lang="pt-BR" dirty="0"/>
          </a:p>
        </p:txBody>
      </p:sp>
      <p:grpSp>
        <p:nvGrpSpPr>
          <p:cNvPr id="6" name="Grupo 5"/>
          <p:cNvGrpSpPr/>
          <p:nvPr/>
        </p:nvGrpSpPr>
        <p:grpSpPr>
          <a:xfrm>
            <a:off x="323657" y="700336"/>
            <a:ext cx="3979068" cy="3691717"/>
            <a:chOff x="323657" y="916360"/>
            <a:chExt cx="3979068" cy="3691717"/>
          </a:xfrm>
        </p:grpSpPr>
        <p:sp>
          <p:nvSpPr>
            <p:cNvPr id="4" name="Retângulo 3"/>
            <p:cNvSpPr/>
            <p:nvPr/>
          </p:nvSpPr>
          <p:spPr>
            <a:xfrm>
              <a:off x="323657" y="916360"/>
              <a:ext cx="3979068" cy="3691717"/>
            </a:xfrm>
            <a:prstGeom prst="rect">
              <a:avLst/>
            </a:prstGeom>
            <a:solidFill>
              <a:srgbClr val="FE5000">
                <a:alpha val="6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483706" y="1107267"/>
              <a:ext cx="3658970" cy="2100575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/>
              <a:r>
                <a:rPr lang="pt-BR" sz="2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ExtraBold" pitchFamily="34" charset="0"/>
                </a:rPr>
                <a:t>Projeto</a:t>
              </a:r>
              <a:endParaRPr lang="pt-BR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endParaRPr>
            </a:p>
            <a:p>
              <a:pPr algn="ctr"/>
              <a:r>
                <a:rPr lang="pt-BR" sz="2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ExtraBold" pitchFamily="34" charset="0"/>
                </a:rPr>
                <a:t>Metrô 2.0</a:t>
              </a:r>
            </a:p>
            <a:p>
              <a:pPr algn="ctr"/>
              <a:endParaRPr lang="pt-BR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endParaRPr>
            </a:p>
            <a:p>
              <a:pPr algn="ctr"/>
              <a:r>
                <a:rPr lang="pt-BR" sz="2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Light" pitchFamily="34" charset="0"/>
                </a:rPr>
                <a:t>Melhoria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Light" pitchFamily="34" charset="0"/>
                </a:rPr>
                <a:t>Contínua dos Serviços de TD</a:t>
              </a:r>
            </a:p>
            <a:p>
              <a:pPr algn="ctr"/>
              <a:endPara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endParaRPr>
            </a:p>
          </p:txBody>
        </p:sp>
        <p:grpSp>
          <p:nvGrpSpPr>
            <p:cNvPr id="5" name="Grupo 4"/>
            <p:cNvGrpSpPr/>
            <p:nvPr/>
          </p:nvGrpSpPr>
          <p:grpSpPr>
            <a:xfrm>
              <a:off x="416100" y="2987511"/>
              <a:ext cx="3363812" cy="809169"/>
              <a:chOff x="560116" y="2843495"/>
              <a:chExt cx="3363812" cy="809169"/>
            </a:xfrm>
          </p:grpSpPr>
          <p:pic>
            <p:nvPicPr>
              <p:cNvPr id="7" name="Picture 8" descr="NAT_marca_branca_natura-01.png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4412" y="2910565"/>
                <a:ext cx="699516" cy="6368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8" name="Conector reto 7"/>
              <p:cNvCxnSpPr/>
              <p:nvPr/>
            </p:nvCxnSpPr>
            <p:spPr>
              <a:xfrm>
                <a:off x="3091882" y="2843495"/>
                <a:ext cx="0" cy="809169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CaixaDeTexto 8"/>
              <p:cNvSpPr txBox="1"/>
              <p:nvPr/>
            </p:nvSpPr>
            <p:spPr>
              <a:xfrm>
                <a:off x="560116" y="2910565"/>
                <a:ext cx="25202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BR" sz="1600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ill Sans Std" pitchFamily="34" charset="0"/>
                  </a:rPr>
                  <a:t>Gerência de Governança</a:t>
                </a:r>
              </a:p>
              <a:p>
                <a:pPr algn="r"/>
                <a:r>
                  <a:rPr lang="pt-BR" sz="1600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ill Sans Std" pitchFamily="34" charset="0"/>
                  </a:rPr>
                  <a:t>VPTD</a:t>
                </a:r>
                <a:endParaRPr lang="pt-BR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" pitchFamily="34" charset="0"/>
                </a:endParaRPr>
              </a:p>
            </p:txBody>
          </p:sp>
        </p:grpSp>
        <p:sp>
          <p:nvSpPr>
            <p:cNvPr id="14" name="CaixaDeTexto 13"/>
            <p:cNvSpPr txBox="1"/>
            <p:nvPr/>
          </p:nvSpPr>
          <p:spPr>
            <a:xfrm>
              <a:off x="3366463" y="4228728"/>
              <a:ext cx="858633" cy="251702"/>
            </a:xfrm>
            <a:prstGeom prst="rect">
              <a:avLst/>
            </a:prstGeom>
            <a:noFill/>
          </p:spPr>
          <p:txBody>
            <a:bodyPr wrap="square" lIns="81628" tIns="40814" rIns="81628" bIns="40814" rtlCol="0">
              <a:spAutoFit/>
            </a:bodyPr>
            <a:lstStyle/>
            <a:p>
              <a:pPr algn="ctr" defTabSz="816277"/>
              <a:r>
                <a:rPr lang="pt-BR" sz="11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" pitchFamily="34" charset="0"/>
                </a:rPr>
                <a:t>Maio 2015</a:t>
              </a:r>
              <a:endParaRPr lang="pt-BR" sz="1100" b="1" i="1" dirty="0">
                <a:solidFill>
                  <a:schemeClr val="bg1"/>
                </a:solidFill>
                <a:latin typeface="Gill Sans Std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4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PLANEJAMENTO ESTRATÉGICO E COMUNICAÇÃO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Introduç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ão – Governança 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tângulo 3"/>
          <p:cNvSpPr/>
          <p:nvPr/>
        </p:nvSpPr>
        <p:spPr>
          <a:xfrm>
            <a:off x="0" y="772344"/>
            <a:ext cx="3222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dirty="0">
                <a:solidFill>
                  <a:srgbClr val="473729"/>
                </a:solidFill>
                <a:latin typeface="Gill Sans Std" pitchFamily="34" charset="0"/>
              </a:rPr>
              <a:t>MAPA METRÔ DE PROCESSOS</a:t>
            </a:r>
            <a:endParaRPr lang="pt-BR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520" y="1420416"/>
            <a:ext cx="5311960" cy="288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tângulo 8"/>
          <p:cNvSpPr/>
          <p:nvPr/>
        </p:nvSpPr>
        <p:spPr>
          <a:xfrm>
            <a:off x="134008" y="1780456"/>
            <a:ext cx="3357872" cy="2048893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defTabSz="1088369"/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revisado em </a:t>
            </a:r>
            <a:r>
              <a:rPr lang="pt-BR" sz="1400" dirty="0" err="1" smtClean="0">
                <a:solidFill>
                  <a:srgbClr val="473729"/>
                </a:solidFill>
                <a:latin typeface="Gill Sans Std Light" pitchFamily="34" charset="0"/>
              </a:rPr>
              <a:t>abr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/2015 para incluir novas definições de </a:t>
            </a:r>
            <a:r>
              <a:rPr lang="pt-BR" sz="1400" dirty="0">
                <a:solidFill>
                  <a:srgbClr val="473729"/>
                </a:solidFill>
                <a:latin typeface="Gill Sans Std Light" pitchFamily="34" charset="0"/>
              </a:rPr>
              <a:t>G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estão de Demandas (implantação </a:t>
            </a:r>
            <a:r>
              <a:rPr lang="pt-BR" sz="1400" dirty="0" err="1" smtClean="0">
                <a:solidFill>
                  <a:srgbClr val="473729"/>
                </a:solidFill>
                <a:latin typeface="Gill Sans Std Light" pitchFamily="34" charset="0"/>
              </a:rPr>
              <a:t>Clarity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), inserção dos fóruns relevantes e evoluções da melhoria contínua 2014</a:t>
            </a:r>
          </a:p>
          <a:p>
            <a:pPr defTabSz="1088369"/>
            <a:endParaRPr lang="pt-BR" sz="1400" dirty="0" smtClean="0">
              <a:solidFill>
                <a:srgbClr val="473729"/>
              </a:solidFill>
              <a:latin typeface="Gill Sans Std Light" pitchFamily="34" charset="0"/>
            </a:endParaRPr>
          </a:p>
          <a:p>
            <a:pPr defTabSz="1088369"/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disponível em português e espanhol para todos os colaboradores TD (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  <a:hlinkClick r:id="rId4"/>
              </a:rPr>
              <a:t>equipes.natura.net/</a:t>
            </a:r>
            <a:r>
              <a:rPr lang="pt-BR" sz="1400" dirty="0" err="1" smtClean="0">
                <a:solidFill>
                  <a:srgbClr val="473729"/>
                </a:solidFill>
                <a:latin typeface="Gill Sans Std Light" pitchFamily="34" charset="0"/>
                <a:hlinkClick r:id="rId4"/>
              </a:rPr>
              <a:t>vptd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  <a:hlinkClick r:id="rId4"/>
              </a:rPr>
              <a:t>/processos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52722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PLANEJAMENTO ESTRATÉGICO E COMUNICAÇÃO</a:t>
            </a:r>
          </a:p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Introdução – Governança 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tângulo 12"/>
          <p:cNvSpPr/>
          <p:nvPr/>
        </p:nvSpPr>
        <p:spPr>
          <a:xfrm>
            <a:off x="21039" y="1187842"/>
            <a:ext cx="9015393" cy="540788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defTabSz="1088369"/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figura como um processo de TD, mas é gerido pelo time corporativo de Planejamento Estratégico, que propõem o modelo, dinâmica, cronograma e formatos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168141"/>
            <a:ext cx="4182905" cy="2276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etângulo de cantos arredondados 15"/>
          <p:cNvSpPr/>
          <p:nvPr/>
        </p:nvSpPr>
        <p:spPr>
          <a:xfrm>
            <a:off x="4867731" y="3004592"/>
            <a:ext cx="712381" cy="1512168"/>
          </a:xfrm>
          <a:prstGeom prst="roundRect">
            <a:avLst/>
          </a:prstGeom>
          <a:noFill/>
          <a:ln>
            <a:solidFill>
              <a:srgbClr val="E6242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5" y="2024125"/>
            <a:ext cx="4558475" cy="2564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772344"/>
            <a:ext cx="20360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dirty="0" smtClean="0">
                <a:solidFill>
                  <a:srgbClr val="473729"/>
                </a:solidFill>
                <a:latin typeface="Gill Sans Std" pitchFamily="34" charset="0"/>
              </a:rPr>
              <a:t>PROCESSO ATUAL</a:t>
            </a:r>
            <a:endParaRPr lang="pt-BR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90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PLANEJAMENTO ESTRATÉGICO E COMUNICAÇÃO</a:t>
            </a:r>
          </a:p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Introdução – Governança 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772344"/>
            <a:ext cx="20360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dirty="0" smtClean="0">
                <a:solidFill>
                  <a:srgbClr val="473729"/>
                </a:solidFill>
                <a:latin typeface="Gill Sans Std" pitchFamily="34" charset="0"/>
              </a:rPr>
              <a:t>PROCESSO ATUAL</a:t>
            </a:r>
            <a:endParaRPr lang="pt-BR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0" y="1359581"/>
            <a:ext cx="3695221" cy="1618006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defTabSz="1088369"/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2014 trouxe uma evolução, com a proposta de simplificar o modelo e integrar ações em “habilitadores estratégicos”, com gestão compartilhada dos objetivos</a:t>
            </a:r>
          </a:p>
          <a:p>
            <a:pPr defTabSz="1088369"/>
            <a:endParaRPr lang="pt-BR" sz="1400" dirty="0">
              <a:solidFill>
                <a:srgbClr val="473729"/>
              </a:solidFill>
              <a:latin typeface="Gill Sans Std Light" pitchFamily="34" charset="0"/>
            </a:endParaRPr>
          </a:p>
          <a:p>
            <a:pPr defTabSz="1088369"/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atuação de TD está ligada ao habilitador “</a:t>
            </a:r>
            <a:r>
              <a:rPr lang="pt-BR" sz="1400" dirty="0">
                <a:solidFill>
                  <a:srgbClr val="473729"/>
                </a:solidFill>
                <a:latin typeface="Gill Sans Std Light" pitchFamily="34" charset="0"/>
              </a:rPr>
              <a:t>i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nfraestrutura digital”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373103"/>
            <a:ext cx="5459643" cy="3071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052618"/>
            <a:ext cx="2697502" cy="1392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950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 Metrô 2.0 -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</a:p>
          <a:p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0" y="772344"/>
            <a:ext cx="34467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Contexto – O porquê do projeto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467545" y="1276400"/>
            <a:ext cx="8280888" cy="3064556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r>
              <a:rPr lang="pt-BR" sz="1600" dirty="0" smtClean="0"/>
              <a:t>Recentemente reestruturada (Projeto BES), </a:t>
            </a:r>
            <a:r>
              <a:rPr lang="pt-BR" sz="1600" dirty="0"/>
              <a:t>a área de Tecnologia Digital da Natura busca desenvolver e manter </a:t>
            </a:r>
            <a:r>
              <a:rPr lang="pt-BR" sz="1600" dirty="0" smtClean="0"/>
              <a:t>práticas </a:t>
            </a:r>
            <a:r>
              <a:rPr lang="pt-BR" sz="1600" dirty="0"/>
              <a:t>de atuação baseadas em processos, que proporcionem uma evolução permanente dos resultados de Governança e Gestão de Serviços de TI e sucessivas melhorias de eficiência e eficácia de seus profissionais, de modo a aumentar de forma gradual e sustentável a contribuição da Tecnologia Digital para a consecução dos objetivos da estratégia de negócios da Natura. </a:t>
            </a:r>
          </a:p>
          <a:p>
            <a:r>
              <a:rPr lang="pt-BR" sz="1600" dirty="0"/>
              <a:t>A abordagem da TD busca, portanto, uma transformação. Mas, ciente dos desafios a que se propõe e da necessidade de preservar os investimentos realizados, o conhecimento proprietário e os ativos de TI da organização, não pretende uma ruptura, mas antes uma evolução de suas boas práticas, com ganhos substanciais de sinergia entre suas áreas de competência e as de seus parceiros. Evolução – e não revolução – é a tônica da transformação pretendida. </a:t>
            </a:r>
            <a:endParaRPr lang="pt-BR" sz="1600" dirty="0" smtClean="0"/>
          </a:p>
          <a:p>
            <a:endParaRPr lang="pt-BR" sz="1600" dirty="0" smtClean="0">
              <a:solidFill>
                <a:srgbClr val="473729"/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586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39552" y="930166"/>
            <a:ext cx="777686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kern="0" dirty="0">
                <a:solidFill>
                  <a:srgbClr val="0070C0"/>
                </a:solidFill>
                <a:ea typeface="Calibri" pitchFamily="34" charset="0"/>
              </a:rPr>
              <a:t>Os maiores fatore inibidores (barreiras) para a adoção de modelo de processos baseados em boas práticas?</a:t>
            </a:r>
            <a:endParaRPr lang="pt-BR" kern="0" dirty="0">
              <a:solidFill>
                <a:srgbClr val="0070C0"/>
              </a:solidFill>
              <a:ea typeface="Calibri" pitchFamily="34" charset="0"/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566093" y="3724672"/>
            <a:ext cx="775032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O </a:t>
            </a:r>
            <a:r>
              <a:rPr kumimoji="0" lang="pt-BR" sz="1600" b="0" i="0" u="none" strike="noStrike" kern="0" cap="none" spc="0" normalizeH="0" baseline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Gartner</a:t>
            </a:r>
            <a:r>
              <a:rPr kumimoji="0" lang="pt-BR" sz="1600" b="0" i="0" u="none" strike="noStrike" kern="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realizou</a:t>
            </a:r>
            <a:r>
              <a:rPr kumimoji="0" lang="pt-BR" sz="1600" b="0" i="0" u="none" strike="noStrike" kern="0" cap="none" spc="0" normalizeH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uma pesquisa com grandes empresas de TI nas Américas e Europa e nos centros Asiáticos que suportam operações de diferentes empresas ao redor do mundo (off-</a:t>
            </a:r>
            <a:r>
              <a:rPr kumimoji="0" lang="pt-BR" sz="1600" b="0" i="0" u="none" strike="noStrike" kern="0" cap="none" spc="0" normalizeH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shore</a:t>
            </a:r>
            <a:r>
              <a:rPr kumimoji="0" lang="pt-BR" sz="1600" b="0" i="0" u="none" strike="noStrike" kern="0" cap="none" spc="0" normalizeH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)</a:t>
            </a:r>
            <a:r>
              <a:rPr kumimoji="0" lang="pt-BR" sz="1600" b="0" i="0" u="none" strike="noStrike" kern="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. Podemos fazer uma análise entre a</a:t>
            </a:r>
            <a:r>
              <a:rPr kumimoji="0" lang="pt-BR" sz="1600" b="0" i="0" u="none" strike="noStrike" kern="0" cap="none" spc="0" normalizeH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TD e organizações externas com relação a adoção a processos.</a:t>
            </a:r>
            <a:endParaRPr kumimoji="0" lang="pt-BR" sz="1600" b="0" i="0" u="none" strike="noStrike" kern="0" cap="none" spc="0" normalizeH="0" baseline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54410" y="3383682"/>
            <a:ext cx="33496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i="0" u="none" strike="noStrike" kern="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Calibri" pitchFamily="34" charset="0"/>
              </a:rPr>
              <a:t>Fonte: </a:t>
            </a:r>
            <a:r>
              <a:rPr kumimoji="0" lang="pt-BR" sz="1100" i="0" u="none" strike="noStrike" kern="0" cap="none" spc="0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Calibri" pitchFamily="34" charset="0"/>
              </a:rPr>
              <a:t>Gartner</a:t>
            </a:r>
            <a:r>
              <a:rPr kumimoji="0" lang="pt-BR" sz="1100" i="0" u="none" strike="noStrike" kern="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Calibri" pitchFamily="34" charset="0"/>
              </a:rPr>
              <a:t> </a:t>
            </a:r>
            <a:r>
              <a:rPr kumimoji="0" lang="pt-BR" sz="1100" i="0" u="none" strike="noStrike" kern="0" cap="none" spc="0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Calibri" pitchFamily="34" charset="0"/>
              </a:rPr>
              <a:t>Research</a:t>
            </a:r>
            <a:r>
              <a:rPr kumimoji="0" lang="pt-BR" sz="1100" i="0" u="none" strike="noStrike" kern="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Calibri" pitchFamily="34" charset="0"/>
              </a:rPr>
              <a:t> (129 </a:t>
            </a:r>
            <a:r>
              <a:rPr kumimoji="0" lang="pt-BR" sz="1100" i="0" u="none" strike="noStrike" kern="0" cap="none" spc="0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Calibri" pitchFamily="34" charset="0"/>
              </a:rPr>
              <a:t>companies</a:t>
            </a:r>
            <a:r>
              <a:rPr kumimoji="0" lang="pt-BR" sz="1100" i="0" u="none" strike="noStrike" kern="0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Calibri" pitchFamily="34" charset="0"/>
              </a:rPr>
              <a:t>)</a:t>
            </a:r>
            <a:endParaRPr kumimoji="0" lang="pt-BR" sz="180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93" y="1636440"/>
            <a:ext cx="589597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aixaDeTexto 9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 Metrô 2.0 - </a:t>
            </a:r>
            <a:r>
              <a:rPr lang="pt-BR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</a:p>
          <a:p>
            <a:endParaRPr lang="pt-BR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78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0" y="772344"/>
            <a:ext cx="11128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Demanda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467545" y="1276400"/>
            <a:ext cx="8280888" cy="3556998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pt-BR" sz="1400" dirty="0" smtClean="0"/>
              <a:t>Avaliar </a:t>
            </a:r>
            <a:r>
              <a:rPr lang="pt-BR" sz="1400" dirty="0"/>
              <a:t>a qualidade e a conformidade dos processos de gerenciamento de serviços de TI da TD, abrangendo toda a dinâmica do </a:t>
            </a:r>
            <a:r>
              <a:rPr lang="pt-BR" sz="1400" b="1" dirty="0"/>
              <a:t>framework </a:t>
            </a:r>
            <a:r>
              <a:rPr lang="pt-BR" sz="1400" b="1" i="1" dirty="0"/>
              <a:t>Metrô</a:t>
            </a:r>
            <a:r>
              <a:rPr lang="pt-BR" sz="1400" dirty="0"/>
              <a:t>, tanto para o Brasil quanto para as Operações Internacionais;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pt-BR" sz="1400" dirty="0" smtClean="0"/>
              <a:t>Identificar </a:t>
            </a:r>
            <a:r>
              <a:rPr lang="pt-BR" sz="1400" dirty="0"/>
              <a:t>os GAP de conformidade, eventuais limitações dos processos e de suas ferramentas de automação, priorizando todas as oportunidades de melhorias;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pt-BR" sz="1400" dirty="0" smtClean="0"/>
              <a:t>Elaborar </a:t>
            </a:r>
            <a:r>
              <a:rPr lang="pt-BR" sz="1400" dirty="0"/>
              <a:t>e executar Planos de Ação para suprimir os GAP e consolidar as melhorias, estabelecendo ciclos de </a:t>
            </a:r>
            <a:r>
              <a:rPr lang="pt-BR" sz="1400" dirty="0" smtClean="0"/>
              <a:t>melhoria </a:t>
            </a:r>
            <a:r>
              <a:rPr lang="pt-BR" sz="1400" dirty="0"/>
              <a:t>orientados aos processos;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pt-BR" sz="1400" dirty="0" smtClean="0"/>
              <a:t>Identificar</a:t>
            </a:r>
            <a:r>
              <a:rPr lang="pt-BR" sz="1400" dirty="0"/>
              <a:t>, analisar, compreender e eliminar atitudes e comportamentos não condizentes com os objetivos de gerenciamento da TD;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pt-BR" sz="1400" dirty="0" smtClean="0"/>
              <a:t>Implantar </a:t>
            </a:r>
            <a:r>
              <a:rPr lang="pt-BR" sz="1400" dirty="0"/>
              <a:t>e executar práticas e controles para engajamento e responsabilização dos profissionais, estimulando a adesão às práticas de gerenciamento, a conformidade inegociável para com os processos definidos e o comprometimento com a qualidade dos serviços da TD;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pt-BR" sz="1400" dirty="0" smtClean="0"/>
              <a:t>Monitorar</a:t>
            </a:r>
            <a:r>
              <a:rPr lang="pt-BR" sz="1400" dirty="0"/>
              <a:t>, medir e divulgar resultados. </a:t>
            </a:r>
            <a:endParaRPr lang="pt-BR" sz="1400" dirty="0" smtClean="0"/>
          </a:p>
          <a:p>
            <a:endParaRPr lang="pt-BR" sz="1400" dirty="0"/>
          </a:p>
          <a:p>
            <a:r>
              <a:rPr lang="pt-BR" sz="1400" dirty="0" smtClean="0"/>
              <a:t>A </a:t>
            </a:r>
            <a:r>
              <a:rPr lang="pt-BR" sz="1400" dirty="0"/>
              <a:t>demanda é orientada aos processos de gestão e seus resultados, não devendo ser limitada a um ou mais serviços de TI, mas sim à melhoria efetiva dos controles sobre a qualidade e a conformidade, para a produção de indicadores que favoreçam uma rápida, precisa e eficaz tomada de decisão.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 Metrô 2.0 -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</a:p>
          <a:p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35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 Metrô 2.0 -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</a:p>
          <a:p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0" y="763052"/>
            <a:ext cx="17812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Time do Projeto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712" y="655856"/>
            <a:ext cx="6814792" cy="4505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048" name="Tabela 20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974541"/>
              </p:ext>
            </p:extLst>
          </p:nvPr>
        </p:nvGraphicFramePr>
        <p:xfrm>
          <a:off x="79597" y="3702566"/>
          <a:ext cx="2204589" cy="598170"/>
        </p:xfrm>
        <a:graphic>
          <a:graphicData uri="http://schemas.openxmlformats.org/drawingml/2006/table">
            <a:tbl>
              <a:tblPr/>
              <a:tblGrid>
                <a:gridCol w="1062632"/>
                <a:gridCol w="512695"/>
                <a:gridCol w="629262"/>
              </a:tblGrid>
              <a:tr h="15240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Esforço necessário dos recursos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Quem?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máx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Recurso Chave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 horas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8 horas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Recurso backup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52" name="Tabela 20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521135"/>
              </p:ext>
            </p:extLst>
          </p:nvPr>
        </p:nvGraphicFramePr>
        <p:xfrm>
          <a:off x="88454" y="1398310"/>
          <a:ext cx="2186207" cy="2177415"/>
        </p:xfrm>
        <a:graphic>
          <a:graphicData uri="http://schemas.openxmlformats.org/drawingml/2006/table">
            <a:tbl>
              <a:tblPr/>
              <a:tblGrid>
                <a:gridCol w="434803"/>
                <a:gridCol w="698937"/>
                <a:gridCol w="544520"/>
                <a:gridCol w="507947"/>
              </a:tblGrid>
              <a:tr h="144016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Perfil dos recursos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Comprometimento com a </a:t>
                      </a:r>
                      <a:r>
                        <a:rPr lang="pt-B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causa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Influenciador de boas </a:t>
                      </a:r>
                      <a:r>
                        <a:rPr lang="pt-B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práticas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Disponibilidade para escrever </a:t>
                      </a:r>
                      <a:r>
                        <a:rPr lang="pt-B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e desafiar processos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Olhar isento de julgamento prévio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Imparcialidade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Orientação para processos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Paixão pela Natura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Expectativa do Recurso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Necessário ter disponibilidade para trabalhar nas demandas do projeto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Pessoas interessadas, comprometidas com o propósito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56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0" y="763052"/>
            <a:ext cx="1988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Marcos do Projeto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467545" y="1174625"/>
            <a:ext cx="8280888" cy="3126111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r>
              <a:rPr lang="pt-BR" sz="1400" b="1" dirty="0">
                <a:solidFill>
                  <a:srgbClr val="002060"/>
                </a:solidFill>
              </a:rPr>
              <a:t>Fase 1: </a:t>
            </a:r>
            <a:r>
              <a:rPr lang="pt-BR" sz="1400" b="1" i="1" dirty="0" err="1">
                <a:solidFill>
                  <a:srgbClr val="002060"/>
                </a:solidFill>
              </a:rPr>
              <a:t>Assessment</a:t>
            </a:r>
            <a:endParaRPr lang="pt-BR" sz="1400" b="1" i="1" dirty="0">
              <a:solidFill>
                <a:srgbClr val="002060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pt-BR" sz="1400" dirty="0" smtClean="0"/>
              <a:t>Análise sobre todos os processos e </a:t>
            </a:r>
            <a:r>
              <a:rPr lang="pt-BR" sz="1400" dirty="0" err="1" smtClean="0"/>
              <a:t>sub-processos</a:t>
            </a:r>
            <a:r>
              <a:rPr lang="pt-BR" sz="1400" dirty="0" smtClean="0"/>
              <a:t> do Metrô, conhecidos como </a:t>
            </a:r>
            <a:r>
              <a:rPr lang="pt-BR" sz="1400" dirty="0" err="1" smtClean="0"/>
              <a:t>GTDs</a:t>
            </a:r>
            <a:r>
              <a:rPr lang="pt-BR" sz="1400" dirty="0" smtClean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pt-BR" sz="1400" dirty="0" smtClean="0"/>
              <a:t>Análise sobre  as áreas de Governança, GRP, Diretoria de Aplicações, Diretoria de Infraestrutura e Diretoria SAP Global, Operação Internacional.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pt-BR" sz="1400" dirty="0" smtClean="0"/>
              <a:t>Análise de Riscos estrutural, processual, ferramental e intelectual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pt-BR" sz="1400" dirty="0" smtClean="0"/>
              <a:t>Análise de </a:t>
            </a:r>
            <a:r>
              <a:rPr lang="pt-BR" sz="1400" i="1" dirty="0" err="1" smtClean="0"/>
              <a:t>GAPs</a:t>
            </a:r>
            <a:r>
              <a:rPr lang="pt-BR" sz="1400" dirty="0" smtClean="0"/>
              <a:t> estrutural, processual, ferramental e intelectual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pt-BR" sz="1400" dirty="0" smtClean="0"/>
              <a:t>Construção de Plano de Ação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pt-BR" sz="1400" dirty="0" smtClean="0"/>
              <a:t>Execução de Plano de Ação (</a:t>
            </a:r>
            <a:r>
              <a:rPr lang="pt-BR" sz="1400" i="1" dirty="0" err="1" smtClean="0"/>
              <a:t>quick-wins</a:t>
            </a:r>
            <a:r>
              <a:rPr lang="pt-BR" sz="1400" dirty="0" smtClean="0"/>
              <a:t>, ações de curto e médio prazo)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pt-BR" sz="1400" dirty="0" smtClean="0"/>
              <a:t>Transferência de conhecimento, Palestras, Workshops, </a:t>
            </a:r>
            <a:r>
              <a:rPr lang="pt-BR" sz="1400" i="1" dirty="0" smtClean="0"/>
              <a:t>Games</a:t>
            </a:r>
            <a:r>
              <a:rPr lang="pt-BR" sz="1400" dirty="0" smtClean="0"/>
              <a:t>, </a:t>
            </a:r>
            <a:r>
              <a:rPr lang="pt-BR" sz="1400" dirty="0" err="1" smtClean="0"/>
              <a:t>etc</a:t>
            </a:r>
            <a:endParaRPr lang="pt-BR" sz="1400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pt-BR" sz="1400" dirty="0" smtClean="0"/>
              <a:t>Implantação de conjunto básico de indicadores chaves para controle essencial das operações</a:t>
            </a:r>
          </a:p>
          <a:p>
            <a:pPr marL="285750" indent="-285750">
              <a:buFont typeface="Wingdings" pitchFamily="2" charset="2"/>
              <a:buChar char="Ø"/>
            </a:pPr>
            <a:endParaRPr lang="pt-BR" sz="1400" dirty="0" smtClean="0"/>
          </a:p>
          <a:p>
            <a:r>
              <a:rPr lang="pt-BR" sz="1400" b="1" dirty="0">
                <a:solidFill>
                  <a:srgbClr val="002060"/>
                </a:solidFill>
              </a:rPr>
              <a:t>Fase </a:t>
            </a:r>
            <a:r>
              <a:rPr lang="pt-BR" sz="1400" b="1" dirty="0" smtClean="0">
                <a:solidFill>
                  <a:srgbClr val="002060"/>
                </a:solidFill>
              </a:rPr>
              <a:t>2: Evolução</a:t>
            </a:r>
            <a:endParaRPr lang="pt-BR" sz="1400" b="1" dirty="0">
              <a:solidFill>
                <a:srgbClr val="002060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pt-BR" sz="1400" dirty="0" smtClean="0"/>
              <a:t>Implantação do processo de Melhoria Contínua</a:t>
            </a:r>
            <a:endParaRPr lang="pt-BR" sz="1400" dirty="0"/>
          </a:p>
          <a:p>
            <a:pPr marL="285750" indent="-285750">
              <a:buFont typeface="Wingdings" pitchFamily="2" charset="2"/>
              <a:buChar char="Ø"/>
            </a:pPr>
            <a:endParaRPr lang="pt-BR" sz="14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 Metrô 2.0 -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</a:p>
          <a:p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42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41"/>
          <p:cNvSpPr>
            <a:spLocks noChangeShapeType="1"/>
          </p:cNvSpPr>
          <p:nvPr/>
        </p:nvSpPr>
        <p:spPr bwMode="auto">
          <a:xfrm>
            <a:off x="846262" y="1770187"/>
            <a:ext cx="7326138" cy="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" name="Line 41"/>
          <p:cNvSpPr>
            <a:spLocks noChangeShapeType="1"/>
          </p:cNvSpPr>
          <p:nvPr/>
        </p:nvSpPr>
        <p:spPr bwMode="auto">
          <a:xfrm>
            <a:off x="846261" y="3485656"/>
            <a:ext cx="7326139" cy="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" name="Line 41"/>
          <p:cNvSpPr>
            <a:spLocks noChangeShapeType="1"/>
          </p:cNvSpPr>
          <p:nvPr/>
        </p:nvSpPr>
        <p:spPr bwMode="auto">
          <a:xfrm>
            <a:off x="846262" y="2573302"/>
            <a:ext cx="7326138" cy="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gray">
          <a:xfrm>
            <a:off x="1703115" y="1282824"/>
            <a:ext cx="3567112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0" rIns="36000" bIns="36000"/>
          <a:lstStyle/>
          <a:p>
            <a:pPr>
              <a:spcAft>
                <a:spcPct val="20000"/>
              </a:spcAft>
            </a:pPr>
            <a:r>
              <a:rPr lang="pt-BR" sz="1600" noProof="1" smtClean="0"/>
              <a:t>Relatório de Assessment</a:t>
            </a:r>
            <a:endParaRPr lang="pt-BR" sz="1600" noProof="1"/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gray">
          <a:xfrm>
            <a:off x="1734865" y="2069246"/>
            <a:ext cx="6941591" cy="25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0" rIns="36000" bIns="36000"/>
          <a:lstStyle/>
          <a:p>
            <a:pPr>
              <a:spcAft>
                <a:spcPct val="20000"/>
              </a:spcAft>
            </a:pPr>
            <a:r>
              <a:rPr lang="pt-BR" sz="1600" noProof="1" smtClean="0"/>
              <a:t>Apresentação / lista de GAPs e Riscos com base no assessment executado</a:t>
            </a:r>
            <a:endParaRPr lang="pt-BR" sz="1600" noProof="1"/>
          </a:p>
        </p:txBody>
      </p:sp>
      <p:grpSp>
        <p:nvGrpSpPr>
          <p:cNvPr id="11" name="Group 26"/>
          <p:cNvGrpSpPr>
            <a:grpSpLocks/>
          </p:cNvGrpSpPr>
          <p:nvPr/>
        </p:nvGrpSpPr>
        <p:grpSpPr bwMode="auto">
          <a:xfrm>
            <a:off x="1353865" y="1240087"/>
            <a:ext cx="349250" cy="349250"/>
            <a:chOff x="406400" y="3100388"/>
            <a:chExt cx="349250" cy="349250"/>
          </a:xfrm>
        </p:grpSpPr>
        <p:sp>
          <p:nvSpPr>
            <p:cNvPr id="12" name="Rectangle 26"/>
            <p:cNvSpPr>
              <a:spLocks noChangeArrowheads="1"/>
            </p:cNvSpPr>
            <p:nvPr/>
          </p:nvSpPr>
          <p:spPr bwMode="gray">
            <a:xfrm>
              <a:off x="406400" y="3100388"/>
              <a:ext cx="349250" cy="349250"/>
            </a:xfrm>
            <a:prstGeom prst="rect">
              <a:avLst/>
            </a:prstGeom>
            <a:gradFill rotWithShape="1">
              <a:gsLst>
                <a:gs pos="0">
                  <a:srgbClr val="C6C7C8"/>
                </a:gs>
                <a:gs pos="100000">
                  <a:srgbClr val="C6C7C8">
                    <a:gamma/>
                    <a:tint val="10196"/>
                    <a:invGamma/>
                  </a:srgbClr>
                </a:gs>
              </a:gsLst>
              <a:lin ang="5400000" scaled="1"/>
            </a:gradFill>
            <a:ln w="12700">
              <a:solidFill>
                <a:srgbClr val="DDDDD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808080">
                  <a:alpha val="50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endParaRPr lang="pt-BR" sz="1400" b="1">
                <a:solidFill>
                  <a:srgbClr val="C40505"/>
                </a:solidFill>
                <a:latin typeface="Arial" charset="0"/>
              </a:endParaRPr>
            </a:p>
          </p:txBody>
        </p:sp>
        <p:sp>
          <p:nvSpPr>
            <p:cNvPr id="13" name="WordArt 28"/>
            <p:cNvSpPr>
              <a:spLocks noChangeArrowheads="1" noChangeShapeType="1" noTextEdit="1"/>
            </p:cNvSpPr>
            <p:nvPr/>
          </p:nvSpPr>
          <p:spPr bwMode="gray">
            <a:xfrm rot="2618651" flipV="1">
              <a:off x="490538" y="3108325"/>
              <a:ext cx="225425" cy="2952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pt-BR" sz="1400" kern="10">
                  <a:ln w="19050">
                    <a:solidFill>
                      <a:srgbClr val="4C7013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9DB17E"/>
                      </a:gs>
                      <a:gs pos="50000">
                        <a:srgbClr val="4C7013"/>
                      </a:gs>
                      <a:gs pos="100000">
                        <a:srgbClr val="9DB17E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808080">
                        <a:alpha val="50000"/>
                      </a:srgbClr>
                    </a:outerShdw>
                  </a:effectLst>
                  <a:latin typeface="Wingdings"/>
                </a:rPr>
                <a:t>ê</a:t>
              </a:r>
            </a:p>
          </p:txBody>
        </p:sp>
      </p:grpSp>
      <p:grpSp>
        <p:nvGrpSpPr>
          <p:cNvPr id="14" name="Group 27"/>
          <p:cNvGrpSpPr>
            <a:grpSpLocks/>
          </p:cNvGrpSpPr>
          <p:nvPr/>
        </p:nvGrpSpPr>
        <p:grpSpPr bwMode="auto">
          <a:xfrm>
            <a:off x="1331640" y="2013837"/>
            <a:ext cx="349250" cy="349250"/>
            <a:chOff x="406400" y="3100388"/>
            <a:chExt cx="349250" cy="349250"/>
          </a:xfrm>
        </p:grpSpPr>
        <p:sp>
          <p:nvSpPr>
            <p:cNvPr id="15" name="Rectangle 26"/>
            <p:cNvSpPr>
              <a:spLocks noChangeArrowheads="1"/>
            </p:cNvSpPr>
            <p:nvPr/>
          </p:nvSpPr>
          <p:spPr bwMode="gray">
            <a:xfrm>
              <a:off x="406400" y="3100388"/>
              <a:ext cx="349250" cy="349250"/>
            </a:xfrm>
            <a:prstGeom prst="rect">
              <a:avLst/>
            </a:prstGeom>
            <a:gradFill rotWithShape="1">
              <a:gsLst>
                <a:gs pos="0">
                  <a:srgbClr val="C6C7C8"/>
                </a:gs>
                <a:gs pos="100000">
                  <a:srgbClr val="C6C7C8">
                    <a:gamma/>
                    <a:tint val="10196"/>
                    <a:invGamma/>
                  </a:srgbClr>
                </a:gs>
              </a:gsLst>
              <a:lin ang="5400000" scaled="1"/>
            </a:gradFill>
            <a:ln w="12700">
              <a:solidFill>
                <a:srgbClr val="DDDDD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808080">
                  <a:alpha val="50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endParaRPr lang="pt-BR" sz="1400" b="1">
                <a:solidFill>
                  <a:srgbClr val="C40505"/>
                </a:solidFill>
                <a:latin typeface="Arial" charset="0"/>
              </a:endParaRPr>
            </a:p>
          </p:txBody>
        </p:sp>
        <p:sp>
          <p:nvSpPr>
            <p:cNvPr id="16" name="WordArt 28"/>
            <p:cNvSpPr>
              <a:spLocks noChangeArrowheads="1" noChangeShapeType="1" noTextEdit="1"/>
            </p:cNvSpPr>
            <p:nvPr/>
          </p:nvSpPr>
          <p:spPr bwMode="gray">
            <a:xfrm rot="2618651" flipV="1">
              <a:off x="490538" y="3108325"/>
              <a:ext cx="225425" cy="2952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pt-BR" sz="1400" kern="10">
                  <a:ln w="19050">
                    <a:solidFill>
                      <a:srgbClr val="4C7013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9DB17E"/>
                      </a:gs>
                      <a:gs pos="50000">
                        <a:srgbClr val="4C7013"/>
                      </a:gs>
                      <a:gs pos="100000">
                        <a:srgbClr val="9DB17E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808080">
                        <a:alpha val="50000"/>
                      </a:srgbClr>
                    </a:outerShdw>
                  </a:effectLst>
                  <a:latin typeface="Wingdings"/>
                </a:rPr>
                <a:t>ê</a:t>
              </a:r>
            </a:p>
          </p:txBody>
        </p:sp>
      </p:grpSp>
      <p:grpSp>
        <p:nvGrpSpPr>
          <p:cNvPr id="21" name="Group 27"/>
          <p:cNvGrpSpPr>
            <a:grpSpLocks/>
          </p:cNvGrpSpPr>
          <p:nvPr/>
        </p:nvGrpSpPr>
        <p:grpSpPr bwMode="auto">
          <a:xfrm>
            <a:off x="1343565" y="2873209"/>
            <a:ext cx="349250" cy="349250"/>
            <a:chOff x="406400" y="3100388"/>
            <a:chExt cx="349250" cy="349250"/>
          </a:xfrm>
        </p:grpSpPr>
        <p:sp>
          <p:nvSpPr>
            <p:cNvPr id="22" name="Rectangle 26"/>
            <p:cNvSpPr>
              <a:spLocks noChangeArrowheads="1"/>
            </p:cNvSpPr>
            <p:nvPr/>
          </p:nvSpPr>
          <p:spPr bwMode="gray">
            <a:xfrm>
              <a:off x="406400" y="3100388"/>
              <a:ext cx="349250" cy="349250"/>
            </a:xfrm>
            <a:prstGeom prst="rect">
              <a:avLst/>
            </a:prstGeom>
            <a:gradFill rotWithShape="1">
              <a:gsLst>
                <a:gs pos="0">
                  <a:srgbClr val="C6C7C8"/>
                </a:gs>
                <a:gs pos="100000">
                  <a:srgbClr val="C6C7C8">
                    <a:gamma/>
                    <a:tint val="10196"/>
                    <a:invGamma/>
                  </a:srgbClr>
                </a:gs>
              </a:gsLst>
              <a:lin ang="5400000" scaled="1"/>
            </a:gradFill>
            <a:ln w="12700">
              <a:solidFill>
                <a:srgbClr val="DDDDD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808080">
                  <a:alpha val="50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endParaRPr lang="pt-BR" sz="1400" b="1">
                <a:solidFill>
                  <a:srgbClr val="C40505"/>
                </a:solidFill>
                <a:latin typeface="Arial" charset="0"/>
              </a:endParaRPr>
            </a:p>
          </p:txBody>
        </p:sp>
        <p:sp>
          <p:nvSpPr>
            <p:cNvPr id="23" name="WordArt 28"/>
            <p:cNvSpPr>
              <a:spLocks noChangeArrowheads="1" noChangeShapeType="1" noTextEdit="1"/>
            </p:cNvSpPr>
            <p:nvPr/>
          </p:nvSpPr>
          <p:spPr bwMode="gray">
            <a:xfrm rot="2618651" flipV="1">
              <a:off x="490538" y="3108325"/>
              <a:ext cx="225425" cy="2952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pt-BR" sz="1400" kern="10">
                  <a:ln w="19050">
                    <a:solidFill>
                      <a:srgbClr val="4C7013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9DB17E"/>
                      </a:gs>
                      <a:gs pos="50000">
                        <a:srgbClr val="4C7013"/>
                      </a:gs>
                      <a:gs pos="100000">
                        <a:srgbClr val="9DB17E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808080">
                        <a:alpha val="50000"/>
                      </a:srgbClr>
                    </a:outerShdw>
                  </a:effectLst>
                  <a:latin typeface="Wingdings"/>
                </a:rPr>
                <a:t>ê</a:t>
              </a:r>
            </a:p>
          </p:txBody>
        </p:sp>
      </p:grpSp>
      <p:sp>
        <p:nvSpPr>
          <p:cNvPr id="28" name="Rectangle 14"/>
          <p:cNvSpPr>
            <a:spLocks noChangeArrowheads="1"/>
          </p:cNvSpPr>
          <p:nvPr/>
        </p:nvSpPr>
        <p:spPr bwMode="gray">
          <a:xfrm>
            <a:off x="1745977" y="2834434"/>
            <a:ext cx="6930479" cy="243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0" rIns="36000" bIns="36000"/>
          <a:lstStyle/>
          <a:p>
            <a:pPr>
              <a:spcAft>
                <a:spcPct val="20000"/>
              </a:spcAft>
            </a:pPr>
            <a:r>
              <a:rPr lang="pt-BR" sz="1600" noProof="1"/>
              <a:t>Lista </a:t>
            </a:r>
            <a:r>
              <a:rPr lang="pt-BR" sz="1600" noProof="1"/>
              <a:t>de </a:t>
            </a:r>
            <a:r>
              <a:rPr lang="pt-BR" sz="1600" noProof="1" smtClean="0"/>
              <a:t>recomendações </a:t>
            </a:r>
            <a:r>
              <a:rPr lang="pt-BR" sz="1600" noProof="1"/>
              <a:t>para </a:t>
            </a:r>
            <a:r>
              <a:rPr lang="pt-BR" sz="1600" noProof="1"/>
              <a:t>os </a:t>
            </a:r>
            <a:r>
              <a:rPr lang="pt-BR" sz="1600" noProof="1" smtClean="0"/>
              <a:t>GAPs e Riscos, </a:t>
            </a:r>
            <a:r>
              <a:rPr lang="pt-BR" sz="1600" noProof="1"/>
              <a:t>por prioridade x Tempo </a:t>
            </a:r>
            <a:r>
              <a:rPr lang="pt-BR" sz="1600" noProof="1"/>
              <a:t>x </a:t>
            </a:r>
            <a:r>
              <a:rPr lang="pt-BR" sz="1600" noProof="1" smtClean="0"/>
              <a:t>Benefícios + Plano de Ação</a:t>
            </a:r>
            <a:endParaRPr lang="pt-BR" sz="1600" noProof="1"/>
          </a:p>
        </p:txBody>
      </p:sp>
      <p:grpSp>
        <p:nvGrpSpPr>
          <p:cNvPr id="29" name="Group 26"/>
          <p:cNvGrpSpPr>
            <a:grpSpLocks/>
          </p:cNvGrpSpPr>
          <p:nvPr/>
        </p:nvGrpSpPr>
        <p:grpSpPr bwMode="auto">
          <a:xfrm>
            <a:off x="1370874" y="3701680"/>
            <a:ext cx="349250" cy="349250"/>
            <a:chOff x="406400" y="3100388"/>
            <a:chExt cx="349250" cy="349250"/>
          </a:xfrm>
        </p:grpSpPr>
        <p:sp>
          <p:nvSpPr>
            <p:cNvPr id="30" name="Rectangle 26"/>
            <p:cNvSpPr>
              <a:spLocks noChangeArrowheads="1"/>
            </p:cNvSpPr>
            <p:nvPr/>
          </p:nvSpPr>
          <p:spPr bwMode="gray">
            <a:xfrm>
              <a:off x="406400" y="3100388"/>
              <a:ext cx="349250" cy="349250"/>
            </a:xfrm>
            <a:prstGeom prst="rect">
              <a:avLst/>
            </a:prstGeom>
            <a:gradFill rotWithShape="1">
              <a:gsLst>
                <a:gs pos="0">
                  <a:srgbClr val="C6C7C8"/>
                </a:gs>
                <a:gs pos="100000">
                  <a:srgbClr val="C6C7C8">
                    <a:gamma/>
                    <a:tint val="10196"/>
                    <a:invGamma/>
                  </a:srgbClr>
                </a:gs>
              </a:gsLst>
              <a:lin ang="5400000" scaled="1"/>
            </a:gradFill>
            <a:ln w="12700">
              <a:solidFill>
                <a:srgbClr val="DDDDD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808080">
                  <a:alpha val="50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endParaRPr lang="pt-BR" sz="1400" b="1">
                <a:solidFill>
                  <a:srgbClr val="C40505"/>
                </a:solidFill>
                <a:latin typeface="Arial" charset="0"/>
              </a:endParaRPr>
            </a:p>
          </p:txBody>
        </p:sp>
        <p:sp>
          <p:nvSpPr>
            <p:cNvPr id="31" name="WordArt 28"/>
            <p:cNvSpPr>
              <a:spLocks noChangeArrowheads="1" noChangeShapeType="1" noTextEdit="1"/>
            </p:cNvSpPr>
            <p:nvPr/>
          </p:nvSpPr>
          <p:spPr bwMode="gray">
            <a:xfrm rot="2618651" flipV="1">
              <a:off x="490538" y="3108325"/>
              <a:ext cx="225425" cy="2952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pt-BR" sz="1400" kern="10">
                  <a:ln w="19050">
                    <a:solidFill>
                      <a:srgbClr val="4C7013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9DB17E"/>
                      </a:gs>
                      <a:gs pos="50000">
                        <a:srgbClr val="4C7013"/>
                      </a:gs>
                      <a:gs pos="100000">
                        <a:srgbClr val="9DB17E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808080">
                        <a:alpha val="50000"/>
                      </a:srgbClr>
                    </a:outerShdw>
                  </a:effectLst>
                  <a:latin typeface="Wingdings"/>
                </a:rPr>
                <a:t>ê</a:t>
              </a:r>
            </a:p>
          </p:txBody>
        </p:sp>
      </p:grpSp>
      <p:sp>
        <p:nvSpPr>
          <p:cNvPr id="32" name="Rectangle 14"/>
          <p:cNvSpPr>
            <a:spLocks noChangeArrowheads="1"/>
          </p:cNvSpPr>
          <p:nvPr/>
        </p:nvSpPr>
        <p:spPr bwMode="gray">
          <a:xfrm>
            <a:off x="1763688" y="3765656"/>
            <a:ext cx="6224240" cy="262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0" rIns="36000" bIns="36000"/>
          <a:lstStyle/>
          <a:p>
            <a:pPr>
              <a:spcAft>
                <a:spcPct val="20000"/>
              </a:spcAft>
            </a:pPr>
            <a:r>
              <a:rPr lang="pt-BR" sz="1600" noProof="1" smtClean="0"/>
              <a:t>XXX</a:t>
            </a:r>
            <a:endParaRPr lang="pt-BR" sz="1600" noProof="1"/>
          </a:p>
        </p:txBody>
      </p:sp>
      <p:sp>
        <p:nvSpPr>
          <p:cNvPr id="35" name="Line 41"/>
          <p:cNvSpPr>
            <a:spLocks noChangeShapeType="1"/>
          </p:cNvSpPr>
          <p:nvPr/>
        </p:nvSpPr>
        <p:spPr bwMode="auto">
          <a:xfrm>
            <a:off x="839459" y="4278502"/>
            <a:ext cx="7326139" cy="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6" name="CaixaDeTexto 3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 Metrô 2.0 -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</a:p>
          <a:p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37" name="Retângulo 36"/>
          <p:cNvSpPr/>
          <p:nvPr/>
        </p:nvSpPr>
        <p:spPr>
          <a:xfrm>
            <a:off x="0" y="763052"/>
            <a:ext cx="16614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Entregas Chave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7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0" y="763052"/>
            <a:ext cx="36519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Elegibilidade e Controles Gerenciais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467545" y="1174625"/>
            <a:ext cx="8280888" cy="3772442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r>
              <a:rPr lang="pt-BR" sz="1600" dirty="0" smtClean="0"/>
              <a:t>A TD objetiva estar apta para ser uma organização robusta e flexível que consiga ser reconhecida por uma gestão eficiente dos serviços que entrega aos parceiros e clientes internos. Para isso, devemos considerar alguns fatores essenciais que demonstram “controles gerenciais”. </a:t>
            </a:r>
          </a:p>
          <a:p>
            <a:r>
              <a:rPr lang="pt-BR" sz="1600" dirty="0" smtClean="0"/>
              <a:t>Os cinco elementos de controle para gestão de Serviços são:</a:t>
            </a:r>
          </a:p>
          <a:p>
            <a:endParaRPr lang="pt-BR" sz="1600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pt-BR" sz="1600" dirty="0" smtClean="0"/>
              <a:t>Conhecimento e controle de </a:t>
            </a:r>
            <a:r>
              <a:rPr lang="pt-BR" sz="1600" b="1" dirty="0" smtClean="0"/>
              <a:t>entradas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pt-BR" sz="1600" dirty="0" smtClean="0"/>
              <a:t>Conhecimento, uso e interpretação de </a:t>
            </a:r>
            <a:r>
              <a:rPr lang="pt-BR" sz="1600" b="1" dirty="0" smtClean="0"/>
              <a:t>saídas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pt-BR" sz="1600" dirty="0" smtClean="0"/>
              <a:t>Definição e mensuração de </a:t>
            </a:r>
            <a:r>
              <a:rPr lang="pt-BR" sz="1600" b="1" dirty="0" smtClean="0"/>
              <a:t>indicadores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pt-BR" sz="1600" dirty="0" smtClean="0"/>
              <a:t>Demonstração de evidências de </a:t>
            </a:r>
            <a:r>
              <a:rPr lang="pt-BR" sz="1600" b="1" dirty="0" smtClean="0"/>
              <a:t>responsabilidade</a:t>
            </a:r>
            <a:r>
              <a:rPr lang="pt-BR" sz="1600" dirty="0" smtClean="0"/>
              <a:t> por função dos processos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pt-BR" sz="1600" dirty="0" smtClean="0"/>
              <a:t>Definição, mensuração e revisão de </a:t>
            </a:r>
            <a:r>
              <a:rPr lang="pt-BR" sz="1600" b="1" dirty="0" smtClean="0"/>
              <a:t>melhoria</a:t>
            </a:r>
            <a:r>
              <a:rPr lang="pt-BR" sz="1600" dirty="0" smtClean="0"/>
              <a:t> de processos.</a:t>
            </a:r>
          </a:p>
          <a:p>
            <a:pPr marL="285750" indent="-285750">
              <a:buFont typeface="Wingdings" pitchFamily="2" charset="2"/>
              <a:buChar char="Ø"/>
            </a:pPr>
            <a:endParaRPr lang="pt-BR" sz="1600" dirty="0" smtClean="0"/>
          </a:p>
          <a:p>
            <a:r>
              <a:rPr lang="pt-BR" sz="1600" dirty="0" smtClean="0"/>
              <a:t>A análise desses cinco elementos de controles gerenciais, aplicados a TD e os resultados das análises dos </a:t>
            </a:r>
            <a:r>
              <a:rPr lang="pt-BR" sz="1600" dirty="0" err="1" smtClean="0"/>
              <a:t>assessments</a:t>
            </a:r>
            <a:r>
              <a:rPr lang="pt-BR" sz="1600" dirty="0" smtClean="0"/>
              <a:t> realizados na fase 1 do projeto são essenciais e devem estar cobertos por esse projeto.</a:t>
            </a:r>
          </a:p>
          <a:p>
            <a:pPr marL="285750" indent="-285750">
              <a:buFont typeface="Wingdings" pitchFamily="2" charset="2"/>
              <a:buChar char="Ø"/>
            </a:pPr>
            <a:endParaRPr lang="pt-BR" sz="14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 Metrô 2.0 -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</a:p>
          <a:p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97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0" y="763052"/>
            <a:ext cx="35074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Plano de Comunicação do Projeto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467545" y="1174625"/>
            <a:ext cx="8280888" cy="602343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pt-BR" sz="1600" dirty="0"/>
              <a:t>Comunicação é parte integrante </a:t>
            </a:r>
            <a:r>
              <a:rPr lang="pt-BR" sz="1600" dirty="0" smtClean="0"/>
              <a:t>do </a:t>
            </a:r>
            <a:r>
              <a:rPr lang="pt-BR" sz="1600" dirty="0"/>
              <a:t>projeto e deverá ser realizada durante toda a sua </a:t>
            </a:r>
            <a:r>
              <a:rPr lang="pt-BR" sz="1600" dirty="0" smtClean="0"/>
              <a:t>execução. No entanto, se faz necessário algumas comunicações pontuais, conforme abaixo: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 Metrô 2.0 -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</a:p>
          <a:p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469979"/>
              </p:ext>
            </p:extLst>
          </p:nvPr>
        </p:nvGraphicFramePr>
        <p:xfrm>
          <a:off x="467544" y="1921416"/>
          <a:ext cx="8424936" cy="2664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/>
                <a:gridCol w="1584176"/>
                <a:gridCol w="1584176"/>
                <a:gridCol w="1872208"/>
                <a:gridCol w="1800200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O que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Audiência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 smtClean="0"/>
                        <a:t>Quem</a:t>
                      </a:r>
                      <a:r>
                        <a:rPr lang="pt-BR" sz="1600" baseline="0" dirty="0" smtClean="0"/>
                        <a:t> comunica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Como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Quando</a:t>
                      </a:r>
                      <a:endParaRPr lang="pt-BR" sz="1600" dirty="0"/>
                    </a:p>
                  </a:txBody>
                  <a:tcPr/>
                </a:tc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pt-BR" sz="1400" baseline="0" dirty="0" smtClean="0"/>
                        <a:t>Awareness do Projeto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Toda TD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Agenor Leão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E-mail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Go-Live do projeto</a:t>
                      </a:r>
                      <a:endParaRPr lang="pt-BR" sz="1400" dirty="0"/>
                    </a:p>
                  </a:txBody>
                  <a:tcPr/>
                </a:tc>
              </a:tr>
              <a:tr h="561960">
                <a:tc>
                  <a:txBody>
                    <a:bodyPr/>
                    <a:lstStyle/>
                    <a:p>
                      <a:pPr algn="ctr"/>
                      <a:r>
                        <a:rPr lang="pt-BR" sz="1400" baseline="0" dirty="0" smtClean="0"/>
                        <a:t>Awareness do Projeto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Toda TD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Henrique Gherardi Júnior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Pessoalmente. Reunião TD (trimestral)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Agosto</a:t>
                      </a:r>
                      <a:endParaRPr lang="pt-BR" sz="1400" dirty="0"/>
                    </a:p>
                  </a:txBody>
                  <a:tcPr/>
                </a:tc>
              </a:tr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Status Report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Steering Committee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GP – Marcus Marques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E-mail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Semanalmente</a:t>
                      </a:r>
                      <a:endParaRPr lang="pt-BR" sz="1400" dirty="0"/>
                    </a:p>
                  </a:txBody>
                  <a:tcPr/>
                </a:tc>
              </a:tr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pt-BR" sz="1400" i="1" dirty="0" err="1" smtClean="0"/>
                        <a:t>Buy</a:t>
                      </a:r>
                      <a:r>
                        <a:rPr lang="pt-BR" sz="1400" i="1" dirty="0" smtClean="0"/>
                        <a:t>-In</a:t>
                      </a:r>
                      <a:endParaRPr lang="pt-BR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Analistas e Coordenadores 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Marcus Marques / Adolpho Chacón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Workshop - Game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Go-Live do projeto</a:t>
                      </a:r>
                    </a:p>
                    <a:p>
                      <a:pPr algn="ctr"/>
                      <a:endParaRPr lang="pt-BR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237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8"/>
          <p:cNvSpPr>
            <a:spLocks noChangeArrowheads="1"/>
          </p:cNvSpPr>
          <p:nvPr/>
        </p:nvSpPr>
        <p:spPr bwMode="auto">
          <a:xfrm>
            <a:off x="361950" y="2505869"/>
            <a:ext cx="865188" cy="504825"/>
          </a:xfrm>
          <a:prstGeom prst="flowChartAlternateProcess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3" name="Group 9"/>
          <p:cNvGrpSpPr>
            <a:grpSpLocks noChangeAspect="1"/>
          </p:cNvGrpSpPr>
          <p:nvPr/>
        </p:nvGrpSpPr>
        <p:grpSpPr bwMode="auto">
          <a:xfrm>
            <a:off x="722313" y="1526837"/>
            <a:ext cx="7591425" cy="2845907"/>
            <a:chOff x="3501" y="1427"/>
            <a:chExt cx="8298" cy="6208"/>
          </a:xfrm>
        </p:grpSpPr>
        <p:sp>
          <p:nvSpPr>
            <p:cNvPr id="34" name="AutoShape 10"/>
            <p:cNvSpPr>
              <a:spLocks noChangeAspect="1" noChangeArrowheads="1"/>
            </p:cNvSpPr>
            <p:nvPr/>
          </p:nvSpPr>
          <p:spPr bwMode="auto">
            <a:xfrm>
              <a:off x="3501" y="1427"/>
              <a:ext cx="8298" cy="6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Rectangle 11"/>
            <p:cNvSpPr>
              <a:spLocks noChangeArrowheads="1"/>
            </p:cNvSpPr>
            <p:nvPr/>
          </p:nvSpPr>
          <p:spPr bwMode="auto">
            <a:xfrm>
              <a:off x="6822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DDDDD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Rectangle 12">
              <a:hlinkClick r:id="" action="ppaction://noaction"/>
            </p:cNvPr>
            <p:cNvSpPr>
              <a:spLocks noChangeArrowheads="1"/>
            </p:cNvSpPr>
            <p:nvPr/>
          </p:nvSpPr>
          <p:spPr bwMode="auto">
            <a:xfrm>
              <a:off x="8541" y="1427"/>
              <a:ext cx="1620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DDDDD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Rectangle 13"/>
            <p:cNvSpPr>
              <a:spLocks noChangeArrowheads="1"/>
            </p:cNvSpPr>
            <p:nvPr/>
          </p:nvSpPr>
          <p:spPr bwMode="auto">
            <a:xfrm>
              <a:off x="10161" y="1427"/>
              <a:ext cx="1638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DDDDD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Rectangle 14"/>
            <p:cNvSpPr>
              <a:spLocks noChangeArrowheads="1"/>
            </p:cNvSpPr>
            <p:nvPr/>
          </p:nvSpPr>
          <p:spPr bwMode="auto">
            <a:xfrm>
              <a:off x="5202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DDDDD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Rectangle 15"/>
            <p:cNvSpPr>
              <a:spLocks noChangeArrowheads="1"/>
            </p:cNvSpPr>
            <p:nvPr/>
          </p:nvSpPr>
          <p:spPr bwMode="auto">
            <a:xfrm>
              <a:off x="3501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DDDDD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0" name="Group 20"/>
          <p:cNvGrpSpPr>
            <a:grpSpLocks/>
          </p:cNvGrpSpPr>
          <p:nvPr/>
        </p:nvGrpSpPr>
        <p:grpSpPr bwMode="auto">
          <a:xfrm>
            <a:off x="700088" y="1526837"/>
            <a:ext cx="415528" cy="2845907"/>
            <a:chOff x="1248" y="768"/>
            <a:chExt cx="192" cy="3216"/>
          </a:xfrm>
        </p:grpSpPr>
        <p:sp>
          <p:nvSpPr>
            <p:cNvPr id="41" name="Line 21"/>
            <p:cNvSpPr>
              <a:spLocks noChangeShapeType="1"/>
            </p:cNvSpPr>
            <p:nvPr/>
          </p:nvSpPr>
          <p:spPr bwMode="auto">
            <a:xfrm>
              <a:off x="1344" y="864"/>
              <a:ext cx="0" cy="312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AutoShape 22"/>
            <p:cNvSpPr>
              <a:spLocks noChangeArrowheads="1"/>
            </p:cNvSpPr>
            <p:nvPr/>
          </p:nvSpPr>
          <p:spPr bwMode="auto">
            <a:xfrm flipV="1">
              <a:off x="1248" y="768"/>
              <a:ext cx="192" cy="14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127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3" name="Line 23"/>
          <p:cNvSpPr>
            <a:spLocks noChangeShapeType="1"/>
          </p:cNvSpPr>
          <p:nvPr/>
        </p:nvSpPr>
        <p:spPr bwMode="auto">
          <a:xfrm flipH="1">
            <a:off x="1509712" y="1526837"/>
            <a:ext cx="0" cy="2845907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" name="Line 24"/>
          <p:cNvSpPr>
            <a:spLocks noChangeShapeType="1"/>
          </p:cNvSpPr>
          <p:nvPr/>
        </p:nvSpPr>
        <p:spPr bwMode="auto">
          <a:xfrm>
            <a:off x="3064786" y="1504105"/>
            <a:ext cx="10202" cy="2982145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" name="Line 25"/>
          <p:cNvSpPr>
            <a:spLocks noChangeShapeType="1"/>
          </p:cNvSpPr>
          <p:nvPr/>
        </p:nvSpPr>
        <p:spPr bwMode="auto">
          <a:xfrm>
            <a:off x="4598989" y="1526837"/>
            <a:ext cx="0" cy="2845907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6" name="Line 26"/>
          <p:cNvSpPr>
            <a:spLocks noChangeShapeType="1"/>
          </p:cNvSpPr>
          <p:nvPr/>
        </p:nvSpPr>
        <p:spPr bwMode="auto">
          <a:xfrm>
            <a:off x="6074185" y="1526837"/>
            <a:ext cx="10703" cy="2959413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" name="Line 27"/>
          <p:cNvSpPr>
            <a:spLocks noChangeShapeType="1"/>
          </p:cNvSpPr>
          <p:nvPr/>
        </p:nvSpPr>
        <p:spPr bwMode="auto">
          <a:xfrm>
            <a:off x="7600156" y="1526837"/>
            <a:ext cx="23019" cy="2845907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8" name="AutoShape 29"/>
          <p:cNvSpPr>
            <a:spLocks noChangeArrowheads="1"/>
          </p:cNvSpPr>
          <p:nvPr/>
        </p:nvSpPr>
        <p:spPr bwMode="auto">
          <a:xfrm>
            <a:off x="1023007" y="1933687"/>
            <a:ext cx="1255465" cy="311150"/>
          </a:xfrm>
          <a:prstGeom prst="homePlate">
            <a:avLst>
              <a:gd name="adj" fmla="val 20998"/>
            </a:avLst>
          </a:prstGeom>
          <a:gradFill rotWithShape="0">
            <a:gsLst>
              <a:gs pos="0">
                <a:srgbClr val="89A5C7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526377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Planejamento</a:t>
            </a: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e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sz="1100" b="1" i="0" u="none" strike="noStrike" kern="0" cap="none" spc="0" normalizeH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Estratégia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" name="AutoShape 31"/>
          <p:cNvSpPr>
            <a:spLocks noChangeArrowheads="1"/>
          </p:cNvSpPr>
          <p:nvPr/>
        </p:nvSpPr>
        <p:spPr bwMode="auto">
          <a:xfrm>
            <a:off x="1508626" y="2354998"/>
            <a:ext cx="3567430" cy="217545"/>
          </a:xfrm>
          <a:prstGeom prst="homePlate">
            <a:avLst>
              <a:gd name="adj" fmla="val 37959"/>
            </a:avLst>
          </a:prstGeom>
          <a:gradFill rotWithShape="0">
            <a:gsLst>
              <a:gs pos="0">
                <a:srgbClr val="89A5C7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526377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Assessment</a:t>
            </a:r>
          </a:p>
        </p:txBody>
      </p:sp>
      <p:grpSp>
        <p:nvGrpSpPr>
          <p:cNvPr id="51" name="Group 40"/>
          <p:cNvGrpSpPr>
            <a:grpSpLocks/>
          </p:cNvGrpSpPr>
          <p:nvPr/>
        </p:nvGrpSpPr>
        <p:grpSpPr bwMode="auto">
          <a:xfrm>
            <a:off x="8085138" y="1526837"/>
            <a:ext cx="192087" cy="2845907"/>
            <a:chOff x="1248" y="768"/>
            <a:chExt cx="192" cy="3216"/>
          </a:xfrm>
        </p:grpSpPr>
        <p:sp>
          <p:nvSpPr>
            <p:cNvPr id="52" name="Line 41"/>
            <p:cNvSpPr>
              <a:spLocks noChangeShapeType="1"/>
            </p:cNvSpPr>
            <p:nvPr/>
          </p:nvSpPr>
          <p:spPr bwMode="auto">
            <a:xfrm>
              <a:off x="1344" y="864"/>
              <a:ext cx="0" cy="312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AutoShape 42"/>
            <p:cNvSpPr>
              <a:spLocks noChangeArrowheads="1"/>
            </p:cNvSpPr>
            <p:nvPr/>
          </p:nvSpPr>
          <p:spPr bwMode="auto">
            <a:xfrm flipV="1">
              <a:off x="1248" y="768"/>
              <a:ext cx="192" cy="14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127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4" name="Rectangle 16"/>
          <p:cNvSpPr>
            <a:spLocks noChangeArrowheads="1"/>
          </p:cNvSpPr>
          <p:nvPr/>
        </p:nvSpPr>
        <p:spPr bwMode="auto">
          <a:xfrm>
            <a:off x="722313" y="4372744"/>
            <a:ext cx="7597775" cy="227012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50000">
                <a:srgbClr val="FFEAE5"/>
              </a:gs>
              <a:gs pos="100000">
                <a:srgbClr val="FF3300"/>
              </a:gs>
            </a:gsLst>
            <a:lin ang="5400000" scaled="1"/>
          </a:gradFill>
          <a:ln w="9525">
            <a:solidFill>
              <a:srgbClr val="696261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1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Arial" pitchFamily="34" charset="0"/>
            </a:endParaRPr>
          </a:p>
        </p:txBody>
      </p:sp>
      <p:sp>
        <p:nvSpPr>
          <p:cNvPr id="55" name="AutoShape 28"/>
          <p:cNvSpPr>
            <a:spLocks noChangeArrowheads="1"/>
          </p:cNvSpPr>
          <p:nvPr/>
        </p:nvSpPr>
        <p:spPr bwMode="auto">
          <a:xfrm>
            <a:off x="1023007" y="1670387"/>
            <a:ext cx="7062132" cy="208756"/>
          </a:xfrm>
          <a:prstGeom prst="homePlate">
            <a:avLst>
              <a:gd name="adj" fmla="val 59781"/>
            </a:avLst>
          </a:prstGeom>
          <a:gradFill rotWithShape="0">
            <a:gsLst>
              <a:gs pos="0">
                <a:srgbClr val="89A5C7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526377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Gestão do Projeto</a:t>
            </a:r>
          </a:p>
        </p:txBody>
      </p:sp>
      <p:sp>
        <p:nvSpPr>
          <p:cNvPr id="57" name="AutoShape 32"/>
          <p:cNvSpPr>
            <a:spLocks noChangeArrowheads="1"/>
          </p:cNvSpPr>
          <p:nvPr/>
        </p:nvSpPr>
        <p:spPr bwMode="auto">
          <a:xfrm>
            <a:off x="3851099" y="2801392"/>
            <a:ext cx="3457205" cy="317052"/>
          </a:xfrm>
          <a:prstGeom prst="homePlate">
            <a:avLst>
              <a:gd name="adj" fmla="val 74036"/>
            </a:avLst>
          </a:prstGeom>
          <a:gradFill rotWithShape="0">
            <a:gsLst>
              <a:gs pos="0">
                <a:srgbClr val="E4720A"/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>
              <a:lnSpc>
                <a:spcPct val="90000"/>
              </a:lnSpc>
            </a:pPr>
            <a:r>
              <a:rPr lang="en-US" sz="1100" b="1" kern="0" dirty="0">
                <a:solidFill>
                  <a:sysClr val="windowText" lastClr="000000"/>
                </a:solidFill>
                <a:latin typeface="Arial" charset="0"/>
              </a:rPr>
              <a:t>Plano de </a:t>
            </a:r>
            <a:r>
              <a:rPr lang="en-US" sz="1100" b="1" kern="0" dirty="0" err="1">
                <a:solidFill>
                  <a:sysClr val="windowText" lastClr="000000"/>
                </a:solidFill>
                <a:latin typeface="Arial" charset="0"/>
              </a:rPr>
              <a:t>Ação</a:t>
            </a:r>
            <a:endParaRPr lang="en-US" sz="1100" b="1" kern="0" dirty="0">
              <a:solidFill>
                <a:sysClr val="windowText" lastClr="000000"/>
              </a:solidFill>
              <a:latin typeface="Arial" charset="0"/>
            </a:endParaRPr>
          </a:p>
        </p:txBody>
      </p:sp>
      <p:sp>
        <p:nvSpPr>
          <p:cNvPr id="58" name="AutoShape 34"/>
          <p:cNvSpPr>
            <a:spLocks noChangeArrowheads="1"/>
          </p:cNvSpPr>
          <p:nvPr/>
        </p:nvSpPr>
        <p:spPr bwMode="auto">
          <a:xfrm>
            <a:off x="6130057" y="3724672"/>
            <a:ext cx="1538287" cy="404813"/>
          </a:xfrm>
          <a:prstGeom prst="homePlate">
            <a:avLst>
              <a:gd name="adj" fmla="val 36099"/>
            </a:avLst>
          </a:prstGeom>
          <a:gradFill rotWithShape="0">
            <a:gsLst>
              <a:gs pos="0">
                <a:srgbClr val="00FF0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009900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lvl="0" algn="ctr">
              <a:lnSpc>
                <a:spcPct val="90000"/>
              </a:lnSpc>
            </a:pPr>
            <a:r>
              <a:rPr lang="pt-BR" sz="1100" b="1" kern="0" dirty="0">
                <a:solidFill>
                  <a:sysClr val="windowText" lastClr="000000"/>
                </a:solidFill>
              </a:rPr>
              <a:t>Workshop </a:t>
            </a:r>
            <a:r>
              <a:rPr lang="pt-BR" sz="1100" b="1" kern="0" dirty="0" smtClean="0">
                <a:solidFill>
                  <a:sysClr val="windowText" lastClr="000000"/>
                </a:solidFill>
              </a:rPr>
              <a:t>- </a:t>
            </a:r>
            <a:r>
              <a:rPr lang="pt-BR" sz="1100" b="1" kern="0" dirty="0">
                <a:solidFill>
                  <a:sysClr val="windowText" lastClr="000000"/>
                </a:solidFill>
              </a:rPr>
              <a:t>Processo de Melhoria </a:t>
            </a:r>
            <a:r>
              <a:rPr lang="pt-BR" sz="1100" b="1" kern="0" dirty="0" smtClean="0">
                <a:solidFill>
                  <a:sysClr val="windowText" lastClr="000000"/>
                </a:solidFill>
              </a:rPr>
              <a:t>Contínua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9" name="TextBox 29"/>
          <p:cNvSpPr txBox="1">
            <a:spLocks noChangeArrowheads="1"/>
          </p:cNvSpPr>
          <p:nvPr/>
        </p:nvSpPr>
        <p:spPr bwMode="auto">
          <a:xfrm>
            <a:off x="375444" y="1211718"/>
            <a:ext cx="134458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Arial" pitchFamily="34" charset="0"/>
              </a:rPr>
              <a:t>09/</a:t>
            </a:r>
            <a:r>
              <a:rPr kumimoji="0" lang="pt-BR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Arial" pitchFamily="34" charset="0"/>
              </a:rPr>
              <a:t>Jun</a:t>
            </a: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Arial" pitchFamily="34" charset="0"/>
              </a:rPr>
              <a:t>/2015</a:t>
            </a:r>
          </a:p>
        </p:txBody>
      </p:sp>
      <p:sp>
        <p:nvSpPr>
          <p:cNvPr id="60" name="TextBox 30"/>
          <p:cNvSpPr txBox="1">
            <a:spLocks noChangeArrowheads="1"/>
          </p:cNvSpPr>
          <p:nvPr/>
        </p:nvSpPr>
        <p:spPr bwMode="auto">
          <a:xfrm>
            <a:off x="7546181" y="1195049"/>
            <a:ext cx="120228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Arial" pitchFamily="34" charset="0"/>
              </a:rPr>
              <a:t>18/</a:t>
            </a:r>
            <a:r>
              <a:rPr kumimoji="0" lang="pt-BR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Arial" pitchFamily="34" charset="0"/>
              </a:rPr>
              <a:t>Ago</a:t>
            </a: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Arial" pitchFamily="34" charset="0"/>
              </a:rPr>
              <a:t>/2015</a:t>
            </a:r>
          </a:p>
        </p:txBody>
      </p:sp>
      <p:sp>
        <p:nvSpPr>
          <p:cNvPr id="63" name="CaixaDeTexto 6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 Metrô 2.0 -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</a:p>
          <a:p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64" name="Texto explicativo retangular 63"/>
          <p:cNvSpPr/>
          <p:nvPr/>
        </p:nvSpPr>
        <p:spPr>
          <a:xfrm>
            <a:off x="4013969" y="1996480"/>
            <a:ext cx="1008112" cy="265737"/>
          </a:xfrm>
          <a:prstGeom prst="wedgeRectCallout">
            <a:avLst>
              <a:gd name="adj1" fmla="val -31226"/>
              <a:gd name="adj2" fmla="val 112681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kern="0" dirty="0" smtClean="0">
                <a:solidFill>
                  <a:sysClr val="windowText" lastClr="000000"/>
                </a:solidFill>
              </a:rPr>
              <a:t>Riscos e </a:t>
            </a:r>
            <a:r>
              <a:rPr lang="pt-BR" sz="1050" kern="0" dirty="0" err="1" smtClean="0">
                <a:solidFill>
                  <a:sysClr val="windowText" lastClr="000000"/>
                </a:solidFill>
              </a:rPr>
              <a:t>GAPs</a:t>
            </a:r>
            <a:endParaRPr lang="pt-BR" sz="1050" kern="0" dirty="0">
              <a:solidFill>
                <a:sysClr val="windowText" lastClr="000000"/>
              </a:solidFill>
            </a:endParaRPr>
          </a:p>
        </p:txBody>
      </p:sp>
      <p:sp>
        <p:nvSpPr>
          <p:cNvPr id="65" name="Texto explicativo retangular 64"/>
          <p:cNvSpPr/>
          <p:nvPr/>
        </p:nvSpPr>
        <p:spPr>
          <a:xfrm>
            <a:off x="4829101" y="2414617"/>
            <a:ext cx="1008112" cy="265737"/>
          </a:xfrm>
          <a:prstGeom prst="wedgeRectCallout">
            <a:avLst>
              <a:gd name="adj1" fmla="val -31226"/>
              <a:gd name="adj2" fmla="val 112681"/>
            </a:avLst>
          </a:prstGeom>
          <a:gradFill rotWithShape="0">
            <a:gsLst>
              <a:gs pos="0">
                <a:srgbClr val="E4720A">
                  <a:alpha val="21000"/>
                  <a:lumMod val="14000"/>
                  <a:lumOff val="86000"/>
                </a:srgbClr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>
              <a:lnSpc>
                <a:spcPct val="90000"/>
              </a:lnSpc>
            </a:pPr>
            <a:r>
              <a:rPr lang="pt-BR" sz="1050" i="1" kern="0" dirty="0" err="1">
                <a:solidFill>
                  <a:sysClr val="windowText" lastClr="000000"/>
                </a:solidFill>
              </a:rPr>
              <a:t>Quick-Wins</a:t>
            </a:r>
            <a:r>
              <a:rPr lang="pt-BR" sz="1050" i="1" kern="0" dirty="0">
                <a:solidFill>
                  <a:sysClr val="windowText" lastClr="000000"/>
                </a:solidFill>
              </a:rPr>
              <a:t>!</a:t>
            </a:r>
          </a:p>
        </p:txBody>
      </p:sp>
      <p:sp>
        <p:nvSpPr>
          <p:cNvPr id="66" name="Texto explicativo retangular 65"/>
          <p:cNvSpPr/>
          <p:nvPr/>
        </p:nvSpPr>
        <p:spPr>
          <a:xfrm>
            <a:off x="5543697" y="3170903"/>
            <a:ext cx="1008112" cy="265737"/>
          </a:xfrm>
          <a:prstGeom prst="wedgeRectCallout">
            <a:avLst>
              <a:gd name="adj1" fmla="val -24612"/>
              <a:gd name="adj2" fmla="val -88044"/>
            </a:avLst>
          </a:prstGeom>
          <a:gradFill rotWithShape="0">
            <a:gsLst>
              <a:gs pos="0">
                <a:srgbClr val="E4720A">
                  <a:alpha val="21000"/>
                  <a:lumMod val="14000"/>
                  <a:lumOff val="86000"/>
                </a:srgbClr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>
              <a:lnSpc>
                <a:spcPct val="90000"/>
              </a:lnSpc>
            </a:pPr>
            <a:r>
              <a:rPr lang="pt-BR" sz="1050" kern="0" dirty="0" smtClean="0">
                <a:solidFill>
                  <a:sysClr val="windowText" lastClr="000000"/>
                </a:solidFill>
              </a:rPr>
              <a:t>Indicadores</a:t>
            </a:r>
            <a:endParaRPr lang="pt-BR" sz="1050" kern="0" dirty="0">
              <a:solidFill>
                <a:sysClr val="windowText" lastClr="000000"/>
              </a:solidFill>
            </a:endParaRPr>
          </a:p>
        </p:txBody>
      </p:sp>
      <p:sp>
        <p:nvSpPr>
          <p:cNvPr id="67" name="Retângulo 66"/>
          <p:cNvSpPr/>
          <p:nvPr/>
        </p:nvSpPr>
        <p:spPr>
          <a:xfrm>
            <a:off x="0" y="763052"/>
            <a:ext cx="2186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Time-</a:t>
            </a:r>
            <a:r>
              <a:rPr lang="pt-BR" b="1" dirty="0" err="1" smtClean="0">
                <a:solidFill>
                  <a:srgbClr val="473729"/>
                </a:solidFill>
                <a:latin typeface="Gill Sans Std Light" pitchFamily="34" charset="0"/>
              </a:rPr>
              <a:t>line</a:t>
            </a:r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 do Projeto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979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Users\mvmarque\AppData\Local\Microsoft\Windows\Temporary Internet Files\Content.IE5\VRWSDO03\customer-service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296"/>
            <a:ext cx="9144000" cy="519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323528" y="1708448"/>
            <a:ext cx="619502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54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UltraBold" pitchFamily="34" charset="0"/>
              </a:rPr>
              <a:t>Fim. Obrigado</a:t>
            </a:r>
            <a:endParaRPr lang="pt-BR" sz="54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UltraBold" pitchFamily="34" charset="0"/>
            </a:endParaRPr>
          </a:p>
        </p:txBody>
      </p:sp>
      <p:pic>
        <p:nvPicPr>
          <p:cNvPr id="8" name="Picture 8" descr="NAT_marca_branca_natura-01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196280"/>
            <a:ext cx="792783" cy="721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902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Freeform 3"/>
          <p:cNvSpPr>
            <a:spLocks/>
          </p:cNvSpPr>
          <p:nvPr>
            <p:custDataLst>
              <p:tags r:id="rId1"/>
            </p:custDataLst>
          </p:nvPr>
        </p:nvSpPr>
        <p:spPr bwMode="gray">
          <a:xfrm>
            <a:off x="1065216" y="1805545"/>
            <a:ext cx="1704975" cy="2804788"/>
          </a:xfrm>
          <a:custGeom>
            <a:avLst/>
            <a:gdLst/>
            <a:ahLst/>
            <a:cxnLst>
              <a:cxn ang="0">
                <a:pos x="111" y="296"/>
              </a:cxn>
              <a:cxn ang="0">
                <a:pos x="113" y="295"/>
              </a:cxn>
              <a:cxn ang="0">
                <a:pos x="141" y="289"/>
              </a:cxn>
              <a:cxn ang="0">
                <a:pos x="46" y="95"/>
              </a:cxn>
              <a:cxn ang="0">
                <a:pos x="56" y="26"/>
              </a:cxn>
              <a:cxn ang="0">
                <a:pos x="40" y="0"/>
              </a:cxn>
              <a:cxn ang="0">
                <a:pos x="12" y="12"/>
              </a:cxn>
              <a:cxn ang="0">
                <a:pos x="0" y="95"/>
              </a:cxn>
              <a:cxn ang="0">
                <a:pos x="114" y="326"/>
              </a:cxn>
              <a:cxn ang="0">
                <a:pos x="111" y="298"/>
              </a:cxn>
              <a:cxn ang="0">
                <a:pos x="111" y="296"/>
              </a:cxn>
            </a:cxnLst>
            <a:rect l="0" t="0" r="r" b="b"/>
            <a:pathLst>
              <a:path w="141" h="326">
                <a:moveTo>
                  <a:pt x="111" y="296"/>
                </a:moveTo>
                <a:cubicBezTo>
                  <a:pt x="113" y="295"/>
                  <a:pt x="113" y="295"/>
                  <a:pt x="113" y="295"/>
                </a:cubicBezTo>
                <a:cubicBezTo>
                  <a:pt x="141" y="289"/>
                  <a:pt x="141" y="289"/>
                  <a:pt x="141" y="289"/>
                </a:cubicBezTo>
                <a:cubicBezTo>
                  <a:pt x="83" y="244"/>
                  <a:pt x="46" y="174"/>
                  <a:pt x="46" y="95"/>
                </a:cubicBezTo>
                <a:cubicBezTo>
                  <a:pt x="46" y="71"/>
                  <a:pt x="49" y="48"/>
                  <a:pt x="56" y="26"/>
                </a:cubicBezTo>
                <a:cubicBezTo>
                  <a:pt x="40" y="0"/>
                  <a:pt x="40" y="0"/>
                  <a:pt x="40" y="0"/>
                </a:cubicBezTo>
                <a:cubicBezTo>
                  <a:pt x="12" y="12"/>
                  <a:pt x="12" y="12"/>
                  <a:pt x="12" y="12"/>
                </a:cubicBezTo>
                <a:cubicBezTo>
                  <a:pt x="4" y="39"/>
                  <a:pt x="0" y="66"/>
                  <a:pt x="0" y="95"/>
                </a:cubicBezTo>
                <a:cubicBezTo>
                  <a:pt x="0" y="189"/>
                  <a:pt x="45" y="273"/>
                  <a:pt x="114" y="326"/>
                </a:cubicBezTo>
                <a:cubicBezTo>
                  <a:pt x="111" y="298"/>
                  <a:pt x="111" y="298"/>
                  <a:pt x="111" y="298"/>
                </a:cubicBezTo>
                <a:lnTo>
                  <a:pt x="111" y="296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12292" name="Freeform 4"/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4643441" y="107191"/>
            <a:ext cx="3227387" cy="1888914"/>
          </a:xfrm>
          <a:custGeom>
            <a:avLst/>
            <a:gdLst/>
            <a:ahLst/>
            <a:cxnLst>
              <a:cxn ang="0">
                <a:pos x="21" y="23"/>
              </a:cxn>
              <a:cxn ang="0">
                <a:pos x="19" y="25"/>
              </a:cxn>
              <a:cxn ang="0">
                <a:pos x="1" y="46"/>
              </a:cxn>
              <a:cxn ang="0">
                <a:pos x="224" y="208"/>
              </a:cxn>
              <a:cxn ang="0">
                <a:pos x="252" y="220"/>
              </a:cxn>
              <a:cxn ang="0">
                <a:pos x="268" y="194"/>
              </a:cxn>
              <a:cxn ang="0">
                <a:pos x="0" y="0"/>
              </a:cxn>
              <a:cxn ang="0">
                <a:pos x="19" y="21"/>
              </a:cxn>
              <a:cxn ang="0">
                <a:pos x="21" y="23"/>
              </a:cxn>
            </a:cxnLst>
            <a:rect l="0" t="0" r="r" b="b"/>
            <a:pathLst>
              <a:path w="268" h="220">
                <a:moveTo>
                  <a:pt x="21" y="23"/>
                </a:moveTo>
                <a:cubicBezTo>
                  <a:pt x="19" y="25"/>
                  <a:pt x="19" y="25"/>
                  <a:pt x="19" y="25"/>
                </a:cubicBezTo>
                <a:cubicBezTo>
                  <a:pt x="1" y="46"/>
                  <a:pt x="1" y="46"/>
                  <a:pt x="1" y="46"/>
                </a:cubicBezTo>
                <a:cubicBezTo>
                  <a:pt x="104" y="50"/>
                  <a:pt x="190" y="116"/>
                  <a:pt x="224" y="208"/>
                </a:cubicBezTo>
                <a:cubicBezTo>
                  <a:pt x="252" y="220"/>
                  <a:pt x="252" y="220"/>
                  <a:pt x="252" y="220"/>
                </a:cubicBezTo>
                <a:cubicBezTo>
                  <a:pt x="268" y="194"/>
                  <a:pt x="268" y="194"/>
                  <a:pt x="268" y="194"/>
                </a:cubicBezTo>
                <a:cubicBezTo>
                  <a:pt x="228" y="83"/>
                  <a:pt x="124" y="4"/>
                  <a:pt x="0" y="0"/>
                </a:cubicBezTo>
                <a:cubicBezTo>
                  <a:pt x="19" y="21"/>
                  <a:pt x="19" y="21"/>
                  <a:pt x="19" y="21"/>
                </a:cubicBezTo>
                <a:lnTo>
                  <a:pt x="21" y="2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12293" name="Freeform 5"/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260478" y="107189"/>
            <a:ext cx="3440113" cy="1787680"/>
          </a:xfrm>
          <a:custGeom>
            <a:avLst/>
            <a:gdLst/>
            <a:ahLst/>
            <a:cxnLst>
              <a:cxn ang="0">
                <a:pos x="29" y="181"/>
              </a:cxn>
              <a:cxn ang="0">
                <a:pos x="30" y="184"/>
              </a:cxn>
              <a:cxn ang="0">
                <a:pos x="44" y="208"/>
              </a:cxn>
              <a:cxn ang="0">
                <a:pos x="267" y="46"/>
              </a:cxn>
              <a:cxn ang="0">
                <a:pos x="287" y="23"/>
              </a:cxn>
              <a:cxn ang="0">
                <a:pos x="267" y="0"/>
              </a:cxn>
              <a:cxn ang="0">
                <a:pos x="0" y="194"/>
              </a:cxn>
              <a:cxn ang="0">
                <a:pos x="26" y="183"/>
              </a:cxn>
              <a:cxn ang="0">
                <a:pos x="29" y="181"/>
              </a:cxn>
            </a:cxnLst>
            <a:rect l="0" t="0" r="r" b="b"/>
            <a:pathLst>
              <a:path w="287" h="208">
                <a:moveTo>
                  <a:pt x="29" y="181"/>
                </a:moveTo>
                <a:cubicBezTo>
                  <a:pt x="30" y="184"/>
                  <a:pt x="30" y="184"/>
                  <a:pt x="30" y="184"/>
                </a:cubicBezTo>
                <a:cubicBezTo>
                  <a:pt x="44" y="208"/>
                  <a:pt x="44" y="208"/>
                  <a:pt x="44" y="208"/>
                </a:cubicBezTo>
                <a:cubicBezTo>
                  <a:pt x="78" y="116"/>
                  <a:pt x="165" y="50"/>
                  <a:pt x="267" y="46"/>
                </a:cubicBezTo>
                <a:cubicBezTo>
                  <a:pt x="287" y="23"/>
                  <a:pt x="287" y="23"/>
                  <a:pt x="287" y="23"/>
                </a:cubicBezTo>
                <a:cubicBezTo>
                  <a:pt x="267" y="0"/>
                  <a:pt x="267" y="0"/>
                  <a:pt x="267" y="0"/>
                </a:cubicBezTo>
                <a:cubicBezTo>
                  <a:pt x="144" y="4"/>
                  <a:pt x="40" y="83"/>
                  <a:pt x="0" y="194"/>
                </a:cubicBezTo>
                <a:cubicBezTo>
                  <a:pt x="26" y="183"/>
                  <a:pt x="26" y="183"/>
                  <a:pt x="26" y="183"/>
                </a:cubicBezTo>
                <a:lnTo>
                  <a:pt x="29" y="181"/>
                </a:lnTo>
                <a:close/>
              </a:path>
            </a:pathLst>
          </a:cu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12294" name="Freeform 6"/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2555875" y="4375708"/>
            <a:ext cx="3994150" cy="769381"/>
          </a:xfrm>
          <a:custGeom>
            <a:avLst/>
            <a:gdLst/>
            <a:ahLst/>
            <a:cxnLst>
              <a:cxn ang="0">
                <a:pos x="303" y="31"/>
              </a:cxn>
              <a:cxn ang="0">
                <a:pos x="303" y="28"/>
              </a:cxn>
              <a:cxn ang="0">
                <a:pos x="306" y="0"/>
              </a:cxn>
              <a:cxn ang="0">
                <a:pos x="168" y="43"/>
              </a:cxn>
              <a:cxn ang="0">
                <a:pos x="30" y="0"/>
              </a:cxn>
              <a:cxn ang="0">
                <a:pos x="0" y="7"/>
              </a:cxn>
              <a:cxn ang="0">
                <a:pos x="3" y="38"/>
              </a:cxn>
              <a:cxn ang="0">
                <a:pos x="168" y="89"/>
              </a:cxn>
              <a:cxn ang="0">
                <a:pos x="333" y="38"/>
              </a:cxn>
              <a:cxn ang="0">
                <a:pos x="306" y="32"/>
              </a:cxn>
              <a:cxn ang="0">
                <a:pos x="303" y="31"/>
              </a:cxn>
            </a:cxnLst>
            <a:rect l="0" t="0" r="r" b="b"/>
            <a:pathLst>
              <a:path w="333" h="89">
                <a:moveTo>
                  <a:pt x="303" y="31"/>
                </a:moveTo>
                <a:cubicBezTo>
                  <a:pt x="303" y="28"/>
                  <a:pt x="303" y="28"/>
                  <a:pt x="303" y="28"/>
                </a:cubicBezTo>
                <a:cubicBezTo>
                  <a:pt x="306" y="0"/>
                  <a:pt x="306" y="0"/>
                  <a:pt x="306" y="0"/>
                </a:cubicBezTo>
                <a:cubicBezTo>
                  <a:pt x="266" y="27"/>
                  <a:pt x="219" y="43"/>
                  <a:pt x="168" y="43"/>
                </a:cubicBezTo>
                <a:cubicBezTo>
                  <a:pt x="117" y="43"/>
                  <a:pt x="69" y="27"/>
                  <a:pt x="30" y="0"/>
                </a:cubicBezTo>
                <a:cubicBezTo>
                  <a:pt x="0" y="7"/>
                  <a:pt x="0" y="7"/>
                  <a:pt x="0" y="7"/>
                </a:cubicBezTo>
                <a:cubicBezTo>
                  <a:pt x="3" y="38"/>
                  <a:pt x="3" y="38"/>
                  <a:pt x="3" y="38"/>
                </a:cubicBezTo>
                <a:cubicBezTo>
                  <a:pt x="50" y="70"/>
                  <a:pt x="107" y="89"/>
                  <a:pt x="168" y="89"/>
                </a:cubicBezTo>
                <a:cubicBezTo>
                  <a:pt x="229" y="89"/>
                  <a:pt x="286" y="70"/>
                  <a:pt x="333" y="38"/>
                </a:cubicBezTo>
                <a:cubicBezTo>
                  <a:pt x="306" y="32"/>
                  <a:pt x="306" y="32"/>
                  <a:pt x="306" y="32"/>
                </a:cubicBezTo>
                <a:lnTo>
                  <a:pt x="303" y="31"/>
                </a:lnTo>
                <a:close/>
              </a:path>
            </a:pathLst>
          </a:cu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12295" name="Freeform 7"/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6335716" y="1918691"/>
            <a:ext cx="1735137" cy="2698789"/>
          </a:xfrm>
          <a:custGeom>
            <a:avLst/>
            <a:gdLst/>
            <a:ahLst/>
            <a:cxnLst>
              <a:cxn ang="0">
                <a:pos x="144" y="82"/>
              </a:cxn>
              <a:cxn ang="0">
                <a:pos x="132" y="0"/>
              </a:cxn>
              <a:cxn ang="0">
                <a:pos x="118" y="24"/>
              </a:cxn>
              <a:cxn ang="0">
                <a:pos x="116" y="26"/>
              </a:cxn>
              <a:cxn ang="0">
                <a:pos x="114" y="25"/>
              </a:cxn>
              <a:cxn ang="0">
                <a:pos x="88" y="14"/>
              </a:cxn>
              <a:cxn ang="0">
                <a:pos x="98" y="82"/>
              </a:cxn>
              <a:cxn ang="0">
                <a:pos x="3" y="276"/>
              </a:cxn>
              <a:cxn ang="0">
                <a:pos x="0" y="307"/>
              </a:cxn>
              <a:cxn ang="0">
                <a:pos x="30" y="314"/>
              </a:cxn>
              <a:cxn ang="0">
                <a:pos x="144" y="82"/>
              </a:cxn>
            </a:cxnLst>
            <a:rect l="0" t="0" r="r" b="b"/>
            <a:pathLst>
              <a:path w="144" h="314">
                <a:moveTo>
                  <a:pt x="144" y="82"/>
                </a:moveTo>
                <a:cubicBezTo>
                  <a:pt x="144" y="53"/>
                  <a:pt x="140" y="26"/>
                  <a:pt x="132" y="0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6" y="26"/>
                  <a:pt x="116" y="26"/>
                  <a:pt x="116" y="26"/>
                </a:cubicBezTo>
                <a:cubicBezTo>
                  <a:pt x="114" y="25"/>
                  <a:pt x="114" y="25"/>
                  <a:pt x="114" y="25"/>
                </a:cubicBezTo>
                <a:cubicBezTo>
                  <a:pt x="88" y="14"/>
                  <a:pt x="88" y="14"/>
                  <a:pt x="88" y="14"/>
                </a:cubicBezTo>
                <a:cubicBezTo>
                  <a:pt x="94" y="35"/>
                  <a:pt x="98" y="58"/>
                  <a:pt x="98" y="82"/>
                </a:cubicBezTo>
                <a:cubicBezTo>
                  <a:pt x="98" y="161"/>
                  <a:pt x="61" y="231"/>
                  <a:pt x="3" y="276"/>
                </a:cubicBezTo>
                <a:cubicBezTo>
                  <a:pt x="0" y="307"/>
                  <a:pt x="0" y="307"/>
                  <a:pt x="0" y="307"/>
                </a:cubicBezTo>
                <a:cubicBezTo>
                  <a:pt x="30" y="314"/>
                  <a:pt x="30" y="314"/>
                  <a:pt x="30" y="314"/>
                </a:cubicBezTo>
                <a:cubicBezTo>
                  <a:pt x="99" y="260"/>
                  <a:pt x="144" y="176"/>
                  <a:pt x="144" y="82"/>
                </a:cubicBezTo>
                <a:close/>
              </a:path>
            </a:pathLst>
          </a:cu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6151" name="Line 8"/>
          <p:cNvSpPr>
            <a:spLocks noChangeShapeType="1"/>
          </p:cNvSpPr>
          <p:nvPr/>
        </p:nvSpPr>
        <p:spPr bwMode="auto">
          <a:xfrm>
            <a:off x="4500563" y="1600694"/>
            <a:ext cx="0" cy="647900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152" name="Line 9"/>
          <p:cNvSpPr>
            <a:spLocks noChangeShapeType="1"/>
          </p:cNvSpPr>
          <p:nvPr/>
        </p:nvSpPr>
        <p:spPr bwMode="auto">
          <a:xfrm>
            <a:off x="4498185" y="2798253"/>
            <a:ext cx="0" cy="550528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2297" name="Rectangle 10"/>
          <p:cNvSpPr>
            <a:spLocks noChangeArrowheads="1"/>
          </p:cNvSpPr>
          <p:nvPr/>
        </p:nvSpPr>
        <p:spPr bwMode="auto">
          <a:xfrm>
            <a:off x="4093650" y="2030644"/>
            <a:ext cx="80906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eaLnBrk="0" hangingPunct="0"/>
            <a:r>
              <a:rPr lang="pt-BR" sz="1200" b="1" smtClean="0">
                <a:solidFill>
                  <a:schemeClr val="bg1"/>
                </a:solidFill>
              </a:rPr>
              <a:t>Team Leader</a:t>
            </a:r>
            <a:endParaRPr lang="pt-BR" sz="1200" b="1">
              <a:solidFill>
                <a:schemeClr val="bg1"/>
              </a:solidFill>
            </a:endParaRPr>
          </a:p>
        </p:txBody>
      </p:sp>
      <p:sp>
        <p:nvSpPr>
          <p:cNvPr id="6154" name="Line 13"/>
          <p:cNvSpPr>
            <a:spLocks noChangeShapeType="1"/>
          </p:cNvSpPr>
          <p:nvPr/>
        </p:nvSpPr>
        <p:spPr bwMode="auto">
          <a:xfrm flipV="1">
            <a:off x="2843733" y="2761318"/>
            <a:ext cx="936106" cy="1432166"/>
          </a:xfrm>
          <a:prstGeom prst="line">
            <a:avLst/>
          </a:prstGeom>
          <a:noFill/>
          <a:ln w="9525">
            <a:solidFill>
              <a:schemeClr val="tx2">
                <a:lumMod val="75000"/>
              </a:schemeClr>
            </a:solidFill>
            <a:prstDash val="dash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155" name="Line 14"/>
          <p:cNvSpPr>
            <a:spLocks noChangeShapeType="1"/>
          </p:cNvSpPr>
          <p:nvPr/>
        </p:nvSpPr>
        <p:spPr bwMode="auto">
          <a:xfrm>
            <a:off x="3347864" y="2177762"/>
            <a:ext cx="431974" cy="394783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1249415" y="3976725"/>
            <a:ext cx="1656658" cy="377545"/>
          </a:xfrm>
          <a:prstGeom prst="rect">
            <a:avLst/>
          </a:prstGeom>
          <a:solidFill>
            <a:srgbClr val="0070C0"/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eaLnBrk="0" hangingPunct="0">
              <a:defRPr/>
            </a:pPr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  <a:cs typeface="+mn-cs"/>
              </a:rPr>
              <a:t>Coach</a:t>
            </a:r>
            <a:r>
              <a:rPr lang="pt-BR" sz="600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  <a:cs typeface="+mn-cs"/>
              </a:rPr>
              <a:t> </a:t>
            </a:r>
            <a:r>
              <a:rPr lang="pt-BR" sz="6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  <a:cs typeface="+mn-cs"/>
              </a:rPr>
              <a:t>provê coaching e direcionamento especialista para o time</a:t>
            </a:r>
            <a:endParaRPr lang="pt-BR" sz="600" b="1">
              <a:solidFill>
                <a:schemeClr val="bg1"/>
              </a:solidFill>
              <a:latin typeface="Arial" charset="0"/>
              <a:ea typeface="ヒラギノ角ゴ Pro W3" pitchFamily="1" charset="-128"/>
              <a:cs typeface="+mn-cs"/>
            </a:endParaRPr>
          </a:p>
        </p:txBody>
      </p:sp>
      <p:sp>
        <p:nvSpPr>
          <p:cNvPr id="12304" name="Rectangle 16"/>
          <p:cNvSpPr>
            <a:spLocks noChangeArrowheads="1"/>
          </p:cNvSpPr>
          <p:nvPr/>
        </p:nvSpPr>
        <p:spPr bwMode="auto">
          <a:xfrm>
            <a:off x="1248324" y="4375708"/>
            <a:ext cx="1655067" cy="594305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eaLnBrk="0" hangingPunct="0">
              <a:defRPr/>
            </a:pPr>
            <a:r>
              <a:rPr lang="pt-BR" sz="900" i="1" smtClean="0">
                <a:latin typeface="Arial" charset="0"/>
                <a:cs typeface="Arial" charset="0"/>
              </a:rPr>
              <a:t>Antonio Rodrigues - </a:t>
            </a:r>
          </a:p>
          <a:p>
            <a:pPr eaLnBrk="0" hangingPunct="0">
              <a:defRPr/>
            </a:pPr>
            <a:r>
              <a:rPr lang="pt-BR" sz="900" i="1" smtClean="0">
                <a:latin typeface="Arial" charset="0"/>
                <a:cs typeface="Arial" charset="0"/>
              </a:rPr>
              <a:t>Coach externo</a:t>
            </a:r>
          </a:p>
          <a:p>
            <a:pPr eaLnBrk="0" hangingPunct="0">
              <a:defRPr/>
            </a:pPr>
            <a:endParaRPr lang="pt-BR" sz="900" i="1" smtClean="0">
              <a:latin typeface="Arial" charset="0"/>
              <a:cs typeface="Arial" charset="0"/>
            </a:endParaRPr>
          </a:p>
          <a:p>
            <a:pPr eaLnBrk="0" hangingPunct="0">
              <a:defRPr/>
            </a:pPr>
            <a:endParaRPr lang="pt-BR" sz="900" i="1">
              <a:latin typeface="Arial" charset="0"/>
              <a:cs typeface="Arial" charset="0"/>
            </a:endParaRPr>
          </a:p>
        </p:txBody>
      </p:sp>
      <p:sp>
        <p:nvSpPr>
          <p:cNvPr id="12305" name="Rectangle 17"/>
          <p:cNvSpPr>
            <a:spLocks noChangeArrowheads="1"/>
          </p:cNvSpPr>
          <p:nvPr/>
        </p:nvSpPr>
        <p:spPr bwMode="auto">
          <a:xfrm>
            <a:off x="3779841" y="1869860"/>
            <a:ext cx="1584325" cy="540711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eaLnBrk="0" hangingPunct="0">
              <a:defRPr/>
            </a:pPr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Project Manager </a:t>
            </a:r>
            <a:r>
              <a:rPr lang="pt-BR" sz="600" b="1" smtClean="0">
                <a:solidFill>
                  <a:schemeClr val="bg1"/>
                </a:solidFill>
                <a:latin typeface="Arial" charset="0"/>
                <a:cs typeface="Arial" charset="0"/>
              </a:rPr>
              <a:t>Criação de plano de trabalho, controle e verificação de escopo e gestão do progresso  e entrega do projeto</a:t>
            </a:r>
            <a:endParaRPr lang="pt-BR" sz="600" b="1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12306" name="Rectangle 18"/>
          <p:cNvSpPr>
            <a:spLocks noChangeArrowheads="1"/>
          </p:cNvSpPr>
          <p:nvPr/>
        </p:nvSpPr>
        <p:spPr bwMode="auto">
          <a:xfrm>
            <a:off x="3779838" y="2421305"/>
            <a:ext cx="1582737" cy="515982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2">
                <a:lumMod val="50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0"/>
          <a:lstStyle/>
          <a:p>
            <a:pPr algn="ctr" eaLnBrk="0" hangingPunct="0">
              <a:defRPr/>
            </a:pPr>
            <a:r>
              <a:rPr lang="pt-BR" sz="900" i="1" smtClean="0">
                <a:latin typeface="Arial" charset="0"/>
                <a:cs typeface="Arial" charset="0"/>
              </a:rPr>
              <a:t>Marcus Marques – Natura</a:t>
            </a:r>
          </a:p>
          <a:p>
            <a:pPr algn="ctr" eaLnBrk="0" hangingPunct="0">
              <a:defRPr/>
            </a:pPr>
            <a:r>
              <a:rPr lang="pt-BR" sz="900" i="1" smtClean="0">
                <a:latin typeface="Arial" charset="0"/>
                <a:cs typeface="Arial" charset="0"/>
              </a:rPr>
              <a:t>Adolpho Chacon - Consultoria</a:t>
            </a:r>
            <a:endParaRPr lang="pt-BR" sz="900" i="1">
              <a:latin typeface="Arial" charset="0"/>
              <a:cs typeface="Arial" charset="0"/>
            </a:endParaRPr>
          </a:p>
        </p:txBody>
      </p:sp>
      <p:sp>
        <p:nvSpPr>
          <p:cNvPr id="12309" name="Rectangle 21"/>
          <p:cNvSpPr>
            <a:spLocks noChangeArrowheads="1"/>
          </p:cNvSpPr>
          <p:nvPr/>
        </p:nvSpPr>
        <p:spPr bwMode="auto">
          <a:xfrm>
            <a:off x="7199316" y="8337"/>
            <a:ext cx="1584325" cy="559767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eaLnBrk="0" hangingPunct="0">
              <a:defRPr/>
            </a:pPr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Sponsors</a:t>
            </a:r>
            <a:endParaRPr lang="pt-BR" sz="1400" b="1"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12310" name="Rectangle 22"/>
          <p:cNvSpPr>
            <a:spLocks noChangeArrowheads="1"/>
          </p:cNvSpPr>
          <p:nvPr/>
        </p:nvSpPr>
        <p:spPr bwMode="auto">
          <a:xfrm>
            <a:off x="7221541" y="639563"/>
            <a:ext cx="1582737" cy="412085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2">
                <a:lumMod val="50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Agenor Leão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Henrique Gherardi Júnior</a:t>
            </a:r>
          </a:p>
          <a:p>
            <a:pPr algn="ctr" eaLnBrk="0" hangingPunct="0">
              <a:defRPr/>
            </a:pPr>
            <a:endParaRPr lang="pt-BR" sz="900" i="1" dirty="0">
              <a:solidFill>
                <a:schemeClr val="bg2"/>
              </a:solidFill>
              <a:latin typeface="Arial" charset="0"/>
              <a:cs typeface="Arial" charset="0"/>
            </a:endParaRPr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3708400" y="695105"/>
            <a:ext cx="1582738" cy="21676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D. Aplicação</a:t>
            </a:r>
            <a:endParaRPr lang="pt-BR" sz="1400" b="1">
              <a:solidFill>
                <a:schemeClr val="bg1"/>
              </a:solidFill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12312" name="Rectangle 24"/>
          <p:cNvSpPr>
            <a:spLocks noChangeArrowheads="1"/>
          </p:cNvSpPr>
          <p:nvPr/>
        </p:nvSpPr>
        <p:spPr bwMode="auto">
          <a:xfrm>
            <a:off x="3779837" y="3650393"/>
            <a:ext cx="1582738" cy="95994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/>
            <a:r>
              <a:rPr lang="pt-BR" sz="900" i="1" smtClean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Gilson Manfio</a:t>
            </a:r>
          </a:p>
          <a:p>
            <a:pPr algn="ctr" eaLnBrk="0" hangingPunct="0"/>
            <a:r>
              <a:rPr lang="pt-BR" sz="900" i="1" smtClean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Sílvio Almeida</a:t>
            </a:r>
          </a:p>
          <a:p>
            <a:pPr algn="ctr" eaLnBrk="0" hangingPunct="0"/>
            <a:r>
              <a:rPr lang="pt-BR" sz="900" i="1" smtClean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Thalita Begliomini</a:t>
            </a:r>
          </a:p>
          <a:p>
            <a:pPr algn="ctr" eaLnBrk="0" hangingPunct="0"/>
            <a:r>
              <a:rPr lang="pt-BR" sz="900" i="1" smtClean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Fernanda Cipriano</a:t>
            </a:r>
          </a:p>
          <a:p>
            <a:pPr algn="ctr" eaLnBrk="0" hangingPunct="0"/>
            <a:r>
              <a:rPr lang="pt-BR" sz="900" i="1" smtClean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Eduardo Mascára</a:t>
            </a:r>
          </a:p>
          <a:p>
            <a:pPr algn="ctr" eaLnBrk="0" hangingPunct="0"/>
            <a:r>
              <a:rPr lang="pt-BR" sz="900" i="1" smtClean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Solange Dias</a:t>
            </a:r>
          </a:p>
          <a:p>
            <a:pPr algn="ctr" eaLnBrk="0" hangingPunct="0"/>
            <a:endParaRPr lang="pt-BR" sz="900" i="1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sp>
        <p:nvSpPr>
          <p:cNvPr id="12315" name="Rectangle 27"/>
          <p:cNvSpPr>
            <a:spLocks noChangeArrowheads="1"/>
          </p:cNvSpPr>
          <p:nvPr/>
        </p:nvSpPr>
        <p:spPr bwMode="auto">
          <a:xfrm>
            <a:off x="3789366" y="3382945"/>
            <a:ext cx="1584325" cy="21676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Governança</a:t>
            </a:r>
            <a:endParaRPr lang="pt-BR" sz="1400" b="1">
              <a:solidFill>
                <a:schemeClr val="bg1"/>
              </a:solidFill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12316" name="Rectangle 28"/>
          <p:cNvSpPr>
            <a:spLocks noChangeArrowheads="1"/>
          </p:cNvSpPr>
          <p:nvPr/>
        </p:nvSpPr>
        <p:spPr bwMode="auto">
          <a:xfrm>
            <a:off x="3701926" y="941552"/>
            <a:ext cx="1582737" cy="594305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/>
            <a:r>
              <a:rPr lang="pt-BR" sz="900" i="1" smtClean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Carlos Kida</a:t>
            </a:r>
          </a:p>
          <a:p>
            <a:pPr algn="ctr" eaLnBrk="0" hangingPunct="0"/>
            <a:r>
              <a:rPr lang="pt-BR" sz="900" i="1" smtClean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Luciano Abrantes</a:t>
            </a:r>
          </a:p>
          <a:p>
            <a:pPr algn="ctr" eaLnBrk="0" hangingPunct="0"/>
            <a:r>
              <a:rPr lang="pt-BR" sz="900" i="1" smtClean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Weslley Figueiredo</a:t>
            </a:r>
          </a:p>
          <a:p>
            <a:pPr algn="ctr" eaLnBrk="0" hangingPunct="0"/>
            <a:endParaRPr lang="pt-BR" sz="900" i="1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sp>
        <p:nvSpPr>
          <p:cNvPr id="12317" name="Rectangle 29"/>
          <p:cNvSpPr>
            <a:spLocks noChangeArrowheads="1"/>
          </p:cNvSpPr>
          <p:nvPr/>
        </p:nvSpPr>
        <p:spPr bwMode="auto">
          <a:xfrm>
            <a:off x="1917702" y="2421304"/>
            <a:ext cx="1395674" cy="356687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eaLnBrk="0" hangingPunct="0">
              <a:defRPr/>
            </a:pPr>
            <a:r>
              <a:rPr lang="pt-BR" sz="1400" b="1" smtClean="0">
                <a:solidFill>
                  <a:schemeClr val="bg1"/>
                </a:solidFill>
                <a:latin typeface="Arial" charset="0"/>
                <a:cs typeface="Arial" charset="0"/>
              </a:rPr>
              <a:t>  </a:t>
            </a:r>
          </a:p>
          <a:p>
            <a:pPr algn="ctr" eaLnBrk="0" hangingPunct="0">
              <a:defRPr/>
            </a:pPr>
            <a:r>
              <a:rPr lang="pt-BR" sz="1400" b="1" smtClean="0">
                <a:solidFill>
                  <a:schemeClr val="bg1"/>
                </a:solidFill>
                <a:latin typeface="Arial" charset="0"/>
                <a:cs typeface="Arial" charset="0"/>
              </a:rPr>
              <a:t>Time Chacon</a:t>
            </a:r>
          </a:p>
          <a:p>
            <a:pPr eaLnBrk="0" hangingPunct="0">
              <a:defRPr/>
            </a:pPr>
            <a:endParaRPr lang="pt-BR" sz="1400" b="1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12318" name="Rectangle 30"/>
          <p:cNvSpPr>
            <a:spLocks noChangeArrowheads="1"/>
          </p:cNvSpPr>
          <p:nvPr/>
        </p:nvSpPr>
        <p:spPr bwMode="auto">
          <a:xfrm>
            <a:off x="1917702" y="2813722"/>
            <a:ext cx="1394083" cy="569223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eaLnBrk="0" hangingPunct="0">
              <a:defRPr/>
            </a:pPr>
            <a:r>
              <a:rPr lang="pt-BR" sz="900" i="1" smtClean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Felipe XXX</a:t>
            </a:r>
          </a:p>
          <a:p>
            <a:pPr eaLnBrk="0" hangingPunct="0">
              <a:defRPr/>
            </a:pPr>
            <a:endParaRPr lang="pt-BR" sz="900" i="1" smtClean="0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  <a:p>
            <a:pPr eaLnBrk="0" hangingPunct="0">
              <a:defRPr/>
            </a:pPr>
            <a:r>
              <a:rPr lang="pt-BR" sz="900" i="1" smtClean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XXXX</a:t>
            </a:r>
            <a:endParaRPr lang="pt-BR" sz="900" i="1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sp>
        <p:nvSpPr>
          <p:cNvPr id="12319" name="Rectangle 31"/>
          <p:cNvSpPr>
            <a:spLocks noChangeArrowheads="1"/>
          </p:cNvSpPr>
          <p:nvPr/>
        </p:nvSpPr>
        <p:spPr bwMode="auto">
          <a:xfrm>
            <a:off x="2051571" y="1636440"/>
            <a:ext cx="1584325" cy="21676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SAP Global</a:t>
            </a:r>
            <a:endParaRPr lang="pt-BR" sz="1400" b="1">
              <a:solidFill>
                <a:schemeClr val="bg1"/>
              </a:solidFill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12320" name="Rectangle 32"/>
          <p:cNvSpPr>
            <a:spLocks noChangeArrowheads="1"/>
          </p:cNvSpPr>
          <p:nvPr/>
        </p:nvSpPr>
        <p:spPr bwMode="auto">
          <a:xfrm>
            <a:off x="2051571" y="1892504"/>
            <a:ext cx="1582737" cy="251362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>
              <a:defRPr/>
            </a:pPr>
            <a:r>
              <a:rPr lang="pt-BR" sz="900" i="1" smtClean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Daniel Mathias</a:t>
            </a:r>
            <a:endParaRPr lang="pt-BR" sz="900" i="1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sp>
        <p:nvSpPr>
          <p:cNvPr id="30" name="Rectangle 21"/>
          <p:cNvSpPr>
            <a:spLocks noChangeArrowheads="1"/>
          </p:cNvSpPr>
          <p:nvPr/>
        </p:nvSpPr>
        <p:spPr bwMode="auto">
          <a:xfrm>
            <a:off x="7278691" y="2354594"/>
            <a:ext cx="1584325" cy="89919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eaLnBrk="0" hangingPunct="0">
              <a:defRPr/>
            </a:pPr>
            <a:r>
              <a:rPr lang="pt-BR" sz="1400" b="1" dirty="0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Steering Committee</a:t>
            </a:r>
          </a:p>
          <a:p>
            <a:pPr eaLnBrk="0" hangingPunct="0">
              <a:defRPr/>
            </a:pPr>
            <a:r>
              <a:rPr lang="pt-BR" sz="600" b="1" dirty="0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Responsáveis por aprovar o projeto e /ou modificações de escopo, de acordo com as demandas. Responsáveis por garantir alocação de recursos.</a:t>
            </a:r>
            <a:endParaRPr lang="pt-BR" sz="600" b="1" dirty="0">
              <a:solidFill>
                <a:schemeClr val="bg1"/>
              </a:solidFill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7280275" y="3309769"/>
            <a:ext cx="1582738" cy="883715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Agenor Leão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Henrique Gherardi Júnior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Fábio Koreeda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Mário Santiago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Luiz Mussini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Mário Esquerdo</a:t>
            </a:r>
          </a:p>
          <a:p>
            <a:pPr algn="ctr" eaLnBrk="0" hangingPunct="0">
              <a:defRPr/>
            </a:pPr>
            <a:endParaRPr lang="pt-BR" sz="900" i="1" dirty="0" smtClean="0">
              <a:latin typeface="Arial" charset="0"/>
              <a:cs typeface="Arial" charset="0"/>
            </a:endParaRPr>
          </a:p>
          <a:p>
            <a:pPr algn="ctr" eaLnBrk="0" hangingPunct="0">
              <a:defRPr/>
            </a:pPr>
            <a:endParaRPr lang="pt-BR" sz="900" i="1" dirty="0">
              <a:solidFill>
                <a:schemeClr val="bg2"/>
              </a:solidFill>
              <a:latin typeface="Arial" charset="0"/>
              <a:cs typeface="Arial" charset="0"/>
            </a:endParaRP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5465765" y="1728288"/>
            <a:ext cx="1584325" cy="21676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GRP</a:t>
            </a:r>
            <a:endParaRPr lang="pt-BR" sz="1400" b="1">
              <a:solidFill>
                <a:schemeClr val="bg1"/>
              </a:solidFill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5465765" y="1984352"/>
            <a:ext cx="1582737" cy="297152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/>
            <a:r>
              <a:rPr lang="pt-BR" sz="900" i="1" smtClean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Alexandre Azevedo</a:t>
            </a:r>
            <a:endParaRPr lang="pt-BR" sz="900" i="1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5484814" y="2623197"/>
            <a:ext cx="1584325" cy="21676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D. Infraestrutura</a:t>
            </a:r>
            <a:endParaRPr lang="pt-BR" sz="1400" b="1">
              <a:solidFill>
                <a:schemeClr val="bg1"/>
              </a:solidFill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5484814" y="2879260"/>
            <a:ext cx="1582737" cy="805691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/>
            <a:r>
              <a:rPr lang="pt-BR" sz="900" i="1" smtClean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Hugo Melo</a:t>
            </a:r>
          </a:p>
          <a:p>
            <a:pPr algn="ctr" eaLnBrk="0" hangingPunct="0"/>
            <a:r>
              <a:rPr lang="pt-BR" sz="900" i="1" smtClean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Igohr Schultz</a:t>
            </a:r>
          </a:p>
          <a:p>
            <a:pPr algn="ctr" eaLnBrk="0" hangingPunct="0"/>
            <a:r>
              <a:rPr lang="pt-BR" sz="900" i="1" smtClean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Edson Fidalgo</a:t>
            </a:r>
          </a:p>
          <a:p>
            <a:pPr algn="ctr" eaLnBrk="0" hangingPunct="0"/>
            <a:r>
              <a:rPr lang="pt-BR" sz="900" i="1" smtClean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Ricardo Caurin</a:t>
            </a:r>
          </a:p>
          <a:p>
            <a:pPr algn="ctr" eaLnBrk="0" hangingPunct="0"/>
            <a:r>
              <a:rPr lang="pt-BR" sz="900" i="1" smtClean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Claudinei Cardoso</a:t>
            </a:r>
            <a:endParaRPr lang="pt-BR" sz="900" i="1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sp>
        <p:nvSpPr>
          <p:cNvPr id="36" name="Line 9"/>
          <p:cNvSpPr>
            <a:spLocks noChangeShapeType="1"/>
          </p:cNvSpPr>
          <p:nvPr/>
        </p:nvSpPr>
        <p:spPr bwMode="auto">
          <a:xfrm>
            <a:off x="5379246" y="2630737"/>
            <a:ext cx="105568" cy="422990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7" name="Line 9"/>
          <p:cNvSpPr>
            <a:spLocks noChangeShapeType="1"/>
          </p:cNvSpPr>
          <p:nvPr/>
        </p:nvSpPr>
        <p:spPr bwMode="auto">
          <a:xfrm flipV="1">
            <a:off x="5360195" y="2140215"/>
            <a:ext cx="105568" cy="75095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9" name="Line 14"/>
          <p:cNvSpPr>
            <a:spLocks noChangeShapeType="1"/>
          </p:cNvSpPr>
          <p:nvPr/>
        </p:nvSpPr>
        <p:spPr bwMode="auto">
          <a:xfrm flipV="1">
            <a:off x="3311786" y="2630736"/>
            <a:ext cx="468051" cy="248523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8178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kUdgx6OtUmKLA_Ty4LaG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.OoI4bTakKefsF6xs3cE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3pkx0LTkUSPIAb4fnF4Y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ZXuwAC_kyMdtLHMQcOf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j1d3xcr0G5PIgKgot5jg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10659</TotalTime>
  <Words>1307</Words>
  <Application>Microsoft Office PowerPoint</Application>
  <PresentationFormat>Personalizar</PresentationFormat>
  <Paragraphs>188</Paragraphs>
  <Slides>15</Slides>
  <Notes>2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BR92457</dc:creator>
  <cp:lastModifiedBy>br93826</cp:lastModifiedBy>
  <cp:revision>441</cp:revision>
  <dcterms:created xsi:type="dcterms:W3CDTF">2014-10-02T13:42:42Z</dcterms:created>
  <dcterms:modified xsi:type="dcterms:W3CDTF">2015-06-03T20:10:13Z</dcterms:modified>
</cp:coreProperties>
</file>