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21" r:id="rId2"/>
    <p:sldId id="353" r:id="rId3"/>
    <p:sldId id="377" r:id="rId4"/>
    <p:sldId id="382" r:id="rId5"/>
    <p:sldId id="376" r:id="rId6"/>
    <p:sldId id="378" r:id="rId7"/>
    <p:sldId id="379" r:id="rId8"/>
    <p:sldId id="380" r:id="rId9"/>
    <p:sldId id="381" r:id="rId10"/>
    <p:sldId id="383" r:id="rId11"/>
    <p:sldId id="375" r:id="rId12"/>
  </p:sldIdLst>
  <p:sldSz cx="9144000" cy="5145088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  <a:srgbClr val="00AEC7"/>
    <a:srgbClr val="B4312E"/>
    <a:srgbClr val="BE3A24"/>
    <a:srgbClr val="86A44A"/>
    <a:srgbClr val="7C6992"/>
    <a:srgbClr val="FFFFCC"/>
    <a:srgbClr val="6E6259"/>
    <a:srgbClr val="FFFF66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5" autoAdjust="0"/>
    <p:restoredTop sz="98007" autoAdjust="0"/>
  </p:normalViewPr>
  <p:slideViewPr>
    <p:cSldViewPr>
      <p:cViewPr>
        <p:scale>
          <a:sx n="100" d="100"/>
          <a:sy n="100" d="100"/>
        </p:scale>
        <p:origin x="-174" y="-126"/>
      </p:cViewPr>
      <p:guideLst>
        <p:guide orient="horz" pos="162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DE6E5-E07D-4B09-8E65-F65F958CE3EF}" type="datetimeFigureOut">
              <a:rPr lang="pt-BR" smtClean="0"/>
              <a:t>15/06/2015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78FC1-7175-4FC0-9A71-4055CB28838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76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81781-342B-4DE8-B23F-A8BE0A6A0156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9370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15/06/2015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013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15/06/2015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93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15/06/2015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981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15/06/2015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965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15/06/2015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48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15/06/2015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9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15/06/2015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556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15/06/2015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43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15/06/2015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818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15/06/2015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15/06/2015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296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060FA-F017-416B-92AB-F93AA45D987F}" type="datetimeFigureOut">
              <a:rPr lang="pt-BR" smtClean="0"/>
              <a:t>15/06/2015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929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E:\Users\BR92457\Documents\Treinamento Requisitos\Fotos\WIL_0967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4542" r="7754" b="5856"/>
          <a:stretch/>
        </p:blipFill>
        <p:spPr bwMode="auto">
          <a:xfrm flipH="1">
            <a:off x="-1" y="1"/>
            <a:ext cx="9143999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F377-FF4E-4DB0-BA25-7D8400C0382B}" type="slidenum">
              <a:rPr lang="pt-BR" smtClean="0"/>
              <a:t>1</a:t>
            </a:fld>
            <a:endParaRPr lang="pt-BR" dirty="0"/>
          </a:p>
        </p:txBody>
      </p:sp>
      <p:grpSp>
        <p:nvGrpSpPr>
          <p:cNvPr id="6" name="Grupo 5"/>
          <p:cNvGrpSpPr/>
          <p:nvPr/>
        </p:nvGrpSpPr>
        <p:grpSpPr>
          <a:xfrm>
            <a:off x="323657" y="700336"/>
            <a:ext cx="3979068" cy="3691717"/>
            <a:chOff x="323657" y="916360"/>
            <a:chExt cx="3979068" cy="3691717"/>
          </a:xfrm>
        </p:grpSpPr>
        <p:sp>
          <p:nvSpPr>
            <p:cNvPr id="4" name="Retângulo 3"/>
            <p:cNvSpPr/>
            <p:nvPr/>
          </p:nvSpPr>
          <p:spPr>
            <a:xfrm>
              <a:off x="323657" y="916360"/>
              <a:ext cx="3979068" cy="3691717"/>
            </a:xfrm>
            <a:prstGeom prst="rect">
              <a:avLst/>
            </a:prstGeom>
            <a:solidFill>
              <a:srgbClr val="FE5000">
                <a:alpha val="6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483706" y="988368"/>
              <a:ext cx="3658970" cy="191590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/>
              <a:r>
                <a:rPr lang="pt-BR" sz="2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ExtraBold" pitchFamily="34" charset="0"/>
                </a:rPr>
                <a:t>Projeto</a:t>
              </a:r>
              <a:endParaRPr lang="pt-BR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endParaRPr>
            </a:p>
            <a:p>
              <a:pPr algn="ctr"/>
              <a:r>
                <a:rPr lang="pt-BR" sz="2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Melhoria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Contínua dos Serviços de </a:t>
              </a:r>
              <a:r>
                <a:rPr lang="pt-BR" sz="2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TD</a:t>
              </a:r>
            </a:p>
            <a:p>
              <a:pPr algn="ctr"/>
              <a:endPara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endParaRPr>
            </a:p>
            <a:p>
              <a:pPr algn="ctr"/>
              <a:r>
                <a:rPr lang="pt-BR" sz="2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Entrevistas Executivas</a:t>
              </a:r>
              <a:endPara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endParaRPr>
            </a:p>
          </p:txBody>
        </p:sp>
        <p:grpSp>
          <p:nvGrpSpPr>
            <p:cNvPr id="5" name="Grupo 4"/>
            <p:cNvGrpSpPr/>
            <p:nvPr/>
          </p:nvGrpSpPr>
          <p:grpSpPr>
            <a:xfrm>
              <a:off x="554536" y="3220616"/>
              <a:ext cx="3369392" cy="809169"/>
              <a:chOff x="698552" y="3076600"/>
              <a:chExt cx="3369392" cy="809169"/>
            </a:xfrm>
          </p:grpSpPr>
          <p:pic>
            <p:nvPicPr>
              <p:cNvPr id="7" name="Picture 8" descr="NAT_marca_branca_natura-01.png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8428" y="3165689"/>
                <a:ext cx="699516" cy="6368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8" name="Conector reto 7"/>
              <p:cNvCxnSpPr/>
              <p:nvPr/>
            </p:nvCxnSpPr>
            <p:spPr>
              <a:xfrm>
                <a:off x="3235898" y="3076600"/>
                <a:ext cx="0" cy="809169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CaixaDeTexto 8"/>
              <p:cNvSpPr txBox="1"/>
              <p:nvPr/>
            </p:nvSpPr>
            <p:spPr>
              <a:xfrm>
                <a:off x="698552" y="3161333"/>
                <a:ext cx="25202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BR" sz="1600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ill Sans Std" pitchFamily="34" charset="0"/>
                  </a:rPr>
                  <a:t>Gerência de Governança</a:t>
                </a:r>
              </a:p>
              <a:p>
                <a:pPr algn="r"/>
                <a:r>
                  <a:rPr lang="pt-BR" sz="1600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ill Sans Std" pitchFamily="34" charset="0"/>
                  </a:rPr>
                  <a:t>VPTD</a:t>
                </a:r>
                <a:endParaRPr lang="pt-BR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" pitchFamily="34" charset="0"/>
                </a:endParaRPr>
              </a:p>
            </p:txBody>
          </p:sp>
        </p:grpSp>
        <p:sp>
          <p:nvSpPr>
            <p:cNvPr id="14" name="CaixaDeTexto 13"/>
            <p:cNvSpPr txBox="1"/>
            <p:nvPr/>
          </p:nvSpPr>
          <p:spPr>
            <a:xfrm>
              <a:off x="3275857" y="4265058"/>
              <a:ext cx="949240" cy="251702"/>
            </a:xfrm>
            <a:prstGeom prst="rect">
              <a:avLst/>
            </a:prstGeom>
            <a:noFill/>
          </p:spPr>
          <p:txBody>
            <a:bodyPr wrap="square" lIns="81628" tIns="40814" rIns="81628" bIns="40814" rtlCol="0">
              <a:spAutoFit/>
            </a:bodyPr>
            <a:lstStyle/>
            <a:p>
              <a:pPr algn="ctr" defTabSz="816277"/>
              <a:r>
                <a:rPr lang="pt-BR" sz="11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" pitchFamily="34" charset="0"/>
                </a:rPr>
                <a:t>Junho 2015</a:t>
              </a:r>
              <a:endParaRPr lang="pt-BR" sz="1100" b="1" i="1" dirty="0">
                <a:solidFill>
                  <a:schemeClr val="bg1"/>
                </a:solidFill>
                <a:latin typeface="Gill Sans Std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4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Entrevista Executiva – Qualificação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107504" y="700336"/>
            <a:ext cx="8928927" cy="4110996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r>
              <a:rPr lang="pt-BR" sz="2000" b="1" dirty="0" smtClean="0">
                <a:solidFill>
                  <a:srgbClr val="002060"/>
                </a:solidFill>
              </a:rPr>
              <a:t>Entrevista #: </a:t>
            </a:r>
          </a:p>
          <a:p>
            <a:r>
              <a:rPr lang="pt-BR" sz="2000" b="1" dirty="0" smtClean="0">
                <a:solidFill>
                  <a:srgbClr val="002060"/>
                </a:solidFill>
              </a:rPr>
              <a:t>Data:</a:t>
            </a:r>
          </a:p>
          <a:p>
            <a:r>
              <a:rPr lang="pt-BR" sz="2000" b="1" dirty="0" smtClean="0">
                <a:solidFill>
                  <a:srgbClr val="002060"/>
                </a:solidFill>
              </a:rPr>
              <a:t>Consultor:</a:t>
            </a:r>
          </a:p>
          <a:p>
            <a:endParaRPr lang="pt-BR" sz="2000" b="1" dirty="0" smtClean="0"/>
          </a:p>
          <a:p>
            <a:endParaRPr lang="pt-BR" sz="2000" b="1" dirty="0"/>
          </a:p>
          <a:p>
            <a:r>
              <a:rPr lang="pt-BR" sz="2000" b="1" dirty="0" smtClean="0">
                <a:solidFill>
                  <a:srgbClr val="C00000"/>
                </a:solidFill>
              </a:rPr>
              <a:t>Entrevistado(a):</a:t>
            </a:r>
          </a:p>
          <a:p>
            <a:r>
              <a:rPr lang="pt-BR" sz="2000" b="1" dirty="0" smtClean="0">
                <a:solidFill>
                  <a:srgbClr val="C00000"/>
                </a:solidFill>
              </a:rPr>
              <a:t>Cargo e função:</a:t>
            </a:r>
          </a:p>
          <a:p>
            <a:r>
              <a:rPr lang="pt-BR" sz="2000" b="1" dirty="0" smtClean="0">
                <a:solidFill>
                  <a:srgbClr val="C00000"/>
                </a:solidFill>
              </a:rPr>
              <a:t>Tempo na organização:</a:t>
            </a:r>
          </a:p>
          <a:p>
            <a:r>
              <a:rPr lang="pt-BR" sz="2000" b="1" dirty="0" smtClean="0">
                <a:solidFill>
                  <a:srgbClr val="C00000"/>
                </a:solidFill>
              </a:rPr>
              <a:t>Subordinação direta:</a:t>
            </a:r>
          </a:p>
          <a:p>
            <a:endParaRPr lang="pt-BR" sz="2000" b="1" dirty="0">
              <a:solidFill>
                <a:srgbClr val="C00000"/>
              </a:solidFill>
            </a:endParaRPr>
          </a:p>
          <a:p>
            <a:r>
              <a:rPr lang="pt-BR" sz="2000" b="1" dirty="0" smtClean="0">
                <a:solidFill>
                  <a:srgbClr val="C00000"/>
                </a:solidFill>
              </a:rPr>
              <a:t>Relação com processos de Ger. de Serviços:</a:t>
            </a:r>
          </a:p>
          <a:p>
            <a:endParaRPr lang="pt-BR" sz="2000" b="1" dirty="0">
              <a:solidFill>
                <a:srgbClr val="C00000"/>
              </a:solidFill>
            </a:endParaRPr>
          </a:p>
          <a:p>
            <a:r>
              <a:rPr lang="pt-BR" sz="1600" b="1" dirty="0" smtClean="0">
                <a:solidFill>
                  <a:srgbClr val="C00000"/>
                </a:solidFill>
              </a:rPr>
              <a:t>Gestor (   )  Usuário (   )  Dono de Processo (   )  Gerente de Processo (   )  Solucionador (   ) </a:t>
            </a:r>
          </a:p>
        </p:txBody>
      </p:sp>
    </p:spTree>
    <p:extLst>
      <p:ext uri="{BB962C8B-B14F-4D97-AF65-F5344CB8AC3E}">
        <p14:creationId xmlns:p14="http://schemas.microsoft.com/office/powerpoint/2010/main" val="329442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107505" y="868589"/>
            <a:ext cx="8928927" cy="4080219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Por </a:t>
            </a:r>
            <a:r>
              <a:rPr lang="pt-BR" sz="1400" dirty="0"/>
              <a:t>favor, descreva </a:t>
            </a:r>
            <a:r>
              <a:rPr lang="pt-BR" sz="1400" dirty="0" smtClean="0"/>
              <a:t>sua área de atuação, </a:t>
            </a:r>
            <a:r>
              <a:rPr lang="pt-BR" sz="1400" dirty="0"/>
              <a:t>missão e responsabilidades, assim como sua posição e a função da </a:t>
            </a:r>
            <a:r>
              <a:rPr lang="pt-BR" sz="1400" dirty="0" smtClean="0"/>
              <a:t>sua área.</a:t>
            </a:r>
          </a:p>
          <a:p>
            <a:pPr marL="361950" indent="-361950">
              <a:buFont typeface="+mj-lt"/>
              <a:buAutoNum type="arabicPeriod"/>
            </a:pPr>
            <a:r>
              <a:rPr lang="pt-BR" sz="1400" dirty="0"/>
              <a:t>Quem são seus clientes</a:t>
            </a:r>
            <a:r>
              <a:rPr lang="pt-BR" sz="1400" dirty="0" smtClean="0"/>
              <a:t>? Quais </a:t>
            </a:r>
            <a:r>
              <a:rPr lang="pt-BR" sz="1400" dirty="0"/>
              <a:t>serviços você </a:t>
            </a:r>
            <a:r>
              <a:rPr lang="pt-BR" sz="1400" dirty="0" smtClean="0"/>
              <a:t>provisiona ao negócio? </a:t>
            </a:r>
            <a:endParaRPr lang="pt-BR" sz="1400" dirty="0"/>
          </a:p>
          <a:p>
            <a:pPr marL="361950" indent="-361950">
              <a:buFont typeface="+mj-lt"/>
              <a:buAutoNum type="arabicPeriod"/>
            </a:pPr>
            <a:r>
              <a:rPr lang="pt-BR" sz="1400" dirty="0" smtClean="0"/>
              <a:t>Qual </a:t>
            </a:r>
            <a:r>
              <a:rPr lang="pt-BR" sz="1400" dirty="0"/>
              <a:t>é o nível de satisfação deles? Como você controla a satisfação </a:t>
            </a:r>
            <a:r>
              <a:rPr lang="pt-BR" sz="1400" dirty="0" smtClean="0"/>
              <a:t>dos usuários/clientes?</a:t>
            </a:r>
          </a:p>
          <a:p>
            <a:pPr marL="361950" indent="-361950">
              <a:buFont typeface="+mj-lt"/>
              <a:buAutoNum type="arabicPeriod"/>
            </a:pPr>
            <a:r>
              <a:rPr lang="pt-BR" sz="1400" dirty="0" smtClean="0"/>
              <a:t>Qual </a:t>
            </a:r>
            <a:r>
              <a:rPr lang="pt-BR" sz="1400" dirty="0"/>
              <a:t>é o valor </a:t>
            </a:r>
            <a:r>
              <a:rPr lang="pt-BR" sz="1400" dirty="0" smtClean="0"/>
              <a:t>de TD percebido pelo </a:t>
            </a:r>
            <a:r>
              <a:rPr lang="pt-BR" sz="1400" dirty="0"/>
              <a:t>negócio</a:t>
            </a:r>
            <a:r>
              <a:rPr lang="pt-BR" sz="1400" dirty="0" smtClean="0"/>
              <a:t>? Como você apura o </a:t>
            </a:r>
            <a:r>
              <a:rPr lang="pt-BR" sz="1400" dirty="0"/>
              <a:t>alinhamento da </a:t>
            </a:r>
            <a:r>
              <a:rPr lang="pt-BR" sz="1400" dirty="0" smtClean="0"/>
              <a:t>TD </a:t>
            </a:r>
            <a:r>
              <a:rPr lang="pt-BR" sz="1400" dirty="0"/>
              <a:t>com o negócio?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Como </a:t>
            </a:r>
            <a:r>
              <a:rPr lang="pt-BR" sz="1400" dirty="0"/>
              <a:t>está estruturada </a:t>
            </a:r>
            <a:r>
              <a:rPr lang="pt-BR" sz="1400" dirty="0" smtClean="0"/>
              <a:t>a sua área? Está adequada? Você </a:t>
            </a:r>
            <a:r>
              <a:rPr lang="pt-BR" sz="1400" dirty="0"/>
              <a:t>mudaria a estrutura? 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Quais </a:t>
            </a:r>
            <a:r>
              <a:rPr lang="pt-BR" sz="1400" dirty="0"/>
              <a:t>objetivos você </a:t>
            </a:r>
            <a:r>
              <a:rPr lang="pt-BR" sz="1400" dirty="0" smtClean="0"/>
              <a:t>possui? </a:t>
            </a:r>
            <a:r>
              <a:rPr lang="pt-BR" sz="1400" dirty="0"/>
              <a:t>O que motivou o estabelecimento desses objetivos? </a:t>
            </a:r>
            <a:r>
              <a:rPr lang="pt-BR" sz="1400" dirty="0" smtClean="0"/>
              <a:t>Há incentivos </a:t>
            </a:r>
            <a:r>
              <a:rPr lang="pt-BR" sz="1400" dirty="0"/>
              <a:t>– financeiros, de reconhecimento, prêmios etc. – para </a:t>
            </a:r>
            <a:r>
              <a:rPr lang="pt-BR" sz="1400" dirty="0" smtClean="0"/>
              <a:t>atingir os objetivos? </a:t>
            </a:r>
            <a:endParaRPr lang="pt-BR" sz="1400" dirty="0"/>
          </a:p>
          <a:p>
            <a:pPr marL="361950" indent="-361950">
              <a:buFont typeface="+mj-lt"/>
              <a:buAutoNum type="arabicPeriod"/>
            </a:pPr>
            <a:r>
              <a:rPr lang="pt-BR" sz="1400" dirty="0" smtClean="0"/>
              <a:t>Descreva </a:t>
            </a:r>
            <a:r>
              <a:rPr lang="pt-BR" sz="1400" dirty="0"/>
              <a:t>em linhas gerais os </a:t>
            </a:r>
            <a:r>
              <a:rPr lang="pt-BR" sz="1400" dirty="0" smtClean="0"/>
              <a:t>aspectos de </a:t>
            </a:r>
            <a:r>
              <a:rPr lang="pt-BR" sz="1400" dirty="0"/>
              <a:t>direção, controle, execução e comunicação </a:t>
            </a:r>
            <a:r>
              <a:rPr lang="pt-BR" sz="1400" dirty="0" smtClean="0"/>
              <a:t>dos processos de </a:t>
            </a:r>
            <a:r>
              <a:rPr lang="pt-BR" sz="1400" dirty="0"/>
              <a:t>Gerenciamento de Serviços de </a:t>
            </a:r>
            <a:r>
              <a:rPr lang="pt-BR" sz="1400" dirty="0" smtClean="0"/>
              <a:t>TD.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Você </a:t>
            </a:r>
            <a:r>
              <a:rPr lang="pt-BR" sz="1400" dirty="0"/>
              <a:t>recebe </a:t>
            </a:r>
            <a:r>
              <a:rPr lang="pt-BR" sz="1400" dirty="0" smtClean="0"/>
              <a:t>indicadores </a:t>
            </a:r>
            <a:r>
              <a:rPr lang="pt-BR" sz="1400" dirty="0"/>
              <a:t>gerenciais de que precisa? Quais informações </a:t>
            </a:r>
            <a:r>
              <a:rPr lang="pt-BR" sz="1400" dirty="0" smtClean="0"/>
              <a:t>não recebe, </a:t>
            </a:r>
            <a:r>
              <a:rPr lang="pt-BR" sz="1400" dirty="0"/>
              <a:t>mas </a:t>
            </a:r>
            <a:r>
              <a:rPr lang="pt-BR" sz="1400" dirty="0" smtClean="0"/>
              <a:t>gostaria? </a:t>
            </a:r>
            <a:endParaRPr lang="pt-BR" sz="1400" dirty="0"/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Como descreve os </a:t>
            </a:r>
            <a:r>
              <a:rPr lang="pt-BR" sz="1400" dirty="0"/>
              <a:t>esforços </a:t>
            </a:r>
            <a:r>
              <a:rPr lang="pt-BR" sz="1400" dirty="0" smtClean="0"/>
              <a:t>anteriores e em curso para consolidar as </a:t>
            </a:r>
            <a:r>
              <a:rPr lang="pt-BR" sz="1400" dirty="0"/>
              <a:t>melhores práticas </a:t>
            </a:r>
            <a:r>
              <a:rPr lang="pt-BR" sz="1400" dirty="0" smtClean="0"/>
              <a:t>de Gerenciamento </a:t>
            </a:r>
            <a:r>
              <a:rPr lang="pt-BR" sz="1400" dirty="0"/>
              <a:t>de Serviços </a:t>
            </a:r>
            <a:r>
              <a:rPr lang="pt-BR" sz="1400" dirty="0" smtClean="0"/>
              <a:t>na TD?</a:t>
            </a:r>
            <a:endParaRPr lang="pt-BR" sz="1400" dirty="0"/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Existe </a:t>
            </a:r>
            <a:r>
              <a:rPr lang="pt-BR" sz="1400" dirty="0"/>
              <a:t>alguma </a:t>
            </a:r>
            <a:r>
              <a:rPr lang="pt-BR" sz="1400" dirty="0" smtClean="0"/>
              <a:t>área/processo </a:t>
            </a:r>
            <a:r>
              <a:rPr lang="pt-BR" sz="1400" dirty="0"/>
              <a:t>que você recomenda </a:t>
            </a:r>
            <a:r>
              <a:rPr lang="pt-BR" sz="1400" dirty="0" smtClean="0"/>
              <a:t>que seja colocada </a:t>
            </a:r>
            <a:r>
              <a:rPr lang="pt-BR" sz="1400" dirty="0"/>
              <a:t>em foco no presente trabalho</a:t>
            </a:r>
            <a:r>
              <a:rPr lang="pt-BR" sz="1400" dirty="0" smtClean="0"/>
              <a:t>?</a:t>
            </a:r>
          </a:p>
          <a:p>
            <a:endParaRPr lang="pt-BR" sz="1400" dirty="0" smtClean="0"/>
          </a:p>
          <a:p>
            <a:r>
              <a:rPr lang="pt-BR" sz="1600" dirty="0" smtClean="0"/>
              <a:t>Considera </a:t>
            </a:r>
            <a:r>
              <a:rPr lang="pt-BR" sz="1600" dirty="0"/>
              <a:t>o Metrô de Processos implantado</a:t>
            </a:r>
            <a:r>
              <a:rPr lang="pt-BR" sz="1600" dirty="0" smtClean="0"/>
              <a:t>?</a:t>
            </a:r>
          </a:p>
          <a:p>
            <a:r>
              <a:rPr lang="pt-BR" sz="1600" dirty="0" smtClean="0"/>
              <a:t>Você e sua equipe foram treinados nos processos do Metrô? Quando? Como? Prática?</a:t>
            </a:r>
          </a:p>
          <a:p>
            <a:r>
              <a:rPr lang="pt-BR" sz="1600" dirty="0" smtClean="0"/>
              <a:t>Você (sua equipe) foram treinados em melhores práticas (ITIL; COBIT; LEAN IT; ISO20K...)?</a:t>
            </a:r>
            <a:endParaRPr lang="pt-BR" sz="16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Entrevista Executiva – Aspectos Gerais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06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02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12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13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107505" y="868589"/>
            <a:ext cx="8928927" cy="4203329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As pessoas são adequadamente treinadas em aspectos motivacionais ou comportamentais? Há “amparo”?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Como percebe a atuação das pessoas e áreas de TD? Há “heroísmos”? Há alguma omissão?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Os processos lhe parecem bem compreendidos e aceitos pelas áreas? Há “trincheiras”?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Você percebe resistência aos processos? A que credita este comportamento?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Os usuários/clientes compreendem as razões por trás das práticas da TD? Sabem como a TD atua?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As ferramentas de automação são simples e intuitivas? Há percepção de “burocracia”?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Como é efetuada a prestação de contas? As pessoas assumem a responsabilidade? Há “culpados”?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Há muita tensão? Há pessoas aparentam algum receio? Qual?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Os relacionamentos entre as áreas e seus gestores é colaborativo? Há sinergia?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Os indicadores possibilitam compreender a situação e planejar o futuro? Há “voos cegos”?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Os clientes/usuários costumam planejar suas demandas? Há “artesanato”?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Há desperdício causado pelos clientes/usuários? Como é apurado? Há feedback?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A TD propõe soluções ao negócio ou habitualmente reage às demandas? Qual a proporção?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O Planejamento Estratégico da Natura é compreendido por todos? As pessoas sabem em qual TD trabalharão em três ou cinco anos? Estão se preparando para esse novo cenário?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400" dirty="0" smtClean="0"/>
              <a:t>Há planejamento estruturado em TD? Um PETI – Plano Estratégico de TI – ou PDTI – Plano Diretor de TI – está em desenvolvimento ou em execução?</a:t>
            </a:r>
          </a:p>
          <a:p>
            <a:pPr marL="361950" lvl="0" indent="-361950">
              <a:buFont typeface="+mj-lt"/>
              <a:buAutoNum type="arabicPeriod"/>
            </a:pPr>
            <a:endParaRPr lang="pt-BR" sz="1400" dirty="0"/>
          </a:p>
          <a:p>
            <a:pPr lvl="0" algn="ctr"/>
            <a:r>
              <a:rPr lang="pt-BR" sz="1400" dirty="0" smtClean="0"/>
              <a:t>Algo (ou alguém) precisa mudar imediatamente? Há algum comportamento inaceitável?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Entrevista Executiva – Atitude e Comportamento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36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02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12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13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32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42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500" fill="hold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52" dur="500" fill="hold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53" dur="500" fill="hold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500" fill="hold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-16143" y="700336"/>
            <a:ext cx="5198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Gerenciamento de </a:t>
            </a: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  <a:latin typeface="Gill Sans Std Light" pitchFamily="34" charset="0"/>
              </a:rPr>
              <a:t>Incidentes (e Requisições)</a:t>
            </a:r>
            <a:endParaRPr lang="pt-BR" b="1" dirty="0">
              <a:solidFill>
                <a:schemeClr val="accent6">
                  <a:lumMod val="75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107504" y="1132384"/>
            <a:ext cx="8928927" cy="4034052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Você sabe quem é o Dono do Processo de Gerenciamento de Incidentes? Quem é?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O registro de incidentes é simples e intuitivo? É fácil encontrar uma opção no menu?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Os prazos efetivos são adequados às necessidades do negócio? 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O controle sobre o tratamento de incidentes é transparente? Você consegue acompanhar o status?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Há repetição de incidentes (“erros velhos”)?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Há muitos incidentes críticos? Você concorda com os critérios de criticidade?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O processo possui interfaces claras com outros processos (SGC/KEDB...)? Você as conhece?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Você e sua equipe foram treinados para atuar/interagir no processo?</a:t>
            </a:r>
          </a:p>
          <a:p>
            <a:pPr marL="361950" indent="-361950">
              <a:buFont typeface="+mj-lt"/>
              <a:buAutoNum type="arabicPeriod"/>
            </a:pPr>
            <a:r>
              <a:rPr lang="pt-BR" sz="1500" dirty="0"/>
              <a:t>Você precisa procurar o solucionador, usar sua influência, pedir prioridade? </a:t>
            </a:r>
          </a:p>
          <a:p>
            <a:pPr marL="361950" lvl="0" indent="-361950">
              <a:buFont typeface="+mj-lt"/>
              <a:buAutoNum type="arabicPeriod"/>
            </a:pPr>
            <a:endParaRPr lang="pt-BR" sz="1500" dirty="0" smtClean="0"/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Como </a:t>
            </a:r>
            <a:r>
              <a:rPr lang="pt-BR" sz="1500" i="1" dirty="0"/>
              <a:t>você percebe, em linha gerais, a eficiência e a eficácia do </a:t>
            </a:r>
            <a:r>
              <a:rPr lang="pt-BR" sz="1500" i="1" dirty="0" smtClean="0"/>
              <a:t>processo?</a:t>
            </a:r>
          </a:p>
          <a:p>
            <a:pPr marL="361950" lvl="0" indent="-361950">
              <a:buFont typeface="Wingdings" panose="05000000000000000000" pitchFamily="2" charset="2"/>
              <a:buChar char="§"/>
            </a:pPr>
            <a:r>
              <a:rPr lang="pt-BR" sz="1500" i="1" dirty="0"/>
              <a:t>Quais aspectos </a:t>
            </a:r>
            <a:r>
              <a:rPr lang="pt-BR" sz="1500" i="1" dirty="0" smtClean="0"/>
              <a:t>do processo mais </a:t>
            </a:r>
            <a:r>
              <a:rPr lang="pt-BR" sz="1500" i="1" dirty="0"/>
              <a:t>o(a) </a:t>
            </a:r>
            <a:r>
              <a:rPr lang="pt-BR" sz="1500" i="1" dirty="0" smtClean="0"/>
              <a:t>incomodam? Há algum aspecto inaceitável?</a:t>
            </a:r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Você percebe melhoria contínua deste processo?</a:t>
            </a:r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Há </a:t>
            </a:r>
            <a:r>
              <a:rPr lang="pt-BR" sz="1500" i="1" dirty="0"/>
              <a:t>indicadores objetivos </a:t>
            </a:r>
            <a:r>
              <a:rPr lang="pt-BR" sz="1500" i="1" dirty="0" smtClean="0"/>
              <a:t>que corroboram </a:t>
            </a:r>
            <a:r>
              <a:rPr lang="pt-BR" sz="1500" i="1" dirty="0"/>
              <a:t>sua percepção</a:t>
            </a:r>
            <a:r>
              <a:rPr lang="pt-BR" sz="1500" i="1" dirty="0" smtClean="0"/>
              <a:t>? Quais?</a:t>
            </a:r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Se pudesse decidir sobre o futuro deste processo, o que faria?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1500" i="1" dirty="0"/>
          </a:p>
          <a:p>
            <a:pPr algn="ctr"/>
            <a:r>
              <a:rPr lang="pt-BR" sz="1500" i="1" dirty="0" smtClean="0"/>
              <a:t>Há algo que queira acrescentar? Algo importante não foi perguntado?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Entrevista Executiva – Processos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06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02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12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13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32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" dur="500" fill="hold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42" dur="500" fill="hold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500" fill="hold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-16143" y="700336"/>
            <a:ext cx="34419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Gerenciamento de </a:t>
            </a:r>
            <a:r>
              <a:rPr lang="pt-BR" b="1" dirty="0" smtClean="0">
                <a:solidFill>
                  <a:srgbClr val="C00000"/>
                </a:solidFill>
                <a:latin typeface="Gill Sans Std Light" pitchFamily="34" charset="0"/>
              </a:rPr>
              <a:t>Problemas</a:t>
            </a:r>
            <a:endParaRPr lang="pt-BR" b="1" dirty="0">
              <a:solidFill>
                <a:srgbClr val="C00000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107504" y="1132384"/>
            <a:ext cx="8928927" cy="3803220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Você sabe quem é o Dono do Processo de Gerenciamento de Problemas? Quem é?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Há uma base de erros conhecidos disponível? Você (sua equipe) a consulta?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A investigação de problemas é efetiva, isto é, erros são eliminados?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Há estímulo para tratar problemas ou problemas são “um problema para as pessoas”?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Há critérios objetivos para se “decretar um problema”? Quem decide? Você tem esta autoridade?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O controle sobre o tratamento de problemas é transparente? Você consegue acompanhar o status?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O processo possui interfaces claras com outros processos (SGC; PM...)? Você as conhece?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Você e sua equipe foram treinados para atuar/interagir no processo? </a:t>
            </a:r>
            <a:endParaRPr lang="pt-BR" sz="1500" dirty="0"/>
          </a:p>
          <a:p>
            <a:pPr marL="361950" lvl="0" indent="-361950">
              <a:buFont typeface="+mj-lt"/>
              <a:buAutoNum type="arabicPeriod"/>
            </a:pPr>
            <a:endParaRPr lang="pt-BR" sz="1500" dirty="0" smtClean="0"/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Como </a:t>
            </a:r>
            <a:r>
              <a:rPr lang="pt-BR" sz="1500" i="1" dirty="0"/>
              <a:t>você percebe, em linha gerais, a eficiência e a eficácia do </a:t>
            </a:r>
            <a:r>
              <a:rPr lang="pt-BR" sz="1500" i="1" dirty="0" smtClean="0"/>
              <a:t>processo?</a:t>
            </a:r>
          </a:p>
          <a:p>
            <a:pPr marL="361950" lvl="0" indent="-361950">
              <a:buFont typeface="Wingdings" panose="05000000000000000000" pitchFamily="2" charset="2"/>
              <a:buChar char="§"/>
            </a:pPr>
            <a:r>
              <a:rPr lang="pt-BR" sz="1500" i="1" dirty="0"/>
              <a:t>Quais aspectos </a:t>
            </a:r>
            <a:r>
              <a:rPr lang="pt-BR" sz="1500" i="1" dirty="0" smtClean="0"/>
              <a:t>do processo mais </a:t>
            </a:r>
            <a:r>
              <a:rPr lang="pt-BR" sz="1500" i="1" dirty="0"/>
              <a:t>o(a) </a:t>
            </a:r>
            <a:r>
              <a:rPr lang="pt-BR" sz="1500" i="1" dirty="0" smtClean="0"/>
              <a:t>incomodam? Há algum aspecto inaceitável?</a:t>
            </a:r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Você percebe melhoria contínua deste processo?</a:t>
            </a:r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Há </a:t>
            </a:r>
            <a:r>
              <a:rPr lang="pt-BR" sz="1500" i="1" dirty="0"/>
              <a:t>indicadores objetivos </a:t>
            </a:r>
            <a:r>
              <a:rPr lang="pt-BR" sz="1500" i="1" dirty="0" smtClean="0"/>
              <a:t>que corroboram </a:t>
            </a:r>
            <a:r>
              <a:rPr lang="pt-BR" sz="1500" i="1" dirty="0"/>
              <a:t>sua percepção</a:t>
            </a:r>
            <a:r>
              <a:rPr lang="pt-BR" sz="1500" i="1" dirty="0" smtClean="0"/>
              <a:t>? Quais?</a:t>
            </a:r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Se pudesse decidir sobre o futuro deste processo, o que faria?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1500" i="1" dirty="0"/>
          </a:p>
          <a:p>
            <a:pPr algn="ctr"/>
            <a:r>
              <a:rPr lang="pt-BR" sz="1500" i="1" dirty="0" smtClean="0"/>
              <a:t>Há algo que queira acrescentar? Algo importante não foi perguntado?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Entrevista Executiva – Processos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212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02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12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13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32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-16143" y="700336"/>
            <a:ext cx="3390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Gerenciamento de </a:t>
            </a:r>
            <a:r>
              <a:rPr lang="pt-BR" b="1" dirty="0" smtClean="0">
                <a:solidFill>
                  <a:srgbClr val="0070C0"/>
                </a:solidFill>
                <a:latin typeface="Gill Sans Std Light" pitchFamily="34" charset="0"/>
              </a:rPr>
              <a:t>Mudanças</a:t>
            </a:r>
            <a:endParaRPr lang="pt-BR" b="1" dirty="0">
              <a:solidFill>
                <a:srgbClr val="0070C0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107504" y="1132384"/>
            <a:ext cx="8928927" cy="4034052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Você sabe quem é o Dono do Processo de Gerenciamento de Mudanças? Quem é?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Há mais de um rito para tratar mudanças diferentes? Quais?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As avaliações de mudanças são efetivas, isto é, evitam falhas nos serviços?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O que define o sucesso de uma mudança? Há revisões pós-implantação? O que é avaliado?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Os usuários são consultados sobre a efetividade das mudanças? 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As janelas de mudanças são adequadas aos requerimentos do negócio?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O processo possui interfaces claras com outros processos (SGC; INC; PRB; PPM...)? Você as conhece?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Mudanças, Demandas e Projetos estão relacionados entre si? É possível rastrear fim-a-fim? 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Você e sua equipe foram treinados para atuar/interagir no processo? </a:t>
            </a:r>
            <a:endParaRPr lang="pt-BR" sz="1500" dirty="0"/>
          </a:p>
          <a:p>
            <a:pPr marL="361950" lvl="0" indent="-361950">
              <a:buFont typeface="+mj-lt"/>
              <a:buAutoNum type="arabicPeriod"/>
            </a:pPr>
            <a:endParaRPr lang="pt-BR" sz="1500" dirty="0" smtClean="0"/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Como </a:t>
            </a:r>
            <a:r>
              <a:rPr lang="pt-BR" sz="1500" i="1" dirty="0"/>
              <a:t>você percebe, em linha gerais, a eficiência e a eficácia do </a:t>
            </a:r>
            <a:r>
              <a:rPr lang="pt-BR" sz="1500" i="1" dirty="0" smtClean="0"/>
              <a:t>processo?</a:t>
            </a:r>
          </a:p>
          <a:p>
            <a:pPr marL="361950" lvl="0" indent="-361950">
              <a:buFont typeface="Wingdings" panose="05000000000000000000" pitchFamily="2" charset="2"/>
              <a:buChar char="§"/>
            </a:pPr>
            <a:r>
              <a:rPr lang="pt-BR" sz="1500" i="1" dirty="0"/>
              <a:t>Quais aspectos </a:t>
            </a:r>
            <a:r>
              <a:rPr lang="pt-BR" sz="1500" i="1" dirty="0" smtClean="0"/>
              <a:t>do processo mais </a:t>
            </a:r>
            <a:r>
              <a:rPr lang="pt-BR" sz="1500" i="1" dirty="0"/>
              <a:t>o(a) </a:t>
            </a:r>
            <a:r>
              <a:rPr lang="pt-BR" sz="1500" i="1" dirty="0" smtClean="0"/>
              <a:t>incomodam? Há algum aspecto inaceitável?</a:t>
            </a:r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Você percebe melhoria contínua deste processo?</a:t>
            </a:r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Há </a:t>
            </a:r>
            <a:r>
              <a:rPr lang="pt-BR" sz="1500" i="1" dirty="0"/>
              <a:t>indicadores objetivos </a:t>
            </a:r>
            <a:r>
              <a:rPr lang="pt-BR" sz="1500" i="1" dirty="0" smtClean="0"/>
              <a:t>que corroboram </a:t>
            </a:r>
            <a:r>
              <a:rPr lang="pt-BR" sz="1500" i="1" dirty="0"/>
              <a:t>sua percepção</a:t>
            </a:r>
            <a:r>
              <a:rPr lang="pt-BR" sz="1500" i="1" dirty="0" smtClean="0"/>
              <a:t>? Quais?</a:t>
            </a:r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Se pudesse decidir sobre o futuro deste processo, o que faria?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1500" i="1" dirty="0"/>
          </a:p>
          <a:p>
            <a:pPr algn="ctr"/>
            <a:r>
              <a:rPr lang="pt-BR" sz="1500" i="1" dirty="0" smtClean="0"/>
              <a:t>Há algo que queira acrescentar? Algo importante não foi perguntado?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Entrevista Executiva – Processos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28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02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12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13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32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" dur="500" fill="hold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42" dur="500" fill="hold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500" fill="hold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-16143" y="700336"/>
            <a:ext cx="5946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Gerenciamento da </a:t>
            </a:r>
            <a:r>
              <a:rPr lang="pt-BR" b="1" dirty="0" smtClean="0">
                <a:solidFill>
                  <a:schemeClr val="accent3">
                    <a:lumMod val="75000"/>
                  </a:schemeClr>
                </a:solidFill>
                <a:latin typeface="Gill Sans Std Light" pitchFamily="34" charset="0"/>
              </a:rPr>
              <a:t>Configuração e Ativos do Serviço</a:t>
            </a:r>
            <a:endParaRPr lang="pt-BR" b="1" dirty="0">
              <a:solidFill>
                <a:schemeClr val="accent3">
                  <a:lumMod val="75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107504" y="1132384"/>
            <a:ext cx="8928927" cy="3803220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Você sabe quem é o Dono do Processo GCAS? Quem é?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Serviço é um Item de Configuração ao qual estão relacionados Sistemas e Componentes?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Há itens não tecnológicos (pessoas, áreas de função, documentos...) no SGC?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O SGC – Sistema de Gerenciamento da Configuração – está vinculado aos registros de Incidentes, Requisições, Problemas, Demandas e Mudanças?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Há donos para os Itens de Configuração?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Você toma decisões baseadas em informações da configuração (Projetos, Incidentes, Problemas...)?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Você e sua equipe foram treinados para atuar/interagir no processo? </a:t>
            </a:r>
            <a:endParaRPr lang="pt-BR" sz="1500" dirty="0"/>
          </a:p>
          <a:p>
            <a:pPr marL="361950" lvl="0" indent="-361950">
              <a:buFont typeface="+mj-lt"/>
              <a:buAutoNum type="arabicPeriod"/>
            </a:pPr>
            <a:endParaRPr lang="pt-BR" sz="1500" dirty="0" smtClean="0"/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Como </a:t>
            </a:r>
            <a:r>
              <a:rPr lang="pt-BR" sz="1500" i="1" dirty="0"/>
              <a:t>você percebe, em linha gerais, a eficiência e a eficácia do </a:t>
            </a:r>
            <a:r>
              <a:rPr lang="pt-BR" sz="1500" i="1" dirty="0" smtClean="0"/>
              <a:t>processo?</a:t>
            </a:r>
          </a:p>
          <a:p>
            <a:pPr marL="361950" lvl="0" indent="-361950">
              <a:buFont typeface="Wingdings" panose="05000000000000000000" pitchFamily="2" charset="2"/>
              <a:buChar char="§"/>
            </a:pPr>
            <a:r>
              <a:rPr lang="pt-BR" sz="1500" i="1" dirty="0"/>
              <a:t>Quais aspectos </a:t>
            </a:r>
            <a:r>
              <a:rPr lang="pt-BR" sz="1500" i="1" dirty="0" smtClean="0"/>
              <a:t>do processo mais </a:t>
            </a:r>
            <a:r>
              <a:rPr lang="pt-BR" sz="1500" i="1" dirty="0"/>
              <a:t>o(a) </a:t>
            </a:r>
            <a:r>
              <a:rPr lang="pt-BR" sz="1500" i="1" dirty="0" smtClean="0"/>
              <a:t>incomodam? Há algum aspecto inaceitável?</a:t>
            </a:r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Você percebe melhoria contínua deste processo?</a:t>
            </a:r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Há </a:t>
            </a:r>
            <a:r>
              <a:rPr lang="pt-BR" sz="1500" i="1" dirty="0"/>
              <a:t>indicadores objetivos </a:t>
            </a:r>
            <a:r>
              <a:rPr lang="pt-BR" sz="1500" i="1" dirty="0" smtClean="0"/>
              <a:t>que corroboram </a:t>
            </a:r>
            <a:r>
              <a:rPr lang="pt-BR" sz="1500" i="1" dirty="0"/>
              <a:t>sua percepção</a:t>
            </a:r>
            <a:r>
              <a:rPr lang="pt-BR" sz="1500" i="1" dirty="0" smtClean="0"/>
              <a:t>? Quais?</a:t>
            </a:r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Se pudesse decidir sobre o futuro deste processo, o que faria?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1500" i="1" dirty="0"/>
          </a:p>
          <a:p>
            <a:pPr algn="ctr"/>
            <a:r>
              <a:rPr lang="pt-BR" sz="1500" i="1" dirty="0" smtClean="0"/>
              <a:t>Há algo que queira acrescentar? Algo importante não foi perguntado?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Entrevista Executiva – Processos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26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02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12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13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-16143" y="700336"/>
            <a:ext cx="4185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Gerenciamento de </a:t>
            </a:r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latin typeface="Gill Sans Std Light" pitchFamily="34" charset="0"/>
              </a:rPr>
              <a:t>Nível de Serviço</a:t>
            </a:r>
            <a:endParaRPr lang="pt-BR" b="1" dirty="0">
              <a:solidFill>
                <a:schemeClr val="accent4">
                  <a:lumMod val="75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107504" y="1132384"/>
            <a:ext cx="8928927" cy="4034052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Você sabe quem é o Dono do Processo de Gerenciamento de Nível de Serviço? Quem é?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Como são coletados, formalizados e mantidos os RNS – Requerimentos de Nível de Serviço?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Há Acordos de Nível Operacional estabelecidos? Você participa de algum?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Os contratos com fornecedores estão relacionados a Contratos de Apoio aos Níveis de Serviço?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Quais aspectos compõem o Nível de Serviço (disponibilidade; capacidade e performance; tempo de resposta a incidentes e requisições; taxas de mudanças não planejadas; prazos para estimativas...)?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Há controles sobre evolução dos Níveis de Serviço? Quais?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Um PMS – Plano de Melhoria do Serviço – está formalizado e é mantido?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O processo possui interfaces claras com outros processos (DEM; INC; PRB, MUD...)? Você as conhece?</a:t>
            </a:r>
          </a:p>
          <a:p>
            <a:pPr marL="361950" lvl="0" indent="-361950">
              <a:buFont typeface="+mj-lt"/>
              <a:buAutoNum type="arabicPeriod"/>
            </a:pPr>
            <a:r>
              <a:rPr lang="pt-BR" sz="1500" dirty="0" smtClean="0"/>
              <a:t>Você e sua equipe foram treinados para atuar/interagir no processo? </a:t>
            </a:r>
            <a:endParaRPr lang="pt-BR" sz="1500" dirty="0"/>
          </a:p>
          <a:p>
            <a:pPr marL="361950" lvl="0" indent="-361950">
              <a:buFont typeface="+mj-lt"/>
              <a:buAutoNum type="arabicPeriod"/>
            </a:pPr>
            <a:endParaRPr lang="pt-BR" sz="1500" dirty="0" smtClean="0"/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Como </a:t>
            </a:r>
            <a:r>
              <a:rPr lang="pt-BR" sz="1500" i="1" dirty="0"/>
              <a:t>você percebe, em linha gerais, a eficiência e a eficácia do </a:t>
            </a:r>
            <a:r>
              <a:rPr lang="pt-BR" sz="1500" i="1" dirty="0" smtClean="0"/>
              <a:t>processo?</a:t>
            </a:r>
          </a:p>
          <a:p>
            <a:pPr marL="361950" lvl="0" indent="-361950">
              <a:buFont typeface="Wingdings" panose="05000000000000000000" pitchFamily="2" charset="2"/>
              <a:buChar char="§"/>
            </a:pPr>
            <a:r>
              <a:rPr lang="pt-BR" sz="1500" i="1" dirty="0"/>
              <a:t>Quais aspectos </a:t>
            </a:r>
            <a:r>
              <a:rPr lang="pt-BR" sz="1500" i="1" dirty="0" smtClean="0"/>
              <a:t>do processo mais </a:t>
            </a:r>
            <a:r>
              <a:rPr lang="pt-BR" sz="1500" i="1" dirty="0"/>
              <a:t>o(a) </a:t>
            </a:r>
            <a:r>
              <a:rPr lang="pt-BR" sz="1500" i="1" dirty="0" smtClean="0"/>
              <a:t>incomodam? Há algum aspecto inaceitável?</a:t>
            </a:r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Você percebe melhoria contínua deste processo?</a:t>
            </a:r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Há </a:t>
            </a:r>
            <a:r>
              <a:rPr lang="pt-BR" sz="1500" i="1" dirty="0"/>
              <a:t>indicadores objetivos </a:t>
            </a:r>
            <a:r>
              <a:rPr lang="pt-BR" sz="1500" i="1" dirty="0" smtClean="0"/>
              <a:t>que corroboram </a:t>
            </a:r>
            <a:r>
              <a:rPr lang="pt-BR" sz="1500" i="1" dirty="0"/>
              <a:t>sua percepção</a:t>
            </a:r>
            <a:r>
              <a:rPr lang="pt-BR" sz="1500" i="1" dirty="0" smtClean="0"/>
              <a:t>? Quais?</a:t>
            </a:r>
          </a:p>
          <a:p>
            <a:pPr marL="361950" indent="-361950">
              <a:buFont typeface="Wingdings" panose="05000000000000000000" pitchFamily="2" charset="2"/>
              <a:buChar char="§"/>
            </a:pPr>
            <a:r>
              <a:rPr lang="pt-BR" sz="1500" i="1" dirty="0" smtClean="0"/>
              <a:t>Se pudesse decidir sobre o futuro deste processo, o que faria?</a:t>
            </a:r>
          </a:p>
          <a:p>
            <a:pPr algn="ctr"/>
            <a:r>
              <a:rPr lang="pt-BR" sz="1500" i="1" dirty="0" smtClean="0"/>
              <a:t>Há algo que queira acrescentar? Algo importante não foi perguntado?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Entrevista Executiva – Processos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69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02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12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13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32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" dur="500" fill="hold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animClr clrSpc="rgb" dir="cw">
                                      <p:cBhvr>
                                        <p:cTn id="142" dur="500" fill="hold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500" fill="hold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562646" y="1276400"/>
            <a:ext cx="8018707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088369"/>
            <a:r>
              <a:rPr lang="pt-BR" sz="3200" dirty="0" smtClean="0">
                <a:solidFill>
                  <a:srgbClr val="473729"/>
                </a:solidFill>
                <a:latin typeface="Gill Sans Std Light" pitchFamily="34" charset="0"/>
              </a:rPr>
              <a:t>Se lhe fosse atribuída a autoridade para transformar </a:t>
            </a:r>
            <a:r>
              <a:rPr lang="pt-BR" sz="4000" dirty="0" smtClean="0">
                <a:solidFill>
                  <a:srgbClr val="FF0000"/>
                </a:solidFill>
                <a:latin typeface="Gill Sans Std Light" pitchFamily="34" charset="0"/>
              </a:rPr>
              <a:t>um único aspecto na TD</a:t>
            </a:r>
            <a:r>
              <a:rPr lang="pt-BR" sz="3200" dirty="0" smtClean="0">
                <a:solidFill>
                  <a:srgbClr val="473729"/>
                </a:solidFill>
                <a:latin typeface="Gill Sans Std Light" pitchFamily="34" charset="0"/>
              </a:rPr>
              <a:t>, sem quaisquer limitações orçamentárias, hierárquicas, de alçada ou de escopo,</a:t>
            </a:r>
          </a:p>
          <a:p>
            <a:pPr algn="just" defTabSz="1088369"/>
            <a:endParaRPr lang="pt-BR" sz="3200" dirty="0">
              <a:solidFill>
                <a:srgbClr val="473729"/>
              </a:solidFill>
              <a:latin typeface="Gill Sans Std Light" pitchFamily="34" charset="0"/>
            </a:endParaRPr>
          </a:p>
          <a:p>
            <a:pPr algn="r" defTabSz="1088369"/>
            <a:r>
              <a:rPr lang="pt-BR" sz="4400" dirty="0" smtClean="0">
                <a:solidFill>
                  <a:srgbClr val="FF0000"/>
                </a:solidFill>
                <a:latin typeface="Gill Sans Std Light" pitchFamily="34" charset="0"/>
              </a:rPr>
              <a:t>o que </a:t>
            </a:r>
            <a:r>
              <a:rPr lang="pt-BR" sz="4400" b="1" dirty="0" smtClean="0">
                <a:solidFill>
                  <a:srgbClr val="FF0000"/>
                </a:solidFill>
                <a:latin typeface="Gill Sans Std Light" pitchFamily="34" charset="0"/>
              </a:rPr>
              <a:t>você</a:t>
            </a:r>
            <a:r>
              <a:rPr lang="pt-BR" sz="4400" dirty="0" smtClean="0">
                <a:solidFill>
                  <a:srgbClr val="FF0000"/>
                </a:solidFill>
                <a:latin typeface="Gill Sans Std Light" pitchFamily="34" charset="0"/>
              </a:rPr>
              <a:t> mudaria</a:t>
            </a:r>
            <a:r>
              <a:rPr lang="pt-BR" sz="4000" dirty="0" smtClean="0">
                <a:solidFill>
                  <a:srgbClr val="473729"/>
                </a:solidFill>
                <a:latin typeface="Gill Sans Std Light" pitchFamily="34" charset="0"/>
              </a:rPr>
              <a:t>?</a:t>
            </a:r>
            <a:endParaRPr lang="pt-BR" sz="4000" dirty="0">
              <a:solidFill>
                <a:schemeClr val="accent4">
                  <a:lumMod val="75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Entrevista Executiva – Última Questão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54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aixaDeTexto 62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Obrigado!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842161" y="825285"/>
            <a:ext cx="7697997" cy="3721025"/>
            <a:chOff x="554129" y="1859265"/>
            <a:chExt cx="7697997" cy="3721025"/>
          </a:xfrm>
        </p:grpSpPr>
        <p:grpSp>
          <p:nvGrpSpPr>
            <p:cNvPr id="8" name="Grupo 7"/>
            <p:cNvGrpSpPr/>
            <p:nvPr/>
          </p:nvGrpSpPr>
          <p:grpSpPr>
            <a:xfrm>
              <a:off x="1882861" y="2814436"/>
              <a:ext cx="4802215" cy="1622675"/>
              <a:chOff x="1763688" y="2814436"/>
              <a:chExt cx="4802215" cy="1622675"/>
            </a:xfrm>
          </p:grpSpPr>
          <p:pic>
            <p:nvPicPr>
              <p:cNvPr id="13" name="Picture 15" descr="NAT_marca_laranja_natura-01.png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63688" y="3369329"/>
                <a:ext cx="754773" cy="688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Imagem 13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42765" y="2814436"/>
                <a:ext cx="3723138" cy="1622675"/>
              </a:xfrm>
              <a:prstGeom prst="rect">
                <a:avLst/>
              </a:prstGeom>
            </p:spPr>
          </p:pic>
        </p:grpSp>
        <p:grpSp>
          <p:nvGrpSpPr>
            <p:cNvPr id="9" name="Grupo 8"/>
            <p:cNvGrpSpPr/>
            <p:nvPr/>
          </p:nvGrpSpPr>
          <p:grpSpPr>
            <a:xfrm>
              <a:off x="554129" y="1859265"/>
              <a:ext cx="7697997" cy="3721025"/>
              <a:chOff x="554129" y="1859265"/>
              <a:chExt cx="7697997" cy="3721025"/>
            </a:xfrm>
          </p:grpSpPr>
          <p:sp>
            <p:nvSpPr>
              <p:cNvPr id="10" name="Retângulo 9"/>
              <p:cNvSpPr/>
              <p:nvPr/>
            </p:nvSpPr>
            <p:spPr>
              <a:xfrm rot="2335832">
                <a:off x="6617511" y="5118625"/>
                <a:ext cx="163461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2400" b="1" spc="50" dirty="0" smtClean="0">
                    <a:ln w="12700" cmpd="sng">
                      <a:noFill/>
                      <a:prstDash val="solid"/>
                    </a:ln>
                    <a:solidFill>
                      <a:srgbClr val="7030A0"/>
                    </a:solidFill>
                    <a:effectLst>
                      <a:glow rad="53100">
                        <a:schemeClr val="bg1">
                          <a:alpha val="30000"/>
                        </a:schemeClr>
                      </a:glow>
                    </a:effectLst>
                  </a:rPr>
                  <a:t>#pegaprasi</a:t>
                </a:r>
                <a:endParaRPr lang="pt-BR" sz="2400" b="1" cap="none" spc="50" dirty="0">
                  <a:ln w="12700" cmpd="sng">
                    <a:noFill/>
                    <a:prstDash val="solid"/>
                  </a:ln>
                  <a:solidFill>
                    <a:srgbClr val="7030A0"/>
                  </a:solidFill>
                  <a:effectLst>
                    <a:glow rad="53100">
                      <a:schemeClr val="bg1">
                        <a:alpha val="30000"/>
                      </a:schemeClr>
                    </a:glow>
                  </a:effectLst>
                </a:endParaRPr>
              </a:p>
            </p:txBody>
          </p:sp>
          <p:sp>
            <p:nvSpPr>
              <p:cNvPr id="11" name="Retângulo 10"/>
              <p:cNvSpPr/>
              <p:nvPr/>
            </p:nvSpPr>
            <p:spPr>
              <a:xfrm rot="18221739">
                <a:off x="-89989" y="2503383"/>
                <a:ext cx="174990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2400" b="1" spc="50" dirty="0" smtClean="0">
                    <a:ln w="12700" cmpd="sng">
                      <a:noFill/>
                      <a:prstDash val="solid"/>
                    </a:ln>
                    <a:solidFill>
                      <a:srgbClr val="FFC000"/>
                    </a:solidFill>
                    <a:effectLst>
                      <a:glow rad="53100">
                        <a:schemeClr val="bg1">
                          <a:alpha val="30000"/>
                        </a:schemeClr>
                      </a:glow>
                    </a:effectLst>
                  </a:rPr>
                  <a:t>#tamojunto</a:t>
                </a:r>
                <a:endParaRPr lang="pt-BR" sz="2400" b="1" cap="none" spc="50" dirty="0">
                  <a:ln w="12700" cmpd="sng">
                    <a:noFill/>
                    <a:prstDash val="solid"/>
                  </a:ln>
                  <a:solidFill>
                    <a:srgbClr val="FFC000"/>
                  </a:solidFill>
                  <a:effectLst>
                    <a:glow rad="53100">
                      <a:schemeClr val="bg1">
                        <a:alpha val="30000"/>
                      </a:schemeClr>
                    </a:glow>
                  </a:effectLst>
                </a:endParaRPr>
              </a:p>
            </p:txBody>
          </p:sp>
          <p:sp>
            <p:nvSpPr>
              <p:cNvPr id="12" name="Retângulo 11"/>
              <p:cNvSpPr/>
              <p:nvPr/>
            </p:nvSpPr>
            <p:spPr>
              <a:xfrm rot="20212904">
                <a:off x="3821098" y="4918896"/>
                <a:ext cx="25332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2400" b="1" spc="50" dirty="0" smtClean="0">
                    <a:ln w="12700" cmpd="sng">
                      <a:noFill/>
                      <a:prstDash val="solid"/>
                    </a:ln>
                    <a:solidFill>
                      <a:srgbClr val="92D050"/>
                    </a:solidFill>
                    <a:effectLst>
                      <a:glow rad="53100">
                        <a:schemeClr val="bg1">
                          <a:alpha val="30000"/>
                        </a:schemeClr>
                      </a:glow>
                    </a:effectLst>
                  </a:rPr>
                  <a:t>#foconoresultado</a:t>
                </a:r>
                <a:endParaRPr lang="pt-BR" sz="2400" b="1" cap="none" spc="50" dirty="0">
                  <a:ln w="12700" cmpd="sng">
                    <a:noFill/>
                    <a:prstDash val="solid"/>
                  </a:ln>
                  <a:solidFill>
                    <a:srgbClr val="92D050"/>
                  </a:solidFill>
                  <a:effectLst>
                    <a:glow rad="53100">
                      <a:schemeClr val="bg1">
                        <a:alpha val="30000"/>
                      </a:schemeClr>
                    </a:glow>
                  </a:effectLst>
                </a:endParaRPr>
              </a:p>
            </p:txBody>
          </p:sp>
        </p:grpSp>
      </p:grpSp>
      <p:sp>
        <p:nvSpPr>
          <p:cNvPr id="2" name="Retângulo 1"/>
          <p:cNvSpPr/>
          <p:nvPr/>
        </p:nvSpPr>
        <p:spPr>
          <a:xfrm>
            <a:off x="6516216" y="828819"/>
            <a:ext cx="20919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400" b="1" spc="50" dirty="0" smtClean="0">
                <a:ln w="127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#</a:t>
            </a:r>
            <a:r>
              <a:rPr lang="pt-BR" sz="2400" b="1" spc="50" dirty="0" err="1" smtClean="0">
                <a:ln w="127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semmelindre</a:t>
            </a:r>
            <a:endParaRPr lang="pt-BR" sz="2400" b="1" spc="50" dirty="0">
              <a:ln w="127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glow rad="53100">
                  <a:schemeClr val="bg1">
                    <a:alpha val="30000"/>
                  </a:schemeClr>
                </a:glow>
              </a:effectLst>
            </a:endParaRPr>
          </a:p>
        </p:txBody>
      </p:sp>
      <p:sp>
        <p:nvSpPr>
          <p:cNvPr id="15" name="Retângulo 14"/>
          <p:cNvSpPr/>
          <p:nvPr/>
        </p:nvSpPr>
        <p:spPr>
          <a:xfrm rot="790798">
            <a:off x="2925666" y="1090254"/>
            <a:ext cx="2024914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pt-BR" sz="2400" b="1" spc="50" dirty="0" smtClean="0">
                <a:ln w="12700" cmpd="sng">
                  <a:noFill/>
                  <a:prstDash val="solid"/>
                </a:ln>
                <a:solidFill>
                  <a:srgbClr val="00AEC7"/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#</a:t>
            </a:r>
            <a:r>
              <a:rPr lang="pt-BR" sz="2400" b="1" spc="50" dirty="0" err="1" smtClean="0">
                <a:ln w="12700" cmpd="sng">
                  <a:noFill/>
                  <a:prstDash val="solid"/>
                </a:ln>
                <a:solidFill>
                  <a:srgbClr val="00AEC7"/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menosémais</a:t>
            </a:r>
            <a:endParaRPr lang="pt-BR" sz="2400" b="1" spc="50" dirty="0">
              <a:ln w="12700" cmpd="sng">
                <a:noFill/>
                <a:prstDash val="solid"/>
              </a:ln>
              <a:solidFill>
                <a:srgbClr val="00AEC7"/>
              </a:solidFill>
              <a:effectLst>
                <a:glow rad="53100">
                  <a:schemeClr val="bg1">
                    <a:alpha val="30000"/>
                  </a:schemeClr>
                </a:glow>
              </a:effectLst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406439" y="4032563"/>
            <a:ext cx="2615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400" b="1" spc="50" dirty="0" smtClean="0">
                <a:ln w="12700" cmpd="sng">
                  <a:noFill/>
                  <a:prstDash val="solid"/>
                </a:ln>
                <a:solidFill>
                  <a:srgbClr val="FF6699"/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#</a:t>
            </a:r>
            <a:r>
              <a:rPr lang="pt-BR" sz="2400" b="1" spc="50" dirty="0" err="1" smtClean="0">
                <a:ln w="12700" cmpd="sng">
                  <a:noFill/>
                  <a:prstDash val="solid"/>
                </a:ln>
                <a:solidFill>
                  <a:srgbClr val="FF6699"/>
                </a:solidFill>
                <a:effectLst>
                  <a:glow rad="53100">
                    <a:schemeClr val="bg1">
                      <a:alpha val="30000"/>
                    </a:schemeClr>
                  </a:glow>
                </a:effectLst>
              </a:rPr>
              <a:t>promessaédívida</a:t>
            </a:r>
            <a:endParaRPr lang="pt-BR" sz="2400" b="1" spc="50" dirty="0">
              <a:ln w="12700" cmpd="sng">
                <a:noFill/>
                <a:prstDash val="solid"/>
              </a:ln>
              <a:solidFill>
                <a:srgbClr val="FF6699"/>
              </a:solidFill>
              <a:effectLst>
                <a:glow rad="53100">
                  <a:schemeClr val="bg1">
                    <a:alpha val="30000"/>
                  </a:schemeClr>
                </a:glow>
              </a:effectLst>
            </a:endParaRPr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7557" y="4147980"/>
            <a:ext cx="17633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>
                <a:solidFill>
                  <a:schemeClr val="accent1">
                    <a:lumMod val="75000"/>
                  </a:schemeClr>
                </a:solidFill>
              </a:rPr>
              <a:t>CHACON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85000"/>
                  </a:schemeClr>
                </a:solidFill>
              </a:rPr>
              <a:t>|</a:t>
            </a:r>
            <a:r>
              <a:rPr lang="pt-BR" sz="900" dirty="0" smtClean="0"/>
              <a:t> </a:t>
            </a:r>
            <a:r>
              <a:rPr lang="pt-BR" sz="900" b="1" dirty="0" smtClean="0">
                <a:solidFill>
                  <a:schemeClr val="bg1">
                    <a:lumMod val="65000"/>
                  </a:schemeClr>
                </a:solidFill>
              </a:rPr>
              <a:t>Consultoria Ilimitada</a:t>
            </a:r>
            <a:endParaRPr lang="pt-BR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66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11536</TotalTime>
  <Words>1765</Words>
  <Application>Microsoft Office PowerPoint</Application>
  <PresentationFormat>Personalizar</PresentationFormat>
  <Paragraphs>177</Paragraphs>
  <Slides>11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BR92457</dc:creator>
  <cp:lastModifiedBy>Felipe Alves de Lima</cp:lastModifiedBy>
  <cp:revision>519</cp:revision>
  <dcterms:created xsi:type="dcterms:W3CDTF">2014-10-02T13:42:42Z</dcterms:created>
  <dcterms:modified xsi:type="dcterms:W3CDTF">2015-06-15T18:21:55Z</dcterms:modified>
</cp:coreProperties>
</file>