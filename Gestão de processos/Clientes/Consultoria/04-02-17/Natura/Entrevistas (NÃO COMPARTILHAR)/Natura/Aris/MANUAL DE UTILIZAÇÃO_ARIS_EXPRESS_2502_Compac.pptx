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42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4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6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8" r:id="rId2"/>
    <p:sldId id="319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1" r:id="rId34"/>
    <p:sldId id="302" r:id="rId35"/>
    <p:sldId id="303" r:id="rId36"/>
    <p:sldId id="311" r:id="rId37"/>
    <p:sldId id="312" r:id="rId38"/>
    <p:sldId id="313" r:id="rId39"/>
    <p:sldId id="314" r:id="rId40"/>
    <p:sldId id="310" r:id="rId41"/>
    <p:sldId id="315" r:id="rId42"/>
    <p:sldId id="316" r:id="rId43"/>
    <p:sldId id="318" r:id="rId44"/>
    <p:sldId id="270" r:id="rId45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03" autoAdjust="0"/>
  </p:normalViewPr>
  <p:slideViewPr>
    <p:cSldViewPr snapToObjects="1" showGuides="1">
      <p:cViewPr>
        <p:scale>
          <a:sx n="51" d="100"/>
          <a:sy n="51" d="100"/>
        </p:scale>
        <p:origin x="-1926" y="-522"/>
      </p:cViewPr>
      <p:guideLst>
        <p:guide orient="horz" pos="222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ustomXml" Target="../customXml/item3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customXml" Target="../customXml/item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4FDC35-4AA5-44B5-80D0-C89CAD109258}" type="datetimeFigureOut">
              <a:rPr lang="pt-BR" smtClean="0"/>
              <a:t>10/03/2011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64152-D854-439D-B10C-0821D24B42C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0054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64152-D854-439D-B10C-0821D24B42C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722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64152-D854-439D-B10C-0821D24B42CA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25658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64152-D854-439D-B10C-0821D24B42CA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2565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64152-D854-439D-B10C-0821D24B42CA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2565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64152-D854-439D-B10C-0821D24B42CA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25658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64152-D854-439D-B10C-0821D24B42CA}" type="slidenum">
              <a:rPr lang="pt-BR" smtClean="0"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2565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E5264D5-D8B5-4757-B7A2-41E01B85D17C}" type="datetime1">
              <a:rPr lang="en-US"/>
              <a:pPr/>
              <a:t>3/10/2011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39C146-0674-4AB8-965A-FACCEE23929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709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4C6737E-2481-4C75-A916-1146BB695D92}" type="datetime1">
              <a:rPr lang="en-US"/>
              <a:pPr/>
              <a:t>3/10/2011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FF3095-5F82-402F-B880-13606B68C6B8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502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EDD49A0-071E-46BB-9CB5-3E20A63F5B14}" type="datetime1">
              <a:rPr lang="en-US"/>
              <a:pPr/>
              <a:t>3/10/2011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3BEFE5-6891-4ABA-BB6B-E00366908958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22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7C6F79-9DE5-49FA-B035-4987325AF34E}" type="datetime1">
              <a:rPr lang="en-US"/>
              <a:pPr/>
              <a:t>3/10/2011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38F08C-9728-45C7-87C7-06ECF6E09C44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187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52A3863-3D66-46F6-9ED8-0A456DACF6FA}" type="datetime1">
              <a:rPr lang="en-US"/>
              <a:pPr/>
              <a:t>3/10/2011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B74B74-C13F-4646-91EC-88366307120C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122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2261294-DAFB-46C4-9372-A1DFEA741EDB}" type="datetime1">
              <a:rPr lang="en-US"/>
              <a:pPr/>
              <a:t>3/10/2011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AD00C3-153C-4B42-9CE3-9CD88583C21C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37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EC4C85F-7B55-45D9-BAA7-57FD13BE7192}" type="datetime1">
              <a:rPr lang="en-US"/>
              <a:pPr/>
              <a:t>3/10/2011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A65913-48F0-432E-89B3-993BD62672D0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384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D98572-650D-47F9-80A0-89A19FCB605C}" type="datetime1">
              <a:rPr lang="en-US"/>
              <a:pPr/>
              <a:t>3/10/2011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70AA17-4638-4121-A178-7C78B154552E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289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0A9427-250B-44B2-AB68-BEA9C3A79EFB}" type="datetime1">
              <a:rPr lang="en-US"/>
              <a:pPr/>
              <a:t>3/10/2011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E98BA3-E75D-47EB-88BF-DA73254C2BE8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912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7738409-087E-4523-B799-22054D246F7B}" type="datetime1">
              <a:rPr lang="en-US"/>
              <a:pPr/>
              <a:t>3/10/2011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4BF28B-3B7F-4849-9482-E57CCC78B883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387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5807CE-177A-4CCF-A882-13B50985C538}" type="datetime1">
              <a:rPr lang="en-US"/>
              <a:pPr/>
              <a:t>3/10/2011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129D69-1ECE-4CF4-8128-E60377829F22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45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Click to edit Master title style</a:t>
            </a:r>
            <a:endParaRPr 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fld id="{B8933C7E-2B71-4F18-8348-5B6D110E3987}" type="datetime1">
              <a:rPr lang="en-US"/>
              <a:pPr/>
              <a:t>3/10/2011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fld id="{26BBF728-569A-43C2-B504-98B4427214F2}" type="slidenum">
              <a:rPr lang="en-US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" descr="_B8G0058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204" b="20354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TextBox 2"/>
          <p:cNvSpPr txBox="1">
            <a:spLocks noChangeArrowheads="1"/>
          </p:cNvSpPr>
          <p:nvPr/>
        </p:nvSpPr>
        <p:spPr bwMode="auto">
          <a:xfrm>
            <a:off x="457200" y="6129338"/>
            <a:ext cx="3109913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1000" b="1">
                <a:solidFill>
                  <a:schemeClr val="bg1"/>
                </a:solidFill>
                <a:latin typeface="Verdana" charset="0"/>
              </a:rPr>
              <a:t>INFORMAÇÕES</a:t>
            </a:r>
            <a:r>
              <a:rPr lang="en-US" sz="1000">
                <a:solidFill>
                  <a:schemeClr val="bg1"/>
                </a:solidFill>
                <a:latin typeface="Verdana" charset="0"/>
              </a:rPr>
              <a:t> ADICIONAIS _ MAIO / 2010</a:t>
            </a:r>
          </a:p>
        </p:txBody>
      </p:sp>
      <p:sp>
        <p:nvSpPr>
          <p:cNvPr id="13316" name="TextBox 3"/>
          <p:cNvSpPr txBox="1">
            <a:spLocks noChangeArrowheads="1"/>
          </p:cNvSpPr>
          <p:nvPr/>
        </p:nvSpPr>
        <p:spPr bwMode="auto">
          <a:xfrm>
            <a:off x="495300" y="4016375"/>
            <a:ext cx="732472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3200" dirty="0" smtClean="0">
                <a:solidFill>
                  <a:schemeClr val="bg1"/>
                </a:solidFill>
                <a:latin typeface="Verdana" charset="0"/>
              </a:rPr>
              <a:t>Manual de </a:t>
            </a:r>
            <a:r>
              <a:rPr lang="en-US" sz="3200" dirty="0" err="1" smtClean="0">
                <a:solidFill>
                  <a:schemeClr val="bg1"/>
                </a:solidFill>
                <a:latin typeface="Verdana" charset="0"/>
              </a:rPr>
              <a:t>utilização</a:t>
            </a:r>
            <a:endParaRPr lang="en-US" sz="3200" dirty="0">
              <a:solidFill>
                <a:schemeClr val="bg1"/>
              </a:solidFill>
              <a:latin typeface="Verdana" charset="0"/>
            </a:endParaRPr>
          </a:p>
          <a:p>
            <a:pPr eaLnBrk="1" hangingPunct="1"/>
            <a:r>
              <a:rPr lang="en-US" sz="3200" dirty="0" smtClean="0">
                <a:solidFill>
                  <a:schemeClr val="bg1"/>
                </a:solidFill>
                <a:latin typeface="Verdana" charset="0"/>
              </a:rPr>
              <a:t>da </a:t>
            </a:r>
            <a:r>
              <a:rPr lang="en-US" sz="3200" dirty="0" err="1" smtClean="0">
                <a:solidFill>
                  <a:schemeClr val="bg1"/>
                </a:solidFill>
                <a:latin typeface="Verdana" charset="0"/>
              </a:rPr>
              <a:t>ferramenta</a:t>
            </a:r>
            <a:endParaRPr lang="en-US" sz="3200" dirty="0" smtClean="0">
              <a:solidFill>
                <a:schemeClr val="bg1"/>
              </a:solidFill>
              <a:latin typeface="Verdana" charset="0"/>
            </a:endParaRPr>
          </a:p>
        </p:txBody>
      </p:sp>
      <p:sp>
        <p:nvSpPr>
          <p:cNvPr id="13317" name="TextBox 4"/>
          <p:cNvSpPr txBox="1">
            <a:spLocks noChangeArrowheads="1"/>
          </p:cNvSpPr>
          <p:nvPr/>
        </p:nvSpPr>
        <p:spPr bwMode="auto">
          <a:xfrm>
            <a:off x="457200" y="1905000"/>
            <a:ext cx="6096000" cy="1818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sz="6600" b="1" dirty="0" smtClean="0">
                <a:solidFill>
                  <a:schemeClr val="bg1"/>
                </a:solidFill>
                <a:latin typeface="Verdana" charset="0"/>
              </a:rPr>
              <a:t>ARIS</a:t>
            </a:r>
          </a:p>
          <a:p>
            <a:pPr eaLnBrk="1" hangingPunct="1">
              <a:lnSpc>
                <a:spcPct val="85000"/>
              </a:lnSpc>
            </a:pPr>
            <a:r>
              <a:rPr lang="en-US" sz="6600" b="1" dirty="0" smtClean="0">
                <a:solidFill>
                  <a:schemeClr val="bg1"/>
                </a:solidFill>
                <a:latin typeface="Verdana" charset="0"/>
              </a:rPr>
              <a:t>EXPRESS</a:t>
            </a:r>
            <a:endParaRPr lang="en-US" sz="6600" dirty="0">
              <a:solidFill>
                <a:schemeClr val="bg1"/>
              </a:solidFill>
              <a:latin typeface="Verdana" charset="0"/>
            </a:endParaRPr>
          </a:p>
        </p:txBody>
      </p:sp>
      <p:pic>
        <p:nvPicPr>
          <p:cNvPr id="13318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375" y="2895600"/>
            <a:ext cx="7493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Rectangle 2"/>
          <p:cNvSpPr>
            <a:spLocks noChangeArrowheads="1"/>
          </p:cNvSpPr>
          <p:nvPr/>
        </p:nvSpPr>
        <p:spPr bwMode="auto">
          <a:xfrm>
            <a:off x="623888" y="908050"/>
            <a:ext cx="53292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sz="3000" b="1" dirty="0" smtClean="0">
                <a:solidFill>
                  <a:srgbClr val="8ECCDF"/>
                </a:solidFill>
                <a:latin typeface="Verdana" charset="0"/>
              </a:rPr>
              <a:t>Agenda</a:t>
            </a:r>
            <a:endParaRPr lang="en-US" sz="3000" dirty="0">
              <a:solidFill>
                <a:srgbClr val="8ECCDF"/>
              </a:solidFill>
              <a:latin typeface="Verdana" charset="0"/>
            </a:endParaRPr>
          </a:p>
        </p:txBody>
      </p:sp>
      <p:sp>
        <p:nvSpPr>
          <p:cNvPr id="15365" name="Rectangle 2"/>
          <p:cNvSpPr>
            <a:spLocks noChangeArrowheads="1"/>
          </p:cNvSpPr>
          <p:nvPr/>
        </p:nvSpPr>
        <p:spPr bwMode="auto">
          <a:xfrm>
            <a:off x="623888" y="2090738"/>
            <a:ext cx="5329237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 err="1" smtClean="0">
                <a:solidFill>
                  <a:schemeClr val="bg1"/>
                </a:solidFill>
                <a:latin typeface="Verdana" charset="0"/>
              </a:rPr>
              <a:t>Configuração</a:t>
            </a:r>
            <a:r>
              <a:rPr lang="en-US" sz="2400" dirty="0" smtClean="0">
                <a:solidFill>
                  <a:schemeClr val="bg1"/>
                </a:solidFill>
                <a:latin typeface="Verdana" charset="0"/>
              </a:rPr>
              <a:t> do ARIS Express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err="1" smtClean="0">
                <a:solidFill>
                  <a:schemeClr val="bg1"/>
                </a:solidFill>
                <a:latin typeface="Verdana" charset="0"/>
              </a:rPr>
              <a:t>Modelos</a:t>
            </a:r>
            <a:endParaRPr lang="en-US" sz="2400" dirty="0" smtClean="0">
              <a:solidFill>
                <a:schemeClr val="bg1"/>
              </a:solidFill>
              <a:latin typeface="Verdana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err="1" smtClean="0">
                <a:solidFill>
                  <a:schemeClr val="bg1"/>
                </a:solidFill>
                <a:latin typeface="Verdana" charset="0"/>
              </a:rPr>
              <a:t>Objetos</a:t>
            </a:r>
            <a:endParaRPr lang="en-US" sz="2400" dirty="0" smtClean="0">
              <a:solidFill>
                <a:schemeClr val="bg1"/>
              </a:solidFill>
              <a:latin typeface="Verdana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err="1" smtClean="0">
                <a:solidFill>
                  <a:schemeClr val="bg1"/>
                </a:solidFill>
                <a:latin typeface="Verdana" charset="0"/>
              </a:rPr>
              <a:t>Atributos</a:t>
            </a:r>
            <a:endParaRPr lang="en-US" sz="2400" dirty="0" smtClean="0">
              <a:solidFill>
                <a:schemeClr val="bg1"/>
              </a:solidFill>
              <a:latin typeface="Verdana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err="1" smtClean="0">
                <a:solidFill>
                  <a:schemeClr val="bg1"/>
                </a:solidFill>
                <a:latin typeface="Verdana" charset="0"/>
              </a:rPr>
              <a:t>Exportação</a:t>
            </a:r>
            <a:r>
              <a:rPr lang="en-US" sz="2400" dirty="0" smtClean="0">
                <a:solidFill>
                  <a:schemeClr val="bg1"/>
                </a:solidFill>
                <a:latin typeface="Verdana" charset="0"/>
              </a:rPr>
              <a:t> de </a:t>
            </a:r>
            <a:r>
              <a:rPr lang="en-US" sz="2400" dirty="0" err="1" smtClean="0">
                <a:solidFill>
                  <a:schemeClr val="bg1"/>
                </a:solidFill>
                <a:latin typeface="Verdana" charset="0"/>
              </a:rPr>
              <a:t>modelos</a:t>
            </a:r>
            <a:endParaRPr lang="en-US" sz="2400" dirty="0" smtClean="0">
              <a:solidFill>
                <a:schemeClr val="bg1"/>
              </a:solidFill>
              <a:latin typeface="Verdana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err="1" smtClean="0">
                <a:solidFill>
                  <a:schemeClr val="bg1"/>
                </a:solidFill>
                <a:latin typeface="Verdana" charset="0"/>
              </a:rPr>
              <a:t>Fragmentos</a:t>
            </a:r>
            <a:endParaRPr lang="en-US" sz="2400" dirty="0" smtClean="0">
              <a:solidFill>
                <a:schemeClr val="bg1"/>
              </a:solidFill>
              <a:latin typeface="Verdana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Verdana" charset="0"/>
              </a:rPr>
              <a:t>Smart Design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Verdana" charset="0"/>
              </a:rPr>
              <a:t>Mini Toolbar</a:t>
            </a:r>
            <a:r>
              <a:rPr lang="en-US" sz="2400" dirty="0">
                <a:solidFill>
                  <a:schemeClr val="bg1"/>
                </a:solidFill>
                <a:latin typeface="Verdana" charset="0"/>
              </a:rPr>
              <a:t/>
            </a:r>
            <a:br>
              <a:rPr lang="en-US" sz="2400" dirty="0">
                <a:solidFill>
                  <a:schemeClr val="bg1"/>
                </a:solidFill>
                <a:latin typeface="Verdana" charset="0"/>
              </a:rPr>
            </a:br>
            <a:endParaRPr lang="en-US" sz="2400" dirty="0">
              <a:solidFill>
                <a:schemeClr val="bg1"/>
              </a:solidFill>
              <a:latin typeface="Verdana" charset="0"/>
            </a:endParaRPr>
          </a:p>
        </p:txBody>
      </p:sp>
      <p:pic>
        <p:nvPicPr>
          <p:cNvPr id="1536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5802313"/>
            <a:ext cx="7493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6742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Configuração do ARIS Express</a:t>
            </a:r>
          </a:p>
        </p:txBody>
      </p:sp>
      <p:sp>
        <p:nvSpPr>
          <p:cNvPr id="163843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63848" name="Text Box 8"/>
          <p:cNvSpPr txBox="1">
            <a:spLocks noChangeArrowheads="1"/>
          </p:cNvSpPr>
          <p:nvPr/>
        </p:nvSpPr>
        <p:spPr bwMode="auto">
          <a:xfrm>
            <a:off x="1063625" y="5942013"/>
            <a:ext cx="2644775" cy="6413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>
              <a:buFontTx/>
              <a:buAutoNum type="arabicPeriod"/>
            </a:pPr>
            <a:r>
              <a:rPr lang="pt-BR" dirty="0" smtClean="0"/>
              <a:t>Clique </a:t>
            </a:r>
            <a:r>
              <a:rPr lang="pt-BR" dirty="0"/>
              <a:t>em “</a:t>
            </a:r>
            <a:r>
              <a:rPr lang="pt-BR" dirty="0" err="1"/>
              <a:t>View</a:t>
            </a:r>
            <a:r>
              <a:rPr lang="pt-BR" dirty="0"/>
              <a:t>”  </a:t>
            </a:r>
          </a:p>
          <a:p>
            <a:pPr defTabSz="914400">
              <a:buFontTx/>
              <a:buAutoNum type="arabicPeriod"/>
            </a:pPr>
            <a:r>
              <a:rPr lang="pt-BR" dirty="0" smtClean="0"/>
              <a:t>Clique em </a:t>
            </a:r>
            <a:r>
              <a:rPr lang="pt-BR" dirty="0"/>
              <a:t>“</a:t>
            </a:r>
            <a:r>
              <a:rPr lang="pt-BR" dirty="0" err="1"/>
              <a:t>Options</a:t>
            </a:r>
            <a:r>
              <a:rPr lang="pt-BR" dirty="0"/>
              <a:t>”</a:t>
            </a:r>
          </a:p>
        </p:txBody>
      </p:sp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130576" y="736475"/>
            <a:ext cx="8185839" cy="6463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defTabSz="914400"/>
            <a:r>
              <a:rPr lang="pt-BR" dirty="0" smtClean="0"/>
              <a:t>Antes de iniciar o trabalho de modelagem no ARIS Express é necessário configurá-lo, de acordo com os passos descritos a seguir: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1536700"/>
            <a:ext cx="8420100" cy="3794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41873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7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Configuração do ARIS Express</a:t>
            </a:r>
          </a:p>
        </p:txBody>
      </p:sp>
      <p:sp>
        <p:nvSpPr>
          <p:cNvPr id="164868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64872" name="Text Box 8"/>
          <p:cNvSpPr txBox="1">
            <a:spLocks noChangeArrowheads="1"/>
          </p:cNvSpPr>
          <p:nvPr/>
        </p:nvSpPr>
        <p:spPr bwMode="auto">
          <a:xfrm>
            <a:off x="1063625" y="5661025"/>
            <a:ext cx="7540625" cy="11906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>
              <a:buFontTx/>
              <a:buAutoNum type="arabicPeriod"/>
            </a:pPr>
            <a:r>
              <a:rPr lang="pt-BR" dirty="0" smtClean="0"/>
              <a:t>Clique </a:t>
            </a:r>
            <a:r>
              <a:rPr lang="pt-BR" dirty="0"/>
              <a:t>em “For new </a:t>
            </a:r>
            <a:r>
              <a:rPr lang="pt-BR" dirty="0" err="1"/>
              <a:t>models</a:t>
            </a:r>
            <a:r>
              <a:rPr lang="pt-BR" dirty="0"/>
              <a:t>” / “</a:t>
            </a:r>
            <a:r>
              <a:rPr lang="pt-BR" dirty="0" err="1"/>
              <a:t>Representation</a:t>
            </a:r>
            <a:r>
              <a:rPr lang="pt-BR" dirty="0"/>
              <a:t>” </a:t>
            </a:r>
          </a:p>
          <a:p>
            <a:pPr defTabSz="914400">
              <a:buFontTx/>
              <a:buAutoNum type="arabicPeriod"/>
            </a:pPr>
            <a:r>
              <a:rPr lang="pt-BR" dirty="0" smtClean="0"/>
              <a:t>Clique </a:t>
            </a:r>
            <a:r>
              <a:rPr lang="pt-BR" dirty="0"/>
              <a:t>em “</a:t>
            </a:r>
            <a:r>
              <a:rPr lang="pt-BR" dirty="0" err="1"/>
              <a:t>Scaling</a:t>
            </a:r>
            <a:r>
              <a:rPr lang="pt-BR" dirty="0"/>
              <a:t>” e </a:t>
            </a:r>
            <a:r>
              <a:rPr lang="pt-BR" dirty="0" smtClean="0"/>
              <a:t>selecione </a:t>
            </a:r>
            <a:r>
              <a:rPr lang="pt-BR" dirty="0"/>
              <a:t>100%</a:t>
            </a:r>
          </a:p>
          <a:p>
            <a:pPr defTabSz="914400">
              <a:buFontTx/>
              <a:buAutoNum type="arabicPeriod"/>
            </a:pPr>
            <a:r>
              <a:rPr lang="pt-BR" dirty="0" smtClean="0"/>
              <a:t>Clique </a:t>
            </a:r>
            <a:r>
              <a:rPr lang="pt-BR" dirty="0"/>
              <a:t>em “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attributes</a:t>
            </a:r>
            <a:r>
              <a:rPr lang="pt-BR" dirty="0"/>
              <a:t> in </a:t>
            </a:r>
            <a:r>
              <a:rPr lang="pt-BR" dirty="0" err="1"/>
              <a:t>symbol</a:t>
            </a:r>
            <a:r>
              <a:rPr lang="pt-BR" dirty="0"/>
              <a:t>” e </a:t>
            </a:r>
            <a:r>
              <a:rPr lang="pt-BR" dirty="0" smtClean="0"/>
              <a:t>selecione </a:t>
            </a:r>
            <a:r>
              <a:rPr lang="pt-BR" dirty="0"/>
              <a:t>a opção “</a:t>
            </a:r>
            <a:r>
              <a:rPr lang="pt-BR" dirty="0" err="1"/>
              <a:t>Text</a:t>
            </a:r>
            <a:r>
              <a:rPr lang="pt-BR" dirty="0"/>
              <a:t> </a:t>
            </a:r>
            <a:r>
              <a:rPr lang="pt-BR" dirty="0" err="1"/>
              <a:t>extends</a:t>
            </a:r>
            <a:r>
              <a:rPr lang="pt-BR" dirty="0"/>
              <a:t> </a:t>
            </a:r>
            <a:r>
              <a:rPr lang="pt-BR" dirty="0" err="1"/>
              <a:t>beyond</a:t>
            </a:r>
            <a:r>
              <a:rPr lang="pt-BR" dirty="0"/>
              <a:t> </a:t>
            </a:r>
            <a:r>
              <a:rPr lang="pt-BR" dirty="0" err="1"/>
              <a:t>symbol</a:t>
            </a:r>
            <a:r>
              <a:rPr lang="pt-BR" dirty="0"/>
              <a:t>”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246188"/>
            <a:ext cx="8001000" cy="437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8132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1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Configuração do ARIS Express</a:t>
            </a:r>
          </a:p>
        </p:txBody>
      </p:sp>
      <p:sp>
        <p:nvSpPr>
          <p:cNvPr id="165892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65896" name="Text Box 8"/>
          <p:cNvSpPr txBox="1">
            <a:spLocks noChangeArrowheads="1"/>
          </p:cNvSpPr>
          <p:nvPr/>
        </p:nvSpPr>
        <p:spPr bwMode="auto">
          <a:xfrm>
            <a:off x="1063625" y="5661025"/>
            <a:ext cx="7540625" cy="11906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>
              <a:buFontTx/>
              <a:buAutoNum type="arabicPeriod"/>
            </a:pPr>
            <a:r>
              <a:rPr lang="pt-BR" dirty="0" smtClean="0"/>
              <a:t>Clique </a:t>
            </a:r>
            <a:r>
              <a:rPr lang="pt-BR" dirty="0"/>
              <a:t>em “For new </a:t>
            </a:r>
            <a:r>
              <a:rPr lang="pt-BR" dirty="0" err="1"/>
              <a:t>models</a:t>
            </a:r>
            <a:r>
              <a:rPr lang="pt-BR" dirty="0"/>
              <a:t>” / “Connections” </a:t>
            </a:r>
          </a:p>
          <a:p>
            <a:pPr defTabSz="914400">
              <a:buFontTx/>
              <a:buAutoNum type="arabicPeriod"/>
            </a:pPr>
            <a:r>
              <a:rPr lang="pt-BR" dirty="0" smtClean="0"/>
              <a:t>Defina o valor para “Bridge </a:t>
            </a:r>
            <a:r>
              <a:rPr lang="pt-BR" dirty="0" err="1"/>
              <a:t>hight</a:t>
            </a:r>
            <a:r>
              <a:rPr lang="pt-BR" dirty="0"/>
              <a:t>”: 30</a:t>
            </a:r>
          </a:p>
          <a:p>
            <a:pPr defTabSz="914400">
              <a:buFontTx/>
              <a:buAutoNum type="arabicPeriod"/>
            </a:pPr>
            <a:r>
              <a:rPr lang="pt-BR" dirty="0" smtClean="0"/>
              <a:t>Defina o valor para “</a:t>
            </a:r>
            <a:r>
              <a:rPr lang="pt-BR" dirty="0" err="1" smtClean="0"/>
              <a:t>Rounding</a:t>
            </a:r>
            <a:r>
              <a:rPr lang="pt-BR" dirty="0" smtClean="0"/>
              <a:t> </a:t>
            </a:r>
            <a:r>
              <a:rPr lang="pt-BR" dirty="0" err="1"/>
              <a:t>intensity</a:t>
            </a:r>
            <a:r>
              <a:rPr lang="pt-BR" dirty="0"/>
              <a:t>”: 0</a:t>
            </a:r>
          </a:p>
          <a:p>
            <a:pPr defTabSz="914400">
              <a:buFontTx/>
              <a:buAutoNum type="arabicPeriod"/>
            </a:pPr>
            <a:r>
              <a:rPr lang="pt-BR" dirty="0" smtClean="0"/>
              <a:t>Selecione </a:t>
            </a:r>
            <a:r>
              <a:rPr lang="pt-BR" dirty="0"/>
              <a:t>“New connections </a:t>
            </a:r>
            <a:r>
              <a:rPr lang="pt-BR" dirty="0" err="1"/>
              <a:t>only</a:t>
            </a:r>
            <a:r>
              <a:rPr lang="pt-BR" dirty="0"/>
              <a:t> </a:t>
            </a:r>
            <a:r>
              <a:rPr lang="pt-BR" dirty="0" err="1"/>
              <a:t>right-angled</a:t>
            </a:r>
            <a:r>
              <a:rPr lang="pt-BR" dirty="0"/>
              <a:t>”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3" y="836712"/>
            <a:ext cx="8245475" cy="4579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3503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Configuração do ARIS Express</a:t>
            </a:r>
          </a:p>
        </p:txBody>
      </p:sp>
      <p:sp>
        <p:nvSpPr>
          <p:cNvPr id="166915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66916" name="Text Box 4"/>
          <p:cNvSpPr txBox="1">
            <a:spLocks noChangeArrowheads="1"/>
          </p:cNvSpPr>
          <p:nvPr/>
        </p:nvSpPr>
        <p:spPr bwMode="auto">
          <a:xfrm>
            <a:off x="1063625" y="5661025"/>
            <a:ext cx="7540625" cy="9159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>
              <a:buFontTx/>
              <a:buAutoNum type="arabicPeriod"/>
            </a:pPr>
            <a:r>
              <a:rPr lang="pt-BR" dirty="0" smtClean="0"/>
              <a:t>Clique </a:t>
            </a:r>
            <a:r>
              <a:rPr lang="pt-BR" dirty="0"/>
              <a:t>em “For new </a:t>
            </a:r>
            <a:r>
              <a:rPr lang="pt-BR" dirty="0" err="1"/>
              <a:t>models</a:t>
            </a:r>
            <a:r>
              <a:rPr lang="pt-BR" dirty="0"/>
              <a:t>” / “Grid” </a:t>
            </a:r>
          </a:p>
          <a:p>
            <a:pPr defTabSz="914400">
              <a:buFontTx/>
              <a:buAutoNum type="arabicPeriod"/>
            </a:pPr>
            <a:r>
              <a:rPr lang="pt-BR" dirty="0" smtClean="0"/>
              <a:t>Selecione “Use </a:t>
            </a:r>
            <a:r>
              <a:rPr lang="pt-BR" dirty="0"/>
              <a:t>Grid”</a:t>
            </a:r>
          </a:p>
          <a:p>
            <a:pPr defTabSz="914400">
              <a:buFontTx/>
              <a:buAutoNum type="arabicPeriod"/>
            </a:pPr>
            <a:r>
              <a:rPr lang="pt-BR" dirty="0" smtClean="0"/>
              <a:t>Defina o valor para “Grid </a:t>
            </a:r>
            <a:r>
              <a:rPr lang="pt-BR" dirty="0" err="1"/>
              <a:t>width</a:t>
            </a:r>
            <a:r>
              <a:rPr lang="pt-BR" dirty="0"/>
              <a:t> for </a:t>
            </a:r>
            <a:r>
              <a:rPr lang="pt-BR" dirty="0" err="1"/>
              <a:t>others</a:t>
            </a:r>
            <a:r>
              <a:rPr lang="pt-BR" dirty="0"/>
              <a:t> </a:t>
            </a:r>
            <a:r>
              <a:rPr lang="pt-BR" dirty="0" err="1"/>
              <a:t>models</a:t>
            </a:r>
            <a:r>
              <a:rPr lang="pt-BR" dirty="0"/>
              <a:t>”: 5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08720"/>
            <a:ext cx="8382000" cy="4656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8776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Modelo</a:t>
            </a:r>
          </a:p>
        </p:txBody>
      </p:sp>
      <p:sp>
        <p:nvSpPr>
          <p:cNvPr id="162819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62824" name="Text Box 8"/>
          <p:cNvSpPr txBox="1">
            <a:spLocks noChangeArrowheads="1"/>
          </p:cNvSpPr>
          <p:nvPr/>
        </p:nvSpPr>
        <p:spPr bwMode="auto">
          <a:xfrm>
            <a:off x="755650" y="1557338"/>
            <a:ext cx="7632700" cy="13731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>
              <a:spcBef>
                <a:spcPct val="20000"/>
              </a:spcBef>
            </a:pPr>
            <a:r>
              <a:rPr lang="en-US" sz="2800">
                <a:solidFill>
                  <a:srgbClr val="002B5C"/>
                </a:solidFill>
              </a:rPr>
              <a:t>Modelo é uma descrição / representação gráfica de uma realidade empresarial.</a:t>
            </a:r>
          </a:p>
          <a:p>
            <a:pPr defTabSz="914400"/>
            <a:endParaRPr lang="pt-BR" sz="280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8" y="2880766"/>
            <a:ext cx="7018337" cy="3284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1921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Modelos – Tipos de modelos</a:t>
            </a:r>
          </a:p>
        </p:txBody>
      </p:sp>
      <p:sp>
        <p:nvSpPr>
          <p:cNvPr id="168963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7" name="Text Box 41"/>
          <p:cNvSpPr txBox="1">
            <a:spLocks noChangeArrowheads="1"/>
          </p:cNvSpPr>
          <p:nvPr/>
        </p:nvSpPr>
        <p:spPr bwMode="auto">
          <a:xfrm>
            <a:off x="592138" y="928688"/>
            <a:ext cx="30670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/>
            <a:r>
              <a:rPr lang="pt-BR"/>
              <a:t>Modelo: Process Landscape</a:t>
            </a:r>
          </a:p>
        </p:txBody>
      </p:sp>
      <p:sp>
        <p:nvSpPr>
          <p:cNvPr id="8" name="Text Box 43"/>
          <p:cNvSpPr txBox="1">
            <a:spLocks noChangeArrowheads="1"/>
          </p:cNvSpPr>
          <p:nvPr/>
        </p:nvSpPr>
        <p:spPr bwMode="auto">
          <a:xfrm>
            <a:off x="395536" y="4484598"/>
            <a:ext cx="823462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/>
            <a:r>
              <a:rPr lang="pt-BR" dirty="0" smtClean="0"/>
              <a:t>O modelo </a:t>
            </a:r>
            <a:r>
              <a:rPr lang="pt-BR" dirty="0" err="1" smtClean="0"/>
              <a:t>Process</a:t>
            </a:r>
            <a:r>
              <a:rPr lang="pt-BR" dirty="0" smtClean="0"/>
              <a:t> </a:t>
            </a:r>
            <a:r>
              <a:rPr lang="pt-BR" dirty="0" err="1" smtClean="0"/>
              <a:t>Landscape</a:t>
            </a:r>
            <a:r>
              <a:rPr lang="pt-BR" dirty="0"/>
              <a:t> </a:t>
            </a:r>
            <a:r>
              <a:rPr lang="pt-BR" dirty="0" smtClean="0"/>
              <a:t>é usado para estruturação de </a:t>
            </a:r>
            <a:r>
              <a:rPr lang="pt-BR" dirty="0"/>
              <a:t>uma </a:t>
            </a:r>
            <a:r>
              <a:rPr lang="pt-BR" dirty="0" err="1"/>
              <a:t>Macro-Visão</a:t>
            </a:r>
            <a:r>
              <a:rPr lang="pt-BR" dirty="0"/>
              <a:t> dos processos da Natura.</a:t>
            </a:r>
            <a:r>
              <a:rPr lang="pt-BR" dirty="0" smtClean="0"/>
              <a:t> </a:t>
            </a:r>
          </a:p>
          <a:p>
            <a:pPr defTabSz="914400"/>
            <a:endParaRPr lang="pt-BR" dirty="0" smtClean="0"/>
          </a:p>
          <a:p>
            <a:pPr defTabSz="914400"/>
            <a:r>
              <a:rPr lang="pt-BR" dirty="0" smtClean="0"/>
              <a:t>É aplicável aos seguintes níveis : Cadeia de processos </a:t>
            </a:r>
            <a:r>
              <a:rPr lang="pt-BR" dirty="0"/>
              <a:t>(Nível 0), Processos (Nível 1), e </a:t>
            </a:r>
            <a:r>
              <a:rPr lang="pt-BR" dirty="0" err="1" smtClean="0"/>
              <a:t>subprocessos</a:t>
            </a:r>
            <a:r>
              <a:rPr lang="pt-BR" dirty="0" smtClean="0"/>
              <a:t>(Nível 2).</a:t>
            </a:r>
            <a:endParaRPr lang="pt-B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1916832"/>
            <a:ext cx="9113837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8007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Modelos – Tipos de modelos</a:t>
            </a:r>
          </a:p>
        </p:txBody>
      </p:sp>
      <p:sp>
        <p:nvSpPr>
          <p:cNvPr id="169987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69988" name="Text Box 4"/>
          <p:cNvSpPr txBox="1">
            <a:spLocks noChangeArrowheads="1"/>
          </p:cNvSpPr>
          <p:nvPr/>
        </p:nvSpPr>
        <p:spPr bwMode="auto">
          <a:xfrm>
            <a:off x="592138" y="928688"/>
            <a:ext cx="28765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/>
            <a:r>
              <a:rPr lang="pt-BR"/>
              <a:t>Modelo: Business Process</a:t>
            </a:r>
          </a:p>
        </p:txBody>
      </p:sp>
      <p:sp>
        <p:nvSpPr>
          <p:cNvPr id="169989" name="Text Box 5"/>
          <p:cNvSpPr txBox="1">
            <a:spLocks noChangeArrowheads="1"/>
          </p:cNvSpPr>
          <p:nvPr/>
        </p:nvSpPr>
        <p:spPr bwMode="auto">
          <a:xfrm>
            <a:off x="5004048" y="1126332"/>
            <a:ext cx="3476625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>
              <a:buFont typeface="Wingdings" pitchFamily="2" charset="2"/>
              <a:buNone/>
            </a:pPr>
            <a:r>
              <a:rPr lang="pt-BR" sz="2400" dirty="0">
                <a:solidFill>
                  <a:srgbClr val="000000"/>
                </a:solidFill>
                <a:ea typeface="Geneva" charset="-128"/>
              </a:rPr>
              <a:t>Apresenta uma visão detalhada do </a:t>
            </a:r>
            <a:r>
              <a:rPr lang="pt-BR" sz="2400" dirty="0" smtClean="0">
                <a:solidFill>
                  <a:srgbClr val="000000"/>
                </a:solidFill>
                <a:ea typeface="Geneva" charset="-128"/>
              </a:rPr>
              <a:t>processo (Nível 3) através </a:t>
            </a:r>
            <a:r>
              <a:rPr lang="pt-BR" sz="2400" dirty="0">
                <a:solidFill>
                  <a:srgbClr val="000000"/>
                </a:solidFill>
                <a:ea typeface="Geneva" charset="-128"/>
              </a:rPr>
              <a:t>de funções realizadas, regras de negócio (operadores lógicos) e eventos.</a:t>
            </a:r>
          </a:p>
          <a:p>
            <a:pPr defTabSz="914400">
              <a:buFont typeface="Wingdings" pitchFamily="2" charset="2"/>
              <a:buNone/>
            </a:pPr>
            <a:endParaRPr lang="pt-BR" sz="2400" dirty="0">
              <a:solidFill>
                <a:srgbClr val="000000"/>
              </a:solidFill>
              <a:ea typeface="Geneva" charset="-128"/>
            </a:endParaRPr>
          </a:p>
          <a:p>
            <a:pPr defTabSz="914400">
              <a:buFont typeface="Wingdings" pitchFamily="2" charset="2"/>
              <a:buNone/>
            </a:pPr>
            <a:r>
              <a:rPr lang="pt-BR" sz="2400" dirty="0">
                <a:solidFill>
                  <a:srgbClr val="000000"/>
                </a:solidFill>
                <a:ea typeface="Geneva" charset="-128"/>
              </a:rPr>
              <a:t>Propicia também a ligação/dependência lógica entre os processos, mostrando a sua integração através do objeto </a:t>
            </a:r>
            <a:r>
              <a:rPr lang="pt-BR" sz="2400" dirty="0" err="1">
                <a:solidFill>
                  <a:srgbClr val="000000"/>
                </a:solidFill>
                <a:ea typeface="Geneva" charset="-128"/>
              </a:rPr>
              <a:t>Process</a:t>
            </a:r>
            <a:r>
              <a:rPr lang="pt-BR" sz="2400" dirty="0">
                <a:solidFill>
                  <a:srgbClr val="000000"/>
                </a:solidFill>
                <a:ea typeface="Geneva" charset="-128"/>
              </a:rPr>
              <a:t> Interface.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538943"/>
            <a:ext cx="3565525" cy="521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2761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Modelo - Criação</a:t>
            </a:r>
          </a:p>
        </p:txBody>
      </p:sp>
      <p:sp>
        <p:nvSpPr>
          <p:cNvPr id="167939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67944" name="Text Box 8"/>
          <p:cNvSpPr txBox="1">
            <a:spLocks noChangeArrowheads="1"/>
          </p:cNvSpPr>
          <p:nvPr/>
        </p:nvSpPr>
        <p:spPr bwMode="auto">
          <a:xfrm>
            <a:off x="1063625" y="5942013"/>
            <a:ext cx="2644775" cy="366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>
              <a:buFontTx/>
              <a:buAutoNum type="arabicPeriod"/>
            </a:pPr>
            <a:r>
              <a:rPr lang="pt-BR"/>
              <a:t>Clicar em  </a:t>
            </a:r>
          </a:p>
        </p:txBody>
      </p:sp>
      <p:pic>
        <p:nvPicPr>
          <p:cNvPr id="167945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6010275"/>
            <a:ext cx="287338" cy="27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946150"/>
            <a:ext cx="8207375" cy="497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8305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Modelo - Criação</a:t>
            </a:r>
          </a:p>
        </p:txBody>
      </p:sp>
      <p:sp>
        <p:nvSpPr>
          <p:cNvPr id="156675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56678" name="Text Box 6"/>
          <p:cNvSpPr txBox="1">
            <a:spLocks noChangeArrowheads="1"/>
          </p:cNvSpPr>
          <p:nvPr/>
        </p:nvSpPr>
        <p:spPr bwMode="auto">
          <a:xfrm>
            <a:off x="950913" y="5824538"/>
            <a:ext cx="3600450" cy="3667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>
              <a:buFontTx/>
              <a:buAutoNum type="arabicPeriod"/>
            </a:pPr>
            <a:r>
              <a:rPr lang="pt-BR"/>
              <a:t>Selecionar o modelo desejado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63" y="1124744"/>
            <a:ext cx="6873875" cy="427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6590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Modelo - Criação</a:t>
            </a:r>
          </a:p>
        </p:txBody>
      </p:sp>
      <p:sp>
        <p:nvSpPr>
          <p:cNvPr id="171011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3" y="1052736"/>
            <a:ext cx="8550275" cy="560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401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5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Modelo - Criação</a:t>
            </a:r>
          </a:p>
        </p:txBody>
      </p:sp>
      <p:sp>
        <p:nvSpPr>
          <p:cNvPr id="172036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72046" name="Text Box 14"/>
          <p:cNvSpPr txBox="1">
            <a:spLocks noChangeArrowheads="1"/>
          </p:cNvSpPr>
          <p:nvPr/>
        </p:nvSpPr>
        <p:spPr bwMode="auto">
          <a:xfrm>
            <a:off x="611188" y="1341438"/>
            <a:ext cx="8085137" cy="222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/>
            <a:r>
              <a:rPr lang="en-US" sz="2000" dirty="0" err="1"/>
              <a:t>Área</a:t>
            </a:r>
            <a:r>
              <a:rPr lang="en-US" sz="2000" dirty="0"/>
              <a:t> de </a:t>
            </a:r>
            <a:r>
              <a:rPr lang="en-US" sz="2000" dirty="0" err="1"/>
              <a:t>modelagem</a:t>
            </a:r>
            <a:r>
              <a:rPr lang="en-US" sz="2000" dirty="0"/>
              <a:t>: local </a:t>
            </a:r>
            <a:r>
              <a:rPr lang="en-US" sz="2000" dirty="0" err="1"/>
              <a:t>onde</a:t>
            </a:r>
            <a:r>
              <a:rPr lang="en-US" sz="2000" dirty="0"/>
              <a:t> </a:t>
            </a:r>
            <a:r>
              <a:rPr lang="en-US" sz="2000" dirty="0" err="1"/>
              <a:t>será</a:t>
            </a:r>
            <a:r>
              <a:rPr lang="en-US" sz="2000" dirty="0"/>
              <a:t> </a:t>
            </a:r>
            <a:r>
              <a:rPr lang="en-US" sz="2000" dirty="0" err="1"/>
              <a:t>realizada</a:t>
            </a:r>
            <a:r>
              <a:rPr lang="en-US" sz="2000" dirty="0"/>
              <a:t> a </a:t>
            </a:r>
            <a:r>
              <a:rPr lang="en-US" sz="2000" dirty="0" err="1"/>
              <a:t>modelagem</a:t>
            </a:r>
            <a:endParaRPr lang="en-US" sz="2000" dirty="0"/>
          </a:p>
          <a:p>
            <a:pPr defTabSz="914400"/>
            <a:endParaRPr lang="en-US" sz="2000" dirty="0"/>
          </a:p>
          <a:p>
            <a:pPr defTabSz="914400"/>
            <a:r>
              <a:rPr lang="en-US" sz="2000" dirty="0"/>
              <a:t>Barra de </a:t>
            </a:r>
            <a:r>
              <a:rPr lang="en-US" sz="2000" dirty="0" err="1"/>
              <a:t>símbolos</a:t>
            </a:r>
            <a:r>
              <a:rPr lang="en-US" sz="2000" dirty="0"/>
              <a:t>: </a:t>
            </a:r>
            <a:r>
              <a:rPr lang="en-US" sz="2000" dirty="0" err="1"/>
              <a:t>contém</a:t>
            </a:r>
            <a:r>
              <a:rPr lang="en-US" sz="2000" dirty="0"/>
              <a:t> </a:t>
            </a:r>
            <a:r>
              <a:rPr lang="en-US" sz="2000" dirty="0" err="1"/>
              <a:t>todos</a:t>
            </a:r>
            <a:r>
              <a:rPr lang="en-US" sz="2000" dirty="0"/>
              <a:t>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símbolos</a:t>
            </a:r>
            <a:r>
              <a:rPr lang="en-US" sz="2000" dirty="0"/>
              <a:t> </a:t>
            </a:r>
            <a:r>
              <a:rPr lang="en-US" sz="2000" dirty="0" err="1"/>
              <a:t>disponíveis</a:t>
            </a:r>
            <a:r>
              <a:rPr lang="en-US" sz="2000" dirty="0"/>
              <a:t> no </a:t>
            </a:r>
            <a:r>
              <a:rPr lang="en-US" sz="2000" dirty="0" err="1"/>
              <a:t>modelo</a:t>
            </a:r>
            <a:r>
              <a:rPr lang="en-US" sz="2000" dirty="0"/>
              <a:t> </a:t>
            </a:r>
            <a:r>
              <a:rPr lang="en-US" sz="2000" dirty="0" err="1"/>
              <a:t>selecionado</a:t>
            </a:r>
            <a:endParaRPr lang="en-US" sz="2000" dirty="0"/>
          </a:p>
          <a:p>
            <a:pPr defTabSz="914400"/>
            <a:endParaRPr lang="en-US" sz="2000" dirty="0"/>
          </a:p>
          <a:p>
            <a:pPr defTabSz="914400"/>
            <a:r>
              <a:rPr lang="en-US" sz="2000" dirty="0"/>
              <a:t>Barra de </a:t>
            </a:r>
            <a:r>
              <a:rPr lang="en-US" sz="2000" dirty="0" err="1"/>
              <a:t>fragmentos</a:t>
            </a:r>
            <a:r>
              <a:rPr lang="en-US" sz="2000" dirty="0"/>
              <a:t>: </a:t>
            </a:r>
            <a:r>
              <a:rPr lang="en-US" sz="2000" dirty="0" err="1"/>
              <a:t>contém</a:t>
            </a:r>
            <a:r>
              <a:rPr lang="en-US" sz="2000" dirty="0"/>
              <a:t> </a:t>
            </a:r>
            <a:r>
              <a:rPr lang="en-US" sz="2000" dirty="0" err="1"/>
              <a:t>os</a:t>
            </a:r>
            <a:r>
              <a:rPr lang="en-US" sz="2000" dirty="0"/>
              <a:t> </a:t>
            </a:r>
            <a:r>
              <a:rPr lang="en-US" sz="2000" dirty="0" err="1"/>
              <a:t>blocos</a:t>
            </a:r>
            <a:r>
              <a:rPr lang="en-US" sz="2000" dirty="0"/>
              <a:t> de </a:t>
            </a:r>
            <a:r>
              <a:rPr lang="en-US" sz="2000" dirty="0" err="1"/>
              <a:t>modelos</a:t>
            </a:r>
            <a:r>
              <a:rPr lang="en-US" sz="2000" dirty="0"/>
              <a:t>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poderão</a:t>
            </a:r>
            <a:r>
              <a:rPr lang="en-US" sz="2000" dirty="0"/>
              <a:t> </a:t>
            </a:r>
            <a:r>
              <a:rPr lang="en-US" sz="2000" dirty="0" err="1"/>
              <a:t>ser</a:t>
            </a:r>
            <a:r>
              <a:rPr lang="en-US" sz="2000" dirty="0"/>
              <a:t> </a:t>
            </a:r>
            <a:r>
              <a:rPr lang="en-US" sz="2000" dirty="0" err="1"/>
              <a:t>reutilizados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42376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Objetos</a:t>
            </a:r>
          </a:p>
        </p:txBody>
      </p:sp>
      <p:sp>
        <p:nvSpPr>
          <p:cNvPr id="173059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73060" name="Text Box 4"/>
          <p:cNvSpPr txBox="1">
            <a:spLocks noChangeArrowheads="1"/>
          </p:cNvSpPr>
          <p:nvPr/>
        </p:nvSpPr>
        <p:spPr bwMode="auto">
          <a:xfrm>
            <a:off x="611188" y="1341438"/>
            <a:ext cx="8085137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177800"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>
              <a:buFontTx/>
              <a:buChar char="•"/>
            </a:pPr>
            <a:r>
              <a:rPr lang="en-US" sz="2400"/>
              <a:t>Objeto descreve uma realidade</a:t>
            </a:r>
          </a:p>
          <a:p>
            <a:pPr defTabSz="914400">
              <a:buFontTx/>
              <a:buChar char="•"/>
            </a:pPr>
            <a:r>
              <a:rPr lang="en-US" sz="2400"/>
              <a:t>São representados por símbolos nos modelos</a:t>
            </a:r>
          </a:p>
          <a:p>
            <a:pPr defTabSz="914400">
              <a:buFontTx/>
              <a:buChar char="•"/>
            </a:pPr>
            <a:r>
              <a:rPr lang="en-US" sz="2400"/>
              <a:t>A quantidade de objetos e símbolos pode variar de acordo com o modelo</a:t>
            </a:r>
          </a:p>
        </p:txBody>
      </p:sp>
    </p:spTree>
    <p:extLst>
      <p:ext uri="{BB962C8B-B14F-4D97-AF65-F5344CB8AC3E}">
        <p14:creationId xmlns:p14="http://schemas.microsoft.com/office/powerpoint/2010/main" val="3392236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Objetos - Criação</a:t>
            </a:r>
          </a:p>
        </p:txBody>
      </p:sp>
      <p:sp>
        <p:nvSpPr>
          <p:cNvPr id="174083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74085" name="TextBox 5"/>
          <p:cNvSpPr txBox="1">
            <a:spLocks noChangeArrowheads="1"/>
          </p:cNvSpPr>
          <p:nvPr/>
        </p:nvSpPr>
        <p:spPr bwMode="auto">
          <a:xfrm>
            <a:off x="685447" y="5048316"/>
            <a:ext cx="7573962" cy="180968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98" tIns="45699" rIns="91398" bIns="45699"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</a:defRPr>
            </a:lvl1pPr>
            <a:lvl2pPr marL="530225" indent="-339725" algn="l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>
              <a:spcBef>
                <a:spcPct val="20000"/>
              </a:spcBef>
            </a:pPr>
            <a:r>
              <a:rPr lang="en-US" dirty="0"/>
              <a:t>Para </a:t>
            </a:r>
            <a:r>
              <a:rPr lang="en-US" dirty="0" err="1"/>
              <a:t>criar</a:t>
            </a:r>
            <a:r>
              <a:rPr lang="en-US" dirty="0"/>
              <a:t> </a:t>
            </a:r>
            <a:r>
              <a:rPr lang="en-US" dirty="0" err="1"/>
              <a:t>objetos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área</a:t>
            </a:r>
            <a:r>
              <a:rPr lang="en-US" dirty="0"/>
              <a:t> de </a:t>
            </a:r>
            <a:r>
              <a:rPr lang="en-US" dirty="0" err="1"/>
              <a:t>modelagem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-se </a:t>
            </a:r>
            <a:r>
              <a:rPr lang="en-US" dirty="0" err="1"/>
              <a:t>proceder</a:t>
            </a:r>
            <a:r>
              <a:rPr lang="en-US" dirty="0"/>
              <a:t> da </a:t>
            </a:r>
            <a:r>
              <a:rPr lang="en-US" dirty="0" err="1"/>
              <a:t>seguinte</a:t>
            </a:r>
            <a:r>
              <a:rPr lang="en-US" dirty="0"/>
              <a:t> forma:</a:t>
            </a:r>
          </a:p>
          <a:p>
            <a:pPr defTabSz="914400">
              <a:spcBef>
                <a:spcPct val="20000"/>
              </a:spcBef>
            </a:pPr>
            <a:endParaRPr lang="en-US" sz="300" dirty="0"/>
          </a:p>
          <a:p>
            <a:pPr lvl="1" defTabSz="914400">
              <a:lnSpc>
                <a:spcPct val="120000"/>
              </a:lnSpc>
              <a:spcBef>
                <a:spcPct val="20000"/>
              </a:spcBef>
              <a:buFont typeface="Sydnie" pitchFamily="2" charset="0"/>
              <a:buAutoNum type="arabicPeriod"/>
            </a:pPr>
            <a:r>
              <a:rPr lang="en-US" dirty="0" err="1"/>
              <a:t>Selecionar</a:t>
            </a:r>
            <a:r>
              <a:rPr lang="en-US" dirty="0"/>
              <a:t> o </a:t>
            </a:r>
            <a:r>
              <a:rPr lang="en-US" dirty="0" err="1"/>
              <a:t>objeto</a:t>
            </a:r>
            <a:r>
              <a:rPr lang="en-US" dirty="0"/>
              <a:t> </a:t>
            </a:r>
            <a:r>
              <a:rPr lang="en-US" dirty="0" err="1"/>
              <a:t>desejado</a:t>
            </a:r>
            <a:r>
              <a:rPr lang="en-US" dirty="0"/>
              <a:t> da </a:t>
            </a:r>
            <a:r>
              <a:rPr lang="en-US" dirty="0" err="1"/>
              <a:t>barra</a:t>
            </a:r>
            <a:r>
              <a:rPr lang="en-US" dirty="0"/>
              <a:t> de </a:t>
            </a:r>
            <a:r>
              <a:rPr lang="en-US" dirty="0" err="1"/>
              <a:t>símbolos</a:t>
            </a:r>
            <a:r>
              <a:rPr lang="en-US" dirty="0"/>
              <a:t> com um clique.</a:t>
            </a:r>
          </a:p>
          <a:p>
            <a:pPr lvl="1" defTabSz="914400">
              <a:lnSpc>
                <a:spcPct val="120000"/>
              </a:lnSpc>
              <a:spcBef>
                <a:spcPct val="20000"/>
              </a:spcBef>
              <a:buFont typeface="Sydnie" pitchFamily="2" charset="0"/>
              <a:buAutoNum type="arabicPeriod"/>
            </a:pPr>
            <a:r>
              <a:rPr lang="en-US" dirty="0" err="1"/>
              <a:t>Posicionar</a:t>
            </a:r>
            <a:r>
              <a:rPr lang="en-US" dirty="0"/>
              <a:t> a seta do mouse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área</a:t>
            </a:r>
            <a:r>
              <a:rPr lang="en-US" dirty="0"/>
              <a:t> de </a:t>
            </a:r>
            <a:r>
              <a:rPr lang="en-US" dirty="0" err="1"/>
              <a:t>modelagem</a:t>
            </a:r>
            <a:r>
              <a:rPr lang="en-US" dirty="0"/>
              <a:t> </a:t>
            </a:r>
            <a:r>
              <a:rPr lang="en-US" dirty="0" err="1"/>
              <a:t>onde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 smtClean="0"/>
              <a:t>ser</a:t>
            </a:r>
            <a:r>
              <a:rPr lang="en-US" dirty="0" smtClean="0"/>
              <a:t> </a:t>
            </a:r>
            <a:r>
              <a:rPr lang="en-US" dirty="0" err="1" smtClean="0"/>
              <a:t>inserido</a:t>
            </a:r>
            <a:r>
              <a:rPr lang="en-US" dirty="0" smtClean="0"/>
              <a:t> </a:t>
            </a:r>
            <a:r>
              <a:rPr lang="en-US" dirty="0"/>
              <a:t>o </a:t>
            </a:r>
            <a:r>
              <a:rPr lang="en-US" dirty="0" err="1"/>
              <a:t>objeto</a:t>
            </a:r>
            <a:r>
              <a:rPr lang="en-US" dirty="0"/>
              <a:t>.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908720"/>
            <a:ext cx="8351837" cy="4030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5622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Objetos - Criação</a:t>
            </a:r>
          </a:p>
        </p:txBody>
      </p:sp>
      <p:sp>
        <p:nvSpPr>
          <p:cNvPr id="175107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75108" name="TextBox 5"/>
          <p:cNvSpPr txBox="1">
            <a:spLocks noChangeArrowheads="1"/>
          </p:cNvSpPr>
          <p:nvPr/>
        </p:nvSpPr>
        <p:spPr bwMode="auto">
          <a:xfrm>
            <a:off x="1042988" y="5661025"/>
            <a:ext cx="7573962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98" tIns="45699" rIns="91398" bIns="45699"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</a:defRPr>
            </a:lvl1pPr>
            <a:lvl2pPr marL="530225" indent="-339725" algn="l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lvl="1" defTabSz="914400">
              <a:lnSpc>
                <a:spcPct val="120000"/>
              </a:lnSpc>
              <a:spcBef>
                <a:spcPct val="20000"/>
              </a:spcBef>
              <a:buFont typeface="Sydnie" pitchFamily="2" charset="0"/>
              <a:buNone/>
            </a:pPr>
            <a:r>
              <a:rPr lang="en-US"/>
              <a:t>3. Clicar com o botão esquerdo do mouse</a:t>
            </a:r>
            <a:r>
              <a:rPr lang="en-US" sz="1600">
                <a:solidFill>
                  <a:srgbClr val="002B5C"/>
                </a:solidFill>
              </a:rPr>
              <a:t>.</a:t>
            </a:r>
            <a:endParaRPr lang="pt-BR" sz="1600">
              <a:solidFill>
                <a:srgbClr val="002B5C"/>
              </a:solidFill>
            </a:endParaRPr>
          </a:p>
        </p:txBody>
      </p:sp>
      <p:sp>
        <p:nvSpPr>
          <p:cNvPr id="175112" name="TextBox 7"/>
          <p:cNvSpPr txBox="1">
            <a:spLocks noChangeArrowheads="1"/>
          </p:cNvSpPr>
          <p:nvPr/>
        </p:nvSpPr>
        <p:spPr bwMode="auto">
          <a:xfrm>
            <a:off x="1104900" y="6284913"/>
            <a:ext cx="73596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98" tIns="45699" rIns="91398" bIns="45699"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>
              <a:spcBef>
                <a:spcPct val="20000"/>
              </a:spcBef>
            </a:pPr>
            <a:r>
              <a:rPr lang="pt-BR" sz="1200"/>
              <a:t>* Para inserir várias vezes o</a:t>
            </a:r>
            <a:r>
              <a:rPr lang="pt-BR" sz="800">
                <a:solidFill>
                  <a:srgbClr val="002B5C"/>
                </a:solidFill>
              </a:rPr>
              <a:t> </a:t>
            </a:r>
            <a:r>
              <a:rPr lang="pt-BR" sz="1200"/>
              <a:t>mesmo objeto na área de modelagem, com o símbolo selecionado, segurar a tecla [Ctrl] e clicar com o botão esquerdo do mouse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908720"/>
            <a:ext cx="8526463" cy="4556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8775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Objetos – Inserção de nomes</a:t>
            </a:r>
          </a:p>
        </p:txBody>
      </p:sp>
      <p:sp>
        <p:nvSpPr>
          <p:cNvPr id="176131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76134" name="TextBox 5"/>
          <p:cNvSpPr txBox="1">
            <a:spLocks noChangeArrowheads="1"/>
          </p:cNvSpPr>
          <p:nvPr/>
        </p:nvSpPr>
        <p:spPr bwMode="auto">
          <a:xfrm>
            <a:off x="395288" y="1193800"/>
            <a:ext cx="8208962" cy="3139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98" tIns="45699" rIns="91398" bIns="45699">
            <a:spAutoFit/>
          </a:bodyPr>
          <a:lstStyle>
            <a:lvl1pPr algn="l">
              <a:defRPr>
                <a:solidFill>
                  <a:schemeClr val="tx1"/>
                </a:solidFill>
                <a:latin typeface="Arial" charset="0"/>
              </a:defRPr>
            </a:lvl1pPr>
            <a:lvl2pPr marL="473075" indent="-282575" algn="l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>
              <a:spcBef>
                <a:spcPct val="20000"/>
              </a:spcBef>
              <a:buClr>
                <a:schemeClr val="tx1"/>
              </a:buClr>
            </a:pPr>
            <a:r>
              <a:rPr lang="en-US" dirty="0" err="1" smtClean="0"/>
              <a:t>Após</a:t>
            </a:r>
            <a:r>
              <a:rPr lang="en-US" dirty="0" smtClean="0"/>
              <a:t> a </a:t>
            </a:r>
            <a:r>
              <a:rPr lang="en-US" dirty="0" err="1" smtClean="0"/>
              <a:t>criação</a:t>
            </a:r>
            <a:r>
              <a:rPr lang="en-US" dirty="0" smtClean="0"/>
              <a:t> do </a:t>
            </a:r>
            <a:r>
              <a:rPr lang="en-US" dirty="0" err="1" smtClean="0"/>
              <a:t>objeto</a:t>
            </a:r>
            <a:r>
              <a:rPr lang="en-US" dirty="0" smtClean="0"/>
              <a:t>, o </a:t>
            </a:r>
            <a:r>
              <a:rPr lang="en-US" dirty="0" err="1" smtClean="0"/>
              <a:t>próximo</a:t>
            </a:r>
            <a:r>
              <a:rPr lang="en-US" dirty="0" smtClean="0"/>
              <a:t> </a:t>
            </a:r>
            <a:r>
              <a:rPr lang="en-US" dirty="0" err="1" smtClean="0"/>
              <a:t>passo</a:t>
            </a:r>
            <a:r>
              <a:rPr lang="en-US" dirty="0" smtClean="0"/>
              <a:t> é </a:t>
            </a:r>
            <a:r>
              <a:rPr lang="en-US" dirty="0" err="1" smtClean="0"/>
              <a:t>atribuir</a:t>
            </a:r>
            <a:r>
              <a:rPr lang="en-US" dirty="0" smtClean="0"/>
              <a:t>  a </a:t>
            </a:r>
            <a:r>
              <a:rPr lang="en-US" dirty="0" err="1" smtClean="0"/>
              <a:t>ele</a:t>
            </a:r>
            <a:r>
              <a:rPr lang="en-US" dirty="0" smtClean="0"/>
              <a:t> um </a:t>
            </a:r>
            <a:r>
              <a:rPr lang="en-US" dirty="0" err="1" smtClean="0"/>
              <a:t>nome</a:t>
            </a:r>
            <a:r>
              <a:rPr lang="en-US" dirty="0" smtClean="0"/>
              <a:t>, </a:t>
            </a:r>
            <a:r>
              <a:rPr lang="en-US" dirty="0" err="1" smtClean="0"/>
              <a:t>seguindo</a:t>
            </a:r>
            <a:r>
              <a:rPr lang="en-US" dirty="0" smtClean="0"/>
              <a:t> </a:t>
            </a:r>
            <a:r>
              <a:rPr lang="en-US" dirty="0" err="1" smtClean="0"/>
              <a:t>os</a:t>
            </a:r>
            <a:r>
              <a:rPr lang="en-US" dirty="0" smtClean="0"/>
              <a:t> </a:t>
            </a:r>
            <a:r>
              <a:rPr lang="en-US" dirty="0" err="1" smtClean="0"/>
              <a:t>passos</a:t>
            </a:r>
            <a:r>
              <a:rPr lang="en-US" dirty="0" smtClean="0"/>
              <a:t> </a:t>
            </a:r>
            <a:r>
              <a:rPr lang="en-US" dirty="0" err="1" smtClean="0"/>
              <a:t>descritos</a:t>
            </a:r>
            <a:r>
              <a:rPr lang="en-US" dirty="0" smtClean="0"/>
              <a:t> </a:t>
            </a:r>
            <a:r>
              <a:rPr lang="en-US" dirty="0" err="1" smtClean="0"/>
              <a:t>abaixo</a:t>
            </a:r>
            <a:r>
              <a:rPr lang="en-US" dirty="0" smtClean="0"/>
              <a:t>:</a:t>
            </a:r>
            <a:endParaRPr lang="en-US" dirty="0"/>
          </a:p>
          <a:p>
            <a:pPr lvl="1" defTabSz="914400"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de-DE" dirty="0"/>
              <a:t>Tendo posicionado um símbolo na área de modelagem, inserir imediatamente um nome de objeto, desde que o nome padrão do símbolo esteja sendo exibido e marcado para troca imediata.</a:t>
            </a:r>
          </a:p>
          <a:p>
            <a:pPr lvl="1" defTabSz="914400"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de-DE" dirty="0"/>
              <a:t>Se não estiver sendo exibido para troca imediata do nome, acionar 2 cliques com um pequeno intervalo de tempo entre eles em cima do objeto</a:t>
            </a:r>
          </a:p>
          <a:p>
            <a:pPr lvl="1" defTabSz="914400"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de-DE" dirty="0"/>
              <a:t>Selecionar o objeto e pressionar [F2]</a:t>
            </a:r>
          </a:p>
          <a:p>
            <a:pPr lvl="1" defTabSz="914400"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de-DE" dirty="0"/>
              <a:t>Terminar o procedimento pressionando [Enter].</a:t>
            </a:r>
          </a:p>
          <a:p>
            <a:pPr lvl="1" defTabSz="914400"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de-DE" dirty="0"/>
              <a:t>Para inserir quebra de linha pressionar as teclas [CTRL]+ [Enter].</a:t>
            </a:r>
            <a:endParaRPr lang="pt-BR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4538" y="5157192"/>
            <a:ext cx="5113337" cy="103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8003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Objetos – Alinhamento</a:t>
            </a:r>
          </a:p>
        </p:txBody>
      </p:sp>
      <p:sp>
        <p:nvSpPr>
          <p:cNvPr id="177155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77161" name="TextBox 5"/>
          <p:cNvSpPr txBox="1">
            <a:spLocks noChangeArrowheads="1"/>
          </p:cNvSpPr>
          <p:nvPr/>
        </p:nvSpPr>
        <p:spPr bwMode="auto">
          <a:xfrm>
            <a:off x="5467350" y="1219200"/>
            <a:ext cx="3352800" cy="498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98" tIns="45699" rIns="91398" bIns="45699">
            <a:spAutoFit/>
          </a:bodyPr>
          <a:lstStyle>
            <a:lvl1pPr marL="342900" indent="-342900" algn="l" defTabSz="758825">
              <a:defRPr>
                <a:solidFill>
                  <a:schemeClr val="tx1"/>
                </a:solidFill>
                <a:latin typeface="Arial" charset="0"/>
              </a:defRPr>
            </a:lvl1pPr>
            <a:lvl2pPr marL="800100" indent="-342900" algn="l" defTabSz="758825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algn="l" defTabSz="758825">
              <a:defRPr>
                <a:solidFill>
                  <a:schemeClr val="tx1"/>
                </a:solidFill>
                <a:latin typeface="Arial" charset="0"/>
              </a:defRPr>
            </a:lvl3pPr>
            <a:lvl4pPr marL="1714500" indent="-342900" algn="l" defTabSz="758825">
              <a:defRPr>
                <a:solidFill>
                  <a:schemeClr val="tx1"/>
                </a:solidFill>
                <a:latin typeface="Arial" charset="0"/>
              </a:defRPr>
            </a:lvl4pPr>
            <a:lvl5pPr marL="2171700" indent="-342900" algn="l" defTabSz="758825">
              <a:defRPr>
                <a:solidFill>
                  <a:schemeClr val="tx1"/>
                </a:solidFill>
                <a:latin typeface="Arial" charset="0"/>
              </a:defRPr>
            </a:lvl5pPr>
            <a:lvl6pPr marL="26289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61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433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005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u="sng"/>
              <a:t>Opção 1:</a:t>
            </a:r>
          </a:p>
          <a:p>
            <a:pPr>
              <a:spcBef>
                <a:spcPct val="20000"/>
              </a:spcBef>
            </a:pPr>
            <a:endParaRPr lang="en-US"/>
          </a:p>
          <a:p>
            <a:pPr>
              <a:spcBef>
                <a:spcPct val="20000"/>
              </a:spcBef>
              <a:buFontTx/>
              <a:buAutoNum type="arabicPeriod"/>
            </a:pPr>
            <a:r>
              <a:rPr lang="en-US"/>
              <a:t>Para movimentar o(s) objeto(s) selecionado(s) com setas, segurar a tecla [shift].</a:t>
            </a:r>
          </a:p>
          <a:p>
            <a:pPr>
              <a:spcBef>
                <a:spcPct val="20000"/>
              </a:spcBef>
              <a:buFont typeface="Wingdings" pitchFamily="2" charset="2"/>
              <a:buChar char="ü"/>
            </a:pPr>
            <a:endParaRPr lang="en-US"/>
          </a:p>
          <a:p>
            <a:pPr>
              <a:spcBef>
                <a:spcPct val="20000"/>
              </a:spcBef>
            </a:pPr>
            <a:r>
              <a:rPr lang="en-US" u="sng"/>
              <a:t>Opção 2:</a:t>
            </a:r>
          </a:p>
          <a:p>
            <a:pPr>
              <a:spcBef>
                <a:spcPct val="20000"/>
              </a:spcBef>
            </a:pPr>
            <a:endParaRPr lang="en-US" u="sng"/>
          </a:p>
          <a:p>
            <a:pPr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/>
              <a:t>Selecionar pelo menos dois objetos </a:t>
            </a:r>
          </a:p>
          <a:p>
            <a:pPr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/>
              <a:t>Clicar com botão direito do mouse</a:t>
            </a:r>
          </a:p>
          <a:p>
            <a:pPr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/>
              <a:t>Selecionar a opção “Align”</a:t>
            </a:r>
          </a:p>
          <a:p>
            <a:pPr>
              <a:spcBef>
                <a:spcPct val="20000"/>
              </a:spcBef>
              <a:buFont typeface="Wingdings" pitchFamily="2" charset="2"/>
              <a:buAutoNum type="arabicPeriod"/>
            </a:pPr>
            <a:r>
              <a:rPr lang="en-US"/>
              <a:t>Selecionar o tipo de alinhamento desejado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973138"/>
            <a:ext cx="4449763" cy="547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2064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9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Objetos – Alinhamento</a:t>
            </a:r>
          </a:p>
        </p:txBody>
      </p:sp>
      <p:sp>
        <p:nvSpPr>
          <p:cNvPr id="178180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20725" y="1008063"/>
            <a:ext cx="7954963" cy="2566987"/>
          </a:xfrm>
          <a:prstGeom prst="rect">
            <a:avLst/>
          </a:prstGeom>
          <a:noFill/>
        </p:spPr>
        <p:txBody>
          <a:bodyPr lIns="91398" tIns="45699" rIns="91398" bIns="45699">
            <a:spAutoFit/>
          </a:bodyPr>
          <a:lstStyle>
            <a:lvl1pPr marL="323850" indent="-323850" algn="l" defTabSz="760413">
              <a:defRPr>
                <a:solidFill>
                  <a:schemeClr val="tx1"/>
                </a:solidFill>
                <a:latin typeface="Arial" charset="0"/>
              </a:defRPr>
            </a:lvl1pPr>
            <a:lvl2pPr marL="781050" indent="-323850" algn="l" defTabSz="760413">
              <a:defRPr>
                <a:solidFill>
                  <a:schemeClr val="tx1"/>
                </a:solidFill>
                <a:latin typeface="Arial" charset="0"/>
              </a:defRPr>
            </a:lvl2pPr>
            <a:lvl3pPr marL="1238250" indent="-323850" algn="l" defTabSz="760413">
              <a:defRPr>
                <a:solidFill>
                  <a:schemeClr val="tx1"/>
                </a:solidFill>
                <a:latin typeface="Arial" charset="0"/>
              </a:defRPr>
            </a:lvl3pPr>
            <a:lvl4pPr marL="1695450" indent="-323850" algn="l" defTabSz="760413">
              <a:defRPr>
                <a:solidFill>
                  <a:schemeClr val="tx1"/>
                </a:solidFill>
                <a:latin typeface="Arial" charset="0"/>
              </a:defRPr>
            </a:lvl4pPr>
            <a:lvl5pPr marL="2152650" indent="-323850" algn="l" defTabSz="760413">
              <a:defRPr>
                <a:solidFill>
                  <a:schemeClr val="tx1"/>
                </a:solidFill>
                <a:latin typeface="Arial" charset="0"/>
              </a:defRPr>
            </a:lvl5pPr>
            <a:lvl6pPr marL="2609850" indent="-323850" defTabSz="7604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67050" indent="-323850" defTabSz="7604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24250" indent="-323850" defTabSz="7604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981450" indent="-323850" defTabSz="7604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dirty="0"/>
              <a:t>Para </a:t>
            </a:r>
            <a:r>
              <a:rPr lang="en-US" dirty="0" err="1"/>
              <a:t>inserir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remover </a:t>
            </a:r>
            <a:r>
              <a:rPr lang="en-US" dirty="0" err="1"/>
              <a:t>espaços</a:t>
            </a:r>
            <a:r>
              <a:rPr lang="en-US" dirty="0"/>
              <a:t>, </a:t>
            </a:r>
            <a:r>
              <a:rPr lang="en-US" dirty="0" err="1"/>
              <a:t>deve</a:t>
            </a:r>
            <a:r>
              <a:rPr lang="en-US" dirty="0"/>
              <a:t>-se </a:t>
            </a:r>
            <a:r>
              <a:rPr lang="en-US" dirty="0" err="1"/>
              <a:t>proceder</a:t>
            </a:r>
            <a:r>
              <a:rPr lang="en-US" dirty="0"/>
              <a:t> da </a:t>
            </a:r>
            <a:r>
              <a:rPr lang="en-US" dirty="0" err="1"/>
              <a:t>seguinte</a:t>
            </a:r>
            <a:r>
              <a:rPr lang="en-US" dirty="0"/>
              <a:t> forma:</a:t>
            </a:r>
          </a:p>
          <a:p>
            <a:pPr>
              <a:spcBef>
                <a:spcPct val="20000"/>
              </a:spcBef>
            </a:pPr>
            <a:endParaRPr lang="en-US" dirty="0"/>
          </a:p>
          <a:p>
            <a:pPr>
              <a:spcBef>
                <a:spcPct val="20000"/>
              </a:spcBef>
              <a:buFontTx/>
              <a:buAutoNum type="arabicPeriod"/>
            </a:pPr>
            <a:r>
              <a:rPr lang="en-US" dirty="0"/>
              <a:t> </a:t>
            </a:r>
            <a:r>
              <a:rPr lang="en-US" dirty="0" err="1"/>
              <a:t>Clicar</a:t>
            </a:r>
            <a:r>
              <a:rPr lang="en-US" dirty="0"/>
              <a:t> com o </a:t>
            </a:r>
            <a:r>
              <a:rPr lang="en-US" dirty="0" err="1"/>
              <a:t>botão</a:t>
            </a:r>
            <a:r>
              <a:rPr lang="en-US" dirty="0"/>
              <a:t> </a:t>
            </a:r>
            <a:r>
              <a:rPr lang="en-US" dirty="0" err="1"/>
              <a:t>direito</a:t>
            </a:r>
            <a:r>
              <a:rPr lang="en-US" dirty="0"/>
              <a:t> do mouse no local </a:t>
            </a:r>
            <a:r>
              <a:rPr lang="en-US" dirty="0" err="1"/>
              <a:t>onde</a:t>
            </a:r>
            <a:r>
              <a:rPr lang="en-US" dirty="0"/>
              <a:t> </a:t>
            </a:r>
            <a:r>
              <a:rPr lang="en-US" dirty="0" err="1"/>
              <a:t>deseja</a:t>
            </a:r>
            <a:r>
              <a:rPr lang="en-US" dirty="0"/>
              <a:t> </a:t>
            </a:r>
            <a:r>
              <a:rPr lang="en-US" dirty="0" err="1"/>
              <a:t>inserir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remover </a:t>
            </a:r>
            <a:r>
              <a:rPr lang="en-US" dirty="0" err="1"/>
              <a:t>espaço</a:t>
            </a:r>
            <a:endParaRPr lang="en-US" dirty="0"/>
          </a:p>
          <a:p>
            <a:pPr>
              <a:spcBef>
                <a:spcPct val="20000"/>
              </a:spcBef>
              <a:buFontTx/>
              <a:buAutoNum type="arabicPeriod"/>
            </a:pPr>
            <a:r>
              <a:rPr lang="en-US" dirty="0"/>
              <a:t> </a:t>
            </a:r>
            <a:r>
              <a:rPr lang="en-US" dirty="0" err="1"/>
              <a:t>Selecionar</a:t>
            </a:r>
            <a:r>
              <a:rPr lang="en-US" dirty="0"/>
              <a:t>  a </a:t>
            </a:r>
            <a:r>
              <a:rPr lang="en-US" dirty="0" err="1"/>
              <a:t>opção</a:t>
            </a:r>
            <a:r>
              <a:rPr lang="en-US" dirty="0"/>
              <a:t> “Insert and Remove Space”</a:t>
            </a:r>
          </a:p>
          <a:p>
            <a:pPr>
              <a:spcBef>
                <a:spcPct val="20000"/>
              </a:spcBef>
              <a:buFontTx/>
              <a:buAutoNum type="arabicPeriod"/>
            </a:pPr>
            <a:r>
              <a:rPr lang="en-US" dirty="0"/>
              <a:t> </a:t>
            </a:r>
            <a:r>
              <a:rPr lang="en-US" dirty="0" err="1"/>
              <a:t>Selecionar</a:t>
            </a:r>
            <a:r>
              <a:rPr lang="en-US" dirty="0"/>
              <a:t> a </a:t>
            </a:r>
            <a:r>
              <a:rPr lang="en-US" dirty="0" err="1"/>
              <a:t>opção</a:t>
            </a:r>
            <a:r>
              <a:rPr lang="en-US" dirty="0"/>
              <a:t> “Left/Right” </a:t>
            </a:r>
            <a:r>
              <a:rPr lang="en-US" dirty="0" err="1"/>
              <a:t>ou</a:t>
            </a:r>
            <a:r>
              <a:rPr lang="en-US" dirty="0"/>
              <a:t> “Upwards/Downwards”</a:t>
            </a:r>
          </a:p>
          <a:p>
            <a:pPr>
              <a:spcBef>
                <a:spcPct val="20000"/>
              </a:spcBef>
              <a:buFontTx/>
              <a:buAutoNum type="arabicPeriod"/>
            </a:pPr>
            <a:r>
              <a:rPr lang="en-US" dirty="0"/>
              <a:t> </a:t>
            </a:r>
            <a:r>
              <a:rPr lang="en-US" dirty="0" err="1"/>
              <a:t>Arrastar</a:t>
            </a:r>
            <a:r>
              <a:rPr lang="en-US" dirty="0"/>
              <a:t> a </a:t>
            </a:r>
            <a:r>
              <a:rPr lang="en-US" dirty="0" err="1"/>
              <a:t>partir</a:t>
            </a:r>
            <a:r>
              <a:rPr lang="en-US" dirty="0"/>
              <a:t> do </a:t>
            </a:r>
            <a:r>
              <a:rPr lang="en-US" dirty="0" err="1"/>
              <a:t>ponto</a:t>
            </a:r>
            <a:r>
              <a:rPr lang="en-US" dirty="0"/>
              <a:t> </a:t>
            </a:r>
            <a:r>
              <a:rPr lang="en-US" dirty="0" err="1"/>
              <a:t>onde</a:t>
            </a:r>
            <a:r>
              <a:rPr lang="en-US" dirty="0"/>
              <a:t>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ser</a:t>
            </a:r>
            <a:r>
              <a:rPr lang="en-US" dirty="0"/>
              <a:t> </a:t>
            </a:r>
            <a:r>
              <a:rPr lang="en-US" dirty="0" err="1"/>
              <a:t>inserido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removido</a:t>
            </a:r>
            <a:r>
              <a:rPr lang="en-US" dirty="0"/>
              <a:t> o </a:t>
            </a:r>
            <a:r>
              <a:rPr lang="en-US" dirty="0" err="1"/>
              <a:t>espaço</a:t>
            </a:r>
            <a:r>
              <a:rPr lang="en-US" dirty="0"/>
              <a:t> </a:t>
            </a:r>
            <a:r>
              <a:rPr lang="en-US" dirty="0" err="1"/>
              <a:t>desejado</a:t>
            </a:r>
            <a:endParaRPr 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838" y="3933056"/>
            <a:ext cx="6918325" cy="247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8791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8" name="TextBox 5"/>
          <p:cNvSpPr txBox="1">
            <a:spLocks noChangeArrowheads="1"/>
          </p:cNvSpPr>
          <p:nvPr/>
        </p:nvSpPr>
        <p:spPr bwMode="auto">
          <a:xfrm>
            <a:off x="539750" y="1025525"/>
            <a:ext cx="8280400" cy="561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98" tIns="45699" rIns="91398" bIns="45699">
            <a:spAutoFit/>
          </a:bodyPr>
          <a:lstStyle>
            <a:lvl1pPr algn="l" defTabSz="758825">
              <a:defRPr>
                <a:solidFill>
                  <a:schemeClr val="tx1"/>
                </a:solidFill>
                <a:latin typeface="Arial" charset="0"/>
              </a:defRPr>
            </a:lvl1pPr>
            <a:lvl2pPr marL="187325" algn="l" defTabSz="758825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algn="l" defTabSz="758825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algn="l" defTabSz="758825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algn="l" defTabSz="758825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dirty="0" err="1"/>
              <a:t>Representa</a:t>
            </a:r>
            <a:r>
              <a:rPr lang="en-US" dirty="0"/>
              <a:t> u</a:t>
            </a:r>
            <a:r>
              <a:rPr lang="de-DE" dirty="0"/>
              <a:t>m relacionamento entre dois objetos.</a:t>
            </a:r>
          </a:p>
          <a:p>
            <a:pPr>
              <a:spcBef>
                <a:spcPct val="20000"/>
              </a:spcBef>
            </a:pPr>
            <a:r>
              <a:rPr lang="de-DE" dirty="0"/>
              <a:t>A Conexão sempre vai de um objeto origem a um objeto destino.</a:t>
            </a:r>
          </a:p>
          <a:p>
            <a:pPr>
              <a:spcBef>
                <a:spcPct val="20000"/>
              </a:spcBef>
            </a:pPr>
            <a:endParaRPr lang="de-DE" sz="800" dirty="0"/>
          </a:p>
          <a:p>
            <a:pPr>
              <a:spcBef>
                <a:spcPct val="20000"/>
              </a:spcBef>
            </a:pPr>
            <a:r>
              <a:rPr lang="de-DE" dirty="0"/>
              <a:t>Para  inserir uma conexão, deve-se proceder da seguinte forma:</a:t>
            </a:r>
          </a:p>
          <a:p>
            <a:pPr>
              <a:spcBef>
                <a:spcPct val="20000"/>
              </a:spcBef>
            </a:pPr>
            <a:endParaRPr lang="de-DE" dirty="0"/>
          </a:p>
          <a:p>
            <a:pPr>
              <a:spcBef>
                <a:spcPct val="20000"/>
              </a:spcBef>
            </a:pPr>
            <a:r>
              <a:rPr lang="de-DE" u="sng" dirty="0"/>
              <a:t>Opção 1</a:t>
            </a:r>
          </a:p>
          <a:p>
            <a:pPr>
              <a:spcBef>
                <a:spcPct val="20000"/>
              </a:spcBef>
              <a:buFont typeface="Sydnie" pitchFamily="2" charset="0"/>
              <a:buAutoNum type="arabicPeriod"/>
            </a:pPr>
            <a:r>
              <a:rPr lang="de-DE" dirty="0"/>
              <a:t> Ativar o modo de conexão pelo botão             da barra de ferramentas.</a:t>
            </a:r>
          </a:p>
          <a:p>
            <a:pPr>
              <a:spcBef>
                <a:spcPct val="20000"/>
              </a:spcBef>
              <a:buFont typeface="Sydnie" pitchFamily="2" charset="0"/>
              <a:buAutoNum type="arabicPeriod"/>
            </a:pPr>
            <a:r>
              <a:rPr lang="de-DE" dirty="0"/>
              <a:t> Estando o modo de conexão ativado, posicionar a flecha do mouse na borda do objeto origem e em seguida aparecerá o ponto de âncora         .       </a:t>
            </a:r>
          </a:p>
          <a:p>
            <a:pPr>
              <a:spcBef>
                <a:spcPct val="20000"/>
              </a:spcBef>
              <a:buFont typeface="Sydnie" pitchFamily="2" charset="0"/>
              <a:buAutoNum type="arabicPeriod"/>
            </a:pPr>
            <a:r>
              <a:rPr lang="de-DE" dirty="0"/>
              <a:t> Clicar com o botão esquerdo do mouse.</a:t>
            </a:r>
          </a:p>
          <a:p>
            <a:pPr>
              <a:spcBef>
                <a:spcPct val="20000"/>
              </a:spcBef>
              <a:buFont typeface="Sydnie" pitchFamily="2" charset="0"/>
              <a:buAutoNum type="arabicPeriod"/>
            </a:pPr>
            <a:r>
              <a:rPr lang="de-DE" dirty="0"/>
              <a:t> Posicionar a flecha do mouse na borda do objeto destino até aparecer o ponto de âncora        .</a:t>
            </a:r>
          </a:p>
          <a:p>
            <a:pPr>
              <a:spcBef>
                <a:spcPct val="20000"/>
              </a:spcBef>
              <a:buFont typeface="Sydnie" pitchFamily="2" charset="0"/>
              <a:buAutoNum type="arabicPeriod"/>
            </a:pPr>
            <a:r>
              <a:rPr lang="de-DE" dirty="0"/>
              <a:t> Clicar com o botão esquerdo do mouse.</a:t>
            </a:r>
          </a:p>
          <a:p>
            <a:pPr lvl="1" indent="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</a:pPr>
            <a:endParaRPr lang="de-DE" dirty="0"/>
          </a:p>
          <a:p>
            <a:pPr lvl="1" indent="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</a:pPr>
            <a:endParaRPr lang="de-DE" dirty="0"/>
          </a:p>
          <a:p>
            <a:pPr lvl="1" indent="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</a:pPr>
            <a:endParaRPr lang="de-DE" sz="1000" dirty="0"/>
          </a:p>
          <a:p>
            <a:pPr lvl="1" indent="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</a:pPr>
            <a:endParaRPr lang="de-DE" dirty="0"/>
          </a:p>
          <a:p>
            <a:pPr lvl="1" indent="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</a:pPr>
            <a:endParaRPr lang="de-DE" dirty="0"/>
          </a:p>
          <a:p>
            <a:pPr lvl="1" indent="0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</a:pPr>
            <a:r>
              <a:rPr lang="de-DE" sz="1200" dirty="0"/>
              <a:t>  * Clicando com o botão direito, cancela-se a conexão iniciada. </a:t>
            </a:r>
            <a:endParaRPr lang="en-US" sz="1200" dirty="0"/>
          </a:p>
        </p:txBody>
      </p:sp>
      <p:sp>
        <p:nvSpPr>
          <p:cNvPr id="179202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Objetos – Conexões</a:t>
            </a:r>
          </a:p>
        </p:txBody>
      </p:sp>
      <p:sp>
        <p:nvSpPr>
          <p:cNvPr id="179203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pic>
        <p:nvPicPr>
          <p:cNvPr id="179209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938" y="2636838"/>
            <a:ext cx="504825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79210" name="Group 10"/>
          <p:cNvGrpSpPr>
            <a:grpSpLocks/>
          </p:cNvGrpSpPr>
          <p:nvPr/>
        </p:nvGrpSpPr>
        <p:grpSpPr bwMode="auto">
          <a:xfrm>
            <a:off x="6877050" y="3500438"/>
            <a:ext cx="287338" cy="215900"/>
            <a:chOff x="1701" y="1162"/>
            <a:chExt cx="354" cy="272"/>
          </a:xfrm>
        </p:grpSpPr>
        <p:sp>
          <p:nvSpPr>
            <p:cNvPr id="179211" name="Line 11"/>
            <p:cNvSpPr>
              <a:spLocks noChangeShapeType="1"/>
            </p:cNvSpPr>
            <p:nvPr/>
          </p:nvSpPr>
          <p:spPr bwMode="auto">
            <a:xfrm flipH="1">
              <a:off x="1701" y="1232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9212" name="Line 12"/>
            <p:cNvSpPr>
              <a:spLocks noChangeShapeType="1"/>
            </p:cNvSpPr>
            <p:nvPr/>
          </p:nvSpPr>
          <p:spPr bwMode="auto">
            <a:xfrm>
              <a:off x="1768" y="1162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9213" name="Rectangle 13"/>
            <p:cNvSpPr>
              <a:spLocks noChangeArrowheads="1"/>
            </p:cNvSpPr>
            <p:nvPr/>
          </p:nvSpPr>
          <p:spPr bwMode="auto">
            <a:xfrm>
              <a:off x="1728" y="1191"/>
              <a:ext cx="79" cy="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179214" name="Group 14"/>
            <p:cNvGrpSpPr>
              <a:grpSpLocks/>
            </p:cNvGrpSpPr>
            <p:nvPr/>
          </p:nvGrpSpPr>
          <p:grpSpPr bwMode="auto">
            <a:xfrm>
              <a:off x="1829" y="1298"/>
              <a:ext cx="226" cy="136"/>
              <a:chOff x="1837" y="1298"/>
              <a:chExt cx="226" cy="136"/>
            </a:xfrm>
          </p:grpSpPr>
          <p:sp>
            <p:nvSpPr>
              <p:cNvPr id="179215" name="Oval 15"/>
              <p:cNvSpPr>
                <a:spLocks noChangeArrowheads="1"/>
              </p:cNvSpPr>
              <p:nvPr/>
            </p:nvSpPr>
            <p:spPr bwMode="auto">
              <a:xfrm>
                <a:off x="1837" y="1298"/>
                <a:ext cx="84" cy="8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79216" name="Oval 16"/>
              <p:cNvSpPr>
                <a:spLocks noChangeArrowheads="1"/>
              </p:cNvSpPr>
              <p:nvPr/>
            </p:nvSpPr>
            <p:spPr bwMode="auto">
              <a:xfrm>
                <a:off x="1979" y="1347"/>
                <a:ext cx="84" cy="8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cxnSp>
            <p:nvCxnSpPr>
              <p:cNvPr id="179217" name="AutoShape 17"/>
              <p:cNvCxnSpPr>
                <a:cxnSpLocks noChangeShapeType="1"/>
                <a:stCxn id="179215" idx="6"/>
                <a:endCxn id="179216" idx="2"/>
              </p:cNvCxnSpPr>
              <p:nvPr/>
            </p:nvCxnSpPr>
            <p:spPr bwMode="auto">
              <a:xfrm>
                <a:off x="1921" y="1342"/>
                <a:ext cx="58" cy="48"/>
              </a:xfrm>
              <a:prstGeom prst="bentConnector3">
                <a:avLst>
                  <a:gd name="adj1" fmla="val 49843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179218" name="Group 18"/>
          <p:cNvGrpSpPr>
            <a:grpSpLocks/>
          </p:cNvGrpSpPr>
          <p:nvPr/>
        </p:nvGrpSpPr>
        <p:grpSpPr bwMode="auto">
          <a:xfrm>
            <a:off x="2365375" y="4462463"/>
            <a:ext cx="287338" cy="215900"/>
            <a:chOff x="1701" y="1162"/>
            <a:chExt cx="354" cy="272"/>
          </a:xfrm>
        </p:grpSpPr>
        <p:sp>
          <p:nvSpPr>
            <p:cNvPr id="179219" name="Line 19"/>
            <p:cNvSpPr>
              <a:spLocks noChangeShapeType="1"/>
            </p:cNvSpPr>
            <p:nvPr/>
          </p:nvSpPr>
          <p:spPr bwMode="auto">
            <a:xfrm flipH="1">
              <a:off x="1701" y="1232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9220" name="Line 20"/>
            <p:cNvSpPr>
              <a:spLocks noChangeShapeType="1"/>
            </p:cNvSpPr>
            <p:nvPr/>
          </p:nvSpPr>
          <p:spPr bwMode="auto">
            <a:xfrm>
              <a:off x="1768" y="1162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9221" name="Rectangle 21"/>
            <p:cNvSpPr>
              <a:spLocks noChangeArrowheads="1"/>
            </p:cNvSpPr>
            <p:nvPr/>
          </p:nvSpPr>
          <p:spPr bwMode="auto">
            <a:xfrm>
              <a:off x="1728" y="1191"/>
              <a:ext cx="79" cy="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179222" name="Group 22"/>
            <p:cNvGrpSpPr>
              <a:grpSpLocks/>
            </p:cNvGrpSpPr>
            <p:nvPr/>
          </p:nvGrpSpPr>
          <p:grpSpPr bwMode="auto">
            <a:xfrm>
              <a:off x="1829" y="1298"/>
              <a:ext cx="226" cy="136"/>
              <a:chOff x="1837" y="1298"/>
              <a:chExt cx="226" cy="136"/>
            </a:xfrm>
          </p:grpSpPr>
          <p:sp>
            <p:nvSpPr>
              <p:cNvPr id="179223" name="Oval 23"/>
              <p:cNvSpPr>
                <a:spLocks noChangeArrowheads="1"/>
              </p:cNvSpPr>
              <p:nvPr/>
            </p:nvSpPr>
            <p:spPr bwMode="auto">
              <a:xfrm>
                <a:off x="1837" y="1298"/>
                <a:ext cx="84" cy="8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79224" name="Oval 24"/>
              <p:cNvSpPr>
                <a:spLocks noChangeArrowheads="1"/>
              </p:cNvSpPr>
              <p:nvPr/>
            </p:nvSpPr>
            <p:spPr bwMode="auto">
              <a:xfrm>
                <a:off x="1979" y="1347"/>
                <a:ext cx="84" cy="8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cxnSp>
            <p:nvCxnSpPr>
              <p:cNvPr id="179225" name="AutoShape 25"/>
              <p:cNvCxnSpPr>
                <a:cxnSpLocks noChangeShapeType="1"/>
                <a:stCxn id="179223" idx="6"/>
                <a:endCxn id="179224" idx="2"/>
              </p:cNvCxnSpPr>
              <p:nvPr/>
            </p:nvCxnSpPr>
            <p:spPr bwMode="auto">
              <a:xfrm>
                <a:off x="1921" y="1342"/>
                <a:ext cx="58" cy="48"/>
              </a:xfrm>
              <a:prstGeom prst="bentConnector3">
                <a:avLst>
                  <a:gd name="adj1" fmla="val 49843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330" y="5229200"/>
            <a:ext cx="3178175" cy="98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516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TextBox 5"/>
          <p:cNvSpPr txBox="1">
            <a:spLocks noChangeArrowheads="1"/>
          </p:cNvSpPr>
          <p:nvPr/>
        </p:nvSpPr>
        <p:spPr bwMode="auto">
          <a:xfrm>
            <a:off x="539750" y="3571875"/>
            <a:ext cx="8280400" cy="288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98" tIns="45699" rIns="91398" bIns="45699">
            <a:spAutoFit/>
          </a:bodyPr>
          <a:lstStyle>
            <a:lvl1pPr marL="342900" indent="-342900" algn="l" defTabSz="758825">
              <a:defRPr>
                <a:solidFill>
                  <a:schemeClr val="tx1"/>
                </a:solidFill>
                <a:latin typeface="Arial" charset="0"/>
              </a:defRPr>
            </a:lvl1pPr>
            <a:lvl2pPr marL="530225" indent="-342900" algn="l" defTabSz="758825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algn="l" defTabSz="758825">
              <a:defRPr>
                <a:solidFill>
                  <a:schemeClr val="tx1"/>
                </a:solidFill>
                <a:latin typeface="Arial" charset="0"/>
              </a:defRPr>
            </a:lvl3pPr>
            <a:lvl4pPr marL="1714500" indent="-342900" algn="l" defTabSz="758825">
              <a:defRPr>
                <a:solidFill>
                  <a:schemeClr val="tx1"/>
                </a:solidFill>
                <a:latin typeface="Arial" charset="0"/>
              </a:defRPr>
            </a:lvl4pPr>
            <a:lvl5pPr marL="2171700" indent="-342900" algn="l" defTabSz="758825">
              <a:defRPr>
                <a:solidFill>
                  <a:schemeClr val="tx1"/>
                </a:solidFill>
                <a:latin typeface="Arial" charset="0"/>
              </a:defRPr>
            </a:lvl5pPr>
            <a:lvl6pPr marL="26289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61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433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005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  <a:buFontTx/>
              <a:buAutoNum type="arabicPeriod"/>
            </a:pPr>
            <a:r>
              <a:rPr lang="de-DE"/>
              <a:t>Clicar em </a:t>
            </a:r>
          </a:p>
          <a:p>
            <a:pPr>
              <a:spcBef>
                <a:spcPct val="20000"/>
              </a:spcBef>
              <a:buFontTx/>
              <a:buAutoNum type="arabicPeriod"/>
            </a:pPr>
            <a:r>
              <a:rPr lang="de-DE"/>
              <a:t>Posicionar a flecha do mouse na borda do objeto destino até aparecer o ponto de âncora        .</a:t>
            </a:r>
          </a:p>
          <a:p>
            <a:pPr>
              <a:spcBef>
                <a:spcPct val="20000"/>
              </a:spcBef>
              <a:buFont typeface="Sydnie" pitchFamily="2" charset="0"/>
              <a:buAutoNum type="arabicPeriod"/>
            </a:pPr>
            <a:r>
              <a:rPr lang="de-DE"/>
              <a:t> Clicar com o botão esquerdo do mouse.</a:t>
            </a:r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</a:pPr>
            <a:endParaRPr lang="de-DE"/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</a:pPr>
            <a:endParaRPr lang="de-DE"/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</a:pPr>
            <a:endParaRPr lang="de-DE" sz="1000"/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</a:pPr>
            <a:endParaRPr lang="de-DE"/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</a:pPr>
            <a:endParaRPr lang="de-DE"/>
          </a:p>
          <a:p>
            <a:pPr lvl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</a:pPr>
            <a:r>
              <a:rPr lang="de-DE" sz="1200"/>
              <a:t>  * Clicando com o botão direito, cancela-se a conexão iniciada. </a:t>
            </a:r>
            <a:endParaRPr lang="en-US" sz="1200"/>
          </a:p>
        </p:txBody>
      </p:sp>
      <p:sp>
        <p:nvSpPr>
          <p:cNvPr id="180227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Objetos – Conexões</a:t>
            </a:r>
          </a:p>
        </p:txBody>
      </p:sp>
      <p:sp>
        <p:nvSpPr>
          <p:cNvPr id="180228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80248" name="TextBox 5"/>
          <p:cNvSpPr txBox="1">
            <a:spLocks noChangeArrowheads="1"/>
          </p:cNvSpPr>
          <p:nvPr/>
        </p:nvSpPr>
        <p:spPr bwMode="auto">
          <a:xfrm>
            <a:off x="360363" y="981075"/>
            <a:ext cx="8280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98" tIns="45699" rIns="91398" bIns="45699">
            <a:spAutoFit/>
          </a:bodyPr>
          <a:lstStyle>
            <a:lvl1pPr algn="l" defTabSz="758825">
              <a:defRPr>
                <a:solidFill>
                  <a:schemeClr val="tx1"/>
                </a:solidFill>
                <a:latin typeface="Arial" charset="0"/>
              </a:defRPr>
            </a:lvl1pPr>
            <a:lvl2pPr marL="187325" algn="l" defTabSz="758825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algn="l" defTabSz="758825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algn="l" defTabSz="758825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algn="l" defTabSz="758825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u="sng"/>
              <a:t>Opção 2:</a:t>
            </a:r>
          </a:p>
        </p:txBody>
      </p:sp>
      <p:pic>
        <p:nvPicPr>
          <p:cNvPr id="180249" name="Picture 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3573463"/>
            <a:ext cx="32385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80252" name="Group 28"/>
          <p:cNvGrpSpPr>
            <a:grpSpLocks/>
          </p:cNvGrpSpPr>
          <p:nvPr/>
        </p:nvGrpSpPr>
        <p:grpSpPr bwMode="auto">
          <a:xfrm>
            <a:off x="2713038" y="4259263"/>
            <a:ext cx="287337" cy="215900"/>
            <a:chOff x="1701" y="1162"/>
            <a:chExt cx="354" cy="272"/>
          </a:xfrm>
        </p:grpSpPr>
        <p:sp>
          <p:nvSpPr>
            <p:cNvPr id="180253" name="Line 29"/>
            <p:cNvSpPr>
              <a:spLocks noChangeShapeType="1"/>
            </p:cNvSpPr>
            <p:nvPr/>
          </p:nvSpPr>
          <p:spPr bwMode="auto">
            <a:xfrm flipH="1">
              <a:off x="1701" y="1232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0254" name="Line 30"/>
            <p:cNvSpPr>
              <a:spLocks noChangeShapeType="1"/>
            </p:cNvSpPr>
            <p:nvPr/>
          </p:nvSpPr>
          <p:spPr bwMode="auto">
            <a:xfrm>
              <a:off x="1768" y="1162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0255" name="Rectangle 31"/>
            <p:cNvSpPr>
              <a:spLocks noChangeArrowheads="1"/>
            </p:cNvSpPr>
            <p:nvPr/>
          </p:nvSpPr>
          <p:spPr bwMode="auto">
            <a:xfrm>
              <a:off x="1728" y="1191"/>
              <a:ext cx="79" cy="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180256" name="Group 32"/>
            <p:cNvGrpSpPr>
              <a:grpSpLocks/>
            </p:cNvGrpSpPr>
            <p:nvPr/>
          </p:nvGrpSpPr>
          <p:grpSpPr bwMode="auto">
            <a:xfrm>
              <a:off x="1829" y="1298"/>
              <a:ext cx="226" cy="136"/>
              <a:chOff x="1837" y="1298"/>
              <a:chExt cx="226" cy="136"/>
            </a:xfrm>
          </p:grpSpPr>
          <p:sp>
            <p:nvSpPr>
              <p:cNvPr id="180257" name="Oval 33"/>
              <p:cNvSpPr>
                <a:spLocks noChangeArrowheads="1"/>
              </p:cNvSpPr>
              <p:nvPr/>
            </p:nvSpPr>
            <p:spPr bwMode="auto">
              <a:xfrm>
                <a:off x="1837" y="1298"/>
                <a:ext cx="84" cy="87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80258" name="Oval 34"/>
              <p:cNvSpPr>
                <a:spLocks noChangeArrowheads="1"/>
              </p:cNvSpPr>
              <p:nvPr/>
            </p:nvSpPr>
            <p:spPr bwMode="auto">
              <a:xfrm>
                <a:off x="1979" y="1347"/>
                <a:ext cx="84" cy="8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cxnSp>
            <p:nvCxnSpPr>
              <p:cNvPr id="180259" name="AutoShape 35"/>
              <p:cNvCxnSpPr>
                <a:cxnSpLocks noChangeShapeType="1"/>
                <a:stCxn id="180257" idx="6"/>
                <a:endCxn id="180258" idx="2"/>
              </p:cNvCxnSpPr>
              <p:nvPr/>
            </p:nvCxnSpPr>
            <p:spPr bwMode="auto">
              <a:xfrm>
                <a:off x="1921" y="1342"/>
                <a:ext cx="58" cy="48"/>
              </a:xfrm>
              <a:prstGeom prst="bentConnector3">
                <a:avLst>
                  <a:gd name="adj1" fmla="val 49843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700808"/>
            <a:ext cx="8572500" cy="150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9908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5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Atributos</a:t>
            </a:r>
          </a:p>
        </p:txBody>
      </p:sp>
      <p:sp>
        <p:nvSpPr>
          <p:cNvPr id="182276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82280" name="TextBox 5"/>
          <p:cNvSpPr txBox="1">
            <a:spLocks noChangeArrowheads="1"/>
          </p:cNvSpPr>
          <p:nvPr/>
        </p:nvSpPr>
        <p:spPr bwMode="auto">
          <a:xfrm>
            <a:off x="539750" y="981075"/>
            <a:ext cx="80645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98" tIns="45699" rIns="91398" bIns="45699">
            <a:spAutoFit/>
          </a:bodyPr>
          <a:lstStyle>
            <a:lvl1pPr algn="l" defTabSz="758825">
              <a:defRPr>
                <a:solidFill>
                  <a:schemeClr val="tx1"/>
                </a:solidFill>
                <a:latin typeface="Arial" charset="0"/>
              </a:defRPr>
            </a:lvl1pPr>
            <a:lvl2pPr marL="749300" indent="-342900" algn="l" defTabSz="758825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algn="l" defTabSz="758825">
              <a:defRPr>
                <a:solidFill>
                  <a:schemeClr val="tx1"/>
                </a:solidFill>
                <a:latin typeface="Arial" charset="0"/>
              </a:defRPr>
            </a:lvl3pPr>
            <a:lvl4pPr marL="1714500" indent="-342900" algn="l" defTabSz="758825">
              <a:defRPr>
                <a:solidFill>
                  <a:schemeClr val="tx1"/>
                </a:solidFill>
                <a:latin typeface="Arial" charset="0"/>
              </a:defRPr>
            </a:lvl4pPr>
            <a:lvl5pPr marL="2171700" indent="-342900" algn="l" defTabSz="758825">
              <a:defRPr>
                <a:solidFill>
                  <a:schemeClr val="tx1"/>
                </a:solidFill>
                <a:latin typeface="Arial" charset="0"/>
              </a:defRPr>
            </a:lvl5pPr>
            <a:lvl6pPr marL="26289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61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433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005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  <a:buFont typeface="Sydnie" pitchFamily="2" charset="0"/>
              <a:buNone/>
            </a:pPr>
            <a:r>
              <a:rPr lang="en-US" sz="2400"/>
              <a:t>Atributos de objetos, modelos e conexões dão informações adicionais sobre os mesmos.</a:t>
            </a:r>
          </a:p>
        </p:txBody>
      </p:sp>
    </p:spTree>
    <p:extLst>
      <p:ext uri="{BB962C8B-B14F-4D97-AF65-F5344CB8AC3E}">
        <p14:creationId xmlns:p14="http://schemas.microsoft.com/office/powerpoint/2010/main" val="4170707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5" name="TextBox 5"/>
          <p:cNvSpPr txBox="1">
            <a:spLocks noChangeArrowheads="1"/>
          </p:cNvSpPr>
          <p:nvPr/>
        </p:nvSpPr>
        <p:spPr bwMode="auto">
          <a:xfrm>
            <a:off x="684213" y="4868863"/>
            <a:ext cx="7637462" cy="1357312"/>
          </a:xfrm>
          <a:prstGeom prst="rect">
            <a:avLst/>
          </a:prstGeom>
          <a:noFill/>
          <a:ln>
            <a:noFill/>
          </a:ln>
        </p:spPr>
        <p:txBody>
          <a:bodyPr lIns="91398" tIns="45699" rIns="91398" bIns="45699">
            <a:spAutoFit/>
          </a:bodyPr>
          <a:lstStyle>
            <a:lvl1pPr algn="l" defTabSz="758825">
              <a:defRPr>
                <a:solidFill>
                  <a:schemeClr val="tx1"/>
                </a:solidFill>
                <a:latin typeface="Arial" charset="0"/>
              </a:defRPr>
            </a:lvl1pPr>
            <a:lvl2pPr marL="749300" indent="-342900" algn="l" defTabSz="758825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algn="l" defTabSz="758825">
              <a:defRPr>
                <a:solidFill>
                  <a:schemeClr val="tx1"/>
                </a:solidFill>
                <a:latin typeface="Arial" charset="0"/>
              </a:defRPr>
            </a:lvl3pPr>
            <a:lvl4pPr marL="1714500" indent="-342900" algn="l" defTabSz="758825">
              <a:defRPr>
                <a:solidFill>
                  <a:schemeClr val="tx1"/>
                </a:solidFill>
                <a:latin typeface="Arial" charset="0"/>
              </a:defRPr>
            </a:lvl4pPr>
            <a:lvl5pPr marL="2171700" indent="-342900" algn="l" defTabSz="758825">
              <a:defRPr>
                <a:solidFill>
                  <a:schemeClr val="tx1"/>
                </a:solidFill>
                <a:latin typeface="Arial" charset="0"/>
              </a:defRPr>
            </a:lvl5pPr>
            <a:lvl6pPr marL="26289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61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433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005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de-DE" dirty="0"/>
              <a:t>Para visualizar os atributos deve-se proceder da seguinte forma:</a:t>
            </a:r>
          </a:p>
          <a:p>
            <a:pPr>
              <a:spcBef>
                <a:spcPct val="20000"/>
              </a:spcBef>
              <a:buClr>
                <a:srgbClr val="003366"/>
              </a:buClr>
            </a:pPr>
            <a:endParaRPr lang="de-DE" dirty="0"/>
          </a:p>
          <a:p>
            <a:pPr lvl="1">
              <a:spcBef>
                <a:spcPct val="20000"/>
              </a:spcBef>
              <a:buClr>
                <a:schemeClr val="tx1"/>
              </a:buClr>
              <a:buFont typeface="Sydnie" pitchFamily="2" charset="0"/>
              <a:buAutoNum type="arabicPeriod"/>
            </a:pPr>
            <a:r>
              <a:rPr lang="de-DE" dirty="0"/>
              <a:t>Na barra de ferramentas clicar </a:t>
            </a:r>
            <a:r>
              <a:rPr lang="de-DE" dirty="0" smtClean="0"/>
              <a:t>em  </a:t>
            </a:r>
            <a:endParaRPr lang="de-DE" dirty="0"/>
          </a:p>
          <a:p>
            <a:pPr lvl="1">
              <a:spcBef>
                <a:spcPct val="20000"/>
              </a:spcBef>
              <a:buClr>
                <a:schemeClr val="tx1"/>
              </a:buClr>
              <a:buFont typeface="Sydnie" pitchFamily="2" charset="0"/>
              <a:buAutoNum type="arabicPeriod"/>
            </a:pPr>
            <a:r>
              <a:rPr lang="de-DE" dirty="0"/>
              <a:t>Inserir o atributo do modelo na área de modelagem</a:t>
            </a:r>
          </a:p>
        </p:txBody>
      </p:sp>
      <p:sp>
        <p:nvSpPr>
          <p:cNvPr id="189442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Inserção de atributos – Modelos</a:t>
            </a:r>
          </a:p>
        </p:txBody>
      </p:sp>
      <p:sp>
        <p:nvSpPr>
          <p:cNvPr id="189443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5" y="5547519"/>
            <a:ext cx="461654" cy="329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57" y="932655"/>
            <a:ext cx="7154863" cy="371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3240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1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Inserção de atributos – Modelos</a:t>
            </a:r>
          </a:p>
        </p:txBody>
      </p:sp>
      <p:sp>
        <p:nvSpPr>
          <p:cNvPr id="191492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91503" name="TextBox 5"/>
          <p:cNvSpPr txBox="1">
            <a:spLocks noChangeArrowheads="1"/>
          </p:cNvSpPr>
          <p:nvPr/>
        </p:nvSpPr>
        <p:spPr bwMode="auto">
          <a:xfrm>
            <a:off x="576263" y="5641975"/>
            <a:ext cx="7164387" cy="1027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98" tIns="45699" rIns="91398" bIns="45699">
            <a:spAutoFit/>
          </a:bodyPr>
          <a:lstStyle>
            <a:lvl1pPr marL="342900" indent="-342900" algn="l" defTabSz="758825">
              <a:defRPr>
                <a:solidFill>
                  <a:schemeClr val="tx1"/>
                </a:solidFill>
                <a:latin typeface="Arial" charset="0"/>
              </a:defRPr>
            </a:lvl1pPr>
            <a:lvl2pPr marL="533400" indent="-342900" algn="l" defTabSz="758825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algn="l" defTabSz="758825">
              <a:defRPr>
                <a:solidFill>
                  <a:schemeClr val="tx1"/>
                </a:solidFill>
                <a:latin typeface="Arial" charset="0"/>
              </a:defRPr>
            </a:lvl3pPr>
            <a:lvl4pPr marL="1714500" indent="-342900" algn="l" defTabSz="758825">
              <a:defRPr>
                <a:solidFill>
                  <a:schemeClr val="tx1"/>
                </a:solidFill>
                <a:latin typeface="Arial" charset="0"/>
              </a:defRPr>
            </a:lvl4pPr>
            <a:lvl5pPr marL="2171700" indent="-342900" algn="l" defTabSz="758825">
              <a:defRPr>
                <a:solidFill>
                  <a:schemeClr val="tx1"/>
                </a:solidFill>
                <a:latin typeface="Arial" charset="0"/>
              </a:defRPr>
            </a:lvl5pPr>
            <a:lvl6pPr marL="26289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61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433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005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Font typeface="Sydnie" pitchFamily="2" charset="0"/>
              <a:buAutoNum type="arabicPeriod" startAt="3"/>
            </a:pPr>
            <a:r>
              <a:rPr lang="en-US"/>
              <a:t>Em seguida aparecerá a tela acima</a:t>
            </a:r>
          </a:p>
          <a:p>
            <a:pPr lvl="1">
              <a:spcBef>
                <a:spcPct val="20000"/>
              </a:spcBef>
              <a:buClr>
                <a:schemeClr val="tx1"/>
              </a:buClr>
              <a:buFont typeface="Sydnie" pitchFamily="2" charset="0"/>
              <a:buAutoNum type="arabicPeriod" startAt="3"/>
            </a:pPr>
            <a:r>
              <a:rPr lang="en-US"/>
              <a:t>Selecionar o atributo a ser exibido</a:t>
            </a:r>
          </a:p>
          <a:p>
            <a:pPr lvl="1">
              <a:spcBef>
                <a:spcPct val="20000"/>
              </a:spcBef>
              <a:buClr>
                <a:schemeClr val="tx1"/>
              </a:buClr>
              <a:buFont typeface="Sydnie" pitchFamily="2" charset="0"/>
              <a:buAutoNum type="arabicPeriod" startAt="3"/>
            </a:pPr>
            <a:r>
              <a:rPr lang="en-US"/>
              <a:t>Clicar em OK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25" y="908720"/>
            <a:ext cx="7345363" cy="443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132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Exclusão de atributos – Modelos</a:t>
            </a:r>
          </a:p>
        </p:txBody>
      </p:sp>
      <p:sp>
        <p:nvSpPr>
          <p:cNvPr id="192515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92531" name="TextBox 5"/>
          <p:cNvSpPr txBox="1">
            <a:spLocks noChangeArrowheads="1"/>
          </p:cNvSpPr>
          <p:nvPr/>
        </p:nvSpPr>
        <p:spPr bwMode="auto">
          <a:xfrm>
            <a:off x="3779838" y="1125538"/>
            <a:ext cx="4968875" cy="3557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98" tIns="45699" rIns="91398" bIns="45699">
            <a:spAutoFit/>
          </a:bodyPr>
          <a:lstStyle>
            <a:lvl1pPr marL="342900" indent="-342900" algn="l" defTabSz="758825">
              <a:defRPr>
                <a:solidFill>
                  <a:schemeClr val="tx1"/>
                </a:solidFill>
                <a:latin typeface="Arial" charset="0"/>
              </a:defRPr>
            </a:lvl1pPr>
            <a:lvl2pPr marL="749300" indent="-292100" algn="l" defTabSz="758825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algn="l" defTabSz="758825">
              <a:defRPr>
                <a:solidFill>
                  <a:schemeClr val="tx1"/>
                </a:solidFill>
                <a:latin typeface="Arial" charset="0"/>
              </a:defRPr>
            </a:lvl3pPr>
            <a:lvl4pPr marL="1714500" indent="-342900" algn="l" defTabSz="758825">
              <a:defRPr>
                <a:solidFill>
                  <a:schemeClr val="tx1"/>
                </a:solidFill>
                <a:latin typeface="Arial" charset="0"/>
              </a:defRPr>
            </a:lvl4pPr>
            <a:lvl5pPr marL="2171700" indent="-342900" algn="l" defTabSz="758825">
              <a:defRPr>
                <a:solidFill>
                  <a:schemeClr val="tx1"/>
                </a:solidFill>
                <a:latin typeface="Arial" charset="0"/>
              </a:defRPr>
            </a:lvl5pPr>
            <a:lvl6pPr marL="26289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61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433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005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de-DE" u="sng"/>
              <a:t>Opção 1</a:t>
            </a:r>
          </a:p>
          <a:p>
            <a:pPr>
              <a:spcBef>
                <a:spcPct val="20000"/>
              </a:spcBef>
              <a:buClr>
                <a:srgbClr val="003366"/>
              </a:buClr>
            </a:pPr>
            <a:endParaRPr lang="de-DE" u="sng"/>
          </a:p>
          <a:p>
            <a:pPr>
              <a:spcBef>
                <a:spcPct val="20000"/>
              </a:spcBef>
              <a:buClr>
                <a:srgbClr val="003366"/>
              </a:buClr>
              <a:buFontTx/>
              <a:buAutoNum type="arabicPeriod"/>
            </a:pPr>
            <a:r>
              <a:rPr lang="de-DE"/>
              <a:t>Clicar em cima do atributo com o botão “Delete“ do teclado</a:t>
            </a:r>
          </a:p>
          <a:p>
            <a:pPr>
              <a:spcBef>
                <a:spcPct val="20000"/>
              </a:spcBef>
              <a:buClr>
                <a:srgbClr val="003366"/>
              </a:buClr>
            </a:pPr>
            <a:endParaRPr lang="de-DE"/>
          </a:p>
          <a:p>
            <a:pPr>
              <a:spcBef>
                <a:spcPct val="20000"/>
              </a:spcBef>
              <a:buClr>
                <a:srgbClr val="003366"/>
              </a:buClr>
            </a:pPr>
            <a:endParaRPr lang="de-DE"/>
          </a:p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de-DE" u="sng"/>
              <a:t>Opção 2</a:t>
            </a:r>
          </a:p>
          <a:p>
            <a:pPr>
              <a:spcBef>
                <a:spcPct val="20000"/>
              </a:spcBef>
              <a:buClr>
                <a:srgbClr val="003366"/>
              </a:buClr>
            </a:pPr>
            <a:endParaRPr lang="de-DE" u="sng"/>
          </a:p>
          <a:p>
            <a:pPr>
              <a:spcBef>
                <a:spcPct val="20000"/>
              </a:spcBef>
              <a:buClr>
                <a:schemeClr val="tx1"/>
              </a:buClr>
              <a:buFont typeface="Sydnie" pitchFamily="2" charset="0"/>
              <a:buAutoNum type="arabicPeriod"/>
            </a:pPr>
            <a:r>
              <a:rPr lang="de-DE"/>
              <a:t>Clicar com botão direito do mouse em cima do atributo</a:t>
            </a:r>
          </a:p>
          <a:p>
            <a:pPr>
              <a:spcBef>
                <a:spcPct val="20000"/>
              </a:spcBef>
              <a:buClr>
                <a:schemeClr val="tx1"/>
              </a:buClr>
              <a:buFont typeface="Sydnie" pitchFamily="2" charset="0"/>
              <a:buAutoNum type="arabicPeriod"/>
            </a:pPr>
            <a:r>
              <a:rPr lang="de-DE"/>
              <a:t>Selecionar a opção “Delete“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444188"/>
            <a:ext cx="3009900" cy="3306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7706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Inserção de atributos – Objetos e Conexões</a:t>
            </a:r>
          </a:p>
        </p:txBody>
      </p:sp>
      <p:sp>
        <p:nvSpPr>
          <p:cNvPr id="190467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90469" name="TextBox 5"/>
          <p:cNvSpPr txBox="1">
            <a:spLocks noChangeArrowheads="1"/>
          </p:cNvSpPr>
          <p:nvPr/>
        </p:nvSpPr>
        <p:spPr bwMode="auto">
          <a:xfrm>
            <a:off x="4140200" y="1898650"/>
            <a:ext cx="4181475" cy="2455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98" tIns="45699" rIns="91398" bIns="45699">
            <a:spAutoFit/>
          </a:bodyPr>
          <a:lstStyle>
            <a:lvl1pPr algn="l" defTabSz="758825">
              <a:defRPr>
                <a:solidFill>
                  <a:schemeClr val="tx1"/>
                </a:solidFill>
                <a:latin typeface="Arial" charset="0"/>
              </a:defRPr>
            </a:lvl1pPr>
            <a:lvl2pPr marL="749300" indent="-342900" algn="l" defTabSz="758825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algn="l" defTabSz="758825">
              <a:defRPr>
                <a:solidFill>
                  <a:schemeClr val="tx1"/>
                </a:solidFill>
                <a:latin typeface="Arial" charset="0"/>
              </a:defRPr>
            </a:lvl3pPr>
            <a:lvl4pPr marL="1714500" indent="-342900" algn="l" defTabSz="758825">
              <a:defRPr>
                <a:solidFill>
                  <a:schemeClr val="tx1"/>
                </a:solidFill>
                <a:latin typeface="Arial" charset="0"/>
              </a:defRPr>
            </a:lvl4pPr>
            <a:lvl5pPr marL="2171700" indent="-342900" algn="l" defTabSz="758825">
              <a:defRPr>
                <a:solidFill>
                  <a:schemeClr val="tx1"/>
                </a:solidFill>
                <a:latin typeface="Arial" charset="0"/>
              </a:defRPr>
            </a:lvl5pPr>
            <a:lvl6pPr marL="26289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61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433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005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de-DE"/>
              <a:t>Para visualizar os atributos deve-se proceder da seguinte forma:</a:t>
            </a:r>
          </a:p>
          <a:p>
            <a:pPr>
              <a:spcBef>
                <a:spcPct val="20000"/>
              </a:spcBef>
              <a:buClr>
                <a:srgbClr val="003366"/>
              </a:buClr>
            </a:pPr>
            <a:endParaRPr lang="de-DE"/>
          </a:p>
          <a:p>
            <a:pPr lvl="1">
              <a:spcBef>
                <a:spcPct val="20000"/>
              </a:spcBef>
              <a:buClr>
                <a:schemeClr val="tx1"/>
              </a:buClr>
              <a:buFont typeface="Sydnie" pitchFamily="2" charset="0"/>
              <a:buAutoNum type="arabicPeriod"/>
            </a:pPr>
            <a:r>
              <a:rPr lang="de-DE"/>
              <a:t>Clicar com o botão direito do mouse sobre o objeto/modelo/conexão.</a:t>
            </a:r>
          </a:p>
          <a:p>
            <a:pPr lvl="1">
              <a:spcBef>
                <a:spcPct val="20000"/>
              </a:spcBef>
              <a:buClr>
                <a:schemeClr val="tx1"/>
              </a:buClr>
              <a:buFont typeface="Sydnie" pitchFamily="2" charset="0"/>
              <a:buAutoNum type="arabicPeriod"/>
            </a:pPr>
            <a:r>
              <a:rPr lang="de-DE"/>
              <a:t>Selecionar a opção “Properties...“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8" y="1308099"/>
            <a:ext cx="2759075" cy="425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202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TextBox 5"/>
          <p:cNvSpPr txBox="1">
            <a:spLocks noChangeArrowheads="1"/>
          </p:cNvSpPr>
          <p:nvPr/>
        </p:nvSpPr>
        <p:spPr bwMode="auto">
          <a:xfrm>
            <a:off x="684213" y="5516563"/>
            <a:ext cx="5111750" cy="10271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98" tIns="45699" rIns="91398" bIns="45699">
            <a:spAutoFit/>
          </a:bodyPr>
          <a:lstStyle>
            <a:lvl1pPr marL="342900" indent="-342900" algn="l" defTabSz="758825">
              <a:defRPr>
                <a:solidFill>
                  <a:schemeClr val="tx1"/>
                </a:solidFill>
                <a:latin typeface="Arial" charset="0"/>
              </a:defRPr>
            </a:lvl1pPr>
            <a:lvl2pPr marL="749300" indent="-342900" algn="l" defTabSz="758825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algn="l" defTabSz="758825">
              <a:defRPr>
                <a:solidFill>
                  <a:schemeClr val="tx1"/>
                </a:solidFill>
                <a:latin typeface="Arial" charset="0"/>
              </a:defRPr>
            </a:lvl3pPr>
            <a:lvl4pPr marL="1714500" indent="-342900" algn="l" defTabSz="758825">
              <a:defRPr>
                <a:solidFill>
                  <a:schemeClr val="tx1"/>
                </a:solidFill>
                <a:latin typeface="Arial" charset="0"/>
              </a:defRPr>
            </a:lvl4pPr>
            <a:lvl5pPr marL="2171700" indent="-342900" algn="l" defTabSz="758825">
              <a:defRPr>
                <a:solidFill>
                  <a:schemeClr val="tx1"/>
                </a:solidFill>
                <a:latin typeface="Arial" charset="0"/>
              </a:defRPr>
            </a:lvl5pPr>
            <a:lvl6pPr marL="26289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61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433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005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  <a:buFont typeface="Sydnie" pitchFamily="2" charset="0"/>
              <a:buNone/>
            </a:pPr>
            <a:r>
              <a:rPr lang="en-US"/>
              <a:t>3. Em seguida aparecerá a tela acima</a:t>
            </a:r>
          </a:p>
          <a:p>
            <a:pPr>
              <a:spcBef>
                <a:spcPct val="20000"/>
              </a:spcBef>
              <a:buFont typeface="Sydnie" pitchFamily="2" charset="0"/>
              <a:buNone/>
            </a:pPr>
            <a:r>
              <a:rPr lang="en-US"/>
              <a:t>4. </a:t>
            </a:r>
            <a:r>
              <a:rPr lang="de-DE"/>
              <a:t>Selecionar o atributo a ser editado e digitar</a:t>
            </a:r>
          </a:p>
          <a:p>
            <a:pPr>
              <a:spcBef>
                <a:spcPct val="20000"/>
              </a:spcBef>
              <a:buFont typeface="Sydnie" pitchFamily="2" charset="0"/>
              <a:buNone/>
            </a:pPr>
            <a:r>
              <a:rPr lang="de-DE"/>
              <a:t>5. Clicar em OK.</a:t>
            </a:r>
            <a:endParaRPr lang="en-US"/>
          </a:p>
        </p:txBody>
      </p:sp>
      <p:sp>
        <p:nvSpPr>
          <p:cNvPr id="181251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Inserção de atributos – Objetos e Conexões</a:t>
            </a:r>
          </a:p>
        </p:txBody>
      </p:sp>
      <p:sp>
        <p:nvSpPr>
          <p:cNvPr id="181252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047" y="847700"/>
            <a:ext cx="7878763" cy="438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4653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085" y="1962944"/>
            <a:ext cx="4708525" cy="429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4324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Exibição de atributos – Objetos e Conexões</a:t>
            </a:r>
          </a:p>
        </p:txBody>
      </p:sp>
      <p:sp>
        <p:nvSpPr>
          <p:cNvPr id="184325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84332" name="TextBox 5"/>
          <p:cNvSpPr txBox="1">
            <a:spLocks noChangeArrowheads="1"/>
          </p:cNvSpPr>
          <p:nvPr/>
        </p:nvSpPr>
        <p:spPr bwMode="auto">
          <a:xfrm>
            <a:off x="395288" y="1025525"/>
            <a:ext cx="8280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98" tIns="45699" rIns="91398" bIns="45699">
            <a:spAutoFit/>
          </a:bodyPr>
          <a:lstStyle>
            <a:lvl1pPr algn="l" defTabSz="758825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algn="l" defTabSz="758825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algn="l" defTabSz="758825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algn="l" defTabSz="758825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algn="l" defTabSz="758825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/>
              <a:t>Permite a exibição dos atributos do objeto e sua localização na área de modelagem e alinhamento.</a:t>
            </a:r>
            <a:endParaRPr lang="de-DE"/>
          </a:p>
        </p:txBody>
      </p:sp>
      <p:sp>
        <p:nvSpPr>
          <p:cNvPr id="184334" name="TextBox 5"/>
          <p:cNvSpPr txBox="1">
            <a:spLocks noChangeArrowheads="1"/>
          </p:cNvSpPr>
          <p:nvPr/>
        </p:nvSpPr>
        <p:spPr bwMode="auto">
          <a:xfrm>
            <a:off x="4356100" y="2205038"/>
            <a:ext cx="4464050" cy="190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98" tIns="45699" rIns="91398" bIns="45699">
            <a:spAutoFit/>
          </a:bodyPr>
          <a:lstStyle>
            <a:lvl1pPr marL="342900" indent="-342900" algn="l" defTabSz="758825">
              <a:defRPr>
                <a:solidFill>
                  <a:schemeClr val="tx1"/>
                </a:solidFill>
                <a:latin typeface="Arial" charset="0"/>
              </a:defRPr>
            </a:lvl1pPr>
            <a:lvl2pPr marL="749300" indent="-342900" algn="l" defTabSz="758825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algn="l" defTabSz="758825">
              <a:defRPr>
                <a:solidFill>
                  <a:schemeClr val="tx1"/>
                </a:solidFill>
                <a:latin typeface="Arial" charset="0"/>
              </a:defRPr>
            </a:lvl3pPr>
            <a:lvl4pPr marL="1714500" indent="-342900" algn="l" defTabSz="758825">
              <a:defRPr>
                <a:solidFill>
                  <a:schemeClr val="tx1"/>
                </a:solidFill>
                <a:latin typeface="Arial" charset="0"/>
              </a:defRPr>
            </a:lvl4pPr>
            <a:lvl5pPr marL="2171700" indent="-342900" algn="l" defTabSz="758825">
              <a:defRPr>
                <a:solidFill>
                  <a:schemeClr val="tx1"/>
                </a:solidFill>
                <a:latin typeface="Arial" charset="0"/>
              </a:defRPr>
            </a:lvl5pPr>
            <a:lvl6pPr marL="26289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61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433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005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  <a:buClr>
                <a:srgbClr val="003366"/>
              </a:buClr>
            </a:pPr>
            <a:r>
              <a:rPr lang="de-DE"/>
              <a:t>Para exibir os atributos deve-se proceder da seguinte forma:</a:t>
            </a:r>
          </a:p>
          <a:p>
            <a:pPr lvl="1">
              <a:spcBef>
                <a:spcPct val="20000"/>
              </a:spcBef>
              <a:buClr>
                <a:srgbClr val="003366"/>
              </a:buClr>
              <a:buFont typeface="Sydnie" pitchFamily="2" charset="0"/>
              <a:buNone/>
            </a:pPr>
            <a:endParaRPr lang="de-DE"/>
          </a:p>
          <a:p>
            <a:pPr lvl="1">
              <a:spcBef>
                <a:spcPct val="20000"/>
              </a:spcBef>
              <a:buClr>
                <a:schemeClr val="tx1"/>
              </a:buClr>
              <a:buFont typeface="Sydnie" pitchFamily="2" charset="0"/>
              <a:buAutoNum type="arabicPeriod"/>
            </a:pPr>
            <a:r>
              <a:rPr lang="de-DE"/>
              <a:t>Clicar com o botão direito do mouse sobre o objeto</a:t>
            </a:r>
          </a:p>
          <a:p>
            <a:pPr lvl="1">
              <a:spcBef>
                <a:spcPct val="20000"/>
              </a:spcBef>
              <a:buClr>
                <a:schemeClr val="tx1"/>
              </a:buClr>
              <a:buFont typeface="Sydnie" pitchFamily="2" charset="0"/>
              <a:buAutoNum type="arabicPeriod"/>
            </a:pPr>
            <a:r>
              <a:rPr lang="de-DE"/>
              <a:t>Selecionar a opção </a:t>
            </a:r>
            <a:r>
              <a:rPr lang="en-US"/>
              <a:t>“Properties”</a:t>
            </a:r>
          </a:p>
        </p:txBody>
      </p:sp>
    </p:spTree>
    <p:extLst>
      <p:ext uri="{BB962C8B-B14F-4D97-AF65-F5344CB8AC3E}">
        <p14:creationId xmlns:p14="http://schemas.microsoft.com/office/powerpoint/2010/main" val="1200690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Exibição de atributos – Objetos e Conexões</a:t>
            </a:r>
          </a:p>
        </p:txBody>
      </p:sp>
      <p:sp>
        <p:nvSpPr>
          <p:cNvPr id="185347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85353" name="TextBox 5"/>
          <p:cNvSpPr txBox="1">
            <a:spLocks noChangeArrowheads="1"/>
          </p:cNvSpPr>
          <p:nvPr/>
        </p:nvSpPr>
        <p:spPr bwMode="auto">
          <a:xfrm>
            <a:off x="576263" y="4652963"/>
            <a:ext cx="7164387" cy="2017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98" tIns="45699" rIns="91398" bIns="45699">
            <a:spAutoFit/>
          </a:bodyPr>
          <a:lstStyle>
            <a:lvl1pPr marL="342900" indent="-342900" algn="l" defTabSz="758825">
              <a:defRPr>
                <a:solidFill>
                  <a:schemeClr val="tx1"/>
                </a:solidFill>
                <a:latin typeface="Arial" charset="0"/>
              </a:defRPr>
            </a:lvl1pPr>
            <a:lvl2pPr marL="533400" indent="-342900" algn="l" defTabSz="758825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algn="l" defTabSz="758825">
              <a:defRPr>
                <a:solidFill>
                  <a:schemeClr val="tx1"/>
                </a:solidFill>
                <a:latin typeface="Arial" charset="0"/>
              </a:defRPr>
            </a:lvl3pPr>
            <a:lvl4pPr marL="1714500" indent="-342900" algn="l" defTabSz="758825">
              <a:defRPr>
                <a:solidFill>
                  <a:schemeClr val="tx1"/>
                </a:solidFill>
                <a:latin typeface="Arial" charset="0"/>
              </a:defRPr>
            </a:lvl4pPr>
            <a:lvl5pPr marL="2171700" indent="-342900" algn="l" defTabSz="758825">
              <a:defRPr>
                <a:solidFill>
                  <a:schemeClr val="tx1"/>
                </a:solidFill>
                <a:latin typeface="Arial" charset="0"/>
              </a:defRPr>
            </a:lvl5pPr>
            <a:lvl6pPr marL="26289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61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433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005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Font typeface="Sydnie" pitchFamily="2" charset="0"/>
              <a:buAutoNum type="arabicPeriod" startAt="3"/>
            </a:pPr>
            <a:r>
              <a:rPr lang="en-US"/>
              <a:t>Selecionar a opção “Format”</a:t>
            </a:r>
          </a:p>
          <a:p>
            <a:pPr lvl="1">
              <a:spcBef>
                <a:spcPct val="20000"/>
              </a:spcBef>
              <a:buClr>
                <a:schemeClr val="tx1"/>
              </a:buClr>
              <a:buFont typeface="Sydnie" pitchFamily="2" charset="0"/>
              <a:buAutoNum type="arabicPeriod" startAt="3"/>
            </a:pPr>
            <a:r>
              <a:rPr lang="en-US"/>
              <a:t>Selecionar a opção “Attribute placement”</a:t>
            </a:r>
          </a:p>
          <a:p>
            <a:pPr lvl="1">
              <a:spcBef>
                <a:spcPct val="20000"/>
              </a:spcBef>
              <a:buClr>
                <a:schemeClr val="tx1"/>
              </a:buClr>
              <a:buFont typeface="Sydnie" pitchFamily="2" charset="0"/>
              <a:buAutoNum type="arabicPeriod" startAt="3"/>
            </a:pPr>
            <a:r>
              <a:rPr lang="en-US"/>
              <a:t>Clicar em “Add”</a:t>
            </a:r>
          </a:p>
          <a:p>
            <a:pPr lvl="1">
              <a:spcBef>
                <a:spcPct val="20000"/>
              </a:spcBef>
              <a:buClr>
                <a:schemeClr val="tx1"/>
              </a:buClr>
              <a:buFont typeface="Sydnie" pitchFamily="2" charset="0"/>
              <a:buAutoNum type="arabicPeriod" startAt="3"/>
            </a:pPr>
            <a:r>
              <a:rPr lang="en-US"/>
              <a:t>Selecionar o atributo a ser adicionado</a:t>
            </a:r>
          </a:p>
          <a:p>
            <a:pPr lvl="1">
              <a:spcBef>
                <a:spcPct val="20000"/>
              </a:spcBef>
              <a:buClr>
                <a:schemeClr val="tx1"/>
              </a:buClr>
              <a:buFont typeface="Sydnie" pitchFamily="2" charset="0"/>
              <a:buAutoNum type="arabicPeriod" startAt="3"/>
            </a:pPr>
            <a:r>
              <a:rPr lang="en-US"/>
              <a:t>Clicar em OK</a:t>
            </a:r>
          </a:p>
          <a:p>
            <a:pPr lvl="1">
              <a:spcBef>
                <a:spcPct val="20000"/>
              </a:spcBef>
              <a:buClr>
                <a:schemeClr val="tx1"/>
              </a:buClr>
              <a:buFont typeface="Sydnie" pitchFamily="2" charset="0"/>
              <a:buAutoNum type="arabicPeriod" startAt="3"/>
            </a:pPr>
            <a:r>
              <a:rPr lang="en-US"/>
              <a:t>Definir em qual lado do símbolo será exibido</a:t>
            </a:r>
            <a:endParaRPr lang="de-DE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977503"/>
            <a:ext cx="9067800" cy="360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9412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5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Exclusão de atributos – Objetos e Conexões</a:t>
            </a:r>
          </a:p>
        </p:txBody>
      </p:sp>
      <p:sp>
        <p:nvSpPr>
          <p:cNvPr id="187396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87417" name="TextBox 5"/>
          <p:cNvSpPr txBox="1">
            <a:spLocks noChangeArrowheads="1"/>
          </p:cNvSpPr>
          <p:nvPr/>
        </p:nvSpPr>
        <p:spPr bwMode="auto">
          <a:xfrm>
            <a:off x="576263" y="4652963"/>
            <a:ext cx="7164387" cy="2017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98" tIns="45699" rIns="91398" bIns="45699">
            <a:spAutoFit/>
          </a:bodyPr>
          <a:lstStyle>
            <a:lvl1pPr marL="342900" indent="-342900" algn="l" defTabSz="758825">
              <a:defRPr>
                <a:solidFill>
                  <a:schemeClr val="tx1"/>
                </a:solidFill>
                <a:latin typeface="Arial" charset="0"/>
              </a:defRPr>
            </a:lvl1pPr>
            <a:lvl2pPr marL="533400" indent="-342900" algn="l" defTabSz="758825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algn="l" defTabSz="758825">
              <a:defRPr>
                <a:solidFill>
                  <a:schemeClr val="tx1"/>
                </a:solidFill>
                <a:latin typeface="Arial" charset="0"/>
              </a:defRPr>
            </a:lvl3pPr>
            <a:lvl4pPr marL="1714500" indent="-342900" algn="l" defTabSz="758825">
              <a:defRPr>
                <a:solidFill>
                  <a:schemeClr val="tx1"/>
                </a:solidFill>
                <a:latin typeface="Arial" charset="0"/>
              </a:defRPr>
            </a:lvl4pPr>
            <a:lvl5pPr marL="2171700" indent="-342900" algn="l" defTabSz="758825">
              <a:defRPr>
                <a:solidFill>
                  <a:schemeClr val="tx1"/>
                </a:solidFill>
                <a:latin typeface="Arial" charset="0"/>
              </a:defRPr>
            </a:lvl5pPr>
            <a:lvl6pPr marL="26289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61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433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005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Font typeface="Sydnie" pitchFamily="2" charset="0"/>
              <a:buAutoNum type="arabicPeriod"/>
            </a:pPr>
            <a:r>
              <a:rPr lang="de-DE"/>
              <a:t>Clicar com o botão direito do mouse sobre o objeto</a:t>
            </a:r>
            <a:endParaRPr lang="en-US"/>
          </a:p>
          <a:p>
            <a:pPr lvl="1">
              <a:spcBef>
                <a:spcPct val="20000"/>
              </a:spcBef>
              <a:buClr>
                <a:schemeClr val="tx1"/>
              </a:buClr>
              <a:buFont typeface="Sydnie" pitchFamily="2" charset="0"/>
              <a:buAutoNum type="arabicPeriod"/>
            </a:pPr>
            <a:r>
              <a:rPr lang="de-DE"/>
              <a:t>Selecionar a opção </a:t>
            </a:r>
            <a:r>
              <a:rPr lang="en-US"/>
              <a:t>“Properties”</a:t>
            </a:r>
          </a:p>
          <a:p>
            <a:pPr lvl="1">
              <a:spcBef>
                <a:spcPct val="20000"/>
              </a:spcBef>
              <a:buClr>
                <a:schemeClr val="tx1"/>
              </a:buClr>
              <a:buFont typeface="Sydnie" pitchFamily="2" charset="0"/>
              <a:buAutoNum type="arabicPeriod"/>
            </a:pPr>
            <a:r>
              <a:rPr lang="en-US"/>
              <a:t>Selecionar a opção “Format”</a:t>
            </a:r>
          </a:p>
          <a:p>
            <a:pPr lvl="1">
              <a:spcBef>
                <a:spcPct val="20000"/>
              </a:spcBef>
              <a:buClr>
                <a:schemeClr val="tx1"/>
              </a:buClr>
              <a:buFont typeface="Sydnie" pitchFamily="2" charset="0"/>
              <a:buAutoNum type="arabicPeriod"/>
            </a:pPr>
            <a:r>
              <a:rPr lang="en-US"/>
              <a:t>Selecionar a opção “Attribute placement”</a:t>
            </a:r>
          </a:p>
          <a:p>
            <a:pPr lvl="1">
              <a:spcBef>
                <a:spcPct val="20000"/>
              </a:spcBef>
              <a:buClr>
                <a:schemeClr val="tx1"/>
              </a:buClr>
              <a:buFont typeface="Sydnie" pitchFamily="2" charset="0"/>
              <a:buAutoNum type="arabicPeriod"/>
            </a:pPr>
            <a:r>
              <a:rPr lang="en-US"/>
              <a:t>Selecionar o atributo a ser removido</a:t>
            </a:r>
          </a:p>
          <a:p>
            <a:pPr lvl="1">
              <a:spcBef>
                <a:spcPct val="20000"/>
              </a:spcBef>
              <a:buClr>
                <a:schemeClr val="tx1"/>
              </a:buClr>
              <a:buFont typeface="Sydnie" pitchFamily="2" charset="0"/>
              <a:buAutoNum type="arabicPeriod"/>
            </a:pPr>
            <a:r>
              <a:rPr lang="en-US"/>
              <a:t>Clicar em “Remove”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3" y="833487"/>
            <a:ext cx="8855075" cy="360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1289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9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Aparência do objeto – Alteração do símbolo</a:t>
            </a:r>
          </a:p>
        </p:txBody>
      </p:sp>
      <p:sp>
        <p:nvSpPr>
          <p:cNvPr id="188420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88433" name="TextBox 5"/>
          <p:cNvSpPr txBox="1">
            <a:spLocks noChangeArrowheads="1"/>
          </p:cNvSpPr>
          <p:nvPr/>
        </p:nvSpPr>
        <p:spPr bwMode="auto">
          <a:xfrm>
            <a:off x="576263" y="4533900"/>
            <a:ext cx="7164387" cy="2017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398" tIns="45699" rIns="91398" bIns="45699">
            <a:spAutoFit/>
          </a:bodyPr>
          <a:lstStyle>
            <a:lvl1pPr marL="342900" indent="-342900" algn="l" defTabSz="758825">
              <a:defRPr>
                <a:solidFill>
                  <a:schemeClr val="tx1"/>
                </a:solidFill>
                <a:latin typeface="Arial" charset="0"/>
              </a:defRPr>
            </a:lvl1pPr>
            <a:lvl2pPr marL="533400" indent="-342900" algn="l" defTabSz="758825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algn="l" defTabSz="758825">
              <a:defRPr>
                <a:solidFill>
                  <a:schemeClr val="tx1"/>
                </a:solidFill>
                <a:latin typeface="Arial" charset="0"/>
              </a:defRPr>
            </a:lvl3pPr>
            <a:lvl4pPr marL="1714500" indent="-342900" algn="l" defTabSz="758825">
              <a:defRPr>
                <a:solidFill>
                  <a:schemeClr val="tx1"/>
                </a:solidFill>
                <a:latin typeface="Arial" charset="0"/>
              </a:defRPr>
            </a:lvl4pPr>
            <a:lvl5pPr marL="2171700" indent="-342900" algn="l" defTabSz="758825">
              <a:defRPr>
                <a:solidFill>
                  <a:schemeClr val="tx1"/>
                </a:solidFill>
                <a:latin typeface="Arial" charset="0"/>
              </a:defRPr>
            </a:lvl5pPr>
            <a:lvl6pPr marL="26289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30861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5433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4000500" indent="-342900" defTabSz="75882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Font typeface="Sydnie" pitchFamily="2" charset="0"/>
              <a:buAutoNum type="arabicPeriod"/>
            </a:pPr>
            <a:r>
              <a:rPr lang="de-DE"/>
              <a:t>Clicar com o botão direito do mouse sobre o objeto</a:t>
            </a:r>
            <a:endParaRPr lang="en-US"/>
          </a:p>
          <a:p>
            <a:pPr lvl="1">
              <a:spcBef>
                <a:spcPct val="20000"/>
              </a:spcBef>
              <a:buClr>
                <a:schemeClr val="tx1"/>
              </a:buClr>
              <a:buFont typeface="Sydnie" pitchFamily="2" charset="0"/>
              <a:buAutoNum type="arabicPeriod"/>
            </a:pPr>
            <a:r>
              <a:rPr lang="de-DE"/>
              <a:t>Selecionar a opção </a:t>
            </a:r>
            <a:r>
              <a:rPr lang="en-US"/>
              <a:t>“Properties”</a:t>
            </a:r>
          </a:p>
          <a:p>
            <a:pPr lvl="1">
              <a:spcBef>
                <a:spcPct val="20000"/>
              </a:spcBef>
              <a:buClr>
                <a:schemeClr val="tx1"/>
              </a:buClr>
              <a:buFont typeface="Sydnie" pitchFamily="2" charset="0"/>
              <a:buAutoNum type="arabicPeriod"/>
            </a:pPr>
            <a:r>
              <a:rPr lang="en-US"/>
              <a:t>Selecionar a opção “Format”</a:t>
            </a:r>
          </a:p>
          <a:p>
            <a:pPr lvl="1">
              <a:spcBef>
                <a:spcPct val="20000"/>
              </a:spcBef>
              <a:buClr>
                <a:schemeClr val="tx1"/>
              </a:buClr>
              <a:buFont typeface="Sydnie" pitchFamily="2" charset="0"/>
              <a:buAutoNum type="arabicPeriod"/>
            </a:pPr>
            <a:r>
              <a:rPr lang="en-US"/>
              <a:t>Selecionar a opção “Object appearance”</a:t>
            </a:r>
          </a:p>
          <a:p>
            <a:pPr lvl="1">
              <a:spcBef>
                <a:spcPct val="20000"/>
              </a:spcBef>
              <a:buClr>
                <a:schemeClr val="tx1"/>
              </a:buClr>
              <a:buFont typeface="Sydnie" pitchFamily="2" charset="0"/>
              <a:buAutoNum type="arabicPeriod"/>
            </a:pPr>
            <a:r>
              <a:rPr lang="en-US"/>
              <a:t>Selecionar o símbolo desejado</a:t>
            </a:r>
          </a:p>
          <a:p>
            <a:pPr lvl="1">
              <a:spcBef>
                <a:spcPct val="20000"/>
              </a:spcBef>
              <a:buClr>
                <a:schemeClr val="tx1"/>
              </a:buClr>
              <a:buFont typeface="Sydnie" pitchFamily="2" charset="0"/>
              <a:buAutoNum type="arabicPeriod"/>
            </a:pPr>
            <a:r>
              <a:rPr lang="en-US"/>
              <a:t>Clicar em OK</a:t>
            </a:r>
          </a:p>
        </p:txBody>
      </p:sp>
      <p:sp>
        <p:nvSpPr>
          <p:cNvPr id="188439" name="TextBox 19"/>
          <p:cNvSpPr txBox="1">
            <a:spLocks noChangeArrowheads="1"/>
          </p:cNvSpPr>
          <p:nvPr/>
        </p:nvSpPr>
        <p:spPr bwMode="auto">
          <a:xfrm>
            <a:off x="2195513" y="6607175"/>
            <a:ext cx="5184775" cy="2778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17" tIns="48359" rIns="96717" bIns="48359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algn="l" defTabSz="968375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algn="l" defTabSz="968375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algn="l" defTabSz="968375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algn="l" defTabSz="968375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sz="1200">
                <a:ea typeface="Geneva" charset="-128"/>
              </a:rPr>
              <a:t>* Só é permitido a troca de símbolos  por outros do mesmo tipo de objeto</a:t>
            </a:r>
            <a:endParaRPr lang="en-US" sz="900">
              <a:solidFill>
                <a:srgbClr val="002B5C"/>
              </a:solidFill>
              <a:ea typeface="Geneva" charset="-128"/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836712"/>
            <a:ext cx="8931275" cy="367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3183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Aparência do objeto – Alteração do símbolo</a:t>
            </a:r>
          </a:p>
        </p:txBody>
      </p:sp>
      <p:sp>
        <p:nvSpPr>
          <p:cNvPr id="194563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94579" name="TextBox 5"/>
          <p:cNvSpPr txBox="1">
            <a:spLocks noChangeArrowheads="1"/>
          </p:cNvSpPr>
          <p:nvPr/>
        </p:nvSpPr>
        <p:spPr bwMode="auto">
          <a:xfrm>
            <a:off x="790575" y="1301750"/>
            <a:ext cx="80152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17" tIns="48359" rIns="96717" bIns="48359">
            <a:spAutoFit/>
          </a:bodyPr>
          <a:lstStyle>
            <a:lvl1pPr algn="l" defTabSz="803275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algn="l" defTabSz="803275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algn="l" defTabSz="803275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algn="l" defTabSz="803275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algn="l" defTabSz="803275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803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803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803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803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>
                <a:ea typeface="Geneva" charset="-128"/>
              </a:rPr>
              <a:t>Permite apenas a troca de símbolo por outro do mesmo tipo de objeto.</a:t>
            </a:r>
            <a:endParaRPr lang="de-DE">
              <a:ea typeface="Geneva" charset="-128"/>
            </a:endParaRP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6288" y="2636912"/>
            <a:ext cx="5051425" cy="2887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5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>
                <a:solidFill>
                  <a:srgbClr val="002B5C"/>
                </a:solidFill>
              </a:rPr>
              <a:t>Objetos gráficos/textos auxiliares</a:t>
            </a:r>
          </a:p>
        </p:txBody>
      </p:sp>
      <p:sp>
        <p:nvSpPr>
          <p:cNvPr id="195587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95603" name="TextBox 4"/>
          <p:cNvSpPr txBox="1">
            <a:spLocks noChangeArrowheads="1"/>
          </p:cNvSpPr>
          <p:nvPr/>
        </p:nvSpPr>
        <p:spPr bwMode="auto">
          <a:xfrm>
            <a:off x="790575" y="1160463"/>
            <a:ext cx="7602538" cy="290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717" tIns="48359" rIns="96717" bIns="48359">
            <a:spAutoFit/>
          </a:bodyPr>
          <a:lstStyle>
            <a:lvl1pPr algn="l" defTabSz="968375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algn="l" defTabSz="968375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algn="l" defTabSz="968375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algn="l" defTabSz="968375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algn="l" defTabSz="968375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defTabSz="9683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>
                <a:ea typeface="Geneva" charset="-128"/>
              </a:rPr>
              <a:t>A inserção de objetos gráficos auxiliares/texto livre tem a finalidade de detalhar ou inserir notas de observação no modelo.</a:t>
            </a:r>
          </a:p>
          <a:p>
            <a:pPr>
              <a:spcBef>
                <a:spcPct val="20000"/>
              </a:spcBef>
            </a:pPr>
            <a:endParaRPr lang="en-US">
              <a:ea typeface="Geneva" charset="-128"/>
            </a:endParaRPr>
          </a:p>
          <a:p>
            <a:pPr>
              <a:spcBef>
                <a:spcPct val="20000"/>
              </a:spcBef>
            </a:pPr>
            <a:r>
              <a:rPr lang="en-US">
                <a:ea typeface="Geneva" charset="-128"/>
              </a:rPr>
              <a:t>Para inserir um objeto gráfico auxiliar/texto livre, deve-se proceder da seguinte forma:</a:t>
            </a:r>
          </a:p>
          <a:p>
            <a:pPr>
              <a:spcBef>
                <a:spcPct val="20000"/>
              </a:spcBef>
            </a:pPr>
            <a:endParaRPr lang="en-US">
              <a:ea typeface="Geneva" charset="-128"/>
            </a:endParaRPr>
          </a:p>
          <a:p>
            <a:pPr>
              <a:spcBef>
                <a:spcPct val="20000"/>
              </a:spcBef>
              <a:buFontTx/>
              <a:buAutoNum type="arabicPeriod"/>
            </a:pPr>
            <a:r>
              <a:rPr lang="en-US">
                <a:ea typeface="Geneva" charset="-128"/>
              </a:rPr>
              <a:t> Clicar em “Insert”</a:t>
            </a:r>
          </a:p>
          <a:p>
            <a:pPr>
              <a:spcBef>
                <a:spcPct val="20000"/>
              </a:spcBef>
              <a:buFontTx/>
              <a:buAutoNum type="arabicPeriod"/>
            </a:pPr>
            <a:r>
              <a:rPr lang="en-US">
                <a:ea typeface="Geneva" charset="-128"/>
              </a:rPr>
              <a:t> Clicar na opção desejada (gráfico auxiliar ou texto livre)</a:t>
            </a:r>
          </a:p>
          <a:p>
            <a:pPr>
              <a:spcBef>
                <a:spcPct val="20000"/>
              </a:spcBef>
              <a:buFontTx/>
              <a:buAutoNum type="arabicPeriod"/>
            </a:pPr>
            <a:r>
              <a:rPr lang="en-US">
                <a:ea typeface="Geneva" charset="-128"/>
              </a:rPr>
              <a:t> Clicar na área de modelagem</a:t>
            </a:r>
            <a:r>
              <a:rPr lang="en-US" sz="1700">
                <a:latin typeface="Tahoma" pitchFamily="34" charset="0"/>
                <a:ea typeface="Geneva" charset="-128"/>
              </a:rPr>
              <a:t> </a:t>
            </a:r>
            <a:endParaRPr lang="pt-BR" sz="1700">
              <a:latin typeface="Tahoma" pitchFamily="34" charset="0"/>
              <a:ea typeface="Geneva" charset="-128"/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2" y="4099074"/>
            <a:ext cx="8412163" cy="2354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334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9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 dirty="0" smtClean="0">
                <a:solidFill>
                  <a:srgbClr val="002B5C"/>
                </a:solidFill>
              </a:rPr>
              <a:t>Fragmentos</a:t>
            </a:r>
            <a:endParaRPr lang="pt-BR" sz="2600" b="1" dirty="0">
              <a:solidFill>
                <a:srgbClr val="002B5C"/>
              </a:solidFill>
            </a:endParaRPr>
          </a:p>
        </p:txBody>
      </p:sp>
      <p:sp>
        <p:nvSpPr>
          <p:cNvPr id="188420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85379" y="720725"/>
            <a:ext cx="849694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 err="1" smtClean="0"/>
              <a:t>Fragmentos</a:t>
            </a:r>
            <a:endParaRPr lang="en-US" sz="1200" b="1" dirty="0"/>
          </a:p>
          <a:p>
            <a:endParaRPr lang="en-US" sz="1200" dirty="0"/>
          </a:p>
          <a:p>
            <a:r>
              <a:rPr lang="pt-BR" sz="1200" dirty="0" smtClean="0"/>
              <a:t>Fragmentos </a:t>
            </a:r>
            <a:r>
              <a:rPr lang="pt-BR" sz="1200" dirty="0"/>
              <a:t>são blocos de modelagem </a:t>
            </a:r>
            <a:r>
              <a:rPr lang="pt-BR" sz="1200" dirty="0" err="1"/>
              <a:t>pré</a:t>
            </a:r>
            <a:r>
              <a:rPr lang="pt-BR" sz="1200" dirty="0"/>
              <a:t>-estruturados que podem ser reutilizados para acelerar a criação dos diagramas.</a:t>
            </a:r>
          </a:p>
          <a:p>
            <a:r>
              <a:rPr lang="pt-BR" sz="1200" dirty="0"/>
              <a:t>Alguns fragmentos padrão são disponibilizados, mas é possível criá-los de acordo com a necessidade.</a:t>
            </a:r>
          </a:p>
          <a:p>
            <a:r>
              <a:rPr lang="pt-BR" sz="1200" dirty="0"/>
              <a:t>Os fragmentos são disponibilizados no Painel fragmentos, localizado no canto inferior direito da tela</a:t>
            </a:r>
            <a:r>
              <a:rPr lang="pt-BR" sz="1200" dirty="0" smtClean="0"/>
              <a:t>.</a:t>
            </a:r>
          </a:p>
          <a:p>
            <a:r>
              <a:rPr lang="pt-BR" sz="1200" dirty="0" smtClean="0"/>
              <a:t>A seguir os passos necessários para criar um </a:t>
            </a:r>
            <a:r>
              <a:rPr lang="pt-BR" sz="1200" dirty="0" err="1" smtClean="0"/>
              <a:t>fragemento</a:t>
            </a:r>
            <a:r>
              <a:rPr lang="pt-BR" sz="1200" dirty="0" smtClean="0"/>
              <a:t>:</a:t>
            </a:r>
            <a:endParaRPr lang="pt-BR" sz="1200" dirty="0"/>
          </a:p>
          <a:p>
            <a:r>
              <a:rPr lang="pt-BR" sz="1200" dirty="0"/>
              <a:t> 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763" y="2235919"/>
            <a:ext cx="8626475" cy="428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96218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 dirty="0" smtClean="0">
                <a:solidFill>
                  <a:srgbClr val="002B5C"/>
                </a:solidFill>
              </a:rPr>
              <a:t>Fragmentos</a:t>
            </a:r>
            <a:endParaRPr lang="pt-BR" sz="2600" b="1" dirty="0">
              <a:solidFill>
                <a:srgbClr val="002B5C"/>
              </a:solidFill>
            </a:endParaRPr>
          </a:p>
        </p:txBody>
      </p:sp>
      <p:sp>
        <p:nvSpPr>
          <p:cNvPr id="194563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138321" y="5445224"/>
            <a:ext cx="882616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Os fragmentos são organizados em ordem alfabética no Painel </a:t>
            </a:r>
            <a:r>
              <a:rPr lang="pt-BR" sz="16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Fragmentos.</a:t>
            </a:r>
          </a:p>
          <a:p>
            <a:r>
              <a:rPr lang="pt-BR" sz="16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Para </a:t>
            </a:r>
            <a:r>
              <a:rPr lang="pt-BR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ordená-los conforme necessidade, recomendamos a inserção de números no início dos nomes a eles atribuídos. No exemplo acima, foi inserido 01 – antes do nome </a:t>
            </a:r>
            <a:r>
              <a:rPr lang="pt-BR" sz="16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Fluxo.</a:t>
            </a:r>
            <a:endParaRPr lang="pt-BR" sz="16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25" y="980728"/>
            <a:ext cx="8488363" cy="3856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9996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025550"/>
            <a:ext cx="8542337" cy="5211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6674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 dirty="0" smtClean="0">
                <a:solidFill>
                  <a:srgbClr val="002B5C"/>
                </a:solidFill>
              </a:rPr>
              <a:t>Exportação de Modelos</a:t>
            </a:r>
            <a:endParaRPr lang="pt-BR" sz="2600" b="1" dirty="0">
              <a:solidFill>
                <a:srgbClr val="002B5C"/>
              </a:solidFill>
            </a:endParaRPr>
          </a:p>
        </p:txBody>
      </p:sp>
      <p:sp>
        <p:nvSpPr>
          <p:cNvPr id="156675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56678" name="Text Box 6"/>
          <p:cNvSpPr txBox="1">
            <a:spLocks noChangeArrowheads="1"/>
          </p:cNvSpPr>
          <p:nvPr/>
        </p:nvSpPr>
        <p:spPr bwMode="auto">
          <a:xfrm>
            <a:off x="268785" y="2276872"/>
            <a:ext cx="7699544" cy="175432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defTabSz="914400"/>
            <a:r>
              <a:rPr lang="pt-BR" dirty="0" smtClean="0"/>
              <a:t>Para exportar o modelo como imagem clique em</a:t>
            </a:r>
          </a:p>
          <a:p>
            <a:pPr marL="0" indent="0" defTabSz="914400"/>
            <a:r>
              <a:rPr lang="pt-BR" dirty="0" smtClean="0"/>
              <a:t>Na próxima tela informe:</a:t>
            </a:r>
          </a:p>
          <a:p>
            <a:pPr defTabSz="914400">
              <a:buAutoNum type="arabicPeriod"/>
            </a:pPr>
            <a:r>
              <a:rPr lang="pt-BR" dirty="0" smtClean="0"/>
              <a:t>o local onde a imagem será criada</a:t>
            </a:r>
          </a:p>
          <a:p>
            <a:pPr defTabSz="914400">
              <a:buAutoNum type="arabicPeriod"/>
            </a:pPr>
            <a:r>
              <a:rPr lang="pt-BR" dirty="0" smtClean="0"/>
              <a:t>se o fundo será exportado</a:t>
            </a:r>
          </a:p>
          <a:p>
            <a:pPr defTabSz="914400">
              <a:buAutoNum type="arabicPeriod"/>
            </a:pPr>
            <a:r>
              <a:rPr lang="pt-BR" dirty="0"/>
              <a:t>s</a:t>
            </a:r>
            <a:r>
              <a:rPr lang="pt-BR" dirty="0" smtClean="0"/>
              <a:t>e todo o modelo será exportado ou somente os objetos selecionados</a:t>
            </a:r>
          </a:p>
          <a:p>
            <a:pPr defTabSz="914400">
              <a:buAutoNum type="arabicPeriod"/>
            </a:pPr>
            <a:r>
              <a:rPr lang="pt-BR" dirty="0"/>
              <a:t>c</a:t>
            </a:r>
            <a:r>
              <a:rPr lang="pt-BR" dirty="0" smtClean="0"/>
              <a:t>lique no botão OK para concluir</a:t>
            </a:r>
          </a:p>
        </p:txBody>
      </p:sp>
      <p:pic>
        <p:nvPicPr>
          <p:cNvPr id="14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85" t="5919" r="76506" b="91475"/>
          <a:stretch/>
        </p:blipFill>
        <p:spPr bwMode="auto">
          <a:xfrm>
            <a:off x="5336127" y="2276872"/>
            <a:ext cx="372875" cy="335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1535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1073298"/>
            <a:ext cx="8542337" cy="5380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6675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56678" name="Text Box 6"/>
          <p:cNvSpPr txBox="1">
            <a:spLocks noChangeArrowheads="1"/>
          </p:cNvSpPr>
          <p:nvPr/>
        </p:nvSpPr>
        <p:spPr bwMode="auto">
          <a:xfrm>
            <a:off x="268785" y="2276872"/>
            <a:ext cx="6917278" cy="14773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defTabSz="914400"/>
            <a:r>
              <a:rPr lang="pt-BR" dirty="0" smtClean="0"/>
              <a:t>Para exportar o modelo como imagem em formato PDF clique em</a:t>
            </a:r>
          </a:p>
          <a:p>
            <a:pPr marL="0" indent="0" defTabSz="914400"/>
            <a:r>
              <a:rPr lang="pt-BR" dirty="0" smtClean="0"/>
              <a:t>Na próxima tela informe:</a:t>
            </a:r>
          </a:p>
          <a:p>
            <a:pPr defTabSz="914400">
              <a:buAutoNum type="arabicPeriod"/>
            </a:pPr>
            <a:r>
              <a:rPr lang="pt-BR" dirty="0" smtClean="0"/>
              <a:t>o local onde a imagem será criada</a:t>
            </a:r>
          </a:p>
          <a:p>
            <a:pPr defTabSz="914400">
              <a:buAutoNum type="arabicPeriod"/>
            </a:pPr>
            <a:r>
              <a:rPr lang="pt-BR" dirty="0" smtClean="0"/>
              <a:t>o nome que dever ser atribuído ao arquivo gerado</a:t>
            </a:r>
          </a:p>
          <a:p>
            <a:pPr defTabSz="914400">
              <a:buAutoNum type="arabicPeriod"/>
            </a:pPr>
            <a:r>
              <a:rPr lang="pt-BR" dirty="0" smtClean="0"/>
              <a:t>clique no botão </a:t>
            </a:r>
            <a:r>
              <a:rPr lang="pt-BR" dirty="0" err="1" smtClean="0"/>
              <a:t>Save</a:t>
            </a:r>
            <a:r>
              <a:rPr lang="pt-BR" dirty="0" smtClean="0"/>
              <a:t> para concluir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0" t="5899" r="74874" b="91475"/>
          <a:stretch/>
        </p:blipFill>
        <p:spPr bwMode="auto">
          <a:xfrm>
            <a:off x="7098990" y="2264194"/>
            <a:ext cx="360040" cy="356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 dirty="0" smtClean="0">
                <a:solidFill>
                  <a:srgbClr val="002B5C"/>
                </a:solidFill>
              </a:rPr>
              <a:t>Exportação de Modelos</a:t>
            </a:r>
            <a:endParaRPr lang="pt-BR" sz="2600" b="1" dirty="0">
              <a:solidFill>
                <a:srgbClr val="002B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451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1009674"/>
            <a:ext cx="8542337" cy="5227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6675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56678" name="Text Box 6"/>
          <p:cNvSpPr txBox="1">
            <a:spLocks noChangeArrowheads="1"/>
          </p:cNvSpPr>
          <p:nvPr/>
        </p:nvSpPr>
        <p:spPr bwMode="auto">
          <a:xfrm>
            <a:off x="256111" y="2276872"/>
            <a:ext cx="6917278" cy="14773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defTabSz="914400"/>
            <a:r>
              <a:rPr lang="pt-BR" dirty="0" smtClean="0"/>
              <a:t>Para exportar informações do modelo em formato PDF clique em </a:t>
            </a:r>
          </a:p>
          <a:p>
            <a:pPr marL="0" indent="0" defTabSz="914400"/>
            <a:r>
              <a:rPr lang="pt-BR" dirty="0" smtClean="0"/>
              <a:t>Na próxima tela informe:</a:t>
            </a:r>
          </a:p>
          <a:p>
            <a:pPr defTabSz="914400">
              <a:buAutoNum type="arabicPeriod"/>
            </a:pPr>
            <a:r>
              <a:rPr lang="pt-BR" dirty="0" smtClean="0"/>
              <a:t>o local onde a o relatório será criado</a:t>
            </a:r>
          </a:p>
          <a:p>
            <a:pPr defTabSz="914400">
              <a:buAutoNum type="arabicPeriod"/>
            </a:pPr>
            <a:r>
              <a:rPr lang="pt-BR" dirty="0" smtClean="0"/>
              <a:t>nome a ser atribuído ao arquivo</a:t>
            </a:r>
          </a:p>
          <a:p>
            <a:pPr defTabSz="914400">
              <a:buAutoNum type="arabicPeriod"/>
            </a:pPr>
            <a:r>
              <a:rPr lang="pt-BR" dirty="0" smtClean="0"/>
              <a:t>Clique no botão </a:t>
            </a:r>
            <a:r>
              <a:rPr lang="pt-BR" dirty="0" err="1" smtClean="0"/>
              <a:t>Save</a:t>
            </a:r>
            <a:r>
              <a:rPr lang="pt-BR" dirty="0" smtClean="0"/>
              <a:t> para concluir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82" t="5760" r="73249" b="91475"/>
          <a:stretch/>
        </p:blipFill>
        <p:spPr bwMode="auto">
          <a:xfrm>
            <a:off x="7095331" y="2276872"/>
            <a:ext cx="288032" cy="338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 dirty="0" smtClean="0">
                <a:solidFill>
                  <a:srgbClr val="002B5C"/>
                </a:solidFill>
              </a:rPr>
              <a:t>Exportação de Modelos</a:t>
            </a:r>
            <a:endParaRPr lang="pt-BR" sz="2600" b="1" dirty="0">
              <a:solidFill>
                <a:srgbClr val="002B5C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5148064" y="5012156"/>
            <a:ext cx="33123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pt-BR" sz="1400" dirty="0" smtClean="0"/>
              <a:t>O arquivo gerado contém uma lista de todos os objetos  do modelo, com seus respectivos atributos preenchidos, além do gráfico do modelo.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866916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1031453"/>
            <a:ext cx="8542337" cy="534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6675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56678" name="Text Box 6"/>
          <p:cNvSpPr txBox="1">
            <a:spLocks noChangeArrowheads="1"/>
          </p:cNvSpPr>
          <p:nvPr/>
        </p:nvSpPr>
        <p:spPr bwMode="auto">
          <a:xfrm>
            <a:off x="268785" y="2276872"/>
            <a:ext cx="6900287" cy="147732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defTabSz="914400"/>
            <a:r>
              <a:rPr lang="pt-BR" dirty="0" smtClean="0"/>
              <a:t>Para exportar informações do modelo em formato RTF clique em </a:t>
            </a:r>
          </a:p>
          <a:p>
            <a:pPr marL="0" indent="0" defTabSz="914400"/>
            <a:r>
              <a:rPr lang="pt-BR" dirty="0" smtClean="0"/>
              <a:t>Na próxima tela informe:</a:t>
            </a:r>
          </a:p>
          <a:p>
            <a:pPr defTabSz="914400">
              <a:buAutoNum type="arabicPeriod"/>
            </a:pPr>
            <a:r>
              <a:rPr lang="pt-BR" dirty="0" smtClean="0"/>
              <a:t>o local onde a o relatório será criado</a:t>
            </a:r>
          </a:p>
          <a:p>
            <a:pPr defTabSz="914400">
              <a:buAutoNum type="arabicPeriod"/>
            </a:pPr>
            <a:r>
              <a:rPr lang="pt-BR" dirty="0" smtClean="0"/>
              <a:t>nome a ser atribuído ao arquivo</a:t>
            </a:r>
          </a:p>
          <a:p>
            <a:pPr defTabSz="914400">
              <a:buAutoNum type="arabicPeriod"/>
            </a:pPr>
            <a:r>
              <a:rPr lang="pt-BR" dirty="0" smtClean="0"/>
              <a:t>clique no botão </a:t>
            </a:r>
            <a:r>
              <a:rPr lang="pt-BR" dirty="0" err="1" smtClean="0"/>
              <a:t>Save</a:t>
            </a:r>
            <a:r>
              <a:rPr lang="pt-BR" dirty="0" smtClean="0"/>
              <a:t> para concluir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82" t="5760" r="73249" b="91475"/>
          <a:stretch/>
        </p:blipFill>
        <p:spPr bwMode="auto">
          <a:xfrm>
            <a:off x="7095331" y="2276872"/>
            <a:ext cx="288032" cy="3389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 dirty="0" smtClean="0">
                <a:solidFill>
                  <a:srgbClr val="002B5C"/>
                </a:solidFill>
              </a:rPr>
              <a:t>Exportação de Modelos</a:t>
            </a:r>
            <a:endParaRPr lang="pt-BR" sz="2600" b="1" dirty="0">
              <a:solidFill>
                <a:srgbClr val="002B5C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4932040" y="4867847"/>
            <a:ext cx="331236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pt-BR" sz="1400" dirty="0" smtClean="0"/>
              <a:t>O arquivo gerado contém uma lista de todos os objetos  do modelo, com seus respectivos atributos preenchidos, além do gráfico do modelo.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767146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852936"/>
            <a:ext cx="8686800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7698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 dirty="0" smtClean="0">
                <a:solidFill>
                  <a:srgbClr val="002B5C"/>
                </a:solidFill>
              </a:rPr>
              <a:t>SmartDesign</a:t>
            </a:r>
            <a:endParaRPr lang="pt-BR" sz="2600" b="1" dirty="0">
              <a:solidFill>
                <a:srgbClr val="002B5C"/>
              </a:solidFill>
            </a:endParaRPr>
          </a:p>
        </p:txBody>
      </p:sp>
      <p:sp>
        <p:nvSpPr>
          <p:cNvPr id="157699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31348" y="747390"/>
            <a:ext cx="8964488" cy="20313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defTabSz="914400"/>
            <a:r>
              <a:rPr lang="pt-BR" dirty="0" smtClean="0"/>
              <a:t>O SmartDesign é um recurso que permite que usuário insira em uma tabela informações sobre os objetos que farão parte do modelo.</a:t>
            </a:r>
          </a:p>
          <a:p>
            <a:pPr marL="0" indent="0" defTabSz="914400"/>
            <a:r>
              <a:rPr lang="pt-BR" dirty="0" smtClean="0"/>
              <a:t>Automaticamente, essas informações são convertidas em objetos já estruturados nos </a:t>
            </a:r>
          </a:p>
          <a:p>
            <a:pPr marL="0" indent="0" defTabSz="914400"/>
            <a:r>
              <a:rPr lang="pt-BR" dirty="0" smtClean="0"/>
              <a:t>diagramas.</a:t>
            </a:r>
          </a:p>
          <a:p>
            <a:pPr marL="0" indent="0" defTabSz="914400"/>
            <a:r>
              <a:rPr lang="pt-BR" dirty="0" smtClean="0"/>
              <a:t>Para inserir um SmartDesign, clique no botão</a:t>
            </a:r>
          </a:p>
          <a:p>
            <a:pPr marL="0" indent="0" defTabSz="914400"/>
            <a:r>
              <a:rPr lang="pt-BR" dirty="0" smtClean="0"/>
              <a:t>Para editar </a:t>
            </a:r>
            <a:r>
              <a:rPr lang="pt-BR" dirty="0"/>
              <a:t>um SmartDesign, </a:t>
            </a:r>
            <a:r>
              <a:rPr lang="pt-BR" dirty="0" smtClean="0"/>
              <a:t>selecione um objeto do modelo e clique </a:t>
            </a:r>
            <a:r>
              <a:rPr lang="pt-BR" dirty="0"/>
              <a:t>no botão</a:t>
            </a:r>
          </a:p>
          <a:p>
            <a:pPr marL="0" indent="0" defTabSz="914400"/>
            <a:endParaRPr lang="pt-BR" dirty="0" smtClean="0"/>
          </a:p>
        </p:txBody>
      </p:sp>
      <p:pic>
        <p:nvPicPr>
          <p:cNvPr id="8200" name="Picture 8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25" t="5970" r="38912" b="90730"/>
          <a:stretch/>
        </p:blipFill>
        <p:spPr bwMode="auto">
          <a:xfrm>
            <a:off x="4827812" y="1844824"/>
            <a:ext cx="237853" cy="249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1354765" y="6139984"/>
            <a:ext cx="52677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dirty="0" smtClean="0"/>
              <a:t>* Exemplo de diagrama criado utilizando o SmartDesign</a:t>
            </a:r>
            <a:endParaRPr lang="pt-BR" sz="1600" dirty="0"/>
          </a:p>
        </p:txBody>
      </p:sp>
      <p:pic>
        <p:nvPicPr>
          <p:cNvPr id="30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07" t="5839" r="37350" b="90358"/>
          <a:stretch/>
        </p:blipFill>
        <p:spPr bwMode="auto">
          <a:xfrm>
            <a:off x="8100392" y="2202518"/>
            <a:ext cx="237852" cy="290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6009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 dirty="0" smtClean="0">
                <a:solidFill>
                  <a:srgbClr val="002B5C"/>
                </a:solidFill>
              </a:rPr>
              <a:t>SmartDesign</a:t>
            </a:r>
            <a:endParaRPr lang="pt-BR" sz="2600" b="1" dirty="0">
              <a:solidFill>
                <a:srgbClr val="002B5C"/>
              </a:solidFill>
            </a:endParaRPr>
          </a:p>
        </p:txBody>
      </p:sp>
      <p:sp>
        <p:nvSpPr>
          <p:cNvPr id="157699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57701" name="Text Box 5"/>
          <p:cNvSpPr txBox="1">
            <a:spLocks noChangeArrowheads="1"/>
          </p:cNvSpPr>
          <p:nvPr/>
        </p:nvSpPr>
        <p:spPr bwMode="auto">
          <a:xfrm>
            <a:off x="561642" y="1412776"/>
            <a:ext cx="8372805" cy="452431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14400"/>
            <a:r>
              <a:rPr lang="pt-BR" dirty="0" err="1" smtClean="0"/>
              <a:t>Add</a:t>
            </a:r>
            <a:r>
              <a:rPr lang="pt-BR" dirty="0" smtClean="0"/>
              <a:t> </a:t>
            </a:r>
            <a:r>
              <a:rPr lang="pt-BR" dirty="0" err="1" smtClean="0"/>
              <a:t>Object</a:t>
            </a:r>
            <a:r>
              <a:rPr lang="pt-BR" dirty="0" smtClean="0"/>
              <a:t> -&gt; permite a inserção de um novo objeto à tabela</a:t>
            </a:r>
          </a:p>
          <a:p>
            <a:pPr defTabSz="914400"/>
            <a:endParaRPr lang="pt-BR" dirty="0" smtClean="0"/>
          </a:p>
          <a:p>
            <a:pPr defTabSz="914400"/>
            <a:r>
              <a:rPr lang="pt-BR" dirty="0" smtClean="0"/>
              <a:t>Remove </a:t>
            </a:r>
            <a:r>
              <a:rPr lang="pt-BR" dirty="0" err="1"/>
              <a:t>Object</a:t>
            </a:r>
            <a:r>
              <a:rPr lang="pt-BR" dirty="0"/>
              <a:t> -&gt; permite a </a:t>
            </a:r>
            <a:r>
              <a:rPr lang="pt-BR" dirty="0" smtClean="0"/>
              <a:t>exclusão </a:t>
            </a:r>
            <a:r>
              <a:rPr lang="pt-BR" dirty="0"/>
              <a:t>de um </a:t>
            </a:r>
            <a:r>
              <a:rPr lang="pt-BR" dirty="0" smtClean="0"/>
              <a:t>objeto da </a:t>
            </a:r>
            <a:r>
              <a:rPr lang="pt-BR" dirty="0"/>
              <a:t>tabela</a:t>
            </a:r>
          </a:p>
          <a:p>
            <a:pPr defTabSz="914400"/>
            <a:endParaRPr lang="pt-BR" dirty="0" smtClean="0"/>
          </a:p>
          <a:p>
            <a:pPr defTabSz="914400"/>
            <a:r>
              <a:rPr lang="pt-BR" dirty="0" err="1" smtClean="0"/>
              <a:t>Place</a:t>
            </a:r>
            <a:r>
              <a:rPr lang="pt-BR" dirty="0" smtClean="0"/>
              <a:t> </a:t>
            </a:r>
            <a:r>
              <a:rPr lang="pt-BR" dirty="0" err="1" smtClean="0"/>
              <a:t>One</a:t>
            </a:r>
            <a:r>
              <a:rPr lang="pt-BR" dirty="0" smtClean="0"/>
              <a:t> </a:t>
            </a:r>
            <a:r>
              <a:rPr lang="pt-BR" dirty="0" err="1" smtClean="0"/>
              <a:t>Level</a:t>
            </a:r>
            <a:r>
              <a:rPr lang="pt-BR" dirty="0" smtClean="0"/>
              <a:t> </a:t>
            </a:r>
            <a:r>
              <a:rPr lang="pt-BR" dirty="0" err="1" smtClean="0"/>
              <a:t>higher</a:t>
            </a:r>
            <a:r>
              <a:rPr lang="pt-BR" dirty="0" smtClean="0"/>
              <a:t> in </a:t>
            </a:r>
            <a:r>
              <a:rPr lang="pt-BR" dirty="0" err="1" smtClean="0"/>
              <a:t>the</a:t>
            </a:r>
            <a:r>
              <a:rPr lang="pt-BR" dirty="0" smtClean="0"/>
              <a:t> </a:t>
            </a:r>
            <a:r>
              <a:rPr lang="pt-BR" dirty="0" err="1" smtClean="0"/>
              <a:t>hierarchy</a:t>
            </a:r>
            <a:r>
              <a:rPr lang="pt-BR" dirty="0" smtClean="0"/>
              <a:t> -&gt; usado para mover o objeto </a:t>
            </a:r>
          </a:p>
          <a:p>
            <a:pPr defTabSz="914400"/>
            <a:r>
              <a:rPr lang="pt-BR" dirty="0" smtClean="0"/>
              <a:t>selecionado para o nível imediatamente superior da hierarquia </a:t>
            </a:r>
          </a:p>
          <a:p>
            <a:pPr defTabSz="914400"/>
            <a:endParaRPr lang="pt-BR" dirty="0" smtClean="0"/>
          </a:p>
          <a:p>
            <a:pPr defTabSz="914400"/>
            <a:r>
              <a:rPr lang="pt-BR" dirty="0" err="1" smtClean="0"/>
              <a:t>Place</a:t>
            </a:r>
            <a:r>
              <a:rPr lang="pt-BR" dirty="0" smtClean="0"/>
              <a:t> </a:t>
            </a:r>
            <a:r>
              <a:rPr lang="pt-BR" dirty="0" err="1"/>
              <a:t>One</a:t>
            </a:r>
            <a:r>
              <a:rPr lang="pt-BR" dirty="0"/>
              <a:t> </a:t>
            </a:r>
            <a:r>
              <a:rPr lang="pt-BR" dirty="0" err="1"/>
              <a:t>Level</a:t>
            </a:r>
            <a:r>
              <a:rPr lang="pt-BR" dirty="0"/>
              <a:t> </a:t>
            </a:r>
            <a:r>
              <a:rPr lang="pt-BR" dirty="0" err="1" smtClean="0"/>
              <a:t>lower</a:t>
            </a:r>
            <a:r>
              <a:rPr lang="pt-BR" dirty="0" smtClean="0"/>
              <a:t> </a:t>
            </a:r>
            <a:r>
              <a:rPr lang="pt-BR" dirty="0"/>
              <a:t>in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hierarchy</a:t>
            </a:r>
            <a:r>
              <a:rPr lang="pt-BR" dirty="0"/>
              <a:t> -&gt; usado para mover o objeto </a:t>
            </a:r>
          </a:p>
          <a:p>
            <a:pPr defTabSz="914400"/>
            <a:r>
              <a:rPr lang="pt-BR" dirty="0" smtClean="0"/>
              <a:t>selecionado </a:t>
            </a:r>
            <a:r>
              <a:rPr lang="pt-BR" dirty="0"/>
              <a:t>para o nível imediatamente superior da hierarquia </a:t>
            </a:r>
            <a:endParaRPr lang="pt-BR" dirty="0" smtClean="0"/>
          </a:p>
          <a:p>
            <a:pPr defTabSz="914400"/>
            <a:endParaRPr lang="pt-BR" dirty="0"/>
          </a:p>
          <a:p>
            <a:pPr defTabSz="914400"/>
            <a:r>
              <a:rPr lang="pt-BR" dirty="0" smtClean="0"/>
              <a:t>UP -&gt; usado para mover o objeto para cima na estrutura</a:t>
            </a:r>
          </a:p>
          <a:p>
            <a:pPr defTabSz="914400"/>
            <a:endParaRPr lang="pt-BR" dirty="0"/>
          </a:p>
          <a:p>
            <a:pPr defTabSz="914400"/>
            <a:r>
              <a:rPr lang="pt-BR" dirty="0" smtClean="0"/>
              <a:t>Down -&gt; usado </a:t>
            </a:r>
            <a:r>
              <a:rPr lang="pt-BR" dirty="0"/>
              <a:t>para mover o objeto para </a:t>
            </a:r>
            <a:r>
              <a:rPr lang="pt-BR" dirty="0" smtClean="0"/>
              <a:t>baixo </a:t>
            </a:r>
            <a:r>
              <a:rPr lang="pt-BR" dirty="0"/>
              <a:t>na estrutura</a:t>
            </a:r>
          </a:p>
          <a:p>
            <a:pPr defTabSz="914400"/>
            <a:endParaRPr lang="pt-BR" dirty="0" smtClean="0"/>
          </a:p>
          <a:p>
            <a:pPr defTabSz="914400"/>
            <a:r>
              <a:rPr lang="pt-BR" dirty="0" smtClean="0"/>
              <a:t>Show </a:t>
            </a:r>
            <a:r>
              <a:rPr lang="pt-BR" dirty="0" err="1" smtClean="0"/>
              <a:t>columns</a:t>
            </a:r>
            <a:r>
              <a:rPr lang="pt-BR" dirty="0" smtClean="0"/>
              <a:t> -&gt; usado para determinar quais colunas devem estar disponíveis</a:t>
            </a:r>
          </a:p>
          <a:p>
            <a:pPr defTabSz="914400"/>
            <a:r>
              <a:rPr lang="pt-BR" dirty="0" smtClean="0"/>
              <a:t>na tabela do SmartDesign</a:t>
            </a: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0" y="836712"/>
            <a:ext cx="8122801" cy="3693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indent="0" defTabSz="914400"/>
            <a:r>
              <a:rPr lang="pt-BR" dirty="0" smtClean="0"/>
              <a:t>A seguir o detalhamento dos botões da barra de ferramentas do SmartDesign:</a:t>
            </a:r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11" y="1412776"/>
            <a:ext cx="465137" cy="4213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9179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1868314"/>
            <a:ext cx="1920875" cy="4945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6678" name="Text Box 6"/>
          <p:cNvSpPr txBox="1">
            <a:spLocks noChangeArrowheads="1"/>
          </p:cNvSpPr>
          <p:nvPr/>
        </p:nvSpPr>
        <p:spPr bwMode="auto">
          <a:xfrm>
            <a:off x="23789" y="599404"/>
            <a:ext cx="9012708" cy="6186309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wrap="square"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charset="0"/>
              </a:defRPr>
            </a:lvl1pPr>
            <a:lvl2pPr algn="l">
              <a:defRPr>
                <a:solidFill>
                  <a:schemeClr val="tx1"/>
                </a:solidFill>
                <a:latin typeface="Arial" charset="0"/>
              </a:defRPr>
            </a:lvl2pPr>
            <a:lvl3pPr algn="l">
              <a:defRPr>
                <a:solidFill>
                  <a:schemeClr val="tx1"/>
                </a:solidFill>
                <a:latin typeface="Arial" charset="0"/>
              </a:defRPr>
            </a:lvl3pPr>
            <a:lvl4pPr algn="l">
              <a:defRPr>
                <a:solidFill>
                  <a:schemeClr val="tx1"/>
                </a:solidFill>
                <a:latin typeface="Arial" charset="0"/>
              </a:defRPr>
            </a:lvl4pPr>
            <a:lvl5pPr algn="l">
              <a:defRPr>
                <a:solidFill>
                  <a:schemeClr val="tx1"/>
                </a:solidFill>
                <a:latin typeface="Arial" charset="0"/>
              </a:defRPr>
            </a:lvl5pPr>
            <a:lvl6pPr marL="22844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7416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1988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56013" indent="1588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pt-BR" dirty="0" smtClean="0"/>
          </a:p>
          <a:p>
            <a:r>
              <a:rPr lang="pt-BR" dirty="0" smtClean="0"/>
              <a:t>Mini </a:t>
            </a:r>
            <a:r>
              <a:rPr lang="pt-BR" dirty="0"/>
              <a:t>toolbar é um recurso que permite inserir facilmente objetos em um modelo </a:t>
            </a:r>
          </a:p>
          <a:p>
            <a:r>
              <a:rPr lang="pt-BR" dirty="0"/>
              <a:t>Passos a seguir</a:t>
            </a:r>
            <a:r>
              <a:rPr lang="pt-BR" dirty="0" smtClean="0"/>
              <a:t>:</a:t>
            </a:r>
          </a:p>
          <a:p>
            <a:endParaRPr lang="pt-BR" dirty="0"/>
          </a:p>
          <a:p>
            <a:pPr lvl="0" defTabSz="914400">
              <a:buAutoNum type="arabicPeriod"/>
            </a:pPr>
            <a:r>
              <a:rPr lang="pt-BR" dirty="0"/>
              <a:t>Insira um objeto no </a:t>
            </a:r>
            <a:r>
              <a:rPr lang="pt-BR" dirty="0" smtClean="0"/>
              <a:t>modelo</a:t>
            </a:r>
          </a:p>
          <a:p>
            <a:pPr lvl="0" defTabSz="914400">
              <a:buAutoNum type="arabicPeriod"/>
            </a:pPr>
            <a:endParaRPr lang="pt-BR" dirty="0"/>
          </a:p>
          <a:p>
            <a:pPr lvl="0" defTabSz="914400">
              <a:buAutoNum type="arabicPeriod"/>
            </a:pPr>
            <a:endParaRPr lang="pt-BR" dirty="0" smtClean="0"/>
          </a:p>
          <a:p>
            <a:pPr lvl="0" defTabSz="914400">
              <a:buAutoNum type="arabicPeriod"/>
            </a:pPr>
            <a:endParaRPr lang="pt-BR" dirty="0"/>
          </a:p>
          <a:p>
            <a:pPr lvl="0" defTabSz="914400">
              <a:buAutoNum type="arabicPeriod"/>
            </a:pPr>
            <a:endParaRPr lang="pt-BR" dirty="0" smtClean="0"/>
          </a:p>
          <a:p>
            <a:pPr lvl="0" defTabSz="914400">
              <a:buAutoNum type="arabicPeriod"/>
            </a:pPr>
            <a:r>
              <a:rPr lang="pt-BR" dirty="0" smtClean="0"/>
              <a:t>Clique </a:t>
            </a:r>
            <a:r>
              <a:rPr lang="pt-BR" dirty="0"/>
              <a:t>no objeto inserido. O Mini toolbar é exibido e oferece os objetos que </a:t>
            </a:r>
            <a:r>
              <a:rPr lang="pt-BR" dirty="0" smtClean="0"/>
              <a:t>podem</a:t>
            </a:r>
          </a:p>
          <a:p>
            <a:pPr marL="0" lvl="0" indent="0" defTabSz="914400"/>
            <a:r>
              <a:rPr lang="pt-BR" dirty="0" smtClean="0"/>
              <a:t>ser </a:t>
            </a:r>
            <a:r>
              <a:rPr lang="pt-BR" dirty="0"/>
              <a:t>conectados ao objeto </a:t>
            </a:r>
            <a:r>
              <a:rPr lang="pt-BR" dirty="0" smtClean="0"/>
              <a:t>previamente </a:t>
            </a:r>
            <a:r>
              <a:rPr lang="pt-BR" dirty="0"/>
              <a:t>inserido. </a:t>
            </a:r>
            <a:endParaRPr lang="pt-BR" dirty="0" smtClean="0"/>
          </a:p>
          <a:p>
            <a:pPr marL="0" lvl="0" indent="0" defTabSz="914400"/>
            <a:endParaRPr lang="pt-BR" dirty="0"/>
          </a:p>
          <a:p>
            <a:pPr marL="0" lvl="0" indent="0" defTabSz="914400"/>
            <a:endParaRPr lang="pt-BR" dirty="0" smtClean="0"/>
          </a:p>
          <a:p>
            <a:pPr marL="0" lvl="0" indent="0" defTabSz="914400"/>
            <a:endParaRPr lang="pt-BR" dirty="0"/>
          </a:p>
          <a:p>
            <a:pPr marL="0" lvl="0" indent="0" defTabSz="914400"/>
            <a:endParaRPr lang="pt-BR" dirty="0"/>
          </a:p>
          <a:p>
            <a:pPr marL="0" lvl="0" indent="0" defTabSz="914400"/>
            <a:endParaRPr lang="pt-BR" dirty="0" smtClean="0"/>
          </a:p>
          <a:p>
            <a:pPr marL="0" lvl="0" indent="0" defTabSz="914400"/>
            <a:endParaRPr lang="pt-BR" dirty="0" smtClean="0"/>
          </a:p>
          <a:p>
            <a:pPr lvl="0" defTabSz="914400">
              <a:buFont typeface="+mj-lt"/>
              <a:buAutoNum type="arabicPeriod" startAt="3"/>
            </a:pPr>
            <a:r>
              <a:rPr lang="pt-BR" dirty="0" smtClean="0"/>
              <a:t>Clique </a:t>
            </a:r>
            <a:r>
              <a:rPr lang="pt-BR" dirty="0"/>
              <a:t>no objeto que deve ser conectado ao objeto previamente inserido</a:t>
            </a:r>
            <a:r>
              <a:rPr lang="pt-BR" dirty="0" smtClean="0"/>
              <a:t>.</a:t>
            </a:r>
          </a:p>
          <a:p>
            <a:pPr marL="0" lvl="0" indent="0" defTabSz="914400"/>
            <a:endParaRPr lang="pt-BR" dirty="0"/>
          </a:p>
          <a:p>
            <a:pPr marL="0" lvl="0" indent="0" defTabSz="914400"/>
            <a:endParaRPr lang="pt-BR" dirty="0" smtClean="0"/>
          </a:p>
          <a:p>
            <a:pPr marL="0" lvl="0" indent="0" defTabSz="914400"/>
            <a:endParaRPr lang="pt-BR" dirty="0"/>
          </a:p>
          <a:p>
            <a:pPr marL="0" indent="0" defTabSz="914400"/>
            <a:endParaRPr lang="pt-BR" dirty="0" smtClean="0"/>
          </a:p>
        </p:txBody>
      </p:sp>
      <p:sp>
        <p:nvSpPr>
          <p:cNvPr id="156675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 dirty="0" smtClean="0">
                <a:solidFill>
                  <a:srgbClr val="002B5C"/>
                </a:solidFill>
              </a:rPr>
              <a:t>Mini toolbar</a:t>
            </a:r>
            <a:endParaRPr lang="pt-BR" sz="2600" b="1" dirty="0">
              <a:solidFill>
                <a:srgbClr val="002B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3091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0725" y="1627188"/>
            <a:ext cx="2620963" cy="3611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7698" name="Rectangle 6"/>
          <p:cNvSpPr>
            <a:spLocks noChangeArrowheads="1"/>
          </p:cNvSpPr>
          <p:nvPr/>
        </p:nvSpPr>
        <p:spPr bwMode="auto">
          <a:xfrm>
            <a:off x="0" y="144463"/>
            <a:ext cx="8640763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926" tIns="38963" rIns="77926" bIns="38963" anchor="ctr"/>
          <a:lstStyle/>
          <a:p>
            <a:pPr algn="l" defTabSz="701675"/>
            <a:r>
              <a:rPr lang="pt-BR" sz="2600" b="1" dirty="0" smtClean="0">
                <a:solidFill>
                  <a:srgbClr val="002B5C"/>
                </a:solidFill>
              </a:rPr>
              <a:t>Mini toolbar</a:t>
            </a:r>
            <a:endParaRPr lang="pt-BR" sz="2600" b="1" dirty="0">
              <a:solidFill>
                <a:srgbClr val="002B5C"/>
              </a:solidFill>
            </a:endParaRPr>
          </a:p>
        </p:txBody>
      </p:sp>
      <p:sp>
        <p:nvSpPr>
          <p:cNvPr id="157699" name="Rounded Rectangle 76"/>
          <p:cNvSpPr>
            <a:spLocks noChangeArrowheads="1"/>
          </p:cNvSpPr>
          <p:nvPr/>
        </p:nvSpPr>
        <p:spPr bwMode="auto">
          <a:xfrm>
            <a:off x="0" y="642938"/>
            <a:ext cx="7429500" cy="46037"/>
          </a:xfrm>
          <a:prstGeom prst="roundRect">
            <a:avLst>
              <a:gd name="adj" fmla="val 16667"/>
            </a:avLst>
          </a:prstGeom>
          <a:solidFill>
            <a:srgbClr val="008080"/>
          </a:solidFill>
          <a:ln w="9525" algn="ctr">
            <a:solidFill>
              <a:srgbClr val="008080"/>
            </a:solidFill>
            <a:round/>
            <a:headEnd/>
            <a:tailEnd/>
          </a:ln>
        </p:spPr>
        <p:txBody>
          <a:bodyPr/>
          <a:lstStyle/>
          <a:p>
            <a:pPr algn="l" defTabSz="863600"/>
            <a:endParaRPr lang="pt-BR" sz="1700">
              <a:solidFill>
                <a:schemeClr val="tx1"/>
              </a:solidFill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107504" y="980728"/>
            <a:ext cx="795719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defTabSz="914400">
              <a:buFont typeface="+mj-lt"/>
              <a:buAutoNum type="arabicPeriod" startAt="4"/>
            </a:pPr>
            <a:r>
              <a:rPr lang="pt-BR" dirty="0"/>
              <a:t>Clique na posição do modelo em que esse objeto deve ser </a:t>
            </a:r>
            <a:r>
              <a:rPr lang="pt-BR" dirty="0" smtClean="0"/>
              <a:t>inserido</a:t>
            </a:r>
          </a:p>
          <a:p>
            <a:pPr marL="342900" lvl="0" indent="-342900" defTabSz="914400">
              <a:buFont typeface="+mj-lt"/>
              <a:buAutoNum type="arabicPeriod" startAt="4"/>
            </a:pPr>
            <a:endParaRPr lang="pt-BR" dirty="0" smtClean="0"/>
          </a:p>
          <a:p>
            <a:pPr marL="342900" lvl="0" indent="-342900" defTabSz="914400">
              <a:buFont typeface="+mj-lt"/>
              <a:buAutoNum type="arabicPeriod" startAt="4"/>
            </a:pPr>
            <a:endParaRPr lang="pt-BR" dirty="0" smtClean="0"/>
          </a:p>
          <a:p>
            <a:pPr marL="342900" lvl="0" indent="-342900" defTabSz="914400">
              <a:buFont typeface="+mj-lt"/>
              <a:buAutoNum type="arabicPeriod" startAt="4"/>
            </a:pPr>
            <a:endParaRPr lang="pt-BR" dirty="0"/>
          </a:p>
          <a:p>
            <a:pPr marL="342900" lvl="0" indent="-342900" defTabSz="914400">
              <a:buFont typeface="+mj-lt"/>
              <a:buAutoNum type="arabicPeriod" startAt="4"/>
            </a:pPr>
            <a:endParaRPr lang="pt-BR" dirty="0"/>
          </a:p>
          <a:p>
            <a:pPr marL="342900" lvl="0" indent="-342900" defTabSz="914400">
              <a:buFont typeface="+mj-lt"/>
              <a:buAutoNum type="arabicPeriod" startAt="4"/>
            </a:pPr>
            <a:endParaRPr lang="pt-BR" dirty="0" smtClean="0"/>
          </a:p>
          <a:p>
            <a:pPr marL="342900" lvl="0" indent="-342900" defTabSz="914400">
              <a:buFont typeface="+mj-lt"/>
              <a:buAutoNum type="arabicPeriod" startAt="4"/>
            </a:pPr>
            <a:endParaRPr lang="pt-BR" dirty="0" smtClean="0"/>
          </a:p>
          <a:p>
            <a:pPr marL="342900" lvl="0" indent="-342900" defTabSz="914400">
              <a:buFont typeface="+mj-lt"/>
              <a:buAutoNum type="arabicPeriod" startAt="4"/>
            </a:pPr>
            <a:endParaRPr lang="pt-BR" dirty="0"/>
          </a:p>
          <a:p>
            <a:pPr marL="342900" lvl="0" indent="-342900" defTabSz="914400">
              <a:buFont typeface="+mj-lt"/>
              <a:buAutoNum type="arabicPeriod" startAt="4"/>
            </a:pPr>
            <a:endParaRPr lang="pt-BR" dirty="0"/>
          </a:p>
          <a:p>
            <a:pPr marL="342900" indent="-342900" defTabSz="914400">
              <a:buFont typeface="+mj-lt"/>
              <a:buAutoNum type="arabicPeriod" startAt="4"/>
            </a:pPr>
            <a:r>
              <a:rPr lang="pt-BR" dirty="0"/>
              <a:t>O novo objeto é inserido e a conexão entre ele e o objeto previamente inserido </a:t>
            </a:r>
            <a:r>
              <a:rPr lang="pt-BR" dirty="0" smtClean="0"/>
              <a:t>é estabelecida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939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TextBox 5"/>
          <p:cNvSpPr txBox="1">
            <a:spLocks noChangeArrowheads="1"/>
          </p:cNvSpPr>
          <p:nvPr/>
        </p:nvSpPr>
        <p:spPr bwMode="auto">
          <a:xfrm>
            <a:off x="382588" y="2698750"/>
            <a:ext cx="7307262" cy="1036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6200" b="1">
                <a:solidFill>
                  <a:schemeClr val="bg1"/>
                </a:solidFill>
                <a:latin typeface="Verdana" charset="0"/>
              </a:rPr>
              <a:t>fim. </a:t>
            </a:r>
            <a:r>
              <a:rPr lang="en-US" sz="6200" b="1">
                <a:solidFill>
                  <a:srgbClr val="8ECCDF"/>
                </a:solidFill>
                <a:latin typeface="Verdana" charset="0"/>
              </a:rPr>
              <a:t>obrigado.</a:t>
            </a:r>
          </a:p>
        </p:txBody>
      </p:sp>
      <p:sp>
        <p:nvSpPr>
          <p:cNvPr id="20484" name="TextBox 6"/>
          <p:cNvSpPr txBox="1">
            <a:spLocks noChangeArrowheads="1"/>
          </p:cNvSpPr>
          <p:nvPr/>
        </p:nvSpPr>
        <p:spPr bwMode="auto">
          <a:xfrm>
            <a:off x="458788" y="6129338"/>
            <a:ext cx="3109912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/>
            <a:r>
              <a:rPr lang="en-US" sz="1000" b="1">
                <a:solidFill>
                  <a:schemeClr val="bg1"/>
                </a:solidFill>
                <a:latin typeface="Verdana" charset="0"/>
              </a:rPr>
              <a:t>INFORMAÇÕES</a:t>
            </a:r>
            <a:r>
              <a:rPr lang="en-US" sz="1000">
                <a:solidFill>
                  <a:schemeClr val="bg1"/>
                </a:solidFill>
                <a:latin typeface="Verdana" charset="0"/>
              </a:rPr>
              <a:t> ADICIONAIS _ MAIO / 2010</a:t>
            </a:r>
          </a:p>
        </p:txBody>
      </p:sp>
      <p:pic>
        <p:nvPicPr>
          <p:cNvPr id="20485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375" y="2895600"/>
            <a:ext cx="7493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33FE694E62A4844B131044C62216FF6" ma:contentTypeVersion="0" ma:contentTypeDescription="Crie um novo documento." ma:contentTypeScope="" ma:versionID="f311176f7a662ae3e1d4e1d6f872de2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e078010f886becc52d8153076464f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FE10446-2B65-4D97-A1E5-569C28646570}"/>
</file>

<file path=customXml/itemProps2.xml><?xml version="1.0" encoding="utf-8"?>
<ds:datastoreItem xmlns:ds="http://schemas.openxmlformats.org/officeDocument/2006/customXml" ds:itemID="{8582AF02-10D2-4DC1-B8BD-624CE82018F8}"/>
</file>

<file path=customXml/itemProps3.xml><?xml version="1.0" encoding="utf-8"?>
<ds:datastoreItem xmlns:ds="http://schemas.openxmlformats.org/officeDocument/2006/customXml" ds:itemID="{D519D025-2388-43B8-8217-AEFB8B635CAF}"/>
</file>

<file path=docProps/app.xml><?xml version="1.0" encoding="utf-8"?>
<Properties xmlns="http://schemas.openxmlformats.org/officeDocument/2006/extended-properties" xmlns:vt="http://schemas.openxmlformats.org/officeDocument/2006/docPropsVTypes">
  <TotalTime>1164</TotalTime>
  <Words>1915</Words>
  <Application>Microsoft Office PowerPoint</Application>
  <PresentationFormat>Apresentação na tela (4:3)</PresentationFormat>
  <Paragraphs>291</Paragraphs>
  <Slides>44</Slides>
  <Notes>6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45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Cravo Ofício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GABRIEL ALVES</dc:creator>
  <cp:lastModifiedBy>br89768</cp:lastModifiedBy>
  <cp:revision>3</cp:revision>
  <dcterms:created xsi:type="dcterms:W3CDTF">2010-06-25T21:35:53Z</dcterms:created>
  <dcterms:modified xsi:type="dcterms:W3CDTF">2011-03-10T12:56:46Z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0x010100933FE694E62A4844B131044C62216FF6</vt:lpwstr>
  </property>
</Properties>
</file>