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52" r:id="rId4"/>
  </p:sldMasterIdLst>
  <p:notesMasterIdLst>
    <p:notesMasterId r:id="rId6"/>
  </p:notesMasterIdLst>
  <p:handoutMasterIdLst>
    <p:handoutMasterId r:id="rId7"/>
  </p:handoutMasterIdLst>
  <p:sldIdLst>
    <p:sldId id="3443" r:id="rId5"/>
  </p:sldIdLst>
  <p:sldSz cx="16256000" cy="9145588"/>
  <p:notesSz cx="6797675" cy="9982200"/>
  <p:defaultTextStyle>
    <a:defPPr>
      <a:defRPr lang="pt-BR"/>
    </a:defPPr>
    <a:lvl1pPr marL="0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1293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2590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3885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851789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564754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277713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4990659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703608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0DA"/>
    <a:srgbClr val="3333CC"/>
    <a:srgbClr val="FFFF00"/>
    <a:srgbClr val="62568B"/>
    <a:srgbClr val="CCECFF"/>
    <a:srgbClr val="CCFFFF"/>
    <a:srgbClr val="86A44A"/>
    <a:srgbClr val="CDC8DE"/>
    <a:srgbClr val="EDF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9112" autoAdjust="0"/>
  </p:normalViewPr>
  <p:slideViewPr>
    <p:cSldViewPr>
      <p:cViewPr>
        <p:scale>
          <a:sx n="50" d="100"/>
          <a:sy n="50" d="100"/>
        </p:scale>
        <p:origin x="-678" y="-324"/>
      </p:cViewPr>
      <p:guideLst>
        <p:guide orient="horz" pos="4195"/>
        <p:guide pos="2262"/>
      </p:guideLst>
    </p:cSldViewPr>
  </p:slideViewPr>
  <p:outlineViewPr>
    <p:cViewPr>
      <p:scale>
        <a:sx n="33" d="100"/>
        <a:sy n="33" d="100"/>
      </p:scale>
      <p:origin x="0" y="157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howGuides="1">
      <p:cViewPr varScale="1">
        <p:scale>
          <a:sx n="48" d="100"/>
          <a:sy n="48" d="100"/>
        </p:scale>
        <p:origin x="-2988" y="-114"/>
      </p:cViewPr>
      <p:guideLst>
        <p:guide orient="horz" pos="3144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FB739-17A0-4E52-BBD7-E644B2EDBDA2}" type="datetimeFigureOut">
              <a:rPr lang="pt-BR" smtClean="0"/>
              <a:t>07/07/2015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821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49688" y="94821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62ED5-D228-4ECC-88BB-9351BE3DAF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435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699C7-48F2-4252-B10C-724663DF5BEF}" type="datetimeFigureOut">
              <a:rPr lang="pt-BR" smtClean="0"/>
              <a:t>07/07/2015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47713"/>
            <a:ext cx="6654800" cy="3744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4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82272-1339-4175-9DEB-3773CC33C63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69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1293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42590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13885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851789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564754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277713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4990659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5703608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1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1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4066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MPLATE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50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LANEJ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805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14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1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495152" y="122762"/>
            <a:ext cx="146304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343792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 userDrawn="1"/>
        </p:nvSpPr>
        <p:spPr bwMode="auto">
          <a:xfrm>
            <a:off x="-9640" y="8677250"/>
            <a:ext cx="16265640" cy="476387"/>
          </a:xfrm>
          <a:prstGeom prst="rect">
            <a:avLst/>
          </a:prstGeom>
          <a:solidFill>
            <a:schemeClr val="accent3">
              <a:alpha val="7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9" name="AcnStamp_ID_1119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15520463" y="1647781"/>
            <a:ext cx="737381" cy="34245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29" rIns="0" bIns="40029">
            <a:spAutoFit/>
          </a:bodyPr>
          <a:lstStyle/>
          <a:p>
            <a:pPr algn="r" defTabSz="14410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9"/>
            </p:custDataLst>
          </p:nvPr>
        </p:nvCxnSpPr>
        <p:spPr bwMode="gray">
          <a:xfrm>
            <a:off x="15520463" y="164778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10"/>
            </p:custDataLst>
          </p:nvPr>
        </p:nvCxnSpPr>
        <p:spPr bwMode="gray">
          <a:xfrm>
            <a:off x="15520463" y="199023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154" indent="-848154" defTabSz="144104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2781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154" indent="-848154" defTabSz="144104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2781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7223"/>
            <a:ext cx="146304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040" eaLnBrk="1" latinLnBrk="0" hangingPunct="1">
              <a:buNone/>
            </a:pP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099" tIns="72036" rIns="144099" bIns="72036" rtlCol="0">
            <a:normAutofit/>
          </a:bodyPr>
          <a:lstStyle/>
          <a:p>
            <a:pPr marL="540419" lvl="0" indent="-540419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0885" lvl="1" indent="-450350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324" lvl="2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1840" lvl="3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2384" lvl="4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0" name="CaixaDeTexto 23"/>
          <p:cNvSpPr txBox="1"/>
          <p:nvPr userDrawn="1"/>
        </p:nvSpPr>
        <p:spPr>
          <a:xfrm>
            <a:off x="15011886" y="8779797"/>
            <a:ext cx="1181010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fld id="{84127208-933E-4CB5-A4D6-BB9F8A4745D6}" type="slidenum">
              <a:rPr lang="en-US" sz="1600">
                <a:solidFill>
                  <a:srgbClr val="000000"/>
                </a:solidFill>
                <a:latin typeface="Gill Sans Std" pitchFamily="34" charset="0"/>
              </a:rPr>
              <a:pPr algn="r"/>
              <a:t>‹nº›</a:t>
            </a:fld>
            <a:endParaRPr lang="en-US" sz="1600" dirty="0">
              <a:solidFill>
                <a:srgbClr val="000000"/>
              </a:solidFill>
              <a:latin typeface="Gill Sans Std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-3484" y="8749258"/>
            <a:ext cx="12235940" cy="338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45152" tIns="72576" rIns="145152" bIns="72576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400" b="1" kern="1200" dirty="0">
              <a:solidFill>
                <a:srgbClr val="62568B"/>
              </a:solidFill>
              <a:latin typeface="Gill Sans MT" pitchFamily="34" charset="0"/>
              <a:ea typeface="ヒラギノ角ゴ Pro W3"/>
              <a:cs typeface="ヒラギノ角ゴ Pro W3"/>
            </a:endParaRPr>
          </a:p>
        </p:txBody>
      </p:sp>
      <p:pic>
        <p:nvPicPr>
          <p:cNvPr id="6146" name="Picture 2" descr="E:\Users\cilima\Pictures\NAT_marca_lilas_tododia-01.jp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018" y="108298"/>
            <a:ext cx="791870" cy="79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41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0513" r:id="rId1"/>
    <p:sldLayoutId id="2147489380" r:id="rId2"/>
    <p:sldLayoutId id="2147489381" r:id="rId3"/>
    <p:sldLayoutId id="2147489382" r:id="rId4"/>
    <p:sldLayoutId id="2147490560" r:id="rId5"/>
    <p:sldLayoutId id="21474905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600" b="0" kern="1200" smtClean="0">
          <a:solidFill>
            <a:srgbClr val="62568B"/>
          </a:solidFill>
          <a:latin typeface="Gill Sans Std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55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04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157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10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272" indent="-3602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041" indent="-35526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313" indent="-3577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550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8831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9347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6pPr>
      <a:lvl7pPr marL="3239890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7pPr>
      <a:lvl8pPr marL="3960417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8pPr>
      <a:lvl9pPr marL="4680939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553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04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1577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109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2647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3171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3702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423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075" y="1366416"/>
            <a:ext cx="9107487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4630400" cy="553998"/>
          </a:xfrm>
        </p:spPr>
        <p:txBody>
          <a:bodyPr/>
          <a:lstStyle/>
          <a:p>
            <a:pPr eaLnBrk="1" hangingPunct="1"/>
            <a:r>
              <a:rPr lang="pt-BR" dirty="0">
                <a:latin typeface="Webdings" pitchFamily="18" charset="2"/>
              </a:rPr>
              <a:t>5 </a:t>
            </a:r>
            <a:r>
              <a:rPr lang="pt-BR" dirty="0" smtClean="0"/>
              <a:t>Nome do Indicador (unidade de medida, periodicidade)</a:t>
            </a:r>
            <a:endParaRPr lang="pt-BR" dirty="0"/>
          </a:p>
        </p:txBody>
      </p:sp>
      <p:sp>
        <p:nvSpPr>
          <p:cNvPr id="10" name="CaixaDeTexto 8"/>
          <p:cNvSpPr txBox="1">
            <a:spLocks noChangeArrowheads="1"/>
          </p:cNvSpPr>
          <p:nvPr/>
        </p:nvSpPr>
        <p:spPr bwMode="auto">
          <a:xfrm>
            <a:off x="7419975" y="1048594"/>
            <a:ext cx="7465084" cy="42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ANÁLISE GRÁFICA </a:t>
            </a: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(evolução do indicador real </a:t>
            </a:r>
            <a:r>
              <a:rPr lang="pt-BR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vs</a:t>
            </a: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meta </a:t>
            </a:r>
            <a:r>
              <a:rPr lang="pt-BR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vs</a:t>
            </a: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 ano anterior)</a:t>
            </a:r>
          </a:p>
        </p:txBody>
      </p:sp>
      <p:sp>
        <p:nvSpPr>
          <p:cNvPr id="11" name="CaixaDeTexto 9"/>
          <p:cNvSpPr txBox="1">
            <a:spLocks noChangeArrowheads="1"/>
          </p:cNvSpPr>
          <p:nvPr/>
        </p:nvSpPr>
        <p:spPr bwMode="auto">
          <a:xfrm>
            <a:off x="65431" y="6680076"/>
            <a:ext cx="5814056" cy="42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ANÁLISE DO PROBLEMA  (causas-raiz, ofensores)</a:t>
            </a:r>
          </a:p>
        </p:txBody>
      </p:sp>
      <p:sp>
        <p:nvSpPr>
          <p:cNvPr id="13" name="CaixaDeTexto 10"/>
          <p:cNvSpPr txBox="1">
            <a:spLocks noChangeArrowheads="1"/>
          </p:cNvSpPr>
          <p:nvPr/>
        </p:nvSpPr>
        <p:spPr bwMode="auto">
          <a:xfrm>
            <a:off x="7419975" y="5315794"/>
            <a:ext cx="9090025" cy="42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PLANO DE AÇÃO (o que? quem? quando? para cada ofensor)</a:t>
            </a:r>
            <a:endParaRPr lang="pt-BR" sz="1800" dirty="0">
              <a:solidFill>
                <a:schemeClr val="bg2"/>
              </a:solidFill>
              <a:latin typeface="Gill Sans Std" pitchFamily="34" charset="0"/>
            </a:endParaRPr>
          </a:p>
        </p:txBody>
      </p:sp>
      <p:sp>
        <p:nvSpPr>
          <p:cNvPr id="14" name="CaixaDeTexto 11"/>
          <p:cNvSpPr txBox="1">
            <a:spLocks noChangeArrowheads="1"/>
          </p:cNvSpPr>
          <p:nvPr/>
        </p:nvSpPr>
        <p:spPr bwMode="auto">
          <a:xfrm>
            <a:off x="65431" y="1048594"/>
            <a:ext cx="6988175" cy="42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</a:rPr>
              <a:t>COMENTÁRIOS</a:t>
            </a:r>
            <a:endParaRPr lang="pt-BR" sz="1200" dirty="0">
              <a:solidFill>
                <a:schemeClr val="bg2"/>
              </a:solidFill>
              <a:latin typeface="Gill Sans Std" pitchFamily="34" charset="0"/>
            </a:endParaRPr>
          </a:p>
        </p:txBody>
      </p:sp>
      <p:sp>
        <p:nvSpPr>
          <p:cNvPr id="15" name="CaixaDeTexto 14"/>
          <p:cNvSpPr txBox="1">
            <a:spLocks noChangeArrowheads="1"/>
          </p:cNvSpPr>
          <p:nvPr/>
        </p:nvSpPr>
        <p:spPr bwMode="auto">
          <a:xfrm>
            <a:off x="247651" y="1533264"/>
            <a:ext cx="7061199" cy="1531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 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Síntese </a:t>
            </a: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da evolução e análises do 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indicador</a:t>
            </a:r>
          </a:p>
          <a:p>
            <a:pPr eaLnBrk="1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sym typeface="Wingdings" pitchFamily="2" charset="2"/>
            </a:endParaRPr>
          </a:p>
          <a:p>
            <a:pPr eaLnBrk="1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 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Pontos </a:t>
            </a: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de atenção ou 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destaques</a:t>
            </a:r>
          </a:p>
          <a:p>
            <a:pPr eaLnBrk="1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sym typeface="Wingdings" pitchFamily="2" charset="2"/>
            </a:endParaRPr>
          </a:p>
          <a:p>
            <a:pPr eaLnBrk="1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 </a:t>
            </a: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Tendência </a:t>
            </a:r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sym typeface="Wingdings" pitchFamily="2" charset="2"/>
              </a:rPr>
              <a:t>de atingir a meta ano</a:t>
            </a:r>
          </a:p>
        </p:txBody>
      </p:sp>
      <p:cxnSp>
        <p:nvCxnSpPr>
          <p:cNvPr id="16" name="Conector reto 15"/>
          <p:cNvCxnSpPr/>
          <p:nvPr/>
        </p:nvCxnSpPr>
        <p:spPr bwMode="auto">
          <a:xfrm flipH="1" flipV="1">
            <a:off x="245220" y="6527676"/>
            <a:ext cx="6771600" cy="11112"/>
          </a:xfrm>
          <a:prstGeom prst="line">
            <a:avLst/>
          </a:prstGeom>
          <a:ln w="31750">
            <a:headEnd type="none" w="med" len="med"/>
            <a:tailEnd type="none" w="med" len="med"/>
          </a:ln>
          <a:effectLst/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 bwMode="auto">
          <a:xfrm>
            <a:off x="7308850" y="1112044"/>
            <a:ext cx="0" cy="7325086"/>
          </a:xfrm>
          <a:prstGeom prst="line">
            <a:avLst/>
          </a:prstGeom>
          <a:ln w="31750">
            <a:headEnd type="none" w="med" len="med"/>
            <a:tailEnd type="none" w="med" len="med"/>
          </a:ln>
          <a:effectLst/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 bwMode="auto">
          <a:xfrm flipH="1" flipV="1">
            <a:off x="7533304" y="5224612"/>
            <a:ext cx="8193636" cy="11112"/>
          </a:xfrm>
          <a:prstGeom prst="line">
            <a:avLst/>
          </a:prstGeom>
          <a:ln w="31750">
            <a:headEnd type="none" w="med" len="med"/>
            <a:tailEnd type="none" w="med" len="med"/>
          </a:ln>
          <a:effectLst/>
          <a:ex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0" name="CaixaDeTexto 19"/>
          <p:cNvSpPr txBox="1">
            <a:spLocks noChangeArrowheads="1"/>
          </p:cNvSpPr>
          <p:nvPr/>
        </p:nvSpPr>
        <p:spPr bwMode="auto">
          <a:xfrm>
            <a:off x="7450137" y="5710943"/>
            <a:ext cx="8742363" cy="109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buFont typeface="Arial" pitchFamily="34" charset="0"/>
              <a:buChar char="•"/>
              <a:defRPr/>
            </a:pP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+mn-cs"/>
              </a:rPr>
              <a:t>Plano de ação com o intuito de melhorarmos a performance e conseguirmos um melhor resultado.</a:t>
            </a:r>
          </a:p>
          <a:p>
            <a:pPr marL="342900" indent="-342900" eaLnBrk="1" hangingPunct="1">
              <a:lnSpc>
                <a:spcPct val="114000"/>
              </a:lnSpc>
              <a:buFont typeface="Arial" pitchFamily="34" charset="0"/>
              <a:buChar char="•"/>
              <a:defRPr/>
            </a:pPr>
            <a:r>
              <a:rPr lang="pt-BR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cs typeface="+mn-cs"/>
              </a:rPr>
              <a:t>Deverá sempre conter um prazo e um responsável.</a:t>
            </a: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  <a:latin typeface="Gill Sans Std" pitchFamily="34" charset="0"/>
              <a:cs typeface="+mn-cs"/>
            </a:endParaRPr>
          </a:p>
        </p:txBody>
      </p:sp>
      <p:sp>
        <p:nvSpPr>
          <p:cNvPr id="2" name="Elipse 1"/>
          <p:cNvSpPr/>
          <p:nvPr/>
        </p:nvSpPr>
        <p:spPr bwMode="auto">
          <a:xfrm>
            <a:off x="492574" y="199356"/>
            <a:ext cx="415576" cy="432048"/>
          </a:xfrm>
          <a:prstGeom prst="ellipse">
            <a:avLst/>
          </a:prstGeom>
          <a:noFill/>
          <a:ln w="3175" cap="flat" cmpd="sng" algn="ctr">
            <a:solidFill>
              <a:schemeClr val="bg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700362" y="631404"/>
            <a:ext cx="207788" cy="170495"/>
          </a:xfrm>
          <a:prstGeom prst="line">
            <a:avLst/>
          </a:prstGeom>
          <a:noFill/>
          <a:ln w="3175" cap="flat" cmpd="sng" algn="ctr">
            <a:solidFill>
              <a:schemeClr val="bg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Conector de seta reta 22"/>
          <p:cNvCxnSpPr/>
          <p:nvPr/>
        </p:nvCxnSpPr>
        <p:spPr bwMode="auto">
          <a:xfrm>
            <a:off x="908150" y="801899"/>
            <a:ext cx="451098" cy="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25" name="CaixaDeTexto 24"/>
          <p:cNvSpPr txBox="1"/>
          <p:nvPr/>
        </p:nvSpPr>
        <p:spPr>
          <a:xfrm>
            <a:off x="1398751" y="650455"/>
            <a:ext cx="183270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chemeClr val="bg1">
                    <a:lumMod val="50000"/>
                  </a:schemeClr>
                </a:solidFill>
                <a:latin typeface="Gill Sans"/>
              </a:rPr>
              <a:t>Orientação do Indicador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517" y="6897550"/>
            <a:ext cx="7947603" cy="1469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CaixaDeTexto 35"/>
          <p:cNvSpPr txBox="1"/>
          <p:nvPr/>
        </p:nvSpPr>
        <p:spPr>
          <a:xfrm>
            <a:off x="1845383" y="5951979"/>
            <a:ext cx="398423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chemeClr val="bg1">
                    <a:lumMod val="50000"/>
                  </a:schemeClr>
                </a:solidFill>
                <a:latin typeface="Gill Sans"/>
              </a:rPr>
              <a:t>Tabela de abertura por granularidade (UR, UN)</a:t>
            </a:r>
          </a:p>
        </p:txBody>
      </p:sp>
      <p:grpSp>
        <p:nvGrpSpPr>
          <p:cNvPr id="32" name="Grupo 31"/>
          <p:cNvGrpSpPr/>
          <p:nvPr/>
        </p:nvGrpSpPr>
        <p:grpSpPr>
          <a:xfrm>
            <a:off x="63516" y="3642708"/>
            <a:ext cx="7086568" cy="2460715"/>
            <a:chOff x="63516" y="3642708"/>
            <a:chExt cx="7086568" cy="2460715"/>
          </a:xfrm>
        </p:grpSpPr>
        <p:grpSp>
          <p:nvGrpSpPr>
            <p:cNvPr id="29" name="Grupo 28"/>
            <p:cNvGrpSpPr/>
            <p:nvPr/>
          </p:nvGrpSpPr>
          <p:grpSpPr>
            <a:xfrm>
              <a:off x="63516" y="3642708"/>
              <a:ext cx="7086568" cy="2309270"/>
              <a:chOff x="63516" y="3642708"/>
              <a:chExt cx="7086568" cy="2309270"/>
            </a:xfrm>
          </p:grpSpPr>
          <p:pic>
            <p:nvPicPr>
              <p:cNvPr id="19" name="Picture 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516" y="3662055"/>
                <a:ext cx="7086568" cy="22899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8" name="Retângulo 27"/>
              <p:cNvSpPr/>
              <p:nvPr/>
            </p:nvSpPr>
            <p:spPr bwMode="auto">
              <a:xfrm>
                <a:off x="111192" y="3993054"/>
                <a:ext cx="1898393" cy="316943"/>
              </a:xfrm>
              <a:prstGeom prst="rect">
                <a:avLst/>
              </a:prstGeom>
              <a:solidFill>
                <a:srgbClr val="CCC0DA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45720" tIns="54864" rIns="0" bIns="54864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895350" rtl="0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Tx/>
                  <a:buFontTx/>
                  <a:buNone/>
                  <a:tabLst/>
                </a:pPr>
                <a:r>
                  <a:rPr kumimoji="0" lang="pt-BR" sz="12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Nome do Indicador</a:t>
                </a:r>
              </a:p>
            </p:txBody>
          </p:sp>
          <p:sp>
            <p:nvSpPr>
              <p:cNvPr id="41" name="Retângulo 40"/>
              <p:cNvSpPr/>
              <p:nvPr/>
            </p:nvSpPr>
            <p:spPr bwMode="auto">
              <a:xfrm>
                <a:off x="1834265" y="3642708"/>
                <a:ext cx="1898393" cy="316943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45720" tIns="54864" rIns="0" bIns="54864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895350" rtl="0" eaLnBrk="0" fontAlgn="base" latinLnBrk="0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Tx/>
                  <a:buFontTx/>
                  <a:buNone/>
                  <a:tabLst/>
                </a:pPr>
                <a:endParaRPr kumimoji="0" lang="pt-BR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cxnSp>
          <p:nvCxnSpPr>
            <p:cNvPr id="8" name="Conector reto 7"/>
            <p:cNvCxnSpPr/>
            <p:nvPr/>
          </p:nvCxnSpPr>
          <p:spPr bwMode="auto">
            <a:xfrm>
              <a:off x="5829618" y="4373065"/>
              <a:ext cx="0" cy="1"/>
            </a:xfrm>
            <a:prstGeom prst="lin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4" name="Conector reto 33"/>
            <p:cNvCxnSpPr/>
            <p:nvPr/>
          </p:nvCxnSpPr>
          <p:spPr bwMode="auto">
            <a:xfrm>
              <a:off x="1146994" y="5932928"/>
              <a:ext cx="207788" cy="170495"/>
            </a:xfrm>
            <a:prstGeom prst="line">
              <a:avLst/>
            </a:prstGeom>
            <a:noFill/>
            <a:ln w="3175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Conector de seta reta 34"/>
            <p:cNvCxnSpPr/>
            <p:nvPr/>
          </p:nvCxnSpPr>
          <p:spPr bwMode="auto">
            <a:xfrm>
              <a:off x="1354782" y="6103423"/>
              <a:ext cx="451098" cy="0"/>
            </a:xfrm>
            <a:prstGeom prst="straightConnector1">
              <a:avLst/>
            </a:prstGeom>
            <a:noFill/>
            <a:ln w="3175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grpSp>
          <p:nvGrpSpPr>
            <p:cNvPr id="30" name="Grupo 29"/>
            <p:cNvGrpSpPr/>
            <p:nvPr/>
          </p:nvGrpSpPr>
          <p:grpSpPr>
            <a:xfrm>
              <a:off x="5207684" y="4337720"/>
              <a:ext cx="1852043" cy="1197444"/>
              <a:chOff x="5207684" y="4337720"/>
              <a:chExt cx="1852043" cy="1197444"/>
            </a:xfrm>
          </p:grpSpPr>
          <p:sp>
            <p:nvSpPr>
              <p:cNvPr id="38" name="CaixaDeTexto 37"/>
              <p:cNvSpPr txBox="1"/>
              <p:nvPr/>
            </p:nvSpPr>
            <p:spPr>
              <a:xfrm>
                <a:off x="5207684" y="4337720"/>
                <a:ext cx="1852043" cy="11974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  <a:prstDash val="sysDash"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pt-BR" sz="2400" dirty="0" smtClean="0">
                  <a:solidFill>
                    <a:schemeClr val="bg1">
                      <a:lumMod val="50000"/>
                    </a:schemeClr>
                  </a:solidFill>
                  <a:latin typeface="Gill Sans"/>
                </a:endParaRPr>
              </a:p>
            </p:txBody>
          </p:sp>
          <p:sp>
            <p:nvSpPr>
              <p:cNvPr id="37" name="CaixaDeTexto 36"/>
              <p:cNvSpPr txBox="1"/>
              <p:nvPr/>
            </p:nvSpPr>
            <p:spPr>
              <a:xfrm>
                <a:off x="5259856" y="4644802"/>
                <a:ext cx="1683675" cy="407353"/>
              </a:xfrm>
              <a:prstGeom prst="rect">
                <a:avLst/>
              </a:prstGeom>
              <a:solidFill>
                <a:schemeClr val="bg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BR" sz="2400" dirty="0" smtClean="0">
                    <a:solidFill>
                      <a:schemeClr val="bg1">
                        <a:lumMod val="50000"/>
                      </a:schemeClr>
                    </a:solidFill>
                    <a:latin typeface="Gill Sans"/>
                  </a:rPr>
                  <a:t>Exemplo</a:t>
                </a:r>
              </a:p>
            </p:txBody>
          </p:sp>
        </p:grpSp>
      </p:grpSp>
      <p:sp>
        <p:nvSpPr>
          <p:cNvPr id="40" name="CaixaDeTexto 39"/>
          <p:cNvSpPr txBox="1"/>
          <p:nvPr/>
        </p:nvSpPr>
        <p:spPr>
          <a:xfrm>
            <a:off x="10699044" y="1779340"/>
            <a:ext cx="1683675" cy="407353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Gill Sans"/>
              </a:rPr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5779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heme/theme1.xml><?xml version="1.0" encoding="utf-8"?>
<a:theme xmlns:a="http://schemas.openxmlformats.org/drawingml/2006/main" name="4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asta" ma:contentTypeID="0x012000BAA5ED8EE6388645B769626151DBEE91" ma:contentTypeVersion="0" ma:contentTypeDescription="Crie uma nova pasta." ma:contentTypeScope="" ma:versionID="c362ef125ec5f6e96bd642d33998fa8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ceae06c93b83b44ce5ec9c260e78d7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Contagem de Itens Filhos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Contagem de Elementos Filho da Pasta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B8FB9-CA55-4FE3-979B-7DC49693F7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BCBDA6-2E36-4CB7-B64B-EBB9C7049DE9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C9E1019-BF80-48D8-AEA7-3A4187FBED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26695</TotalTime>
  <Words>114</Words>
  <Application>Microsoft Office PowerPoint</Application>
  <PresentationFormat>Personalizar</PresentationFormat>
  <Paragraphs>19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40_6096</vt:lpstr>
      <vt:lpstr>5 Nome do Indicador (unidade de medida, periodicidade)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BR92449</dc:creator>
  <cp:lastModifiedBy>Felipe Alves de Lima</cp:lastModifiedBy>
  <cp:revision>2691</cp:revision>
  <cp:lastPrinted>2014-05-15T19:48:27Z</cp:lastPrinted>
  <dcterms:created xsi:type="dcterms:W3CDTF">2013-06-28T13:33:22Z</dcterms:created>
  <dcterms:modified xsi:type="dcterms:W3CDTF">2015-07-07T16:19:55Z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0x012000BAA5ED8EE6388645B769626151DBEE91</vt:lpwstr>
  </property>
</Properties>
</file>