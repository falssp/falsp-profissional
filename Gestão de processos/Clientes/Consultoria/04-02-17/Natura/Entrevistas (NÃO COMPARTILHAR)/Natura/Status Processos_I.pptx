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ags/tag7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6.xml" ContentType="application/vnd.openxmlformats-officedocument.presentationml.tags+xml"/>
  <Override PartName="/ppt/tags/tag5.xml" ContentType="application/vnd.openxmlformats-officedocument.presentationml.tags+xml"/>
  <Override PartName="/ppt/tags/tag9.xml" ContentType="application/vnd.openxmlformats-officedocument.presentationml.tags+xml"/>
  <Override PartName="/ppt/tags/tag13.xml" ContentType="application/vnd.openxmlformats-officedocument.presentationml.tags+xml"/>
  <Override PartName="/ppt/tags/tag12.xml" ContentType="application/vnd.openxmlformats-officedocument.presentationml.tags+xml"/>
  <Override PartName="/ppt/tags/tag4.xml" ContentType="application/vnd.openxmlformats-officedocument.presentationml.tags+xml"/>
  <Override PartName="/ppt/tags/tag8.xml" ContentType="application/vnd.openxmlformats-officedocument.presentationml.tag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90" r:id="rId2"/>
  </p:sldMasterIdLst>
  <p:notesMasterIdLst>
    <p:notesMasterId r:id="rId19"/>
  </p:notesMasterIdLst>
  <p:sldIdLst>
    <p:sldId id="543" r:id="rId3"/>
    <p:sldId id="604" r:id="rId4"/>
    <p:sldId id="605" r:id="rId5"/>
    <p:sldId id="607" r:id="rId6"/>
    <p:sldId id="608" r:id="rId7"/>
    <p:sldId id="610" r:id="rId8"/>
    <p:sldId id="606" r:id="rId9"/>
    <p:sldId id="611" r:id="rId10"/>
    <p:sldId id="600" r:id="rId11"/>
    <p:sldId id="593" r:id="rId12"/>
    <p:sldId id="595" r:id="rId13"/>
    <p:sldId id="596" r:id="rId14"/>
    <p:sldId id="597" r:id="rId15"/>
    <p:sldId id="598" r:id="rId16"/>
    <p:sldId id="599" r:id="rId17"/>
    <p:sldId id="552" r:id="rId18"/>
  </p:sldIdLst>
  <p:sldSz cx="13004800" cy="9753600"/>
  <p:notesSz cx="6858000" cy="9144000"/>
  <p:defaultTextStyle>
    <a:defPPr>
      <a:defRPr lang="pt-BR"/>
    </a:defPPr>
    <a:lvl1pPr marL="0" algn="l" defTabSz="1299677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1pPr>
    <a:lvl2pPr marL="649837" algn="l" defTabSz="1299677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2pPr>
    <a:lvl3pPr marL="1299677" algn="l" defTabSz="1299677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3pPr>
    <a:lvl4pPr marL="1949516" algn="l" defTabSz="1299677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4pPr>
    <a:lvl5pPr marL="2599351" algn="l" defTabSz="1299677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5pPr>
    <a:lvl6pPr marL="3249189" algn="l" defTabSz="1299677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6pPr>
    <a:lvl7pPr marL="3899030" algn="l" defTabSz="1299677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7pPr>
    <a:lvl8pPr marL="4548867" algn="l" defTabSz="1299677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8pPr>
    <a:lvl9pPr marL="5198704" algn="l" defTabSz="1299677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392">
          <p15:clr>
            <a:srgbClr val="A4A3A4"/>
          </p15:clr>
        </p15:guide>
        <p15:guide id="2" pos="10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EBF1"/>
    <a:srgbClr val="4D1D40"/>
    <a:srgbClr val="660066"/>
    <a:srgbClr val="D5CBDF"/>
    <a:srgbClr val="E2DBE9"/>
    <a:srgbClr val="F5F5F5"/>
    <a:srgbClr val="003366"/>
    <a:srgbClr val="F7F7F7"/>
    <a:srgbClr val="FDFDFD"/>
    <a:srgbClr val="F9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Estilo Médio 3 - Ênfas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Estilo Claro 2 - Ênfas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Estilo Médio 3 - 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Estilo Claro 2 - Ênfase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176" autoAdjust="0"/>
    <p:restoredTop sz="97158" autoAdjust="0"/>
  </p:normalViewPr>
  <p:slideViewPr>
    <p:cSldViewPr>
      <p:cViewPr>
        <p:scale>
          <a:sx n="50" d="100"/>
          <a:sy n="50" d="100"/>
        </p:scale>
        <p:origin x="-1638" y="-72"/>
      </p:cViewPr>
      <p:guideLst>
        <p:guide orient="horz" pos="2392"/>
        <p:guide pos="1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349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customXml" Target="../customXml/item3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customXml" Target="../customXml/item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customXml" Target="../customXml/item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2F52EB-D4B5-4102-889B-66AED3E1D7F7}" type="datetimeFigureOut">
              <a:rPr lang="pt-BR" smtClean="0"/>
              <a:t>05/11/2014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E73931-211D-4104-B52D-C33A2E0954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9064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99677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649837" algn="l" defTabSz="1299677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1299677" algn="l" defTabSz="1299677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949516" algn="l" defTabSz="1299677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2599351" algn="l" defTabSz="1299677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3249189" algn="l" defTabSz="1299677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3899030" algn="l" defTabSz="1299677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4548867" algn="l" defTabSz="1299677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5198704" algn="l" defTabSz="1299677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844675" y="1247775"/>
            <a:ext cx="10528300" cy="7896225"/>
          </a:xfrm>
          <a:ln/>
        </p:spPr>
      </p:sp>
      <p:sp>
        <p:nvSpPr>
          <p:cNvPr id="344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8254" y="86169"/>
            <a:ext cx="6123900" cy="242438"/>
          </a:xfrm>
          <a:noFill/>
          <a:ln/>
        </p:spPr>
        <p:txBody>
          <a:bodyPr/>
          <a:lstStyle/>
          <a:p>
            <a:endParaRPr lang="pt-BR" smtClean="0">
              <a:ea typeface="ＭＳ Ｐゴシック" pitchFamily="12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2.xml"/><Relationship Id="rId7" Type="http://schemas.openxmlformats.org/officeDocument/2006/relationships/oleObject" Target="../embeddings/oleObject1.bin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4.xml"/><Relationship Id="rId10" Type="http://schemas.openxmlformats.org/officeDocument/2006/relationships/image" Target="../media/image3.png"/><Relationship Id="rId4" Type="http://schemas.openxmlformats.org/officeDocument/2006/relationships/tags" Target="../tags/tag3.xml"/><Relationship Id="rId9" Type="http://schemas.openxmlformats.org/officeDocument/2006/relationships/image" Target="../media/image2.jpe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tags" Target="../tags/tag6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5.xml"/><Relationship Id="rId1" Type="http://schemas.openxmlformats.org/officeDocument/2006/relationships/vmlDrawing" Target="../drawings/vmlDrawing2.v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10" Type="http://schemas.openxmlformats.org/officeDocument/2006/relationships/image" Target="../media/image4.png"/><Relationship Id="rId4" Type="http://schemas.openxmlformats.org/officeDocument/2006/relationships/tags" Target="../tags/tag7.xml"/><Relationship Id="rId9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4.bin"/><Relationship Id="rId4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75360" y="3029941"/>
            <a:ext cx="11054080" cy="2090702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950720" y="5527040"/>
            <a:ext cx="9103360" cy="249258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498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996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495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5993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49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8990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5488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1987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05/11/2014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57830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05/11/2014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6904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27290" y="6267606"/>
            <a:ext cx="11054080" cy="1937173"/>
          </a:xfrm>
        </p:spPr>
        <p:txBody>
          <a:bodyPr anchor="t"/>
          <a:lstStyle>
            <a:lvl1pPr algn="l">
              <a:defRPr sz="57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27290" y="4134007"/>
            <a:ext cx="11054080" cy="2133599"/>
          </a:xfrm>
        </p:spPr>
        <p:txBody>
          <a:bodyPr anchor="b"/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649837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299677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3pPr>
            <a:lvl4pPr marL="194951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marL="259935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marL="3249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marL="389903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marL="45488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marL="519870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05/11/2014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3649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50240" y="2275855"/>
            <a:ext cx="5743787" cy="6436925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8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610773" y="2275855"/>
            <a:ext cx="5743787" cy="6436925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8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05/11/2014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0454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50240" y="2183272"/>
            <a:ext cx="5746045" cy="909884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49837" indent="0">
              <a:buNone/>
              <a:defRPr sz="2800" b="1"/>
            </a:lvl2pPr>
            <a:lvl3pPr marL="1299677" indent="0">
              <a:buNone/>
              <a:defRPr sz="2600" b="1"/>
            </a:lvl3pPr>
            <a:lvl4pPr marL="1949516" indent="0">
              <a:buNone/>
              <a:defRPr sz="2300" b="1"/>
            </a:lvl4pPr>
            <a:lvl5pPr marL="2599351" indent="0">
              <a:buNone/>
              <a:defRPr sz="2300" b="1"/>
            </a:lvl5pPr>
            <a:lvl6pPr marL="3249189" indent="0">
              <a:buNone/>
              <a:defRPr sz="2300" b="1"/>
            </a:lvl6pPr>
            <a:lvl7pPr marL="3899030" indent="0">
              <a:buNone/>
              <a:defRPr sz="2300" b="1"/>
            </a:lvl7pPr>
            <a:lvl8pPr marL="4548867" indent="0">
              <a:buNone/>
              <a:defRPr sz="2300" b="1"/>
            </a:lvl8pPr>
            <a:lvl9pPr marL="5198704" indent="0">
              <a:buNone/>
              <a:defRPr sz="23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0240" y="3093155"/>
            <a:ext cx="5746045" cy="5619610"/>
          </a:xfrm>
        </p:spPr>
        <p:txBody>
          <a:bodyPr/>
          <a:lstStyle>
            <a:lvl1pPr>
              <a:defRPr sz="3400"/>
            </a:lvl1pPr>
            <a:lvl2pPr>
              <a:defRPr sz="28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606261" y="2183272"/>
            <a:ext cx="5748302" cy="909884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49837" indent="0">
              <a:buNone/>
              <a:defRPr sz="2800" b="1"/>
            </a:lvl2pPr>
            <a:lvl3pPr marL="1299677" indent="0">
              <a:buNone/>
              <a:defRPr sz="2600" b="1"/>
            </a:lvl3pPr>
            <a:lvl4pPr marL="1949516" indent="0">
              <a:buNone/>
              <a:defRPr sz="2300" b="1"/>
            </a:lvl4pPr>
            <a:lvl5pPr marL="2599351" indent="0">
              <a:buNone/>
              <a:defRPr sz="2300" b="1"/>
            </a:lvl5pPr>
            <a:lvl6pPr marL="3249189" indent="0">
              <a:buNone/>
              <a:defRPr sz="2300" b="1"/>
            </a:lvl6pPr>
            <a:lvl7pPr marL="3899030" indent="0">
              <a:buNone/>
              <a:defRPr sz="2300" b="1"/>
            </a:lvl7pPr>
            <a:lvl8pPr marL="4548867" indent="0">
              <a:buNone/>
              <a:defRPr sz="2300" b="1"/>
            </a:lvl8pPr>
            <a:lvl9pPr marL="5198704" indent="0">
              <a:buNone/>
              <a:defRPr sz="23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606261" y="3093155"/>
            <a:ext cx="5748302" cy="5619610"/>
          </a:xfrm>
        </p:spPr>
        <p:txBody>
          <a:bodyPr/>
          <a:lstStyle>
            <a:lvl1pPr>
              <a:defRPr sz="3400"/>
            </a:lvl1pPr>
            <a:lvl2pPr>
              <a:defRPr sz="28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05/11/2014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1268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05/11/2014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8850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05/11/2014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7574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50243" y="388338"/>
            <a:ext cx="4278490" cy="1652693"/>
          </a:xfrm>
        </p:spPr>
        <p:txBody>
          <a:bodyPr anchor="b"/>
          <a:lstStyle>
            <a:lvl1pPr algn="l">
              <a:defRPr sz="28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084516" y="388353"/>
            <a:ext cx="7270044" cy="8324427"/>
          </a:xfrm>
        </p:spPr>
        <p:txBody>
          <a:bodyPr/>
          <a:lstStyle>
            <a:lvl1pPr>
              <a:defRPr sz="4600"/>
            </a:lvl1pPr>
            <a:lvl2pPr>
              <a:defRPr sz="4000"/>
            </a:lvl2pPr>
            <a:lvl3pPr>
              <a:defRPr sz="34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50243" y="2041036"/>
            <a:ext cx="4278490" cy="6671734"/>
          </a:xfrm>
        </p:spPr>
        <p:txBody>
          <a:bodyPr/>
          <a:lstStyle>
            <a:lvl1pPr marL="0" indent="0">
              <a:buNone/>
              <a:defRPr sz="2000"/>
            </a:lvl1pPr>
            <a:lvl2pPr marL="649837" indent="0">
              <a:buNone/>
              <a:defRPr sz="1700"/>
            </a:lvl2pPr>
            <a:lvl3pPr marL="1299677" indent="0">
              <a:buNone/>
              <a:defRPr sz="1400"/>
            </a:lvl3pPr>
            <a:lvl4pPr marL="1949516" indent="0">
              <a:buNone/>
              <a:defRPr sz="1300"/>
            </a:lvl4pPr>
            <a:lvl5pPr marL="2599351" indent="0">
              <a:buNone/>
              <a:defRPr sz="1300"/>
            </a:lvl5pPr>
            <a:lvl6pPr marL="3249189" indent="0">
              <a:buNone/>
              <a:defRPr sz="1300"/>
            </a:lvl6pPr>
            <a:lvl7pPr marL="3899030" indent="0">
              <a:buNone/>
              <a:defRPr sz="1300"/>
            </a:lvl7pPr>
            <a:lvl8pPr marL="4548867" indent="0">
              <a:buNone/>
              <a:defRPr sz="1300"/>
            </a:lvl8pPr>
            <a:lvl9pPr marL="5198704" indent="0">
              <a:buNone/>
              <a:defRPr sz="13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05/11/2014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3910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49032" y="6827520"/>
            <a:ext cx="7802880" cy="806027"/>
          </a:xfrm>
        </p:spPr>
        <p:txBody>
          <a:bodyPr anchor="b"/>
          <a:lstStyle>
            <a:lvl1pPr algn="l">
              <a:defRPr sz="28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549032" y="871502"/>
            <a:ext cx="7802880" cy="5852160"/>
          </a:xfrm>
        </p:spPr>
        <p:txBody>
          <a:bodyPr/>
          <a:lstStyle>
            <a:lvl1pPr marL="0" indent="0">
              <a:buNone/>
              <a:defRPr sz="4600"/>
            </a:lvl1pPr>
            <a:lvl2pPr marL="649837" indent="0">
              <a:buNone/>
              <a:defRPr sz="4000"/>
            </a:lvl2pPr>
            <a:lvl3pPr marL="1299677" indent="0">
              <a:buNone/>
              <a:defRPr sz="3400"/>
            </a:lvl3pPr>
            <a:lvl4pPr marL="1949516" indent="0">
              <a:buNone/>
              <a:defRPr sz="2800"/>
            </a:lvl4pPr>
            <a:lvl5pPr marL="2599351" indent="0">
              <a:buNone/>
              <a:defRPr sz="2800"/>
            </a:lvl5pPr>
            <a:lvl6pPr marL="3249189" indent="0">
              <a:buNone/>
              <a:defRPr sz="2800"/>
            </a:lvl6pPr>
            <a:lvl7pPr marL="3899030" indent="0">
              <a:buNone/>
              <a:defRPr sz="2800"/>
            </a:lvl7pPr>
            <a:lvl8pPr marL="4548867" indent="0">
              <a:buNone/>
              <a:defRPr sz="2800"/>
            </a:lvl8pPr>
            <a:lvl9pPr marL="5198704" indent="0">
              <a:buNone/>
              <a:defRPr sz="2800"/>
            </a:lvl9pPr>
          </a:lstStyle>
          <a:p>
            <a:r>
              <a:rPr lang="pt-BR" smtClean="0"/>
              <a:t>Clique no ícone para adicionar uma imagem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549032" y="7633547"/>
            <a:ext cx="7802880" cy="1144693"/>
          </a:xfrm>
        </p:spPr>
        <p:txBody>
          <a:bodyPr/>
          <a:lstStyle>
            <a:lvl1pPr marL="0" indent="0">
              <a:buNone/>
              <a:defRPr sz="2000"/>
            </a:lvl1pPr>
            <a:lvl2pPr marL="649837" indent="0">
              <a:buNone/>
              <a:defRPr sz="1700"/>
            </a:lvl2pPr>
            <a:lvl3pPr marL="1299677" indent="0">
              <a:buNone/>
              <a:defRPr sz="1400"/>
            </a:lvl3pPr>
            <a:lvl4pPr marL="1949516" indent="0">
              <a:buNone/>
              <a:defRPr sz="1300"/>
            </a:lvl4pPr>
            <a:lvl5pPr marL="2599351" indent="0">
              <a:buNone/>
              <a:defRPr sz="1300"/>
            </a:lvl5pPr>
            <a:lvl6pPr marL="3249189" indent="0">
              <a:buNone/>
              <a:defRPr sz="1300"/>
            </a:lvl6pPr>
            <a:lvl7pPr marL="3899030" indent="0">
              <a:buNone/>
              <a:defRPr sz="1300"/>
            </a:lvl7pPr>
            <a:lvl8pPr marL="4548867" indent="0">
              <a:buNone/>
              <a:defRPr sz="1300"/>
            </a:lvl8pPr>
            <a:lvl9pPr marL="5198704" indent="0">
              <a:buNone/>
              <a:defRPr sz="13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05/11/2014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004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05/11/2014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7012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428480" y="390608"/>
            <a:ext cx="2926080" cy="8322169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50240" y="390608"/>
            <a:ext cx="8561493" cy="8322169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05/11/2014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81169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650240" y="390604"/>
            <a:ext cx="11704320" cy="832216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27346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4" y="9"/>
          <a:ext cx="158751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0" name="think-cell Slide" r:id="rId7" imgW="270" imgH="270" progId="">
                  <p:embed/>
                </p:oleObj>
              </mc:Choice>
              <mc:Fallback>
                <p:oleObj name="think-cell Slide" r:id="rId7" imgW="270" imgH="27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" y="9"/>
                        <a:ext cx="158751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1" descr="DanielPinheiro_JB_0080.jpg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004800" cy="975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/>
          <p:cNvSpPr>
            <a:spLocks/>
          </p:cNvSpPr>
          <p:nvPr userDrawn="1">
            <p:custDataLst>
              <p:tags r:id="rId4"/>
            </p:custDataLst>
          </p:nvPr>
        </p:nvSpPr>
        <p:spPr bwMode="auto">
          <a:xfrm>
            <a:off x="711204" y="8858268"/>
            <a:ext cx="1384302" cy="139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5230" bIns="0"/>
          <a:lstStyle/>
          <a:p>
            <a:pPr marL="42411" defTabSz="1016234"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rgbClr val="FFFFFF"/>
                </a:solidFill>
                <a:latin typeface="Gill Sans Std" pitchFamily="34" charset="0"/>
                <a:ea typeface="ヒラギノ角ゴ ProN W3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7" name="Picture 8" descr="NAT_marca_branca_natura-01.png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1555" y="8066096"/>
            <a:ext cx="1001712" cy="914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762004" y="1204395"/>
            <a:ext cx="11703051" cy="3672410"/>
          </a:xfrm>
          <a:prstGeom prst="rect">
            <a:avLst/>
          </a:prstGeom>
        </p:spPr>
        <p:txBody>
          <a:bodyPr lIns="101791" tIns="50895" rIns="101791" bIns="50895"/>
          <a:lstStyle>
            <a:lvl1pPr algn="l">
              <a:defRPr lang="en-US" sz="10700" kern="1200" smtClean="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742955" y="5403879"/>
            <a:ext cx="11717338" cy="822325"/>
          </a:xfrm>
          <a:prstGeom prst="rect">
            <a:avLst/>
          </a:prstGeom>
        </p:spPr>
        <p:txBody>
          <a:bodyPr lIns="101791" tIns="50895" rIns="101791" bIns="50895">
            <a:norm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700" kern="1200" dirty="0" smtClean="0">
                <a:solidFill>
                  <a:srgbClr val="FFFFFF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161111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4" y="9"/>
          <a:ext cx="158751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4" name="think-cell Slide" r:id="rId8" imgW="270" imgH="270" progId="">
                  <p:embed/>
                </p:oleObj>
              </mc:Choice>
              <mc:Fallback>
                <p:oleObj name="think-cell Slide" r:id="rId8" imgW="270" imgH="27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" y="9"/>
                        <a:ext cx="158751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2"/>
          <p:cNvSpPr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31" y="406400"/>
            <a:ext cx="8534401" cy="8940800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1016234" fontAlgn="base">
              <a:spcBef>
                <a:spcPct val="0"/>
              </a:spcBef>
              <a:spcAft>
                <a:spcPct val="0"/>
              </a:spcAft>
            </a:pPr>
            <a:endParaRPr lang="pt-BR" sz="4700" dirty="0">
              <a:solidFill>
                <a:srgbClr val="000000"/>
              </a:solidFill>
              <a:latin typeface="GillSans" pitchFamily="34" charset="0"/>
              <a:ea typeface="ヒラギノ角ゴ ProN W3" charset="-128"/>
              <a:sym typeface="GillSans" pitchFamily="34" charset="0"/>
            </a:endParaRPr>
          </a:p>
        </p:txBody>
      </p:sp>
      <p:sp>
        <p:nvSpPr>
          <p:cNvPr id="5" name="Rectangle 15"/>
          <p:cNvSpPr>
            <a:spLocks/>
          </p:cNvSpPr>
          <p:nvPr userDrawn="1">
            <p:custDataLst>
              <p:tags r:id="rId4"/>
            </p:custDataLst>
          </p:nvPr>
        </p:nvSpPr>
        <p:spPr bwMode="auto">
          <a:xfrm>
            <a:off x="711204" y="800127"/>
            <a:ext cx="7683500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1016234" fontAlgn="base">
              <a:spcBef>
                <a:spcPct val="0"/>
              </a:spcBef>
              <a:spcAft>
                <a:spcPct val="0"/>
              </a:spcAft>
            </a:pPr>
            <a:r>
              <a:rPr lang="en-US" sz="3800" dirty="0">
                <a:solidFill>
                  <a:srgbClr val="8F993E"/>
                </a:solidFill>
                <a:latin typeface="Gill Sans Std" pitchFamily="34" charset="0"/>
                <a:ea typeface="ヒラギノ角ゴ ProN W3" charset="-128"/>
                <a:sym typeface="Gill Sans Std" pitchFamily="34" charset="0"/>
              </a:rPr>
              <a:t>agenda</a:t>
            </a:r>
          </a:p>
        </p:txBody>
      </p:sp>
      <p:sp>
        <p:nvSpPr>
          <p:cNvPr id="6" name="Rectangle 3"/>
          <p:cNvSpPr>
            <a:spLocks/>
          </p:cNvSpPr>
          <p:nvPr userDrawn="1">
            <p:custDataLst>
              <p:tags r:id="rId5"/>
            </p:custDataLst>
          </p:nvPr>
        </p:nvSpPr>
        <p:spPr bwMode="auto">
          <a:xfrm>
            <a:off x="711204" y="8858268"/>
            <a:ext cx="1384302" cy="139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5230" bIns="0"/>
          <a:lstStyle/>
          <a:p>
            <a:pPr marL="42411" defTabSz="1016234"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rgbClr val="8F993E"/>
                </a:solidFill>
                <a:latin typeface="Gill Sans Std" pitchFamily="34" charset="0"/>
                <a:ea typeface="ヒラギノ角ゴ ProN W3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7" name="Picture 15" descr="NAT_marca_oficial_natura.png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1555" y="8066096"/>
            <a:ext cx="1001712" cy="914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754282" y="3200407"/>
            <a:ext cx="3570761" cy="736602"/>
          </a:xfrm>
          <a:prstGeom prst="rect">
            <a:avLst/>
          </a:prstGeom>
        </p:spPr>
        <p:txBody>
          <a:bodyPr lIns="101791" tIns="50895" rIns="101791" bIns="50895"/>
          <a:lstStyle>
            <a:lvl1pPr algn="l">
              <a:defRPr lang="en-US" sz="2700" kern="1200" dirty="0" smtClean="0">
                <a:solidFill>
                  <a:srgbClr val="8F993E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565621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 userDrawn="1"/>
        </p:nvSpPr>
        <p:spPr bwMode="auto">
          <a:xfrm>
            <a:off x="0" y="0"/>
            <a:ext cx="13004800" cy="9753600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1791" tIns="50895" rIns="101791" bIns="50895"/>
          <a:lstStyle/>
          <a:p>
            <a:pPr algn="ctr" defTabSz="1016234" fontAlgn="base">
              <a:spcBef>
                <a:spcPct val="0"/>
              </a:spcBef>
              <a:spcAft>
                <a:spcPct val="0"/>
              </a:spcAft>
            </a:pPr>
            <a:endParaRPr lang="pt-BR" sz="4700" dirty="0">
              <a:solidFill>
                <a:srgbClr val="000000"/>
              </a:solidFill>
              <a:latin typeface="GillSans" pitchFamily="34" charset="0"/>
              <a:ea typeface="ヒラギノ角ゴ ProN W3" charset="-128"/>
              <a:sym typeface="GillSans" pitchFamily="34" charset="0"/>
            </a:endParaRPr>
          </a:p>
        </p:txBody>
      </p:sp>
      <p:sp>
        <p:nvSpPr>
          <p:cNvPr id="4" name="Rectangle 5"/>
          <p:cNvSpPr>
            <a:spLocks/>
          </p:cNvSpPr>
          <p:nvPr userDrawn="1"/>
        </p:nvSpPr>
        <p:spPr bwMode="auto">
          <a:xfrm>
            <a:off x="711204" y="8858268"/>
            <a:ext cx="1384302" cy="139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5230" bIns="0"/>
          <a:lstStyle/>
          <a:p>
            <a:pPr marL="42411" defTabSz="1016234"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rgbClr val="D9D9D6"/>
                </a:solidFill>
                <a:latin typeface="Gill Sans Std" pitchFamily="34" charset="0"/>
                <a:ea typeface="ヒラギノ角ゴ ProN W3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5" name="Picture 6" descr="NAT_marca_branca_natura-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1555" y="8066096"/>
            <a:ext cx="1001712" cy="914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650885" y="3195191"/>
            <a:ext cx="9267824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508941" bIns="0" anchor="t"/>
          <a:lstStyle>
            <a:lvl1pPr algn="l">
              <a:defRPr lang="pt-BR" sz="11100">
                <a:solidFill>
                  <a:srgbClr val="8F993E"/>
                </a:solidFill>
                <a:latin typeface="Gill Sans Std ExtraBol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666198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" hidden="1"/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4" y="9"/>
          <a:ext cx="158751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78" name="think-cell Slide" r:id="rId5" imgW="270" imgH="270" progId="">
                  <p:embed/>
                </p:oleObj>
              </mc:Choice>
              <mc:Fallback>
                <p:oleObj name="think-cell Slide" r:id="rId5" imgW="270" imgH="270" progId="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" y="9"/>
                        <a:ext cx="158751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4"/>
          <p:cNvSpPr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238149" y="773137"/>
            <a:ext cx="12528550" cy="7775573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1016234" fontAlgn="base">
              <a:spcBef>
                <a:spcPct val="0"/>
              </a:spcBef>
              <a:spcAft>
                <a:spcPct val="0"/>
              </a:spcAft>
            </a:pPr>
            <a:endParaRPr lang="pt-BR" sz="4700" dirty="0">
              <a:solidFill>
                <a:srgbClr val="B7A99A"/>
              </a:solidFill>
              <a:latin typeface="GillSans" pitchFamily="34" charset="0"/>
              <a:ea typeface="ヒラギノ角ゴ ProN W3" charset="-128"/>
              <a:sym typeface="GillSans" pitchFamily="34" charset="0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53731" y="888147"/>
            <a:ext cx="8155782" cy="875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38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6" name="Rectangle 5"/>
          <p:cNvSpPr>
            <a:spLocks/>
          </p:cNvSpPr>
          <p:nvPr userDrawn="1"/>
        </p:nvSpPr>
        <p:spPr bwMode="auto">
          <a:xfrm>
            <a:off x="11166777" y="556325"/>
            <a:ext cx="1384302" cy="139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45237" bIns="0"/>
          <a:lstStyle/>
          <a:p>
            <a:pPr marL="44181" defTabSz="913355"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rgbClr val="8F993E"/>
                </a:solidFill>
                <a:latin typeface="Gill Sans Std" pitchFamily="34" charset="0"/>
                <a:ea typeface="ヒラギノ角ゴ ProN W3" charset="-128"/>
                <a:sym typeface="Gill Sans Std" pitchFamily="34" charset="0"/>
              </a:rPr>
              <a:t>[ CONFIDENCIAL ]</a:t>
            </a:r>
          </a:p>
        </p:txBody>
      </p:sp>
    </p:spTree>
    <p:extLst>
      <p:ext uri="{BB962C8B-B14F-4D97-AF65-F5344CB8AC3E}">
        <p14:creationId xmlns:p14="http://schemas.microsoft.com/office/powerpoint/2010/main" val="22901942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/>
          <p:cNvSpPr>
            <a:spLocks noGrp="1"/>
          </p:cNvSpPr>
          <p:nvPr>
            <p:ph type="title"/>
          </p:nvPr>
        </p:nvSpPr>
        <p:spPr>
          <a:xfrm>
            <a:off x="453731" y="888147"/>
            <a:ext cx="8155782" cy="875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38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6" name="Rectangle 5"/>
          <p:cNvSpPr>
            <a:spLocks/>
          </p:cNvSpPr>
          <p:nvPr userDrawn="1"/>
        </p:nvSpPr>
        <p:spPr bwMode="auto">
          <a:xfrm>
            <a:off x="11166777" y="556325"/>
            <a:ext cx="1384302" cy="139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45237" bIns="0"/>
          <a:lstStyle/>
          <a:p>
            <a:pPr marL="44181" defTabSz="913355"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rgbClr val="8F993E"/>
                </a:solidFill>
                <a:latin typeface="Gill Sans Std" pitchFamily="34" charset="0"/>
                <a:ea typeface="ヒラギノ角ゴ ProN W3" charset="-128"/>
                <a:sym typeface="Gill Sans Std" pitchFamily="34" charset="0"/>
              </a:rPr>
              <a:t>[ CONFIDENCIAL ]</a:t>
            </a:r>
          </a:p>
        </p:txBody>
      </p:sp>
    </p:spTree>
    <p:extLst>
      <p:ext uri="{BB962C8B-B14F-4D97-AF65-F5344CB8AC3E}">
        <p14:creationId xmlns:p14="http://schemas.microsoft.com/office/powerpoint/2010/main" val="33054132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" hidden="1"/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4" y="9"/>
          <a:ext cx="158751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02" name="think-cell Slide" r:id="rId5" imgW="270" imgH="270" progId="">
                  <p:embed/>
                </p:oleObj>
              </mc:Choice>
              <mc:Fallback>
                <p:oleObj name="think-cell Slide" r:id="rId5" imgW="270" imgH="270" progId="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" y="9"/>
                        <a:ext cx="158751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4"/>
          <p:cNvSpPr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238149" y="773117"/>
            <a:ext cx="12528550" cy="8712201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1016234" fontAlgn="base">
              <a:spcBef>
                <a:spcPct val="0"/>
              </a:spcBef>
              <a:spcAft>
                <a:spcPct val="0"/>
              </a:spcAft>
            </a:pPr>
            <a:endParaRPr lang="pt-BR" sz="4700" dirty="0">
              <a:solidFill>
                <a:srgbClr val="B7A99A"/>
              </a:solidFill>
              <a:latin typeface="GillSans" pitchFamily="34" charset="0"/>
              <a:ea typeface="ヒラギノ角ゴ ProN W3" charset="-128"/>
              <a:sym typeface="GillSans" pitchFamily="34" charset="0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53729" y="888147"/>
            <a:ext cx="12083200" cy="875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38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6" name="Rectangle 5"/>
          <p:cNvSpPr>
            <a:spLocks/>
          </p:cNvSpPr>
          <p:nvPr userDrawn="1"/>
        </p:nvSpPr>
        <p:spPr bwMode="auto">
          <a:xfrm>
            <a:off x="11166777" y="556325"/>
            <a:ext cx="1384302" cy="139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45237" bIns="0"/>
          <a:lstStyle/>
          <a:p>
            <a:pPr marL="44181" defTabSz="913355"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rgbClr val="8F993E"/>
                </a:solidFill>
                <a:latin typeface="Gill Sans Std" pitchFamily="34" charset="0"/>
                <a:ea typeface="ヒラギノ角ゴ ProN W3" charset="-128"/>
                <a:sym typeface="Gill Sans Std" pitchFamily="34" charset="0"/>
              </a:rPr>
              <a:t>[ CONFIDENCIAL ]</a:t>
            </a:r>
          </a:p>
        </p:txBody>
      </p:sp>
    </p:spTree>
    <p:extLst>
      <p:ext uri="{BB962C8B-B14F-4D97-AF65-F5344CB8AC3E}">
        <p14:creationId xmlns:p14="http://schemas.microsoft.com/office/powerpoint/2010/main" val="33078804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/>
          <p:cNvSpPr>
            <a:spLocks noGrp="1"/>
          </p:cNvSpPr>
          <p:nvPr>
            <p:ph type="title"/>
          </p:nvPr>
        </p:nvSpPr>
        <p:spPr>
          <a:xfrm>
            <a:off x="453729" y="888147"/>
            <a:ext cx="12083200" cy="875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38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5" name="Rectangle 5"/>
          <p:cNvSpPr>
            <a:spLocks/>
          </p:cNvSpPr>
          <p:nvPr userDrawn="1"/>
        </p:nvSpPr>
        <p:spPr bwMode="auto">
          <a:xfrm>
            <a:off x="11166777" y="556325"/>
            <a:ext cx="1384302" cy="139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45237" bIns="0"/>
          <a:lstStyle/>
          <a:p>
            <a:pPr marL="44181" defTabSz="913355"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rgbClr val="8F993E"/>
                </a:solidFill>
                <a:latin typeface="Gill Sans Std" pitchFamily="34" charset="0"/>
                <a:ea typeface="ヒラギノ角ゴ ProN W3" charset="-128"/>
                <a:sym typeface="Gill Sans Std" pitchFamily="34" charset="0"/>
              </a:rPr>
              <a:t>[ CONFIDENCIAL ]</a:t>
            </a:r>
          </a:p>
        </p:txBody>
      </p:sp>
    </p:spTree>
    <p:extLst>
      <p:ext uri="{BB962C8B-B14F-4D97-AF65-F5344CB8AC3E}">
        <p14:creationId xmlns:p14="http://schemas.microsoft.com/office/powerpoint/2010/main" val="2673188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/>
          </p:cNvSpPr>
          <p:nvPr userDrawn="1"/>
        </p:nvSpPr>
        <p:spPr bwMode="auto">
          <a:xfrm>
            <a:off x="711204" y="8858268"/>
            <a:ext cx="1384302" cy="139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5230" bIns="0"/>
          <a:lstStyle/>
          <a:p>
            <a:pPr marL="42411" defTabSz="1016234"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7" name="Picture 17" descr="NAT_marca_oficial_natura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1555" y="8066096"/>
            <a:ext cx="1001712" cy="914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762006" y="800113"/>
            <a:ext cx="7683500" cy="548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3800">
                <a:solidFill>
                  <a:srgbClr val="4E5B3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762008" y="1363662"/>
            <a:ext cx="7685089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2000" dirty="0">
                <a:solidFill>
                  <a:srgbClr val="4E5B31"/>
                </a:solidFill>
                <a:latin typeface="Gill Sans Std" pitchFamily="34" charset="0"/>
                <a:ea typeface="ヒラギノ角ゴ ProN W3" charset="-128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/>
          </p:nvPr>
        </p:nvSpPr>
        <p:spPr>
          <a:xfrm>
            <a:off x="762017" y="3155974"/>
            <a:ext cx="10204450" cy="4384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2700" smtClean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  <a:sym typeface="GillSans" pitchFamily="34" charset="0"/>
              </a:defRPr>
            </a:lvl1pPr>
            <a:lvl2pPr marL="190855" indent="0">
              <a:buNone/>
              <a:defRPr lang="en-US" sz="4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>
              <a:defRPr lang="en-US" sz="4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>
              <a:defRPr lang="en-US" sz="4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>
              <a:defRPr lang="pt-BR" sz="47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12"/>
          </p:nvPr>
        </p:nvSpPr>
        <p:spPr>
          <a:xfrm>
            <a:off x="762003" y="2411418"/>
            <a:ext cx="3581402" cy="736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2700" dirty="0">
                <a:solidFill>
                  <a:srgbClr val="4E5B31"/>
                </a:solidFill>
                <a:latin typeface="Gill Sans Std Light" pitchFamily="34" charset="0"/>
                <a:ea typeface="ヒラギノ角ゴ ProN W3" charset="-128"/>
                <a:sym typeface="GillSans" pitchFamily="34" charset="0"/>
              </a:defRPr>
            </a:lvl1pPr>
            <a:lvl2pPr marL="508941" indent="0">
              <a:buNone/>
              <a:defRPr/>
            </a:lvl2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1029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/>
          </p:cNvSpPr>
          <p:nvPr userDrawn="1"/>
        </p:nvSpPr>
        <p:spPr bwMode="auto">
          <a:xfrm>
            <a:off x="66681" y="9532956"/>
            <a:ext cx="1384302" cy="139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5230" bIns="0"/>
          <a:lstStyle/>
          <a:p>
            <a:pPr marL="42411" defTabSz="1016234"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  <a:sym typeface="Gill Sans Std" pitchFamily="34" charset="0"/>
              </a:rPr>
              <a:t>[ CONFIDENCIAL ]</a:t>
            </a:r>
          </a:p>
        </p:txBody>
      </p:sp>
      <p:sp>
        <p:nvSpPr>
          <p:cNvPr id="5" name="Rectangle 10"/>
          <p:cNvSpPr>
            <a:spLocks noChangeArrowheads="1"/>
          </p:cNvSpPr>
          <p:nvPr userDrawn="1"/>
        </p:nvSpPr>
        <p:spPr bwMode="auto">
          <a:xfrm>
            <a:off x="0" y="0"/>
            <a:ext cx="13004800" cy="9753600"/>
          </a:xfrm>
          <a:prstGeom prst="rect">
            <a:avLst/>
          </a:prstGeom>
          <a:solidFill>
            <a:srgbClr val="8F993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1810" tIns="50901" rIns="101810" bIns="50901"/>
          <a:lstStyle/>
          <a:p>
            <a:pPr algn="ctr" defTabSz="913355" fontAlgn="base">
              <a:spcBef>
                <a:spcPct val="0"/>
              </a:spcBef>
              <a:spcAft>
                <a:spcPct val="0"/>
              </a:spcAft>
            </a:pPr>
            <a:endParaRPr lang="pt-BR" sz="4700" dirty="0">
              <a:solidFill>
                <a:srgbClr val="000000"/>
              </a:solidFill>
              <a:latin typeface="GillSans" pitchFamily="34" charset="0"/>
              <a:ea typeface="ヒラギノ角ゴ ProN W3" charset="-128"/>
              <a:sym typeface="GillSans" pitchFamily="34" charset="0"/>
            </a:endParaRPr>
          </a:p>
        </p:txBody>
      </p:sp>
      <p:sp>
        <p:nvSpPr>
          <p:cNvPr id="7" name="Rectangle 5"/>
          <p:cNvSpPr>
            <a:spLocks/>
          </p:cNvSpPr>
          <p:nvPr userDrawn="1"/>
        </p:nvSpPr>
        <p:spPr bwMode="auto">
          <a:xfrm>
            <a:off x="711204" y="8858254"/>
            <a:ext cx="1384302" cy="139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5237" bIns="0"/>
          <a:lstStyle/>
          <a:p>
            <a:pPr marL="44181" defTabSz="913355"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prstClr val="white"/>
                </a:solidFill>
                <a:latin typeface="Gill Sans Std" pitchFamily="34" charset="0"/>
                <a:ea typeface="ヒラギノ角ゴ ProN W3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10" name="Picture 8" descr="NAT_marca_branca_natura-01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1555" y="8066096"/>
            <a:ext cx="1001712" cy="914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62006" y="800127"/>
            <a:ext cx="7683500" cy="774700"/>
          </a:xfrm>
          <a:prstGeom prst="rect">
            <a:avLst/>
          </a:prstGeom>
        </p:spPr>
        <p:txBody>
          <a:bodyPr lIns="101810" tIns="50901" rIns="101810" bIns="5090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pt-BR" sz="3800" kern="1200" dirty="0">
                <a:solidFill>
                  <a:srgbClr val="FFFFFF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760896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/>
          <p:cNvSpPr>
            <a:spLocks/>
          </p:cNvSpPr>
          <p:nvPr userDrawn="1"/>
        </p:nvSpPr>
        <p:spPr bwMode="auto">
          <a:xfrm>
            <a:off x="711204" y="8858268"/>
            <a:ext cx="1384302" cy="139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5230" bIns="0"/>
          <a:lstStyle/>
          <a:p>
            <a:pPr marL="42411" defTabSz="1016234"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13" name="Picture 17" descr="NAT_marca_oficial_natura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1555" y="8066096"/>
            <a:ext cx="1001712" cy="914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10"/>
          <p:cNvSpPr>
            <a:spLocks noGrp="1"/>
          </p:cNvSpPr>
          <p:nvPr>
            <p:ph type="title"/>
          </p:nvPr>
        </p:nvSpPr>
        <p:spPr>
          <a:xfrm>
            <a:off x="762006" y="800113"/>
            <a:ext cx="7683500" cy="548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3800">
                <a:solidFill>
                  <a:srgbClr val="4E5B3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762008" y="1363662"/>
            <a:ext cx="7685089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2000" dirty="0">
                <a:solidFill>
                  <a:srgbClr val="4E5B31"/>
                </a:solidFill>
                <a:latin typeface="Gill Sans Std" pitchFamily="34" charset="0"/>
                <a:ea typeface="ヒラギノ角ゴ ProN W3" charset="-128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15"/>
          <p:cNvSpPr>
            <a:spLocks noGrp="1"/>
          </p:cNvSpPr>
          <p:nvPr>
            <p:ph type="body" sz="quarter" idx="11"/>
          </p:nvPr>
        </p:nvSpPr>
        <p:spPr>
          <a:xfrm>
            <a:off x="762015" y="3167090"/>
            <a:ext cx="7036545" cy="4384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2700" smtClean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  <a:sym typeface="GillSans" pitchFamily="34" charset="0"/>
              </a:defRPr>
            </a:lvl1pPr>
            <a:lvl2pPr marL="190855" indent="0">
              <a:buNone/>
              <a:defRPr lang="en-US" sz="4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>
              <a:defRPr lang="en-US" sz="4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>
              <a:defRPr lang="en-US" sz="4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>
              <a:defRPr lang="pt-BR" sz="47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2"/>
          </p:nvPr>
        </p:nvSpPr>
        <p:spPr>
          <a:xfrm>
            <a:off x="762003" y="2411418"/>
            <a:ext cx="3581402" cy="736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2700" dirty="0">
                <a:solidFill>
                  <a:srgbClr val="4E5B31"/>
                </a:solidFill>
                <a:latin typeface="Gill Sans Std Light" pitchFamily="34" charset="0"/>
                <a:ea typeface="ヒラギノ角ゴ ProN W3" charset="-128"/>
                <a:sym typeface="GillSans" pitchFamily="34" charset="0"/>
              </a:defRPr>
            </a:lvl1pPr>
            <a:lvl2pPr marL="508941" indent="0">
              <a:buNone/>
              <a:defRPr/>
            </a:lvl2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8374609" y="3167090"/>
            <a:ext cx="3816351" cy="4384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2700" smtClean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</a:defRPr>
            </a:lvl1pPr>
            <a:lvl2pPr>
              <a:defRPr lang="en-US" sz="4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</a:defRPr>
            </a:lvl2pPr>
            <a:lvl3pPr>
              <a:defRPr lang="en-US" sz="4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</a:defRPr>
            </a:lvl3pPr>
            <a:lvl4pPr>
              <a:defRPr lang="en-US" sz="4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</a:defRPr>
            </a:lvl4pPr>
            <a:lvl5pPr>
              <a:defRPr lang="pt-BR" sz="4700">
                <a:solidFill>
                  <a:srgbClr val="000000"/>
                </a:solidFill>
                <a:latin typeface="GillSans" pitchFamily="34" charset="0"/>
                <a:ea typeface="ヒラギノ角ゴ ProN W3" charset="-128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735076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/>
          </p:cNvSpPr>
          <p:nvPr userDrawn="1"/>
        </p:nvSpPr>
        <p:spPr bwMode="auto">
          <a:xfrm>
            <a:off x="-50797" y="406415"/>
            <a:ext cx="8077202" cy="8966199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1016234" fontAlgn="base">
              <a:spcBef>
                <a:spcPct val="0"/>
              </a:spcBef>
              <a:spcAft>
                <a:spcPct val="0"/>
              </a:spcAft>
            </a:pPr>
            <a:endParaRPr lang="pt-BR" sz="4700" dirty="0">
              <a:solidFill>
                <a:srgbClr val="B7A99A"/>
              </a:solidFill>
              <a:latin typeface="GillSans" pitchFamily="34" charset="0"/>
              <a:ea typeface="ヒラギノ角ゴ ProN W3" charset="-128"/>
              <a:sym typeface="GillSans" pitchFamily="34" charset="0"/>
            </a:endParaRPr>
          </a:p>
        </p:txBody>
      </p:sp>
      <p:sp>
        <p:nvSpPr>
          <p:cNvPr id="6" name="Rectangle 2"/>
          <p:cNvSpPr>
            <a:spLocks/>
          </p:cNvSpPr>
          <p:nvPr userDrawn="1"/>
        </p:nvSpPr>
        <p:spPr bwMode="auto">
          <a:xfrm>
            <a:off x="711204" y="8858268"/>
            <a:ext cx="1384302" cy="139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5230" bIns="0"/>
          <a:lstStyle/>
          <a:p>
            <a:pPr marL="42411" defTabSz="1016234"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rgbClr val="D9D9D6"/>
                </a:solidFill>
                <a:latin typeface="Gill Sans Std" pitchFamily="34" charset="0"/>
                <a:ea typeface="ヒラギノ角ゴ ProN W3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7" name="Picture 3" descr="NAT_marca_oficial_natura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1555" y="8066096"/>
            <a:ext cx="1001712" cy="914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itle 12"/>
          <p:cNvSpPr>
            <a:spLocks noGrp="1"/>
          </p:cNvSpPr>
          <p:nvPr>
            <p:ph type="title"/>
          </p:nvPr>
        </p:nvSpPr>
        <p:spPr>
          <a:xfrm>
            <a:off x="760423" y="3733800"/>
            <a:ext cx="5886451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508941" bIns="0"/>
          <a:lstStyle>
            <a:lvl1pPr>
              <a:defRPr lang="pt-BR" sz="11100" dirty="0">
                <a:solidFill>
                  <a:srgbClr val="8F993E"/>
                </a:solidFill>
                <a:latin typeface="Gill Sans Std ExtraBol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pt-BR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0"/>
          </p:nvPr>
        </p:nvSpPr>
        <p:spPr>
          <a:xfrm>
            <a:off x="8636004" y="4216422"/>
            <a:ext cx="3848100" cy="673099"/>
          </a:xfrm>
          <a:prstGeom prst="rect">
            <a:avLst/>
          </a:prstGeom>
        </p:spPr>
        <p:txBody>
          <a:bodyPr lIns="101791" tIns="50895" rIns="101791" bIns="50895"/>
          <a:lstStyle>
            <a:lvl1pPr marL="0" indent="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395848" algn="l"/>
                <a:tab pos="791696" algn="l"/>
                <a:tab pos="1187540" algn="l"/>
                <a:tab pos="1583389" algn="l"/>
                <a:tab pos="1979237" algn="l"/>
                <a:tab pos="2375084" algn="l"/>
                <a:tab pos="2770931" algn="l"/>
                <a:tab pos="3166776" algn="l"/>
                <a:tab pos="3562624" algn="l"/>
                <a:tab pos="3958472" algn="l"/>
                <a:tab pos="4354313" algn="l"/>
                <a:tab pos="4750161" algn="l"/>
                <a:tab pos="5089461" algn="l"/>
              </a:tabLst>
              <a:defRPr lang="pt-BR" sz="2400" kern="1200" dirty="0">
                <a:solidFill>
                  <a:srgbClr val="4E5B31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endParaRPr lang="pt-BR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1"/>
          </p:nvPr>
        </p:nvSpPr>
        <p:spPr>
          <a:xfrm>
            <a:off x="8636004" y="4910717"/>
            <a:ext cx="3848100" cy="2089151"/>
          </a:xfrm>
          <a:prstGeom prst="rect">
            <a:avLst/>
          </a:prstGeom>
        </p:spPr>
        <p:txBody>
          <a:bodyPr lIns="101791" tIns="50895" rIns="101791" bIns="50895"/>
          <a:lstStyle>
            <a:lvl1pPr marL="0" indent="0">
              <a:buNone/>
              <a:defRPr lang="pt-BR" sz="2400" kern="1200" dirty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402087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/>
          </p:cNvSpPr>
          <p:nvPr userDrawn="1"/>
        </p:nvSpPr>
        <p:spPr bwMode="auto">
          <a:xfrm>
            <a:off x="-50797" y="406415"/>
            <a:ext cx="8077202" cy="8966199"/>
          </a:xfrm>
          <a:prstGeom prst="rect">
            <a:avLst/>
          </a:prstGeom>
          <a:solidFill>
            <a:srgbClr val="4E3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1016234" fontAlgn="base">
              <a:spcBef>
                <a:spcPct val="0"/>
              </a:spcBef>
              <a:spcAft>
                <a:spcPct val="0"/>
              </a:spcAft>
            </a:pPr>
            <a:endParaRPr lang="pt-BR" sz="4700" dirty="0">
              <a:solidFill>
                <a:srgbClr val="B7A99A"/>
              </a:solidFill>
              <a:latin typeface="GillSans" pitchFamily="34" charset="0"/>
              <a:ea typeface="ヒラギノ角ゴ ProN W3" charset="-128"/>
              <a:sym typeface="GillSans" pitchFamily="34" charset="0"/>
            </a:endParaRPr>
          </a:p>
        </p:txBody>
      </p:sp>
      <p:pic>
        <p:nvPicPr>
          <p:cNvPr id="6" name="Picture 2"/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5203" y="8064505"/>
            <a:ext cx="1016000" cy="930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/>
          <p:cNvSpPr>
            <a:spLocks/>
          </p:cNvSpPr>
          <p:nvPr userDrawn="1"/>
        </p:nvSpPr>
        <p:spPr bwMode="auto">
          <a:xfrm>
            <a:off x="711204" y="8858268"/>
            <a:ext cx="1384302" cy="139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5230" bIns="0"/>
          <a:lstStyle/>
          <a:p>
            <a:pPr marL="42411" defTabSz="1016234"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rgbClr val="D9D9D6"/>
                </a:solidFill>
                <a:latin typeface="Gill Sans Std" pitchFamily="34" charset="0"/>
                <a:ea typeface="ヒラギノ角ゴ ProN W3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8" name="Picture 10" descr="NAT_marca_oficial_natura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1555" y="8066096"/>
            <a:ext cx="1001712" cy="914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itle 12"/>
          <p:cNvSpPr>
            <a:spLocks noGrp="1"/>
          </p:cNvSpPr>
          <p:nvPr>
            <p:ph type="title"/>
          </p:nvPr>
        </p:nvSpPr>
        <p:spPr>
          <a:xfrm>
            <a:off x="760423" y="3733800"/>
            <a:ext cx="5886451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508941" bIns="0"/>
          <a:lstStyle>
            <a:lvl1pPr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pt-BR" sz="11100" kern="1200" dirty="0">
                <a:solidFill>
                  <a:srgbClr val="FFFFFF"/>
                </a:solidFill>
                <a:latin typeface="Gill Sans Std ExtraBol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pt-BR" dirty="0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10"/>
          </p:nvPr>
        </p:nvSpPr>
        <p:spPr>
          <a:xfrm>
            <a:off x="8636004" y="4216422"/>
            <a:ext cx="3848100" cy="673099"/>
          </a:xfrm>
          <a:prstGeom prst="rect">
            <a:avLst/>
          </a:prstGeom>
        </p:spPr>
        <p:txBody>
          <a:bodyPr lIns="101791" tIns="50895" rIns="101791" bIns="50895"/>
          <a:lstStyle>
            <a:lvl1pPr marL="0" indent="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395848" algn="l"/>
                <a:tab pos="791696" algn="l"/>
                <a:tab pos="1187540" algn="l"/>
                <a:tab pos="1583389" algn="l"/>
                <a:tab pos="1979237" algn="l"/>
                <a:tab pos="2375084" algn="l"/>
                <a:tab pos="2770931" algn="l"/>
                <a:tab pos="3166776" algn="l"/>
                <a:tab pos="3562624" algn="l"/>
                <a:tab pos="3958472" algn="l"/>
                <a:tab pos="4354313" algn="l"/>
                <a:tab pos="4750161" algn="l"/>
                <a:tab pos="5089461" algn="l"/>
              </a:tabLst>
              <a:defRPr lang="pt-BR" sz="2400" kern="1200" dirty="0">
                <a:solidFill>
                  <a:srgbClr val="4E3629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endParaRPr lang="pt-BR" dirty="0"/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11"/>
          </p:nvPr>
        </p:nvSpPr>
        <p:spPr>
          <a:xfrm>
            <a:off x="8636004" y="4910717"/>
            <a:ext cx="3848100" cy="2089151"/>
          </a:xfrm>
          <a:prstGeom prst="rect">
            <a:avLst/>
          </a:prstGeom>
        </p:spPr>
        <p:txBody>
          <a:bodyPr lIns="101791" tIns="50895" rIns="101791" bIns="50895"/>
          <a:lstStyle>
            <a:lvl1pPr marL="0" indent="0">
              <a:buNone/>
              <a:defRPr lang="pt-BR" sz="2400" kern="1200" dirty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523791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COMPOSICOES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004800" cy="975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/>
          <p:cNvSpPr>
            <a:spLocks/>
          </p:cNvSpPr>
          <p:nvPr userDrawn="1"/>
        </p:nvSpPr>
        <p:spPr bwMode="auto">
          <a:xfrm>
            <a:off x="4470429" y="406400"/>
            <a:ext cx="8534401" cy="8940800"/>
          </a:xfrm>
          <a:prstGeom prst="rect">
            <a:avLst/>
          </a:prstGeom>
          <a:solidFill>
            <a:srgbClr val="4E5B31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1016234" fontAlgn="base">
              <a:spcBef>
                <a:spcPct val="0"/>
              </a:spcBef>
              <a:spcAft>
                <a:spcPct val="0"/>
              </a:spcAft>
            </a:pPr>
            <a:endParaRPr lang="pt-BR" sz="4700" dirty="0">
              <a:solidFill>
                <a:srgbClr val="000000"/>
              </a:solidFill>
              <a:latin typeface="GillSans" pitchFamily="34" charset="0"/>
              <a:ea typeface="ヒラギノ角ゴ ProN W3" charset="-128"/>
              <a:sym typeface="GillSans" pitchFamily="34" charset="0"/>
            </a:endParaRPr>
          </a:p>
        </p:txBody>
      </p:sp>
      <p:sp>
        <p:nvSpPr>
          <p:cNvPr id="5" name="Rectangle 5"/>
          <p:cNvSpPr>
            <a:spLocks/>
          </p:cNvSpPr>
          <p:nvPr userDrawn="1"/>
        </p:nvSpPr>
        <p:spPr bwMode="auto">
          <a:xfrm>
            <a:off x="711204" y="8858268"/>
            <a:ext cx="1384302" cy="139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5230" bIns="0"/>
          <a:lstStyle/>
          <a:p>
            <a:pPr marL="42411" defTabSz="1016234"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rgbClr val="D9D9D6"/>
                </a:solidFill>
                <a:latin typeface="Gill Sans Std" pitchFamily="34" charset="0"/>
                <a:ea typeface="ヒラギノ角ゴ ProN W3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6" name="Picture 7" descr="NAT_marca_branca_natura-01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1555" y="8066096"/>
            <a:ext cx="1001712" cy="914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876816" y="1943109"/>
            <a:ext cx="7924800" cy="63881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>
            <a:lvl1pPr>
              <a:defRPr lang="pt-BR" sz="7100">
                <a:solidFill>
                  <a:srgbClr val="8F993E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82532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0"/>
          <p:cNvSpPr>
            <a:spLocks noChangeArrowheads="1"/>
          </p:cNvSpPr>
          <p:nvPr userDrawn="1"/>
        </p:nvSpPr>
        <p:spPr bwMode="auto">
          <a:xfrm>
            <a:off x="0" y="0"/>
            <a:ext cx="13004800" cy="9753600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01791" tIns="50895" rIns="101791" bIns="50895"/>
          <a:lstStyle/>
          <a:p>
            <a:pPr algn="ctr" defTabSz="1016234" fontAlgn="base">
              <a:spcBef>
                <a:spcPct val="0"/>
              </a:spcBef>
              <a:spcAft>
                <a:spcPct val="0"/>
              </a:spcAft>
            </a:pPr>
            <a:endParaRPr lang="pt-BR" sz="4700" dirty="0">
              <a:solidFill>
                <a:srgbClr val="000000"/>
              </a:solidFill>
              <a:latin typeface="GillSans" pitchFamily="34" charset="0"/>
              <a:ea typeface="ヒラギノ角ゴ ProN W3" charset="-128"/>
              <a:sym typeface="GillSans" pitchFamily="34" charset="0"/>
            </a:endParaRPr>
          </a:p>
        </p:txBody>
      </p:sp>
      <p:sp>
        <p:nvSpPr>
          <p:cNvPr id="7" name="Rectangle 3"/>
          <p:cNvSpPr>
            <a:spLocks/>
          </p:cNvSpPr>
          <p:nvPr userDrawn="1"/>
        </p:nvSpPr>
        <p:spPr bwMode="auto">
          <a:xfrm>
            <a:off x="711204" y="8858268"/>
            <a:ext cx="1384302" cy="139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5230" bIns="0"/>
          <a:lstStyle/>
          <a:p>
            <a:pPr marL="42411" defTabSz="1016234"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rgbClr val="FFFFFF"/>
                </a:solidFill>
                <a:latin typeface="Gill Sans Std" pitchFamily="34" charset="0"/>
                <a:ea typeface="ヒラギノ角ゴ ProN W3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8" name="Picture 8" descr="NAT_marca_branca_natura-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1555" y="8066096"/>
            <a:ext cx="1001712" cy="914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itle 10"/>
          <p:cNvSpPr>
            <a:spLocks noGrp="1"/>
          </p:cNvSpPr>
          <p:nvPr>
            <p:ph type="title"/>
          </p:nvPr>
        </p:nvSpPr>
        <p:spPr>
          <a:xfrm>
            <a:off x="762006" y="800113"/>
            <a:ext cx="7683500" cy="548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38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762008" y="1363662"/>
            <a:ext cx="7685089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2000" dirty="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11"/>
          </p:nvPr>
        </p:nvSpPr>
        <p:spPr>
          <a:xfrm>
            <a:off x="762012" y="2860603"/>
            <a:ext cx="5328001" cy="4680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2700" smtClean="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sym typeface="GillSans" pitchFamily="34" charset="0"/>
              </a:defRPr>
            </a:lvl1pPr>
            <a:lvl2pPr marL="190855" indent="0">
              <a:buNone/>
              <a:defRPr lang="en-US" sz="4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>
              <a:defRPr lang="en-US" sz="4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>
              <a:defRPr lang="en-US" sz="4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>
              <a:defRPr lang="pt-BR" sz="47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2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6791041" y="2860603"/>
            <a:ext cx="5328001" cy="4680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2700" smtClean="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sym typeface="GillSans" pitchFamily="34" charset="0"/>
              </a:defRPr>
            </a:lvl1pPr>
            <a:lvl2pPr marL="190855" indent="0">
              <a:buNone/>
              <a:defRPr lang="en-US" sz="4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>
              <a:defRPr lang="en-US" sz="4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>
              <a:defRPr lang="en-US" sz="4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>
              <a:defRPr lang="pt-BR" sz="47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467552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ChangeArrowheads="1"/>
          </p:cNvSpPr>
          <p:nvPr userDrawn="1"/>
        </p:nvSpPr>
        <p:spPr bwMode="auto">
          <a:xfrm>
            <a:off x="0" y="0"/>
            <a:ext cx="13004800" cy="9753600"/>
          </a:xfrm>
          <a:prstGeom prst="rect">
            <a:avLst/>
          </a:prstGeom>
          <a:solidFill>
            <a:srgbClr val="4E3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1791" tIns="50895" rIns="101791" bIns="50895"/>
          <a:lstStyle/>
          <a:p>
            <a:pPr algn="ctr" defTabSz="1016234" fontAlgn="base">
              <a:spcBef>
                <a:spcPct val="0"/>
              </a:spcBef>
              <a:spcAft>
                <a:spcPct val="0"/>
              </a:spcAft>
            </a:pPr>
            <a:endParaRPr lang="pt-BR" sz="4700" dirty="0">
              <a:solidFill>
                <a:srgbClr val="000000"/>
              </a:solidFill>
              <a:latin typeface="GillSans" pitchFamily="34" charset="0"/>
              <a:ea typeface="ヒラギノ角ゴ ProN W3" charset="-128"/>
              <a:sym typeface="GillSans" pitchFamily="34" charset="0"/>
            </a:endParaRPr>
          </a:p>
        </p:txBody>
      </p:sp>
      <p:sp>
        <p:nvSpPr>
          <p:cNvPr id="3" name="Rectangle 3"/>
          <p:cNvSpPr>
            <a:spLocks/>
          </p:cNvSpPr>
          <p:nvPr userDrawn="1"/>
        </p:nvSpPr>
        <p:spPr bwMode="auto">
          <a:xfrm>
            <a:off x="762007" y="2997204"/>
            <a:ext cx="11125201" cy="377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defTabSz="1016234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100" dirty="0">
                <a:solidFill>
                  <a:srgbClr val="8F993E"/>
                </a:solidFill>
                <a:latin typeface="Gill Sans Std Light" pitchFamily="34" charset="0"/>
                <a:ea typeface="ヒラギノ角ゴ ProN W3" charset="-128"/>
                <a:sym typeface="Gill Sans Std Light" pitchFamily="34" charset="0"/>
              </a:rPr>
              <a:t>obrigado</a:t>
            </a:r>
          </a:p>
        </p:txBody>
      </p:sp>
      <p:sp>
        <p:nvSpPr>
          <p:cNvPr id="4" name="Rectangle 5"/>
          <p:cNvSpPr>
            <a:spLocks/>
          </p:cNvSpPr>
          <p:nvPr userDrawn="1"/>
        </p:nvSpPr>
        <p:spPr bwMode="auto">
          <a:xfrm>
            <a:off x="711204" y="8858268"/>
            <a:ext cx="1384302" cy="139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5230" bIns="0"/>
          <a:lstStyle/>
          <a:p>
            <a:pPr marL="42411" defTabSz="1016234"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rgbClr val="8F993E"/>
                </a:solidFill>
                <a:latin typeface="Gill Sans Std" pitchFamily="34" charset="0"/>
                <a:ea typeface="ヒラギノ角ゴ ProN W3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5" name="Picture 1" descr="NAT_marca_verde_gramad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1555" y="8066096"/>
            <a:ext cx="1001712" cy="914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3185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/>
          </p:cNvSpPr>
          <p:nvPr userDrawn="1"/>
        </p:nvSpPr>
        <p:spPr bwMode="auto">
          <a:xfrm>
            <a:off x="238149" y="773137"/>
            <a:ext cx="12528550" cy="7775573"/>
          </a:xfrm>
          <a:prstGeom prst="rect">
            <a:avLst/>
          </a:prstGeom>
          <a:solidFill>
            <a:srgbClr val="4E3629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 defTabSz="1016234" fontAlgn="base">
              <a:spcBef>
                <a:spcPct val="0"/>
              </a:spcBef>
              <a:spcAft>
                <a:spcPct val="0"/>
              </a:spcAft>
            </a:pPr>
            <a:endParaRPr lang="pt-BR" sz="4700" dirty="0">
              <a:solidFill>
                <a:srgbClr val="B7A99A"/>
              </a:solidFill>
              <a:latin typeface="GillSans" pitchFamily="34" charset="0"/>
              <a:ea typeface="ヒラギノ角ゴ ProN W3" charset="-128"/>
              <a:sym typeface="GillSans" pitchFamily="34" charset="0"/>
            </a:endParaRPr>
          </a:p>
        </p:txBody>
      </p:sp>
      <p:sp>
        <p:nvSpPr>
          <p:cNvPr id="11" name="Title 9"/>
          <p:cNvSpPr>
            <a:spLocks noGrp="1"/>
          </p:cNvSpPr>
          <p:nvPr>
            <p:ph type="title"/>
          </p:nvPr>
        </p:nvSpPr>
        <p:spPr>
          <a:xfrm>
            <a:off x="453731" y="888147"/>
            <a:ext cx="8155782" cy="875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38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5" name="Rectangle 5"/>
          <p:cNvSpPr>
            <a:spLocks/>
          </p:cNvSpPr>
          <p:nvPr userDrawn="1"/>
        </p:nvSpPr>
        <p:spPr bwMode="auto">
          <a:xfrm>
            <a:off x="11166777" y="556325"/>
            <a:ext cx="1384302" cy="139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45237" bIns="0"/>
          <a:lstStyle/>
          <a:p>
            <a:pPr marL="44181" defTabSz="913355"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rgbClr val="8F993E"/>
                </a:solidFill>
                <a:latin typeface="Gill Sans Std" pitchFamily="34" charset="0"/>
                <a:ea typeface="ヒラギノ角ゴ ProN W3" charset="-128"/>
                <a:sym typeface="Gill Sans Std" pitchFamily="34" charset="0"/>
              </a:rPr>
              <a:t>[ CONFIDENCIAL ]</a:t>
            </a:r>
          </a:p>
        </p:txBody>
      </p:sp>
    </p:spTree>
    <p:extLst>
      <p:ext uri="{BB962C8B-B14F-4D97-AF65-F5344CB8AC3E}">
        <p14:creationId xmlns:p14="http://schemas.microsoft.com/office/powerpoint/2010/main" val="20466730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/>
          </p:cNvSpPr>
          <p:nvPr userDrawn="1"/>
        </p:nvSpPr>
        <p:spPr bwMode="auto">
          <a:xfrm>
            <a:off x="238149" y="773132"/>
            <a:ext cx="12528550" cy="8713786"/>
          </a:xfrm>
          <a:prstGeom prst="rect">
            <a:avLst/>
          </a:prstGeom>
          <a:solidFill>
            <a:srgbClr val="4E3629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 defTabSz="1016234" fontAlgn="base">
              <a:spcBef>
                <a:spcPct val="0"/>
              </a:spcBef>
              <a:spcAft>
                <a:spcPct val="0"/>
              </a:spcAft>
            </a:pPr>
            <a:endParaRPr lang="pt-BR" sz="4700" dirty="0">
              <a:solidFill>
                <a:srgbClr val="B7A99A"/>
              </a:solidFill>
              <a:latin typeface="GillSans" pitchFamily="34" charset="0"/>
              <a:ea typeface="ヒラギノ角ゴ ProN W3" charset="-128"/>
              <a:sym typeface="GillSans" pitchFamily="34" charset="0"/>
            </a:endParaRPr>
          </a:p>
        </p:txBody>
      </p:sp>
      <p:sp>
        <p:nvSpPr>
          <p:cNvPr id="11" name="Title 9"/>
          <p:cNvSpPr>
            <a:spLocks noGrp="1"/>
          </p:cNvSpPr>
          <p:nvPr>
            <p:ph type="title"/>
          </p:nvPr>
        </p:nvSpPr>
        <p:spPr>
          <a:xfrm>
            <a:off x="453729" y="888147"/>
            <a:ext cx="12083200" cy="875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38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4" name="Rectangle 5"/>
          <p:cNvSpPr>
            <a:spLocks/>
          </p:cNvSpPr>
          <p:nvPr userDrawn="1"/>
        </p:nvSpPr>
        <p:spPr bwMode="auto">
          <a:xfrm>
            <a:off x="11166777" y="556325"/>
            <a:ext cx="1384302" cy="139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45237" bIns="0"/>
          <a:lstStyle/>
          <a:p>
            <a:pPr marL="44181" defTabSz="913355"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rgbClr val="8F993E"/>
                </a:solidFill>
                <a:latin typeface="Gill Sans Std" pitchFamily="34" charset="0"/>
                <a:ea typeface="ヒラギノ角ゴ ProN W3" charset="-128"/>
                <a:sym typeface="Gill Sans Std" pitchFamily="34" charset="0"/>
              </a:rPr>
              <a:t>[ CONFIDENCIAL ]</a:t>
            </a:r>
          </a:p>
        </p:txBody>
      </p:sp>
    </p:spTree>
    <p:extLst>
      <p:ext uri="{BB962C8B-B14F-4D97-AF65-F5344CB8AC3E}">
        <p14:creationId xmlns:p14="http://schemas.microsoft.com/office/powerpoint/2010/main" val="2706145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0032" y="239745"/>
            <a:ext cx="10464801" cy="2465387"/>
          </a:xfrm>
          <a:prstGeom prst="rect">
            <a:avLst/>
          </a:prstGeom>
        </p:spPr>
        <p:txBody>
          <a:bodyPr lIns="101810" tIns="50901" rIns="101810" bIns="50901"/>
          <a:lstStyle/>
          <a:p>
            <a:r>
              <a:rPr lang="pt-BR" smtClean="0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0032" y="2705101"/>
            <a:ext cx="10464801" cy="5840412"/>
          </a:xfrm>
          <a:prstGeom prst="rect">
            <a:avLst/>
          </a:prstGeom>
        </p:spPr>
        <p:txBody>
          <a:bodyPr lIns="101810" tIns="50901" rIns="101810" bIns="50901"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303043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50240" y="390596"/>
            <a:ext cx="11704320" cy="1625600"/>
          </a:xfrm>
          <a:prstGeom prst="rect">
            <a:avLst/>
          </a:prstGeom>
        </p:spPr>
        <p:txBody>
          <a:bodyPr vert="horz" lIns="129965" tIns="64986" rIns="129965" bIns="64986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50240" y="2275855"/>
            <a:ext cx="11704320" cy="6436925"/>
          </a:xfrm>
          <a:prstGeom prst="rect">
            <a:avLst/>
          </a:prstGeom>
        </p:spPr>
        <p:txBody>
          <a:bodyPr vert="horz" lIns="129965" tIns="64986" rIns="129965" bIns="64986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50240" y="9040156"/>
            <a:ext cx="3034453" cy="519289"/>
          </a:xfrm>
          <a:prstGeom prst="rect">
            <a:avLst/>
          </a:prstGeom>
        </p:spPr>
        <p:txBody>
          <a:bodyPr vert="horz" lIns="129965" tIns="64986" rIns="129965" bIns="64986" rtlCol="0" anchor="ctr"/>
          <a:lstStyle>
            <a:lvl1pPr algn="l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5793EF-9FB5-4406-A656-BF1DB2720DA9}" type="datetimeFigureOut">
              <a:rPr lang="pt-BR" smtClean="0"/>
              <a:t>05/11/2014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443308" y="9040156"/>
            <a:ext cx="4118187" cy="519289"/>
          </a:xfrm>
          <a:prstGeom prst="rect">
            <a:avLst/>
          </a:prstGeom>
        </p:spPr>
        <p:txBody>
          <a:bodyPr vert="horz" lIns="129965" tIns="64986" rIns="129965" bIns="64986" rtlCol="0" anchor="ctr"/>
          <a:lstStyle>
            <a:lvl1pPr algn="ct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9320107" y="9040156"/>
            <a:ext cx="3034453" cy="519289"/>
          </a:xfrm>
          <a:prstGeom prst="rect">
            <a:avLst/>
          </a:prstGeom>
        </p:spPr>
        <p:txBody>
          <a:bodyPr vert="horz" lIns="129965" tIns="64986" rIns="129965" bIns="64986" rtlCol="0" anchor="ctr"/>
          <a:lstStyle>
            <a:lvl1pPr algn="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9068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709" r:id="rId12"/>
  </p:sldLayoutIdLst>
  <p:txStyles>
    <p:titleStyle>
      <a:lvl1pPr algn="ctr" defTabSz="1299677" rtl="0" eaLnBrk="1" latinLnBrk="0" hangingPunct="1">
        <a:spcBef>
          <a:spcPct val="0"/>
        </a:spcBef>
        <a:buNone/>
        <a:defRPr sz="6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7381" indent="-487381" algn="l" defTabSz="1299677" rtl="0" eaLnBrk="1" latinLnBrk="0" hangingPunct="1">
        <a:spcBef>
          <a:spcPct val="20000"/>
        </a:spcBef>
        <a:buFont typeface="Arial" pitchFamily="34" charset="0"/>
        <a:buChar char="•"/>
        <a:defRPr sz="4600" kern="1200">
          <a:solidFill>
            <a:schemeClr val="tx1"/>
          </a:solidFill>
          <a:latin typeface="+mn-lt"/>
          <a:ea typeface="+mn-ea"/>
          <a:cs typeface="+mn-cs"/>
        </a:defRPr>
      </a:lvl1pPr>
      <a:lvl2pPr marL="1055986" indent="-406155" algn="l" defTabSz="1299677" rtl="0" eaLnBrk="1" latinLnBrk="0" hangingPunct="1">
        <a:spcBef>
          <a:spcPct val="20000"/>
        </a:spcBef>
        <a:buFont typeface="Arial" pitchFamily="34" charset="0"/>
        <a:buChar char="–"/>
        <a:defRPr sz="4000" kern="1200">
          <a:solidFill>
            <a:schemeClr val="tx1"/>
          </a:solidFill>
          <a:latin typeface="+mn-lt"/>
          <a:ea typeface="+mn-ea"/>
          <a:cs typeface="+mn-cs"/>
        </a:defRPr>
      </a:lvl2pPr>
      <a:lvl3pPr marL="1624590" indent="-324916" algn="l" defTabSz="1299677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2274431" indent="-324916" algn="l" defTabSz="129967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924274" indent="-324916" algn="l" defTabSz="1299677" rtl="0" eaLnBrk="1" latinLnBrk="0" hangingPunct="1">
        <a:spcBef>
          <a:spcPct val="20000"/>
        </a:spcBef>
        <a:buFont typeface="Arial" pitchFamily="34" charset="0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3574109" indent="-324916" algn="l" defTabSz="1299677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4223945" indent="-324916" algn="l" defTabSz="1299677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4873787" indent="-324916" algn="l" defTabSz="1299677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5523620" indent="-324916" algn="l" defTabSz="1299677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299677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9837" algn="l" defTabSz="1299677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299677" algn="l" defTabSz="1299677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49516" algn="l" defTabSz="1299677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599351" algn="l" defTabSz="1299677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49189" algn="l" defTabSz="1299677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99030" algn="l" defTabSz="1299677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48867" algn="l" defTabSz="1299677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198704" algn="l" defTabSz="1299677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7045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" pitchFamily="34" charset="0"/>
        </a:defRPr>
      </a:lvl5pPr>
      <a:lvl6pPr marL="508971" algn="ctr" rtl="0" fontAlgn="base"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" pitchFamily="34" charset="0"/>
        </a:defRPr>
      </a:lvl6pPr>
      <a:lvl7pPr marL="1017937" algn="ctr" rtl="0" fontAlgn="base"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" pitchFamily="34" charset="0"/>
        </a:defRPr>
      </a:lvl7pPr>
      <a:lvl8pPr marL="1526921" algn="ctr" rtl="0" fontAlgn="base"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" pitchFamily="34" charset="0"/>
        </a:defRPr>
      </a:lvl8pPr>
      <a:lvl9pPr marL="2035886" algn="ctr" rtl="0" fontAlgn="base"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" pitchFamily="34" charset="0"/>
        </a:defRPr>
      </a:lvl9pPr>
    </p:titleStyle>
    <p:bodyStyle>
      <a:lvl1pPr marL="379981" indent="-379981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25358" indent="-316354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70729" indent="-25273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79728" indent="-25273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288722" indent="-25273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799350" indent="-254487" algn="l" defTabSz="1017937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08317" indent="-254487" algn="l" defTabSz="1017937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817294" indent="-254487" algn="l" defTabSz="1017937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326264" indent="-254487" algn="l" defTabSz="1017937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017937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971" algn="l" defTabSz="1017937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7937" algn="l" defTabSz="1017937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6921" algn="l" defTabSz="1017937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5886" algn="l" defTabSz="1017937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4861" algn="l" defTabSz="1017937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3832" algn="l" defTabSz="1017937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2803" algn="l" defTabSz="1017937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1777" algn="l" defTabSz="1017937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image" Target="../media/image12.png"/><Relationship Id="rId7" Type="http://schemas.openxmlformats.org/officeDocument/2006/relationships/slide" Target="slide8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10" Type="http://schemas.openxmlformats.org/officeDocument/2006/relationships/slide" Target="slide11.xml"/><Relationship Id="rId4" Type="http://schemas.openxmlformats.org/officeDocument/2006/relationships/slide" Target="slide5.xml"/><Relationship Id="rId9" Type="http://schemas.openxmlformats.org/officeDocument/2006/relationships/slide" Target="slide10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equipes.natura.net/vptd/processos/SitePages/P%C3%A1gina%20Inicial.aspx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1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6" Type="http://schemas.openxmlformats.org/officeDocument/2006/relationships/package" Target="../embeddings/Planilha_do_Microsoft_Excel1.xlsx"/><Relationship Id="rId5" Type="http://schemas.openxmlformats.org/officeDocument/2006/relationships/slide" Target="slide6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2.png"/><Relationship Id="rId7" Type="http://schemas.openxmlformats.org/officeDocument/2006/relationships/slide" Target="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2.wmf"/><Relationship Id="rId5" Type="http://schemas.openxmlformats.org/officeDocument/2006/relationships/package" Target="../embeddings/Planilha_do_Microsoft_Excel2.xlsx"/><Relationship Id="rId4" Type="http://schemas.openxmlformats.org/officeDocument/2006/relationships/hyperlink" Target="http://equipes.natura.net/vptd/processos/SitePages/Melhoria%20Cont%C3%ADnua.aspx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image" Target="../media/image2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7.xml"/><Relationship Id="rId5" Type="http://schemas.openxmlformats.org/officeDocument/2006/relationships/image" Target="../media/image12.png"/><Relationship Id="rId4" Type="http://schemas.openxmlformats.org/officeDocument/2006/relationships/image" Target="../media/image25.png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 descr="DSCN0444 copy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004800" cy="975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4"/>
          <p:cNvSpPr>
            <a:spLocks/>
          </p:cNvSpPr>
          <p:nvPr/>
        </p:nvSpPr>
        <p:spPr bwMode="auto">
          <a:xfrm>
            <a:off x="453728" y="1708448"/>
            <a:ext cx="11595100" cy="8876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57200" bIns="0"/>
          <a:lstStyle/>
          <a:p>
            <a:pPr algn="l">
              <a:lnSpc>
                <a:spcPct val="70000"/>
              </a:lnSpc>
            </a:pPr>
            <a:r>
              <a:rPr lang="en-US" sz="7200" dirty="0" smtClean="0">
                <a:solidFill>
                  <a:srgbClr val="0070C0"/>
                </a:solidFill>
                <a:latin typeface="Gill Sans Std Bold" charset="0"/>
                <a:sym typeface="Gill Sans Std Bold" charset="0"/>
              </a:rPr>
              <a:t>Status </a:t>
            </a:r>
          </a:p>
          <a:p>
            <a:pPr algn="l">
              <a:lnSpc>
                <a:spcPct val="70000"/>
              </a:lnSpc>
            </a:pPr>
            <a:r>
              <a:rPr lang="en-US" sz="7200" dirty="0" smtClean="0">
                <a:solidFill>
                  <a:srgbClr val="0070C0"/>
                </a:solidFill>
                <a:latin typeface="Gill Sans Std Bold" charset="0"/>
                <a:sym typeface="Gill Sans Std Bold" charset="0"/>
              </a:rPr>
              <a:t>Processos TD</a:t>
            </a:r>
          </a:p>
        </p:txBody>
      </p:sp>
      <p:sp>
        <p:nvSpPr>
          <p:cNvPr id="7" name="Rectangle 5"/>
          <p:cNvSpPr>
            <a:spLocks/>
          </p:cNvSpPr>
          <p:nvPr/>
        </p:nvSpPr>
        <p:spPr bwMode="auto">
          <a:xfrm>
            <a:off x="762000" y="7948116"/>
            <a:ext cx="115951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57200" bIns="0"/>
          <a:lstStyle/>
          <a:p>
            <a:pPr algn="l"/>
            <a:r>
              <a:rPr lang="en-US" sz="2400" dirty="0" smtClean="0">
                <a:solidFill>
                  <a:schemeClr val="bg1"/>
                </a:solidFill>
                <a:latin typeface="Gill Sans Std Light" pitchFamily="34" charset="0"/>
                <a:sym typeface="Gill Sans Std Light" pitchFamily="34" charset="0"/>
              </a:rPr>
              <a:t>Governança </a:t>
            </a:r>
            <a:r>
              <a:rPr lang="en-US" sz="2400" dirty="0">
                <a:solidFill>
                  <a:schemeClr val="bg1"/>
                </a:solidFill>
                <a:latin typeface="Gill Sans Std Light" pitchFamily="34" charset="0"/>
                <a:sym typeface="Gill Sans Std Light" pitchFamily="34" charset="0"/>
              </a:rPr>
              <a:t>de </a:t>
            </a:r>
            <a:r>
              <a:rPr lang="en-US" sz="2400" dirty="0" smtClean="0">
                <a:solidFill>
                  <a:schemeClr val="bg1"/>
                </a:solidFill>
                <a:latin typeface="Gill Sans Std Light" pitchFamily="34" charset="0"/>
                <a:sym typeface="Gill Sans Std Light" pitchFamily="34" charset="0"/>
              </a:rPr>
              <a:t>TD</a:t>
            </a:r>
          </a:p>
          <a:p>
            <a:pPr algn="l"/>
            <a:r>
              <a:rPr lang="en-US" sz="2400" dirty="0" err="1" smtClean="0">
                <a:solidFill>
                  <a:schemeClr val="bg1"/>
                </a:solidFill>
                <a:latin typeface="Gill Sans Std Light" pitchFamily="34" charset="0"/>
                <a:sym typeface="Gill Sans Std Light" pitchFamily="34" charset="0"/>
              </a:rPr>
              <a:t>Novembro</a:t>
            </a:r>
            <a:r>
              <a:rPr lang="en-US" sz="2400" dirty="0" smtClean="0">
                <a:solidFill>
                  <a:schemeClr val="bg1"/>
                </a:solidFill>
                <a:latin typeface="Gill Sans Std Light" pitchFamily="34" charset="0"/>
                <a:sym typeface="Gill Sans Std Light" pitchFamily="34" charset="0"/>
              </a:rPr>
              <a:t>/14</a:t>
            </a:r>
            <a:endParaRPr lang="en-US" sz="2400" dirty="0">
              <a:solidFill>
                <a:schemeClr val="bg1"/>
              </a:solidFill>
              <a:latin typeface="Gill Sans Std Light" pitchFamily="34" charset="0"/>
              <a:sym typeface="Gill Sans Std Light" pitchFamily="34" charset="0"/>
            </a:endParaRPr>
          </a:p>
        </p:txBody>
      </p:sp>
      <p:pic>
        <p:nvPicPr>
          <p:cNvPr id="10" name="Picture 5" descr="NAT_marca_branca_natura-01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9088" y="8534400"/>
            <a:ext cx="1001712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01905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/>
          <p:cNvGrpSpPr/>
          <p:nvPr/>
        </p:nvGrpSpPr>
        <p:grpSpPr>
          <a:xfrm>
            <a:off x="604550" y="465480"/>
            <a:ext cx="12146250" cy="9059520"/>
            <a:chOff x="604550" y="465480"/>
            <a:chExt cx="12146250" cy="9059520"/>
          </a:xfrm>
        </p:grpSpPr>
        <p:pic>
          <p:nvPicPr>
            <p:cNvPr id="717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4550" y="465480"/>
              <a:ext cx="11795701" cy="88226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" name="Picture 8" descr="NAT_marca_laranja_natura-0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49088" y="8610600"/>
              <a:ext cx="1001712" cy="914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Retângulo 1">
              <a:hlinkClick r:id="rId4" action="ppaction://hlinksldjump"/>
            </p:cNvPr>
            <p:cNvSpPr/>
            <p:nvPr/>
          </p:nvSpPr>
          <p:spPr>
            <a:xfrm>
              <a:off x="2325936" y="3868688"/>
              <a:ext cx="9423152" cy="5040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" name="Retângulo 2">
              <a:hlinkClick r:id="rId5" action="ppaction://hlinksldjump"/>
            </p:cNvPr>
            <p:cNvSpPr/>
            <p:nvPr/>
          </p:nvSpPr>
          <p:spPr>
            <a:xfrm>
              <a:off x="4054128" y="4876800"/>
              <a:ext cx="3168352" cy="5760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" name="Retângulo 3">
              <a:hlinkClick r:id="rId6" action="ppaction://hlinksldjump"/>
            </p:cNvPr>
            <p:cNvSpPr/>
            <p:nvPr/>
          </p:nvSpPr>
          <p:spPr>
            <a:xfrm>
              <a:off x="7582520" y="4876800"/>
              <a:ext cx="1872208" cy="5760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Retângulo 5">
              <a:hlinkClick r:id="rId7" action="ppaction://hlinksldjump"/>
            </p:cNvPr>
            <p:cNvSpPr/>
            <p:nvPr/>
          </p:nvSpPr>
          <p:spPr>
            <a:xfrm>
              <a:off x="10030792" y="4876800"/>
              <a:ext cx="1512168" cy="5760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6">
              <a:hlinkClick r:id="rId8" action="ppaction://hlinksldjump"/>
            </p:cNvPr>
            <p:cNvSpPr/>
            <p:nvPr/>
          </p:nvSpPr>
          <p:spPr>
            <a:xfrm>
              <a:off x="4054128" y="5596880"/>
              <a:ext cx="5616624" cy="6480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Retângulo 8">
              <a:hlinkClick r:id="rId9" action="ppaction://hlinksldjump"/>
            </p:cNvPr>
            <p:cNvSpPr/>
            <p:nvPr/>
          </p:nvSpPr>
          <p:spPr>
            <a:xfrm>
              <a:off x="2325936" y="7181056"/>
              <a:ext cx="7560840" cy="5040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hlinkClick r:id="rId10" action="ppaction://hlinksldjump"/>
            </p:cNvPr>
            <p:cNvSpPr/>
            <p:nvPr/>
          </p:nvSpPr>
          <p:spPr>
            <a:xfrm>
              <a:off x="2325936" y="8117160"/>
              <a:ext cx="9423152" cy="4934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630608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391262"/>
              </p:ext>
            </p:extLst>
          </p:nvPr>
        </p:nvGraphicFramePr>
        <p:xfrm>
          <a:off x="406400" y="1470025"/>
          <a:ext cx="12192000" cy="76739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7728"/>
                <a:gridCol w="2088232"/>
                <a:gridCol w="2016224"/>
                <a:gridCol w="2016224"/>
                <a:gridCol w="2423592"/>
              </a:tblGrid>
              <a:tr h="762004">
                <a:tc>
                  <a:txBody>
                    <a:bodyPr/>
                    <a:lstStyle/>
                    <a:p>
                      <a:pPr algn="ctr"/>
                      <a:r>
                        <a:rPr lang="pt-BR" sz="2200" dirty="0" smtClean="0"/>
                        <a:t>Subprocesso</a:t>
                      </a:r>
                      <a:endParaRPr lang="pt-BR" sz="2200" dirty="0"/>
                    </a:p>
                  </a:txBody>
                  <a:tcPr marT="45717" marB="45717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dirty="0" smtClean="0"/>
                        <a:t>Donos</a:t>
                      </a:r>
                      <a:endParaRPr lang="pt-BR" sz="2200" dirty="0"/>
                    </a:p>
                  </a:txBody>
                  <a:tcPr marT="45717" marB="45717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dirty="0" err="1" smtClean="0"/>
                        <a:t>Sponsors</a:t>
                      </a:r>
                      <a:endParaRPr lang="pt-BR" sz="2200" dirty="0"/>
                    </a:p>
                  </a:txBody>
                  <a:tcPr marT="45717" marB="45717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200" dirty="0" smtClean="0"/>
                        <a:t>Guardiões / Integradores </a:t>
                      </a:r>
                      <a:endParaRPr lang="pt-BR" sz="2200" dirty="0"/>
                    </a:p>
                  </a:txBody>
                  <a:tcPr marT="45717" marB="45717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200" dirty="0"/>
                    </a:p>
                  </a:txBody>
                  <a:tcPr marT="45717" marB="45717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987424">
                <a:tc>
                  <a:txBody>
                    <a:bodyPr/>
                    <a:lstStyle/>
                    <a:p>
                      <a:pPr algn="ctr"/>
                      <a:endParaRPr lang="pt-BR" sz="2200" dirty="0"/>
                    </a:p>
                  </a:txBody>
                  <a:tcPr marT="45717" marB="45717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Agenor Leão</a:t>
                      </a:r>
                      <a:endParaRPr lang="pt-BR" sz="2000" dirty="0"/>
                    </a:p>
                  </a:txBody>
                  <a:tcPr marT="45717" marB="45717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Acursio Maia</a:t>
                      </a:r>
                      <a:endParaRPr lang="pt-BR" sz="2000" dirty="0"/>
                    </a:p>
                  </a:txBody>
                  <a:tcPr marT="45717" marB="45717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Alexandre Guarnieri</a:t>
                      </a:r>
                      <a:endParaRPr lang="pt-BR" sz="2000" dirty="0"/>
                    </a:p>
                  </a:txBody>
                  <a:tcPr marT="45717" marB="45717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2000" dirty="0"/>
                    </a:p>
                  </a:txBody>
                  <a:tcPr marT="45717" marB="45717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987424">
                <a:tc>
                  <a:txBody>
                    <a:bodyPr/>
                    <a:lstStyle/>
                    <a:p>
                      <a:pPr algn="ctr"/>
                      <a:endParaRPr lang="pt-BR" sz="2200"/>
                    </a:p>
                  </a:txBody>
                  <a:tcPr marT="45717" marB="45717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Mario</a:t>
                      </a:r>
                      <a:r>
                        <a:rPr lang="pt-BR" sz="2000" baseline="0" dirty="0" smtClean="0"/>
                        <a:t> Santiago</a:t>
                      </a:r>
                      <a:endParaRPr lang="pt-BR" sz="2000" dirty="0"/>
                    </a:p>
                  </a:txBody>
                  <a:tcPr marT="45717" marB="45717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2000" dirty="0"/>
                    </a:p>
                  </a:txBody>
                  <a:tcPr marT="45717" marB="45717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2000" dirty="0" smtClean="0">
                          <a:solidFill>
                            <a:schemeClr val="tx1"/>
                          </a:solidFill>
                        </a:rPr>
                        <a:t>Fernando Brunetti</a:t>
                      </a:r>
                    </a:p>
                  </a:txBody>
                  <a:tcPr marT="45717" marB="45717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2000" dirty="0" smtClean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7424">
                <a:tc>
                  <a:txBody>
                    <a:bodyPr/>
                    <a:lstStyle/>
                    <a:p>
                      <a:pPr algn="ctr"/>
                      <a:endParaRPr lang="pt-BR" sz="2200" dirty="0"/>
                    </a:p>
                  </a:txBody>
                  <a:tcPr marT="45717" marB="45717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Fábio Koreeda</a:t>
                      </a:r>
                      <a:endParaRPr lang="pt-BR" sz="2000" dirty="0"/>
                    </a:p>
                  </a:txBody>
                  <a:tcPr marT="45717" marB="45717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Wagner Gebrin</a:t>
                      </a:r>
                      <a:endParaRPr lang="pt-BR" sz="2000" dirty="0"/>
                    </a:p>
                  </a:txBody>
                  <a:tcPr marT="45717" marB="45717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000" dirty="0" smtClean="0">
                          <a:solidFill>
                            <a:schemeClr val="tx1"/>
                          </a:solidFill>
                        </a:rPr>
                        <a:t>Raquel Fares</a:t>
                      </a:r>
                    </a:p>
                  </a:txBody>
                  <a:tcPr marT="45717" marB="45717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000" dirty="0" smtClean="0">
                          <a:solidFill>
                            <a:schemeClr val="tx1"/>
                          </a:solidFill>
                        </a:rPr>
                        <a:t>(Apoio: Carlos </a:t>
                      </a:r>
                      <a:r>
                        <a:rPr lang="pt-BR" sz="2000" dirty="0" err="1" smtClean="0">
                          <a:solidFill>
                            <a:schemeClr val="tx1"/>
                          </a:solidFill>
                        </a:rPr>
                        <a:t>Kida</a:t>
                      </a:r>
                      <a:r>
                        <a:rPr lang="pt-BR" sz="200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T="45717" marB="45717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987424">
                <a:tc>
                  <a:txBody>
                    <a:bodyPr/>
                    <a:lstStyle/>
                    <a:p>
                      <a:pPr algn="ctr"/>
                      <a:endParaRPr lang="pt-BR" sz="2200"/>
                    </a:p>
                  </a:txBody>
                  <a:tcPr marT="45717" marB="45717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pt-BR" sz="2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Igohr Schultz</a:t>
                      </a:r>
                      <a:endParaRPr lang="pt-BR" sz="2000" dirty="0"/>
                    </a:p>
                  </a:txBody>
                  <a:tcPr marT="45717" marB="45717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>
                          <a:solidFill>
                            <a:schemeClr val="tx1"/>
                          </a:solidFill>
                        </a:rPr>
                        <a:t>Marcus</a:t>
                      </a:r>
                    </a:p>
                    <a:p>
                      <a:pPr algn="ctr"/>
                      <a:r>
                        <a:rPr lang="pt-BR" sz="2000" dirty="0" smtClean="0">
                          <a:solidFill>
                            <a:schemeClr val="tx1"/>
                          </a:solidFill>
                        </a:rPr>
                        <a:t>Marques</a:t>
                      </a:r>
                    </a:p>
                  </a:txBody>
                  <a:tcPr marT="45717" marB="45717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>
                          <a:solidFill>
                            <a:schemeClr val="tx1"/>
                          </a:solidFill>
                        </a:rPr>
                        <a:t>(Apoio: Eduardo</a:t>
                      </a:r>
                      <a:r>
                        <a:rPr lang="pt-BR" sz="2000" baseline="0" dirty="0" smtClean="0">
                          <a:solidFill>
                            <a:schemeClr val="tx1"/>
                          </a:solidFill>
                        </a:rPr>
                        <a:t> Mascara)</a:t>
                      </a:r>
                      <a:endParaRPr lang="pt-BR" sz="20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7424">
                <a:tc>
                  <a:txBody>
                    <a:bodyPr/>
                    <a:lstStyle/>
                    <a:p>
                      <a:pPr algn="ctr"/>
                      <a:endParaRPr lang="pt-BR" sz="2200"/>
                    </a:p>
                  </a:txBody>
                  <a:tcPr marT="45717" marB="45717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000" dirty="0" smtClean="0"/>
                        <a:t>Henrique Gherardi</a:t>
                      </a:r>
                    </a:p>
                  </a:txBody>
                  <a:tcPr marT="45717" marB="45717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pt-BR" sz="2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Thalita </a:t>
                      </a:r>
                      <a:r>
                        <a:rPr lang="pt-BR" sz="2000" dirty="0" err="1" smtClean="0"/>
                        <a:t>Begliomini</a:t>
                      </a:r>
                      <a:endParaRPr lang="pt-BR" sz="2000" dirty="0" smtClean="0"/>
                    </a:p>
                  </a:txBody>
                  <a:tcPr marT="45717" marB="45717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000" dirty="0" smtClean="0"/>
                    </a:p>
                  </a:txBody>
                  <a:tcPr marT="45717" marB="45717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987424">
                <a:tc>
                  <a:txBody>
                    <a:bodyPr/>
                    <a:lstStyle/>
                    <a:p>
                      <a:pPr algn="ctr"/>
                      <a:endParaRPr lang="pt-BR" sz="2200"/>
                    </a:p>
                  </a:txBody>
                  <a:tcPr marT="45717" marB="45717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/>
                      <a:endParaRPr lang="pt-BR" sz="2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pt-BR" sz="2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Cristina </a:t>
                      </a:r>
                    </a:p>
                    <a:p>
                      <a:pPr algn="ctr"/>
                      <a:r>
                        <a:rPr lang="pt-BR" sz="2000" dirty="0" smtClean="0"/>
                        <a:t>Gouveia</a:t>
                      </a:r>
                    </a:p>
                  </a:txBody>
                  <a:tcPr marT="45717" marB="45717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(Apoio: Mari,</a:t>
                      </a:r>
                      <a:r>
                        <a:rPr lang="pt-BR" sz="2000" baseline="0" dirty="0" smtClean="0"/>
                        <a:t> Ju, </a:t>
                      </a:r>
                      <a:r>
                        <a:rPr lang="pt-BR" sz="2000" baseline="0" dirty="0" err="1" smtClean="0"/>
                        <a:t>Alê</a:t>
                      </a:r>
                      <a:r>
                        <a:rPr lang="pt-BR" sz="2000" baseline="0" dirty="0" smtClean="0"/>
                        <a:t>)</a:t>
                      </a:r>
                      <a:endParaRPr lang="pt-BR" sz="2000" dirty="0"/>
                    </a:p>
                  </a:txBody>
                  <a:tcPr marT="45717" marB="45717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7424">
                <a:tc>
                  <a:txBody>
                    <a:bodyPr/>
                    <a:lstStyle/>
                    <a:p>
                      <a:pPr algn="ctr"/>
                      <a:endParaRPr lang="pt-BR" sz="2200" dirty="0"/>
                    </a:p>
                  </a:txBody>
                  <a:tcPr marT="45717" marB="45717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000" dirty="0" smtClean="0"/>
                        <a:t>Luiz Malere</a:t>
                      </a:r>
                    </a:p>
                  </a:txBody>
                  <a:tcPr marT="45717" marB="45717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2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Weslley</a:t>
                      </a:r>
                      <a:r>
                        <a:rPr lang="pt-BR" sz="2000" baseline="0" dirty="0" smtClean="0"/>
                        <a:t> Figueiredo</a:t>
                      </a:r>
                      <a:endParaRPr lang="pt-BR" sz="2000" dirty="0"/>
                    </a:p>
                  </a:txBody>
                  <a:tcPr marT="45717" marB="45717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2000" dirty="0"/>
                    </a:p>
                  </a:txBody>
                  <a:tcPr marT="45717" marB="45717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6" name="Picture 7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249" y="2357016"/>
            <a:ext cx="3302000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7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661" y="3302000"/>
            <a:ext cx="3306763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7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36" y="4292600"/>
            <a:ext cx="3328988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7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361" y="5245100"/>
            <a:ext cx="3279775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7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36" y="6254750"/>
            <a:ext cx="3263900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7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374" y="7243763"/>
            <a:ext cx="3286125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7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36" y="8235950"/>
            <a:ext cx="3351213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CaixaDeTexto 12"/>
          <p:cNvSpPr txBox="1"/>
          <p:nvPr/>
        </p:nvSpPr>
        <p:spPr>
          <a:xfrm>
            <a:off x="330820" y="124272"/>
            <a:ext cx="12364268" cy="746794"/>
          </a:xfrm>
          <a:prstGeom prst="rect">
            <a:avLst/>
          </a:prstGeom>
          <a:noFill/>
        </p:spPr>
        <p:txBody>
          <a:bodyPr wrap="square" lIns="129965" tIns="64986" rIns="129965" bIns="64986" rtlCol="0">
            <a:spAutoFit/>
          </a:bodyPr>
          <a:lstStyle/>
          <a:p>
            <a:r>
              <a:rPr lang="pt-BR" sz="4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Gill Sans Std UltraBold" pitchFamily="34" charset="0"/>
                <a:ea typeface="ヒラギノ角ゴ ProN W3" charset="-128"/>
                <a:sym typeface="GillSans" pitchFamily="34" charset="0"/>
              </a:rPr>
              <a:t>Participantes</a:t>
            </a:r>
            <a:endParaRPr lang="pt-BR" sz="4000" dirty="0">
              <a:solidFill>
                <a:schemeClr val="tx1">
                  <a:lumMod val="50000"/>
                  <a:lumOff val="50000"/>
                </a:schemeClr>
              </a:solidFill>
              <a:latin typeface="Gill Sans Std UltraBold" pitchFamily="34" charset="0"/>
              <a:ea typeface="ヒラギノ角ゴ ProN W3" charset="-128"/>
              <a:sym typeface="GillSan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339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marrom-ekos.png"/>
          <p:cNvPicPr>
            <a:picLocks noChangeAspect="1"/>
          </p:cNvPicPr>
          <p:nvPr/>
        </p:nvPicPr>
        <p:blipFill>
          <a:blip r:embed="rId2" cstate="screen">
            <a:alphaModFix/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3000"/>
                    </a14:imgEffect>
                    <a14:imgEffect>
                      <a14:brightnessContrast brigh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007416" y="8347530"/>
            <a:ext cx="532450" cy="708420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664952" y="1145003"/>
            <a:ext cx="11162840" cy="5594713"/>
          </a:xfrm>
          <a:prstGeom prst="rect">
            <a:avLst/>
          </a:prstGeom>
          <a:noFill/>
        </p:spPr>
        <p:txBody>
          <a:bodyPr wrap="square" lIns="145646" tIns="72823" rIns="145646" bIns="72823" rtlCol="0">
            <a:spAutoFit/>
          </a:bodyPr>
          <a:lstStyle/>
          <a:p>
            <a:r>
              <a:rPr lang="pt-BR" sz="2400" b="1" dirty="0" smtClean="0">
                <a:latin typeface="Gill Sans Std Light" pitchFamily="34" charset="0"/>
                <a:cs typeface="Gill Sans Std Light"/>
              </a:rPr>
              <a:t>2012 </a:t>
            </a:r>
            <a:endParaRPr lang="pt-BR" sz="2400" dirty="0" smtClean="0">
              <a:latin typeface="Gill Sans Std Light" pitchFamily="34" charset="0"/>
              <a:cs typeface="Gill Sans Std Light"/>
            </a:endParaRP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Os Gerentes 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de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TD e SGN 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(Daniele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Garcia 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e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Daniela 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Coragem)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se reuniram e desenharam o N3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(fluxograma) dos 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7 processos de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TD, considerando todas as interfaces entre seus respectivos processos.  </a:t>
            </a:r>
            <a:r>
              <a:rPr lang="pt-BR" sz="2400" u="sng" dirty="0" smtClean="0">
                <a:latin typeface="Gill Sans Std Light" pitchFamily="34" charset="0"/>
                <a:cs typeface="Gill Sans Std Light"/>
              </a:rPr>
              <a:t>O desenho foi feito com visão de futuro.</a:t>
            </a:r>
            <a:endParaRPr lang="pt-BR" sz="2400" u="sng" dirty="0">
              <a:latin typeface="Gill Sans Std Light" pitchFamily="34" charset="0"/>
              <a:cs typeface="Gill Sans Std Light"/>
            </a:endParaRPr>
          </a:p>
          <a:p>
            <a:endParaRPr lang="pt-BR" sz="2400" dirty="0">
              <a:latin typeface="Gill Sans Std Light" pitchFamily="34" charset="0"/>
              <a:cs typeface="Gill Sans Std Light"/>
            </a:endParaRPr>
          </a:p>
          <a:p>
            <a:r>
              <a:rPr lang="pt-BR" sz="2400" b="1" dirty="0" smtClean="0">
                <a:latin typeface="Gill Sans Std Light" pitchFamily="34" charset="0"/>
                <a:cs typeface="Gill Sans Std Light"/>
              </a:rPr>
              <a:t>2013</a:t>
            </a:r>
            <a:endParaRPr lang="pt-BR" sz="2400" dirty="0" smtClean="0">
              <a:latin typeface="Gill Sans Std Light" pitchFamily="34" charset="0"/>
              <a:cs typeface="Gill Sans Std Light"/>
            </a:endParaRP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Formamos grupos de trabalho onde cada processo teve seu integrador / guardião que liderou um time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composto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por 4-6 pessoas que revisaram o N3 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e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construíram o N4 (</a:t>
            </a:r>
            <a:r>
              <a:rPr lang="pt-BR" sz="2400" dirty="0" err="1" smtClean="0">
                <a:latin typeface="Gill Sans Std Light" pitchFamily="34" charset="0"/>
                <a:cs typeface="Gill Sans Std Light"/>
              </a:rPr>
              <a:t>ITs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, </a:t>
            </a:r>
            <a:r>
              <a:rPr lang="pt-BR" sz="2400" dirty="0" err="1" smtClean="0">
                <a:latin typeface="Gill Sans Std Light" pitchFamily="34" charset="0"/>
                <a:cs typeface="Gill Sans Std Light"/>
              </a:rPr>
              <a:t>PRs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, </a:t>
            </a:r>
            <a:r>
              <a:rPr lang="pt-BR" sz="2400" dirty="0" err="1" smtClean="0">
                <a:latin typeface="Gill Sans Std Light" pitchFamily="34" charset="0"/>
                <a:cs typeface="Gill Sans Std Light"/>
              </a:rPr>
              <a:t>NMs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 e material de apoio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). Tivemos 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dias dedicados para trabalhar com processos. </a:t>
            </a:r>
          </a:p>
          <a:p>
            <a:endParaRPr lang="pt-BR" sz="2400" dirty="0" smtClean="0">
              <a:latin typeface="Gill Sans Std Light" pitchFamily="34" charset="0"/>
              <a:cs typeface="Gill Sans Std Light"/>
            </a:endParaRP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Construímos o </a:t>
            </a:r>
            <a:r>
              <a:rPr lang="pt-BR" sz="2400" i="1" dirty="0" smtClean="0">
                <a:latin typeface="Gill Sans Std Light" pitchFamily="34" charset="0"/>
                <a:cs typeface="Gill Sans Std Light"/>
              </a:rPr>
              <a:t>metrô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de processos</a:t>
            </a:r>
            <a:endParaRPr lang="pt-BR" sz="2400" dirty="0">
              <a:latin typeface="Gill Sans Std Light" pitchFamily="34" charset="0"/>
              <a:cs typeface="Gill Sans Std Light"/>
            </a:endParaRPr>
          </a:p>
          <a:p>
            <a:r>
              <a:rPr lang="pt-BR" sz="1800" dirty="0">
                <a:latin typeface="Gill Sans Std Light" pitchFamily="34" charset="0"/>
                <a:cs typeface="Gill Sans Std Light"/>
                <a:hlinkClick r:id="rId4"/>
              </a:rPr>
              <a:t>http://</a:t>
            </a:r>
            <a:r>
              <a:rPr lang="pt-BR" sz="1800" dirty="0" smtClean="0">
                <a:latin typeface="Gill Sans Std Light" pitchFamily="34" charset="0"/>
                <a:cs typeface="Gill Sans Std Light"/>
                <a:hlinkClick r:id="rId4"/>
              </a:rPr>
              <a:t>equipes.natura.net/vptd/processos/SitePages/P%C3%A1gina%20Inicial.aspx</a:t>
            </a:r>
            <a:endParaRPr lang="pt-BR" sz="2400" dirty="0" smtClean="0">
              <a:latin typeface="Gill Sans Std Light" pitchFamily="34" charset="0"/>
              <a:cs typeface="Gill Sans Std Light"/>
            </a:endParaRPr>
          </a:p>
          <a:p>
            <a:endParaRPr lang="pt-BR" sz="2400" dirty="0">
              <a:latin typeface="Gill Sans Std Light" pitchFamily="34" charset="0"/>
              <a:cs typeface="Gill Sans Std Light"/>
            </a:endParaRP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Capacitamos toda a VP TD em Dezembro, além de capacitações específicas por subprocesso / publico alvo. </a:t>
            </a:r>
            <a:endParaRPr lang="pt-BR" sz="2400" dirty="0">
              <a:latin typeface="Gill Sans Std Light" pitchFamily="34" charset="0"/>
              <a:cs typeface="Gill Sans Std Light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330820" y="124272"/>
            <a:ext cx="12364268" cy="746794"/>
          </a:xfrm>
          <a:prstGeom prst="rect">
            <a:avLst/>
          </a:prstGeom>
          <a:noFill/>
        </p:spPr>
        <p:txBody>
          <a:bodyPr wrap="square" lIns="129965" tIns="64986" rIns="129965" bIns="64986" rtlCol="0">
            <a:spAutoFit/>
          </a:bodyPr>
          <a:lstStyle/>
          <a:p>
            <a:r>
              <a:rPr lang="pt-BR" sz="4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Gill Sans Std UltraBold" pitchFamily="34" charset="0"/>
                <a:ea typeface="ヒラギノ角ゴ ProN W3" charset="-128"/>
                <a:sym typeface="GillSans" pitchFamily="34" charset="0"/>
              </a:rPr>
              <a:t>Processos</a:t>
            </a:r>
            <a:endParaRPr lang="pt-BR" sz="4000" dirty="0">
              <a:solidFill>
                <a:schemeClr val="tx1">
                  <a:lumMod val="50000"/>
                  <a:lumOff val="50000"/>
                </a:schemeClr>
              </a:solidFill>
              <a:latin typeface="Gill Sans Std UltraBold" pitchFamily="34" charset="0"/>
              <a:ea typeface="ヒラギノ角ゴ ProN W3" charset="-128"/>
              <a:sym typeface="GillSan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062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marrom-ekos.png"/>
          <p:cNvPicPr>
            <a:picLocks noChangeAspect="1"/>
          </p:cNvPicPr>
          <p:nvPr/>
        </p:nvPicPr>
        <p:blipFill>
          <a:blip r:embed="rId3" cstate="screen">
            <a:alphaModFix/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3000"/>
                    </a14:imgEffect>
                    <a14:imgEffect>
                      <a14:brightnessContrast brigh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007416" y="8347530"/>
            <a:ext cx="532450" cy="708420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664952" y="484312"/>
            <a:ext cx="11162840" cy="8641701"/>
          </a:xfrm>
          <a:prstGeom prst="rect">
            <a:avLst/>
          </a:prstGeom>
          <a:noFill/>
        </p:spPr>
        <p:txBody>
          <a:bodyPr wrap="square" lIns="145646" tIns="72823" rIns="145646" bIns="72823" rtlCol="0">
            <a:spAutoFit/>
          </a:bodyPr>
          <a:lstStyle/>
          <a:p>
            <a:r>
              <a:rPr lang="pt-BR" sz="2400" b="1" dirty="0" smtClean="0">
                <a:latin typeface="Gill Sans Std Light" pitchFamily="34" charset="0"/>
                <a:cs typeface="Gill Sans Std Light"/>
              </a:rPr>
              <a:t>2014 “Melhoria Contínua”</a:t>
            </a:r>
            <a:endParaRPr lang="pt-BR" sz="2400" b="1" dirty="0">
              <a:latin typeface="Gill Sans Std Light" pitchFamily="34" charset="0"/>
              <a:cs typeface="Gill Sans Std Light"/>
            </a:endParaRPr>
          </a:p>
          <a:p>
            <a:endParaRPr lang="pt-BR" sz="2400" dirty="0" smtClean="0">
              <a:latin typeface="Gill Sans Std Light" pitchFamily="34" charset="0"/>
              <a:cs typeface="Gill Sans Std Light"/>
            </a:endParaRP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Agendamos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reuniões </a:t>
            </a:r>
            <a:r>
              <a:rPr lang="pt-BR" sz="2400" u="sng" dirty="0" smtClean="0">
                <a:latin typeface="Gill Sans Std Light" pitchFamily="34" charset="0"/>
                <a:cs typeface="Gill Sans Std Light"/>
              </a:rPr>
              <a:t>mensais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 de “Melhoria Contínua de Processo”.</a:t>
            </a: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Entre Fevereiro e Abril - definimos os Indicadores</a:t>
            </a:r>
            <a:r>
              <a:rPr lang="pt-BR" sz="2400" b="1" dirty="0" smtClean="0">
                <a:latin typeface="Gill Sans Std Light" pitchFamily="34" charset="0"/>
                <a:cs typeface="Gill Sans Std Light"/>
              </a:rPr>
              <a:t>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de TD por processo e avaliamos os </a:t>
            </a:r>
            <a:r>
              <a:rPr lang="pt-BR" sz="2400" b="1" dirty="0" smtClean="0">
                <a:latin typeface="Gill Sans Std Light" pitchFamily="34" charset="0"/>
                <a:cs typeface="Gill Sans Std Light"/>
              </a:rPr>
              <a:t>indicadores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 elegíveis a PLR.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  </a:t>
            </a:r>
            <a:endParaRPr lang="pt-BR" sz="2400" b="1" dirty="0">
              <a:latin typeface="Gill Sans Std Light" pitchFamily="34" charset="0"/>
              <a:cs typeface="Gill Sans Std Light"/>
            </a:endParaRPr>
          </a:p>
          <a:p>
            <a:endParaRPr lang="pt-BR" sz="2400" dirty="0" smtClean="0">
              <a:latin typeface="Gill Sans Std Light" pitchFamily="34" charset="0"/>
              <a:cs typeface="Gill Sans Std Light"/>
            </a:endParaRP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Em Abril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iniciamos a “Melhoria Contínua de Processos”.</a:t>
            </a:r>
            <a:endParaRPr lang="pt-BR" sz="2400" dirty="0">
              <a:latin typeface="Gill Sans Std Light" pitchFamily="34" charset="0"/>
              <a:cs typeface="Gill Sans Std Light"/>
            </a:endParaRP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Fizemos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uma reunião com a área de SGN, para montarmos um plano de ação de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melhoria, porém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SGN </a:t>
            </a:r>
            <a:r>
              <a:rPr lang="pt-BR" sz="2400" b="1" dirty="0">
                <a:latin typeface="Gill Sans Std Light" pitchFamily="34" charset="0"/>
                <a:cs typeface="Gill Sans Std Light"/>
              </a:rPr>
              <a:t>não reconhece que TD está em fase de melhoria de processos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 e sim ainda em construção de processos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.</a:t>
            </a:r>
          </a:p>
          <a:p>
            <a:endParaRPr lang="pt-BR" sz="2400" dirty="0" smtClean="0">
              <a:latin typeface="Gill Sans Std Light" pitchFamily="34" charset="0"/>
              <a:cs typeface="Gill Sans Std Light"/>
            </a:endParaRP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Nossos documentos 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(</a:t>
            </a:r>
            <a:r>
              <a:rPr lang="pt-BR" sz="2400" dirty="0" err="1" smtClean="0">
                <a:latin typeface="Gill Sans Std Light" pitchFamily="34" charset="0"/>
                <a:cs typeface="Gill Sans Std Light"/>
              </a:rPr>
              <a:t>ITs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, </a:t>
            </a:r>
            <a:r>
              <a:rPr lang="pt-BR" sz="2400" dirty="0" err="1" smtClean="0">
                <a:latin typeface="Gill Sans Std Light" pitchFamily="34" charset="0"/>
                <a:cs typeface="Gill Sans Std Light"/>
              </a:rPr>
              <a:t>PRs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, </a:t>
            </a:r>
            <a:r>
              <a:rPr lang="pt-BR" sz="2400" dirty="0" err="1" smtClean="0">
                <a:latin typeface="Gill Sans Std Light" pitchFamily="34" charset="0"/>
                <a:cs typeface="Gill Sans Std Light"/>
              </a:rPr>
              <a:t>NMs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) 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só foram aprovados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em 2013 por 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SGN e publicados no Natura.doc devido a auditoria de </a:t>
            </a:r>
            <a:r>
              <a:rPr lang="pt-BR" sz="2400" dirty="0" err="1">
                <a:latin typeface="Gill Sans Std Light" pitchFamily="34" charset="0"/>
                <a:cs typeface="Gill Sans Std Light"/>
              </a:rPr>
              <a:t>recertificação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ISO 9001, 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porém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se não houver melhoria na documentação, 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os mesmos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serão rejeitados 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na próxima validação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.</a:t>
            </a:r>
          </a:p>
          <a:p>
            <a:endParaRPr lang="pt-BR" sz="2400" dirty="0">
              <a:latin typeface="Gill Sans Std Light" pitchFamily="34" charset="0"/>
              <a:cs typeface="Gill Sans Std Light"/>
            </a:endParaRP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Diante disso, combinamos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com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SGN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que realizaríamos reuniões com todos os integradores de processo para fazer um </a:t>
            </a:r>
            <a:r>
              <a:rPr lang="pt-BR" sz="2400" i="1" dirty="0" smtClean="0">
                <a:latin typeface="Gill Sans Std Light" pitchFamily="34" charset="0"/>
                <a:cs typeface="Gill Sans Std Light"/>
              </a:rPr>
              <a:t>QA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 em todos os documentos de processos. </a:t>
            </a:r>
            <a:r>
              <a:rPr lang="pt-BR" sz="2400" b="1" dirty="0" smtClean="0">
                <a:latin typeface="Gill Sans Std Light" pitchFamily="34" charset="0"/>
                <a:cs typeface="Gill Sans Std Light"/>
              </a:rPr>
              <a:t>Chamamos este trabalho de “Diagnóstico</a:t>
            </a:r>
            <a:r>
              <a:rPr lang="pt-BR" sz="2400" b="1" dirty="0" smtClean="0">
                <a:latin typeface="Gill Sans Std Light" pitchFamily="34" charset="0"/>
                <a:cs typeface="Gill Sans Std Light"/>
              </a:rPr>
              <a:t>”.</a:t>
            </a:r>
          </a:p>
          <a:p>
            <a:endParaRPr lang="pt-BR" sz="2400" b="1" dirty="0">
              <a:latin typeface="Gill Sans Std Light" pitchFamily="34" charset="0"/>
              <a:cs typeface="Gill Sans Std Light"/>
            </a:endParaRPr>
          </a:p>
          <a:p>
            <a:r>
              <a:rPr lang="pt-BR" sz="2400" dirty="0">
                <a:latin typeface="Gill Sans Std Light" pitchFamily="34" charset="0"/>
                <a:cs typeface="Gill Sans Std Light"/>
              </a:rPr>
              <a:t>Entre Junho e Agosto foi feito o diagnostico dos 7 processos de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TD, (revisamos todos os N3s e N4s) e mapeadas as oportunidades de melhoria para 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ajudar o integrador a planejar e estruturar um plano de ação para aplicar as correções necessárias. </a:t>
            </a:r>
          </a:p>
          <a:p>
            <a:endParaRPr lang="pt-BR" sz="2400" b="1" dirty="0">
              <a:latin typeface="Gill Sans Std Light" pitchFamily="34" charset="0"/>
              <a:cs typeface="Gill Sans Std Light"/>
            </a:endParaRPr>
          </a:p>
        </p:txBody>
      </p:sp>
      <p:sp>
        <p:nvSpPr>
          <p:cNvPr id="5" name="Retângulo 4">
            <a:hlinkClick r:id="rId5" action="ppaction://hlinksldjump"/>
          </p:cNvPr>
          <p:cNvSpPr/>
          <p:nvPr/>
        </p:nvSpPr>
        <p:spPr>
          <a:xfrm>
            <a:off x="7078464" y="8917764"/>
            <a:ext cx="3672408" cy="63955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i="1" dirty="0" smtClean="0">
                <a:solidFill>
                  <a:schemeClr val="bg1"/>
                </a:solidFill>
              </a:rPr>
              <a:t>Diagnóstico </a:t>
            </a:r>
            <a:r>
              <a:rPr lang="pt-BR" sz="1600" i="1" dirty="0" smtClean="0">
                <a:solidFill>
                  <a:schemeClr val="bg1"/>
                </a:solidFill>
              </a:rPr>
              <a:t>(resultado)</a:t>
            </a:r>
            <a:endParaRPr lang="pt-BR" i="1" dirty="0">
              <a:solidFill>
                <a:schemeClr val="bg1"/>
              </a:solidFill>
            </a:endParaRPr>
          </a:p>
        </p:txBody>
      </p:sp>
      <p:graphicFrame>
        <p:nvGraphicFramePr>
          <p:cNvPr id="3" name="Objeto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2576687"/>
              </p:ext>
            </p:extLst>
          </p:nvPr>
        </p:nvGraphicFramePr>
        <p:xfrm>
          <a:off x="11359240" y="471364"/>
          <a:ext cx="1210145" cy="1021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" name="Planilha" showAsIcon="1" r:id="rId6" imgW="914400" imgH="771480" progId="Excel.Sheet.12">
                  <p:embed/>
                </p:oleObj>
              </mc:Choice>
              <mc:Fallback>
                <p:oleObj name="Planilha" showAsIcon="1" r:id="rId6" imgW="914400" imgH="77148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359240" y="471364"/>
                        <a:ext cx="1210145" cy="10210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9751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330820" y="124272"/>
            <a:ext cx="12364268" cy="869905"/>
          </a:xfrm>
          <a:prstGeom prst="rect">
            <a:avLst/>
          </a:prstGeom>
          <a:noFill/>
        </p:spPr>
        <p:txBody>
          <a:bodyPr wrap="square" lIns="129965" tIns="64986" rIns="129965" bIns="64986" rtlCol="0">
            <a:spAutoFit/>
          </a:bodyPr>
          <a:lstStyle/>
          <a:p>
            <a:r>
              <a:rPr lang="pt-BR" sz="4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Gill Sans Std UltraBold" pitchFamily="34" charset="0"/>
                <a:ea typeface="ヒラギノ角ゴ ProN W3" charset="-128"/>
                <a:sym typeface="GillSans" pitchFamily="34" charset="0"/>
              </a:rPr>
              <a:t>Diagnóstico </a:t>
            </a:r>
            <a:endParaRPr lang="pt-BR" sz="4800" dirty="0">
              <a:solidFill>
                <a:schemeClr val="tx1">
                  <a:lumMod val="50000"/>
                  <a:lumOff val="50000"/>
                </a:schemeClr>
              </a:solidFill>
              <a:latin typeface="Gill Sans Std UltraBold" pitchFamily="34" charset="0"/>
              <a:ea typeface="ヒラギノ角ゴ ProN W3" charset="-128"/>
              <a:sym typeface="GillSans" pitchFamily="34" charset="0"/>
            </a:endParaRPr>
          </a:p>
        </p:txBody>
      </p:sp>
      <p:pic>
        <p:nvPicPr>
          <p:cNvPr id="9" name="Picture 8" descr="NAT_marca_laranja_natura-01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9088" y="8610600"/>
            <a:ext cx="1001712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CaixaDeTexto 9"/>
          <p:cNvSpPr txBox="1"/>
          <p:nvPr/>
        </p:nvSpPr>
        <p:spPr>
          <a:xfrm>
            <a:off x="330820" y="1420416"/>
            <a:ext cx="12364268" cy="7025436"/>
          </a:xfrm>
          <a:prstGeom prst="rect">
            <a:avLst/>
          </a:prstGeom>
          <a:noFill/>
        </p:spPr>
        <p:txBody>
          <a:bodyPr wrap="square" lIns="129965" tIns="64986" rIns="129965" bIns="64986" rtlCol="0">
            <a:spAutoFit/>
          </a:bodyPr>
          <a:lstStyle/>
          <a:p>
            <a:r>
              <a:rPr lang="pt-BR" sz="2800" dirty="0" smtClean="0">
                <a:latin typeface="Gill Sans Std Light" pitchFamily="34" charset="0"/>
                <a:cs typeface="Gill Sans Std Light"/>
              </a:rPr>
              <a:t>Atualmente o processo de TD possui 82 documentos vigentes e publicados no Natura.doc.</a:t>
            </a:r>
          </a:p>
          <a:p>
            <a:endParaRPr lang="pt-BR" sz="2800" dirty="0">
              <a:latin typeface="Gill Sans Std Light" pitchFamily="34" charset="0"/>
              <a:cs typeface="Gill Sans Std Light"/>
            </a:endParaRPr>
          </a:p>
          <a:p>
            <a:r>
              <a:rPr lang="pt-BR" sz="2800" b="1" dirty="0" smtClean="0">
                <a:latin typeface="Gill Sans Std Light" pitchFamily="34" charset="0"/>
                <a:cs typeface="Gill Sans Std Light"/>
              </a:rPr>
              <a:t>Com o diagnósticos:</a:t>
            </a:r>
          </a:p>
          <a:p>
            <a:r>
              <a:rPr lang="pt-BR" sz="2800" b="1" dirty="0">
                <a:latin typeface="Gill Sans Std Light" pitchFamily="34" charset="0"/>
                <a:cs typeface="Gill Sans Std Light"/>
              </a:rPr>
              <a:t> </a:t>
            </a:r>
            <a:r>
              <a:rPr lang="pt-BR" sz="2800" b="1" dirty="0" smtClean="0">
                <a:latin typeface="Gill Sans Std Light" pitchFamily="34" charset="0"/>
                <a:cs typeface="Gill Sans Std Light"/>
              </a:rPr>
              <a:t> 5 foram excluídos,</a:t>
            </a:r>
          </a:p>
          <a:p>
            <a:r>
              <a:rPr lang="pt-BR" sz="2800" b="1" dirty="0">
                <a:latin typeface="Gill Sans Std Light" pitchFamily="34" charset="0"/>
                <a:cs typeface="Gill Sans Std Light"/>
              </a:rPr>
              <a:t> </a:t>
            </a:r>
            <a:r>
              <a:rPr lang="pt-BR" sz="2800" b="1" dirty="0" smtClean="0">
                <a:latin typeface="Gill Sans Std Light" pitchFamily="34" charset="0"/>
                <a:cs typeface="Gill Sans Std Light"/>
              </a:rPr>
              <a:t> 1 está ok, sem necessidade de revisão,</a:t>
            </a:r>
          </a:p>
          <a:p>
            <a:r>
              <a:rPr lang="pt-BR" sz="2800" b="1" dirty="0">
                <a:latin typeface="Gill Sans Std Light" pitchFamily="34" charset="0"/>
                <a:cs typeface="Gill Sans Std Light"/>
              </a:rPr>
              <a:t> </a:t>
            </a:r>
            <a:r>
              <a:rPr lang="pt-BR" sz="2800" b="1" dirty="0" smtClean="0">
                <a:latin typeface="Gill Sans Std Light" pitchFamily="34" charset="0"/>
                <a:cs typeface="Gill Sans Std Light"/>
              </a:rPr>
              <a:t> 76 precisam ser revisados/alterados.</a:t>
            </a:r>
          </a:p>
          <a:p>
            <a:endParaRPr lang="pt-BR" sz="2800" dirty="0">
              <a:latin typeface="Gill Sans Std Light" pitchFamily="34" charset="0"/>
              <a:cs typeface="Gill Sans Std Light"/>
            </a:endParaRPr>
          </a:p>
          <a:p>
            <a:r>
              <a:rPr lang="pt-BR" sz="2800" dirty="0" smtClean="0">
                <a:latin typeface="Gill Sans Std Light" pitchFamily="34" charset="0"/>
                <a:cs typeface="Gill Sans Std Light"/>
              </a:rPr>
              <a:t>Identificamos também a necessidade de criar mais 30 documentos, sendo </a:t>
            </a:r>
            <a:r>
              <a:rPr lang="pt-BR" sz="2800" dirty="0" err="1" smtClean="0">
                <a:latin typeface="Gill Sans Std Light" pitchFamily="34" charset="0"/>
                <a:cs typeface="Gill Sans Std Light"/>
              </a:rPr>
              <a:t>ITs</a:t>
            </a:r>
            <a:r>
              <a:rPr lang="pt-BR" sz="2800" dirty="0" smtClean="0">
                <a:latin typeface="Gill Sans Std Light" pitchFamily="34" charset="0"/>
                <a:cs typeface="Gill Sans Std Light"/>
              </a:rPr>
              <a:t>, </a:t>
            </a:r>
            <a:r>
              <a:rPr lang="pt-BR" sz="2800" dirty="0" err="1" smtClean="0">
                <a:latin typeface="Gill Sans Std Light" pitchFamily="34" charset="0"/>
                <a:cs typeface="Gill Sans Std Light"/>
              </a:rPr>
              <a:t>PRs</a:t>
            </a:r>
            <a:r>
              <a:rPr lang="pt-BR" sz="2800" dirty="0" smtClean="0">
                <a:latin typeface="Gill Sans Std Light" pitchFamily="34" charset="0"/>
                <a:cs typeface="Gill Sans Std Light"/>
              </a:rPr>
              <a:t> e </a:t>
            </a:r>
            <a:r>
              <a:rPr lang="pt-BR" sz="2800" dirty="0" err="1" smtClean="0">
                <a:latin typeface="Gill Sans Std Light" pitchFamily="34" charset="0"/>
                <a:cs typeface="Gill Sans Std Light"/>
              </a:rPr>
              <a:t>NMs</a:t>
            </a:r>
            <a:r>
              <a:rPr lang="pt-BR" sz="2800" dirty="0" smtClean="0">
                <a:latin typeface="Gill Sans Std Light" pitchFamily="34" charset="0"/>
                <a:cs typeface="Gill Sans Std Light"/>
              </a:rPr>
              <a:t>.</a:t>
            </a:r>
          </a:p>
          <a:p>
            <a:endParaRPr lang="pt-BR" sz="2800" dirty="0">
              <a:latin typeface="Gill Sans Std Light" pitchFamily="34" charset="0"/>
              <a:cs typeface="Gill Sans Std Light"/>
            </a:endParaRPr>
          </a:p>
          <a:p>
            <a:pPr algn="ctr"/>
            <a:r>
              <a:rPr lang="pt-BR" sz="2800" b="1" dirty="0" smtClean="0">
                <a:latin typeface="Gill Sans Std Light" pitchFamily="34" charset="0"/>
                <a:cs typeface="Gill Sans Std Light"/>
              </a:rPr>
              <a:t>Ao todo teremos 107 documentos disponíveis para o processo de TD.</a:t>
            </a:r>
          </a:p>
          <a:p>
            <a:pPr algn="ctr"/>
            <a:endParaRPr lang="pt-BR" sz="2800" b="1" dirty="0">
              <a:latin typeface="Gill Sans Std Light" pitchFamily="34" charset="0"/>
              <a:cs typeface="Gill Sans Std Light"/>
            </a:endParaRPr>
          </a:p>
          <a:p>
            <a:pPr algn="ctr"/>
            <a:endParaRPr lang="pt-BR" sz="2800" b="1" dirty="0" smtClean="0">
              <a:latin typeface="Gill Sans Std Light" pitchFamily="34" charset="0"/>
              <a:cs typeface="Gill Sans Std Light"/>
            </a:endParaRPr>
          </a:p>
          <a:p>
            <a:pPr lvl="4"/>
            <a:r>
              <a:rPr lang="pt-BR" sz="2800" dirty="0" smtClean="0">
                <a:latin typeface="Gill Sans Std Light" pitchFamily="34" charset="0"/>
                <a:cs typeface="Gill Sans Std Light"/>
              </a:rPr>
              <a:t>Os pontos de melhoria identificados nos documentos estão  disponíveis no Sharepoint de Processos TD (</a:t>
            </a:r>
            <a:r>
              <a:rPr lang="pt-BR" sz="2800" i="1" dirty="0" smtClean="0">
                <a:latin typeface="Gill Sans Std Light" pitchFamily="34" charset="0"/>
                <a:cs typeface="Gill Sans Std Light"/>
                <a:hlinkClick r:id="rId4"/>
              </a:rPr>
              <a:t>clique aqui</a:t>
            </a:r>
            <a:r>
              <a:rPr lang="pt-BR" sz="2800" dirty="0" smtClean="0">
                <a:latin typeface="Gill Sans Std Light" pitchFamily="34" charset="0"/>
                <a:cs typeface="Gill Sans Std Light"/>
              </a:rPr>
              <a:t>!)</a:t>
            </a:r>
          </a:p>
        </p:txBody>
      </p:sp>
      <p:graphicFrame>
        <p:nvGraphicFramePr>
          <p:cNvPr id="3" name="Objeto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3179194"/>
              </p:ext>
            </p:extLst>
          </p:nvPr>
        </p:nvGraphicFramePr>
        <p:xfrm>
          <a:off x="597744" y="7963410"/>
          <a:ext cx="1534082" cy="1294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8" name="Planilha" showAsIcon="1" r:id="rId5" imgW="914400" imgH="771480" progId="Excel.Sheet.12">
                  <p:embed/>
                </p:oleObj>
              </mc:Choice>
              <mc:Fallback>
                <p:oleObj name="Planilha" showAsIcon="1" r:id="rId5" imgW="914400" imgH="77148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97744" y="7963410"/>
                        <a:ext cx="1534082" cy="12943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2">
            <a:hlinkClick r:id="rId7" action="ppaction://hlinksldjump"/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4808" y="8714836"/>
            <a:ext cx="871535" cy="842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2781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5" name="Text Box 13"/>
          <p:cNvSpPr txBox="1">
            <a:spLocks noChangeArrowheads="1"/>
          </p:cNvSpPr>
          <p:nvPr/>
        </p:nvSpPr>
        <p:spPr bwMode="auto">
          <a:xfrm rot="16200000">
            <a:off x="-383466" y="2648812"/>
            <a:ext cx="1920082" cy="439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30019" tIns="65010" rIns="130019" bIns="65010">
            <a:spAutoFit/>
          </a:bodyPr>
          <a:lstStyle/>
          <a:p>
            <a:pPr eaLnBrk="0" hangingPunct="0"/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Gill Sans Std Light" pitchFamily="34" charset="0"/>
              </a:rPr>
              <a:t>ESTRATÉGICO</a:t>
            </a:r>
            <a:endParaRPr lang="pt-BR" sz="2000" b="1" dirty="0">
              <a:solidFill>
                <a:schemeClr val="bg1">
                  <a:lumMod val="50000"/>
                </a:schemeClr>
              </a:solidFill>
              <a:latin typeface="Gill Sans Std Light" pitchFamily="34" charset="0"/>
            </a:endParaRPr>
          </a:p>
        </p:txBody>
      </p:sp>
      <p:sp>
        <p:nvSpPr>
          <p:cNvPr id="343055" name="Text Box 25"/>
          <p:cNvSpPr txBox="1">
            <a:spLocks noChangeArrowheads="1"/>
          </p:cNvSpPr>
          <p:nvPr/>
        </p:nvSpPr>
        <p:spPr bwMode="auto">
          <a:xfrm rot="16200000">
            <a:off x="-1932" y="4443706"/>
            <a:ext cx="1157053" cy="439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30019" tIns="65010" rIns="130019" bIns="65010">
            <a:spAutoFit/>
          </a:bodyPr>
          <a:lstStyle/>
          <a:p>
            <a:pPr eaLnBrk="0" hangingPunct="0"/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Gill Sans Std Light" pitchFamily="34" charset="0"/>
              </a:rPr>
              <a:t>TÁTICO</a:t>
            </a:r>
            <a:endParaRPr lang="pt-BR" sz="2000" b="1" dirty="0">
              <a:solidFill>
                <a:schemeClr val="bg1">
                  <a:lumMod val="50000"/>
                </a:schemeClr>
              </a:solidFill>
              <a:latin typeface="Gill Sans Std Light" pitchFamily="34" charset="0"/>
            </a:endParaRPr>
          </a:p>
        </p:txBody>
      </p:sp>
      <p:sp>
        <p:nvSpPr>
          <p:cNvPr id="343089" name="Text Box 60"/>
          <p:cNvSpPr txBox="1">
            <a:spLocks noChangeArrowheads="1"/>
          </p:cNvSpPr>
          <p:nvPr/>
        </p:nvSpPr>
        <p:spPr bwMode="auto">
          <a:xfrm rot="16200000">
            <a:off x="-443599" y="7189589"/>
            <a:ext cx="2040308" cy="439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30019" tIns="65010" rIns="130019" bIns="65010">
            <a:spAutoFit/>
          </a:bodyPr>
          <a:lstStyle/>
          <a:p>
            <a:pPr eaLnBrk="0" hangingPunct="0"/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Gill Sans Std Light" pitchFamily="34" charset="0"/>
              </a:rPr>
              <a:t>OPERACIONAL</a:t>
            </a:r>
            <a:endParaRPr lang="pt-BR" sz="2000" b="1" dirty="0">
              <a:solidFill>
                <a:schemeClr val="bg1">
                  <a:lumMod val="50000"/>
                </a:schemeClr>
              </a:solidFill>
              <a:latin typeface="Gill Sans Std Light" pitchFamily="34" charset="0"/>
            </a:endParaRPr>
          </a:p>
        </p:txBody>
      </p:sp>
      <p:sp>
        <p:nvSpPr>
          <p:cNvPr id="100418" name="Text Box 66"/>
          <p:cNvSpPr txBox="1">
            <a:spLocks noChangeArrowheads="1"/>
          </p:cNvSpPr>
          <p:nvPr/>
        </p:nvSpPr>
        <p:spPr bwMode="auto">
          <a:xfrm>
            <a:off x="813768" y="1852464"/>
            <a:ext cx="2629572" cy="439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30019" tIns="65010" rIns="130019" bIns="65010">
            <a:spAutoFit/>
          </a:bodyPr>
          <a:lstStyle/>
          <a:p>
            <a:pPr algn="l"/>
            <a:r>
              <a:rPr lang="pt-BR" sz="2000" b="1" dirty="0">
                <a:solidFill>
                  <a:schemeClr val="accent6">
                    <a:lumMod val="75000"/>
                  </a:schemeClr>
                </a:solidFill>
                <a:latin typeface="Gill Sans Std Light" pitchFamily="34" charset="0"/>
              </a:rPr>
              <a:t>Nível 0:</a:t>
            </a:r>
            <a:r>
              <a:rPr lang="pt-BR" sz="2000" dirty="0">
                <a:latin typeface="Gill Sans Std Light" pitchFamily="34" charset="0"/>
              </a:rPr>
              <a:t> </a:t>
            </a:r>
            <a:r>
              <a:rPr lang="pt-BR" sz="2000" dirty="0" smtClean="0">
                <a:latin typeface="Gill Sans Std Light" pitchFamily="34" charset="0"/>
              </a:rPr>
              <a:t>Cadeia Natura</a:t>
            </a:r>
            <a:endParaRPr lang="pt-BR" sz="2000" dirty="0">
              <a:latin typeface="Gill Sans Std Light" pitchFamily="34" charset="0"/>
            </a:endParaRPr>
          </a:p>
        </p:txBody>
      </p:sp>
      <p:sp>
        <p:nvSpPr>
          <p:cNvPr id="100419" name="Text Box 67"/>
          <p:cNvSpPr txBox="1">
            <a:spLocks noChangeArrowheads="1"/>
          </p:cNvSpPr>
          <p:nvPr/>
        </p:nvSpPr>
        <p:spPr bwMode="auto">
          <a:xfrm>
            <a:off x="1628812" y="4187065"/>
            <a:ext cx="1289192" cy="393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30019" tIns="65010" rIns="130019" bIns="65010">
            <a:spAutoFit/>
          </a:bodyPr>
          <a:lstStyle/>
          <a:p>
            <a:pPr algn="l"/>
            <a:r>
              <a:rPr lang="pt-BR" sz="1700" dirty="0">
                <a:latin typeface="Gill Sans Std Light" pitchFamily="34" charset="0"/>
              </a:rPr>
              <a:t>Processo</a:t>
            </a:r>
          </a:p>
        </p:txBody>
      </p:sp>
      <p:pic>
        <p:nvPicPr>
          <p:cNvPr id="343091" name="Picture 62"/>
          <p:cNvPicPr>
            <a:picLocks noChangeAspect="1" noChangeArrowheads="1"/>
          </p:cNvPicPr>
          <p:nvPr/>
        </p:nvPicPr>
        <p:blipFill>
          <a:blip r:embed="rId3" cstate="print"/>
          <a:srcRect l="18111" t="20456" r="12936" b="27686"/>
          <a:stretch>
            <a:fillRect/>
          </a:stretch>
        </p:blipFill>
        <p:spPr bwMode="auto">
          <a:xfrm>
            <a:off x="3982120" y="8795129"/>
            <a:ext cx="451199" cy="74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343100" name="Text Box 70"/>
          <p:cNvSpPr txBox="1">
            <a:spLocks noChangeArrowheads="1"/>
          </p:cNvSpPr>
          <p:nvPr/>
        </p:nvSpPr>
        <p:spPr bwMode="auto">
          <a:xfrm>
            <a:off x="5022572" y="9005596"/>
            <a:ext cx="1623844" cy="623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30019" tIns="65010" rIns="130019" bIns="65010">
            <a:spAutoFit/>
          </a:bodyPr>
          <a:lstStyle/>
          <a:p>
            <a:pPr algn="l"/>
            <a:r>
              <a:rPr lang="pt-BR" sz="1600" dirty="0">
                <a:latin typeface="Gill Sans Std Light" pitchFamily="34" charset="0"/>
              </a:rPr>
              <a:t>Detalhamentos </a:t>
            </a:r>
            <a:r>
              <a:rPr lang="pt-BR" sz="1600" dirty="0" smtClean="0">
                <a:latin typeface="Gill Sans Std Light" pitchFamily="34" charset="0"/>
              </a:rPr>
              <a:t>p/ execução</a:t>
            </a:r>
            <a:endParaRPr lang="pt-BR" sz="1600" dirty="0">
              <a:latin typeface="Gill Sans Std Light" pitchFamily="34" charset="0"/>
            </a:endParaRPr>
          </a:p>
        </p:txBody>
      </p:sp>
      <p:sp>
        <p:nvSpPr>
          <p:cNvPr id="43" name="Text Box 66"/>
          <p:cNvSpPr txBox="1">
            <a:spLocks noChangeArrowheads="1"/>
          </p:cNvSpPr>
          <p:nvPr/>
        </p:nvSpPr>
        <p:spPr bwMode="auto">
          <a:xfrm>
            <a:off x="7924709" y="2140496"/>
            <a:ext cx="4617296" cy="1054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30019" tIns="65010" rIns="130019" bIns="65010">
            <a:spAutoFit/>
          </a:bodyPr>
          <a:lstStyle/>
          <a:p>
            <a:pPr algn="l"/>
            <a:r>
              <a:rPr lang="pt-BR" sz="2000" b="1" dirty="0">
                <a:solidFill>
                  <a:schemeClr val="accent6">
                    <a:lumMod val="75000"/>
                  </a:schemeClr>
                </a:solidFill>
                <a:latin typeface="Gill Sans Std Light" pitchFamily="34" charset="0"/>
              </a:rPr>
              <a:t>Nível 1: </a:t>
            </a:r>
            <a:r>
              <a:rPr lang="pt-BR" sz="2000" dirty="0" smtClean="0">
                <a:latin typeface="Gill Sans Std Light" pitchFamily="34" charset="0"/>
              </a:rPr>
              <a:t>Processos</a:t>
            </a:r>
          </a:p>
          <a:p>
            <a:pPr algn="l"/>
            <a:endParaRPr lang="pt-BR" sz="2000" dirty="0">
              <a:latin typeface="Gill Sans Std Light" pitchFamily="34" charset="0"/>
            </a:endParaRPr>
          </a:p>
          <a:p>
            <a:r>
              <a:rPr lang="pt-BR" sz="2000" dirty="0">
                <a:latin typeface="Gill Sans Std Light" pitchFamily="34" charset="0"/>
              </a:rPr>
              <a:t>Desdobramentos em </a:t>
            </a:r>
            <a:r>
              <a:rPr lang="pt-BR" sz="2000" dirty="0" smtClean="0">
                <a:latin typeface="Gill Sans Std Light" pitchFamily="34" charset="0"/>
              </a:rPr>
              <a:t>7 processos </a:t>
            </a:r>
            <a:r>
              <a:rPr lang="pt-BR" sz="2000" dirty="0">
                <a:latin typeface="Gill Sans Std Light" pitchFamily="34" charset="0"/>
              </a:rPr>
              <a:t>(nível 1</a:t>
            </a:r>
            <a:r>
              <a:rPr lang="pt-BR" sz="2000" dirty="0" smtClean="0">
                <a:latin typeface="Gill Sans Std Light" pitchFamily="34" charset="0"/>
              </a:rPr>
              <a:t>)</a:t>
            </a:r>
            <a:r>
              <a:rPr lang="pt-BR" sz="2000" dirty="0">
                <a:latin typeface="Gill Sans Std Light" pitchFamily="34" charset="0"/>
              </a:rPr>
              <a:t>.</a:t>
            </a:r>
          </a:p>
        </p:txBody>
      </p:sp>
      <p:sp>
        <p:nvSpPr>
          <p:cNvPr id="44" name="Text Box 66"/>
          <p:cNvSpPr txBox="1">
            <a:spLocks noChangeArrowheads="1"/>
          </p:cNvSpPr>
          <p:nvPr/>
        </p:nvSpPr>
        <p:spPr bwMode="auto">
          <a:xfrm>
            <a:off x="7974615" y="4228728"/>
            <a:ext cx="4881791" cy="1054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30019" tIns="65010" rIns="130019" bIns="65010">
            <a:spAutoFit/>
          </a:bodyPr>
          <a:lstStyle/>
          <a:p>
            <a:pPr algn="l"/>
            <a:r>
              <a:rPr lang="pt-BR" sz="2000" b="1" dirty="0">
                <a:solidFill>
                  <a:schemeClr val="accent6">
                    <a:lumMod val="75000"/>
                  </a:schemeClr>
                </a:solidFill>
                <a:latin typeface="Gill Sans Std Light" pitchFamily="34" charset="0"/>
              </a:rPr>
              <a:t>Nível 2:</a:t>
            </a:r>
            <a:r>
              <a:rPr lang="pt-BR" sz="2000" dirty="0">
                <a:solidFill>
                  <a:srgbClr val="CC0066"/>
                </a:solidFill>
                <a:latin typeface="Gill Sans Std Light" pitchFamily="34" charset="0"/>
              </a:rPr>
              <a:t> </a:t>
            </a:r>
            <a:r>
              <a:rPr lang="pt-BR" sz="2000" dirty="0" smtClean="0">
                <a:latin typeface="Gill Sans Std Light" pitchFamily="34" charset="0"/>
              </a:rPr>
              <a:t>Subprocessos</a:t>
            </a:r>
          </a:p>
          <a:p>
            <a:pPr algn="l"/>
            <a:endParaRPr lang="pt-BR" sz="2000" dirty="0">
              <a:latin typeface="Gill Sans Std Light" pitchFamily="34" charset="0"/>
            </a:endParaRPr>
          </a:p>
          <a:p>
            <a:r>
              <a:rPr lang="pt-BR" sz="2000" dirty="0" smtClean="0">
                <a:latin typeface="Gill Sans Std Light" pitchFamily="34" charset="0"/>
              </a:rPr>
              <a:t>Decomposição em 25 subprocessos (</a:t>
            </a:r>
            <a:r>
              <a:rPr lang="pt-BR" sz="2000" dirty="0">
                <a:latin typeface="Gill Sans Std Light" pitchFamily="34" charset="0"/>
              </a:rPr>
              <a:t>nível 2) </a:t>
            </a:r>
          </a:p>
        </p:txBody>
      </p:sp>
      <p:cxnSp>
        <p:nvCxnSpPr>
          <p:cNvPr id="12" name="Conector reto 11"/>
          <p:cNvCxnSpPr/>
          <p:nvPr/>
        </p:nvCxnSpPr>
        <p:spPr>
          <a:xfrm>
            <a:off x="0" y="3796680"/>
            <a:ext cx="12851905" cy="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to 47"/>
          <p:cNvCxnSpPr/>
          <p:nvPr/>
        </p:nvCxnSpPr>
        <p:spPr>
          <a:xfrm>
            <a:off x="50483" y="5668888"/>
            <a:ext cx="12851905" cy="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Box 66"/>
          <p:cNvSpPr txBox="1">
            <a:spLocks noChangeArrowheads="1"/>
          </p:cNvSpPr>
          <p:nvPr/>
        </p:nvSpPr>
        <p:spPr bwMode="auto">
          <a:xfrm>
            <a:off x="7979268" y="6100936"/>
            <a:ext cx="2411564" cy="439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30019" tIns="65010" rIns="130019" bIns="65010">
            <a:spAutoFit/>
          </a:bodyPr>
          <a:lstStyle/>
          <a:p>
            <a:pPr algn="l"/>
            <a:r>
              <a:rPr lang="pt-BR" sz="2000" b="1" dirty="0">
                <a:solidFill>
                  <a:schemeClr val="accent6">
                    <a:lumMod val="75000"/>
                  </a:schemeClr>
                </a:solidFill>
                <a:latin typeface="Gill Sans Std Light" pitchFamily="34" charset="0"/>
              </a:rPr>
              <a:t>Nível 3:</a:t>
            </a:r>
            <a:r>
              <a:rPr lang="pt-BR" sz="2000" dirty="0">
                <a:solidFill>
                  <a:srgbClr val="CC0066"/>
                </a:solidFill>
                <a:latin typeface="Gill Sans Std Light" pitchFamily="34" charset="0"/>
              </a:rPr>
              <a:t> </a:t>
            </a:r>
            <a:r>
              <a:rPr lang="pt-BR" sz="2000" dirty="0">
                <a:latin typeface="Gill Sans Std Light" pitchFamily="34" charset="0"/>
              </a:rPr>
              <a:t>Fluxogramas</a:t>
            </a:r>
          </a:p>
        </p:txBody>
      </p:sp>
      <p:sp>
        <p:nvSpPr>
          <p:cNvPr id="50" name="Text Box 66"/>
          <p:cNvSpPr txBox="1">
            <a:spLocks noChangeArrowheads="1"/>
          </p:cNvSpPr>
          <p:nvPr/>
        </p:nvSpPr>
        <p:spPr bwMode="auto">
          <a:xfrm>
            <a:off x="7996383" y="6821016"/>
            <a:ext cx="3546578" cy="2285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30019" tIns="65010" rIns="130019" bIns="65010">
            <a:spAutoFit/>
          </a:bodyPr>
          <a:lstStyle/>
          <a:p>
            <a:pPr algn="l"/>
            <a:r>
              <a:rPr lang="pt-BR" sz="2000" b="1" dirty="0">
                <a:solidFill>
                  <a:schemeClr val="accent6">
                    <a:lumMod val="75000"/>
                  </a:schemeClr>
                </a:solidFill>
                <a:latin typeface="Gill Sans Std Light" pitchFamily="34" charset="0"/>
              </a:rPr>
              <a:t>Nível 4:</a:t>
            </a:r>
            <a:r>
              <a:rPr lang="pt-BR" sz="2000" dirty="0">
                <a:solidFill>
                  <a:srgbClr val="CC0066"/>
                </a:solidFill>
                <a:latin typeface="Gill Sans Std Light" pitchFamily="34" charset="0"/>
              </a:rPr>
              <a:t> </a:t>
            </a:r>
            <a:r>
              <a:rPr lang="pt-BR" sz="2000" dirty="0" smtClean="0">
                <a:latin typeface="Gill Sans Std Light" pitchFamily="34" charset="0"/>
              </a:rPr>
              <a:t>Padrões</a:t>
            </a:r>
          </a:p>
          <a:p>
            <a:pPr algn="l"/>
            <a:endParaRPr lang="pt-BR" sz="2000" dirty="0">
              <a:latin typeface="Gill Sans Std Light" pitchFamily="34" charset="0"/>
            </a:endParaRPr>
          </a:p>
          <a:p>
            <a:r>
              <a:rPr lang="pt-BR" sz="2000" dirty="0" smtClean="0">
                <a:latin typeface="Gill Sans Std Light" pitchFamily="34" charset="0"/>
              </a:rPr>
              <a:t>Detalhamento dos </a:t>
            </a:r>
            <a:r>
              <a:rPr lang="pt-BR" sz="2000" dirty="0">
                <a:latin typeface="Gill Sans Std Light" pitchFamily="34" charset="0"/>
              </a:rPr>
              <a:t>Subprocessos em fluxogramas (nível 3) e padrões (nível 4): instruções de trabalho, </a:t>
            </a:r>
            <a:r>
              <a:rPr lang="pt-BR" sz="2000" dirty="0" smtClean="0">
                <a:latin typeface="Gill Sans Std Light" pitchFamily="34" charset="0"/>
              </a:rPr>
              <a:t>procedimentos e normas. </a:t>
            </a:r>
            <a:endParaRPr lang="pt-BR" sz="2000" dirty="0">
              <a:latin typeface="Gill Sans Std Light" pitchFamily="34" charset="0"/>
            </a:endParaRPr>
          </a:p>
        </p:txBody>
      </p:sp>
      <p:pic>
        <p:nvPicPr>
          <p:cNvPr id="51" name="Picture 62"/>
          <p:cNvPicPr>
            <a:picLocks noChangeAspect="1" noChangeArrowheads="1"/>
          </p:cNvPicPr>
          <p:nvPr/>
        </p:nvPicPr>
        <p:blipFill>
          <a:blip r:embed="rId3" cstate="print"/>
          <a:srcRect l="18111" t="20456" r="12936" b="27686"/>
          <a:stretch>
            <a:fillRect/>
          </a:stretch>
        </p:blipFill>
        <p:spPr bwMode="auto">
          <a:xfrm>
            <a:off x="4198867" y="8854925"/>
            <a:ext cx="451199" cy="74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52" name="Picture 62"/>
          <p:cNvPicPr>
            <a:picLocks noChangeAspect="1" noChangeArrowheads="1"/>
          </p:cNvPicPr>
          <p:nvPr/>
        </p:nvPicPr>
        <p:blipFill>
          <a:blip r:embed="rId3" cstate="print"/>
          <a:srcRect l="18111" t="20456" r="12936" b="27686"/>
          <a:stretch>
            <a:fillRect/>
          </a:stretch>
        </p:blipFill>
        <p:spPr bwMode="auto">
          <a:xfrm>
            <a:off x="4421307" y="8957336"/>
            <a:ext cx="451199" cy="74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10" y="2212504"/>
            <a:ext cx="1944571" cy="1437926"/>
          </a:xfrm>
          <a:prstGeom prst="rect">
            <a:avLst/>
          </a:prstGeom>
        </p:spPr>
      </p:pic>
      <p:pic>
        <p:nvPicPr>
          <p:cNvPr id="33" name="Picture 8" descr="NAT_marca_laranja_natura-01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9088" y="8610600"/>
            <a:ext cx="1001712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" name="CaixaDeTexto 33"/>
          <p:cNvSpPr txBox="1"/>
          <p:nvPr/>
        </p:nvSpPr>
        <p:spPr>
          <a:xfrm>
            <a:off x="330820" y="124272"/>
            <a:ext cx="12364268" cy="1362348"/>
          </a:xfrm>
          <a:prstGeom prst="rect">
            <a:avLst/>
          </a:prstGeom>
          <a:noFill/>
        </p:spPr>
        <p:txBody>
          <a:bodyPr wrap="square" lIns="129965" tIns="64986" rIns="129965" bIns="64986" rtlCol="0">
            <a:spAutoFit/>
          </a:bodyPr>
          <a:lstStyle/>
          <a:p>
            <a:r>
              <a:rPr lang="pt-BR" sz="4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Gill Sans Std UltraBold" pitchFamily="34" charset="0"/>
                <a:ea typeface="ヒラギノ角ゴ ProN W3" charset="-128"/>
                <a:sym typeface="GillSans" pitchFamily="34" charset="0"/>
              </a:rPr>
              <a:t>Arquitetura de processos e desdobramentos </a:t>
            </a:r>
            <a:endParaRPr lang="pt-BR" sz="4000" dirty="0">
              <a:solidFill>
                <a:schemeClr val="tx1">
                  <a:lumMod val="50000"/>
                  <a:lumOff val="50000"/>
                </a:schemeClr>
              </a:solidFill>
              <a:latin typeface="Gill Sans Std UltraBold" pitchFamily="34" charset="0"/>
              <a:ea typeface="ヒラギノ角ゴ ProN W3" charset="-128"/>
              <a:sym typeface="GillSans" pitchFamily="34" charset="0"/>
            </a:endParaRPr>
          </a:p>
        </p:txBody>
      </p:sp>
      <p:pic>
        <p:nvPicPr>
          <p:cNvPr id="35" name="Picture 2">
            <a:hlinkClick r:id="rId6" action="ppaction://hlinksldjump"/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2320" y="2212504"/>
            <a:ext cx="1909466" cy="14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Imagem 35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0906" y="3946222"/>
            <a:ext cx="3149009" cy="1403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5930" y="6028928"/>
            <a:ext cx="1276350" cy="217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1" name="Conector de seta reta 10"/>
          <p:cNvCxnSpPr/>
          <p:nvPr/>
        </p:nvCxnSpPr>
        <p:spPr>
          <a:xfrm>
            <a:off x="3443340" y="2667805"/>
            <a:ext cx="1959146" cy="0"/>
          </a:xfrm>
          <a:prstGeom prst="straightConnector1">
            <a:avLst/>
          </a:prstGeom>
          <a:ln w="12700" cmpd="sng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/>
          <p:nvPr/>
        </p:nvCxnSpPr>
        <p:spPr>
          <a:xfrm flipH="1">
            <a:off x="3857898" y="3020754"/>
            <a:ext cx="1780406" cy="991950"/>
          </a:xfrm>
          <a:prstGeom prst="straightConnector1">
            <a:avLst/>
          </a:prstGeom>
          <a:ln cmpd="sng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/>
          <p:nvPr/>
        </p:nvCxnSpPr>
        <p:spPr>
          <a:xfrm>
            <a:off x="4764311" y="5350075"/>
            <a:ext cx="0" cy="534837"/>
          </a:xfrm>
          <a:prstGeom prst="straightConnector1">
            <a:avLst/>
          </a:prstGeom>
          <a:ln cmpd="sng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de seta reta 46"/>
          <p:cNvCxnSpPr/>
          <p:nvPr/>
        </p:nvCxnSpPr>
        <p:spPr>
          <a:xfrm>
            <a:off x="4774208" y="8302403"/>
            <a:ext cx="0" cy="534837"/>
          </a:xfrm>
          <a:prstGeom prst="straightConnector1">
            <a:avLst/>
          </a:prstGeom>
          <a:ln cmpd="sng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3567733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marrom-ekos.png"/>
          <p:cNvPicPr>
            <a:picLocks noChangeAspect="1"/>
          </p:cNvPicPr>
          <p:nvPr/>
        </p:nvPicPr>
        <p:blipFill>
          <a:blip r:embed="rId2" cstate="screen">
            <a:alphaModFix/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3000"/>
                    </a14:imgEffect>
                    <a14:imgEffect>
                      <a14:brightnessContrast brigh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007416" y="8347530"/>
            <a:ext cx="532450" cy="708420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664952" y="484312"/>
            <a:ext cx="11162840" cy="6056378"/>
          </a:xfrm>
          <a:prstGeom prst="rect">
            <a:avLst/>
          </a:prstGeom>
          <a:noFill/>
        </p:spPr>
        <p:txBody>
          <a:bodyPr wrap="square" lIns="145646" tIns="72823" rIns="145646" bIns="72823" rtlCol="0">
            <a:spAutoFit/>
          </a:bodyPr>
          <a:lstStyle/>
          <a:p>
            <a:r>
              <a:rPr lang="pt-BR" sz="2400" b="1" dirty="0" smtClean="0">
                <a:latin typeface="Gill Sans Std Light" pitchFamily="34" charset="0"/>
                <a:cs typeface="Gill Sans Std Light"/>
              </a:rPr>
              <a:t>Desafios para 2014 </a:t>
            </a:r>
            <a:r>
              <a:rPr lang="pt-BR" sz="2400" b="1" dirty="0" smtClean="0">
                <a:latin typeface="Gill Sans Std Light" pitchFamily="34" charset="0"/>
                <a:cs typeface="Gill Sans Std Light"/>
              </a:rPr>
              <a:t>“Melhoria Contínua”</a:t>
            </a:r>
            <a:endParaRPr lang="pt-BR" sz="2400" b="1" dirty="0">
              <a:latin typeface="Gill Sans Std Light" pitchFamily="34" charset="0"/>
              <a:cs typeface="Gill Sans Std Light"/>
            </a:endParaRPr>
          </a:p>
          <a:p>
            <a:endParaRPr lang="pt-BR" sz="2400" dirty="0" smtClean="0">
              <a:latin typeface="Gill Sans Std Light" pitchFamily="34" charset="0"/>
              <a:cs typeface="Gill Sans Std Light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pt-BR" sz="2400" b="1" dirty="0" smtClean="0">
                <a:solidFill>
                  <a:srgbClr val="0070C0"/>
                </a:solidFill>
                <a:latin typeface="Gill Sans Std Light" pitchFamily="34" charset="0"/>
                <a:cs typeface="Gill Sans Std Light"/>
              </a:rPr>
              <a:t>Operar o Metrô de Processos</a:t>
            </a:r>
          </a:p>
          <a:p>
            <a:r>
              <a:rPr lang="pt-BR" sz="2400" dirty="0">
                <a:latin typeface="Gill Sans Std Light" pitchFamily="34" charset="0"/>
                <a:cs typeface="Gill Sans Std Light"/>
              </a:rPr>
              <a:t>Em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Setembro 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as reuniões de Melhoria Contínua passaram a ser semanais, para que pudéssemos </a:t>
            </a:r>
            <a:r>
              <a:rPr lang="pt-BR" sz="2400" b="1" dirty="0" smtClean="0">
                <a:latin typeface="Gill Sans Std Light" pitchFamily="34" charset="0"/>
                <a:cs typeface="Gill Sans Std Light"/>
              </a:rPr>
              <a:t>passar por todas as etapas do Metrô,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 mapear os </a:t>
            </a:r>
            <a:r>
              <a:rPr lang="pt-BR" sz="2400" b="1" dirty="0" smtClean="0">
                <a:latin typeface="Gill Sans Std Light" pitchFamily="34" charset="0"/>
                <a:cs typeface="Gill Sans Std Light"/>
              </a:rPr>
              <a:t>GAPs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 para as etapas que não estão sendo seguidas e </a:t>
            </a:r>
            <a:r>
              <a:rPr lang="pt-BR" sz="2400" b="1" dirty="0" smtClean="0">
                <a:latin typeface="Gill Sans Std Light" pitchFamily="34" charset="0"/>
                <a:cs typeface="Gill Sans Std Light"/>
              </a:rPr>
              <a:t>acompanhar as </a:t>
            </a:r>
            <a:r>
              <a:rPr lang="pt-BR" sz="2400" b="1" dirty="0">
                <a:latin typeface="Gill Sans Std Light" pitchFamily="34" charset="0"/>
                <a:cs typeface="Gill Sans Std Light"/>
              </a:rPr>
              <a:t>ações do </a:t>
            </a:r>
            <a:r>
              <a:rPr lang="pt-BR" sz="2400" b="1" dirty="0" smtClean="0">
                <a:latin typeface="Gill Sans Std Light" pitchFamily="34" charset="0"/>
                <a:cs typeface="Gill Sans Std Light"/>
              </a:rPr>
              <a:t>diagnóstico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.</a:t>
            </a:r>
            <a:endParaRPr lang="pt-BR" sz="2400" dirty="0">
              <a:latin typeface="Gill Sans Std Light" pitchFamily="34" charset="0"/>
              <a:cs typeface="Gill Sans Std Light"/>
            </a:endParaRPr>
          </a:p>
          <a:p>
            <a:endParaRPr lang="pt-BR" sz="2400" dirty="0" smtClean="0">
              <a:latin typeface="Gill Sans Std Light" pitchFamily="34" charset="0"/>
              <a:cs typeface="Gill Sans Std Light"/>
            </a:endParaRPr>
          </a:p>
          <a:p>
            <a:endParaRPr lang="pt-BR" sz="2400" dirty="0">
              <a:latin typeface="Gill Sans Std Light" pitchFamily="34" charset="0"/>
              <a:cs typeface="Gill Sans Std Light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pt-BR" sz="2400" b="1" dirty="0" smtClean="0">
                <a:solidFill>
                  <a:srgbClr val="0070C0"/>
                </a:solidFill>
                <a:latin typeface="Gill Sans Std Light" pitchFamily="34" charset="0"/>
                <a:cs typeface="Gill Sans Std Light"/>
              </a:rPr>
              <a:t>Adequar os documentos N4 </a:t>
            </a: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Realizar as ações mapeadas no </a:t>
            </a:r>
            <a:r>
              <a:rPr lang="pt-BR" sz="2400" b="1" dirty="0" smtClean="0">
                <a:latin typeface="Gill Sans Std Light" pitchFamily="34" charset="0"/>
                <a:cs typeface="Gill Sans Std Light"/>
              </a:rPr>
              <a:t>Diagnóstico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, </a:t>
            </a:r>
            <a:r>
              <a:rPr lang="pt-BR" sz="2400" b="1" dirty="0" smtClean="0">
                <a:latin typeface="Gill Sans Std Light" pitchFamily="34" charset="0"/>
                <a:cs typeface="Gill Sans Std Light"/>
              </a:rPr>
              <a:t>adequando o N3 e N4.</a:t>
            </a:r>
          </a:p>
          <a:p>
            <a:endParaRPr lang="pt-BR" sz="2400" dirty="0" smtClean="0">
              <a:latin typeface="Gill Sans Std Light" pitchFamily="34" charset="0"/>
              <a:cs typeface="Gill Sans Std Light"/>
            </a:endParaRPr>
          </a:p>
          <a:p>
            <a:endParaRPr lang="pt-BR" sz="2400" dirty="0">
              <a:latin typeface="Gill Sans Std Light" pitchFamily="34" charset="0"/>
              <a:cs typeface="Gill Sans Std Light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pt-BR" sz="2400" b="1" dirty="0" smtClean="0">
                <a:solidFill>
                  <a:srgbClr val="0070C0"/>
                </a:solidFill>
                <a:latin typeface="Gill Sans Std Light" pitchFamily="34" charset="0"/>
                <a:cs typeface="Gill Sans Std Light"/>
              </a:rPr>
              <a:t>Realizar a Gestão de Performance</a:t>
            </a: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Definir e apurar os </a:t>
            </a:r>
            <a:r>
              <a:rPr lang="pt-BR" sz="2400" b="1" dirty="0" smtClean="0">
                <a:latin typeface="Gill Sans Std Light" pitchFamily="34" charset="0"/>
                <a:cs typeface="Gill Sans Std Light"/>
              </a:rPr>
              <a:t>indicadores </a:t>
            </a:r>
            <a:r>
              <a:rPr lang="pt-BR" sz="2400" b="1" dirty="0">
                <a:latin typeface="Gill Sans Std Light" pitchFamily="34" charset="0"/>
                <a:cs typeface="Gill Sans Std Light"/>
              </a:rPr>
              <a:t>para </a:t>
            </a:r>
            <a:r>
              <a:rPr lang="pt-BR" sz="2400" b="1" dirty="0" smtClean="0">
                <a:latin typeface="Gill Sans Std Light" pitchFamily="34" charset="0"/>
                <a:cs typeface="Gill Sans Std Light"/>
              </a:rPr>
              <a:t>avaliar a aderência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 dos processos.</a:t>
            </a:r>
            <a:endParaRPr lang="pt-BR" sz="2400" dirty="0" smtClean="0">
              <a:latin typeface="Gill Sans Std Light" pitchFamily="34" charset="0"/>
              <a:cs typeface="Gill Sans Std Light"/>
            </a:endParaRPr>
          </a:p>
          <a:p>
            <a:endParaRPr lang="pt-BR" sz="2400" dirty="0">
              <a:latin typeface="Gill Sans Std Light" pitchFamily="34" charset="0"/>
              <a:cs typeface="Gill Sans Std Light"/>
            </a:endParaRPr>
          </a:p>
          <a:p>
            <a:r>
              <a:rPr lang="pt-BR" sz="2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Gill Sans Std Light" pitchFamily="34" charset="0"/>
                <a:cs typeface="Gill Sans Std Light"/>
              </a:rPr>
              <a:t> </a:t>
            </a:r>
            <a:endParaRPr lang="pt-BR" sz="2400" dirty="0">
              <a:solidFill>
                <a:schemeClr val="tx2">
                  <a:lumMod val="60000"/>
                  <a:lumOff val="40000"/>
                </a:schemeClr>
              </a:solidFill>
              <a:latin typeface="Gill Sans Std Light" pitchFamily="34" charset="0"/>
              <a:cs typeface="Gill Sans Std Light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12007416" y="224245"/>
            <a:ext cx="6030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 smtClean="0">
                <a:latin typeface="Gill Sans Std Light" pitchFamily="34" charset="0"/>
                <a:cs typeface="Gill Sans Std Light"/>
              </a:rPr>
              <a:t>2/2</a:t>
            </a:r>
            <a:endParaRPr lang="pt-BR" sz="2400" b="1" dirty="0">
              <a:latin typeface="Gill Sans Std Light" pitchFamily="34" charset="0"/>
              <a:cs typeface="Gill Sans Std Light"/>
            </a:endParaRPr>
          </a:p>
        </p:txBody>
      </p:sp>
    </p:spTree>
    <p:extLst>
      <p:ext uri="{BB962C8B-B14F-4D97-AF65-F5344CB8AC3E}">
        <p14:creationId xmlns:p14="http://schemas.microsoft.com/office/powerpoint/2010/main" val="3470259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marrom-ekos.png"/>
          <p:cNvPicPr>
            <a:picLocks noChangeAspect="1"/>
          </p:cNvPicPr>
          <p:nvPr/>
        </p:nvPicPr>
        <p:blipFill>
          <a:blip r:embed="rId2" cstate="screen">
            <a:alphaModFix/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3000"/>
                    </a14:imgEffect>
                    <a14:imgEffect>
                      <a14:brightnessContrast brigh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007416" y="8347530"/>
            <a:ext cx="532450" cy="708420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453728" y="196280"/>
            <a:ext cx="12086138" cy="7318262"/>
          </a:xfrm>
          <a:prstGeom prst="rect">
            <a:avLst/>
          </a:prstGeom>
          <a:noFill/>
        </p:spPr>
        <p:txBody>
          <a:bodyPr wrap="square" lIns="145646" tIns="72823" rIns="145646" bIns="72823" rtlCol="0">
            <a:spAutoFit/>
          </a:bodyPr>
          <a:lstStyle/>
          <a:p>
            <a:r>
              <a:rPr lang="pt-BR" sz="2400" b="1" dirty="0">
                <a:latin typeface="Gill Sans Std Light" pitchFamily="34" charset="0"/>
                <a:cs typeface="Gill Sans Std Light"/>
              </a:rPr>
              <a:t>GTD.01  Gestão do Relacionamento com Parceiros de Negócio</a:t>
            </a:r>
            <a:endParaRPr lang="pt-BR" sz="2400" b="1" dirty="0" smtClean="0">
              <a:latin typeface="Gill Sans Std Light" pitchFamily="34" charset="0"/>
              <a:cs typeface="Gill Sans Std Light"/>
            </a:endParaRPr>
          </a:p>
          <a:p>
            <a:endParaRPr lang="pt-BR" sz="2400" dirty="0" smtClean="0">
              <a:latin typeface="Gill Sans Std Light" pitchFamily="34" charset="0"/>
              <a:cs typeface="Gill Sans Std Light"/>
            </a:endParaRPr>
          </a:p>
          <a:p>
            <a:r>
              <a:rPr lang="pt-BR" sz="2400" b="1" dirty="0" smtClean="0">
                <a:latin typeface="Gill Sans Std Light" pitchFamily="34" charset="0"/>
                <a:cs typeface="Gill Sans Std Light"/>
              </a:rPr>
              <a:t>1_ Ações do Diagnóstico</a:t>
            </a: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	</a:t>
            </a:r>
          </a:p>
          <a:p>
            <a:r>
              <a:rPr lang="pt-BR" sz="2400" dirty="0">
                <a:latin typeface="Gill Sans Std Light" pitchFamily="34" charset="0"/>
                <a:cs typeface="Gill Sans Std Light"/>
              </a:rPr>
              <a:t>	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GTD.01.001 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- Consultoria em Tecnologia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Digital</a:t>
            </a: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	N3: atualizado.</a:t>
            </a:r>
          </a:p>
          <a:p>
            <a:r>
              <a:rPr lang="pt-BR" sz="2400" dirty="0">
                <a:latin typeface="Gill Sans Std Light" pitchFamily="34" charset="0"/>
                <a:cs typeface="Gill Sans Std Light"/>
              </a:rPr>
              <a:t>	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N4: </a:t>
            </a:r>
            <a:r>
              <a:rPr lang="pt-BR" sz="2400" dirty="0" err="1" smtClean="0">
                <a:latin typeface="Gill Sans Std Light" pitchFamily="34" charset="0"/>
                <a:cs typeface="Gill Sans Std Light"/>
              </a:rPr>
              <a:t>ITs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 atualizadas e publicadas no Natura.doc. Pendente criação e publicação do PR.</a:t>
            </a:r>
          </a:p>
          <a:p>
            <a:endParaRPr lang="pt-BR" sz="2400" dirty="0">
              <a:latin typeface="Gill Sans Std Light" pitchFamily="34" charset="0"/>
              <a:cs typeface="Gill Sans Std Light"/>
            </a:endParaRP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	GTD.01.002 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- Gestão de Performance</a:t>
            </a:r>
            <a:endParaRPr lang="pt-BR" sz="2400" dirty="0" smtClean="0">
              <a:latin typeface="Gill Sans Std Light" pitchFamily="34" charset="0"/>
              <a:cs typeface="Gill Sans Std Light"/>
            </a:endParaRP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	N3 e N4: iniciando o entendimento para atualização.</a:t>
            </a: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	</a:t>
            </a: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Este subprocesso não é seguido pelos GRPs da forma que está desenhado hoje. Não 	há formalização do que deveria ser apresentado para cada área de negócio.  Integrador em momento de entendimento com demais GRPs.</a:t>
            </a:r>
          </a:p>
          <a:p>
            <a:endParaRPr lang="pt-BR" sz="1000" dirty="0">
              <a:latin typeface="Gill Sans Std Light" pitchFamily="34" charset="0"/>
              <a:cs typeface="Gill Sans Std Light"/>
            </a:endParaRPr>
          </a:p>
          <a:p>
            <a:r>
              <a:rPr lang="pt-BR" sz="2400" dirty="0">
                <a:latin typeface="Gill Sans Std Light" pitchFamily="34" charset="0"/>
                <a:cs typeface="Gill Sans Std Light"/>
              </a:rPr>
              <a:t>Houve mudança de integrador no processo (saída do Sidney).  </a:t>
            </a:r>
            <a:r>
              <a:rPr lang="pt-BR" sz="2400" dirty="0" err="1">
                <a:latin typeface="Gill Sans Std Light" pitchFamily="34" charset="0"/>
                <a:cs typeface="Gill Sans Std Light"/>
              </a:rPr>
              <a:t>Alê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 assumiu em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Set/14.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	</a:t>
            </a:r>
          </a:p>
          <a:p>
            <a:r>
              <a:rPr lang="pt-BR" sz="2400" dirty="0">
                <a:latin typeface="Gill Sans Std Light" pitchFamily="34" charset="0"/>
                <a:cs typeface="Gill Sans Std Light"/>
              </a:rPr>
              <a:t>Anna </a:t>
            </a:r>
            <a:r>
              <a:rPr lang="pt-BR" sz="2400" dirty="0" err="1">
                <a:latin typeface="Gill Sans Std Light" pitchFamily="34" charset="0"/>
                <a:cs typeface="Gill Sans Std Light"/>
              </a:rPr>
              <a:t>Santanna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 saiu em férias, não conseguimos cumprir com as agendas de trabalho.</a:t>
            </a:r>
          </a:p>
          <a:p>
            <a:endParaRPr lang="pt-BR" sz="2400" dirty="0">
              <a:latin typeface="Gill Sans Std Light" pitchFamily="34" charset="0"/>
              <a:cs typeface="Gill Sans Std Light"/>
            </a:endParaRPr>
          </a:p>
          <a:p>
            <a:r>
              <a:rPr lang="pt-BR" sz="2400" b="1" dirty="0" smtClean="0">
                <a:latin typeface="Gill Sans Std Light" pitchFamily="34" charset="0"/>
                <a:cs typeface="Gill Sans Std Light"/>
              </a:rPr>
              <a:t>2_ GAPs mapeados</a:t>
            </a:r>
            <a:endParaRPr lang="pt-BR" sz="2400" b="1" dirty="0">
              <a:latin typeface="Gill Sans Std Light" pitchFamily="34" charset="0"/>
              <a:cs typeface="Gill Sans Std Light"/>
            </a:endParaRP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GAPs mapeados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. Precisam ser tratados.</a:t>
            </a:r>
          </a:p>
        </p:txBody>
      </p:sp>
      <p:sp>
        <p:nvSpPr>
          <p:cNvPr id="10" name="Elipse 9"/>
          <p:cNvSpPr/>
          <p:nvPr/>
        </p:nvSpPr>
        <p:spPr>
          <a:xfrm>
            <a:off x="1027264" y="1708448"/>
            <a:ext cx="432048" cy="432048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1027264" y="3148608"/>
            <a:ext cx="432048" cy="432048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/>
          <p:cNvSpPr/>
          <p:nvPr/>
        </p:nvSpPr>
        <p:spPr>
          <a:xfrm>
            <a:off x="2010710" y="9244775"/>
            <a:ext cx="324000" cy="324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9" name="Elipse 18"/>
          <p:cNvSpPr/>
          <p:nvPr/>
        </p:nvSpPr>
        <p:spPr>
          <a:xfrm>
            <a:off x="8445065" y="9298096"/>
            <a:ext cx="324000" cy="32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0" name="Elipse 19"/>
          <p:cNvSpPr/>
          <p:nvPr/>
        </p:nvSpPr>
        <p:spPr>
          <a:xfrm>
            <a:off x="4827166" y="9282556"/>
            <a:ext cx="324000" cy="32400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1" name="Elipse 20"/>
          <p:cNvSpPr/>
          <p:nvPr/>
        </p:nvSpPr>
        <p:spPr>
          <a:xfrm>
            <a:off x="381720" y="9237432"/>
            <a:ext cx="324000" cy="3240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2" name="CaixaDeTexto 21"/>
          <p:cNvSpPr txBox="1"/>
          <p:nvPr/>
        </p:nvSpPr>
        <p:spPr>
          <a:xfrm>
            <a:off x="642318" y="9232728"/>
            <a:ext cx="111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 smtClean="0">
                <a:latin typeface="Gill Sans Std Light" pitchFamily="34" charset="0"/>
                <a:cs typeface="Gill Sans Std Light"/>
              </a:rPr>
              <a:t>Concluído</a:t>
            </a:r>
            <a:endParaRPr lang="pt-BR" sz="1800" dirty="0">
              <a:latin typeface="Gill Sans Std Light" pitchFamily="34" charset="0"/>
              <a:cs typeface="Gill Sans Std Light"/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2309408" y="9253258"/>
            <a:ext cx="2309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>
                <a:latin typeface="Gill Sans Std Light" pitchFamily="34" charset="0"/>
                <a:cs typeface="Gill Sans Std Light"/>
              </a:rPr>
              <a:t>Ações dentro do prazo</a:t>
            </a:r>
            <a:endParaRPr lang="pt-BR" sz="1800" dirty="0">
              <a:latin typeface="Gill Sans Std Light" pitchFamily="34" charset="0"/>
              <a:cs typeface="Gill Sans Std Light"/>
            </a:endParaRPr>
          </a:p>
        </p:txBody>
      </p:sp>
      <p:sp>
        <p:nvSpPr>
          <p:cNvPr id="24" name="CaixaDeTexto 23"/>
          <p:cNvSpPr txBox="1"/>
          <p:nvPr/>
        </p:nvSpPr>
        <p:spPr>
          <a:xfrm>
            <a:off x="8724713" y="9259996"/>
            <a:ext cx="3200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>
                <a:latin typeface="Gill Sans Std Light" pitchFamily="34" charset="0"/>
                <a:cs typeface="Gill Sans Std Light"/>
              </a:rPr>
              <a:t>Atraso, </a:t>
            </a:r>
            <a:r>
              <a:rPr lang="pt-BR" sz="1800" dirty="0" smtClean="0">
                <a:latin typeface="Gill Sans Std Light" pitchFamily="34" charset="0"/>
                <a:cs typeface="Gill Sans Std Light"/>
              </a:rPr>
              <a:t>com </a:t>
            </a:r>
            <a:r>
              <a:rPr lang="pt-BR" sz="1800" dirty="0">
                <a:latin typeface="Gill Sans Std Light" pitchFamily="34" charset="0"/>
                <a:cs typeface="Gill Sans Std Light"/>
              </a:rPr>
              <a:t>impacto na data final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5131842" y="9244456"/>
            <a:ext cx="3171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>
                <a:latin typeface="Gill Sans Std Light" pitchFamily="34" charset="0"/>
                <a:cs typeface="Gill Sans Std Light"/>
              </a:rPr>
              <a:t>Atraso, </a:t>
            </a:r>
            <a:r>
              <a:rPr lang="pt-BR" sz="1800" dirty="0" smtClean="0">
                <a:latin typeface="Gill Sans Std Light" pitchFamily="34" charset="0"/>
                <a:cs typeface="Gill Sans Std Light"/>
              </a:rPr>
              <a:t>sem </a:t>
            </a:r>
            <a:r>
              <a:rPr lang="pt-BR" sz="1800" dirty="0">
                <a:latin typeface="Gill Sans Std Light" pitchFamily="34" charset="0"/>
                <a:cs typeface="Gill Sans Std Light"/>
              </a:rPr>
              <a:t>impacto na data final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09712" y="8755940"/>
            <a:ext cx="982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b="1" dirty="0">
                <a:latin typeface="Gill Sans Std Light" pitchFamily="34" charset="0"/>
                <a:cs typeface="Gill Sans Std Light"/>
              </a:rPr>
              <a:t>Legenda</a:t>
            </a:r>
            <a:endParaRPr lang="pt-BR" sz="1800" b="1" dirty="0">
              <a:latin typeface="Gill Sans Std Light" pitchFamily="34" charset="0"/>
              <a:cs typeface="Gill Sans Std Light"/>
            </a:endParaRPr>
          </a:p>
        </p:txBody>
      </p:sp>
    </p:spTree>
    <p:extLst>
      <p:ext uri="{BB962C8B-B14F-4D97-AF65-F5344CB8AC3E}">
        <p14:creationId xmlns:p14="http://schemas.microsoft.com/office/powerpoint/2010/main" val="1440625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marrom-ekos.png"/>
          <p:cNvPicPr>
            <a:picLocks noChangeAspect="1"/>
          </p:cNvPicPr>
          <p:nvPr/>
        </p:nvPicPr>
        <p:blipFill>
          <a:blip r:embed="rId2" cstate="screen">
            <a:alphaModFix/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3000"/>
                    </a14:imgEffect>
                    <a14:imgEffect>
                      <a14:brightnessContrast brigh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007416" y="8347530"/>
            <a:ext cx="532450" cy="708420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453728" y="196280"/>
            <a:ext cx="12086138" cy="7687594"/>
          </a:xfrm>
          <a:prstGeom prst="rect">
            <a:avLst/>
          </a:prstGeom>
          <a:noFill/>
        </p:spPr>
        <p:txBody>
          <a:bodyPr wrap="square" lIns="145646" tIns="72823" rIns="145646" bIns="72823" rtlCol="0">
            <a:spAutoFit/>
          </a:bodyPr>
          <a:lstStyle/>
          <a:p>
            <a:r>
              <a:rPr lang="pt-BR" sz="2400" b="1" dirty="0" smtClean="0">
                <a:latin typeface="Gill Sans Std Light" pitchFamily="34" charset="0"/>
                <a:cs typeface="Gill Sans Std Light"/>
              </a:rPr>
              <a:t>GTD.03  Desenvolvimento de Soluções e Serviços</a:t>
            </a:r>
          </a:p>
          <a:p>
            <a:endParaRPr lang="pt-BR" sz="2400" dirty="0" smtClean="0">
              <a:latin typeface="Gill Sans Std Light" pitchFamily="34" charset="0"/>
              <a:cs typeface="Gill Sans Std Light"/>
            </a:endParaRPr>
          </a:p>
          <a:p>
            <a:r>
              <a:rPr lang="pt-BR" sz="2400" b="1" dirty="0" smtClean="0">
                <a:latin typeface="Gill Sans Std Light" pitchFamily="34" charset="0"/>
                <a:cs typeface="Gill Sans Std Light"/>
              </a:rPr>
              <a:t>1_ Ações do Diagnóstico</a:t>
            </a: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	</a:t>
            </a:r>
          </a:p>
          <a:p>
            <a:r>
              <a:rPr lang="pt-BR" sz="2400" dirty="0">
                <a:latin typeface="Gill Sans Std Light" pitchFamily="34" charset="0"/>
                <a:cs typeface="Gill Sans Std Light"/>
              </a:rPr>
              <a:t>	GTD.03.001 - Desenho da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Solução</a:t>
            </a:r>
          </a:p>
          <a:p>
            <a:r>
              <a:rPr lang="pt-BR" sz="2400" dirty="0">
                <a:latin typeface="Gill Sans Std Light" pitchFamily="34" charset="0"/>
                <a:cs typeface="Gill Sans Std Light"/>
              </a:rPr>
              <a:t>	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GTD.03.002 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- Desenho do Serviço</a:t>
            </a:r>
            <a:endParaRPr lang="pt-BR" sz="2400" dirty="0" smtClean="0">
              <a:latin typeface="Gill Sans Std Light" pitchFamily="34" charset="0"/>
              <a:cs typeface="Gill Sans Std Light"/>
            </a:endParaRPr>
          </a:p>
          <a:p>
            <a:r>
              <a:rPr lang="pt-BR" sz="2400" dirty="0">
                <a:latin typeface="Gill Sans Std Light" pitchFamily="34" charset="0"/>
                <a:cs typeface="Gill Sans Std Light"/>
              </a:rPr>
              <a:t>	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GTD.03.003 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- Desenvolvimento e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Testes</a:t>
            </a:r>
          </a:p>
          <a:p>
            <a:r>
              <a:rPr lang="pt-BR" sz="2400" dirty="0">
                <a:latin typeface="Gill Sans Std Light" pitchFamily="34" charset="0"/>
                <a:cs typeface="Gill Sans Std Light"/>
              </a:rPr>
              <a:t>	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GTD.03.004 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- Planejamento (P1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)</a:t>
            </a:r>
          </a:p>
          <a:p>
            <a:r>
              <a:rPr lang="pt-BR" sz="2400" dirty="0">
                <a:latin typeface="Gill Sans Std Light" pitchFamily="34" charset="0"/>
                <a:cs typeface="Gill Sans Std Light"/>
              </a:rPr>
              <a:t>	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GTD.03.005 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- Execução</a:t>
            </a:r>
            <a:endParaRPr lang="pt-BR" sz="2400" dirty="0" smtClean="0">
              <a:latin typeface="Gill Sans Std Light" pitchFamily="34" charset="0"/>
              <a:cs typeface="Gill Sans Std Light"/>
            </a:endParaRP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	N3 e N4: não atualizados.</a:t>
            </a:r>
          </a:p>
          <a:p>
            <a:endParaRPr lang="pt-BR" sz="2400" dirty="0" smtClean="0">
              <a:latin typeface="Gill Sans Std Light" pitchFamily="34" charset="0"/>
              <a:cs typeface="Gill Sans Std Light"/>
            </a:endParaRP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Muitas etapas do processo não são seguidas. 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Isso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ocorre 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por falta de capacidade / ou não conseguimos garantir que todos os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líderes 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estejam executando as atividades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.</a:t>
            </a:r>
          </a:p>
          <a:p>
            <a:endParaRPr lang="pt-BR" sz="1000" dirty="0">
              <a:latin typeface="Gill Sans Std Light" pitchFamily="34" charset="0"/>
              <a:cs typeface="Gill Sans Std Light"/>
            </a:endParaRP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Todas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as </a:t>
            </a:r>
            <a:r>
              <a:rPr lang="pt-BR" sz="2400" dirty="0" err="1" smtClean="0">
                <a:latin typeface="Gill Sans Std Light" pitchFamily="34" charset="0"/>
                <a:cs typeface="Gill Sans Std Light"/>
              </a:rPr>
              <a:t>ITs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 publicadas no Natura.doc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foram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canceladas por recomendação de SGN (auditoria Jan/15). </a:t>
            </a:r>
          </a:p>
          <a:p>
            <a:endParaRPr lang="pt-BR" sz="2400" dirty="0">
              <a:latin typeface="Gill Sans Std Light" pitchFamily="34" charset="0"/>
              <a:cs typeface="Gill Sans Std Light"/>
            </a:endParaRPr>
          </a:p>
          <a:p>
            <a:r>
              <a:rPr lang="pt-BR" sz="2400" b="1" dirty="0" smtClean="0">
                <a:latin typeface="Gill Sans Std Light" pitchFamily="34" charset="0"/>
                <a:cs typeface="Gill Sans Std Light"/>
              </a:rPr>
              <a:t>2_ GAPs mapeados</a:t>
            </a:r>
            <a:endParaRPr lang="pt-BR" sz="2400" b="1" dirty="0">
              <a:latin typeface="Gill Sans Std Light" pitchFamily="34" charset="0"/>
              <a:cs typeface="Gill Sans Std Light"/>
            </a:endParaRP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GAPs mapeados.</a:t>
            </a: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Convidamos a </a:t>
            </a:r>
            <a:r>
              <a:rPr lang="pt-BR" sz="2400" dirty="0" err="1" smtClean="0">
                <a:latin typeface="Gill Sans Std Light" pitchFamily="34" charset="0"/>
                <a:cs typeface="Gill Sans Std Light"/>
              </a:rPr>
              <a:t>Everis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 (Juliana) para as reuniões de Melhoria Contínua para ajudar com a tratativa dos GAPs.</a:t>
            </a:r>
          </a:p>
        </p:txBody>
      </p:sp>
      <p:sp>
        <p:nvSpPr>
          <p:cNvPr id="6" name="Elipse 5"/>
          <p:cNvSpPr/>
          <p:nvPr/>
        </p:nvSpPr>
        <p:spPr>
          <a:xfrm>
            <a:off x="1057826" y="2284512"/>
            <a:ext cx="432048" cy="43204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de cantos arredondados 4"/>
          <p:cNvSpPr/>
          <p:nvPr/>
        </p:nvSpPr>
        <p:spPr>
          <a:xfrm>
            <a:off x="7798544" y="583531"/>
            <a:ext cx="4208872" cy="13515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latin typeface="Gill Sans Std Light" pitchFamily="34" charset="0"/>
                <a:cs typeface="Gill Sans Std Light"/>
              </a:rPr>
              <a:t>Este processo está sendo redesenhado/adaptado pela </a:t>
            </a:r>
            <a:r>
              <a:rPr lang="pt-BR" sz="2400" b="1" dirty="0" err="1">
                <a:latin typeface="Gill Sans Std Light" pitchFamily="34" charset="0"/>
                <a:cs typeface="Gill Sans Std Light"/>
              </a:rPr>
              <a:t>Everis</a:t>
            </a:r>
            <a:r>
              <a:rPr lang="pt-BR" sz="2400" b="1" dirty="0">
                <a:latin typeface="Gill Sans Std Light" pitchFamily="34" charset="0"/>
                <a:cs typeface="Gill Sans Std Light"/>
              </a:rPr>
              <a:t>.</a:t>
            </a:r>
          </a:p>
        </p:txBody>
      </p:sp>
      <p:sp>
        <p:nvSpPr>
          <p:cNvPr id="26" name="Elipse 25"/>
          <p:cNvSpPr/>
          <p:nvPr/>
        </p:nvSpPr>
        <p:spPr>
          <a:xfrm>
            <a:off x="2010710" y="9244775"/>
            <a:ext cx="324000" cy="324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7" name="Elipse 26"/>
          <p:cNvSpPr/>
          <p:nvPr/>
        </p:nvSpPr>
        <p:spPr>
          <a:xfrm>
            <a:off x="8445065" y="9298096"/>
            <a:ext cx="324000" cy="32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8" name="Elipse 27"/>
          <p:cNvSpPr/>
          <p:nvPr/>
        </p:nvSpPr>
        <p:spPr>
          <a:xfrm>
            <a:off x="4827166" y="9282556"/>
            <a:ext cx="324000" cy="32400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9" name="Elipse 28"/>
          <p:cNvSpPr/>
          <p:nvPr/>
        </p:nvSpPr>
        <p:spPr>
          <a:xfrm>
            <a:off x="381720" y="9237432"/>
            <a:ext cx="324000" cy="3240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0" name="CaixaDeTexto 29"/>
          <p:cNvSpPr txBox="1"/>
          <p:nvPr/>
        </p:nvSpPr>
        <p:spPr>
          <a:xfrm>
            <a:off x="642318" y="9232728"/>
            <a:ext cx="111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 smtClean="0">
                <a:latin typeface="Gill Sans Std Light" pitchFamily="34" charset="0"/>
                <a:cs typeface="Gill Sans Std Light"/>
              </a:rPr>
              <a:t>Concluído</a:t>
            </a:r>
            <a:endParaRPr lang="pt-BR" sz="1800" dirty="0">
              <a:latin typeface="Gill Sans Std Light" pitchFamily="34" charset="0"/>
              <a:cs typeface="Gill Sans Std Light"/>
            </a:endParaRPr>
          </a:p>
        </p:txBody>
      </p:sp>
      <p:sp>
        <p:nvSpPr>
          <p:cNvPr id="31" name="CaixaDeTexto 30"/>
          <p:cNvSpPr txBox="1"/>
          <p:nvPr/>
        </p:nvSpPr>
        <p:spPr>
          <a:xfrm>
            <a:off x="2309408" y="9253258"/>
            <a:ext cx="2309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>
                <a:latin typeface="Gill Sans Std Light" pitchFamily="34" charset="0"/>
                <a:cs typeface="Gill Sans Std Light"/>
              </a:rPr>
              <a:t>Ações dentro do prazo</a:t>
            </a:r>
            <a:endParaRPr lang="pt-BR" sz="1800" dirty="0">
              <a:latin typeface="Gill Sans Std Light" pitchFamily="34" charset="0"/>
              <a:cs typeface="Gill Sans Std Light"/>
            </a:endParaRPr>
          </a:p>
        </p:txBody>
      </p:sp>
      <p:sp>
        <p:nvSpPr>
          <p:cNvPr id="32" name="CaixaDeTexto 31"/>
          <p:cNvSpPr txBox="1"/>
          <p:nvPr/>
        </p:nvSpPr>
        <p:spPr>
          <a:xfrm>
            <a:off x="8724713" y="9259996"/>
            <a:ext cx="3200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>
                <a:latin typeface="Gill Sans Std Light" pitchFamily="34" charset="0"/>
                <a:cs typeface="Gill Sans Std Light"/>
              </a:rPr>
              <a:t>Atraso, </a:t>
            </a:r>
            <a:r>
              <a:rPr lang="pt-BR" sz="1800" dirty="0" smtClean="0">
                <a:latin typeface="Gill Sans Std Light" pitchFamily="34" charset="0"/>
                <a:cs typeface="Gill Sans Std Light"/>
              </a:rPr>
              <a:t>com </a:t>
            </a:r>
            <a:r>
              <a:rPr lang="pt-BR" sz="1800" dirty="0">
                <a:latin typeface="Gill Sans Std Light" pitchFamily="34" charset="0"/>
                <a:cs typeface="Gill Sans Std Light"/>
              </a:rPr>
              <a:t>impacto na data final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131842" y="9244456"/>
            <a:ext cx="3171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>
                <a:latin typeface="Gill Sans Std Light" pitchFamily="34" charset="0"/>
                <a:cs typeface="Gill Sans Std Light"/>
              </a:rPr>
              <a:t>Atraso, </a:t>
            </a:r>
            <a:r>
              <a:rPr lang="pt-BR" sz="1800" dirty="0" smtClean="0">
                <a:latin typeface="Gill Sans Std Light" pitchFamily="34" charset="0"/>
                <a:cs typeface="Gill Sans Std Light"/>
              </a:rPr>
              <a:t>sem </a:t>
            </a:r>
            <a:r>
              <a:rPr lang="pt-BR" sz="1800" dirty="0">
                <a:latin typeface="Gill Sans Std Light" pitchFamily="34" charset="0"/>
                <a:cs typeface="Gill Sans Std Light"/>
              </a:rPr>
              <a:t>impacto na data final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309712" y="8755940"/>
            <a:ext cx="982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b="1" dirty="0">
                <a:latin typeface="Gill Sans Std Light" pitchFamily="34" charset="0"/>
                <a:cs typeface="Gill Sans Std Light"/>
              </a:rPr>
              <a:t>Legenda</a:t>
            </a:r>
            <a:endParaRPr lang="pt-BR" sz="1800" b="1" dirty="0">
              <a:latin typeface="Gill Sans Std Light" pitchFamily="34" charset="0"/>
              <a:cs typeface="Gill Sans Std Light"/>
            </a:endParaRPr>
          </a:p>
        </p:txBody>
      </p:sp>
    </p:spTree>
    <p:extLst>
      <p:ext uri="{BB962C8B-B14F-4D97-AF65-F5344CB8AC3E}">
        <p14:creationId xmlns:p14="http://schemas.microsoft.com/office/powerpoint/2010/main" val="338944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marrom-ekos.png"/>
          <p:cNvPicPr>
            <a:picLocks noChangeAspect="1"/>
          </p:cNvPicPr>
          <p:nvPr/>
        </p:nvPicPr>
        <p:blipFill>
          <a:blip r:embed="rId2" cstate="screen">
            <a:alphaModFix/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3000"/>
                    </a14:imgEffect>
                    <a14:imgEffect>
                      <a14:brightnessContrast brigh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007416" y="8347530"/>
            <a:ext cx="532450" cy="708420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453728" y="196280"/>
            <a:ext cx="12086138" cy="8064620"/>
          </a:xfrm>
          <a:prstGeom prst="rect">
            <a:avLst/>
          </a:prstGeom>
          <a:noFill/>
        </p:spPr>
        <p:txBody>
          <a:bodyPr wrap="square" lIns="145646" tIns="72823" rIns="145646" bIns="72823" rtlCol="0">
            <a:spAutoFit/>
          </a:bodyPr>
          <a:lstStyle/>
          <a:p>
            <a:r>
              <a:rPr lang="pt-BR" sz="2400" b="1" dirty="0" smtClean="0">
                <a:latin typeface="Gill Sans Std Light" pitchFamily="34" charset="0"/>
                <a:cs typeface="Gill Sans Std Light"/>
              </a:rPr>
              <a:t>GTD.04  Entrega de Serviços</a:t>
            </a:r>
          </a:p>
          <a:p>
            <a:endParaRPr lang="pt-BR" sz="2400" dirty="0" smtClean="0">
              <a:latin typeface="Gill Sans Std Light" pitchFamily="34" charset="0"/>
              <a:cs typeface="Gill Sans Std Light"/>
            </a:endParaRPr>
          </a:p>
          <a:p>
            <a:r>
              <a:rPr lang="pt-BR" sz="2400" b="1" dirty="0" smtClean="0">
                <a:latin typeface="Gill Sans Std Light" pitchFamily="34" charset="0"/>
                <a:cs typeface="Gill Sans Std Light"/>
              </a:rPr>
              <a:t>1_ Ações do Diagnóstico</a:t>
            </a: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	</a:t>
            </a:r>
          </a:p>
          <a:p>
            <a:r>
              <a:rPr lang="pt-BR" sz="2400" dirty="0">
                <a:latin typeface="Gill Sans Std Light" pitchFamily="34" charset="0"/>
                <a:cs typeface="Gill Sans Std Light"/>
              </a:rPr>
              <a:t>	GTD.04.001 - Preparação para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Implantação</a:t>
            </a:r>
          </a:p>
          <a:p>
            <a:r>
              <a:rPr lang="pt-BR" sz="2400" dirty="0">
                <a:latin typeface="Gill Sans Std Light" pitchFamily="34" charset="0"/>
                <a:cs typeface="Gill Sans Std Light"/>
              </a:rPr>
              <a:t>	</a:t>
            </a:r>
            <a:endParaRPr lang="pt-BR" sz="2400" dirty="0" smtClean="0">
              <a:latin typeface="Gill Sans Std Light" pitchFamily="34" charset="0"/>
              <a:cs typeface="Gill Sans Std Light"/>
            </a:endParaRPr>
          </a:p>
          <a:p>
            <a:r>
              <a:rPr lang="pt-BR" sz="2400" dirty="0">
                <a:latin typeface="Gill Sans Std Light" pitchFamily="34" charset="0"/>
                <a:cs typeface="Gill Sans Std Light"/>
              </a:rPr>
              <a:t>	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GTD.04.002 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- Gestão da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Implantação</a:t>
            </a:r>
          </a:p>
          <a:p>
            <a:r>
              <a:rPr lang="pt-BR" sz="2400" dirty="0">
                <a:latin typeface="Gill Sans Std Light" pitchFamily="34" charset="0"/>
                <a:cs typeface="Gill Sans Std Light"/>
              </a:rPr>
              <a:t>	</a:t>
            </a:r>
            <a:endParaRPr lang="pt-BR" sz="2400" dirty="0" smtClean="0">
              <a:latin typeface="Gill Sans Std Light" pitchFamily="34" charset="0"/>
              <a:cs typeface="Gill Sans Std Light"/>
            </a:endParaRPr>
          </a:p>
          <a:p>
            <a:r>
              <a:rPr lang="pt-BR" sz="2400" dirty="0">
                <a:latin typeface="Gill Sans Std Light" pitchFamily="34" charset="0"/>
                <a:cs typeface="Gill Sans Std Light"/>
              </a:rPr>
              <a:t>	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GTD.04.003 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- Suporte Pós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Implantação</a:t>
            </a:r>
          </a:p>
          <a:p>
            <a:r>
              <a:rPr lang="pt-BR" sz="2400" dirty="0">
                <a:latin typeface="Gill Sans Std Light" pitchFamily="34" charset="0"/>
                <a:cs typeface="Gill Sans Std Light"/>
              </a:rPr>
              <a:t>	</a:t>
            </a:r>
            <a:endParaRPr lang="pt-BR" sz="2400" dirty="0" smtClean="0">
              <a:latin typeface="Gill Sans Std Light" pitchFamily="34" charset="0"/>
              <a:cs typeface="Gill Sans Std Light"/>
            </a:endParaRPr>
          </a:p>
          <a:p>
            <a:r>
              <a:rPr lang="pt-BR" sz="2400" dirty="0">
                <a:latin typeface="Gill Sans Std Light" pitchFamily="34" charset="0"/>
                <a:cs typeface="Gill Sans Std Light"/>
              </a:rPr>
              <a:t>	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GTD.04.004 – Transição</a:t>
            </a:r>
          </a:p>
          <a:p>
            <a:endParaRPr lang="pt-BR" sz="2400" dirty="0" smtClean="0">
              <a:latin typeface="Gill Sans Std Light" pitchFamily="34" charset="0"/>
              <a:cs typeface="Gill Sans Std Light"/>
            </a:endParaRP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N3 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e N4 devem ser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revisados/atualizados 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pela DA e DI, pois são os  responsáveis pela execução do processo. Raquel agendou reunião com Brunetti para pedir ajuda, porém Brunetti não conseguiu atender  a necessidade e saiu em férias. </a:t>
            </a:r>
            <a:endParaRPr lang="pt-BR" sz="2400" dirty="0" smtClean="0">
              <a:latin typeface="Gill Sans Std Light" pitchFamily="34" charset="0"/>
              <a:cs typeface="Gill Sans Std Light"/>
            </a:endParaRPr>
          </a:p>
          <a:p>
            <a:endParaRPr lang="pt-BR" sz="1050" dirty="0">
              <a:latin typeface="Gill Sans Std Light" pitchFamily="34" charset="0"/>
              <a:cs typeface="Gill Sans Std Light"/>
            </a:endParaRPr>
          </a:p>
          <a:p>
            <a:r>
              <a:rPr lang="pt-BR" sz="2400" dirty="0">
                <a:latin typeface="Gill Sans Std Light" pitchFamily="34" charset="0"/>
                <a:cs typeface="Gill Sans Std Light"/>
              </a:rPr>
              <a:t>Raquel nomeou o Carlos </a:t>
            </a:r>
            <a:r>
              <a:rPr lang="pt-BR" sz="2400" dirty="0" err="1">
                <a:latin typeface="Gill Sans Std Light" pitchFamily="34" charset="0"/>
                <a:cs typeface="Gill Sans Std Light"/>
              </a:rPr>
              <a:t>Kida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 como apoio para rever N3 e N4 em Out/14. Realizamos várias reuniões de entendimento com os responsáveis que construíram o processo em 2013, mas ainda temos  dúvidas de entendimento de N3 e N4. </a:t>
            </a:r>
          </a:p>
          <a:p>
            <a:endParaRPr lang="pt-BR" sz="2400" dirty="0">
              <a:latin typeface="Gill Sans Std Light" pitchFamily="34" charset="0"/>
              <a:cs typeface="Gill Sans Std Light"/>
            </a:endParaRPr>
          </a:p>
          <a:p>
            <a:r>
              <a:rPr lang="pt-BR" sz="2400" b="1" dirty="0" smtClean="0">
                <a:latin typeface="Gill Sans Std Light" pitchFamily="34" charset="0"/>
                <a:cs typeface="Gill Sans Std Light"/>
              </a:rPr>
              <a:t>2</a:t>
            </a:r>
            <a:r>
              <a:rPr lang="pt-BR" sz="2400" b="1" dirty="0" smtClean="0">
                <a:latin typeface="Gill Sans Std Light" pitchFamily="34" charset="0"/>
                <a:cs typeface="Gill Sans Std Light"/>
              </a:rPr>
              <a:t>_ GAPs mapeados</a:t>
            </a:r>
            <a:endParaRPr lang="pt-BR" sz="2400" b="1" dirty="0">
              <a:latin typeface="Gill Sans Std Light" pitchFamily="34" charset="0"/>
              <a:cs typeface="Gill Sans Std Light"/>
            </a:endParaRP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GAPs mapeados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. Precisam ser tratados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.</a:t>
            </a:r>
            <a:endParaRPr lang="pt-BR" sz="2400" dirty="0">
              <a:latin typeface="Gill Sans Std Light" pitchFamily="34" charset="0"/>
              <a:cs typeface="Gill Sans Std Light"/>
            </a:endParaRPr>
          </a:p>
        </p:txBody>
      </p:sp>
      <p:sp>
        <p:nvSpPr>
          <p:cNvPr id="6" name="Elipse 5"/>
          <p:cNvSpPr/>
          <p:nvPr/>
        </p:nvSpPr>
        <p:spPr>
          <a:xfrm>
            <a:off x="1055326" y="2428528"/>
            <a:ext cx="432048" cy="43204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1055326" y="3148608"/>
            <a:ext cx="432048" cy="432048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1055326" y="1692102"/>
            <a:ext cx="432048" cy="43204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1050326" y="3908698"/>
            <a:ext cx="432048" cy="43204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Elipse 26"/>
          <p:cNvSpPr/>
          <p:nvPr/>
        </p:nvSpPr>
        <p:spPr>
          <a:xfrm>
            <a:off x="2010710" y="9244775"/>
            <a:ext cx="324000" cy="324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8" name="Elipse 27"/>
          <p:cNvSpPr/>
          <p:nvPr/>
        </p:nvSpPr>
        <p:spPr>
          <a:xfrm>
            <a:off x="8445065" y="9298096"/>
            <a:ext cx="324000" cy="32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9" name="Elipse 28"/>
          <p:cNvSpPr/>
          <p:nvPr/>
        </p:nvSpPr>
        <p:spPr>
          <a:xfrm>
            <a:off x="4827166" y="9282556"/>
            <a:ext cx="324000" cy="32400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0" name="Elipse 29"/>
          <p:cNvSpPr/>
          <p:nvPr/>
        </p:nvSpPr>
        <p:spPr>
          <a:xfrm>
            <a:off x="381720" y="9237432"/>
            <a:ext cx="324000" cy="3240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1" name="CaixaDeTexto 30"/>
          <p:cNvSpPr txBox="1"/>
          <p:nvPr/>
        </p:nvSpPr>
        <p:spPr>
          <a:xfrm>
            <a:off x="642318" y="9232728"/>
            <a:ext cx="111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 smtClean="0">
                <a:latin typeface="Gill Sans Std Light" pitchFamily="34" charset="0"/>
                <a:cs typeface="Gill Sans Std Light"/>
              </a:rPr>
              <a:t>Concluído</a:t>
            </a:r>
            <a:endParaRPr lang="pt-BR" sz="1800" dirty="0">
              <a:latin typeface="Gill Sans Std Light" pitchFamily="34" charset="0"/>
              <a:cs typeface="Gill Sans Std Light"/>
            </a:endParaRPr>
          </a:p>
        </p:txBody>
      </p:sp>
      <p:sp>
        <p:nvSpPr>
          <p:cNvPr id="32" name="CaixaDeTexto 31"/>
          <p:cNvSpPr txBox="1"/>
          <p:nvPr/>
        </p:nvSpPr>
        <p:spPr>
          <a:xfrm>
            <a:off x="2309408" y="9253258"/>
            <a:ext cx="2309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>
                <a:latin typeface="Gill Sans Std Light" pitchFamily="34" charset="0"/>
                <a:cs typeface="Gill Sans Std Light"/>
              </a:rPr>
              <a:t>Ações dentro do prazo</a:t>
            </a:r>
            <a:endParaRPr lang="pt-BR" sz="1800" dirty="0">
              <a:latin typeface="Gill Sans Std Light" pitchFamily="34" charset="0"/>
              <a:cs typeface="Gill Sans Std Light"/>
            </a:endParaRPr>
          </a:p>
        </p:txBody>
      </p:sp>
      <p:sp>
        <p:nvSpPr>
          <p:cNvPr id="33" name="CaixaDeTexto 32"/>
          <p:cNvSpPr txBox="1"/>
          <p:nvPr/>
        </p:nvSpPr>
        <p:spPr>
          <a:xfrm>
            <a:off x="8724713" y="9259996"/>
            <a:ext cx="3200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>
                <a:latin typeface="Gill Sans Std Light" pitchFamily="34" charset="0"/>
                <a:cs typeface="Gill Sans Std Light"/>
              </a:rPr>
              <a:t>Atraso, </a:t>
            </a:r>
            <a:r>
              <a:rPr lang="pt-BR" sz="1800" dirty="0" smtClean="0">
                <a:latin typeface="Gill Sans Std Light" pitchFamily="34" charset="0"/>
                <a:cs typeface="Gill Sans Std Light"/>
              </a:rPr>
              <a:t>com </a:t>
            </a:r>
            <a:r>
              <a:rPr lang="pt-BR" sz="1800" dirty="0">
                <a:latin typeface="Gill Sans Std Light" pitchFamily="34" charset="0"/>
                <a:cs typeface="Gill Sans Std Light"/>
              </a:rPr>
              <a:t>impacto na data final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131842" y="9244456"/>
            <a:ext cx="3171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>
                <a:latin typeface="Gill Sans Std Light" pitchFamily="34" charset="0"/>
                <a:cs typeface="Gill Sans Std Light"/>
              </a:rPr>
              <a:t>Atraso, </a:t>
            </a:r>
            <a:r>
              <a:rPr lang="pt-BR" sz="1800" dirty="0" smtClean="0">
                <a:latin typeface="Gill Sans Std Light" pitchFamily="34" charset="0"/>
                <a:cs typeface="Gill Sans Std Light"/>
              </a:rPr>
              <a:t>sem </a:t>
            </a:r>
            <a:r>
              <a:rPr lang="pt-BR" sz="1800" dirty="0">
                <a:latin typeface="Gill Sans Std Light" pitchFamily="34" charset="0"/>
                <a:cs typeface="Gill Sans Std Light"/>
              </a:rPr>
              <a:t>impacto na data final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309712" y="8755940"/>
            <a:ext cx="982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b="1" dirty="0">
                <a:latin typeface="Gill Sans Std Light" pitchFamily="34" charset="0"/>
                <a:cs typeface="Gill Sans Std Light"/>
              </a:rPr>
              <a:t>Legenda</a:t>
            </a:r>
            <a:endParaRPr lang="pt-BR" sz="1800" b="1" dirty="0">
              <a:latin typeface="Gill Sans Std Light" pitchFamily="34" charset="0"/>
              <a:cs typeface="Gill Sans Std Light"/>
            </a:endParaRPr>
          </a:p>
        </p:txBody>
      </p:sp>
    </p:spTree>
    <p:extLst>
      <p:ext uri="{BB962C8B-B14F-4D97-AF65-F5344CB8AC3E}">
        <p14:creationId xmlns:p14="http://schemas.microsoft.com/office/powerpoint/2010/main" val="959640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marrom-ekos.png"/>
          <p:cNvPicPr>
            <a:picLocks noChangeAspect="1"/>
          </p:cNvPicPr>
          <p:nvPr/>
        </p:nvPicPr>
        <p:blipFill>
          <a:blip r:embed="rId2" cstate="screen">
            <a:alphaModFix/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3000"/>
                    </a14:imgEffect>
                    <a14:imgEffect>
                      <a14:brightnessContrast brigh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007416" y="8347530"/>
            <a:ext cx="532450" cy="708420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453728" y="196280"/>
            <a:ext cx="12086138" cy="8241592"/>
          </a:xfrm>
          <a:prstGeom prst="rect">
            <a:avLst/>
          </a:prstGeom>
          <a:noFill/>
        </p:spPr>
        <p:txBody>
          <a:bodyPr wrap="square" lIns="145646" tIns="72823" rIns="145646" bIns="72823" rtlCol="0">
            <a:spAutoFit/>
          </a:bodyPr>
          <a:lstStyle/>
          <a:p>
            <a:r>
              <a:rPr lang="pt-BR" sz="2400" b="1" dirty="0" smtClean="0">
                <a:latin typeface="Gill Sans Std Light" pitchFamily="34" charset="0"/>
                <a:cs typeface="Gill Sans Std Light"/>
              </a:rPr>
              <a:t>GTD.05  </a:t>
            </a:r>
            <a:r>
              <a:rPr lang="pt-BR" sz="2400" b="1" dirty="0">
                <a:latin typeface="Gill Sans Std Light" pitchFamily="34" charset="0"/>
                <a:cs typeface="Gill Sans Std Light"/>
              </a:rPr>
              <a:t>Gestão </a:t>
            </a:r>
            <a:r>
              <a:rPr lang="pt-BR" sz="2400" b="1" dirty="0" smtClean="0">
                <a:latin typeface="Gill Sans Std Light" pitchFamily="34" charset="0"/>
                <a:cs typeface="Gill Sans Std Light"/>
              </a:rPr>
              <a:t>de Serviços</a:t>
            </a:r>
          </a:p>
          <a:p>
            <a:endParaRPr lang="pt-BR" sz="2400" dirty="0" smtClean="0">
              <a:latin typeface="Gill Sans Std Light" pitchFamily="34" charset="0"/>
              <a:cs typeface="Gill Sans Std Light"/>
            </a:endParaRPr>
          </a:p>
          <a:p>
            <a:r>
              <a:rPr lang="pt-BR" sz="2400" b="1" dirty="0" smtClean="0">
                <a:latin typeface="Gill Sans Std Light" pitchFamily="34" charset="0"/>
                <a:cs typeface="Gill Sans Std Light"/>
              </a:rPr>
              <a:t>1_ Ações do Diagnóstico</a:t>
            </a: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	</a:t>
            </a:r>
          </a:p>
          <a:p>
            <a:r>
              <a:rPr lang="pt-BR" sz="2400" dirty="0">
                <a:latin typeface="Gill Sans Std Light" pitchFamily="34" charset="0"/>
                <a:cs typeface="Gill Sans Std Light"/>
              </a:rPr>
              <a:t>	GTD.05.001 - Gestão de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Eventos</a:t>
            </a: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	N3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: atualizado.</a:t>
            </a:r>
          </a:p>
          <a:p>
            <a:r>
              <a:rPr lang="pt-BR" sz="2400" dirty="0">
                <a:latin typeface="Gill Sans Std Light" pitchFamily="34" charset="0"/>
                <a:cs typeface="Gill Sans Std Light"/>
              </a:rPr>
              <a:t>	N4: </a:t>
            </a:r>
            <a:r>
              <a:rPr lang="pt-BR" sz="2400" dirty="0" err="1">
                <a:latin typeface="Gill Sans Std Light" pitchFamily="34" charset="0"/>
                <a:cs typeface="Gill Sans Std Light"/>
              </a:rPr>
              <a:t>ITs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 atualizadas e publicadas no Natura.doc. Pendente criação e publicação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da NM.</a:t>
            </a:r>
            <a:endParaRPr lang="pt-BR" sz="2400" dirty="0">
              <a:latin typeface="Gill Sans Std Light" pitchFamily="34" charset="0"/>
              <a:cs typeface="Gill Sans Std Light"/>
            </a:endParaRPr>
          </a:p>
          <a:p>
            <a:endParaRPr lang="pt-BR" sz="1100" dirty="0">
              <a:latin typeface="Gill Sans Std Light" pitchFamily="34" charset="0"/>
              <a:cs typeface="Gill Sans Std Light"/>
            </a:endParaRP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	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GTD.05.002 - Gestão de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Problemas</a:t>
            </a: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	N3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: atualizado.</a:t>
            </a:r>
          </a:p>
          <a:p>
            <a:r>
              <a:rPr lang="pt-BR" sz="2400" dirty="0">
                <a:latin typeface="Gill Sans Std Light" pitchFamily="34" charset="0"/>
                <a:cs typeface="Gill Sans Std Light"/>
              </a:rPr>
              <a:t>	N4: </a:t>
            </a:r>
            <a:r>
              <a:rPr lang="pt-BR" sz="2400" dirty="0" err="1">
                <a:latin typeface="Gill Sans Std Light" pitchFamily="34" charset="0"/>
                <a:cs typeface="Gill Sans Std Light"/>
              </a:rPr>
              <a:t>ITs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 atualizadas e publicadas no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Natura.doc.</a:t>
            </a: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	</a:t>
            </a:r>
          </a:p>
          <a:p>
            <a:r>
              <a:rPr lang="pt-BR" sz="2400" dirty="0">
                <a:latin typeface="Gill Sans Std Light" pitchFamily="34" charset="0"/>
                <a:cs typeface="Gill Sans Std Light"/>
              </a:rPr>
              <a:t>	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GTD.05.003 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- Gestão de Mudanças e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Configuração</a:t>
            </a: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	N3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: atualizado.</a:t>
            </a:r>
          </a:p>
          <a:p>
            <a:r>
              <a:rPr lang="pt-BR" sz="2400" dirty="0">
                <a:latin typeface="Gill Sans Std Light" pitchFamily="34" charset="0"/>
                <a:cs typeface="Gill Sans Std Light"/>
              </a:rPr>
              <a:t>	N4: </a:t>
            </a:r>
            <a:r>
              <a:rPr lang="pt-BR" sz="2400" dirty="0" err="1">
                <a:latin typeface="Gill Sans Std Light" pitchFamily="34" charset="0"/>
                <a:cs typeface="Gill Sans Std Light"/>
              </a:rPr>
              <a:t>ITs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 atualizadas e publicadas no Natura.doc.</a:t>
            </a:r>
          </a:p>
          <a:p>
            <a:endParaRPr lang="pt-BR" sz="1100" dirty="0" smtClean="0">
              <a:latin typeface="Gill Sans Std Light" pitchFamily="34" charset="0"/>
              <a:cs typeface="Gill Sans Std Light"/>
            </a:endParaRPr>
          </a:p>
          <a:p>
            <a:r>
              <a:rPr lang="pt-BR" sz="2400" dirty="0">
                <a:latin typeface="Gill Sans Std Light" pitchFamily="34" charset="0"/>
                <a:cs typeface="Gill Sans Std Light"/>
              </a:rPr>
              <a:t>	GTD.05.004 - Gestão da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Operação</a:t>
            </a:r>
          </a:p>
          <a:p>
            <a:r>
              <a:rPr lang="pt-BR" sz="2400" dirty="0">
                <a:latin typeface="Gill Sans Std Light" pitchFamily="34" charset="0"/>
                <a:cs typeface="Gill Sans Std Light"/>
              </a:rPr>
              <a:t>	GTD.05.005 - Gestão de Níveis de Serviço</a:t>
            </a:r>
            <a:endParaRPr lang="pt-BR" sz="2400" dirty="0" smtClean="0">
              <a:latin typeface="Gill Sans Std Light" pitchFamily="34" charset="0"/>
              <a:cs typeface="Gill Sans Std Light"/>
            </a:endParaRP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Para estes subprocessos, faremos a adequação do N3 e N4 com base no movo modelo de operação considerando o projeto BES e de forma global.</a:t>
            </a:r>
          </a:p>
          <a:p>
            <a:endParaRPr lang="pt-BR" sz="2400" dirty="0" smtClean="0">
              <a:latin typeface="Gill Sans Std Light" pitchFamily="34" charset="0"/>
              <a:cs typeface="Gill Sans Std Light"/>
            </a:endParaRPr>
          </a:p>
          <a:p>
            <a:r>
              <a:rPr lang="pt-BR" sz="2400" b="1" dirty="0" smtClean="0">
                <a:latin typeface="Gill Sans Std Light" pitchFamily="34" charset="0"/>
                <a:cs typeface="Gill Sans Std Light"/>
              </a:rPr>
              <a:t>2_ GAPs mapeados</a:t>
            </a: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GAPs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não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mapeados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. 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Não há participação do integrador nas reuniões de melhoria continua. </a:t>
            </a:r>
          </a:p>
        </p:txBody>
      </p:sp>
      <p:sp>
        <p:nvSpPr>
          <p:cNvPr id="10" name="Elipse 9"/>
          <p:cNvSpPr/>
          <p:nvPr/>
        </p:nvSpPr>
        <p:spPr>
          <a:xfrm>
            <a:off x="1090288" y="1719070"/>
            <a:ext cx="432048" cy="432048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1101800" y="3004592"/>
            <a:ext cx="432048" cy="432048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1101800" y="4444752"/>
            <a:ext cx="432048" cy="432048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1101800" y="5812904"/>
            <a:ext cx="432048" cy="432048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/>
          <p:cNvSpPr txBox="1"/>
          <p:nvPr/>
        </p:nvSpPr>
        <p:spPr>
          <a:xfrm>
            <a:off x="6988761" y="583531"/>
            <a:ext cx="521751" cy="246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14" name="Retângulo de cantos arredondados 13"/>
          <p:cNvSpPr/>
          <p:nvPr/>
        </p:nvSpPr>
        <p:spPr>
          <a:xfrm>
            <a:off x="7798544" y="583531"/>
            <a:ext cx="4208872" cy="13515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>
                <a:latin typeface="Gill Sans Std Light" pitchFamily="34" charset="0"/>
                <a:cs typeface="Gill Sans Std Light"/>
              </a:rPr>
              <a:t>Este processo será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revisado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, pois há mudança de ferramenta e processo.</a:t>
            </a:r>
            <a:endParaRPr lang="pt-BR" sz="2400" dirty="0"/>
          </a:p>
        </p:txBody>
      </p:sp>
      <p:sp>
        <p:nvSpPr>
          <p:cNvPr id="30" name="Elipse 29"/>
          <p:cNvSpPr/>
          <p:nvPr/>
        </p:nvSpPr>
        <p:spPr>
          <a:xfrm>
            <a:off x="2010710" y="9244775"/>
            <a:ext cx="324000" cy="324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1" name="Elipse 30"/>
          <p:cNvSpPr/>
          <p:nvPr/>
        </p:nvSpPr>
        <p:spPr>
          <a:xfrm>
            <a:off x="8445065" y="9298096"/>
            <a:ext cx="324000" cy="32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2" name="Elipse 31"/>
          <p:cNvSpPr/>
          <p:nvPr/>
        </p:nvSpPr>
        <p:spPr>
          <a:xfrm>
            <a:off x="4827166" y="9282556"/>
            <a:ext cx="324000" cy="32400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3" name="Elipse 32"/>
          <p:cNvSpPr/>
          <p:nvPr/>
        </p:nvSpPr>
        <p:spPr>
          <a:xfrm>
            <a:off x="381720" y="9237432"/>
            <a:ext cx="324000" cy="3240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4" name="CaixaDeTexto 33"/>
          <p:cNvSpPr txBox="1"/>
          <p:nvPr/>
        </p:nvSpPr>
        <p:spPr>
          <a:xfrm>
            <a:off x="642318" y="9232728"/>
            <a:ext cx="111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 smtClean="0">
                <a:latin typeface="Gill Sans Std Light" pitchFamily="34" charset="0"/>
                <a:cs typeface="Gill Sans Std Light"/>
              </a:rPr>
              <a:t>Concluído</a:t>
            </a:r>
            <a:endParaRPr lang="pt-BR" sz="1800" dirty="0">
              <a:latin typeface="Gill Sans Std Light" pitchFamily="34" charset="0"/>
              <a:cs typeface="Gill Sans Std Light"/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2309408" y="9253258"/>
            <a:ext cx="2309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>
                <a:latin typeface="Gill Sans Std Light" pitchFamily="34" charset="0"/>
                <a:cs typeface="Gill Sans Std Light"/>
              </a:rPr>
              <a:t>Ações dentro do prazo</a:t>
            </a:r>
            <a:endParaRPr lang="pt-BR" sz="1800" dirty="0">
              <a:latin typeface="Gill Sans Std Light" pitchFamily="34" charset="0"/>
              <a:cs typeface="Gill Sans Std Light"/>
            </a:endParaRPr>
          </a:p>
        </p:txBody>
      </p:sp>
      <p:sp>
        <p:nvSpPr>
          <p:cNvPr id="36" name="CaixaDeTexto 35"/>
          <p:cNvSpPr txBox="1"/>
          <p:nvPr/>
        </p:nvSpPr>
        <p:spPr>
          <a:xfrm>
            <a:off x="8724713" y="9259996"/>
            <a:ext cx="3200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>
                <a:latin typeface="Gill Sans Std Light" pitchFamily="34" charset="0"/>
                <a:cs typeface="Gill Sans Std Light"/>
              </a:rPr>
              <a:t>Atraso, </a:t>
            </a:r>
            <a:r>
              <a:rPr lang="pt-BR" sz="1800" dirty="0" smtClean="0">
                <a:latin typeface="Gill Sans Std Light" pitchFamily="34" charset="0"/>
                <a:cs typeface="Gill Sans Std Light"/>
              </a:rPr>
              <a:t>com </a:t>
            </a:r>
            <a:r>
              <a:rPr lang="pt-BR" sz="1800" dirty="0">
                <a:latin typeface="Gill Sans Std Light" pitchFamily="34" charset="0"/>
                <a:cs typeface="Gill Sans Std Light"/>
              </a:rPr>
              <a:t>impacto na data final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5131842" y="9244456"/>
            <a:ext cx="3171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>
                <a:latin typeface="Gill Sans Std Light" pitchFamily="34" charset="0"/>
                <a:cs typeface="Gill Sans Std Light"/>
              </a:rPr>
              <a:t>Atraso, </a:t>
            </a:r>
            <a:r>
              <a:rPr lang="pt-BR" sz="1800" dirty="0" smtClean="0">
                <a:latin typeface="Gill Sans Std Light" pitchFamily="34" charset="0"/>
                <a:cs typeface="Gill Sans Std Light"/>
              </a:rPr>
              <a:t>sem </a:t>
            </a:r>
            <a:r>
              <a:rPr lang="pt-BR" sz="1800" dirty="0">
                <a:latin typeface="Gill Sans Std Light" pitchFamily="34" charset="0"/>
                <a:cs typeface="Gill Sans Std Light"/>
              </a:rPr>
              <a:t>impacto na data final</a:t>
            </a:r>
          </a:p>
        </p:txBody>
      </p:sp>
      <p:sp>
        <p:nvSpPr>
          <p:cNvPr id="38" name="CaixaDeTexto 37"/>
          <p:cNvSpPr txBox="1"/>
          <p:nvPr/>
        </p:nvSpPr>
        <p:spPr>
          <a:xfrm>
            <a:off x="309712" y="8755940"/>
            <a:ext cx="982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b="1" dirty="0">
                <a:latin typeface="Gill Sans Std Light" pitchFamily="34" charset="0"/>
                <a:cs typeface="Gill Sans Std Light"/>
              </a:rPr>
              <a:t>Legenda</a:t>
            </a:r>
            <a:endParaRPr lang="pt-BR" sz="1800" b="1" dirty="0">
              <a:latin typeface="Gill Sans Std Light" pitchFamily="34" charset="0"/>
              <a:cs typeface="Gill Sans Std Light"/>
            </a:endParaRPr>
          </a:p>
        </p:txBody>
      </p:sp>
    </p:spTree>
    <p:extLst>
      <p:ext uri="{BB962C8B-B14F-4D97-AF65-F5344CB8AC3E}">
        <p14:creationId xmlns:p14="http://schemas.microsoft.com/office/powerpoint/2010/main" val="2095153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marrom-ekos.png"/>
          <p:cNvPicPr>
            <a:picLocks noChangeAspect="1"/>
          </p:cNvPicPr>
          <p:nvPr/>
        </p:nvPicPr>
        <p:blipFill>
          <a:blip r:embed="rId2" cstate="screen">
            <a:alphaModFix/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3000"/>
                    </a14:imgEffect>
                    <a14:imgEffect>
                      <a14:brightnessContrast brigh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007416" y="8347530"/>
            <a:ext cx="532450" cy="708420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453728" y="196280"/>
            <a:ext cx="12086138" cy="7164374"/>
          </a:xfrm>
          <a:prstGeom prst="rect">
            <a:avLst/>
          </a:prstGeom>
          <a:noFill/>
        </p:spPr>
        <p:txBody>
          <a:bodyPr wrap="square" lIns="145646" tIns="72823" rIns="145646" bIns="72823" rtlCol="0">
            <a:spAutoFit/>
          </a:bodyPr>
          <a:lstStyle/>
          <a:p>
            <a:r>
              <a:rPr lang="pt-BR" sz="2400" b="1" dirty="0" smtClean="0">
                <a:latin typeface="Gill Sans Std Light" pitchFamily="34" charset="0"/>
                <a:cs typeface="Gill Sans Std Light"/>
              </a:rPr>
              <a:t>GTD.06  </a:t>
            </a:r>
            <a:r>
              <a:rPr lang="pt-BR" sz="2400" b="1" dirty="0">
                <a:latin typeface="Gill Sans Std Light" pitchFamily="34" charset="0"/>
                <a:cs typeface="Gill Sans Std Light"/>
              </a:rPr>
              <a:t>Gestão </a:t>
            </a:r>
            <a:r>
              <a:rPr lang="pt-BR" sz="2400" b="1" dirty="0" smtClean="0">
                <a:latin typeface="Gill Sans Std Light" pitchFamily="34" charset="0"/>
                <a:cs typeface="Gill Sans Std Light"/>
              </a:rPr>
              <a:t>de Demandas, Entregas e Portfólio</a:t>
            </a:r>
          </a:p>
          <a:p>
            <a:endParaRPr lang="pt-BR" sz="2400" dirty="0" smtClean="0">
              <a:latin typeface="Gill Sans Std Light" pitchFamily="34" charset="0"/>
              <a:cs typeface="Gill Sans Std Light"/>
            </a:endParaRPr>
          </a:p>
          <a:p>
            <a:r>
              <a:rPr lang="pt-BR" sz="2400" b="1" dirty="0" smtClean="0">
                <a:latin typeface="Gill Sans Std Light" pitchFamily="34" charset="0"/>
                <a:cs typeface="Gill Sans Std Light"/>
              </a:rPr>
              <a:t>1_ Ações do Diagnóstico</a:t>
            </a: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	</a:t>
            </a:r>
          </a:p>
          <a:p>
            <a:r>
              <a:rPr lang="pt-BR" sz="2400" dirty="0">
                <a:latin typeface="Gill Sans Std Light" pitchFamily="34" charset="0"/>
                <a:cs typeface="Gill Sans Std Light"/>
              </a:rPr>
              <a:t>	GTD.06.001 - Gestão de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Demandas</a:t>
            </a:r>
            <a:endParaRPr lang="pt-BR" sz="2400" dirty="0">
              <a:latin typeface="Gill Sans Std Light" pitchFamily="34" charset="0"/>
              <a:cs typeface="Gill Sans Std Light"/>
            </a:endParaRP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	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N3: atualizado.</a:t>
            </a:r>
          </a:p>
          <a:p>
            <a:r>
              <a:rPr lang="pt-BR" sz="2400" dirty="0">
                <a:latin typeface="Gill Sans Std Light" pitchFamily="34" charset="0"/>
                <a:cs typeface="Gill Sans Std Light"/>
              </a:rPr>
              <a:t>	N4: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Atualizado e publicado no 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Natura.doc. </a:t>
            </a:r>
          </a:p>
          <a:p>
            <a:endParaRPr lang="pt-BR" sz="2400" dirty="0" smtClean="0">
              <a:latin typeface="Gill Sans Std Light" pitchFamily="34" charset="0"/>
              <a:cs typeface="Gill Sans Std Light"/>
            </a:endParaRPr>
          </a:p>
          <a:p>
            <a:r>
              <a:rPr lang="pt-BR" sz="2400" dirty="0">
                <a:latin typeface="Gill Sans Std Light" pitchFamily="34" charset="0"/>
                <a:cs typeface="Gill Sans Std Light"/>
              </a:rPr>
              <a:t>	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GTD.06.002 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- Gestão de Entregas</a:t>
            </a:r>
            <a:endParaRPr lang="pt-BR" sz="2400" dirty="0" smtClean="0">
              <a:latin typeface="Gill Sans Std Light" pitchFamily="34" charset="0"/>
              <a:cs typeface="Gill Sans Std Light"/>
            </a:endParaRP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	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N3: atualizado.</a:t>
            </a:r>
          </a:p>
          <a:p>
            <a:r>
              <a:rPr lang="pt-BR" sz="2400" dirty="0">
                <a:latin typeface="Gill Sans Std Light" pitchFamily="34" charset="0"/>
                <a:cs typeface="Gill Sans Std Light"/>
              </a:rPr>
              <a:t>	N4: Atualizado e publicado no Natura.doc. </a:t>
            </a:r>
          </a:p>
          <a:p>
            <a:endParaRPr lang="pt-BR" sz="2400" dirty="0" smtClean="0">
              <a:latin typeface="Gill Sans Std Light" pitchFamily="34" charset="0"/>
              <a:cs typeface="Gill Sans Std Light"/>
            </a:endParaRPr>
          </a:p>
          <a:p>
            <a:r>
              <a:rPr lang="pt-BR" sz="2400" dirty="0">
                <a:latin typeface="Gill Sans Std Light" pitchFamily="34" charset="0"/>
                <a:cs typeface="Gill Sans Std Light"/>
              </a:rPr>
              <a:t>	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GTD.06.003 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- Gestão de Portfólio</a:t>
            </a:r>
            <a:endParaRPr lang="pt-BR" sz="2400" dirty="0" smtClean="0">
              <a:latin typeface="Gill Sans Std Light" pitchFamily="34" charset="0"/>
              <a:cs typeface="Gill Sans Std Light"/>
            </a:endParaRP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	N3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: atualizado.</a:t>
            </a: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	N4: </a:t>
            </a:r>
            <a:r>
              <a:rPr lang="pt-BR" sz="2400" dirty="0" err="1" smtClean="0">
                <a:latin typeface="Gill Sans Std Light" pitchFamily="34" charset="0"/>
                <a:cs typeface="Gill Sans Std Light"/>
              </a:rPr>
              <a:t>ITs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 atualizadas e publicadas no Natura.doc. Pendente criação e publicação da NM.</a:t>
            </a:r>
          </a:p>
          <a:p>
            <a:endParaRPr lang="pt-BR" sz="2400" dirty="0" smtClean="0">
              <a:latin typeface="Gill Sans Std Light" pitchFamily="34" charset="0"/>
              <a:cs typeface="Gill Sans Std Light"/>
            </a:endParaRPr>
          </a:p>
          <a:p>
            <a:endParaRPr lang="pt-BR" sz="2400" b="1" dirty="0" smtClean="0">
              <a:latin typeface="Gill Sans Std Light" pitchFamily="34" charset="0"/>
              <a:cs typeface="Gill Sans Std Light"/>
            </a:endParaRPr>
          </a:p>
          <a:p>
            <a:r>
              <a:rPr lang="pt-BR" sz="2400" b="1" dirty="0" smtClean="0">
                <a:latin typeface="Gill Sans Std Light" pitchFamily="34" charset="0"/>
                <a:cs typeface="Gill Sans Std Light"/>
              </a:rPr>
              <a:t>2_ GAPs mapeados</a:t>
            </a:r>
            <a:endParaRPr lang="pt-BR" sz="2400" b="1" dirty="0">
              <a:latin typeface="Gill Sans Std Light" pitchFamily="34" charset="0"/>
              <a:cs typeface="Gill Sans Std Light"/>
            </a:endParaRP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GAPs mapeados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. Precisam ser tratados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.</a:t>
            </a:r>
          </a:p>
        </p:txBody>
      </p:sp>
      <p:sp>
        <p:nvSpPr>
          <p:cNvPr id="10" name="Elipse 9"/>
          <p:cNvSpPr/>
          <p:nvPr/>
        </p:nvSpPr>
        <p:spPr>
          <a:xfrm>
            <a:off x="1085516" y="4627884"/>
            <a:ext cx="432048" cy="432048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1085516" y="1746548"/>
            <a:ext cx="432048" cy="432048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1085516" y="3187724"/>
            <a:ext cx="432048" cy="432048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de cantos arredondados 8"/>
          <p:cNvSpPr/>
          <p:nvPr/>
        </p:nvSpPr>
        <p:spPr>
          <a:xfrm>
            <a:off x="7798544" y="583531"/>
            <a:ext cx="4208872" cy="13515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>
                <a:latin typeface="Gill Sans Std Light" pitchFamily="34" charset="0"/>
                <a:cs typeface="Gill Sans Std Light"/>
              </a:rPr>
              <a:t>Este processo será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revisado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, pois há mudança de ferramenta e processo.</a:t>
            </a:r>
            <a:endParaRPr lang="pt-BR" sz="2400" dirty="0"/>
          </a:p>
        </p:txBody>
      </p:sp>
      <p:sp>
        <p:nvSpPr>
          <p:cNvPr id="20" name="Elipse 19"/>
          <p:cNvSpPr/>
          <p:nvPr/>
        </p:nvSpPr>
        <p:spPr>
          <a:xfrm>
            <a:off x="2010710" y="9244775"/>
            <a:ext cx="324000" cy="324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1" name="Elipse 20"/>
          <p:cNvSpPr/>
          <p:nvPr/>
        </p:nvSpPr>
        <p:spPr>
          <a:xfrm>
            <a:off x="8445065" y="9298096"/>
            <a:ext cx="324000" cy="32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2" name="Elipse 21"/>
          <p:cNvSpPr/>
          <p:nvPr/>
        </p:nvSpPr>
        <p:spPr>
          <a:xfrm>
            <a:off x="4827166" y="9282556"/>
            <a:ext cx="324000" cy="32400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3" name="Elipse 22"/>
          <p:cNvSpPr/>
          <p:nvPr/>
        </p:nvSpPr>
        <p:spPr>
          <a:xfrm>
            <a:off x="381720" y="9237432"/>
            <a:ext cx="324000" cy="3240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4" name="CaixaDeTexto 23"/>
          <p:cNvSpPr txBox="1"/>
          <p:nvPr/>
        </p:nvSpPr>
        <p:spPr>
          <a:xfrm>
            <a:off x="642318" y="9232728"/>
            <a:ext cx="111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 smtClean="0">
                <a:latin typeface="Gill Sans Std Light" pitchFamily="34" charset="0"/>
                <a:cs typeface="Gill Sans Std Light"/>
              </a:rPr>
              <a:t>Concluído</a:t>
            </a:r>
            <a:endParaRPr lang="pt-BR" sz="1800" dirty="0">
              <a:latin typeface="Gill Sans Std Light" pitchFamily="34" charset="0"/>
              <a:cs typeface="Gill Sans Std Light"/>
            </a:endParaRPr>
          </a:p>
        </p:txBody>
      </p:sp>
      <p:sp>
        <p:nvSpPr>
          <p:cNvPr id="25" name="CaixaDeTexto 24"/>
          <p:cNvSpPr txBox="1"/>
          <p:nvPr/>
        </p:nvSpPr>
        <p:spPr>
          <a:xfrm>
            <a:off x="2309408" y="9253258"/>
            <a:ext cx="2309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>
                <a:latin typeface="Gill Sans Std Light" pitchFamily="34" charset="0"/>
                <a:cs typeface="Gill Sans Std Light"/>
              </a:rPr>
              <a:t>Ações dentro do prazo</a:t>
            </a:r>
            <a:endParaRPr lang="pt-BR" sz="1800" dirty="0">
              <a:latin typeface="Gill Sans Std Light" pitchFamily="34" charset="0"/>
              <a:cs typeface="Gill Sans Std Light"/>
            </a:endParaRPr>
          </a:p>
        </p:txBody>
      </p:sp>
      <p:sp>
        <p:nvSpPr>
          <p:cNvPr id="26" name="CaixaDeTexto 25"/>
          <p:cNvSpPr txBox="1"/>
          <p:nvPr/>
        </p:nvSpPr>
        <p:spPr>
          <a:xfrm>
            <a:off x="8724713" y="9259996"/>
            <a:ext cx="3200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>
                <a:latin typeface="Gill Sans Std Light" pitchFamily="34" charset="0"/>
                <a:cs typeface="Gill Sans Std Light"/>
              </a:rPr>
              <a:t>Atraso, </a:t>
            </a:r>
            <a:r>
              <a:rPr lang="pt-BR" sz="1800" dirty="0" smtClean="0">
                <a:latin typeface="Gill Sans Std Light" pitchFamily="34" charset="0"/>
                <a:cs typeface="Gill Sans Std Light"/>
              </a:rPr>
              <a:t>com </a:t>
            </a:r>
            <a:r>
              <a:rPr lang="pt-BR" sz="1800" dirty="0">
                <a:latin typeface="Gill Sans Std Light" pitchFamily="34" charset="0"/>
                <a:cs typeface="Gill Sans Std Light"/>
              </a:rPr>
              <a:t>impacto na data final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5131842" y="9244456"/>
            <a:ext cx="3171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>
                <a:latin typeface="Gill Sans Std Light" pitchFamily="34" charset="0"/>
                <a:cs typeface="Gill Sans Std Light"/>
              </a:rPr>
              <a:t>Atraso, </a:t>
            </a:r>
            <a:r>
              <a:rPr lang="pt-BR" sz="1800" dirty="0" smtClean="0">
                <a:latin typeface="Gill Sans Std Light" pitchFamily="34" charset="0"/>
                <a:cs typeface="Gill Sans Std Light"/>
              </a:rPr>
              <a:t>sem </a:t>
            </a:r>
            <a:r>
              <a:rPr lang="pt-BR" sz="1800" dirty="0">
                <a:latin typeface="Gill Sans Std Light" pitchFamily="34" charset="0"/>
                <a:cs typeface="Gill Sans Std Light"/>
              </a:rPr>
              <a:t>impacto na data final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309712" y="8755940"/>
            <a:ext cx="982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b="1" dirty="0">
                <a:latin typeface="Gill Sans Std Light" pitchFamily="34" charset="0"/>
                <a:cs typeface="Gill Sans Std Light"/>
              </a:rPr>
              <a:t>Legenda</a:t>
            </a:r>
            <a:endParaRPr lang="pt-BR" sz="1800" b="1" dirty="0">
              <a:latin typeface="Gill Sans Std Light" pitchFamily="34" charset="0"/>
              <a:cs typeface="Gill Sans Std Light"/>
            </a:endParaRPr>
          </a:p>
        </p:txBody>
      </p:sp>
    </p:spTree>
    <p:extLst>
      <p:ext uri="{BB962C8B-B14F-4D97-AF65-F5344CB8AC3E}">
        <p14:creationId xmlns:p14="http://schemas.microsoft.com/office/powerpoint/2010/main" val="2727054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marrom-ekos.png"/>
          <p:cNvPicPr>
            <a:picLocks noChangeAspect="1"/>
          </p:cNvPicPr>
          <p:nvPr/>
        </p:nvPicPr>
        <p:blipFill>
          <a:blip r:embed="rId2" cstate="screen">
            <a:alphaModFix/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3000"/>
                    </a14:imgEffect>
                    <a14:imgEffect>
                      <a14:brightnessContrast brigh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007416" y="8347530"/>
            <a:ext cx="532450" cy="708420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453728" y="196280"/>
            <a:ext cx="12086138" cy="7949204"/>
          </a:xfrm>
          <a:prstGeom prst="rect">
            <a:avLst/>
          </a:prstGeom>
          <a:noFill/>
        </p:spPr>
        <p:txBody>
          <a:bodyPr wrap="square" lIns="145646" tIns="72823" rIns="145646" bIns="72823" rtlCol="0">
            <a:spAutoFit/>
          </a:bodyPr>
          <a:lstStyle/>
          <a:p>
            <a:r>
              <a:rPr lang="pt-BR" sz="2400" b="1" dirty="0" smtClean="0">
                <a:latin typeface="Gill Sans Std Light" pitchFamily="34" charset="0"/>
                <a:cs typeface="Gill Sans Std Light"/>
              </a:rPr>
              <a:t>GTD.07  Arquitetura Corporativa</a:t>
            </a:r>
          </a:p>
          <a:p>
            <a:endParaRPr lang="pt-BR" sz="2400" dirty="0" smtClean="0">
              <a:latin typeface="Gill Sans Std Light" pitchFamily="34" charset="0"/>
              <a:cs typeface="Gill Sans Std Light"/>
            </a:endParaRPr>
          </a:p>
          <a:p>
            <a:r>
              <a:rPr lang="pt-BR" sz="2400" b="1" dirty="0" smtClean="0">
                <a:latin typeface="Gill Sans Std Light" pitchFamily="34" charset="0"/>
                <a:cs typeface="Gill Sans Std Light"/>
              </a:rPr>
              <a:t>1_ Ações do Diagnóstico</a:t>
            </a: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	</a:t>
            </a:r>
          </a:p>
          <a:p>
            <a:r>
              <a:rPr lang="pt-BR" sz="2400" dirty="0">
                <a:latin typeface="Gill Sans Std Light" pitchFamily="34" charset="0"/>
                <a:cs typeface="Gill Sans Std Light"/>
              </a:rPr>
              <a:t>	GTD.07.001 - Planejamento de Arquitetura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Corporativa</a:t>
            </a: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	</a:t>
            </a:r>
          </a:p>
          <a:p>
            <a:r>
              <a:rPr lang="pt-BR" sz="2400" dirty="0">
                <a:latin typeface="Gill Sans Std Light" pitchFamily="34" charset="0"/>
                <a:cs typeface="Gill Sans Std Light"/>
              </a:rPr>
              <a:t>	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GTD.07.002 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- Controle da Arquitetura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Corporativa*</a:t>
            </a: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	</a:t>
            </a:r>
          </a:p>
          <a:p>
            <a:r>
              <a:rPr lang="pt-BR" sz="2400" dirty="0">
                <a:latin typeface="Gill Sans Std Light" pitchFamily="34" charset="0"/>
                <a:cs typeface="Gill Sans Std Light"/>
              </a:rPr>
              <a:t>	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GTD.07.003 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- Prospecção e Seleção de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Tecnologia</a:t>
            </a:r>
          </a:p>
          <a:p>
            <a:endParaRPr lang="pt-BR" sz="2400" dirty="0" smtClean="0">
              <a:latin typeface="Gill Sans Std Light" pitchFamily="34" charset="0"/>
              <a:cs typeface="Gill Sans Std Light"/>
            </a:endParaRPr>
          </a:p>
          <a:p>
            <a:endParaRPr lang="pt-BR" sz="2400" dirty="0" smtClean="0">
              <a:latin typeface="Gill Sans Std Light" pitchFamily="34" charset="0"/>
              <a:cs typeface="Gill Sans Std Light"/>
            </a:endParaRPr>
          </a:p>
          <a:p>
            <a:r>
              <a:rPr lang="pt-BR" sz="2400" i="1" dirty="0" smtClean="0">
                <a:latin typeface="Gill Sans Std Light" pitchFamily="34" charset="0"/>
                <a:cs typeface="Gill Sans Std Light"/>
              </a:rPr>
              <a:t>*O </a:t>
            </a:r>
            <a:r>
              <a:rPr lang="pt-BR" sz="2400" i="1" dirty="0">
                <a:latin typeface="Gill Sans Std Light" pitchFamily="34" charset="0"/>
                <a:cs typeface="Gill Sans Std Light"/>
              </a:rPr>
              <a:t>processo de Controle de Arquitetura Corporativa foi desenhado no passado porém ele está em duplicidade com o que acontece no processo GTD.03.001 (Desenho da Solução) na atividade de Definição de Arquitetura da Solução.</a:t>
            </a:r>
          </a:p>
          <a:p>
            <a:endParaRPr lang="pt-BR" sz="1100" i="1" dirty="0" smtClean="0">
              <a:latin typeface="Gill Sans Std Light" pitchFamily="34" charset="0"/>
              <a:cs typeface="Gill Sans Std Light"/>
            </a:endParaRPr>
          </a:p>
          <a:p>
            <a:r>
              <a:rPr lang="pt-BR" sz="2400" i="1" dirty="0" smtClean="0">
                <a:latin typeface="Gill Sans Std Light" pitchFamily="34" charset="0"/>
                <a:cs typeface="Gill Sans Std Light"/>
              </a:rPr>
              <a:t>A </a:t>
            </a:r>
            <a:r>
              <a:rPr lang="pt-BR" sz="2400" i="1" dirty="0">
                <a:latin typeface="Gill Sans Std Light" pitchFamily="34" charset="0"/>
                <a:cs typeface="Gill Sans Std Light"/>
              </a:rPr>
              <a:t>sugestão é revisarmos para ver se o GTD.07.002 será contemplado no GTD.03.001 e eliminado, ou se faremos ao contrário.</a:t>
            </a:r>
          </a:p>
          <a:p>
            <a:endParaRPr lang="pt-BR" sz="1100" i="1" dirty="0">
              <a:latin typeface="Gill Sans Std Light" pitchFamily="34" charset="0"/>
              <a:cs typeface="Gill Sans Std Light"/>
            </a:endParaRPr>
          </a:p>
          <a:p>
            <a:r>
              <a:rPr lang="pt-BR" sz="2400" i="1" dirty="0">
                <a:latin typeface="Gill Sans Std Light" pitchFamily="34" charset="0"/>
                <a:cs typeface="Gill Sans Std Light"/>
              </a:rPr>
              <a:t>Da forma que está hoje ele roda no GTD.03.001 e o GTD.07.002 nunca foi executado.</a:t>
            </a:r>
          </a:p>
          <a:p>
            <a:endParaRPr lang="pt-BR" sz="2400" dirty="0">
              <a:latin typeface="Gill Sans Std Light" pitchFamily="34" charset="0"/>
              <a:cs typeface="Gill Sans Std Light"/>
            </a:endParaRPr>
          </a:p>
          <a:p>
            <a:r>
              <a:rPr lang="pt-BR" sz="2400" b="1" dirty="0" smtClean="0">
                <a:latin typeface="Gill Sans Std Light" pitchFamily="34" charset="0"/>
                <a:cs typeface="Gill Sans Std Light"/>
              </a:rPr>
              <a:t>2_ GAPs mapeados</a:t>
            </a:r>
            <a:endParaRPr lang="pt-BR" sz="2400" b="1" dirty="0">
              <a:latin typeface="Gill Sans Std Light" pitchFamily="34" charset="0"/>
              <a:cs typeface="Gill Sans Std Light"/>
            </a:endParaRP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GAPs mapeados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. Precisam ser tratados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.</a:t>
            </a:r>
            <a:endParaRPr lang="pt-BR" sz="2400" dirty="0">
              <a:latin typeface="Gill Sans Std Light" pitchFamily="34" charset="0"/>
              <a:cs typeface="Gill Sans Std Light"/>
            </a:endParaRPr>
          </a:p>
        </p:txBody>
      </p:sp>
      <p:sp>
        <p:nvSpPr>
          <p:cNvPr id="5" name="Elipse 4"/>
          <p:cNvSpPr/>
          <p:nvPr/>
        </p:nvSpPr>
        <p:spPr>
          <a:xfrm>
            <a:off x="1148806" y="1707432"/>
            <a:ext cx="432048" cy="432048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1148806" y="2428528"/>
            <a:ext cx="432048" cy="432048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1148806" y="3161753"/>
            <a:ext cx="432048" cy="432048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/>
          <p:cNvSpPr/>
          <p:nvPr/>
        </p:nvSpPr>
        <p:spPr>
          <a:xfrm>
            <a:off x="2010710" y="9244775"/>
            <a:ext cx="324000" cy="324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9" name="Elipse 18"/>
          <p:cNvSpPr/>
          <p:nvPr/>
        </p:nvSpPr>
        <p:spPr>
          <a:xfrm>
            <a:off x="8445065" y="9298096"/>
            <a:ext cx="324000" cy="32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0" name="Elipse 19"/>
          <p:cNvSpPr/>
          <p:nvPr/>
        </p:nvSpPr>
        <p:spPr>
          <a:xfrm>
            <a:off x="4827166" y="9282556"/>
            <a:ext cx="324000" cy="32400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1" name="Elipse 20"/>
          <p:cNvSpPr/>
          <p:nvPr/>
        </p:nvSpPr>
        <p:spPr>
          <a:xfrm>
            <a:off x="381720" y="9237432"/>
            <a:ext cx="324000" cy="3240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2" name="CaixaDeTexto 21"/>
          <p:cNvSpPr txBox="1"/>
          <p:nvPr/>
        </p:nvSpPr>
        <p:spPr>
          <a:xfrm>
            <a:off x="642318" y="9232728"/>
            <a:ext cx="111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 smtClean="0">
                <a:latin typeface="Gill Sans Std Light" pitchFamily="34" charset="0"/>
                <a:cs typeface="Gill Sans Std Light"/>
              </a:rPr>
              <a:t>Concluído</a:t>
            </a:r>
            <a:endParaRPr lang="pt-BR" sz="1800" dirty="0">
              <a:latin typeface="Gill Sans Std Light" pitchFamily="34" charset="0"/>
              <a:cs typeface="Gill Sans Std Light"/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2309408" y="9253258"/>
            <a:ext cx="2309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>
                <a:latin typeface="Gill Sans Std Light" pitchFamily="34" charset="0"/>
                <a:cs typeface="Gill Sans Std Light"/>
              </a:rPr>
              <a:t>Ações dentro do prazo</a:t>
            </a:r>
            <a:endParaRPr lang="pt-BR" sz="1800" dirty="0">
              <a:latin typeface="Gill Sans Std Light" pitchFamily="34" charset="0"/>
              <a:cs typeface="Gill Sans Std Light"/>
            </a:endParaRPr>
          </a:p>
        </p:txBody>
      </p:sp>
      <p:sp>
        <p:nvSpPr>
          <p:cNvPr id="24" name="CaixaDeTexto 23"/>
          <p:cNvSpPr txBox="1"/>
          <p:nvPr/>
        </p:nvSpPr>
        <p:spPr>
          <a:xfrm>
            <a:off x="8724713" y="9259996"/>
            <a:ext cx="3200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>
                <a:latin typeface="Gill Sans Std Light" pitchFamily="34" charset="0"/>
                <a:cs typeface="Gill Sans Std Light"/>
              </a:rPr>
              <a:t>Atraso, </a:t>
            </a:r>
            <a:r>
              <a:rPr lang="pt-BR" sz="1800" dirty="0" smtClean="0">
                <a:latin typeface="Gill Sans Std Light" pitchFamily="34" charset="0"/>
                <a:cs typeface="Gill Sans Std Light"/>
              </a:rPr>
              <a:t>com </a:t>
            </a:r>
            <a:r>
              <a:rPr lang="pt-BR" sz="1800" dirty="0">
                <a:latin typeface="Gill Sans Std Light" pitchFamily="34" charset="0"/>
                <a:cs typeface="Gill Sans Std Light"/>
              </a:rPr>
              <a:t>impacto na data final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5131842" y="9244456"/>
            <a:ext cx="3171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>
                <a:latin typeface="Gill Sans Std Light" pitchFamily="34" charset="0"/>
                <a:cs typeface="Gill Sans Std Light"/>
              </a:rPr>
              <a:t>Atraso, </a:t>
            </a:r>
            <a:r>
              <a:rPr lang="pt-BR" sz="1800" dirty="0" smtClean="0">
                <a:latin typeface="Gill Sans Std Light" pitchFamily="34" charset="0"/>
                <a:cs typeface="Gill Sans Std Light"/>
              </a:rPr>
              <a:t>sem </a:t>
            </a:r>
            <a:r>
              <a:rPr lang="pt-BR" sz="1800" dirty="0">
                <a:latin typeface="Gill Sans Std Light" pitchFamily="34" charset="0"/>
                <a:cs typeface="Gill Sans Std Light"/>
              </a:rPr>
              <a:t>impacto na data final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309712" y="8755940"/>
            <a:ext cx="982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b="1" dirty="0">
                <a:latin typeface="Gill Sans Std Light" pitchFamily="34" charset="0"/>
                <a:cs typeface="Gill Sans Std Light"/>
              </a:rPr>
              <a:t>Legenda</a:t>
            </a:r>
            <a:endParaRPr lang="pt-BR" sz="1800" b="1" dirty="0">
              <a:latin typeface="Gill Sans Std Light" pitchFamily="34" charset="0"/>
              <a:cs typeface="Gill Sans Std Light"/>
            </a:endParaRPr>
          </a:p>
        </p:txBody>
      </p:sp>
    </p:spTree>
    <p:extLst>
      <p:ext uri="{BB962C8B-B14F-4D97-AF65-F5344CB8AC3E}">
        <p14:creationId xmlns:p14="http://schemas.microsoft.com/office/powerpoint/2010/main" val="3389019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marrom-ekos.png"/>
          <p:cNvPicPr>
            <a:picLocks noChangeAspect="1"/>
          </p:cNvPicPr>
          <p:nvPr/>
        </p:nvPicPr>
        <p:blipFill>
          <a:blip r:embed="rId2" cstate="screen">
            <a:alphaModFix/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3000"/>
                    </a14:imgEffect>
                    <a14:imgEffect>
                      <a14:brightnessContrast brigh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007416" y="8347530"/>
            <a:ext cx="532450" cy="708420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453728" y="196280"/>
            <a:ext cx="12086138" cy="6425710"/>
          </a:xfrm>
          <a:prstGeom prst="rect">
            <a:avLst/>
          </a:prstGeom>
          <a:noFill/>
        </p:spPr>
        <p:txBody>
          <a:bodyPr wrap="square" lIns="145646" tIns="72823" rIns="145646" bIns="72823" rtlCol="0">
            <a:spAutoFit/>
          </a:bodyPr>
          <a:lstStyle/>
          <a:p>
            <a:r>
              <a:rPr lang="pt-BR" sz="2400" b="1" dirty="0" smtClean="0">
                <a:latin typeface="Gill Sans Std Light" pitchFamily="34" charset="0"/>
                <a:cs typeface="Gill Sans Std Light"/>
              </a:rPr>
              <a:t>GTD.08  </a:t>
            </a:r>
            <a:r>
              <a:rPr lang="pt-BR" sz="2400" b="1" dirty="0">
                <a:latin typeface="Gill Sans Std Light" pitchFamily="34" charset="0"/>
                <a:cs typeface="Gill Sans Std Light"/>
              </a:rPr>
              <a:t>Gestão </a:t>
            </a:r>
            <a:r>
              <a:rPr lang="pt-BR" sz="2400" b="1" dirty="0" smtClean="0">
                <a:latin typeface="Gill Sans Std Light" pitchFamily="34" charset="0"/>
                <a:cs typeface="Gill Sans Std Light"/>
              </a:rPr>
              <a:t>do Relacionamento com Parceiros de Tecnologia</a:t>
            </a:r>
          </a:p>
          <a:p>
            <a:endParaRPr lang="pt-BR" sz="2400" dirty="0" smtClean="0">
              <a:latin typeface="Gill Sans Std Light" pitchFamily="34" charset="0"/>
              <a:cs typeface="Gill Sans Std Light"/>
            </a:endParaRPr>
          </a:p>
          <a:p>
            <a:r>
              <a:rPr lang="pt-BR" sz="2400" b="1" dirty="0" smtClean="0">
                <a:latin typeface="Gill Sans Std Light" pitchFamily="34" charset="0"/>
                <a:cs typeface="Gill Sans Std Light"/>
              </a:rPr>
              <a:t>1_ Ações do Diagnóstico</a:t>
            </a: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	</a:t>
            </a:r>
          </a:p>
          <a:p>
            <a:r>
              <a:rPr lang="pt-BR" sz="2400" dirty="0">
                <a:latin typeface="Gill Sans Std Light" pitchFamily="34" charset="0"/>
                <a:cs typeface="Gill Sans Std Light"/>
              </a:rPr>
              <a:t>	GTD.08.001 - Prospecção de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Parcerias</a:t>
            </a: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	Processo excluído.</a:t>
            </a:r>
          </a:p>
          <a:p>
            <a:endParaRPr lang="pt-BR" sz="2400" dirty="0">
              <a:latin typeface="Gill Sans Std Light" pitchFamily="34" charset="0"/>
              <a:cs typeface="Gill Sans Std Light"/>
            </a:endParaRP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	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GTD.08.002 - Estabelecimento de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Parcerias</a:t>
            </a:r>
          </a:p>
          <a:p>
            <a:r>
              <a:rPr lang="pt-BR" sz="2400" dirty="0">
                <a:latin typeface="Gill Sans Std Light" pitchFamily="34" charset="0"/>
                <a:cs typeface="Gill Sans Std Light"/>
              </a:rPr>
              <a:t>	N3: atualizado.</a:t>
            </a:r>
          </a:p>
          <a:p>
            <a:r>
              <a:rPr lang="pt-BR" sz="2400" dirty="0">
                <a:latin typeface="Gill Sans Std Light" pitchFamily="34" charset="0"/>
                <a:cs typeface="Gill Sans Std Light"/>
              </a:rPr>
              <a:t>	N4: </a:t>
            </a:r>
            <a:r>
              <a:rPr lang="pt-BR" sz="2400" dirty="0" err="1" smtClean="0">
                <a:latin typeface="Gill Sans Std Light" pitchFamily="34" charset="0"/>
                <a:cs typeface="Gill Sans Std Light"/>
              </a:rPr>
              <a:t>ITs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 e PR em construção / atualização. </a:t>
            </a:r>
            <a:endParaRPr lang="pt-BR" sz="2400" dirty="0">
              <a:latin typeface="Gill Sans Std Light" pitchFamily="34" charset="0"/>
              <a:cs typeface="Gill Sans Std Light"/>
            </a:endParaRPr>
          </a:p>
          <a:p>
            <a:endParaRPr lang="pt-BR" sz="2400" dirty="0" smtClean="0">
              <a:latin typeface="Gill Sans Std Light" pitchFamily="34" charset="0"/>
              <a:cs typeface="Gill Sans Std Light"/>
            </a:endParaRPr>
          </a:p>
          <a:p>
            <a:r>
              <a:rPr lang="pt-BR" sz="2400" dirty="0">
                <a:latin typeface="Gill Sans Std Light" pitchFamily="34" charset="0"/>
                <a:cs typeface="Gill Sans Std Light"/>
              </a:rPr>
              <a:t>	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GTD.08.003 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- Acompanhamento da Performance</a:t>
            </a:r>
            <a:endParaRPr lang="pt-BR" sz="2400" dirty="0" smtClean="0">
              <a:latin typeface="Gill Sans Std Light" pitchFamily="34" charset="0"/>
              <a:cs typeface="Gill Sans Std Light"/>
            </a:endParaRPr>
          </a:p>
          <a:p>
            <a:r>
              <a:rPr lang="pt-BR" sz="2400" dirty="0">
                <a:latin typeface="Gill Sans Std Light" pitchFamily="34" charset="0"/>
                <a:cs typeface="Gill Sans Std Light"/>
              </a:rPr>
              <a:t>	N3 e N4: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iniciaremos o </a:t>
            </a:r>
            <a:r>
              <a:rPr lang="pt-BR" sz="2400" dirty="0">
                <a:latin typeface="Gill Sans Std Light" pitchFamily="34" charset="0"/>
                <a:cs typeface="Gill Sans Std Light"/>
              </a:rPr>
              <a:t>entendimento para </a:t>
            </a:r>
            <a:r>
              <a:rPr lang="pt-BR" sz="2400" dirty="0" smtClean="0">
                <a:latin typeface="Gill Sans Std Light" pitchFamily="34" charset="0"/>
                <a:cs typeface="Gill Sans Std Light"/>
              </a:rPr>
              <a:t>atualização.</a:t>
            </a:r>
            <a:endParaRPr lang="pt-BR" sz="2400" dirty="0">
              <a:latin typeface="Gill Sans Std Light" pitchFamily="34" charset="0"/>
              <a:cs typeface="Gill Sans Std Light"/>
            </a:endParaRPr>
          </a:p>
          <a:p>
            <a:endParaRPr lang="pt-BR" sz="2400" dirty="0" smtClean="0">
              <a:latin typeface="Gill Sans Std Light" pitchFamily="34" charset="0"/>
              <a:cs typeface="Gill Sans Std Light"/>
            </a:endParaRPr>
          </a:p>
          <a:p>
            <a:endParaRPr lang="pt-BR" sz="2400" dirty="0">
              <a:latin typeface="Gill Sans Std Light" pitchFamily="34" charset="0"/>
              <a:cs typeface="Gill Sans Std Light"/>
            </a:endParaRPr>
          </a:p>
          <a:p>
            <a:r>
              <a:rPr lang="pt-BR" sz="2400" b="1" dirty="0" smtClean="0">
                <a:latin typeface="Gill Sans Std Light" pitchFamily="34" charset="0"/>
                <a:cs typeface="Gill Sans Std Light"/>
              </a:rPr>
              <a:t>2_ GAPs mapeados</a:t>
            </a:r>
            <a:endParaRPr lang="pt-BR" sz="2400" b="1" dirty="0">
              <a:latin typeface="Gill Sans Std Light" pitchFamily="34" charset="0"/>
              <a:cs typeface="Gill Sans Std Light"/>
            </a:endParaRPr>
          </a:p>
          <a:p>
            <a:r>
              <a:rPr lang="pt-BR" sz="2400" dirty="0" smtClean="0">
                <a:latin typeface="Gill Sans Std Light" pitchFamily="34" charset="0"/>
                <a:cs typeface="Gill Sans Std Light"/>
              </a:rPr>
              <a:t>OS GAPs estão sendo mapeados na revisão do N3. </a:t>
            </a:r>
            <a:endParaRPr lang="pt-BR" sz="2400" dirty="0" smtClean="0">
              <a:latin typeface="Gill Sans Std Light" pitchFamily="34" charset="0"/>
              <a:cs typeface="Gill Sans Std Light"/>
            </a:endParaRPr>
          </a:p>
        </p:txBody>
      </p:sp>
      <p:sp>
        <p:nvSpPr>
          <p:cNvPr id="3" name="Multiplicar 2"/>
          <p:cNvSpPr/>
          <p:nvPr/>
        </p:nvSpPr>
        <p:spPr>
          <a:xfrm>
            <a:off x="953992" y="1636440"/>
            <a:ext cx="578592" cy="648072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1027264" y="2716560"/>
            <a:ext cx="432048" cy="432048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1032302" y="4147799"/>
            <a:ext cx="432048" cy="432048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/>
          <p:cNvSpPr/>
          <p:nvPr/>
        </p:nvSpPr>
        <p:spPr>
          <a:xfrm>
            <a:off x="2010710" y="9244775"/>
            <a:ext cx="324000" cy="324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0" name="Elipse 19"/>
          <p:cNvSpPr/>
          <p:nvPr/>
        </p:nvSpPr>
        <p:spPr>
          <a:xfrm>
            <a:off x="8445065" y="9298096"/>
            <a:ext cx="324000" cy="32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1" name="Elipse 20"/>
          <p:cNvSpPr/>
          <p:nvPr/>
        </p:nvSpPr>
        <p:spPr>
          <a:xfrm>
            <a:off x="4827166" y="9282556"/>
            <a:ext cx="324000" cy="32400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2" name="Elipse 21"/>
          <p:cNvSpPr/>
          <p:nvPr/>
        </p:nvSpPr>
        <p:spPr>
          <a:xfrm>
            <a:off x="381720" y="9237432"/>
            <a:ext cx="324000" cy="3240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3" name="CaixaDeTexto 22"/>
          <p:cNvSpPr txBox="1"/>
          <p:nvPr/>
        </p:nvSpPr>
        <p:spPr>
          <a:xfrm>
            <a:off x="642318" y="9232728"/>
            <a:ext cx="111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 smtClean="0">
                <a:latin typeface="Gill Sans Std Light" pitchFamily="34" charset="0"/>
                <a:cs typeface="Gill Sans Std Light"/>
              </a:rPr>
              <a:t>Concluído</a:t>
            </a:r>
            <a:endParaRPr lang="pt-BR" sz="1800" dirty="0">
              <a:latin typeface="Gill Sans Std Light" pitchFamily="34" charset="0"/>
              <a:cs typeface="Gill Sans Std Light"/>
            </a:endParaRPr>
          </a:p>
        </p:txBody>
      </p:sp>
      <p:sp>
        <p:nvSpPr>
          <p:cNvPr id="24" name="CaixaDeTexto 23"/>
          <p:cNvSpPr txBox="1"/>
          <p:nvPr/>
        </p:nvSpPr>
        <p:spPr>
          <a:xfrm>
            <a:off x="2309408" y="9253258"/>
            <a:ext cx="2309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>
                <a:latin typeface="Gill Sans Std Light" pitchFamily="34" charset="0"/>
                <a:cs typeface="Gill Sans Std Light"/>
              </a:rPr>
              <a:t>Ações dentro do prazo</a:t>
            </a:r>
            <a:endParaRPr lang="pt-BR" sz="1800" dirty="0">
              <a:latin typeface="Gill Sans Std Light" pitchFamily="34" charset="0"/>
              <a:cs typeface="Gill Sans Std Light"/>
            </a:endParaRPr>
          </a:p>
        </p:txBody>
      </p:sp>
      <p:sp>
        <p:nvSpPr>
          <p:cNvPr id="25" name="CaixaDeTexto 24"/>
          <p:cNvSpPr txBox="1"/>
          <p:nvPr/>
        </p:nvSpPr>
        <p:spPr>
          <a:xfrm>
            <a:off x="8724713" y="9259996"/>
            <a:ext cx="3200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>
                <a:latin typeface="Gill Sans Std Light" pitchFamily="34" charset="0"/>
                <a:cs typeface="Gill Sans Std Light"/>
              </a:rPr>
              <a:t>Atraso, </a:t>
            </a:r>
            <a:r>
              <a:rPr lang="pt-BR" sz="1800" dirty="0" smtClean="0">
                <a:latin typeface="Gill Sans Std Light" pitchFamily="34" charset="0"/>
                <a:cs typeface="Gill Sans Std Light"/>
              </a:rPr>
              <a:t>com </a:t>
            </a:r>
            <a:r>
              <a:rPr lang="pt-BR" sz="1800" dirty="0">
                <a:latin typeface="Gill Sans Std Light" pitchFamily="34" charset="0"/>
                <a:cs typeface="Gill Sans Std Light"/>
              </a:rPr>
              <a:t>impacto na data final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5131842" y="9244456"/>
            <a:ext cx="3171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>
                <a:latin typeface="Gill Sans Std Light" pitchFamily="34" charset="0"/>
                <a:cs typeface="Gill Sans Std Light"/>
              </a:rPr>
              <a:t>Atraso, </a:t>
            </a:r>
            <a:r>
              <a:rPr lang="pt-BR" sz="1800" dirty="0" smtClean="0">
                <a:latin typeface="Gill Sans Std Light" pitchFamily="34" charset="0"/>
                <a:cs typeface="Gill Sans Std Light"/>
              </a:rPr>
              <a:t>sem </a:t>
            </a:r>
            <a:r>
              <a:rPr lang="pt-BR" sz="1800" dirty="0">
                <a:latin typeface="Gill Sans Std Light" pitchFamily="34" charset="0"/>
                <a:cs typeface="Gill Sans Std Light"/>
              </a:rPr>
              <a:t>impacto na data final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309712" y="8755940"/>
            <a:ext cx="982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b="1" dirty="0">
                <a:latin typeface="Gill Sans Std Light" pitchFamily="34" charset="0"/>
                <a:cs typeface="Gill Sans Std Light"/>
              </a:rPr>
              <a:t>Legenda</a:t>
            </a:r>
            <a:endParaRPr lang="pt-BR" sz="1800" b="1" dirty="0">
              <a:latin typeface="Gill Sans Std Light" pitchFamily="34" charset="0"/>
              <a:cs typeface="Gill Sans Std Light"/>
            </a:endParaRPr>
          </a:p>
        </p:txBody>
      </p:sp>
    </p:spTree>
    <p:extLst>
      <p:ext uri="{BB962C8B-B14F-4D97-AF65-F5344CB8AC3E}">
        <p14:creationId xmlns:p14="http://schemas.microsoft.com/office/powerpoint/2010/main" val="2572066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2"/>
          <p:cNvSpPr>
            <a:spLocks noChangeArrowheads="1"/>
          </p:cNvSpPr>
          <p:nvPr/>
        </p:nvSpPr>
        <p:spPr bwMode="auto">
          <a:xfrm>
            <a:off x="0" y="0"/>
            <a:ext cx="13004800" cy="9753600"/>
          </a:xfrm>
          <a:prstGeom prst="rect">
            <a:avLst/>
          </a:prstGeom>
          <a:solidFill>
            <a:srgbClr val="004F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1747" name="Rectangle 3"/>
          <p:cNvSpPr>
            <a:spLocks/>
          </p:cNvSpPr>
          <p:nvPr/>
        </p:nvSpPr>
        <p:spPr bwMode="auto">
          <a:xfrm>
            <a:off x="762000" y="2997200"/>
            <a:ext cx="11125200" cy="377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l">
              <a:lnSpc>
                <a:spcPct val="80000"/>
              </a:lnSpc>
            </a:pPr>
            <a:r>
              <a:rPr lang="en-US" sz="14400" dirty="0">
                <a:solidFill>
                  <a:schemeClr val="bg1"/>
                </a:solidFill>
                <a:latin typeface="Gill Sans Std Light" pitchFamily="34" charset="0"/>
                <a:sym typeface="Gill Sans Std Light" pitchFamily="34" charset="0"/>
              </a:rPr>
              <a:t>obrigado</a:t>
            </a:r>
          </a:p>
        </p:txBody>
      </p:sp>
      <p:pic>
        <p:nvPicPr>
          <p:cNvPr id="31749" name="Picture 6" descr="NAT_marca_branca_natura-01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1553" y="8066091"/>
            <a:ext cx="1001713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720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LwxSTTJz0W_.xCqbnGuK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u89_n4oyk2jQ0XZXRkak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..tTY2_JESzO8hnY2k73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d20_uYcAU6u75Od9W8lS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5C6dX4TZkG0pHWBAf73B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Uh0jwRozE2kxicXj.oQi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Li2d3jnE0e4g5Amg6okJ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_41AMJj5USOJvgttnnIS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_41AMJj5USOJvgttnnISw"/>
</p:tagLst>
</file>

<file path=ppt/theme/theme1.xml><?xml version="1.0" encoding="utf-8"?>
<a:theme xmlns:a="http://schemas.openxmlformats.org/drawingml/2006/main" name="Blank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o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3A2EC61DF9EEB4DBED50DB1C14CAEF6" ma:contentTypeVersion="0" ma:contentTypeDescription="Crie um novo documento." ma:contentTypeScope="" ma:versionID="22c9333760dc6f143f2655053987a0d3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cb358bd3c4937f8c29cf3e1e721863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3F013F-CA20-40C0-9620-B521346915A2}"/>
</file>

<file path=customXml/itemProps2.xml><?xml version="1.0" encoding="utf-8"?>
<ds:datastoreItem xmlns:ds="http://schemas.openxmlformats.org/officeDocument/2006/customXml" ds:itemID="{AB6456D7-407B-47FA-8DEA-9416DEA77090}"/>
</file>

<file path=customXml/itemProps3.xml><?xml version="1.0" encoding="utf-8"?>
<ds:datastoreItem xmlns:ds="http://schemas.openxmlformats.org/officeDocument/2006/customXml" ds:itemID="{362A3FA8-7BC6-45C3-8B34-DE4D6ED4C62A}"/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10463</TotalTime>
  <Words>898</Words>
  <Application>Microsoft Office PowerPoint</Application>
  <PresentationFormat>Personalizar</PresentationFormat>
  <Paragraphs>270</Paragraphs>
  <Slides>16</Slides>
  <Notes>1</Notes>
  <HiddenSlides>2</HiddenSlides>
  <MMClips>0</MMClips>
  <ScaleCrop>false</ScaleCrop>
  <HeadingPairs>
    <vt:vector size="6" baseType="variant">
      <vt:variant>
        <vt:lpstr>Tema</vt:lpstr>
      </vt:variant>
      <vt:variant>
        <vt:i4>2</vt:i4>
      </vt:variant>
      <vt:variant>
        <vt:lpstr>Servidores OLE incorporados</vt:lpstr>
      </vt:variant>
      <vt:variant>
        <vt:i4>2</vt:i4>
      </vt:variant>
      <vt:variant>
        <vt:lpstr>Títulos de slides</vt:lpstr>
      </vt:variant>
      <vt:variant>
        <vt:i4>16</vt:i4>
      </vt:variant>
    </vt:vector>
  </HeadingPairs>
  <TitlesOfParts>
    <vt:vector size="20" baseType="lpstr">
      <vt:lpstr>Blank</vt:lpstr>
      <vt:lpstr>2_Custom Design</vt:lpstr>
      <vt:lpstr>think-cell Slide</vt:lpstr>
      <vt:lpstr>Planilha do Microsoft Excel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Natura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GLEYCIA LEITE</dc:creator>
  <cp:lastModifiedBy>elima</cp:lastModifiedBy>
  <cp:revision>1082</cp:revision>
  <dcterms:created xsi:type="dcterms:W3CDTF">2012-11-30T18:06:42Z</dcterms:created>
  <dcterms:modified xsi:type="dcterms:W3CDTF">2014-11-05T17:36:40Z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0x010100C3A2EC61DF9EEB4DBED50DB1C14CAEF6</vt:lpwstr>
  </property>
</Properties>
</file>