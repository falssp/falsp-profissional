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drawings/drawing1.xml" ContentType="application/vnd.openxmlformats-officedocument.drawingml.chartshapes+xml"/>
  <Override PartName="/ppt/drawings/drawing3.xml" ContentType="application/vnd.openxmlformats-officedocument.drawingml.chartshapes+xml"/>
  <Override PartName="/ppt/drawings/drawing2.xml" ContentType="application/vnd.openxmlformats-officedocument.drawingml.chartshapes+xml"/>
  <Override PartName="/ppt/presentation.xml" ContentType="application/vnd.openxmlformats-officedocument.presentationml.presentation.main+xml"/>
  <Override PartName="/ppt/slides/slide7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8.xml" ContentType="application/vnd.openxmlformats-officedocument.presentationml.slide+xml"/>
  <Override PartName="/ppt/slides/slide28.xml" ContentType="application/vnd.openxmlformats-officedocument.presentationml.slide+xml"/>
  <Override PartName="/ppt/slides/slide26.xml" ContentType="application/vnd.openxmlformats-officedocument.presentationml.slide+xml"/>
  <Override PartName="/ppt/slides/slide21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notesSlides/notesSlide15.xml" ContentType="application/vnd.openxmlformats-officedocument.presentationml.notesSlide+xml"/>
  <Override PartName="/ppt/slideLayouts/slideLayout1.xml" ContentType="application/vnd.openxmlformats-officedocument.presentationml.slideLayout+xml"/>
  <Override PartName="/ppt/notesSlides/notesSlide14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Slides/notesSlide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9.xml" ContentType="application/vnd.openxmlformats-officedocument.presentationml.notes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charts/chart4.xml" ContentType="application/vnd.openxmlformats-officedocument.drawingml.chart+xml"/>
  <Override PartName="/ppt/charts/chart3.xml" ContentType="application/vnd.openxmlformats-officedocument.drawingml.chart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theme/themeOverride2.xml" ContentType="application/vnd.openxmlformats-officedocument.themeOverr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2.xml" ContentType="application/vnd.openxmlformats-officedocument.customXmlProperties+xml"/>
  <Override PartName="/customXml/itemProps1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65" r:id="rId2"/>
    <p:sldId id="280" r:id="rId3"/>
    <p:sldId id="279" r:id="rId4"/>
    <p:sldId id="274" r:id="rId5"/>
    <p:sldId id="298" r:id="rId6"/>
    <p:sldId id="316" r:id="rId7"/>
    <p:sldId id="292" r:id="rId8"/>
    <p:sldId id="317" r:id="rId9"/>
    <p:sldId id="318" r:id="rId10"/>
    <p:sldId id="281" r:id="rId11"/>
    <p:sldId id="304" r:id="rId12"/>
    <p:sldId id="305" r:id="rId13"/>
    <p:sldId id="306" r:id="rId14"/>
    <p:sldId id="288" r:id="rId15"/>
    <p:sldId id="295" r:id="rId16"/>
    <p:sldId id="296" r:id="rId17"/>
    <p:sldId id="297" r:id="rId18"/>
    <p:sldId id="275" r:id="rId19"/>
    <p:sldId id="312" r:id="rId20"/>
    <p:sldId id="313" r:id="rId21"/>
    <p:sldId id="276" r:id="rId22"/>
    <p:sldId id="314" r:id="rId23"/>
    <p:sldId id="315" r:id="rId24"/>
    <p:sldId id="277" r:id="rId25"/>
    <p:sldId id="307" r:id="rId26"/>
    <p:sldId id="308" r:id="rId27"/>
    <p:sldId id="269" r:id="rId28"/>
    <p:sldId id="270" r:id="rId29"/>
    <p:sldId id="278" r:id="rId30"/>
    <p:sldId id="289" r:id="rId31"/>
    <p:sldId id="290" r:id="rId32"/>
    <p:sldId id="309" r:id="rId33"/>
    <p:sldId id="266" r:id="rId34"/>
  </p:sldIdLst>
  <p:sldSz cx="9144000" cy="6858000" type="screen4x3"/>
  <p:notesSz cx="9144000" cy="6858000"/>
  <p:defaultTextStyle>
    <a:defPPr>
      <a:defRPr lang="pt-BR"/>
    </a:defPPr>
    <a:lvl1pPr marL="0" algn="l" defTabSz="9142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39" algn="l" defTabSz="9142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78" algn="l" defTabSz="9142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17" algn="l" defTabSz="9142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55" algn="l" defTabSz="9142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694" algn="l" defTabSz="9142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833" algn="l" defTabSz="9142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972" algn="l" defTabSz="9142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111" algn="l" defTabSz="9142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206" autoAdjust="0"/>
    <p:restoredTop sz="94660"/>
  </p:normalViewPr>
  <p:slideViewPr>
    <p:cSldViewPr>
      <p:cViewPr>
        <p:scale>
          <a:sx n="80" d="100"/>
          <a:sy n="80" d="100"/>
        </p:scale>
        <p:origin x="-2064" y="-3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ustomXml" Target="../customXml/item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customXml" Target="../customXml/item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openxmlformats.org/officeDocument/2006/relationships/customXml" Target="../customXml/item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oleObject" Target="file:///E:\Users\br93900\Documents\Al&#234;%20Tertoliano\MOBILIDADE\BES\NATURA_TEMPO_UTIL_CA%20V7.xls" TargetMode="External"/><Relationship Id="rId1" Type="http://schemas.openxmlformats.org/officeDocument/2006/relationships/themeOverride" Target="../theme/themeOverride1.xml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oleObject" Target="file:///E:\Users\br93900\Documents\Al&#234;%20Tertoliano\MOBILIDADE\BES\NATURA_TEMPO_UTIL_CA%20V7.xls" TargetMode="External"/><Relationship Id="rId1" Type="http://schemas.openxmlformats.org/officeDocument/2006/relationships/themeOverride" Target="../theme/themeOverride2.xml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oleObject" Target="file:///E:\Users\br94017\Desktop\Daily_Janeiro_fechamento.xlsx" TargetMode="External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2.xml"/><Relationship Id="rId1" Type="http://schemas.openxmlformats.org/officeDocument/2006/relationships/oleObject" Target="file:///E:\Users\br94017\Desktop\Daily_Janeiro_fechamento.xlsx" TargetMode="External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3.xml"/><Relationship Id="rId1" Type="http://schemas.openxmlformats.org/officeDocument/2006/relationships/oleObject" Target="file:///E:\Users\br94017\Desktop\Daily_Janeiro_fechamento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26"/>
    </mc:Choice>
    <mc:Fallback>
      <c:style val="26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 sz="1200"/>
            </a:pPr>
            <a:r>
              <a:rPr lang="en-US" sz="1200"/>
              <a:t>Evolução Contestação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0138380669547677"/>
          <c:y val="0.29543831420943706"/>
          <c:w val="0.88171911393505886"/>
          <c:h val="0.6205309931783630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Plan3!$A$19</c:f>
              <c:strCache>
                <c:ptCount val="1"/>
                <c:pt idx="0">
                  <c:v>Conta</c:v>
                </c:pt>
              </c:strCache>
            </c:strRef>
          </c:tx>
          <c:spPr>
            <a:solidFill>
              <a:schemeClr val="accent2"/>
            </a:solidFill>
          </c:spPr>
          <c:invertIfNegative val="0"/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numRef>
              <c:f>Plan3!$B$18:$D$18</c:f>
              <c:numCache>
                <c:formatCode>mmm\-yy</c:formatCode>
                <c:ptCount val="3"/>
                <c:pt idx="0">
                  <c:v>41913</c:v>
                </c:pt>
                <c:pt idx="1">
                  <c:v>41944</c:v>
                </c:pt>
                <c:pt idx="2">
                  <c:v>41974</c:v>
                </c:pt>
              </c:numCache>
            </c:numRef>
          </c:cat>
          <c:val>
            <c:numRef>
              <c:f>Plan3!$B$19:$D$19</c:f>
              <c:numCache>
                <c:formatCode>_-"R$"\ * #,##0_-;\-"R$"\ * #,##0_-;_-"R$"\ * "-"??_-;_-@_-</c:formatCode>
                <c:ptCount val="3"/>
                <c:pt idx="0">
                  <c:v>496470</c:v>
                </c:pt>
                <c:pt idx="1">
                  <c:v>454050</c:v>
                </c:pt>
                <c:pt idx="2">
                  <c:v>500543</c:v>
                </c:pt>
              </c:numCache>
            </c:numRef>
          </c:val>
        </c:ser>
        <c:ser>
          <c:idx val="1"/>
          <c:order val="1"/>
          <c:tx>
            <c:strRef>
              <c:f>Plan3!$A$20</c:f>
              <c:strCache>
                <c:ptCount val="1"/>
                <c:pt idx="0">
                  <c:v>Creditado</c:v>
                </c:pt>
              </c:strCache>
            </c:strRef>
          </c:tx>
          <c:spPr>
            <a:solidFill>
              <a:schemeClr val="accent3"/>
            </a:solidFill>
          </c:spPr>
          <c:invertIfNegative val="0"/>
          <c:dLbls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numRef>
              <c:f>Plan3!$B$18:$D$18</c:f>
              <c:numCache>
                <c:formatCode>mmm\-yy</c:formatCode>
                <c:ptCount val="3"/>
                <c:pt idx="0">
                  <c:v>41913</c:v>
                </c:pt>
                <c:pt idx="1">
                  <c:v>41944</c:v>
                </c:pt>
                <c:pt idx="2">
                  <c:v>41974</c:v>
                </c:pt>
              </c:numCache>
            </c:numRef>
          </c:cat>
          <c:val>
            <c:numRef>
              <c:f>Plan3!$B$20:$D$20</c:f>
              <c:numCache>
                <c:formatCode>_-"R$"\ * #,##0_-;\-"R$"\ * #,##0_-;_-"R$"\ * "-"??_-;_-@_-</c:formatCode>
                <c:ptCount val="3"/>
                <c:pt idx="0">
                  <c:v>105347</c:v>
                </c:pt>
                <c:pt idx="1">
                  <c:v>115118</c:v>
                </c:pt>
                <c:pt idx="2">
                  <c:v>121341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74222208"/>
        <c:axId val="83575936"/>
      </c:barChart>
      <c:dateAx>
        <c:axId val="74222208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crossAx val="83575936"/>
        <c:crosses val="autoZero"/>
        <c:auto val="1"/>
        <c:lblOffset val="100"/>
        <c:baseTimeUnit val="months"/>
      </c:dateAx>
      <c:valAx>
        <c:axId val="83575936"/>
        <c:scaling>
          <c:orientation val="minMax"/>
        </c:scaling>
        <c:delete val="0"/>
        <c:axPos val="l"/>
        <c:numFmt formatCode="_-&quot;R$&quot;\ * #,##0_-;\-&quot;R$&quot;\ * #,##0_-;_-&quot;R$&quot;\ * &quot;-&quot;??_-;_-@_-" sourceLinked="1"/>
        <c:majorTickMark val="out"/>
        <c:minorTickMark val="none"/>
        <c:tickLblPos val="nextTo"/>
        <c:crossAx val="74222208"/>
        <c:crosses val="autoZero"/>
        <c:crossBetween val="between"/>
      </c:valAx>
    </c:plotArea>
    <c:plotVisOnly val="1"/>
    <c:dispBlanksAs val="gap"/>
    <c:showDLblsOverMax val="0"/>
  </c:chart>
  <c:spPr>
    <a:ln>
      <a:noFill/>
    </a:ln>
  </c:spPr>
  <c:txPr>
    <a:bodyPr/>
    <a:lstStyle/>
    <a:p>
      <a:pPr>
        <a:defRPr sz="800"/>
      </a:pPr>
      <a:endParaRPr lang="pt-BR"/>
    </a:p>
  </c:txPr>
  <c:externalData r:id="rId2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lineChart>
        <c:grouping val="standard"/>
        <c:varyColors val="0"/>
        <c:ser>
          <c:idx val="0"/>
          <c:order val="0"/>
          <c:dLbls>
            <c:dLbl>
              <c:idx val="0"/>
              <c:layout>
                <c:manualLayout>
                  <c:x val="-2.7972027972027972E-2"/>
                  <c:y val="-0.21103133445218714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2.3310023310023312E-2"/>
                  <c:y val="-0.23021600122056779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3.1080031080030966E-2"/>
                  <c:y val="-0.23021600122056776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numRef>
              <c:f>Plan3!$B$18:$D$18</c:f>
              <c:numCache>
                <c:formatCode>mmm\-yy</c:formatCode>
                <c:ptCount val="3"/>
                <c:pt idx="0">
                  <c:v>41913</c:v>
                </c:pt>
                <c:pt idx="1">
                  <c:v>41944</c:v>
                </c:pt>
                <c:pt idx="2">
                  <c:v>41974</c:v>
                </c:pt>
              </c:numCache>
            </c:numRef>
          </c:cat>
          <c:val>
            <c:numRef>
              <c:f>Plan3!$B$21:$D$21</c:f>
              <c:numCache>
                <c:formatCode>0%</c:formatCode>
                <c:ptCount val="3"/>
                <c:pt idx="0">
                  <c:v>0.21219207605696216</c:v>
                </c:pt>
                <c:pt idx="1">
                  <c:v>0.25353595419006719</c:v>
                </c:pt>
                <c:pt idx="2">
                  <c:v>0.24241873325568433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7657856"/>
        <c:axId val="89033728"/>
      </c:lineChart>
      <c:dateAx>
        <c:axId val="87657856"/>
        <c:scaling>
          <c:orientation val="minMax"/>
        </c:scaling>
        <c:delete val="1"/>
        <c:axPos val="b"/>
        <c:numFmt formatCode="mmm\-yy" sourceLinked="1"/>
        <c:majorTickMark val="out"/>
        <c:minorTickMark val="none"/>
        <c:tickLblPos val="nextTo"/>
        <c:crossAx val="89033728"/>
        <c:crosses val="autoZero"/>
        <c:auto val="1"/>
        <c:lblOffset val="100"/>
        <c:baseTimeUnit val="months"/>
      </c:dateAx>
      <c:valAx>
        <c:axId val="89033728"/>
        <c:scaling>
          <c:orientation val="minMax"/>
          <c:min val="0"/>
        </c:scaling>
        <c:delete val="1"/>
        <c:axPos val="l"/>
        <c:numFmt formatCode="0%" sourceLinked="1"/>
        <c:majorTickMark val="out"/>
        <c:minorTickMark val="none"/>
        <c:tickLblPos val="nextTo"/>
        <c:crossAx val="87657856"/>
        <c:crosses val="autoZero"/>
        <c:crossBetween val="between"/>
      </c:valAx>
      <c:spPr>
        <a:noFill/>
      </c:spPr>
    </c:plotArea>
    <c:plotVisOnly val="1"/>
    <c:dispBlanksAs val="gap"/>
    <c:showDLblsOverMax val="0"/>
  </c:chart>
  <c:spPr>
    <a:noFill/>
    <a:ln>
      <a:noFill/>
    </a:ln>
  </c:spPr>
  <c:externalData r:id="rId2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75"/>
      <c:rotY val="0"/>
      <c:rAngAx val="0"/>
      <c:perspective val="30"/>
    </c:view3D>
    <c:floor>
      <c:thickness val="0"/>
    </c:floor>
    <c:sideWall>
      <c:thickness val="0"/>
    </c:sideWall>
    <c:backWall>
      <c:thickness val="0"/>
    </c:backWall>
    <c:plotArea>
      <c:layout>
        <c:manualLayout>
          <c:layoutTarget val="inner"/>
          <c:xMode val="edge"/>
          <c:yMode val="edge"/>
          <c:x val="1.0975214102161363E-2"/>
          <c:y val="0.13380647099817192"/>
          <c:w val="0.72392626872876198"/>
          <c:h val="0.86619352900182811"/>
        </c:manualLayout>
      </c:layout>
      <c:pie3DChart>
        <c:varyColors val="1"/>
        <c:ser>
          <c:idx val="0"/>
          <c:order val="0"/>
          <c:dPt>
            <c:idx val="1"/>
            <c:bubble3D val="0"/>
            <c:spPr>
              <a:solidFill>
                <a:schemeClr val="accent3">
                  <a:lumMod val="60000"/>
                  <a:lumOff val="40000"/>
                </a:schemeClr>
              </a:solidFill>
            </c:spPr>
          </c:dPt>
          <c:dPt>
            <c:idx val="3"/>
            <c:bubble3D val="0"/>
            <c:spPr>
              <a:solidFill>
                <a:schemeClr val="accent5"/>
              </a:solidFill>
            </c:spPr>
          </c:dPt>
          <c:dPt>
            <c:idx val="4"/>
            <c:bubble3D val="0"/>
            <c:spPr>
              <a:solidFill>
                <a:schemeClr val="accent4">
                  <a:lumMod val="40000"/>
                  <a:lumOff val="60000"/>
                </a:schemeClr>
              </a:solidFill>
            </c:spPr>
          </c:dPt>
          <c:dLbls>
            <c:dLbl>
              <c:idx val="0"/>
              <c:layout>
                <c:manualLayout>
                  <c:x val="-0.10276457886445665"/>
                  <c:y val="0.17499598810008768"/>
                </c:manualLayout>
              </c:layout>
              <c:showLegendKey val="0"/>
              <c:showVal val="1"/>
              <c:showCatName val="0"/>
              <c:showSerName val="0"/>
              <c:showPercent val="1"/>
              <c:showBubbleSize val="0"/>
            </c:dLbl>
            <c:showLegendKey val="0"/>
            <c:showVal val="1"/>
            <c:showCatName val="0"/>
            <c:showSerName val="0"/>
            <c:showPercent val="1"/>
            <c:showBubbleSize val="0"/>
            <c:showLeaderLines val="1"/>
          </c:dLbls>
          <c:cat>
            <c:strRef>
              <c:f>Daily!$J$148:$J$153</c:f>
              <c:strCache>
                <c:ptCount val="6"/>
                <c:pt idx="0">
                  <c:v>Menos de 1 dia</c:v>
                </c:pt>
                <c:pt idx="1">
                  <c:v>Até 1 dia</c:v>
                </c:pt>
                <c:pt idx="2">
                  <c:v>Até 2 dias</c:v>
                </c:pt>
                <c:pt idx="3">
                  <c:v>Até 3 dias</c:v>
                </c:pt>
                <c:pt idx="4">
                  <c:v>Até 4 dias</c:v>
                </c:pt>
                <c:pt idx="5">
                  <c:v>Acima de 4 dias</c:v>
                </c:pt>
              </c:strCache>
            </c:strRef>
          </c:cat>
          <c:val>
            <c:numRef>
              <c:f>Daily!$L$148:$L$153</c:f>
              <c:numCache>
                <c:formatCode>General</c:formatCode>
                <c:ptCount val="6"/>
                <c:pt idx="0">
                  <c:v>161</c:v>
                </c:pt>
                <c:pt idx="1">
                  <c:v>182</c:v>
                </c:pt>
                <c:pt idx="2">
                  <c:v>109</c:v>
                </c:pt>
                <c:pt idx="3">
                  <c:v>125</c:v>
                </c:pt>
                <c:pt idx="4">
                  <c:v>113</c:v>
                </c:pt>
                <c:pt idx="5">
                  <c:v>171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</c:plotArea>
    <c:plotVisOnly val="1"/>
    <c:dispBlanksAs val="gap"/>
    <c:showDLblsOverMax val="0"/>
  </c:chart>
  <c:txPr>
    <a:bodyPr/>
    <a:lstStyle/>
    <a:p>
      <a:pPr>
        <a:defRPr sz="800" b="1"/>
      </a:pPr>
      <a:endParaRPr lang="pt-BR"/>
    </a:p>
  </c:txPr>
  <c:externalData r:id="rId1">
    <c:autoUpdate val="0"/>
  </c:externalData>
  <c:userShapes r:id="rId2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75"/>
      <c:rotY val="0"/>
      <c:rAngAx val="0"/>
      <c:perspective val="30"/>
    </c:view3D>
    <c:floor>
      <c:thickness val="0"/>
    </c:floor>
    <c:sideWall>
      <c:thickness val="0"/>
    </c:sideWall>
    <c:backWall>
      <c:thickness val="0"/>
    </c:backWall>
    <c:plotArea>
      <c:layout>
        <c:manualLayout>
          <c:layoutTarget val="inner"/>
          <c:xMode val="edge"/>
          <c:yMode val="edge"/>
          <c:x val="0"/>
          <c:y val="8.9683541837646721E-2"/>
          <c:w val="0.58298235097039264"/>
          <c:h val="0.74392173599627887"/>
        </c:manualLayout>
      </c:layout>
      <c:pie3DChart>
        <c:varyColors val="1"/>
        <c:ser>
          <c:idx val="0"/>
          <c:order val="0"/>
          <c:dPt>
            <c:idx val="1"/>
            <c:bubble3D val="0"/>
            <c:spPr>
              <a:solidFill>
                <a:schemeClr val="accent3">
                  <a:lumMod val="60000"/>
                  <a:lumOff val="40000"/>
                </a:schemeClr>
              </a:solidFill>
            </c:spPr>
          </c:dPt>
          <c:dPt>
            <c:idx val="3"/>
            <c:bubble3D val="0"/>
            <c:spPr>
              <a:solidFill>
                <a:schemeClr val="accent5"/>
              </a:solidFill>
            </c:spPr>
          </c:dPt>
          <c:dPt>
            <c:idx val="4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</c:spPr>
          </c:dPt>
          <c:dLbls>
            <c:dLbl>
              <c:idx val="0"/>
              <c:layout>
                <c:manualLayout>
                  <c:x val="-0.10276460368419292"/>
                  <c:y val="9.6609713764262806E-2"/>
                </c:manualLayout>
              </c:layout>
              <c:showLegendKey val="0"/>
              <c:showVal val="1"/>
              <c:showCatName val="0"/>
              <c:showSerName val="0"/>
              <c:showPercent val="1"/>
              <c:showBubbleSize val="0"/>
            </c:dLbl>
            <c:showLegendKey val="0"/>
            <c:showVal val="1"/>
            <c:showCatName val="0"/>
            <c:showSerName val="0"/>
            <c:showPercent val="1"/>
            <c:showBubbleSize val="0"/>
            <c:showLeaderLines val="1"/>
          </c:dLbls>
          <c:cat>
            <c:strRef>
              <c:f>Daily!$J$148:$J$153</c:f>
              <c:strCache>
                <c:ptCount val="6"/>
                <c:pt idx="0">
                  <c:v>Menos de 1 dia</c:v>
                </c:pt>
                <c:pt idx="1">
                  <c:v>Até 1 dia</c:v>
                </c:pt>
                <c:pt idx="2">
                  <c:v>Até 2 dias</c:v>
                </c:pt>
                <c:pt idx="3">
                  <c:v>Até 3 dias</c:v>
                </c:pt>
                <c:pt idx="4">
                  <c:v>Até 4 dias</c:v>
                </c:pt>
                <c:pt idx="5">
                  <c:v>Acima de 4 dias</c:v>
                </c:pt>
              </c:strCache>
            </c:strRef>
          </c:cat>
          <c:val>
            <c:numRef>
              <c:f>Daily!$K$148:$K$153</c:f>
              <c:numCache>
                <c:formatCode>General</c:formatCode>
                <c:ptCount val="6"/>
                <c:pt idx="0">
                  <c:v>269</c:v>
                </c:pt>
                <c:pt idx="1">
                  <c:v>295</c:v>
                </c:pt>
                <c:pt idx="2">
                  <c:v>175</c:v>
                </c:pt>
                <c:pt idx="3">
                  <c:v>173</c:v>
                </c:pt>
                <c:pt idx="4">
                  <c:v>166</c:v>
                </c:pt>
                <c:pt idx="5">
                  <c:v>372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</c:plotArea>
    <c:legend>
      <c:legendPos val="r"/>
      <c:layout>
        <c:manualLayout>
          <c:xMode val="edge"/>
          <c:yMode val="edge"/>
          <c:x val="0"/>
          <c:y val="0.91775890069583765"/>
          <c:w val="0.99490783158666996"/>
          <c:h val="5.9822960632362754E-2"/>
        </c:manualLayout>
      </c:layout>
      <c:overlay val="0"/>
      <c:txPr>
        <a:bodyPr/>
        <a:lstStyle/>
        <a:p>
          <a:pPr rtl="0">
            <a:defRPr/>
          </a:pPr>
          <a:endParaRPr lang="pt-BR"/>
        </a:p>
      </c:txPr>
    </c:legend>
    <c:plotVisOnly val="1"/>
    <c:dispBlanksAs val="gap"/>
    <c:showDLblsOverMax val="0"/>
  </c:chart>
  <c:txPr>
    <a:bodyPr/>
    <a:lstStyle/>
    <a:p>
      <a:pPr>
        <a:defRPr sz="800" b="1"/>
      </a:pPr>
      <a:endParaRPr lang="pt-BR"/>
    </a:p>
  </c:txPr>
  <c:externalData r:id="rId1">
    <c:autoUpdate val="0"/>
  </c:externalData>
  <c:userShapes r:id="rId2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75"/>
      <c:rotY val="0"/>
      <c:rAngAx val="0"/>
      <c:perspective val="30"/>
    </c:view3D>
    <c:floor>
      <c:thickness val="0"/>
    </c:floor>
    <c:sideWall>
      <c:thickness val="0"/>
    </c:sideWall>
    <c:backWall>
      <c:thickness val="0"/>
    </c:backWall>
    <c:plotArea>
      <c:layout>
        <c:manualLayout>
          <c:layoutTarget val="inner"/>
          <c:xMode val="edge"/>
          <c:yMode val="edge"/>
          <c:x val="0"/>
          <c:y val="1.4604202106919435E-2"/>
          <c:w val="0.89588273716713474"/>
          <c:h val="0.97724761651719938"/>
        </c:manualLayout>
      </c:layout>
      <c:pie3DChart>
        <c:varyColors val="1"/>
        <c:ser>
          <c:idx val="0"/>
          <c:order val="0"/>
          <c:dPt>
            <c:idx val="1"/>
            <c:bubble3D val="0"/>
            <c:spPr>
              <a:solidFill>
                <a:schemeClr val="accent3">
                  <a:lumMod val="60000"/>
                  <a:lumOff val="40000"/>
                </a:schemeClr>
              </a:solidFill>
            </c:spPr>
          </c:dPt>
          <c:dPt>
            <c:idx val="3"/>
            <c:bubble3D val="0"/>
            <c:spPr>
              <a:solidFill>
                <a:schemeClr val="accent5"/>
              </a:solidFill>
            </c:spPr>
          </c:dPt>
          <c:dPt>
            <c:idx val="4"/>
            <c:bubble3D val="0"/>
            <c:spPr>
              <a:solidFill>
                <a:schemeClr val="accent4">
                  <a:lumMod val="40000"/>
                  <a:lumOff val="60000"/>
                </a:schemeClr>
              </a:solidFill>
            </c:spPr>
          </c:dPt>
          <c:dLbls>
            <c:dLblPos val="inEnd"/>
            <c:showLegendKey val="0"/>
            <c:showVal val="1"/>
            <c:showCatName val="0"/>
            <c:showSerName val="0"/>
            <c:showPercent val="1"/>
            <c:showBubbleSize val="0"/>
            <c:showLeaderLines val="1"/>
          </c:dLbls>
          <c:cat>
            <c:strRef>
              <c:f>Daily!$J$148:$J$153</c:f>
              <c:strCache>
                <c:ptCount val="6"/>
                <c:pt idx="0">
                  <c:v>Menos de 1 dia</c:v>
                </c:pt>
                <c:pt idx="1">
                  <c:v>Até 1 dia</c:v>
                </c:pt>
                <c:pt idx="2">
                  <c:v>Até 2 dias</c:v>
                </c:pt>
                <c:pt idx="3">
                  <c:v>Até 3 dias</c:v>
                </c:pt>
                <c:pt idx="4">
                  <c:v>Até 4 dias</c:v>
                </c:pt>
                <c:pt idx="5">
                  <c:v>Acima de 4 dias</c:v>
                </c:pt>
              </c:strCache>
            </c:strRef>
          </c:cat>
          <c:val>
            <c:numRef>
              <c:f>Daily!$M$148:$M$153</c:f>
              <c:numCache>
                <c:formatCode>General</c:formatCode>
                <c:ptCount val="6"/>
                <c:pt idx="0">
                  <c:v>108</c:v>
                </c:pt>
                <c:pt idx="1">
                  <c:v>113</c:v>
                </c:pt>
                <c:pt idx="2">
                  <c:v>66</c:v>
                </c:pt>
                <c:pt idx="3">
                  <c:v>48</c:v>
                </c:pt>
                <c:pt idx="4">
                  <c:v>53</c:v>
                </c:pt>
                <c:pt idx="5">
                  <c:v>201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</c:plotArea>
    <c:plotVisOnly val="1"/>
    <c:dispBlanksAs val="gap"/>
    <c:showDLblsOverMax val="0"/>
  </c:chart>
  <c:txPr>
    <a:bodyPr/>
    <a:lstStyle/>
    <a:p>
      <a:pPr>
        <a:defRPr sz="800" b="1"/>
      </a:pPr>
      <a:endParaRPr lang="pt-BR"/>
    </a:p>
  </c:txPr>
  <c:externalData r:id="rId1">
    <c:autoUpdate val="0"/>
  </c:externalData>
  <c:userShapes r:id="rId2"/>
</c:chartSpace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image" Target="../media/image5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3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4.emf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0.52291</cdr:x>
      <cdr:y>0</cdr:y>
    </cdr:from>
    <cdr:to>
      <cdr:x>0.73222</cdr:x>
      <cdr:y>0.13636</cdr:y>
    </cdr:to>
    <cdr:sp macro="" textlink="">
      <cdr:nvSpPr>
        <cdr:cNvPr id="3" name="CaixaDeTexto 2"/>
        <cdr:cNvSpPr txBox="1"/>
      </cdr:nvSpPr>
      <cdr:spPr>
        <a:xfrm xmlns:a="http://schemas.openxmlformats.org/drawingml/2006/main">
          <a:off x="1314328" y="0"/>
          <a:ext cx="526075" cy="216023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none" rtlCol="0"/>
        <a:lstStyle xmlns:a="http://schemas.openxmlformats.org/drawingml/2006/main"/>
        <a:p xmlns:a="http://schemas.openxmlformats.org/drawingml/2006/main">
          <a:pPr algn="ctr"/>
          <a:r>
            <a:rPr lang="pt-BR" sz="900" b="1" dirty="0" smtClean="0"/>
            <a:t>ACESSOS</a:t>
          </a:r>
          <a:endParaRPr lang="pt-BR" sz="1100" b="1" dirty="0"/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0.13361</cdr:x>
      <cdr:y>0</cdr:y>
    </cdr:from>
    <cdr:to>
      <cdr:x>0.68894</cdr:x>
      <cdr:y>0.14931</cdr:y>
    </cdr:to>
    <cdr:sp macro="" textlink="">
      <cdr:nvSpPr>
        <cdr:cNvPr id="2" name="CaixaDeTexto 1"/>
        <cdr:cNvSpPr txBox="1"/>
      </cdr:nvSpPr>
      <cdr:spPr>
        <a:xfrm xmlns:a="http://schemas.openxmlformats.org/drawingml/2006/main">
          <a:off x="609600" y="0"/>
          <a:ext cx="2533650" cy="409575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none" rtlCol="0"/>
        <a:lstStyle xmlns:a="http://schemas.openxmlformats.org/drawingml/2006/main"/>
        <a:p xmlns:a="http://schemas.openxmlformats.org/drawingml/2006/main">
          <a:endParaRPr lang="pt-BR" sz="1100"/>
        </a:p>
      </cdr:txBody>
    </cdr:sp>
  </cdr:relSizeAnchor>
  <cdr:relSizeAnchor xmlns:cdr="http://schemas.openxmlformats.org/drawingml/2006/chartDrawing">
    <cdr:from>
      <cdr:x>0</cdr:x>
      <cdr:y>0</cdr:y>
    </cdr:from>
    <cdr:to>
      <cdr:x>0.74386</cdr:x>
      <cdr:y>0.12246</cdr:y>
    </cdr:to>
    <cdr:sp macro="" textlink="">
      <cdr:nvSpPr>
        <cdr:cNvPr id="3" name="CaixaDeTexto 2"/>
        <cdr:cNvSpPr txBox="1"/>
      </cdr:nvSpPr>
      <cdr:spPr>
        <a:xfrm xmlns:a="http://schemas.openxmlformats.org/drawingml/2006/main">
          <a:off x="0" y="0"/>
          <a:ext cx="3645650" cy="402265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none" rtlCol="0"/>
        <a:lstStyle xmlns:a="http://schemas.openxmlformats.org/drawingml/2006/main"/>
        <a:p xmlns:a="http://schemas.openxmlformats.org/drawingml/2006/main">
          <a:pPr algn="l"/>
          <a:r>
            <a:rPr lang="pt-BR" b="1" dirty="0"/>
            <a:t>VISÃO</a:t>
          </a:r>
          <a:r>
            <a:rPr lang="pt-BR" b="1" baseline="0" dirty="0"/>
            <a:t> DE USUÁRIO - RESOLVIDOS </a:t>
          </a:r>
          <a:endParaRPr lang="pt-BR" b="1" dirty="0"/>
        </a:p>
      </cdr:txBody>
    </cdr:sp>
  </cdr:relSizeAnchor>
  <cdr:relSizeAnchor xmlns:cdr="http://schemas.openxmlformats.org/drawingml/2006/chartDrawing">
    <cdr:from>
      <cdr:x>0.13361</cdr:x>
      <cdr:y>0</cdr:y>
    </cdr:from>
    <cdr:to>
      <cdr:x>0.68894</cdr:x>
      <cdr:y>0.14931</cdr:y>
    </cdr:to>
    <cdr:sp macro="" textlink="">
      <cdr:nvSpPr>
        <cdr:cNvPr id="5" name="CaixaDeTexto 1"/>
        <cdr:cNvSpPr txBox="1"/>
      </cdr:nvSpPr>
      <cdr:spPr>
        <a:xfrm xmlns:a="http://schemas.openxmlformats.org/drawingml/2006/main">
          <a:off x="609600" y="0"/>
          <a:ext cx="2533650" cy="409575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none" rtlCol="0"/>
        <a:lstStyle xmlns:a="http://schemas.openxmlformats.org/drawingml/2006/main"/>
        <a:p xmlns:a="http://schemas.openxmlformats.org/drawingml/2006/main">
          <a:endParaRPr lang="pt-BR" sz="1100"/>
        </a:p>
      </cdr:txBody>
    </cdr: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0.62069</cdr:x>
      <cdr:y>0</cdr:y>
    </cdr:from>
    <cdr:to>
      <cdr:x>0.86448</cdr:x>
      <cdr:y>0.20915</cdr:y>
    </cdr:to>
    <cdr:sp macro="" textlink="">
      <cdr:nvSpPr>
        <cdr:cNvPr id="3" name="CaixaDeTexto 2"/>
        <cdr:cNvSpPr txBox="1"/>
      </cdr:nvSpPr>
      <cdr:spPr>
        <a:xfrm xmlns:a="http://schemas.openxmlformats.org/drawingml/2006/main">
          <a:off x="1296144" y="-5254751"/>
          <a:ext cx="509093" cy="325979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none" rtlCol="0"/>
        <a:lstStyle xmlns:a="http://schemas.openxmlformats.org/drawingml/2006/main"/>
        <a:p xmlns:a="http://schemas.openxmlformats.org/drawingml/2006/main">
          <a:pPr algn="ctr"/>
          <a:r>
            <a:rPr lang="pt-BR" sz="1000" b="1" dirty="0"/>
            <a:t>SAP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B11766-12A3-4FC1-A658-F979663A003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D9B556-B3CC-40ED-8EA3-6EE4ED79A88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63933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39" algn="l" defTabSz="9142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78" algn="l" defTabSz="9142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17" algn="l" defTabSz="9142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55" algn="l" defTabSz="9142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694" algn="l" defTabSz="9142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33" algn="l" defTabSz="9142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972" algn="l" defTabSz="9142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11" algn="l" defTabSz="9142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49622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Espaço Reservado para Imagem de Slide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63" name="Espaço Reservado para Anotações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pt-BR" smtClean="0"/>
          </a:p>
        </p:txBody>
      </p:sp>
      <p:sp>
        <p:nvSpPr>
          <p:cNvPr id="44036" name="Espaço Reservado para Número de Slide 3"/>
          <p:cNvSpPr txBox="1">
            <a:spLocks noGrp="1"/>
          </p:cNvSpPr>
          <p:nvPr/>
        </p:nvSpPr>
        <p:spPr bwMode="auto">
          <a:xfrm>
            <a:off x="5179485" y="6513910"/>
            <a:ext cx="3962400" cy="3429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b"/>
          <a:lstStyle/>
          <a:p>
            <a:pPr algn="r">
              <a:defRPr/>
            </a:pPr>
            <a:fld id="{99EBC5F1-8BA2-40F6-84F6-0824418914BE}" type="slidenum">
              <a:rPr lang="pt-BR" sz="1200">
                <a:cs typeface="+mn-cs"/>
              </a:rPr>
              <a:pPr algn="r">
                <a:defRPr/>
              </a:pPr>
              <a:t>3</a:t>
            </a:fld>
            <a:endParaRPr lang="pt-BR" sz="1200"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6143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474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6143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4742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4742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614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6143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4742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4742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8323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8323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96096" y="514787"/>
            <a:ext cx="8951809" cy="257175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8323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96096" y="514787"/>
            <a:ext cx="8951809" cy="257175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668CF1-2823-3C4F-B0E3-AB53265DAE43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832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1" y="2130426"/>
            <a:ext cx="7772400" cy="1470025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1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1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8578304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36904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4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4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3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7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41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55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69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83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97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11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13649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1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304547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1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39" indent="0">
              <a:buNone/>
              <a:defRPr sz="2000" b="1"/>
            </a:lvl2pPr>
            <a:lvl3pPr marL="914278" indent="0">
              <a:buNone/>
              <a:defRPr sz="1800" b="1"/>
            </a:lvl3pPr>
            <a:lvl4pPr marL="1371417" indent="0">
              <a:buNone/>
              <a:defRPr sz="1600" b="1"/>
            </a:lvl4pPr>
            <a:lvl5pPr marL="1828555" indent="0">
              <a:buNone/>
              <a:defRPr sz="1600" b="1"/>
            </a:lvl5pPr>
            <a:lvl6pPr marL="2285694" indent="0">
              <a:buNone/>
              <a:defRPr sz="1600" b="1"/>
            </a:lvl6pPr>
            <a:lvl7pPr marL="2742833" indent="0">
              <a:buNone/>
              <a:defRPr sz="1600" b="1"/>
            </a:lvl7pPr>
            <a:lvl8pPr marL="3199972" indent="0">
              <a:buNone/>
              <a:defRPr sz="1600" b="1"/>
            </a:lvl8pPr>
            <a:lvl9pPr marL="3657111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1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39" indent="0">
              <a:buNone/>
              <a:defRPr sz="2000" b="1"/>
            </a:lvl2pPr>
            <a:lvl3pPr marL="914278" indent="0">
              <a:buNone/>
              <a:defRPr sz="1800" b="1"/>
            </a:lvl3pPr>
            <a:lvl4pPr marL="1371417" indent="0">
              <a:buNone/>
              <a:defRPr sz="1600" b="1"/>
            </a:lvl4pPr>
            <a:lvl5pPr marL="1828555" indent="0">
              <a:buNone/>
              <a:defRPr sz="1600" b="1"/>
            </a:lvl5pPr>
            <a:lvl6pPr marL="2285694" indent="0">
              <a:buNone/>
              <a:defRPr sz="1600" b="1"/>
            </a:lvl6pPr>
            <a:lvl7pPr marL="2742833" indent="0">
              <a:buNone/>
              <a:defRPr sz="1600" b="1"/>
            </a:lvl7pPr>
            <a:lvl8pPr marL="3199972" indent="0">
              <a:buNone/>
              <a:defRPr sz="1600" b="1"/>
            </a:lvl8pPr>
            <a:lvl9pPr marL="3657111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91268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8850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17574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1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1" y="1435101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39" indent="0">
              <a:buNone/>
              <a:defRPr sz="1200"/>
            </a:lvl2pPr>
            <a:lvl3pPr marL="914278" indent="0">
              <a:buNone/>
              <a:defRPr sz="1000"/>
            </a:lvl3pPr>
            <a:lvl4pPr marL="1371417" indent="0">
              <a:buNone/>
              <a:defRPr sz="900"/>
            </a:lvl4pPr>
            <a:lvl5pPr marL="1828555" indent="0">
              <a:buNone/>
              <a:defRPr sz="900"/>
            </a:lvl5pPr>
            <a:lvl6pPr marL="2285694" indent="0">
              <a:buNone/>
              <a:defRPr sz="900"/>
            </a:lvl6pPr>
            <a:lvl7pPr marL="2742833" indent="0">
              <a:buNone/>
              <a:defRPr sz="900"/>
            </a:lvl7pPr>
            <a:lvl8pPr marL="3199972" indent="0">
              <a:buNone/>
              <a:defRPr sz="900"/>
            </a:lvl8pPr>
            <a:lvl9pPr marL="3657111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3910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1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39" indent="0">
              <a:buNone/>
              <a:defRPr sz="2800"/>
            </a:lvl2pPr>
            <a:lvl3pPr marL="914278" indent="0">
              <a:buNone/>
              <a:defRPr sz="2400"/>
            </a:lvl3pPr>
            <a:lvl4pPr marL="1371417" indent="0">
              <a:buNone/>
              <a:defRPr sz="2000"/>
            </a:lvl4pPr>
            <a:lvl5pPr marL="1828555" indent="0">
              <a:buNone/>
              <a:defRPr sz="2000"/>
            </a:lvl5pPr>
            <a:lvl6pPr marL="2285694" indent="0">
              <a:buNone/>
              <a:defRPr sz="2000"/>
            </a:lvl6pPr>
            <a:lvl7pPr marL="2742833" indent="0">
              <a:buNone/>
              <a:defRPr sz="2000"/>
            </a:lvl7pPr>
            <a:lvl8pPr marL="3199972" indent="0">
              <a:buNone/>
              <a:defRPr sz="2000"/>
            </a:lvl8pPr>
            <a:lvl9pPr marL="3657111" indent="0">
              <a:buNone/>
              <a:defRPr sz="2000"/>
            </a:lvl9pPr>
          </a:lstStyle>
          <a:p>
            <a:r>
              <a:rPr lang="pt-BR" dirty="0" smtClean="0"/>
              <a:t>Clique no ícone para adicionar uma imagem</a:t>
            </a:r>
            <a:endParaRPr lang="pt-BR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9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39" indent="0">
              <a:buNone/>
              <a:defRPr sz="1200"/>
            </a:lvl2pPr>
            <a:lvl3pPr marL="914278" indent="0">
              <a:buNone/>
              <a:defRPr sz="1000"/>
            </a:lvl3pPr>
            <a:lvl4pPr marL="1371417" indent="0">
              <a:buNone/>
              <a:defRPr sz="900"/>
            </a:lvl4pPr>
            <a:lvl5pPr marL="1828555" indent="0">
              <a:buNone/>
              <a:defRPr sz="900"/>
            </a:lvl5pPr>
            <a:lvl6pPr marL="2285694" indent="0">
              <a:buNone/>
              <a:defRPr sz="900"/>
            </a:lvl6pPr>
            <a:lvl7pPr marL="2742833" indent="0">
              <a:buNone/>
              <a:defRPr sz="900"/>
            </a:lvl7pPr>
            <a:lvl8pPr marL="3199972" indent="0">
              <a:buNone/>
              <a:defRPr sz="900"/>
            </a:lvl8pPr>
            <a:lvl9pPr marL="3657111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0004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97012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793EF-9FB5-4406-A656-BF1DB2720DA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581169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Número de Slide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88F5F4-4191-4F34-96FE-68815E4D7AED}" type="slidenum">
              <a:rPr lang="pt-BR" smtClean="0"/>
              <a:t>‹nº›</a:t>
            </a:fld>
            <a:endParaRPr lang="pt-BR" dirty="0"/>
          </a:p>
        </p:txBody>
      </p:sp>
      <p:sp>
        <p:nvSpPr>
          <p:cNvPr id="6" name="Título 15"/>
          <p:cNvSpPr>
            <a:spLocks noGrp="1"/>
          </p:cNvSpPr>
          <p:nvPr>
            <p:ph type="title" hasCustomPrompt="1"/>
          </p:nvPr>
        </p:nvSpPr>
        <p:spPr>
          <a:xfrm>
            <a:off x="182166" y="242646"/>
            <a:ext cx="7836694" cy="45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/>
          <a:lstStyle>
            <a:lvl1pPr>
              <a:defRPr lang="pt-BR" sz="1800" b="0" kern="120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pPr lvl="0" algn="l">
              <a:lnSpc>
                <a:spcPct val="90000"/>
              </a:lnSpc>
              <a:spcAft>
                <a:spcPts val="378"/>
              </a:spcAft>
              <a:tabLst>
                <a:tab pos="223998" algn="l"/>
                <a:tab pos="447995" algn="l"/>
                <a:tab pos="671990" algn="l"/>
                <a:tab pos="895986" algn="l"/>
                <a:tab pos="1119984" algn="l"/>
                <a:tab pos="1343980" algn="l"/>
                <a:tab pos="1567977" algn="l"/>
                <a:tab pos="1791972" algn="l"/>
                <a:tab pos="2015971" algn="l"/>
                <a:tab pos="2239967" algn="l"/>
                <a:tab pos="2463963" algn="l"/>
                <a:tab pos="2687960" algn="l"/>
                <a:tab pos="2879957" algn="l"/>
              </a:tabLst>
            </a:pPr>
            <a:r>
              <a:rPr lang="pt-BR" dirty="0" smtClean="0"/>
              <a:t>CLIQUE PARA EDITAR O TÍTULO MESTRE</a:t>
            </a:r>
            <a:endParaRPr lang="pt-BR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quarter" idx="11" hasCustomPrompt="1"/>
          </p:nvPr>
        </p:nvSpPr>
        <p:spPr>
          <a:xfrm>
            <a:off x="182166" y="728701"/>
            <a:ext cx="7836694" cy="471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lvl1pPr marL="0" indent="0">
              <a:buFontTx/>
              <a:buNone/>
              <a:defRPr lang="pt-BR" sz="1100" b="0" kern="1200" smtClean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  <a:lvl2pPr>
              <a:defRPr lang="pt-BR" sz="4800" kern="1200" smtClean="0">
                <a:latin typeface="Gill Sans" charset="0"/>
                <a:ea typeface="ヒラギノ角ゴ ProN W3" charset="0"/>
                <a:cs typeface="ヒラギノ角ゴ ProN W3" charset="0"/>
              </a:defRPr>
            </a:lvl2pPr>
            <a:lvl3pPr>
              <a:defRPr lang="pt-BR" sz="4800" kern="1200" smtClean="0">
                <a:latin typeface="Gill Sans" charset="0"/>
                <a:ea typeface="ヒラギノ角ゴ ProN W3" charset="0"/>
                <a:cs typeface="ヒラギノ角ゴ ProN W3" charset="0"/>
              </a:defRPr>
            </a:lvl3pPr>
            <a:lvl4pPr>
              <a:defRPr lang="pt-BR" sz="4800" kern="1200" smtClean="0">
                <a:latin typeface="Gill Sans" charset="0"/>
                <a:ea typeface="ヒラギノ角ゴ ProN W3" charset="0"/>
                <a:cs typeface="ヒラギノ角ゴ ProN W3" charset="0"/>
              </a:defRPr>
            </a:lvl4pPr>
            <a:lvl5pPr>
              <a:defRPr lang="pt-BR" sz="4800" kern="1200">
                <a:latin typeface="Gill Sans" charset="0"/>
                <a:ea typeface="ヒラギノ角ゴ ProN W3" charset="0"/>
                <a:cs typeface="ヒラギノ角ゴ ProN W3" charset="0"/>
              </a:defRPr>
            </a:lvl5pPr>
          </a:lstStyle>
          <a:p>
            <a:pPr lvl="0" algn="l">
              <a:lnSpc>
                <a:spcPct val="90000"/>
              </a:lnSpc>
              <a:spcAft>
                <a:spcPts val="378"/>
              </a:spcAft>
              <a:tabLst>
                <a:tab pos="223998" algn="l"/>
                <a:tab pos="447995" algn="l"/>
                <a:tab pos="671990" algn="l"/>
                <a:tab pos="895986" algn="l"/>
                <a:tab pos="1119984" algn="l"/>
                <a:tab pos="1343980" algn="l"/>
                <a:tab pos="1567977" algn="l"/>
                <a:tab pos="1791972" algn="l"/>
                <a:tab pos="2015971" algn="l"/>
                <a:tab pos="2239967" algn="l"/>
                <a:tab pos="2463963" algn="l"/>
                <a:tab pos="2687960" algn="l"/>
                <a:tab pos="2879957" algn="l"/>
              </a:tabLst>
            </a:pPr>
            <a:r>
              <a:rPr lang="pt-BR" dirty="0" smtClean="0"/>
              <a:t>&gt; Clique para editar o texto mestre</a:t>
            </a:r>
            <a:endParaRPr lang="pt-BR" dirty="0"/>
          </a:p>
        </p:txBody>
      </p:sp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2876" y="6318366"/>
            <a:ext cx="334640" cy="4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47260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1" y="274638"/>
            <a:ext cx="8229600" cy="1143000"/>
          </a:xfrm>
          <a:prstGeom prst="rect">
            <a:avLst/>
          </a:prstGeom>
        </p:spPr>
        <p:txBody>
          <a:bodyPr vert="horz" lIns="91428" tIns="45714" rIns="91428" bIns="45714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1" y="1600201"/>
            <a:ext cx="8229600" cy="4525963"/>
          </a:xfrm>
          <a:prstGeom prst="rect">
            <a:avLst/>
          </a:prstGeom>
        </p:spPr>
        <p:txBody>
          <a:bodyPr vert="horz" lIns="91428" tIns="45714" rIns="91428" bIns="45714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28" tIns="45714" rIns="91428" bIns="45714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5793EF-9FB5-4406-A656-BF1DB2720DA9}" type="datetimeFigureOut">
              <a:rPr lang="pt-BR" smtClean="0"/>
              <a:t>22/02/2015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1"/>
            <a:ext cx="2895600" cy="365125"/>
          </a:xfrm>
          <a:prstGeom prst="rect">
            <a:avLst/>
          </a:prstGeom>
        </p:spPr>
        <p:txBody>
          <a:bodyPr vert="horz" lIns="91428" tIns="45714" rIns="91428" bIns="45714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28" tIns="45714" rIns="91428" bIns="45714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0F3B88-FBDB-4B41-AEC8-C7729B2B2A8C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490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278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54" indent="-342854" algn="l" defTabSz="914278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51" indent="-285712" algn="l" defTabSz="914278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48" indent="-228570" algn="l" defTabSz="914278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986" indent="-228570" algn="l" defTabSz="914278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25" indent="-228570" algn="l" defTabSz="914278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64" indent="-228570" algn="l" defTabSz="91427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03" indent="-228570" algn="l" defTabSz="91427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42" indent="-228570" algn="l" defTabSz="91427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81" indent="-228570" algn="l" defTabSz="91427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2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9" algn="l" defTabSz="9142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78" algn="l" defTabSz="9142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17" algn="l" defTabSz="9142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55" algn="l" defTabSz="9142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94" algn="l" defTabSz="9142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33" algn="l" defTabSz="9142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72" algn="l" defTabSz="9142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11" algn="l" defTabSz="9142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Planilha_do_Microsoft_Excel1.xlsx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emf"/><Relationship Id="rId5" Type="http://schemas.openxmlformats.org/officeDocument/2006/relationships/package" Target="../embeddings/Planilha_do_Microsoft_Excel2.xlsx"/><Relationship Id="rId4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emf"/><Relationship Id="rId4" Type="http://schemas.openxmlformats.org/officeDocument/2006/relationships/package" Target="../embeddings/Planilha_do_Microsoft_Excel3.xlsx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chart" Target="../charts/chart5.xml"/><Relationship Id="rId3" Type="http://schemas.openxmlformats.org/officeDocument/2006/relationships/chart" Target="../charts/chart3.xml"/><Relationship Id="rId7" Type="http://schemas.openxmlformats.org/officeDocument/2006/relationships/chart" Target="../charts/chart4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6" Type="http://schemas.openxmlformats.org/officeDocument/2006/relationships/slide" Target="slide21.xml"/><Relationship Id="rId5" Type="http://schemas.openxmlformats.org/officeDocument/2006/relationships/image" Target="../media/image33.emf"/><Relationship Id="rId4" Type="http://schemas.openxmlformats.org/officeDocument/2006/relationships/package" Target="../embeddings/Planilha_do_Microsoft_Excel4.xlsx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Planilha_do_Microsoft_Excel5.xlsx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4.vml"/><Relationship Id="rId4" Type="http://schemas.openxmlformats.org/officeDocument/2006/relationships/image" Target="../media/image34.emf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" descr="_B8G0058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204" b="20354"/>
          <a:stretch>
            <a:fillRect/>
          </a:stretch>
        </p:blipFill>
        <p:spPr bwMode="auto">
          <a:xfrm>
            <a:off x="-167027" y="-148505"/>
            <a:ext cx="9887091" cy="7415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339" name="Rectangle 4"/>
          <p:cNvSpPr>
            <a:spLocks/>
          </p:cNvSpPr>
          <p:nvPr/>
        </p:nvSpPr>
        <p:spPr bwMode="auto">
          <a:xfrm>
            <a:off x="251521" y="1837062"/>
            <a:ext cx="8640960" cy="2401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321425" bIns="0"/>
          <a:lstStyle/>
          <a:p>
            <a:pPr>
              <a:lnSpc>
                <a:spcPct val="70000"/>
              </a:lnSpc>
            </a:pPr>
            <a:endParaRPr lang="pt-BR" sz="2800" b="1" dirty="0">
              <a:solidFill>
                <a:srgbClr val="FFFFFF"/>
              </a:solidFill>
              <a:latin typeface="Gill Sans Std ExtraBold" pitchFamily="34" charset="0"/>
              <a:sym typeface="Gill Sans Std Bold" charset="0"/>
            </a:endParaRPr>
          </a:p>
          <a:p>
            <a:pPr>
              <a:lnSpc>
                <a:spcPct val="70000"/>
              </a:lnSpc>
            </a:pPr>
            <a:endParaRPr lang="pt-BR" sz="3600" b="1" dirty="0">
              <a:solidFill>
                <a:srgbClr val="FFFFFF"/>
              </a:solidFill>
              <a:latin typeface="Gill Sans MT" pitchFamily="34" charset="0"/>
              <a:sym typeface="Gill Sans Std Bold" charset="0"/>
            </a:endParaRPr>
          </a:p>
          <a:p>
            <a:pPr>
              <a:lnSpc>
                <a:spcPct val="70000"/>
              </a:lnSpc>
            </a:pPr>
            <a:endParaRPr lang="en-US" sz="3600" b="1" dirty="0">
              <a:solidFill>
                <a:srgbClr val="FFFFFF"/>
              </a:solidFill>
              <a:latin typeface="Gill Sans MT" pitchFamily="34" charset="0"/>
              <a:sym typeface="Gill Sans Std Light" pitchFamily="34" charset="0"/>
            </a:endParaRPr>
          </a:p>
        </p:txBody>
      </p:sp>
      <p:sp>
        <p:nvSpPr>
          <p:cNvPr id="14342" name="TextBox 2"/>
          <p:cNvSpPr txBox="1">
            <a:spLocks noChangeArrowheads="1"/>
          </p:cNvSpPr>
          <p:nvPr/>
        </p:nvSpPr>
        <p:spPr bwMode="auto">
          <a:xfrm>
            <a:off x="-2277567" y="1663704"/>
            <a:ext cx="129890" cy="680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4285" tIns="32142" rIns="64285" bIns="32142">
            <a:spAutoFit/>
          </a:bodyPr>
          <a:lstStyle>
            <a:lvl1pPr eaLnBrk="0" hangingPunct="0">
              <a:defRPr sz="3100">
                <a:solidFill>
                  <a:srgbClr val="000000"/>
                </a:solidFill>
                <a:latin typeface="GillSans" pitchFamily="34" charset="0"/>
                <a:ea typeface="ヒラギノ角ゴ ProN W3" charset="-128"/>
                <a:sym typeface="GillSans" pitchFamily="34" charset="0"/>
              </a:defRPr>
            </a:lvl1pPr>
            <a:lvl2pPr marL="742950" indent="-285750" eaLnBrk="0" hangingPunct="0">
              <a:defRPr sz="3100">
                <a:solidFill>
                  <a:srgbClr val="000000"/>
                </a:solidFill>
                <a:latin typeface="GillSans" pitchFamily="34" charset="0"/>
                <a:ea typeface="ヒラギノ角ゴ ProN W3" charset="-128"/>
                <a:sym typeface="GillSans" pitchFamily="34" charset="0"/>
              </a:defRPr>
            </a:lvl2pPr>
            <a:lvl3pPr marL="1143000" indent="-228600" eaLnBrk="0" hangingPunct="0">
              <a:defRPr sz="3100">
                <a:solidFill>
                  <a:srgbClr val="000000"/>
                </a:solidFill>
                <a:latin typeface="GillSans" pitchFamily="34" charset="0"/>
                <a:ea typeface="ヒラギノ角ゴ ProN W3" charset="-128"/>
                <a:sym typeface="GillSans" pitchFamily="34" charset="0"/>
              </a:defRPr>
            </a:lvl3pPr>
            <a:lvl4pPr marL="1600200" indent="-228600" eaLnBrk="0" hangingPunct="0">
              <a:defRPr sz="3100">
                <a:solidFill>
                  <a:srgbClr val="000000"/>
                </a:solidFill>
                <a:latin typeface="GillSans" pitchFamily="34" charset="0"/>
                <a:ea typeface="ヒラギノ角ゴ ProN W3" charset="-128"/>
                <a:sym typeface="GillSans" pitchFamily="34" charset="0"/>
              </a:defRPr>
            </a:lvl4pPr>
            <a:lvl5pPr marL="2057400" indent="-228600" eaLnBrk="0" hangingPunct="0">
              <a:defRPr sz="3100">
                <a:solidFill>
                  <a:srgbClr val="000000"/>
                </a:solidFill>
                <a:latin typeface="GillSans" pitchFamily="34" charset="0"/>
                <a:ea typeface="ヒラギノ角ゴ ProN W3" charset="-128"/>
                <a:sym typeface="GillSans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100">
                <a:solidFill>
                  <a:srgbClr val="000000"/>
                </a:solidFill>
                <a:latin typeface="GillSans" pitchFamily="34" charset="0"/>
                <a:ea typeface="ヒラギノ角ゴ ProN W3" charset="-128"/>
                <a:sym typeface="GillSans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100">
                <a:solidFill>
                  <a:srgbClr val="000000"/>
                </a:solidFill>
                <a:latin typeface="GillSans" pitchFamily="34" charset="0"/>
                <a:ea typeface="ヒラギノ角ゴ ProN W3" charset="-128"/>
                <a:sym typeface="GillSans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100">
                <a:solidFill>
                  <a:srgbClr val="000000"/>
                </a:solidFill>
                <a:latin typeface="GillSans" pitchFamily="34" charset="0"/>
                <a:ea typeface="ヒラギノ角ゴ ProN W3" charset="-128"/>
                <a:sym typeface="GillSans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100">
                <a:solidFill>
                  <a:srgbClr val="000000"/>
                </a:solidFill>
                <a:latin typeface="GillSans" pitchFamily="34" charset="0"/>
                <a:ea typeface="ヒラギノ角ゴ ProN W3" charset="-128"/>
                <a:sym typeface="GillSans" pitchFamily="34" charset="0"/>
              </a:defRPr>
            </a:lvl9pPr>
          </a:lstStyle>
          <a:p>
            <a:pPr eaLnBrk="1" hangingPunct="1"/>
            <a:endParaRPr lang="pt-BR" sz="4000" dirty="0"/>
          </a:p>
        </p:txBody>
      </p:sp>
      <p:pic>
        <p:nvPicPr>
          <p:cNvPr id="14348" name="Picture 1" descr="NAT_marca_branca_natura-01.pn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3689" y="5616576"/>
            <a:ext cx="713642" cy="706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Rectangle 4"/>
          <p:cNvSpPr>
            <a:spLocks/>
          </p:cNvSpPr>
          <p:nvPr/>
        </p:nvSpPr>
        <p:spPr bwMode="auto">
          <a:xfrm>
            <a:off x="141480" y="1377796"/>
            <a:ext cx="7508862" cy="1801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202498" bIns="0"/>
          <a:lstStyle/>
          <a:p>
            <a:pPr>
              <a:lnSpc>
                <a:spcPct val="70000"/>
              </a:lnSpc>
            </a:pPr>
            <a:endParaRPr lang="pt-BR" sz="3400" b="1" dirty="0">
              <a:solidFill>
                <a:srgbClr val="FFFFFF"/>
              </a:solidFill>
              <a:latin typeface="Gill Sans MT" pitchFamily="34" charset="0"/>
              <a:sym typeface="Gill Sans Std Bold" charset="0"/>
            </a:endParaRPr>
          </a:p>
          <a:p>
            <a:pPr algn="l">
              <a:lnSpc>
                <a:spcPct val="70000"/>
              </a:lnSpc>
            </a:pPr>
            <a:r>
              <a:rPr lang="pt-BR" sz="3800" b="1" dirty="0" smtClean="0">
                <a:solidFill>
                  <a:srgbClr val="FFFFFF"/>
                </a:solidFill>
                <a:latin typeface="Gill Sans Std ExtraBold" pitchFamily="34" charset="0"/>
                <a:sym typeface="Gill Sans Std Bold" charset="0"/>
              </a:rPr>
              <a:t>Resultados GSO</a:t>
            </a:r>
            <a:endParaRPr lang="pt-BR" sz="3000" b="1" dirty="0">
              <a:solidFill>
                <a:srgbClr val="FFFFFF"/>
              </a:solidFill>
              <a:latin typeface="Gill Sans Std ExtraBold" pitchFamily="34" charset="0"/>
              <a:sym typeface="Gill Sans Std Bold" charset="0"/>
            </a:endParaRPr>
          </a:p>
          <a:p>
            <a:pPr algn="l">
              <a:lnSpc>
                <a:spcPct val="70000"/>
              </a:lnSpc>
            </a:pPr>
            <a:endParaRPr lang="pt-BR" sz="3000" b="1" dirty="0">
              <a:solidFill>
                <a:srgbClr val="FFFFFF"/>
              </a:solidFill>
              <a:latin typeface="Gill Sans Std ExtraBold" pitchFamily="34" charset="0"/>
              <a:sym typeface="Gill Sans Std Bold" charset="0"/>
            </a:endParaRPr>
          </a:p>
          <a:p>
            <a:pPr algn="l">
              <a:lnSpc>
                <a:spcPct val="70000"/>
              </a:lnSpc>
            </a:pPr>
            <a:r>
              <a:rPr lang="pt-BR" sz="3000" b="1" dirty="0" smtClean="0">
                <a:solidFill>
                  <a:srgbClr val="FFFFFF"/>
                </a:solidFill>
                <a:latin typeface="Gill Sans Std ExtraBold" pitchFamily="34" charset="0"/>
                <a:sym typeface="Gill Sans Std Bold" charset="0"/>
              </a:rPr>
              <a:t>Fevereiro/2015</a:t>
            </a:r>
            <a:endParaRPr lang="pt-BR" sz="3000" b="1" dirty="0">
              <a:solidFill>
                <a:srgbClr val="FFFFFF"/>
              </a:solidFill>
              <a:latin typeface="Gill Sans Std ExtraBold" pitchFamily="34" charset="0"/>
              <a:sym typeface="Gill Sans Std Bold" charset="0"/>
            </a:endParaRPr>
          </a:p>
          <a:p>
            <a:pPr algn="l">
              <a:lnSpc>
                <a:spcPct val="70000"/>
              </a:lnSpc>
            </a:pPr>
            <a:endParaRPr lang="pt-BR" b="1" dirty="0">
              <a:solidFill>
                <a:srgbClr val="FFFFFF"/>
              </a:solidFill>
              <a:latin typeface="Gill Sans MT" pitchFamily="34" charset="0"/>
              <a:sym typeface="Gill Sans Std Bold" charset="0"/>
            </a:endParaRPr>
          </a:p>
          <a:p>
            <a:pPr algn="l">
              <a:lnSpc>
                <a:spcPct val="70000"/>
              </a:lnSpc>
            </a:pPr>
            <a:endParaRPr lang="en-US" b="1" dirty="0">
              <a:solidFill>
                <a:srgbClr val="FFFFFF"/>
              </a:solidFill>
              <a:latin typeface="Gill Sans MT" pitchFamily="34" charset="0"/>
              <a:sym typeface="Gill Sans Std Ligh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290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5"/>
          <p:cNvSpPr>
            <a:spLocks noChangeArrowheads="1"/>
          </p:cNvSpPr>
          <p:nvPr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tx2"/>
          </a:solidFill>
          <a:ln>
            <a:noFill/>
          </a:ln>
          <a:extLst/>
        </p:spPr>
        <p:txBody>
          <a:bodyPr lIns="57607" tIns="28804" rIns="57607" bIns="28804"/>
          <a:lstStyle/>
          <a:p>
            <a:endParaRPr lang="pt-BR"/>
          </a:p>
        </p:txBody>
      </p:sp>
      <p:sp>
        <p:nvSpPr>
          <p:cNvPr id="31747" name="Rectangle 3"/>
          <p:cNvSpPr>
            <a:spLocks/>
          </p:cNvSpPr>
          <p:nvPr/>
        </p:nvSpPr>
        <p:spPr bwMode="auto">
          <a:xfrm>
            <a:off x="535781" y="2107406"/>
            <a:ext cx="7822406" cy="2652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l">
              <a:lnSpc>
                <a:spcPct val="80000"/>
              </a:lnSpc>
            </a:pPr>
            <a:r>
              <a:rPr lang="en-US" sz="4400" dirty="0" smtClean="0">
                <a:solidFill>
                  <a:schemeClr val="bg1"/>
                </a:solidFill>
                <a:latin typeface="Gill Sans Std Light" pitchFamily="34" charset="0"/>
                <a:sym typeface="Gill Sans Std Light" pitchFamily="34" charset="0"/>
              </a:rPr>
              <a:t>BES</a:t>
            </a:r>
            <a:endParaRPr lang="en-US" sz="4400" dirty="0">
              <a:solidFill>
                <a:schemeClr val="bg1"/>
              </a:solidFill>
              <a:latin typeface="Gill Sans Std Light" pitchFamily="34" charset="0"/>
              <a:sym typeface="Gill Sans Std Light" pitchFamily="34" charset="0"/>
            </a:endParaRPr>
          </a:p>
        </p:txBody>
      </p:sp>
      <p:pic>
        <p:nvPicPr>
          <p:cNvPr id="31749" name="Picture 5" descr="NAT_marca_branca_natura-01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872" y="5671468"/>
            <a:ext cx="704329" cy="642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09434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ext Box 27"/>
          <p:cNvSpPr txBox="1">
            <a:spLocks noChangeArrowheads="1"/>
          </p:cNvSpPr>
          <p:nvPr/>
        </p:nvSpPr>
        <p:spPr bwMode="auto">
          <a:xfrm>
            <a:off x="1" y="120347"/>
            <a:ext cx="9143999" cy="477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9" tIns="45720" rIns="91439" bIns="4572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pt-BR" sz="2500" b="1" dirty="0">
                <a:solidFill>
                  <a:schemeClr val="tx2"/>
                </a:solidFill>
                <a:latin typeface="Gill Sans Std" pitchFamily="34" charset="0"/>
              </a:rPr>
              <a:t>Metas</a:t>
            </a:r>
          </a:p>
        </p:txBody>
      </p:sp>
      <p:sp>
        <p:nvSpPr>
          <p:cNvPr id="3" name="Fluxograma: Extrair 2"/>
          <p:cNvSpPr/>
          <p:nvPr/>
        </p:nvSpPr>
        <p:spPr>
          <a:xfrm>
            <a:off x="4067944" y="1988840"/>
            <a:ext cx="117450" cy="91800"/>
          </a:xfrm>
          <a:prstGeom prst="flowChartExtra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lIns="57607" tIns="28804" rIns="57607" bIns="28804" rtlCol="0" anchor="ctr"/>
          <a:lstStyle/>
          <a:p>
            <a:pPr algn="ctr"/>
            <a:endParaRPr lang="pt-BR"/>
          </a:p>
        </p:txBody>
      </p:sp>
      <p:sp>
        <p:nvSpPr>
          <p:cNvPr id="22" name="CaixaDeTexto 21"/>
          <p:cNvSpPr txBox="1"/>
          <p:nvPr/>
        </p:nvSpPr>
        <p:spPr>
          <a:xfrm>
            <a:off x="1048108" y="3341604"/>
            <a:ext cx="8095892" cy="246227"/>
          </a:xfrm>
          <a:prstGeom prst="rect">
            <a:avLst/>
          </a:prstGeom>
          <a:noFill/>
          <a:ln w="12700">
            <a:noFill/>
          </a:ln>
        </p:spPr>
        <p:txBody>
          <a:bodyPr wrap="square" lIns="91446" tIns="45723" rIns="91446" bIns="45723" anchor="ctr">
            <a:spAutoFit/>
          </a:bodyPr>
          <a:lstStyle/>
          <a:p>
            <a:pPr algn="l">
              <a:defRPr/>
            </a:pPr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"/>
                <a:ea typeface="Verdana" pitchFamily="34" charset="0"/>
                <a:cs typeface="Verdana" pitchFamily="34" charset="0"/>
              </a:rPr>
              <a:t>Plano de ação (o que? quem? quando? para cada ofensor)</a:t>
            </a:r>
          </a:p>
        </p:txBody>
      </p:sp>
      <p:graphicFrame>
        <p:nvGraphicFramePr>
          <p:cNvPr id="23" name="Tabela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027190"/>
              </p:ext>
            </p:extLst>
          </p:nvPr>
        </p:nvGraphicFramePr>
        <p:xfrm>
          <a:off x="1121938" y="3607929"/>
          <a:ext cx="7007279" cy="239679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59930"/>
                <a:gridCol w="2951341"/>
                <a:gridCol w="776669"/>
                <a:gridCol w="854336"/>
                <a:gridCol w="1165003"/>
              </a:tblGrid>
              <a:tr h="194327">
                <a:tc>
                  <a:txBody>
                    <a:bodyPr/>
                    <a:lstStyle/>
                    <a:p>
                      <a:pPr algn="l"/>
                      <a:r>
                        <a:rPr lang="pt-BR" sz="700" dirty="0" smtClean="0">
                          <a:latin typeface="Gill Sans"/>
                        </a:rPr>
                        <a:t>Ofensor</a:t>
                      </a:r>
                      <a:endParaRPr lang="pt-BR" sz="7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700" dirty="0" smtClean="0">
                          <a:latin typeface="Gill Sans"/>
                        </a:rPr>
                        <a:t>Ação corretiva</a:t>
                      </a:r>
                      <a:endParaRPr lang="pt-BR" sz="7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700" dirty="0" smtClean="0">
                          <a:latin typeface="Gill Sans"/>
                        </a:rPr>
                        <a:t>Resp.</a:t>
                      </a:r>
                      <a:endParaRPr lang="pt-BR" sz="7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700" dirty="0" smtClean="0">
                          <a:latin typeface="Gill Sans"/>
                        </a:rPr>
                        <a:t>Prazo</a:t>
                      </a:r>
                      <a:endParaRPr lang="pt-BR" sz="7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700" dirty="0" smtClean="0">
                          <a:latin typeface="Gill Sans"/>
                        </a:rPr>
                        <a:t>Data Conclusão</a:t>
                      </a:r>
                      <a:endParaRPr lang="pt-BR" sz="7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</a:tr>
              <a:tr h="327362">
                <a:tc>
                  <a:txBody>
                    <a:bodyPr/>
                    <a:lstStyle/>
                    <a:p>
                      <a:pPr algn="l"/>
                      <a:r>
                        <a:rPr lang="pt-BR" sz="70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Pesquisa de Satisfação</a:t>
                      </a:r>
                      <a:endParaRPr lang="pt-BR" sz="7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70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Contato</a:t>
                      </a:r>
                      <a:r>
                        <a:rPr lang="pt-BR" sz="700" baseline="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 para entendimento do motivo das negativas na pesquisa e definição do plano de ação.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700" baseline="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700" baseline="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Identificação de chamadas internas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700" baseline="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700" dirty="0" err="1" smtClean="0">
                          <a:solidFill>
                            <a:schemeClr val="tx1"/>
                          </a:solidFill>
                          <a:latin typeface="Gill Sans"/>
                        </a:rPr>
                        <a:t>GlobalWeb</a:t>
                      </a:r>
                      <a:endParaRPr lang="pt-BR" sz="700" dirty="0" smtClean="0">
                        <a:solidFill>
                          <a:schemeClr val="tx1"/>
                        </a:solidFill>
                        <a:latin typeface="Gill Sans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70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7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Embratel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7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70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Jan/15</a:t>
                      </a:r>
                    </a:p>
                    <a:p>
                      <a:pPr algn="ctr"/>
                      <a:endParaRPr lang="pt-BR" sz="70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algn="ctr"/>
                      <a:r>
                        <a:rPr lang="pt-BR" sz="700" dirty="0" err="1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Fev</a:t>
                      </a:r>
                      <a:r>
                        <a:rPr lang="pt-BR" sz="7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/15</a:t>
                      </a:r>
                    </a:p>
                    <a:p>
                      <a:pPr algn="ctr"/>
                      <a:endParaRPr lang="pt-BR" sz="7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70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Em</a:t>
                      </a:r>
                      <a:r>
                        <a:rPr lang="pt-BR" sz="700" baseline="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 andamento </a:t>
                      </a:r>
                      <a:endParaRPr lang="pt-BR" sz="700" dirty="0" smtClean="0">
                        <a:solidFill>
                          <a:schemeClr val="tx1"/>
                        </a:solidFill>
                        <a:latin typeface="Gill Sans"/>
                      </a:endParaRPr>
                    </a:p>
                    <a:p>
                      <a:pPr algn="ctr"/>
                      <a:endParaRPr lang="pt-BR" sz="70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algn="ctr"/>
                      <a:r>
                        <a:rPr lang="pt-BR" sz="7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Em andamento</a:t>
                      </a:r>
                    </a:p>
                    <a:p>
                      <a:pPr algn="ctr"/>
                      <a:endParaRPr lang="pt-BR" sz="7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</a:tr>
              <a:tr h="415550">
                <a:tc>
                  <a:txBody>
                    <a:bodyPr/>
                    <a:lstStyle/>
                    <a:p>
                      <a:pPr marL="0" algn="l" defTabSz="914397" rtl="0" eaLnBrk="1" latinLnBrk="0" hangingPunct="1"/>
                      <a:r>
                        <a:rPr lang="pt-BR" sz="700" kern="120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Alto Volume de Chamadas</a:t>
                      </a:r>
                      <a:endParaRPr lang="pt-BR" sz="700" kern="12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marL="0" marR="0" indent="0" algn="l" defTabSz="91439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700" kern="120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Liberação</a:t>
                      </a:r>
                      <a:r>
                        <a:rPr lang="pt-BR" sz="700" kern="1200" baseline="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 de Reset e Desbloqueio de Senha da Rede via URA (Redução </a:t>
                      </a:r>
                      <a:r>
                        <a:rPr lang="pt-BR" sz="700" kern="1200" baseline="0" dirty="0" err="1" smtClean="0">
                          <a:solidFill>
                            <a:schemeClr val="tx1"/>
                          </a:solidFill>
                          <a:latin typeface="Gill Sans"/>
                        </a:rPr>
                        <a:t>aprox</a:t>
                      </a:r>
                      <a:r>
                        <a:rPr lang="pt-BR" sz="700" kern="1200" baseline="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 de 1000 chamadas)</a:t>
                      </a:r>
                      <a:endParaRPr lang="pt-BR" sz="700" kern="12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marL="0" marR="0" indent="0" algn="ctr" defTabSz="91439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700" kern="1200" dirty="0" err="1" smtClean="0">
                          <a:solidFill>
                            <a:schemeClr val="tx1"/>
                          </a:solidFill>
                          <a:latin typeface="Gill Sans"/>
                        </a:rPr>
                        <a:t>GlobalWeb</a:t>
                      </a:r>
                      <a:endParaRPr lang="pt-BR" sz="700" kern="1200" baseline="0" dirty="0" smtClean="0">
                        <a:solidFill>
                          <a:schemeClr val="tx1"/>
                        </a:solidFill>
                        <a:latin typeface="Gill Sans"/>
                      </a:endParaRPr>
                    </a:p>
                    <a:p>
                      <a:pPr marL="0" marR="0" indent="0" algn="ctr" defTabSz="91439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700" kern="1200" baseline="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Natura</a:t>
                      </a:r>
                      <a:endParaRPr lang="pt-BR" sz="700" kern="12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marL="0" algn="ctr" defTabSz="914397" rtl="0" eaLnBrk="1" latinLnBrk="0" hangingPunct="1"/>
                      <a:r>
                        <a:rPr lang="pt-BR" sz="700" strike="sngStrike" kern="120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01/Jan</a:t>
                      </a:r>
                    </a:p>
                    <a:p>
                      <a:pPr marL="0" algn="ctr" defTabSz="914397" rtl="0" eaLnBrk="1" latinLnBrk="0" hangingPunct="1"/>
                      <a:r>
                        <a:rPr lang="pt-BR" sz="700" strike="noStrike" kern="120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08/Jan</a:t>
                      </a:r>
                      <a:endParaRPr lang="pt-BR" sz="700" strike="noStrike" kern="12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marL="0" algn="ctr" defTabSz="914397" rtl="0" eaLnBrk="1" latinLnBrk="0" hangingPunct="1"/>
                      <a:r>
                        <a:rPr lang="pt-BR" sz="700" kern="1200" dirty="0" smtClean="0">
                          <a:solidFill>
                            <a:schemeClr val="tx1"/>
                          </a:solidFill>
                          <a:latin typeface="Gill Sans"/>
                        </a:rPr>
                        <a:t>08/Jan</a:t>
                      </a:r>
                      <a:endParaRPr lang="pt-BR" sz="700" kern="12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</a:tr>
              <a:tr h="1120157">
                <a:tc>
                  <a:txBody>
                    <a:bodyPr/>
                    <a:lstStyle/>
                    <a:p>
                      <a:pPr marL="0" algn="l" defTabSz="1625529" rtl="0" eaLnBrk="1" latinLnBrk="0" hangingPunct="1"/>
                      <a:r>
                        <a:rPr lang="pt-BR" sz="700" kern="1200" dirty="0" err="1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First</a:t>
                      </a:r>
                      <a:r>
                        <a:rPr lang="pt-BR" sz="700" kern="1200" baseline="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 </a:t>
                      </a:r>
                      <a:r>
                        <a:rPr lang="pt-BR" sz="700" kern="1200" baseline="0" dirty="0" err="1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Step</a:t>
                      </a:r>
                      <a:r>
                        <a:rPr lang="pt-BR" sz="700" kern="1200" baseline="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 </a:t>
                      </a:r>
                      <a:r>
                        <a:rPr lang="pt-BR" sz="700" kern="1200" baseline="0" dirty="0" err="1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Resolution</a:t>
                      </a:r>
                      <a:r>
                        <a:rPr lang="pt-BR" sz="700" kern="1200" baseline="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- Ausência de todos os Scripts de solução.</a:t>
                      </a:r>
                      <a:endParaRPr lang="pt-BR" sz="700" kern="12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marL="0" marR="0" indent="0" algn="l" defTabSz="162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700" kern="120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marR="0" indent="0" algn="l" defTabSz="162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700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Início no</a:t>
                      </a:r>
                      <a:r>
                        <a:rPr lang="pt-BR" sz="700" kern="1200" baseline="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 atendimento das solicitações de acessos;</a:t>
                      </a:r>
                    </a:p>
                    <a:p>
                      <a:pPr marL="0" marR="0" indent="0" algn="l" defTabSz="162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700" kern="1200" baseline="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marR="0" indent="0" algn="l" defTabSz="162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700" kern="1200" baseline="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Início no atendimento para solicitações de Telefonia;</a:t>
                      </a:r>
                    </a:p>
                    <a:p>
                      <a:pPr marL="0" marR="0" indent="0" algn="l" defTabSz="162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700" kern="1200" baseline="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marR="0" indent="0" algn="l" defTabSz="162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700" kern="1200" baseline="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Análise de elegibilidade do N2 (Field Service) para aumento de RDM;</a:t>
                      </a:r>
                    </a:p>
                    <a:p>
                      <a:pPr marL="0" marR="0" indent="0" algn="l" defTabSz="162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700" kern="1200" baseline="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marR="0" indent="0" algn="l" defTabSz="162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700" kern="1200" baseline="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Liberação de Scripts para Torres Técnicas</a:t>
                      </a:r>
                    </a:p>
                    <a:p>
                      <a:pPr marL="0" marR="0" indent="0" algn="l" defTabSz="162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700" kern="1200" baseline="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marR="0" indent="0" algn="l" defTabSz="162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sz="700" kern="12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marL="0" marR="0" indent="0" algn="ctr" defTabSz="16255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700" kern="1200" dirty="0" err="1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GlobalWeb</a:t>
                      </a:r>
                      <a:r>
                        <a:rPr lang="pt-BR" sz="700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 / Natura</a:t>
                      </a:r>
                      <a:endParaRPr lang="pt-BR" sz="700" kern="12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marL="0" algn="ctr" defTabSz="1625529" rtl="0" eaLnBrk="1" latinLnBrk="0" hangingPunct="1"/>
                      <a:r>
                        <a:rPr lang="pt-BR" sz="700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1 – </a:t>
                      </a:r>
                      <a:r>
                        <a:rPr lang="pt-BR" sz="700" strike="sngStrike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12/Jan</a:t>
                      </a:r>
                    </a:p>
                    <a:p>
                      <a:pPr marL="0" algn="ctr" defTabSz="1625529" rtl="0" eaLnBrk="1" latinLnBrk="0" hangingPunct="1"/>
                      <a:r>
                        <a:rPr lang="pt-BR" sz="700" strike="noStrike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    16/03</a:t>
                      </a:r>
                    </a:p>
                    <a:p>
                      <a:pPr marL="0" algn="ctr" defTabSz="1625529" rtl="0" eaLnBrk="1" latinLnBrk="0" hangingPunct="1"/>
                      <a:endParaRPr lang="pt-BR" sz="700" kern="120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algn="ctr" defTabSz="1625529" rtl="0" eaLnBrk="1" latinLnBrk="0" hangingPunct="1"/>
                      <a:r>
                        <a:rPr lang="pt-BR" sz="700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2 – 19/Jan</a:t>
                      </a:r>
                    </a:p>
                    <a:p>
                      <a:pPr marL="0" algn="ctr" defTabSz="1625529" rtl="0" eaLnBrk="1" latinLnBrk="0" hangingPunct="1"/>
                      <a:endParaRPr lang="pt-BR" sz="700" kern="120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algn="ctr" defTabSz="1625529" rtl="0" eaLnBrk="1" latinLnBrk="0" hangingPunct="1"/>
                      <a:r>
                        <a:rPr lang="pt-BR" sz="700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3 – </a:t>
                      </a:r>
                      <a:r>
                        <a:rPr lang="pt-BR" sz="700" strike="sngStrike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12/Jan</a:t>
                      </a:r>
                    </a:p>
                    <a:p>
                      <a:pPr marL="0" algn="ctr" defTabSz="1625529" rtl="0" eaLnBrk="1" latinLnBrk="0" hangingPunct="1"/>
                      <a:r>
                        <a:rPr lang="pt-BR" sz="700" strike="noStrike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    16/03</a:t>
                      </a:r>
                    </a:p>
                    <a:p>
                      <a:pPr marL="0" algn="ctr" defTabSz="1625529" rtl="0" eaLnBrk="1" latinLnBrk="0" hangingPunct="1"/>
                      <a:endParaRPr lang="pt-BR" sz="700" kern="120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algn="ctr" defTabSz="1625529" rtl="0" eaLnBrk="1" latinLnBrk="0" hangingPunct="1"/>
                      <a:r>
                        <a:rPr lang="pt-BR" sz="700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4 – Jan/15</a:t>
                      </a:r>
                      <a:endParaRPr lang="pt-BR" sz="700" kern="12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  <a:tc>
                  <a:txBody>
                    <a:bodyPr/>
                    <a:lstStyle/>
                    <a:p>
                      <a:pPr marL="0" algn="ctr" defTabSz="1625529" rtl="0" eaLnBrk="1" latinLnBrk="0" hangingPunct="1"/>
                      <a:r>
                        <a:rPr lang="pt-BR" sz="700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1 – Em andamento</a:t>
                      </a:r>
                    </a:p>
                    <a:p>
                      <a:pPr marL="0" algn="ctr" defTabSz="1625529" rtl="0" eaLnBrk="1" latinLnBrk="0" hangingPunct="1"/>
                      <a:endParaRPr lang="pt-BR" sz="700" kern="120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algn="ctr" defTabSz="1625529" rtl="0" eaLnBrk="1" latinLnBrk="0" hangingPunct="1"/>
                      <a:r>
                        <a:rPr lang="pt-BR" sz="700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2 – Iniciado</a:t>
                      </a:r>
                    </a:p>
                    <a:p>
                      <a:pPr marL="0" algn="ctr" defTabSz="1625529" rtl="0" eaLnBrk="1" latinLnBrk="0" hangingPunct="1"/>
                      <a:endParaRPr lang="pt-BR" sz="700" kern="120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algn="ctr" defTabSz="1625529" rtl="0" eaLnBrk="1" latinLnBrk="0" hangingPunct="1"/>
                      <a:r>
                        <a:rPr lang="pt-BR" sz="700" kern="120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3</a:t>
                      </a:r>
                      <a:r>
                        <a:rPr lang="pt-BR" sz="700" kern="1200" baseline="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 – Em andamento</a:t>
                      </a:r>
                    </a:p>
                    <a:p>
                      <a:pPr marL="0" algn="ctr" defTabSz="1625529" rtl="0" eaLnBrk="1" latinLnBrk="0" hangingPunct="1"/>
                      <a:endParaRPr lang="pt-BR" sz="700" kern="1200" baseline="0" dirty="0" smtClean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  <a:p>
                      <a:pPr marL="0" algn="ctr" defTabSz="1625529" rtl="0" eaLnBrk="1" latinLnBrk="0" hangingPunct="1"/>
                      <a:r>
                        <a:rPr lang="pt-BR" sz="700" kern="1200" baseline="0" dirty="0" smtClean="0">
                          <a:solidFill>
                            <a:schemeClr val="tx1"/>
                          </a:solidFill>
                          <a:latin typeface="Gill Sans"/>
                          <a:ea typeface="Verdana" pitchFamily="34" charset="0"/>
                          <a:cs typeface="Verdana" pitchFamily="34" charset="0"/>
                        </a:rPr>
                        <a:t>4 – Em andamento</a:t>
                      </a:r>
                      <a:endParaRPr lang="pt-BR" sz="700" kern="1200" dirty="0">
                        <a:solidFill>
                          <a:schemeClr val="tx1"/>
                        </a:solidFill>
                        <a:latin typeface="Gill Sans"/>
                        <a:ea typeface="Verdana" pitchFamily="34" charset="0"/>
                        <a:cs typeface="Verdana" pitchFamily="34" charset="0"/>
                      </a:endParaRPr>
                    </a:p>
                  </a:txBody>
                  <a:tcPr marT="45728" marB="45728" anchor="ctr"/>
                </a:tc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404727"/>
              </p:ext>
            </p:extLst>
          </p:nvPr>
        </p:nvGraphicFramePr>
        <p:xfrm>
          <a:off x="430705" y="597401"/>
          <a:ext cx="8229600" cy="2694102"/>
        </p:xfrm>
        <a:graphic>
          <a:graphicData uri="http://schemas.openxmlformats.org/drawingml/2006/table">
            <a:tbl>
              <a:tblPr/>
              <a:tblGrid>
                <a:gridCol w="1560418"/>
                <a:gridCol w="1026028"/>
                <a:gridCol w="1026028"/>
                <a:gridCol w="817022"/>
                <a:gridCol w="3800104"/>
              </a:tblGrid>
              <a:tr h="42050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000" b="1" i="1" u="none" strike="noStrike" dirty="0">
                          <a:solidFill>
                            <a:srgbClr val="FFC000"/>
                          </a:solidFill>
                          <a:effectLst/>
                          <a:latin typeface="Gill Sans MT"/>
                        </a:rPr>
                        <a:t>Indicador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1" i="1" u="none" strike="noStrike">
                          <a:solidFill>
                            <a:srgbClr val="FFC000"/>
                          </a:solidFill>
                          <a:effectLst/>
                          <a:latin typeface="Gill Sans MT"/>
                        </a:rPr>
                        <a:t>Meta Proposta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1" i="1" u="none" strike="noStrike" dirty="0" smtClean="0">
                          <a:solidFill>
                            <a:srgbClr val="FFC000"/>
                          </a:solidFill>
                          <a:effectLst/>
                          <a:latin typeface="Gill Sans MT"/>
                        </a:rPr>
                        <a:t>Real Anterior</a:t>
                      </a:r>
                      <a:endParaRPr lang="pt-BR" sz="1000" b="1" i="1" u="none" strike="noStrike" dirty="0">
                        <a:solidFill>
                          <a:srgbClr val="FFC000"/>
                        </a:solidFill>
                        <a:effectLst/>
                        <a:latin typeface="Gill Sans MT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1" i="1" u="none" strike="noStrike" dirty="0">
                          <a:solidFill>
                            <a:srgbClr val="FFC000"/>
                          </a:solidFill>
                          <a:effectLst/>
                          <a:latin typeface="Gill Sans MT"/>
                        </a:rPr>
                        <a:t>Real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000" b="1" i="1" u="none" strike="noStrike">
                          <a:solidFill>
                            <a:srgbClr val="FFC000"/>
                          </a:solidFill>
                          <a:effectLst/>
                          <a:latin typeface="Gill Sans MT"/>
                        </a:rPr>
                        <a:t>Descrição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472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000" b="0" i="1" u="none" strike="noStrike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Disponibilidade de Sistemas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99,65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99,59%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99,49%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000" b="0" i="0" u="none" strike="noStrike" dirty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Redução de 18% no tempo de solução de incidentes </a:t>
                      </a:r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críticos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454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000" b="0" i="1" u="none" strike="noStrike" dirty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Pesquisa de </a:t>
                      </a:r>
                      <a:r>
                        <a:rPr lang="pt-BR" sz="1000" b="0" i="1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Satisfação *</a:t>
                      </a:r>
                      <a:endParaRPr lang="pt-BR" sz="1000" b="0" i="1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92,00%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84,00</a:t>
                      </a:r>
                      <a:r>
                        <a:rPr lang="pt-BR" sz="1000" b="0" i="0" u="none" strike="noStrike" dirty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%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87,00</a:t>
                      </a:r>
                      <a:r>
                        <a:rPr lang="pt-BR" sz="1000" b="0" i="0" u="none" strike="noStrike" dirty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%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000" b="0" i="0" u="none" strike="noStrike" dirty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Meta para o BES 92% depois do 6° mês  ( 4% das pesquisas negativas representam os grupos resolvedores que virarão insourcing</a:t>
                      </a:r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)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363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000" b="0" i="1" u="none" strike="noStrike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First Call Resolution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40%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56%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62,00%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000" b="0" i="0" u="none" strike="noStrike" dirty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Aumento na % de chamados resolvidos em linha com os usuários (Service Desk).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454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000" b="0" i="1" u="none" strike="noStrike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First Step Resolution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10%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3%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7,00%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000" b="0" i="0" u="none" strike="noStrike" dirty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10% na virada Global (Criação da célula de resolução em 1 nível, resolução em até 1 hora, para absorção de 1000 chamados ”possíveis” de acessos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1671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000" b="0" i="1" u="none" strike="noStrike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Redução de Incidentes (Infraestrutura)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5,00%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Pendente Fechamento Mês</a:t>
                      </a: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000" b="0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39%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000" b="0" i="0" u="none" strike="noStrike" dirty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Redução de 5% no número de Incidentes de Infraestrutura (global) em relação a 2014 </a:t>
                      </a:r>
                      <a:r>
                        <a:rPr lang="pt-BR" sz="1000" b="1" i="0" u="none" strike="noStrike" dirty="0" smtClean="0">
                          <a:solidFill>
                            <a:srgbClr val="744B2A"/>
                          </a:solidFill>
                          <a:effectLst/>
                          <a:latin typeface="Gill Sans Std"/>
                        </a:rPr>
                        <a:t>(6023).</a:t>
                      </a:r>
                      <a:endParaRPr lang="pt-BR" sz="1000" b="0" i="0" u="none" strike="noStrike" dirty="0">
                        <a:solidFill>
                          <a:srgbClr val="744B2A"/>
                        </a:solidFill>
                        <a:effectLst/>
                        <a:latin typeface="Gill Sans Std"/>
                      </a:endParaRPr>
                    </a:p>
                  </a:txBody>
                  <a:tcPr marL="7127" marR="7127" marT="7127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AB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6B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Fluxograma: Extrair 24"/>
          <p:cNvSpPr/>
          <p:nvPr/>
        </p:nvSpPr>
        <p:spPr>
          <a:xfrm>
            <a:off x="4073162" y="2420888"/>
            <a:ext cx="117450" cy="91800"/>
          </a:xfrm>
          <a:prstGeom prst="flowChartExtra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57607" tIns="28804" rIns="57607" bIns="28804" rtlCol="0" anchor="ctr"/>
          <a:lstStyle/>
          <a:p>
            <a:pPr algn="ctr"/>
            <a:endParaRPr lang="pt-BR"/>
          </a:p>
        </p:txBody>
      </p:sp>
      <p:sp>
        <p:nvSpPr>
          <p:cNvPr id="26" name="Fluxograma: Extrair 25"/>
          <p:cNvSpPr/>
          <p:nvPr/>
        </p:nvSpPr>
        <p:spPr>
          <a:xfrm flipV="1">
            <a:off x="4067944" y="1113021"/>
            <a:ext cx="117450" cy="91800"/>
          </a:xfrm>
          <a:prstGeom prst="flowChartExtra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57607" tIns="28804" rIns="57607" bIns="28804" rtlCol="0" anchor="ctr"/>
          <a:lstStyle/>
          <a:p>
            <a:pPr algn="ctr"/>
            <a:endParaRPr lang="pt-BR"/>
          </a:p>
        </p:txBody>
      </p:sp>
      <p:sp>
        <p:nvSpPr>
          <p:cNvPr id="10" name="Fluxograma: Extrair 9"/>
          <p:cNvSpPr/>
          <p:nvPr/>
        </p:nvSpPr>
        <p:spPr>
          <a:xfrm>
            <a:off x="4067944" y="1537000"/>
            <a:ext cx="117450" cy="91800"/>
          </a:xfrm>
          <a:prstGeom prst="flowChartExtra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57607" tIns="28804" rIns="57607" bIns="28804" rtlCol="0" anchor="ctr"/>
          <a:lstStyle/>
          <a:p>
            <a:pPr algn="ctr"/>
            <a:endParaRPr lang="pt-BR"/>
          </a:p>
        </p:txBody>
      </p:sp>
      <p:sp>
        <p:nvSpPr>
          <p:cNvPr id="2" name="CaixaDeTexto 1"/>
          <p:cNvSpPr txBox="1"/>
          <p:nvPr/>
        </p:nvSpPr>
        <p:spPr>
          <a:xfrm>
            <a:off x="395536" y="6217567"/>
            <a:ext cx="74168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"/>
                <a:ea typeface="Verdana" pitchFamily="34" charset="0"/>
                <a:cs typeface="Verdana" pitchFamily="34" charset="0"/>
              </a:rPr>
              <a:t>* </a:t>
            </a:r>
            <a:r>
              <a:rPr lang="pt-BR" sz="12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"/>
                <a:ea typeface="Verdana" pitchFamily="34" charset="0"/>
                <a:cs typeface="Verdana" pitchFamily="34" charset="0"/>
              </a:rPr>
              <a:t>Indicador </a:t>
            </a:r>
            <a:r>
              <a:rPr lang="pt-BR" sz="12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"/>
                <a:ea typeface="Verdana" pitchFamily="34" charset="0"/>
                <a:cs typeface="Verdana" pitchFamily="34" charset="0"/>
              </a:rPr>
              <a:t>de Pesquisa de Satisfação sendo revisado (racional de cálculo mensal)</a:t>
            </a:r>
            <a:endParaRPr lang="pt-BR" sz="1200" i="1" dirty="0">
              <a:solidFill>
                <a:schemeClr val="tx1">
                  <a:lumMod val="50000"/>
                  <a:lumOff val="50000"/>
                </a:schemeClr>
              </a:solidFill>
              <a:latin typeface="Gill Sans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534205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5"/>
          <p:cNvSpPr>
            <a:spLocks noChangeArrowheads="1"/>
          </p:cNvSpPr>
          <p:nvPr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tx2"/>
          </a:solidFill>
          <a:ln>
            <a:noFill/>
          </a:ln>
          <a:extLst/>
        </p:spPr>
        <p:txBody>
          <a:bodyPr lIns="57607" tIns="28804" rIns="57607" bIns="28804"/>
          <a:lstStyle/>
          <a:p>
            <a:endParaRPr lang="pt-BR"/>
          </a:p>
        </p:txBody>
      </p:sp>
      <p:sp>
        <p:nvSpPr>
          <p:cNvPr id="31747" name="Rectangle 3"/>
          <p:cNvSpPr>
            <a:spLocks/>
          </p:cNvSpPr>
          <p:nvPr/>
        </p:nvSpPr>
        <p:spPr bwMode="auto">
          <a:xfrm>
            <a:off x="535781" y="2107406"/>
            <a:ext cx="7822406" cy="2652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l">
              <a:lnSpc>
                <a:spcPct val="80000"/>
              </a:lnSpc>
            </a:pPr>
            <a:r>
              <a:rPr lang="en-US" sz="4400" dirty="0" smtClean="0">
                <a:solidFill>
                  <a:schemeClr val="bg1"/>
                </a:solidFill>
                <a:latin typeface="Gill Sans Std Light" pitchFamily="34" charset="0"/>
                <a:sym typeface="Gill Sans Std Light" pitchFamily="34" charset="0"/>
              </a:rPr>
              <a:t>Service Desk</a:t>
            </a:r>
            <a:endParaRPr lang="en-US" sz="4400" dirty="0">
              <a:solidFill>
                <a:schemeClr val="bg1"/>
              </a:solidFill>
              <a:latin typeface="Gill Sans Std Light" pitchFamily="34" charset="0"/>
              <a:sym typeface="Gill Sans Std Light" pitchFamily="34" charset="0"/>
            </a:endParaRPr>
          </a:p>
        </p:txBody>
      </p:sp>
      <p:sp>
        <p:nvSpPr>
          <p:cNvPr id="31748" name="Rectangle 5"/>
          <p:cNvSpPr>
            <a:spLocks/>
          </p:cNvSpPr>
          <p:nvPr/>
        </p:nvSpPr>
        <p:spPr bwMode="auto">
          <a:xfrm>
            <a:off x="500063" y="6228465"/>
            <a:ext cx="973336" cy="98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25603" bIns="0"/>
          <a:lstStyle/>
          <a:p>
            <a:pPr marL="25003"/>
            <a:r>
              <a:rPr lang="en-US" sz="700">
                <a:solidFill>
                  <a:srgbClr val="D9D9D6"/>
                </a:solidFill>
                <a:latin typeface="Gill Sans Std" pitchFamily="34" charset="0"/>
                <a:sym typeface="Gill Sans Std" pitchFamily="34" charset="0"/>
              </a:rPr>
              <a:t>[ CONFIDENCIAL ]</a:t>
            </a:r>
          </a:p>
        </p:txBody>
      </p:sp>
      <p:pic>
        <p:nvPicPr>
          <p:cNvPr id="31749" name="Picture 5" descr="NAT_marca_branca_natura-01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872" y="5671468"/>
            <a:ext cx="704329" cy="642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67291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ítulo 4"/>
          <p:cNvSpPr txBox="1">
            <a:spLocks/>
          </p:cNvSpPr>
          <p:nvPr/>
        </p:nvSpPr>
        <p:spPr>
          <a:xfrm>
            <a:off x="193130" y="-27384"/>
            <a:ext cx="6035054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rm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r>
              <a:rPr lang="pt-BR" dirty="0"/>
              <a:t>ONE PAGE – </a:t>
            </a:r>
            <a:r>
              <a:rPr lang="pt-BR" dirty="0" smtClean="0"/>
              <a:t>Chamados de </a:t>
            </a:r>
            <a:r>
              <a:rPr lang="pt-BR" dirty="0" smtClean="0"/>
              <a:t>Fevereiro</a:t>
            </a:r>
            <a:endParaRPr lang="pt-BR" dirty="0"/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18935263"/>
              </p:ext>
            </p:extLst>
          </p:nvPr>
        </p:nvGraphicFramePr>
        <p:xfrm>
          <a:off x="206375" y="352425"/>
          <a:ext cx="8842375" cy="4610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306" name="Planilha" r:id="rId3" imgW="8667885" imgH="6067335" progId="Excel.Sheet.12">
                  <p:embed/>
                </p:oleObj>
              </mc:Choice>
              <mc:Fallback>
                <p:oleObj name="Planilha" r:id="rId3" imgW="8667885" imgH="6067335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6375" y="352425"/>
                        <a:ext cx="8842375" cy="4610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Objeto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7766903"/>
              </p:ext>
            </p:extLst>
          </p:nvPr>
        </p:nvGraphicFramePr>
        <p:xfrm>
          <a:off x="197694" y="5013176"/>
          <a:ext cx="8550770" cy="16150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307" name="Planilha" r:id="rId5" imgW="8219969" imgH="1552658" progId="Excel.Sheet.12">
                  <p:embed/>
                </p:oleObj>
              </mc:Choice>
              <mc:Fallback>
                <p:oleObj name="Planilha" r:id="rId5" imgW="8219969" imgH="155265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7694" y="5013176"/>
                        <a:ext cx="8550770" cy="161503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88790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88F5F4-4191-4F34-96FE-68815E4D7AED}" type="slidenum">
              <a:rPr lang="pt-BR" smtClean="0"/>
              <a:pPr/>
              <a:t>6</a:t>
            </a:fld>
            <a:endParaRPr lang="pt-BR" dirty="0"/>
          </a:p>
        </p:txBody>
      </p:sp>
      <p:sp>
        <p:nvSpPr>
          <p:cNvPr id="5" name="Título 4"/>
          <p:cNvSpPr>
            <a:spLocks noGrp="1"/>
          </p:cNvSpPr>
          <p:nvPr>
            <p:ph type="title"/>
          </p:nvPr>
        </p:nvSpPr>
        <p:spPr>
          <a:xfrm>
            <a:off x="179512" y="2276872"/>
            <a:ext cx="7836694" cy="459000"/>
          </a:xfrm>
        </p:spPr>
        <p:txBody>
          <a:bodyPr/>
          <a:lstStyle/>
          <a:p>
            <a:pPr algn="l"/>
            <a:r>
              <a:rPr lang="pt-BR" dirty="0" smtClean="0"/>
              <a:t>Plano de Ação – Service Desk</a:t>
            </a:r>
            <a:endParaRPr lang="pt-BR" dirty="0"/>
          </a:p>
        </p:txBody>
      </p:sp>
      <p:sp>
        <p:nvSpPr>
          <p:cNvPr id="7" name="Título 4"/>
          <p:cNvSpPr txBox="1">
            <a:spLocks/>
          </p:cNvSpPr>
          <p:nvPr/>
        </p:nvSpPr>
        <p:spPr>
          <a:xfrm>
            <a:off x="247204" y="175940"/>
            <a:ext cx="7836694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b">
            <a:normAutofit/>
          </a:bodyPr>
          <a:lstStyle>
            <a:lvl1pPr algn="ctr" defTabSz="914278" rtl="0" eaLnBrk="1" latinLnBrk="0" hangingPunct="1">
              <a:spcBef>
                <a:spcPct val="0"/>
              </a:spcBef>
              <a:buNone/>
              <a:defRPr lang="pt-BR" sz="1800" b="0" kern="120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pPr algn="l"/>
            <a:r>
              <a:rPr lang="pt-BR" dirty="0" smtClean="0"/>
              <a:t>Inovação – Service Desk </a:t>
            </a:r>
            <a:endParaRPr lang="pt-BR" dirty="0"/>
          </a:p>
        </p:txBody>
      </p:sp>
      <p:sp>
        <p:nvSpPr>
          <p:cNvPr id="6" name="Retângulo de cantos arredondados 5"/>
          <p:cNvSpPr/>
          <p:nvPr/>
        </p:nvSpPr>
        <p:spPr>
          <a:xfrm>
            <a:off x="251520" y="764704"/>
            <a:ext cx="8568952" cy="1512168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/>
          <p:cNvSpPr txBox="1"/>
          <p:nvPr/>
        </p:nvSpPr>
        <p:spPr>
          <a:xfrm>
            <a:off x="467544" y="819869"/>
            <a:ext cx="822904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pt-BR" sz="1200" dirty="0" smtClean="0">
                <a:latin typeface="Calibri" pitchFamily="34" charset="0"/>
                <a:cs typeface="Calibri" pitchFamily="34" charset="0"/>
              </a:rPr>
              <a:t>Implantação do reset e desbloqueio de senha para colaboradores através da URA, reduzindo entorno de 1400 ligações para o </a:t>
            </a:r>
          </a:p>
          <a:p>
            <a:r>
              <a:rPr lang="pt-BR" sz="1200" dirty="0" smtClean="0">
                <a:latin typeface="Calibri" pitchFamily="34" charset="0"/>
                <a:cs typeface="Calibri" pitchFamily="34" charset="0"/>
              </a:rPr>
              <a:t>Service Desk;</a:t>
            </a:r>
          </a:p>
          <a:p>
            <a:pPr marL="171450" indent="-171450">
              <a:buFontTx/>
              <a:buChar char="-"/>
            </a:pPr>
            <a:r>
              <a:rPr lang="pt-BR" sz="1200" dirty="0" smtClean="0">
                <a:latin typeface="Calibri" pitchFamily="34" charset="0"/>
                <a:cs typeface="Calibri" pitchFamily="34" charset="0"/>
              </a:rPr>
              <a:t>Implantação da pesquisa de satisfação pela URA onde o colaborador consegue pontuar sua satisfação quanto ao atendimento </a:t>
            </a:r>
          </a:p>
          <a:p>
            <a:r>
              <a:rPr lang="pt-BR" sz="1200" dirty="0" smtClean="0">
                <a:latin typeface="Calibri" pitchFamily="34" charset="0"/>
                <a:cs typeface="Calibri" pitchFamily="34" charset="0"/>
              </a:rPr>
              <a:t>da Central;</a:t>
            </a:r>
          </a:p>
          <a:p>
            <a:pPr marL="171450" indent="-171450">
              <a:buFontTx/>
              <a:buChar char="-"/>
            </a:pPr>
            <a:r>
              <a:rPr lang="pt-BR" sz="1200" dirty="0" smtClean="0">
                <a:latin typeface="Calibri" pitchFamily="34" charset="0"/>
                <a:cs typeface="Calibri" pitchFamily="34" charset="0"/>
              </a:rPr>
              <a:t>Aumento do horário de atendimento das GRs</a:t>
            </a:r>
            <a:r>
              <a:rPr lang="pt-BR" sz="1200" dirty="0">
                <a:latin typeface="Calibri" pitchFamily="34" charset="0"/>
                <a:cs typeface="Calibri" pitchFamily="34" charset="0"/>
              </a:rPr>
              <a:t> </a:t>
            </a:r>
            <a:r>
              <a:rPr lang="pt-BR" sz="1200" dirty="0" smtClean="0">
                <a:latin typeface="Calibri" pitchFamily="34" charset="0"/>
                <a:cs typeface="Calibri" pitchFamily="34" charset="0"/>
              </a:rPr>
              <a:t>através da URA do AFV, que anteriormente era de segunda a sexta-feira </a:t>
            </a:r>
          </a:p>
          <a:p>
            <a:r>
              <a:rPr lang="pt-BR" sz="1200" dirty="0" smtClean="0">
                <a:latin typeface="Calibri" pitchFamily="34" charset="0"/>
                <a:cs typeface="Calibri" pitchFamily="34" charset="0"/>
              </a:rPr>
              <a:t>das 8 as 22h, e agora será 7x24 igual  a central do 3000.</a:t>
            </a:r>
          </a:p>
          <a:p>
            <a:r>
              <a:rPr lang="pt-BR" sz="1200" dirty="0" smtClean="0">
                <a:latin typeface="Calibri" pitchFamily="34" charset="0"/>
                <a:cs typeface="Calibri" pitchFamily="34" charset="0"/>
              </a:rPr>
              <a:t>-   Maior interação do usuário na consulta e abertura de chamados através da ferramenta #atendimentoTD;</a:t>
            </a:r>
          </a:p>
        </p:txBody>
      </p:sp>
      <p:graphicFrame>
        <p:nvGraphicFramePr>
          <p:cNvPr id="2" name="Objeto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3601778"/>
              </p:ext>
            </p:extLst>
          </p:nvPr>
        </p:nvGraphicFramePr>
        <p:xfrm>
          <a:off x="499964" y="2780928"/>
          <a:ext cx="7583934" cy="39598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4" name="Planilha" r:id="rId4" imgW="15211438" imgH="7943875" progId="Excel.Sheet.12">
                  <p:embed/>
                </p:oleObj>
              </mc:Choice>
              <mc:Fallback>
                <p:oleObj name="Planilha" r:id="rId4" imgW="15211438" imgH="7943875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9964" y="2780928"/>
                        <a:ext cx="7583934" cy="39598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5785838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5"/>
          <p:cNvSpPr>
            <a:spLocks noChangeArrowheads="1"/>
          </p:cNvSpPr>
          <p:nvPr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tx2"/>
          </a:solidFill>
          <a:ln>
            <a:noFill/>
          </a:ln>
          <a:extLst/>
        </p:spPr>
        <p:txBody>
          <a:bodyPr lIns="57607" tIns="28804" rIns="57607" bIns="28804"/>
          <a:lstStyle/>
          <a:p>
            <a:endParaRPr lang="pt-BR" dirty="0"/>
          </a:p>
        </p:txBody>
      </p:sp>
      <p:sp>
        <p:nvSpPr>
          <p:cNvPr id="31747" name="Rectangle 3"/>
          <p:cNvSpPr>
            <a:spLocks/>
          </p:cNvSpPr>
          <p:nvPr/>
        </p:nvSpPr>
        <p:spPr bwMode="auto">
          <a:xfrm>
            <a:off x="535780" y="2102942"/>
            <a:ext cx="8356699" cy="2652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>
              <a:lnSpc>
                <a:spcPct val="80000"/>
              </a:lnSpc>
            </a:pPr>
            <a:r>
              <a:rPr lang="en-US" sz="4400" dirty="0" smtClean="0">
                <a:solidFill>
                  <a:schemeClr val="bg1"/>
                </a:solidFill>
                <a:latin typeface="Gill Sans Std Light" pitchFamily="34" charset="0"/>
                <a:sym typeface="Gill Sans Std Light" pitchFamily="34" charset="0"/>
              </a:rPr>
              <a:t>NCC (Natura Central de Comando)</a:t>
            </a:r>
            <a:endParaRPr lang="en-US" sz="4400" dirty="0">
              <a:solidFill>
                <a:schemeClr val="bg1"/>
              </a:solidFill>
              <a:latin typeface="Gill Sans Std Light" pitchFamily="34" charset="0"/>
              <a:sym typeface="Gill Sans Std Light" pitchFamily="34" charset="0"/>
            </a:endParaRPr>
          </a:p>
        </p:txBody>
      </p:sp>
      <p:sp>
        <p:nvSpPr>
          <p:cNvPr id="31748" name="Rectangle 5"/>
          <p:cNvSpPr>
            <a:spLocks/>
          </p:cNvSpPr>
          <p:nvPr/>
        </p:nvSpPr>
        <p:spPr bwMode="auto">
          <a:xfrm>
            <a:off x="500063" y="6228465"/>
            <a:ext cx="973336" cy="98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25603" bIns="0"/>
          <a:lstStyle/>
          <a:p>
            <a:pPr marL="25003"/>
            <a:r>
              <a:rPr lang="en-US" sz="700" dirty="0">
                <a:solidFill>
                  <a:srgbClr val="D9D9D6"/>
                </a:solidFill>
                <a:latin typeface="Gill Sans Std" pitchFamily="34" charset="0"/>
                <a:sym typeface="Gill Sans Std" pitchFamily="34" charset="0"/>
              </a:rPr>
              <a:t>[ CONFIDENCIAL ]</a:t>
            </a:r>
          </a:p>
        </p:txBody>
      </p:sp>
      <p:pic>
        <p:nvPicPr>
          <p:cNvPr id="31749" name="Picture 5" descr="NAT_marca_branca_natura-01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872" y="5661248"/>
            <a:ext cx="704329" cy="642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51643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4"/>
          <p:cNvSpPr txBox="1">
            <a:spLocks/>
          </p:cNvSpPr>
          <p:nvPr/>
        </p:nvSpPr>
        <p:spPr>
          <a:xfrm>
            <a:off x="193130" y="-27384"/>
            <a:ext cx="8627342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pPr algn="l"/>
            <a:r>
              <a:rPr lang="pt-BR" sz="2000" dirty="0">
                <a:latin typeface="Gill Sans MT" pitchFamily="34" charset="0"/>
              </a:rPr>
              <a:t>ONE PAGE – </a:t>
            </a:r>
            <a:r>
              <a:rPr lang="pt-BR" sz="2000" dirty="0" smtClean="0">
                <a:latin typeface="Gill Sans MT" pitchFamily="34" charset="0"/>
              </a:rPr>
              <a:t>NCC Central de Comando – Indicadores</a:t>
            </a:r>
            <a:endParaRPr lang="pt-BR" sz="2000" dirty="0">
              <a:latin typeface="Gill Sans MT" pitchFamily="34" charset="0"/>
            </a:endParaRPr>
          </a:p>
        </p:txBody>
      </p:sp>
      <p:sp>
        <p:nvSpPr>
          <p:cNvPr id="8" name="AutoShape 146"/>
          <p:cNvSpPr>
            <a:spLocks noChangeArrowheads="1"/>
          </p:cNvSpPr>
          <p:nvPr/>
        </p:nvSpPr>
        <p:spPr bwMode="auto">
          <a:xfrm>
            <a:off x="162000" y="4509120"/>
            <a:ext cx="8820000" cy="2232248"/>
          </a:xfrm>
          <a:prstGeom prst="roundRect">
            <a:avLst>
              <a:gd name="adj" fmla="val 8750"/>
            </a:avLst>
          </a:prstGeom>
          <a:solidFill>
            <a:sysClr val="window" lastClr="FFFFFF"/>
          </a:solidFill>
          <a:ln w="3175" algn="ctr">
            <a:solidFill>
              <a:srgbClr val="FF9900"/>
            </a:solidFill>
            <a:round/>
            <a:headEnd/>
            <a:tailEnd/>
          </a:ln>
        </p:spPr>
        <p:txBody>
          <a:bodyPr lIns="22680" tIns="68040" rIns="22680" bIns="28804"/>
          <a:lstStyle/>
          <a:p>
            <a:pPr algn="ctr" defTabSz="576072">
              <a:spcAft>
                <a:spcPts val="159"/>
              </a:spcAft>
              <a:buClr>
                <a:srgbClr val="F38345"/>
              </a:buClr>
              <a:defRPr/>
            </a:pPr>
            <a:endParaRPr lang="pt-BR" sz="1100" b="1" kern="0" dirty="0" smtClean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  <a:p>
            <a:pPr algn="ctr" defTabSz="576072">
              <a:spcAft>
                <a:spcPts val="159"/>
              </a:spcAft>
              <a:buClr>
                <a:srgbClr val="F38345"/>
              </a:buClr>
              <a:defRPr/>
            </a:pPr>
            <a:r>
              <a:rPr lang="pt-BR" sz="1100" b="1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Sumário</a:t>
            </a:r>
          </a:p>
          <a:p>
            <a:pPr algn="just" defTabSz="576072">
              <a:spcAft>
                <a:spcPts val="159"/>
              </a:spcAft>
              <a:buClr>
                <a:srgbClr val="F38345"/>
              </a:buClr>
              <a:defRPr/>
            </a:pPr>
            <a:endParaRPr lang="pt-BR" sz="700" b="1" kern="0" dirty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  <a:p>
            <a:pPr indent="-169164" algn="just" defTabSz="576072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Indicadores  </a:t>
            </a:r>
            <a:r>
              <a:rPr lang="pt-BR" sz="1100" b="1" u="sng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Quantidade </a:t>
            </a:r>
            <a:r>
              <a:rPr lang="pt-BR" sz="1100" b="1" u="sng" kern="0" dirty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do 1° comunicado enviado dentro do </a:t>
            </a:r>
            <a:r>
              <a:rPr lang="pt-BR" sz="1100" b="1" u="sng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SLA</a:t>
            </a:r>
            <a:r>
              <a:rPr lang="pt-BR" sz="1100" b="1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 e </a:t>
            </a:r>
            <a:r>
              <a:rPr lang="pt-BR" sz="1100" b="1" u="sng" kern="0" dirty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Quantidade do </a:t>
            </a:r>
            <a:r>
              <a:rPr lang="pt-BR" sz="1100" b="1" u="sng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2° </a:t>
            </a:r>
            <a:r>
              <a:rPr lang="pt-BR" sz="1100" b="1" u="sng" kern="0" dirty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comunicado enviado dentro do </a:t>
            </a:r>
            <a:r>
              <a:rPr lang="pt-BR" sz="1100" b="1" u="sng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SLA</a:t>
            </a:r>
          </a:p>
          <a:p>
            <a:pPr algn="just" defTabSz="576072">
              <a:spcAft>
                <a:spcPts val="159"/>
              </a:spcAft>
              <a:buClr>
                <a:srgbClr val="F38345"/>
              </a:buClr>
              <a:defRPr/>
            </a:pP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	O desvio se explica pela imaturidade de início da operação pela GlobalWeb, foram realizados treinamentos pontuais, coaching e substituições 	de profissionais durante o mês de jan</a:t>
            </a:r>
            <a:r>
              <a:rPr lang="pt-BR" sz="1100" kern="0" dirty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.</a:t>
            </a:r>
            <a:endParaRPr lang="pt-BR" sz="1100" kern="0" dirty="0" smtClean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  <a:p>
            <a:pPr algn="just" defTabSz="576072">
              <a:spcAft>
                <a:spcPts val="159"/>
              </a:spcAft>
              <a:buClr>
                <a:srgbClr val="F38345"/>
              </a:buClr>
              <a:defRPr/>
            </a:pPr>
            <a:endParaRPr lang="pt-BR" sz="600" kern="0" dirty="0" smtClean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  <a:p>
            <a:pPr algn="just" defTabSz="576072">
              <a:spcAft>
                <a:spcPts val="159"/>
              </a:spcAft>
              <a:buClr>
                <a:srgbClr val="F38345"/>
              </a:buClr>
              <a:defRPr/>
            </a:pPr>
            <a:endParaRPr lang="pt-BR" sz="1100" kern="0" dirty="0" smtClean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  <a:p>
            <a:pPr indent="-169164" algn="just" defTabSz="576072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Os indicadores marcados com </a:t>
            </a:r>
            <a:r>
              <a:rPr lang="pt-BR" sz="1100" b="1" kern="0" dirty="0" smtClean="0">
                <a:solidFill>
                  <a:schemeClr val="bg1">
                    <a:lumMod val="50000"/>
                  </a:schemeClr>
                </a:solidFill>
                <a:latin typeface="Gill Sans MT" pitchFamily="34" charset="0"/>
                <a:cs typeface="Arial" pitchFamily="34" charset="0"/>
              </a:rPr>
              <a:t>N/A</a:t>
            </a: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 não são passíveis de mensurar por não possuir volume ou por falta de relatórios da Ferramenta CA.</a:t>
            </a:r>
          </a:p>
        </p:txBody>
      </p:sp>
      <p:pic>
        <p:nvPicPr>
          <p:cNvPr id="2059" name="Picture 1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0" y="404664"/>
            <a:ext cx="9000000" cy="40463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087376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88F5F4-4191-4F34-96FE-68815E4D7AED}" type="slidenum">
              <a:rPr lang="pt-BR" smtClean="0"/>
              <a:pPr/>
              <a:t>9</a:t>
            </a:fld>
            <a:endParaRPr lang="pt-BR" dirty="0"/>
          </a:p>
        </p:txBody>
      </p:sp>
      <p:sp>
        <p:nvSpPr>
          <p:cNvPr id="5" name="Título 4"/>
          <p:cNvSpPr txBox="1">
            <a:spLocks/>
          </p:cNvSpPr>
          <p:nvPr/>
        </p:nvSpPr>
        <p:spPr>
          <a:xfrm>
            <a:off x="193130" y="-27384"/>
            <a:ext cx="8627342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pPr algn="l"/>
            <a:r>
              <a:rPr lang="pt-BR" sz="2000" dirty="0">
                <a:latin typeface="Gill Sans MT" pitchFamily="34" charset="0"/>
              </a:rPr>
              <a:t>ONE PAGE – </a:t>
            </a:r>
            <a:r>
              <a:rPr lang="pt-BR" sz="2000" dirty="0" smtClean="0">
                <a:latin typeface="Gill Sans MT" pitchFamily="34" charset="0"/>
              </a:rPr>
              <a:t>NCC Central de Comando – Plano de Ação</a:t>
            </a:r>
            <a:endParaRPr lang="pt-BR" sz="2000" dirty="0">
              <a:latin typeface="Gill Sans MT" pitchFamily="34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0" y="827088"/>
            <a:ext cx="9000000" cy="31679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2776077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5"/>
          <p:cNvSpPr>
            <a:spLocks noChangeArrowheads="1"/>
          </p:cNvSpPr>
          <p:nvPr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tx2"/>
          </a:solidFill>
          <a:ln>
            <a:noFill/>
          </a:ln>
          <a:extLst/>
        </p:spPr>
        <p:txBody>
          <a:bodyPr lIns="57607" tIns="28804" rIns="57607" bIns="28804"/>
          <a:lstStyle/>
          <a:p>
            <a:endParaRPr lang="pt-BR" dirty="0"/>
          </a:p>
        </p:txBody>
      </p:sp>
      <p:sp>
        <p:nvSpPr>
          <p:cNvPr id="31747" name="Rectangle 3"/>
          <p:cNvSpPr>
            <a:spLocks/>
          </p:cNvSpPr>
          <p:nvPr/>
        </p:nvSpPr>
        <p:spPr bwMode="auto">
          <a:xfrm>
            <a:off x="535781" y="2102942"/>
            <a:ext cx="7822406" cy="2652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l">
              <a:lnSpc>
                <a:spcPct val="80000"/>
              </a:lnSpc>
            </a:pPr>
            <a:r>
              <a:rPr lang="en-US" sz="4400" dirty="0" smtClean="0">
                <a:solidFill>
                  <a:schemeClr val="bg1"/>
                </a:solidFill>
                <a:latin typeface="Gill Sans Std Light" pitchFamily="34" charset="0"/>
                <a:sym typeface="Gill Sans Std Light" pitchFamily="34" charset="0"/>
              </a:rPr>
              <a:t>Torres Técnicas N1</a:t>
            </a:r>
            <a:endParaRPr lang="en-US" sz="4400" dirty="0">
              <a:solidFill>
                <a:schemeClr val="bg1"/>
              </a:solidFill>
              <a:latin typeface="Gill Sans Std Light" pitchFamily="34" charset="0"/>
              <a:sym typeface="Gill Sans Std Light" pitchFamily="34" charset="0"/>
            </a:endParaRPr>
          </a:p>
        </p:txBody>
      </p:sp>
      <p:sp>
        <p:nvSpPr>
          <p:cNvPr id="31748" name="Rectangle 5"/>
          <p:cNvSpPr>
            <a:spLocks/>
          </p:cNvSpPr>
          <p:nvPr/>
        </p:nvSpPr>
        <p:spPr bwMode="auto">
          <a:xfrm>
            <a:off x="500063" y="6228465"/>
            <a:ext cx="973336" cy="98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25603" bIns="0"/>
          <a:lstStyle/>
          <a:p>
            <a:pPr marL="25003"/>
            <a:r>
              <a:rPr lang="en-US" sz="700" dirty="0">
                <a:solidFill>
                  <a:srgbClr val="D9D9D6"/>
                </a:solidFill>
                <a:latin typeface="Gill Sans Std" pitchFamily="34" charset="0"/>
                <a:sym typeface="Gill Sans Std" pitchFamily="34" charset="0"/>
              </a:rPr>
              <a:t>[ CONFIDENCIAL ]</a:t>
            </a:r>
          </a:p>
        </p:txBody>
      </p:sp>
      <p:pic>
        <p:nvPicPr>
          <p:cNvPr id="31749" name="Picture 5" descr="NAT_marca_branca_natura-01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872" y="5661248"/>
            <a:ext cx="704329" cy="642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05077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4"/>
          <p:cNvSpPr txBox="1">
            <a:spLocks/>
          </p:cNvSpPr>
          <p:nvPr/>
        </p:nvSpPr>
        <p:spPr>
          <a:xfrm>
            <a:off x="193130" y="-27384"/>
            <a:ext cx="6539110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pPr algn="l"/>
            <a:r>
              <a:rPr lang="pt-BR" sz="2000" dirty="0">
                <a:latin typeface="Gill Sans MT" pitchFamily="34" charset="0"/>
              </a:rPr>
              <a:t>ONE PAGE – </a:t>
            </a:r>
            <a:r>
              <a:rPr lang="pt-BR" sz="2000" dirty="0" smtClean="0">
                <a:latin typeface="Gill Sans MT" pitchFamily="34" charset="0"/>
              </a:rPr>
              <a:t>Torres Técnicas N1 – Indicadores Chamados</a:t>
            </a:r>
            <a:endParaRPr lang="pt-BR" sz="2000" dirty="0">
              <a:latin typeface="Gill Sans MT" pitchFamily="34" charset="0"/>
            </a:endParaRPr>
          </a:p>
        </p:txBody>
      </p:sp>
      <p:sp>
        <p:nvSpPr>
          <p:cNvPr id="8" name="AutoShape 146"/>
          <p:cNvSpPr>
            <a:spLocks noChangeArrowheads="1"/>
          </p:cNvSpPr>
          <p:nvPr/>
        </p:nvSpPr>
        <p:spPr bwMode="auto">
          <a:xfrm>
            <a:off x="5004048" y="4149080"/>
            <a:ext cx="3977952" cy="2508405"/>
          </a:xfrm>
          <a:prstGeom prst="roundRect">
            <a:avLst>
              <a:gd name="adj" fmla="val 8750"/>
            </a:avLst>
          </a:prstGeom>
          <a:solidFill>
            <a:sysClr val="window" lastClr="FFFFFF"/>
          </a:solidFill>
          <a:ln w="3175" algn="ctr">
            <a:solidFill>
              <a:srgbClr val="FF9900"/>
            </a:solidFill>
            <a:round/>
            <a:headEnd/>
            <a:tailEnd/>
          </a:ln>
        </p:spPr>
        <p:txBody>
          <a:bodyPr lIns="22680" tIns="68040" rIns="22680" bIns="28804"/>
          <a:lstStyle/>
          <a:p>
            <a:pPr algn="ctr" defTabSz="576072">
              <a:spcAft>
                <a:spcPts val="159"/>
              </a:spcAft>
              <a:buClr>
                <a:srgbClr val="F38345"/>
              </a:buClr>
              <a:defRPr/>
            </a:pPr>
            <a:r>
              <a:rPr lang="pt-BR" sz="1100" b="1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Sumário</a:t>
            </a:r>
          </a:p>
          <a:p>
            <a:pPr algn="just" defTabSz="576072">
              <a:spcAft>
                <a:spcPts val="159"/>
              </a:spcAft>
              <a:buClr>
                <a:srgbClr val="F38345"/>
              </a:buClr>
              <a:defRPr/>
            </a:pPr>
            <a:endParaRPr lang="pt-BR" sz="700" b="1" kern="0" dirty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  <a:p>
            <a:pPr indent="-169164" algn="just" defTabSz="576072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O desvio dos indicadores ocorreu devido a um chamado</a:t>
            </a:r>
            <a:r>
              <a:rPr lang="pt-BR" sz="1100" b="1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 assinado</a:t>
            </a: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 e </a:t>
            </a:r>
            <a:r>
              <a:rPr lang="pt-BR" sz="1100" b="1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resolvido</a:t>
            </a: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 em 53 minutos, fora das metas contratadas.</a:t>
            </a:r>
            <a:endParaRPr lang="pt-BR" sz="1100" kern="0" dirty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  <a:p>
            <a:pPr algn="just" defTabSz="576072">
              <a:spcAft>
                <a:spcPts val="159"/>
              </a:spcAft>
              <a:buClr>
                <a:srgbClr val="F38345"/>
              </a:buClr>
              <a:defRPr/>
            </a:pPr>
            <a:endParaRPr lang="pt-BR" sz="1100" kern="0" dirty="0" smtClean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  <a:p>
            <a:pPr indent="-169164" algn="just" defTabSz="576072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Os indicadores marcados com N/D ou N/A não são passíveis de mensurar por falta de chamados nessa categoria ou por falta de relatórios da Ferramenta CA.</a:t>
            </a:r>
          </a:p>
          <a:p>
            <a:pPr indent="-169164" algn="just" defTabSz="576072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endParaRPr lang="pt-BR" sz="1100" kern="0" dirty="0" smtClean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  <a:p>
            <a:pPr indent="-169164" algn="just" defTabSz="576072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b="1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Ao lado</a:t>
            </a: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, o </a:t>
            </a:r>
            <a:r>
              <a:rPr lang="pt-BR" sz="1100" b="1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gráfico</a:t>
            </a: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 de absorção de procedimentos mostra a situação atual</a:t>
            </a:r>
            <a:r>
              <a:rPr lang="pt-BR" sz="1100" kern="0" dirty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 </a:t>
            </a: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do N1, com base na Matriz de Responsabilidades.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30" y="4149080"/>
            <a:ext cx="4727540" cy="25084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00" y="424807"/>
            <a:ext cx="8820000" cy="3673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9913339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4"/>
          <p:cNvSpPr txBox="1">
            <a:spLocks/>
          </p:cNvSpPr>
          <p:nvPr/>
        </p:nvSpPr>
        <p:spPr>
          <a:xfrm>
            <a:off x="193129" y="-27384"/>
            <a:ext cx="8700271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r>
              <a:rPr lang="pt-BR" sz="2000" dirty="0">
                <a:latin typeface="Gill Sans MT" pitchFamily="34" charset="0"/>
              </a:rPr>
              <a:t>ONE PAGE – </a:t>
            </a:r>
            <a:r>
              <a:rPr lang="pt-BR" sz="2000" dirty="0" smtClean="0">
                <a:latin typeface="Gill Sans MT" pitchFamily="34" charset="0"/>
              </a:rPr>
              <a:t>Torres Técnicas N1 – Indicadores </a:t>
            </a:r>
            <a:r>
              <a:rPr lang="en-US" sz="2000" dirty="0" smtClean="0">
                <a:latin typeface="Gill Sans MT" pitchFamily="34" charset="0"/>
              </a:rPr>
              <a:t>Backup</a:t>
            </a:r>
            <a:r>
              <a:rPr lang="en-US" sz="2000" dirty="0">
                <a:latin typeface="Gill Sans MT" pitchFamily="34" charset="0"/>
              </a:rPr>
              <a:t>, </a:t>
            </a:r>
            <a:r>
              <a:rPr lang="en-US" sz="2000" dirty="0" smtClean="0">
                <a:latin typeface="Gill Sans MT" pitchFamily="34" charset="0"/>
              </a:rPr>
              <a:t>Schedule, SMs </a:t>
            </a:r>
            <a:r>
              <a:rPr lang="en-US" sz="2000" dirty="0">
                <a:latin typeface="Gill Sans MT" pitchFamily="34" charset="0"/>
              </a:rPr>
              <a:t>e </a:t>
            </a:r>
            <a:r>
              <a:rPr lang="en-US" sz="2000" dirty="0" smtClean="0">
                <a:latin typeface="Gill Sans MT" pitchFamily="34" charset="0"/>
              </a:rPr>
              <a:t>Relatórios</a:t>
            </a:r>
            <a:endParaRPr lang="pt-BR" sz="2000" dirty="0">
              <a:latin typeface="Gill Sans MT" pitchFamily="34" charset="0"/>
            </a:endParaRPr>
          </a:p>
        </p:txBody>
      </p:sp>
      <p:sp>
        <p:nvSpPr>
          <p:cNvPr id="8" name="AutoShape 146"/>
          <p:cNvSpPr>
            <a:spLocks noChangeArrowheads="1"/>
          </p:cNvSpPr>
          <p:nvPr/>
        </p:nvSpPr>
        <p:spPr bwMode="auto">
          <a:xfrm>
            <a:off x="4860033" y="3573016"/>
            <a:ext cx="4125568" cy="3024336"/>
          </a:xfrm>
          <a:prstGeom prst="roundRect">
            <a:avLst>
              <a:gd name="adj" fmla="val 8750"/>
            </a:avLst>
          </a:prstGeom>
          <a:solidFill>
            <a:sysClr val="window" lastClr="FFFFFF"/>
          </a:solidFill>
          <a:ln w="3175" algn="ctr">
            <a:solidFill>
              <a:srgbClr val="FF9900"/>
            </a:solidFill>
            <a:round/>
            <a:headEnd/>
            <a:tailEnd/>
          </a:ln>
        </p:spPr>
        <p:txBody>
          <a:bodyPr lIns="22680" tIns="68040" rIns="22680" bIns="28804"/>
          <a:lstStyle/>
          <a:p>
            <a:pPr algn="ctr" defTabSz="576072">
              <a:spcAft>
                <a:spcPts val="159"/>
              </a:spcAft>
              <a:buClr>
                <a:srgbClr val="F38345"/>
              </a:buClr>
              <a:defRPr/>
            </a:pPr>
            <a:r>
              <a:rPr lang="pt-BR" sz="1100" b="1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Sumário</a:t>
            </a:r>
          </a:p>
          <a:p>
            <a:pPr algn="ctr" defTabSz="576072">
              <a:spcAft>
                <a:spcPts val="159"/>
              </a:spcAft>
              <a:buClr>
                <a:srgbClr val="F38345"/>
              </a:buClr>
              <a:defRPr/>
            </a:pPr>
            <a:endParaRPr lang="pt-BR" sz="600" b="1" kern="0" dirty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  <a:p>
            <a:pPr indent="-169164" algn="just" defTabSz="576072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Os </a:t>
            </a:r>
            <a:r>
              <a:rPr lang="pt-BR" sz="1100" kern="0" dirty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indicadores marcados com </a:t>
            </a: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N/A </a:t>
            </a:r>
            <a:r>
              <a:rPr lang="pt-BR" sz="1100" kern="0" dirty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não são passíveis de mensurar por falta de </a:t>
            </a: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solicitações </a:t>
            </a:r>
            <a:r>
              <a:rPr lang="pt-BR" sz="1100" kern="0" dirty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nessa </a:t>
            </a: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categoria.</a:t>
            </a:r>
            <a:endParaRPr lang="pt-BR" sz="1100" kern="0" dirty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  <a:p>
            <a:pPr indent="-169164" algn="just" defTabSz="576072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endParaRPr lang="pt-BR" sz="600" kern="0" dirty="0" smtClean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  <a:p>
            <a:pPr algn="ctr" defTabSz="576072">
              <a:spcAft>
                <a:spcPts val="159"/>
              </a:spcAft>
              <a:buClr>
                <a:srgbClr val="F38345"/>
              </a:buClr>
              <a:defRPr/>
            </a:pPr>
            <a:r>
              <a:rPr lang="pt-BR" sz="1100" b="1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Indicador: </a:t>
            </a:r>
            <a:r>
              <a:rPr lang="pt-BR" sz="1100" u="sng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SMs Executadas com Sucesso</a:t>
            </a:r>
          </a:p>
          <a:p>
            <a:pPr marL="171450" indent="-171450" defTabSz="576072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Tivemos 108 SMs executadas em jan/2015 pelo time N1, 102 SMs foram com sucesso;</a:t>
            </a:r>
          </a:p>
          <a:p>
            <a:pPr marL="171450" indent="-171450" defTabSz="576072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As 6 SMs com desvio falharam por problemas com a solicitação da SM, dados incorretos para execução;</a:t>
            </a:r>
          </a:p>
          <a:p>
            <a:pPr marL="171450" indent="-171450" defTabSz="576072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Não tivemos falha do time N1.</a:t>
            </a:r>
          </a:p>
          <a:p>
            <a:pPr defTabSz="576072">
              <a:spcAft>
                <a:spcPts val="159"/>
              </a:spcAft>
              <a:buClr>
                <a:srgbClr val="F38345"/>
              </a:buClr>
              <a:defRPr/>
            </a:pPr>
            <a:r>
              <a:rPr lang="pt-BR" sz="1100" b="1" kern="0" dirty="0" smtClean="0">
                <a:solidFill>
                  <a:sysClr val="windowText" lastClr="000000"/>
                </a:solidFill>
                <a:latin typeface="Gill Sans MT" pitchFamily="34" charset="0"/>
                <a:cs typeface="Arial" pitchFamily="34" charset="0"/>
              </a:rPr>
              <a:t>Ao lado, o gráfico de execução diária das SMs</a:t>
            </a:r>
            <a:endParaRPr lang="pt-BR" sz="1100" b="1" kern="0" dirty="0">
              <a:solidFill>
                <a:sysClr val="windowText" lastClr="000000"/>
              </a:solidFill>
              <a:latin typeface="Gill Sans MT" pitchFamily="34" charset="0"/>
              <a:cs typeface="Arial" pitchFamily="34" charset="0"/>
            </a:endParaRPr>
          </a:p>
        </p:txBody>
      </p:sp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600" y="3573016"/>
            <a:ext cx="4572000" cy="30243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Elipse 1"/>
          <p:cNvSpPr/>
          <p:nvPr/>
        </p:nvSpPr>
        <p:spPr>
          <a:xfrm>
            <a:off x="1867129" y="3861048"/>
            <a:ext cx="1224000" cy="288032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100" b="1" dirty="0" smtClean="0"/>
              <a:t>108 SMs</a:t>
            </a:r>
            <a:endParaRPr lang="pt-BR" sz="1100" b="1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00" y="432428"/>
            <a:ext cx="8820000" cy="3044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6706916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88F5F4-4191-4F34-96FE-68815E4D7AED}" type="slidenum">
              <a:rPr lang="pt-BR" smtClean="0"/>
              <a:pPr/>
              <a:t>13</a:t>
            </a:fld>
            <a:endParaRPr lang="pt-BR" dirty="0"/>
          </a:p>
        </p:txBody>
      </p:sp>
      <p:sp>
        <p:nvSpPr>
          <p:cNvPr id="9" name="Título 4"/>
          <p:cNvSpPr txBox="1">
            <a:spLocks/>
          </p:cNvSpPr>
          <p:nvPr/>
        </p:nvSpPr>
        <p:spPr>
          <a:xfrm>
            <a:off x="193129" y="-27384"/>
            <a:ext cx="8700271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r>
              <a:rPr lang="pt-BR" sz="2000" dirty="0">
                <a:latin typeface="Gill Sans MT" pitchFamily="34" charset="0"/>
              </a:rPr>
              <a:t>ONE PAGE </a:t>
            </a:r>
            <a:r>
              <a:rPr lang="pt-BR" sz="2000" dirty="0" smtClean="0">
                <a:latin typeface="Gill Sans MT" pitchFamily="34" charset="0"/>
              </a:rPr>
              <a:t>– Torres </a:t>
            </a:r>
            <a:r>
              <a:rPr lang="pt-BR" sz="2000" dirty="0">
                <a:latin typeface="Gill Sans MT" pitchFamily="34" charset="0"/>
              </a:rPr>
              <a:t>Técnicas N1 - Plano de Ação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0" y="483430"/>
            <a:ext cx="9000000" cy="50338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1566114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5"/>
          <p:cNvSpPr>
            <a:spLocks noChangeArrowheads="1"/>
          </p:cNvSpPr>
          <p:nvPr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tx2"/>
          </a:solidFill>
          <a:ln>
            <a:noFill/>
          </a:ln>
          <a:extLst/>
        </p:spPr>
        <p:txBody>
          <a:bodyPr lIns="57607" tIns="28804" rIns="57607" bIns="28804"/>
          <a:lstStyle/>
          <a:p>
            <a:endParaRPr lang="pt-BR" dirty="0"/>
          </a:p>
        </p:txBody>
      </p:sp>
      <p:sp>
        <p:nvSpPr>
          <p:cNvPr id="31747" name="Rectangle 3"/>
          <p:cNvSpPr>
            <a:spLocks/>
          </p:cNvSpPr>
          <p:nvPr/>
        </p:nvSpPr>
        <p:spPr bwMode="auto">
          <a:xfrm>
            <a:off x="535781" y="2102942"/>
            <a:ext cx="7822406" cy="2652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l">
              <a:lnSpc>
                <a:spcPct val="80000"/>
              </a:lnSpc>
            </a:pPr>
            <a:r>
              <a:rPr lang="en-US" sz="4400" dirty="0" err="1" smtClean="0">
                <a:solidFill>
                  <a:schemeClr val="bg1"/>
                </a:solidFill>
                <a:latin typeface="Gill Sans Std Light" pitchFamily="34" charset="0"/>
                <a:sym typeface="Gill Sans Std Light" pitchFamily="34" charset="0"/>
              </a:rPr>
              <a:t>Experiência</a:t>
            </a:r>
            <a:r>
              <a:rPr lang="en-US" sz="4400" dirty="0" smtClean="0">
                <a:solidFill>
                  <a:schemeClr val="bg1"/>
                </a:solidFill>
                <a:latin typeface="Gill Sans Std Light" pitchFamily="34" charset="0"/>
                <a:sym typeface="Gill Sans Std Light" pitchFamily="34" charset="0"/>
              </a:rPr>
              <a:t> CN</a:t>
            </a:r>
            <a:endParaRPr lang="en-US" sz="4400" dirty="0">
              <a:solidFill>
                <a:schemeClr val="bg1"/>
              </a:solidFill>
              <a:latin typeface="Gill Sans Std Light" pitchFamily="34" charset="0"/>
              <a:sym typeface="Gill Sans Std Light" pitchFamily="34" charset="0"/>
            </a:endParaRPr>
          </a:p>
        </p:txBody>
      </p:sp>
      <p:sp>
        <p:nvSpPr>
          <p:cNvPr id="31748" name="Rectangle 5"/>
          <p:cNvSpPr>
            <a:spLocks/>
          </p:cNvSpPr>
          <p:nvPr/>
        </p:nvSpPr>
        <p:spPr bwMode="auto">
          <a:xfrm>
            <a:off x="500063" y="6228465"/>
            <a:ext cx="973336" cy="98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25603" bIns="0"/>
          <a:lstStyle/>
          <a:p>
            <a:pPr marL="25003"/>
            <a:r>
              <a:rPr lang="en-US" sz="700" dirty="0">
                <a:solidFill>
                  <a:srgbClr val="D9D9D6"/>
                </a:solidFill>
                <a:latin typeface="Gill Sans Std" pitchFamily="34" charset="0"/>
                <a:sym typeface="Gill Sans Std" pitchFamily="34" charset="0"/>
              </a:rPr>
              <a:t>[ CONFIDENCIAL ]</a:t>
            </a:r>
          </a:p>
        </p:txBody>
      </p:sp>
      <p:pic>
        <p:nvPicPr>
          <p:cNvPr id="31749" name="Picture 5" descr="NAT_marca_branca_natura-01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872" y="5661248"/>
            <a:ext cx="704329" cy="642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13726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AutoShape 146"/>
          <p:cNvSpPr>
            <a:spLocks noChangeArrowheads="1"/>
          </p:cNvSpPr>
          <p:nvPr/>
        </p:nvSpPr>
        <p:spPr bwMode="auto">
          <a:xfrm>
            <a:off x="5205165" y="1124743"/>
            <a:ext cx="3759324" cy="4608513"/>
          </a:xfrm>
          <a:prstGeom prst="roundRect">
            <a:avLst>
              <a:gd name="adj" fmla="val 8750"/>
            </a:avLst>
          </a:prstGeom>
          <a:noFill/>
          <a:ln w="3175" algn="ctr">
            <a:solidFill>
              <a:srgbClr val="FF9900"/>
            </a:solidFill>
            <a:round/>
            <a:headEnd/>
            <a:tailEnd/>
          </a:ln>
        </p:spPr>
        <p:txBody>
          <a:bodyPr lIns="36000" tIns="108000" rIns="36000"/>
          <a:lstStyle/>
          <a:p>
            <a:pPr algn="l" fontAlgn="auto">
              <a:spcBef>
                <a:spcPts val="0"/>
              </a:spcBef>
              <a:spcAft>
                <a:spcPts val="400"/>
              </a:spcAft>
              <a:buClr>
                <a:srgbClr val="F38345"/>
              </a:buClr>
              <a:defRPr/>
            </a:pPr>
            <a:endParaRPr lang="pt-BR" sz="1800" dirty="0" smtClean="0">
              <a:solidFill>
                <a:schemeClr val="tx1"/>
              </a:solidFill>
              <a:latin typeface="Gill Sans MT" pitchFamily="34" charset="0"/>
              <a:cs typeface="Arial" pitchFamily="34" charset="0"/>
            </a:endParaRPr>
          </a:p>
        </p:txBody>
      </p:sp>
      <p:sp>
        <p:nvSpPr>
          <p:cNvPr id="17410" name="TextBox 5"/>
          <p:cNvSpPr txBox="1">
            <a:spLocks noChangeArrowheads="1"/>
          </p:cNvSpPr>
          <p:nvPr/>
        </p:nvSpPr>
        <p:spPr bwMode="auto">
          <a:xfrm>
            <a:off x="523875" y="223838"/>
            <a:ext cx="18473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endParaRPr lang="en-US" sz="800" dirty="0">
              <a:solidFill>
                <a:srgbClr val="B1C131"/>
              </a:solidFill>
              <a:latin typeface="Verdana" charset="0"/>
            </a:endParaRPr>
          </a:p>
        </p:txBody>
      </p:sp>
      <p:sp>
        <p:nvSpPr>
          <p:cNvPr id="17411" name="Rectangle 2"/>
          <p:cNvSpPr>
            <a:spLocks noChangeArrowheads="1"/>
          </p:cNvSpPr>
          <p:nvPr/>
        </p:nvSpPr>
        <p:spPr bwMode="auto">
          <a:xfrm>
            <a:off x="564185" y="439282"/>
            <a:ext cx="7486029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/>
          <a:p>
            <a:r>
              <a:rPr lang="en-US" sz="3200" dirty="0" err="1">
                <a:solidFill>
                  <a:srgbClr val="910048"/>
                </a:solidFill>
                <a:latin typeface="Gill Sans MT" pitchFamily="34" charset="0"/>
                <a:ea typeface="ＭＳ Ｐゴシック" charset="0"/>
                <a:cs typeface="Verdana"/>
              </a:rPr>
              <a:t>Ativos</a:t>
            </a:r>
            <a:r>
              <a:rPr lang="en-US" sz="3200" dirty="0">
                <a:solidFill>
                  <a:srgbClr val="910048"/>
                </a:solidFill>
                <a:latin typeface="Gill Sans MT" pitchFamily="34" charset="0"/>
                <a:ea typeface="ＭＳ Ｐゴシック" charset="0"/>
                <a:cs typeface="Verdana"/>
              </a:rPr>
              <a:t> </a:t>
            </a:r>
            <a:r>
              <a:rPr lang="en-US" sz="3200" dirty="0" err="1">
                <a:solidFill>
                  <a:srgbClr val="910048"/>
                </a:solidFill>
                <a:latin typeface="Gill Sans MT" pitchFamily="34" charset="0"/>
                <a:ea typeface="ＭＳ Ｐゴシック" charset="0"/>
                <a:cs typeface="Verdana"/>
              </a:rPr>
              <a:t>Reativos</a:t>
            </a:r>
            <a:r>
              <a:rPr lang="en-US" sz="3200" dirty="0">
                <a:solidFill>
                  <a:srgbClr val="910048"/>
                </a:solidFill>
                <a:latin typeface="Gill Sans MT" pitchFamily="34" charset="0"/>
                <a:ea typeface="ＭＳ Ｐゴシック" charset="0"/>
                <a:cs typeface="Verdana"/>
              </a:rPr>
              <a:t> – </a:t>
            </a:r>
            <a:r>
              <a:rPr lang="en-US" sz="3200" dirty="0" err="1">
                <a:solidFill>
                  <a:srgbClr val="910048"/>
                </a:solidFill>
                <a:latin typeface="Gill Sans MT" pitchFamily="34" charset="0"/>
                <a:ea typeface="ＭＳ Ｐゴシック" charset="0"/>
                <a:cs typeface="Verdana"/>
              </a:rPr>
              <a:t>Força</a:t>
            </a:r>
            <a:r>
              <a:rPr lang="en-US" sz="3200" dirty="0">
                <a:solidFill>
                  <a:srgbClr val="910048"/>
                </a:solidFill>
                <a:latin typeface="Gill Sans MT" pitchFamily="34" charset="0"/>
                <a:ea typeface="ＭＳ Ｐゴシック" charset="0"/>
                <a:cs typeface="Verdana"/>
              </a:rPr>
              <a:t> de Vendas</a:t>
            </a:r>
          </a:p>
        </p:txBody>
      </p:sp>
      <p:pic>
        <p:nvPicPr>
          <p:cNvPr id="17414" name="Picture 8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3600" y="5877272"/>
            <a:ext cx="750888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tângulo 6"/>
          <p:cNvSpPr/>
          <p:nvPr/>
        </p:nvSpPr>
        <p:spPr>
          <a:xfrm>
            <a:off x="5205164" y="1402319"/>
            <a:ext cx="3910262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endParaRPr lang="pt-BR" sz="1600" dirty="0" smtClean="0">
              <a:solidFill>
                <a:srgbClr val="7F3D1A"/>
              </a:solidFill>
              <a:latin typeface="Gill Sans MT" pitchFamily="34" charset="0"/>
              <a:cs typeface="Arial" charset="0"/>
            </a:endParaRPr>
          </a:p>
          <a:p>
            <a:pPr marL="285750" indent="-285750">
              <a:buFont typeface="Arial" pitchFamily="34" charset="0"/>
              <a:buChar char="•"/>
            </a:pPr>
            <a:endParaRPr lang="pt-BR" sz="1600" dirty="0">
              <a:solidFill>
                <a:srgbClr val="7F3D1A"/>
              </a:solidFill>
              <a:latin typeface="Gill Sans MT" pitchFamily="34" charset="0"/>
              <a:cs typeface="Arial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pt-BR" sz="1600" dirty="0" smtClean="0">
                <a:solidFill>
                  <a:srgbClr val="7F3D1A"/>
                </a:solidFill>
                <a:latin typeface="Gill Sans MT" pitchFamily="34" charset="0"/>
                <a:cs typeface="Arial" charset="0"/>
              </a:rPr>
              <a:t>As </a:t>
            </a:r>
            <a:r>
              <a:rPr lang="pt-BR" sz="1600" dirty="0">
                <a:solidFill>
                  <a:srgbClr val="7F3D1A"/>
                </a:solidFill>
                <a:latin typeface="Gill Sans MT" pitchFamily="34" charset="0"/>
                <a:cs typeface="Arial" charset="0"/>
              </a:rPr>
              <a:t>informações dos quatro primeiros indicadores serão contabilizadas a partir de 16/02 (foi adicionado novo campo no SharePoint que será preenchido manualmente)</a:t>
            </a:r>
          </a:p>
          <a:p>
            <a:endParaRPr lang="pt-BR" sz="1600" dirty="0">
              <a:solidFill>
                <a:srgbClr val="7F3D1A"/>
              </a:solidFill>
              <a:latin typeface="Gill Sans MT" pitchFamily="34" charset="0"/>
              <a:cs typeface="Arial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pt-BR" sz="1600" dirty="0">
                <a:solidFill>
                  <a:srgbClr val="7F3D1A"/>
                </a:solidFill>
                <a:latin typeface="Gill Sans MT" pitchFamily="34" charset="0"/>
                <a:cs typeface="Arial" charset="0"/>
              </a:rPr>
              <a:t>A pesquisa de satisfação será disponibilizada quando for realizada a migração dos registro dos atendimento para a CA (Definição da data será na próxima semana, 24/02)</a:t>
            </a:r>
          </a:p>
        </p:txBody>
      </p:sp>
      <p:sp>
        <p:nvSpPr>
          <p:cNvPr id="27" name="Rectangle 6"/>
          <p:cNvSpPr>
            <a:spLocks noChangeArrowheads="1"/>
          </p:cNvSpPr>
          <p:nvPr/>
        </p:nvSpPr>
        <p:spPr bwMode="auto">
          <a:xfrm>
            <a:off x="5796136" y="979914"/>
            <a:ext cx="1589813" cy="42240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80000" tIns="72000" rIns="180000" bIns="72000" anchor="ctr">
            <a:spAutoFit/>
          </a:bodyPr>
          <a:lstStyle/>
          <a:p>
            <a:pPr algn="l">
              <a:spcBef>
                <a:spcPct val="50000"/>
              </a:spcBef>
            </a:pPr>
            <a:r>
              <a:rPr lang="pt-BR" sz="1800" b="0" dirty="0" smtClean="0">
                <a:solidFill>
                  <a:srgbClr val="7F3D1A"/>
                </a:solidFill>
                <a:latin typeface="Gill Sans MT" pitchFamily="34" charset="0"/>
                <a:cs typeface="Arial" charset="0"/>
              </a:rPr>
              <a:t>Comentários</a:t>
            </a:r>
            <a:endParaRPr lang="pt-BR" sz="1800" b="0" dirty="0">
              <a:solidFill>
                <a:srgbClr val="7F3D1A"/>
              </a:solidFill>
              <a:latin typeface="Gill Sans MT" pitchFamily="34" charset="0"/>
              <a:cs typeface="Arial" pitchFamily="34" charset="0"/>
            </a:endParaRPr>
          </a:p>
        </p:txBody>
      </p:sp>
      <p:pic>
        <p:nvPicPr>
          <p:cNvPr id="11266" name="Picture 2" descr="image00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1157631"/>
            <a:ext cx="4764782" cy="50625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28348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7" name="Rectangle 2"/>
          <p:cNvSpPr>
            <a:spLocks noChangeArrowheads="1"/>
          </p:cNvSpPr>
          <p:nvPr/>
        </p:nvSpPr>
        <p:spPr bwMode="auto">
          <a:xfrm>
            <a:off x="532580" y="476672"/>
            <a:ext cx="7145337" cy="3194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60000"/>
              </a:lnSpc>
            </a:pPr>
            <a:r>
              <a:rPr lang="en-US" sz="3200" dirty="0" err="1">
                <a:solidFill>
                  <a:srgbClr val="910048"/>
                </a:solidFill>
                <a:latin typeface="Gill Sans MT" pitchFamily="34" charset="0"/>
                <a:ea typeface="ＭＳ Ｐゴシック" charset="0"/>
                <a:cs typeface="Verdana"/>
                <a:sym typeface="Gill Sans" charset="0"/>
              </a:rPr>
              <a:t>Atendimentos</a:t>
            </a:r>
            <a:r>
              <a:rPr lang="en-US" sz="3200" dirty="0">
                <a:solidFill>
                  <a:srgbClr val="910048"/>
                </a:solidFill>
                <a:latin typeface="Gill Sans MT" pitchFamily="34" charset="0"/>
                <a:ea typeface="ＭＳ Ｐゴシック" charset="0"/>
                <a:cs typeface="Verdana"/>
                <a:sym typeface="Gill Sans" charset="0"/>
              </a:rPr>
              <a:t> </a:t>
            </a:r>
            <a:r>
              <a:rPr lang="en-US" sz="3200" dirty="0" err="1" smtClean="0">
                <a:solidFill>
                  <a:srgbClr val="910048"/>
                </a:solidFill>
                <a:latin typeface="Gill Sans MT" pitchFamily="34" charset="0"/>
                <a:ea typeface="ＭＳ Ｐゴシック" charset="0"/>
                <a:cs typeface="Verdana"/>
                <a:sym typeface="Gill Sans" charset="0"/>
              </a:rPr>
              <a:t>ExpCN</a:t>
            </a:r>
            <a:endParaRPr lang="pt-BR" sz="3200" dirty="0">
              <a:solidFill>
                <a:srgbClr val="910048"/>
              </a:solidFill>
              <a:latin typeface="Gill Sans MT" pitchFamily="34" charset="0"/>
              <a:ea typeface="ＭＳ Ｐゴシック" charset="0"/>
              <a:cs typeface="Verdana"/>
              <a:sym typeface="Gill Sans" charset="0"/>
            </a:endParaRPr>
          </a:p>
        </p:txBody>
      </p:sp>
      <p:pic>
        <p:nvPicPr>
          <p:cNvPr id="18438" name="Picture 8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800" y="5802313"/>
            <a:ext cx="750888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484784"/>
            <a:ext cx="6536725" cy="23042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580" y="3839342"/>
            <a:ext cx="4975524" cy="26487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16416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7" name="Rectangle 2"/>
          <p:cNvSpPr>
            <a:spLocks noChangeArrowheads="1"/>
          </p:cNvSpPr>
          <p:nvPr/>
        </p:nvSpPr>
        <p:spPr bwMode="auto">
          <a:xfrm>
            <a:off x="532580" y="476672"/>
            <a:ext cx="7145337" cy="229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60000"/>
              </a:lnSpc>
            </a:pPr>
            <a:r>
              <a:rPr lang="en-US" sz="2400" b="1" dirty="0" err="1" smtClean="0">
                <a:solidFill>
                  <a:srgbClr val="7F7F7F"/>
                </a:solidFill>
                <a:latin typeface="Verdana" charset="0"/>
              </a:rPr>
              <a:t>Ações</a:t>
            </a:r>
            <a:r>
              <a:rPr lang="en-US" sz="2400" b="1" dirty="0" smtClean="0">
                <a:solidFill>
                  <a:srgbClr val="7F7F7F"/>
                </a:solidFill>
                <a:latin typeface="Verdana" charset="0"/>
              </a:rPr>
              <a:t> e </a:t>
            </a:r>
            <a:r>
              <a:rPr lang="en-US" sz="2400" b="1" dirty="0" err="1" smtClean="0">
                <a:solidFill>
                  <a:srgbClr val="7F7F7F"/>
                </a:solidFill>
                <a:latin typeface="Verdana" charset="0"/>
              </a:rPr>
              <a:t>Melhorias</a:t>
            </a:r>
            <a:r>
              <a:rPr lang="en-US" sz="2400" b="1" dirty="0" smtClean="0">
                <a:solidFill>
                  <a:srgbClr val="7F7F7F"/>
                </a:solidFill>
                <a:latin typeface="Verdana" charset="0"/>
              </a:rPr>
              <a:t> </a:t>
            </a:r>
            <a:endParaRPr lang="pt-BR" sz="2400" dirty="0">
              <a:solidFill>
                <a:srgbClr val="7F7F7F"/>
              </a:solidFill>
              <a:latin typeface="Verdana" charset="0"/>
            </a:endParaRPr>
          </a:p>
        </p:txBody>
      </p:sp>
      <p:pic>
        <p:nvPicPr>
          <p:cNvPr id="18438" name="Picture 8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800" y="5802313"/>
            <a:ext cx="750888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974" y="1140521"/>
            <a:ext cx="8915151" cy="36566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112023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5"/>
          <p:cNvSpPr>
            <a:spLocks noChangeArrowheads="1"/>
          </p:cNvSpPr>
          <p:nvPr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tx2"/>
          </a:solidFill>
          <a:ln>
            <a:noFill/>
          </a:ln>
          <a:extLst/>
        </p:spPr>
        <p:txBody>
          <a:bodyPr lIns="57607" tIns="28804" rIns="57607" bIns="28804"/>
          <a:lstStyle/>
          <a:p>
            <a:endParaRPr lang="pt-BR"/>
          </a:p>
        </p:txBody>
      </p:sp>
      <p:sp>
        <p:nvSpPr>
          <p:cNvPr id="31747" name="Rectangle 3"/>
          <p:cNvSpPr>
            <a:spLocks/>
          </p:cNvSpPr>
          <p:nvPr/>
        </p:nvSpPr>
        <p:spPr bwMode="auto">
          <a:xfrm>
            <a:off x="535781" y="2107406"/>
            <a:ext cx="7822406" cy="2652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l">
              <a:lnSpc>
                <a:spcPct val="80000"/>
              </a:lnSpc>
            </a:pPr>
            <a:r>
              <a:rPr lang="en-US" sz="4400" dirty="0" err="1" smtClean="0">
                <a:solidFill>
                  <a:schemeClr val="bg1"/>
                </a:solidFill>
                <a:latin typeface="Gill Sans Std Light" pitchFamily="34" charset="0"/>
                <a:sym typeface="Gill Sans Std Light" pitchFamily="34" charset="0"/>
              </a:rPr>
              <a:t>Mobilidade</a:t>
            </a:r>
            <a:endParaRPr lang="en-US" sz="4400" dirty="0">
              <a:solidFill>
                <a:schemeClr val="bg1"/>
              </a:solidFill>
              <a:latin typeface="Gill Sans Std Light" pitchFamily="34" charset="0"/>
              <a:sym typeface="Gill Sans Std Light" pitchFamily="34" charset="0"/>
            </a:endParaRPr>
          </a:p>
        </p:txBody>
      </p:sp>
      <p:sp>
        <p:nvSpPr>
          <p:cNvPr id="31748" name="Rectangle 5"/>
          <p:cNvSpPr>
            <a:spLocks/>
          </p:cNvSpPr>
          <p:nvPr/>
        </p:nvSpPr>
        <p:spPr bwMode="auto">
          <a:xfrm>
            <a:off x="500063" y="6228465"/>
            <a:ext cx="973336" cy="98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25603" bIns="0"/>
          <a:lstStyle/>
          <a:p>
            <a:pPr marL="25003"/>
            <a:r>
              <a:rPr lang="en-US" sz="700">
                <a:solidFill>
                  <a:srgbClr val="D9D9D6"/>
                </a:solidFill>
                <a:latin typeface="Gill Sans Std" pitchFamily="34" charset="0"/>
                <a:sym typeface="Gill Sans Std" pitchFamily="34" charset="0"/>
              </a:rPr>
              <a:t>[ CONFIDENCIAL ]</a:t>
            </a:r>
          </a:p>
        </p:txBody>
      </p:sp>
      <p:pic>
        <p:nvPicPr>
          <p:cNvPr id="31749" name="Picture 5" descr="NAT_marca_branca_natura-01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872" y="5671468"/>
            <a:ext cx="704329" cy="642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71841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Gráfico 3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2026574"/>
              </p:ext>
            </p:extLst>
          </p:nvPr>
        </p:nvGraphicFramePr>
        <p:xfrm>
          <a:off x="107504" y="4241702"/>
          <a:ext cx="5048251" cy="2557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3" name="Gráfico 3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90964248"/>
              </p:ext>
            </p:extLst>
          </p:nvPr>
        </p:nvGraphicFramePr>
        <p:xfrm>
          <a:off x="345630" y="4508403"/>
          <a:ext cx="4791075" cy="6619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AutoShape 146"/>
          <p:cNvSpPr>
            <a:spLocks noChangeArrowheads="1"/>
          </p:cNvSpPr>
          <p:nvPr/>
        </p:nvSpPr>
        <p:spPr bwMode="auto">
          <a:xfrm>
            <a:off x="5220072" y="4221088"/>
            <a:ext cx="3888432" cy="2592288"/>
          </a:xfrm>
          <a:prstGeom prst="roundRect">
            <a:avLst>
              <a:gd name="adj" fmla="val 8750"/>
            </a:avLst>
          </a:prstGeom>
          <a:solidFill>
            <a:schemeClr val="bg1"/>
          </a:solidFill>
          <a:ln w="3175" algn="ctr">
            <a:solidFill>
              <a:srgbClr val="FF9900"/>
            </a:solidFill>
            <a:round/>
            <a:headEnd/>
            <a:tailEnd/>
          </a:ln>
        </p:spPr>
        <p:txBody>
          <a:bodyPr lIns="36000" tIns="108000" rIns="36000" bIns="45721"/>
          <a:lstStyle/>
          <a:p>
            <a:pPr>
              <a:spcAft>
                <a:spcPts val="252"/>
              </a:spcAft>
              <a:buClr>
                <a:srgbClr val="F38345"/>
              </a:buClr>
              <a:defRPr/>
            </a:pPr>
            <a:r>
              <a:rPr lang="pt-BR" sz="1100" b="1" dirty="0" smtClean="0">
                <a:latin typeface="Gill Sans MT" pitchFamily="34" charset="0"/>
                <a:cs typeface="Arial" pitchFamily="34" charset="0"/>
              </a:rPr>
              <a:t>SUMÁRIO EXECUTIVO</a:t>
            </a:r>
            <a:endParaRPr lang="pt-BR" sz="1100" b="1" dirty="0">
              <a:latin typeface="Gill Sans MT" pitchFamily="34" charset="0"/>
              <a:cs typeface="Arial" pitchFamily="34" charset="0"/>
            </a:endParaRPr>
          </a:p>
          <a:p>
            <a:pPr indent="-268478" algn="just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Incidentes:  Baixo </a:t>
            </a:r>
            <a:r>
              <a:rPr lang="pt-BR" sz="1050" dirty="0">
                <a:latin typeface="Gill Sans MT" pitchFamily="34" charset="0"/>
                <a:cs typeface="Arial" pitchFamily="34" charset="0"/>
              </a:rPr>
              <a:t>índice de atingimento, devido a </a:t>
            </a: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necessidade de ajustes pontuais em categorias e SLAs identificados após o golive do projeto ITSM. </a:t>
            </a:r>
            <a:r>
              <a:rPr lang="pt-BR" sz="1050" dirty="0">
                <a:latin typeface="Gill Sans MT" pitchFamily="34" charset="0"/>
                <a:cs typeface="Arial" pitchFamily="34" charset="0"/>
              </a:rPr>
              <a:t>Plano de ação já contemplado para correção das categorias</a:t>
            </a: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.</a:t>
            </a:r>
          </a:p>
          <a:p>
            <a:pPr indent="-268478" algn="just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endParaRPr lang="pt-BR" sz="700" dirty="0" smtClean="0">
              <a:latin typeface="Gill Sans MT" pitchFamily="34" charset="0"/>
              <a:cs typeface="Arial" pitchFamily="34" charset="0"/>
            </a:endParaRPr>
          </a:p>
          <a:p>
            <a:pPr indent="-268478" algn="just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050" dirty="0">
                <a:latin typeface="Gill Sans MT" pitchFamily="34" charset="0"/>
                <a:cs typeface="Arial" pitchFamily="34" charset="0"/>
              </a:rPr>
              <a:t>A tendência geral dos chamados é apresentar melhoria nas próximas semanas, por conta dos ajustes e amadurecimento dos </a:t>
            </a: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processos.</a:t>
            </a:r>
          </a:p>
          <a:p>
            <a:pPr indent="-268478" algn="just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endParaRPr lang="pt-BR" sz="700" dirty="0" smtClean="0">
              <a:latin typeface="Gill Sans MT" pitchFamily="34" charset="0"/>
              <a:cs typeface="Arial" pitchFamily="34" charset="0"/>
            </a:endParaRPr>
          </a:p>
          <a:p>
            <a:pPr indent="-268478" algn="just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Evolução da Contestação: Vermelho = Valor da conta Natura. Verde = Valor recuperado pela contestação.</a:t>
            </a:r>
          </a:p>
          <a:p>
            <a:pPr indent="-268478" algn="just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endParaRPr lang="pt-BR" sz="700" dirty="0">
              <a:latin typeface="Gill Sans MT" pitchFamily="34" charset="0"/>
              <a:cs typeface="Arial" pitchFamily="34" charset="0"/>
            </a:endParaRPr>
          </a:p>
          <a:p>
            <a:pPr indent="-268478" algn="just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Valor médio de recuperação R$ 114.000,00 (24%).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4221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27533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88F5F4-4191-4F34-96FE-68815E4D7AED}" type="slidenum">
              <a:rPr lang="pt-BR" smtClean="0"/>
              <a:pPr/>
              <a:t>20</a:t>
            </a:fld>
            <a:endParaRPr lang="pt-BR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378" y="620688"/>
            <a:ext cx="9147378" cy="4986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6030480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5"/>
          <p:cNvSpPr>
            <a:spLocks noChangeArrowheads="1"/>
          </p:cNvSpPr>
          <p:nvPr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tx2"/>
          </a:solidFill>
          <a:ln>
            <a:noFill/>
          </a:ln>
          <a:extLst/>
        </p:spPr>
        <p:txBody>
          <a:bodyPr lIns="57607" tIns="28804" rIns="57607" bIns="28804"/>
          <a:lstStyle/>
          <a:p>
            <a:endParaRPr lang="pt-BR"/>
          </a:p>
        </p:txBody>
      </p:sp>
      <p:sp>
        <p:nvSpPr>
          <p:cNvPr id="31747" name="Rectangle 3"/>
          <p:cNvSpPr>
            <a:spLocks/>
          </p:cNvSpPr>
          <p:nvPr/>
        </p:nvSpPr>
        <p:spPr bwMode="auto">
          <a:xfrm>
            <a:off x="535781" y="2107406"/>
            <a:ext cx="7822406" cy="2652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l">
              <a:lnSpc>
                <a:spcPct val="80000"/>
              </a:lnSpc>
            </a:pPr>
            <a:r>
              <a:rPr lang="en-US" sz="4400" dirty="0" smtClean="0">
                <a:solidFill>
                  <a:schemeClr val="bg1"/>
                </a:solidFill>
                <a:latin typeface="Gill Sans Std Light" pitchFamily="34" charset="0"/>
                <a:sym typeface="Gill Sans Std Light" pitchFamily="34" charset="0"/>
              </a:rPr>
              <a:t>Field Services</a:t>
            </a:r>
            <a:endParaRPr lang="en-US" sz="4400" dirty="0">
              <a:solidFill>
                <a:schemeClr val="bg1"/>
              </a:solidFill>
              <a:latin typeface="Gill Sans Std Light" pitchFamily="34" charset="0"/>
              <a:sym typeface="Gill Sans Std Light" pitchFamily="34" charset="0"/>
            </a:endParaRPr>
          </a:p>
        </p:txBody>
      </p:sp>
      <p:sp>
        <p:nvSpPr>
          <p:cNvPr id="31748" name="Rectangle 5"/>
          <p:cNvSpPr>
            <a:spLocks/>
          </p:cNvSpPr>
          <p:nvPr/>
        </p:nvSpPr>
        <p:spPr bwMode="auto">
          <a:xfrm>
            <a:off x="500063" y="6228465"/>
            <a:ext cx="973336" cy="98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25603" bIns="0"/>
          <a:lstStyle/>
          <a:p>
            <a:pPr marL="25003"/>
            <a:r>
              <a:rPr lang="en-US" sz="700">
                <a:solidFill>
                  <a:srgbClr val="D9D9D6"/>
                </a:solidFill>
                <a:latin typeface="Gill Sans Std" pitchFamily="34" charset="0"/>
                <a:sym typeface="Gill Sans Std" pitchFamily="34" charset="0"/>
              </a:rPr>
              <a:t>[ CONFIDENCIAL ]</a:t>
            </a:r>
          </a:p>
        </p:txBody>
      </p:sp>
      <p:pic>
        <p:nvPicPr>
          <p:cNvPr id="31749" name="Picture 5" descr="NAT_marca_branca_natura-01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872" y="5671468"/>
            <a:ext cx="704329" cy="642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4588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4"/>
          <p:cNvSpPr txBox="1">
            <a:spLocks/>
          </p:cNvSpPr>
          <p:nvPr/>
        </p:nvSpPr>
        <p:spPr>
          <a:xfrm>
            <a:off x="193130" y="-27384"/>
            <a:ext cx="5170958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pPr algn="l"/>
            <a:r>
              <a:rPr lang="pt-BR" sz="2000" dirty="0">
                <a:latin typeface="Gill Sans MT" pitchFamily="34" charset="0"/>
              </a:rPr>
              <a:t>ONE PAGE – Field Service</a:t>
            </a:r>
          </a:p>
        </p:txBody>
      </p:sp>
      <p:sp>
        <p:nvSpPr>
          <p:cNvPr id="27" name="AutoShape 146"/>
          <p:cNvSpPr>
            <a:spLocks noChangeArrowheads="1"/>
          </p:cNvSpPr>
          <p:nvPr/>
        </p:nvSpPr>
        <p:spPr bwMode="auto">
          <a:xfrm>
            <a:off x="37812" y="5229199"/>
            <a:ext cx="8854668" cy="1535283"/>
          </a:xfrm>
          <a:prstGeom prst="roundRect">
            <a:avLst>
              <a:gd name="adj" fmla="val 8750"/>
            </a:avLst>
          </a:prstGeom>
          <a:solidFill>
            <a:schemeClr val="bg1"/>
          </a:solidFill>
          <a:ln w="3175" algn="ctr">
            <a:solidFill>
              <a:srgbClr val="FF9900"/>
            </a:solidFill>
            <a:round/>
            <a:headEnd/>
            <a:tailEnd/>
          </a:ln>
        </p:spPr>
        <p:txBody>
          <a:bodyPr lIns="22680" tIns="68040" rIns="22680" bIns="28804"/>
          <a:lstStyle/>
          <a:p>
            <a:pPr marL="180023" indent="-180023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Os indicadores do mês de 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fevereiro </a:t>
            </a: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são 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parciais até 19/02, </a:t>
            </a: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o fechamento será entregue até o 5º dia útil dê Março</a:t>
            </a:r>
          </a:p>
          <a:p>
            <a:pPr marL="180023" indent="-180023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Field Service Brasil - Comparando Janeiro/15 com o mês de Dezembro/14 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 </a:t>
            </a: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tivemos 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uma redução </a:t>
            </a: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de 12% dos chamados fechados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. Pela tendência haverá um acréscimo no numero de chamados fechados em fevereiro.</a:t>
            </a:r>
            <a:endParaRPr lang="pt-BR" sz="1100" dirty="0">
              <a:solidFill>
                <a:srgbClr val="7F3D1A"/>
              </a:solidFill>
              <a:latin typeface="Gill Sans MT" pitchFamily="34" charset="0"/>
              <a:cs typeface="Arial" pitchFamily="34" charset="0"/>
            </a:endParaRPr>
          </a:p>
          <a:p>
            <a:pPr marL="180023" indent="-180023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Field Service </a:t>
            </a:r>
            <a:r>
              <a:rPr lang="pt-BR" sz="1100" dirty="0" err="1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OIs</a:t>
            </a: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  - Comparando Janeiro/15 com o mês de Dezembro/14  tivemos uma redução de 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52% </a:t>
            </a: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dos chamados fechados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. </a:t>
            </a: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Pela tendência haverá um acréscimo no numero de chamados fechados em 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fevereiro.</a:t>
            </a:r>
            <a:endParaRPr lang="pt-BR" sz="1100" dirty="0">
              <a:solidFill>
                <a:srgbClr val="7F3D1A"/>
              </a:solidFill>
              <a:latin typeface="Gill Sans MT" pitchFamily="34" charset="0"/>
              <a:cs typeface="Arial" pitchFamily="34" charset="0"/>
            </a:endParaRPr>
          </a:p>
          <a:p>
            <a:pPr marL="180023" indent="-180023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* </a:t>
            </a: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Pesquisa de Satisfação:</a:t>
            </a:r>
            <a:r>
              <a:rPr lang="pt-BR" sz="12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/>
            </a:r>
            <a:br>
              <a:rPr lang="pt-BR" sz="12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</a:br>
            <a:r>
              <a:rPr lang="pt-BR" sz="12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Para o r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esultado </a:t>
            </a: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obtido do atendimento FIELD SERVICES 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. Se </a:t>
            </a: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um chamado recebe avaliação negativa uma análise de QA (entrevista) é feita pela equipe 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SONDA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. Também é verificado se a avaliação é referente ao atendimento de FIELD ou de algum outro grupo.</a:t>
            </a:r>
            <a:endParaRPr lang="pt-BR" sz="1100" dirty="0">
              <a:solidFill>
                <a:schemeClr val="tx1">
                  <a:lumMod val="50000"/>
                </a:schemeClr>
              </a:solidFill>
              <a:latin typeface="Gill Sans MT" pitchFamily="34" charset="0"/>
              <a:cs typeface="Arial" pitchFamily="34" charset="0"/>
            </a:endParaRPr>
          </a:p>
        </p:txBody>
      </p:sp>
      <p:sp>
        <p:nvSpPr>
          <p:cNvPr id="29" name="Rectangle 2"/>
          <p:cNvSpPr>
            <a:spLocks noChangeArrowheads="1"/>
          </p:cNvSpPr>
          <p:nvPr/>
        </p:nvSpPr>
        <p:spPr bwMode="auto">
          <a:xfrm>
            <a:off x="11297" y="5013176"/>
            <a:ext cx="1054210" cy="27627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3400" tIns="45360" rIns="113400" bIns="4536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2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Comentários</a:t>
            </a:r>
          </a:p>
        </p:txBody>
      </p:sp>
      <p:pic>
        <p:nvPicPr>
          <p:cNvPr id="11290" name="Picture 2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12" y="621455"/>
            <a:ext cx="8344946" cy="4319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95697683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4"/>
          <p:cNvSpPr txBox="1">
            <a:spLocks/>
          </p:cNvSpPr>
          <p:nvPr/>
        </p:nvSpPr>
        <p:spPr>
          <a:xfrm>
            <a:off x="193130" y="-27384"/>
            <a:ext cx="6539110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pPr algn="l"/>
            <a:r>
              <a:rPr lang="pt-BR" sz="2000" dirty="0">
                <a:latin typeface="Gill Sans MT" pitchFamily="34" charset="0"/>
              </a:rPr>
              <a:t>ONE PAGE – </a:t>
            </a:r>
            <a:r>
              <a:rPr lang="pt-BR" sz="2000" dirty="0" smtClean="0">
                <a:latin typeface="Gill Sans MT" pitchFamily="34" charset="0"/>
              </a:rPr>
              <a:t>Videoconferência e Outsourcing de Impressão</a:t>
            </a:r>
            <a:endParaRPr lang="pt-BR" sz="2000" dirty="0">
              <a:latin typeface="Gill Sans MT" pitchFamily="34" charset="0"/>
            </a:endParaRPr>
          </a:p>
        </p:txBody>
      </p:sp>
      <p:sp>
        <p:nvSpPr>
          <p:cNvPr id="27" name="AutoShape 146"/>
          <p:cNvSpPr>
            <a:spLocks noChangeArrowheads="1"/>
          </p:cNvSpPr>
          <p:nvPr/>
        </p:nvSpPr>
        <p:spPr bwMode="auto">
          <a:xfrm>
            <a:off x="37812" y="5229199"/>
            <a:ext cx="8566636" cy="1535283"/>
          </a:xfrm>
          <a:prstGeom prst="roundRect">
            <a:avLst>
              <a:gd name="adj" fmla="val 8750"/>
            </a:avLst>
          </a:prstGeom>
          <a:solidFill>
            <a:schemeClr val="bg1"/>
          </a:solidFill>
          <a:ln w="3175" algn="ctr">
            <a:solidFill>
              <a:srgbClr val="FF9900"/>
            </a:solidFill>
            <a:round/>
            <a:headEnd/>
            <a:tailEnd/>
          </a:ln>
        </p:spPr>
        <p:txBody>
          <a:bodyPr lIns="22680" tIns="68040" rIns="22680" bIns="28804"/>
          <a:lstStyle/>
          <a:p>
            <a:pPr marL="180023" indent="-180023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Videoconferência : existe um plano de ação em andamento que consiste em  : Padronização dos atendimentos / Adequação dos agendamentos /  Capacitação dos novos analistas e revisão da Politica, fluxos e processos de Videoconferência</a:t>
            </a:r>
          </a:p>
          <a:p>
            <a:pPr marL="180023" indent="-180023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endParaRPr lang="pt-BR" sz="1100" dirty="0">
              <a:solidFill>
                <a:srgbClr val="7F3D1A"/>
              </a:solidFill>
              <a:latin typeface="Gill Sans MT" pitchFamily="34" charset="0"/>
              <a:cs typeface="Arial" pitchFamily="34" charset="0"/>
            </a:endParaRPr>
          </a:p>
          <a:p>
            <a:pPr marL="180023" indent="-180023">
              <a:spcAft>
                <a:spcPts val="159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Outsourcing de impressão : Plano de ação para ajustes operacionais no sites remotos  : </a:t>
            </a:r>
            <a:r>
              <a:rPr lang="pt-BR" sz="1100" dirty="0" err="1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Ecoparque</a:t>
            </a: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 / Jaboatão  / 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Curitiba / </a:t>
            </a:r>
            <a:r>
              <a:rPr lang="pt-BR" sz="11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Matias </a:t>
            </a:r>
            <a:r>
              <a:rPr lang="pt-BR" sz="1100" dirty="0" smtClean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Barbosa / Salvador</a:t>
            </a:r>
            <a:endParaRPr lang="pt-BR" sz="1100" dirty="0">
              <a:solidFill>
                <a:srgbClr val="7F3D1A"/>
              </a:solidFill>
              <a:latin typeface="Gill Sans MT" pitchFamily="34" charset="0"/>
              <a:cs typeface="Arial" pitchFamily="34" charset="0"/>
            </a:endParaRPr>
          </a:p>
        </p:txBody>
      </p:sp>
      <p:sp>
        <p:nvSpPr>
          <p:cNvPr id="29" name="Rectangle 2"/>
          <p:cNvSpPr>
            <a:spLocks noChangeArrowheads="1"/>
          </p:cNvSpPr>
          <p:nvPr/>
        </p:nvSpPr>
        <p:spPr bwMode="auto">
          <a:xfrm>
            <a:off x="11297" y="5013176"/>
            <a:ext cx="1054210" cy="27627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3400" tIns="45360" rIns="113400" bIns="4536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200" dirty="0">
                <a:solidFill>
                  <a:srgbClr val="7F3D1A"/>
                </a:solidFill>
                <a:latin typeface="Gill Sans MT" pitchFamily="34" charset="0"/>
                <a:cs typeface="Arial" pitchFamily="34" charset="0"/>
              </a:rPr>
              <a:t>Comentários</a:t>
            </a:r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12" y="450157"/>
            <a:ext cx="8763322" cy="44910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7461584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5"/>
          <p:cNvSpPr>
            <a:spLocks noChangeArrowheads="1"/>
          </p:cNvSpPr>
          <p:nvPr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tx2"/>
          </a:solidFill>
          <a:ln>
            <a:noFill/>
          </a:ln>
          <a:extLst/>
        </p:spPr>
        <p:txBody>
          <a:bodyPr lIns="57607" tIns="28804" rIns="57607" bIns="28804"/>
          <a:lstStyle/>
          <a:p>
            <a:endParaRPr lang="pt-BR"/>
          </a:p>
        </p:txBody>
      </p:sp>
      <p:sp>
        <p:nvSpPr>
          <p:cNvPr id="31747" name="Rectangle 3"/>
          <p:cNvSpPr>
            <a:spLocks/>
          </p:cNvSpPr>
          <p:nvPr/>
        </p:nvSpPr>
        <p:spPr bwMode="auto">
          <a:xfrm>
            <a:off x="535781" y="2107406"/>
            <a:ext cx="7822406" cy="2652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l">
              <a:lnSpc>
                <a:spcPct val="80000"/>
              </a:lnSpc>
            </a:pPr>
            <a:r>
              <a:rPr lang="en-US" sz="4400" dirty="0" smtClean="0">
                <a:solidFill>
                  <a:schemeClr val="bg1"/>
                </a:solidFill>
                <a:latin typeface="Gill Sans Std Light" pitchFamily="34" charset="0"/>
                <a:sym typeface="Gill Sans Std Light" pitchFamily="34" charset="0"/>
              </a:rPr>
              <a:t>Processos</a:t>
            </a:r>
            <a:endParaRPr lang="en-US" sz="4400" dirty="0">
              <a:solidFill>
                <a:schemeClr val="bg1"/>
              </a:solidFill>
              <a:latin typeface="Gill Sans Std Light" pitchFamily="34" charset="0"/>
              <a:sym typeface="Gill Sans Std Light" pitchFamily="34" charset="0"/>
            </a:endParaRPr>
          </a:p>
        </p:txBody>
      </p:sp>
      <p:sp>
        <p:nvSpPr>
          <p:cNvPr id="31748" name="Rectangle 5"/>
          <p:cNvSpPr>
            <a:spLocks/>
          </p:cNvSpPr>
          <p:nvPr/>
        </p:nvSpPr>
        <p:spPr bwMode="auto">
          <a:xfrm>
            <a:off x="500063" y="6228465"/>
            <a:ext cx="973336" cy="98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25603" bIns="0"/>
          <a:lstStyle/>
          <a:p>
            <a:pPr marL="25003"/>
            <a:r>
              <a:rPr lang="en-US" sz="700">
                <a:solidFill>
                  <a:srgbClr val="D9D9D6"/>
                </a:solidFill>
                <a:latin typeface="Gill Sans Std" pitchFamily="34" charset="0"/>
                <a:sym typeface="Gill Sans Std" pitchFamily="34" charset="0"/>
              </a:rPr>
              <a:t>[ CONFIDENCIAL ]</a:t>
            </a:r>
          </a:p>
        </p:txBody>
      </p:sp>
      <p:pic>
        <p:nvPicPr>
          <p:cNvPr id="31749" name="Picture 5" descr="NAT_marca_branca_natura-01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872" y="5671468"/>
            <a:ext cx="704329" cy="642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4588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ítulo 4"/>
          <p:cNvSpPr txBox="1">
            <a:spLocks/>
          </p:cNvSpPr>
          <p:nvPr/>
        </p:nvSpPr>
        <p:spPr>
          <a:xfrm>
            <a:off x="616177" y="161688"/>
            <a:ext cx="5170958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pPr algn="l"/>
            <a:r>
              <a:rPr lang="pt-BR" sz="2000" b="1" dirty="0">
                <a:solidFill>
                  <a:schemeClr val="accent4"/>
                </a:solidFill>
                <a:latin typeface="Gill Sans MT" pitchFamily="34" charset="0"/>
              </a:rPr>
              <a:t>ONE PAGE – Gestão de Mudanças</a:t>
            </a:r>
          </a:p>
        </p:txBody>
      </p:sp>
      <p:pic>
        <p:nvPicPr>
          <p:cNvPr id="2074" name="Picture 26"/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3429001"/>
            <a:ext cx="4752528" cy="30243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2" name="AutoShape 146"/>
          <p:cNvSpPr>
            <a:spLocks noChangeArrowheads="1"/>
          </p:cNvSpPr>
          <p:nvPr/>
        </p:nvSpPr>
        <p:spPr bwMode="auto">
          <a:xfrm>
            <a:off x="5058054" y="3320988"/>
            <a:ext cx="3522868" cy="2988332"/>
          </a:xfrm>
          <a:prstGeom prst="roundRect">
            <a:avLst>
              <a:gd name="adj" fmla="val 8750"/>
            </a:avLst>
          </a:prstGeom>
          <a:ln>
            <a:headEnd/>
            <a:tailEnd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22680" tIns="68040" rIns="22680" bIns="28804"/>
          <a:lstStyle/>
          <a:p>
            <a:pPr marL="180023" indent="-180023" algn="just">
              <a:spcAft>
                <a:spcPts val="159"/>
              </a:spcAft>
              <a:buClr>
                <a:schemeClr val="accent4"/>
              </a:buClr>
              <a:buFont typeface="Arial" pitchFamily="34" charset="0"/>
              <a:buChar char="•"/>
              <a:defRPr/>
            </a:pPr>
            <a:r>
              <a:rPr lang="pt-BR" sz="1000" dirty="0" smtClean="0">
                <a:solidFill>
                  <a:schemeClr val="accent4"/>
                </a:solidFill>
                <a:latin typeface="Gill Sans MT" pitchFamily="34" charset="0"/>
                <a:cs typeface="Arial" pitchFamily="34" charset="0"/>
              </a:rPr>
              <a:t>Nos </a:t>
            </a:r>
            <a:r>
              <a:rPr lang="pt-BR" sz="1000" dirty="0">
                <a:solidFill>
                  <a:schemeClr val="accent4"/>
                </a:solidFill>
                <a:latin typeface="Gill Sans MT" pitchFamily="34" charset="0"/>
                <a:cs typeface="Arial" pitchFamily="34" charset="0"/>
              </a:rPr>
              <a:t>últimos meses verificou-se elevado número de </a:t>
            </a:r>
            <a:r>
              <a:rPr lang="pt-BR" sz="1000" dirty="0" err="1">
                <a:solidFill>
                  <a:schemeClr val="accent4"/>
                </a:solidFill>
                <a:latin typeface="Gill Sans MT" pitchFamily="34" charset="0"/>
                <a:cs typeface="Arial" pitchFamily="34" charset="0"/>
              </a:rPr>
              <a:t>SM’s</a:t>
            </a:r>
            <a:r>
              <a:rPr lang="pt-BR" sz="1000" dirty="0">
                <a:solidFill>
                  <a:schemeClr val="accent4"/>
                </a:solidFill>
                <a:latin typeface="Gill Sans MT" pitchFamily="34" charset="0"/>
                <a:cs typeface="Arial" pitchFamily="34" charset="0"/>
              </a:rPr>
              <a:t> Não-planejadas (43%) e Emergenciais (40%) em relação ao total de Mudanças.  Diante desse cenário, ações pontuais no processo de Gestão de Mudanças estão previstas, como:</a:t>
            </a:r>
          </a:p>
          <a:p>
            <a:pPr marL="468059" lvl="1" indent="-180023" algn="just">
              <a:spcAft>
                <a:spcPts val="159"/>
              </a:spcAft>
              <a:buClr>
                <a:schemeClr val="accent4"/>
              </a:buClr>
              <a:buFont typeface="Arial" pitchFamily="34" charset="0"/>
              <a:buChar char="•"/>
              <a:defRPr/>
            </a:pPr>
            <a:r>
              <a:rPr lang="pt-BR" sz="1000" dirty="0">
                <a:solidFill>
                  <a:schemeClr val="accent4"/>
                </a:solidFill>
                <a:latin typeface="Gill Sans MT" pitchFamily="34" charset="0"/>
                <a:cs typeface="Arial" pitchFamily="34" charset="0"/>
              </a:rPr>
              <a:t>Reescrever o processo de Gestão de Mudanças baseando-se nas boas práticas ITIL, alinhando às expectativas técnicas e necessidades de negócio;</a:t>
            </a:r>
          </a:p>
          <a:p>
            <a:pPr marL="468059" lvl="1" indent="-180023" algn="just">
              <a:spcAft>
                <a:spcPts val="159"/>
              </a:spcAft>
              <a:buClr>
                <a:schemeClr val="accent4"/>
              </a:buClr>
              <a:buFont typeface="Arial" pitchFamily="34" charset="0"/>
              <a:buChar char="•"/>
              <a:defRPr/>
            </a:pPr>
            <a:r>
              <a:rPr lang="pt-BR" sz="1000" dirty="0">
                <a:solidFill>
                  <a:schemeClr val="accent4"/>
                </a:solidFill>
                <a:latin typeface="Gill Sans MT" pitchFamily="34" charset="0"/>
                <a:cs typeface="Arial" pitchFamily="34" charset="0"/>
              </a:rPr>
              <a:t>Otimizar e reduzir riscos e impactos negativos ao ambiente produtivo da Natura.</a:t>
            </a:r>
          </a:p>
          <a:p>
            <a:pPr marL="180023" indent="-180023" algn="just">
              <a:spcAft>
                <a:spcPts val="159"/>
              </a:spcAft>
              <a:buClr>
                <a:schemeClr val="accent4"/>
              </a:buClr>
              <a:buFont typeface="Arial" pitchFamily="34" charset="0"/>
              <a:buChar char="•"/>
              <a:defRPr/>
            </a:pPr>
            <a:r>
              <a:rPr lang="pt-BR" sz="1000" dirty="0">
                <a:solidFill>
                  <a:schemeClr val="accent4"/>
                </a:solidFill>
                <a:latin typeface="Gill Sans MT" pitchFamily="34" charset="0"/>
                <a:cs typeface="Arial" pitchFamily="34" charset="0"/>
              </a:rPr>
              <a:t>O percentual de Mudanças com Sucesso ficou abaixo da meta em Janeiro, pois 32% das SMs não tiveram seus status atualizados pelas equipes técnicas responsáveis, prejudicando este indicador.  A equipe GMUD tem realizado cobranças pontuais e enviado </a:t>
            </a:r>
            <a:r>
              <a:rPr lang="pt-BR" sz="1000" dirty="0" err="1">
                <a:solidFill>
                  <a:schemeClr val="accent4"/>
                </a:solidFill>
                <a:latin typeface="Gill Sans MT" pitchFamily="34" charset="0"/>
                <a:cs typeface="Arial" pitchFamily="34" charset="0"/>
              </a:rPr>
              <a:t>dashboards</a:t>
            </a:r>
            <a:r>
              <a:rPr lang="pt-BR" sz="1000" dirty="0">
                <a:solidFill>
                  <a:schemeClr val="accent4"/>
                </a:solidFill>
                <a:latin typeface="Gill Sans MT" pitchFamily="34" charset="0"/>
                <a:cs typeface="Arial" pitchFamily="34" charset="0"/>
              </a:rPr>
              <a:t> diários apresentando as SMs pendentes de atualização para cada área. Isto tem contribuído para a redução do </a:t>
            </a:r>
            <a:r>
              <a:rPr lang="pt-BR" sz="1000" dirty="0" err="1">
                <a:solidFill>
                  <a:schemeClr val="accent4"/>
                </a:solidFill>
                <a:latin typeface="Gill Sans MT" pitchFamily="34" charset="0"/>
                <a:cs typeface="Arial" pitchFamily="34" charset="0"/>
              </a:rPr>
              <a:t>backlog</a:t>
            </a:r>
            <a:r>
              <a:rPr lang="pt-BR" sz="1000" dirty="0">
                <a:solidFill>
                  <a:schemeClr val="accent4"/>
                </a:solidFill>
                <a:latin typeface="Gill Sans MT" pitchFamily="34" charset="0"/>
                <a:cs typeface="Arial" pitchFamily="34" charset="0"/>
              </a:rPr>
              <a:t>.</a:t>
            </a:r>
          </a:p>
        </p:txBody>
      </p:sp>
      <p:sp>
        <p:nvSpPr>
          <p:cNvPr id="43" name="Rectangle 2"/>
          <p:cNvSpPr>
            <a:spLocks noChangeArrowheads="1"/>
          </p:cNvSpPr>
          <p:nvPr/>
        </p:nvSpPr>
        <p:spPr bwMode="auto">
          <a:xfrm>
            <a:off x="5301081" y="3198241"/>
            <a:ext cx="1458162" cy="245494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13400" tIns="45360" rIns="113400" bIns="4536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000" b="1" dirty="0">
                <a:solidFill>
                  <a:schemeClr val="accent4"/>
                </a:solidFill>
                <a:latin typeface="Gill Sans MT" pitchFamily="34" charset="0"/>
                <a:cs typeface="Arial" pitchFamily="34" charset="0"/>
              </a:rPr>
              <a:t>Sumário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9188" y="3320988"/>
            <a:ext cx="1334095" cy="400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6805" y="908720"/>
            <a:ext cx="2376941" cy="1944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83" name="Picture 1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000" y="913168"/>
            <a:ext cx="6232797" cy="1939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8433666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/>
          <p:cNvGrpSpPr/>
          <p:nvPr/>
        </p:nvGrpSpPr>
        <p:grpSpPr>
          <a:xfrm>
            <a:off x="5967155" y="1303058"/>
            <a:ext cx="2997333" cy="4448201"/>
            <a:chOff x="324645" y="5946405"/>
            <a:chExt cx="5764075" cy="4009537"/>
          </a:xfrm>
        </p:grpSpPr>
        <p:sp>
          <p:nvSpPr>
            <p:cNvPr id="7" name="AutoShape 146"/>
            <p:cNvSpPr>
              <a:spLocks noChangeArrowheads="1"/>
            </p:cNvSpPr>
            <p:nvPr/>
          </p:nvSpPr>
          <p:spPr bwMode="auto">
            <a:xfrm>
              <a:off x="324645" y="6145608"/>
              <a:ext cx="5764075" cy="3810334"/>
            </a:xfrm>
            <a:prstGeom prst="roundRect">
              <a:avLst>
                <a:gd name="adj" fmla="val 8750"/>
              </a:avLst>
            </a:prstGeom>
            <a:ln>
              <a:headEnd/>
              <a:tailEnd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lIns="36000" tIns="108000" rIns="36000" bIns="45721"/>
            <a:lstStyle/>
            <a:p>
              <a:pPr marL="180023" indent="-180023" algn="just">
                <a:spcAft>
                  <a:spcPts val="159"/>
                </a:spcAft>
                <a:buClr>
                  <a:schemeClr val="accent4"/>
                </a:buClr>
                <a:buFont typeface="Arial" pitchFamily="34" charset="0"/>
                <a:buChar char="•"/>
                <a:defRPr/>
              </a:pPr>
              <a:r>
                <a:rPr lang="pt-BR" sz="1000" dirty="0">
                  <a:solidFill>
                    <a:schemeClr val="accent4"/>
                  </a:solidFill>
                  <a:latin typeface="Gill Sans MT" pitchFamily="34" charset="0"/>
                  <a:cs typeface="Arial" pitchFamily="34" charset="0"/>
                </a:rPr>
                <a:t>Em Janeiro houve aumento significativo na abertura de problemas, devido a um plano aplicado para registrar </a:t>
              </a:r>
              <a:r>
                <a:rPr lang="pt-BR" sz="1000" dirty="0" err="1">
                  <a:solidFill>
                    <a:schemeClr val="accent4"/>
                  </a:solidFill>
                  <a:latin typeface="Gill Sans MT" pitchFamily="34" charset="0"/>
                  <a:cs typeface="Arial" pitchFamily="34" charset="0"/>
                </a:rPr>
                <a:t>RCAs</a:t>
              </a:r>
              <a:r>
                <a:rPr lang="pt-BR" sz="1000" dirty="0">
                  <a:solidFill>
                    <a:schemeClr val="accent4"/>
                  </a:solidFill>
                  <a:latin typeface="Gill Sans MT" pitchFamily="34" charset="0"/>
                  <a:cs typeface="Arial" pitchFamily="34" charset="0"/>
                </a:rPr>
                <a:t> dos incidentes de 2014 que necessitavam de análises mais profundas.  Houve uma mobilização entre as equipes técnicas quanto a validação e atualização destes registros. </a:t>
              </a:r>
            </a:p>
            <a:p>
              <a:pPr algn="just">
                <a:spcAft>
                  <a:spcPts val="159"/>
                </a:spcAft>
                <a:buClr>
                  <a:schemeClr val="accent4"/>
                </a:buClr>
                <a:defRPr/>
              </a:pPr>
              <a:endParaRPr lang="pt-BR" sz="1000" dirty="0">
                <a:solidFill>
                  <a:schemeClr val="accent4"/>
                </a:solidFill>
                <a:latin typeface="Gill Sans MT" pitchFamily="34" charset="0"/>
                <a:cs typeface="Arial" pitchFamily="34" charset="0"/>
              </a:endParaRPr>
            </a:p>
            <a:p>
              <a:pPr marL="180023" indent="-180023" algn="just">
                <a:spcAft>
                  <a:spcPts val="159"/>
                </a:spcAft>
                <a:buClr>
                  <a:schemeClr val="accent4"/>
                </a:buClr>
                <a:buFont typeface="Arial" pitchFamily="34" charset="0"/>
                <a:buChar char="•"/>
                <a:defRPr/>
              </a:pPr>
              <a:r>
                <a:rPr lang="pt-BR" sz="1000" dirty="0">
                  <a:solidFill>
                    <a:schemeClr val="accent4"/>
                  </a:solidFill>
                  <a:latin typeface="Gill Sans MT" pitchFamily="34" charset="0"/>
                  <a:cs typeface="Arial" pitchFamily="34" charset="0"/>
                </a:rPr>
                <a:t>Seguem em andamento, atividades de saneamento da base para os problemas que já foram resolvidos, onde as ações do planejamento foram efetivas e que não houve recorrência dos incidentes relacionados.</a:t>
              </a:r>
            </a:p>
            <a:p>
              <a:pPr marL="180023" indent="-180023" algn="just">
                <a:spcAft>
                  <a:spcPts val="159"/>
                </a:spcAft>
                <a:buClr>
                  <a:schemeClr val="accent4"/>
                </a:buClr>
                <a:buFont typeface="Arial" pitchFamily="34" charset="0"/>
                <a:buChar char="•"/>
                <a:defRPr/>
              </a:pPr>
              <a:endParaRPr lang="pt-BR" sz="1000" dirty="0">
                <a:solidFill>
                  <a:schemeClr val="accent4"/>
                </a:solidFill>
                <a:latin typeface="Gill Sans MT" pitchFamily="34" charset="0"/>
                <a:cs typeface="Arial" pitchFamily="34" charset="0"/>
              </a:endParaRPr>
            </a:p>
            <a:p>
              <a:pPr marL="180023" indent="-180023" algn="just">
                <a:spcAft>
                  <a:spcPts val="159"/>
                </a:spcAft>
                <a:buClr>
                  <a:schemeClr val="accent4"/>
                </a:buClr>
                <a:buFont typeface="Arial" pitchFamily="34" charset="0"/>
                <a:buChar char="•"/>
                <a:defRPr/>
              </a:pPr>
              <a:r>
                <a:rPr lang="pt-BR" sz="1000" dirty="0" err="1">
                  <a:solidFill>
                    <a:schemeClr val="accent4"/>
                  </a:solidFill>
                  <a:latin typeface="Gill Sans MT" pitchFamily="34" charset="0"/>
                  <a:cs typeface="Arial" pitchFamily="34" charset="0"/>
                </a:rPr>
                <a:t>Dashboards</a:t>
              </a:r>
              <a:r>
                <a:rPr lang="pt-BR" sz="1000" dirty="0">
                  <a:solidFill>
                    <a:schemeClr val="accent4"/>
                  </a:solidFill>
                  <a:latin typeface="Gill Sans MT" pitchFamily="34" charset="0"/>
                  <a:cs typeface="Arial" pitchFamily="34" charset="0"/>
                </a:rPr>
                <a:t> diários estão sendo enviados para as equipes, contendo as pendências para as quais são solicitadas ações.</a:t>
              </a:r>
            </a:p>
            <a:p>
              <a:pPr marL="180023" indent="-180023" algn="just">
                <a:spcAft>
                  <a:spcPts val="159"/>
                </a:spcAft>
                <a:buClr>
                  <a:schemeClr val="accent4"/>
                </a:buClr>
                <a:buFont typeface="Arial" pitchFamily="34" charset="0"/>
                <a:buChar char="•"/>
                <a:defRPr/>
              </a:pPr>
              <a:endParaRPr lang="pt-BR" sz="1000" dirty="0">
                <a:solidFill>
                  <a:schemeClr val="accent4"/>
                </a:solidFill>
                <a:latin typeface="Gill Sans MT" pitchFamily="34" charset="0"/>
                <a:cs typeface="Arial" pitchFamily="34" charset="0"/>
              </a:endParaRPr>
            </a:p>
            <a:p>
              <a:pPr marL="180023" indent="-180023" algn="just">
                <a:spcAft>
                  <a:spcPts val="159"/>
                </a:spcAft>
                <a:buClr>
                  <a:schemeClr val="accent4"/>
                </a:buClr>
                <a:buFont typeface="Arial" pitchFamily="34" charset="0"/>
                <a:buChar char="•"/>
                <a:defRPr/>
              </a:pPr>
              <a:r>
                <a:rPr lang="pt-BR" sz="1000" dirty="0">
                  <a:solidFill>
                    <a:schemeClr val="accent4"/>
                  </a:solidFill>
                  <a:latin typeface="Gill Sans MT" pitchFamily="34" charset="0"/>
                  <a:cs typeface="Arial" pitchFamily="34" charset="0"/>
                </a:rPr>
                <a:t>A aderência aos rituais TD ainda está abaixo do esperado, porém, ações de conscientização estão sendo feitas para que todos tenham ciência de seus papéis nestas reuniões.</a:t>
              </a:r>
            </a:p>
          </p:txBody>
        </p:sp>
        <p:sp>
          <p:nvSpPr>
            <p:cNvPr id="8" name="Rectangle 2"/>
            <p:cNvSpPr>
              <a:spLocks noChangeArrowheads="1"/>
            </p:cNvSpPr>
            <p:nvPr/>
          </p:nvSpPr>
          <p:spPr bwMode="auto">
            <a:xfrm>
              <a:off x="461825" y="5946405"/>
              <a:ext cx="2500842" cy="2697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180000" tIns="72000" rIns="180000" bIns="72000" anchor="ctr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000" b="1" dirty="0">
                  <a:solidFill>
                    <a:schemeClr val="accent4"/>
                  </a:solidFill>
                  <a:latin typeface="Gill Sans MT" pitchFamily="34" charset="0"/>
                  <a:cs typeface="Arial" pitchFamily="34" charset="0"/>
                </a:rPr>
                <a:t>Sumário</a:t>
              </a:r>
            </a:p>
          </p:txBody>
        </p:sp>
      </p:grpSp>
      <p:sp>
        <p:nvSpPr>
          <p:cNvPr id="38" name="Título 4"/>
          <p:cNvSpPr txBox="1">
            <a:spLocks/>
          </p:cNvSpPr>
          <p:nvPr/>
        </p:nvSpPr>
        <p:spPr>
          <a:xfrm>
            <a:off x="535168" y="269700"/>
            <a:ext cx="5170958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pPr algn="l"/>
            <a:r>
              <a:rPr lang="pt-BR" sz="2000" b="1" dirty="0">
                <a:solidFill>
                  <a:schemeClr val="accent4"/>
                </a:solidFill>
                <a:latin typeface="Gill Sans MT" pitchFamily="34" charset="0"/>
              </a:rPr>
              <a:t>ONE PAGE – Gestão de Problemas</a:t>
            </a:r>
          </a:p>
        </p:txBody>
      </p:sp>
      <p:pic>
        <p:nvPicPr>
          <p:cNvPr id="2061" name="Picture 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4293096"/>
            <a:ext cx="2871788" cy="1821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9" y="776001"/>
            <a:ext cx="5463606" cy="164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9" y="2529995"/>
            <a:ext cx="5463606" cy="1619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6773721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ítulo 4"/>
          <p:cNvSpPr txBox="1">
            <a:spLocks/>
          </p:cNvSpPr>
          <p:nvPr/>
        </p:nvSpPr>
        <p:spPr>
          <a:xfrm>
            <a:off x="373150" y="269700"/>
            <a:ext cx="5738021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pPr algn="l"/>
            <a:r>
              <a:rPr lang="pt-BR" sz="2000" b="1" dirty="0">
                <a:solidFill>
                  <a:schemeClr val="accent4"/>
                </a:solidFill>
                <a:latin typeface="Gill Sans MT" pitchFamily="34" charset="0"/>
              </a:rPr>
              <a:t>ONE PAGE – Planos de Ação – Gestão de Mudanças</a:t>
            </a:r>
          </a:p>
        </p:txBody>
      </p:sp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876" y="1137451"/>
            <a:ext cx="8792083" cy="4548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501529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ítulo 4"/>
          <p:cNvSpPr txBox="1">
            <a:spLocks/>
          </p:cNvSpPr>
          <p:nvPr/>
        </p:nvSpPr>
        <p:spPr>
          <a:xfrm>
            <a:off x="373150" y="269700"/>
            <a:ext cx="5738021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pPr algn="l"/>
            <a:r>
              <a:rPr lang="pt-BR" sz="2000" b="1" dirty="0">
                <a:solidFill>
                  <a:schemeClr val="accent4"/>
                </a:solidFill>
                <a:latin typeface="Gill Sans MT" pitchFamily="34" charset="0"/>
              </a:rPr>
              <a:t>ONE PAGE – Planos de Ação – Gestão de Problemas</a:t>
            </a:r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342" y="937956"/>
            <a:ext cx="8824972" cy="51913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9968725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5"/>
          <p:cNvSpPr>
            <a:spLocks noChangeArrowheads="1"/>
          </p:cNvSpPr>
          <p:nvPr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tx2"/>
          </a:solidFill>
          <a:ln>
            <a:noFill/>
          </a:ln>
          <a:extLst/>
        </p:spPr>
        <p:txBody>
          <a:bodyPr lIns="57607" tIns="28804" rIns="57607" bIns="28804"/>
          <a:lstStyle/>
          <a:p>
            <a:endParaRPr lang="pt-BR"/>
          </a:p>
        </p:txBody>
      </p:sp>
      <p:sp>
        <p:nvSpPr>
          <p:cNvPr id="31747" name="Rectangle 3"/>
          <p:cNvSpPr>
            <a:spLocks/>
          </p:cNvSpPr>
          <p:nvPr/>
        </p:nvSpPr>
        <p:spPr bwMode="auto">
          <a:xfrm>
            <a:off x="535781" y="2107406"/>
            <a:ext cx="7822406" cy="2652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l">
              <a:lnSpc>
                <a:spcPct val="80000"/>
              </a:lnSpc>
            </a:pPr>
            <a:r>
              <a:rPr lang="en-US" sz="4400" dirty="0" smtClean="0">
                <a:solidFill>
                  <a:schemeClr val="bg1"/>
                </a:solidFill>
                <a:latin typeface="Gill Sans Std Light" pitchFamily="34" charset="0"/>
                <a:sym typeface="Gill Sans Std Light" pitchFamily="34" charset="0"/>
              </a:rPr>
              <a:t>Gestão de Acessos</a:t>
            </a:r>
            <a:endParaRPr lang="en-US" sz="4400" dirty="0">
              <a:solidFill>
                <a:schemeClr val="bg1"/>
              </a:solidFill>
              <a:latin typeface="Gill Sans Std Light" pitchFamily="34" charset="0"/>
              <a:sym typeface="Gill Sans Std Light" pitchFamily="34" charset="0"/>
            </a:endParaRPr>
          </a:p>
        </p:txBody>
      </p:sp>
      <p:sp>
        <p:nvSpPr>
          <p:cNvPr id="31748" name="Rectangle 5"/>
          <p:cNvSpPr>
            <a:spLocks/>
          </p:cNvSpPr>
          <p:nvPr/>
        </p:nvSpPr>
        <p:spPr bwMode="auto">
          <a:xfrm>
            <a:off x="500063" y="6228465"/>
            <a:ext cx="973336" cy="98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25603" bIns="0"/>
          <a:lstStyle/>
          <a:p>
            <a:pPr marL="25003"/>
            <a:r>
              <a:rPr lang="en-US" sz="700">
                <a:solidFill>
                  <a:srgbClr val="D9D9D6"/>
                </a:solidFill>
                <a:latin typeface="Gill Sans Std" pitchFamily="34" charset="0"/>
                <a:sym typeface="Gill Sans Std" pitchFamily="34" charset="0"/>
              </a:rPr>
              <a:t>[ CONFIDENCIAL ]</a:t>
            </a:r>
          </a:p>
        </p:txBody>
      </p:sp>
      <p:pic>
        <p:nvPicPr>
          <p:cNvPr id="31749" name="Picture 5" descr="NAT_marca_branca_natura-01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872" y="5671468"/>
            <a:ext cx="704329" cy="642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4588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ráfico 2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09187548"/>
              </p:ext>
            </p:extLst>
          </p:nvPr>
        </p:nvGraphicFramePr>
        <p:xfrm>
          <a:off x="3419872" y="3535566"/>
          <a:ext cx="2088232" cy="15841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ítulo 4"/>
          <p:cNvSpPr txBox="1">
            <a:spLocks/>
          </p:cNvSpPr>
          <p:nvPr/>
        </p:nvSpPr>
        <p:spPr>
          <a:xfrm>
            <a:off x="193130" y="-27384"/>
            <a:ext cx="6035054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rmAutofit/>
          </a:bodyPr>
          <a:lstStyle>
            <a:lvl1pPr>
              <a:spcBef>
                <a:spcPct val="0"/>
              </a:spcBef>
              <a:buNone/>
              <a:defRPr lang="pt-BR"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r>
              <a:rPr lang="pt-BR" dirty="0"/>
              <a:t>ONE PAGE – </a:t>
            </a:r>
            <a:r>
              <a:rPr lang="pt-BR" dirty="0" smtClean="0"/>
              <a:t>Janeiro</a:t>
            </a:r>
            <a:endParaRPr lang="pt-BR" dirty="0"/>
          </a:p>
        </p:txBody>
      </p:sp>
      <p:sp>
        <p:nvSpPr>
          <p:cNvPr id="5" name="AutoShape 146"/>
          <p:cNvSpPr>
            <a:spLocks noChangeArrowheads="1"/>
          </p:cNvSpPr>
          <p:nvPr/>
        </p:nvSpPr>
        <p:spPr bwMode="auto">
          <a:xfrm>
            <a:off x="5364088" y="3645024"/>
            <a:ext cx="3600400" cy="3085891"/>
          </a:xfrm>
          <a:prstGeom prst="roundRect">
            <a:avLst>
              <a:gd name="adj" fmla="val 8750"/>
            </a:avLst>
          </a:prstGeom>
          <a:solidFill>
            <a:schemeClr val="bg1"/>
          </a:solidFill>
          <a:ln w="3175" algn="ctr">
            <a:solidFill>
              <a:srgbClr val="FF9900"/>
            </a:solidFill>
            <a:round/>
            <a:headEnd/>
            <a:tailEnd/>
          </a:ln>
        </p:spPr>
        <p:txBody>
          <a:bodyPr lIns="36000" tIns="108000" rIns="36000" bIns="45721"/>
          <a:lstStyle/>
          <a:p>
            <a:pPr>
              <a:spcAft>
                <a:spcPts val="252"/>
              </a:spcAft>
              <a:buClr>
                <a:srgbClr val="F38345"/>
              </a:buClr>
              <a:defRPr/>
            </a:pPr>
            <a:r>
              <a:rPr lang="pt-BR" sz="1050" b="1" dirty="0" smtClean="0">
                <a:latin typeface="Gill Sans MT" pitchFamily="34" charset="0"/>
                <a:cs typeface="Arial" pitchFamily="34" charset="0"/>
              </a:rPr>
              <a:t>Sumário</a:t>
            </a:r>
          </a:p>
          <a:p>
            <a:pPr marL="171450" indent="-171450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Absorção de novas demandas:  Office 365, Unix, SAP BW, SAP MW, SAP </a:t>
            </a:r>
            <a:r>
              <a:rPr lang="pt-BR" sz="1050" dirty="0" err="1" smtClean="0">
                <a:latin typeface="Gill Sans MT" pitchFamily="34" charset="0"/>
                <a:cs typeface="Arial" pitchFamily="34" charset="0"/>
              </a:rPr>
              <a:t>Solman</a:t>
            </a: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,  SAP PDI,  SAP NFP,  SAP PBI; </a:t>
            </a:r>
          </a:p>
          <a:p>
            <a:pPr marL="171450" indent="-171450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Participação ativa nas Releases;</a:t>
            </a:r>
          </a:p>
          <a:p>
            <a:pPr marL="171450" indent="-171450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Interação junto aos gestores na admissão de novos colaboradores, antecipando-se às necessidades de acesso;</a:t>
            </a:r>
          </a:p>
          <a:p>
            <a:pPr marL="171450" indent="-171450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Liberação de acessos Core na admissão (e-mail, </a:t>
            </a:r>
            <a:r>
              <a:rPr lang="pt-BR" sz="1050" dirty="0" err="1" smtClean="0">
                <a:latin typeface="Gill Sans MT" pitchFamily="34" charset="0"/>
                <a:cs typeface="Arial" pitchFamily="34" charset="0"/>
              </a:rPr>
              <a:t>Lync</a:t>
            </a: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, SAP RH,  SAP PRD),  Matriz de Alçada e Mailing da Comunicação interna,  sem necessidade de registro de chamado e interação manual; </a:t>
            </a:r>
          </a:p>
          <a:p>
            <a:pPr marL="171450" indent="-171450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Disponibilização de aplicações virtualizadas aos novos colaboradores sem intervenção da Microinformática;</a:t>
            </a:r>
          </a:p>
          <a:p>
            <a:pPr marL="171450" indent="-171450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Pesquisa de Satisfação: Fomos avaliados positivamente (Bom/ </a:t>
            </a:r>
            <a:r>
              <a:rPr lang="pt-BR" sz="1050" dirty="0">
                <a:latin typeface="Gill Sans MT" pitchFamily="34" charset="0"/>
                <a:cs typeface="Arial" pitchFamily="34" charset="0"/>
              </a:rPr>
              <a:t>Ó</a:t>
            </a:r>
            <a:r>
              <a:rPr lang="pt-BR" sz="1050" dirty="0" smtClean="0">
                <a:latin typeface="Gill Sans MT" pitchFamily="34" charset="0"/>
                <a:cs typeface="Arial" pitchFamily="34" charset="0"/>
              </a:rPr>
              <a:t>timo) por 55% dos colaboradores com relação ao tempo de atendimento e 62% por resultado alcançando.</a:t>
            </a:r>
          </a:p>
          <a:p>
            <a:pPr>
              <a:spcAft>
                <a:spcPts val="252"/>
              </a:spcAft>
              <a:buClr>
                <a:srgbClr val="F38345"/>
              </a:buClr>
              <a:defRPr/>
            </a:pPr>
            <a:endParaRPr lang="pt-BR" sz="1050" dirty="0" smtClean="0">
              <a:latin typeface="Gill Sans MT" pitchFamily="34" charset="0"/>
              <a:cs typeface="Arial" pitchFamily="34" charset="0"/>
            </a:endParaRPr>
          </a:p>
          <a:p>
            <a:pPr>
              <a:spcAft>
                <a:spcPts val="252"/>
              </a:spcAft>
              <a:buClr>
                <a:srgbClr val="F38345"/>
              </a:buClr>
              <a:defRPr/>
            </a:pPr>
            <a:endParaRPr lang="pt-BR" sz="1050" dirty="0" smtClean="0">
              <a:latin typeface="Gill Sans MT" pitchFamily="34" charset="0"/>
              <a:cs typeface="Arial" pitchFamily="34" charset="0"/>
            </a:endParaRPr>
          </a:p>
          <a:p>
            <a:pPr indent="-268514" algn="just">
              <a:spcAft>
                <a:spcPts val="252"/>
              </a:spcAft>
              <a:buClr>
                <a:srgbClr val="F38345"/>
              </a:buClr>
              <a:buFont typeface="Arial" pitchFamily="34" charset="0"/>
              <a:buChar char="•"/>
              <a:defRPr/>
            </a:pPr>
            <a:endParaRPr lang="pt-BR" sz="1050" b="1" dirty="0" smtClean="0">
              <a:latin typeface="Gill Sans MT" pitchFamily="34" charset="0"/>
              <a:cs typeface="Arial" pitchFamily="34" charset="0"/>
            </a:endParaRPr>
          </a:p>
        </p:txBody>
      </p:sp>
      <p:graphicFrame>
        <p:nvGraphicFramePr>
          <p:cNvPr id="6" name="Objeto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0289582"/>
              </p:ext>
            </p:extLst>
          </p:nvPr>
        </p:nvGraphicFramePr>
        <p:xfrm>
          <a:off x="69850" y="333375"/>
          <a:ext cx="8915400" cy="3117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19" name="Planilha" r:id="rId4" imgW="7715385" imgH="3629025" progId="Excel.Sheet.12">
                  <p:embed/>
                </p:oleObj>
              </mc:Choice>
              <mc:Fallback>
                <p:oleObj name="Planilha" r:id="rId4" imgW="7715385" imgH="3629025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9850" y="333375"/>
                        <a:ext cx="8915400" cy="3117850"/>
                      </a:xfrm>
                      <a:prstGeom prst="rect">
                        <a:avLst/>
                      </a:prstGeom>
                      <a:solidFill>
                        <a:srgbClr val="92D050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Seta para cima 11"/>
          <p:cNvSpPr/>
          <p:nvPr/>
        </p:nvSpPr>
        <p:spPr>
          <a:xfrm>
            <a:off x="7974067" y="980728"/>
            <a:ext cx="261389" cy="284681"/>
          </a:xfrm>
          <a:prstGeom prst="upArrow">
            <a:avLst/>
          </a:prstGeom>
          <a:solidFill>
            <a:srgbClr val="92D05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Seta para cima 12"/>
          <p:cNvSpPr/>
          <p:nvPr/>
        </p:nvSpPr>
        <p:spPr>
          <a:xfrm>
            <a:off x="7971807" y="1412776"/>
            <a:ext cx="261389" cy="287528"/>
          </a:xfrm>
          <a:prstGeom prst="upArrow">
            <a:avLst/>
          </a:prstGeom>
          <a:solidFill>
            <a:srgbClr val="92D05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Seta para cima 13"/>
          <p:cNvSpPr/>
          <p:nvPr/>
        </p:nvSpPr>
        <p:spPr>
          <a:xfrm>
            <a:off x="7974393" y="1830572"/>
            <a:ext cx="261389" cy="287528"/>
          </a:xfrm>
          <a:prstGeom prst="upArrow">
            <a:avLst/>
          </a:prstGeom>
          <a:solidFill>
            <a:srgbClr val="92D05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de cantos arredondados 18">
            <a:hlinkClick r:id="rId6" action="ppaction://hlinksldjump"/>
          </p:cNvPr>
          <p:cNvSpPr/>
          <p:nvPr/>
        </p:nvSpPr>
        <p:spPr>
          <a:xfrm>
            <a:off x="20192" y="962554"/>
            <a:ext cx="5184576" cy="252028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aphicFrame>
        <p:nvGraphicFramePr>
          <p:cNvPr id="22" name="Gráfico 2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13218267"/>
              </p:ext>
            </p:extLst>
          </p:nvPr>
        </p:nvGraphicFramePr>
        <p:xfrm>
          <a:off x="31034" y="3573017"/>
          <a:ext cx="4901006" cy="32849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3" name="Gráfico 2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9355222"/>
              </p:ext>
            </p:extLst>
          </p:nvPr>
        </p:nvGraphicFramePr>
        <p:xfrm>
          <a:off x="3259522" y="5119742"/>
          <a:ext cx="2088232" cy="14490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25" name="Retângulo 24"/>
          <p:cNvSpPr/>
          <p:nvPr/>
        </p:nvSpPr>
        <p:spPr>
          <a:xfrm>
            <a:off x="87729" y="6309320"/>
            <a:ext cx="333214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000" i="1" dirty="0" smtClean="0">
                <a:solidFill>
                  <a:schemeClr val="accent2"/>
                </a:solidFill>
                <a:latin typeface="Verdana" charset="0"/>
              </a:rPr>
              <a:t>75</a:t>
            </a:r>
            <a:r>
              <a:rPr lang="pt-BR" sz="1000" i="1" dirty="0">
                <a:solidFill>
                  <a:schemeClr val="accent2"/>
                </a:solidFill>
                <a:latin typeface="Verdana" charset="0"/>
              </a:rPr>
              <a:t>% dos chamados </a:t>
            </a:r>
            <a:r>
              <a:rPr lang="pt-BR" sz="1000" i="1" dirty="0" smtClean="0">
                <a:solidFill>
                  <a:schemeClr val="accent2"/>
                </a:solidFill>
                <a:latin typeface="Verdana" charset="0"/>
              </a:rPr>
              <a:t>atendidos </a:t>
            </a:r>
            <a:r>
              <a:rPr lang="pt-BR" sz="1000" i="1" dirty="0">
                <a:solidFill>
                  <a:schemeClr val="accent2"/>
                </a:solidFill>
                <a:latin typeface="Verdana" charset="0"/>
              </a:rPr>
              <a:t>em até 4 dias</a:t>
            </a:r>
            <a:endParaRPr lang="pt-BR" sz="1000" i="1" dirty="0">
              <a:solidFill>
                <a:schemeClr val="accent2"/>
              </a:solidFill>
            </a:endParaRPr>
          </a:p>
        </p:txBody>
      </p:sp>
      <p:sp>
        <p:nvSpPr>
          <p:cNvPr id="27" name="Divisa 26"/>
          <p:cNvSpPr/>
          <p:nvPr/>
        </p:nvSpPr>
        <p:spPr>
          <a:xfrm>
            <a:off x="2915815" y="4725144"/>
            <a:ext cx="294841" cy="648072"/>
          </a:xfrm>
          <a:prstGeom prst="chevron">
            <a:avLst>
              <a:gd name="adj" fmla="val 65117"/>
            </a:avLst>
          </a:prstGeom>
          <a:solidFill>
            <a:schemeClr val="accent2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30" name="Seta para cima 29"/>
          <p:cNvSpPr/>
          <p:nvPr/>
        </p:nvSpPr>
        <p:spPr>
          <a:xfrm>
            <a:off x="7974832" y="2204864"/>
            <a:ext cx="261389" cy="287528"/>
          </a:xfrm>
          <a:prstGeom prst="upArrow">
            <a:avLst/>
          </a:prstGeom>
          <a:solidFill>
            <a:srgbClr val="92D05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7525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5629617"/>
              </p:ext>
            </p:extLst>
          </p:nvPr>
        </p:nvGraphicFramePr>
        <p:xfrm>
          <a:off x="107950" y="765175"/>
          <a:ext cx="8710613" cy="6099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42" name="Planilha" r:id="rId3" imgW="11934757" imgH="7143750" progId="Excel.Sheet.12">
                  <p:embed/>
                </p:oleObj>
              </mc:Choice>
              <mc:Fallback>
                <p:oleObj name="Planilha" r:id="rId3" imgW="11934757" imgH="7143750" progId="Excel.Sheet.12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950" y="765175"/>
                        <a:ext cx="8710613" cy="6099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ítulo 4"/>
          <p:cNvSpPr txBox="1">
            <a:spLocks/>
          </p:cNvSpPr>
          <p:nvPr/>
        </p:nvSpPr>
        <p:spPr>
          <a:xfrm>
            <a:off x="35496" y="17672"/>
            <a:ext cx="7836694" cy="45900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>
            <a:normAutofit/>
          </a:bodyPr>
          <a:lstStyle>
            <a:defPPr>
              <a:defRPr lang="pt-BR"/>
            </a:defPPr>
            <a:lvl1pPr>
              <a:spcBef>
                <a:spcPct val="0"/>
              </a:spcBef>
              <a:buNone/>
              <a:defRPr b="0">
                <a:solidFill>
                  <a:srgbClr val="910048"/>
                </a:solidFill>
                <a:latin typeface="Verdana"/>
                <a:ea typeface="ＭＳ Ｐゴシック" charset="0"/>
                <a:cs typeface="Verdana"/>
              </a:defRPr>
            </a:lvl1pPr>
          </a:lstStyle>
          <a:p>
            <a:r>
              <a:rPr lang="pt-BR" dirty="0">
                <a:solidFill>
                  <a:schemeClr val="accent2"/>
                </a:solidFill>
              </a:rPr>
              <a:t>Plano de Ação – </a:t>
            </a:r>
            <a:r>
              <a:rPr lang="pt-BR" dirty="0" smtClean="0">
                <a:solidFill>
                  <a:schemeClr val="accent2"/>
                </a:solidFill>
              </a:rPr>
              <a:t>Curto Prazo</a:t>
            </a:r>
            <a:endParaRPr lang="pt-BR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1898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edondar Retângulo em um Canto Diagonal 1"/>
          <p:cNvSpPr/>
          <p:nvPr/>
        </p:nvSpPr>
        <p:spPr>
          <a:xfrm>
            <a:off x="374881" y="1272708"/>
            <a:ext cx="2320919" cy="741345"/>
          </a:xfrm>
          <a:prstGeom prst="round2Diag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800" b="1" dirty="0" smtClean="0">
                <a:solidFill>
                  <a:schemeClr val="accent6"/>
                </a:solidFill>
              </a:rPr>
              <a:t>Pasta de </a:t>
            </a:r>
            <a:r>
              <a:rPr lang="pt-BR" sz="800" b="1" dirty="0">
                <a:solidFill>
                  <a:schemeClr val="accent6"/>
                </a:solidFill>
              </a:rPr>
              <a:t>Rede </a:t>
            </a:r>
            <a:r>
              <a:rPr lang="pt-BR" sz="800" b="1" dirty="0" smtClean="0">
                <a:solidFill>
                  <a:schemeClr val="accent6"/>
                </a:solidFill>
              </a:rPr>
              <a:t>Restrita</a:t>
            </a:r>
          </a:p>
          <a:p>
            <a:endParaRPr lang="pt-BR" sz="800" dirty="0"/>
          </a:p>
          <a:p>
            <a:r>
              <a:rPr lang="pt-BR" sz="800" dirty="0" smtClean="0"/>
              <a:t>Aprovação do Gestor: 3 dias </a:t>
            </a:r>
          </a:p>
          <a:p>
            <a:r>
              <a:rPr lang="pt-BR" sz="800" dirty="0" smtClean="0"/>
              <a:t>Aprovação Responsável: 3 dias</a:t>
            </a:r>
          </a:p>
          <a:p>
            <a:r>
              <a:rPr lang="pt-BR" sz="800" dirty="0" smtClean="0"/>
              <a:t>Gestão de Acessos: 2 dias</a:t>
            </a:r>
          </a:p>
          <a:p>
            <a:r>
              <a:rPr lang="pt-BR" sz="800" dirty="0" smtClean="0">
                <a:solidFill>
                  <a:schemeClr val="accent6"/>
                </a:solidFill>
              </a:rPr>
              <a:t>Total = 8 dias</a:t>
            </a:r>
            <a:endParaRPr lang="pt-BR" sz="800" dirty="0">
              <a:solidFill>
                <a:schemeClr val="accent6"/>
              </a:solidFill>
            </a:endParaRPr>
          </a:p>
        </p:txBody>
      </p:sp>
      <p:sp>
        <p:nvSpPr>
          <p:cNvPr id="4" name="Arredondar Retângulo em um Canto Diagonal 3"/>
          <p:cNvSpPr/>
          <p:nvPr/>
        </p:nvSpPr>
        <p:spPr>
          <a:xfrm>
            <a:off x="3492359" y="1268760"/>
            <a:ext cx="2297940" cy="741345"/>
          </a:xfrm>
          <a:prstGeom prst="round2Diag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800" b="1" dirty="0" smtClean="0">
                <a:solidFill>
                  <a:schemeClr val="accent6"/>
                </a:solidFill>
              </a:rPr>
              <a:t>Pasta de </a:t>
            </a:r>
            <a:r>
              <a:rPr lang="pt-BR" sz="800" b="1" dirty="0">
                <a:solidFill>
                  <a:schemeClr val="accent6"/>
                </a:solidFill>
              </a:rPr>
              <a:t>Rede </a:t>
            </a:r>
            <a:r>
              <a:rPr lang="pt-BR" sz="800" b="1" dirty="0" smtClean="0">
                <a:solidFill>
                  <a:schemeClr val="accent6"/>
                </a:solidFill>
              </a:rPr>
              <a:t>Restrita</a:t>
            </a:r>
          </a:p>
          <a:p>
            <a:endParaRPr lang="pt-BR" sz="800" dirty="0"/>
          </a:p>
          <a:p>
            <a:r>
              <a:rPr lang="pt-BR" sz="800" dirty="0" smtClean="0"/>
              <a:t>Aprovação Responsável: 3 dias</a:t>
            </a:r>
          </a:p>
          <a:p>
            <a:r>
              <a:rPr lang="pt-BR" sz="800" dirty="0" smtClean="0"/>
              <a:t>Gestão de Acessos: 3 dias</a:t>
            </a:r>
          </a:p>
          <a:p>
            <a:r>
              <a:rPr lang="pt-BR" sz="800" dirty="0" smtClean="0">
                <a:solidFill>
                  <a:schemeClr val="accent6"/>
                </a:solidFill>
              </a:rPr>
              <a:t>Total = 6 dias</a:t>
            </a:r>
          </a:p>
          <a:p>
            <a:endParaRPr lang="pt-BR" sz="800" dirty="0"/>
          </a:p>
        </p:txBody>
      </p:sp>
      <p:sp>
        <p:nvSpPr>
          <p:cNvPr id="5" name="Arredondar Retângulo em um Canto Diagonal 4"/>
          <p:cNvSpPr/>
          <p:nvPr/>
        </p:nvSpPr>
        <p:spPr>
          <a:xfrm>
            <a:off x="367566" y="2150762"/>
            <a:ext cx="2320919" cy="743294"/>
          </a:xfrm>
          <a:prstGeom prst="round2Diag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800" b="1" dirty="0" smtClean="0">
                <a:solidFill>
                  <a:schemeClr val="accent6"/>
                </a:solidFill>
              </a:rPr>
              <a:t>Pasta </a:t>
            </a:r>
            <a:r>
              <a:rPr lang="pt-BR" sz="800" b="1" dirty="0">
                <a:solidFill>
                  <a:schemeClr val="accent6"/>
                </a:solidFill>
              </a:rPr>
              <a:t>de </a:t>
            </a:r>
            <a:r>
              <a:rPr lang="pt-BR" sz="800" b="1" dirty="0" smtClean="0">
                <a:solidFill>
                  <a:schemeClr val="accent6"/>
                </a:solidFill>
              </a:rPr>
              <a:t>Rede </a:t>
            </a:r>
            <a:r>
              <a:rPr lang="pt-BR" sz="800" b="1" dirty="0">
                <a:solidFill>
                  <a:schemeClr val="accent6"/>
                </a:solidFill>
              </a:rPr>
              <a:t>Não </a:t>
            </a:r>
            <a:r>
              <a:rPr lang="pt-BR" sz="800" b="1" dirty="0" smtClean="0">
                <a:solidFill>
                  <a:schemeClr val="accent6"/>
                </a:solidFill>
              </a:rPr>
              <a:t>Restrita</a:t>
            </a:r>
          </a:p>
          <a:p>
            <a:endParaRPr lang="pt-BR" sz="800" dirty="0"/>
          </a:p>
          <a:p>
            <a:r>
              <a:rPr lang="pt-BR" sz="800" dirty="0" smtClean="0"/>
              <a:t>Aprovação do Gestor: 3 dias </a:t>
            </a:r>
          </a:p>
          <a:p>
            <a:r>
              <a:rPr lang="pt-BR" sz="800" dirty="0" smtClean="0"/>
              <a:t>Gestão de Acessos: 2 dias</a:t>
            </a:r>
          </a:p>
          <a:p>
            <a:r>
              <a:rPr lang="pt-BR" sz="800" dirty="0">
                <a:solidFill>
                  <a:schemeClr val="accent6"/>
                </a:solidFill>
              </a:rPr>
              <a:t>Total = 5 dias</a:t>
            </a:r>
          </a:p>
          <a:p>
            <a:endParaRPr lang="pt-BR" sz="800" dirty="0"/>
          </a:p>
        </p:txBody>
      </p:sp>
      <p:sp>
        <p:nvSpPr>
          <p:cNvPr id="6" name="Arredondar Retângulo em um Canto Diagonal 5"/>
          <p:cNvSpPr/>
          <p:nvPr/>
        </p:nvSpPr>
        <p:spPr>
          <a:xfrm>
            <a:off x="3484441" y="2153409"/>
            <a:ext cx="2320919" cy="743294"/>
          </a:xfrm>
          <a:prstGeom prst="round2Diag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800" b="1" dirty="0">
                <a:solidFill>
                  <a:schemeClr val="accent6"/>
                </a:solidFill>
              </a:rPr>
              <a:t>Pasta de Rede Não Restrita</a:t>
            </a:r>
          </a:p>
          <a:p>
            <a:endParaRPr lang="pt-BR" sz="800" dirty="0"/>
          </a:p>
          <a:p>
            <a:r>
              <a:rPr lang="pt-BR" sz="800" dirty="0"/>
              <a:t>Aprovação do Gestor: </a:t>
            </a:r>
            <a:r>
              <a:rPr lang="pt-BR" sz="800" dirty="0" smtClean="0"/>
              <a:t>2 dias </a:t>
            </a:r>
            <a:endParaRPr lang="pt-BR" sz="800" dirty="0"/>
          </a:p>
          <a:p>
            <a:r>
              <a:rPr lang="pt-BR" sz="800" dirty="0"/>
              <a:t>Gestão de Acessos: 2 dias</a:t>
            </a:r>
          </a:p>
          <a:p>
            <a:r>
              <a:rPr lang="pt-BR" sz="800" dirty="0">
                <a:solidFill>
                  <a:schemeClr val="accent6"/>
                </a:solidFill>
              </a:rPr>
              <a:t>Total = </a:t>
            </a:r>
            <a:r>
              <a:rPr lang="pt-BR" sz="800" dirty="0" smtClean="0">
                <a:solidFill>
                  <a:schemeClr val="accent6"/>
                </a:solidFill>
              </a:rPr>
              <a:t>4 </a:t>
            </a:r>
            <a:r>
              <a:rPr lang="pt-BR" sz="800" dirty="0">
                <a:solidFill>
                  <a:schemeClr val="accent6"/>
                </a:solidFill>
              </a:rPr>
              <a:t>dias</a:t>
            </a:r>
          </a:p>
          <a:p>
            <a:endParaRPr lang="pt-BR" sz="800" dirty="0"/>
          </a:p>
        </p:txBody>
      </p:sp>
      <p:sp>
        <p:nvSpPr>
          <p:cNvPr id="7" name="Arredondar Retângulo em um Canto Diagonal 6"/>
          <p:cNvSpPr/>
          <p:nvPr/>
        </p:nvSpPr>
        <p:spPr>
          <a:xfrm>
            <a:off x="367566" y="3036781"/>
            <a:ext cx="2320919" cy="890482"/>
          </a:xfrm>
          <a:prstGeom prst="round2Diag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800" b="1" dirty="0">
                <a:solidFill>
                  <a:schemeClr val="accent6"/>
                </a:solidFill>
              </a:rPr>
              <a:t>Atribuir Perfil SAP </a:t>
            </a:r>
            <a:r>
              <a:rPr lang="pt-BR" sz="800" b="1" dirty="0" smtClean="0">
                <a:solidFill>
                  <a:schemeClr val="accent6"/>
                </a:solidFill>
              </a:rPr>
              <a:t>PRD</a:t>
            </a:r>
          </a:p>
          <a:p>
            <a:endParaRPr lang="pt-BR" sz="800" b="1" dirty="0" smtClean="0">
              <a:solidFill>
                <a:schemeClr val="accent6"/>
              </a:solidFill>
            </a:endParaRPr>
          </a:p>
          <a:p>
            <a:r>
              <a:rPr lang="pt-BR" sz="800" dirty="0" smtClean="0"/>
              <a:t>Aprovação do Gestor: 3 dias</a:t>
            </a:r>
          </a:p>
          <a:p>
            <a:r>
              <a:rPr lang="pt-BR" sz="800" dirty="0" smtClean="0"/>
              <a:t>Aprovação de SI: 3 dias</a:t>
            </a:r>
          </a:p>
          <a:p>
            <a:r>
              <a:rPr lang="pt-BR" sz="800" dirty="0" smtClean="0"/>
              <a:t>Aprovação do Key </a:t>
            </a:r>
            <a:r>
              <a:rPr lang="pt-BR" sz="800" dirty="0" err="1" smtClean="0"/>
              <a:t>User</a:t>
            </a:r>
            <a:r>
              <a:rPr lang="pt-BR" sz="800" dirty="0" smtClean="0"/>
              <a:t>: 3 dias </a:t>
            </a:r>
          </a:p>
          <a:p>
            <a:r>
              <a:rPr lang="pt-BR" sz="800" dirty="0" smtClean="0"/>
              <a:t>Gestão de Acessos: 3 dias</a:t>
            </a:r>
          </a:p>
          <a:p>
            <a:r>
              <a:rPr lang="pt-BR" sz="800" dirty="0">
                <a:solidFill>
                  <a:schemeClr val="accent6"/>
                </a:solidFill>
              </a:rPr>
              <a:t>Total = 11 dias</a:t>
            </a:r>
          </a:p>
        </p:txBody>
      </p:sp>
      <p:sp>
        <p:nvSpPr>
          <p:cNvPr id="8" name="Arredondar Retângulo em um Canto Diagonal 7"/>
          <p:cNvSpPr/>
          <p:nvPr/>
        </p:nvSpPr>
        <p:spPr>
          <a:xfrm>
            <a:off x="3475747" y="2996952"/>
            <a:ext cx="2320919" cy="890482"/>
          </a:xfrm>
          <a:prstGeom prst="round2Diag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800" b="1" dirty="0">
                <a:solidFill>
                  <a:schemeClr val="accent6"/>
                </a:solidFill>
              </a:rPr>
              <a:t>Atribuir Perfil SAP </a:t>
            </a:r>
            <a:r>
              <a:rPr lang="pt-BR" sz="800" b="1" dirty="0" smtClean="0">
                <a:solidFill>
                  <a:schemeClr val="accent6"/>
                </a:solidFill>
              </a:rPr>
              <a:t>PRD</a:t>
            </a:r>
          </a:p>
          <a:p>
            <a:endParaRPr lang="pt-BR" sz="800" b="1" dirty="0" smtClean="0">
              <a:solidFill>
                <a:schemeClr val="accent6"/>
              </a:solidFill>
            </a:endParaRPr>
          </a:p>
          <a:p>
            <a:r>
              <a:rPr lang="pt-BR" sz="800" dirty="0"/>
              <a:t>Aprovação do Gestor: 3 dias</a:t>
            </a:r>
          </a:p>
          <a:p>
            <a:r>
              <a:rPr lang="pt-BR" sz="800" dirty="0" smtClean="0"/>
              <a:t>Aprovação do Key </a:t>
            </a:r>
            <a:r>
              <a:rPr lang="pt-BR" sz="800" dirty="0" err="1" smtClean="0"/>
              <a:t>User</a:t>
            </a:r>
            <a:r>
              <a:rPr lang="pt-BR" sz="800" dirty="0" smtClean="0"/>
              <a:t>: 3 dias </a:t>
            </a:r>
          </a:p>
          <a:p>
            <a:r>
              <a:rPr lang="pt-BR" sz="800" dirty="0" smtClean="0"/>
              <a:t>Gestão de Acessos: 3 dias</a:t>
            </a:r>
          </a:p>
          <a:p>
            <a:r>
              <a:rPr lang="pt-BR" sz="800" dirty="0">
                <a:solidFill>
                  <a:schemeClr val="accent6"/>
                </a:solidFill>
              </a:rPr>
              <a:t>Total = </a:t>
            </a:r>
            <a:r>
              <a:rPr lang="pt-BR" sz="800" dirty="0" smtClean="0">
                <a:solidFill>
                  <a:schemeClr val="accent6"/>
                </a:solidFill>
              </a:rPr>
              <a:t>9 dias</a:t>
            </a:r>
            <a:endParaRPr lang="pt-BR" sz="800" dirty="0">
              <a:solidFill>
                <a:schemeClr val="accent6"/>
              </a:solidFill>
            </a:endParaRPr>
          </a:p>
        </p:txBody>
      </p:sp>
      <p:sp>
        <p:nvSpPr>
          <p:cNvPr id="10" name="Retângulo de cantos arredondados 9"/>
          <p:cNvSpPr/>
          <p:nvPr/>
        </p:nvSpPr>
        <p:spPr>
          <a:xfrm>
            <a:off x="6588224" y="1275335"/>
            <a:ext cx="2023365" cy="75029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800" dirty="0"/>
              <a:t>Customizar ferramenta para reconhecer o gestor como solicitante e aprovador</a:t>
            </a:r>
          </a:p>
          <a:p>
            <a:pPr algn="ctr"/>
            <a:endParaRPr lang="pt-BR" sz="800" dirty="0"/>
          </a:p>
        </p:txBody>
      </p:sp>
      <p:sp>
        <p:nvSpPr>
          <p:cNvPr id="11" name="Retângulo de cantos arredondados 10"/>
          <p:cNvSpPr/>
          <p:nvPr/>
        </p:nvSpPr>
        <p:spPr>
          <a:xfrm>
            <a:off x="6599110" y="2158171"/>
            <a:ext cx="2023365" cy="74329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800" dirty="0" smtClean="0"/>
              <a:t>Correção no workflow de aprovação, tornando esta requisição Auto Solicitação</a:t>
            </a:r>
            <a:endParaRPr lang="pt-BR" sz="800" dirty="0"/>
          </a:p>
          <a:p>
            <a:pPr algn="ctr"/>
            <a:endParaRPr lang="pt-BR" sz="800" dirty="0"/>
          </a:p>
        </p:txBody>
      </p:sp>
      <p:sp>
        <p:nvSpPr>
          <p:cNvPr id="13" name="Retângulo de cantos arredondados 12"/>
          <p:cNvSpPr/>
          <p:nvPr/>
        </p:nvSpPr>
        <p:spPr>
          <a:xfrm>
            <a:off x="6588224" y="3049974"/>
            <a:ext cx="2023366" cy="890484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800" dirty="0"/>
              <a:t>Customizar ferramenta para reconhecer o gestor como solicitante e </a:t>
            </a:r>
            <a:r>
              <a:rPr lang="pt-BR" sz="800" dirty="0" smtClean="0"/>
              <a:t>aprovador/ Incluir </a:t>
            </a:r>
            <a:r>
              <a:rPr lang="pt-BR" sz="800" dirty="0"/>
              <a:t>SI no fluxo de aprovação através da ferramenta</a:t>
            </a:r>
            <a:r>
              <a:rPr lang="pt-BR" sz="800" dirty="0" smtClean="0"/>
              <a:t>, estabelecendo SLA</a:t>
            </a:r>
            <a:endParaRPr lang="pt-BR" sz="800" dirty="0"/>
          </a:p>
        </p:txBody>
      </p:sp>
      <p:sp>
        <p:nvSpPr>
          <p:cNvPr id="14" name="Arredondar Retângulo em um Canto Diagonal 13"/>
          <p:cNvSpPr/>
          <p:nvPr/>
        </p:nvSpPr>
        <p:spPr>
          <a:xfrm>
            <a:off x="397484" y="4160871"/>
            <a:ext cx="2299392" cy="715410"/>
          </a:xfrm>
          <a:prstGeom prst="round2Diag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800" b="1" dirty="0" smtClean="0">
                <a:solidFill>
                  <a:schemeClr val="accent6"/>
                </a:solidFill>
              </a:rPr>
              <a:t>Revogação de Acessos</a:t>
            </a:r>
          </a:p>
          <a:p>
            <a:endParaRPr lang="pt-BR" sz="800" dirty="0" smtClean="0"/>
          </a:p>
          <a:p>
            <a:r>
              <a:rPr lang="pt-BR" sz="800" dirty="0" smtClean="0"/>
              <a:t>Aprovação do Gestor: 3 dias</a:t>
            </a:r>
          </a:p>
          <a:p>
            <a:r>
              <a:rPr lang="pt-BR" sz="800" dirty="0" smtClean="0"/>
              <a:t>Gestão de Acessos: 2 dias</a:t>
            </a:r>
          </a:p>
          <a:p>
            <a:r>
              <a:rPr lang="pt-BR" sz="800" dirty="0">
                <a:solidFill>
                  <a:schemeClr val="accent6"/>
                </a:solidFill>
              </a:rPr>
              <a:t>Total = 5</a:t>
            </a:r>
            <a:r>
              <a:rPr lang="pt-BR" sz="800" dirty="0" smtClean="0">
                <a:solidFill>
                  <a:schemeClr val="accent6"/>
                </a:solidFill>
              </a:rPr>
              <a:t> </a:t>
            </a:r>
            <a:r>
              <a:rPr lang="pt-BR" sz="800" dirty="0">
                <a:solidFill>
                  <a:schemeClr val="accent6"/>
                </a:solidFill>
              </a:rPr>
              <a:t>dias</a:t>
            </a:r>
          </a:p>
        </p:txBody>
      </p:sp>
      <p:sp>
        <p:nvSpPr>
          <p:cNvPr id="16" name="Retângulo de cantos arredondados 15"/>
          <p:cNvSpPr/>
          <p:nvPr/>
        </p:nvSpPr>
        <p:spPr>
          <a:xfrm>
            <a:off x="6588224" y="4160871"/>
            <a:ext cx="2042066" cy="71541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800" dirty="0"/>
              <a:t>Customizar ferramenta para reconhecer o gestor como solicitante e </a:t>
            </a:r>
            <a:r>
              <a:rPr lang="pt-BR" sz="800" dirty="0" smtClean="0"/>
              <a:t>aprovador</a:t>
            </a:r>
            <a:endParaRPr lang="pt-BR" sz="800" dirty="0"/>
          </a:p>
        </p:txBody>
      </p:sp>
      <p:sp>
        <p:nvSpPr>
          <p:cNvPr id="17" name="Arredondar Retângulo em um Canto Diagonal 16"/>
          <p:cNvSpPr/>
          <p:nvPr/>
        </p:nvSpPr>
        <p:spPr>
          <a:xfrm>
            <a:off x="3497136" y="4157213"/>
            <a:ext cx="2282224" cy="718419"/>
          </a:xfrm>
          <a:prstGeom prst="round2Diag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800" b="1" dirty="0">
                <a:solidFill>
                  <a:schemeClr val="accent6"/>
                </a:solidFill>
              </a:rPr>
              <a:t>Revogação de </a:t>
            </a:r>
            <a:r>
              <a:rPr lang="pt-BR" sz="800" b="1" dirty="0" smtClean="0">
                <a:solidFill>
                  <a:schemeClr val="accent6"/>
                </a:solidFill>
              </a:rPr>
              <a:t>Acessos</a:t>
            </a:r>
          </a:p>
          <a:p>
            <a:endParaRPr lang="pt-BR" sz="800" dirty="0" smtClean="0"/>
          </a:p>
          <a:p>
            <a:r>
              <a:rPr lang="pt-BR" sz="800" dirty="0" smtClean="0"/>
              <a:t>Aprovação </a:t>
            </a:r>
            <a:r>
              <a:rPr lang="pt-BR" sz="800" dirty="0"/>
              <a:t>do Gestor: </a:t>
            </a:r>
            <a:r>
              <a:rPr lang="pt-BR" sz="800" dirty="0" smtClean="0"/>
              <a:t>2 </a:t>
            </a:r>
            <a:r>
              <a:rPr lang="pt-BR" sz="800" dirty="0"/>
              <a:t>dias</a:t>
            </a:r>
          </a:p>
          <a:p>
            <a:r>
              <a:rPr lang="pt-BR" sz="800" dirty="0"/>
              <a:t>Gestão de Acessos: 2 dias</a:t>
            </a:r>
          </a:p>
          <a:p>
            <a:r>
              <a:rPr lang="pt-BR" sz="800" dirty="0">
                <a:solidFill>
                  <a:schemeClr val="accent6"/>
                </a:solidFill>
              </a:rPr>
              <a:t>Total = </a:t>
            </a:r>
            <a:r>
              <a:rPr lang="pt-BR" sz="800" dirty="0" smtClean="0">
                <a:solidFill>
                  <a:schemeClr val="accent6"/>
                </a:solidFill>
              </a:rPr>
              <a:t>4 </a:t>
            </a:r>
            <a:r>
              <a:rPr lang="pt-BR" sz="800" dirty="0">
                <a:solidFill>
                  <a:schemeClr val="accent6"/>
                </a:solidFill>
              </a:rPr>
              <a:t>dias</a:t>
            </a:r>
          </a:p>
          <a:p>
            <a:endParaRPr lang="pt-BR" sz="800" dirty="0">
              <a:solidFill>
                <a:schemeClr val="accent6"/>
              </a:solidFill>
            </a:endParaRPr>
          </a:p>
        </p:txBody>
      </p:sp>
      <p:sp>
        <p:nvSpPr>
          <p:cNvPr id="18" name="Arredondar Retângulo em um Canto Diagonal 17"/>
          <p:cNvSpPr/>
          <p:nvPr/>
        </p:nvSpPr>
        <p:spPr>
          <a:xfrm>
            <a:off x="367566" y="5037675"/>
            <a:ext cx="2320919" cy="747587"/>
          </a:xfrm>
          <a:prstGeom prst="round2Diag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800" b="1" dirty="0" smtClean="0">
                <a:solidFill>
                  <a:schemeClr val="accent6"/>
                </a:solidFill>
              </a:rPr>
              <a:t>Criar </a:t>
            </a:r>
            <a:r>
              <a:rPr lang="pt-BR" sz="800" b="1" dirty="0" err="1" smtClean="0">
                <a:solidFill>
                  <a:schemeClr val="accent6"/>
                </a:solidFill>
              </a:rPr>
              <a:t>Login</a:t>
            </a:r>
            <a:r>
              <a:rPr lang="pt-BR" sz="800" b="1" dirty="0" smtClean="0">
                <a:solidFill>
                  <a:schemeClr val="accent6"/>
                </a:solidFill>
              </a:rPr>
              <a:t> SAP PRD</a:t>
            </a:r>
          </a:p>
          <a:p>
            <a:endParaRPr lang="pt-BR" sz="800" dirty="0" smtClean="0"/>
          </a:p>
          <a:p>
            <a:r>
              <a:rPr lang="pt-BR" sz="800" dirty="0" smtClean="0"/>
              <a:t>Aprovação do Gestor: 3 dias</a:t>
            </a:r>
          </a:p>
          <a:p>
            <a:r>
              <a:rPr lang="pt-BR" sz="800" dirty="0" smtClean="0"/>
              <a:t>Gestão de Acessos: 2 dias</a:t>
            </a:r>
          </a:p>
          <a:p>
            <a:r>
              <a:rPr lang="pt-BR" sz="800" dirty="0">
                <a:solidFill>
                  <a:schemeClr val="accent6"/>
                </a:solidFill>
              </a:rPr>
              <a:t>Total = 5</a:t>
            </a:r>
            <a:r>
              <a:rPr lang="pt-BR" sz="800" dirty="0" smtClean="0">
                <a:solidFill>
                  <a:schemeClr val="accent6"/>
                </a:solidFill>
              </a:rPr>
              <a:t> </a:t>
            </a:r>
            <a:r>
              <a:rPr lang="pt-BR" sz="800" dirty="0">
                <a:solidFill>
                  <a:schemeClr val="accent6"/>
                </a:solidFill>
              </a:rPr>
              <a:t>dias</a:t>
            </a:r>
          </a:p>
        </p:txBody>
      </p:sp>
      <p:sp>
        <p:nvSpPr>
          <p:cNvPr id="19" name="Retângulo de cantos arredondados 18"/>
          <p:cNvSpPr/>
          <p:nvPr/>
        </p:nvSpPr>
        <p:spPr>
          <a:xfrm>
            <a:off x="6588224" y="5037675"/>
            <a:ext cx="2051115" cy="747587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800" dirty="0"/>
              <a:t>Customizar ferramenta para reconhecer o gestor como solicitante e </a:t>
            </a:r>
            <a:r>
              <a:rPr lang="pt-BR" sz="800" dirty="0" smtClean="0"/>
              <a:t>aprovador</a:t>
            </a:r>
            <a:endParaRPr lang="pt-BR" sz="800" dirty="0"/>
          </a:p>
        </p:txBody>
      </p:sp>
      <p:sp>
        <p:nvSpPr>
          <p:cNvPr id="20" name="Arredondar Retângulo em um Canto Diagonal 19"/>
          <p:cNvSpPr/>
          <p:nvPr/>
        </p:nvSpPr>
        <p:spPr>
          <a:xfrm>
            <a:off x="3492192" y="5033950"/>
            <a:ext cx="2320919" cy="750729"/>
          </a:xfrm>
          <a:prstGeom prst="round2Diag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800" b="1" dirty="0">
                <a:solidFill>
                  <a:schemeClr val="accent6"/>
                </a:solidFill>
              </a:rPr>
              <a:t>Criar </a:t>
            </a:r>
            <a:r>
              <a:rPr lang="pt-BR" sz="800" b="1" dirty="0" err="1">
                <a:solidFill>
                  <a:schemeClr val="accent6"/>
                </a:solidFill>
              </a:rPr>
              <a:t>Login</a:t>
            </a:r>
            <a:r>
              <a:rPr lang="pt-BR" sz="800" b="1" dirty="0">
                <a:solidFill>
                  <a:schemeClr val="accent6"/>
                </a:solidFill>
              </a:rPr>
              <a:t> SAP PRD</a:t>
            </a:r>
          </a:p>
          <a:p>
            <a:endParaRPr lang="pt-BR" sz="800" dirty="0"/>
          </a:p>
          <a:p>
            <a:r>
              <a:rPr lang="pt-BR" sz="800" dirty="0"/>
              <a:t>Aprovação do Gestor: </a:t>
            </a:r>
            <a:r>
              <a:rPr lang="pt-BR" sz="800" dirty="0" smtClean="0"/>
              <a:t>2 dias</a:t>
            </a:r>
            <a:endParaRPr lang="pt-BR" sz="800" dirty="0"/>
          </a:p>
          <a:p>
            <a:r>
              <a:rPr lang="pt-BR" sz="800" dirty="0"/>
              <a:t>Gestão de Acessos: 2 dias</a:t>
            </a:r>
          </a:p>
          <a:p>
            <a:r>
              <a:rPr lang="pt-BR" sz="800" dirty="0">
                <a:solidFill>
                  <a:schemeClr val="accent6"/>
                </a:solidFill>
              </a:rPr>
              <a:t>Total = </a:t>
            </a:r>
            <a:r>
              <a:rPr lang="pt-BR" sz="800" dirty="0" smtClean="0">
                <a:solidFill>
                  <a:schemeClr val="accent6"/>
                </a:solidFill>
              </a:rPr>
              <a:t>4 dias</a:t>
            </a:r>
            <a:endParaRPr lang="pt-BR" sz="800" dirty="0">
              <a:solidFill>
                <a:schemeClr val="accent6"/>
              </a:solidFill>
            </a:endParaRPr>
          </a:p>
          <a:p>
            <a:endParaRPr lang="pt-BR" sz="800" dirty="0">
              <a:solidFill>
                <a:schemeClr val="accent6"/>
              </a:solidFill>
            </a:endParaRPr>
          </a:p>
        </p:txBody>
      </p:sp>
      <p:sp>
        <p:nvSpPr>
          <p:cNvPr id="21" name="Arredondar Retângulo em um Canto Diagonal 20"/>
          <p:cNvSpPr/>
          <p:nvPr/>
        </p:nvSpPr>
        <p:spPr>
          <a:xfrm>
            <a:off x="367566" y="5879118"/>
            <a:ext cx="2320919" cy="770240"/>
          </a:xfrm>
          <a:prstGeom prst="round2Diag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800" b="1" dirty="0" smtClean="0">
                <a:solidFill>
                  <a:schemeClr val="accent6"/>
                </a:solidFill>
              </a:rPr>
              <a:t>Criar </a:t>
            </a:r>
            <a:r>
              <a:rPr lang="pt-BR" sz="800" b="1" dirty="0" err="1" smtClean="0">
                <a:solidFill>
                  <a:schemeClr val="accent6"/>
                </a:solidFill>
              </a:rPr>
              <a:t>Login</a:t>
            </a:r>
            <a:r>
              <a:rPr lang="pt-BR" sz="800" b="1" dirty="0" smtClean="0">
                <a:solidFill>
                  <a:schemeClr val="accent6"/>
                </a:solidFill>
              </a:rPr>
              <a:t> de Rede</a:t>
            </a:r>
          </a:p>
          <a:p>
            <a:endParaRPr lang="pt-BR" sz="800" dirty="0" smtClean="0"/>
          </a:p>
          <a:p>
            <a:r>
              <a:rPr lang="pt-BR" sz="800" dirty="0" smtClean="0"/>
              <a:t>Aprovação do Gestor: 3 dias</a:t>
            </a:r>
          </a:p>
          <a:p>
            <a:r>
              <a:rPr lang="pt-BR" sz="800" dirty="0" smtClean="0"/>
              <a:t>Gestão de Acessos: 2 dias</a:t>
            </a:r>
          </a:p>
          <a:p>
            <a:r>
              <a:rPr lang="pt-BR" sz="800" dirty="0">
                <a:solidFill>
                  <a:schemeClr val="accent6"/>
                </a:solidFill>
              </a:rPr>
              <a:t>Total = 5</a:t>
            </a:r>
            <a:r>
              <a:rPr lang="pt-BR" sz="800" dirty="0" smtClean="0">
                <a:solidFill>
                  <a:schemeClr val="accent6"/>
                </a:solidFill>
              </a:rPr>
              <a:t> </a:t>
            </a:r>
            <a:r>
              <a:rPr lang="pt-BR" sz="800" dirty="0">
                <a:solidFill>
                  <a:schemeClr val="accent6"/>
                </a:solidFill>
              </a:rPr>
              <a:t>dias</a:t>
            </a:r>
          </a:p>
        </p:txBody>
      </p:sp>
      <p:sp>
        <p:nvSpPr>
          <p:cNvPr id="22" name="Retângulo de cantos arredondados 21"/>
          <p:cNvSpPr/>
          <p:nvPr/>
        </p:nvSpPr>
        <p:spPr>
          <a:xfrm>
            <a:off x="6588224" y="5879118"/>
            <a:ext cx="2051116" cy="77024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800" dirty="0"/>
              <a:t>Customizar ferramenta para reconhecer o gestor como solicitante e </a:t>
            </a:r>
            <a:r>
              <a:rPr lang="pt-BR" sz="800" dirty="0" smtClean="0"/>
              <a:t>aprovador/ Criação de </a:t>
            </a:r>
            <a:r>
              <a:rPr lang="pt-BR" sz="800" dirty="0" err="1" smtClean="0"/>
              <a:t>login</a:t>
            </a:r>
            <a:r>
              <a:rPr lang="pt-BR" sz="800" dirty="0" smtClean="0"/>
              <a:t> no dia da admissão.</a:t>
            </a:r>
            <a:endParaRPr lang="pt-BR" sz="800" dirty="0"/>
          </a:p>
        </p:txBody>
      </p:sp>
      <p:sp>
        <p:nvSpPr>
          <p:cNvPr id="23" name="Arredondar Retângulo em um Canto Diagonal 22"/>
          <p:cNvSpPr/>
          <p:nvPr/>
        </p:nvSpPr>
        <p:spPr>
          <a:xfrm>
            <a:off x="3497519" y="5875346"/>
            <a:ext cx="2320919" cy="773476"/>
          </a:xfrm>
          <a:prstGeom prst="round2Diag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800" b="1" dirty="0">
                <a:solidFill>
                  <a:schemeClr val="accent6"/>
                </a:solidFill>
              </a:rPr>
              <a:t>Criar </a:t>
            </a:r>
            <a:r>
              <a:rPr lang="pt-BR" sz="800" b="1" dirty="0" err="1">
                <a:solidFill>
                  <a:schemeClr val="accent6"/>
                </a:solidFill>
              </a:rPr>
              <a:t>Login</a:t>
            </a:r>
            <a:r>
              <a:rPr lang="pt-BR" sz="800" b="1" dirty="0">
                <a:solidFill>
                  <a:schemeClr val="accent6"/>
                </a:solidFill>
              </a:rPr>
              <a:t> de Rede</a:t>
            </a:r>
          </a:p>
          <a:p>
            <a:endParaRPr lang="pt-BR" sz="800" dirty="0"/>
          </a:p>
          <a:p>
            <a:r>
              <a:rPr lang="pt-BR" sz="800" dirty="0"/>
              <a:t>Aprovação do Gestor: </a:t>
            </a:r>
            <a:r>
              <a:rPr lang="pt-BR" sz="800" dirty="0" smtClean="0"/>
              <a:t>2 dias</a:t>
            </a:r>
            <a:endParaRPr lang="pt-BR" sz="800" dirty="0"/>
          </a:p>
          <a:p>
            <a:r>
              <a:rPr lang="pt-BR" sz="800" dirty="0"/>
              <a:t>Gestão de Acessos: 2 dias</a:t>
            </a:r>
          </a:p>
          <a:p>
            <a:r>
              <a:rPr lang="pt-BR" sz="800" dirty="0">
                <a:solidFill>
                  <a:schemeClr val="accent6"/>
                </a:solidFill>
              </a:rPr>
              <a:t>Total = </a:t>
            </a:r>
            <a:r>
              <a:rPr lang="pt-BR" sz="800" dirty="0" smtClean="0">
                <a:solidFill>
                  <a:schemeClr val="accent6"/>
                </a:solidFill>
              </a:rPr>
              <a:t>4 dias</a:t>
            </a:r>
            <a:endParaRPr lang="pt-BR" sz="800" dirty="0">
              <a:solidFill>
                <a:schemeClr val="accent6"/>
              </a:solidFill>
            </a:endParaRPr>
          </a:p>
          <a:p>
            <a:endParaRPr lang="pt-BR" sz="800" dirty="0">
              <a:solidFill>
                <a:schemeClr val="accent6"/>
              </a:solidFill>
            </a:endParaRPr>
          </a:p>
        </p:txBody>
      </p:sp>
      <p:sp>
        <p:nvSpPr>
          <p:cNvPr id="34" name="CaixaDeTexto 33"/>
          <p:cNvSpPr txBox="1"/>
          <p:nvPr/>
        </p:nvSpPr>
        <p:spPr>
          <a:xfrm>
            <a:off x="755576" y="548680"/>
            <a:ext cx="1224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Atual</a:t>
            </a:r>
            <a:endParaRPr lang="pt-BR" dirty="0"/>
          </a:p>
        </p:txBody>
      </p:sp>
      <p:sp>
        <p:nvSpPr>
          <p:cNvPr id="37" name="CaixaDeTexto 36"/>
          <p:cNvSpPr txBox="1"/>
          <p:nvPr/>
        </p:nvSpPr>
        <p:spPr>
          <a:xfrm>
            <a:off x="3851920" y="548680"/>
            <a:ext cx="1224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Novo</a:t>
            </a:r>
            <a:endParaRPr lang="pt-BR" dirty="0"/>
          </a:p>
        </p:txBody>
      </p:sp>
      <p:cxnSp>
        <p:nvCxnSpPr>
          <p:cNvPr id="39" name="Conector reto 38"/>
          <p:cNvCxnSpPr/>
          <p:nvPr/>
        </p:nvCxnSpPr>
        <p:spPr>
          <a:xfrm>
            <a:off x="80581" y="918012"/>
            <a:ext cx="90170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aixaDeTexto 39"/>
          <p:cNvSpPr txBox="1"/>
          <p:nvPr/>
        </p:nvSpPr>
        <p:spPr>
          <a:xfrm>
            <a:off x="7092280" y="548680"/>
            <a:ext cx="1224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Ações</a:t>
            </a:r>
            <a:endParaRPr lang="pt-BR" dirty="0"/>
          </a:p>
        </p:txBody>
      </p:sp>
      <p:sp>
        <p:nvSpPr>
          <p:cNvPr id="42" name="Seta para a direita 41"/>
          <p:cNvSpPr/>
          <p:nvPr/>
        </p:nvSpPr>
        <p:spPr>
          <a:xfrm>
            <a:off x="2915816" y="1484784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Seta para a direita 42"/>
          <p:cNvSpPr/>
          <p:nvPr/>
        </p:nvSpPr>
        <p:spPr>
          <a:xfrm>
            <a:off x="2915816" y="2348880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Seta para a direita 43"/>
          <p:cNvSpPr/>
          <p:nvPr/>
        </p:nvSpPr>
        <p:spPr>
          <a:xfrm>
            <a:off x="2926702" y="3284984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Seta para a direita 44"/>
          <p:cNvSpPr/>
          <p:nvPr/>
        </p:nvSpPr>
        <p:spPr>
          <a:xfrm>
            <a:off x="2937588" y="4293096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6" name="Seta para a direita 45"/>
          <p:cNvSpPr/>
          <p:nvPr/>
        </p:nvSpPr>
        <p:spPr>
          <a:xfrm>
            <a:off x="2915816" y="5229200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Seta para a direita 46"/>
          <p:cNvSpPr/>
          <p:nvPr/>
        </p:nvSpPr>
        <p:spPr>
          <a:xfrm>
            <a:off x="2915816" y="6093296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Seta para a direita 47"/>
          <p:cNvSpPr/>
          <p:nvPr/>
        </p:nvSpPr>
        <p:spPr>
          <a:xfrm>
            <a:off x="5990388" y="1484784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9" name="Seta para a direita 48"/>
          <p:cNvSpPr/>
          <p:nvPr/>
        </p:nvSpPr>
        <p:spPr>
          <a:xfrm>
            <a:off x="5990388" y="2348880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0" name="Seta para a direita 49"/>
          <p:cNvSpPr/>
          <p:nvPr/>
        </p:nvSpPr>
        <p:spPr>
          <a:xfrm>
            <a:off x="6001274" y="3284984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1" name="Seta para a direita 50"/>
          <p:cNvSpPr/>
          <p:nvPr/>
        </p:nvSpPr>
        <p:spPr>
          <a:xfrm>
            <a:off x="6012160" y="4293096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2" name="Seta para a direita 51"/>
          <p:cNvSpPr/>
          <p:nvPr/>
        </p:nvSpPr>
        <p:spPr>
          <a:xfrm>
            <a:off x="5990388" y="5229200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3" name="Seta para a direita 52"/>
          <p:cNvSpPr/>
          <p:nvPr/>
        </p:nvSpPr>
        <p:spPr>
          <a:xfrm>
            <a:off x="5990388" y="6093296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4" name="Retângulo 53"/>
          <p:cNvSpPr/>
          <p:nvPr/>
        </p:nvSpPr>
        <p:spPr>
          <a:xfrm>
            <a:off x="72008" y="476672"/>
            <a:ext cx="9036496" cy="6336704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5" name="CaixaDeTexto 54"/>
          <p:cNvSpPr txBox="1"/>
          <p:nvPr/>
        </p:nvSpPr>
        <p:spPr>
          <a:xfrm>
            <a:off x="107504" y="44624"/>
            <a:ext cx="2723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Fluxo de Atendimento</a:t>
            </a:r>
            <a:endParaRPr lang="pt-BR" dirty="0"/>
          </a:p>
        </p:txBody>
      </p:sp>
      <p:sp>
        <p:nvSpPr>
          <p:cNvPr id="56" name="Seta para cima 55">
            <a:hlinkClick r:id="rId2" action="ppaction://hlinksldjump"/>
          </p:cNvPr>
          <p:cNvSpPr/>
          <p:nvPr/>
        </p:nvSpPr>
        <p:spPr>
          <a:xfrm rot="16200000">
            <a:off x="8796887" y="6442474"/>
            <a:ext cx="252332" cy="349173"/>
          </a:xfrm>
          <a:prstGeom prst="up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7548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15"/>
          <p:cNvSpPr>
            <a:spLocks noChangeArrowheads="1"/>
          </p:cNvSpPr>
          <p:nvPr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tx2"/>
          </a:solidFill>
          <a:ln>
            <a:noFill/>
          </a:ln>
          <a:extLst/>
        </p:spPr>
        <p:txBody>
          <a:bodyPr lIns="57607" tIns="28804" rIns="57607" bIns="28804"/>
          <a:lstStyle/>
          <a:p>
            <a:endParaRPr lang="pt-BR"/>
          </a:p>
        </p:txBody>
      </p:sp>
      <p:sp>
        <p:nvSpPr>
          <p:cNvPr id="31747" name="Rectangle 3"/>
          <p:cNvSpPr>
            <a:spLocks/>
          </p:cNvSpPr>
          <p:nvPr/>
        </p:nvSpPr>
        <p:spPr bwMode="auto">
          <a:xfrm>
            <a:off x="535781" y="2107406"/>
            <a:ext cx="7822406" cy="26521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/>
          <a:p>
            <a:pPr algn="l">
              <a:lnSpc>
                <a:spcPct val="80000"/>
              </a:lnSpc>
            </a:pPr>
            <a:r>
              <a:rPr lang="en-US" sz="9100">
                <a:solidFill>
                  <a:schemeClr val="bg1"/>
                </a:solidFill>
                <a:latin typeface="Gill Sans Std Light" pitchFamily="34" charset="0"/>
                <a:sym typeface="Gill Sans Std Light" pitchFamily="34" charset="0"/>
              </a:rPr>
              <a:t>obrigado</a:t>
            </a:r>
          </a:p>
        </p:txBody>
      </p:sp>
      <p:sp>
        <p:nvSpPr>
          <p:cNvPr id="31748" name="Rectangle 5"/>
          <p:cNvSpPr>
            <a:spLocks/>
          </p:cNvSpPr>
          <p:nvPr/>
        </p:nvSpPr>
        <p:spPr bwMode="auto">
          <a:xfrm>
            <a:off x="500063" y="6228465"/>
            <a:ext cx="973336" cy="98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25603" bIns="0"/>
          <a:lstStyle/>
          <a:p>
            <a:pPr marL="25003"/>
            <a:r>
              <a:rPr lang="en-US" sz="700">
                <a:solidFill>
                  <a:srgbClr val="D9D9D6"/>
                </a:solidFill>
                <a:latin typeface="Gill Sans Std" pitchFamily="34" charset="0"/>
                <a:sym typeface="Gill Sans Std" pitchFamily="34" charset="0"/>
              </a:rPr>
              <a:t>[ CONFIDENCIAL ]</a:t>
            </a:r>
          </a:p>
        </p:txBody>
      </p:sp>
      <p:pic>
        <p:nvPicPr>
          <p:cNvPr id="31749" name="Picture 5" descr="NAT_marca_branca_natura-01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872" y="5671468"/>
            <a:ext cx="704329" cy="642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71211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lank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specto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Escritório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Escritório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Escritório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Escritório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Escritório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Escritório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0ACBF76873A4540BBF3FE7E3F63907D" ma:contentTypeVersion="0" ma:contentTypeDescription="Crie um novo documento." ma:contentTypeScope="" ma:versionID="41ab82f312954f7ba565c627293907c4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acb358bd3c4937f8c29cf3e1e721863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F97C8ABC-2657-42FA-8D90-92D01B43F22C}"/>
</file>

<file path=customXml/itemProps2.xml><?xml version="1.0" encoding="utf-8"?>
<ds:datastoreItem xmlns:ds="http://schemas.openxmlformats.org/officeDocument/2006/customXml" ds:itemID="{DA97C9FE-FF9A-4278-A76E-B1CC685AE0CE}"/>
</file>

<file path=customXml/itemProps3.xml><?xml version="1.0" encoding="utf-8"?>
<ds:datastoreItem xmlns:ds="http://schemas.openxmlformats.org/officeDocument/2006/customXml" ds:itemID="{F60F5DD9-DC77-4E6E-AAF2-E06C10AE20A0}"/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4350</TotalTime>
  <Words>1870</Words>
  <Application>Microsoft Office PowerPoint</Application>
  <PresentationFormat>Apresentação na tela (4:3)</PresentationFormat>
  <Paragraphs>306</Paragraphs>
  <Slides>33</Slides>
  <Notes>15</Notes>
  <HiddenSlides>0</HiddenSlides>
  <MMClips>0</MMClips>
  <ScaleCrop>false</ScaleCrop>
  <HeadingPairs>
    <vt:vector size="6" baseType="variant">
      <vt:variant>
        <vt:lpstr>Tema</vt:lpstr>
      </vt:variant>
      <vt:variant>
        <vt:i4>1</vt:i4>
      </vt:variant>
      <vt:variant>
        <vt:lpstr>Servidores OLE incorporados</vt:lpstr>
      </vt:variant>
      <vt:variant>
        <vt:i4>2</vt:i4>
      </vt:variant>
      <vt:variant>
        <vt:lpstr>Títulos de slides</vt:lpstr>
      </vt:variant>
      <vt:variant>
        <vt:i4>33</vt:i4>
      </vt:variant>
    </vt:vector>
  </HeadingPairs>
  <TitlesOfParts>
    <vt:vector size="36" baseType="lpstr">
      <vt:lpstr>Blank</vt:lpstr>
      <vt:lpstr>Planilha</vt:lpstr>
      <vt:lpstr>Planilha do Microsoft Excel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Plano de Ação – Service Desk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Natura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BUSATO</dc:creator>
  <cp:lastModifiedBy>br93826</cp:lastModifiedBy>
  <cp:revision>309</cp:revision>
  <dcterms:created xsi:type="dcterms:W3CDTF">2013-07-01T17:49:33Z</dcterms:created>
  <dcterms:modified xsi:type="dcterms:W3CDTF">2015-02-23T16:31:47Z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0x01010040ACBF76873A4540BBF3FE7E3F63907D</vt:lpwstr>
  </property>
  <property fmtid="{D5CDD505-2E9C-101B-9397-08002B2CF9AE}" pid="3" name="Order">
    <vt:r8>10800</vt:r8>
  </property>
  <property fmtid="{D5CDD505-2E9C-101B-9397-08002B2CF9AE}" pid="4" name="TemplateUrl">
    <vt:lpwstr/>
  </property>
  <property fmtid="{D5CDD505-2E9C-101B-9397-08002B2CF9AE}" pid="5" name="_SourceUrl">
    <vt:lpwstr/>
  </property>
  <property fmtid="{D5CDD505-2E9C-101B-9397-08002B2CF9AE}" pid="6" name="_SharedFileIndex">
    <vt:lpwstr/>
  </property>
  <property fmtid="{D5CDD505-2E9C-101B-9397-08002B2CF9AE}" pid="7" name="xd_Signature">
    <vt:bool>false</vt:bool>
  </property>
  <property fmtid="{D5CDD505-2E9C-101B-9397-08002B2CF9AE}" pid="8" name="xd_ProgID">
    <vt:lpwstr/>
  </property>
</Properties>
</file>