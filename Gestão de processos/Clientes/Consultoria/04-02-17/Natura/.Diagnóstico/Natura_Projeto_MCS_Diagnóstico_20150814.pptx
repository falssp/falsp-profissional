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gif" ContentType="image/gif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1"/>
  </p:notesMasterIdLst>
  <p:sldIdLst>
    <p:sldId id="321" r:id="rId2"/>
    <p:sldId id="377" r:id="rId3"/>
    <p:sldId id="376" r:id="rId4"/>
    <p:sldId id="378" r:id="rId5"/>
    <p:sldId id="379" r:id="rId6"/>
    <p:sldId id="383" r:id="rId7"/>
    <p:sldId id="401" r:id="rId8"/>
    <p:sldId id="396" r:id="rId9"/>
    <p:sldId id="390" r:id="rId10"/>
    <p:sldId id="385" r:id="rId11"/>
    <p:sldId id="386" r:id="rId12"/>
    <p:sldId id="384" r:id="rId13"/>
    <p:sldId id="380" r:id="rId14"/>
    <p:sldId id="388" r:id="rId15"/>
    <p:sldId id="389" r:id="rId16"/>
    <p:sldId id="392" r:id="rId17"/>
    <p:sldId id="393" r:id="rId18"/>
    <p:sldId id="395" r:id="rId19"/>
    <p:sldId id="398" r:id="rId20"/>
    <p:sldId id="387" r:id="rId21"/>
    <p:sldId id="420" r:id="rId22"/>
    <p:sldId id="381" r:id="rId23"/>
    <p:sldId id="399" r:id="rId24"/>
    <p:sldId id="403" r:id="rId25"/>
    <p:sldId id="404" r:id="rId26"/>
    <p:sldId id="405" r:id="rId27"/>
    <p:sldId id="406" r:id="rId28"/>
    <p:sldId id="412" r:id="rId29"/>
    <p:sldId id="407" r:id="rId30"/>
    <p:sldId id="409" r:id="rId31"/>
    <p:sldId id="410" r:id="rId32"/>
    <p:sldId id="411" r:id="rId33"/>
    <p:sldId id="394" r:id="rId34"/>
    <p:sldId id="414" r:id="rId35"/>
    <p:sldId id="417" r:id="rId36"/>
    <p:sldId id="421" r:id="rId37"/>
    <p:sldId id="424" r:id="rId38"/>
    <p:sldId id="375" r:id="rId39"/>
    <p:sldId id="423" r:id="rId40"/>
  </p:sldIdLst>
  <p:sldSz cx="9144000" cy="5145088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1" userDrawn="1">
          <p15:clr>
            <a:srgbClr val="A4A3A4"/>
          </p15:clr>
        </p15:guide>
        <p15:guide id="2" pos="288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00"/>
    <a:srgbClr val="F7F0C9"/>
    <a:srgbClr val="F7EFCD"/>
    <a:srgbClr val="F9F3DB"/>
    <a:srgbClr val="FAF5DE"/>
    <a:srgbClr val="F8F1D0"/>
    <a:srgbClr val="F5EBB9"/>
    <a:srgbClr val="FFCC00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15" autoAdjust="0"/>
    <p:restoredTop sz="98007" autoAdjust="0"/>
  </p:normalViewPr>
  <p:slideViewPr>
    <p:cSldViewPr>
      <p:cViewPr varScale="1">
        <p:scale>
          <a:sx n="83" d="100"/>
          <a:sy n="83" d="100"/>
        </p:scale>
        <p:origin x="632" y="56"/>
      </p:cViewPr>
      <p:guideLst>
        <p:guide orient="horz" pos="1621"/>
        <p:guide pos="288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[Gráfico das entrevistas.xlsx]Plan6!Tabela dinâmica7</c:name>
    <c:fmtId val="29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effectLst/>
                <a:latin typeface="+mn-lt"/>
                <a:ea typeface="+mn-ea"/>
                <a:cs typeface="+mn-cs"/>
              </a:defRPr>
            </a:pPr>
            <a:r>
              <a:rPr lang="en-US" b="1" dirty="0" err="1">
                <a:solidFill>
                  <a:schemeClr val="bg1">
                    <a:lumMod val="50000"/>
                  </a:schemeClr>
                </a:solidFill>
              </a:rPr>
              <a:t>Expectativas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bg1">
                    <a:lumMod val="50000"/>
                  </a:schemeClr>
                </a:solidFill>
              </a:rPr>
              <a:t>mais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bg1">
                    <a:lumMod val="50000"/>
                  </a:schemeClr>
                </a:solidFill>
              </a:rPr>
              <a:t>comuns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</a:rPr>
              <a:t/>
            </a:r>
            <a:br>
              <a:rPr lang="en-US" b="1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n-US" sz="1000" b="1" baseline="0" dirty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en-US" sz="1000" b="1" baseline="0" dirty="0" err="1">
                <a:solidFill>
                  <a:schemeClr val="bg1">
                    <a:lumMod val="50000"/>
                  </a:schemeClr>
                </a:solidFill>
              </a:rPr>
              <a:t>mais</a:t>
            </a:r>
            <a:r>
              <a:rPr lang="en-US" sz="1000" b="1" baseline="0" dirty="0">
                <a:solidFill>
                  <a:schemeClr val="bg1">
                    <a:lumMod val="50000"/>
                  </a:schemeClr>
                </a:solidFill>
              </a:rPr>
              <a:t> do </a:t>
            </a:r>
            <a:r>
              <a:rPr lang="en-US" sz="1000" b="1" baseline="0" dirty="0" err="1">
                <a:solidFill>
                  <a:schemeClr val="bg1">
                    <a:lumMod val="50000"/>
                  </a:schemeClr>
                </a:solidFill>
              </a:rPr>
              <a:t>que</a:t>
            </a:r>
            <a:r>
              <a:rPr lang="en-US" sz="1000" b="1" baseline="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1000" b="1" baseline="0" dirty="0" err="1">
                <a:solidFill>
                  <a:schemeClr val="bg1">
                    <a:lumMod val="50000"/>
                  </a:schemeClr>
                </a:solidFill>
              </a:rPr>
              <a:t>uma</a:t>
            </a:r>
            <a:r>
              <a:rPr lang="en-US" sz="1000" b="1" baseline="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1000" b="1" baseline="0" dirty="0" err="1">
                <a:solidFill>
                  <a:schemeClr val="bg1">
                    <a:lumMod val="50000"/>
                  </a:schemeClr>
                </a:solidFill>
              </a:rPr>
              <a:t>manifestação</a:t>
            </a:r>
            <a:r>
              <a:rPr lang="en-US" sz="1000" b="1" baseline="0" dirty="0">
                <a:solidFill>
                  <a:schemeClr val="bg1">
                    <a:lumMod val="50000"/>
                  </a:schemeClr>
                </a:solidFill>
              </a:rPr>
              <a:t>, </a:t>
            </a:r>
            <a:r>
              <a:rPr lang="en-US" sz="1000" b="1" baseline="0" dirty="0" err="1">
                <a:solidFill>
                  <a:schemeClr val="bg1">
                    <a:lumMod val="50000"/>
                  </a:schemeClr>
                </a:solidFill>
              </a:rPr>
              <a:t>representando</a:t>
            </a:r>
            <a:r>
              <a:rPr lang="en-US" sz="1000" b="1" baseline="0" dirty="0">
                <a:solidFill>
                  <a:schemeClr val="bg1">
                    <a:lumMod val="50000"/>
                  </a:schemeClr>
                </a:solidFill>
              </a:rPr>
              <a:t> 67% do </a:t>
            </a:r>
            <a:r>
              <a:rPr lang="en-US" sz="1000" b="1" baseline="0" dirty="0" smtClean="0">
                <a:solidFill>
                  <a:schemeClr val="bg1">
                    <a:lumMod val="50000"/>
                  </a:schemeClr>
                </a:solidFill>
              </a:rPr>
              <a:t>total)</a:t>
            </a:r>
            <a:endParaRPr lang="en-US" sz="1000" b="1" baseline="0" dirty="0">
              <a:solidFill>
                <a:schemeClr val="bg1">
                  <a:lumMod val="50000"/>
                </a:schemeClr>
              </a:solidFill>
            </a:endParaRPr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effectLst/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ivotFmts>
      <c:pivotFmt>
        <c:idx val="0"/>
        <c:spPr>
          <a:gradFill>
            <a:gsLst>
              <a:gs pos="0">
                <a:schemeClr val="accent1"/>
              </a:gs>
              <a:gs pos="100000">
                <a:schemeClr val="accent1">
                  <a:lumMod val="84000"/>
                </a:schemeClr>
              </a:gs>
            </a:gsLst>
            <a:lin ang="5400000" scaled="1"/>
          </a:gradFill>
          <a:ln w="6350"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c:spPr>
        <c:marker>
          <c:symbol val="circle"/>
          <c:size val="6"/>
          <c:spPr>
            <a:gradFill>
              <a:gsLst>
                <a:gs pos="0">
                  <a:schemeClr val="accent1"/>
                </a:gs>
                <a:gs pos="100000">
                  <a:schemeClr val="accent1">
                    <a:lumMod val="84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rgbClr val="C00000"/>
          </a:solidFill>
          <a:ln w="6350"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c:spPr>
      </c:pivotFmt>
      <c:pivotFmt>
        <c:idx val="2"/>
        <c:spPr>
          <a:solidFill>
            <a:srgbClr val="C00000"/>
          </a:solidFill>
          <a:ln w="6350"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c:spPr>
      </c:pivotFmt>
      <c:pivotFmt>
        <c:idx val="3"/>
        <c:spPr>
          <a:solidFill>
            <a:srgbClr val="C00000"/>
          </a:solidFill>
          <a:ln w="6350"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c:spPr>
      </c:pivotFmt>
      <c:pivotFmt>
        <c:idx val="4"/>
        <c:spPr>
          <a:solidFill>
            <a:srgbClr val="FFC000"/>
          </a:solidFill>
          <a:ln w="6350"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c:spPr>
      </c:pivotFmt>
      <c:pivotFmt>
        <c:idx val="5"/>
        <c:spPr>
          <a:solidFill>
            <a:srgbClr val="FFC000"/>
          </a:solidFill>
          <a:ln w="6350"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c:spPr>
      </c:pivotFmt>
      <c:pivotFmt>
        <c:idx val="6"/>
        <c:spPr>
          <a:gradFill>
            <a:gsLst>
              <a:gs pos="0">
                <a:schemeClr val="accent1"/>
              </a:gs>
              <a:gs pos="100000">
                <a:schemeClr val="accent1">
                  <a:lumMod val="84000"/>
                </a:schemeClr>
              </a:gs>
            </a:gsLst>
            <a:lin ang="5400000" scaled="1"/>
          </a:gradFill>
          <a:ln w="6350"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rgbClr val="C00000"/>
          </a:solidFill>
          <a:ln w="6350"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c:spPr>
      </c:pivotFmt>
      <c:pivotFmt>
        <c:idx val="8"/>
        <c:spPr>
          <a:solidFill>
            <a:srgbClr val="C00000"/>
          </a:solidFill>
          <a:ln w="6350"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c:spPr>
      </c:pivotFmt>
      <c:pivotFmt>
        <c:idx val="9"/>
        <c:spPr>
          <a:solidFill>
            <a:srgbClr val="C00000"/>
          </a:solidFill>
          <a:ln w="6350"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c:spPr>
      </c:pivotFmt>
      <c:pivotFmt>
        <c:idx val="10"/>
        <c:spPr>
          <a:solidFill>
            <a:srgbClr val="FFC000"/>
          </a:solidFill>
          <a:ln w="6350"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c:spPr>
      </c:pivotFmt>
      <c:pivotFmt>
        <c:idx val="11"/>
        <c:spPr>
          <a:solidFill>
            <a:srgbClr val="FFC000"/>
          </a:solidFill>
          <a:ln w="6350"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c:spPr>
      </c:pivotFmt>
      <c:pivotFmt>
        <c:idx val="12"/>
        <c:spPr>
          <a:gradFill>
            <a:gsLst>
              <a:gs pos="0">
                <a:schemeClr val="accent1"/>
              </a:gs>
              <a:gs pos="100000">
                <a:schemeClr val="accent1">
                  <a:lumMod val="84000"/>
                </a:schemeClr>
              </a:gs>
            </a:gsLst>
            <a:lin ang="5400000" scaled="1"/>
          </a:gradFill>
          <a:ln w="6350"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rgbClr val="C00000"/>
          </a:solidFill>
          <a:ln w="6350"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c:spPr>
      </c:pivotFmt>
      <c:pivotFmt>
        <c:idx val="14"/>
        <c:spPr>
          <a:solidFill>
            <a:srgbClr val="C00000"/>
          </a:solidFill>
          <a:ln w="6350"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c:spPr>
      </c:pivotFmt>
      <c:pivotFmt>
        <c:idx val="15"/>
        <c:spPr>
          <a:solidFill>
            <a:srgbClr val="C00000"/>
          </a:solidFill>
          <a:ln w="6350"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c:spPr>
      </c:pivotFmt>
      <c:pivotFmt>
        <c:idx val="16"/>
        <c:spPr>
          <a:solidFill>
            <a:srgbClr val="FFC000"/>
          </a:solidFill>
          <a:ln w="6350"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c:spPr>
      </c:pivotFmt>
      <c:pivotFmt>
        <c:idx val="17"/>
        <c:spPr>
          <a:solidFill>
            <a:srgbClr val="FFC000"/>
          </a:solidFill>
          <a:ln w="6350"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c:spPr>
      </c:pivotFmt>
    </c:pivotFmts>
    <c:plotArea>
      <c:layout>
        <c:manualLayout>
          <c:layoutTarget val="inner"/>
          <c:xMode val="edge"/>
          <c:yMode val="edge"/>
          <c:x val="0.11274928135454843"/>
          <c:y val="0.15373660866718442"/>
          <c:w val="0.86301575412493015"/>
          <c:h val="0.4244518909482768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Plan6!$B$1</c:f>
              <c:strCache>
                <c:ptCount val="1"/>
                <c:pt idx="0">
                  <c:v>Total</c:v>
                </c:pt>
              </c:strCache>
            </c:strRef>
          </c:tx>
          <c:spPr>
            <a:gradFill>
              <a:gsLst>
                <a:gs pos="0">
                  <a:schemeClr val="accent1"/>
                </a:gs>
                <a:gs pos="100000">
                  <a:schemeClr val="accent1">
                    <a:lumMod val="84000"/>
                  </a:schemeClr>
                </a:gs>
              </a:gsLst>
              <a:lin ang="5400000" scaled="1"/>
            </a:gradFill>
            <a:ln w="6350">
              <a:noFill/>
            </a:ln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/>
            </a:sp3d>
          </c:spPr>
          <c:invertIfNegative val="0"/>
          <c:dPt>
            <c:idx val="0"/>
            <c:invertIfNegative val="0"/>
            <c:bubble3D val="0"/>
            <c:spPr>
              <a:solidFill>
                <a:srgbClr val="C00000"/>
              </a:solidFill>
              <a:ln w="6350">
                <a:noFill/>
              </a:ln>
              <a:effectLst>
                <a:outerShdw blurRad="76200" dir="18900000" sy="23000" kx="-1200000" algn="bl" rotWithShape="0">
                  <a:prstClr val="black">
                    <a:alpha val="2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/>
              </a:sp3d>
            </c:spPr>
          </c:dPt>
          <c:dPt>
            <c:idx val="1"/>
            <c:invertIfNegative val="0"/>
            <c:bubble3D val="0"/>
            <c:spPr>
              <a:solidFill>
                <a:srgbClr val="C00000"/>
              </a:solidFill>
              <a:ln w="6350">
                <a:noFill/>
              </a:ln>
              <a:effectLst>
                <a:outerShdw blurRad="76200" dir="18900000" sy="23000" kx="-1200000" algn="bl" rotWithShape="0">
                  <a:prstClr val="black">
                    <a:alpha val="2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/>
              </a:sp3d>
            </c:spPr>
          </c:dPt>
          <c:dPt>
            <c:idx val="2"/>
            <c:invertIfNegative val="0"/>
            <c:bubble3D val="0"/>
            <c:spPr>
              <a:solidFill>
                <a:srgbClr val="C00000"/>
              </a:solidFill>
              <a:ln w="6350">
                <a:noFill/>
              </a:ln>
              <a:effectLst>
                <a:outerShdw blurRad="76200" dir="18900000" sy="23000" kx="-1200000" algn="bl" rotWithShape="0">
                  <a:prstClr val="black">
                    <a:alpha val="2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/>
              </a:sp3d>
            </c:spPr>
          </c:dPt>
          <c:dPt>
            <c:idx val="6"/>
            <c:invertIfNegative val="0"/>
            <c:bubble3D val="0"/>
            <c:spPr>
              <a:solidFill>
                <a:srgbClr val="FFC000"/>
              </a:solidFill>
              <a:ln w="6350">
                <a:noFill/>
              </a:ln>
              <a:effectLst>
                <a:outerShdw blurRad="76200" dir="18900000" sy="23000" kx="-1200000" algn="bl" rotWithShape="0">
                  <a:prstClr val="black">
                    <a:alpha val="2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/>
              </a:sp3d>
            </c:spPr>
          </c:dPt>
          <c:dPt>
            <c:idx val="7"/>
            <c:invertIfNegative val="0"/>
            <c:bubble3D val="0"/>
            <c:spPr>
              <a:solidFill>
                <a:srgbClr val="FFC000"/>
              </a:solidFill>
              <a:ln w="6350">
                <a:noFill/>
              </a:ln>
              <a:effectLst>
                <a:outerShdw blurRad="76200" dir="18900000" sy="23000" kx="-1200000" algn="bl" rotWithShape="0">
                  <a:prstClr val="black">
                    <a:alpha val="2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/>
              </a:sp3d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lt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Plan6!$A$2:$A$10</c:f>
              <c:strCache>
                <c:ptCount val="8"/>
                <c:pt idx="0">
                  <c:v>Papéis e Responsabilidades</c:v>
                </c:pt>
                <c:pt idx="1">
                  <c:v>Papel do GRP</c:v>
                </c:pt>
                <c:pt idx="2">
                  <c:v>Papel da Governança</c:v>
                </c:pt>
                <c:pt idx="3">
                  <c:v>Qualidade em Projetos</c:v>
                </c:pt>
                <c:pt idx="4">
                  <c:v>Revisão de Processos e Treinamento</c:v>
                </c:pt>
                <c:pt idx="5">
                  <c:v>Indicadores para Gestão</c:v>
                </c:pt>
                <c:pt idx="6">
                  <c:v>Eficácia em Problemas</c:v>
                </c:pt>
                <c:pt idx="7">
                  <c:v>Estabilização do ambiente</c:v>
                </c:pt>
              </c:strCache>
            </c:strRef>
          </c:cat>
          <c:val>
            <c:numRef>
              <c:f>Plan6!$B$2:$B$10</c:f>
              <c:numCache>
                <c:formatCode>General</c:formatCode>
                <c:ptCount val="8"/>
                <c:pt idx="0">
                  <c:v>10</c:v>
                </c:pt>
                <c:pt idx="1">
                  <c:v>5</c:v>
                </c:pt>
                <c:pt idx="2">
                  <c:v>5</c:v>
                </c:pt>
                <c:pt idx="3">
                  <c:v>4</c:v>
                </c:pt>
                <c:pt idx="4">
                  <c:v>4</c:v>
                </c:pt>
                <c:pt idx="5">
                  <c:v>3</c:v>
                </c:pt>
                <c:pt idx="6">
                  <c:v>2</c:v>
                </c:pt>
                <c:pt idx="7">
                  <c:v>2</c:v>
                </c:pt>
              </c:numCache>
            </c:numRef>
          </c:val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41"/>
        <c:axId val="359047368"/>
        <c:axId val="359045408"/>
      </c:barChart>
      <c:catAx>
        <c:axId val="3590473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bg1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defRPr>
            </a:pPr>
            <a:endParaRPr lang="pt-BR"/>
          </a:p>
        </c:txPr>
        <c:crossAx val="359045408"/>
        <c:crosses val="autoZero"/>
        <c:auto val="1"/>
        <c:lblAlgn val="ctr"/>
        <c:lblOffset val="100"/>
        <c:noMultiLvlLbl val="0"/>
      </c:catAx>
      <c:valAx>
        <c:axId val="35904540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35904736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gradFill flip="none" rotWithShape="1">
      <a:gsLst>
        <a:gs pos="0">
          <a:schemeClr val="lt1"/>
        </a:gs>
        <a:gs pos="68000">
          <a:schemeClr val="lt1">
            <a:lumMod val="85000"/>
          </a:schemeClr>
        </a:gs>
        <a:gs pos="100000">
          <a:schemeClr val="lt1"/>
        </a:gs>
      </a:gsLst>
      <a:lin ang="5400000" scaled="1"/>
      <a:tileRect/>
    </a:gradFill>
    <a:ln w="9525" cap="flat" cmpd="sng" algn="ctr">
      <a:noFill/>
      <a:round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4">
  <cs:axisTitle>
    <cs:lnRef idx="0"/>
    <cs:fillRef idx="0"/>
    <cs:effectRef idx="0"/>
    <cs:fontRef idx="minor">
      <a:schemeClr val="dk1">
        <a:lumMod val="65000"/>
        <a:lumOff val="3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>
      <a:effectLst/>
    </cs:defRPr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68000">
            <a:schemeClr val="lt1">
              <a:lumMod val="85000"/>
            </a:schemeClr>
          </a:gs>
          <a:gs pos="100000">
            <a:schemeClr val="lt1"/>
          </a:gs>
        </a:gsLst>
        <a:lin ang="5400000" scaled="1"/>
        <a:tileRect/>
      </a:gra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lt1"/>
    </cs:fontRef>
    <cs:spPr/>
    <cs:defRPr sz="10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10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100000">
            <a:schemeClr val="phClr">
              <a:lumMod val="84000"/>
            </a:schemeClr>
          </a:gs>
        </a:gsLst>
        <a:lin ang="5400000" scaled="1"/>
      </a:gradFill>
      <a:effectLst>
        <a:outerShdw blurRad="76200" dir="18900000" sy="23000" kx="-1200000" algn="bl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100000">
            <a:schemeClr val="phClr">
              <a:lumMod val="84000"/>
            </a:schemeClr>
          </a:gs>
        </a:gsLst>
        <a:lin ang="5400000" scaled="1"/>
      </a:gradFill>
      <a:effectLst>
        <a:outerShdw blurRad="76200" dir="18900000" sy="23000" kx="-1200000" algn="bl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gradFill>
          <a:gsLst>
            <a:gs pos="0">
              <a:schemeClr val="phClr"/>
            </a:gs>
            <a:gs pos="100000">
              <a:schemeClr val="phClr">
                <a:lumMod val="84000"/>
              </a:schemeClr>
            </a:gs>
          </a:gsLst>
          <a:lin ang="5400000" scaled="1"/>
        </a:gra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100000">
            <a:schemeClr val="phClr">
              <a:lumMod val="84000"/>
            </a:schemeClr>
          </a:gs>
        </a:gsLst>
        <a:lin ang="5400000" scaled="1"/>
      </a:gradFill>
      <a:effectLst>
        <a:outerShdw blurRad="76200" dir="18900000" sy="23000" kx="-1200000" algn="bl" rotWithShape="0">
          <a:prstClr val="black">
            <a:alpha val="20000"/>
          </a:prstClr>
        </a:outerShdw>
      </a:effectLst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>
        <a:solidFill>
          <a:schemeClr val="dk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35000"/>
          <a:lumOff val="65000"/>
        </a:schemeClr>
      </a:solidFill>
      <a:ln w="9525">
        <a:solidFill>
          <a:schemeClr val="dk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dk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65000"/>
        <a:lumOff val="35000"/>
      </a:schemeClr>
    </cs:fontRef>
    <cs:defRPr kern="1200">
      <a:effectLst/>
    </cs:defRPr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>
          <a:lumMod val="95000"/>
        </a:schemeClr>
      </a:solidFill>
      <a:ln w="9525">
        <a:solidFill>
          <a:schemeClr val="dk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70E9614-926A-48BE-A14C-28C717043B9C}" type="doc">
      <dgm:prSet loTypeId="urn:microsoft.com/office/officeart/2005/8/layout/matrix1" loCatId="matrix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6CBB905B-1798-4F37-AB78-3B504CF40CE6}">
      <dgm:prSet phldrT="[Texto]" custT="1"/>
      <dgm:spPr>
        <a:solidFill>
          <a:srgbClr val="7030A0"/>
        </a:solidFill>
      </dgm:spPr>
      <dgm:t>
        <a:bodyPr/>
        <a:lstStyle/>
        <a:p>
          <a:r>
            <a:rPr lang="pt-BR" sz="1800" dirty="0" smtClean="0">
              <a:solidFill>
                <a:schemeClr val="bg1"/>
              </a:solidFill>
            </a:rPr>
            <a:t>Objetivos e Metas</a:t>
          </a:r>
          <a:endParaRPr lang="pt-BR" sz="1800" dirty="0">
            <a:solidFill>
              <a:schemeClr val="bg1"/>
            </a:solidFill>
          </a:endParaRPr>
        </a:p>
      </dgm:t>
    </dgm:pt>
    <dgm:pt modelId="{1EADBADB-AE6B-4764-9540-D302E4FBEDA3}" type="parTrans" cxnId="{0023F02E-D442-49E3-9078-A978D1D326BB}">
      <dgm:prSet/>
      <dgm:spPr/>
      <dgm:t>
        <a:bodyPr/>
        <a:lstStyle/>
        <a:p>
          <a:endParaRPr lang="pt-BR"/>
        </a:p>
      </dgm:t>
    </dgm:pt>
    <dgm:pt modelId="{F782C444-FAD5-4F6C-A259-5C87C4A9B789}" type="sibTrans" cxnId="{0023F02E-D442-49E3-9078-A978D1D326BB}">
      <dgm:prSet/>
      <dgm:spPr/>
      <dgm:t>
        <a:bodyPr/>
        <a:lstStyle/>
        <a:p>
          <a:endParaRPr lang="pt-BR"/>
        </a:p>
      </dgm:t>
    </dgm:pt>
    <dgm:pt modelId="{7E06F865-3B88-4607-A3BB-55050E6CB1B9}">
      <dgm:prSet phldrT="[Texto]"/>
      <dgm:spPr>
        <a:gradFill flip="none" rotWithShape="0">
          <a:gsLst>
            <a:gs pos="0">
              <a:srgbClr val="00B050">
                <a:shade val="30000"/>
                <a:satMod val="115000"/>
              </a:srgbClr>
            </a:gs>
            <a:gs pos="50000">
              <a:srgbClr val="00B050">
                <a:shade val="67500"/>
                <a:satMod val="115000"/>
              </a:srgbClr>
            </a:gs>
            <a:gs pos="100000">
              <a:srgbClr val="00B050">
                <a:shade val="100000"/>
                <a:satMod val="115000"/>
              </a:srgbClr>
            </a:gs>
          </a:gsLst>
          <a:lin ang="16200000" scaled="1"/>
          <a:tileRect/>
        </a:gradFill>
      </dgm:spPr>
      <dgm:t>
        <a:bodyPr/>
        <a:lstStyle/>
        <a:p>
          <a:pPr algn="l"/>
          <a:r>
            <a:rPr lang="pt-BR" dirty="0" smtClean="0"/>
            <a:t>Metrô de </a:t>
          </a:r>
          <a:r>
            <a:rPr lang="pt-BR" dirty="0" smtClean="0"/>
            <a:t>Processos (</a:t>
          </a:r>
          <a:r>
            <a:rPr lang="pt-BR" i="1" dirty="0" smtClean="0"/>
            <a:t>framework</a:t>
          </a:r>
          <a:r>
            <a:rPr lang="pt-BR" dirty="0" smtClean="0"/>
            <a:t>)</a:t>
          </a:r>
          <a:endParaRPr lang="pt-BR" dirty="0" smtClean="0"/>
        </a:p>
        <a:p>
          <a:pPr algn="l"/>
          <a:r>
            <a:rPr lang="pt-BR" dirty="0" smtClean="0"/>
            <a:t>Vontade para mudar</a:t>
          </a:r>
        </a:p>
        <a:p>
          <a:pPr algn="l"/>
          <a:r>
            <a:rPr lang="pt-BR" dirty="0" smtClean="0"/>
            <a:t>Iniciativas da Governança</a:t>
          </a:r>
        </a:p>
        <a:p>
          <a:pPr algn="l"/>
          <a:r>
            <a:rPr lang="pt-BR" dirty="0" smtClean="0"/>
            <a:t>Autocrítica e aceitação</a:t>
          </a:r>
        </a:p>
        <a:p>
          <a:pPr algn="l"/>
          <a:r>
            <a:rPr lang="pt-BR" dirty="0" smtClean="0"/>
            <a:t>Patrocínio Executivo</a:t>
          </a:r>
          <a:endParaRPr lang="pt-BR" dirty="0"/>
        </a:p>
      </dgm:t>
    </dgm:pt>
    <dgm:pt modelId="{0EDF53A5-9368-41AF-A54F-95FB68C68809}" type="parTrans" cxnId="{B0F697DB-4863-4EF1-94D6-B996887A777A}">
      <dgm:prSet/>
      <dgm:spPr/>
      <dgm:t>
        <a:bodyPr/>
        <a:lstStyle/>
        <a:p>
          <a:endParaRPr lang="pt-BR"/>
        </a:p>
      </dgm:t>
    </dgm:pt>
    <dgm:pt modelId="{3A0A28B0-13EE-4202-AE73-382A5F51D7C7}" type="sibTrans" cxnId="{B0F697DB-4863-4EF1-94D6-B996887A777A}">
      <dgm:prSet/>
      <dgm:spPr/>
      <dgm:t>
        <a:bodyPr/>
        <a:lstStyle/>
        <a:p>
          <a:endParaRPr lang="pt-BR"/>
        </a:p>
      </dgm:t>
    </dgm:pt>
    <dgm:pt modelId="{9F74E133-3606-4C87-9BBF-BB6287B0FE9C}">
      <dgm:prSet phldrT="[Texto]"/>
      <dgm:spPr>
        <a:gradFill flip="none" rotWithShape="0">
          <a:gsLst>
            <a:gs pos="0">
              <a:srgbClr val="FFC000">
                <a:shade val="30000"/>
                <a:satMod val="115000"/>
              </a:srgbClr>
            </a:gs>
            <a:gs pos="50000">
              <a:srgbClr val="FFC000">
                <a:shade val="67500"/>
                <a:satMod val="115000"/>
              </a:srgbClr>
            </a:gs>
            <a:gs pos="100000">
              <a:srgbClr val="FFC000">
                <a:shade val="100000"/>
                <a:satMod val="115000"/>
              </a:srgbClr>
            </a:gs>
          </a:gsLst>
          <a:lin ang="16200000" scaled="1"/>
          <a:tileRect/>
        </a:gradFill>
      </dgm:spPr>
      <dgm:t>
        <a:bodyPr/>
        <a:lstStyle/>
        <a:p>
          <a:pPr algn="l"/>
          <a:r>
            <a:rPr lang="pt-BR" dirty="0" smtClean="0"/>
            <a:t>Incidentes críticos</a:t>
          </a:r>
        </a:p>
        <a:p>
          <a:pPr algn="l"/>
          <a:r>
            <a:rPr lang="pt-BR" dirty="0" smtClean="0"/>
            <a:t>Processos frágeis</a:t>
          </a:r>
        </a:p>
        <a:p>
          <a:pPr algn="l"/>
          <a:r>
            <a:rPr lang="pt-BR" dirty="0" smtClean="0"/>
            <a:t>Forte segmentação funcional</a:t>
          </a:r>
        </a:p>
        <a:p>
          <a:pPr algn="l"/>
          <a:r>
            <a:rPr lang="pt-BR" dirty="0" smtClean="0"/>
            <a:t>Atitudes individualistas</a:t>
          </a:r>
        </a:p>
        <a:p>
          <a:pPr algn="l"/>
          <a:r>
            <a:rPr lang="pt-BR" dirty="0" smtClean="0"/>
            <a:t>Baixo </a:t>
          </a:r>
          <a:r>
            <a:rPr lang="pt-BR" dirty="0" smtClean="0"/>
            <a:t>índice de automação ITSM</a:t>
          </a:r>
          <a:endParaRPr lang="pt-BR" dirty="0"/>
        </a:p>
      </dgm:t>
    </dgm:pt>
    <dgm:pt modelId="{30ECF505-14A6-4EEA-93AB-C7ADF5FB655F}" type="parTrans" cxnId="{BBF03580-D1F7-4B05-835D-EA49505F20B3}">
      <dgm:prSet/>
      <dgm:spPr/>
      <dgm:t>
        <a:bodyPr/>
        <a:lstStyle/>
        <a:p>
          <a:endParaRPr lang="pt-BR"/>
        </a:p>
      </dgm:t>
    </dgm:pt>
    <dgm:pt modelId="{5415089B-D12F-4361-9E77-FD8FDD5FF071}" type="sibTrans" cxnId="{BBF03580-D1F7-4B05-835D-EA49505F20B3}">
      <dgm:prSet/>
      <dgm:spPr/>
      <dgm:t>
        <a:bodyPr/>
        <a:lstStyle/>
        <a:p>
          <a:endParaRPr lang="pt-BR"/>
        </a:p>
      </dgm:t>
    </dgm:pt>
    <dgm:pt modelId="{0D2FA8FA-0BAE-4E39-9821-11ED41C11161}">
      <dgm:prSet phldrT="[Texto]"/>
      <dgm:spPr>
        <a:gradFill flip="none" rotWithShape="0">
          <a:gsLst>
            <a:gs pos="0">
              <a:schemeClr val="accent1">
                <a:hueOff val="0"/>
                <a:satOff val="0"/>
                <a:lumOff val="0"/>
                <a:shade val="30000"/>
                <a:satMod val="115000"/>
              </a:schemeClr>
            </a:gs>
            <a:gs pos="50000">
              <a:schemeClr val="accent1">
                <a:hueOff val="0"/>
                <a:satOff val="0"/>
                <a:lumOff val="0"/>
                <a:shade val="67500"/>
                <a:satMod val="115000"/>
              </a:schemeClr>
            </a:gs>
            <a:gs pos="100000">
              <a:schemeClr val="accent1">
                <a:hueOff val="0"/>
                <a:satOff val="0"/>
                <a:lumOff val="0"/>
                <a:shade val="100000"/>
                <a:satMod val="115000"/>
              </a:schemeClr>
            </a:gs>
          </a:gsLst>
          <a:lin ang="16200000" scaled="1"/>
          <a:tileRect/>
        </a:gradFill>
      </dgm:spPr>
      <dgm:t>
        <a:bodyPr/>
        <a:lstStyle/>
        <a:p>
          <a:pPr algn="l"/>
          <a:r>
            <a:rPr lang="pt-BR" dirty="0" smtClean="0"/>
            <a:t>Orientação a Serviços</a:t>
          </a:r>
        </a:p>
        <a:p>
          <a:pPr algn="l"/>
          <a:r>
            <a:rPr lang="pt-BR" dirty="0" smtClean="0"/>
            <a:t>Ciclos </a:t>
          </a:r>
          <a:r>
            <a:rPr lang="pt-BR" dirty="0" smtClean="0"/>
            <a:t>de Melhoria Contínua</a:t>
          </a:r>
        </a:p>
        <a:p>
          <a:pPr algn="l"/>
          <a:r>
            <a:rPr lang="pt-BR" dirty="0" smtClean="0"/>
            <a:t>Abrangência do Metrô de Processos</a:t>
          </a:r>
        </a:p>
        <a:p>
          <a:pPr algn="l"/>
          <a:r>
            <a:rPr lang="pt-BR" dirty="0" smtClean="0"/>
            <a:t>Estrutura das soluções de automação  </a:t>
          </a:r>
        </a:p>
        <a:p>
          <a:pPr algn="l"/>
          <a:endParaRPr lang="pt-BR" dirty="0"/>
        </a:p>
      </dgm:t>
    </dgm:pt>
    <dgm:pt modelId="{8C8034BA-88E1-4533-B74A-35B993C36B1E}" type="parTrans" cxnId="{9FC7804B-6359-4277-BC4A-C63234D7683B}">
      <dgm:prSet/>
      <dgm:spPr/>
      <dgm:t>
        <a:bodyPr/>
        <a:lstStyle/>
        <a:p>
          <a:endParaRPr lang="pt-BR"/>
        </a:p>
      </dgm:t>
    </dgm:pt>
    <dgm:pt modelId="{3325714A-D4FC-4EE2-9E08-B871C86F7388}" type="sibTrans" cxnId="{9FC7804B-6359-4277-BC4A-C63234D7683B}">
      <dgm:prSet/>
      <dgm:spPr/>
      <dgm:t>
        <a:bodyPr/>
        <a:lstStyle/>
        <a:p>
          <a:endParaRPr lang="pt-BR"/>
        </a:p>
      </dgm:t>
    </dgm:pt>
    <dgm:pt modelId="{6ACE0958-CC74-42A9-B4B4-67717E506898}">
      <dgm:prSet phldrT="[Texto]"/>
      <dgm:spPr>
        <a:gradFill flip="none" rotWithShape="0">
          <a:gsLst>
            <a:gs pos="0">
              <a:srgbClr val="FF0000">
                <a:shade val="30000"/>
                <a:satMod val="115000"/>
              </a:srgbClr>
            </a:gs>
            <a:gs pos="50000">
              <a:srgbClr val="FF0000">
                <a:shade val="67500"/>
                <a:satMod val="115000"/>
              </a:srgbClr>
            </a:gs>
            <a:gs pos="100000">
              <a:srgbClr val="FF0000">
                <a:shade val="100000"/>
                <a:satMod val="115000"/>
              </a:srgbClr>
            </a:gs>
          </a:gsLst>
          <a:lin ang="16200000" scaled="1"/>
          <a:tileRect/>
        </a:gradFill>
      </dgm:spPr>
      <dgm:t>
        <a:bodyPr/>
        <a:lstStyle/>
        <a:p>
          <a:pPr algn="l"/>
          <a:r>
            <a:rPr lang="pt-BR" dirty="0" smtClean="0"/>
            <a:t>Perda de confiança do negócio</a:t>
          </a:r>
        </a:p>
        <a:p>
          <a:pPr algn="l"/>
          <a:r>
            <a:rPr lang="pt-BR" dirty="0" smtClean="0"/>
            <a:t>Conflitos de prioridades com demandas</a:t>
          </a:r>
        </a:p>
        <a:p>
          <a:pPr algn="l"/>
          <a:r>
            <a:rPr lang="pt-BR" dirty="0" smtClean="0"/>
            <a:t>Resistência à quebras de hierarquia</a:t>
          </a:r>
        </a:p>
        <a:p>
          <a:pPr algn="l"/>
          <a:endParaRPr lang="pt-BR" dirty="0"/>
        </a:p>
      </dgm:t>
    </dgm:pt>
    <dgm:pt modelId="{B1C74076-CA2F-4342-A333-155A494EDF16}" type="parTrans" cxnId="{036322B9-7E6D-4AC9-B91E-6173A83C23B4}">
      <dgm:prSet/>
      <dgm:spPr/>
      <dgm:t>
        <a:bodyPr/>
        <a:lstStyle/>
        <a:p>
          <a:endParaRPr lang="pt-BR"/>
        </a:p>
      </dgm:t>
    </dgm:pt>
    <dgm:pt modelId="{479E00FB-285B-4AB4-8561-DC16BCF07305}" type="sibTrans" cxnId="{036322B9-7E6D-4AC9-B91E-6173A83C23B4}">
      <dgm:prSet/>
      <dgm:spPr/>
      <dgm:t>
        <a:bodyPr/>
        <a:lstStyle/>
        <a:p>
          <a:endParaRPr lang="pt-BR"/>
        </a:p>
      </dgm:t>
    </dgm:pt>
    <dgm:pt modelId="{CC8EC37B-31F5-44C5-B9A0-E8AACB2C69A5}" type="pres">
      <dgm:prSet presAssocID="{D70E9614-926A-48BE-A14C-28C717043B9C}" presName="diagram" presStyleCnt="0">
        <dgm:presLayoutVars>
          <dgm:chMax val="1"/>
          <dgm:dir/>
          <dgm:animLvl val="ctr"/>
          <dgm:resizeHandles val="exact"/>
        </dgm:presLayoutVars>
      </dgm:prSet>
      <dgm:spPr/>
      <dgm:t>
        <a:bodyPr/>
        <a:lstStyle/>
        <a:p>
          <a:endParaRPr lang="pt-BR"/>
        </a:p>
      </dgm:t>
    </dgm:pt>
    <dgm:pt modelId="{893BF614-2BEA-491E-854A-F2DFCD22F69D}" type="pres">
      <dgm:prSet presAssocID="{D70E9614-926A-48BE-A14C-28C717043B9C}" presName="matrix" presStyleCnt="0"/>
      <dgm:spPr/>
    </dgm:pt>
    <dgm:pt modelId="{80DFC0C0-871B-4DD9-BF2F-D467286CD392}" type="pres">
      <dgm:prSet presAssocID="{D70E9614-926A-48BE-A14C-28C717043B9C}" presName="tile1" presStyleLbl="node1" presStyleIdx="0" presStyleCnt="4"/>
      <dgm:spPr/>
      <dgm:t>
        <a:bodyPr/>
        <a:lstStyle/>
        <a:p>
          <a:endParaRPr lang="pt-BR"/>
        </a:p>
      </dgm:t>
    </dgm:pt>
    <dgm:pt modelId="{E51E0409-2FED-4B48-9F11-B1244CA70C09}" type="pres">
      <dgm:prSet presAssocID="{D70E9614-926A-48BE-A14C-28C717043B9C}" presName="tile1text" presStyleLbl="node1" presStyleIdx="0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27B21570-8DFA-4CCA-90AD-03989F305D0E}" type="pres">
      <dgm:prSet presAssocID="{D70E9614-926A-48BE-A14C-28C717043B9C}" presName="tile2" presStyleLbl="node1" presStyleIdx="1" presStyleCnt="4"/>
      <dgm:spPr/>
      <dgm:t>
        <a:bodyPr/>
        <a:lstStyle/>
        <a:p>
          <a:endParaRPr lang="pt-BR"/>
        </a:p>
      </dgm:t>
    </dgm:pt>
    <dgm:pt modelId="{4C0D71C8-025B-40BD-A051-51A7EB2DCBEB}" type="pres">
      <dgm:prSet presAssocID="{D70E9614-926A-48BE-A14C-28C717043B9C}" presName="tile2text" presStyleLbl="node1" presStyleIdx="1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08186875-A86E-4056-8898-DF87C0BBCAEC}" type="pres">
      <dgm:prSet presAssocID="{D70E9614-926A-48BE-A14C-28C717043B9C}" presName="tile3" presStyleLbl="node1" presStyleIdx="2" presStyleCnt="4"/>
      <dgm:spPr/>
      <dgm:t>
        <a:bodyPr/>
        <a:lstStyle/>
        <a:p>
          <a:endParaRPr lang="pt-BR"/>
        </a:p>
      </dgm:t>
    </dgm:pt>
    <dgm:pt modelId="{0FFBB7BC-8003-40B8-B059-0023BBA77C80}" type="pres">
      <dgm:prSet presAssocID="{D70E9614-926A-48BE-A14C-28C717043B9C}" presName="tile3text" presStyleLbl="node1" presStyleIdx="2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4EC425BC-1805-4081-B692-EBCF96FA829C}" type="pres">
      <dgm:prSet presAssocID="{D70E9614-926A-48BE-A14C-28C717043B9C}" presName="tile4" presStyleLbl="node1" presStyleIdx="3" presStyleCnt="4" custLinFactNeighborX="810"/>
      <dgm:spPr/>
      <dgm:t>
        <a:bodyPr/>
        <a:lstStyle/>
        <a:p>
          <a:endParaRPr lang="pt-BR"/>
        </a:p>
      </dgm:t>
    </dgm:pt>
    <dgm:pt modelId="{501AD4C3-902D-442A-ADFB-761E5255D7FF}" type="pres">
      <dgm:prSet presAssocID="{D70E9614-926A-48BE-A14C-28C717043B9C}" presName="tile4text" presStyleLbl="node1" presStyleIdx="3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AB20BAAE-36C3-4055-BF40-3D32BEC6BB6B}" type="pres">
      <dgm:prSet presAssocID="{D70E9614-926A-48BE-A14C-28C717043B9C}" presName="centerTile" presStyleLbl="fgShp" presStyleIdx="0" presStyleCnt="1" custScaleX="81337" custScaleY="81944">
        <dgm:presLayoutVars>
          <dgm:chMax val="0"/>
          <dgm:chPref val="0"/>
        </dgm:presLayoutVars>
      </dgm:prSet>
      <dgm:spPr/>
      <dgm:t>
        <a:bodyPr/>
        <a:lstStyle/>
        <a:p>
          <a:endParaRPr lang="pt-BR"/>
        </a:p>
      </dgm:t>
    </dgm:pt>
  </dgm:ptLst>
  <dgm:cxnLst>
    <dgm:cxn modelId="{BBF03580-D1F7-4B05-835D-EA49505F20B3}" srcId="{6CBB905B-1798-4F37-AB78-3B504CF40CE6}" destId="{9F74E133-3606-4C87-9BBF-BB6287B0FE9C}" srcOrd="1" destOrd="0" parTransId="{30ECF505-14A6-4EEA-93AB-C7ADF5FB655F}" sibTransId="{5415089B-D12F-4361-9E77-FD8FDD5FF071}"/>
    <dgm:cxn modelId="{E0C994AB-1D33-4F66-B62C-1DC011D26434}" type="presOf" srcId="{7E06F865-3B88-4607-A3BB-55050E6CB1B9}" destId="{80DFC0C0-871B-4DD9-BF2F-D467286CD392}" srcOrd="0" destOrd="0" presId="urn:microsoft.com/office/officeart/2005/8/layout/matrix1"/>
    <dgm:cxn modelId="{E406BF7C-C0D2-4572-A12E-988D994D437F}" type="presOf" srcId="{0D2FA8FA-0BAE-4E39-9821-11ED41C11161}" destId="{0FFBB7BC-8003-40B8-B059-0023BBA77C80}" srcOrd="1" destOrd="0" presId="urn:microsoft.com/office/officeart/2005/8/layout/matrix1"/>
    <dgm:cxn modelId="{0023F02E-D442-49E3-9078-A978D1D326BB}" srcId="{D70E9614-926A-48BE-A14C-28C717043B9C}" destId="{6CBB905B-1798-4F37-AB78-3B504CF40CE6}" srcOrd="0" destOrd="0" parTransId="{1EADBADB-AE6B-4764-9540-D302E4FBEDA3}" sibTransId="{F782C444-FAD5-4F6C-A259-5C87C4A9B789}"/>
    <dgm:cxn modelId="{0A2D87B3-F6E0-4AA6-9A7D-636CFC140050}" type="presOf" srcId="{9F74E133-3606-4C87-9BBF-BB6287B0FE9C}" destId="{27B21570-8DFA-4CCA-90AD-03989F305D0E}" srcOrd="0" destOrd="0" presId="urn:microsoft.com/office/officeart/2005/8/layout/matrix1"/>
    <dgm:cxn modelId="{B0F697DB-4863-4EF1-94D6-B996887A777A}" srcId="{6CBB905B-1798-4F37-AB78-3B504CF40CE6}" destId="{7E06F865-3B88-4607-A3BB-55050E6CB1B9}" srcOrd="0" destOrd="0" parTransId="{0EDF53A5-9368-41AF-A54F-95FB68C68809}" sibTransId="{3A0A28B0-13EE-4202-AE73-382A5F51D7C7}"/>
    <dgm:cxn modelId="{970D8BC7-19CC-4FF9-A745-2380B9E9F932}" type="presOf" srcId="{0D2FA8FA-0BAE-4E39-9821-11ED41C11161}" destId="{08186875-A86E-4056-8898-DF87C0BBCAEC}" srcOrd="0" destOrd="0" presId="urn:microsoft.com/office/officeart/2005/8/layout/matrix1"/>
    <dgm:cxn modelId="{036322B9-7E6D-4AC9-B91E-6173A83C23B4}" srcId="{6CBB905B-1798-4F37-AB78-3B504CF40CE6}" destId="{6ACE0958-CC74-42A9-B4B4-67717E506898}" srcOrd="3" destOrd="0" parTransId="{B1C74076-CA2F-4342-A333-155A494EDF16}" sibTransId="{479E00FB-285B-4AB4-8561-DC16BCF07305}"/>
    <dgm:cxn modelId="{261B26F6-8CD5-4645-ACAE-D0B4CBF8825E}" type="presOf" srcId="{D70E9614-926A-48BE-A14C-28C717043B9C}" destId="{CC8EC37B-31F5-44C5-B9A0-E8AACB2C69A5}" srcOrd="0" destOrd="0" presId="urn:microsoft.com/office/officeart/2005/8/layout/matrix1"/>
    <dgm:cxn modelId="{EA40C467-2DFF-4F67-9057-AF245416F128}" type="presOf" srcId="{6CBB905B-1798-4F37-AB78-3B504CF40CE6}" destId="{AB20BAAE-36C3-4055-BF40-3D32BEC6BB6B}" srcOrd="0" destOrd="0" presId="urn:microsoft.com/office/officeart/2005/8/layout/matrix1"/>
    <dgm:cxn modelId="{9FC7804B-6359-4277-BC4A-C63234D7683B}" srcId="{6CBB905B-1798-4F37-AB78-3B504CF40CE6}" destId="{0D2FA8FA-0BAE-4E39-9821-11ED41C11161}" srcOrd="2" destOrd="0" parTransId="{8C8034BA-88E1-4533-B74A-35B993C36B1E}" sibTransId="{3325714A-D4FC-4EE2-9E08-B871C86F7388}"/>
    <dgm:cxn modelId="{22C0B5F2-6106-41C9-9B09-F2FDDBD50510}" type="presOf" srcId="{7E06F865-3B88-4607-A3BB-55050E6CB1B9}" destId="{E51E0409-2FED-4B48-9F11-B1244CA70C09}" srcOrd="1" destOrd="0" presId="urn:microsoft.com/office/officeart/2005/8/layout/matrix1"/>
    <dgm:cxn modelId="{A6921F44-0554-4FDD-B15C-0655480C3343}" type="presOf" srcId="{6ACE0958-CC74-42A9-B4B4-67717E506898}" destId="{501AD4C3-902D-442A-ADFB-761E5255D7FF}" srcOrd="1" destOrd="0" presId="urn:microsoft.com/office/officeart/2005/8/layout/matrix1"/>
    <dgm:cxn modelId="{8BF56877-3A12-47C7-AE24-44B4DD943980}" type="presOf" srcId="{6ACE0958-CC74-42A9-B4B4-67717E506898}" destId="{4EC425BC-1805-4081-B692-EBCF96FA829C}" srcOrd="0" destOrd="0" presId="urn:microsoft.com/office/officeart/2005/8/layout/matrix1"/>
    <dgm:cxn modelId="{0DB1ECD1-D430-481F-8ABA-B4595A058384}" type="presOf" srcId="{9F74E133-3606-4C87-9BBF-BB6287B0FE9C}" destId="{4C0D71C8-025B-40BD-A051-51A7EB2DCBEB}" srcOrd="1" destOrd="0" presId="urn:microsoft.com/office/officeart/2005/8/layout/matrix1"/>
    <dgm:cxn modelId="{DB37180C-003F-4733-A170-F88A05E8FA2B}" type="presParOf" srcId="{CC8EC37B-31F5-44C5-B9A0-E8AACB2C69A5}" destId="{893BF614-2BEA-491E-854A-F2DFCD22F69D}" srcOrd="0" destOrd="0" presId="urn:microsoft.com/office/officeart/2005/8/layout/matrix1"/>
    <dgm:cxn modelId="{D705B942-AA77-4A47-85F2-E11FA950545D}" type="presParOf" srcId="{893BF614-2BEA-491E-854A-F2DFCD22F69D}" destId="{80DFC0C0-871B-4DD9-BF2F-D467286CD392}" srcOrd="0" destOrd="0" presId="urn:microsoft.com/office/officeart/2005/8/layout/matrix1"/>
    <dgm:cxn modelId="{2A02B368-47E1-4FB0-8491-B05F0BB7DCA9}" type="presParOf" srcId="{893BF614-2BEA-491E-854A-F2DFCD22F69D}" destId="{E51E0409-2FED-4B48-9F11-B1244CA70C09}" srcOrd="1" destOrd="0" presId="urn:microsoft.com/office/officeart/2005/8/layout/matrix1"/>
    <dgm:cxn modelId="{2BE4E0BD-D839-47D0-888F-00CFC1877A2E}" type="presParOf" srcId="{893BF614-2BEA-491E-854A-F2DFCD22F69D}" destId="{27B21570-8DFA-4CCA-90AD-03989F305D0E}" srcOrd="2" destOrd="0" presId="urn:microsoft.com/office/officeart/2005/8/layout/matrix1"/>
    <dgm:cxn modelId="{47967045-2880-4C9A-8FAC-CA27778BB914}" type="presParOf" srcId="{893BF614-2BEA-491E-854A-F2DFCD22F69D}" destId="{4C0D71C8-025B-40BD-A051-51A7EB2DCBEB}" srcOrd="3" destOrd="0" presId="urn:microsoft.com/office/officeart/2005/8/layout/matrix1"/>
    <dgm:cxn modelId="{6D280D56-169B-416B-9C5D-384C318C61A9}" type="presParOf" srcId="{893BF614-2BEA-491E-854A-F2DFCD22F69D}" destId="{08186875-A86E-4056-8898-DF87C0BBCAEC}" srcOrd="4" destOrd="0" presId="urn:microsoft.com/office/officeart/2005/8/layout/matrix1"/>
    <dgm:cxn modelId="{B97D3A85-A64D-449A-8D5C-7E156E810138}" type="presParOf" srcId="{893BF614-2BEA-491E-854A-F2DFCD22F69D}" destId="{0FFBB7BC-8003-40B8-B059-0023BBA77C80}" srcOrd="5" destOrd="0" presId="urn:microsoft.com/office/officeart/2005/8/layout/matrix1"/>
    <dgm:cxn modelId="{247F5740-1605-4204-8915-14FD59798578}" type="presParOf" srcId="{893BF614-2BEA-491E-854A-F2DFCD22F69D}" destId="{4EC425BC-1805-4081-B692-EBCF96FA829C}" srcOrd="6" destOrd="0" presId="urn:microsoft.com/office/officeart/2005/8/layout/matrix1"/>
    <dgm:cxn modelId="{2A16FDF9-454B-4B5F-AD47-B902F84A9B95}" type="presParOf" srcId="{893BF614-2BEA-491E-854A-F2DFCD22F69D}" destId="{501AD4C3-902D-442A-ADFB-761E5255D7FF}" srcOrd="7" destOrd="0" presId="urn:microsoft.com/office/officeart/2005/8/layout/matrix1"/>
    <dgm:cxn modelId="{8B01DF53-5DA0-4C76-98B8-799350B174AA}" type="presParOf" srcId="{CC8EC37B-31F5-44C5-B9A0-E8AACB2C69A5}" destId="{AB20BAAE-36C3-4055-BF40-3D32BEC6BB6B}" srcOrd="1" destOrd="0" presId="urn:microsoft.com/office/officeart/2005/8/layout/matrix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1F61DC9-FC95-4CFD-846B-53295F67DD33}" type="doc">
      <dgm:prSet loTypeId="urn:microsoft.com/office/officeart/2005/8/layout/orgChart1" loCatId="hierarchy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DFAE7C13-B898-4320-B5ED-F4585BEE5C61}">
      <dgm:prSet phldrT="[Texto]"/>
      <dgm:spPr/>
      <dgm:t>
        <a:bodyPr/>
        <a:lstStyle/>
        <a:p>
          <a:r>
            <a:rPr lang="pt-BR" dirty="0" smtClean="0"/>
            <a:t>VPTD</a:t>
          </a:r>
          <a:endParaRPr lang="pt-BR" dirty="0"/>
        </a:p>
      </dgm:t>
    </dgm:pt>
    <dgm:pt modelId="{005A23AC-EC19-45C4-AC8B-8F280A5E52E9}" type="parTrans" cxnId="{0C61C4B1-795B-4EA3-B0FC-800A5D83ABFF}">
      <dgm:prSet/>
      <dgm:spPr/>
      <dgm:t>
        <a:bodyPr/>
        <a:lstStyle/>
        <a:p>
          <a:endParaRPr lang="pt-BR"/>
        </a:p>
      </dgm:t>
    </dgm:pt>
    <dgm:pt modelId="{1DCE4D59-655F-4D34-B9EB-35986A0EDB54}" type="sibTrans" cxnId="{0C61C4B1-795B-4EA3-B0FC-800A5D83ABFF}">
      <dgm:prSet/>
      <dgm:spPr/>
      <dgm:t>
        <a:bodyPr/>
        <a:lstStyle/>
        <a:p>
          <a:endParaRPr lang="pt-BR"/>
        </a:p>
      </dgm:t>
    </dgm:pt>
    <dgm:pt modelId="{3E92D2BB-00DC-4A38-8B5E-220286CF52F1}" type="asst">
      <dgm:prSet phldrT="[Texto]"/>
      <dgm:spPr/>
      <dgm:t>
        <a:bodyPr/>
        <a:lstStyle/>
        <a:p>
          <a:r>
            <a:rPr lang="pt-BR" dirty="0" smtClean="0"/>
            <a:t>Governança e Gestão de TI</a:t>
          </a:r>
          <a:endParaRPr lang="pt-BR" dirty="0"/>
        </a:p>
      </dgm:t>
    </dgm:pt>
    <dgm:pt modelId="{03ADB790-4A00-4D44-B1E2-B9B9F4E46601}" type="parTrans" cxnId="{C82EAF06-1F69-444F-8A94-40D4C4F5930E}">
      <dgm:prSet/>
      <dgm:spPr/>
      <dgm:t>
        <a:bodyPr/>
        <a:lstStyle/>
        <a:p>
          <a:endParaRPr lang="pt-BR"/>
        </a:p>
      </dgm:t>
    </dgm:pt>
    <dgm:pt modelId="{C9BA5285-81BD-4B52-92E5-53A5354694EF}" type="sibTrans" cxnId="{C82EAF06-1F69-444F-8A94-40D4C4F5930E}">
      <dgm:prSet/>
      <dgm:spPr/>
      <dgm:t>
        <a:bodyPr/>
        <a:lstStyle/>
        <a:p>
          <a:endParaRPr lang="pt-BR"/>
        </a:p>
      </dgm:t>
    </dgm:pt>
    <dgm:pt modelId="{61E71532-F9B7-4330-89DC-55CEDF3E8A76}">
      <dgm:prSet phldrT="[Texto]"/>
      <dgm:spPr/>
      <dgm:t>
        <a:bodyPr/>
        <a:lstStyle/>
        <a:p>
          <a:r>
            <a:rPr lang="pt-BR" dirty="0" smtClean="0"/>
            <a:t>Pool de Competências</a:t>
          </a:r>
          <a:endParaRPr lang="pt-BR" dirty="0"/>
        </a:p>
      </dgm:t>
    </dgm:pt>
    <dgm:pt modelId="{6F00EFAF-E822-4EBD-8ED3-F046895DCC0F}" type="parTrans" cxnId="{026CBA6E-4CF9-45EE-A630-79635D49CDBC}">
      <dgm:prSet/>
      <dgm:spPr/>
      <dgm:t>
        <a:bodyPr/>
        <a:lstStyle/>
        <a:p>
          <a:endParaRPr lang="pt-BR"/>
        </a:p>
      </dgm:t>
    </dgm:pt>
    <dgm:pt modelId="{C640355D-35D3-48B6-A398-107C4D8F2569}" type="sibTrans" cxnId="{026CBA6E-4CF9-45EE-A630-79635D49CDBC}">
      <dgm:prSet/>
      <dgm:spPr/>
      <dgm:t>
        <a:bodyPr/>
        <a:lstStyle/>
        <a:p>
          <a:endParaRPr lang="pt-BR"/>
        </a:p>
      </dgm:t>
    </dgm:pt>
    <dgm:pt modelId="{B5D8FD6A-5FF9-4722-B230-868CDF05063B}" type="asst">
      <dgm:prSet phldrT="[Texto]"/>
      <dgm:spPr/>
      <dgm:t>
        <a:bodyPr/>
        <a:lstStyle/>
        <a:p>
          <a:r>
            <a:rPr lang="pt-BR" dirty="0" smtClean="0"/>
            <a:t>Gestão Financeira</a:t>
          </a:r>
          <a:endParaRPr lang="pt-BR" dirty="0"/>
        </a:p>
      </dgm:t>
    </dgm:pt>
    <dgm:pt modelId="{E7262EC7-6E1C-469C-961C-69B4DA48B6C4}" type="parTrans" cxnId="{78489B5F-F8CD-4CDB-B908-6E1F783D3819}">
      <dgm:prSet/>
      <dgm:spPr/>
      <dgm:t>
        <a:bodyPr/>
        <a:lstStyle/>
        <a:p>
          <a:endParaRPr lang="pt-BR"/>
        </a:p>
      </dgm:t>
    </dgm:pt>
    <dgm:pt modelId="{029B333C-BF30-4396-92F3-DA9EAB39ACC9}" type="sibTrans" cxnId="{78489B5F-F8CD-4CDB-B908-6E1F783D3819}">
      <dgm:prSet/>
      <dgm:spPr/>
      <dgm:t>
        <a:bodyPr/>
        <a:lstStyle/>
        <a:p>
          <a:endParaRPr lang="pt-BR"/>
        </a:p>
      </dgm:t>
    </dgm:pt>
    <dgm:pt modelId="{60C03664-218A-4133-A20B-707136B5B50D}" type="asst">
      <dgm:prSet phldrT="[Texto]"/>
      <dgm:spPr/>
      <dgm:t>
        <a:bodyPr/>
        <a:lstStyle/>
        <a:p>
          <a:r>
            <a:rPr lang="pt-BR" dirty="0" smtClean="0"/>
            <a:t>Controles Internos</a:t>
          </a:r>
          <a:endParaRPr lang="pt-BR" dirty="0"/>
        </a:p>
      </dgm:t>
    </dgm:pt>
    <dgm:pt modelId="{4B22040E-A139-4E9D-BD81-CE33BAEB53CA}" type="parTrans" cxnId="{4D02E753-CFDF-4BCD-AC27-DD8CD958BA3A}">
      <dgm:prSet/>
      <dgm:spPr/>
      <dgm:t>
        <a:bodyPr/>
        <a:lstStyle/>
        <a:p>
          <a:endParaRPr lang="pt-BR"/>
        </a:p>
      </dgm:t>
    </dgm:pt>
    <dgm:pt modelId="{B24B7FF0-79D8-430C-A6BE-684F78866A22}" type="sibTrans" cxnId="{4D02E753-CFDF-4BCD-AC27-DD8CD958BA3A}">
      <dgm:prSet/>
      <dgm:spPr/>
      <dgm:t>
        <a:bodyPr/>
        <a:lstStyle/>
        <a:p>
          <a:endParaRPr lang="pt-BR"/>
        </a:p>
      </dgm:t>
    </dgm:pt>
    <dgm:pt modelId="{720BC6DE-9898-49C8-93DF-B1CCCE9A515A}" type="asst">
      <dgm:prSet phldrT="[Texto]"/>
      <dgm:spPr/>
      <dgm:t>
        <a:bodyPr/>
        <a:lstStyle/>
        <a:p>
          <a:r>
            <a:rPr lang="pt-BR" dirty="0" smtClean="0"/>
            <a:t>Escritório de Projetos</a:t>
          </a:r>
          <a:endParaRPr lang="pt-BR" dirty="0"/>
        </a:p>
      </dgm:t>
    </dgm:pt>
    <dgm:pt modelId="{260EC501-6A9E-44F7-8E95-15A049092BB4}" type="parTrans" cxnId="{CEEC3BC8-C8E2-43BD-985F-08EDFE732351}">
      <dgm:prSet/>
      <dgm:spPr/>
      <dgm:t>
        <a:bodyPr/>
        <a:lstStyle/>
        <a:p>
          <a:endParaRPr lang="pt-BR"/>
        </a:p>
      </dgm:t>
    </dgm:pt>
    <dgm:pt modelId="{A2EC5E7D-B75E-4E16-909B-5EF22003F7C1}" type="sibTrans" cxnId="{CEEC3BC8-C8E2-43BD-985F-08EDFE732351}">
      <dgm:prSet/>
      <dgm:spPr/>
      <dgm:t>
        <a:bodyPr/>
        <a:lstStyle/>
        <a:p>
          <a:endParaRPr lang="pt-BR"/>
        </a:p>
      </dgm:t>
    </dgm:pt>
    <dgm:pt modelId="{F4705B90-5194-4E77-B327-1F257D959F27}" type="asst">
      <dgm:prSet phldrT="[Texto]"/>
      <dgm:spPr/>
      <dgm:t>
        <a:bodyPr/>
        <a:lstStyle/>
        <a:p>
          <a:r>
            <a:rPr lang="pt-BR" dirty="0" smtClean="0"/>
            <a:t>Escritório de Processos</a:t>
          </a:r>
          <a:endParaRPr lang="pt-BR" dirty="0"/>
        </a:p>
      </dgm:t>
    </dgm:pt>
    <dgm:pt modelId="{1C11E201-0AA8-4ACE-BB35-2BC5F55FA524}" type="parTrans" cxnId="{ACB3D725-F60B-42B3-8866-A858016284F4}">
      <dgm:prSet/>
      <dgm:spPr/>
      <dgm:t>
        <a:bodyPr/>
        <a:lstStyle/>
        <a:p>
          <a:endParaRPr lang="pt-BR"/>
        </a:p>
      </dgm:t>
    </dgm:pt>
    <dgm:pt modelId="{0775D99A-46DE-4A8B-9853-255BECB2CFC8}" type="sibTrans" cxnId="{ACB3D725-F60B-42B3-8866-A858016284F4}">
      <dgm:prSet/>
      <dgm:spPr/>
      <dgm:t>
        <a:bodyPr/>
        <a:lstStyle/>
        <a:p>
          <a:endParaRPr lang="pt-BR"/>
        </a:p>
      </dgm:t>
    </dgm:pt>
    <dgm:pt modelId="{C65EF075-B56E-4263-A150-B1D73A93F77B}" type="asst">
      <dgm:prSet phldrT="[Texto]"/>
      <dgm:spPr/>
      <dgm:t>
        <a:bodyPr/>
        <a:lstStyle/>
        <a:p>
          <a:r>
            <a:rPr lang="pt-BR" dirty="0" smtClean="0"/>
            <a:t>Comunicação</a:t>
          </a:r>
          <a:endParaRPr lang="pt-BR" dirty="0"/>
        </a:p>
      </dgm:t>
    </dgm:pt>
    <dgm:pt modelId="{04359F4C-3261-4298-A492-E6646B73E78E}" type="parTrans" cxnId="{32824AC1-3405-45E8-894B-9E39ECDB7183}">
      <dgm:prSet/>
      <dgm:spPr/>
      <dgm:t>
        <a:bodyPr/>
        <a:lstStyle/>
        <a:p>
          <a:endParaRPr lang="pt-BR"/>
        </a:p>
      </dgm:t>
    </dgm:pt>
    <dgm:pt modelId="{62CBE768-2598-46A3-860C-C946A0736714}" type="sibTrans" cxnId="{32824AC1-3405-45E8-894B-9E39ECDB7183}">
      <dgm:prSet/>
      <dgm:spPr/>
      <dgm:t>
        <a:bodyPr/>
        <a:lstStyle/>
        <a:p>
          <a:endParaRPr lang="pt-BR"/>
        </a:p>
      </dgm:t>
    </dgm:pt>
    <dgm:pt modelId="{2086FC96-EA40-4C3A-B856-177C4079403C}" type="asst">
      <dgm:prSet phldrT="[Texto]"/>
      <dgm:spPr/>
      <dgm:t>
        <a:bodyPr/>
        <a:lstStyle/>
        <a:p>
          <a:r>
            <a:rPr lang="pt-BR" dirty="0" smtClean="0"/>
            <a:t>Relacionamento com Parceiros</a:t>
          </a:r>
          <a:endParaRPr lang="pt-BR" dirty="0"/>
        </a:p>
      </dgm:t>
    </dgm:pt>
    <dgm:pt modelId="{B1B9F7E3-F653-432B-BB7A-0D822FB119EA}" type="parTrans" cxnId="{C4E5361D-F567-4CAA-962F-BFB9DC4F5CDD}">
      <dgm:prSet/>
      <dgm:spPr/>
      <dgm:t>
        <a:bodyPr/>
        <a:lstStyle/>
        <a:p>
          <a:endParaRPr lang="pt-BR"/>
        </a:p>
      </dgm:t>
    </dgm:pt>
    <dgm:pt modelId="{A10DEEDE-C9D4-4E6B-8255-AA8A23B18C8E}" type="sibTrans" cxnId="{C4E5361D-F567-4CAA-962F-BFB9DC4F5CDD}">
      <dgm:prSet/>
      <dgm:spPr/>
      <dgm:t>
        <a:bodyPr/>
        <a:lstStyle/>
        <a:p>
          <a:endParaRPr lang="pt-BR"/>
        </a:p>
      </dgm:t>
    </dgm:pt>
    <dgm:pt modelId="{8B2A7BEB-FF11-4C4A-9DB5-033A59D1AF13}" type="asst">
      <dgm:prSet phldrT="[Texto]"/>
      <dgm:spPr/>
      <dgm:t>
        <a:bodyPr/>
        <a:lstStyle/>
        <a:p>
          <a:r>
            <a:rPr lang="pt-BR" dirty="0" smtClean="0"/>
            <a:t>Inovação</a:t>
          </a:r>
          <a:endParaRPr lang="pt-BR" dirty="0"/>
        </a:p>
      </dgm:t>
    </dgm:pt>
    <dgm:pt modelId="{8B74B2B5-F799-46BE-B431-AF9E6484AC7E}" type="parTrans" cxnId="{4519A1A9-F5C3-490C-BF68-7CEDB771466E}">
      <dgm:prSet/>
      <dgm:spPr/>
      <dgm:t>
        <a:bodyPr/>
        <a:lstStyle/>
        <a:p>
          <a:endParaRPr lang="pt-BR"/>
        </a:p>
      </dgm:t>
    </dgm:pt>
    <dgm:pt modelId="{64D3E0F3-041B-486F-ADAC-BACC79DD4317}" type="sibTrans" cxnId="{4519A1A9-F5C3-490C-BF68-7CEDB771466E}">
      <dgm:prSet/>
      <dgm:spPr/>
      <dgm:t>
        <a:bodyPr/>
        <a:lstStyle/>
        <a:p>
          <a:endParaRPr lang="pt-BR"/>
        </a:p>
      </dgm:t>
    </dgm:pt>
    <dgm:pt modelId="{53AF4635-E89B-4A11-9DF7-528F48ED723F}" type="asst">
      <dgm:prSet phldrT="[Texto]"/>
      <dgm:spPr/>
      <dgm:t>
        <a:bodyPr/>
        <a:lstStyle/>
        <a:p>
          <a:r>
            <a:rPr lang="pt-BR" dirty="0" smtClean="0"/>
            <a:t>Entrega de Serviços</a:t>
          </a:r>
          <a:endParaRPr lang="pt-BR" dirty="0"/>
        </a:p>
      </dgm:t>
    </dgm:pt>
    <dgm:pt modelId="{ABEE004E-3FA2-4626-B375-2FD06EF88465}" type="parTrans" cxnId="{A78F3235-F9A6-4216-ABDB-FD884C75E631}">
      <dgm:prSet/>
      <dgm:spPr/>
      <dgm:t>
        <a:bodyPr/>
        <a:lstStyle/>
        <a:p>
          <a:endParaRPr lang="pt-BR"/>
        </a:p>
      </dgm:t>
    </dgm:pt>
    <dgm:pt modelId="{315D4609-DB01-4284-8C3F-3816EFF0737E}" type="sibTrans" cxnId="{A78F3235-F9A6-4216-ABDB-FD884C75E631}">
      <dgm:prSet/>
      <dgm:spPr/>
      <dgm:t>
        <a:bodyPr/>
        <a:lstStyle/>
        <a:p>
          <a:endParaRPr lang="pt-BR"/>
        </a:p>
      </dgm:t>
    </dgm:pt>
    <dgm:pt modelId="{EBBC1E85-1580-48AC-BD88-DBFE3CBE0E9C}" type="asst">
      <dgm:prSet phldrT="[Texto]"/>
      <dgm:spPr/>
      <dgm:t>
        <a:bodyPr/>
        <a:lstStyle/>
        <a:p>
          <a:r>
            <a:rPr lang="pt-BR" dirty="0" smtClean="0"/>
            <a:t>Suporte aos Serviços</a:t>
          </a:r>
          <a:endParaRPr lang="pt-BR" dirty="0"/>
        </a:p>
      </dgm:t>
    </dgm:pt>
    <dgm:pt modelId="{E710DD9F-949B-4BFE-AC05-D574BC0F45D5}" type="parTrans" cxnId="{AFB93652-B460-41AE-9891-ABF53F8ED399}">
      <dgm:prSet/>
      <dgm:spPr/>
      <dgm:t>
        <a:bodyPr/>
        <a:lstStyle/>
        <a:p>
          <a:endParaRPr lang="pt-BR"/>
        </a:p>
      </dgm:t>
    </dgm:pt>
    <dgm:pt modelId="{6803B6F7-69B9-41CB-AA6E-32F1B1ACF211}" type="sibTrans" cxnId="{AFB93652-B460-41AE-9891-ABF53F8ED399}">
      <dgm:prSet/>
      <dgm:spPr/>
      <dgm:t>
        <a:bodyPr/>
        <a:lstStyle/>
        <a:p>
          <a:endParaRPr lang="pt-BR"/>
        </a:p>
      </dgm:t>
    </dgm:pt>
    <dgm:pt modelId="{C7CA4687-40E3-433A-9241-B9F03F3EAD38}" type="asst">
      <dgm:prSet phldrT="[Texto]"/>
      <dgm:spPr/>
      <dgm:t>
        <a:bodyPr/>
        <a:lstStyle/>
        <a:p>
          <a:endParaRPr lang="pt-BR" dirty="0"/>
        </a:p>
      </dgm:t>
    </dgm:pt>
    <dgm:pt modelId="{FF0D1C86-7CCD-4696-8611-BDF524765A8E}" type="parTrans" cxnId="{DF9228A0-FEC3-4BD3-BAEC-55B0CADE143E}">
      <dgm:prSet/>
      <dgm:spPr/>
      <dgm:t>
        <a:bodyPr/>
        <a:lstStyle/>
        <a:p>
          <a:endParaRPr lang="pt-BR"/>
        </a:p>
      </dgm:t>
    </dgm:pt>
    <dgm:pt modelId="{D5CAD4E4-3930-4128-B5F8-7CB4C988C80C}" type="sibTrans" cxnId="{DF9228A0-FEC3-4BD3-BAEC-55B0CADE143E}">
      <dgm:prSet/>
      <dgm:spPr/>
      <dgm:t>
        <a:bodyPr/>
        <a:lstStyle/>
        <a:p>
          <a:endParaRPr lang="pt-BR"/>
        </a:p>
      </dgm:t>
    </dgm:pt>
    <dgm:pt modelId="{F0D1E038-7850-4C2E-BE19-80CC81851628}" type="asst">
      <dgm:prSet phldrT="[Texto]"/>
      <dgm:spPr/>
      <dgm:t>
        <a:bodyPr/>
        <a:lstStyle/>
        <a:p>
          <a:endParaRPr lang="pt-BR" dirty="0"/>
        </a:p>
      </dgm:t>
    </dgm:pt>
    <dgm:pt modelId="{D9BAC010-7DDA-4DCF-9BE1-A0BBF88B3367}" type="parTrans" cxnId="{052A271E-6210-4E05-912B-09D4197DDADE}">
      <dgm:prSet/>
      <dgm:spPr/>
      <dgm:t>
        <a:bodyPr/>
        <a:lstStyle/>
        <a:p>
          <a:endParaRPr lang="pt-BR"/>
        </a:p>
      </dgm:t>
    </dgm:pt>
    <dgm:pt modelId="{1D334C9B-219E-4B55-B8C1-1DD782E2D18D}" type="sibTrans" cxnId="{052A271E-6210-4E05-912B-09D4197DDADE}">
      <dgm:prSet/>
      <dgm:spPr/>
      <dgm:t>
        <a:bodyPr/>
        <a:lstStyle/>
        <a:p>
          <a:endParaRPr lang="pt-BR"/>
        </a:p>
      </dgm:t>
    </dgm:pt>
    <dgm:pt modelId="{857A0A2E-846C-4FAC-917A-8683FEEB7D7B}" type="pres">
      <dgm:prSet presAssocID="{31F61DC9-FC95-4CFD-846B-53295F67DD33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pt-BR"/>
        </a:p>
      </dgm:t>
    </dgm:pt>
    <dgm:pt modelId="{849181E5-D673-439A-8EA4-B94D0E16F37C}" type="pres">
      <dgm:prSet presAssocID="{DFAE7C13-B898-4320-B5ED-F4585BEE5C61}" presName="hierRoot1" presStyleCnt="0">
        <dgm:presLayoutVars>
          <dgm:hierBranch val="init"/>
        </dgm:presLayoutVars>
      </dgm:prSet>
      <dgm:spPr/>
    </dgm:pt>
    <dgm:pt modelId="{124BD7A9-453B-4CFF-8C76-6B6AB11893BF}" type="pres">
      <dgm:prSet presAssocID="{DFAE7C13-B898-4320-B5ED-F4585BEE5C61}" presName="rootComposite1" presStyleCnt="0"/>
      <dgm:spPr/>
    </dgm:pt>
    <dgm:pt modelId="{A729E0A2-44CD-4B37-9E3A-EE62EE031A0C}" type="pres">
      <dgm:prSet presAssocID="{DFAE7C13-B898-4320-B5ED-F4585BEE5C61}" presName="rootText1" presStyleLbl="node0" presStyleIdx="0" presStyleCnt="1" custLinFactX="69799" custLinFactNeighborX="100000" custLinFactNeighborY="-287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34A3A65C-A0F6-47C2-9588-B364220EABA2}" type="pres">
      <dgm:prSet presAssocID="{DFAE7C13-B898-4320-B5ED-F4585BEE5C61}" presName="rootConnector1" presStyleLbl="node1" presStyleIdx="0" presStyleCnt="0"/>
      <dgm:spPr/>
      <dgm:t>
        <a:bodyPr/>
        <a:lstStyle/>
        <a:p>
          <a:endParaRPr lang="pt-BR"/>
        </a:p>
      </dgm:t>
    </dgm:pt>
    <dgm:pt modelId="{311C17CB-389F-4E50-9C34-916CEA7B2E11}" type="pres">
      <dgm:prSet presAssocID="{DFAE7C13-B898-4320-B5ED-F4585BEE5C61}" presName="hierChild2" presStyleCnt="0"/>
      <dgm:spPr/>
    </dgm:pt>
    <dgm:pt modelId="{98420567-600B-4FE4-A1CE-643E2ADE47EA}" type="pres">
      <dgm:prSet presAssocID="{DFAE7C13-B898-4320-B5ED-F4585BEE5C61}" presName="hierChild3" presStyleCnt="0"/>
      <dgm:spPr/>
    </dgm:pt>
    <dgm:pt modelId="{3BD112F1-8D02-4818-9227-F1503DD1DE71}" type="pres">
      <dgm:prSet presAssocID="{03ADB790-4A00-4D44-B1E2-B9B9F4E46601}" presName="Name111" presStyleLbl="parChTrans1D2" presStyleIdx="0" presStyleCnt="5"/>
      <dgm:spPr/>
      <dgm:t>
        <a:bodyPr/>
        <a:lstStyle/>
        <a:p>
          <a:endParaRPr lang="pt-BR"/>
        </a:p>
      </dgm:t>
    </dgm:pt>
    <dgm:pt modelId="{085C2694-AEDA-40C8-AD49-7C0D3EADD662}" type="pres">
      <dgm:prSet presAssocID="{3E92D2BB-00DC-4A38-8B5E-220286CF52F1}" presName="hierRoot3" presStyleCnt="0">
        <dgm:presLayoutVars>
          <dgm:hierBranch val="init"/>
        </dgm:presLayoutVars>
      </dgm:prSet>
      <dgm:spPr/>
    </dgm:pt>
    <dgm:pt modelId="{E54902BE-02D3-44C6-83A1-B5C809214000}" type="pres">
      <dgm:prSet presAssocID="{3E92D2BB-00DC-4A38-8B5E-220286CF52F1}" presName="rootComposite3" presStyleCnt="0"/>
      <dgm:spPr/>
    </dgm:pt>
    <dgm:pt modelId="{37FD95AB-59B9-4475-8B7C-FB46CE05C24C}" type="pres">
      <dgm:prSet presAssocID="{3E92D2BB-00DC-4A38-8B5E-220286CF52F1}" presName="rootText3" presStyleLbl="asst1" presStyleIdx="0" presStyleCnt="12" custLinFactX="-82622" custLinFactNeighborX="-100000" custLinFactNeighborY="-8616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80D218D1-5428-4C90-B772-7A728119ED72}" type="pres">
      <dgm:prSet presAssocID="{3E92D2BB-00DC-4A38-8B5E-220286CF52F1}" presName="rootConnector3" presStyleLbl="asst1" presStyleIdx="0" presStyleCnt="12"/>
      <dgm:spPr/>
      <dgm:t>
        <a:bodyPr/>
        <a:lstStyle/>
        <a:p>
          <a:endParaRPr lang="pt-BR"/>
        </a:p>
      </dgm:t>
    </dgm:pt>
    <dgm:pt modelId="{BC822A9B-4C84-4E6D-AF25-132406F1E7DE}" type="pres">
      <dgm:prSet presAssocID="{3E92D2BB-00DC-4A38-8B5E-220286CF52F1}" presName="hierChild6" presStyleCnt="0"/>
      <dgm:spPr/>
    </dgm:pt>
    <dgm:pt modelId="{997A1ACB-8D03-4884-858F-75D6CDA9ADBF}" type="pres">
      <dgm:prSet presAssocID="{3E92D2BB-00DC-4A38-8B5E-220286CF52F1}" presName="hierChild7" presStyleCnt="0"/>
      <dgm:spPr/>
    </dgm:pt>
    <dgm:pt modelId="{12AD7938-D11F-44B2-87B8-A01971076A2C}" type="pres">
      <dgm:prSet presAssocID="{E7262EC7-6E1C-469C-961C-69B4DA48B6C4}" presName="Name111" presStyleLbl="parChTrans1D3" presStyleIdx="0" presStyleCnt="8"/>
      <dgm:spPr/>
      <dgm:t>
        <a:bodyPr/>
        <a:lstStyle/>
        <a:p>
          <a:endParaRPr lang="pt-BR"/>
        </a:p>
      </dgm:t>
    </dgm:pt>
    <dgm:pt modelId="{D07B2DCE-0225-4DB1-95F0-D47704560525}" type="pres">
      <dgm:prSet presAssocID="{B5D8FD6A-5FF9-4722-B230-868CDF05063B}" presName="hierRoot3" presStyleCnt="0">
        <dgm:presLayoutVars>
          <dgm:hierBranch val="init"/>
        </dgm:presLayoutVars>
      </dgm:prSet>
      <dgm:spPr/>
    </dgm:pt>
    <dgm:pt modelId="{C3F5897E-D0AD-47D0-8BF4-C8BA65D0F096}" type="pres">
      <dgm:prSet presAssocID="{B5D8FD6A-5FF9-4722-B230-868CDF05063B}" presName="rootComposite3" presStyleCnt="0"/>
      <dgm:spPr/>
    </dgm:pt>
    <dgm:pt modelId="{BA4745D2-743B-416D-858E-6AF7D19E2526}" type="pres">
      <dgm:prSet presAssocID="{B5D8FD6A-5FF9-4722-B230-868CDF05063B}" presName="rootText3" presStyleLbl="asst1" presStyleIdx="1" presStyleCnt="12" custLinFactX="-100000" custLinFactY="100000" custLinFactNeighborX="-177866" custLinFactNeighborY="114274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648F787D-574C-41BA-B585-ADBD823801D0}" type="pres">
      <dgm:prSet presAssocID="{B5D8FD6A-5FF9-4722-B230-868CDF05063B}" presName="rootConnector3" presStyleLbl="asst1" presStyleIdx="1" presStyleCnt="12"/>
      <dgm:spPr/>
      <dgm:t>
        <a:bodyPr/>
        <a:lstStyle/>
        <a:p>
          <a:endParaRPr lang="pt-BR"/>
        </a:p>
      </dgm:t>
    </dgm:pt>
    <dgm:pt modelId="{94642096-1512-47B0-93F4-80DE2554EACB}" type="pres">
      <dgm:prSet presAssocID="{B5D8FD6A-5FF9-4722-B230-868CDF05063B}" presName="hierChild6" presStyleCnt="0"/>
      <dgm:spPr/>
    </dgm:pt>
    <dgm:pt modelId="{9EFC5FE4-880C-44E8-AECB-004A17E0F814}" type="pres">
      <dgm:prSet presAssocID="{B5D8FD6A-5FF9-4722-B230-868CDF05063B}" presName="hierChild7" presStyleCnt="0"/>
      <dgm:spPr/>
    </dgm:pt>
    <dgm:pt modelId="{1E35B068-4819-4FA1-8289-157FCAA9B824}" type="pres">
      <dgm:prSet presAssocID="{4B22040E-A139-4E9D-BD81-CE33BAEB53CA}" presName="Name111" presStyleLbl="parChTrans1D3" presStyleIdx="1" presStyleCnt="8"/>
      <dgm:spPr/>
      <dgm:t>
        <a:bodyPr/>
        <a:lstStyle/>
        <a:p>
          <a:endParaRPr lang="pt-BR"/>
        </a:p>
      </dgm:t>
    </dgm:pt>
    <dgm:pt modelId="{578EB912-35AA-4D96-981E-A281F780DDC6}" type="pres">
      <dgm:prSet presAssocID="{60C03664-218A-4133-A20B-707136B5B50D}" presName="hierRoot3" presStyleCnt="0">
        <dgm:presLayoutVars>
          <dgm:hierBranch val="init"/>
        </dgm:presLayoutVars>
      </dgm:prSet>
      <dgm:spPr/>
    </dgm:pt>
    <dgm:pt modelId="{2B4A8C63-8A74-4C95-AE17-605F335FCDB7}" type="pres">
      <dgm:prSet presAssocID="{60C03664-218A-4133-A20B-707136B5B50D}" presName="rootComposite3" presStyleCnt="0"/>
      <dgm:spPr/>
    </dgm:pt>
    <dgm:pt modelId="{7B39C473-8DC8-4D70-88BB-E3A5BA60A147}" type="pres">
      <dgm:prSet presAssocID="{60C03664-218A-4133-A20B-707136B5B50D}" presName="rootText3" presStyleLbl="asst1" presStyleIdx="2" presStyleCnt="12" custLinFactX="-35725" custLinFactY="3478" custLinFactNeighborX="-100000" custLinFactNeighborY="100000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8027E9C0-79FE-4A2A-A3FB-8B676001107E}" type="pres">
      <dgm:prSet presAssocID="{60C03664-218A-4133-A20B-707136B5B50D}" presName="rootConnector3" presStyleLbl="asst1" presStyleIdx="2" presStyleCnt="12"/>
      <dgm:spPr/>
      <dgm:t>
        <a:bodyPr/>
        <a:lstStyle/>
        <a:p>
          <a:endParaRPr lang="pt-BR"/>
        </a:p>
      </dgm:t>
    </dgm:pt>
    <dgm:pt modelId="{2BF26849-5BEC-46D3-A42A-673C28E82860}" type="pres">
      <dgm:prSet presAssocID="{60C03664-218A-4133-A20B-707136B5B50D}" presName="hierChild6" presStyleCnt="0"/>
      <dgm:spPr/>
    </dgm:pt>
    <dgm:pt modelId="{7BCE4851-F953-43BD-9E43-73EDDE38A380}" type="pres">
      <dgm:prSet presAssocID="{60C03664-218A-4133-A20B-707136B5B50D}" presName="hierChild7" presStyleCnt="0"/>
      <dgm:spPr/>
    </dgm:pt>
    <dgm:pt modelId="{0246B5F5-A3FF-4C08-A55B-3C666C04DE93}" type="pres">
      <dgm:prSet presAssocID="{260EC501-6A9E-44F7-8E95-15A049092BB4}" presName="Name111" presStyleLbl="parChTrans1D3" presStyleIdx="2" presStyleCnt="8"/>
      <dgm:spPr/>
      <dgm:t>
        <a:bodyPr/>
        <a:lstStyle/>
        <a:p>
          <a:endParaRPr lang="pt-BR"/>
        </a:p>
      </dgm:t>
    </dgm:pt>
    <dgm:pt modelId="{A42DB269-8E8E-45E9-BA74-DECCEAFF389A}" type="pres">
      <dgm:prSet presAssocID="{720BC6DE-9898-49C8-93DF-B1CCCE9A515A}" presName="hierRoot3" presStyleCnt="0">
        <dgm:presLayoutVars>
          <dgm:hierBranch val="init"/>
        </dgm:presLayoutVars>
      </dgm:prSet>
      <dgm:spPr/>
    </dgm:pt>
    <dgm:pt modelId="{E9FA2AE1-FB03-4F4B-8B76-C987668FA2D9}" type="pres">
      <dgm:prSet presAssocID="{720BC6DE-9898-49C8-93DF-B1CCCE9A515A}" presName="rootComposite3" presStyleCnt="0"/>
      <dgm:spPr/>
    </dgm:pt>
    <dgm:pt modelId="{42EDF4B7-EA14-4A3B-B6B5-64F1479AE693}" type="pres">
      <dgm:prSet presAssocID="{720BC6DE-9898-49C8-93DF-B1CCCE9A515A}" presName="rootText3" presStyleLbl="asst1" presStyleIdx="3" presStyleCnt="12" custLinFactX="-100000" custLinFactY="149265" custLinFactNeighborX="-150167" custLinFactNeighborY="200000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FFE73F30-CC77-4DB0-9C87-2C7B6DD7562A}" type="pres">
      <dgm:prSet presAssocID="{720BC6DE-9898-49C8-93DF-B1CCCE9A515A}" presName="rootConnector3" presStyleLbl="asst1" presStyleIdx="3" presStyleCnt="12"/>
      <dgm:spPr/>
      <dgm:t>
        <a:bodyPr/>
        <a:lstStyle/>
        <a:p>
          <a:endParaRPr lang="pt-BR"/>
        </a:p>
      </dgm:t>
    </dgm:pt>
    <dgm:pt modelId="{A4F83330-0FD3-43B4-9D09-9148FD6B94AE}" type="pres">
      <dgm:prSet presAssocID="{720BC6DE-9898-49C8-93DF-B1CCCE9A515A}" presName="hierChild6" presStyleCnt="0"/>
      <dgm:spPr/>
    </dgm:pt>
    <dgm:pt modelId="{3159CDAF-128A-4EC1-A876-F1FA5F36642F}" type="pres">
      <dgm:prSet presAssocID="{720BC6DE-9898-49C8-93DF-B1CCCE9A515A}" presName="hierChild7" presStyleCnt="0"/>
      <dgm:spPr/>
    </dgm:pt>
    <dgm:pt modelId="{17FC3DAF-6FD5-4FF5-A049-E6529D50FE3A}" type="pres">
      <dgm:prSet presAssocID="{1C11E201-0AA8-4ACE-BB35-2BC5F55FA524}" presName="Name111" presStyleLbl="parChTrans1D3" presStyleIdx="3" presStyleCnt="8"/>
      <dgm:spPr/>
      <dgm:t>
        <a:bodyPr/>
        <a:lstStyle/>
        <a:p>
          <a:endParaRPr lang="pt-BR"/>
        </a:p>
      </dgm:t>
    </dgm:pt>
    <dgm:pt modelId="{6CDCCE44-A22C-4483-9DB2-AA86E1D1603B}" type="pres">
      <dgm:prSet presAssocID="{F4705B90-5194-4E77-B327-1F257D959F27}" presName="hierRoot3" presStyleCnt="0">
        <dgm:presLayoutVars>
          <dgm:hierBranch val="init"/>
        </dgm:presLayoutVars>
      </dgm:prSet>
      <dgm:spPr/>
    </dgm:pt>
    <dgm:pt modelId="{3FB058D1-BBFF-4031-AF3B-32627B8AFF95}" type="pres">
      <dgm:prSet presAssocID="{F4705B90-5194-4E77-B327-1F257D959F27}" presName="rootComposite3" presStyleCnt="0"/>
      <dgm:spPr/>
    </dgm:pt>
    <dgm:pt modelId="{18D68726-AE10-407C-BD1A-C88AD78F62F6}" type="pres">
      <dgm:prSet presAssocID="{F4705B90-5194-4E77-B327-1F257D959F27}" presName="rootText3" presStyleLbl="asst1" presStyleIdx="4" presStyleCnt="12" custLinFactX="-8026" custLinFactY="100000" custLinFactNeighborX="-100000" custLinFactNeighborY="110769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8656152A-90E2-4201-9190-4E2E2BA26A34}" type="pres">
      <dgm:prSet presAssocID="{F4705B90-5194-4E77-B327-1F257D959F27}" presName="rootConnector3" presStyleLbl="asst1" presStyleIdx="4" presStyleCnt="12"/>
      <dgm:spPr/>
      <dgm:t>
        <a:bodyPr/>
        <a:lstStyle/>
        <a:p>
          <a:endParaRPr lang="pt-BR"/>
        </a:p>
      </dgm:t>
    </dgm:pt>
    <dgm:pt modelId="{9DD65FCF-12BA-4B50-AF4D-D6958E1542EB}" type="pres">
      <dgm:prSet presAssocID="{F4705B90-5194-4E77-B327-1F257D959F27}" presName="hierChild6" presStyleCnt="0"/>
      <dgm:spPr/>
    </dgm:pt>
    <dgm:pt modelId="{E13F5254-567D-4AA4-9AD2-7C53652F94B6}" type="pres">
      <dgm:prSet presAssocID="{F4705B90-5194-4E77-B327-1F257D959F27}" presName="hierChild7" presStyleCnt="0"/>
      <dgm:spPr/>
    </dgm:pt>
    <dgm:pt modelId="{F049C071-11DA-4458-8219-9C1C073FE418}" type="pres">
      <dgm:prSet presAssocID="{04359F4C-3261-4298-A492-E6646B73E78E}" presName="Name111" presStyleLbl="parChTrans1D3" presStyleIdx="4" presStyleCnt="8"/>
      <dgm:spPr/>
      <dgm:t>
        <a:bodyPr/>
        <a:lstStyle/>
        <a:p>
          <a:endParaRPr lang="pt-BR"/>
        </a:p>
      </dgm:t>
    </dgm:pt>
    <dgm:pt modelId="{91A4894F-E39D-420B-A855-EE5C3325E2FE}" type="pres">
      <dgm:prSet presAssocID="{C65EF075-B56E-4263-A150-B1D73A93F77B}" presName="hierRoot3" presStyleCnt="0">
        <dgm:presLayoutVars>
          <dgm:hierBranch val="init"/>
        </dgm:presLayoutVars>
      </dgm:prSet>
      <dgm:spPr/>
    </dgm:pt>
    <dgm:pt modelId="{87E4C5F1-D6A8-4AA2-847A-2913C6ABDDC7}" type="pres">
      <dgm:prSet presAssocID="{C65EF075-B56E-4263-A150-B1D73A93F77B}" presName="rootComposite3" presStyleCnt="0"/>
      <dgm:spPr/>
    </dgm:pt>
    <dgm:pt modelId="{21F2D394-E1BC-4F51-B311-1F151B198CFC}" type="pres">
      <dgm:prSet presAssocID="{C65EF075-B56E-4263-A150-B1D73A93F77B}" presName="rootText3" presStyleLbl="asst1" presStyleIdx="5" presStyleCnt="12" custLinFactY="200000" custLinFactNeighborX="-42424" custLinFactNeighborY="228857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D026857A-AAF3-4636-99C2-B2BBF3F6DD67}" type="pres">
      <dgm:prSet presAssocID="{C65EF075-B56E-4263-A150-B1D73A93F77B}" presName="rootConnector3" presStyleLbl="asst1" presStyleIdx="5" presStyleCnt="12"/>
      <dgm:spPr/>
      <dgm:t>
        <a:bodyPr/>
        <a:lstStyle/>
        <a:p>
          <a:endParaRPr lang="pt-BR"/>
        </a:p>
      </dgm:t>
    </dgm:pt>
    <dgm:pt modelId="{6CBB9FAF-9F64-4942-BE33-2B23380A5BD0}" type="pres">
      <dgm:prSet presAssocID="{C65EF075-B56E-4263-A150-B1D73A93F77B}" presName="hierChild6" presStyleCnt="0"/>
      <dgm:spPr/>
    </dgm:pt>
    <dgm:pt modelId="{65E5E8DF-C6A3-4159-9941-DA5AD57ADF99}" type="pres">
      <dgm:prSet presAssocID="{C65EF075-B56E-4263-A150-B1D73A93F77B}" presName="hierChild7" presStyleCnt="0"/>
      <dgm:spPr/>
    </dgm:pt>
    <dgm:pt modelId="{44E407C6-E418-4B2C-8514-ED22915CE45D}" type="pres">
      <dgm:prSet presAssocID="{B1B9F7E3-F653-432B-BB7A-0D822FB119EA}" presName="Name111" presStyleLbl="parChTrans1D2" presStyleIdx="1" presStyleCnt="5"/>
      <dgm:spPr/>
      <dgm:t>
        <a:bodyPr/>
        <a:lstStyle/>
        <a:p>
          <a:endParaRPr lang="pt-BR"/>
        </a:p>
      </dgm:t>
    </dgm:pt>
    <dgm:pt modelId="{A1F693C2-94DD-4C1E-B03B-14788FA2F4CE}" type="pres">
      <dgm:prSet presAssocID="{2086FC96-EA40-4C3A-B856-177C4079403C}" presName="hierRoot3" presStyleCnt="0">
        <dgm:presLayoutVars>
          <dgm:hierBranch val="init"/>
        </dgm:presLayoutVars>
      </dgm:prSet>
      <dgm:spPr/>
    </dgm:pt>
    <dgm:pt modelId="{CD5C3713-F0CC-4773-94C6-A77C39134C14}" type="pres">
      <dgm:prSet presAssocID="{2086FC96-EA40-4C3A-B856-177C4079403C}" presName="rootComposite3" presStyleCnt="0"/>
      <dgm:spPr/>
    </dgm:pt>
    <dgm:pt modelId="{199B4936-3A09-44C8-AA5F-740B50DD5D6F}" type="pres">
      <dgm:prSet presAssocID="{2086FC96-EA40-4C3A-B856-177C4079403C}" presName="rootText3" presStyleLbl="asst1" presStyleIdx="6" presStyleCnt="12" custLinFactX="186731" custLinFactNeighborX="200000" custLinFactNeighborY="-3814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F959EA60-AF02-4FCF-9FA9-53438B14089A}" type="pres">
      <dgm:prSet presAssocID="{2086FC96-EA40-4C3A-B856-177C4079403C}" presName="rootConnector3" presStyleLbl="asst1" presStyleIdx="6" presStyleCnt="12"/>
      <dgm:spPr/>
      <dgm:t>
        <a:bodyPr/>
        <a:lstStyle/>
        <a:p>
          <a:endParaRPr lang="pt-BR"/>
        </a:p>
      </dgm:t>
    </dgm:pt>
    <dgm:pt modelId="{DECEA751-50CF-46FD-8E3E-4C8FB8C8878B}" type="pres">
      <dgm:prSet presAssocID="{2086FC96-EA40-4C3A-B856-177C4079403C}" presName="hierChild6" presStyleCnt="0"/>
      <dgm:spPr/>
    </dgm:pt>
    <dgm:pt modelId="{E3DD9EA4-2E8E-4AB0-A44C-7E92A82B5A7D}" type="pres">
      <dgm:prSet presAssocID="{2086FC96-EA40-4C3A-B856-177C4079403C}" presName="hierChild7" presStyleCnt="0"/>
      <dgm:spPr/>
    </dgm:pt>
    <dgm:pt modelId="{B802D1BB-DDB9-4713-9296-33D87834DD35}" type="pres">
      <dgm:prSet presAssocID="{8B74B2B5-F799-46BE-B431-AF9E6484AC7E}" presName="Name111" presStyleLbl="parChTrans1D2" presStyleIdx="2" presStyleCnt="5"/>
      <dgm:spPr/>
      <dgm:t>
        <a:bodyPr/>
        <a:lstStyle/>
        <a:p>
          <a:endParaRPr lang="pt-BR"/>
        </a:p>
      </dgm:t>
    </dgm:pt>
    <dgm:pt modelId="{132F6D43-AC1C-4754-9EDB-69414F695B8E}" type="pres">
      <dgm:prSet presAssocID="{8B2A7BEB-FF11-4C4A-9DB5-033A59D1AF13}" presName="hierRoot3" presStyleCnt="0">
        <dgm:presLayoutVars>
          <dgm:hierBranch val="init"/>
        </dgm:presLayoutVars>
      </dgm:prSet>
      <dgm:spPr/>
    </dgm:pt>
    <dgm:pt modelId="{D83D32E2-69A9-4D25-A09F-F48308C9CFD2}" type="pres">
      <dgm:prSet presAssocID="{8B2A7BEB-FF11-4C4A-9DB5-033A59D1AF13}" presName="rootComposite3" presStyleCnt="0"/>
      <dgm:spPr/>
    </dgm:pt>
    <dgm:pt modelId="{7D0DA54C-6125-46E2-9094-CDC349D38211}" type="pres">
      <dgm:prSet presAssocID="{8B2A7BEB-FF11-4C4A-9DB5-033A59D1AF13}" presName="rootText3" presStyleLbl="asst1" presStyleIdx="7" presStyleCnt="12" custLinFactX="300000" custLinFactNeighborX="356160" custLinFactNeighborY="-20260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ECA27AFF-6944-45C4-94FD-70C9E605BBBB}" type="pres">
      <dgm:prSet presAssocID="{8B2A7BEB-FF11-4C4A-9DB5-033A59D1AF13}" presName="rootConnector3" presStyleLbl="asst1" presStyleIdx="7" presStyleCnt="12"/>
      <dgm:spPr/>
      <dgm:t>
        <a:bodyPr/>
        <a:lstStyle/>
        <a:p>
          <a:endParaRPr lang="pt-BR"/>
        </a:p>
      </dgm:t>
    </dgm:pt>
    <dgm:pt modelId="{10AFE871-0578-41BE-9345-A11F20DA669B}" type="pres">
      <dgm:prSet presAssocID="{8B2A7BEB-FF11-4C4A-9DB5-033A59D1AF13}" presName="hierChild6" presStyleCnt="0"/>
      <dgm:spPr/>
    </dgm:pt>
    <dgm:pt modelId="{6862678C-A9E7-4C31-B950-6601D9262F2F}" type="pres">
      <dgm:prSet presAssocID="{8B2A7BEB-FF11-4C4A-9DB5-033A59D1AF13}" presName="hierChild7" presStyleCnt="0"/>
      <dgm:spPr/>
    </dgm:pt>
    <dgm:pt modelId="{44393C05-88C5-458F-978A-CC2544F31C92}" type="pres">
      <dgm:prSet presAssocID="{D9BAC010-7DDA-4DCF-9BE1-A0BBF88B3367}" presName="Name111" presStyleLbl="parChTrans1D3" presStyleIdx="5" presStyleCnt="8"/>
      <dgm:spPr/>
      <dgm:t>
        <a:bodyPr/>
        <a:lstStyle/>
        <a:p>
          <a:endParaRPr lang="pt-BR"/>
        </a:p>
      </dgm:t>
    </dgm:pt>
    <dgm:pt modelId="{DFCF6BA3-881D-4862-9EB6-BA74CE8E78D9}" type="pres">
      <dgm:prSet presAssocID="{F0D1E038-7850-4C2E-BE19-80CC81851628}" presName="hierRoot3" presStyleCnt="0">
        <dgm:presLayoutVars>
          <dgm:hierBranch val="init"/>
        </dgm:presLayoutVars>
      </dgm:prSet>
      <dgm:spPr/>
    </dgm:pt>
    <dgm:pt modelId="{B756CEE9-0841-4B4C-BCA7-1EC9549F1455}" type="pres">
      <dgm:prSet presAssocID="{F0D1E038-7850-4C2E-BE19-80CC81851628}" presName="rootComposite3" presStyleCnt="0"/>
      <dgm:spPr/>
    </dgm:pt>
    <dgm:pt modelId="{94FE12DD-CFD1-4AD0-81DF-E453D706F1AC}" type="pres">
      <dgm:prSet presAssocID="{F0D1E038-7850-4C2E-BE19-80CC81851628}" presName="rootText3" presStyleLbl="asst1" presStyleIdx="8" presStyleCnt="12" custScaleX="458813" custScaleY="265606" custLinFactX="280805" custLinFactY="100000" custLinFactNeighborX="300000" custLinFactNeighborY="127954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CE5F105A-836A-4D36-89E6-4E1EF4F08685}" type="pres">
      <dgm:prSet presAssocID="{F0D1E038-7850-4C2E-BE19-80CC81851628}" presName="rootConnector3" presStyleLbl="asst1" presStyleIdx="8" presStyleCnt="12"/>
      <dgm:spPr/>
      <dgm:t>
        <a:bodyPr/>
        <a:lstStyle/>
        <a:p>
          <a:endParaRPr lang="pt-BR"/>
        </a:p>
      </dgm:t>
    </dgm:pt>
    <dgm:pt modelId="{C832E91E-A90B-4FAB-A4FA-901E0695F95D}" type="pres">
      <dgm:prSet presAssocID="{F0D1E038-7850-4C2E-BE19-80CC81851628}" presName="hierChild6" presStyleCnt="0"/>
      <dgm:spPr/>
    </dgm:pt>
    <dgm:pt modelId="{977538E5-325D-4325-B368-FDEEED6C4C6B}" type="pres">
      <dgm:prSet presAssocID="{F0D1E038-7850-4C2E-BE19-80CC81851628}" presName="hierChild7" presStyleCnt="0"/>
      <dgm:spPr/>
    </dgm:pt>
    <dgm:pt modelId="{90621CA7-0918-497A-8A41-BC96046E9A65}" type="pres">
      <dgm:prSet presAssocID="{ABEE004E-3FA2-4626-B375-2FD06EF88465}" presName="Name111" presStyleLbl="parChTrans1D2" presStyleIdx="3" presStyleCnt="5"/>
      <dgm:spPr/>
      <dgm:t>
        <a:bodyPr/>
        <a:lstStyle/>
        <a:p>
          <a:endParaRPr lang="pt-BR"/>
        </a:p>
      </dgm:t>
    </dgm:pt>
    <dgm:pt modelId="{5057380B-130B-4C2A-8B17-5ED6AE5343DF}" type="pres">
      <dgm:prSet presAssocID="{53AF4635-E89B-4A11-9DF7-528F48ED723F}" presName="hierRoot3" presStyleCnt="0">
        <dgm:presLayoutVars>
          <dgm:hierBranch val="init"/>
        </dgm:presLayoutVars>
      </dgm:prSet>
      <dgm:spPr/>
    </dgm:pt>
    <dgm:pt modelId="{A4FEB663-6754-4CF1-BFAD-209E63AF8634}" type="pres">
      <dgm:prSet presAssocID="{53AF4635-E89B-4A11-9DF7-528F48ED723F}" presName="rootComposite3" presStyleCnt="0"/>
      <dgm:spPr/>
    </dgm:pt>
    <dgm:pt modelId="{C1785D80-840A-4A4B-A7F1-97DA71E6AA0C}" type="pres">
      <dgm:prSet presAssocID="{53AF4635-E89B-4A11-9DF7-528F48ED723F}" presName="rootText3" presStyleLbl="asst1" presStyleIdx="9" presStyleCnt="12" custLinFactNeighborX="-37620" custLinFactNeighborY="-17832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2C76395C-86F9-4E93-8A01-91939500E36F}" type="pres">
      <dgm:prSet presAssocID="{53AF4635-E89B-4A11-9DF7-528F48ED723F}" presName="rootConnector3" presStyleLbl="asst1" presStyleIdx="9" presStyleCnt="12"/>
      <dgm:spPr/>
      <dgm:t>
        <a:bodyPr/>
        <a:lstStyle/>
        <a:p>
          <a:endParaRPr lang="pt-BR"/>
        </a:p>
      </dgm:t>
    </dgm:pt>
    <dgm:pt modelId="{DDE22719-50AD-471A-BECE-782BD82FCD1F}" type="pres">
      <dgm:prSet presAssocID="{53AF4635-E89B-4A11-9DF7-528F48ED723F}" presName="hierChild6" presStyleCnt="0"/>
      <dgm:spPr/>
    </dgm:pt>
    <dgm:pt modelId="{F70742BA-641C-4C3B-9155-231DF62ABEAF}" type="pres">
      <dgm:prSet presAssocID="{53AF4635-E89B-4A11-9DF7-528F48ED723F}" presName="hierChild7" presStyleCnt="0"/>
      <dgm:spPr/>
    </dgm:pt>
    <dgm:pt modelId="{A5CFFAC5-41DD-4BF2-9695-185FF182223D}" type="pres">
      <dgm:prSet presAssocID="{FF0D1C86-7CCD-4696-8611-BDF524765A8E}" presName="Name111" presStyleLbl="parChTrans1D3" presStyleIdx="6" presStyleCnt="8"/>
      <dgm:spPr/>
      <dgm:t>
        <a:bodyPr/>
        <a:lstStyle/>
        <a:p>
          <a:endParaRPr lang="pt-BR"/>
        </a:p>
      </dgm:t>
    </dgm:pt>
    <dgm:pt modelId="{26D26DF5-CBC5-4323-AB7E-372FDD65E7C8}" type="pres">
      <dgm:prSet presAssocID="{C7CA4687-40E3-433A-9241-B9F03F3EAD38}" presName="hierRoot3" presStyleCnt="0">
        <dgm:presLayoutVars>
          <dgm:hierBranch val="init"/>
        </dgm:presLayoutVars>
      </dgm:prSet>
      <dgm:spPr/>
    </dgm:pt>
    <dgm:pt modelId="{8363BE9D-2A50-48EA-8AD4-A5C3C93B6789}" type="pres">
      <dgm:prSet presAssocID="{C7CA4687-40E3-433A-9241-B9F03F3EAD38}" presName="rootComposite3" presStyleCnt="0"/>
      <dgm:spPr/>
    </dgm:pt>
    <dgm:pt modelId="{2ED821C7-80B2-40FE-99FF-97AC12ED724A}" type="pres">
      <dgm:prSet presAssocID="{C7CA4687-40E3-433A-9241-B9F03F3EAD38}" presName="rootText3" presStyleLbl="asst1" presStyleIdx="10" presStyleCnt="12" custScaleX="283807" custScaleY="260120" custLinFactX="-39552" custLinFactY="100000" custLinFactNeighborX="-100000" custLinFactNeighborY="127954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AE2BD6DF-5064-4C31-B73B-2D77FED75DAE}" type="pres">
      <dgm:prSet presAssocID="{C7CA4687-40E3-433A-9241-B9F03F3EAD38}" presName="rootConnector3" presStyleLbl="asst1" presStyleIdx="10" presStyleCnt="12"/>
      <dgm:spPr/>
      <dgm:t>
        <a:bodyPr/>
        <a:lstStyle/>
        <a:p>
          <a:endParaRPr lang="pt-BR"/>
        </a:p>
      </dgm:t>
    </dgm:pt>
    <dgm:pt modelId="{BDBCA21F-8FE1-4A50-908E-9A28DBF4FC7B}" type="pres">
      <dgm:prSet presAssocID="{C7CA4687-40E3-433A-9241-B9F03F3EAD38}" presName="hierChild6" presStyleCnt="0"/>
      <dgm:spPr/>
    </dgm:pt>
    <dgm:pt modelId="{23B9455A-E09F-46D3-A310-C6C6BF221558}" type="pres">
      <dgm:prSet presAssocID="{C7CA4687-40E3-433A-9241-B9F03F3EAD38}" presName="hierChild7" presStyleCnt="0"/>
      <dgm:spPr/>
    </dgm:pt>
    <dgm:pt modelId="{98946FA4-FF01-44F8-A816-0FB01235D9F4}" type="pres">
      <dgm:prSet presAssocID="{E710DD9F-949B-4BFE-AC05-D574BC0F45D5}" presName="Name111" presStyleLbl="parChTrans1D2" presStyleIdx="4" presStyleCnt="5"/>
      <dgm:spPr/>
      <dgm:t>
        <a:bodyPr/>
        <a:lstStyle/>
        <a:p>
          <a:endParaRPr lang="pt-BR"/>
        </a:p>
      </dgm:t>
    </dgm:pt>
    <dgm:pt modelId="{44B846DE-16D3-42F0-8D4C-DC71AC865D79}" type="pres">
      <dgm:prSet presAssocID="{EBBC1E85-1580-48AC-BD88-DBFE3CBE0E9C}" presName="hierRoot3" presStyleCnt="0">
        <dgm:presLayoutVars>
          <dgm:hierBranch val="init"/>
        </dgm:presLayoutVars>
      </dgm:prSet>
      <dgm:spPr/>
    </dgm:pt>
    <dgm:pt modelId="{C64A44B4-2DF9-482F-85BE-8E9D22D9CF97}" type="pres">
      <dgm:prSet presAssocID="{EBBC1E85-1580-48AC-BD88-DBFE3CBE0E9C}" presName="rootComposite3" presStyleCnt="0"/>
      <dgm:spPr/>
    </dgm:pt>
    <dgm:pt modelId="{0A9EAC71-F718-4F40-AC47-C6906E606364}" type="pres">
      <dgm:prSet presAssocID="{EBBC1E85-1580-48AC-BD88-DBFE3CBE0E9C}" presName="rootText3" presStyleLbl="asst1" presStyleIdx="11" presStyleCnt="12" custLinFactX="100000" custLinFactY="-200000" custLinFactNeighborX="162266" custLinFactNeighborY="-267438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EC134EEF-100F-4224-B682-305CAAE00CAA}" type="pres">
      <dgm:prSet presAssocID="{EBBC1E85-1580-48AC-BD88-DBFE3CBE0E9C}" presName="rootConnector3" presStyleLbl="asst1" presStyleIdx="11" presStyleCnt="12"/>
      <dgm:spPr/>
      <dgm:t>
        <a:bodyPr/>
        <a:lstStyle/>
        <a:p>
          <a:endParaRPr lang="pt-BR"/>
        </a:p>
      </dgm:t>
    </dgm:pt>
    <dgm:pt modelId="{EF2FC4E4-6D50-49A5-8E8F-B803D146B5A2}" type="pres">
      <dgm:prSet presAssocID="{EBBC1E85-1580-48AC-BD88-DBFE3CBE0E9C}" presName="hierChild6" presStyleCnt="0"/>
      <dgm:spPr/>
    </dgm:pt>
    <dgm:pt modelId="{61BA1FC6-3FCD-4F85-8278-2AF243A62432}" type="pres">
      <dgm:prSet presAssocID="{6F00EFAF-E822-4EBD-8ED3-F046895DCC0F}" presName="Name37" presStyleLbl="parChTrans1D3" presStyleIdx="7" presStyleCnt="8"/>
      <dgm:spPr/>
      <dgm:t>
        <a:bodyPr/>
        <a:lstStyle/>
        <a:p>
          <a:endParaRPr lang="pt-BR"/>
        </a:p>
      </dgm:t>
    </dgm:pt>
    <dgm:pt modelId="{BBBC8705-1CC2-4134-805B-9E92F4197D25}" type="pres">
      <dgm:prSet presAssocID="{61E71532-F9B7-4330-89DC-55CEDF3E8A76}" presName="hierRoot2" presStyleCnt="0">
        <dgm:presLayoutVars>
          <dgm:hierBranch val="init"/>
        </dgm:presLayoutVars>
      </dgm:prSet>
      <dgm:spPr/>
    </dgm:pt>
    <dgm:pt modelId="{DF50BCA8-AF90-4B39-BAE2-AB04CE53690C}" type="pres">
      <dgm:prSet presAssocID="{61E71532-F9B7-4330-89DC-55CEDF3E8A76}" presName="rootComposite" presStyleCnt="0"/>
      <dgm:spPr/>
    </dgm:pt>
    <dgm:pt modelId="{8C0FCD44-3DED-4FA4-A3A7-4A5A413BC095}" type="pres">
      <dgm:prSet presAssocID="{61E71532-F9B7-4330-89DC-55CEDF3E8A76}" presName="rootText" presStyleLbl="node3" presStyleIdx="0" presStyleCnt="1" custScaleX="376269" custScaleY="261060" custLinFactX="200000" custLinFactY="-100000" custLinFactNeighborX="260407" custLinFactNeighborY="-121652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E2B725CD-3209-4ABC-BC0E-E57A4298078D}" type="pres">
      <dgm:prSet presAssocID="{61E71532-F9B7-4330-89DC-55CEDF3E8A76}" presName="rootConnector" presStyleLbl="node3" presStyleIdx="0" presStyleCnt="1"/>
      <dgm:spPr/>
      <dgm:t>
        <a:bodyPr/>
        <a:lstStyle/>
        <a:p>
          <a:endParaRPr lang="pt-BR"/>
        </a:p>
      </dgm:t>
    </dgm:pt>
    <dgm:pt modelId="{B644D81A-4BC9-4F1E-98CF-683898844BFC}" type="pres">
      <dgm:prSet presAssocID="{61E71532-F9B7-4330-89DC-55CEDF3E8A76}" presName="hierChild4" presStyleCnt="0"/>
      <dgm:spPr/>
    </dgm:pt>
    <dgm:pt modelId="{08127EB3-F5D0-4C48-911A-FD030E396821}" type="pres">
      <dgm:prSet presAssocID="{61E71532-F9B7-4330-89DC-55CEDF3E8A76}" presName="hierChild5" presStyleCnt="0"/>
      <dgm:spPr/>
    </dgm:pt>
    <dgm:pt modelId="{2E4057FC-7334-4558-BF5D-60A7B9D67329}" type="pres">
      <dgm:prSet presAssocID="{EBBC1E85-1580-48AC-BD88-DBFE3CBE0E9C}" presName="hierChild7" presStyleCnt="0"/>
      <dgm:spPr/>
    </dgm:pt>
  </dgm:ptLst>
  <dgm:cxnLst>
    <dgm:cxn modelId="{37B05821-642C-45F6-985C-9B9001BC9062}" type="presOf" srcId="{D9BAC010-7DDA-4DCF-9BE1-A0BBF88B3367}" destId="{44393C05-88C5-458F-978A-CC2544F31C92}" srcOrd="0" destOrd="0" presId="urn:microsoft.com/office/officeart/2005/8/layout/orgChart1"/>
    <dgm:cxn modelId="{DF9338C7-2BA9-4026-A3B7-FEDA1DBDD91C}" type="presOf" srcId="{6F00EFAF-E822-4EBD-8ED3-F046895DCC0F}" destId="{61BA1FC6-3FCD-4F85-8278-2AF243A62432}" srcOrd="0" destOrd="0" presId="urn:microsoft.com/office/officeart/2005/8/layout/orgChart1"/>
    <dgm:cxn modelId="{C82EAF06-1F69-444F-8A94-40D4C4F5930E}" srcId="{DFAE7C13-B898-4320-B5ED-F4585BEE5C61}" destId="{3E92D2BB-00DC-4A38-8B5E-220286CF52F1}" srcOrd="0" destOrd="0" parTransId="{03ADB790-4A00-4D44-B1E2-B9B9F4E46601}" sibTransId="{C9BA5285-81BD-4B52-92E5-53A5354694EF}"/>
    <dgm:cxn modelId="{580DAE5C-E82F-4F57-BCF7-26C15A1B8E4A}" type="presOf" srcId="{DFAE7C13-B898-4320-B5ED-F4585BEE5C61}" destId="{34A3A65C-A0F6-47C2-9588-B364220EABA2}" srcOrd="1" destOrd="0" presId="urn:microsoft.com/office/officeart/2005/8/layout/orgChart1"/>
    <dgm:cxn modelId="{4D02E753-CFDF-4BCD-AC27-DD8CD958BA3A}" srcId="{3E92D2BB-00DC-4A38-8B5E-220286CF52F1}" destId="{60C03664-218A-4133-A20B-707136B5B50D}" srcOrd="1" destOrd="0" parTransId="{4B22040E-A139-4E9D-BD81-CE33BAEB53CA}" sibTransId="{B24B7FF0-79D8-430C-A6BE-684F78866A22}"/>
    <dgm:cxn modelId="{AEC47DD0-90CB-47A2-B131-4D133FD49D82}" type="presOf" srcId="{C7CA4687-40E3-433A-9241-B9F03F3EAD38}" destId="{2ED821C7-80B2-40FE-99FF-97AC12ED724A}" srcOrd="0" destOrd="0" presId="urn:microsoft.com/office/officeart/2005/8/layout/orgChart1"/>
    <dgm:cxn modelId="{21118634-8D16-4877-9871-5F47DFC374FE}" type="presOf" srcId="{ABEE004E-3FA2-4626-B375-2FD06EF88465}" destId="{90621CA7-0918-497A-8A41-BC96046E9A65}" srcOrd="0" destOrd="0" presId="urn:microsoft.com/office/officeart/2005/8/layout/orgChart1"/>
    <dgm:cxn modelId="{59EB4CA3-25F3-4282-9671-9F813B343F51}" type="presOf" srcId="{53AF4635-E89B-4A11-9DF7-528F48ED723F}" destId="{2C76395C-86F9-4E93-8A01-91939500E36F}" srcOrd="1" destOrd="0" presId="urn:microsoft.com/office/officeart/2005/8/layout/orgChart1"/>
    <dgm:cxn modelId="{51B65B7C-33CA-4231-AE79-1A519F70198E}" type="presOf" srcId="{31F61DC9-FC95-4CFD-846B-53295F67DD33}" destId="{857A0A2E-846C-4FAC-917A-8683FEEB7D7B}" srcOrd="0" destOrd="0" presId="urn:microsoft.com/office/officeart/2005/8/layout/orgChart1"/>
    <dgm:cxn modelId="{EFD958E1-6EE3-43DA-BF0D-14488AB1F0F1}" type="presOf" srcId="{60C03664-218A-4133-A20B-707136B5B50D}" destId="{7B39C473-8DC8-4D70-88BB-E3A5BA60A147}" srcOrd="0" destOrd="0" presId="urn:microsoft.com/office/officeart/2005/8/layout/orgChart1"/>
    <dgm:cxn modelId="{4519A1A9-F5C3-490C-BF68-7CEDB771466E}" srcId="{DFAE7C13-B898-4320-B5ED-F4585BEE5C61}" destId="{8B2A7BEB-FF11-4C4A-9DB5-033A59D1AF13}" srcOrd="2" destOrd="0" parTransId="{8B74B2B5-F799-46BE-B431-AF9E6484AC7E}" sibTransId="{64D3E0F3-041B-486F-ADAC-BACC79DD4317}"/>
    <dgm:cxn modelId="{AAA3998D-797B-4B53-A469-8804A00F2442}" type="presOf" srcId="{E710DD9F-949B-4BFE-AC05-D574BC0F45D5}" destId="{98946FA4-FF01-44F8-A816-0FB01235D9F4}" srcOrd="0" destOrd="0" presId="urn:microsoft.com/office/officeart/2005/8/layout/orgChart1"/>
    <dgm:cxn modelId="{9FB90D8B-EBC6-4744-918A-A6C1741C0A8F}" type="presOf" srcId="{61E71532-F9B7-4330-89DC-55CEDF3E8A76}" destId="{8C0FCD44-3DED-4FA4-A3A7-4A5A413BC095}" srcOrd="0" destOrd="0" presId="urn:microsoft.com/office/officeart/2005/8/layout/orgChart1"/>
    <dgm:cxn modelId="{7AD5F6EC-ED0A-4C99-88FC-CC2F5A5390BB}" type="presOf" srcId="{61E71532-F9B7-4330-89DC-55CEDF3E8A76}" destId="{E2B725CD-3209-4ABC-BC0E-E57A4298078D}" srcOrd="1" destOrd="0" presId="urn:microsoft.com/office/officeart/2005/8/layout/orgChart1"/>
    <dgm:cxn modelId="{78489B5F-F8CD-4CDB-B908-6E1F783D3819}" srcId="{3E92D2BB-00DC-4A38-8B5E-220286CF52F1}" destId="{B5D8FD6A-5FF9-4722-B230-868CDF05063B}" srcOrd="0" destOrd="0" parTransId="{E7262EC7-6E1C-469C-961C-69B4DA48B6C4}" sibTransId="{029B333C-BF30-4396-92F3-DA9EAB39ACC9}"/>
    <dgm:cxn modelId="{32824AC1-3405-45E8-894B-9E39ECDB7183}" srcId="{3E92D2BB-00DC-4A38-8B5E-220286CF52F1}" destId="{C65EF075-B56E-4263-A150-B1D73A93F77B}" srcOrd="4" destOrd="0" parTransId="{04359F4C-3261-4298-A492-E6646B73E78E}" sibTransId="{62CBE768-2598-46A3-860C-C946A0736714}"/>
    <dgm:cxn modelId="{CB1614D5-72AB-4A12-AB8E-CE7D5D03DF07}" type="presOf" srcId="{720BC6DE-9898-49C8-93DF-B1CCCE9A515A}" destId="{42EDF4B7-EA14-4A3B-B6B5-64F1479AE693}" srcOrd="0" destOrd="0" presId="urn:microsoft.com/office/officeart/2005/8/layout/orgChart1"/>
    <dgm:cxn modelId="{C4E5361D-F567-4CAA-962F-BFB9DC4F5CDD}" srcId="{DFAE7C13-B898-4320-B5ED-F4585BEE5C61}" destId="{2086FC96-EA40-4C3A-B856-177C4079403C}" srcOrd="1" destOrd="0" parTransId="{B1B9F7E3-F653-432B-BB7A-0D822FB119EA}" sibTransId="{A10DEEDE-C9D4-4E6B-8255-AA8A23B18C8E}"/>
    <dgm:cxn modelId="{0C61C4B1-795B-4EA3-B0FC-800A5D83ABFF}" srcId="{31F61DC9-FC95-4CFD-846B-53295F67DD33}" destId="{DFAE7C13-B898-4320-B5ED-F4585BEE5C61}" srcOrd="0" destOrd="0" parTransId="{005A23AC-EC19-45C4-AC8B-8F280A5E52E9}" sibTransId="{1DCE4D59-655F-4D34-B9EB-35986A0EDB54}"/>
    <dgm:cxn modelId="{ACB3D725-F60B-42B3-8866-A858016284F4}" srcId="{3E92D2BB-00DC-4A38-8B5E-220286CF52F1}" destId="{F4705B90-5194-4E77-B327-1F257D959F27}" srcOrd="3" destOrd="0" parTransId="{1C11E201-0AA8-4ACE-BB35-2BC5F55FA524}" sibTransId="{0775D99A-46DE-4A8B-9853-255BECB2CFC8}"/>
    <dgm:cxn modelId="{50BC2F18-EF15-42E2-8E76-A2DADC468CFA}" type="presOf" srcId="{1C11E201-0AA8-4ACE-BB35-2BC5F55FA524}" destId="{17FC3DAF-6FD5-4FF5-A049-E6529D50FE3A}" srcOrd="0" destOrd="0" presId="urn:microsoft.com/office/officeart/2005/8/layout/orgChart1"/>
    <dgm:cxn modelId="{6E9A7617-3379-43F3-A2F7-D3C0FED56B48}" type="presOf" srcId="{C65EF075-B56E-4263-A150-B1D73A93F77B}" destId="{D026857A-AAF3-4636-99C2-B2BBF3F6DD67}" srcOrd="1" destOrd="0" presId="urn:microsoft.com/office/officeart/2005/8/layout/orgChart1"/>
    <dgm:cxn modelId="{BBC3C567-A332-4DD9-90CE-580D0DADF70A}" type="presOf" srcId="{2086FC96-EA40-4C3A-B856-177C4079403C}" destId="{F959EA60-AF02-4FCF-9FA9-53438B14089A}" srcOrd="1" destOrd="0" presId="urn:microsoft.com/office/officeart/2005/8/layout/orgChart1"/>
    <dgm:cxn modelId="{FFD5568C-83F9-45F8-B696-326EE28F9017}" type="presOf" srcId="{F0D1E038-7850-4C2E-BE19-80CC81851628}" destId="{94FE12DD-CFD1-4AD0-81DF-E453D706F1AC}" srcOrd="0" destOrd="0" presId="urn:microsoft.com/office/officeart/2005/8/layout/orgChart1"/>
    <dgm:cxn modelId="{2F8F21E9-0CDB-4367-8706-5BB378402B21}" type="presOf" srcId="{C65EF075-B56E-4263-A150-B1D73A93F77B}" destId="{21F2D394-E1BC-4F51-B311-1F151B198CFC}" srcOrd="0" destOrd="0" presId="urn:microsoft.com/office/officeart/2005/8/layout/orgChart1"/>
    <dgm:cxn modelId="{A78F3235-F9A6-4216-ABDB-FD884C75E631}" srcId="{DFAE7C13-B898-4320-B5ED-F4585BEE5C61}" destId="{53AF4635-E89B-4A11-9DF7-528F48ED723F}" srcOrd="3" destOrd="0" parTransId="{ABEE004E-3FA2-4626-B375-2FD06EF88465}" sibTransId="{315D4609-DB01-4284-8C3F-3816EFF0737E}"/>
    <dgm:cxn modelId="{1CFBE81B-CBBA-4F76-974C-2E95F790AD78}" type="presOf" srcId="{FF0D1C86-7CCD-4696-8611-BDF524765A8E}" destId="{A5CFFAC5-41DD-4BF2-9695-185FF182223D}" srcOrd="0" destOrd="0" presId="urn:microsoft.com/office/officeart/2005/8/layout/orgChart1"/>
    <dgm:cxn modelId="{2F08E2B0-52CC-4FA9-B72E-FC0B60563864}" type="presOf" srcId="{8B74B2B5-F799-46BE-B431-AF9E6484AC7E}" destId="{B802D1BB-DDB9-4713-9296-33D87834DD35}" srcOrd="0" destOrd="0" presId="urn:microsoft.com/office/officeart/2005/8/layout/orgChart1"/>
    <dgm:cxn modelId="{AFB93652-B460-41AE-9891-ABF53F8ED399}" srcId="{DFAE7C13-B898-4320-B5ED-F4585BEE5C61}" destId="{EBBC1E85-1580-48AC-BD88-DBFE3CBE0E9C}" srcOrd="4" destOrd="0" parTransId="{E710DD9F-949B-4BFE-AC05-D574BC0F45D5}" sibTransId="{6803B6F7-69B9-41CB-AA6E-32F1B1ACF211}"/>
    <dgm:cxn modelId="{EADDAB3C-A8F5-413D-BA63-F9FD9F0C3AC7}" type="presOf" srcId="{B5D8FD6A-5FF9-4722-B230-868CDF05063B}" destId="{BA4745D2-743B-416D-858E-6AF7D19E2526}" srcOrd="0" destOrd="0" presId="urn:microsoft.com/office/officeart/2005/8/layout/orgChart1"/>
    <dgm:cxn modelId="{68E63FFE-33BE-4A7F-B59E-0F02C598F958}" type="presOf" srcId="{8B2A7BEB-FF11-4C4A-9DB5-033A59D1AF13}" destId="{ECA27AFF-6944-45C4-94FD-70C9E605BBBB}" srcOrd="1" destOrd="0" presId="urn:microsoft.com/office/officeart/2005/8/layout/orgChart1"/>
    <dgm:cxn modelId="{CEEC3BC8-C8E2-43BD-985F-08EDFE732351}" srcId="{3E92D2BB-00DC-4A38-8B5E-220286CF52F1}" destId="{720BC6DE-9898-49C8-93DF-B1CCCE9A515A}" srcOrd="2" destOrd="0" parTransId="{260EC501-6A9E-44F7-8E95-15A049092BB4}" sibTransId="{A2EC5E7D-B75E-4E16-909B-5EF22003F7C1}"/>
    <dgm:cxn modelId="{15859CA7-FB1F-4B42-B4BC-6890C0847B40}" type="presOf" srcId="{F4705B90-5194-4E77-B327-1F257D959F27}" destId="{8656152A-90E2-4201-9190-4E2E2BA26A34}" srcOrd="1" destOrd="0" presId="urn:microsoft.com/office/officeart/2005/8/layout/orgChart1"/>
    <dgm:cxn modelId="{FE03856E-AF96-4647-89E2-391F2615708A}" type="presOf" srcId="{04359F4C-3261-4298-A492-E6646B73E78E}" destId="{F049C071-11DA-4458-8219-9C1C073FE418}" srcOrd="0" destOrd="0" presId="urn:microsoft.com/office/officeart/2005/8/layout/orgChart1"/>
    <dgm:cxn modelId="{10420DC7-1179-41C0-BBAE-D382CA62456A}" type="presOf" srcId="{F4705B90-5194-4E77-B327-1F257D959F27}" destId="{18D68726-AE10-407C-BD1A-C88AD78F62F6}" srcOrd="0" destOrd="0" presId="urn:microsoft.com/office/officeart/2005/8/layout/orgChart1"/>
    <dgm:cxn modelId="{BD4D3329-E18D-42E7-8B40-6CDDFF1A0583}" type="presOf" srcId="{720BC6DE-9898-49C8-93DF-B1CCCE9A515A}" destId="{FFE73F30-CC77-4DB0-9C87-2C7B6DD7562A}" srcOrd="1" destOrd="0" presId="urn:microsoft.com/office/officeart/2005/8/layout/orgChart1"/>
    <dgm:cxn modelId="{6E6EC56D-4BEE-4454-8C8B-FDF663FA0096}" type="presOf" srcId="{8B2A7BEB-FF11-4C4A-9DB5-033A59D1AF13}" destId="{7D0DA54C-6125-46E2-9094-CDC349D38211}" srcOrd="0" destOrd="0" presId="urn:microsoft.com/office/officeart/2005/8/layout/orgChart1"/>
    <dgm:cxn modelId="{D82AFED9-AD52-49C8-A60B-DF898F4CA3CC}" type="presOf" srcId="{3E92D2BB-00DC-4A38-8B5E-220286CF52F1}" destId="{80D218D1-5428-4C90-B772-7A728119ED72}" srcOrd="1" destOrd="0" presId="urn:microsoft.com/office/officeart/2005/8/layout/orgChart1"/>
    <dgm:cxn modelId="{DF9228A0-FEC3-4BD3-BAEC-55B0CADE143E}" srcId="{53AF4635-E89B-4A11-9DF7-528F48ED723F}" destId="{C7CA4687-40E3-433A-9241-B9F03F3EAD38}" srcOrd="0" destOrd="0" parTransId="{FF0D1C86-7CCD-4696-8611-BDF524765A8E}" sibTransId="{D5CAD4E4-3930-4128-B5F8-7CB4C988C80C}"/>
    <dgm:cxn modelId="{65CD063E-6179-4214-BB3F-226E25D64290}" type="presOf" srcId="{F0D1E038-7850-4C2E-BE19-80CC81851628}" destId="{CE5F105A-836A-4D36-89E6-4E1EF4F08685}" srcOrd="1" destOrd="0" presId="urn:microsoft.com/office/officeart/2005/8/layout/orgChart1"/>
    <dgm:cxn modelId="{B795CB15-C64D-4144-AC28-5B283ACF469E}" type="presOf" srcId="{B1B9F7E3-F653-432B-BB7A-0D822FB119EA}" destId="{44E407C6-E418-4B2C-8514-ED22915CE45D}" srcOrd="0" destOrd="0" presId="urn:microsoft.com/office/officeart/2005/8/layout/orgChart1"/>
    <dgm:cxn modelId="{96C0F33B-B609-4842-A021-A4A25A77D241}" type="presOf" srcId="{DFAE7C13-B898-4320-B5ED-F4585BEE5C61}" destId="{A729E0A2-44CD-4B37-9E3A-EE62EE031A0C}" srcOrd="0" destOrd="0" presId="urn:microsoft.com/office/officeart/2005/8/layout/orgChart1"/>
    <dgm:cxn modelId="{6BA7A489-ADFE-4B68-90D0-C14D35B42536}" type="presOf" srcId="{2086FC96-EA40-4C3A-B856-177C4079403C}" destId="{199B4936-3A09-44C8-AA5F-740B50DD5D6F}" srcOrd="0" destOrd="0" presId="urn:microsoft.com/office/officeart/2005/8/layout/orgChart1"/>
    <dgm:cxn modelId="{026CBA6E-4CF9-45EE-A630-79635D49CDBC}" srcId="{EBBC1E85-1580-48AC-BD88-DBFE3CBE0E9C}" destId="{61E71532-F9B7-4330-89DC-55CEDF3E8A76}" srcOrd="0" destOrd="0" parTransId="{6F00EFAF-E822-4EBD-8ED3-F046895DCC0F}" sibTransId="{C640355D-35D3-48B6-A398-107C4D8F2569}"/>
    <dgm:cxn modelId="{7B1C1A5C-9882-4108-828D-6116567AB938}" type="presOf" srcId="{03ADB790-4A00-4D44-B1E2-B9B9F4E46601}" destId="{3BD112F1-8D02-4818-9227-F1503DD1DE71}" srcOrd="0" destOrd="0" presId="urn:microsoft.com/office/officeart/2005/8/layout/orgChart1"/>
    <dgm:cxn modelId="{052A271E-6210-4E05-912B-09D4197DDADE}" srcId="{8B2A7BEB-FF11-4C4A-9DB5-033A59D1AF13}" destId="{F0D1E038-7850-4C2E-BE19-80CC81851628}" srcOrd="0" destOrd="0" parTransId="{D9BAC010-7DDA-4DCF-9BE1-A0BBF88B3367}" sibTransId="{1D334C9B-219E-4B55-B8C1-1DD782E2D18D}"/>
    <dgm:cxn modelId="{A5A405E0-3FD2-42F8-A613-98002B694FE2}" type="presOf" srcId="{60C03664-218A-4133-A20B-707136B5B50D}" destId="{8027E9C0-79FE-4A2A-A3FB-8B676001107E}" srcOrd="1" destOrd="0" presId="urn:microsoft.com/office/officeart/2005/8/layout/orgChart1"/>
    <dgm:cxn modelId="{5F6EB39C-96B1-43C2-94A5-D904B4B909C2}" type="presOf" srcId="{3E92D2BB-00DC-4A38-8B5E-220286CF52F1}" destId="{37FD95AB-59B9-4475-8B7C-FB46CE05C24C}" srcOrd="0" destOrd="0" presId="urn:microsoft.com/office/officeart/2005/8/layout/orgChart1"/>
    <dgm:cxn modelId="{398C0764-9DF0-4F03-BBF7-D5B04886945D}" type="presOf" srcId="{53AF4635-E89B-4A11-9DF7-528F48ED723F}" destId="{C1785D80-840A-4A4B-A7F1-97DA71E6AA0C}" srcOrd="0" destOrd="0" presId="urn:microsoft.com/office/officeart/2005/8/layout/orgChart1"/>
    <dgm:cxn modelId="{521DF570-BC56-4A4A-B753-1109257D6404}" type="presOf" srcId="{E7262EC7-6E1C-469C-961C-69B4DA48B6C4}" destId="{12AD7938-D11F-44B2-87B8-A01971076A2C}" srcOrd="0" destOrd="0" presId="urn:microsoft.com/office/officeart/2005/8/layout/orgChart1"/>
    <dgm:cxn modelId="{5AEDFF16-2A65-4B17-887B-E1AEB6B33669}" type="presOf" srcId="{EBBC1E85-1580-48AC-BD88-DBFE3CBE0E9C}" destId="{0A9EAC71-F718-4F40-AC47-C6906E606364}" srcOrd="0" destOrd="0" presId="urn:microsoft.com/office/officeart/2005/8/layout/orgChart1"/>
    <dgm:cxn modelId="{703D2F0A-BD76-435F-B55E-0EF740C38BB2}" type="presOf" srcId="{260EC501-6A9E-44F7-8E95-15A049092BB4}" destId="{0246B5F5-A3FF-4C08-A55B-3C666C04DE93}" srcOrd="0" destOrd="0" presId="urn:microsoft.com/office/officeart/2005/8/layout/orgChart1"/>
    <dgm:cxn modelId="{97691F85-1243-4D59-95A9-32931BD9EDE3}" type="presOf" srcId="{B5D8FD6A-5FF9-4722-B230-868CDF05063B}" destId="{648F787D-574C-41BA-B585-ADBD823801D0}" srcOrd="1" destOrd="0" presId="urn:microsoft.com/office/officeart/2005/8/layout/orgChart1"/>
    <dgm:cxn modelId="{AF4DC6D8-34B5-4A2D-B120-672D60E4CFF2}" type="presOf" srcId="{C7CA4687-40E3-433A-9241-B9F03F3EAD38}" destId="{AE2BD6DF-5064-4C31-B73B-2D77FED75DAE}" srcOrd="1" destOrd="0" presId="urn:microsoft.com/office/officeart/2005/8/layout/orgChart1"/>
    <dgm:cxn modelId="{1AB2DFAB-785D-4924-8776-735D8740CEF1}" type="presOf" srcId="{EBBC1E85-1580-48AC-BD88-DBFE3CBE0E9C}" destId="{EC134EEF-100F-4224-B682-305CAAE00CAA}" srcOrd="1" destOrd="0" presId="urn:microsoft.com/office/officeart/2005/8/layout/orgChart1"/>
    <dgm:cxn modelId="{6DCEE48F-B4AB-4B52-97C4-520B5F632A2F}" type="presOf" srcId="{4B22040E-A139-4E9D-BD81-CE33BAEB53CA}" destId="{1E35B068-4819-4FA1-8289-157FCAA9B824}" srcOrd="0" destOrd="0" presId="urn:microsoft.com/office/officeart/2005/8/layout/orgChart1"/>
    <dgm:cxn modelId="{0C971938-84E8-403C-A0F3-9B47DF93454C}" type="presParOf" srcId="{857A0A2E-846C-4FAC-917A-8683FEEB7D7B}" destId="{849181E5-D673-439A-8EA4-B94D0E16F37C}" srcOrd="0" destOrd="0" presId="urn:microsoft.com/office/officeart/2005/8/layout/orgChart1"/>
    <dgm:cxn modelId="{70C0DB8B-6466-4207-814B-2464D8D9B98A}" type="presParOf" srcId="{849181E5-D673-439A-8EA4-B94D0E16F37C}" destId="{124BD7A9-453B-4CFF-8C76-6B6AB11893BF}" srcOrd="0" destOrd="0" presId="urn:microsoft.com/office/officeart/2005/8/layout/orgChart1"/>
    <dgm:cxn modelId="{EAF17383-1370-4886-9FF6-3F63D2AE04E3}" type="presParOf" srcId="{124BD7A9-453B-4CFF-8C76-6B6AB11893BF}" destId="{A729E0A2-44CD-4B37-9E3A-EE62EE031A0C}" srcOrd="0" destOrd="0" presId="urn:microsoft.com/office/officeart/2005/8/layout/orgChart1"/>
    <dgm:cxn modelId="{E98FE806-126A-423F-9DD2-C2A506250D0D}" type="presParOf" srcId="{124BD7A9-453B-4CFF-8C76-6B6AB11893BF}" destId="{34A3A65C-A0F6-47C2-9588-B364220EABA2}" srcOrd="1" destOrd="0" presId="urn:microsoft.com/office/officeart/2005/8/layout/orgChart1"/>
    <dgm:cxn modelId="{39135DEF-B91B-41BA-8A2A-3D158C24AE1B}" type="presParOf" srcId="{849181E5-D673-439A-8EA4-B94D0E16F37C}" destId="{311C17CB-389F-4E50-9C34-916CEA7B2E11}" srcOrd="1" destOrd="0" presId="urn:microsoft.com/office/officeart/2005/8/layout/orgChart1"/>
    <dgm:cxn modelId="{D237BA02-C752-4638-B164-5EAB3C241EB6}" type="presParOf" srcId="{849181E5-D673-439A-8EA4-B94D0E16F37C}" destId="{98420567-600B-4FE4-A1CE-643E2ADE47EA}" srcOrd="2" destOrd="0" presId="urn:microsoft.com/office/officeart/2005/8/layout/orgChart1"/>
    <dgm:cxn modelId="{FACF8D86-DC65-4E8D-AB9F-612EA056F566}" type="presParOf" srcId="{98420567-600B-4FE4-A1CE-643E2ADE47EA}" destId="{3BD112F1-8D02-4818-9227-F1503DD1DE71}" srcOrd="0" destOrd="0" presId="urn:microsoft.com/office/officeart/2005/8/layout/orgChart1"/>
    <dgm:cxn modelId="{C87AD6BE-E5E5-4F35-9171-27AF7E267610}" type="presParOf" srcId="{98420567-600B-4FE4-A1CE-643E2ADE47EA}" destId="{085C2694-AEDA-40C8-AD49-7C0D3EADD662}" srcOrd="1" destOrd="0" presId="urn:microsoft.com/office/officeart/2005/8/layout/orgChart1"/>
    <dgm:cxn modelId="{4E9557F5-1FAB-48B8-82C9-5553EE1DF800}" type="presParOf" srcId="{085C2694-AEDA-40C8-AD49-7C0D3EADD662}" destId="{E54902BE-02D3-44C6-83A1-B5C809214000}" srcOrd="0" destOrd="0" presId="urn:microsoft.com/office/officeart/2005/8/layout/orgChart1"/>
    <dgm:cxn modelId="{9698D1E3-948E-4AB9-882A-9CB0BCF59A81}" type="presParOf" srcId="{E54902BE-02D3-44C6-83A1-B5C809214000}" destId="{37FD95AB-59B9-4475-8B7C-FB46CE05C24C}" srcOrd="0" destOrd="0" presId="urn:microsoft.com/office/officeart/2005/8/layout/orgChart1"/>
    <dgm:cxn modelId="{7C40422A-BDBB-4752-995F-67AA934D1F6B}" type="presParOf" srcId="{E54902BE-02D3-44C6-83A1-B5C809214000}" destId="{80D218D1-5428-4C90-B772-7A728119ED72}" srcOrd="1" destOrd="0" presId="urn:microsoft.com/office/officeart/2005/8/layout/orgChart1"/>
    <dgm:cxn modelId="{3A5DCEB5-B2D3-47D0-89D6-8E4BD4CE8667}" type="presParOf" srcId="{085C2694-AEDA-40C8-AD49-7C0D3EADD662}" destId="{BC822A9B-4C84-4E6D-AF25-132406F1E7DE}" srcOrd="1" destOrd="0" presId="urn:microsoft.com/office/officeart/2005/8/layout/orgChart1"/>
    <dgm:cxn modelId="{B70EBA9D-3EBC-4D9D-A5F0-832FDDAB9791}" type="presParOf" srcId="{085C2694-AEDA-40C8-AD49-7C0D3EADD662}" destId="{997A1ACB-8D03-4884-858F-75D6CDA9ADBF}" srcOrd="2" destOrd="0" presId="urn:microsoft.com/office/officeart/2005/8/layout/orgChart1"/>
    <dgm:cxn modelId="{4EBF51FA-BE6C-4FDD-B8A0-5A8E6CA1C8FC}" type="presParOf" srcId="{997A1ACB-8D03-4884-858F-75D6CDA9ADBF}" destId="{12AD7938-D11F-44B2-87B8-A01971076A2C}" srcOrd="0" destOrd="0" presId="urn:microsoft.com/office/officeart/2005/8/layout/orgChart1"/>
    <dgm:cxn modelId="{89EE47EC-9075-4C03-BD55-E842006E16AC}" type="presParOf" srcId="{997A1ACB-8D03-4884-858F-75D6CDA9ADBF}" destId="{D07B2DCE-0225-4DB1-95F0-D47704560525}" srcOrd="1" destOrd="0" presId="urn:microsoft.com/office/officeart/2005/8/layout/orgChart1"/>
    <dgm:cxn modelId="{B9E80C24-AD98-4859-8F6B-81E0E40A18DF}" type="presParOf" srcId="{D07B2DCE-0225-4DB1-95F0-D47704560525}" destId="{C3F5897E-D0AD-47D0-8BF4-C8BA65D0F096}" srcOrd="0" destOrd="0" presId="urn:microsoft.com/office/officeart/2005/8/layout/orgChart1"/>
    <dgm:cxn modelId="{4E1A628A-BBCE-4273-84A5-C62C71AFF42E}" type="presParOf" srcId="{C3F5897E-D0AD-47D0-8BF4-C8BA65D0F096}" destId="{BA4745D2-743B-416D-858E-6AF7D19E2526}" srcOrd="0" destOrd="0" presId="urn:microsoft.com/office/officeart/2005/8/layout/orgChart1"/>
    <dgm:cxn modelId="{30C9960B-371D-4703-B599-8488D9E47791}" type="presParOf" srcId="{C3F5897E-D0AD-47D0-8BF4-C8BA65D0F096}" destId="{648F787D-574C-41BA-B585-ADBD823801D0}" srcOrd="1" destOrd="0" presId="urn:microsoft.com/office/officeart/2005/8/layout/orgChart1"/>
    <dgm:cxn modelId="{C4309FDB-0098-474A-8A38-B4DFE1493D82}" type="presParOf" srcId="{D07B2DCE-0225-4DB1-95F0-D47704560525}" destId="{94642096-1512-47B0-93F4-80DE2554EACB}" srcOrd="1" destOrd="0" presId="urn:microsoft.com/office/officeart/2005/8/layout/orgChart1"/>
    <dgm:cxn modelId="{FD42D790-1DE3-4E05-962B-2158891036B6}" type="presParOf" srcId="{D07B2DCE-0225-4DB1-95F0-D47704560525}" destId="{9EFC5FE4-880C-44E8-AECB-004A17E0F814}" srcOrd="2" destOrd="0" presId="urn:microsoft.com/office/officeart/2005/8/layout/orgChart1"/>
    <dgm:cxn modelId="{18C628C1-B5BD-477D-B337-65D74A9FDA1D}" type="presParOf" srcId="{997A1ACB-8D03-4884-858F-75D6CDA9ADBF}" destId="{1E35B068-4819-4FA1-8289-157FCAA9B824}" srcOrd="2" destOrd="0" presId="urn:microsoft.com/office/officeart/2005/8/layout/orgChart1"/>
    <dgm:cxn modelId="{17D38484-8AD4-43BE-8D4E-90477F81E6B3}" type="presParOf" srcId="{997A1ACB-8D03-4884-858F-75D6CDA9ADBF}" destId="{578EB912-35AA-4D96-981E-A281F780DDC6}" srcOrd="3" destOrd="0" presId="urn:microsoft.com/office/officeart/2005/8/layout/orgChart1"/>
    <dgm:cxn modelId="{720F325C-9092-48B9-A961-732B8B0F2354}" type="presParOf" srcId="{578EB912-35AA-4D96-981E-A281F780DDC6}" destId="{2B4A8C63-8A74-4C95-AE17-605F335FCDB7}" srcOrd="0" destOrd="0" presId="urn:microsoft.com/office/officeart/2005/8/layout/orgChart1"/>
    <dgm:cxn modelId="{1808E31D-299C-4CD9-B425-3B343EF7D85D}" type="presParOf" srcId="{2B4A8C63-8A74-4C95-AE17-605F335FCDB7}" destId="{7B39C473-8DC8-4D70-88BB-E3A5BA60A147}" srcOrd="0" destOrd="0" presId="urn:microsoft.com/office/officeart/2005/8/layout/orgChart1"/>
    <dgm:cxn modelId="{D3392C72-BC84-4824-ADD5-542BFC6F4C5F}" type="presParOf" srcId="{2B4A8C63-8A74-4C95-AE17-605F335FCDB7}" destId="{8027E9C0-79FE-4A2A-A3FB-8B676001107E}" srcOrd="1" destOrd="0" presId="urn:microsoft.com/office/officeart/2005/8/layout/orgChart1"/>
    <dgm:cxn modelId="{607AE05E-51EB-489B-8535-11FF8E0E10F1}" type="presParOf" srcId="{578EB912-35AA-4D96-981E-A281F780DDC6}" destId="{2BF26849-5BEC-46D3-A42A-673C28E82860}" srcOrd="1" destOrd="0" presId="urn:microsoft.com/office/officeart/2005/8/layout/orgChart1"/>
    <dgm:cxn modelId="{FE5E099D-0BCA-4D5C-A08C-9A4CAF15E458}" type="presParOf" srcId="{578EB912-35AA-4D96-981E-A281F780DDC6}" destId="{7BCE4851-F953-43BD-9E43-73EDDE38A380}" srcOrd="2" destOrd="0" presId="urn:microsoft.com/office/officeart/2005/8/layout/orgChart1"/>
    <dgm:cxn modelId="{BD17D890-136A-438B-AA12-20688B7F8326}" type="presParOf" srcId="{997A1ACB-8D03-4884-858F-75D6CDA9ADBF}" destId="{0246B5F5-A3FF-4C08-A55B-3C666C04DE93}" srcOrd="4" destOrd="0" presId="urn:microsoft.com/office/officeart/2005/8/layout/orgChart1"/>
    <dgm:cxn modelId="{F96E7C1B-92EA-41DD-86C3-8F577E74565B}" type="presParOf" srcId="{997A1ACB-8D03-4884-858F-75D6CDA9ADBF}" destId="{A42DB269-8E8E-45E9-BA74-DECCEAFF389A}" srcOrd="5" destOrd="0" presId="urn:microsoft.com/office/officeart/2005/8/layout/orgChart1"/>
    <dgm:cxn modelId="{FFAAA72D-718E-4CDF-A288-92C50BD98E23}" type="presParOf" srcId="{A42DB269-8E8E-45E9-BA74-DECCEAFF389A}" destId="{E9FA2AE1-FB03-4F4B-8B76-C987668FA2D9}" srcOrd="0" destOrd="0" presId="urn:microsoft.com/office/officeart/2005/8/layout/orgChart1"/>
    <dgm:cxn modelId="{1C7C95C2-22E5-4DF0-8EEA-21003B92CABE}" type="presParOf" srcId="{E9FA2AE1-FB03-4F4B-8B76-C987668FA2D9}" destId="{42EDF4B7-EA14-4A3B-B6B5-64F1479AE693}" srcOrd="0" destOrd="0" presId="urn:microsoft.com/office/officeart/2005/8/layout/orgChart1"/>
    <dgm:cxn modelId="{2A78C8E2-D22A-436C-87C5-A22BC84A3D41}" type="presParOf" srcId="{E9FA2AE1-FB03-4F4B-8B76-C987668FA2D9}" destId="{FFE73F30-CC77-4DB0-9C87-2C7B6DD7562A}" srcOrd="1" destOrd="0" presId="urn:microsoft.com/office/officeart/2005/8/layout/orgChart1"/>
    <dgm:cxn modelId="{53F043F0-19A0-451C-983C-7E1005FD330E}" type="presParOf" srcId="{A42DB269-8E8E-45E9-BA74-DECCEAFF389A}" destId="{A4F83330-0FD3-43B4-9D09-9148FD6B94AE}" srcOrd="1" destOrd="0" presId="urn:microsoft.com/office/officeart/2005/8/layout/orgChart1"/>
    <dgm:cxn modelId="{289DD808-67DA-4214-BAE6-EE06FED72F30}" type="presParOf" srcId="{A42DB269-8E8E-45E9-BA74-DECCEAFF389A}" destId="{3159CDAF-128A-4EC1-A876-F1FA5F36642F}" srcOrd="2" destOrd="0" presId="urn:microsoft.com/office/officeart/2005/8/layout/orgChart1"/>
    <dgm:cxn modelId="{D600BE62-44B0-4727-90A0-926350E07C4E}" type="presParOf" srcId="{997A1ACB-8D03-4884-858F-75D6CDA9ADBF}" destId="{17FC3DAF-6FD5-4FF5-A049-E6529D50FE3A}" srcOrd="6" destOrd="0" presId="urn:microsoft.com/office/officeart/2005/8/layout/orgChart1"/>
    <dgm:cxn modelId="{BD108DDE-9D6D-42CF-A258-AEF4541DAA5D}" type="presParOf" srcId="{997A1ACB-8D03-4884-858F-75D6CDA9ADBF}" destId="{6CDCCE44-A22C-4483-9DB2-AA86E1D1603B}" srcOrd="7" destOrd="0" presId="urn:microsoft.com/office/officeart/2005/8/layout/orgChart1"/>
    <dgm:cxn modelId="{498300EC-C58D-4D46-A9E3-8396C8CB3A56}" type="presParOf" srcId="{6CDCCE44-A22C-4483-9DB2-AA86E1D1603B}" destId="{3FB058D1-BBFF-4031-AF3B-32627B8AFF95}" srcOrd="0" destOrd="0" presId="urn:microsoft.com/office/officeart/2005/8/layout/orgChart1"/>
    <dgm:cxn modelId="{E49448D1-DCF7-498A-BCEA-5FDB68BD4895}" type="presParOf" srcId="{3FB058D1-BBFF-4031-AF3B-32627B8AFF95}" destId="{18D68726-AE10-407C-BD1A-C88AD78F62F6}" srcOrd="0" destOrd="0" presId="urn:microsoft.com/office/officeart/2005/8/layout/orgChart1"/>
    <dgm:cxn modelId="{B37F4708-3CAF-462E-83F0-D8710BF9F1D3}" type="presParOf" srcId="{3FB058D1-BBFF-4031-AF3B-32627B8AFF95}" destId="{8656152A-90E2-4201-9190-4E2E2BA26A34}" srcOrd="1" destOrd="0" presId="urn:microsoft.com/office/officeart/2005/8/layout/orgChart1"/>
    <dgm:cxn modelId="{D4950CE2-DC52-4555-8EEB-106DA660BC15}" type="presParOf" srcId="{6CDCCE44-A22C-4483-9DB2-AA86E1D1603B}" destId="{9DD65FCF-12BA-4B50-AF4D-D6958E1542EB}" srcOrd="1" destOrd="0" presId="urn:microsoft.com/office/officeart/2005/8/layout/orgChart1"/>
    <dgm:cxn modelId="{534252C3-1F5E-4110-B7BB-8622308D2618}" type="presParOf" srcId="{6CDCCE44-A22C-4483-9DB2-AA86E1D1603B}" destId="{E13F5254-567D-4AA4-9AD2-7C53652F94B6}" srcOrd="2" destOrd="0" presId="urn:microsoft.com/office/officeart/2005/8/layout/orgChart1"/>
    <dgm:cxn modelId="{274BBF18-56DC-4BDC-963F-5D563D2776B5}" type="presParOf" srcId="{997A1ACB-8D03-4884-858F-75D6CDA9ADBF}" destId="{F049C071-11DA-4458-8219-9C1C073FE418}" srcOrd="8" destOrd="0" presId="urn:microsoft.com/office/officeart/2005/8/layout/orgChart1"/>
    <dgm:cxn modelId="{EAF3C897-7AFE-4D00-AB53-742751AB045A}" type="presParOf" srcId="{997A1ACB-8D03-4884-858F-75D6CDA9ADBF}" destId="{91A4894F-E39D-420B-A855-EE5C3325E2FE}" srcOrd="9" destOrd="0" presId="urn:microsoft.com/office/officeart/2005/8/layout/orgChart1"/>
    <dgm:cxn modelId="{D56E1EF0-D2A0-4F5B-9867-15E241E297F3}" type="presParOf" srcId="{91A4894F-E39D-420B-A855-EE5C3325E2FE}" destId="{87E4C5F1-D6A8-4AA2-847A-2913C6ABDDC7}" srcOrd="0" destOrd="0" presId="urn:microsoft.com/office/officeart/2005/8/layout/orgChart1"/>
    <dgm:cxn modelId="{599937EB-CF6F-452D-AEAD-89824F9DBC72}" type="presParOf" srcId="{87E4C5F1-D6A8-4AA2-847A-2913C6ABDDC7}" destId="{21F2D394-E1BC-4F51-B311-1F151B198CFC}" srcOrd="0" destOrd="0" presId="urn:microsoft.com/office/officeart/2005/8/layout/orgChart1"/>
    <dgm:cxn modelId="{CCD719D2-FFCC-497B-9BF6-49D1D6731825}" type="presParOf" srcId="{87E4C5F1-D6A8-4AA2-847A-2913C6ABDDC7}" destId="{D026857A-AAF3-4636-99C2-B2BBF3F6DD67}" srcOrd="1" destOrd="0" presId="urn:microsoft.com/office/officeart/2005/8/layout/orgChart1"/>
    <dgm:cxn modelId="{21BBF272-175E-4865-B2EA-CBAE18CF827C}" type="presParOf" srcId="{91A4894F-E39D-420B-A855-EE5C3325E2FE}" destId="{6CBB9FAF-9F64-4942-BE33-2B23380A5BD0}" srcOrd="1" destOrd="0" presId="urn:microsoft.com/office/officeart/2005/8/layout/orgChart1"/>
    <dgm:cxn modelId="{7D7BAED1-4234-4BE1-88DE-CFBD94ED2B2C}" type="presParOf" srcId="{91A4894F-E39D-420B-A855-EE5C3325E2FE}" destId="{65E5E8DF-C6A3-4159-9941-DA5AD57ADF99}" srcOrd="2" destOrd="0" presId="urn:microsoft.com/office/officeart/2005/8/layout/orgChart1"/>
    <dgm:cxn modelId="{890A1EA8-70A0-4A07-B5BF-A90D0D1CF6A4}" type="presParOf" srcId="{98420567-600B-4FE4-A1CE-643E2ADE47EA}" destId="{44E407C6-E418-4B2C-8514-ED22915CE45D}" srcOrd="2" destOrd="0" presId="urn:microsoft.com/office/officeart/2005/8/layout/orgChart1"/>
    <dgm:cxn modelId="{14CA1461-D824-4461-91F0-15EDFF473027}" type="presParOf" srcId="{98420567-600B-4FE4-A1CE-643E2ADE47EA}" destId="{A1F693C2-94DD-4C1E-B03B-14788FA2F4CE}" srcOrd="3" destOrd="0" presId="urn:microsoft.com/office/officeart/2005/8/layout/orgChart1"/>
    <dgm:cxn modelId="{B14870B4-08B8-4F2A-9353-250957903DA4}" type="presParOf" srcId="{A1F693C2-94DD-4C1E-B03B-14788FA2F4CE}" destId="{CD5C3713-F0CC-4773-94C6-A77C39134C14}" srcOrd="0" destOrd="0" presId="urn:microsoft.com/office/officeart/2005/8/layout/orgChart1"/>
    <dgm:cxn modelId="{0A2761C2-0128-4BA9-81FE-8907ACF56F5F}" type="presParOf" srcId="{CD5C3713-F0CC-4773-94C6-A77C39134C14}" destId="{199B4936-3A09-44C8-AA5F-740B50DD5D6F}" srcOrd="0" destOrd="0" presId="urn:microsoft.com/office/officeart/2005/8/layout/orgChart1"/>
    <dgm:cxn modelId="{961C8B7A-A692-4556-A810-64E18B537A2F}" type="presParOf" srcId="{CD5C3713-F0CC-4773-94C6-A77C39134C14}" destId="{F959EA60-AF02-4FCF-9FA9-53438B14089A}" srcOrd="1" destOrd="0" presId="urn:microsoft.com/office/officeart/2005/8/layout/orgChart1"/>
    <dgm:cxn modelId="{22E44393-93FB-468D-946D-CFC427151357}" type="presParOf" srcId="{A1F693C2-94DD-4C1E-B03B-14788FA2F4CE}" destId="{DECEA751-50CF-46FD-8E3E-4C8FB8C8878B}" srcOrd="1" destOrd="0" presId="urn:microsoft.com/office/officeart/2005/8/layout/orgChart1"/>
    <dgm:cxn modelId="{01790674-2F20-4394-AE2B-2891DD471F7A}" type="presParOf" srcId="{A1F693C2-94DD-4C1E-B03B-14788FA2F4CE}" destId="{E3DD9EA4-2E8E-4AB0-A44C-7E92A82B5A7D}" srcOrd="2" destOrd="0" presId="urn:microsoft.com/office/officeart/2005/8/layout/orgChart1"/>
    <dgm:cxn modelId="{7FC4172A-1148-40D8-AAE5-CBE285095F4C}" type="presParOf" srcId="{98420567-600B-4FE4-A1CE-643E2ADE47EA}" destId="{B802D1BB-DDB9-4713-9296-33D87834DD35}" srcOrd="4" destOrd="0" presId="urn:microsoft.com/office/officeart/2005/8/layout/orgChart1"/>
    <dgm:cxn modelId="{ED72EF93-1C71-48E0-B1BA-0E2C7352D053}" type="presParOf" srcId="{98420567-600B-4FE4-A1CE-643E2ADE47EA}" destId="{132F6D43-AC1C-4754-9EDB-69414F695B8E}" srcOrd="5" destOrd="0" presId="urn:microsoft.com/office/officeart/2005/8/layout/orgChart1"/>
    <dgm:cxn modelId="{44FD0FFD-90D3-4A91-B5D7-C0DC91D32D10}" type="presParOf" srcId="{132F6D43-AC1C-4754-9EDB-69414F695B8E}" destId="{D83D32E2-69A9-4D25-A09F-F48308C9CFD2}" srcOrd="0" destOrd="0" presId="urn:microsoft.com/office/officeart/2005/8/layout/orgChart1"/>
    <dgm:cxn modelId="{E0855D03-93B8-4803-924B-10592FDE2768}" type="presParOf" srcId="{D83D32E2-69A9-4D25-A09F-F48308C9CFD2}" destId="{7D0DA54C-6125-46E2-9094-CDC349D38211}" srcOrd="0" destOrd="0" presId="urn:microsoft.com/office/officeart/2005/8/layout/orgChart1"/>
    <dgm:cxn modelId="{64B21A1C-D7D2-4B55-A124-ECEB36583BE6}" type="presParOf" srcId="{D83D32E2-69A9-4D25-A09F-F48308C9CFD2}" destId="{ECA27AFF-6944-45C4-94FD-70C9E605BBBB}" srcOrd="1" destOrd="0" presId="urn:microsoft.com/office/officeart/2005/8/layout/orgChart1"/>
    <dgm:cxn modelId="{1AA56E49-1E3F-4ABB-98B8-022F4372BEC9}" type="presParOf" srcId="{132F6D43-AC1C-4754-9EDB-69414F695B8E}" destId="{10AFE871-0578-41BE-9345-A11F20DA669B}" srcOrd="1" destOrd="0" presId="urn:microsoft.com/office/officeart/2005/8/layout/orgChart1"/>
    <dgm:cxn modelId="{B97BD2D4-F977-4604-BBF8-DBF5DC46AFDB}" type="presParOf" srcId="{132F6D43-AC1C-4754-9EDB-69414F695B8E}" destId="{6862678C-A9E7-4C31-B950-6601D9262F2F}" srcOrd="2" destOrd="0" presId="urn:microsoft.com/office/officeart/2005/8/layout/orgChart1"/>
    <dgm:cxn modelId="{E3E08FA3-7768-4CED-9AEB-54E890FDDC26}" type="presParOf" srcId="{6862678C-A9E7-4C31-B950-6601D9262F2F}" destId="{44393C05-88C5-458F-978A-CC2544F31C92}" srcOrd="0" destOrd="0" presId="urn:microsoft.com/office/officeart/2005/8/layout/orgChart1"/>
    <dgm:cxn modelId="{32B8CFBD-B5DF-4876-A3C4-5601DA6E811D}" type="presParOf" srcId="{6862678C-A9E7-4C31-B950-6601D9262F2F}" destId="{DFCF6BA3-881D-4862-9EB6-BA74CE8E78D9}" srcOrd="1" destOrd="0" presId="urn:microsoft.com/office/officeart/2005/8/layout/orgChart1"/>
    <dgm:cxn modelId="{70B98E78-92F7-4665-9B5F-7F9FB5CDA211}" type="presParOf" srcId="{DFCF6BA3-881D-4862-9EB6-BA74CE8E78D9}" destId="{B756CEE9-0841-4B4C-BCA7-1EC9549F1455}" srcOrd="0" destOrd="0" presId="urn:microsoft.com/office/officeart/2005/8/layout/orgChart1"/>
    <dgm:cxn modelId="{2AD2BA1C-6930-4A31-95C7-BE8F1B56FE1A}" type="presParOf" srcId="{B756CEE9-0841-4B4C-BCA7-1EC9549F1455}" destId="{94FE12DD-CFD1-4AD0-81DF-E453D706F1AC}" srcOrd="0" destOrd="0" presId="urn:microsoft.com/office/officeart/2005/8/layout/orgChart1"/>
    <dgm:cxn modelId="{1665CC3F-520D-4E13-B90F-8A39508D7773}" type="presParOf" srcId="{B756CEE9-0841-4B4C-BCA7-1EC9549F1455}" destId="{CE5F105A-836A-4D36-89E6-4E1EF4F08685}" srcOrd="1" destOrd="0" presId="urn:microsoft.com/office/officeart/2005/8/layout/orgChart1"/>
    <dgm:cxn modelId="{FCF1244B-AD0E-4895-9EF7-BBDAE6A0FD6E}" type="presParOf" srcId="{DFCF6BA3-881D-4862-9EB6-BA74CE8E78D9}" destId="{C832E91E-A90B-4FAB-A4FA-901E0695F95D}" srcOrd="1" destOrd="0" presId="urn:microsoft.com/office/officeart/2005/8/layout/orgChart1"/>
    <dgm:cxn modelId="{9A11C7ED-A181-4FFD-A24A-43D59751272B}" type="presParOf" srcId="{DFCF6BA3-881D-4862-9EB6-BA74CE8E78D9}" destId="{977538E5-325D-4325-B368-FDEEED6C4C6B}" srcOrd="2" destOrd="0" presId="urn:microsoft.com/office/officeart/2005/8/layout/orgChart1"/>
    <dgm:cxn modelId="{F77868BF-B3FC-4996-99A9-71C285B21806}" type="presParOf" srcId="{98420567-600B-4FE4-A1CE-643E2ADE47EA}" destId="{90621CA7-0918-497A-8A41-BC96046E9A65}" srcOrd="6" destOrd="0" presId="urn:microsoft.com/office/officeart/2005/8/layout/orgChart1"/>
    <dgm:cxn modelId="{BE08D0BF-4DC7-4B13-935D-F80295ACE20A}" type="presParOf" srcId="{98420567-600B-4FE4-A1CE-643E2ADE47EA}" destId="{5057380B-130B-4C2A-8B17-5ED6AE5343DF}" srcOrd="7" destOrd="0" presId="urn:microsoft.com/office/officeart/2005/8/layout/orgChart1"/>
    <dgm:cxn modelId="{5B2AE983-69D2-4769-B799-0A3BDC43C21D}" type="presParOf" srcId="{5057380B-130B-4C2A-8B17-5ED6AE5343DF}" destId="{A4FEB663-6754-4CF1-BFAD-209E63AF8634}" srcOrd="0" destOrd="0" presId="urn:microsoft.com/office/officeart/2005/8/layout/orgChart1"/>
    <dgm:cxn modelId="{8070F4A4-430E-4F33-A9BB-99679366E134}" type="presParOf" srcId="{A4FEB663-6754-4CF1-BFAD-209E63AF8634}" destId="{C1785D80-840A-4A4B-A7F1-97DA71E6AA0C}" srcOrd="0" destOrd="0" presId="urn:microsoft.com/office/officeart/2005/8/layout/orgChart1"/>
    <dgm:cxn modelId="{0C67751C-4735-4318-919C-382E5B18EBB0}" type="presParOf" srcId="{A4FEB663-6754-4CF1-BFAD-209E63AF8634}" destId="{2C76395C-86F9-4E93-8A01-91939500E36F}" srcOrd="1" destOrd="0" presId="urn:microsoft.com/office/officeart/2005/8/layout/orgChart1"/>
    <dgm:cxn modelId="{69CAF2A2-DEFA-4E3A-BC48-DA1560E25645}" type="presParOf" srcId="{5057380B-130B-4C2A-8B17-5ED6AE5343DF}" destId="{DDE22719-50AD-471A-BECE-782BD82FCD1F}" srcOrd="1" destOrd="0" presId="urn:microsoft.com/office/officeart/2005/8/layout/orgChart1"/>
    <dgm:cxn modelId="{DE6F5CBA-5060-4EDC-83F0-B891125E0CEC}" type="presParOf" srcId="{5057380B-130B-4C2A-8B17-5ED6AE5343DF}" destId="{F70742BA-641C-4C3B-9155-231DF62ABEAF}" srcOrd="2" destOrd="0" presId="urn:microsoft.com/office/officeart/2005/8/layout/orgChart1"/>
    <dgm:cxn modelId="{634C8326-D033-49D2-8FCA-635523B3408C}" type="presParOf" srcId="{F70742BA-641C-4C3B-9155-231DF62ABEAF}" destId="{A5CFFAC5-41DD-4BF2-9695-185FF182223D}" srcOrd="0" destOrd="0" presId="urn:microsoft.com/office/officeart/2005/8/layout/orgChart1"/>
    <dgm:cxn modelId="{B8769456-D75A-468C-98A2-6AB59EF59548}" type="presParOf" srcId="{F70742BA-641C-4C3B-9155-231DF62ABEAF}" destId="{26D26DF5-CBC5-4323-AB7E-372FDD65E7C8}" srcOrd="1" destOrd="0" presId="urn:microsoft.com/office/officeart/2005/8/layout/orgChart1"/>
    <dgm:cxn modelId="{5A52DF56-5279-4594-A060-673D3E052169}" type="presParOf" srcId="{26D26DF5-CBC5-4323-AB7E-372FDD65E7C8}" destId="{8363BE9D-2A50-48EA-8AD4-A5C3C93B6789}" srcOrd="0" destOrd="0" presId="urn:microsoft.com/office/officeart/2005/8/layout/orgChart1"/>
    <dgm:cxn modelId="{A7F5E385-629A-45F2-AC7A-15A3DFCD68E4}" type="presParOf" srcId="{8363BE9D-2A50-48EA-8AD4-A5C3C93B6789}" destId="{2ED821C7-80B2-40FE-99FF-97AC12ED724A}" srcOrd="0" destOrd="0" presId="urn:microsoft.com/office/officeart/2005/8/layout/orgChart1"/>
    <dgm:cxn modelId="{D1B326C3-397F-494A-B394-8AB3CE9A9BCC}" type="presParOf" srcId="{8363BE9D-2A50-48EA-8AD4-A5C3C93B6789}" destId="{AE2BD6DF-5064-4C31-B73B-2D77FED75DAE}" srcOrd="1" destOrd="0" presId="urn:microsoft.com/office/officeart/2005/8/layout/orgChart1"/>
    <dgm:cxn modelId="{E96F3B72-B009-420D-87C4-B718A12A167F}" type="presParOf" srcId="{26D26DF5-CBC5-4323-AB7E-372FDD65E7C8}" destId="{BDBCA21F-8FE1-4A50-908E-9A28DBF4FC7B}" srcOrd="1" destOrd="0" presId="urn:microsoft.com/office/officeart/2005/8/layout/orgChart1"/>
    <dgm:cxn modelId="{BC32E8B6-5C41-4925-BBA7-DE345C3F3688}" type="presParOf" srcId="{26D26DF5-CBC5-4323-AB7E-372FDD65E7C8}" destId="{23B9455A-E09F-46D3-A310-C6C6BF221558}" srcOrd="2" destOrd="0" presId="urn:microsoft.com/office/officeart/2005/8/layout/orgChart1"/>
    <dgm:cxn modelId="{D26AE937-D5D0-4C45-9FD7-862AEF39E70B}" type="presParOf" srcId="{98420567-600B-4FE4-A1CE-643E2ADE47EA}" destId="{98946FA4-FF01-44F8-A816-0FB01235D9F4}" srcOrd="8" destOrd="0" presId="urn:microsoft.com/office/officeart/2005/8/layout/orgChart1"/>
    <dgm:cxn modelId="{7224E0B0-3A9D-4DF7-8FC5-CED0D52F7EDC}" type="presParOf" srcId="{98420567-600B-4FE4-A1CE-643E2ADE47EA}" destId="{44B846DE-16D3-42F0-8D4C-DC71AC865D79}" srcOrd="9" destOrd="0" presId="urn:microsoft.com/office/officeart/2005/8/layout/orgChart1"/>
    <dgm:cxn modelId="{BB5DB429-BBD0-46CF-AC04-AC54E4B4E062}" type="presParOf" srcId="{44B846DE-16D3-42F0-8D4C-DC71AC865D79}" destId="{C64A44B4-2DF9-482F-85BE-8E9D22D9CF97}" srcOrd="0" destOrd="0" presId="urn:microsoft.com/office/officeart/2005/8/layout/orgChart1"/>
    <dgm:cxn modelId="{69BC44DB-94FB-476A-BA52-A2F6AC404E58}" type="presParOf" srcId="{C64A44B4-2DF9-482F-85BE-8E9D22D9CF97}" destId="{0A9EAC71-F718-4F40-AC47-C6906E606364}" srcOrd="0" destOrd="0" presId="urn:microsoft.com/office/officeart/2005/8/layout/orgChart1"/>
    <dgm:cxn modelId="{A3982EDD-9A0B-4FA6-A944-3E512E339CF4}" type="presParOf" srcId="{C64A44B4-2DF9-482F-85BE-8E9D22D9CF97}" destId="{EC134EEF-100F-4224-B682-305CAAE00CAA}" srcOrd="1" destOrd="0" presId="urn:microsoft.com/office/officeart/2005/8/layout/orgChart1"/>
    <dgm:cxn modelId="{8CB860CC-042A-41C9-9850-94FDA4D7C232}" type="presParOf" srcId="{44B846DE-16D3-42F0-8D4C-DC71AC865D79}" destId="{EF2FC4E4-6D50-49A5-8E8F-B803D146B5A2}" srcOrd="1" destOrd="0" presId="urn:microsoft.com/office/officeart/2005/8/layout/orgChart1"/>
    <dgm:cxn modelId="{EA5FD37E-1E11-4B3E-904D-884BC0BA1F58}" type="presParOf" srcId="{EF2FC4E4-6D50-49A5-8E8F-B803D146B5A2}" destId="{61BA1FC6-3FCD-4F85-8278-2AF243A62432}" srcOrd="0" destOrd="0" presId="urn:microsoft.com/office/officeart/2005/8/layout/orgChart1"/>
    <dgm:cxn modelId="{60630FEB-2956-4809-AF1C-07CFABFCEE98}" type="presParOf" srcId="{EF2FC4E4-6D50-49A5-8E8F-B803D146B5A2}" destId="{BBBC8705-1CC2-4134-805B-9E92F4197D25}" srcOrd="1" destOrd="0" presId="urn:microsoft.com/office/officeart/2005/8/layout/orgChart1"/>
    <dgm:cxn modelId="{6A86B3CA-B597-4DEB-82FA-D0A70717E5DD}" type="presParOf" srcId="{BBBC8705-1CC2-4134-805B-9E92F4197D25}" destId="{DF50BCA8-AF90-4B39-BAE2-AB04CE53690C}" srcOrd="0" destOrd="0" presId="urn:microsoft.com/office/officeart/2005/8/layout/orgChart1"/>
    <dgm:cxn modelId="{996A0309-BF4A-4B84-9DFF-94205F56FF0B}" type="presParOf" srcId="{DF50BCA8-AF90-4B39-BAE2-AB04CE53690C}" destId="{8C0FCD44-3DED-4FA4-A3A7-4A5A413BC095}" srcOrd="0" destOrd="0" presId="urn:microsoft.com/office/officeart/2005/8/layout/orgChart1"/>
    <dgm:cxn modelId="{A6F43662-DBBB-48A4-993D-6A6B9C4E881D}" type="presParOf" srcId="{DF50BCA8-AF90-4B39-BAE2-AB04CE53690C}" destId="{E2B725CD-3209-4ABC-BC0E-E57A4298078D}" srcOrd="1" destOrd="0" presId="urn:microsoft.com/office/officeart/2005/8/layout/orgChart1"/>
    <dgm:cxn modelId="{735B37D5-CFEA-4611-9454-03358AA74D5B}" type="presParOf" srcId="{BBBC8705-1CC2-4134-805B-9E92F4197D25}" destId="{B644D81A-4BC9-4F1E-98CF-683898844BFC}" srcOrd="1" destOrd="0" presId="urn:microsoft.com/office/officeart/2005/8/layout/orgChart1"/>
    <dgm:cxn modelId="{77648688-213B-46A2-8F12-6F4F3992DDF1}" type="presParOf" srcId="{BBBC8705-1CC2-4134-805B-9E92F4197D25}" destId="{08127EB3-F5D0-4C48-911A-FD030E396821}" srcOrd="2" destOrd="0" presId="urn:microsoft.com/office/officeart/2005/8/layout/orgChart1"/>
    <dgm:cxn modelId="{488EB50E-F615-46FF-A069-E221E0981B54}" type="presParOf" srcId="{44B846DE-16D3-42F0-8D4C-DC71AC865D79}" destId="{2E4057FC-7334-4558-BF5D-60A7B9D67329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0DFC0C0-871B-4DD9-BF2F-D467286CD392}">
      <dsp:nvSpPr>
        <dsp:cNvPr id="0" name=""/>
        <dsp:cNvSpPr/>
      </dsp:nvSpPr>
      <dsp:spPr>
        <a:xfrm rot="16200000">
          <a:off x="508000" y="-508000"/>
          <a:ext cx="2032000" cy="3048000"/>
        </a:xfrm>
        <a:prstGeom prst="round1Rect">
          <a:avLst/>
        </a:prstGeom>
        <a:gradFill flip="none" rotWithShape="0">
          <a:gsLst>
            <a:gs pos="0">
              <a:srgbClr val="00B050">
                <a:shade val="30000"/>
                <a:satMod val="115000"/>
              </a:srgbClr>
            </a:gs>
            <a:gs pos="50000">
              <a:srgbClr val="00B050">
                <a:shade val="67500"/>
                <a:satMod val="115000"/>
              </a:srgbClr>
            </a:gs>
            <a:gs pos="100000">
              <a:srgbClr val="00B050">
                <a:shade val="100000"/>
                <a:satMod val="115000"/>
              </a:srgbClr>
            </a:gs>
          </a:gsLst>
          <a:lin ang="16200000" scaled="1"/>
          <a:tileRect/>
        </a:gra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400" kern="1200" dirty="0" smtClean="0"/>
            <a:t>Metrô de </a:t>
          </a:r>
          <a:r>
            <a:rPr lang="pt-BR" sz="1400" kern="1200" dirty="0" smtClean="0"/>
            <a:t>Processos (</a:t>
          </a:r>
          <a:r>
            <a:rPr lang="pt-BR" sz="1400" i="1" kern="1200" dirty="0" smtClean="0"/>
            <a:t>framework</a:t>
          </a:r>
          <a:r>
            <a:rPr lang="pt-BR" sz="1400" kern="1200" dirty="0" smtClean="0"/>
            <a:t>)</a:t>
          </a:r>
          <a:endParaRPr lang="pt-BR" sz="1400" kern="1200" dirty="0" smtClean="0"/>
        </a:p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400" kern="1200" dirty="0" smtClean="0"/>
            <a:t>Vontade para mudar</a:t>
          </a:r>
        </a:p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400" kern="1200" dirty="0" smtClean="0"/>
            <a:t>Iniciativas da Governança</a:t>
          </a:r>
        </a:p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400" kern="1200" dirty="0" smtClean="0"/>
            <a:t>Autocrítica e aceitação</a:t>
          </a:r>
        </a:p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400" kern="1200" dirty="0" smtClean="0"/>
            <a:t>Patrocínio Executivo</a:t>
          </a:r>
          <a:endParaRPr lang="pt-BR" sz="1400" kern="1200" dirty="0"/>
        </a:p>
      </dsp:txBody>
      <dsp:txXfrm rot="5400000">
        <a:off x="0" y="0"/>
        <a:ext cx="3048000" cy="1524000"/>
      </dsp:txXfrm>
    </dsp:sp>
    <dsp:sp modelId="{27B21570-8DFA-4CCA-90AD-03989F305D0E}">
      <dsp:nvSpPr>
        <dsp:cNvPr id="0" name=""/>
        <dsp:cNvSpPr/>
      </dsp:nvSpPr>
      <dsp:spPr>
        <a:xfrm>
          <a:off x="3048000" y="0"/>
          <a:ext cx="3048000" cy="2032000"/>
        </a:xfrm>
        <a:prstGeom prst="round1Rect">
          <a:avLst/>
        </a:prstGeom>
        <a:gradFill flip="none" rotWithShape="0">
          <a:gsLst>
            <a:gs pos="0">
              <a:srgbClr val="FFC000">
                <a:shade val="30000"/>
                <a:satMod val="115000"/>
              </a:srgbClr>
            </a:gs>
            <a:gs pos="50000">
              <a:srgbClr val="FFC000">
                <a:shade val="67500"/>
                <a:satMod val="115000"/>
              </a:srgbClr>
            </a:gs>
            <a:gs pos="100000">
              <a:srgbClr val="FFC000">
                <a:shade val="100000"/>
                <a:satMod val="115000"/>
              </a:srgbClr>
            </a:gs>
          </a:gsLst>
          <a:lin ang="16200000" scaled="1"/>
          <a:tileRect/>
        </a:gra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400" kern="1200" dirty="0" smtClean="0"/>
            <a:t>Incidentes críticos</a:t>
          </a:r>
        </a:p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400" kern="1200" dirty="0" smtClean="0"/>
            <a:t>Processos frágeis</a:t>
          </a:r>
        </a:p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400" kern="1200" dirty="0" smtClean="0"/>
            <a:t>Forte segmentação funcional</a:t>
          </a:r>
        </a:p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400" kern="1200" dirty="0" smtClean="0"/>
            <a:t>Atitudes individualistas</a:t>
          </a:r>
        </a:p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400" kern="1200" dirty="0" smtClean="0"/>
            <a:t>Baixo </a:t>
          </a:r>
          <a:r>
            <a:rPr lang="pt-BR" sz="1400" kern="1200" dirty="0" smtClean="0"/>
            <a:t>índice de automação ITSM</a:t>
          </a:r>
          <a:endParaRPr lang="pt-BR" sz="1400" kern="1200" dirty="0"/>
        </a:p>
      </dsp:txBody>
      <dsp:txXfrm>
        <a:off x="3048000" y="0"/>
        <a:ext cx="3048000" cy="1524000"/>
      </dsp:txXfrm>
    </dsp:sp>
    <dsp:sp modelId="{08186875-A86E-4056-8898-DF87C0BBCAEC}">
      <dsp:nvSpPr>
        <dsp:cNvPr id="0" name=""/>
        <dsp:cNvSpPr/>
      </dsp:nvSpPr>
      <dsp:spPr>
        <a:xfrm rot="10800000">
          <a:off x="0" y="2032000"/>
          <a:ext cx="3048000" cy="2032000"/>
        </a:xfrm>
        <a:prstGeom prst="round1Rect">
          <a:avLst/>
        </a:prstGeom>
        <a:gradFill flip="none" rotWithShape="0">
          <a:gsLst>
            <a:gs pos="0">
              <a:schemeClr val="accent1">
                <a:hueOff val="0"/>
                <a:satOff val="0"/>
                <a:lumOff val="0"/>
                <a:shade val="30000"/>
                <a:satMod val="115000"/>
              </a:schemeClr>
            </a:gs>
            <a:gs pos="50000">
              <a:schemeClr val="accent1">
                <a:hueOff val="0"/>
                <a:satOff val="0"/>
                <a:lumOff val="0"/>
                <a:shade val="67500"/>
                <a:satMod val="115000"/>
              </a:schemeClr>
            </a:gs>
            <a:gs pos="100000">
              <a:schemeClr val="accent1">
                <a:hueOff val="0"/>
                <a:satOff val="0"/>
                <a:lumOff val="0"/>
                <a:shade val="100000"/>
                <a:satMod val="115000"/>
              </a:schemeClr>
            </a:gs>
          </a:gsLst>
          <a:lin ang="16200000" scaled="1"/>
          <a:tileRect/>
        </a:gra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400" kern="1200" dirty="0" smtClean="0"/>
            <a:t>Orientação a Serviços</a:t>
          </a:r>
        </a:p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400" kern="1200" dirty="0" smtClean="0"/>
            <a:t>Ciclos </a:t>
          </a:r>
          <a:r>
            <a:rPr lang="pt-BR" sz="1400" kern="1200" dirty="0" smtClean="0"/>
            <a:t>de Melhoria Contínua</a:t>
          </a:r>
        </a:p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400" kern="1200" dirty="0" smtClean="0"/>
            <a:t>Abrangência do Metrô de Processos</a:t>
          </a:r>
        </a:p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400" kern="1200" dirty="0" smtClean="0"/>
            <a:t>Estrutura das soluções de automação  </a:t>
          </a:r>
        </a:p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BR" sz="1400" kern="1200" dirty="0"/>
        </a:p>
      </dsp:txBody>
      <dsp:txXfrm rot="10800000">
        <a:off x="0" y="2539999"/>
        <a:ext cx="3048000" cy="1524000"/>
      </dsp:txXfrm>
    </dsp:sp>
    <dsp:sp modelId="{4EC425BC-1805-4081-B692-EBCF96FA829C}">
      <dsp:nvSpPr>
        <dsp:cNvPr id="0" name=""/>
        <dsp:cNvSpPr/>
      </dsp:nvSpPr>
      <dsp:spPr>
        <a:xfrm rot="5400000">
          <a:off x="3556000" y="1523999"/>
          <a:ext cx="2032000" cy="3048000"/>
        </a:xfrm>
        <a:prstGeom prst="round1Rect">
          <a:avLst/>
        </a:prstGeom>
        <a:gradFill flip="none" rotWithShape="0">
          <a:gsLst>
            <a:gs pos="0">
              <a:srgbClr val="FF0000">
                <a:shade val="30000"/>
                <a:satMod val="115000"/>
              </a:srgbClr>
            </a:gs>
            <a:gs pos="50000">
              <a:srgbClr val="FF0000">
                <a:shade val="67500"/>
                <a:satMod val="115000"/>
              </a:srgbClr>
            </a:gs>
            <a:gs pos="100000">
              <a:srgbClr val="FF0000">
                <a:shade val="100000"/>
                <a:satMod val="115000"/>
              </a:srgbClr>
            </a:gs>
          </a:gsLst>
          <a:lin ang="16200000" scaled="1"/>
          <a:tileRect/>
        </a:gra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400" kern="1200" dirty="0" smtClean="0"/>
            <a:t>Perda de confiança do negócio</a:t>
          </a:r>
        </a:p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400" kern="1200" dirty="0" smtClean="0"/>
            <a:t>Conflitos de prioridades com demandas</a:t>
          </a:r>
        </a:p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400" kern="1200" dirty="0" smtClean="0"/>
            <a:t>Resistência à quebras de hierarquia</a:t>
          </a:r>
        </a:p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BR" sz="1400" kern="1200" dirty="0"/>
        </a:p>
      </dsp:txBody>
      <dsp:txXfrm rot="-5400000">
        <a:off x="3048000" y="2539999"/>
        <a:ext cx="3048000" cy="1524000"/>
      </dsp:txXfrm>
    </dsp:sp>
    <dsp:sp modelId="{AB20BAAE-36C3-4055-BF40-3D32BEC6BB6B}">
      <dsp:nvSpPr>
        <dsp:cNvPr id="0" name=""/>
        <dsp:cNvSpPr/>
      </dsp:nvSpPr>
      <dsp:spPr>
        <a:xfrm>
          <a:off x="2304254" y="1615724"/>
          <a:ext cx="1487491" cy="832551"/>
        </a:xfrm>
        <a:prstGeom prst="roundRect">
          <a:avLst/>
        </a:prstGeom>
        <a:solidFill>
          <a:srgbClr val="7030A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800" kern="1200" dirty="0" smtClean="0">
              <a:solidFill>
                <a:schemeClr val="bg1"/>
              </a:solidFill>
            </a:rPr>
            <a:t>Objetivos e Metas</a:t>
          </a:r>
          <a:endParaRPr lang="pt-BR" sz="1800" kern="1200" dirty="0">
            <a:solidFill>
              <a:schemeClr val="bg1"/>
            </a:solidFill>
          </a:endParaRPr>
        </a:p>
      </dsp:txBody>
      <dsp:txXfrm>
        <a:off x="2344896" y="1656366"/>
        <a:ext cx="1406207" cy="75126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1BA1FC6-3FCD-4F85-8278-2AF243A62432}">
      <dsp:nvSpPr>
        <dsp:cNvPr id="0" name=""/>
        <dsp:cNvSpPr/>
      </dsp:nvSpPr>
      <dsp:spPr>
        <a:xfrm>
          <a:off x="3664696" y="2216691"/>
          <a:ext cx="1192845" cy="117055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70554"/>
              </a:lnTo>
              <a:lnTo>
                <a:pt x="1192845" y="1170554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8946FA4-FF01-44F8-A816-0FB01235D9F4}">
      <dsp:nvSpPr>
        <dsp:cNvPr id="0" name=""/>
        <dsp:cNvSpPr/>
      </dsp:nvSpPr>
      <dsp:spPr>
        <a:xfrm>
          <a:off x="3944521" y="279825"/>
          <a:ext cx="1887959" cy="1796953"/>
        </a:xfrm>
        <a:custGeom>
          <a:avLst/>
          <a:gdLst/>
          <a:ahLst/>
          <a:cxnLst/>
          <a:rect l="0" t="0" r="0" b="0"/>
          <a:pathLst>
            <a:path>
              <a:moveTo>
                <a:pt x="1887959" y="0"/>
              </a:moveTo>
              <a:lnTo>
                <a:pt x="1887959" y="1796953"/>
              </a:lnTo>
              <a:lnTo>
                <a:pt x="0" y="1796953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5CFFAC5-41DD-4BF2-9695-185FF182223D}">
      <dsp:nvSpPr>
        <dsp:cNvPr id="0" name=""/>
        <dsp:cNvSpPr/>
      </dsp:nvSpPr>
      <dsp:spPr>
        <a:xfrm>
          <a:off x="5748287" y="2216691"/>
          <a:ext cx="629226" cy="1169239"/>
        </a:xfrm>
        <a:custGeom>
          <a:avLst/>
          <a:gdLst/>
          <a:ahLst/>
          <a:cxnLst/>
          <a:rect l="0" t="0" r="0" b="0"/>
          <a:pathLst>
            <a:path>
              <a:moveTo>
                <a:pt x="629226" y="0"/>
              </a:moveTo>
              <a:lnTo>
                <a:pt x="629226" y="1169239"/>
              </a:lnTo>
              <a:lnTo>
                <a:pt x="0" y="1169239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0621CA7-0918-497A-8A41-BC96046E9A65}">
      <dsp:nvSpPr>
        <dsp:cNvPr id="0" name=""/>
        <dsp:cNvSpPr/>
      </dsp:nvSpPr>
      <dsp:spPr>
        <a:xfrm>
          <a:off x="5832481" y="279825"/>
          <a:ext cx="265207" cy="179695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96953"/>
              </a:lnTo>
              <a:lnTo>
                <a:pt x="265207" y="1796953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4393C05-88C5-458F-978A-CC2544F31C92}">
      <dsp:nvSpPr>
        <dsp:cNvPr id="0" name=""/>
        <dsp:cNvSpPr/>
      </dsp:nvSpPr>
      <dsp:spPr>
        <a:xfrm>
          <a:off x="7735327" y="2209897"/>
          <a:ext cx="480488" cy="1183709"/>
        </a:xfrm>
        <a:custGeom>
          <a:avLst/>
          <a:gdLst/>
          <a:ahLst/>
          <a:cxnLst/>
          <a:rect l="0" t="0" r="0" b="0"/>
          <a:pathLst>
            <a:path>
              <a:moveTo>
                <a:pt x="480488" y="0"/>
              </a:moveTo>
              <a:lnTo>
                <a:pt x="480488" y="1183709"/>
              </a:lnTo>
              <a:lnTo>
                <a:pt x="0" y="1183709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802D1BB-DDB9-4713-9296-33D87834DD35}">
      <dsp:nvSpPr>
        <dsp:cNvPr id="0" name=""/>
        <dsp:cNvSpPr/>
      </dsp:nvSpPr>
      <dsp:spPr>
        <a:xfrm>
          <a:off x="5832481" y="279825"/>
          <a:ext cx="2103509" cy="179015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90159"/>
              </a:lnTo>
              <a:lnTo>
                <a:pt x="2103509" y="1790159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4E407C6-E418-4B2C-8514-ED22915CE45D}">
      <dsp:nvSpPr>
        <dsp:cNvPr id="0" name=""/>
        <dsp:cNvSpPr/>
      </dsp:nvSpPr>
      <dsp:spPr>
        <a:xfrm>
          <a:off x="5832481" y="279825"/>
          <a:ext cx="1272825" cy="24677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46770"/>
              </a:lnTo>
              <a:lnTo>
                <a:pt x="1272825" y="246770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049C071-11DA-4458-8219-9C1C073FE418}">
      <dsp:nvSpPr>
        <dsp:cNvPr id="0" name=""/>
        <dsp:cNvSpPr/>
      </dsp:nvSpPr>
      <dsp:spPr>
        <a:xfrm>
          <a:off x="1513465" y="653071"/>
          <a:ext cx="166205" cy="227630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76304"/>
              </a:lnTo>
              <a:lnTo>
                <a:pt x="166205" y="2276304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7FC3DAF-6FD5-4FF5-A049-E6529D50FE3A}">
      <dsp:nvSpPr>
        <dsp:cNvPr id="0" name=""/>
        <dsp:cNvSpPr/>
      </dsp:nvSpPr>
      <dsp:spPr>
        <a:xfrm>
          <a:off x="1513465" y="653071"/>
          <a:ext cx="476240" cy="126868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68686"/>
              </a:lnTo>
              <a:lnTo>
                <a:pt x="476240" y="1268686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246B5F5-A3FF-4C08-A55B-3C666C04DE93}">
      <dsp:nvSpPr>
        <dsp:cNvPr id="0" name=""/>
        <dsp:cNvSpPr/>
      </dsp:nvSpPr>
      <dsp:spPr>
        <a:xfrm>
          <a:off x="1076685" y="653071"/>
          <a:ext cx="436779" cy="1656233"/>
        </a:xfrm>
        <a:custGeom>
          <a:avLst/>
          <a:gdLst/>
          <a:ahLst/>
          <a:cxnLst/>
          <a:rect l="0" t="0" r="0" b="0"/>
          <a:pathLst>
            <a:path>
              <a:moveTo>
                <a:pt x="436779" y="0"/>
              </a:moveTo>
              <a:lnTo>
                <a:pt x="436779" y="1656233"/>
              </a:lnTo>
              <a:lnTo>
                <a:pt x="0" y="1656233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E35B068-4819-4FA1-8289-157FCAA9B824}">
      <dsp:nvSpPr>
        <dsp:cNvPr id="0" name=""/>
        <dsp:cNvSpPr/>
      </dsp:nvSpPr>
      <dsp:spPr>
        <a:xfrm>
          <a:off x="1513465" y="653071"/>
          <a:ext cx="321222" cy="57110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71106"/>
              </a:lnTo>
              <a:lnTo>
                <a:pt x="321222" y="571106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2AD7938-D11F-44B2-87B8-A01971076A2C}">
      <dsp:nvSpPr>
        <dsp:cNvPr id="0" name=""/>
        <dsp:cNvSpPr/>
      </dsp:nvSpPr>
      <dsp:spPr>
        <a:xfrm>
          <a:off x="921668" y="653071"/>
          <a:ext cx="591797" cy="881142"/>
        </a:xfrm>
        <a:custGeom>
          <a:avLst/>
          <a:gdLst/>
          <a:ahLst/>
          <a:cxnLst/>
          <a:rect l="0" t="0" r="0" b="0"/>
          <a:pathLst>
            <a:path>
              <a:moveTo>
                <a:pt x="591797" y="0"/>
              </a:moveTo>
              <a:lnTo>
                <a:pt x="591797" y="881142"/>
              </a:lnTo>
              <a:lnTo>
                <a:pt x="0" y="881142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BD112F1-8D02-4818-9227-F1503DD1DE71}">
      <dsp:nvSpPr>
        <dsp:cNvPr id="0" name=""/>
        <dsp:cNvSpPr/>
      </dsp:nvSpPr>
      <dsp:spPr>
        <a:xfrm>
          <a:off x="1793290" y="279825"/>
          <a:ext cx="4039190" cy="233333"/>
        </a:xfrm>
        <a:custGeom>
          <a:avLst/>
          <a:gdLst/>
          <a:ahLst/>
          <a:cxnLst/>
          <a:rect l="0" t="0" r="0" b="0"/>
          <a:pathLst>
            <a:path>
              <a:moveTo>
                <a:pt x="4039190" y="0"/>
              </a:moveTo>
              <a:lnTo>
                <a:pt x="4039190" y="233333"/>
              </a:lnTo>
              <a:lnTo>
                <a:pt x="0" y="233333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729E0A2-44CD-4B37-9E3A-EE62EE031A0C}">
      <dsp:nvSpPr>
        <dsp:cNvPr id="0" name=""/>
        <dsp:cNvSpPr/>
      </dsp:nvSpPr>
      <dsp:spPr>
        <a:xfrm>
          <a:off x="5552655" y="0"/>
          <a:ext cx="559650" cy="279825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lvl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600" kern="1200" dirty="0" smtClean="0"/>
            <a:t>VPTD</a:t>
          </a:r>
          <a:endParaRPr lang="pt-BR" sz="600" kern="1200" dirty="0"/>
        </a:p>
      </dsp:txBody>
      <dsp:txXfrm>
        <a:off x="5552655" y="0"/>
        <a:ext cx="559650" cy="279825"/>
      </dsp:txXfrm>
    </dsp:sp>
    <dsp:sp modelId="{37FD95AB-59B9-4475-8B7C-FB46CE05C24C}">
      <dsp:nvSpPr>
        <dsp:cNvPr id="0" name=""/>
        <dsp:cNvSpPr/>
      </dsp:nvSpPr>
      <dsp:spPr>
        <a:xfrm>
          <a:off x="1233639" y="373246"/>
          <a:ext cx="559650" cy="279825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lvl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600" kern="1200" dirty="0" smtClean="0"/>
            <a:t>Governança e Gestão de TI</a:t>
          </a:r>
          <a:endParaRPr lang="pt-BR" sz="600" kern="1200" dirty="0"/>
        </a:p>
      </dsp:txBody>
      <dsp:txXfrm>
        <a:off x="1233639" y="373246"/>
        <a:ext cx="559650" cy="279825"/>
      </dsp:txXfrm>
    </dsp:sp>
    <dsp:sp modelId="{BA4745D2-743B-416D-858E-6AF7D19E2526}">
      <dsp:nvSpPr>
        <dsp:cNvPr id="0" name=""/>
        <dsp:cNvSpPr/>
      </dsp:nvSpPr>
      <dsp:spPr>
        <a:xfrm>
          <a:off x="362017" y="1394301"/>
          <a:ext cx="559650" cy="279825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lvl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600" kern="1200" dirty="0" smtClean="0"/>
            <a:t>Gestão Financeira</a:t>
          </a:r>
          <a:endParaRPr lang="pt-BR" sz="600" kern="1200" dirty="0"/>
        </a:p>
      </dsp:txBody>
      <dsp:txXfrm>
        <a:off x="362017" y="1394301"/>
        <a:ext cx="559650" cy="279825"/>
      </dsp:txXfrm>
    </dsp:sp>
    <dsp:sp modelId="{7B39C473-8DC8-4D70-88BB-E3A5BA60A147}">
      <dsp:nvSpPr>
        <dsp:cNvPr id="0" name=""/>
        <dsp:cNvSpPr/>
      </dsp:nvSpPr>
      <dsp:spPr>
        <a:xfrm>
          <a:off x="1834688" y="1084266"/>
          <a:ext cx="559650" cy="279825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lvl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600" kern="1200" dirty="0" smtClean="0"/>
            <a:t>Controles Internos</a:t>
          </a:r>
          <a:endParaRPr lang="pt-BR" sz="600" kern="1200" dirty="0"/>
        </a:p>
      </dsp:txBody>
      <dsp:txXfrm>
        <a:off x="1834688" y="1084266"/>
        <a:ext cx="559650" cy="279825"/>
      </dsp:txXfrm>
    </dsp:sp>
    <dsp:sp modelId="{42EDF4B7-EA14-4A3B-B6B5-64F1479AE693}">
      <dsp:nvSpPr>
        <dsp:cNvPr id="0" name=""/>
        <dsp:cNvSpPr/>
      </dsp:nvSpPr>
      <dsp:spPr>
        <a:xfrm>
          <a:off x="517034" y="2169392"/>
          <a:ext cx="559650" cy="279825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lvl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600" kern="1200" dirty="0" smtClean="0"/>
            <a:t>Escritório de Projetos</a:t>
          </a:r>
          <a:endParaRPr lang="pt-BR" sz="600" kern="1200" dirty="0"/>
        </a:p>
      </dsp:txBody>
      <dsp:txXfrm>
        <a:off x="517034" y="2169392"/>
        <a:ext cx="559650" cy="279825"/>
      </dsp:txXfrm>
    </dsp:sp>
    <dsp:sp modelId="{18D68726-AE10-407C-BD1A-C88AD78F62F6}">
      <dsp:nvSpPr>
        <dsp:cNvPr id="0" name=""/>
        <dsp:cNvSpPr/>
      </dsp:nvSpPr>
      <dsp:spPr>
        <a:xfrm>
          <a:off x="1989705" y="1781845"/>
          <a:ext cx="559650" cy="279825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lvl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600" kern="1200" dirty="0" smtClean="0"/>
            <a:t>Escritório de Processos</a:t>
          </a:r>
          <a:endParaRPr lang="pt-BR" sz="600" kern="1200" dirty="0"/>
        </a:p>
      </dsp:txBody>
      <dsp:txXfrm>
        <a:off x="1989705" y="1781845"/>
        <a:ext cx="559650" cy="279825"/>
      </dsp:txXfrm>
    </dsp:sp>
    <dsp:sp modelId="{21F2D394-E1BC-4F51-B311-1F151B198CFC}">
      <dsp:nvSpPr>
        <dsp:cNvPr id="0" name=""/>
        <dsp:cNvSpPr/>
      </dsp:nvSpPr>
      <dsp:spPr>
        <a:xfrm>
          <a:off x="1679670" y="2789463"/>
          <a:ext cx="559650" cy="279825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lvl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600" kern="1200" dirty="0" smtClean="0"/>
            <a:t>Comunicação</a:t>
          </a:r>
          <a:endParaRPr lang="pt-BR" sz="600" kern="1200" dirty="0"/>
        </a:p>
      </dsp:txBody>
      <dsp:txXfrm>
        <a:off x="1679670" y="2789463"/>
        <a:ext cx="559650" cy="279825"/>
      </dsp:txXfrm>
    </dsp:sp>
    <dsp:sp modelId="{199B4936-3A09-44C8-AA5F-740B50DD5D6F}">
      <dsp:nvSpPr>
        <dsp:cNvPr id="0" name=""/>
        <dsp:cNvSpPr/>
      </dsp:nvSpPr>
      <dsp:spPr>
        <a:xfrm>
          <a:off x="7105306" y="386683"/>
          <a:ext cx="559650" cy="279825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lvl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600" kern="1200" dirty="0" smtClean="0"/>
            <a:t>Relacionamento com Parceiros</a:t>
          </a:r>
          <a:endParaRPr lang="pt-BR" sz="600" kern="1200" dirty="0"/>
        </a:p>
      </dsp:txBody>
      <dsp:txXfrm>
        <a:off x="7105306" y="386683"/>
        <a:ext cx="559650" cy="279825"/>
      </dsp:txXfrm>
    </dsp:sp>
    <dsp:sp modelId="{7D0DA54C-6125-46E2-9094-CDC349D38211}">
      <dsp:nvSpPr>
        <dsp:cNvPr id="0" name=""/>
        <dsp:cNvSpPr/>
      </dsp:nvSpPr>
      <dsp:spPr>
        <a:xfrm>
          <a:off x="7935990" y="1930071"/>
          <a:ext cx="559650" cy="279825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lvl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600" kern="1200" dirty="0" smtClean="0"/>
            <a:t>Inovação</a:t>
          </a:r>
          <a:endParaRPr lang="pt-BR" sz="600" kern="1200" dirty="0"/>
        </a:p>
      </dsp:txBody>
      <dsp:txXfrm>
        <a:off x="7935990" y="1930071"/>
        <a:ext cx="559650" cy="279825"/>
      </dsp:txXfrm>
    </dsp:sp>
    <dsp:sp modelId="{94FE12DD-CFD1-4AD0-81DF-E453D706F1AC}">
      <dsp:nvSpPr>
        <dsp:cNvPr id="0" name=""/>
        <dsp:cNvSpPr/>
      </dsp:nvSpPr>
      <dsp:spPr>
        <a:xfrm>
          <a:off x="5167576" y="3021990"/>
          <a:ext cx="2567750" cy="743233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lvl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BR" sz="600" kern="1200" dirty="0"/>
        </a:p>
      </dsp:txBody>
      <dsp:txXfrm>
        <a:off x="5167576" y="3021990"/>
        <a:ext cx="2567750" cy="743233"/>
      </dsp:txXfrm>
    </dsp:sp>
    <dsp:sp modelId="{C1785D80-840A-4A4B-A7F1-97DA71E6AA0C}">
      <dsp:nvSpPr>
        <dsp:cNvPr id="0" name=""/>
        <dsp:cNvSpPr/>
      </dsp:nvSpPr>
      <dsp:spPr>
        <a:xfrm>
          <a:off x="6097688" y="1936866"/>
          <a:ext cx="559650" cy="279825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lvl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600" kern="1200" dirty="0" smtClean="0"/>
            <a:t>Entrega de Serviços</a:t>
          </a:r>
          <a:endParaRPr lang="pt-BR" sz="600" kern="1200" dirty="0"/>
        </a:p>
      </dsp:txBody>
      <dsp:txXfrm>
        <a:off x="6097688" y="1936866"/>
        <a:ext cx="559650" cy="279825"/>
      </dsp:txXfrm>
    </dsp:sp>
    <dsp:sp modelId="{2ED821C7-80B2-40FE-99FF-97AC12ED724A}">
      <dsp:nvSpPr>
        <dsp:cNvPr id="0" name=""/>
        <dsp:cNvSpPr/>
      </dsp:nvSpPr>
      <dsp:spPr>
        <a:xfrm>
          <a:off x="4159959" y="3021990"/>
          <a:ext cx="1588328" cy="727881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lvl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BR" sz="600" kern="1200" dirty="0"/>
        </a:p>
      </dsp:txBody>
      <dsp:txXfrm>
        <a:off x="4159959" y="3021990"/>
        <a:ext cx="1588328" cy="727881"/>
      </dsp:txXfrm>
    </dsp:sp>
    <dsp:sp modelId="{0A9EAC71-F718-4F40-AC47-C6906E606364}">
      <dsp:nvSpPr>
        <dsp:cNvPr id="0" name=""/>
        <dsp:cNvSpPr/>
      </dsp:nvSpPr>
      <dsp:spPr>
        <a:xfrm>
          <a:off x="3384870" y="1936866"/>
          <a:ext cx="559650" cy="279825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lvl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600" kern="1200" dirty="0" smtClean="0"/>
            <a:t>Suporte aos Serviços</a:t>
          </a:r>
          <a:endParaRPr lang="pt-BR" sz="600" kern="1200" dirty="0"/>
        </a:p>
      </dsp:txBody>
      <dsp:txXfrm>
        <a:off x="3384870" y="1936866"/>
        <a:ext cx="559650" cy="279825"/>
      </dsp:txXfrm>
    </dsp:sp>
    <dsp:sp modelId="{8C0FCD44-3DED-4FA4-A3A7-4A5A413BC095}">
      <dsp:nvSpPr>
        <dsp:cNvPr id="0" name=""/>
        <dsp:cNvSpPr/>
      </dsp:nvSpPr>
      <dsp:spPr>
        <a:xfrm>
          <a:off x="4857541" y="3021990"/>
          <a:ext cx="2105792" cy="730512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lvl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600" kern="1200" dirty="0" smtClean="0"/>
            <a:t>Pool de Competências</a:t>
          </a:r>
          <a:endParaRPr lang="pt-BR" sz="600" kern="1200" dirty="0"/>
        </a:p>
      </dsp:txBody>
      <dsp:txXfrm>
        <a:off x="4857541" y="3021990"/>
        <a:ext cx="2105792" cy="73051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matrix1">
  <dgm:title val=""/>
  <dgm:desc val=""/>
  <dgm:catLst>
    <dgm:cat type="matrix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3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3" destOrd="0"/>
      </dgm:cxnLst>
      <dgm:bg/>
      <dgm:whole/>
    </dgm:dataModel>
  </dgm:clrData>
  <dgm:layoutNode name="diagram">
    <dgm:varLst>
      <dgm:chMax val="1"/>
      <dgm:dir/>
      <dgm:animLvl val="ctr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ctrX" for="ch" forName="matrix" refType="w" fact="0.5"/>
      <dgm:constr type="ctrY" for="ch" forName="matrix" refType="h" fact="0.5"/>
      <dgm:constr type="w" for="ch" forName="matrix" refType="w"/>
      <dgm:constr type="h" for="ch" forName="matrix" refType="h"/>
      <dgm:constr type="ctrX" for="ch" forName="centerTile" refType="w" fact="0.5"/>
      <dgm:constr type="ctrY" for="ch" forName="centerTile" refType="h" fact="0.5"/>
      <dgm:constr type="w" for="ch" forName="centerTile" refType="w" fact="0.3"/>
      <dgm:constr type="h" for="ch" forName="centerTile" refType="h" fact="0.25"/>
      <dgm:constr type="primFontSz" for="des" ptType="node" op="equ" val="65"/>
    </dgm:constrLst>
    <dgm:ruleLst/>
    <dgm:choose name="Name0">
      <dgm:if name="Name1" axis="ch" ptType="node" func="cnt" op="gte" val="1">
        <dgm:layoutNode name="matrix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l" for="ch" forName="tile1"/>
            <dgm:constr type="t" for="ch" forName="tile1"/>
            <dgm:constr type="r" for="ch" forName="tile1" refType="w" fact="0.5"/>
            <dgm:constr type="b" for="ch" forName="tile1" refType="h" fact="0.5"/>
            <dgm:constr type="l" for="ch" forName="tile1text" refType="l" refFor="ch" refForName="tile1"/>
            <dgm:constr type="t" for="ch" forName="tile1text" refType="t" refFor="ch" refForName="tile1"/>
            <dgm:constr type="w" for="ch" forName="tile1text" refType="w" refFor="ch" refForName="tile1"/>
            <dgm:constr type="h" for="ch" forName="tile1text" refType="h" refFor="ch" refForName="tile1" fact="0.75"/>
            <dgm:constr type="r" for="ch" forName="tile2" refType="w"/>
            <dgm:constr type="t" for="ch" forName="tile2"/>
            <dgm:constr type="l" for="ch" forName="tile2" refType="w" fact="0.5"/>
            <dgm:constr type="b" for="ch" forName="tile2" refType="h" fact="0.5"/>
            <dgm:constr type="r" for="ch" forName="tile2text" refType="r" refFor="ch" refForName="tile2"/>
            <dgm:constr type="t" for="ch" forName="tile2text" refType="t" refFor="ch" refForName="tile2"/>
            <dgm:constr type="w" for="ch" forName="tile2text" refType="w" refFor="ch" refForName="tile2"/>
            <dgm:constr type="h" for="ch" forName="tile2text" refType="h" refFor="ch" refForName="tile2" fact="0.75"/>
            <dgm:constr type="l" for="ch" forName="tile3"/>
            <dgm:constr type="b" for="ch" forName="tile3" refType="h"/>
            <dgm:constr type="r" for="ch" forName="tile3" refType="w" fact="0.5"/>
            <dgm:constr type="t" for="ch" forName="tile3" refType="h" fact="0.5"/>
            <dgm:constr type="l" for="ch" forName="tile3text" refType="l" refFor="ch" refForName="tile3"/>
            <dgm:constr type="b" for="ch" forName="tile3text" refType="b" refFor="ch" refForName="tile3"/>
            <dgm:constr type="w" for="ch" forName="tile3text" refType="w" refFor="ch" refForName="tile3"/>
            <dgm:constr type="h" for="ch" forName="tile3text" refType="h" refFor="ch" refForName="tile3" fact="0.75"/>
            <dgm:constr type="r" for="ch" forName="tile4" refType="w"/>
            <dgm:constr type="b" for="ch" forName="tile4" refType="h"/>
            <dgm:constr type="l" for="ch" forName="tile4" refType="w" fact="0.5"/>
            <dgm:constr type="t" for="ch" forName="tile4" refType="h" fact="0.5"/>
            <dgm:constr type="r" for="ch" forName="tile4text" refType="r" refFor="ch" refForName="tile4"/>
            <dgm:constr type="b" for="ch" forName="tile4text" refType="b" refFor="ch" refForName="tile4"/>
            <dgm:constr type="w" for="ch" forName="tile4text" refType="w" refFor="ch" refForName="tile4"/>
            <dgm:constr type="h" for="ch" forName="tile4text" refType="h" refFor="ch" refForName="tile4" fact="0.75"/>
          </dgm:constrLst>
          <dgm:ruleLst/>
          <dgm:layoutNode name="tile1" styleLbl="node1">
            <dgm:alg type="sp"/>
            <dgm:shape xmlns:r="http://schemas.openxmlformats.org/officeDocument/2006/relationships" rot="270" type="round1Rect" r:blip="">
              <dgm:adjLst/>
            </dgm:shape>
            <dgm:choose name="Name2">
              <dgm:if name="Name3" func="var" arg="dir" op="equ" val="norm">
                <dgm:presOf axis="ch ch desOrSelf" ptType="node node node" st="1 1 1" cnt="1 1 0"/>
              </dgm:if>
              <dgm:else name="Name4">
                <dgm:presOf axis="ch ch desOrSelf" ptType="node node node" st="1 2 1" cnt="1 1 0"/>
              </dgm:else>
            </dgm:choose>
            <dgm:constrLst/>
            <dgm:ruleLst/>
          </dgm:layoutNode>
          <dgm:layoutNode name="tile1text" styleLbl="node1">
            <dgm:varLst>
              <dgm:chMax val="0"/>
              <dgm:chPref val="0"/>
              <dgm:bulletEnabled val="1"/>
            </dgm:varLst>
            <dgm:choose name="Name5">
              <dgm:if name="Name6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7">
                <dgm:alg type="tx"/>
              </dgm:else>
            </dgm:choose>
            <dgm:shape xmlns:r="http://schemas.openxmlformats.org/officeDocument/2006/relationships" rot="270" type="rect" r:blip="" hideGeom="1">
              <dgm:adjLst>
                <dgm:adj idx="1" val="0.2"/>
              </dgm:adjLst>
            </dgm:shape>
            <dgm:choose name="Name8">
              <dgm:if name="Name9" func="var" arg="dir" op="equ" val="norm">
                <dgm:presOf axis="ch ch desOrSelf" ptType="node node node" st="1 1 1" cnt="1 1 0"/>
              </dgm:if>
              <dgm:else name="Name10">
                <dgm:presOf axis="ch ch desOrSelf" ptType="node node node" st="1 2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2" styleLbl="node1">
            <dgm:alg type="sp"/>
            <dgm:shape xmlns:r="http://schemas.openxmlformats.org/officeDocument/2006/relationships" type="round1Rect" r:blip="">
              <dgm:adjLst/>
            </dgm:shape>
            <dgm:choose name="Name11">
              <dgm:if name="Name12" func="var" arg="dir" op="equ" val="norm">
                <dgm:presOf axis="ch ch desOrSelf" ptType="node node node" st="1 2 1" cnt="1 1 0"/>
              </dgm:if>
              <dgm:else name="Name13">
                <dgm:presOf axis="ch ch desOrSelf" ptType="node node node" st="1 1 1" cnt="1 1 0"/>
              </dgm:else>
            </dgm:choose>
            <dgm:constrLst/>
            <dgm:ruleLst/>
          </dgm:layoutNode>
          <dgm:layoutNode name="tile2text" styleLbl="node1">
            <dgm:varLst>
              <dgm:chMax val="0"/>
              <dgm:chPref val="0"/>
              <dgm:bulletEnabled val="1"/>
            </dgm:varLst>
            <dgm:choose name="Name14">
              <dgm:if name="Name15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16">
                <dgm:alg type="tx"/>
              </dgm:else>
            </dgm:choose>
            <dgm:shape xmlns:r="http://schemas.openxmlformats.org/officeDocument/2006/relationships" type="rect" r:blip="" hideGeom="1">
              <dgm:adjLst/>
            </dgm:shape>
            <dgm:choose name="Name17">
              <dgm:if name="Name18" func="var" arg="dir" op="equ" val="norm">
                <dgm:presOf axis="ch ch desOrSelf" ptType="node node node" st="1 2 1" cnt="1 1 0"/>
              </dgm:if>
              <dgm:else name="Name19">
                <dgm:presOf axis="ch ch desOrSelf" ptType="node node node" st="1 1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3" styleLbl="node1">
            <dgm:alg type="sp"/>
            <dgm:shape xmlns:r="http://schemas.openxmlformats.org/officeDocument/2006/relationships" rot="180" type="round1Rect" r:blip="">
              <dgm:adjLst/>
            </dgm:shape>
            <dgm:choose name="Name20">
              <dgm:if name="Name21" func="var" arg="dir" op="equ" val="norm">
                <dgm:presOf axis="ch ch desOrSelf" ptType="node node node" st="1 3 1" cnt="1 1 0"/>
              </dgm:if>
              <dgm:else name="Name22">
                <dgm:presOf axis="ch ch desOrSelf" ptType="node node node" st="1 4 1" cnt="1 1 0"/>
              </dgm:else>
            </dgm:choose>
            <dgm:constrLst/>
            <dgm:ruleLst/>
          </dgm:layoutNode>
          <dgm:layoutNode name="tile3text" styleLbl="node1">
            <dgm:varLst>
              <dgm:chMax val="0"/>
              <dgm:chPref val="0"/>
              <dgm:bulletEnabled val="1"/>
            </dgm:varLst>
            <dgm:choose name="Name23">
              <dgm:if name="Name24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25">
                <dgm:alg type="tx"/>
              </dgm:else>
            </dgm:choose>
            <dgm:shape xmlns:r="http://schemas.openxmlformats.org/officeDocument/2006/relationships" rot="180" type="rect" r:blip="" hideGeom="1">
              <dgm:adjLst/>
            </dgm:shape>
            <dgm:choose name="Name26">
              <dgm:if name="Name27" func="var" arg="dir" op="equ" val="norm">
                <dgm:presOf axis="ch ch desOrSelf" ptType="node node node" st="1 3 1" cnt="1 1 0"/>
              </dgm:if>
              <dgm:else name="Name28">
                <dgm:presOf axis="ch ch desOrSelf" ptType="node node node" st="1 4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4" styleLbl="node1">
            <dgm:alg type="sp"/>
            <dgm:shape xmlns:r="http://schemas.openxmlformats.org/officeDocument/2006/relationships" rot="90" type="round1Rect" r:blip="">
              <dgm:adjLst/>
            </dgm:shape>
            <dgm:choose name="Name29">
              <dgm:if name="Name30" func="var" arg="dir" op="equ" val="norm">
                <dgm:presOf axis="ch ch desOrSelf" ptType="node node node" st="1 4 1" cnt="1 1 0"/>
              </dgm:if>
              <dgm:else name="Name31">
                <dgm:presOf axis="ch ch desOrSelf" ptType="node node node" st="1 3 1" cnt="1 1 0"/>
              </dgm:else>
            </dgm:choose>
            <dgm:constrLst/>
            <dgm:ruleLst/>
          </dgm:layoutNode>
          <dgm:layoutNode name="tile4text" styleLbl="node1">
            <dgm:varLst>
              <dgm:chMax val="0"/>
              <dgm:chPref val="0"/>
              <dgm:bulletEnabled val="1"/>
            </dgm:varLst>
            <dgm:choose name="Name32">
              <dgm:if name="Name33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34">
                <dgm:alg type="tx"/>
              </dgm:else>
            </dgm:choose>
            <dgm:shape xmlns:r="http://schemas.openxmlformats.org/officeDocument/2006/relationships" rot="90" type="rect" r:blip="" hideGeom="1">
              <dgm:adjLst/>
            </dgm:shape>
            <dgm:choose name="Name35">
              <dgm:if name="Name36" func="var" arg="dir" op="equ" val="norm">
                <dgm:presOf axis="ch ch desOrSelf" ptType="node node node" st="1 4 1" cnt="1 1 0"/>
              </dgm:if>
              <dgm:else name="Name37">
                <dgm:presOf axis="ch ch desOrSelf" ptType="node node node" st="1 3 1" cnt="1 1 0"/>
              </dgm:else>
            </dgm:choose>
            <dgm:constrLst/>
            <dgm:ruleLst>
              <dgm:rule type="primFontSz" val="5" fact="NaN" max="NaN"/>
            </dgm:ruleLst>
          </dgm:layoutNode>
        </dgm:layoutNode>
        <dgm:layoutNode name="centerTile" styleLbl="fgShp">
          <dgm:varLst>
            <dgm:chMax val="0"/>
            <dgm:chPref val="0"/>
          </dgm:varLst>
          <dgm:alg type="tx"/>
          <dgm:shape xmlns:r="http://schemas.openxmlformats.org/officeDocument/2006/relationships" type="roundRect" r:blip="">
            <dgm:adjLst/>
          </dgm:shape>
          <dgm:presOf axis="ch" ptType="node" cnt="1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38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9DE6E5-E07D-4B09-8E65-F65F958CE3EF}" type="datetimeFigureOut">
              <a:rPr lang="pt-BR" smtClean="0"/>
              <a:t>14/08/2015</a:t>
            </a:fld>
            <a:endParaRPr lang="pt-BR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D78FC1-7175-4FC0-9A71-4055CB28838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676287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81781-342B-4DE8-B23F-A8BE0A6A0156}" type="slidenum">
              <a:rPr lang="pt-BR" smtClean="0"/>
              <a:t>1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493701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D78FC1-7175-4FC0-9A71-4055CB288384}" type="slidenum">
              <a:rPr lang="pt-BR" smtClean="0"/>
              <a:t>4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624990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D78FC1-7175-4FC0-9A71-4055CB288384}" type="slidenum">
              <a:rPr lang="pt-BR" smtClean="0"/>
              <a:t>5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456760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D78FC1-7175-4FC0-9A71-4055CB288384}" type="slidenum">
              <a:rPr lang="pt-BR" smtClean="0"/>
              <a:t>6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743217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D78FC1-7175-4FC0-9A71-4055CB288384}" type="slidenum">
              <a:rPr lang="pt-BR" smtClean="0"/>
              <a:t>7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933461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D78FC1-7175-4FC0-9A71-4055CB288384}" type="slidenum">
              <a:rPr lang="pt-BR" smtClean="0"/>
              <a:t>8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421054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D78FC1-7175-4FC0-9A71-4055CB288384}" type="slidenum">
              <a:rPr lang="pt-BR" smtClean="0"/>
              <a:t>9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271329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D78FC1-7175-4FC0-9A71-4055CB288384}" type="slidenum">
              <a:rPr lang="pt-BR" smtClean="0"/>
              <a:t>10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512626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D78FC1-7175-4FC0-9A71-4055CB288384}" type="slidenum">
              <a:rPr lang="pt-BR" smtClean="0"/>
              <a:t>11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558588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D78FC1-7175-4FC0-9A71-4055CB288384}" type="slidenum">
              <a:rPr lang="pt-BR" smtClean="0"/>
              <a:t>12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8247004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D78FC1-7175-4FC0-9A71-4055CB288384}" type="slidenum">
              <a:rPr lang="pt-BR" smtClean="0"/>
              <a:t>13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82167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D78FC1-7175-4FC0-9A71-4055CB288384}" type="slidenum">
              <a:rPr lang="pt-BR" smtClean="0"/>
              <a:t>14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7389641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D78FC1-7175-4FC0-9A71-4055CB288384}" type="slidenum">
              <a:rPr lang="pt-BR" smtClean="0"/>
              <a:t>15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3172783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D78FC1-7175-4FC0-9A71-4055CB288384}" type="slidenum">
              <a:rPr lang="pt-BR" smtClean="0"/>
              <a:t>16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1614006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D78FC1-7175-4FC0-9A71-4055CB288384}" type="slidenum">
              <a:rPr lang="pt-BR" smtClean="0"/>
              <a:t>17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5353810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D78FC1-7175-4FC0-9A71-4055CB288384}" type="slidenum">
              <a:rPr lang="pt-BR" smtClean="0"/>
              <a:t>18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9581289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D78FC1-7175-4FC0-9A71-4055CB288384}" type="slidenum">
              <a:rPr lang="pt-BR" smtClean="0"/>
              <a:t>19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2858720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D78FC1-7175-4FC0-9A71-4055CB288384}" type="slidenum">
              <a:rPr lang="pt-BR" smtClean="0"/>
              <a:t>20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3858861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D78FC1-7175-4FC0-9A71-4055CB288384}" type="slidenum">
              <a:rPr lang="pt-BR" smtClean="0"/>
              <a:t>21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1546001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D78FC1-7175-4FC0-9A71-4055CB288384}" type="slidenum">
              <a:rPr lang="pt-BR" smtClean="0"/>
              <a:t>22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229892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D78FC1-7175-4FC0-9A71-4055CB288384}" type="slidenum">
              <a:rPr lang="pt-BR" smtClean="0"/>
              <a:t>23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2054414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D78FC1-7175-4FC0-9A71-4055CB288384}" type="slidenum">
              <a:rPr lang="pt-BR" smtClean="0"/>
              <a:t>24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826815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D78FC1-7175-4FC0-9A71-4055CB288384}" type="slidenum">
              <a:rPr lang="pt-BR" smtClean="0"/>
              <a:t>25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4463816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D78FC1-7175-4FC0-9A71-4055CB288384}" type="slidenum">
              <a:rPr lang="pt-BR" smtClean="0"/>
              <a:t>26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5282046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D78FC1-7175-4FC0-9A71-4055CB288384}" type="slidenum">
              <a:rPr lang="pt-BR" smtClean="0"/>
              <a:t>27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0557582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D78FC1-7175-4FC0-9A71-4055CB288384}" type="slidenum">
              <a:rPr lang="pt-BR" smtClean="0"/>
              <a:t>28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5963601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D78FC1-7175-4FC0-9A71-4055CB288384}" type="slidenum">
              <a:rPr lang="pt-BR" smtClean="0"/>
              <a:t>29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6682386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D78FC1-7175-4FC0-9A71-4055CB288384}" type="slidenum">
              <a:rPr lang="pt-BR" smtClean="0"/>
              <a:t>30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7469995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D78FC1-7175-4FC0-9A71-4055CB288384}" type="slidenum">
              <a:rPr lang="pt-BR" smtClean="0"/>
              <a:t>31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7823046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D78FC1-7175-4FC0-9A71-4055CB288384}" type="slidenum">
              <a:rPr lang="pt-BR" smtClean="0"/>
              <a:t>32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0334716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D78FC1-7175-4FC0-9A71-4055CB288384}" type="slidenum">
              <a:rPr lang="pt-BR" smtClean="0"/>
              <a:t>33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6750442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D78FC1-7175-4FC0-9A71-4055CB288384}" type="slidenum">
              <a:rPr lang="pt-BR" smtClean="0"/>
              <a:t>34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2050924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D78FC1-7175-4FC0-9A71-4055CB288384}" type="slidenum">
              <a:rPr lang="pt-BR" smtClean="0"/>
              <a:t>35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5877167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D78FC1-7175-4FC0-9A71-4055CB288384}" type="slidenum">
              <a:rPr lang="pt-BR" smtClean="0"/>
              <a:t>36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3622830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D78FC1-7175-4FC0-9A71-4055CB288384}" type="slidenum">
              <a:rPr lang="pt-BR" smtClean="0"/>
              <a:t>37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1381030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D78FC1-7175-4FC0-9A71-4055CB288384}" type="slidenum">
              <a:rPr lang="pt-BR" smtClean="0"/>
              <a:t>39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400347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1598315"/>
            <a:ext cx="7772400" cy="1102859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2915550"/>
            <a:ext cx="6400801" cy="1314856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4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060FA-F017-416B-92AB-F93AA45D987F}" type="datetimeFigureOut">
              <a:rPr lang="pt-BR" smtClean="0"/>
              <a:t>14/08/2015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31A60-F3A3-4CCE-B6C5-97A8C15ACE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701309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060FA-F017-416B-92AB-F93AA45D987F}" type="datetimeFigureOut">
              <a:rPr lang="pt-BR" smtClean="0"/>
              <a:t>14/08/2015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31A60-F3A3-4CCE-B6C5-97A8C15ACE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793262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3306196"/>
            <a:ext cx="7772400" cy="102187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180708"/>
            <a:ext cx="7772400" cy="112548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1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2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38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4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5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6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060FA-F017-416B-92AB-F93AA45D987F}" type="datetimeFigureOut">
              <a:rPr lang="pt-BR" smtClean="0"/>
              <a:t>14/08/2015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31A60-F3A3-4CCE-B6C5-97A8C15ACE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998141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1" y="900391"/>
            <a:ext cx="4038600" cy="2547534"/>
          </a:xfrm>
        </p:spPr>
        <p:txBody>
          <a:bodyPr/>
          <a:lstStyle>
            <a:lvl1pPr>
              <a:defRPr sz="2801"/>
            </a:lvl1pPr>
            <a:lvl2pPr>
              <a:defRPr sz="2399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900391"/>
            <a:ext cx="4038600" cy="2547534"/>
          </a:xfrm>
        </p:spPr>
        <p:txBody>
          <a:bodyPr/>
          <a:lstStyle>
            <a:lvl1pPr>
              <a:defRPr sz="2801"/>
            </a:lvl1pPr>
            <a:lvl2pPr>
              <a:defRPr sz="2399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060FA-F017-416B-92AB-F93AA45D987F}" type="datetimeFigureOut">
              <a:rPr lang="pt-BR" smtClean="0"/>
              <a:t>14/08/2015</a:t>
            </a:fld>
            <a:endParaRPr lang="pt-BR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31A60-F3A3-4CCE-B6C5-97A8C15ACE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796571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1" y="206044"/>
            <a:ext cx="8229600" cy="857515"/>
          </a:xfrm>
        </p:spPr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151690"/>
            <a:ext cx="4040188" cy="479970"/>
          </a:xfrm>
        </p:spPr>
        <p:txBody>
          <a:bodyPr anchor="b"/>
          <a:lstStyle>
            <a:lvl1pPr marL="0" indent="0">
              <a:buNone/>
              <a:defRPr sz="2399" b="1"/>
            </a:lvl1pPr>
            <a:lvl2pPr marL="457207" indent="0">
              <a:buNone/>
              <a:defRPr sz="2000" b="1"/>
            </a:lvl2pPr>
            <a:lvl3pPr marL="914415" indent="0">
              <a:buNone/>
              <a:defRPr sz="1800" b="1"/>
            </a:lvl3pPr>
            <a:lvl4pPr marL="1371622" indent="0">
              <a:buNone/>
              <a:defRPr sz="1600" b="1"/>
            </a:lvl4pPr>
            <a:lvl5pPr marL="1828831" indent="0">
              <a:buNone/>
              <a:defRPr sz="1600" b="1"/>
            </a:lvl5pPr>
            <a:lvl6pPr marL="2286038" indent="0">
              <a:buNone/>
              <a:defRPr sz="1600" b="1"/>
            </a:lvl6pPr>
            <a:lvl7pPr marL="2743246" indent="0">
              <a:buNone/>
              <a:defRPr sz="1600" b="1"/>
            </a:lvl7pPr>
            <a:lvl8pPr marL="3200453" indent="0">
              <a:buNone/>
              <a:defRPr sz="1600" b="1"/>
            </a:lvl8pPr>
            <a:lvl9pPr marL="3657661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1631662"/>
            <a:ext cx="4040188" cy="2964381"/>
          </a:xfrm>
        </p:spPr>
        <p:txBody>
          <a:bodyPr/>
          <a:lstStyle>
            <a:lvl1pPr>
              <a:defRPr sz="2399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8" y="1151690"/>
            <a:ext cx="4041775" cy="479970"/>
          </a:xfrm>
        </p:spPr>
        <p:txBody>
          <a:bodyPr anchor="b"/>
          <a:lstStyle>
            <a:lvl1pPr marL="0" indent="0">
              <a:buNone/>
              <a:defRPr sz="2399" b="1"/>
            </a:lvl1pPr>
            <a:lvl2pPr marL="457207" indent="0">
              <a:buNone/>
              <a:defRPr sz="2000" b="1"/>
            </a:lvl2pPr>
            <a:lvl3pPr marL="914415" indent="0">
              <a:buNone/>
              <a:defRPr sz="1800" b="1"/>
            </a:lvl3pPr>
            <a:lvl4pPr marL="1371622" indent="0">
              <a:buNone/>
              <a:defRPr sz="1600" b="1"/>
            </a:lvl4pPr>
            <a:lvl5pPr marL="1828831" indent="0">
              <a:buNone/>
              <a:defRPr sz="1600" b="1"/>
            </a:lvl5pPr>
            <a:lvl6pPr marL="2286038" indent="0">
              <a:buNone/>
              <a:defRPr sz="1600" b="1"/>
            </a:lvl6pPr>
            <a:lvl7pPr marL="2743246" indent="0">
              <a:buNone/>
              <a:defRPr sz="1600" b="1"/>
            </a:lvl7pPr>
            <a:lvl8pPr marL="3200453" indent="0">
              <a:buNone/>
              <a:defRPr sz="1600" b="1"/>
            </a:lvl8pPr>
            <a:lvl9pPr marL="3657661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8" y="1631662"/>
            <a:ext cx="4041775" cy="2964381"/>
          </a:xfrm>
        </p:spPr>
        <p:txBody>
          <a:bodyPr/>
          <a:lstStyle>
            <a:lvl1pPr>
              <a:defRPr sz="2399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060FA-F017-416B-92AB-F93AA45D987F}" type="datetimeFigureOut">
              <a:rPr lang="pt-BR" smtClean="0"/>
              <a:t>14/08/2015</a:t>
            </a:fld>
            <a:endParaRPr lang="pt-BR" dirty="0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31A60-F3A3-4CCE-B6C5-97A8C15ACE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548150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060FA-F017-416B-92AB-F93AA45D987F}" type="datetimeFigureOut">
              <a:rPr lang="pt-BR" smtClean="0"/>
              <a:t>14/08/2015</a:t>
            </a:fld>
            <a:endParaRPr lang="pt-BR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31A60-F3A3-4CCE-B6C5-97A8C15ACE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479660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060FA-F017-416B-92AB-F93AA45D987F}" type="datetimeFigureOut">
              <a:rPr lang="pt-BR" smtClean="0"/>
              <a:t>14/08/2015</a:t>
            </a:fld>
            <a:endParaRPr lang="pt-BR" dirty="0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31A60-F3A3-4CCE-B6C5-97A8C15ACE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555651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3" y="204853"/>
            <a:ext cx="3008313" cy="87180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49" y="204851"/>
            <a:ext cx="5111750" cy="4391190"/>
          </a:xfrm>
        </p:spPr>
        <p:txBody>
          <a:bodyPr/>
          <a:lstStyle>
            <a:lvl1pPr>
              <a:defRPr sz="3201"/>
            </a:lvl1pPr>
            <a:lvl2pPr>
              <a:defRPr sz="2801"/>
            </a:lvl2pPr>
            <a:lvl3pPr>
              <a:defRPr sz="2399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3" y="1076660"/>
            <a:ext cx="3008313" cy="3519383"/>
          </a:xfrm>
        </p:spPr>
        <p:txBody>
          <a:bodyPr/>
          <a:lstStyle>
            <a:lvl1pPr marL="0" indent="0">
              <a:buNone/>
              <a:defRPr sz="1400"/>
            </a:lvl1pPr>
            <a:lvl2pPr marL="457207" indent="0">
              <a:buNone/>
              <a:defRPr sz="1200"/>
            </a:lvl2pPr>
            <a:lvl3pPr marL="914415" indent="0">
              <a:buNone/>
              <a:defRPr sz="1000"/>
            </a:lvl3pPr>
            <a:lvl4pPr marL="1371622" indent="0">
              <a:buNone/>
              <a:defRPr sz="900"/>
            </a:lvl4pPr>
            <a:lvl5pPr marL="1828831" indent="0">
              <a:buNone/>
              <a:defRPr sz="900"/>
            </a:lvl5pPr>
            <a:lvl6pPr marL="2286038" indent="0">
              <a:buNone/>
              <a:defRPr sz="900"/>
            </a:lvl6pPr>
            <a:lvl7pPr marL="2743246" indent="0">
              <a:buNone/>
              <a:defRPr sz="900"/>
            </a:lvl7pPr>
            <a:lvl8pPr marL="3200453" indent="0">
              <a:buNone/>
              <a:defRPr sz="900"/>
            </a:lvl8pPr>
            <a:lvl9pPr marL="3657661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060FA-F017-416B-92AB-F93AA45D987F}" type="datetimeFigureOut">
              <a:rPr lang="pt-BR" smtClean="0"/>
              <a:t>14/08/2015</a:t>
            </a:fld>
            <a:endParaRPr lang="pt-BR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31A60-F3A3-4CCE-B6C5-97A8C15ACE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854304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3601563"/>
            <a:ext cx="5486400" cy="42518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459725"/>
            <a:ext cx="5486400" cy="3087053"/>
          </a:xfrm>
        </p:spPr>
        <p:txBody>
          <a:bodyPr/>
          <a:lstStyle>
            <a:lvl1pPr marL="0" indent="0">
              <a:buNone/>
              <a:defRPr sz="3201"/>
            </a:lvl1pPr>
            <a:lvl2pPr marL="457207" indent="0">
              <a:buNone/>
              <a:defRPr sz="2801"/>
            </a:lvl2pPr>
            <a:lvl3pPr marL="914415" indent="0">
              <a:buNone/>
              <a:defRPr sz="2399"/>
            </a:lvl3pPr>
            <a:lvl4pPr marL="1371622" indent="0">
              <a:buNone/>
              <a:defRPr sz="2000"/>
            </a:lvl4pPr>
            <a:lvl5pPr marL="1828831" indent="0">
              <a:buNone/>
              <a:defRPr sz="2000"/>
            </a:lvl5pPr>
            <a:lvl6pPr marL="2286038" indent="0">
              <a:buNone/>
              <a:defRPr sz="2000"/>
            </a:lvl6pPr>
            <a:lvl7pPr marL="2743246" indent="0">
              <a:buNone/>
              <a:defRPr sz="2000"/>
            </a:lvl7pPr>
            <a:lvl8pPr marL="3200453" indent="0">
              <a:buNone/>
              <a:defRPr sz="2000"/>
            </a:lvl8pPr>
            <a:lvl9pPr marL="3657661" indent="0">
              <a:buNone/>
              <a:defRPr sz="2000"/>
            </a:lvl9pPr>
          </a:lstStyle>
          <a:p>
            <a:endParaRPr lang="pt-BR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4026748"/>
            <a:ext cx="5486400" cy="603833"/>
          </a:xfrm>
        </p:spPr>
        <p:txBody>
          <a:bodyPr/>
          <a:lstStyle>
            <a:lvl1pPr marL="0" indent="0">
              <a:buNone/>
              <a:defRPr sz="1400"/>
            </a:lvl1pPr>
            <a:lvl2pPr marL="457207" indent="0">
              <a:buNone/>
              <a:defRPr sz="1200"/>
            </a:lvl2pPr>
            <a:lvl3pPr marL="914415" indent="0">
              <a:buNone/>
              <a:defRPr sz="1000"/>
            </a:lvl3pPr>
            <a:lvl4pPr marL="1371622" indent="0">
              <a:buNone/>
              <a:defRPr sz="900"/>
            </a:lvl4pPr>
            <a:lvl5pPr marL="1828831" indent="0">
              <a:buNone/>
              <a:defRPr sz="900"/>
            </a:lvl5pPr>
            <a:lvl6pPr marL="2286038" indent="0">
              <a:buNone/>
              <a:defRPr sz="900"/>
            </a:lvl6pPr>
            <a:lvl7pPr marL="2743246" indent="0">
              <a:buNone/>
              <a:defRPr sz="900"/>
            </a:lvl7pPr>
            <a:lvl8pPr marL="3200453" indent="0">
              <a:buNone/>
              <a:defRPr sz="900"/>
            </a:lvl8pPr>
            <a:lvl9pPr marL="3657661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060FA-F017-416B-92AB-F93AA45D987F}" type="datetimeFigureOut">
              <a:rPr lang="pt-BR" smtClean="0"/>
              <a:t>14/08/2015</a:t>
            </a:fld>
            <a:endParaRPr lang="pt-BR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31A60-F3A3-4CCE-B6C5-97A8C15ACE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181874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060FA-F017-416B-92AB-F93AA45D987F}" type="datetimeFigureOut">
              <a:rPr lang="pt-BR" smtClean="0"/>
              <a:t>14/08/2015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31A60-F3A3-4CCE-B6C5-97A8C15ACE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62467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154831"/>
            <a:ext cx="2057400" cy="3293095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2" y="154831"/>
            <a:ext cx="6019799" cy="3293095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060FA-F017-416B-92AB-F93AA45D987F}" type="datetimeFigureOut">
              <a:rPr lang="pt-BR" smtClean="0"/>
              <a:t>14/08/2015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31A60-F3A3-4CCE-B6C5-97A8C15ACE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229614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3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1" y="206044"/>
            <a:ext cx="8229600" cy="8575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1" y="1200521"/>
            <a:ext cx="8229600" cy="33955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4768735"/>
            <a:ext cx="2133601" cy="2739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E060FA-F017-416B-92AB-F93AA45D987F}" type="datetimeFigureOut">
              <a:rPr lang="pt-BR" smtClean="0"/>
              <a:t>14/08/2015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1" y="4768735"/>
            <a:ext cx="2895600" cy="2739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4768735"/>
            <a:ext cx="2133601" cy="2739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231A60-F3A3-4CCE-B6C5-97A8C15ACE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892992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15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6" indent="-342906" algn="l" defTabSz="914415" rtl="0" eaLnBrk="1" latinLnBrk="0" hangingPunct="1">
        <a:spcBef>
          <a:spcPct val="20000"/>
        </a:spcBef>
        <a:buFont typeface="Arial" pitchFamily="34" charset="0"/>
        <a:buChar char="•"/>
        <a:defRPr sz="3201" kern="1200">
          <a:solidFill>
            <a:schemeClr val="tx1"/>
          </a:solidFill>
          <a:latin typeface="+mn-lt"/>
          <a:ea typeface="+mn-ea"/>
          <a:cs typeface="+mn-cs"/>
        </a:defRPr>
      </a:lvl1pPr>
      <a:lvl2pPr marL="742962" indent="-285755" algn="l" defTabSz="914415" rtl="0" eaLnBrk="1" latinLnBrk="0" hangingPunct="1">
        <a:spcBef>
          <a:spcPct val="20000"/>
        </a:spcBef>
        <a:buFont typeface="Arial" pitchFamily="34" charset="0"/>
        <a:buChar char="–"/>
        <a:defRPr sz="2801" kern="1200">
          <a:solidFill>
            <a:schemeClr val="tx1"/>
          </a:solidFill>
          <a:latin typeface="+mn-lt"/>
          <a:ea typeface="+mn-ea"/>
          <a:cs typeface="+mn-cs"/>
        </a:defRPr>
      </a:lvl2pPr>
      <a:lvl3pPr marL="1143020" indent="-228604" algn="l" defTabSz="914415" rtl="0" eaLnBrk="1" latinLnBrk="0" hangingPunct="1">
        <a:spcBef>
          <a:spcPct val="20000"/>
        </a:spcBef>
        <a:buFont typeface="Arial" pitchFamily="34" charset="0"/>
        <a:buChar char="•"/>
        <a:defRPr sz="2399" kern="1200">
          <a:solidFill>
            <a:schemeClr val="tx1"/>
          </a:solidFill>
          <a:latin typeface="+mn-lt"/>
          <a:ea typeface="+mn-ea"/>
          <a:cs typeface="+mn-cs"/>
        </a:defRPr>
      </a:lvl3pPr>
      <a:lvl4pPr marL="1600227" indent="-228604" algn="l" defTabSz="914415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34" indent="-228604" algn="l" defTabSz="914415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42" indent="-228604" algn="l" defTabSz="914415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49" indent="-228604" algn="l" defTabSz="914415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57" indent="-228604" algn="l" defTabSz="914415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64" indent="-228604" algn="l" defTabSz="914415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1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91441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91441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91441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91441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91441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91441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91441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91441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jpeg"/></Relationships>
</file>

<file path=ppt/slides/_rels/slide19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3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9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jpeg"/><Relationship Id="rId5" Type="http://schemas.openxmlformats.org/officeDocument/2006/relationships/image" Target="../media/image17.jpeg"/><Relationship Id="rId4" Type="http://schemas.openxmlformats.org/officeDocument/2006/relationships/image" Target="../media/image1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e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e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6.jp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7.gif"/><Relationship Id="rId4" Type="http://schemas.openxmlformats.org/officeDocument/2006/relationships/image" Target="../media/image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4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5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3.png"/><Relationship Id="rId7" Type="http://schemas.openxmlformats.org/officeDocument/2006/relationships/diagramColors" Target="../diagrams/colors2.xml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3F377-FF4E-4DB0-BA25-7D8400C0382B}" type="slidenum">
              <a:rPr lang="pt-BR" smtClean="0"/>
              <a:t>1</a:t>
            </a:fld>
            <a:endParaRPr lang="pt-BR" dirty="0"/>
          </a:p>
        </p:txBody>
      </p:sp>
      <p:grpSp>
        <p:nvGrpSpPr>
          <p:cNvPr id="6" name="Grupo 5"/>
          <p:cNvGrpSpPr/>
          <p:nvPr/>
        </p:nvGrpSpPr>
        <p:grpSpPr>
          <a:xfrm>
            <a:off x="459924" y="753035"/>
            <a:ext cx="3979068" cy="3691717"/>
            <a:chOff x="323657" y="916360"/>
            <a:chExt cx="3979068" cy="3691717"/>
          </a:xfrm>
          <a:solidFill>
            <a:srgbClr val="7030A0"/>
          </a:solidFill>
        </p:grpSpPr>
        <p:sp>
          <p:nvSpPr>
            <p:cNvPr id="4" name="Retângulo 3"/>
            <p:cNvSpPr/>
            <p:nvPr/>
          </p:nvSpPr>
          <p:spPr>
            <a:xfrm>
              <a:off x="323657" y="916360"/>
              <a:ext cx="3979068" cy="369171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89" rIns="68580" bIns="34289" rtlCol="0" anchor="ctr"/>
            <a:lstStyle/>
            <a:p>
              <a:pPr algn="ctr"/>
              <a:endParaRPr lang="es-ES_tradnl" dirty="0"/>
            </a:p>
          </p:txBody>
        </p:sp>
        <p:sp>
          <p:nvSpPr>
            <p:cNvPr id="3" name="CaixaDeTexto 2"/>
            <p:cNvSpPr txBox="1"/>
            <p:nvPr/>
          </p:nvSpPr>
          <p:spPr>
            <a:xfrm>
              <a:off x="483707" y="1107266"/>
              <a:ext cx="3658970" cy="2069411"/>
            </a:xfrm>
            <a:prstGeom prst="rect">
              <a:avLst/>
            </a:prstGeom>
            <a:grpFill/>
          </p:spPr>
          <p:txBody>
            <a:bodyPr wrap="square" lIns="68580" tIns="34289" rIns="68580" bIns="34289" rtlCol="0">
              <a:spAutoFit/>
            </a:bodyPr>
            <a:lstStyle/>
            <a:p>
              <a:pPr algn="ctr"/>
              <a:r>
                <a:rPr lang="pt-BR" sz="2000" b="1" dirty="0" smtClean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Gill Sans Std ExtraBold" pitchFamily="34" charset="0"/>
                </a:rPr>
                <a:t>Projeto</a:t>
              </a:r>
            </a:p>
            <a:p>
              <a:pPr algn="ctr"/>
              <a:endParaRPr lang="pt-BR" sz="1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endParaRPr>
            </a:p>
            <a:p>
              <a:pPr algn="ctr"/>
              <a:r>
                <a:rPr lang="pt-BR" sz="2399" b="1" dirty="0" smtClean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Gill Sans Std Light" pitchFamily="34" charset="0"/>
                </a:rPr>
                <a:t>Melhoria </a:t>
              </a:r>
              <a:r>
                <a:rPr lang="pt-BR" sz="2399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Gill Sans Std Light" pitchFamily="34" charset="0"/>
                </a:rPr>
                <a:t>Contínua dos Serviços de </a:t>
              </a:r>
              <a:r>
                <a:rPr lang="pt-BR" sz="2399" b="1" dirty="0" smtClean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Gill Sans Std Light" pitchFamily="34" charset="0"/>
                </a:rPr>
                <a:t>TD</a:t>
              </a:r>
            </a:p>
            <a:p>
              <a:pPr algn="ctr"/>
              <a:endParaRPr lang="pt-BR" sz="10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endParaRPr>
            </a:p>
            <a:p>
              <a:pPr algn="ctr"/>
              <a:r>
                <a:rPr lang="pt-BR" b="1" dirty="0" smtClean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Gill Sans Std Light" pitchFamily="34" charset="0"/>
                </a:rPr>
                <a:t>Diagnóstico e Plano de Ação</a:t>
              </a:r>
              <a:endParaRPr 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endParaRPr>
            </a:p>
            <a:p>
              <a:pPr algn="ctr"/>
              <a:endParaRPr lang="pt-BR" sz="2399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endParaRPr>
            </a:p>
          </p:txBody>
        </p:sp>
        <p:grpSp>
          <p:nvGrpSpPr>
            <p:cNvPr id="5" name="Grupo 4"/>
            <p:cNvGrpSpPr/>
            <p:nvPr/>
          </p:nvGrpSpPr>
          <p:grpSpPr>
            <a:xfrm>
              <a:off x="539552" y="3294852"/>
              <a:ext cx="3363812" cy="809169"/>
              <a:chOff x="683568" y="3150836"/>
              <a:chExt cx="3363812" cy="809169"/>
            </a:xfrm>
            <a:grpFill/>
          </p:grpSpPr>
          <p:pic>
            <p:nvPicPr>
              <p:cNvPr id="7" name="Picture 8" descr="NAT_marca_branca_natura-01.png"/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347864" y="3217906"/>
                <a:ext cx="699516" cy="63684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cxnSp>
            <p:nvCxnSpPr>
              <p:cNvPr id="8" name="Conector reto 7"/>
              <p:cNvCxnSpPr/>
              <p:nvPr/>
            </p:nvCxnSpPr>
            <p:spPr>
              <a:xfrm>
                <a:off x="3215334" y="3150836"/>
                <a:ext cx="0" cy="809169"/>
              </a:xfrm>
              <a:prstGeom prst="line">
                <a:avLst/>
              </a:prstGeom>
              <a:grpFill/>
              <a:ln w="19050">
                <a:solidFill>
                  <a:schemeClr val="bg1"/>
                </a:solidFill>
              </a:ln>
              <a:effectLst>
                <a:innerShdw blurRad="63500" dist="50800" dir="16200000">
                  <a:prstClr val="black">
                    <a:alpha val="50000"/>
                  </a:prstClr>
                </a:inn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" name="CaixaDeTexto 8"/>
              <p:cNvSpPr txBox="1"/>
              <p:nvPr/>
            </p:nvSpPr>
            <p:spPr>
              <a:xfrm>
                <a:off x="683568" y="3217906"/>
                <a:ext cx="2520281" cy="584775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pt-BR" sz="1600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Gill Sans Std" pitchFamily="34" charset="0"/>
                  </a:rPr>
                  <a:t>Gerência de Governança</a:t>
                </a:r>
              </a:p>
              <a:p>
                <a:pPr algn="r"/>
                <a:r>
                  <a:rPr lang="pt-BR" sz="1600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Gill Sans Std" pitchFamily="34" charset="0"/>
                  </a:rPr>
                  <a:t>VPTD</a:t>
                </a:r>
              </a:p>
            </p:txBody>
          </p:sp>
        </p:grpSp>
        <p:sp>
          <p:nvSpPr>
            <p:cNvPr id="14" name="CaixaDeTexto 13"/>
            <p:cNvSpPr txBox="1"/>
            <p:nvPr/>
          </p:nvSpPr>
          <p:spPr>
            <a:xfrm>
              <a:off x="3275857" y="4347985"/>
              <a:ext cx="949240" cy="251704"/>
            </a:xfrm>
            <a:prstGeom prst="rect">
              <a:avLst/>
            </a:prstGeom>
            <a:grpFill/>
          </p:spPr>
          <p:txBody>
            <a:bodyPr wrap="square" lIns="81628" tIns="40815" rIns="81628" bIns="40815" rtlCol="0">
              <a:spAutoFit/>
            </a:bodyPr>
            <a:lstStyle/>
            <a:p>
              <a:pPr algn="ctr" defTabSz="816291"/>
              <a:r>
                <a:rPr lang="pt-BR" sz="1100" dirty="0" smtClean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Gill Sans Std" pitchFamily="34" charset="0"/>
                </a:rPr>
                <a:t>Julho </a:t>
              </a:r>
              <a:r>
                <a:rPr lang="pt-BR" sz="11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Gill Sans Std" pitchFamily="34" charset="0"/>
                </a:rPr>
                <a:t>2015</a:t>
              </a:r>
              <a:endParaRPr lang="pt-BR" sz="1100" b="1" i="1" dirty="0">
                <a:solidFill>
                  <a:schemeClr val="bg1"/>
                </a:solidFill>
                <a:latin typeface="Gill Sans Std" pitchFamily="34" charset="0"/>
              </a:endParaRPr>
            </a:p>
          </p:txBody>
        </p:sp>
      </p:grpSp>
      <p:sp>
        <p:nvSpPr>
          <p:cNvPr id="12" name="CaixaDeTexto 11"/>
          <p:cNvSpPr txBox="1"/>
          <p:nvPr/>
        </p:nvSpPr>
        <p:spPr>
          <a:xfrm rot="16200000">
            <a:off x="8079639" y="3897803"/>
            <a:ext cx="176338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 b="1" dirty="0">
                <a:solidFill>
                  <a:schemeClr val="accent1">
                    <a:lumMod val="75000"/>
                  </a:schemeClr>
                </a:solidFill>
              </a:rPr>
              <a:t>CHACON</a:t>
            </a:r>
            <a:r>
              <a:rPr lang="pt-BR" sz="900" dirty="0"/>
              <a:t> </a:t>
            </a:r>
            <a:r>
              <a:rPr lang="pt-BR" sz="900" b="1" dirty="0">
                <a:solidFill>
                  <a:schemeClr val="bg1">
                    <a:lumMod val="85000"/>
                  </a:schemeClr>
                </a:solidFill>
              </a:rPr>
              <a:t>|</a:t>
            </a:r>
            <a:r>
              <a:rPr lang="pt-BR" sz="900" dirty="0"/>
              <a:t> </a:t>
            </a:r>
            <a:r>
              <a:rPr lang="pt-BR" sz="900" b="1" dirty="0">
                <a:solidFill>
                  <a:schemeClr val="bg1">
                    <a:lumMod val="65000"/>
                  </a:schemeClr>
                </a:solidFill>
              </a:rPr>
              <a:t>Consultoria Ilimitada</a:t>
            </a:r>
          </a:p>
        </p:txBody>
      </p:sp>
      <p:pic>
        <p:nvPicPr>
          <p:cNvPr id="13" name="Picture 2" descr="http://gointernationally.com/wp-content/uploads/2013/07/canstockphoto11926712-860x857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5061" y="753035"/>
            <a:ext cx="3821395" cy="36917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CaixaDeTexto 9"/>
          <p:cNvSpPr txBox="1"/>
          <p:nvPr/>
        </p:nvSpPr>
        <p:spPr>
          <a:xfrm rot="21219758">
            <a:off x="1189553" y="2701978"/>
            <a:ext cx="2408715" cy="36933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>
                <a:solidFill>
                  <a:srgbClr val="FF0000"/>
                </a:solidFill>
              </a:rPr>
              <a:t>Versão para revisão</a:t>
            </a:r>
            <a:endParaRPr lang="pt-BR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5419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8" descr="NAT_marca_branca_natura-01.png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0432" y="19878"/>
            <a:ext cx="576000" cy="57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CaixaDeTexto 5"/>
          <p:cNvSpPr txBox="1"/>
          <p:nvPr/>
        </p:nvSpPr>
        <p:spPr>
          <a:xfrm>
            <a:off x="-1" y="2"/>
            <a:ext cx="9144001" cy="646331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OBJETIVO</a:t>
            </a:r>
          </a:p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Diagnóstico e Plano de Ação</a:t>
            </a:r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Light" pitchFamily="34" charset="0"/>
            </a:endParaRPr>
          </a:p>
        </p:txBody>
      </p:sp>
      <p:sp>
        <p:nvSpPr>
          <p:cNvPr id="8" name="CaixaDeTexto 7"/>
          <p:cNvSpPr txBox="1"/>
          <p:nvPr/>
        </p:nvSpPr>
        <p:spPr>
          <a:xfrm rot="16200000">
            <a:off x="8127558" y="4147980"/>
            <a:ext cx="176338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 b="1" dirty="0">
                <a:solidFill>
                  <a:schemeClr val="accent1">
                    <a:lumMod val="75000"/>
                  </a:schemeClr>
                </a:solidFill>
              </a:rPr>
              <a:t>CHACON</a:t>
            </a:r>
            <a:r>
              <a:rPr lang="pt-BR" sz="900" dirty="0"/>
              <a:t> </a:t>
            </a:r>
            <a:r>
              <a:rPr lang="pt-BR" sz="900" b="1" dirty="0">
                <a:solidFill>
                  <a:schemeClr val="bg1">
                    <a:lumMod val="85000"/>
                  </a:schemeClr>
                </a:solidFill>
              </a:rPr>
              <a:t>|</a:t>
            </a:r>
            <a:r>
              <a:rPr lang="pt-BR" sz="900" dirty="0"/>
              <a:t> </a:t>
            </a:r>
            <a:r>
              <a:rPr lang="pt-BR" sz="900" b="1" dirty="0">
                <a:solidFill>
                  <a:schemeClr val="bg1">
                    <a:lumMod val="65000"/>
                  </a:schemeClr>
                </a:solidFill>
              </a:rPr>
              <a:t>Consultoria Ilimitada</a:t>
            </a:r>
          </a:p>
        </p:txBody>
      </p:sp>
      <p:sp>
        <p:nvSpPr>
          <p:cNvPr id="10" name="CaixaDeTexto 9"/>
          <p:cNvSpPr txBox="1"/>
          <p:nvPr/>
        </p:nvSpPr>
        <p:spPr>
          <a:xfrm>
            <a:off x="251520" y="953010"/>
            <a:ext cx="3999398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Clr>
                <a:srgbClr val="7030A0"/>
              </a:buClr>
              <a:buSzPct val="50000"/>
            </a:pPr>
            <a:r>
              <a:rPr lang="pt-BR" dirty="0" smtClean="0">
                <a:solidFill>
                  <a:srgbClr val="7030A0"/>
                </a:solidFill>
              </a:rPr>
              <a:t>“...auxiliar </a:t>
            </a:r>
            <a:r>
              <a:rPr lang="pt-BR" dirty="0">
                <a:solidFill>
                  <a:srgbClr val="7030A0"/>
                </a:solidFill>
              </a:rPr>
              <a:t>a TD da Natura a consolidar seu framework de gerenciamento orientado à melhoria contínua, de modo que as práticas sejam incorporadas pelos profissionais e que </a:t>
            </a:r>
            <a:r>
              <a:rPr lang="pt-BR" b="1" dirty="0">
                <a:solidFill>
                  <a:srgbClr val="7030A0"/>
                </a:solidFill>
              </a:rPr>
              <a:t>a melhoria contínua se torne uma prática habitual</a:t>
            </a:r>
            <a:r>
              <a:rPr lang="pt-BR" dirty="0">
                <a:solidFill>
                  <a:srgbClr val="7030A0"/>
                </a:solidFill>
              </a:rPr>
              <a:t>, com evidente melhoria da </a:t>
            </a:r>
            <a:r>
              <a:rPr lang="pt-BR" b="1" dirty="0">
                <a:solidFill>
                  <a:srgbClr val="7030A0"/>
                </a:solidFill>
              </a:rPr>
              <a:t>qualidade dos serviços e soluções fornecidos ao </a:t>
            </a:r>
            <a:r>
              <a:rPr lang="pt-BR" b="1" dirty="0" smtClean="0">
                <a:solidFill>
                  <a:srgbClr val="7030A0"/>
                </a:solidFill>
              </a:rPr>
              <a:t>Negócio</a:t>
            </a:r>
            <a:r>
              <a:rPr lang="pt-BR" dirty="0" smtClean="0">
                <a:solidFill>
                  <a:srgbClr val="7030A0"/>
                </a:solidFill>
              </a:rPr>
              <a:t>.”</a:t>
            </a:r>
            <a:endParaRPr lang="pt-BR" sz="1400" dirty="0" smtClean="0">
              <a:solidFill>
                <a:srgbClr val="7030A0"/>
              </a:solidFill>
            </a:endParaRPr>
          </a:p>
          <a:p>
            <a:pPr marL="358775" indent="-358775" algn="just">
              <a:buClr>
                <a:srgbClr val="7030A0"/>
              </a:buClr>
              <a:buSzPct val="50000"/>
              <a:buFont typeface="Wingdings" panose="05000000000000000000" pitchFamily="2" charset="2"/>
              <a:buChar char="§"/>
            </a:pPr>
            <a:endParaRPr lang="pt-BR" sz="1400" dirty="0" smtClean="0">
              <a:solidFill>
                <a:srgbClr val="7030A0"/>
              </a:solidFill>
            </a:endParaRPr>
          </a:p>
          <a:p>
            <a:pPr marL="358775" indent="-358775" algn="just">
              <a:buClr>
                <a:srgbClr val="7030A0"/>
              </a:buClr>
              <a:buSzPct val="50000"/>
              <a:buFont typeface="Wingdings" panose="05000000000000000000" pitchFamily="2" charset="2"/>
              <a:buChar char="§"/>
            </a:pPr>
            <a:r>
              <a:rPr lang="pt-BR" sz="1600" dirty="0" smtClean="0">
                <a:solidFill>
                  <a:srgbClr val="7030A0"/>
                </a:solidFill>
              </a:rPr>
              <a:t>Não é uma avaliação de maturidade!</a:t>
            </a:r>
          </a:p>
          <a:p>
            <a:pPr marL="358775" indent="-358775" algn="just">
              <a:buClr>
                <a:srgbClr val="7030A0"/>
              </a:buClr>
              <a:buSzPct val="50000"/>
              <a:buFont typeface="Wingdings" panose="05000000000000000000" pitchFamily="2" charset="2"/>
              <a:buChar char="§"/>
            </a:pPr>
            <a:endParaRPr lang="pt-BR" sz="1600" dirty="0" smtClean="0">
              <a:solidFill>
                <a:srgbClr val="7030A0"/>
              </a:solidFill>
            </a:endParaRPr>
          </a:p>
          <a:p>
            <a:pPr marL="358775" indent="-358775" algn="just">
              <a:buClr>
                <a:srgbClr val="7030A0"/>
              </a:buClr>
              <a:buSzPct val="50000"/>
              <a:buFont typeface="Wingdings" panose="05000000000000000000" pitchFamily="2" charset="2"/>
              <a:buChar char="§"/>
            </a:pPr>
            <a:r>
              <a:rPr lang="pt-BR" sz="1600" dirty="0" smtClean="0">
                <a:solidFill>
                  <a:srgbClr val="7030A0"/>
                </a:solidFill>
              </a:rPr>
              <a:t>Não é sobre TI. É sobre Negócios!</a:t>
            </a:r>
          </a:p>
          <a:p>
            <a:pPr marL="358775" indent="-358775" algn="just">
              <a:buClr>
                <a:srgbClr val="7030A0"/>
              </a:buClr>
              <a:buSzPct val="50000"/>
              <a:buFont typeface="Wingdings" panose="05000000000000000000" pitchFamily="2" charset="2"/>
              <a:buChar char="§"/>
            </a:pPr>
            <a:endParaRPr lang="pt-BR" sz="1600" dirty="0">
              <a:solidFill>
                <a:srgbClr val="7030A0"/>
              </a:solidFill>
            </a:endParaRPr>
          </a:p>
          <a:p>
            <a:pPr marL="358775" indent="-358775" algn="just">
              <a:buClr>
                <a:srgbClr val="7030A0"/>
              </a:buClr>
              <a:buSzPct val="50000"/>
              <a:buFont typeface="Wingdings" panose="05000000000000000000" pitchFamily="2" charset="2"/>
              <a:buChar char="§"/>
            </a:pPr>
            <a:r>
              <a:rPr lang="pt-BR" sz="1600" dirty="0" smtClean="0">
                <a:solidFill>
                  <a:srgbClr val="7030A0"/>
                </a:solidFill>
              </a:rPr>
              <a:t>É sobre atitudes, viabilidade e desafios.</a:t>
            </a:r>
          </a:p>
        </p:txBody>
      </p:sp>
      <p:grpSp>
        <p:nvGrpSpPr>
          <p:cNvPr id="4" name="Grupo 3"/>
          <p:cNvGrpSpPr/>
          <p:nvPr/>
        </p:nvGrpSpPr>
        <p:grpSpPr>
          <a:xfrm>
            <a:off x="4485457" y="1292350"/>
            <a:ext cx="4265744" cy="3233702"/>
            <a:chOff x="4485457" y="1292350"/>
            <a:chExt cx="4265744" cy="3233702"/>
          </a:xfrm>
        </p:grpSpPr>
        <p:grpSp>
          <p:nvGrpSpPr>
            <p:cNvPr id="3" name="Grupo 2"/>
            <p:cNvGrpSpPr/>
            <p:nvPr/>
          </p:nvGrpSpPr>
          <p:grpSpPr>
            <a:xfrm>
              <a:off x="4485457" y="1292350"/>
              <a:ext cx="4265744" cy="3233702"/>
              <a:chOff x="4485457" y="1292350"/>
              <a:chExt cx="4265744" cy="3233702"/>
            </a:xfrm>
          </p:grpSpPr>
          <p:pic>
            <p:nvPicPr>
              <p:cNvPr id="1028" name="Picture 4" descr="http://www.lpmassociation.org/Resources/Pictures/LPMA%20Improvement%20Scale.jpg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485457" y="1292350"/>
                <a:ext cx="4265744" cy="319930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" name="CaixaDeTexto 1"/>
              <p:cNvSpPr txBox="1"/>
              <p:nvPr/>
            </p:nvSpPr>
            <p:spPr>
              <a:xfrm>
                <a:off x="4644008" y="4156720"/>
                <a:ext cx="504056" cy="27699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600" b="1" dirty="0" smtClean="0"/>
                  <a:t>Ponto de partida</a:t>
                </a:r>
                <a:endParaRPr lang="pt-BR" sz="600" b="1" dirty="0"/>
              </a:p>
            </p:txBody>
          </p:sp>
          <p:sp>
            <p:nvSpPr>
              <p:cNvPr id="9" name="CaixaDeTexto 8"/>
              <p:cNvSpPr txBox="1"/>
              <p:nvPr/>
            </p:nvSpPr>
            <p:spPr>
              <a:xfrm>
                <a:off x="5148065" y="4156720"/>
                <a:ext cx="904422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600" b="1" dirty="0" smtClean="0"/>
                  <a:t>Redução da Dor</a:t>
                </a:r>
              </a:p>
              <a:p>
                <a:pPr algn="ctr"/>
                <a:r>
                  <a:rPr lang="pt-BR" sz="600" b="1" dirty="0" smtClean="0"/>
                  <a:t>Aumento da mobilidade</a:t>
                </a:r>
                <a:endParaRPr lang="pt-BR" sz="600" b="1" dirty="0"/>
              </a:p>
            </p:txBody>
          </p:sp>
          <p:sp>
            <p:nvSpPr>
              <p:cNvPr id="11" name="CaixaDeTexto 10"/>
              <p:cNvSpPr txBox="1"/>
              <p:nvPr/>
            </p:nvSpPr>
            <p:spPr>
              <a:xfrm>
                <a:off x="6043842" y="4156720"/>
                <a:ext cx="904422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600" b="1" dirty="0" smtClean="0"/>
                  <a:t>Dor reduzida à metade</a:t>
                </a:r>
              </a:p>
              <a:p>
                <a:pPr algn="ctr"/>
                <a:r>
                  <a:rPr lang="pt-BR" sz="600" b="1" dirty="0" smtClean="0"/>
                  <a:t>Dobro de mobilidade</a:t>
                </a:r>
                <a:endParaRPr lang="pt-BR" sz="600" b="1" dirty="0"/>
              </a:p>
            </p:txBody>
          </p:sp>
          <p:sp>
            <p:nvSpPr>
              <p:cNvPr id="12" name="CaixaDeTexto 11"/>
              <p:cNvSpPr txBox="1"/>
              <p:nvPr/>
            </p:nvSpPr>
            <p:spPr>
              <a:xfrm>
                <a:off x="6876256" y="4156720"/>
                <a:ext cx="904422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600" b="1" dirty="0" smtClean="0"/>
                  <a:t>Dor suave e</a:t>
                </a:r>
              </a:p>
              <a:p>
                <a:pPr algn="ctr"/>
                <a:r>
                  <a:rPr lang="pt-BR" sz="600" b="1" dirty="0" smtClean="0"/>
                  <a:t>Mobilidade quase plena</a:t>
                </a:r>
                <a:endParaRPr lang="pt-BR" sz="600" b="1" dirty="0"/>
              </a:p>
            </p:txBody>
          </p:sp>
          <p:sp>
            <p:nvSpPr>
              <p:cNvPr id="13" name="CaixaDeTexto 12"/>
              <p:cNvSpPr txBox="1"/>
              <p:nvPr/>
            </p:nvSpPr>
            <p:spPr>
              <a:xfrm>
                <a:off x="7740352" y="4156720"/>
                <a:ext cx="904422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600" b="1" dirty="0" smtClean="0"/>
                  <a:t>Ausência de dor</a:t>
                </a:r>
              </a:p>
              <a:p>
                <a:pPr algn="ctr"/>
                <a:r>
                  <a:rPr lang="pt-BR" sz="600" b="1" dirty="0" smtClean="0"/>
                  <a:t>e</a:t>
                </a:r>
              </a:p>
              <a:p>
                <a:pPr algn="ctr"/>
                <a:r>
                  <a:rPr lang="pt-BR" sz="600" b="1" dirty="0"/>
                  <a:t>m</a:t>
                </a:r>
                <a:r>
                  <a:rPr lang="pt-BR" sz="600" b="1" dirty="0" smtClean="0"/>
                  <a:t>obilidade plena</a:t>
                </a:r>
                <a:endParaRPr lang="pt-BR" sz="600" b="1" dirty="0"/>
              </a:p>
            </p:txBody>
          </p:sp>
        </p:grpSp>
        <p:sp>
          <p:nvSpPr>
            <p:cNvPr id="15" name="CaixaDeTexto 14"/>
            <p:cNvSpPr txBox="1"/>
            <p:nvPr/>
          </p:nvSpPr>
          <p:spPr>
            <a:xfrm>
              <a:off x="4644008" y="1348408"/>
              <a:ext cx="2808312" cy="30777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b="1" dirty="0" smtClean="0"/>
                <a:t>A escala da melhoria contínua</a:t>
              </a:r>
              <a:endParaRPr lang="pt-BR" sz="14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2932526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5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5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8" descr="NAT_marca_branca_natura-01.png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0432" y="19878"/>
            <a:ext cx="576000" cy="57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CaixaDeTexto 5"/>
          <p:cNvSpPr txBox="1"/>
          <p:nvPr/>
        </p:nvSpPr>
        <p:spPr>
          <a:xfrm>
            <a:off x="-1" y="2"/>
            <a:ext cx="9144001" cy="646331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MÉTODO</a:t>
            </a:r>
          </a:p>
          <a:p>
            <a:r>
              <a:rPr 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O que vimos e </a:t>
            </a:r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ouvimos</a:t>
            </a:r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Light" pitchFamily="34" charset="0"/>
            </a:endParaRPr>
          </a:p>
        </p:txBody>
      </p:sp>
      <p:sp>
        <p:nvSpPr>
          <p:cNvPr id="8" name="CaixaDeTexto 7"/>
          <p:cNvSpPr txBox="1"/>
          <p:nvPr/>
        </p:nvSpPr>
        <p:spPr>
          <a:xfrm rot="16200000">
            <a:off x="8127558" y="4147980"/>
            <a:ext cx="176338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 b="1" dirty="0">
                <a:solidFill>
                  <a:schemeClr val="accent1">
                    <a:lumMod val="75000"/>
                  </a:schemeClr>
                </a:solidFill>
              </a:rPr>
              <a:t>CHACON</a:t>
            </a:r>
            <a:r>
              <a:rPr lang="pt-BR" sz="900" dirty="0"/>
              <a:t> </a:t>
            </a:r>
            <a:r>
              <a:rPr lang="pt-BR" sz="900" b="1" dirty="0">
                <a:solidFill>
                  <a:schemeClr val="bg1">
                    <a:lumMod val="85000"/>
                  </a:schemeClr>
                </a:solidFill>
              </a:rPr>
              <a:t>|</a:t>
            </a:r>
            <a:r>
              <a:rPr lang="pt-BR" sz="900" dirty="0"/>
              <a:t> </a:t>
            </a:r>
            <a:r>
              <a:rPr lang="pt-BR" sz="900" b="1" dirty="0">
                <a:solidFill>
                  <a:schemeClr val="bg1">
                    <a:lumMod val="65000"/>
                  </a:schemeClr>
                </a:solidFill>
              </a:rPr>
              <a:t>Consultoria Ilimitada</a:t>
            </a:r>
          </a:p>
        </p:txBody>
      </p:sp>
      <p:grpSp>
        <p:nvGrpSpPr>
          <p:cNvPr id="16" name="Grupo 15"/>
          <p:cNvGrpSpPr/>
          <p:nvPr/>
        </p:nvGrpSpPr>
        <p:grpSpPr>
          <a:xfrm>
            <a:off x="129094" y="1132384"/>
            <a:ext cx="1152128" cy="1325761"/>
            <a:chOff x="251520" y="1780456"/>
            <a:chExt cx="1152128" cy="1325761"/>
          </a:xfrm>
        </p:grpSpPr>
        <p:sp>
          <p:nvSpPr>
            <p:cNvPr id="5" name="Quadro 4"/>
            <p:cNvSpPr/>
            <p:nvPr/>
          </p:nvSpPr>
          <p:spPr>
            <a:xfrm>
              <a:off x="395536" y="1780456"/>
              <a:ext cx="864096" cy="864096"/>
            </a:xfrm>
            <a:prstGeom prst="fram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pt-BR" sz="2399" b="1" dirty="0">
                  <a:solidFill>
                    <a:schemeClr val="accent1">
                      <a:lumMod val="75000"/>
                    </a:schemeClr>
                  </a:solidFill>
                </a:rPr>
                <a:t>35</a:t>
              </a:r>
            </a:p>
          </p:txBody>
        </p:sp>
        <p:sp>
          <p:nvSpPr>
            <p:cNvPr id="15" name="CaixaDeTexto 14"/>
            <p:cNvSpPr txBox="1"/>
            <p:nvPr/>
          </p:nvSpPr>
          <p:spPr>
            <a:xfrm>
              <a:off x="251520" y="2644552"/>
              <a:ext cx="115212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200" b="1" dirty="0">
                  <a:solidFill>
                    <a:schemeClr val="tx2"/>
                  </a:solidFill>
                </a:rPr>
                <a:t>Entrevistas Individuais</a:t>
              </a:r>
            </a:p>
          </p:txBody>
        </p:sp>
      </p:grpSp>
      <p:grpSp>
        <p:nvGrpSpPr>
          <p:cNvPr id="17" name="Grupo 16"/>
          <p:cNvGrpSpPr/>
          <p:nvPr/>
        </p:nvGrpSpPr>
        <p:grpSpPr>
          <a:xfrm>
            <a:off x="1425238" y="1132384"/>
            <a:ext cx="1152128" cy="1325761"/>
            <a:chOff x="251520" y="1780456"/>
            <a:chExt cx="1152128" cy="1325761"/>
          </a:xfrm>
        </p:grpSpPr>
        <p:sp>
          <p:nvSpPr>
            <p:cNvPr id="18" name="Quadro 17"/>
            <p:cNvSpPr/>
            <p:nvPr/>
          </p:nvSpPr>
          <p:spPr>
            <a:xfrm>
              <a:off x="395536" y="1780456"/>
              <a:ext cx="864096" cy="864096"/>
            </a:xfrm>
            <a:prstGeom prst="frame">
              <a:avLst/>
            </a:prstGeom>
            <a:solidFill>
              <a:srgbClr val="B4312E"/>
            </a:solidFill>
            <a:ln>
              <a:solidFill>
                <a:srgbClr val="B4312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pt-BR" sz="2399" b="1" dirty="0">
                  <a:solidFill>
                    <a:srgbClr val="B4312E"/>
                  </a:solidFill>
                </a:rPr>
                <a:t>06</a:t>
              </a:r>
            </a:p>
          </p:txBody>
        </p:sp>
        <p:sp>
          <p:nvSpPr>
            <p:cNvPr id="19" name="CaixaDeTexto 18"/>
            <p:cNvSpPr txBox="1"/>
            <p:nvPr/>
          </p:nvSpPr>
          <p:spPr>
            <a:xfrm>
              <a:off x="251520" y="2644552"/>
              <a:ext cx="115212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200" b="1" dirty="0">
                  <a:solidFill>
                    <a:srgbClr val="B4312E"/>
                  </a:solidFill>
                </a:rPr>
                <a:t>Entrevistas</a:t>
              </a:r>
              <a:br>
                <a:rPr lang="pt-BR" sz="1200" b="1" dirty="0">
                  <a:solidFill>
                    <a:srgbClr val="B4312E"/>
                  </a:solidFill>
                </a:rPr>
              </a:br>
              <a:r>
                <a:rPr lang="pt-BR" sz="1200" b="1" dirty="0" smtClean="0">
                  <a:solidFill>
                    <a:srgbClr val="B4312E"/>
                  </a:solidFill>
                </a:rPr>
                <a:t>com </a:t>
              </a:r>
              <a:r>
                <a:rPr lang="pt-BR" sz="1200" b="1" dirty="0">
                  <a:solidFill>
                    <a:srgbClr val="B4312E"/>
                  </a:solidFill>
                </a:rPr>
                <a:t>Grupo</a:t>
              </a:r>
            </a:p>
          </p:txBody>
        </p:sp>
      </p:grpSp>
      <p:grpSp>
        <p:nvGrpSpPr>
          <p:cNvPr id="20" name="Grupo 19"/>
          <p:cNvGrpSpPr/>
          <p:nvPr/>
        </p:nvGrpSpPr>
        <p:grpSpPr>
          <a:xfrm>
            <a:off x="2721382" y="1132384"/>
            <a:ext cx="1152128" cy="1325761"/>
            <a:chOff x="251520" y="1780456"/>
            <a:chExt cx="1152128" cy="1325761"/>
          </a:xfrm>
        </p:grpSpPr>
        <p:sp>
          <p:nvSpPr>
            <p:cNvPr id="21" name="Quadro 20"/>
            <p:cNvSpPr/>
            <p:nvPr/>
          </p:nvSpPr>
          <p:spPr>
            <a:xfrm>
              <a:off x="395536" y="1780456"/>
              <a:ext cx="864096" cy="864096"/>
            </a:xfrm>
            <a:prstGeom prst="frame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pt-BR" sz="2399" b="1" dirty="0" smtClean="0">
                  <a:solidFill>
                    <a:schemeClr val="accent3">
                      <a:lumMod val="75000"/>
                    </a:schemeClr>
                  </a:solidFill>
                </a:rPr>
                <a:t>18</a:t>
              </a:r>
              <a:endParaRPr lang="pt-BR" sz="2399" b="1" dirty="0">
                <a:solidFill>
                  <a:schemeClr val="accent3">
                    <a:lumMod val="75000"/>
                  </a:schemeClr>
                </a:solidFill>
              </a:endParaRPr>
            </a:p>
          </p:txBody>
        </p:sp>
        <p:sp>
          <p:nvSpPr>
            <p:cNvPr id="22" name="CaixaDeTexto 21"/>
            <p:cNvSpPr txBox="1"/>
            <p:nvPr/>
          </p:nvSpPr>
          <p:spPr>
            <a:xfrm>
              <a:off x="251520" y="2644552"/>
              <a:ext cx="115212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200" b="1" dirty="0">
                  <a:solidFill>
                    <a:schemeClr val="accent3">
                      <a:lumMod val="75000"/>
                    </a:schemeClr>
                  </a:solidFill>
                </a:rPr>
                <a:t>Observações de </a:t>
              </a:r>
              <a:r>
                <a:rPr lang="pt-BR" sz="1200" b="1" dirty="0" smtClean="0">
                  <a:solidFill>
                    <a:schemeClr val="accent3">
                      <a:lumMod val="75000"/>
                    </a:schemeClr>
                  </a:solidFill>
                </a:rPr>
                <a:t>Dinâmicas</a:t>
              </a:r>
              <a:endParaRPr lang="pt-BR" sz="1200" b="1" dirty="0">
                <a:solidFill>
                  <a:schemeClr val="accent3">
                    <a:lumMod val="75000"/>
                  </a:schemeClr>
                </a:solidFill>
              </a:endParaRPr>
            </a:p>
          </p:txBody>
        </p:sp>
      </p:grpSp>
      <p:grpSp>
        <p:nvGrpSpPr>
          <p:cNvPr id="23" name="Grupo 22"/>
          <p:cNvGrpSpPr/>
          <p:nvPr/>
        </p:nvGrpSpPr>
        <p:grpSpPr>
          <a:xfrm>
            <a:off x="4008436" y="1132384"/>
            <a:ext cx="1152128" cy="1325761"/>
            <a:chOff x="251520" y="1780456"/>
            <a:chExt cx="1152128" cy="1325761"/>
          </a:xfrm>
        </p:grpSpPr>
        <p:sp>
          <p:nvSpPr>
            <p:cNvPr id="24" name="Quadro 23"/>
            <p:cNvSpPr/>
            <p:nvPr/>
          </p:nvSpPr>
          <p:spPr>
            <a:xfrm>
              <a:off x="395536" y="1780456"/>
              <a:ext cx="864096" cy="864096"/>
            </a:xfrm>
            <a:prstGeom prst="frame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pt-BR" sz="2399" b="1" dirty="0" smtClean="0">
                  <a:solidFill>
                    <a:schemeClr val="accent6">
                      <a:lumMod val="75000"/>
                    </a:schemeClr>
                  </a:solidFill>
                </a:rPr>
                <a:t>??</a:t>
              </a:r>
              <a:endParaRPr lang="pt-BR" sz="2399" b="1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sp>
          <p:nvSpPr>
            <p:cNvPr id="25" name="CaixaDeTexto 24"/>
            <p:cNvSpPr txBox="1"/>
            <p:nvPr/>
          </p:nvSpPr>
          <p:spPr>
            <a:xfrm>
              <a:off x="251520" y="2644552"/>
              <a:ext cx="115212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200" b="1" dirty="0">
                  <a:solidFill>
                    <a:schemeClr val="accent6">
                      <a:lumMod val="75000"/>
                    </a:schemeClr>
                  </a:solidFill>
                </a:rPr>
                <a:t>Leitura de </a:t>
              </a:r>
              <a:r>
                <a:rPr lang="pt-BR" sz="1200" b="1" dirty="0" smtClean="0">
                  <a:solidFill>
                    <a:schemeClr val="accent6">
                      <a:lumMod val="75000"/>
                    </a:schemeClr>
                  </a:solidFill>
                </a:rPr>
                <a:t>Documentos</a:t>
              </a:r>
              <a:endParaRPr lang="pt-BR" sz="1200" b="1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</p:grpSp>
      <p:grpSp>
        <p:nvGrpSpPr>
          <p:cNvPr id="26" name="Grupo 25"/>
          <p:cNvGrpSpPr/>
          <p:nvPr/>
        </p:nvGrpSpPr>
        <p:grpSpPr>
          <a:xfrm>
            <a:off x="5295490" y="1132384"/>
            <a:ext cx="1152128" cy="1325761"/>
            <a:chOff x="251520" y="1780456"/>
            <a:chExt cx="1152128" cy="1325761"/>
          </a:xfrm>
        </p:grpSpPr>
        <p:sp>
          <p:nvSpPr>
            <p:cNvPr id="27" name="Quadro 26"/>
            <p:cNvSpPr/>
            <p:nvPr/>
          </p:nvSpPr>
          <p:spPr>
            <a:xfrm>
              <a:off x="395536" y="1780456"/>
              <a:ext cx="864096" cy="864096"/>
            </a:xfrm>
            <a:prstGeom prst="frame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pt-BR" sz="2399" b="1" dirty="0" smtClean="0">
                  <a:solidFill>
                    <a:schemeClr val="accent4">
                      <a:lumMod val="50000"/>
                    </a:schemeClr>
                  </a:solidFill>
                </a:rPr>
                <a:t>08</a:t>
              </a:r>
              <a:endParaRPr lang="pt-BR" sz="2399" b="1" dirty="0">
                <a:solidFill>
                  <a:schemeClr val="accent4">
                    <a:lumMod val="50000"/>
                  </a:schemeClr>
                </a:solidFill>
              </a:endParaRPr>
            </a:p>
          </p:txBody>
        </p:sp>
        <p:sp>
          <p:nvSpPr>
            <p:cNvPr id="28" name="CaixaDeTexto 27"/>
            <p:cNvSpPr txBox="1"/>
            <p:nvPr/>
          </p:nvSpPr>
          <p:spPr>
            <a:xfrm>
              <a:off x="251520" y="2644552"/>
              <a:ext cx="115212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200" b="1" dirty="0" smtClean="0">
                  <a:solidFill>
                    <a:schemeClr val="accent4">
                      <a:lumMod val="50000"/>
                    </a:schemeClr>
                  </a:solidFill>
                </a:rPr>
                <a:t>Análise de Processos</a:t>
              </a:r>
              <a:endParaRPr lang="pt-BR" sz="1200" b="1" dirty="0">
                <a:solidFill>
                  <a:schemeClr val="accent4">
                    <a:lumMod val="50000"/>
                  </a:schemeClr>
                </a:solidFill>
              </a:endParaRPr>
            </a:p>
          </p:txBody>
        </p:sp>
      </p:grpSp>
      <p:grpSp>
        <p:nvGrpSpPr>
          <p:cNvPr id="29" name="Grupo 28"/>
          <p:cNvGrpSpPr/>
          <p:nvPr/>
        </p:nvGrpSpPr>
        <p:grpSpPr>
          <a:xfrm>
            <a:off x="7873351" y="1132384"/>
            <a:ext cx="1152128" cy="1141095"/>
            <a:chOff x="251520" y="1780456"/>
            <a:chExt cx="1152128" cy="1141095"/>
          </a:xfrm>
          <a:solidFill>
            <a:schemeClr val="tx1">
              <a:lumMod val="65000"/>
              <a:lumOff val="35000"/>
            </a:schemeClr>
          </a:solidFill>
        </p:grpSpPr>
        <p:sp>
          <p:nvSpPr>
            <p:cNvPr id="30" name="Quadro 29"/>
            <p:cNvSpPr/>
            <p:nvPr/>
          </p:nvSpPr>
          <p:spPr>
            <a:xfrm>
              <a:off x="395536" y="1780456"/>
              <a:ext cx="864096" cy="864096"/>
            </a:xfrm>
            <a:prstGeom prst="frame">
              <a:avLst/>
            </a:prstGeom>
            <a:solidFill>
              <a:schemeClr val="bg2">
                <a:lumMod val="25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pt-BR" sz="2399" b="1" dirty="0" smtClean="0">
                  <a:solidFill>
                    <a:schemeClr val="bg2">
                      <a:lumMod val="25000"/>
                    </a:schemeClr>
                  </a:solidFill>
                </a:rPr>
                <a:t>n</a:t>
              </a:r>
              <a:endParaRPr lang="pt-BR" sz="2399" b="1" dirty="0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sp>
          <p:nvSpPr>
            <p:cNvPr id="31" name="CaixaDeTexto 30"/>
            <p:cNvSpPr txBox="1"/>
            <p:nvPr/>
          </p:nvSpPr>
          <p:spPr>
            <a:xfrm>
              <a:off x="251520" y="2644552"/>
              <a:ext cx="1152128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200" b="1" dirty="0" smtClean="0">
                  <a:solidFill>
                    <a:schemeClr val="bg2">
                      <a:lumMod val="25000"/>
                    </a:schemeClr>
                  </a:solidFill>
                </a:rPr>
                <a:t>Cafés</a:t>
              </a:r>
              <a:endParaRPr lang="pt-BR" sz="1200" b="1" dirty="0">
                <a:solidFill>
                  <a:schemeClr val="bg2">
                    <a:lumMod val="25000"/>
                  </a:schemeClr>
                </a:solidFill>
              </a:endParaRPr>
            </a:p>
          </p:txBody>
        </p:sp>
      </p:grpSp>
      <p:grpSp>
        <p:nvGrpSpPr>
          <p:cNvPr id="32" name="Grupo 31"/>
          <p:cNvGrpSpPr/>
          <p:nvPr/>
        </p:nvGrpSpPr>
        <p:grpSpPr>
          <a:xfrm>
            <a:off x="6582544" y="1132384"/>
            <a:ext cx="1152128" cy="1325761"/>
            <a:chOff x="251520" y="1780456"/>
            <a:chExt cx="1152128" cy="1325761"/>
          </a:xfrm>
          <a:solidFill>
            <a:schemeClr val="tx1">
              <a:lumMod val="65000"/>
              <a:lumOff val="35000"/>
            </a:schemeClr>
          </a:solidFill>
        </p:grpSpPr>
        <p:sp>
          <p:nvSpPr>
            <p:cNvPr id="33" name="Quadro 32"/>
            <p:cNvSpPr/>
            <p:nvPr/>
          </p:nvSpPr>
          <p:spPr>
            <a:xfrm>
              <a:off x="395536" y="1780456"/>
              <a:ext cx="864096" cy="864096"/>
            </a:xfrm>
            <a:prstGeom prst="frame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pt-BR" sz="2399" b="1" dirty="0" smtClean="0">
                  <a:solidFill>
                    <a:srgbClr val="7030A0"/>
                  </a:solidFill>
                </a:rPr>
                <a:t>53</a:t>
              </a:r>
              <a:endParaRPr lang="pt-BR" sz="2399" b="1" dirty="0">
                <a:solidFill>
                  <a:srgbClr val="7030A0"/>
                </a:solidFill>
              </a:endParaRPr>
            </a:p>
          </p:txBody>
        </p:sp>
        <p:sp>
          <p:nvSpPr>
            <p:cNvPr id="34" name="CaixaDeTexto 33"/>
            <p:cNvSpPr txBox="1"/>
            <p:nvPr/>
          </p:nvSpPr>
          <p:spPr>
            <a:xfrm>
              <a:off x="251520" y="2644552"/>
              <a:ext cx="1152128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200" b="1" dirty="0" smtClean="0">
                  <a:solidFill>
                    <a:srgbClr val="7030A0"/>
                  </a:solidFill>
                </a:rPr>
                <a:t>Coleta de Expectativas</a:t>
              </a:r>
              <a:endParaRPr lang="pt-BR" sz="1200" b="1" dirty="0">
                <a:solidFill>
                  <a:srgbClr val="7030A0"/>
                </a:solidFill>
              </a:endParaRPr>
            </a:p>
          </p:txBody>
        </p:sp>
      </p:grpSp>
      <p:grpSp>
        <p:nvGrpSpPr>
          <p:cNvPr id="2" name="Grupo 1"/>
          <p:cNvGrpSpPr/>
          <p:nvPr/>
        </p:nvGrpSpPr>
        <p:grpSpPr>
          <a:xfrm>
            <a:off x="1461762" y="3221336"/>
            <a:ext cx="6245475" cy="1727472"/>
            <a:chOff x="1461762" y="3221336"/>
            <a:chExt cx="6245475" cy="1727472"/>
          </a:xfrm>
        </p:grpSpPr>
        <p:pic>
          <p:nvPicPr>
            <p:cNvPr id="9" name="Imagem 8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61762" y="3221336"/>
              <a:ext cx="6245475" cy="1727472"/>
            </a:xfrm>
            <a:prstGeom prst="rect">
              <a:avLst/>
            </a:prstGeom>
          </p:spPr>
        </p:pic>
        <p:sp>
          <p:nvSpPr>
            <p:cNvPr id="35" name="Retângulo 34"/>
            <p:cNvSpPr/>
            <p:nvPr/>
          </p:nvSpPr>
          <p:spPr>
            <a:xfrm rot="16200000">
              <a:off x="937537" y="3911423"/>
              <a:ext cx="1439818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defTabSz="1088387"/>
              <a:r>
                <a:rPr lang="pt-BR" b="1" dirty="0" smtClean="0">
                  <a:solidFill>
                    <a:schemeClr val="bg1"/>
                  </a:solidFill>
                  <a:latin typeface="Lucida Console" panose="020B0609040504020204" pitchFamily="49" charset="0"/>
                  <a:ea typeface="Gungsuh" panose="02030600000101010101" pitchFamily="18" charset="-127"/>
                </a:rPr>
                <a:t>Hipóteses</a:t>
              </a:r>
              <a:endParaRPr lang="pt-BR" b="1" dirty="0">
                <a:solidFill>
                  <a:schemeClr val="bg1"/>
                </a:solidFill>
                <a:latin typeface="Lucida Console" panose="020B0609040504020204" pitchFamily="49" charset="0"/>
                <a:ea typeface="Gungsuh" panose="02030600000101010101" pitchFamily="18" charset="-127"/>
              </a:endParaRPr>
            </a:p>
          </p:txBody>
        </p:sp>
        <p:sp>
          <p:nvSpPr>
            <p:cNvPr id="36" name="Retângulo 35"/>
            <p:cNvSpPr/>
            <p:nvPr/>
          </p:nvSpPr>
          <p:spPr>
            <a:xfrm rot="5400000">
              <a:off x="6732932" y="3902020"/>
              <a:ext cx="1579278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defTabSz="1088387"/>
              <a:r>
                <a:rPr lang="pt-BR" b="1" dirty="0" smtClean="0">
                  <a:solidFill>
                    <a:schemeClr val="bg1"/>
                  </a:solidFill>
                  <a:latin typeface="Lucida Console" panose="020B0609040504020204" pitchFamily="49" charset="0"/>
                </a:rPr>
                <a:t>Conclusões</a:t>
              </a:r>
              <a:endParaRPr lang="pt-BR" b="1" dirty="0">
                <a:solidFill>
                  <a:schemeClr val="bg1"/>
                </a:solidFill>
                <a:latin typeface="Lucida Console" panose="020B06090405040202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735191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51011">
            <a:off x="-322260" y="-286325"/>
            <a:ext cx="9667629" cy="6875476"/>
          </a:xfrm>
          <a:prstGeom prst="rect">
            <a:avLst/>
          </a:prstGeom>
        </p:spPr>
      </p:pic>
      <p:pic>
        <p:nvPicPr>
          <p:cNvPr id="14" name="Picture 8" descr="NAT_marca_branca_natura-01.png"/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0432" y="19878"/>
            <a:ext cx="576000" cy="57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CaixaDeTexto 5"/>
          <p:cNvSpPr txBox="1"/>
          <p:nvPr/>
        </p:nvSpPr>
        <p:spPr>
          <a:xfrm>
            <a:off x="-1" y="2"/>
            <a:ext cx="9144001" cy="646331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MÉTODO</a:t>
            </a:r>
          </a:p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Ouvir as pessoas, para identificar fatos e mitos.</a:t>
            </a:r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Light" pitchFamily="34" charset="0"/>
            </a:endParaRPr>
          </a:p>
        </p:txBody>
      </p:sp>
      <p:sp>
        <p:nvSpPr>
          <p:cNvPr id="8" name="CaixaDeTexto 7"/>
          <p:cNvSpPr txBox="1"/>
          <p:nvPr/>
        </p:nvSpPr>
        <p:spPr>
          <a:xfrm rot="16200000">
            <a:off x="8127558" y="4147980"/>
            <a:ext cx="176338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 dirty="0">
                <a:solidFill>
                  <a:schemeClr val="accent1">
                    <a:lumMod val="75000"/>
                  </a:schemeClr>
                </a:solidFill>
              </a:rPr>
              <a:t>CHACON</a:t>
            </a:r>
            <a:r>
              <a:rPr lang="pt-BR" sz="900" dirty="0"/>
              <a:t> </a:t>
            </a:r>
            <a:r>
              <a:rPr lang="pt-BR" sz="900" dirty="0">
                <a:solidFill>
                  <a:schemeClr val="bg1">
                    <a:lumMod val="85000"/>
                  </a:schemeClr>
                </a:solidFill>
              </a:rPr>
              <a:t>|</a:t>
            </a:r>
            <a:r>
              <a:rPr lang="pt-BR" sz="900" dirty="0"/>
              <a:t> </a:t>
            </a:r>
            <a:r>
              <a:rPr lang="pt-BR" sz="900" dirty="0">
                <a:solidFill>
                  <a:schemeClr val="bg1">
                    <a:lumMod val="65000"/>
                  </a:schemeClr>
                </a:solidFill>
              </a:rPr>
              <a:t>Consultoria Ilimitada</a:t>
            </a:r>
          </a:p>
        </p:txBody>
      </p:sp>
      <p:sp>
        <p:nvSpPr>
          <p:cNvPr id="2" name="CaixaDeTexto 1"/>
          <p:cNvSpPr txBox="1"/>
          <p:nvPr/>
        </p:nvSpPr>
        <p:spPr>
          <a:xfrm>
            <a:off x="347366" y="1428543"/>
            <a:ext cx="1512168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1200" dirty="0" smtClean="0">
                <a:latin typeface="Bradley Hand ITC" panose="03070402050302030203" pitchFamily="66" charset="0"/>
              </a:rPr>
              <a:t>* Há muitos fóruns e rituais.</a:t>
            </a:r>
            <a:endParaRPr lang="pt-BR" sz="1200" dirty="0">
              <a:latin typeface="Bradley Hand ITC" panose="03070402050302030203" pitchFamily="66" charset="0"/>
            </a:endParaRPr>
          </a:p>
        </p:txBody>
      </p:sp>
      <p:sp>
        <p:nvSpPr>
          <p:cNvPr id="9" name="CaixaDeTexto 8"/>
          <p:cNvSpPr txBox="1"/>
          <p:nvPr/>
        </p:nvSpPr>
        <p:spPr>
          <a:xfrm>
            <a:off x="156193" y="785475"/>
            <a:ext cx="1512168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1200" dirty="0" smtClean="0">
                <a:latin typeface="Bradley Hand ITC" panose="03070402050302030203" pitchFamily="66" charset="0"/>
              </a:rPr>
              <a:t>* Muito apadrinhamento</a:t>
            </a:r>
            <a:endParaRPr lang="pt-BR" sz="1200" dirty="0">
              <a:latin typeface="Bradley Hand ITC" panose="03070402050302030203" pitchFamily="66" charset="0"/>
            </a:endParaRPr>
          </a:p>
        </p:txBody>
      </p:sp>
      <p:sp>
        <p:nvSpPr>
          <p:cNvPr id="10" name="CaixaDeTexto 9"/>
          <p:cNvSpPr txBox="1"/>
          <p:nvPr/>
        </p:nvSpPr>
        <p:spPr>
          <a:xfrm>
            <a:off x="2195736" y="844429"/>
            <a:ext cx="1512168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1200" dirty="0" smtClean="0">
                <a:latin typeface="Bradley Hand ITC" panose="03070402050302030203" pitchFamily="66" charset="0"/>
              </a:rPr>
              <a:t>* Faltam donos para as coisas</a:t>
            </a:r>
            <a:endParaRPr lang="pt-BR" sz="1200" dirty="0">
              <a:latin typeface="Bradley Hand ITC" panose="03070402050302030203" pitchFamily="66" charset="0"/>
            </a:endParaRPr>
          </a:p>
        </p:txBody>
      </p:sp>
      <p:sp>
        <p:nvSpPr>
          <p:cNvPr id="11" name="CaixaDeTexto 10"/>
          <p:cNvSpPr txBox="1"/>
          <p:nvPr/>
        </p:nvSpPr>
        <p:spPr>
          <a:xfrm rot="20200227">
            <a:off x="4586260" y="1011808"/>
            <a:ext cx="1512168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1200" dirty="0" smtClean="0">
                <a:latin typeface="Bradley Hand ITC" panose="03070402050302030203" pitchFamily="66" charset="0"/>
              </a:rPr>
              <a:t>* Muitos incidentes críticos</a:t>
            </a:r>
            <a:endParaRPr lang="pt-BR" sz="1200" dirty="0">
              <a:latin typeface="Bradley Hand ITC" panose="03070402050302030203" pitchFamily="66" charset="0"/>
            </a:endParaRPr>
          </a:p>
        </p:txBody>
      </p:sp>
      <p:sp>
        <p:nvSpPr>
          <p:cNvPr id="12" name="CaixaDeTexto 11"/>
          <p:cNvSpPr txBox="1"/>
          <p:nvPr/>
        </p:nvSpPr>
        <p:spPr>
          <a:xfrm rot="21207934">
            <a:off x="5610070" y="1313501"/>
            <a:ext cx="1512168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1200" dirty="0" smtClean="0">
                <a:latin typeface="Bradley Hand ITC" panose="03070402050302030203" pitchFamily="66" charset="0"/>
              </a:rPr>
              <a:t>* A luz vermelha não emociona</a:t>
            </a:r>
            <a:endParaRPr lang="pt-BR" sz="1200" dirty="0">
              <a:latin typeface="Bradley Hand ITC" panose="03070402050302030203" pitchFamily="66" charset="0"/>
            </a:endParaRPr>
          </a:p>
        </p:txBody>
      </p:sp>
      <p:sp>
        <p:nvSpPr>
          <p:cNvPr id="13" name="CaixaDeTexto 12"/>
          <p:cNvSpPr txBox="1"/>
          <p:nvPr/>
        </p:nvSpPr>
        <p:spPr>
          <a:xfrm rot="464298">
            <a:off x="1724090" y="2117635"/>
            <a:ext cx="1125241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1200" dirty="0" smtClean="0">
                <a:latin typeface="Bradley Hand ITC" panose="03070402050302030203" pitchFamily="66" charset="0"/>
              </a:rPr>
              <a:t>* GRP só</a:t>
            </a:r>
          </a:p>
          <a:p>
            <a:pPr algn="ctr"/>
            <a:r>
              <a:rPr lang="pt-BR" sz="1200" dirty="0" smtClean="0">
                <a:latin typeface="Bradley Hand ITC" panose="03070402050302030203" pitchFamily="66" charset="0"/>
              </a:rPr>
              <a:t> tira pedido</a:t>
            </a:r>
            <a:endParaRPr lang="pt-BR" sz="1200" dirty="0">
              <a:latin typeface="Bradley Hand ITC" panose="03070402050302030203" pitchFamily="66" charset="0"/>
            </a:endParaRPr>
          </a:p>
        </p:txBody>
      </p:sp>
      <p:sp>
        <p:nvSpPr>
          <p:cNvPr id="15" name="CaixaDeTexto 14"/>
          <p:cNvSpPr txBox="1"/>
          <p:nvPr/>
        </p:nvSpPr>
        <p:spPr>
          <a:xfrm rot="21272578">
            <a:off x="2462183" y="1509923"/>
            <a:ext cx="1233093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1200" dirty="0" smtClean="0">
                <a:latin typeface="Bradley Hand ITC" panose="03070402050302030203" pitchFamily="66" charset="0"/>
              </a:rPr>
              <a:t>* Burocracia exagerada</a:t>
            </a:r>
            <a:endParaRPr lang="pt-BR" sz="1200" dirty="0">
              <a:latin typeface="Bradley Hand ITC" panose="03070402050302030203" pitchFamily="66" charset="0"/>
            </a:endParaRPr>
          </a:p>
        </p:txBody>
      </p:sp>
      <p:sp>
        <p:nvSpPr>
          <p:cNvPr id="16" name="CaixaDeTexto 15"/>
          <p:cNvSpPr txBox="1"/>
          <p:nvPr/>
        </p:nvSpPr>
        <p:spPr>
          <a:xfrm rot="21017893">
            <a:off x="-69260" y="2087496"/>
            <a:ext cx="1512168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1200" dirty="0" smtClean="0">
                <a:latin typeface="Bradley Hand ITC" panose="03070402050302030203" pitchFamily="66" charset="0"/>
              </a:rPr>
              <a:t>* Faltam bons Analistas de Negócios</a:t>
            </a:r>
            <a:endParaRPr lang="pt-BR" sz="1200" dirty="0">
              <a:latin typeface="Bradley Hand ITC" panose="03070402050302030203" pitchFamily="66" charset="0"/>
            </a:endParaRPr>
          </a:p>
        </p:txBody>
      </p:sp>
      <p:sp>
        <p:nvSpPr>
          <p:cNvPr id="17" name="CaixaDeTexto 16"/>
          <p:cNvSpPr txBox="1"/>
          <p:nvPr/>
        </p:nvSpPr>
        <p:spPr>
          <a:xfrm rot="21186077">
            <a:off x="530172" y="2738224"/>
            <a:ext cx="1512168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1200" dirty="0" smtClean="0">
                <a:latin typeface="Bradley Hand ITC" panose="03070402050302030203" pitchFamily="66" charset="0"/>
              </a:rPr>
              <a:t>* Há muito retrabalho</a:t>
            </a:r>
            <a:endParaRPr lang="pt-BR" sz="1200" dirty="0">
              <a:latin typeface="Bradley Hand ITC" panose="03070402050302030203" pitchFamily="66" charset="0"/>
            </a:endParaRPr>
          </a:p>
        </p:txBody>
      </p:sp>
      <p:sp>
        <p:nvSpPr>
          <p:cNvPr id="18" name="CaixaDeTexto 17"/>
          <p:cNvSpPr txBox="1"/>
          <p:nvPr/>
        </p:nvSpPr>
        <p:spPr>
          <a:xfrm rot="21156702">
            <a:off x="2393906" y="2683179"/>
            <a:ext cx="1512168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1200" dirty="0" smtClean="0">
                <a:latin typeface="Bradley Hand ITC" panose="03070402050302030203" pitchFamily="66" charset="0"/>
              </a:rPr>
              <a:t>* Falta confiança entre as equipes</a:t>
            </a:r>
            <a:endParaRPr lang="pt-BR" sz="1200" dirty="0">
              <a:latin typeface="Bradley Hand ITC" panose="03070402050302030203" pitchFamily="66" charset="0"/>
            </a:endParaRPr>
          </a:p>
        </p:txBody>
      </p:sp>
      <p:sp>
        <p:nvSpPr>
          <p:cNvPr id="19" name="CaixaDeTexto 18"/>
          <p:cNvSpPr txBox="1"/>
          <p:nvPr/>
        </p:nvSpPr>
        <p:spPr>
          <a:xfrm rot="20842916">
            <a:off x="-135743" y="3353026"/>
            <a:ext cx="1512168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1200" dirty="0" smtClean="0">
                <a:latin typeface="Bradley Hand ITC" panose="03070402050302030203" pitchFamily="66" charset="0"/>
              </a:rPr>
              <a:t>* DI e DA parecem Coréia do Norte X Coréia do Sul</a:t>
            </a:r>
            <a:endParaRPr lang="pt-BR" sz="1200" dirty="0">
              <a:latin typeface="Bradley Hand ITC" panose="03070402050302030203" pitchFamily="66" charset="0"/>
            </a:endParaRPr>
          </a:p>
        </p:txBody>
      </p:sp>
      <p:sp>
        <p:nvSpPr>
          <p:cNvPr id="20" name="CaixaDeTexto 19"/>
          <p:cNvSpPr txBox="1"/>
          <p:nvPr/>
        </p:nvSpPr>
        <p:spPr>
          <a:xfrm rot="20842916">
            <a:off x="1706742" y="3400188"/>
            <a:ext cx="997414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1200" dirty="0" smtClean="0">
                <a:latin typeface="Bradley Hand ITC" panose="03070402050302030203" pitchFamily="66" charset="0"/>
              </a:rPr>
              <a:t>* Ninguém é punido</a:t>
            </a:r>
            <a:endParaRPr lang="pt-BR" sz="1200" dirty="0">
              <a:latin typeface="Bradley Hand ITC" panose="03070402050302030203" pitchFamily="66" charset="0"/>
            </a:endParaRPr>
          </a:p>
        </p:txBody>
      </p:sp>
      <p:sp>
        <p:nvSpPr>
          <p:cNvPr id="21" name="CaixaDeTexto 20"/>
          <p:cNvSpPr txBox="1"/>
          <p:nvPr/>
        </p:nvSpPr>
        <p:spPr>
          <a:xfrm rot="21103059">
            <a:off x="1661734" y="4209413"/>
            <a:ext cx="1183720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1200" dirty="0" smtClean="0">
                <a:latin typeface="Bradley Hand ITC" panose="03070402050302030203" pitchFamily="66" charset="0"/>
              </a:rPr>
              <a:t>* Culpa do Metrô</a:t>
            </a:r>
            <a:endParaRPr lang="pt-BR" sz="1200" dirty="0">
              <a:latin typeface="Bradley Hand ITC" panose="03070402050302030203" pitchFamily="66" charset="0"/>
            </a:endParaRPr>
          </a:p>
        </p:txBody>
      </p:sp>
      <p:sp>
        <p:nvSpPr>
          <p:cNvPr id="22" name="CaixaDeTexto 21"/>
          <p:cNvSpPr txBox="1"/>
          <p:nvPr/>
        </p:nvSpPr>
        <p:spPr>
          <a:xfrm rot="620759">
            <a:off x="2847175" y="3489713"/>
            <a:ext cx="1183720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1200" dirty="0" smtClean="0">
                <a:latin typeface="Bradley Hand ITC" panose="03070402050302030203" pitchFamily="66" charset="0"/>
              </a:rPr>
              <a:t>* </a:t>
            </a:r>
            <a:r>
              <a:rPr lang="pt-BR" sz="1200" dirty="0" err="1" smtClean="0">
                <a:latin typeface="Bradley Hand ITC" panose="03070402050302030203" pitchFamily="66" charset="0"/>
              </a:rPr>
              <a:t>Hashtags</a:t>
            </a:r>
            <a:r>
              <a:rPr lang="pt-BR" sz="1200" dirty="0" smtClean="0">
                <a:latin typeface="Bradley Hand ITC" panose="03070402050302030203" pitchFamily="66" charset="0"/>
              </a:rPr>
              <a:t> só enfeitam os </a:t>
            </a:r>
            <a:r>
              <a:rPr lang="pt-BR" sz="1200" dirty="0" err="1" smtClean="0">
                <a:latin typeface="Bradley Hand ITC" panose="03070402050302030203" pitchFamily="66" charset="0"/>
              </a:rPr>
              <a:t>gadgets</a:t>
            </a:r>
            <a:endParaRPr lang="pt-BR" sz="1200" dirty="0">
              <a:latin typeface="Bradley Hand ITC" panose="03070402050302030203" pitchFamily="66" charset="0"/>
            </a:endParaRPr>
          </a:p>
        </p:txBody>
      </p:sp>
      <p:sp>
        <p:nvSpPr>
          <p:cNvPr id="23" name="CaixaDeTexto 22"/>
          <p:cNvSpPr txBox="1"/>
          <p:nvPr/>
        </p:nvSpPr>
        <p:spPr>
          <a:xfrm rot="21083669">
            <a:off x="2884061" y="4485010"/>
            <a:ext cx="1183720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1200" dirty="0" smtClean="0">
                <a:latin typeface="Bradley Hand ITC" panose="03070402050302030203" pitchFamily="66" charset="0"/>
              </a:rPr>
              <a:t>* Ninguém sabe para onde o barco vai</a:t>
            </a:r>
            <a:endParaRPr lang="pt-BR" sz="1200" dirty="0">
              <a:latin typeface="Bradley Hand ITC" panose="03070402050302030203" pitchFamily="66" charset="0"/>
            </a:endParaRPr>
          </a:p>
        </p:txBody>
      </p:sp>
      <p:sp>
        <p:nvSpPr>
          <p:cNvPr id="24" name="CaixaDeTexto 23"/>
          <p:cNvSpPr txBox="1"/>
          <p:nvPr/>
        </p:nvSpPr>
        <p:spPr>
          <a:xfrm rot="21083669">
            <a:off x="4381152" y="3635988"/>
            <a:ext cx="1183720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1200" dirty="0" smtClean="0">
                <a:latin typeface="Bradley Hand ITC" panose="03070402050302030203" pitchFamily="66" charset="0"/>
              </a:rPr>
              <a:t>* Quanto custa um chamado</a:t>
            </a:r>
            <a:endParaRPr lang="pt-BR" sz="1200" dirty="0">
              <a:latin typeface="Bradley Hand ITC" panose="03070402050302030203" pitchFamily="66" charset="0"/>
            </a:endParaRPr>
          </a:p>
        </p:txBody>
      </p:sp>
      <p:sp>
        <p:nvSpPr>
          <p:cNvPr id="25" name="CaixaDeTexto 24"/>
          <p:cNvSpPr txBox="1"/>
          <p:nvPr/>
        </p:nvSpPr>
        <p:spPr>
          <a:xfrm rot="655588">
            <a:off x="4383888" y="4506687"/>
            <a:ext cx="1183720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1200" dirty="0" smtClean="0">
                <a:latin typeface="Bradley Hand ITC" panose="03070402050302030203" pitchFamily="66" charset="0"/>
              </a:rPr>
              <a:t>* É tudo pra ontem</a:t>
            </a:r>
            <a:endParaRPr lang="pt-BR" sz="1200" dirty="0">
              <a:latin typeface="Bradley Hand ITC" panose="03070402050302030203" pitchFamily="66" charset="0"/>
            </a:endParaRPr>
          </a:p>
        </p:txBody>
      </p:sp>
      <p:sp>
        <p:nvSpPr>
          <p:cNvPr id="26" name="CaixaDeTexto 25"/>
          <p:cNvSpPr txBox="1"/>
          <p:nvPr/>
        </p:nvSpPr>
        <p:spPr>
          <a:xfrm rot="21083669">
            <a:off x="5880683" y="4602722"/>
            <a:ext cx="1183720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1200" dirty="0" smtClean="0">
                <a:latin typeface="Bradley Hand ITC" panose="03070402050302030203" pitchFamily="66" charset="0"/>
              </a:rPr>
              <a:t>* A entrada é muito ruim</a:t>
            </a:r>
            <a:endParaRPr lang="pt-BR" sz="1200" dirty="0">
              <a:latin typeface="Bradley Hand ITC" panose="03070402050302030203" pitchFamily="66" charset="0"/>
            </a:endParaRPr>
          </a:p>
        </p:txBody>
      </p:sp>
      <p:sp>
        <p:nvSpPr>
          <p:cNvPr id="27" name="CaixaDeTexto 26"/>
          <p:cNvSpPr txBox="1"/>
          <p:nvPr/>
        </p:nvSpPr>
        <p:spPr>
          <a:xfrm rot="21083669">
            <a:off x="5628509" y="3875716"/>
            <a:ext cx="1183720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1200" dirty="0" smtClean="0">
                <a:latin typeface="Bradley Hand ITC" panose="03070402050302030203" pitchFamily="66" charset="0"/>
              </a:rPr>
              <a:t>* TI não se sente parte do negócio</a:t>
            </a:r>
            <a:endParaRPr lang="pt-BR" sz="1200" dirty="0">
              <a:latin typeface="Bradley Hand ITC" panose="03070402050302030203" pitchFamily="66" charset="0"/>
            </a:endParaRPr>
          </a:p>
        </p:txBody>
      </p:sp>
      <p:sp>
        <p:nvSpPr>
          <p:cNvPr id="28" name="CaixaDeTexto 27"/>
          <p:cNvSpPr txBox="1"/>
          <p:nvPr/>
        </p:nvSpPr>
        <p:spPr>
          <a:xfrm rot="496952">
            <a:off x="7145508" y="3626937"/>
            <a:ext cx="1387328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1200" dirty="0" smtClean="0">
                <a:latin typeface="Bradley Hand ITC" panose="03070402050302030203" pitchFamily="66" charset="0"/>
              </a:rPr>
              <a:t>* Muita gente veio do negócio e não se sente TD</a:t>
            </a:r>
            <a:endParaRPr lang="pt-BR" sz="1200" dirty="0">
              <a:latin typeface="Bradley Hand ITC" panose="03070402050302030203" pitchFamily="66" charset="0"/>
            </a:endParaRPr>
          </a:p>
        </p:txBody>
      </p:sp>
      <p:sp>
        <p:nvSpPr>
          <p:cNvPr id="29" name="CaixaDeTexto 28"/>
          <p:cNvSpPr txBox="1"/>
          <p:nvPr/>
        </p:nvSpPr>
        <p:spPr>
          <a:xfrm rot="20120176">
            <a:off x="230150" y="4083627"/>
            <a:ext cx="1183720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1200" dirty="0" smtClean="0">
                <a:latin typeface="Bradley Hand ITC" panose="03070402050302030203" pitchFamily="66" charset="0"/>
              </a:rPr>
              <a:t>* Não fazemos nem o básico</a:t>
            </a:r>
            <a:endParaRPr lang="pt-BR" sz="1200" dirty="0">
              <a:latin typeface="Bradley Hand ITC" panose="03070402050302030203" pitchFamily="66" charset="0"/>
            </a:endParaRPr>
          </a:p>
        </p:txBody>
      </p:sp>
      <p:sp>
        <p:nvSpPr>
          <p:cNvPr id="31" name="CaixaDeTexto 30"/>
          <p:cNvSpPr txBox="1"/>
          <p:nvPr/>
        </p:nvSpPr>
        <p:spPr>
          <a:xfrm rot="280106">
            <a:off x="4427599" y="1833528"/>
            <a:ext cx="1183720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1200" dirty="0" smtClean="0">
                <a:latin typeface="Bradley Hand ITC" panose="03070402050302030203" pitchFamily="66" charset="0"/>
              </a:rPr>
              <a:t>* A natureza das falhas não é conhecida</a:t>
            </a:r>
            <a:endParaRPr lang="pt-BR" sz="1200" dirty="0">
              <a:latin typeface="Bradley Hand ITC" panose="03070402050302030203" pitchFamily="66" charset="0"/>
            </a:endParaRPr>
          </a:p>
        </p:txBody>
      </p:sp>
      <p:sp>
        <p:nvSpPr>
          <p:cNvPr id="32" name="CaixaDeTexto 31"/>
          <p:cNvSpPr txBox="1"/>
          <p:nvPr/>
        </p:nvSpPr>
        <p:spPr>
          <a:xfrm rot="369821">
            <a:off x="6741379" y="1842136"/>
            <a:ext cx="1183720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1200" dirty="0" smtClean="0">
                <a:latin typeface="Bradley Hand ITC" panose="03070402050302030203" pitchFamily="66" charset="0"/>
              </a:rPr>
              <a:t>* A culpa é sempre de Sistemas</a:t>
            </a:r>
            <a:endParaRPr lang="pt-BR" sz="1200" dirty="0">
              <a:latin typeface="Bradley Hand ITC" panose="03070402050302030203" pitchFamily="66" charset="0"/>
            </a:endParaRPr>
          </a:p>
        </p:txBody>
      </p:sp>
      <p:sp>
        <p:nvSpPr>
          <p:cNvPr id="33" name="CaixaDeTexto 32"/>
          <p:cNvSpPr txBox="1"/>
          <p:nvPr/>
        </p:nvSpPr>
        <p:spPr>
          <a:xfrm>
            <a:off x="7877084" y="1616513"/>
            <a:ext cx="1183720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1200" dirty="0" smtClean="0">
                <a:latin typeface="Bradley Hand ITC" panose="03070402050302030203" pitchFamily="66" charset="0"/>
              </a:rPr>
              <a:t>* A culpa é sempre de Infra</a:t>
            </a:r>
            <a:endParaRPr lang="pt-BR" sz="1200" dirty="0">
              <a:latin typeface="Bradley Hand ITC" panose="03070402050302030203" pitchFamily="66" charset="0"/>
            </a:endParaRPr>
          </a:p>
        </p:txBody>
      </p:sp>
      <p:sp>
        <p:nvSpPr>
          <p:cNvPr id="34" name="CaixaDeTexto 33"/>
          <p:cNvSpPr txBox="1"/>
          <p:nvPr/>
        </p:nvSpPr>
        <p:spPr>
          <a:xfrm rot="21244250">
            <a:off x="7792930" y="2154835"/>
            <a:ext cx="1183720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1200" dirty="0" smtClean="0">
                <a:latin typeface="Bradley Hand ITC" panose="03070402050302030203" pitchFamily="66" charset="0"/>
              </a:rPr>
              <a:t>* A culpa é sempre dos Processos</a:t>
            </a:r>
            <a:endParaRPr lang="pt-BR" sz="1200" dirty="0">
              <a:latin typeface="Bradley Hand ITC" panose="03070402050302030203" pitchFamily="66" charset="0"/>
            </a:endParaRPr>
          </a:p>
        </p:txBody>
      </p:sp>
      <p:sp>
        <p:nvSpPr>
          <p:cNvPr id="35" name="CaixaDeTexto 34"/>
          <p:cNvSpPr txBox="1"/>
          <p:nvPr/>
        </p:nvSpPr>
        <p:spPr>
          <a:xfrm rot="999175">
            <a:off x="6715206" y="902234"/>
            <a:ext cx="1512168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1200" dirty="0" smtClean="0">
                <a:latin typeface="Bradley Hand ITC" panose="03070402050302030203" pitchFamily="66" charset="0"/>
              </a:rPr>
              <a:t>* A operação é muito instável</a:t>
            </a:r>
            <a:endParaRPr lang="pt-BR" sz="1200" dirty="0">
              <a:latin typeface="Bradley Hand ITC" panose="03070402050302030203" pitchFamily="66" charset="0"/>
            </a:endParaRPr>
          </a:p>
        </p:txBody>
      </p:sp>
      <p:sp>
        <p:nvSpPr>
          <p:cNvPr id="36" name="CaixaDeTexto 35"/>
          <p:cNvSpPr txBox="1"/>
          <p:nvPr/>
        </p:nvSpPr>
        <p:spPr>
          <a:xfrm rot="750349">
            <a:off x="5586816" y="2371712"/>
            <a:ext cx="1183720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1200" dirty="0" smtClean="0">
                <a:latin typeface="Bradley Hand ITC" panose="03070402050302030203" pitchFamily="66" charset="0"/>
              </a:rPr>
              <a:t>* Não há indicadores</a:t>
            </a:r>
            <a:endParaRPr lang="pt-BR" sz="1200" dirty="0">
              <a:latin typeface="Bradley Hand ITC" panose="03070402050302030203" pitchFamily="66" charset="0"/>
            </a:endParaRPr>
          </a:p>
        </p:txBody>
      </p:sp>
      <p:sp>
        <p:nvSpPr>
          <p:cNvPr id="37" name="CaixaDeTexto 36"/>
          <p:cNvSpPr txBox="1"/>
          <p:nvPr/>
        </p:nvSpPr>
        <p:spPr>
          <a:xfrm rot="750349">
            <a:off x="4230468" y="2715867"/>
            <a:ext cx="1183720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1200" dirty="0" smtClean="0">
                <a:latin typeface="Bradley Hand ITC" panose="03070402050302030203" pitchFamily="66" charset="0"/>
              </a:rPr>
              <a:t>* Há indicadores demais</a:t>
            </a:r>
            <a:endParaRPr lang="pt-BR" sz="1200" dirty="0">
              <a:latin typeface="Bradley Hand ITC" panose="03070402050302030203" pitchFamily="66" charset="0"/>
            </a:endParaRPr>
          </a:p>
        </p:txBody>
      </p:sp>
      <p:sp>
        <p:nvSpPr>
          <p:cNvPr id="38" name="CaixaDeTexto 37"/>
          <p:cNvSpPr txBox="1"/>
          <p:nvPr/>
        </p:nvSpPr>
        <p:spPr>
          <a:xfrm rot="464298">
            <a:off x="5625882" y="3085546"/>
            <a:ext cx="1512168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1200" dirty="0" smtClean="0">
                <a:latin typeface="Bradley Hand ITC" panose="03070402050302030203" pitchFamily="66" charset="0"/>
              </a:rPr>
              <a:t>* As pessoas tem preguiça de ler</a:t>
            </a:r>
            <a:endParaRPr lang="pt-BR" sz="1200" dirty="0">
              <a:latin typeface="Bradley Hand ITC" panose="03070402050302030203" pitchFamily="66" charset="0"/>
            </a:endParaRPr>
          </a:p>
        </p:txBody>
      </p:sp>
      <p:sp>
        <p:nvSpPr>
          <p:cNvPr id="39" name="CaixaDeTexto 38"/>
          <p:cNvSpPr txBox="1"/>
          <p:nvPr/>
        </p:nvSpPr>
        <p:spPr>
          <a:xfrm>
            <a:off x="7164211" y="4517676"/>
            <a:ext cx="1512168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1200" dirty="0" smtClean="0">
                <a:latin typeface="Bradley Hand ITC" panose="03070402050302030203" pitchFamily="66" charset="0"/>
              </a:rPr>
              <a:t>* Os indicadores são apenas números</a:t>
            </a:r>
            <a:endParaRPr lang="pt-BR" sz="1200" dirty="0">
              <a:latin typeface="Bradley Hand ITC" panose="03070402050302030203" pitchFamily="66" charset="0"/>
            </a:endParaRPr>
          </a:p>
        </p:txBody>
      </p:sp>
      <p:sp>
        <p:nvSpPr>
          <p:cNvPr id="40" name="CaixaDeTexto 39"/>
          <p:cNvSpPr txBox="1"/>
          <p:nvPr/>
        </p:nvSpPr>
        <p:spPr>
          <a:xfrm rot="20120176">
            <a:off x="3801233" y="902235"/>
            <a:ext cx="1183720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1200" dirty="0" smtClean="0">
                <a:latin typeface="Bradley Hand ITC" panose="03070402050302030203" pitchFamily="66" charset="0"/>
              </a:rPr>
              <a:t>* O BES ferrou muita coisa</a:t>
            </a:r>
            <a:endParaRPr lang="pt-BR" sz="1200" dirty="0">
              <a:latin typeface="Bradley Hand ITC" panose="03070402050302030203" pitchFamily="66" charset="0"/>
            </a:endParaRPr>
          </a:p>
        </p:txBody>
      </p:sp>
      <p:sp>
        <p:nvSpPr>
          <p:cNvPr id="41" name="CaixaDeTexto 40"/>
          <p:cNvSpPr txBox="1"/>
          <p:nvPr/>
        </p:nvSpPr>
        <p:spPr>
          <a:xfrm>
            <a:off x="7260792" y="2932584"/>
            <a:ext cx="1420796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1200" dirty="0" smtClean="0">
                <a:latin typeface="Bradley Hand ITC" panose="03070402050302030203" pitchFamily="66" charset="0"/>
              </a:rPr>
              <a:t>* Há atitudes negativas</a:t>
            </a:r>
            <a:endParaRPr lang="pt-BR" sz="1200" dirty="0">
              <a:latin typeface="Bradley Hand ITC" panose="03070402050302030203" pitchFamily="66" charset="0"/>
            </a:endParaRPr>
          </a:p>
        </p:txBody>
      </p:sp>
      <p:sp>
        <p:nvSpPr>
          <p:cNvPr id="42" name="CaixaDeTexto 41"/>
          <p:cNvSpPr txBox="1"/>
          <p:nvPr/>
        </p:nvSpPr>
        <p:spPr>
          <a:xfrm rot="21083669">
            <a:off x="2975691" y="2034123"/>
            <a:ext cx="1299833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1200" dirty="0" smtClean="0">
                <a:latin typeface="Bradley Hand ITC" panose="03070402050302030203" pitchFamily="66" charset="0"/>
              </a:rPr>
              <a:t>* Quero mudar, mas não sei como</a:t>
            </a:r>
            <a:endParaRPr lang="pt-BR" sz="1200" dirty="0">
              <a:latin typeface="Bradley Hand ITC" panose="03070402050302030203" pitchFamily="66" charset="0"/>
            </a:endParaRPr>
          </a:p>
        </p:txBody>
      </p:sp>
      <p:sp>
        <p:nvSpPr>
          <p:cNvPr id="43" name="CaixaDeTexto 42"/>
          <p:cNvSpPr txBox="1"/>
          <p:nvPr/>
        </p:nvSpPr>
        <p:spPr>
          <a:xfrm rot="356342">
            <a:off x="7585447" y="748562"/>
            <a:ext cx="1410875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1200" dirty="0" smtClean="0">
                <a:latin typeface="Bradley Hand ITC" panose="03070402050302030203" pitchFamily="66" charset="0"/>
              </a:rPr>
              <a:t>* Fazemos porco</a:t>
            </a:r>
            <a:endParaRPr lang="pt-BR" sz="1200" dirty="0">
              <a:latin typeface="Bradley Hand ITC" panose="03070402050302030203" pitchFamily="66" charset="0"/>
            </a:endParaRPr>
          </a:p>
        </p:txBody>
      </p:sp>
      <p:sp>
        <p:nvSpPr>
          <p:cNvPr id="44" name="CaixaDeTexto 43"/>
          <p:cNvSpPr txBox="1"/>
          <p:nvPr/>
        </p:nvSpPr>
        <p:spPr>
          <a:xfrm>
            <a:off x="490614" y="4754264"/>
            <a:ext cx="1420796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1200" dirty="0" smtClean="0">
                <a:latin typeface="Bradley Hand ITC" panose="03070402050302030203" pitchFamily="66" charset="0"/>
              </a:rPr>
              <a:t>* O exemplo deve vir de cima</a:t>
            </a:r>
            <a:endParaRPr lang="pt-BR" sz="1200" dirty="0">
              <a:latin typeface="Bradley Hand ITC" panose="03070402050302030203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78912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4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5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65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75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85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950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50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15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2500"/>
                            </p:stCondLst>
                            <p:childTnLst>
                              <p:par>
                                <p:cTn id="44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3500"/>
                            </p:stCondLst>
                            <p:childTnLst>
                              <p:par>
                                <p:cTn id="48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450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5500"/>
                            </p:stCondLst>
                            <p:childTnLst>
                              <p:par>
                                <p:cTn id="5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7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625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7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7250"/>
                            </p:stCondLst>
                            <p:childTnLst>
                              <p:par>
                                <p:cTn id="64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7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18250"/>
                            </p:stCondLst>
                            <p:childTnLst>
                              <p:par>
                                <p:cTn id="68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19250"/>
                            </p:stCondLst>
                            <p:childTnLst>
                              <p:par>
                                <p:cTn id="72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7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20250"/>
                            </p:stCondLst>
                            <p:childTnLst>
                              <p:par>
                                <p:cTn id="76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7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2125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7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22250"/>
                            </p:stCondLst>
                            <p:childTnLst>
                              <p:par>
                                <p:cTn id="84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7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23250"/>
                            </p:stCondLst>
                            <p:childTnLst>
                              <p:par>
                                <p:cTn id="88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7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24250"/>
                            </p:stCondLst>
                            <p:childTnLst>
                              <p:par>
                                <p:cTn id="92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7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25250"/>
                            </p:stCondLst>
                            <p:childTnLst>
                              <p:par>
                                <p:cTn id="96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7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2625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7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27250"/>
                            </p:stCondLst>
                            <p:childTnLst>
                              <p:par>
                                <p:cTn id="10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7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28000"/>
                            </p:stCondLst>
                            <p:childTnLst>
                              <p:par>
                                <p:cTn id="108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7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29000"/>
                            </p:stCondLst>
                            <p:childTnLst>
                              <p:par>
                                <p:cTn id="112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7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30000"/>
                            </p:stCondLst>
                            <p:childTnLst>
                              <p:par>
                                <p:cTn id="116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7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3100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7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32000"/>
                            </p:stCondLst>
                            <p:childTnLst>
                              <p:par>
                                <p:cTn id="124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7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33000"/>
                            </p:stCondLst>
                            <p:childTnLst>
                              <p:par>
                                <p:cTn id="128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7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>
                            <p:stCondLst>
                              <p:cond delay="34000"/>
                            </p:stCondLst>
                            <p:childTnLst>
                              <p:par>
                                <p:cTn id="132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7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>
                            <p:stCondLst>
                              <p:cond delay="35000"/>
                            </p:stCondLst>
                            <p:childTnLst>
                              <p:par>
                                <p:cTn id="1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7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>
                            <p:stCondLst>
                              <p:cond delay="35750"/>
                            </p:stCondLst>
                            <p:childTnLst>
                              <p:par>
                                <p:cTn id="1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7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" fill="hold">
                            <p:stCondLst>
                              <p:cond delay="36500"/>
                            </p:stCondLst>
                            <p:childTnLst>
                              <p:par>
                                <p:cTn id="14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7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8" descr="NAT_marca_branca_natura-01.png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0432" y="19878"/>
            <a:ext cx="576000" cy="57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CaixaDeTexto 5"/>
          <p:cNvSpPr txBox="1"/>
          <p:nvPr/>
        </p:nvSpPr>
        <p:spPr>
          <a:xfrm>
            <a:off x="-1" y="2"/>
            <a:ext cx="9144001" cy="646331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MÉTODO</a:t>
            </a:r>
          </a:p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Observar fóruns, rituais e dinâmicas, para avaliar eficiência e eficácia.</a:t>
            </a:r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Light" pitchFamily="34" charset="0"/>
            </a:endParaRPr>
          </a:p>
        </p:txBody>
      </p:sp>
      <p:sp>
        <p:nvSpPr>
          <p:cNvPr id="8" name="CaixaDeTexto 7"/>
          <p:cNvSpPr txBox="1"/>
          <p:nvPr/>
        </p:nvSpPr>
        <p:spPr>
          <a:xfrm rot="16200000">
            <a:off x="8127558" y="4147980"/>
            <a:ext cx="176338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 b="1" dirty="0">
                <a:solidFill>
                  <a:schemeClr val="accent1">
                    <a:lumMod val="75000"/>
                  </a:schemeClr>
                </a:solidFill>
              </a:rPr>
              <a:t>CHACON</a:t>
            </a:r>
            <a:r>
              <a:rPr lang="pt-BR" sz="900" dirty="0"/>
              <a:t> </a:t>
            </a:r>
            <a:r>
              <a:rPr lang="pt-BR" sz="900" b="1" dirty="0">
                <a:solidFill>
                  <a:schemeClr val="bg1">
                    <a:lumMod val="85000"/>
                  </a:schemeClr>
                </a:solidFill>
              </a:rPr>
              <a:t>|</a:t>
            </a:r>
            <a:r>
              <a:rPr lang="pt-BR" sz="900" dirty="0"/>
              <a:t> </a:t>
            </a:r>
            <a:r>
              <a:rPr lang="pt-BR" sz="900" b="1" dirty="0">
                <a:solidFill>
                  <a:schemeClr val="bg1">
                    <a:lumMod val="65000"/>
                  </a:schemeClr>
                </a:solidFill>
              </a:rPr>
              <a:t>Consultoria Ilimitada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251520" y="1085229"/>
            <a:ext cx="4503453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7030A0"/>
              </a:buClr>
              <a:buSzPct val="50000"/>
              <a:buFont typeface="Wingdings" panose="05000000000000000000" pitchFamily="2" charset="2"/>
              <a:buChar char="§"/>
            </a:pPr>
            <a:r>
              <a:rPr lang="pt-BR" b="1" dirty="0" smtClean="0">
                <a:solidFill>
                  <a:srgbClr val="7030A0"/>
                </a:solidFill>
              </a:rPr>
              <a:t>Bom dia TD.</a:t>
            </a:r>
          </a:p>
          <a:p>
            <a:pPr marL="342900" indent="-342900">
              <a:buClr>
                <a:srgbClr val="7030A0"/>
              </a:buClr>
              <a:buSzPct val="50000"/>
              <a:buFont typeface="Wingdings" panose="05000000000000000000" pitchFamily="2" charset="2"/>
              <a:buChar char="§"/>
            </a:pPr>
            <a:r>
              <a:rPr lang="pt-BR" b="1" dirty="0" smtClean="0">
                <a:solidFill>
                  <a:srgbClr val="7030A0"/>
                </a:solidFill>
              </a:rPr>
              <a:t>Melhoria Contínua </a:t>
            </a:r>
            <a:r>
              <a:rPr lang="pt-BR" b="1" dirty="0" smtClean="0">
                <a:solidFill>
                  <a:srgbClr val="7030A0"/>
                </a:solidFill>
              </a:rPr>
              <a:t>dos Processos.</a:t>
            </a:r>
            <a:endParaRPr lang="pt-BR" b="1" dirty="0" smtClean="0">
              <a:solidFill>
                <a:srgbClr val="7030A0"/>
              </a:solidFill>
            </a:endParaRPr>
          </a:p>
          <a:p>
            <a:pPr marL="342900" indent="-342900">
              <a:buClr>
                <a:srgbClr val="7030A0"/>
              </a:buClr>
              <a:buSzPct val="50000"/>
              <a:buFont typeface="Wingdings" panose="05000000000000000000" pitchFamily="2" charset="2"/>
              <a:buChar char="§"/>
            </a:pPr>
            <a:r>
              <a:rPr lang="pt-BR" b="1" dirty="0" smtClean="0">
                <a:solidFill>
                  <a:srgbClr val="7030A0"/>
                </a:solidFill>
              </a:rPr>
              <a:t>Gestão de Problemas.</a:t>
            </a:r>
          </a:p>
          <a:p>
            <a:pPr marL="342900" indent="-342900">
              <a:buClr>
                <a:srgbClr val="7030A0"/>
              </a:buClr>
              <a:buSzPct val="50000"/>
              <a:buFont typeface="Wingdings" panose="05000000000000000000" pitchFamily="2" charset="2"/>
              <a:buChar char="§"/>
            </a:pPr>
            <a:r>
              <a:rPr lang="pt-BR" b="1" dirty="0" smtClean="0">
                <a:solidFill>
                  <a:srgbClr val="7030A0"/>
                </a:solidFill>
              </a:rPr>
              <a:t>Mudanças Não Planejadas.</a:t>
            </a:r>
          </a:p>
          <a:p>
            <a:pPr marL="342900" indent="-342900">
              <a:buClr>
                <a:srgbClr val="7030A0"/>
              </a:buClr>
              <a:buSzPct val="50000"/>
              <a:buFont typeface="Wingdings" panose="05000000000000000000" pitchFamily="2" charset="2"/>
              <a:buChar char="§"/>
            </a:pPr>
            <a:r>
              <a:rPr lang="pt-BR" b="1" dirty="0" smtClean="0">
                <a:solidFill>
                  <a:srgbClr val="7030A0"/>
                </a:solidFill>
              </a:rPr>
              <a:t>War Room.</a:t>
            </a:r>
          </a:p>
          <a:p>
            <a:pPr marL="342900" indent="-342900">
              <a:buClr>
                <a:srgbClr val="7030A0"/>
              </a:buClr>
              <a:buSzPct val="50000"/>
              <a:buFont typeface="Wingdings" panose="05000000000000000000" pitchFamily="2" charset="2"/>
              <a:buChar char="§"/>
            </a:pPr>
            <a:r>
              <a:rPr lang="pt-BR" b="1" dirty="0" smtClean="0">
                <a:solidFill>
                  <a:srgbClr val="7030A0"/>
                </a:solidFill>
              </a:rPr>
              <a:t>Gestão de Mudanças.</a:t>
            </a:r>
          </a:p>
          <a:p>
            <a:pPr marL="342900" indent="-342900">
              <a:buClr>
                <a:srgbClr val="7030A0"/>
              </a:buClr>
              <a:buSzPct val="50000"/>
              <a:buFont typeface="Wingdings" panose="05000000000000000000" pitchFamily="2" charset="2"/>
              <a:buChar char="§"/>
            </a:pPr>
            <a:r>
              <a:rPr lang="pt-BR" b="1" dirty="0" smtClean="0">
                <a:solidFill>
                  <a:srgbClr val="7030A0"/>
                </a:solidFill>
              </a:rPr>
              <a:t>GGTD.</a:t>
            </a:r>
          </a:p>
          <a:p>
            <a:pPr marL="342900" indent="-342900">
              <a:buClr>
                <a:srgbClr val="7030A0"/>
              </a:buClr>
              <a:buSzPct val="50000"/>
              <a:buFont typeface="Wingdings" panose="05000000000000000000" pitchFamily="2" charset="2"/>
              <a:buChar char="§"/>
            </a:pPr>
            <a:r>
              <a:rPr lang="pt-BR" b="1" dirty="0" smtClean="0">
                <a:solidFill>
                  <a:srgbClr val="7030A0"/>
                </a:solidFill>
              </a:rPr>
              <a:t>Service Desk.</a:t>
            </a:r>
          </a:p>
          <a:p>
            <a:pPr marL="342900" indent="-342900">
              <a:buClr>
                <a:srgbClr val="7030A0"/>
              </a:buClr>
              <a:buSzPct val="50000"/>
              <a:buFont typeface="Wingdings" panose="05000000000000000000" pitchFamily="2" charset="2"/>
              <a:buChar char="§"/>
            </a:pPr>
            <a:r>
              <a:rPr lang="pt-BR" b="1" dirty="0" smtClean="0">
                <a:solidFill>
                  <a:srgbClr val="7030A0"/>
                </a:solidFill>
              </a:rPr>
              <a:t>Network </a:t>
            </a:r>
            <a:r>
              <a:rPr lang="pt-BR" b="1" dirty="0" err="1" smtClean="0">
                <a:solidFill>
                  <a:srgbClr val="7030A0"/>
                </a:solidFill>
              </a:rPr>
              <a:t>Command</a:t>
            </a:r>
            <a:r>
              <a:rPr lang="pt-BR" b="1" dirty="0" smtClean="0">
                <a:solidFill>
                  <a:srgbClr val="7030A0"/>
                </a:solidFill>
              </a:rPr>
              <a:t> Center.</a:t>
            </a:r>
          </a:p>
          <a:p>
            <a:pPr marL="342900" indent="-342900">
              <a:buClr>
                <a:srgbClr val="7030A0"/>
              </a:buClr>
              <a:buSzPct val="50000"/>
              <a:buFont typeface="Wingdings" panose="05000000000000000000" pitchFamily="2" charset="2"/>
              <a:buChar char="§"/>
            </a:pPr>
            <a:r>
              <a:rPr lang="pt-BR" b="1" dirty="0" smtClean="0">
                <a:solidFill>
                  <a:srgbClr val="7030A0"/>
                </a:solidFill>
              </a:rPr>
              <a:t>Demandas*, </a:t>
            </a:r>
            <a:r>
              <a:rPr lang="pt-BR" b="1" dirty="0" err="1" smtClean="0">
                <a:solidFill>
                  <a:srgbClr val="7030A0"/>
                </a:solidFill>
              </a:rPr>
              <a:t>Yellow</a:t>
            </a:r>
            <a:r>
              <a:rPr lang="pt-BR" b="1" dirty="0" smtClean="0">
                <a:solidFill>
                  <a:srgbClr val="7030A0"/>
                </a:solidFill>
              </a:rPr>
              <a:t> </a:t>
            </a:r>
            <a:r>
              <a:rPr lang="pt-BR" b="1" dirty="0" err="1" smtClean="0">
                <a:solidFill>
                  <a:srgbClr val="7030A0"/>
                </a:solidFill>
              </a:rPr>
              <a:t>Pad</a:t>
            </a:r>
            <a:r>
              <a:rPr lang="pt-BR" b="1" dirty="0" smtClean="0">
                <a:solidFill>
                  <a:srgbClr val="7030A0"/>
                </a:solidFill>
              </a:rPr>
              <a:t> e CAD*.</a:t>
            </a:r>
          </a:p>
          <a:p>
            <a:pPr marL="342900" indent="-342900">
              <a:buClr>
                <a:srgbClr val="7030A0"/>
              </a:buClr>
              <a:buSzPct val="50000"/>
              <a:buFont typeface="Wingdings" panose="05000000000000000000" pitchFamily="2" charset="2"/>
              <a:buChar char="§"/>
            </a:pPr>
            <a:r>
              <a:rPr lang="pt-BR" b="1" dirty="0" smtClean="0">
                <a:solidFill>
                  <a:srgbClr val="7030A0"/>
                </a:solidFill>
              </a:rPr>
              <a:t>Metrô de Processos.</a:t>
            </a:r>
          </a:p>
          <a:p>
            <a:pPr marL="342900" indent="-342900">
              <a:buClr>
                <a:srgbClr val="7030A0"/>
              </a:buClr>
              <a:buSzPct val="50000"/>
              <a:buFont typeface="Wingdings" panose="05000000000000000000" pitchFamily="2" charset="2"/>
              <a:buChar char="§"/>
            </a:pPr>
            <a:r>
              <a:rPr lang="pt-BR" b="1" dirty="0" smtClean="0">
                <a:solidFill>
                  <a:srgbClr val="7030A0"/>
                </a:solidFill>
              </a:rPr>
              <a:t>Indicadores.</a:t>
            </a:r>
          </a:p>
          <a:p>
            <a:pPr marL="342900" indent="-342900">
              <a:buClr>
                <a:srgbClr val="7030A0"/>
              </a:buClr>
              <a:buSzPct val="50000"/>
              <a:buFont typeface="Wingdings" panose="05000000000000000000" pitchFamily="2" charset="2"/>
              <a:buChar char="§"/>
            </a:pPr>
            <a:r>
              <a:rPr lang="pt-BR" b="1" dirty="0" smtClean="0">
                <a:solidFill>
                  <a:srgbClr val="7030A0"/>
                </a:solidFill>
              </a:rPr>
              <a:t>Atitudes.</a:t>
            </a:r>
            <a:endParaRPr lang="pt-BR" b="1" dirty="0">
              <a:solidFill>
                <a:srgbClr val="7030A0"/>
              </a:solidFill>
            </a:endParaRPr>
          </a:p>
        </p:txBody>
      </p:sp>
      <p:pic>
        <p:nvPicPr>
          <p:cNvPr id="2050" name="Picture 2" descr="https://lincolnrh.files.wordpress.com/2010/01/uyenskech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3895" y="914970"/>
            <a:ext cx="3918585" cy="4033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62922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8" descr="NAT_marca_branca_natura-01.png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0432" y="19878"/>
            <a:ext cx="576000" cy="57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CaixaDeTexto 5"/>
          <p:cNvSpPr txBox="1"/>
          <p:nvPr/>
        </p:nvSpPr>
        <p:spPr>
          <a:xfrm>
            <a:off x="-1" y="2"/>
            <a:ext cx="9144001" cy="646331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O que entendemos</a:t>
            </a:r>
          </a:p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Nossas hipóteses</a:t>
            </a:r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Light" pitchFamily="34" charset="0"/>
            </a:endParaRPr>
          </a:p>
        </p:txBody>
      </p:sp>
      <p:sp>
        <p:nvSpPr>
          <p:cNvPr id="8" name="CaixaDeTexto 7"/>
          <p:cNvSpPr txBox="1"/>
          <p:nvPr/>
        </p:nvSpPr>
        <p:spPr>
          <a:xfrm rot="16200000">
            <a:off x="8127558" y="4147980"/>
            <a:ext cx="176338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 b="1" dirty="0">
                <a:solidFill>
                  <a:schemeClr val="accent1">
                    <a:lumMod val="75000"/>
                  </a:schemeClr>
                </a:solidFill>
              </a:rPr>
              <a:t>CHACON</a:t>
            </a:r>
            <a:r>
              <a:rPr lang="pt-BR" sz="900" dirty="0"/>
              <a:t> </a:t>
            </a:r>
            <a:r>
              <a:rPr lang="pt-BR" sz="900" b="1" dirty="0">
                <a:solidFill>
                  <a:schemeClr val="bg1">
                    <a:lumMod val="85000"/>
                  </a:schemeClr>
                </a:solidFill>
              </a:rPr>
              <a:t>|</a:t>
            </a:r>
            <a:r>
              <a:rPr lang="pt-BR" sz="900" dirty="0"/>
              <a:t> </a:t>
            </a:r>
            <a:r>
              <a:rPr lang="pt-BR" sz="900" b="1" dirty="0">
                <a:solidFill>
                  <a:schemeClr val="bg1">
                    <a:lumMod val="65000"/>
                  </a:schemeClr>
                </a:solidFill>
              </a:rPr>
              <a:t>Consultoria Ilimitada</a:t>
            </a:r>
          </a:p>
        </p:txBody>
      </p:sp>
      <p:pic>
        <p:nvPicPr>
          <p:cNvPr id="9" name="Imagem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3808" y="844352"/>
            <a:ext cx="3581901" cy="4143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3501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8" descr="NAT_marca_branca_natura-01.png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0432" y="19878"/>
            <a:ext cx="576000" cy="57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CaixaDeTexto 5"/>
          <p:cNvSpPr txBox="1"/>
          <p:nvPr/>
        </p:nvSpPr>
        <p:spPr>
          <a:xfrm>
            <a:off x="-1" y="2"/>
            <a:ext cx="9144001" cy="646331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O que entendemos</a:t>
            </a:r>
          </a:p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Nossas hipóteses</a:t>
            </a:r>
          </a:p>
        </p:txBody>
      </p:sp>
      <p:sp>
        <p:nvSpPr>
          <p:cNvPr id="8" name="CaixaDeTexto 7"/>
          <p:cNvSpPr txBox="1"/>
          <p:nvPr/>
        </p:nvSpPr>
        <p:spPr>
          <a:xfrm rot="16200000">
            <a:off x="8127558" y="4147980"/>
            <a:ext cx="176338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 b="1" dirty="0">
                <a:solidFill>
                  <a:schemeClr val="accent1">
                    <a:lumMod val="75000"/>
                  </a:schemeClr>
                </a:solidFill>
              </a:rPr>
              <a:t>CHACON</a:t>
            </a:r>
            <a:r>
              <a:rPr lang="pt-BR" sz="900" dirty="0"/>
              <a:t> </a:t>
            </a:r>
            <a:r>
              <a:rPr lang="pt-BR" sz="900" b="1" dirty="0">
                <a:solidFill>
                  <a:schemeClr val="bg1">
                    <a:lumMod val="85000"/>
                  </a:schemeClr>
                </a:solidFill>
              </a:rPr>
              <a:t>|</a:t>
            </a:r>
            <a:r>
              <a:rPr lang="pt-BR" sz="900" dirty="0"/>
              <a:t> </a:t>
            </a:r>
            <a:r>
              <a:rPr lang="pt-BR" sz="900" b="1" dirty="0">
                <a:solidFill>
                  <a:schemeClr val="bg1">
                    <a:lumMod val="65000"/>
                  </a:schemeClr>
                </a:solidFill>
              </a:rPr>
              <a:t>Consultoria Ilimitada</a:t>
            </a:r>
          </a:p>
        </p:txBody>
      </p:sp>
      <p:sp>
        <p:nvSpPr>
          <p:cNvPr id="2" name="CaixaDeTexto 1"/>
          <p:cNvSpPr txBox="1"/>
          <p:nvPr/>
        </p:nvSpPr>
        <p:spPr>
          <a:xfrm>
            <a:off x="82748" y="1773251"/>
            <a:ext cx="119237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 smtClean="0">
                <a:solidFill>
                  <a:srgbClr val="0070C0"/>
                </a:solidFill>
                <a:latin typeface="Comic Sans MS" panose="030F0702030302020204" pitchFamily="66" charset="0"/>
              </a:rPr>
              <a:t>Há muitos incidentes críticos</a:t>
            </a:r>
            <a:endParaRPr lang="pt-BR" sz="1400" dirty="0">
              <a:solidFill>
                <a:srgbClr val="0070C0"/>
              </a:solidFill>
              <a:latin typeface="Comic Sans MS" panose="030F0702030302020204" pitchFamily="66" charset="0"/>
            </a:endParaRPr>
          </a:p>
        </p:txBody>
      </p:sp>
      <p:sp>
        <p:nvSpPr>
          <p:cNvPr id="7" name="CaixaDeTexto 6"/>
          <p:cNvSpPr txBox="1"/>
          <p:nvPr/>
        </p:nvSpPr>
        <p:spPr>
          <a:xfrm>
            <a:off x="1302813" y="749099"/>
            <a:ext cx="144016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 smtClean="0">
                <a:latin typeface="Comic Sans MS" panose="030F0702030302020204" pitchFamily="66" charset="0"/>
              </a:rPr>
              <a:t>Há muitas mudanças não planejadas</a:t>
            </a:r>
            <a:endParaRPr lang="pt-BR" sz="1400" dirty="0">
              <a:latin typeface="Comic Sans MS" panose="030F0702030302020204" pitchFamily="66" charset="0"/>
            </a:endParaRPr>
          </a:p>
        </p:txBody>
      </p:sp>
      <p:cxnSp>
        <p:nvCxnSpPr>
          <p:cNvPr id="11" name="Conector em curva 10"/>
          <p:cNvCxnSpPr>
            <a:stCxn id="2" idx="3"/>
            <a:endCxn id="7" idx="2"/>
          </p:cNvCxnSpPr>
          <p:nvPr/>
        </p:nvCxnSpPr>
        <p:spPr>
          <a:xfrm flipV="1">
            <a:off x="1275121" y="1487763"/>
            <a:ext cx="747772" cy="654820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Conector em curva 14"/>
          <p:cNvCxnSpPr>
            <a:stCxn id="7" idx="1"/>
            <a:endCxn id="2" idx="0"/>
          </p:cNvCxnSpPr>
          <p:nvPr/>
        </p:nvCxnSpPr>
        <p:spPr>
          <a:xfrm rot="10800000" flipV="1">
            <a:off x="678935" y="1118431"/>
            <a:ext cx="623878" cy="654820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CaixaDeTexto 19"/>
          <p:cNvSpPr txBox="1"/>
          <p:nvPr/>
        </p:nvSpPr>
        <p:spPr>
          <a:xfrm>
            <a:off x="4428800" y="2885075"/>
            <a:ext cx="144016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 smtClean="0">
                <a:solidFill>
                  <a:srgbClr val="0070C0"/>
                </a:solidFill>
                <a:latin typeface="Comic Sans MS" panose="030F0702030302020204" pitchFamily="66" charset="0"/>
              </a:rPr>
              <a:t>O Metrô de Processos não é respeitado</a:t>
            </a:r>
            <a:endParaRPr lang="pt-BR" sz="1400" dirty="0">
              <a:solidFill>
                <a:srgbClr val="0070C0"/>
              </a:solidFill>
              <a:latin typeface="Comic Sans MS" panose="030F0702030302020204" pitchFamily="66" charset="0"/>
            </a:endParaRPr>
          </a:p>
        </p:txBody>
      </p:sp>
      <p:sp>
        <p:nvSpPr>
          <p:cNvPr id="21" name="CaixaDeTexto 20"/>
          <p:cNvSpPr txBox="1"/>
          <p:nvPr/>
        </p:nvSpPr>
        <p:spPr>
          <a:xfrm>
            <a:off x="5877107" y="1613089"/>
            <a:ext cx="1754217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 smtClean="0">
                <a:latin typeface="Comic Sans MS" panose="030F0702030302020204" pitchFamily="66" charset="0"/>
              </a:rPr>
              <a:t>Papéis e Responsabilidades não adequadamente definidos</a:t>
            </a:r>
            <a:endParaRPr lang="pt-BR" sz="1400" dirty="0">
              <a:latin typeface="Comic Sans MS" panose="030F0702030302020204" pitchFamily="66" charset="0"/>
            </a:endParaRPr>
          </a:p>
        </p:txBody>
      </p:sp>
      <p:cxnSp>
        <p:nvCxnSpPr>
          <p:cNvPr id="22" name="Conector em curva 21"/>
          <p:cNvCxnSpPr>
            <a:stCxn id="21" idx="2"/>
            <a:endCxn id="20" idx="3"/>
          </p:cNvCxnSpPr>
          <p:nvPr/>
        </p:nvCxnSpPr>
        <p:spPr>
          <a:xfrm rot="5400000">
            <a:off x="6075705" y="2575895"/>
            <a:ext cx="471767" cy="885256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CaixaDeTexto 24"/>
          <p:cNvSpPr txBox="1"/>
          <p:nvPr/>
        </p:nvSpPr>
        <p:spPr>
          <a:xfrm>
            <a:off x="3510474" y="1470884"/>
            <a:ext cx="149670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 smtClean="0">
                <a:latin typeface="Comic Sans MS" panose="030F0702030302020204" pitchFamily="66" charset="0"/>
              </a:rPr>
              <a:t>Soluções não adequadamente planejadas e desenvolvidas</a:t>
            </a:r>
            <a:endParaRPr lang="pt-BR" sz="1400" dirty="0">
              <a:latin typeface="Comic Sans MS" panose="030F0702030302020204" pitchFamily="66" charset="0"/>
            </a:endParaRPr>
          </a:p>
        </p:txBody>
      </p:sp>
      <p:sp>
        <p:nvSpPr>
          <p:cNvPr id="32" name="CaixaDeTexto 31"/>
          <p:cNvSpPr txBox="1"/>
          <p:nvPr/>
        </p:nvSpPr>
        <p:spPr>
          <a:xfrm>
            <a:off x="1599620" y="2467558"/>
            <a:ext cx="144016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 smtClean="0">
                <a:latin typeface="Comic Sans MS" panose="030F0702030302020204" pitchFamily="66" charset="0"/>
              </a:rPr>
              <a:t>A qualidade das entregas é irregular</a:t>
            </a:r>
            <a:endParaRPr lang="pt-BR" sz="1400" dirty="0">
              <a:latin typeface="Comic Sans MS" panose="030F0702030302020204" pitchFamily="66" charset="0"/>
            </a:endParaRPr>
          </a:p>
        </p:txBody>
      </p:sp>
      <p:cxnSp>
        <p:nvCxnSpPr>
          <p:cNvPr id="37" name="Conector em curva 36"/>
          <p:cNvCxnSpPr>
            <a:stCxn id="25" idx="1"/>
            <a:endCxn id="32" idx="3"/>
          </p:cNvCxnSpPr>
          <p:nvPr/>
        </p:nvCxnSpPr>
        <p:spPr>
          <a:xfrm rot="10800000" flipV="1">
            <a:off x="3039780" y="1947938"/>
            <a:ext cx="470694" cy="888952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Conector em curva 43"/>
          <p:cNvCxnSpPr>
            <a:stCxn id="32" idx="1"/>
            <a:endCxn id="2" idx="2"/>
          </p:cNvCxnSpPr>
          <p:nvPr/>
        </p:nvCxnSpPr>
        <p:spPr>
          <a:xfrm rot="10800000">
            <a:off x="678936" y="2511916"/>
            <a:ext cx="920685" cy="324975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Conector em curva 48"/>
          <p:cNvCxnSpPr>
            <a:stCxn id="32" idx="0"/>
            <a:endCxn id="7" idx="2"/>
          </p:cNvCxnSpPr>
          <p:nvPr/>
        </p:nvCxnSpPr>
        <p:spPr>
          <a:xfrm rot="16200000" flipV="1">
            <a:off x="1681400" y="1829257"/>
            <a:ext cx="979795" cy="296807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7" name="CaixaDeTexto 56"/>
          <p:cNvSpPr txBox="1"/>
          <p:nvPr/>
        </p:nvSpPr>
        <p:spPr>
          <a:xfrm>
            <a:off x="5806214" y="3960358"/>
            <a:ext cx="144016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 smtClean="0">
                <a:latin typeface="Comic Sans MS" panose="030F0702030302020204" pitchFamily="66" charset="0"/>
              </a:rPr>
              <a:t>Não há donos para os processos</a:t>
            </a:r>
            <a:endParaRPr lang="pt-BR" sz="1400" dirty="0">
              <a:latin typeface="Comic Sans MS" panose="030F0702030302020204" pitchFamily="66" charset="0"/>
            </a:endParaRPr>
          </a:p>
        </p:txBody>
      </p:sp>
      <p:cxnSp>
        <p:nvCxnSpPr>
          <p:cNvPr id="58" name="Conector em curva 57"/>
          <p:cNvCxnSpPr>
            <a:stCxn id="57" idx="1"/>
            <a:endCxn id="20" idx="2"/>
          </p:cNvCxnSpPr>
          <p:nvPr/>
        </p:nvCxnSpPr>
        <p:spPr>
          <a:xfrm rot="10800000">
            <a:off x="5148880" y="3623740"/>
            <a:ext cx="657334" cy="705951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" name="Conector em curva 68"/>
          <p:cNvCxnSpPr>
            <a:stCxn id="57" idx="3"/>
            <a:endCxn id="151" idx="2"/>
          </p:cNvCxnSpPr>
          <p:nvPr/>
        </p:nvCxnSpPr>
        <p:spPr>
          <a:xfrm flipV="1">
            <a:off x="7246374" y="4162300"/>
            <a:ext cx="741316" cy="167390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8" name="CaixaDeTexto 147"/>
          <p:cNvSpPr txBox="1"/>
          <p:nvPr/>
        </p:nvSpPr>
        <p:spPr>
          <a:xfrm>
            <a:off x="1365454" y="4047231"/>
            <a:ext cx="140901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 smtClean="0">
                <a:latin typeface="Comic Sans MS" panose="030F0702030302020204" pitchFamily="66" charset="0"/>
              </a:rPr>
              <a:t>Gestão de Problemas é extensão da de Incidentes</a:t>
            </a:r>
            <a:endParaRPr lang="pt-BR" sz="1400" dirty="0">
              <a:latin typeface="Comic Sans MS" panose="030F0702030302020204" pitchFamily="66" charset="0"/>
            </a:endParaRPr>
          </a:p>
        </p:txBody>
      </p:sp>
      <p:cxnSp>
        <p:nvCxnSpPr>
          <p:cNvPr id="154" name="Conector em curva 153"/>
          <p:cNvCxnSpPr>
            <a:stCxn id="20" idx="1"/>
            <a:endCxn id="184" idx="3"/>
          </p:cNvCxnSpPr>
          <p:nvPr/>
        </p:nvCxnSpPr>
        <p:spPr>
          <a:xfrm rot="10800000" flipV="1">
            <a:off x="3882174" y="3254407"/>
            <a:ext cx="546626" cy="434024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4" name="Conector em curva 173"/>
          <p:cNvCxnSpPr>
            <a:stCxn id="148" idx="1"/>
            <a:endCxn id="2" idx="2"/>
          </p:cNvCxnSpPr>
          <p:nvPr/>
        </p:nvCxnSpPr>
        <p:spPr>
          <a:xfrm rot="10800000">
            <a:off x="678936" y="2511915"/>
            <a:ext cx="686519" cy="2012370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9" name="Conector em curva 178"/>
          <p:cNvCxnSpPr>
            <a:stCxn id="20" idx="2"/>
            <a:endCxn id="148" idx="3"/>
          </p:cNvCxnSpPr>
          <p:nvPr/>
        </p:nvCxnSpPr>
        <p:spPr>
          <a:xfrm rot="5400000">
            <a:off x="3511401" y="2886806"/>
            <a:ext cx="900546" cy="2374413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4" name="CaixaDeTexto 183"/>
          <p:cNvSpPr txBox="1"/>
          <p:nvPr/>
        </p:nvSpPr>
        <p:spPr>
          <a:xfrm>
            <a:off x="2523032" y="3319099"/>
            <a:ext cx="135914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 smtClean="0">
                <a:latin typeface="Comic Sans MS" panose="030F0702030302020204" pitchFamily="66" charset="0"/>
              </a:rPr>
              <a:t>Gestão de Mudanças é</a:t>
            </a:r>
          </a:p>
          <a:p>
            <a:pPr algn="ctr"/>
            <a:r>
              <a:rPr lang="pt-BR" sz="1400" dirty="0" smtClean="0">
                <a:latin typeface="Comic Sans MS" panose="030F0702030302020204" pitchFamily="66" charset="0"/>
              </a:rPr>
              <a:t>desrespeitada</a:t>
            </a:r>
            <a:endParaRPr lang="pt-BR" sz="1400" dirty="0">
              <a:latin typeface="Comic Sans MS" panose="030F0702030302020204" pitchFamily="66" charset="0"/>
            </a:endParaRPr>
          </a:p>
        </p:txBody>
      </p:sp>
      <p:cxnSp>
        <p:nvCxnSpPr>
          <p:cNvPr id="191" name="Conector em curva 190"/>
          <p:cNvCxnSpPr>
            <a:stCxn id="184" idx="1"/>
            <a:endCxn id="32" idx="2"/>
          </p:cNvCxnSpPr>
          <p:nvPr/>
        </p:nvCxnSpPr>
        <p:spPr>
          <a:xfrm rot="10800000">
            <a:off x="2319700" y="3206223"/>
            <a:ext cx="203332" cy="482209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3" name="Conector em curva 222"/>
          <p:cNvCxnSpPr>
            <a:stCxn id="20" idx="0"/>
            <a:endCxn id="21" idx="1"/>
          </p:cNvCxnSpPr>
          <p:nvPr/>
        </p:nvCxnSpPr>
        <p:spPr>
          <a:xfrm rot="5400000" flipH="1" flipV="1">
            <a:off x="5169388" y="2177357"/>
            <a:ext cx="687210" cy="728227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6" name="Conector em curva 245"/>
          <p:cNvCxnSpPr>
            <a:stCxn id="25" idx="1"/>
            <a:endCxn id="7" idx="3"/>
          </p:cNvCxnSpPr>
          <p:nvPr/>
        </p:nvCxnSpPr>
        <p:spPr>
          <a:xfrm rot="10800000">
            <a:off x="2742974" y="1118432"/>
            <a:ext cx="767501" cy="829507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9" name="CaixaDeTexto 288"/>
          <p:cNvSpPr txBox="1"/>
          <p:nvPr/>
        </p:nvSpPr>
        <p:spPr>
          <a:xfrm>
            <a:off x="5158979" y="811183"/>
            <a:ext cx="93731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 smtClean="0">
                <a:latin typeface="Comic Sans MS" panose="030F0702030302020204" pitchFamily="66" charset="0"/>
              </a:rPr>
              <a:t>Frágil sinergia entre as áreas</a:t>
            </a:r>
            <a:endParaRPr lang="pt-BR" sz="1400" dirty="0">
              <a:latin typeface="Comic Sans MS" panose="030F0702030302020204" pitchFamily="66" charset="0"/>
            </a:endParaRPr>
          </a:p>
        </p:txBody>
      </p:sp>
      <p:cxnSp>
        <p:nvCxnSpPr>
          <p:cNvPr id="290" name="Conector em curva 289"/>
          <p:cNvCxnSpPr>
            <a:stCxn id="159" idx="1"/>
            <a:endCxn id="289" idx="3"/>
          </p:cNvCxnSpPr>
          <p:nvPr/>
        </p:nvCxnSpPr>
        <p:spPr>
          <a:xfrm rot="10800000" flipV="1">
            <a:off x="6096291" y="1286541"/>
            <a:ext cx="1157573" cy="1695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4" name="Conector em curva 293"/>
          <p:cNvCxnSpPr>
            <a:stCxn id="289" idx="1"/>
            <a:endCxn id="25" idx="0"/>
          </p:cNvCxnSpPr>
          <p:nvPr/>
        </p:nvCxnSpPr>
        <p:spPr>
          <a:xfrm rot="10800000" flipV="1">
            <a:off x="4258825" y="1288236"/>
            <a:ext cx="900154" cy="182647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8" name="Conector em curva 337"/>
          <p:cNvCxnSpPr>
            <a:stCxn id="20" idx="3"/>
            <a:endCxn id="57" idx="0"/>
          </p:cNvCxnSpPr>
          <p:nvPr/>
        </p:nvCxnSpPr>
        <p:spPr>
          <a:xfrm>
            <a:off x="5868960" y="3254407"/>
            <a:ext cx="657334" cy="705951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8" name="Retângulo 357"/>
          <p:cNvSpPr/>
          <p:nvPr/>
        </p:nvSpPr>
        <p:spPr>
          <a:xfrm>
            <a:off x="3382177" y="4732784"/>
            <a:ext cx="2379644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800" dirty="0" smtClean="0">
                <a:solidFill>
                  <a:srgbClr val="0070C0"/>
                </a:solidFill>
                <a:latin typeface="Gill Sans Std ExtraBold" pitchFamily="34" charset="0"/>
              </a:rPr>
              <a:t>* informações </a:t>
            </a:r>
            <a:r>
              <a:rPr lang="pt-BR" sz="800" dirty="0">
                <a:solidFill>
                  <a:srgbClr val="0070C0"/>
                </a:solidFill>
                <a:latin typeface="Gill Sans Std ExtraBold" pitchFamily="34" charset="0"/>
              </a:rPr>
              <a:t>preliminares </a:t>
            </a:r>
            <a:r>
              <a:rPr lang="pt-BR" sz="800" dirty="0" smtClean="0">
                <a:solidFill>
                  <a:srgbClr val="0070C0"/>
                </a:solidFill>
                <a:latin typeface="Gill Sans Std ExtraBold" pitchFamily="34" charset="0"/>
              </a:rPr>
              <a:t>do Projeto</a:t>
            </a:r>
            <a:endParaRPr lang="pt-BR" sz="800" dirty="0">
              <a:solidFill>
                <a:srgbClr val="0070C0"/>
              </a:solidFill>
            </a:endParaRPr>
          </a:p>
        </p:txBody>
      </p:sp>
      <p:sp>
        <p:nvSpPr>
          <p:cNvPr id="400" name="CaixaDeTexto 399"/>
          <p:cNvSpPr txBox="1"/>
          <p:nvPr/>
        </p:nvSpPr>
        <p:spPr>
          <a:xfrm>
            <a:off x="1114019" y="1443981"/>
            <a:ext cx="3741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R</a:t>
            </a:r>
            <a:endParaRPr lang="pt-BR" sz="14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mic Sans MS" panose="030F0702030302020204" pitchFamily="66" charset="0"/>
            </a:endParaRPr>
          </a:p>
        </p:txBody>
      </p:sp>
      <p:sp>
        <p:nvSpPr>
          <p:cNvPr id="401" name="CaixaDeTexto 400"/>
          <p:cNvSpPr txBox="1"/>
          <p:nvPr/>
        </p:nvSpPr>
        <p:spPr>
          <a:xfrm>
            <a:off x="5723671" y="2577297"/>
            <a:ext cx="3741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R</a:t>
            </a:r>
            <a:endParaRPr lang="pt-BR" sz="14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mic Sans MS" panose="030F0702030302020204" pitchFamily="66" charset="0"/>
            </a:endParaRPr>
          </a:p>
        </p:txBody>
      </p:sp>
      <p:sp>
        <p:nvSpPr>
          <p:cNvPr id="402" name="CaixaDeTexto 401"/>
          <p:cNvSpPr txBox="1"/>
          <p:nvPr/>
        </p:nvSpPr>
        <p:spPr>
          <a:xfrm>
            <a:off x="5629307" y="3635362"/>
            <a:ext cx="3741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R</a:t>
            </a:r>
            <a:endParaRPr lang="pt-BR" sz="14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mic Sans MS" panose="030F0702030302020204" pitchFamily="66" charset="0"/>
            </a:endParaRPr>
          </a:p>
        </p:txBody>
      </p:sp>
      <p:sp>
        <p:nvSpPr>
          <p:cNvPr id="19" name="CaixaDeTexto 18"/>
          <p:cNvSpPr txBox="1"/>
          <p:nvPr/>
        </p:nvSpPr>
        <p:spPr>
          <a:xfrm>
            <a:off x="1714901" y="2086437"/>
            <a:ext cx="6251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00" dirty="0" smtClean="0"/>
              <a:t>Mudanças Corretivas</a:t>
            </a:r>
            <a:endParaRPr lang="pt-BR" sz="800" dirty="0"/>
          </a:p>
        </p:txBody>
      </p:sp>
      <p:sp>
        <p:nvSpPr>
          <p:cNvPr id="50" name="CaixaDeTexto 49"/>
          <p:cNvSpPr txBox="1"/>
          <p:nvPr/>
        </p:nvSpPr>
        <p:spPr>
          <a:xfrm>
            <a:off x="880611" y="2578037"/>
            <a:ext cx="62512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00" dirty="0" smtClean="0"/>
              <a:t>Defeitos</a:t>
            </a:r>
            <a:endParaRPr lang="pt-BR" sz="800" dirty="0"/>
          </a:p>
        </p:txBody>
      </p:sp>
      <p:sp>
        <p:nvSpPr>
          <p:cNvPr id="51" name="CaixaDeTexto 50"/>
          <p:cNvSpPr txBox="1"/>
          <p:nvPr/>
        </p:nvSpPr>
        <p:spPr>
          <a:xfrm>
            <a:off x="2609093" y="1511386"/>
            <a:ext cx="6251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00" dirty="0" smtClean="0"/>
              <a:t>Atrasos e Urgências</a:t>
            </a:r>
            <a:endParaRPr lang="pt-BR" sz="800" dirty="0"/>
          </a:p>
        </p:txBody>
      </p:sp>
      <p:sp>
        <p:nvSpPr>
          <p:cNvPr id="52" name="CaixaDeTexto 51"/>
          <p:cNvSpPr txBox="1"/>
          <p:nvPr/>
        </p:nvSpPr>
        <p:spPr>
          <a:xfrm>
            <a:off x="1661484" y="3367263"/>
            <a:ext cx="7520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00" dirty="0" smtClean="0"/>
              <a:t>Riscos não Gerenciados</a:t>
            </a:r>
            <a:endParaRPr lang="pt-BR" sz="800" dirty="0"/>
          </a:p>
        </p:txBody>
      </p:sp>
      <p:sp>
        <p:nvSpPr>
          <p:cNvPr id="53" name="CaixaDeTexto 52"/>
          <p:cNvSpPr txBox="1"/>
          <p:nvPr/>
        </p:nvSpPr>
        <p:spPr>
          <a:xfrm>
            <a:off x="75685" y="3466085"/>
            <a:ext cx="7486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00" dirty="0" smtClean="0"/>
              <a:t>Reincidência de Falhas</a:t>
            </a:r>
            <a:endParaRPr lang="pt-BR" sz="800" dirty="0"/>
          </a:p>
        </p:txBody>
      </p:sp>
      <p:sp>
        <p:nvSpPr>
          <p:cNvPr id="54" name="CaixaDeTexto 53"/>
          <p:cNvSpPr txBox="1"/>
          <p:nvPr/>
        </p:nvSpPr>
        <p:spPr>
          <a:xfrm>
            <a:off x="6311588" y="844973"/>
            <a:ext cx="8085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00" dirty="0" smtClean="0"/>
              <a:t>Dificuldade e rupturas na comunicação</a:t>
            </a:r>
            <a:endParaRPr lang="pt-BR" sz="800" dirty="0"/>
          </a:p>
        </p:txBody>
      </p:sp>
      <p:sp>
        <p:nvSpPr>
          <p:cNvPr id="55" name="CaixaDeTexto 54"/>
          <p:cNvSpPr txBox="1"/>
          <p:nvPr/>
        </p:nvSpPr>
        <p:spPr>
          <a:xfrm>
            <a:off x="2603789" y="2102893"/>
            <a:ext cx="73027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00" dirty="0" smtClean="0"/>
              <a:t>Soluções</a:t>
            </a:r>
          </a:p>
          <a:p>
            <a:pPr algn="ctr"/>
            <a:r>
              <a:rPr lang="pt-BR" sz="800" dirty="0" smtClean="0"/>
              <a:t>Incompletas</a:t>
            </a:r>
            <a:endParaRPr lang="pt-BR" sz="800" dirty="0"/>
          </a:p>
        </p:txBody>
      </p:sp>
      <p:sp>
        <p:nvSpPr>
          <p:cNvPr id="59" name="CaixaDeTexto 58"/>
          <p:cNvSpPr txBox="1"/>
          <p:nvPr/>
        </p:nvSpPr>
        <p:spPr>
          <a:xfrm>
            <a:off x="3998702" y="3376548"/>
            <a:ext cx="7302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00" dirty="0" smtClean="0"/>
              <a:t>Baixa autoridade em controle</a:t>
            </a:r>
            <a:endParaRPr lang="pt-BR" sz="800" dirty="0"/>
          </a:p>
        </p:txBody>
      </p:sp>
      <p:sp>
        <p:nvSpPr>
          <p:cNvPr id="60" name="CaixaDeTexto 59"/>
          <p:cNvSpPr txBox="1"/>
          <p:nvPr/>
        </p:nvSpPr>
        <p:spPr>
          <a:xfrm>
            <a:off x="3509048" y="4382311"/>
            <a:ext cx="8908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00" dirty="0" smtClean="0"/>
              <a:t>Superficialidade no Diagnóstico</a:t>
            </a:r>
            <a:endParaRPr lang="pt-BR" sz="800" dirty="0"/>
          </a:p>
        </p:txBody>
      </p:sp>
      <p:sp>
        <p:nvSpPr>
          <p:cNvPr id="61" name="CaixaDeTexto 60"/>
          <p:cNvSpPr txBox="1"/>
          <p:nvPr/>
        </p:nvSpPr>
        <p:spPr>
          <a:xfrm>
            <a:off x="4219933" y="997823"/>
            <a:ext cx="8441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00" dirty="0"/>
              <a:t>Conflitos de Prioridades</a:t>
            </a:r>
          </a:p>
        </p:txBody>
      </p:sp>
      <p:sp>
        <p:nvSpPr>
          <p:cNvPr id="63" name="Retângulo 62"/>
          <p:cNvSpPr/>
          <p:nvPr/>
        </p:nvSpPr>
        <p:spPr>
          <a:xfrm>
            <a:off x="3385964" y="4885184"/>
            <a:ext cx="2379644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800" dirty="0" smtClean="0">
                <a:solidFill>
                  <a:srgbClr val="FF0000"/>
                </a:solidFill>
                <a:latin typeface="Gill Sans Std ExtraBold" pitchFamily="34" charset="0"/>
              </a:rPr>
              <a:t>* principais hipóteses a validar</a:t>
            </a:r>
            <a:endParaRPr lang="pt-BR" sz="800" dirty="0">
              <a:solidFill>
                <a:srgbClr val="FF0000"/>
              </a:solidFill>
            </a:endParaRPr>
          </a:p>
        </p:txBody>
      </p:sp>
      <p:sp>
        <p:nvSpPr>
          <p:cNvPr id="151" name="CaixaDeTexto 150"/>
          <p:cNvSpPr txBox="1"/>
          <p:nvPr/>
        </p:nvSpPr>
        <p:spPr>
          <a:xfrm>
            <a:off x="7143178" y="3423636"/>
            <a:ext cx="168902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 smtClean="0">
                <a:latin typeface="Comic Sans MS" panose="030F0702030302020204" pitchFamily="66" charset="0"/>
              </a:rPr>
              <a:t>Processos não despertam interesse</a:t>
            </a:r>
            <a:endParaRPr lang="pt-BR" sz="1400" dirty="0">
              <a:latin typeface="Comic Sans MS" panose="030F0702030302020204" pitchFamily="66" charset="0"/>
            </a:endParaRPr>
          </a:p>
        </p:txBody>
      </p:sp>
      <p:sp>
        <p:nvSpPr>
          <p:cNvPr id="155" name="CaixaDeTexto 154"/>
          <p:cNvSpPr txBox="1"/>
          <p:nvPr/>
        </p:nvSpPr>
        <p:spPr>
          <a:xfrm>
            <a:off x="7682817" y="2132927"/>
            <a:ext cx="146118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latin typeface="Comic Sans MS" panose="030F0702030302020204" pitchFamily="66" charset="0"/>
              </a:rPr>
              <a:t>Prioridades definidas pelos chefes</a:t>
            </a:r>
          </a:p>
        </p:txBody>
      </p:sp>
      <p:sp>
        <p:nvSpPr>
          <p:cNvPr id="159" name="CaixaDeTexto 158"/>
          <p:cNvSpPr txBox="1"/>
          <p:nvPr/>
        </p:nvSpPr>
        <p:spPr>
          <a:xfrm>
            <a:off x="7253863" y="917210"/>
            <a:ext cx="150009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 smtClean="0">
                <a:latin typeface="Comic Sans MS" panose="030F0702030302020204" pitchFamily="66" charset="0"/>
              </a:rPr>
              <a:t>Avaliações individualizadas por áreas</a:t>
            </a:r>
            <a:endParaRPr lang="pt-BR" sz="1400" dirty="0">
              <a:latin typeface="Comic Sans MS" panose="030F0702030302020204" pitchFamily="66" charset="0"/>
            </a:endParaRPr>
          </a:p>
        </p:txBody>
      </p:sp>
      <p:cxnSp>
        <p:nvCxnSpPr>
          <p:cNvPr id="176" name="Conector em curva 175"/>
          <p:cNvCxnSpPr>
            <a:stCxn id="151" idx="0"/>
            <a:endCxn id="155" idx="2"/>
          </p:cNvCxnSpPr>
          <p:nvPr/>
        </p:nvCxnSpPr>
        <p:spPr>
          <a:xfrm rot="5400000" flipH="1" flipV="1">
            <a:off x="7924527" y="2934755"/>
            <a:ext cx="552045" cy="425719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0" name="Conector em curva 179"/>
          <p:cNvCxnSpPr>
            <a:stCxn id="155" idx="0"/>
            <a:endCxn id="159" idx="2"/>
          </p:cNvCxnSpPr>
          <p:nvPr/>
        </p:nvCxnSpPr>
        <p:spPr>
          <a:xfrm rot="16200000" flipV="1">
            <a:off x="7970135" y="1689652"/>
            <a:ext cx="477053" cy="409497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6" name="CaixaDeTexto 195"/>
          <p:cNvSpPr txBox="1"/>
          <p:nvPr/>
        </p:nvSpPr>
        <p:spPr>
          <a:xfrm>
            <a:off x="8183835" y="1609708"/>
            <a:ext cx="9155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00" dirty="0"/>
              <a:t>Foco na especialidade</a:t>
            </a:r>
          </a:p>
        </p:txBody>
      </p:sp>
      <p:sp>
        <p:nvSpPr>
          <p:cNvPr id="197" name="CaixaDeTexto 196"/>
          <p:cNvSpPr txBox="1"/>
          <p:nvPr/>
        </p:nvSpPr>
        <p:spPr>
          <a:xfrm>
            <a:off x="8208661" y="3065028"/>
            <a:ext cx="8210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00" dirty="0" smtClean="0"/>
              <a:t>Necessidade de aprovação</a:t>
            </a:r>
            <a:endParaRPr lang="pt-BR" sz="800" dirty="0"/>
          </a:p>
        </p:txBody>
      </p:sp>
      <p:sp>
        <p:nvSpPr>
          <p:cNvPr id="198" name="CaixaDeTexto 197"/>
          <p:cNvSpPr txBox="1"/>
          <p:nvPr/>
        </p:nvSpPr>
        <p:spPr>
          <a:xfrm>
            <a:off x="7594417" y="4244352"/>
            <a:ext cx="8189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00" dirty="0" smtClean="0"/>
              <a:t>Ausência de indicadores e metas comuns</a:t>
            </a:r>
            <a:endParaRPr lang="pt-BR" sz="800" dirty="0"/>
          </a:p>
        </p:txBody>
      </p:sp>
    </p:spTree>
    <p:extLst>
      <p:ext uri="{BB962C8B-B14F-4D97-AF65-F5344CB8AC3E}">
        <p14:creationId xmlns:p14="http://schemas.microsoft.com/office/powerpoint/2010/main" val="13496447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10" presetClass="entr" presetSubtype="0" fill="hold" grpId="0" nodeType="after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500"/>
                            </p:stCondLst>
                            <p:childTnLst>
                              <p:par>
                                <p:cTn id="137" presetID="10" presetClass="entr" presetSubtype="0" fill="hold" grpId="0" nodeType="after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>
                      <p:stCondLst>
                        <p:cond delay="indefinite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>
                      <p:stCondLst>
                        <p:cond delay="indefinite"/>
                      </p:stCondLst>
                      <p:childTnLst>
                        <p:par>
                          <p:cTn id="191" fill="hold">
                            <p:stCondLst>
                              <p:cond delay="0"/>
                            </p:stCondLst>
                            <p:childTnLst>
                              <p:par>
                                <p:cTn id="19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4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>
                      <p:stCondLst>
                        <p:cond delay="indefinite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indefinite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7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/>
      <p:bldP spid="20" grpId="0"/>
      <p:bldP spid="21" grpId="0"/>
      <p:bldP spid="25" grpId="0"/>
      <p:bldP spid="32" grpId="0"/>
      <p:bldP spid="57" grpId="0"/>
      <p:bldP spid="148" grpId="0"/>
      <p:bldP spid="184" grpId="0"/>
      <p:bldP spid="289" grpId="0"/>
      <p:bldP spid="358" grpId="0"/>
      <p:bldP spid="400" grpId="0"/>
      <p:bldP spid="401" grpId="0"/>
      <p:bldP spid="402" grpId="0"/>
      <p:bldP spid="19" grpId="0"/>
      <p:bldP spid="50" grpId="0"/>
      <p:bldP spid="51" grpId="0"/>
      <p:bldP spid="52" grpId="0"/>
      <p:bldP spid="53" grpId="0"/>
      <p:bldP spid="54" grpId="0"/>
      <p:bldP spid="55" grpId="0"/>
      <p:bldP spid="59" grpId="0"/>
      <p:bldP spid="60" grpId="0"/>
      <p:bldP spid="61" grpId="0"/>
      <p:bldP spid="151" grpId="0"/>
      <p:bldP spid="155" grpId="0"/>
      <p:bldP spid="159" grpId="0"/>
      <p:bldP spid="196" grpId="0"/>
      <p:bldP spid="197" grpId="0"/>
      <p:bldP spid="19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8" descr="NAT_marca_branca_natura-01.png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0432" y="19878"/>
            <a:ext cx="576000" cy="57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CaixaDeTexto 5"/>
          <p:cNvSpPr txBox="1"/>
          <p:nvPr/>
        </p:nvSpPr>
        <p:spPr>
          <a:xfrm>
            <a:off x="-1" y="2"/>
            <a:ext cx="9144001" cy="646331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O que entendemos</a:t>
            </a:r>
          </a:p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Fóruns, rituais e dinâmicas</a:t>
            </a:r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Light" pitchFamily="34" charset="0"/>
            </a:endParaRPr>
          </a:p>
        </p:txBody>
      </p:sp>
      <p:sp>
        <p:nvSpPr>
          <p:cNvPr id="8" name="CaixaDeTexto 7"/>
          <p:cNvSpPr txBox="1"/>
          <p:nvPr/>
        </p:nvSpPr>
        <p:spPr>
          <a:xfrm rot="16200000">
            <a:off x="8127558" y="4147980"/>
            <a:ext cx="176338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 b="1" dirty="0">
                <a:solidFill>
                  <a:schemeClr val="accent1">
                    <a:lumMod val="75000"/>
                  </a:schemeClr>
                </a:solidFill>
              </a:rPr>
              <a:t>CHACON</a:t>
            </a:r>
            <a:r>
              <a:rPr lang="pt-BR" sz="900" dirty="0"/>
              <a:t> </a:t>
            </a:r>
            <a:r>
              <a:rPr lang="pt-BR" sz="900" b="1" dirty="0">
                <a:solidFill>
                  <a:schemeClr val="bg1">
                    <a:lumMod val="85000"/>
                  </a:schemeClr>
                </a:solidFill>
              </a:rPr>
              <a:t>|</a:t>
            </a:r>
            <a:r>
              <a:rPr lang="pt-BR" sz="900" dirty="0"/>
              <a:t> </a:t>
            </a:r>
            <a:r>
              <a:rPr lang="pt-BR" sz="900" b="1" dirty="0">
                <a:solidFill>
                  <a:schemeClr val="bg1">
                    <a:lumMod val="65000"/>
                  </a:schemeClr>
                </a:solidFill>
              </a:rPr>
              <a:t>Consultoria Ilimitada</a:t>
            </a:r>
          </a:p>
        </p:txBody>
      </p:sp>
      <p:pic>
        <p:nvPicPr>
          <p:cNvPr id="3074" name="Picture 2" descr="http://demalaecuia.net/wp-content/uploads/2015/05/Los-clientes-hablan-en-%E2%80%9Cpositivo-negativo-y-neutro%E2%80%9D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749" y="844352"/>
            <a:ext cx="6286500" cy="4191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139686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8" descr="NAT_marca_branca_natura-01.png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0432" y="19878"/>
            <a:ext cx="576000" cy="57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CaixaDeTexto 5"/>
          <p:cNvSpPr txBox="1"/>
          <p:nvPr/>
        </p:nvSpPr>
        <p:spPr>
          <a:xfrm>
            <a:off x="-1" y="2"/>
            <a:ext cx="9144001" cy="646331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O que entendemos</a:t>
            </a:r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Light" pitchFamily="34" charset="0"/>
            </a:endParaRPr>
          </a:p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Fóruns, rituais e dinâmicas</a:t>
            </a:r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Light" pitchFamily="34" charset="0"/>
            </a:endParaRPr>
          </a:p>
        </p:txBody>
      </p:sp>
      <p:sp>
        <p:nvSpPr>
          <p:cNvPr id="8" name="CaixaDeTexto 7"/>
          <p:cNvSpPr txBox="1"/>
          <p:nvPr/>
        </p:nvSpPr>
        <p:spPr>
          <a:xfrm rot="16200000">
            <a:off x="8127558" y="4147980"/>
            <a:ext cx="176338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 b="1" dirty="0">
                <a:solidFill>
                  <a:schemeClr val="accent1">
                    <a:lumMod val="75000"/>
                  </a:schemeClr>
                </a:solidFill>
              </a:rPr>
              <a:t>CHACON</a:t>
            </a:r>
            <a:r>
              <a:rPr lang="pt-BR" sz="900" dirty="0"/>
              <a:t> </a:t>
            </a:r>
            <a:r>
              <a:rPr lang="pt-BR" sz="900" b="1" dirty="0">
                <a:solidFill>
                  <a:schemeClr val="bg1">
                    <a:lumMod val="85000"/>
                  </a:schemeClr>
                </a:solidFill>
              </a:rPr>
              <a:t>|</a:t>
            </a:r>
            <a:r>
              <a:rPr lang="pt-BR" sz="900" dirty="0"/>
              <a:t> </a:t>
            </a:r>
            <a:r>
              <a:rPr lang="pt-BR" sz="900" b="1" dirty="0">
                <a:solidFill>
                  <a:schemeClr val="bg1">
                    <a:lumMod val="65000"/>
                  </a:schemeClr>
                </a:solidFill>
              </a:rPr>
              <a:t>Consultoria Ilimitada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212563" y="743302"/>
            <a:ext cx="8681271" cy="4431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Clr>
                <a:srgbClr val="7030A0"/>
              </a:buClr>
              <a:buSzPct val="50000"/>
            </a:pPr>
            <a:r>
              <a:rPr lang="pt-BR" b="1" dirty="0" smtClean="0">
                <a:solidFill>
                  <a:srgbClr val="7030A0"/>
                </a:solidFill>
              </a:rPr>
              <a:t>Bom dia TD</a:t>
            </a:r>
          </a:p>
          <a:p>
            <a:pPr marL="715963" indent="-357188" algn="just">
              <a:buClr>
                <a:srgbClr val="7030A0"/>
              </a:buClr>
              <a:buSzPct val="50000"/>
              <a:buFont typeface="Wingdings" panose="05000000000000000000" pitchFamily="2" charset="2"/>
              <a:buChar char="§"/>
            </a:pPr>
            <a:r>
              <a:rPr lang="pt-BR" sz="1400" dirty="0" smtClean="0">
                <a:solidFill>
                  <a:srgbClr val="7030A0"/>
                </a:solidFill>
              </a:rPr>
              <a:t>Dinâmica bastante positiva, mas a perspectiva precisa mudar, pois é predominantemente orientada a identificar falhas em componentes. Os participantes não são estimulados a compreender o impacto das falhas nos serviços. </a:t>
            </a:r>
          </a:p>
          <a:p>
            <a:pPr marL="715963" indent="-357188" algn="just">
              <a:buClr>
                <a:srgbClr val="7030A0"/>
              </a:buClr>
              <a:buSzPct val="50000"/>
              <a:buFont typeface="Wingdings" panose="05000000000000000000" pitchFamily="2" charset="2"/>
              <a:buChar char="§"/>
            </a:pPr>
            <a:r>
              <a:rPr lang="pt-BR" sz="1400" dirty="0" smtClean="0">
                <a:solidFill>
                  <a:srgbClr val="7030A0"/>
                </a:solidFill>
              </a:rPr>
              <a:t>A técnica dos “5 porquês” precisa ser reforçada, para que se possa identificar com efeito a causa-raiz.</a:t>
            </a:r>
          </a:p>
          <a:p>
            <a:pPr algn="just">
              <a:buClr>
                <a:srgbClr val="7030A0"/>
              </a:buClr>
              <a:buSzPct val="50000"/>
            </a:pPr>
            <a:r>
              <a:rPr lang="pt-BR" b="1" dirty="0">
                <a:solidFill>
                  <a:srgbClr val="7030A0"/>
                </a:solidFill>
              </a:rPr>
              <a:t>Melhoria Contínua dos </a:t>
            </a:r>
            <a:r>
              <a:rPr lang="pt-BR" b="1" dirty="0" smtClean="0">
                <a:solidFill>
                  <a:srgbClr val="7030A0"/>
                </a:solidFill>
              </a:rPr>
              <a:t>Processos </a:t>
            </a:r>
            <a:endParaRPr lang="pt-BR" b="1" dirty="0">
              <a:solidFill>
                <a:srgbClr val="7030A0"/>
              </a:solidFill>
            </a:endParaRPr>
          </a:p>
          <a:p>
            <a:pPr marL="715963" indent="-357188" algn="just">
              <a:buClr>
                <a:srgbClr val="7030A0"/>
              </a:buClr>
              <a:buSzPct val="50000"/>
              <a:buFont typeface="Wingdings" panose="05000000000000000000" pitchFamily="2" charset="2"/>
              <a:buChar char="§"/>
            </a:pPr>
            <a:r>
              <a:rPr lang="pt-BR" sz="1400" dirty="0">
                <a:solidFill>
                  <a:srgbClr val="7030A0"/>
                </a:solidFill>
              </a:rPr>
              <a:t>A dinâmica é válida, mas deve ser orientada à revisão periódica dos processos.</a:t>
            </a:r>
          </a:p>
          <a:p>
            <a:pPr marL="715963" indent="-357188" algn="just">
              <a:buClr>
                <a:srgbClr val="7030A0"/>
              </a:buClr>
              <a:buSzPct val="50000"/>
              <a:buFont typeface="Wingdings" panose="05000000000000000000" pitchFamily="2" charset="2"/>
              <a:buChar char="§"/>
            </a:pPr>
            <a:r>
              <a:rPr lang="pt-BR" sz="1400" dirty="0">
                <a:solidFill>
                  <a:srgbClr val="7030A0"/>
                </a:solidFill>
              </a:rPr>
              <a:t>O objetivo atual –  de expansão da abrangência do Metrô de Processos para as </a:t>
            </a:r>
            <a:r>
              <a:rPr lang="pt-BR" sz="1400" dirty="0" smtClean="0">
                <a:solidFill>
                  <a:srgbClr val="7030A0"/>
                </a:solidFill>
              </a:rPr>
              <a:t>Operações Internacionais </a:t>
            </a:r>
            <a:r>
              <a:rPr lang="pt-BR" sz="1400" dirty="0">
                <a:solidFill>
                  <a:srgbClr val="7030A0"/>
                </a:solidFill>
              </a:rPr>
              <a:t>– nos pareceu desconectado da </a:t>
            </a:r>
            <a:r>
              <a:rPr lang="pt-BR" sz="1400" dirty="0" smtClean="0">
                <a:solidFill>
                  <a:srgbClr val="7030A0"/>
                </a:solidFill>
              </a:rPr>
              <a:t>realidade, em razão do </a:t>
            </a:r>
            <a:r>
              <a:rPr lang="pt-BR" sz="1400" dirty="0">
                <a:solidFill>
                  <a:srgbClr val="7030A0"/>
                </a:solidFill>
              </a:rPr>
              <a:t>nível de aderência aos processos pela própria TD. </a:t>
            </a:r>
          </a:p>
          <a:p>
            <a:pPr algn="just">
              <a:buClr>
                <a:srgbClr val="7030A0"/>
              </a:buClr>
              <a:buSzPct val="50000"/>
            </a:pPr>
            <a:r>
              <a:rPr lang="pt-BR" b="1" dirty="0" smtClean="0">
                <a:solidFill>
                  <a:srgbClr val="7030A0"/>
                </a:solidFill>
              </a:rPr>
              <a:t>Gestão de Problemas</a:t>
            </a:r>
          </a:p>
          <a:p>
            <a:pPr marL="715963" indent="-357188" algn="just">
              <a:buClr>
                <a:srgbClr val="7030A0"/>
              </a:buClr>
              <a:buSzPct val="50000"/>
              <a:buFont typeface="Wingdings" panose="05000000000000000000" pitchFamily="2" charset="2"/>
              <a:buChar char="§"/>
            </a:pPr>
            <a:r>
              <a:rPr lang="pt-BR" sz="1400" dirty="0">
                <a:solidFill>
                  <a:srgbClr val="7030A0"/>
                </a:solidFill>
              </a:rPr>
              <a:t>Ritual confuso, dominado pela DI, </a:t>
            </a:r>
            <a:r>
              <a:rPr lang="pt-BR" sz="1400" dirty="0" smtClean="0">
                <a:solidFill>
                  <a:srgbClr val="7030A0"/>
                </a:solidFill>
              </a:rPr>
              <a:t>no qual são apresentadas justificativas que impedem a identificação de responsabilidade </a:t>
            </a:r>
            <a:r>
              <a:rPr lang="pt-BR" sz="1400" dirty="0">
                <a:solidFill>
                  <a:srgbClr val="7030A0"/>
                </a:solidFill>
              </a:rPr>
              <a:t>pelas soluções.</a:t>
            </a:r>
          </a:p>
          <a:p>
            <a:pPr marL="715963" indent="-357188" algn="just">
              <a:buClr>
                <a:srgbClr val="7030A0"/>
              </a:buClr>
              <a:buSzPct val="50000"/>
              <a:buFont typeface="Wingdings" panose="05000000000000000000" pitchFamily="2" charset="2"/>
              <a:buChar char="§"/>
            </a:pPr>
            <a:r>
              <a:rPr lang="pt-BR" sz="1400" dirty="0">
                <a:solidFill>
                  <a:srgbClr val="7030A0"/>
                </a:solidFill>
              </a:rPr>
              <a:t>Deve ser totalmente transformada, buscando uma perspectiva que estimule a solução e não a identificação de responsáveis.</a:t>
            </a:r>
          </a:p>
          <a:p>
            <a:pPr lvl="0" algn="just">
              <a:buClr>
                <a:srgbClr val="7030A0"/>
              </a:buClr>
              <a:buSzPct val="50000"/>
            </a:pPr>
            <a:r>
              <a:rPr lang="pt-BR" b="1" dirty="0">
                <a:solidFill>
                  <a:srgbClr val="7030A0"/>
                </a:solidFill>
              </a:rPr>
              <a:t>War </a:t>
            </a:r>
            <a:r>
              <a:rPr lang="pt-BR" b="1" dirty="0" err="1">
                <a:solidFill>
                  <a:srgbClr val="7030A0"/>
                </a:solidFill>
              </a:rPr>
              <a:t>Room</a:t>
            </a:r>
            <a:endParaRPr lang="pt-BR" b="1" dirty="0">
              <a:solidFill>
                <a:srgbClr val="7030A0"/>
              </a:solidFill>
            </a:endParaRPr>
          </a:p>
          <a:p>
            <a:pPr marL="715963" lvl="0" indent="-357188" algn="just">
              <a:buClr>
                <a:srgbClr val="7030A0"/>
              </a:buClr>
              <a:buSzPct val="50000"/>
              <a:buFont typeface="Wingdings" panose="05000000000000000000" pitchFamily="2" charset="2"/>
              <a:buChar char="§"/>
            </a:pPr>
            <a:r>
              <a:rPr lang="pt-BR" sz="1400" dirty="0">
                <a:solidFill>
                  <a:srgbClr val="7030A0"/>
                </a:solidFill>
              </a:rPr>
              <a:t>Ineficaz e ineficiente, a dinâmica carece de processos, com </a:t>
            </a:r>
            <a:r>
              <a:rPr lang="pt-BR" sz="1400" dirty="0" smtClean="0">
                <a:solidFill>
                  <a:srgbClr val="7030A0"/>
                </a:solidFill>
              </a:rPr>
              <a:t>papéis, responsabilidades e técnicas </a:t>
            </a:r>
            <a:r>
              <a:rPr lang="pt-BR" sz="1400" dirty="0">
                <a:solidFill>
                  <a:srgbClr val="7030A0"/>
                </a:solidFill>
              </a:rPr>
              <a:t>claramente definidos </a:t>
            </a:r>
            <a:r>
              <a:rPr lang="pt-BR" sz="1400" dirty="0" smtClean="0">
                <a:solidFill>
                  <a:srgbClr val="7030A0"/>
                </a:solidFill>
              </a:rPr>
              <a:t>para </a:t>
            </a:r>
            <a:r>
              <a:rPr lang="pt-BR" sz="1400" dirty="0">
                <a:solidFill>
                  <a:srgbClr val="7030A0"/>
                </a:solidFill>
              </a:rPr>
              <a:t>a investigação, </a:t>
            </a:r>
            <a:r>
              <a:rPr lang="pt-BR" sz="1400" dirty="0" smtClean="0">
                <a:solidFill>
                  <a:srgbClr val="7030A0"/>
                </a:solidFill>
              </a:rPr>
              <a:t>comprometendo os especialistas a compartilharem seu conhecimento.</a:t>
            </a:r>
            <a:endParaRPr lang="pt-BR" sz="1400" dirty="0">
              <a:solidFill>
                <a:srgbClr val="7030A0"/>
              </a:solidFill>
            </a:endParaRPr>
          </a:p>
          <a:p>
            <a:pPr marL="715963" lvl="0" indent="-357188" algn="just">
              <a:buClr>
                <a:srgbClr val="7030A0"/>
              </a:buClr>
              <a:buSzPct val="50000"/>
              <a:buFont typeface="Wingdings" panose="05000000000000000000" pitchFamily="2" charset="2"/>
              <a:buChar char="§"/>
            </a:pPr>
            <a:r>
              <a:rPr lang="pt-BR" sz="1400" dirty="0" smtClean="0">
                <a:solidFill>
                  <a:srgbClr val="7030A0"/>
                </a:solidFill>
              </a:rPr>
              <a:t>Há especialistas que mesmo estando presentes na sala, não estão comprometidos com a War </a:t>
            </a:r>
            <a:r>
              <a:rPr lang="pt-BR" sz="1400" dirty="0" err="1" smtClean="0">
                <a:solidFill>
                  <a:srgbClr val="7030A0"/>
                </a:solidFill>
              </a:rPr>
              <a:t>Room</a:t>
            </a:r>
            <a:r>
              <a:rPr lang="pt-BR" sz="1400" dirty="0" smtClean="0">
                <a:solidFill>
                  <a:srgbClr val="7030A0"/>
                </a:solidFill>
              </a:rPr>
              <a:t>.</a:t>
            </a:r>
            <a:endParaRPr lang="pt-BR" sz="1400" dirty="0">
              <a:solidFill>
                <a:srgbClr val="7030A0"/>
              </a:solidFill>
            </a:endParaRPr>
          </a:p>
          <a:p>
            <a:pPr marL="715963" lvl="0" indent="-357188" algn="just">
              <a:buClr>
                <a:srgbClr val="7030A0"/>
              </a:buClr>
              <a:buSzPct val="50000"/>
              <a:buFont typeface="Wingdings" panose="05000000000000000000" pitchFamily="2" charset="2"/>
              <a:buChar char="§"/>
            </a:pPr>
            <a:r>
              <a:rPr lang="pt-BR" sz="1400" dirty="0">
                <a:solidFill>
                  <a:srgbClr val="7030A0"/>
                </a:solidFill>
              </a:rPr>
              <a:t>Deve ser completamente reformulada, sob coordenação do Gerenciamento de Problemas. </a:t>
            </a:r>
          </a:p>
        </p:txBody>
      </p:sp>
    </p:spTree>
    <p:extLst>
      <p:ext uri="{BB962C8B-B14F-4D97-AF65-F5344CB8AC3E}">
        <p14:creationId xmlns:p14="http://schemas.microsoft.com/office/powerpoint/2010/main" val="14168763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8" descr="NAT_marca_branca_natura-01.png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0432" y="19878"/>
            <a:ext cx="576000" cy="57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CaixaDeTexto 5"/>
          <p:cNvSpPr txBox="1"/>
          <p:nvPr/>
        </p:nvSpPr>
        <p:spPr>
          <a:xfrm>
            <a:off x="-1" y="2"/>
            <a:ext cx="9144001" cy="646331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O que entendemos</a:t>
            </a:r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Light" pitchFamily="34" charset="0"/>
            </a:endParaRPr>
          </a:p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Fóruns</a:t>
            </a:r>
            <a:r>
              <a:rPr 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, rituais e </a:t>
            </a:r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dinâmicas</a:t>
            </a:r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Light" pitchFamily="34" charset="0"/>
            </a:endParaRPr>
          </a:p>
        </p:txBody>
      </p:sp>
      <p:sp>
        <p:nvSpPr>
          <p:cNvPr id="8" name="CaixaDeTexto 7"/>
          <p:cNvSpPr txBox="1"/>
          <p:nvPr/>
        </p:nvSpPr>
        <p:spPr>
          <a:xfrm rot="16200000">
            <a:off x="8127558" y="4147980"/>
            <a:ext cx="176338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 b="1" dirty="0">
                <a:solidFill>
                  <a:schemeClr val="accent1">
                    <a:lumMod val="75000"/>
                  </a:schemeClr>
                </a:solidFill>
              </a:rPr>
              <a:t>CHACON</a:t>
            </a:r>
            <a:r>
              <a:rPr lang="pt-BR" sz="900" dirty="0"/>
              <a:t> </a:t>
            </a:r>
            <a:r>
              <a:rPr lang="pt-BR" sz="900" b="1" dirty="0">
                <a:solidFill>
                  <a:schemeClr val="bg1">
                    <a:lumMod val="85000"/>
                  </a:schemeClr>
                </a:solidFill>
              </a:rPr>
              <a:t>|</a:t>
            </a:r>
            <a:r>
              <a:rPr lang="pt-BR" sz="900" dirty="0"/>
              <a:t> </a:t>
            </a:r>
            <a:r>
              <a:rPr lang="pt-BR" sz="900" b="1" dirty="0">
                <a:solidFill>
                  <a:schemeClr val="bg1">
                    <a:lumMod val="65000"/>
                  </a:schemeClr>
                </a:solidFill>
              </a:rPr>
              <a:t>Consultoria Ilimitada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212563" y="743302"/>
            <a:ext cx="8681271" cy="43704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>
              <a:buClr>
                <a:srgbClr val="7030A0"/>
              </a:buClr>
              <a:buSzPct val="50000"/>
            </a:pPr>
            <a:r>
              <a:rPr lang="pt-BR" b="1" dirty="0">
                <a:solidFill>
                  <a:srgbClr val="7030A0"/>
                </a:solidFill>
              </a:rPr>
              <a:t>Mudanças Não Planejadas</a:t>
            </a:r>
          </a:p>
          <a:p>
            <a:pPr marL="715963" lvl="0" indent="-357188" algn="just">
              <a:buClr>
                <a:srgbClr val="7030A0"/>
              </a:buClr>
              <a:buSzPct val="50000"/>
              <a:buFont typeface="Wingdings" panose="05000000000000000000" pitchFamily="2" charset="2"/>
              <a:buChar char="§"/>
            </a:pPr>
            <a:r>
              <a:rPr lang="pt-BR" sz="1400" dirty="0" smtClean="0">
                <a:solidFill>
                  <a:srgbClr val="7030A0"/>
                </a:solidFill>
              </a:rPr>
              <a:t>Controle ineficaz, </a:t>
            </a:r>
            <a:r>
              <a:rPr lang="pt-BR" sz="1400" dirty="0">
                <a:solidFill>
                  <a:srgbClr val="7030A0"/>
                </a:solidFill>
              </a:rPr>
              <a:t>pois a urgência característica do “não planejamento” inviabiliza a melhor análise de riscos e impactos, </a:t>
            </a:r>
            <a:r>
              <a:rPr lang="pt-BR" sz="1400" dirty="0" smtClean="0">
                <a:solidFill>
                  <a:srgbClr val="7030A0"/>
                </a:solidFill>
              </a:rPr>
              <a:t>uma vez que favorece </a:t>
            </a:r>
            <a:r>
              <a:rPr lang="pt-BR" sz="1400" dirty="0">
                <a:solidFill>
                  <a:srgbClr val="7030A0"/>
                </a:solidFill>
              </a:rPr>
              <a:t>a ansiedade pela aprovação. </a:t>
            </a:r>
            <a:r>
              <a:rPr lang="pt-BR" sz="1400" dirty="0" smtClean="0">
                <a:solidFill>
                  <a:srgbClr val="7030A0"/>
                </a:solidFill>
              </a:rPr>
              <a:t>O ritual é tido </a:t>
            </a:r>
            <a:r>
              <a:rPr lang="pt-BR" sz="1400" dirty="0">
                <a:solidFill>
                  <a:srgbClr val="7030A0"/>
                </a:solidFill>
              </a:rPr>
              <a:t>como um “cartório” no qual se </a:t>
            </a:r>
            <a:r>
              <a:rPr lang="pt-BR" sz="1400" dirty="0" smtClean="0">
                <a:solidFill>
                  <a:srgbClr val="7030A0"/>
                </a:solidFill>
              </a:rPr>
              <a:t>deve obter </a:t>
            </a:r>
            <a:r>
              <a:rPr lang="pt-BR" sz="1400" dirty="0">
                <a:solidFill>
                  <a:srgbClr val="7030A0"/>
                </a:solidFill>
              </a:rPr>
              <a:t>um aceite formal para </a:t>
            </a:r>
            <a:r>
              <a:rPr lang="pt-BR" sz="1400" dirty="0" smtClean="0">
                <a:solidFill>
                  <a:srgbClr val="7030A0"/>
                </a:solidFill>
              </a:rPr>
              <a:t>riscos nem sempre bem compreendidos e gerenciados.</a:t>
            </a:r>
            <a:endParaRPr lang="pt-BR" sz="1400" dirty="0">
              <a:solidFill>
                <a:srgbClr val="7030A0"/>
              </a:solidFill>
            </a:endParaRPr>
          </a:p>
          <a:p>
            <a:pPr marL="715963" lvl="0" indent="-357188" algn="just">
              <a:buClr>
                <a:srgbClr val="7030A0"/>
              </a:buClr>
              <a:buSzPct val="50000"/>
              <a:buFont typeface="Wingdings" panose="05000000000000000000" pitchFamily="2" charset="2"/>
              <a:buChar char="§"/>
            </a:pPr>
            <a:r>
              <a:rPr lang="pt-BR" sz="1400" dirty="0">
                <a:solidFill>
                  <a:srgbClr val="7030A0"/>
                </a:solidFill>
              </a:rPr>
              <a:t>Deve ser totalmente reformulada, com </a:t>
            </a:r>
            <a:r>
              <a:rPr lang="pt-BR" sz="1400" dirty="0" smtClean="0">
                <a:solidFill>
                  <a:srgbClr val="7030A0"/>
                </a:solidFill>
              </a:rPr>
              <a:t>novos processos automatizados.</a:t>
            </a:r>
            <a:endParaRPr lang="pt-BR" dirty="0">
              <a:solidFill>
                <a:srgbClr val="7030A0"/>
              </a:solidFill>
            </a:endParaRPr>
          </a:p>
          <a:p>
            <a:pPr algn="just">
              <a:buClr>
                <a:srgbClr val="7030A0"/>
              </a:buClr>
              <a:buSzPct val="50000"/>
            </a:pPr>
            <a:r>
              <a:rPr lang="pt-BR" b="1" dirty="0" smtClean="0">
                <a:solidFill>
                  <a:srgbClr val="7030A0"/>
                </a:solidFill>
              </a:rPr>
              <a:t>Gestão </a:t>
            </a:r>
            <a:r>
              <a:rPr lang="pt-BR" b="1" dirty="0">
                <a:solidFill>
                  <a:srgbClr val="7030A0"/>
                </a:solidFill>
              </a:rPr>
              <a:t>de </a:t>
            </a:r>
            <a:r>
              <a:rPr lang="pt-BR" b="1" dirty="0" smtClean="0">
                <a:solidFill>
                  <a:srgbClr val="7030A0"/>
                </a:solidFill>
              </a:rPr>
              <a:t>Mudanças</a:t>
            </a:r>
          </a:p>
          <a:p>
            <a:pPr marL="715963" indent="-357188" algn="just">
              <a:buClr>
                <a:srgbClr val="7030A0"/>
              </a:buClr>
              <a:buSzPct val="50000"/>
              <a:buFont typeface="Wingdings" panose="05000000000000000000" pitchFamily="2" charset="2"/>
              <a:buChar char="§"/>
            </a:pPr>
            <a:r>
              <a:rPr lang="pt-BR" sz="1400" dirty="0">
                <a:solidFill>
                  <a:srgbClr val="7030A0"/>
                </a:solidFill>
              </a:rPr>
              <a:t>Desconectada das dinâmicas de Demandas e Projetos, </a:t>
            </a:r>
            <a:r>
              <a:rPr lang="pt-BR" sz="1400" dirty="0" smtClean="0">
                <a:solidFill>
                  <a:srgbClr val="7030A0"/>
                </a:solidFill>
              </a:rPr>
              <a:t>é </a:t>
            </a:r>
            <a:r>
              <a:rPr lang="pt-BR" sz="1400" dirty="0">
                <a:solidFill>
                  <a:srgbClr val="7030A0"/>
                </a:solidFill>
              </a:rPr>
              <a:t>bastante similar </a:t>
            </a:r>
            <a:r>
              <a:rPr lang="pt-BR" sz="1400" dirty="0" smtClean="0">
                <a:solidFill>
                  <a:srgbClr val="7030A0"/>
                </a:solidFill>
              </a:rPr>
              <a:t>ao rito de </a:t>
            </a:r>
            <a:r>
              <a:rPr lang="pt-BR" sz="1400" dirty="0">
                <a:solidFill>
                  <a:srgbClr val="7030A0"/>
                </a:solidFill>
              </a:rPr>
              <a:t>Mudanças não Planejadas, pois os insumos para avaliação são apresentados sem a </a:t>
            </a:r>
            <a:r>
              <a:rPr lang="pt-BR" sz="1400" dirty="0" smtClean="0">
                <a:solidFill>
                  <a:srgbClr val="7030A0"/>
                </a:solidFill>
              </a:rPr>
              <a:t>adequada antecedência</a:t>
            </a:r>
            <a:r>
              <a:rPr lang="pt-BR" sz="1400" dirty="0">
                <a:solidFill>
                  <a:srgbClr val="7030A0"/>
                </a:solidFill>
              </a:rPr>
              <a:t>. </a:t>
            </a:r>
          </a:p>
          <a:p>
            <a:pPr marL="715963" indent="-357188" algn="just">
              <a:buClr>
                <a:srgbClr val="7030A0"/>
              </a:buClr>
              <a:buSzPct val="50000"/>
              <a:buFont typeface="Wingdings" panose="05000000000000000000" pitchFamily="2" charset="2"/>
              <a:buChar char="§"/>
            </a:pPr>
            <a:r>
              <a:rPr lang="pt-BR" sz="1400" dirty="0">
                <a:solidFill>
                  <a:srgbClr val="7030A0"/>
                </a:solidFill>
              </a:rPr>
              <a:t>Falha ainda </a:t>
            </a:r>
            <a:r>
              <a:rPr lang="pt-BR" sz="1400" dirty="0" smtClean="0">
                <a:solidFill>
                  <a:srgbClr val="7030A0"/>
                </a:solidFill>
              </a:rPr>
              <a:t>ao </a:t>
            </a:r>
            <a:r>
              <a:rPr lang="pt-BR" sz="1400" dirty="0">
                <a:solidFill>
                  <a:srgbClr val="7030A0"/>
                </a:solidFill>
              </a:rPr>
              <a:t>submeter ao mesmo rito de avaliação, aprovação e </a:t>
            </a:r>
            <a:r>
              <a:rPr lang="pt-BR" sz="1400" dirty="0" smtClean="0">
                <a:solidFill>
                  <a:srgbClr val="7030A0"/>
                </a:solidFill>
              </a:rPr>
              <a:t>execução, </a:t>
            </a:r>
            <a:r>
              <a:rPr lang="pt-BR" sz="1400" dirty="0">
                <a:solidFill>
                  <a:srgbClr val="7030A0"/>
                </a:solidFill>
              </a:rPr>
              <a:t>mudanças completamente diferentes em complexidade, </a:t>
            </a:r>
            <a:r>
              <a:rPr lang="pt-BR" sz="1400" dirty="0" smtClean="0">
                <a:solidFill>
                  <a:srgbClr val="7030A0"/>
                </a:solidFill>
              </a:rPr>
              <a:t>esforços </a:t>
            </a:r>
            <a:r>
              <a:rPr lang="pt-BR" sz="1400" dirty="0">
                <a:solidFill>
                  <a:srgbClr val="7030A0"/>
                </a:solidFill>
              </a:rPr>
              <a:t>e riscos.</a:t>
            </a:r>
          </a:p>
          <a:p>
            <a:pPr marL="715963" indent="-357188" algn="just">
              <a:buClr>
                <a:srgbClr val="7030A0"/>
              </a:buClr>
              <a:buSzPct val="50000"/>
              <a:buFont typeface="Wingdings" panose="05000000000000000000" pitchFamily="2" charset="2"/>
              <a:buChar char="§"/>
            </a:pPr>
            <a:r>
              <a:rPr lang="pt-BR" sz="1400" dirty="0">
                <a:solidFill>
                  <a:srgbClr val="7030A0"/>
                </a:solidFill>
              </a:rPr>
              <a:t>O processo deve ser reformulado, com vínculos aos processos de Demandas e Projetos e definição de ritos </a:t>
            </a:r>
            <a:r>
              <a:rPr lang="pt-BR" sz="1400" dirty="0" smtClean="0">
                <a:solidFill>
                  <a:srgbClr val="7030A0"/>
                </a:solidFill>
              </a:rPr>
              <a:t>distintos </a:t>
            </a:r>
            <a:r>
              <a:rPr lang="pt-BR" sz="1400" dirty="0">
                <a:solidFill>
                  <a:srgbClr val="7030A0"/>
                </a:solidFill>
              </a:rPr>
              <a:t>para mudanças diferentes. Um novo processo deve ser </a:t>
            </a:r>
            <a:r>
              <a:rPr lang="pt-BR" sz="1400" dirty="0" smtClean="0">
                <a:solidFill>
                  <a:srgbClr val="7030A0"/>
                </a:solidFill>
              </a:rPr>
              <a:t>estabelecido e automatizado.</a:t>
            </a:r>
            <a:endParaRPr lang="pt-BR" sz="1400" dirty="0">
              <a:solidFill>
                <a:srgbClr val="7030A0"/>
              </a:solidFill>
            </a:endParaRPr>
          </a:p>
          <a:p>
            <a:pPr algn="just">
              <a:buClr>
                <a:srgbClr val="7030A0"/>
              </a:buClr>
              <a:buSzPct val="50000"/>
            </a:pPr>
            <a:r>
              <a:rPr lang="pt-BR" b="1" dirty="0" smtClean="0">
                <a:solidFill>
                  <a:srgbClr val="7030A0"/>
                </a:solidFill>
              </a:rPr>
              <a:t>GGTD</a:t>
            </a:r>
          </a:p>
          <a:p>
            <a:pPr marL="715963" indent="-357188" algn="just">
              <a:buClr>
                <a:srgbClr val="7030A0"/>
              </a:buClr>
              <a:buSzPct val="50000"/>
              <a:buFont typeface="Wingdings" panose="05000000000000000000" pitchFamily="2" charset="2"/>
              <a:buChar char="§"/>
            </a:pPr>
            <a:r>
              <a:rPr lang="pt-BR" sz="1400" dirty="0">
                <a:solidFill>
                  <a:srgbClr val="7030A0"/>
                </a:solidFill>
              </a:rPr>
              <a:t>Dinâmica necessária, mas que, por não possuir uma pauta permanente, favorece a sobreposição de </a:t>
            </a:r>
            <a:r>
              <a:rPr lang="pt-BR" sz="1400" dirty="0" smtClean="0">
                <a:solidFill>
                  <a:srgbClr val="7030A0"/>
                </a:solidFill>
              </a:rPr>
              <a:t>assuntos e perda de controle sobre pendências.</a:t>
            </a:r>
          </a:p>
          <a:p>
            <a:pPr marL="715963" indent="-357188" algn="just">
              <a:buClr>
                <a:srgbClr val="7030A0"/>
              </a:buClr>
              <a:buSzPct val="50000"/>
              <a:buFont typeface="Wingdings" panose="05000000000000000000" pitchFamily="2" charset="2"/>
              <a:buChar char="§"/>
            </a:pPr>
            <a:r>
              <a:rPr lang="pt-BR" sz="1400" dirty="0" smtClean="0">
                <a:solidFill>
                  <a:srgbClr val="7030A0"/>
                </a:solidFill>
              </a:rPr>
              <a:t>A </a:t>
            </a:r>
            <a:r>
              <a:rPr lang="pt-BR" sz="1400" dirty="0">
                <a:solidFill>
                  <a:srgbClr val="7030A0"/>
                </a:solidFill>
              </a:rPr>
              <a:t>pauta deve ser previamente avaliada para que apenas assuntos que exijam decisão </a:t>
            </a:r>
            <a:r>
              <a:rPr lang="pt-BR" sz="1400" dirty="0" smtClean="0">
                <a:solidFill>
                  <a:srgbClr val="7030A0"/>
                </a:solidFill>
              </a:rPr>
              <a:t>dos participantes sejam admitidos na </a:t>
            </a:r>
            <a:r>
              <a:rPr lang="pt-BR" sz="1400" dirty="0">
                <a:solidFill>
                  <a:srgbClr val="7030A0"/>
                </a:solidFill>
              </a:rPr>
              <a:t>agenda, reservando-se </a:t>
            </a:r>
            <a:r>
              <a:rPr lang="pt-BR" sz="1400" dirty="0" smtClean="0">
                <a:solidFill>
                  <a:srgbClr val="7030A0"/>
                </a:solidFill>
              </a:rPr>
              <a:t>um breve tempo para </a:t>
            </a:r>
            <a:r>
              <a:rPr lang="pt-BR" sz="1400" dirty="0">
                <a:solidFill>
                  <a:srgbClr val="7030A0"/>
                </a:solidFill>
              </a:rPr>
              <a:t>informações e comunicados de interesse geral. Os assuntos colocados em </a:t>
            </a:r>
            <a:r>
              <a:rPr lang="pt-BR" sz="1400" dirty="0" smtClean="0">
                <a:solidFill>
                  <a:srgbClr val="7030A0"/>
                </a:solidFill>
              </a:rPr>
              <a:t>pauta </a:t>
            </a:r>
            <a:r>
              <a:rPr lang="pt-BR" sz="1400" dirty="0">
                <a:solidFill>
                  <a:srgbClr val="7030A0"/>
                </a:solidFill>
              </a:rPr>
              <a:t>devem ser submetidos a um </a:t>
            </a:r>
            <a:r>
              <a:rPr lang="pt-BR" sz="1400" dirty="0" smtClean="0">
                <a:solidFill>
                  <a:srgbClr val="7030A0"/>
                </a:solidFill>
              </a:rPr>
              <a:t>controle periódico pela Governança, </a:t>
            </a:r>
            <a:r>
              <a:rPr lang="pt-BR" sz="1400" dirty="0">
                <a:solidFill>
                  <a:srgbClr val="7030A0"/>
                </a:solidFill>
              </a:rPr>
              <a:t>até sua resolução ou perda de relevância.</a:t>
            </a:r>
          </a:p>
        </p:txBody>
      </p:sp>
    </p:spTree>
    <p:extLst>
      <p:ext uri="{BB962C8B-B14F-4D97-AF65-F5344CB8AC3E}">
        <p14:creationId xmlns:p14="http://schemas.microsoft.com/office/powerpoint/2010/main" val="35944696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8" descr="NAT_marca_branca_natura-01.png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0432" y="19878"/>
            <a:ext cx="576000" cy="57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CaixaDeTexto 5"/>
          <p:cNvSpPr txBox="1"/>
          <p:nvPr/>
        </p:nvSpPr>
        <p:spPr>
          <a:xfrm>
            <a:off x="-1" y="2"/>
            <a:ext cx="9144001" cy="646331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O que entendemos</a:t>
            </a:r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Light" pitchFamily="34" charset="0"/>
            </a:endParaRPr>
          </a:p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Fóruns</a:t>
            </a:r>
            <a:r>
              <a:rPr 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, rituais e </a:t>
            </a:r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dinâmicas</a:t>
            </a:r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Light" pitchFamily="34" charset="0"/>
            </a:endParaRPr>
          </a:p>
        </p:txBody>
      </p:sp>
      <p:sp>
        <p:nvSpPr>
          <p:cNvPr id="8" name="CaixaDeTexto 7"/>
          <p:cNvSpPr txBox="1"/>
          <p:nvPr/>
        </p:nvSpPr>
        <p:spPr>
          <a:xfrm rot="16200000">
            <a:off x="8127558" y="4147980"/>
            <a:ext cx="176338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 b="1" dirty="0">
                <a:solidFill>
                  <a:schemeClr val="accent1">
                    <a:lumMod val="75000"/>
                  </a:schemeClr>
                </a:solidFill>
              </a:rPr>
              <a:t>CHACON</a:t>
            </a:r>
            <a:r>
              <a:rPr lang="pt-BR" sz="900" dirty="0"/>
              <a:t> </a:t>
            </a:r>
            <a:r>
              <a:rPr lang="pt-BR" sz="900" b="1" dirty="0">
                <a:solidFill>
                  <a:schemeClr val="bg1">
                    <a:lumMod val="85000"/>
                  </a:schemeClr>
                </a:solidFill>
              </a:rPr>
              <a:t>|</a:t>
            </a:r>
            <a:r>
              <a:rPr lang="pt-BR" sz="900" dirty="0"/>
              <a:t> </a:t>
            </a:r>
            <a:r>
              <a:rPr lang="pt-BR" sz="900" b="1" dirty="0">
                <a:solidFill>
                  <a:schemeClr val="bg1">
                    <a:lumMod val="65000"/>
                  </a:schemeClr>
                </a:solidFill>
              </a:rPr>
              <a:t>Consultoria Ilimitada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212563" y="743302"/>
            <a:ext cx="8681271" cy="43704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>
              <a:buClr>
                <a:srgbClr val="7030A0"/>
              </a:buClr>
              <a:buSzPct val="50000"/>
            </a:pPr>
            <a:r>
              <a:rPr lang="pt-BR" b="1" dirty="0" smtClean="0">
                <a:solidFill>
                  <a:srgbClr val="7030A0"/>
                </a:solidFill>
              </a:rPr>
              <a:t>Service Desk</a:t>
            </a:r>
            <a:endParaRPr lang="pt-BR" b="1" dirty="0">
              <a:solidFill>
                <a:srgbClr val="7030A0"/>
              </a:solidFill>
            </a:endParaRPr>
          </a:p>
          <a:p>
            <a:pPr marL="715963" lvl="0" indent="-357188" algn="just">
              <a:buClr>
                <a:srgbClr val="7030A0"/>
              </a:buClr>
              <a:buSzPct val="50000"/>
              <a:buFont typeface="Wingdings" panose="05000000000000000000" pitchFamily="2" charset="2"/>
              <a:buChar char="§"/>
            </a:pPr>
            <a:r>
              <a:rPr lang="pt-BR" sz="1400" dirty="0" smtClean="0">
                <a:solidFill>
                  <a:srgbClr val="7030A0"/>
                </a:solidFill>
              </a:rPr>
              <a:t>Eficiente para assuntos relacionados a automação de escritório e controle de acesso, carece de uma adequada classificação de Incidentes e Requisições relacionadas aos Serviços, de uma Base de Conhecimento e de um Sistema de Gerenciamento da Configuração, para ampliação de seu valor para o negócio.</a:t>
            </a:r>
          </a:p>
          <a:p>
            <a:pPr marL="715963" lvl="0" indent="-357188" algn="just">
              <a:buClr>
                <a:srgbClr val="7030A0"/>
              </a:buClr>
              <a:buSzPct val="50000"/>
              <a:buFont typeface="Wingdings" panose="05000000000000000000" pitchFamily="2" charset="2"/>
              <a:buChar char="§"/>
            </a:pPr>
            <a:r>
              <a:rPr lang="pt-BR" sz="1400" dirty="0" smtClean="0">
                <a:solidFill>
                  <a:srgbClr val="7030A0"/>
                </a:solidFill>
              </a:rPr>
              <a:t>Deve ser envolvido em todas as deliberações de Problemas e Mudanças.</a:t>
            </a:r>
          </a:p>
          <a:p>
            <a:pPr algn="just">
              <a:buClr>
                <a:srgbClr val="7030A0"/>
              </a:buClr>
              <a:buSzPct val="50000"/>
            </a:pPr>
            <a:r>
              <a:rPr lang="pt-BR" b="1" dirty="0" smtClean="0">
                <a:solidFill>
                  <a:srgbClr val="7030A0"/>
                </a:solidFill>
              </a:rPr>
              <a:t>NCC</a:t>
            </a:r>
          </a:p>
          <a:p>
            <a:pPr marL="715963" indent="-357188" algn="just">
              <a:buClr>
                <a:srgbClr val="7030A0"/>
              </a:buClr>
              <a:buSzPct val="50000"/>
              <a:buFont typeface="Wingdings" panose="05000000000000000000" pitchFamily="2" charset="2"/>
              <a:buChar char="§"/>
            </a:pPr>
            <a:r>
              <a:rPr lang="pt-BR" sz="1400" dirty="0">
                <a:solidFill>
                  <a:srgbClr val="7030A0"/>
                </a:solidFill>
              </a:rPr>
              <a:t>Com perspectiva orientada à monitoração de componentes e conectividade, cumpre bem este papel. </a:t>
            </a:r>
          </a:p>
          <a:p>
            <a:pPr marL="715963" indent="-357188" algn="just">
              <a:buClr>
                <a:srgbClr val="7030A0"/>
              </a:buClr>
              <a:buSzPct val="50000"/>
              <a:buFont typeface="Wingdings" panose="05000000000000000000" pitchFamily="2" charset="2"/>
              <a:buChar char="§"/>
            </a:pPr>
            <a:r>
              <a:rPr lang="pt-BR" sz="1400" dirty="0">
                <a:solidFill>
                  <a:srgbClr val="7030A0"/>
                </a:solidFill>
              </a:rPr>
              <a:t>Deve desenvolver habilidades para monitoração de serviços de negócio, com alertas relacionados às variações nos volumes e performance das transações e indicadores relacionados </a:t>
            </a:r>
            <a:r>
              <a:rPr lang="pt-BR" sz="1400" dirty="0" smtClean="0">
                <a:solidFill>
                  <a:srgbClr val="7030A0"/>
                </a:solidFill>
              </a:rPr>
              <a:t>a resultados financeiros.</a:t>
            </a:r>
            <a:endParaRPr lang="pt-BR" sz="1400" dirty="0">
              <a:solidFill>
                <a:srgbClr val="7030A0"/>
              </a:solidFill>
            </a:endParaRPr>
          </a:p>
          <a:p>
            <a:pPr marL="715963" indent="-357188" algn="just">
              <a:buClr>
                <a:srgbClr val="7030A0"/>
              </a:buClr>
              <a:buSzPct val="50000"/>
              <a:buFont typeface="Wingdings" panose="05000000000000000000" pitchFamily="2" charset="2"/>
              <a:buChar char="§"/>
            </a:pPr>
            <a:r>
              <a:rPr lang="pt-BR" sz="1400" dirty="0">
                <a:solidFill>
                  <a:srgbClr val="7030A0"/>
                </a:solidFill>
              </a:rPr>
              <a:t>Pode ser considerado uma extensão operacional da Governança, para foco mais voltado </a:t>
            </a:r>
            <a:r>
              <a:rPr lang="pt-BR" sz="1400" dirty="0" smtClean="0">
                <a:solidFill>
                  <a:srgbClr val="7030A0"/>
                </a:solidFill>
              </a:rPr>
              <a:t>ao gerenciamento de Incidentes e seu impacto nos </a:t>
            </a:r>
            <a:r>
              <a:rPr lang="pt-BR" sz="1400" dirty="0">
                <a:solidFill>
                  <a:srgbClr val="7030A0"/>
                </a:solidFill>
              </a:rPr>
              <a:t>negócios da organização.</a:t>
            </a:r>
          </a:p>
          <a:p>
            <a:pPr algn="just">
              <a:buClr>
                <a:srgbClr val="7030A0"/>
              </a:buClr>
              <a:buSzPct val="50000"/>
            </a:pPr>
            <a:r>
              <a:rPr lang="pt-BR" b="1" dirty="0" smtClean="0">
                <a:solidFill>
                  <a:srgbClr val="7030A0"/>
                </a:solidFill>
              </a:rPr>
              <a:t>Demandas, </a:t>
            </a:r>
            <a:r>
              <a:rPr lang="pt-BR" b="1" dirty="0" err="1" smtClean="0">
                <a:solidFill>
                  <a:srgbClr val="7030A0"/>
                </a:solidFill>
              </a:rPr>
              <a:t>Yellow</a:t>
            </a:r>
            <a:r>
              <a:rPr lang="pt-BR" b="1" dirty="0" smtClean="0">
                <a:solidFill>
                  <a:srgbClr val="7030A0"/>
                </a:solidFill>
              </a:rPr>
              <a:t> </a:t>
            </a:r>
            <a:r>
              <a:rPr lang="pt-BR" b="1" dirty="0" err="1" smtClean="0">
                <a:solidFill>
                  <a:srgbClr val="7030A0"/>
                </a:solidFill>
              </a:rPr>
              <a:t>Pad</a:t>
            </a:r>
            <a:r>
              <a:rPr lang="pt-BR" b="1" dirty="0" smtClean="0">
                <a:solidFill>
                  <a:srgbClr val="7030A0"/>
                </a:solidFill>
              </a:rPr>
              <a:t> e CAD</a:t>
            </a:r>
          </a:p>
          <a:p>
            <a:pPr marL="715963" indent="-357188" algn="just">
              <a:buClr>
                <a:srgbClr val="7030A0"/>
              </a:buClr>
              <a:buSzPct val="50000"/>
              <a:buFont typeface="Wingdings" panose="05000000000000000000" pitchFamily="2" charset="2"/>
              <a:buChar char="§"/>
            </a:pPr>
            <a:r>
              <a:rPr lang="pt-BR" sz="1400" dirty="0" smtClean="0">
                <a:solidFill>
                  <a:srgbClr val="7030A0"/>
                </a:solidFill>
              </a:rPr>
              <a:t>Práticas eficazes, </a:t>
            </a:r>
            <a:r>
              <a:rPr lang="pt-BR" sz="1400" dirty="0">
                <a:solidFill>
                  <a:srgbClr val="7030A0"/>
                </a:solidFill>
              </a:rPr>
              <a:t>para </a:t>
            </a:r>
            <a:r>
              <a:rPr lang="pt-BR" sz="1400" dirty="0" smtClean="0">
                <a:solidFill>
                  <a:srgbClr val="7030A0"/>
                </a:solidFill>
              </a:rPr>
              <a:t>as quais recomendamos vínculo a </a:t>
            </a:r>
            <a:r>
              <a:rPr lang="pt-BR" sz="1400" dirty="0">
                <a:solidFill>
                  <a:srgbClr val="7030A0"/>
                </a:solidFill>
              </a:rPr>
              <a:t>um processo de Portfólio de </a:t>
            </a:r>
            <a:r>
              <a:rPr lang="pt-BR" sz="1400" dirty="0" smtClean="0">
                <a:solidFill>
                  <a:srgbClr val="7030A0"/>
                </a:solidFill>
              </a:rPr>
              <a:t>Serviços, para </a:t>
            </a:r>
            <a:r>
              <a:rPr lang="pt-BR" sz="1400" dirty="0">
                <a:solidFill>
                  <a:srgbClr val="7030A0"/>
                </a:solidFill>
              </a:rPr>
              <a:t>incorporar sequencialmente todas as atividades relacionadas à análise estratégica de uma demanda oriunda dos negócios sob a perspectiva de “serviços novos ou alterados</a:t>
            </a:r>
            <a:r>
              <a:rPr lang="pt-BR" sz="1400" dirty="0" smtClean="0">
                <a:solidFill>
                  <a:srgbClr val="7030A0"/>
                </a:solidFill>
              </a:rPr>
              <a:t>”, </a:t>
            </a:r>
            <a:r>
              <a:rPr lang="pt-BR" sz="1400" dirty="0">
                <a:solidFill>
                  <a:srgbClr val="7030A0"/>
                </a:solidFill>
              </a:rPr>
              <a:t>até sua aprovação ou justificada recusa</a:t>
            </a:r>
            <a:r>
              <a:rPr lang="pt-BR" sz="1400" dirty="0" smtClean="0">
                <a:solidFill>
                  <a:srgbClr val="7030A0"/>
                </a:solidFill>
              </a:rPr>
              <a:t>.</a:t>
            </a:r>
          </a:p>
          <a:p>
            <a:pPr marL="715963" indent="-357188" algn="just">
              <a:buClr>
                <a:srgbClr val="7030A0"/>
              </a:buClr>
              <a:buSzPct val="50000"/>
              <a:buFont typeface="Wingdings" panose="05000000000000000000" pitchFamily="2" charset="2"/>
              <a:buChar char="§"/>
            </a:pPr>
            <a:r>
              <a:rPr lang="pt-BR" sz="1400" dirty="0" smtClean="0">
                <a:solidFill>
                  <a:srgbClr val="7030A0"/>
                </a:solidFill>
              </a:rPr>
              <a:t>A </a:t>
            </a:r>
            <a:r>
              <a:rPr lang="pt-BR" sz="1400" dirty="0">
                <a:solidFill>
                  <a:srgbClr val="7030A0"/>
                </a:solidFill>
              </a:rPr>
              <a:t>análise estratégica deve estar vinculada ao PEN e às prioridades definidas pelas lideranças executivas da organização.</a:t>
            </a:r>
          </a:p>
        </p:txBody>
      </p:sp>
    </p:spTree>
    <p:extLst>
      <p:ext uri="{BB962C8B-B14F-4D97-AF65-F5344CB8AC3E}">
        <p14:creationId xmlns:p14="http://schemas.microsoft.com/office/powerpoint/2010/main" val="28805981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8" descr="NAT_marca_branca_natura-01.png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0432" y="19878"/>
            <a:ext cx="576000" cy="57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CaixaDeTexto 5"/>
          <p:cNvSpPr txBox="1"/>
          <p:nvPr/>
        </p:nvSpPr>
        <p:spPr>
          <a:xfrm>
            <a:off x="-1" y="2"/>
            <a:ext cx="9144001" cy="646331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O que </a:t>
            </a:r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entendemos</a:t>
            </a:r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Light" pitchFamily="34" charset="0"/>
            </a:endParaRPr>
          </a:p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Metrô </a:t>
            </a:r>
            <a:r>
              <a:rPr 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de </a:t>
            </a:r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Processos</a:t>
            </a:r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Light" pitchFamily="34" charset="0"/>
            </a:endParaRPr>
          </a:p>
        </p:txBody>
      </p:sp>
      <p:sp>
        <p:nvSpPr>
          <p:cNvPr id="8" name="CaixaDeTexto 7"/>
          <p:cNvSpPr txBox="1"/>
          <p:nvPr/>
        </p:nvSpPr>
        <p:spPr>
          <a:xfrm rot="16200000">
            <a:off x="8127558" y="4147980"/>
            <a:ext cx="176338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 b="1" dirty="0">
                <a:solidFill>
                  <a:schemeClr val="accent1">
                    <a:lumMod val="75000"/>
                  </a:schemeClr>
                </a:solidFill>
              </a:rPr>
              <a:t>CHACON</a:t>
            </a:r>
            <a:r>
              <a:rPr lang="pt-BR" sz="900" dirty="0"/>
              <a:t> </a:t>
            </a:r>
            <a:r>
              <a:rPr lang="pt-BR" sz="900" b="1" dirty="0">
                <a:solidFill>
                  <a:schemeClr val="bg1">
                    <a:lumMod val="85000"/>
                  </a:schemeClr>
                </a:solidFill>
              </a:rPr>
              <a:t>|</a:t>
            </a:r>
            <a:r>
              <a:rPr lang="pt-BR" sz="900" dirty="0"/>
              <a:t> </a:t>
            </a:r>
            <a:r>
              <a:rPr lang="pt-BR" sz="900" b="1" dirty="0">
                <a:solidFill>
                  <a:schemeClr val="bg1">
                    <a:lumMod val="65000"/>
                  </a:schemeClr>
                </a:solidFill>
              </a:rPr>
              <a:t>Consultoria Ilimitada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212563" y="815858"/>
            <a:ext cx="8681271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Clr>
                <a:srgbClr val="7030A0"/>
              </a:buClr>
              <a:buSzPct val="50000"/>
            </a:pPr>
            <a:r>
              <a:rPr lang="pt-BR" b="1" dirty="0">
                <a:solidFill>
                  <a:srgbClr val="7030A0"/>
                </a:solidFill>
              </a:rPr>
              <a:t>Metrô de Processos</a:t>
            </a:r>
          </a:p>
          <a:p>
            <a:pPr marL="715963" indent="-357188" algn="just">
              <a:buClr>
                <a:srgbClr val="7030A0"/>
              </a:buClr>
              <a:buSzPct val="50000"/>
              <a:buFont typeface="Wingdings" panose="05000000000000000000" pitchFamily="2" charset="2"/>
              <a:buChar char="§"/>
            </a:pPr>
            <a:r>
              <a:rPr lang="pt-BR" sz="1400" dirty="0" smtClean="0">
                <a:solidFill>
                  <a:srgbClr val="7030A0"/>
                </a:solidFill>
              </a:rPr>
              <a:t>Modelo inovador, muito bem estruturado e adequadamente documentado (apesar de incompleto), o Metrô de Processos é um patrimônio da TD que deve ser preservado, gerenciado, reforçado e ampliado. Há, no entanto, alguns aspectos a considerar para obter maior aderência e conformidade:</a:t>
            </a:r>
          </a:p>
          <a:p>
            <a:pPr marL="1074738" indent="-358775" algn="just">
              <a:buClr>
                <a:srgbClr val="7030A0"/>
              </a:buClr>
              <a:buSzPct val="50000"/>
              <a:buFont typeface="Wingdings" panose="05000000000000000000" pitchFamily="2" charset="2"/>
              <a:buChar char="§"/>
            </a:pPr>
            <a:r>
              <a:rPr lang="pt-BR" sz="1400" b="1" dirty="0" smtClean="0">
                <a:solidFill>
                  <a:srgbClr val="7030A0"/>
                </a:solidFill>
              </a:rPr>
              <a:t>Integração</a:t>
            </a:r>
            <a:r>
              <a:rPr lang="pt-BR" sz="1400" dirty="0" smtClean="0">
                <a:solidFill>
                  <a:srgbClr val="7030A0"/>
                </a:solidFill>
              </a:rPr>
              <a:t>: integradores cumpriram seu papel no desenvolvimento, mas não houve a adequada orquestração. Os principais processos de suporte (Incidentes e Problemas) e de entrega (Demandas, Projetos e Mudanças) precisam ser priorizados para uso efetivo, devendo antes ser inter-relacionados, para melhor compreensão e fluidez.</a:t>
            </a:r>
          </a:p>
          <a:p>
            <a:pPr marL="1074738" indent="-358775" algn="just">
              <a:buClr>
                <a:srgbClr val="7030A0"/>
              </a:buClr>
              <a:buSzPct val="50000"/>
              <a:buFont typeface="Wingdings" panose="05000000000000000000" pitchFamily="2" charset="2"/>
              <a:buChar char="§"/>
            </a:pPr>
            <a:r>
              <a:rPr lang="pt-BR" sz="1400" b="1" dirty="0">
                <a:solidFill>
                  <a:srgbClr val="7030A0"/>
                </a:solidFill>
              </a:rPr>
              <a:t>Propriedade</a:t>
            </a:r>
            <a:r>
              <a:rPr lang="pt-BR" sz="1400" dirty="0">
                <a:solidFill>
                  <a:srgbClr val="7030A0"/>
                </a:solidFill>
              </a:rPr>
              <a:t>: é preciso atribuir à Governança a propriedade sobre todos os processos </a:t>
            </a:r>
            <a:r>
              <a:rPr lang="pt-BR" sz="1400" dirty="0" smtClean="0">
                <a:solidFill>
                  <a:srgbClr val="7030A0"/>
                </a:solidFill>
              </a:rPr>
              <a:t>e </a:t>
            </a:r>
            <a:r>
              <a:rPr lang="pt-BR" sz="1400" dirty="0">
                <a:solidFill>
                  <a:srgbClr val="7030A0"/>
                </a:solidFill>
              </a:rPr>
              <a:t>definir Gerentes (Gestores?) responsáveis pela dinâmica cotidiana </a:t>
            </a:r>
            <a:r>
              <a:rPr lang="pt-BR" sz="1400" dirty="0" smtClean="0">
                <a:solidFill>
                  <a:srgbClr val="7030A0"/>
                </a:solidFill>
              </a:rPr>
              <a:t>para </a:t>
            </a:r>
            <a:r>
              <a:rPr lang="pt-BR" sz="1400" dirty="0">
                <a:solidFill>
                  <a:srgbClr val="7030A0"/>
                </a:solidFill>
              </a:rPr>
              <a:t>cada processos selecionado.</a:t>
            </a:r>
          </a:p>
          <a:p>
            <a:pPr marL="1074738" indent="-358775" algn="just">
              <a:buClr>
                <a:srgbClr val="7030A0"/>
              </a:buClr>
              <a:buSzPct val="50000"/>
              <a:buFont typeface="Wingdings" panose="05000000000000000000" pitchFamily="2" charset="2"/>
              <a:buChar char="§"/>
            </a:pPr>
            <a:r>
              <a:rPr lang="pt-BR" sz="1400" b="1" dirty="0" smtClean="0">
                <a:solidFill>
                  <a:srgbClr val="7030A0"/>
                </a:solidFill>
              </a:rPr>
              <a:t>Indicadores</a:t>
            </a:r>
            <a:r>
              <a:rPr lang="pt-BR" sz="1400" dirty="0" smtClean="0">
                <a:solidFill>
                  <a:srgbClr val="7030A0"/>
                </a:solidFill>
              </a:rPr>
              <a:t>: um conjunto oficial de indicadores relacionados aos processos precisa ser definido, catalogado, produzido e mantido. Apenas indicadores classificados como “oficiais” devem ser divulgados.</a:t>
            </a:r>
          </a:p>
          <a:p>
            <a:pPr marL="1074738" indent="-358775" algn="just">
              <a:buClr>
                <a:srgbClr val="7030A0"/>
              </a:buClr>
              <a:buSzPct val="50000"/>
              <a:buFont typeface="Wingdings" panose="05000000000000000000" pitchFamily="2" charset="2"/>
              <a:buChar char="§"/>
            </a:pPr>
            <a:r>
              <a:rPr lang="pt-BR" sz="1400" b="1" dirty="0" smtClean="0">
                <a:solidFill>
                  <a:srgbClr val="7030A0"/>
                </a:solidFill>
              </a:rPr>
              <a:t>Capacidade</a:t>
            </a:r>
            <a:r>
              <a:rPr lang="pt-BR" sz="1400" dirty="0" smtClean="0">
                <a:solidFill>
                  <a:srgbClr val="7030A0"/>
                </a:solidFill>
              </a:rPr>
              <a:t>: a capacidade dos processos é limitada pela ausência de um Sistema de Gerenciamento da Configuração e de um Sistema de Gerenciamento do Conhecimento do Serviço. Estes são respectivamente os alicerces a o ápice de uma boa gestão de serviços. E sem eles, os processos terão sua eficiência e eficácia inexoravelmente limitadas. </a:t>
            </a:r>
          </a:p>
          <a:p>
            <a:pPr marL="1074738" indent="-358775" algn="just">
              <a:buClr>
                <a:srgbClr val="7030A0"/>
              </a:buClr>
              <a:buSzPct val="50000"/>
              <a:buFont typeface="Wingdings" panose="05000000000000000000" pitchFamily="2" charset="2"/>
              <a:buChar char="§"/>
            </a:pPr>
            <a:r>
              <a:rPr lang="pt-BR" sz="1400" b="1" dirty="0" smtClean="0">
                <a:solidFill>
                  <a:srgbClr val="7030A0"/>
                </a:solidFill>
              </a:rPr>
              <a:t>Automação</a:t>
            </a:r>
            <a:r>
              <a:rPr lang="pt-BR" sz="1400" dirty="0" smtClean="0">
                <a:solidFill>
                  <a:srgbClr val="7030A0"/>
                </a:solidFill>
              </a:rPr>
              <a:t>: as ferramentas de gestão disponíveis – notadamente o CA-SDM e o CA-</a:t>
            </a:r>
            <a:r>
              <a:rPr lang="pt-BR" sz="1400" dirty="0" err="1" smtClean="0">
                <a:solidFill>
                  <a:srgbClr val="7030A0"/>
                </a:solidFill>
              </a:rPr>
              <a:t>Clarity</a:t>
            </a:r>
            <a:r>
              <a:rPr lang="pt-BR" sz="1400" dirty="0" smtClean="0">
                <a:solidFill>
                  <a:srgbClr val="7030A0"/>
                </a:solidFill>
              </a:rPr>
              <a:t> PPM – precisam ser integradas e utilizadas em sua plenitude para o uso intuitivo e adequado dos processos.</a:t>
            </a:r>
            <a:endParaRPr lang="pt-BR" sz="1400" b="1" dirty="0" smtClean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8052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8" descr="NAT_marca_branca_natura-01.png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0432" y="19878"/>
            <a:ext cx="576000" cy="57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CaixaDeTexto 5"/>
          <p:cNvSpPr txBox="1"/>
          <p:nvPr/>
        </p:nvSpPr>
        <p:spPr>
          <a:xfrm>
            <a:off x="-1" y="2"/>
            <a:ext cx="9144001" cy="646331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O que </a:t>
            </a:r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entendemos</a:t>
            </a:r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Light" pitchFamily="34" charset="0"/>
            </a:endParaRPr>
          </a:p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Metrô </a:t>
            </a:r>
            <a:r>
              <a:rPr 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de </a:t>
            </a:r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Processos</a:t>
            </a:r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Light" pitchFamily="34" charset="0"/>
            </a:endParaRPr>
          </a:p>
        </p:txBody>
      </p:sp>
      <p:sp>
        <p:nvSpPr>
          <p:cNvPr id="8" name="CaixaDeTexto 7"/>
          <p:cNvSpPr txBox="1"/>
          <p:nvPr/>
        </p:nvSpPr>
        <p:spPr>
          <a:xfrm rot="16200000">
            <a:off x="8127558" y="4147980"/>
            <a:ext cx="176338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 b="1" dirty="0">
                <a:solidFill>
                  <a:schemeClr val="accent1">
                    <a:lumMod val="75000"/>
                  </a:schemeClr>
                </a:solidFill>
              </a:rPr>
              <a:t>CHACON</a:t>
            </a:r>
            <a:r>
              <a:rPr lang="pt-BR" sz="900" dirty="0"/>
              <a:t> </a:t>
            </a:r>
            <a:r>
              <a:rPr lang="pt-BR" sz="900" b="1" dirty="0">
                <a:solidFill>
                  <a:schemeClr val="bg1">
                    <a:lumMod val="85000"/>
                  </a:schemeClr>
                </a:solidFill>
              </a:rPr>
              <a:t>|</a:t>
            </a:r>
            <a:r>
              <a:rPr lang="pt-BR" sz="900" dirty="0"/>
              <a:t> </a:t>
            </a:r>
            <a:r>
              <a:rPr lang="pt-BR" sz="900" b="1" dirty="0">
                <a:solidFill>
                  <a:schemeClr val="bg1">
                    <a:lumMod val="65000"/>
                  </a:schemeClr>
                </a:solidFill>
              </a:rPr>
              <a:t>Consultoria Ilimitada</a:t>
            </a:r>
          </a:p>
        </p:txBody>
      </p:sp>
      <p:pic>
        <p:nvPicPr>
          <p:cNvPr id="21" name="Imagem 2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638450" y="1223912"/>
            <a:ext cx="7387235" cy="4156944"/>
          </a:xfrm>
          <a:prstGeom prst="rect">
            <a:avLst/>
          </a:prstGeom>
        </p:spPr>
      </p:pic>
      <p:sp>
        <p:nvSpPr>
          <p:cNvPr id="2" name="Retângulo 1"/>
          <p:cNvSpPr/>
          <p:nvPr/>
        </p:nvSpPr>
        <p:spPr>
          <a:xfrm>
            <a:off x="220280" y="700336"/>
            <a:ext cx="867355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 smtClean="0">
                <a:solidFill>
                  <a:srgbClr val="7030A0"/>
                </a:solidFill>
              </a:rPr>
              <a:t>Exemplo real da incongruência entre processos formalizados e atitudes habituais.</a:t>
            </a:r>
            <a:endParaRPr lang="pt-BR" dirty="0"/>
          </a:p>
        </p:txBody>
      </p:sp>
      <p:grpSp>
        <p:nvGrpSpPr>
          <p:cNvPr id="4" name="Grupo 3"/>
          <p:cNvGrpSpPr/>
          <p:nvPr/>
        </p:nvGrpSpPr>
        <p:grpSpPr>
          <a:xfrm>
            <a:off x="5844337" y="1348408"/>
            <a:ext cx="2947731" cy="3055273"/>
            <a:chOff x="5644500" y="1284351"/>
            <a:chExt cx="3242505" cy="3055273"/>
          </a:xfrm>
        </p:grpSpPr>
        <p:pic>
          <p:nvPicPr>
            <p:cNvPr id="9" name="Imagem 8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644500" y="1500375"/>
              <a:ext cx="3242505" cy="2839249"/>
            </a:xfrm>
            <a:prstGeom prst="rect">
              <a:avLst/>
            </a:prstGeom>
          </p:spPr>
        </p:pic>
        <p:sp>
          <p:nvSpPr>
            <p:cNvPr id="3" name="CaixaDeTexto 2"/>
            <p:cNvSpPr txBox="1"/>
            <p:nvPr/>
          </p:nvSpPr>
          <p:spPr>
            <a:xfrm>
              <a:off x="7254864" y="1284351"/>
              <a:ext cx="163214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pt-BR" sz="1000" dirty="0" smtClean="0">
                  <a:solidFill>
                    <a:srgbClr val="C00000"/>
                  </a:solidFill>
                </a:rPr>
                <a:t>WhatsApp em 19/06/15</a:t>
              </a:r>
              <a:endParaRPr lang="pt-BR" sz="1000" dirty="0">
                <a:solidFill>
                  <a:srgbClr val="C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04329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8" descr="NAT_marca_branca_natura-01.png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0432" y="19878"/>
            <a:ext cx="576000" cy="57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CaixaDeTexto 5"/>
          <p:cNvSpPr txBox="1"/>
          <p:nvPr/>
        </p:nvSpPr>
        <p:spPr>
          <a:xfrm>
            <a:off x="-1" y="2"/>
            <a:ext cx="9144001" cy="646331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O que entendemos</a:t>
            </a:r>
          </a:p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Atitudes e Expectativas</a:t>
            </a:r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Light" pitchFamily="34" charset="0"/>
            </a:endParaRPr>
          </a:p>
        </p:txBody>
      </p:sp>
      <p:sp>
        <p:nvSpPr>
          <p:cNvPr id="8" name="CaixaDeTexto 7"/>
          <p:cNvSpPr txBox="1"/>
          <p:nvPr/>
        </p:nvSpPr>
        <p:spPr>
          <a:xfrm rot="16200000">
            <a:off x="8127558" y="4147980"/>
            <a:ext cx="176338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 b="1" dirty="0">
                <a:solidFill>
                  <a:schemeClr val="accent1">
                    <a:lumMod val="75000"/>
                  </a:schemeClr>
                </a:solidFill>
              </a:rPr>
              <a:t>CHACON</a:t>
            </a:r>
            <a:r>
              <a:rPr lang="pt-BR" sz="900" dirty="0"/>
              <a:t> </a:t>
            </a:r>
            <a:r>
              <a:rPr lang="pt-BR" sz="900" b="1" dirty="0">
                <a:solidFill>
                  <a:schemeClr val="bg1">
                    <a:lumMod val="85000"/>
                  </a:schemeClr>
                </a:solidFill>
              </a:rPr>
              <a:t>|</a:t>
            </a:r>
            <a:r>
              <a:rPr lang="pt-BR" sz="900" dirty="0"/>
              <a:t> </a:t>
            </a:r>
            <a:r>
              <a:rPr lang="pt-BR" sz="900" b="1" dirty="0">
                <a:solidFill>
                  <a:schemeClr val="bg1">
                    <a:lumMod val="65000"/>
                  </a:schemeClr>
                </a:solidFill>
              </a:rPr>
              <a:t>Consultoria Ilimitada</a:t>
            </a:r>
          </a:p>
        </p:txBody>
      </p:sp>
      <p:pic>
        <p:nvPicPr>
          <p:cNvPr id="2058" name="Picture 10" descr="http://www.catho.com.br/carreira-sucesso/wp-content/uploads/2014/03/comportamento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988368"/>
            <a:ext cx="3852456" cy="38157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 descr="http://blog.maisestudo.com.br/wp-content/uploads/2011/12/metas-profissionais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0687" y="988368"/>
            <a:ext cx="4032460" cy="38157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024732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8" descr="NAT_marca_branca_natura-01.png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0432" y="19878"/>
            <a:ext cx="576000" cy="57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CaixaDeTexto 5"/>
          <p:cNvSpPr txBox="1"/>
          <p:nvPr/>
        </p:nvSpPr>
        <p:spPr>
          <a:xfrm>
            <a:off x="-1" y="2"/>
            <a:ext cx="9144001" cy="646331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O que </a:t>
            </a:r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entendemos</a:t>
            </a:r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Light" pitchFamily="34" charset="0"/>
            </a:endParaRPr>
          </a:p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Atitudes</a:t>
            </a:r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Light" pitchFamily="34" charset="0"/>
            </a:endParaRPr>
          </a:p>
        </p:txBody>
      </p:sp>
      <p:sp>
        <p:nvSpPr>
          <p:cNvPr id="8" name="CaixaDeTexto 7"/>
          <p:cNvSpPr txBox="1"/>
          <p:nvPr/>
        </p:nvSpPr>
        <p:spPr>
          <a:xfrm rot="16200000">
            <a:off x="8127558" y="4147980"/>
            <a:ext cx="176338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 b="1" dirty="0">
                <a:solidFill>
                  <a:schemeClr val="accent1">
                    <a:lumMod val="75000"/>
                  </a:schemeClr>
                </a:solidFill>
              </a:rPr>
              <a:t>CHACON</a:t>
            </a:r>
            <a:r>
              <a:rPr lang="pt-BR" sz="900" dirty="0"/>
              <a:t> </a:t>
            </a:r>
            <a:r>
              <a:rPr lang="pt-BR" sz="900" b="1" dirty="0">
                <a:solidFill>
                  <a:schemeClr val="bg1">
                    <a:lumMod val="85000"/>
                  </a:schemeClr>
                </a:solidFill>
              </a:rPr>
              <a:t>|</a:t>
            </a:r>
            <a:r>
              <a:rPr lang="pt-BR" sz="900" dirty="0"/>
              <a:t> </a:t>
            </a:r>
            <a:r>
              <a:rPr lang="pt-BR" sz="900" b="1" dirty="0">
                <a:solidFill>
                  <a:schemeClr val="bg1">
                    <a:lumMod val="65000"/>
                  </a:schemeClr>
                </a:solidFill>
              </a:rPr>
              <a:t>Consultoria Ilimitada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336422" y="700336"/>
            <a:ext cx="3999398" cy="4462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Clr>
                <a:srgbClr val="7030A0"/>
              </a:buClr>
              <a:buSzPct val="50000"/>
            </a:pPr>
            <a:r>
              <a:rPr lang="pt-BR" b="1" dirty="0" smtClean="0">
                <a:solidFill>
                  <a:schemeClr val="accent3">
                    <a:lumMod val="50000"/>
                  </a:schemeClr>
                </a:solidFill>
              </a:rPr>
              <a:t>Por um lado	</a:t>
            </a:r>
            <a:endParaRPr lang="pt-BR" sz="1400" dirty="0" smtClean="0">
              <a:solidFill>
                <a:schemeClr val="accent3">
                  <a:lumMod val="50000"/>
                </a:schemeClr>
              </a:solidFill>
            </a:endParaRPr>
          </a:p>
          <a:p>
            <a:pPr marL="358775" indent="-358775" algn="just">
              <a:buClr>
                <a:srgbClr val="7030A0"/>
              </a:buClr>
              <a:buSzPct val="50000"/>
              <a:buFont typeface="Wingdings" panose="05000000000000000000" pitchFamily="2" charset="2"/>
              <a:buChar char="§"/>
            </a:pPr>
            <a:endParaRPr lang="pt-BR" sz="1400" b="1" dirty="0" smtClean="0">
              <a:solidFill>
                <a:schemeClr val="accent3">
                  <a:lumMod val="50000"/>
                </a:schemeClr>
              </a:solidFill>
            </a:endParaRPr>
          </a:p>
          <a:p>
            <a:pPr marL="358775" indent="-358775" algn="just">
              <a:buClr>
                <a:srgbClr val="7030A0"/>
              </a:buClr>
              <a:buSzPct val="50000"/>
              <a:buFont typeface="Wingdings" panose="05000000000000000000" pitchFamily="2" charset="2"/>
              <a:buChar char="§"/>
            </a:pPr>
            <a:r>
              <a:rPr lang="pt-BR" sz="1400" b="1" dirty="0" smtClean="0">
                <a:solidFill>
                  <a:schemeClr val="accent3">
                    <a:lumMod val="50000"/>
                  </a:schemeClr>
                </a:solidFill>
              </a:rPr>
              <a:t>Vontade</a:t>
            </a:r>
            <a:r>
              <a:rPr lang="pt-BR" sz="1400" dirty="0" smtClean="0">
                <a:solidFill>
                  <a:schemeClr val="accent3">
                    <a:lumMod val="50000"/>
                  </a:schemeClr>
                </a:solidFill>
              </a:rPr>
              <a:t>: todos os entrevistados – formal ou informalmente – manifestaram seu desejo de que as coisas mudem, rápido. Há um consenso sobre a necessidade de mudanças.</a:t>
            </a:r>
          </a:p>
          <a:p>
            <a:pPr marL="358775" indent="-358775" algn="just">
              <a:buClr>
                <a:srgbClr val="7030A0"/>
              </a:buClr>
              <a:buSzPct val="50000"/>
              <a:buFont typeface="Wingdings" panose="05000000000000000000" pitchFamily="2" charset="2"/>
              <a:buChar char="§"/>
            </a:pPr>
            <a:endParaRPr lang="pt-BR" sz="1400" dirty="0">
              <a:solidFill>
                <a:schemeClr val="accent3">
                  <a:lumMod val="50000"/>
                </a:schemeClr>
              </a:solidFill>
            </a:endParaRPr>
          </a:p>
          <a:p>
            <a:pPr marL="358775" indent="-358775" algn="just">
              <a:buClr>
                <a:srgbClr val="7030A0"/>
              </a:buClr>
              <a:buSzPct val="50000"/>
              <a:buFont typeface="Wingdings" panose="05000000000000000000" pitchFamily="2" charset="2"/>
              <a:buChar char="§"/>
            </a:pPr>
            <a:r>
              <a:rPr lang="pt-BR" sz="1400" b="1" dirty="0" smtClean="0">
                <a:solidFill>
                  <a:schemeClr val="accent3">
                    <a:lumMod val="50000"/>
                  </a:schemeClr>
                </a:solidFill>
              </a:rPr>
              <a:t>Comprometimento</a:t>
            </a:r>
            <a:r>
              <a:rPr lang="pt-BR" sz="1400" dirty="0" smtClean="0">
                <a:solidFill>
                  <a:schemeClr val="accent3">
                    <a:lumMod val="50000"/>
                  </a:schemeClr>
                </a:solidFill>
              </a:rPr>
              <a:t>: a maioria dos profissionais, quando provocados, demonstram seu comprometimento com ações para melhoria dos processos da TD em benefício da Natura, reconhecendo a necessidade de maior disciplina e responsabilidade.</a:t>
            </a:r>
          </a:p>
          <a:p>
            <a:pPr marL="358775" indent="-358775" algn="just">
              <a:buClr>
                <a:srgbClr val="7030A0"/>
              </a:buClr>
              <a:buSzPct val="50000"/>
              <a:buFont typeface="Wingdings" panose="05000000000000000000" pitchFamily="2" charset="2"/>
              <a:buChar char="§"/>
            </a:pPr>
            <a:endParaRPr lang="pt-BR" sz="1400" dirty="0">
              <a:solidFill>
                <a:schemeClr val="accent3">
                  <a:lumMod val="50000"/>
                </a:schemeClr>
              </a:solidFill>
            </a:endParaRPr>
          </a:p>
          <a:p>
            <a:pPr marL="358775" indent="-358775" algn="just">
              <a:buClr>
                <a:srgbClr val="7030A0"/>
              </a:buClr>
              <a:buSzPct val="50000"/>
              <a:buFont typeface="Wingdings" panose="05000000000000000000" pitchFamily="2" charset="2"/>
              <a:buChar char="§"/>
            </a:pPr>
            <a:r>
              <a:rPr lang="pt-BR" sz="1400" b="1" dirty="0" smtClean="0">
                <a:solidFill>
                  <a:schemeClr val="accent3">
                    <a:lumMod val="50000"/>
                  </a:schemeClr>
                </a:solidFill>
              </a:rPr>
              <a:t>Iniciativa</a:t>
            </a:r>
            <a:r>
              <a:rPr lang="pt-BR" sz="1400" dirty="0" smtClean="0">
                <a:solidFill>
                  <a:schemeClr val="accent3">
                    <a:lumMod val="50000"/>
                  </a:schemeClr>
                </a:solidFill>
              </a:rPr>
              <a:t>: há muitas ações em andamento que são fruto da iniciativa individual de alguns profissionais, caracterizando uma busca por alternativas que favoreçam a melhoria do trabalho e a sustentação aos serviços do  negócio.</a:t>
            </a:r>
            <a:endParaRPr lang="pt-BR" sz="1400" b="1" dirty="0" smtClean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9" name="CaixaDeTexto 8"/>
          <p:cNvSpPr txBox="1"/>
          <p:nvPr/>
        </p:nvSpPr>
        <p:spPr>
          <a:xfrm>
            <a:off x="4677058" y="705434"/>
            <a:ext cx="3999398" cy="4462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Clr>
                <a:srgbClr val="7030A0"/>
              </a:buClr>
              <a:buSzPct val="50000"/>
            </a:pPr>
            <a:r>
              <a:rPr lang="pt-BR" b="1" dirty="0" smtClean="0">
                <a:solidFill>
                  <a:srgbClr val="C00000"/>
                </a:solidFill>
              </a:rPr>
              <a:t>Por outro lado</a:t>
            </a:r>
            <a:endParaRPr lang="pt-BR" sz="1400" dirty="0" smtClean="0">
              <a:solidFill>
                <a:srgbClr val="C00000"/>
              </a:solidFill>
            </a:endParaRPr>
          </a:p>
          <a:p>
            <a:pPr marL="358775" indent="-358775" algn="just">
              <a:buClr>
                <a:srgbClr val="7030A0"/>
              </a:buClr>
              <a:buSzPct val="50000"/>
              <a:buFont typeface="Wingdings" panose="05000000000000000000" pitchFamily="2" charset="2"/>
              <a:buChar char="§"/>
            </a:pPr>
            <a:endParaRPr lang="pt-BR" sz="1400" b="1" dirty="0" smtClean="0">
              <a:solidFill>
                <a:srgbClr val="C00000"/>
              </a:solidFill>
            </a:endParaRPr>
          </a:p>
          <a:p>
            <a:pPr marL="358775" indent="-358775" algn="just">
              <a:buClr>
                <a:srgbClr val="7030A0"/>
              </a:buClr>
              <a:buSzPct val="50000"/>
              <a:buFont typeface="Wingdings" panose="05000000000000000000" pitchFamily="2" charset="2"/>
              <a:buChar char="§"/>
            </a:pPr>
            <a:r>
              <a:rPr lang="pt-BR" sz="1400" b="1" dirty="0">
                <a:solidFill>
                  <a:srgbClr val="C00000"/>
                </a:solidFill>
              </a:rPr>
              <a:t>Tristeza </a:t>
            </a:r>
            <a:r>
              <a:rPr lang="pt-BR" sz="1400" b="1" dirty="0" smtClean="0">
                <a:solidFill>
                  <a:srgbClr val="C00000"/>
                </a:solidFill>
              </a:rPr>
              <a:t>(ou cansaço): </a:t>
            </a:r>
            <a:r>
              <a:rPr lang="pt-BR" sz="1400" dirty="0" smtClean="0">
                <a:solidFill>
                  <a:srgbClr val="C00000"/>
                </a:solidFill>
              </a:rPr>
              <a:t>muitos suspiros </a:t>
            </a:r>
            <a:r>
              <a:rPr lang="pt-BR" sz="1400" dirty="0">
                <a:solidFill>
                  <a:srgbClr val="C00000"/>
                </a:solidFill>
              </a:rPr>
              <a:t>e lamentos, declarações de </a:t>
            </a:r>
            <a:r>
              <a:rPr lang="pt-BR" sz="1400" dirty="0" smtClean="0">
                <a:solidFill>
                  <a:srgbClr val="C00000"/>
                </a:solidFill>
              </a:rPr>
              <a:t>desesperança e ceticismo indicam </a:t>
            </a:r>
            <a:r>
              <a:rPr lang="pt-BR" sz="1400" dirty="0">
                <a:solidFill>
                  <a:srgbClr val="C00000"/>
                </a:solidFill>
              </a:rPr>
              <a:t>um esgotamento de </a:t>
            </a:r>
            <a:r>
              <a:rPr lang="pt-BR" sz="1400" dirty="0" smtClean="0">
                <a:solidFill>
                  <a:srgbClr val="C00000"/>
                </a:solidFill>
              </a:rPr>
              <a:t>forças. Qualquer esforço perece inútil?</a:t>
            </a:r>
          </a:p>
          <a:p>
            <a:pPr marL="358775" indent="-358775" algn="just">
              <a:buClr>
                <a:srgbClr val="7030A0"/>
              </a:buClr>
              <a:buSzPct val="50000"/>
              <a:buFont typeface="Wingdings" panose="05000000000000000000" pitchFamily="2" charset="2"/>
              <a:buChar char="§"/>
            </a:pPr>
            <a:endParaRPr lang="pt-BR" sz="1400" b="1" dirty="0">
              <a:solidFill>
                <a:srgbClr val="C00000"/>
              </a:solidFill>
            </a:endParaRPr>
          </a:p>
          <a:p>
            <a:pPr marL="358775" indent="-358775" algn="just">
              <a:buClr>
                <a:srgbClr val="7030A0"/>
              </a:buClr>
              <a:buSzPct val="50000"/>
              <a:buFont typeface="Wingdings" panose="05000000000000000000" pitchFamily="2" charset="2"/>
              <a:buChar char="§"/>
            </a:pPr>
            <a:r>
              <a:rPr lang="pt-BR" sz="1400" b="1" dirty="0" smtClean="0">
                <a:solidFill>
                  <a:srgbClr val="C00000"/>
                </a:solidFill>
              </a:rPr>
              <a:t>Medo</a:t>
            </a:r>
            <a:r>
              <a:rPr lang="pt-BR" sz="1400" dirty="0" smtClean="0">
                <a:solidFill>
                  <a:srgbClr val="C00000"/>
                </a:solidFill>
              </a:rPr>
              <a:t>: </a:t>
            </a:r>
            <a:r>
              <a:rPr lang="pt-BR" sz="1400" dirty="0">
                <a:solidFill>
                  <a:srgbClr val="C00000"/>
                </a:solidFill>
              </a:rPr>
              <a:t>um ambiente tenso, com muitos incidentes críticos, parece ter deixado muitos profissionais assustados e com uma clara tendência a buscar um culpado (processo, área ou mesmo pessoa) e não uma </a:t>
            </a:r>
            <a:r>
              <a:rPr lang="pt-BR" sz="1400" dirty="0" smtClean="0">
                <a:solidFill>
                  <a:srgbClr val="C00000"/>
                </a:solidFill>
              </a:rPr>
              <a:t>razão para eventuais falhas. O individualismo impera?</a:t>
            </a:r>
          </a:p>
          <a:p>
            <a:pPr marL="358775" indent="-358775" algn="just">
              <a:buClr>
                <a:srgbClr val="7030A0"/>
              </a:buClr>
              <a:buSzPct val="50000"/>
              <a:buFont typeface="Wingdings" panose="05000000000000000000" pitchFamily="2" charset="2"/>
              <a:buChar char="§"/>
            </a:pPr>
            <a:endParaRPr lang="pt-BR" sz="1400" b="1" dirty="0">
              <a:solidFill>
                <a:srgbClr val="C00000"/>
              </a:solidFill>
            </a:endParaRPr>
          </a:p>
          <a:p>
            <a:pPr marL="358775" indent="-358775" algn="just">
              <a:buClr>
                <a:srgbClr val="7030A0"/>
              </a:buClr>
              <a:buSzPct val="50000"/>
              <a:buFont typeface="Wingdings" panose="05000000000000000000" pitchFamily="2" charset="2"/>
              <a:buChar char="§"/>
            </a:pPr>
            <a:r>
              <a:rPr lang="pt-BR" sz="1400" b="1" dirty="0" smtClean="0">
                <a:solidFill>
                  <a:srgbClr val="C00000"/>
                </a:solidFill>
              </a:rPr>
              <a:t>Frustração</a:t>
            </a:r>
            <a:r>
              <a:rPr lang="pt-BR" sz="1400" dirty="0" smtClean="0">
                <a:solidFill>
                  <a:srgbClr val="C00000"/>
                </a:solidFill>
              </a:rPr>
              <a:t>: </a:t>
            </a:r>
            <a:r>
              <a:rPr lang="pt-BR" sz="1400" dirty="0">
                <a:solidFill>
                  <a:srgbClr val="C00000"/>
                </a:solidFill>
              </a:rPr>
              <a:t>há profissionais que parecem não se </a:t>
            </a:r>
            <a:r>
              <a:rPr lang="pt-BR" sz="1400" dirty="0" smtClean="0">
                <a:solidFill>
                  <a:srgbClr val="C00000"/>
                </a:solidFill>
              </a:rPr>
              <a:t>sentir parte da </a:t>
            </a:r>
            <a:r>
              <a:rPr lang="pt-BR" sz="1400" dirty="0">
                <a:solidFill>
                  <a:srgbClr val="C00000"/>
                </a:solidFill>
              </a:rPr>
              <a:t>TD. Não se </a:t>
            </a:r>
            <a:r>
              <a:rPr lang="pt-BR" sz="1400" dirty="0" smtClean="0">
                <a:solidFill>
                  <a:srgbClr val="C00000"/>
                </a:solidFill>
              </a:rPr>
              <a:t>acham reconhecidos pelas </a:t>
            </a:r>
            <a:r>
              <a:rPr lang="pt-BR" sz="1400" dirty="0">
                <a:solidFill>
                  <a:srgbClr val="C00000"/>
                </a:solidFill>
              </a:rPr>
              <a:t>estruturas hierárquicas tradicionais. Parece – não apuramos – </a:t>
            </a:r>
            <a:r>
              <a:rPr lang="pt-BR" sz="1400" dirty="0" smtClean="0">
                <a:solidFill>
                  <a:srgbClr val="C00000"/>
                </a:solidFill>
              </a:rPr>
              <a:t>haver uma </a:t>
            </a:r>
            <a:r>
              <a:rPr lang="pt-BR" sz="1400" dirty="0">
                <a:solidFill>
                  <a:srgbClr val="C00000"/>
                </a:solidFill>
              </a:rPr>
              <a:t>orientação </a:t>
            </a:r>
            <a:r>
              <a:rPr lang="pt-BR" sz="1400" dirty="0" smtClean="0">
                <a:solidFill>
                  <a:srgbClr val="C00000"/>
                </a:solidFill>
              </a:rPr>
              <a:t>para não correr riscos, não ousar. Qual é o objetivo, sobreviver?</a:t>
            </a:r>
            <a:endParaRPr lang="pt-BR" sz="14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5485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8" descr="NAT_marca_branca_natura-01.png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0432" y="19878"/>
            <a:ext cx="576000" cy="57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CaixaDeTexto 5"/>
          <p:cNvSpPr txBox="1"/>
          <p:nvPr/>
        </p:nvSpPr>
        <p:spPr>
          <a:xfrm>
            <a:off x="-1" y="-15288"/>
            <a:ext cx="9144001" cy="646331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O que </a:t>
            </a:r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entendemos</a:t>
            </a:r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Light" pitchFamily="34" charset="0"/>
            </a:endParaRPr>
          </a:p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Expectativas</a:t>
            </a:r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Light" pitchFamily="34" charset="0"/>
            </a:endParaRPr>
          </a:p>
        </p:txBody>
      </p:sp>
      <p:sp>
        <p:nvSpPr>
          <p:cNvPr id="8" name="CaixaDeTexto 7"/>
          <p:cNvSpPr txBox="1"/>
          <p:nvPr/>
        </p:nvSpPr>
        <p:spPr>
          <a:xfrm rot="16200000">
            <a:off x="8127558" y="4147980"/>
            <a:ext cx="176338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 b="1" dirty="0">
                <a:solidFill>
                  <a:schemeClr val="accent1">
                    <a:lumMod val="75000"/>
                  </a:schemeClr>
                </a:solidFill>
              </a:rPr>
              <a:t>CHACON</a:t>
            </a:r>
            <a:r>
              <a:rPr lang="pt-BR" sz="900" dirty="0"/>
              <a:t> </a:t>
            </a:r>
            <a:r>
              <a:rPr lang="pt-BR" sz="900" b="1" dirty="0">
                <a:solidFill>
                  <a:schemeClr val="bg1">
                    <a:lumMod val="85000"/>
                  </a:schemeClr>
                </a:solidFill>
              </a:rPr>
              <a:t>|</a:t>
            </a:r>
            <a:r>
              <a:rPr lang="pt-BR" sz="900" dirty="0"/>
              <a:t> </a:t>
            </a:r>
            <a:r>
              <a:rPr lang="pt-BR" sz="900" b="1" dirty="0">
                <a:solidFill>
                  <a:schemeClr val="bg1">
                    <a:lumMod val="65000"/>
                  </a:schemeClr>
                </a:solidFill>
              </a:rPr>
              <a:t>Consultoria Ilimitada</a:t>
            </a:r>
          </a:p>
        </p:txBody>
      </p:sp>
      <p:graphicFrame>
        <p:nvGraphicFramePr>
          <p:cNvPr id="10" name="Gráfico 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21779467"/>
              </p:ext>
            </p:extLst>
          </p:nvPr>
        </p:nvGraphicFramePr>
        <p:xfrm>
          <a:off x="1353096" y="1277559"/>
          <a:ext cx="6437806" cy="398009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1" name="CaixaDeTexto 10"/>
          <p:cNvSpPr txBox="1"/>
          <p:nvPr/>
        </p:nvSpPr>
        <p:spPr>
          <a:xfrm>
            <a:off x="107504" y="700336"/>
            <a:ext cx="87129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Clr>
                <a:srgbClr val="7030A0"/>
              </a:buClr>
              <a:buSzPct val="50000"/>
            </a:pPr>
            <a:r>
              <a:rPr lang="pt-BR" sz="1400" dirty="0" smtClean="0">
                <a:solidFill>
                  <a:srgbClr val="7030A0"/>
                </a:solidFill>
              </a:rPr>
              <a:t>Provocados a optar por uma única ação – sem quaisquer limitações de autoridade, orçamento, viabilidade ou esforço – os entrevistados manifestaram suas expectativas de melhorias imediatas. São estes os resultados consolidados:</a:t>
            </a:r>
          </a:p>
        </p:txBody>
      </p:sp>
    </p:spTree>
    <p:extLst>
      <p:ext uri="{BB962C8B-B14F-4D97-AF65-F5344CB8AC3E}">
        <p14:creationId xmlns:p14="http://schemas.microsoft.com/office/powerpoint/2010/main" val="35672156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0" grpId="0">
        <p:bldAsOne/>
      </p:bldGraphic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8" descr="NAT_marca_branca_natura-01.png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0432" y="19878"/>
            <a:ext cx="576000" cy="57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CaixaDeTexto 5"/>
          <p:cNvSpPr txBox="1"/>
          <p:nvPr/>
        </p:nvSpPr>
        <p:spPr>
          <a:xfrm>
            <a:off x="-1" y="2"/>
            <a:ext cx="9144001" cy="646331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O que entendemos</a:t>
            </a:r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Light" pitchFamily="34" charset="0"/>
            </a:endParaRPr>
          </a:p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Expectativas</a:t>
            </a:r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Light" pitchFamily="34" charset="0"/>
            </a:endParaRPr>
          </a:p>
        </p:txBody>
      </p:sp>
      <p:sp>
        <p:nvSpPr>
          <p:cNvPr id="8" name="CaixaDeTexto 7"/>
          <p:cNvSpPr txBox="1"/>
          <p:nvPr/>
        </p:nvSpPr>
        <p:spPr>
          <a:xfrm rot="16200000">
            <a:off x="8127558" y="4147980"/>
            <a:ext cx="176338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 b="1" dirty="0">
                <a:solidFill>
                  <a:schemeClr val="accent1">
                    <a:lumMod val="75000"/>
                  </a:schemeClr>
                </a:solidFill>
              </a:rPr>
              <a:t>CHACON</a:t>
            </a:r>
            <a:r>
              <a:rPr lang="pt-BR" sz="900" dirty="0"/>
              <a:t> </a:t>
            </a:r>
            <a:r>
              <a:rPr lang="pt-BR" sz="900" b="1" dirty="0">
                <a:solidFill>
                  <a:schemeClr val="bg1">
                    <a:lumMod val="85000"/>
                  </a:schemeClr>
                </a:solidFill>
              </a:rPr>
              <a:t>|</a:t>
            </a:r>
            <a:r>
              <a:rPr lang="pt-BR" sz="900" dirty="0"/>
              <a:t> </a:t>
            </a:r>
            <a:r>
              <a:rPr lang="pt-BR" sz="900" b="1" dirty="0">
                <a:solidFill>
                  <a:schemeClr val="bg1">
                    <a:lumMod val="65000"/>
                  </a:schemeClr>
                </a:solidFill>
              </a:rPr>
              <a:t>Consultoria Ilimitada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336422" y="773499"/>
            <a:ext cx="8340034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Clr>
                <a:srgbClr val="7030A0"/>
              </a:buClr>
              <a:buSzPct val="50000"/>
            </a:pPr>
            <a:r>
              <a:rPr lang="pt-BR" b="1" dirty="0" smtClean="0">
                <a:solidFill>
                  <a:schemeClr val="accent4"/>
                </a:solidFill>
              </a:rPr>
              <a:t>Papéis e Responsabilidades</a:t>
            </a:r>
            <a:endParaRPr lang="pt-BR" sz="1400" dirty="0" smtClean="0">
              <a:solidFill>
                <a:schemeClr val="accent4"/>
              </a:solidFill>
            </a:endParaRPr>
          </a:p>
          <a:p>
            <a:pPr marL="358775" indent="-358775" algn="just">
              <a:buClr>
                <a:srgbClr val="7030A0"/>
              </a:buClr>
              <a:buSzPct val="50000"/>
              <a:buFont typeface="Wingdings" panose="05000000000000000000" pitchFamily="2" charset="2"/>
              <a:buChar char="§"/>
            </a:pPr>
            <a:r>
              <a:rPr lang="pt-BR" sz="1400" dirty="0" smtClean="0">
                <a:solidFill>
                  <a:schemeClr val="accent4"/>
                </a:solidFill>
              </a:rPr>
              <a:t>Aspecto mais comum, representando cerca de 38% das manifestações, a revisão de Papéis e Responsabilidades em geral – e para o(a) GRP e a Governança em particular – evidencia e corrobora as hipóteses de ausência de donos, favorecendo dúvidas e comportamentos inadequados nos profissionais, além de inviabilizar a melhor dinâmica para os processos, notadamente aqueles do Metrô de Processos.</a:t>
            </a:r>
          </a:p>
          <a:p>
            <a:pPr marL="358775" indent="-358775" algn="just">
              <a:buClr>
                <a:srgbClr val="7030A0"/>
              </a:buClr>
              <a:buSzPct val="50000"/>
              <a:buFont typeface="Wingdings" panose="05000000000000000000" pitchFamily="2" charset="2"/>
              <a:buChar char="§"/>
            </a:pPr>
            <a:r>
              <a:rPr lang="pt-BR" sz="1400" dirty="0" smtClean="0">
                <a:solidFill>
                  <a:schemeClr val="accent4"/>
                </a:solidFill>
              </a:rPr>
              <a:t>Há que se destacar que a metade das manifestações fez referência explícita a GRP e Governança, o que caracteriza o reconhecimento dos papéis e de sua relevância para a melhoria dos serviços da TD.</a:t>
            </a:r>
          </a:p>
          <a:p>
            <a:pPr marL="358775" indent="-358775" algn="just">
              <a:buClr>
                <a:srgbClr val="7030A0"/>
              </a:buClr>
              <a:buSzPct val="50000"/>
              <a:buFont typeface="Wingdings" panose="05000000000000000000" pitchFamily="2" charset="2"/>
              <a:buChar char="§"/>
            </a:pPr>
            <a:endParaRPr lang="pt-BR" sz="1000" dirty="0">
              <a:solidFill>
                <a:schemeClr val="accent4"/>
              </a:solidFill>
            </a:endParaRPr>
          </a:p>
          <a:p>
            <a:pPr algn="just">
              <a:buClr>
                <a:srgbClr val="7030A0"/>
              </a:buClr>
              <a:buSzPct val="50000"/>
            </a:pPr>
            <a:r>
              <a:rPr lang="pt-BR" b="1" dirty="0" smtClean="0">
                <a:solidFill>
                  <a:schemeClr val="accent4"/>
                </a:solidFill>
              </a:rPr>
              <a:t>Processos</a:t>
            </a:r>
          </a:p>
          <a:p>
            <a:pPr marL="358775" indent="-358775" algn="just">
              <a:buClr>
                <a:srgbClr val="7030A0"/>
              </a:buClr>
              <a:buSzPct val="50000"/>
              <a:buFont typeface="Wingdings" panose="05000000000000000000" pitchFamily="2" charset="2"/>
              <a:buChar char="§"/>
            </a:pPr>
            <a:r>
              <a:rPr lang="pt-BR" sz="1400" dirty="0">
                <a:solidFill>
                  <a:schemeClr val="accent4"/>
                </a:solidFill>
              </a:rPr>
              <a:t>Qualidade em Projetos, Revisão de Processos e Treinamento </a:t>
            </a:r>
            <a:r>
              <a:rPr lang="pt-BR" sz="1400" dirty="0" smtClean="0">
                <a:solidFill>
                  <a:schemeClr val="accent4"/>
                </a:solidFill>
              </a:rPr>
              <a:t>e </a:t>
            </a:r>
            <a:r>
              <a:rPr lang="pt-BR" sz="1400" dirty="0">
                <a:solidFill>
                  <a:schemeClr val="accent4"/>
                </a:solidFill>
              </a:rPr>
              <a:t>Indicadores para </a:t>
            </a:r>
            <a:r>
              <a:rPr lang="pt-BR" sz="1400" dirty="0" smtClean="0">
                <a:solidFill>
                  <a:schemeClr val="accent4"/>
                </a:solidFill>
              </a:rPr>
              <a:t>Gestão compõem o segundo grupo mais presente nas expectativas, totalizando 21%, o que caracteriza o desejo por uma melhor orquestração dos processos que determinam as dinâmicas de trabalho e a qualidade resultante.</a:t>
            </a:r>
          </a:p>
          <a:p>
            <a:pPr marL="358775" indent="-358775" algn="just">
              <a:buClr>
                <a:srgbClr val="7030A0"/>
              </a:buClr>
              <a:buSzPct val="50000"/>
              <a:buFont typeface="Wingdings" panose="05000000000000000000" pitchFamily="2" charset="2"/>
              <a:buChar char="§"/>
            </a:pPr>
            <a:r>
              <a:rPr lang="pt-BR" sz="1400" dirty="0" smtClean="0">
                <a:solidFill>
                  <a:schemeClr val="accent4"/>
                </a:solidFill>
              </a:rPr>
              <a:t>Observa-se que os Indicadores para Gestão foram considerados de forma autônoma, sem relação direta com a Revisão dos Processos, indicando a necessidade de orientação e </a:t>
            </a:r>
            <a:r>
              <a:rPr lang="pt-BR" sz="1400" i="1" dirty="0" smtClean="0">
                <a:solidFill>
                  <a:schemeClr val="accent4"/>
                </a:solidFill>
              </a:rPr>
              <a:t>feedback</a:t>
            </a:r>
            <a:r>
              <a:rPr lang="pt-BR" sz="1400" dirty="0" smtClean="0">
                <a:solidFill>
                  <a:schemeClr val="accent4"/>
                </a:solidFill>
              </a:rPr>
              <a:t>.</a:t>
            </a:r>
          </a:p>
          <a:p>
            <a:pPr marL="358775" indent="-358775" algn="just">
              <a:buClr>
                <a:srgbClr val="7030A0"/>
              </a:buClr>
              <a:buSzPct val="50000"/>
              <a:buFont typeface="Wingdings" panose="05000000000000000000" pitchFamily="2" charset="2"/>
              <a:buChar char="§"/>
            </a:pPr>
            <a:endParaRPr lang="pt-BR" sz="1000" dirty="0">
              <a:solidFill>
                <a:schemeClr val="accent4"/>
              </a:solidFill>
            </a:endParaRPr>
          </a:p>
          <a:p>
            <a:pPr algn="just">
              <a:buClr>
                <a:srgbClr val="7030A0"/>
              </a:buClr>
              <a:buSzPct val="50000"/>
            </a:pPr>
            <a:r>
              <a:rPr lang="pt-BR" b="1" dirty="0" smtClean="0">
                <a:solidFill>
                  <a:schemeClr val="accent4"/>
                </a:solidFill>
              </a:rPr>
              <a:t>Estabilidade</a:t>
            </a:r>
            <a:endParaRPr lang="pt-BR" b="1" dirty="0">
              <a:solidFill>
                <a:schemeClr val="accent4"/>
              </a:solidFill>
            </a:endParaRPr>
          </a:p>
          <a:p>
            <a:pPr marL="358775" indent="-358775" algn="just">
              <a:buClr>
                <a:srgbClr val="7030A0"/>
              </a:buClr>
              <a:buSzPct val="50000"/>
              <a:buFont typeface="Wingdings" panose="05000000000000000000" pitchFamily="2" charset="2"/>
              <a:buChar char="§"/>
            </a:pPr>
            <a:r>
              <a:rPr lang="pt-BR" sz="1400" dirty="0" smtClean="0">
                <a:solidFill>
                  <a:schemeClr val="accent4"/>
                </a:solidFill>
              </a:rPr>
              <a:t>Eficácia em Problemas e Estabilização do Ambiente juntos somam 8% das manifestações e indicam a exaustão, pois podendo optar por qualquer coisa, quatro profissionais manifestaram-se pela estabilização dos serviços antes de qualquer outra melhoria. São efeitos, mas emergem como premissas para melhoria.</a:t>
            </a:r>
            <a:endParaRPr lang="pt-BR" sz="14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8517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8" descr="NAT_marca_branca_natura-01.png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0432" y="19878"/>
            <a:ext cx="576000" cy="57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CaixaDeTexto 5"/>
          <p:cNvSpPr txBox="1"/>
          <p:nvPr/>
        </p:nvSpPr>
        <p:spPr>
          <a:xfrm>
            <a:off x="-1" y="2"/>
            <a:ext cx="9144001" cy="646331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O que entendemos</a:t>
            </a:r>
          </a:p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Análise de SWOT</a:t>
            </a:r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Light" pitchFamily="34" charset="0"/>
            </a:endParaRPr>
          </a:p>
        </p:txBody>
      </p:sp>
      <p:sp>
        <p:nvSpPr>
          <p:cNvPr id="8" name="CaixaDeTexto 7"/>
          <p:cNvSpPr txBox="1"/>
          <p:nvPr/>
        </p:nvSpPr>
        <p:spPr>
          <a:xfrm rot="16200000">
            <a:off x="8127558" y="4147980"/>
            <a:ext cx="176338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 b="1" dirty="0">
                <a:solidFill>
                  <a:schemeClr val="accent1">
                    <a:lumMod val="75000"/>
                  </a:schemeClr>
                </a:solidFill>
              </a:rPr>
              <a:t>CHACON</a:t>
            </a:r>
            <a:r>
              <a:rPr lang="pt-BR" sz="900" dirty="0"/>
              <a:t> </a:t>
            </a:r>
            <a:r>
              <a:rPr lang="pt-BR" sz="900" b="1" dirty="0">
                <a:solidFill>
                  <a:schemeClr val="bg1">
                    <a:lumMod val="85000"/>
                  </a:schemeClr>
                </a:solidFill>
              </a:rPr>
              <a:t>|</a:t>
            </a:r>
            <a:r>
              <a:rPr lang="pt-BR" sz="900" dirty="0"/>
              <a:t> </a:t>
            </a:r>
            <a:r>
              <a:rPr lang="pt-BR" sz="900" b="1" dirty="0">
                <a:solidFill>
                  <a:schemeClr val="bg1">
                    <a:lumMod val="65000"/>
                  </a:schemeClr>
                </a:solidFill>
              </a:rPr>
              <a:t>Consultoria Ilimitada</a:t>
            </a:r>
          </a:p>
        </p:txBody>
      </p:sp>
      <p:pic>
        <p:nvPicPr>
          <p:cNvPr id="1026" name="Picture 2" descr="http://blog.luz.vc/wp-content/uploads/2015/04/1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749" y="988368"/>
            <a:ext cx="6286500" cy="3848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535345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8" descr="NAT_marca_branca_natura-01.png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0432" y="19878"/>
            <a:ext cx="576000" cy="57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CaixaDeTexto 5"/>
          <p:cNvSpPr txBox="1"/>
          <p:nvPr/>
        </p:nvSpPr>
        <p:spPr>
          <a:xfrm>
            <a:off x="-1" y="2"/>
            <a:ext cx="9144001" cy="646331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O que entendemos</a:t>
            </a:r>
          </a:p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Análise de SWOT</a:t>
            </a:r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Light" pitchFamily="34" charset="0"/>
            </a:endParaRPr>
          </a:p>
        </p:txBody>
      </p:sp>
      <p:sp>
        <p:nvSpPr>
          <p:cNvPr id="8" name="CaixaDeTexto 7"/>
          <p:cNvSpPr txBox="1"/>
          <p:nvPr/>
        </p:nvSpPr>
        <p:spPr>
          <a:xfrm rot="16200000">
            <a:off x="8127558" y="4147980"/>
            <a:ext cx="176338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 b="1" dirty="0">
                <a:solidFill>
                  <a:schemeClr val="accent1">
                    <a:lumMod val="75000"/>
                  </a:schemeClr>
                </a:solidFill>
              </a:rPr>
              <a:t>CHACON</a:t>
            </a:r>
            <a:r>
              <a:rPr lang="pt-BR" sz="900" dirty="0"/>
              <a:t> </a:t>
            </a:r>
            <a:r>
              <a:rPr lang="pt-BR" sz="900" b="1" dirty="0">
                <a:solidFill>
                  <a:schemeClr val="bg1">
                    <a:lumMod val="85000"/>
                  </a:schemeClr>
                </a:solidFill>
              </a:rPr>
              <a:t>|</a:t>
            </a:r>
            <a:r>
              <a:rPr lang="pt-BR" sz="900" dirty="0"/>
              <a:t> </a:t>
            </a:r>
            <a:r>
              <a:rPr lang="pt-BR" sz="900" b="1" dirty="0">
                <a:solidFill>
                  <a:schemeClr val="bg1">
                    <a:lumMod val="65000"/>
                  </a:schemeClr>
                </a:solidFill>
              </a:rPr>
              <a:t>Consultoria Ilimitada</a:t>
            </a:r>
          </a:p>
        </p:txBody>
      </p:sp>
      <p:graphicFrame>
        <p:nvGraphicFramePr>
          <p:cNvPr id="2" name="Diagrama 1"/>
          <p:cNvGraphicFramePr/>
          <p:nvPr>
            <p:extLst>
              <p:ext uri="{D42A27DB-BD31-4B8C-83A1-F6EECF244321}">
                <p14:modId xmlns:p14="http://schemas.microsoft.com/office/powerpoint/2010/main" val="1854258561"/>
              </p:ext>
            </p:extLst>
          </p:nvPr>
        </p:nvGraphicFramePr>
        <p:xfrm>
          <a:off x="1475656" y="844352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6619355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8" descr="NAT_marca_branca_natura-01.png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0432" y="19878"/>
            <a:ext cx="576000" cy="57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CaixaDeTexto 5"/>
          <p:cNvSpPr txBox="1"/>
          <p:nvPr/>
        </p:nvSpPr>
        <p:spPr>
          <a:xfrm>
            <a:off x="0" y="0"/>
            <a:ext cx="9144001" cy="646331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O que </a:t>
            </a:r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entendemos</a:t>
            </a:r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Light" pitchFamily="34" charset="0"/>
            </a:endParaRPr>
          </a:p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Estrutura Organizacional</a:t>
            </a:r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Light" pitchFamily="34" charset="0"/>
            </a:endParaRPr>
          </a:p>
        </p:txBody>
      </p:sp>
      <p:sp>
        <p:nvSpPr>
          <p:cNvPr id="8" name="CaixaDeTexto 7"/>
          <p:cNvSpPr txBox="1"/>
          <p:nvPr/>
        </p:nvSpPr>
        <p:spPr>
          <a:xfrm rot="16200000">
            <a:off x="8127558" y="4147980"/>
            <a:ext cx="176338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 b="1" dirty="0">
                <a:solidFill>
                  <a:schemeClr val="accent1">
                    <a:lumMod val="75000"/>
                  </a:schemeClr>
                </a:solidFill>
              </a:rPr>
              <a:t>CHACON</a:t>
            </a:r>
            <a:r>
              <a:rPr lang="pt-BR" sz="900" dirty="0"/>
              <a:t> </a:t>
            </a:r>
            <a:r>
              <a:rPr lang="pt-BR" sz="900" b="1" dirty="0">
                <a:solidFill>
                  <a:schemeClr val="bg1">
                    <a:lumMod val="85000"/>
                  </a:schemeClr>
                </a:solidFill>
              </a:rPr>
              <a:t>|</a:t>
            </a:r>
            <a:r>
              <a:rPr lang="pt-BR" sz="900" dirty="0"/>
              <a:t> </a:t>
            </a:r>
            <a:r>
              <a:rPr lang="pt-BR" sz="900" b="1" dirty="0">
                <a:solidFill>
                  <a:schemeClr val="bg1">
                    <a:lumMod val="65000"/>
                  </a:schemeClr>
                </a:solidFill>
              </a:rPr>
              <a:t>Consultoria Ilimitada</a:t>
            </a:r>
          </a:p>
        </p:txBody>
      </p:sp>
      <p:pic>
        <p:nvPicPr>
          <p:cNvPr id="2050" name="Picture 2" descr="http://www.raquelcastedo.com/dissertacao/producaoeditorialerevistascientificas/figura03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3808" y="916360"/>
            <a:ext cx="3225969" cy="40969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894333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8" descr="NAT_marca_branca_natura-01.png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0432" y="19878"/>
            <a:ext cx="576000" cy="57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CaixaDeTexto 5"/>
          <p:cNvSpPr txBox="1"/>
          <p:nvPr/>
        </p:nvSpPr>
        <p:spPr>
          <a:xfrm>
            <a:off x="-1" y="2"/>
            <a:ext cx="9144001" cy="646331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O que </a:t>
            </a:r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entendemos</a:t>
            </a:r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ExtraBold" pitchFamily="34" charset="0"/>
            </a:endParaRPr>
          </a:p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Estrutura Organizacional</a:t>
            </a:r>
          </a:p>
        </p:txBody>
      </p:sp>
      <p:sp>
        <p:nvSpPr>
          <p:cNvPr id="8" name="CaixaDeTexto 7"/>
          <p:cNvSpPr txBox="1"/>
          <p:nvPr/>
        </p:nvSpPr>
        <p:spPr>
          <a:xfrm rot="16200000">
            <a:off x="8127558" y="4147980"/>
            <a:ext cx="176338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 b="1" dirty="0">
                <a:solidFill>
                  <a:schemeClr val="accent1">
                    <a:lumMod val="75000"/>
                  </a:schemeClr>
                </a:solidFill>
              </a:rPr>
              <a:t>CHACON</a:t>
            </a:r>
            <a:r>
              <a:rPr lang="pt-BR" sz="900" dirty="0"/>
              <a:t> </a:t>
            </a:r>
            <a:r>
              <a:rPr lang="pt-BR" sz="900" b="1" dirty="0">
                <a:solidFill>
                  <a:schemeClr val="bg1">
                    <a:lumMod val="85000"/>
                  </a:schemeClr>
                </a:solidFill>
              </a:rPr>
              <a:t>|</a:t>
            </a:r>
            <a:r>
              <a:rPr lang="pt-BR" sz="900" dirty="0"/>
              <a:t> </a:t>
            </a:r>
            <a:r>
              <a:rPr lang="pt-BR" sz="900" b="1" dirty="0">
                <a:solidFill>
                  <a:schemeClr val="bg1">
                    <a:lumMod val="65000"/>
                  </a:schemeClr>
                </a:solidFill>
              </a:rPr>
              <a:t>Consultoria Ilimitada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336422" y="773499"/>
            <a:ext cx="834003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Clr>
                <a:srgbClr val="7030A0"/>
              </a:buClr>
              <a:buSzPct val="50000"/>
            </a:pPr>
            <a:r>
              <a:rPr lang="pt-BR" dirty="0" smtClean="0">
                <a:solidFill>
                  <a:schemeClr val="accent4"/>
                </a:solidFill>
              </a:rPr>
              <a:t>A organização atual da TD não apenas dificulta, mas inviabiliza uma gestão ágil, responsável e comprometida com objetivos comuns e gestão por processos. Organizada em silos de competências tecnológicas, a estrutura da TD privilegia os especialistas em detrimento da gestão e favorece uma competição negativa entre as áreas, a transferência de responsabilidades e culpas e a omissão sobre resultados, além da baixa autoridade da Governança de TI.</a:t>
            </a:r>
            <a:endParaRPr lang="pt-BR" sz="1700" b="1" dirty="0">
              <a:solidFill>
                <a:srgbClr val="FF0000"/>
              </a:solidFill>
            </a:endParaRPr>
          </a:p>
        </p:txBody>
      </p:sp>
      <p:pic>
        <p:nvPicPr>
          <p:cNvPr id="9" name="Imagem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5696" y="2644552"/>
            <a:ext cx="1465811" cy="1067576"/>
          </a:xfrm>
          <a:prstGeom prst="rect">
            <a:avLst/>
          </a:prstGeom>
        </p:spPr>
      </p:pic>
      <p:pic>
        <p:nvPicPr>
          <p:cNvPr id="10" name="Picture 6" descr="http://www.colegioweb.com.br/wp-content/uploads/2014/02/Nuvem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4885" y="4075218"/>
            <a:ext cx="1459179" cy="1017606"/>
          </a:xfrm>
          <a:prstGeom prst="rect">
            <a:avLst/>
          </a:prstGeom>
          <a:noFill/>
          <a:effectLst>
            <a:glow>
              <a:schemeClr val="accent1"/>
            </a:glow>
            <a:reflection endPos="0" dir="5400000" sy="-100000" algn="bl" rotWithShape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tângulo 10"/>
          <p:cNvSpPr/>
          <p:nvPr/>
        </p:nvSpPr>
        <p:spPr>
          <a:xfrm>
            <a:off x="1907704" y="3755152"/>
            <a:ext cx="1354212" cy="2774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1200" b="1" dirty="0" smtClean="0">
                <a:solidFill>
                  <a:srgbClr val="7030A0"/>
                </a:solidFill>
              </a:rPr>
              <a:t>Este “software”</a:t>
            </a:r>
            <a:endParaRPr lang="pt-BR" sz="1200" dirty="0"/>
          </a:p>
        </p:txBody>
      </p:sp>
      <p:pic>
        <p:nvPicPr>
          <p:cNvPr id="12" name="Picture 12" descr="http://greg2dot0.com/wordpress/wp-content/uploads/2012/05/053112_1251_breakingdow1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6218" y="4075218"/>
            <a:ext cx="1472458" cy="10176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2" descr="http://te.i.uol.com.br/album/como_criar_organograma_excel_f_001.jp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5699" y="2644553"/>
            <a:ext cx="1474781" cy="1067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Retângulo 14"/>
          <p:cNvSpPr/>
          <p:nvPr/>
        </p:nvSpPr>
        <p:spPr>
          <a:xfrm>
            <a:off x="5825698" y="3755151"/>
            <a:ext cx="1474782" cy="2774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BR" sz="1200" b="1" dirty="0" smtClean="0">
                <a:solidFill>
                  <a:srgbClr val="7030A0"/>
                </a:solidFill>
              </a:rPr>
              <a:t>neste “hardware”!</a:t>
            </a:r>
            <a:endParaRPr lang="pt-BR" sz="1200" dirty="0"/>
          </a:p>
        </p:txBody>
      </p:sp>
      <p:sp>
        <p:nvSpPr>
          <p:cNvPr id="16" name="Retângulo 15"/>
          <p:cNvSpPr/>
          <p:nvPr/>
        </p:nvSpPr>
        <p:spPr>
          <a:xfrm>
            <a:off x="4126139" y="3755152"/>
            <a:ext cx="903885" cy="2774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200" b="1" dirty="0" smtClean="0">
                <a:solidFill>
                  <a:srgbClr val="7030A0"/>
                </a:solidFill>
              </a:rPr>
              <a:t>não roda</a:t>
            </a:r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33530235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25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5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375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25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5" grpId="0"/>
      <p:bldP spid="1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8" descr="NAT_marca_branca_natura-01.png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0432" y="19878"/>
            <a:ext cx="576000" cy="57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CaixaDeTexto 5"/>
          <p:cNvSpPr txBox="1"/>
          <p:nvPr/>
        </p:nvSpPr>
        <p:spPr>
          <a:xfrm>
            <a:off x="-1" y="2"/>
            <a:ext cx="9144001" cy="646331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O que </a:t>
            </a:r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orientamos</a:t>
            </a:r>
            <a:endParaRPr lang="pt-BR" b="1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ExtraBold" pitchFamily="34" charset="0"/>
            </a:endParaRPr>
          </a:p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Redirecionamentos e Melhorias Imediatas</a:t>
            </a:r>
          </a:p>
        </p:txBody>
      </p:sp>
      <p:sp>
        <p:nvSpPr>
          <p:cNvPr id="8" name="CaixaDeTexto 7"/>
          <p:cNvSpPr txBox="1"/>
          <p:nvPr/>
        </p:nvSpPr>
        <p:spPr>
          <a:xfrm rot="16200000">
            <a:off x="8127558" y="4147980"/>
            <a:ext cx="176338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 b="1" dirty="0">
                <a:solidFill>
                  <a:schemeClr val="accent1">
                    <a:lumMod val="75000"/>
                  </a:schemeClr>
                </a:solidFill>
              </a:rPr>
              <a:t>CHACON</a:t>
            </a:r>
            <a:r>
              <a:rPr lang="pt-BR" sz="900" dirty="0"/>
              <a:t> </a:t>
            </a:r>
            <a:r>
              <a:rPr lang="pt-BR" sz="900" b="1" dirty="0">
                <a:solidFill>
                  <a:schemeClr val="bg1">
                    <a:lumMod val="85000"/>
                  </a:schemeClr>
                </a:solidFill>
              </a:rPr>
              <a:t>|</a:t>
            </a:r>
            <a:r>
              <a:rPr lang="pt-BR" sz="900" dirty="0"/>
              <a:t> </a:t>
            </a:r>
            <a:r>
              <a:rPr lang="pt-BR" sz="900" b="1" dirty="0">
                <a:solidFill>
                  <a:schemeClr val="bg1">
                    <a:lumMod val="65000"/>
                  </a:schemeClr>
                </a:solidFill>
              </a:rPr>
              <a:t>Consultoria Ilimitada</a:t>
            </a: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4561" y="844352"/>
            <a:ext cx="4714875" cy="4128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29402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8" descr="NAT_marca_branca_natura-01.png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0432" y="19878"/>
            <a:ext cx="576000" cy="57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CaixaDeTexto 5"/>
          <p:cNvSpPr txBox="1"/>
          <p:nvPr/>
        </p:nvSpPr>
        <p:spPr>
          <a:xfrm>
            <a:off x="-1" y="2"/>
            <a:ext cx="9144001" cy="646331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O que </a:t>
            </a:r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orientamos</a:t>
            </a:r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ExtraBold" pitchFamily="34" charset="0"/>
            </a:endParaRPr>
          </a:p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Revisar Rituais e Dinâmicas</a:t>
            </a:r>
          </a:p>
        </p:txBody>
      </p:sp>
      <p:sp>
        <p:nvSpPr>
          <p:cNvPr id="8" name="CaixaDeTexto 7"/>
          <p:cNvSpPr txBox="1"/>
          <p:nvPr/>
        </p:nvSpPr>
        <p:spPr>
          <a:xfrm rot="16200000">
            <a:off x="8127558" y="4147980"/>
            <a:ext cx="176338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 b="1" dirty="0">
                <a:solidFill>
                  <a:schemeClr val="accent1">
                    <a:lumMod val="75000"/>
                  </a:schemeClr>
                </a:solidFill>
              </a:rPr>
              <a:t>CHACON</a:t>
            </a:r>
            <a:r>
              <a:rPr lang="pt-BR" sz="900" dirty="0"/>
              <a:t> </a:t>
            </a:r>
            <a:r>
              <a:rPr lang="pt-BR" sz="900" b="1" dirty="0">
                <a:solidFill>
                  <a:schemeClr val="bg1">
                    <a:lumMod val="85000"/>
                  </a:schemeClr>
                </a:solidFill>
              </a:rPr>
              <a:t>|</a:t>
            </a:r>
            <a:r>
              <a:rPr lang="pt-BR" sz="900" dirty="0"/>
              <a:t> </a:t>
            </a:r>
            <a:r>
              <a:rPr lang="pt-BR" sz="900" b="1" dirty="0">
                <a:solidFill>
                  <a:schemeClr val="bg1">
                    <a:lumMod val="65000"/>
                  </a:schemeClr>
                </a:solidFill>
              </a:rPr>
              <a:t>Consultoria Ilimitada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336422" y="773499"/>
            <a:ext cx="8340034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Clr>
                <a:srgbClr val="7030A0"/>
              </a:buClr>
              <a:buSzPct val="50000"/>
            </a:pPr>
            <a:r>
              <a:rPr lang="pt-BR" dirty="0" smtClean="0">
                <a:solidFill>
                  <a:schemeClr val="accent4"/>
                </a:solidFill>
              </a:rPr>
              <a:t>Recomendamos enfaticamente a revisão de todos os rituais e dinâmicas, especialmente os relacionados ao </a:t>
            </a:r>
            <a:r>
              <a:rPr lang="pt-BR" b="1" dirty="0" smtClean="0">
                <a:solidFill>
                  <a:schemeClr val="accent4"/>
                </a:solidFill>
              </a:rPr>
              <a:t>tratamento de incidentes críticos</a:t>
            </a:r>
            <a:r>
              <a:rPr lang="pt-BR" dirty="0" smtClean="0">
                <a:solidFill>
                  <a:schemeClr val="accent4"/>
                </a:solidFill>
              </a:rPr>
              <a:t> (quem lidera quando a luz vermelha acende?), </a:t>
            </a:r>
            <a:r>
              <a:rPr lang="pt-BR" b="1" dirty="0" smtClean="0">
                <a:solidFill>
                  <a:schemeClr val="accent4"/>
                </a:solidFill>
              </a:rPr>
              <a:t>mudanças</a:t>
            </a:r>
            <a:r>
              <a:rPr lang="pt-BR" dirty="0" smtClean="0">
                <a:solidFill>
                  <a:schemeClr val="accent4"/>
                </a:solidFill>
              </a:rPr>
              <a:t> (redução de mudanças não planejadas), </a:t>
            </a:r>
            <a:r>
              <a:rPr lang="pt-BR" b="1" dirty="0" smtClean="0">
                <a:solidFill>
                  <a:schemeClr val="accent4"/>
                </a:solidFill>
              </a:rPr>
              <a:t>problemas</a:t>
            </a:r>
            <a:r>
              <a:rPr lang="pt-BR" dirty="0" smtClean="0">
                <a:solidFill>
                  <a:schemeClr val="accent4"/>
                </a:solidFill>
              </a:rPr>
              <a:t> (solução deve ser o objetivo) e </a:t>
            </a:r>
            <a:r>
              <a:rPr lang="pt-BR" b="1" dirty="0" smtClean="0">
                <a:solidFill>
                  <a:schemeClr val="accent4"/>
                </a:solidFill>
              </a:rPr>
              <a:t>melhoria contínua </a:t>
            </a:r>
            <a:r>
              <a:rPr lang="pt-BR" dirty="0" smtClean="0">
                <a:solidFill>
                  <a:schemeClr val="accent4"/>
                </a:solidFill>
              </a:rPr>
              <a:t>(revisão periódica dos processos).</a:t>
            </a:r>
          </a:p>
          <a:p>
            <a:pPr algn="ctr">
              <a:buClr>
                <a:srgbClr val="7030A0"/>
              </a:buClr>
              <a:buSzPct val="50000"/>
            </a:pPr>
            <a:endParaRPr lang="pt-BR" sz="1600" dirty="0" smtClean="0">
              <a:solidFill>
                <a:srgbClr val="FF0000"/>
              </a:solidFill>
              <a:latin typeface="Segoe UI" panose="020B0502040204020203" pitchFamily="34" charset="0"/>
              <a:ea typeface="KaiTi" panose="02010609060101010101" pitchFamily="49" charset="-122"/>
              <a:cs typeface="Segoe UI" panose="020B0502040204020203" pitchFamily="34" charset="0"/>
            </a:endParaRPr>
          </a:p>
          <a:p>
            <a:pPr algn="ctr">
              <a:buClr>
                <a:srgbClr val="7030A0"/>
              </a:buClr>
              <a:buSzPct val="50000"/>
            </a:pPr>
            <a:endParaRPr lang="pt-BR" sz="1600" dirty="0">
              <a:solidFill>
                <a:srgbClr val="FF0000"/>
              </a:solidFill>
              <a:latin typeface="Segoe UI" panose="020B0502040204020203" pitchFamily="34" charset="0"/>
              <a:ea typeface="KaiTi" panose="02010609060101010101" pitchFamily="49" charset="-122"/>
              <a:cs typeface="Segoe UI" panose="020B0502040204020203" pitchFamily="34" charset="0"/>
            </a:endParaRPr>
          </a:p>
          <a:p>
            <a:pPr algn="ctr">
              <a:buClr>
                <a:srgbClr val="7030A0"/>
              </a:buClr>
              <a:buSzPct val="50000"/>
            </a:pPr>
            <a:endParaRPr lang="pt-BR" sz="1600" dirty="0" smtClean="0">
              <a:solidFill>
                <a:srgbClr val="FF0000"/>
              </a:solidFill>
              <a:latin typeface="Segoe UI" panose="020B0502040204020203" pitchFamily="34" charset="0"/>
              <a:ea typeface="KaiTi" panose="02010609060101010101" pitchFamily="49" charset="-122"/>
              <a:cs typeface="Segoe UI" panose="020B0502040204020203" pitchFamily="34" charset="0"/>
            </a:endParaRPr>
          </a:p>
          <a:p>
            <a:pPr algn="ctr">
              <a:buClr>
                <a:srgbClr val="7030A0"/>
              </a:buClr>
              <a:buSzPct val="50000"/>
            </a:pPr>
            <a:endParaRPr lang="pt-BR" sz="1600" dirty="0">
              <a:solidFill>
                <a:srgbClr val="FF0000"/>
              </a:solidFill>
              <a:latin typeface="Segoe UI" panose="020B0502040204020203" pitchFamily="34" charset="0"/>
              <a:ea typeface="KaiTi" panose="02010609060101010101" pitchFamily="49" charset="-122"/>
              <a:cs typeface="Segoe UI" panose="020B0502040204020203" pitchFamily="34" charset="0"/>
            </a:endParaRPr>
          </a:p>
          <a:p>
            <a:pPr algn="ctr">
              <a:buClr>
                <a:srgbClr val="7030A0"/>
              </a:buClr>
              <a:buSzPct val="50000"/>
            </a:pPr>
            <a:endParaRPr lang="pt-BR" sz="1600" dirty="0" smtClean="0">
              <a:solidFill>
                <a:srgbClr val="FF0000"/>
              </a:solidFill>
              <a:latin typeface="Segoe UI" panose="020B0502040204020203" pitchFamily="34" charset="0"/>
              <a:ea typeface="KaiTi" panose="02010609060101010101" pitchFamily="49" charset="-122"/>
              <a:cs typeface="Segoe UI" panose="020B0502040204020203" pitchFamily="34" charset="0"/>
            </a:endParaRPr>
          </a:p>
          <a:p>
            <a:pPr algn="ctr">
              <a:buClr>
                <a:srgbClr val="7030A0"/>
              </a:buClr>
              <a:buSzPct val="50000"/>
            </a:pPr>
            <a:endParaRPr lang="pt-BR" sz="1600" dirty="0">
              <a:solidFill>
                <a:srgbClr val="FF0000"/>
              </a:solidFill>
              <a:latin typeface="Segoe UI" panose="020B0502040204020203" pitchFamily="34" charset="0"/>
              <a:ea typeface="KaiTi" panose="02010609060101010101" pitchFamily="49" charset="-122"/>
              <a:cs typeface="Segoe UI" panose="020B0502040204020203" pitchFamily="34" charset="0"/>
            </a:endParaRPr>
          </a:p>
          <a:p>
            <a:pPr algn="ctr">
              <a:buClr>
                <a:srgbClr val="7030A0"/>
              </a:buClr>
              <a:buSzPct val="50000"/>
            </a:pPr>
            <a:endParaRPr lang="pt-BR" sz="1600" dirty="0" smtClean="0">
              <a:solidFill>
                <a:srgbClr val="FF0000"/>
              </a:solidFill>
              <a:latin typeface="Segoe UI" panose="020B0502040204020203" pitchFamily="34" charset="0"/>
              <a:ea typeface="KaiTi" panose="02010609060101010101" pitchFamily="49" charset="-122"/>
              <a:cs typeface="Segoe UI" panose="020B0502040204020203" pitchFamily="34" charset="0"/>
            </a:endParaRPr>
          </a:p>
          <a:p>
            <a:pPr algn="ctr">
              <a:buClr>
                <a:srgbClr val="7030A0"/>
              </a:buClr>
              <a:buSzPct val="50000"/>
            </a:pPr>
            <a:endParaRPr lang="pt-BR" sz="1600" dirty="0">
              <a:solidFill>
                <a:srgbClr val="FF0000"/>
              </a:solidFill>
              <a:latin typeface="Segoe UI" panose="020B0502040204020203" pitchFamily="34" charset="0"/>
              <a:ea typeface="KaiTi" panose="02010609060101010101" pitchFamily="49" charset="-122"/>
              <a:cs typeface="Segoe UI" panose="020B0502040204020203" pitchFamily="34" charset="0"/>
            </a:endParaRPr>
          </a:p>
          <a:p>
            <a:pPr algn="ctr">
              <a:buClr>
                <a:srgbClr val="7030A0"/>
              </a:buClr>
              <a:buSzPct val="50000"/>
            </a:pPr>
            <a:endParaRPr lang="pt-BR" sz="1600" dirty="0" smtClean="0">
              <a:solidFill>
                <a:srgbClr val="FF0000"/>
              </a:solidFill>
              <a:latin typeface="Segoe UI" panose="020B0502040204020203" pitchFamily="34" charset="0"/>
              <a:ea typeface="KaiTi" panose="02010609060101010101" pitchFamily="49" charset="-122"/>
              <a:cs typeface="Segoe UI" panose="020B0502040204020203" pitchFamily="34" charset="0"/>
            </a:endParaRPr>
          </a:p>
          <a:p>
            <a:pPr algn="ctr">
              <a:buClr>
                <a:srgbClr val="7030A0"/>
              </a:buClr>
              <a:buSzPct val="50000"/>
            </a:pPr>
            <a:endParaRPr lang="pt-BR" sz="1600" dirty="0">
              <a:solidFill>
                <a:srgbClr val="FF0000"/>
              </a:solidFill>
              <a:latin typeface="Segoe UI" panose="020B0502040204020203" pitchFamily="34" charset="0"/>
              <a:ea typeface="KaiTi" panose="02010609060101010101" pitchFamily="49" charset="-122"/>
              <a:cs typeface="Segoe UI" panose="020B0502040204020203" pitchFamily="34" charset="0"/>
            </a:endParaRPr>
          </a:p>
          <a:p>
            <a:pPr algn="ctr">
              <a:buClr>
                <a:srgbClr val="7030A0"/>
              </a:buClr>
              <a:buSzPct val="50000"/>
            </a:pPr>
            <a:endParaRPr lang="pt-BR" sz="1600" dirty="0" smtClean="0">
              <a:solidFill>
                <a:srgbClr val="FF0000"/>
              </a:solidFill>
              <a:latin typeface="Segoe UI" panose="020B0502040204020203" pitchFamily="34" charset="0"/>
              <a:ea typeface="KaiTi" panose="02010609060101010101" pitchFamily="49" charset="-122"/>
              <a:cs typeface="Segoe UI" panose="020B0502040204020203" pitchFamily="34" charset="0"/>
            </a:endParaRPr>
          </a:p>
          <a:p>
            <a:pPr algn="ctr">
              <a:buClr>
                <a:srgbClr val="7030A0"/>
              </a:buClr>
              <a:buSzPct val="50000"/>
            </a:pPr>
            <a:endParaRPr lang="pt-BR" sz="1600" dirty="0">
              <a:solidFill>
                <a:srgbClr val="FF0000"/>
              </a:solidFill>
              <a:latin typeface="Segoe UI" panose="020B0502040204020203" pitchFamily="34" charset="0"/>
              <a:ea typeface="KaiTi" panose="02010609060101010101" pitchFamily="49" charset="-122"/>
              <a:cs typeface="Segoe UI" panose="020B0502040204020203" pitchFamily="34" charset="0"/>
            </a:endParaRPr>
          </a:p>
          <a:p>
            <a:pPr algn="ctr">
              <a:buClr>
                <a:srgbClr val="7030A0"/>
              </a:buClr>
              <a:buSzPct val="50000"/>
            </a:pPr>
            <a:r>
              <a:rPr lang="pt-BR" sz="1600" dirty="0" smtClean="0">
                <a:solidFill>
                  <a:srgbClr val="FF0000"/>
                </a:solidFill>
                <a:latin typeface="Segoe UI" panose="020B0502040204020203" pitchFamily="34" charset="0"/>
                <a:ea typeface="KaiTi" panose="02010609060101010101" pitchFamily="49" charset="-122"/>
                <a:cs typeface="Segoe UI" panose="020B0502040204020203" pitchFamily="34" charset="0"/>
              </a:rPr>
              <a:t>Há que se definir </a:t>
            </a:r>
            <a:r>
              <a:rPr lang="pt-BR" sz="1600" b="1" dirty="0" smtClean="0">
                <a:solidFill>
                  <a:srgbClr val="FF0000"/>
                </a:solidFill>
                <a:latin typeface="Segoe UI" panose="020B0502040204020203" pitchFamily="34" charset="0"/>
                <a:ea typeface="KaiTi" panose="02010609060101010101" pitchFamily="49" charset="-122"/>
                <a:cs typeface="Segoe UI" panose="020B0502040204020203" pitchFamily="34" charset="0"/>
              </a:rPr>
              <a:t>Metas SMART </a:t>
            </a:r>
            <a:r>
              <a:rPr lang="pt-BR" sz="1600" dirty="0" smtClean="0">
                <a:solidFill>
                  <a:srgbClr val="FF0000"/>
                </a:solidFill>
                <a:latin typeface="Segoe UI" panose="020B0502040204020203" pitchFamily="34" charset="0"/>
                <a:ea typeface="KaiTi" panose="02010609060101010101" pitchFamily="49" charset="-122"/>
                <a:cs typeface="Segoe UI" panose="020B0502040204020203" pitchFamily="34" charset="0"/>
              </a:rPr>
              <a:t>para todas as dinâmicas relacionadas aos processos!</a:t>
            </a:r>
          </a:p>
        </p:txBody>
      </p:sp>
      <p:sp>
        <p:nvSpPr>
          <p:cNvPr id="9" name="CaixaDeTexto 8"/>
          <p:cNvSpPr txBox="1"/>
          <p:nvPr/>
        </p:nvSpPr>
        <p:spPr>
          <a:xfrm>
            <a:off x="539552" y="2068488"/>
            <a:ext cx="5027666" cy="263149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358775" indent="-358775" algn="just">
              <a:buClr>
                <a:schemeClr val="accent4"/>
              </a:buClr>
              <a:buSzPct val="100000"/>
              <a:buFont typeface="Courier New" panose="02070309020205020404" pitchFamily="49" charset="0"/>
              <a:buChar char="o"/>
            </a:pPr>
            <a:r>
              <a:rPr lang="pt-BR" sz="1500" dirty="0" smtClean="0">
                <a:solidFill>
                  <a:schemeClr val="accent4"/>
                </a:solidFill>
              </a:rPr>
              <a:t>É preciso </a:t>
            </a:r>
            <a:r>
              <a:rPr lang="pt-BR" sz="1500" b="1" dirty="0" smtClean="0">
                <a:solidFill>
                  <a:schemeClr val="accent4"/>
                </a:solidFill>
              </a:rPr>
              <a:t>simplificar os rituais e dinâmicas</a:t>
            </a:r>
            <a:r>
              <a:rPr lang="pt-BR" sz="1500" dirty="0" smtClean="0">
                <a:solidFill>
                  <a:schemeClr val="accent4"/>
                </a:solidFill>
              </a:rPr>
              <a:t> e dar-lhes uma </a:t>
            </a:r>
            <a:r>
              <a:rPr lang="pt-BR" sz="1500" b="1" dirty="0" smtClean="0">
                <a:solidFill>
                  <a:schemeClr val="accent4"/>
                </a:solidFill>
              </a:rPr>
              <a:t>perspectiva pragmática</a:t>
            </a:r>
            <a:r>
              <a:rPr lang="pt-BR" sz="1500" dirty="0" smtClean="0">
                <a:solidFill>
                  <a:schemeClr val="accent4"/>
                </a:solidFill>
              </a:rPr>
              <a:t>, orientada a </a:t>
            </a:r>
            <a:r>
              <a:rPr lang="pt-BR" sz="1500" b="1" dirty="0" smtClean="0">
                <a:solidFill>
                  <a:schemeClr val="accent4"/>
                </a:solidFill>
              </a:rPr>
              <a:t>metas </a:t>
            </a:r>
            <a:r>
              <a:rPr lang="pt-BR" sz="1500" dirty="0" smtClean="0">
                <a:solidFill>
                  <a:schemeClr val="accent4"/>
                </a:solidFill>
              </a:rPr>
              <a:t>para melhoria e controlada por </a:t>
            </a:r>
            <a:r>
              <a:rPr lang="pt-BR" sz="1500" b="1" dirty="0" smtClean="0">
                <a:solidFill>
                  <a:schemeClr val="accent4"/>
                </a:solidFill>
              </a:rPr>
              <a:t>indicadores</a:t>
            </a:r>
            <a:r>
              <a:rPr lang="pt-BR" sz="1500" dirty="0" smtClean="0">
                <a:solidFill>
                  <a:schemeClr val="accent4"/>
                </a:solidFill>
              </a:rPr>
              <a:t> para controle e decisão.</a:t>
            </a:r>
          </a:p>
          <a:p>
            <a:pPr marL="358775" indent="-358775" algn="just">
              <a:buClr>
                <a:schemeClr val="accent4"/>
              </a:buClr>
              <a:buSzPct val="100000"/>
              <a:buFont typeface="Courier New" panose="02070309020205020404" pitchFamily="49" charset="0"/>
              <a:buChar char="o"/>
            </a:pPr>
            <a:endParaRPr lang="pt-BR" sz="1500" dirty="0" smtClean="0">
              <a:solidFill>
                <a:schemeClr val="accent4"/>
              </a:solidFill>
            </a:endParaRPr>
          </a:p>
          <a:p>
            <a:pPr marL="358775" indent="-358775" algn="just">
              <a:buClr>
                <a:schemeClr val="accent4"/>
              </a:buClr>
              <a:buSzPct val="100000"/>
              <a:buFont typeface="Courier New" panose="02070309020205020404" pitchFamily="49" charset="0"/>
              <a:buChar char="o"/>
            </a:pPr>
            <a:r>
              <a:rPr lang="pt-BR" sz="1500" dirty="0" smtClean="0">
                <a:solidFill>
                  <a:schemeClr val="accent4"/>
                </a:solidFill>
              </a:rPr>
              <a:t>Todas as dinâmicas devem ser orientadas ao </a:t>
            </a:r>
            <a:r>
              <a:rPr lang="pt-BR" sz="1500" b="1" dirty="0" smtClean="0">
                <a:solidFill>
                  <a:schemeClr val="accent4"/>
                </a:solidFill>
              </a:rPr>
              <a:t>Gerenciamento dos Serviços de Negócios</a:t>
            </a:r>
            <a:r>
              <a:rPr lang="pt-BR" sz="1500" dirty="0" smtClean="0">
                <a:solidFill>
                  <a:schemeClr val="accent4"/>
                </a:solidFill>
              </a:rPr>
              <a:t>, especialmente aqueles relacionados ao </a:t>
            </a:r>
            <a:r>
              <a:rPr lang="pt-BR" sz="1500" b="1" dirty="0" smtClean="0">
                <a:solidFill>
                  <a:schemeClr val="accent4"/>
                </a:solidFill>
              </a:rPr>
              <a:t>Ciclo do Pedido</a:t>
            </a:r>
            <a:r>
              <a:rPr lang="pt-BR" sz="1500" dirty="0" smtClean="0">
                <a:solidFill>
                  <a:schemeClr val="accent4"/>
                </a:solidFill>
              </a:rPr>
              <a:t>. Não há como demonstrar ao Negócio as melhorias obtidas se a perspectiva se mantiver orientada a componentes e sistemas.</a:t>
            </a:r>
            <a:endParaRPr lang="pt-BR" sz="1500" dirty="0">
              <a:solidFill>
                <a:schemeClr val="accent4"/>
              </a:solidFill>
            </a:endParaRP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6793" y="2057178"/>
            <a:ext cx="2532830" cy="2654111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</p:pic>
    </p:spTree>
    <p:extLst>
      <p:ext uri="{BB962C8B-B14F-4D97-AF65-F5344CB8AC3E}">
        <p14:creationId xmlns:p14="http://schemas.microsoft.com/office/powerpoint/2010/main" val="232369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8" descr="NAT_marca_branca_natura-01.png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0432" y="19878"/>
            <a:ext cx="576000" cy="57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CaixaDeTexto 5"/>
          <p:cNvSpPr txBox="1"/>
          <p:nvPr/>
        </p:nvSpPr>
        <p:spPr>
          <a:xfrm>
            <a:off x="-1" y="2"/>
            <a:ext cx="9144001" cy="646331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O que </a:t>
            </a:r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orientamos</a:t>
            </a:r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ExtraBold" pitchFamily="34" charset="0"/>
            </a:endParaRPr>
          </a:p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Medir a Confiabilidade dos Serviços</a:t>
            </a:r>
          </a:p>
        </p:txBody>
      </p:sp>
      <p:sp>
        <p:nvSpPr>
          <p:cNvPr id="8" name="CaixaDeTexto 7"/>
          <p:cNvSpPr txBox="1"/>
          <p:nvPr/>
        </p:nvSpPr>
        <p:spPr>
          <a:xfrm rot="16200000">
            <a:off x="8127558" y="4147980"/>
            <a:ext cx="176338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 b="1" dirty="0">
                <a:solidFill>
                  <a:schemeClr val="accent1">
                    <a:lumMod val="75000"/>
                  </a:schemeClr>
                </a:solidFill>
              </a:rPr>
              <a:t>CHACON</a:t>
            </a:r>
            <a:r>
              <a:rPr lang="pt-BR" sz="900" dirty="0"/>
              <a:t> </a:t>
            </a:r>
            <a:r>
              <a:rPr lang="pt-BR" sz="900" b="1" dirty="0">
                <a:solidFill>
                  <a:schemeClr val="bg1">
                    <a:lumMod val="85000"/>
                  </a:schemeClr>
                </a:solidFill>
              </a:rPr>
              <a:t>|</a:t>
            </a:r>
            <a:r>
              <a:rPr lang="pt-BR" sz="900" dirty="0"/>
              <a:t> </a:t>
            </a:r>
            <a:r>
              <a:rPr lang="pt-BR" sz="900" b="1" dirty="0">
                <a:solidFill>
                  <a:schemeClr val="bg1">
                    <a:lumMod val="65000"/>
                  </a:schemeClr>
                </a:solidFill>
              </a:rPr>
              <a:t>Consultoria Ilimitada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336422" y="773499"/>
            <a:ext cx="8340034" cy="4462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Clr>
                <a:srgbClr val="7030A0"/>
              </a:buClr>
              <a:buSzPct val="50000"/>
            </a:pPr>
            <a:r>
              <a:rPr lang="pt-BR" b="1" dirty="0" smtClean="0">
                <a:solidFill>
                  <a:schemeClr val="accent4"/>
                </a:solidFill>
              </a:rPr>
              <a:t>Disponibilidade</a:t>
            </a:r>
            <a:r>
              <a:rPr lang="pt-BR" dirty="0" smtClean="0">
                <a:solidFill>
                  <a:schemeClr val="accent4"/>
                </a:solidFill>
              </a:rPr>
              <a:t> é uma métrica usualmente aceita, consolidada em todos os sistemas de gestão de serviços. Mas </a:t>
            </a:r>
            <a:r>
              <a:rPr lang="pt-BR" b="1" dirty="0" smtClean="0">
                <a:solidFill>
                  <a:schemeClr val="accent4"/>
                </a:solidFill>
              </a:rPr>
              <a:t>não é suficientemente relevante para demonstrar a qualidade</a:t>
            </a:r>
            <a:r>
              <a:rPr lang="pt-BR" dirty="0" smtClean="0">
                <a:solidFill>
                  <a:schemeClr val="accent4"/>
                </a:solidFill>
              </a:rPr>
              <a:t>, pois não foca o tempo “</a:t>
            </a:r>
            <a:r>
              <a:rPr lang="pt-BR" i="1" dirty="0" smtClean="0">
                <a:solidFill>
                  <a:schemeClr val="accent4"/>
                </a:solidFill>
              </a:rPr>
              <a:t>out </a:t>
            </a:r>
            <a:r>
              <a:rPr lang="pt-BR" i="1" dirty="0" err="1" smtClean="0">
                <a:solidFill>
                  <a:schemeClr val="accent4"/>
                </a:solidFill>
              </a:rPr>
              <a:t>of</a:t>
            </a:r>
            <a:r>
              <a:rPr lang="pt-BR" i="1" dirty="0" smtClean="0">
                <a:solidFill>
                  <a:schemeClr val="accent4"/>
                </a:solidFill>
              </a:rPr>
              <a:t> </a:t>
            </a:r>
            <a:r>
              <a:rPr lang="pt-BR" i="1" dirty="0" err="1" smtClean="0">
                <a:solidFill>
                  <a:schemeClr val="accent4"/>
                </a:solidFill>
              </a:rPr>
              <a:t>service</a:t>
            </a:r>
            <a:r>
              <a:rPr lang="pt-BR" dirty="0" smtClean="0">
                <a:solidFill>
                  <a:schemeClr val="accent4"/>
                </a:solidFill>
              </a:rPr>
              <a:t>”, favorecendo uma acomodação quando a meta é atingida. Não é o bastante!</a:t>
            </a:r>
          </a:p>
          <a:p>
            <a:pPr algn="just">
              <a:buClr>
                <a:srgbClr val="7030A0"/>
              </a:buClr>
              <a:buSzPct val="50000"/>
            </a:pPr>
            <a:endParaRPr lang="pt-BR" sz="1000" dirty="0" smtClean="0">
              <a:solidFill>
                <a:schemeClr val="accent4"/>
              </a:solidFill>
            </a:endParaRPr>
          </a:p>
          <a:p>
            <a:pPr algn="just">
              <a:buClr>
                <a:srgbClr val="7030A0"/>
              </a:buClr>
              <a:buSzPct val="50000"/>
            </a:pPr>
            <a:endParaRPr lang="pt-BR" sz="1000" dirty="0">
              <a:solidFill>
                <a:schemeClr val="accent4"/>
              </a:solidFill>
            </a:endParaRPr>
          </a:p>
          <a:p>
            <a:pPr algn="just">
              <a:buClr>
                <a:srgbClr val="7030A0"/>
              </a:buClr>
              <a:buSzPct val="50000"/>
            </a:pPr>
            <a:endParaRPr lang="pt-BR" sz="1000" dirty="0" smtClean="0">
              <a:solidFill>
                <a:schemeClr val="accent4"/>
              </a:solidFill>
            </a:endParaRPr>
          </a:p>
          <a:p>
            <a:pPr algn="just">
              <a:buClr>
                <a:srgbClr val="7030A0"/>
              </a:buClr>
              <a:buSzPct val="50000"/>
            </a:pPr>
            <a:endParaRPr lang="pt-BR" sz="1000" dirty="0">
              <a:solidFill>
                <a:schemeClr val="accent4"/>
              </a:solidFill>
            </a:endParaRPr>
          </a:p>
          <a:p>
            <a:pPr algn="just">
              <a:buClr>
                <a:srgbClr val="7030A0"/>
              </a:buClr>
              <a:buSzPct val="50000"/>
            </a:pPr>
            <a:endParaRPr lang="pt-BR" sz="1000" dirty="0" smtClean="0">
              <a:solidFill>
                <a:schemeClr val="accent4"/>
              </a:solidFill>
            </a:endParaRPr>
          </a:p>
          <a:p>
            <a:pPr algn="just">
              <a:buClr>
                <a:srgbClr val="7030A0"/>
              </a:buClr>
              <a:buSzPct val="50000"/>
            </a:pPr>
            <a:endParaRPr lang="pt-BR" sz="1000" dirty="0">
              <a:solidFill>
                <a:schemeClr val="accent4"/>
              </a:solidFill>
            </a:endParaRPr>
          </a:p>
          <a:p>
            <a:pPr algn="just">
              <a:buClr>
                <a:srgbClr val="7030A0"/>
              </a:buClr>
              <a:buSzPct val="50000"/>
            </a:pPr>
            <a:endParaRPr lang="pt-BR" sz="1000" dirty="0" smtClean="0">
              <a:solidFill>
                <a:schemeClr val="accent4"/>
              </a:solidFill>
            </a:endParaRPr>
          </a:p>
          <a:p>
            <a:pPr algn="just">
              <a:buClr>
                <a:srgbClr val="7030A0"/>
              </a:buClr>
              <a:buSzPct val="50000"/>
            </a:pPr>
            <a:endParaRPr lang="pt-BR" sz="1000" dirty="0">
              <a:solidFill>
                <a:schemeClr val="accent4"/>
              </a:solidFill>
            </a:endParaRPr>
          </a:p>
          <a:p>
            <a:pPr algn="just">
              <a:buClr>
                <a:srgbClr val="7030A0"/>
              </a:buClr>
              <a:buSzPct val="50000"/>
            </a:pPr>
            <a:endParaRPr lang="pt-BR" sz="1000" dirty="0" smtClean="0">
              <a:solidFill>
                <a:schemeClr val="accent4"/>
              </a:solidFill>
            </a:endParaRPr>
          </a:p>
          <a:p>
            <a:pPr algn="just">
              <a:buClr>
                <a:srgbClr val="7030A0"/>
              </a:buClr>
              <a:buSzPct val="50000"/>
            </a:pPr>
            <a:endParaRPr lang="pt-BR" sz="1000" dirty="0">
              <a:solidFill>
                <a:schemeClr val="accent4"/>
              </a:solidFill>
            </a:endParaRPr>
          </a:p>
          <a:p>
            <a:pPr algn="just">
              <a:buClr>
                <a:srgbClr val="7030A0"/>
              </a:buClr>
              <a:buSzPct val="50000"/>
            </a:pPr>
            <a:endParaRPr lang="pt-BR" sz="1000" dirty="0" smtClean="0">
              <a:solidFill>
                <a:schemeClr val="accent4"/>
              </a:solidFill>
            </a:endParaRPr>
          </a:p>
          <a:p>
            <a:pPr algn="just">
              <a:buClr>
                <a:srgbClr val="7030A0"/>
              </a:buClr>
              <a:buSzPct val="50000"/>
            </a:pPr>
            <a:endParaRPr lang="pt-BR" sz="1000" dirty="0" smtClean="0">
              <a:solidFill>
                <a:schemeClr val="accent4"/>
              </a:solidFill>
            </a:endParaRPr>
          </a:p>
          <a:p>
            <a:pPr algn="just">
              <a:buClr>
                <a:srgbClr val="7030A0"/>
              </a:buClr>
              <a:buSzPct val="50000"/>
            </a:pPr>
            <a:endParaRPr lang="pt-BR" sz="1000" dirty="0">
              <a:solidFill>
                <a:schemeClr val="accent4"/>
              </a:solidFill>
            </a:endParaRPr>
          </a:p>
          <a:p>
            <a:pPr algn="just">
              <a:buClr>
                <a:srgbClr val="7030A0"/>
              </a:buClr>
              <a:buSzPct val="50000"/>
            </a:pPr>
            <a:endParaRPr lang="pt-BR" sz="1000" dirty="0" smtClean="0">
              <a:solidFill>
                <a:schemeClr val="accent4"/>
              </a:solidFill>
            </a:endParaRPr>
          </a:p>
          <a:p>
            <a:pPr algn="just">
              <a:buClr>
                <a:srgbClr val="7030A0"/>
              </a:buClr>
              <a:buSzPct val="50000"/>
            </a:pPr>
            <a:r>
              <a:rPr lang="pt-BR" dirty="0" smtClean="0">
                <a:solidFill>
                  <a:schemeClr val="accent4"/>
                </a:solidFill>
              </a:rPr>
              <a:t>Recomendamos medir </a:t>
            </a:r>
            <a:r>
              <a:rPr lang="pt-BR" b="1" dirty="0" smtClean="0">
                <a:solidFill>
                  <a:schemeClr val="accent4"/>
                </a:solidFill>
              </a:rPr>
              <a:t>a Confiabilidade dos Serviços</a:t>
            </a:r>
            <a:r>
              <a:rPr lang="pt-BR" dirty="0" smtClean="0">
                <a:solidFill>
                  <a:schemeClr val="accent4"/>
                </a:solidFill>
              </a:rPr>
              <a:t>, estabelecendo um controle rigoroso sobre a </a:t>
            </a:r>
            <a:r>
              <a:rPr lang="pt-BR" b="1" dirty="0" smtClean="0">
                <a:solidFill>
                  <a:schemeClr val="accent4"/>
                </a:solidFill>
              </a:rPr>
              <a:t>frequência e a duração das falhas</a:t>
            </a:r>
            <a:r>
              <a:rPr lang="pt-BR" dirty="0" smtClean="0">
                <a:solidFill>
                  <a:schemeClr val="accent4"/>
                </a:solidFill>
              </a:rPr>
              <a:t>, aspectos que devem ser objetivo de melhoria. Com foco em confiabilidade, a disponibilidade aumentará, naturalmente.</a:t>
            </a:r>
          </a:p>
          <a:p>
            <a:pPr algn="just">
              <a:buClr>
                <a:srgbClr val="7030A0"/>
              </a:buClr>
              <a:buSzPct val="50000"/>
            </a:pPr>
            <a:r>
              <a:rPr lang="pt-BR" dirty="0" smtClean="0">
                <a:solidFill>
                  <a:schemeClr val="accent4"/>
                </a:solidFill>
              </a:rPr>
              <a:t>Recomendamos medir o </a:t>
            </a:r>
            <a:r>
              <a:rPr lang="pt-BR" b="1" i="1" dirty="0" smtClean="0">
                <a:solidFill>
                  <a:schemeClr val="accent4"/>
                </a:solidFill>
              </a:rPr>
              <a:t>Recovery Time</a:t>
            </a:r>
            <a:r>
              <a:rPr lang="pt-BR" dirty="0" smtClean="0">
                <a:solidFill>
                  <a:schemeClr val="accent4"/>
                </a:solidFill>
              </a:rPr>
              <a:t>, para compreender a perspectiva do usuário.</a:t>
            </a:r>
            <a:endParaRPr lang="pt-BR" dirty="0">
              <a:solidFill>
                <a:schemeClr val="accent4"/>
              </a:solidFill>
            </a:endParaRP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9993" y="2014199"/>
            <a:ext cx="5352893" cy="1960104"/>
          </a:xfrm>
          <a:prstGeom prst="rect">
            <a:avLst/>
          </a:prstGeom>
        </p:spPr>
      </p:pic>
      <p:sp>
        <p:nvSpPr>
          <p:cNvPr id="4" name="CaixaDeTexto 3"/>
          <p:cNvSpPr txBox="1"/>
          <p:nvPr/>
        </p:nvSpPr>
        <p:spPr>
          <a:xfrm>
            <a:off x="2388706" y="2014199"/>
            <a:ext cx="4320482" cy="270313"/>
          </a:xfrm>
          <a:prstGeom prst="rect">
            <a:avLst/>
          </a:prstGeom>
          <a:solidFill>
            <a:srgbClr val="FFC000">
              <a:alpha val="47059"/>
            </a:srgbClr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pt-BR" dirty="0"/>
          </a:p>
        </p:txBody>
      </p:sp>
      <p:sp>
        <p:nvSpPr>
          <p:cNvPr id="9" name="CaixaDeTexto 8"/>
          <p:cNvSpPr txBox="1"/>
          <p:nvPr/>
        </p:nvSpPr>
        <p:spPr>
          <a:xfrm>
            <a:off x="3707904" y="2886480"/>
            <a:ext cx="1440160" cy="311084"/>
          </a:xfrm>
          <a:prstGeom prst="rect">
            <a:avLst/>
          </a:prstGeom>
          <a:solidFill>
            <a:srgbClr val="FFC000">
              <a:alpha val="47059"/>
            </a:srgbClr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49380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5" presetClass="emph" presetSubtype="0" repeatCount="indefinite" grpId="1" nodeType="withEffect">
                                  <p:stCondLst>
                                    <p:cond delay="150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5" presetClass="emph" presetSubtype="0" repeatCount="indefinite" grpId="1" nodeType="withEffect">
                                  <p:stCondLst>
                                    <p:cond delay="150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3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9" grpId="0" animBg="1"/>
      <p:bldP spid="9" grpId="1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8" descr="NAT_marca_branca_natura-01.png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0432" y="19878"/>
            <a:ext cx="576000" cy="57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CaixaDeTexto 5"/>
          <p:cNvSpPr txBox="1"/>
          <p:nvPr/>
        </p:nvSpPr>
        <p:spPr>
          <a:xfrm>
            <a:off x="-1" y="2"/>
            <a:ext cx="9144001" cy="646331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O que </a:t>
            </a:r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orientamos</a:t>
            </a:r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ExtraBold" pitchFamily="34" charset="0"/>
            </a:endParaRPr>
          </a:p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Divulgar e Conscientizar o PEN</a:t>
            </a:r>
          </a:p>
        </p:txBody>
      </p:sp>
      <p:sp>
        <p:nvSpPr>
          <p:cNvPr id="8" name="CaixaDeTexto 7"/>
          <p:cNvSpPr txBox="1"/>
          <p:nvPr/>
        </p:nvSpPr>
        <p:spPr>
          <a:xfrm rot="16200000">
            <a:off x="8127558" y="4147980"/>
            <a:ext cx="176338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 b="1" dirty="0">
                <a:solidFill>
                  <a:schemeClr val="accent1">
                    <a:lumMod val="75000"/>
                  </a:schemeClr>
                </a:solidFill>
              </a:rPr>
              <a:t>CHACON</a:t>
            </a:r>
            <a:r>
              <a:rPr lang="pt-BR" sz="900" dirty="0"/>
              <a:t> </a:t>
            </a:r>
            <a:r>
              <a:rPr lang="pt-BR" sz="900" b="1" dirty="0">
                <a:solidFill>
                  <a:schemeClr val="bg1">
                    <a:lumMod val="85000"/>
                  </a:schemeClr>
                </a:solidFill>
              </a:rPr>
              <a:t>|</a:t>
            </a:r>
            <a:r>
              <a:rPr lang="pt-BR" sz="900" dirty="0"/>
              <a:t> </a:t>
            </a:r>
            <a:r>
              <a:rPr lang="pt-BR" sz="900" b="1" dirty="0">
                <a:solidFill>
                  <a:schemeClr val="bg1">
                    <a:lumMod val="65000"/>
                  </a:schemeClr>
                </a:solidFill>
              </a:rPr>
              <a:t>Consultoria Ilimitada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336422" y="773499"/>
            <a:ext cx="8340034" cy="42319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Clr>
                <a:srgbClr val="7030A0"/>
              </a:buClr>
              <a:buSzPct val="50000"/>
            </a:pPr>
            <a:r>
              <a:rPr lang="pt-BR" dirty="0" smtClean="0">
                <a:solidFill>
                  <a:schemeClr val="accent4"/>
                </a:solidFill>
              </a:rPr>
              <a:t>Durante a </a:t>
            </a:r>
            <a:r>
              <a:rPr lang="pt-BR" i="1" dirty="0" err="1" smtClean="0">
                <a:solidFill>
                  <a:schemeClr val="accent4"/>
                </a:solidFill>
              </a:rPr>
              <a:t>kick</a:t>
            </a:r>
            <a:r>
              <a:rPr lang="pt-BR" i="1" dirty="0" smtClean="0">
                <a:solidFill>
                  <a:schemeClr val="accent4"/>
                </a:solidFill>
              </a:rPr>
              <a:t>-off meeting</a:t>
            </a:r>
            <a:r>
              <a:rPr lang="pt-BR" dirty="0" smtClean="0">
                <a:solidFill>
                  <a:schemeClr val="accent4"/>
                </a:solidFill>
              </a:rPr>
              <a:t> fizemos uma breve referência ao Plano Estratégico Natura – PEN – e observamos que poucos profissionais o conhecem. É fato que há aspectos confidenciais, mas é também fato que a </a:t>
            </a:r>
            <a:r>
              <a:rPr lang="pt-BR" b="1" dirty="0" smtClean="0">
                <a:solidFill>
                  <a:schemeClr val="accent4"/>
                </a:solidFill>
              </a:rPr>
              <a:t>falta de visão sobre os objetivos da organização </a:t>
            </a:r>
            <a:r>
              <a:rPr lang="pt-BR" dirty="0" smtClean="0">
                <a:solidFill>
                  <a:schemeClr val="accent4"/>
                </a:solidFill>
              </a:rPr>
              <a:t>pode favorecer a percepção de </a:t>
            </a:r>
            <a:r>
              <a:rPr lang="pt-BR" b="1" dirty="0" smtClean="0">
                <a:solidFill>
                  <a:schemeClr val="accent4"/>
                </a:solidFill>
              </a:rPr>
              <a:t>falta de rumo e orientação</a:t>
            </a:r>
            <a:r>
              <a:rPr lang="pt-BR" dirty="0" smtClean="0">
                <a:solidFill>
                  <a:schemeClr val="accent4"/>
                </a:solidFill>
              </a:rPr>
              <a:t>. </a:t>
            </a:r>
          </a:p>
          <a:p>
            <a:pPr algn="just">
              <a:buClr>
                <a:srgbClr val="7030A0"/>
              </a:buClr>
              <a:buSzPct val="50000"/>
            </a:pPr>
            <a:endParaRPr lang="pt-BR" dirty="0">
              <a:solidFill>
                <a:schemeClr val="accent4"/>
              </a:solidFill>
            </a:endParaRPr>
          </a:p>
          <a:p>
            <a:pPr algn="just">
              <a:buClr>
                <a:srgbClr val="7030A0"/>
              </a:buClr>
              <a:buSzPct val="50000"/>
            </a:pPr>
            <a:endParaRPr lang="pt-BR" dirty="0" smtClean="0">
              <a:solidFill>
                <a:schemeClr val="accent4"/>
              </a:solidFill>
            </a:endParaRPr>
          </a:p>
          <a:p>
            <a:pPr algn="just">
              <a:buClr>
                <a:srgbClr val="7030A0"/>
              </a:buClr>
              <a:buSzPct val="50000"/>
            </a:pPr>
            <a:endParaRPr lang="pt-BR" dirty="0">
              <a:solidFill>
                <a:schemeClr val="accent4"/>
              </a:solidFill>
            </a:endParaRPr>
          </a:p>
          <a:p>
            <a:pPr algn="just">
              <a:buClr>
                <a:srgbClr val="7030A0"/>
              </a:buClr>
              <a:buSzPct val="50000"/>
            </a:pPr>
            <a:endParaRPr lang="pt-BR" dirty="0" smtClean="0">
              <a:solidFill>
                <a:schemeClr val="accent4"/>
              </a:solidFill>
            </a:endParaRPr>
          </a:p>
          <a:p>
            <a:pPr algn="just">
              <a:buClr>
                <a:srgbClr val="7030A0"/>
              </a:buClr>
              <a:buSzPct val="50000"/>
            </a:pPr>
            <a:endParaRPr lang="pt-BR" dirty="0">
              <a:solidFill>
                <a:schemeClr val="accent4"/>
              </a:solidFill>
            </a:endParaRPr>
          </a:p>
          <a:p>
            <a:pPr algn="just">
              <a:buClr>
                <a:srgbClr val="7030A0"/>
              </a:buClr>
              <a:buSzPct val="50000"/>
            </a:pPr>
            <a:endParaRPr lang="pt-BR" dirty="0" smtClean="0">
              <a:solidFill>
                <a:schemeClr val="accent4"/>
              </a:solidFill>
            </a:endParaRPr>
          </a:p>
          <a:p>
            <a:pPr algn="just">
              <a:buClr>
                <a:srgbClr val="7030A0"/>
              </a:buClr>
              <a:buSzPct val="50000"/>
            </a:pPr>
            <a:endParaRPr lang="pt-BR" dirty="0">
              <a:solidFill>
                <a:schemeClr val="accent4"/>
              </a:solidFill>
            </a:endParaRPr>
          </a:p>
          <a:p>
            <a:pPr algn="just">
              <a:buClr>
                <a:srgbClr val="7030A0"/>
              </a:buClr>
              <a:buSzPct val="50000"/>
            </a:pPr>
            <a:endParaRPr lang="pt-BR" dirty="0" smtClean="0">
              <a:solidFill>
                <a:schemeClr val="accent4"/>
              </a:solidFill>
            </a:endParaRPr>
          </a:p>
          <a:p>
            <a:pPr algn="just">
              <a:buClr>
                <a:srgbClr val="7030A0"/>
              </a:buClr>
              <a:buSzPct val="50000"/>
            </a:pPr>
            <a:endParaRPr lang="pt-BR" dirty="0">
              <a:solidFill>
                <a:schemeClr val="accent4"/>
              </a:solidFill>
            </a:endParaRPr>
          </a:p>
          <a:p>
            <a:pPr algn="just">
              <a:buClr>
                <a:srgbClr val="7030A0"/>
              </a:buClr>
              <a:buSzPct val="50000"/>
            </a:pPr>
            <a:endParaRPr lang="pt-BR" dirty="0" smtClean="0">
              <a:solidFill>
                <a:schemeClr val="accent4"/>
              </a:solidFill>
            </a:endParaRPr>
          </a:p>
          <a:p>
            <a:pPr algn="ctr">
              <a:buClr>
                <a:srgbClr val="7030A0"/>
              </a:buClr>
              <a:buSzPct val="50000"/>
            </a:pPr>
            <a:r>
              <a:rPr lang="pt-BR" sz="1700" dirty="0" smtClean="0">
                <a:solidFill>
                  <a:schemeClr val="accent4"/>
                </a:solidFill>
              </a:rPr>
              <a:t>É preciso </a:t>
            </a:r>
            <a:r>
              <a:rPr lang="pt-BR" sz="1700" i="1" dirty="0" smtClean="0">
                <a:solidFill>
                  <a:schemeClr val="accent4"/>
                </a:solidFill>
              </a:rPr>
              <a:t>visitar</a:t>
            </a:r>
            <a:r>
              <a:rPr lang="pt-BR" sz="1700" dirty="0" smtClean="0">
                <a:solidFill>
                  <a:schemeClr val="accent4"/>
                </a:solidFill>
              </a:rPr>
              <a:t> frequentemente a </a:t>
            </a:r>
            <a:r>
              <a:rPr lang="pt-BR" sz="1700" b="1" dirty="0" smtClean="0">
                <a:solidFill>
                  <a:schemeClr val="accent4"/>
                </a:solidFill>
              </a:rPr>
              <a:t>estratégia e indicadores relacionados </a:t>
            </a:r>
            <a:r>
              <a:rPr lang="pt-BR" sz="1700" dirty="0" smtClean="0">
                <a:solidFill>
                  <a:schemeClr val="accent4"/>
                </a:solidFill>
              </a:rPr>
              <a:t>(habilitadores).</a:t>
            </a:r>
            <a:endParaRPr lang="pt-BR" sz="1700" dirty="0">
              <a:solidFill>
                <a:schemeClr val="accent4"/>
              </a:solidFill>
            </a:endParaRPr>
          </a:p>
        </p:txBody>
      </p:sp>
      <p:sp>
        <p:nvSpPr>
          <p:cNvPr id="12" name="Retângulo 11"/>
          <p:cNvSpPr/>
          <p:nvPr/>
        </p:nvSpPr>
        <p:spPr>
          <a:xfrm>
            <a:off x="5900723" y="2144069"/>
            <a:ext cx="2863194" cy="2369880"/>
          </a:xfrm>
          <a:prstGeom prst="rect">
            <a:avLst/>
          </a:prstGeom>
          <a:solidFill>
            <a:srgbClr val="7030A0"/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pt-BR" sz="1400" dirty="0" smtClean="0"/>
              <a:t>“</a:t>
            </a:r>
            <a:r>
              <a:rPr lang="pt-BR" sz="1400" i="1" dirty="0" smtClean="0"/>
              <a:t>Uma das prioridades é investir em sistemas digitais, para </a:t>
            </a:r>
            <a:r>
              <a:rPr lang="pt-BR" sz="1400" b="1" i="1" dirty="0" smtClean="0"/>
              <a:t>facilitar os pedidos e pagamentos</a:t>
            </a:r>
            <a:r>
              <a:rPr lang="pt-BR" sz="1400" i="1" dirty="0" smtClean="0"/>
              <a:t> recebidos por consultoras, fazer indicações individualizadas, ter </a:t>
            </a:r>
            <a:r>
              <a:rPr lang="pt-BR" sz="1400" b="1" i="1" dirty="0" smtClean="0"/>
              <a:t>dados mais elaborados para acompanhar o negócio</a:t>
            </a:r>
            <a:r>
              <a:rPr lang="pt-BR" sz="1400" i="1" dirty="0" smtClean="0"/>
              <a:t> e conhecer os clientes</a:t>
            </a:r>
            <a:r>
              <a:rPr lang="pt-BR" sz="1400" dirty="0" smtClean="0"/>
              <a:t>.”</a:t>
            </a:r>
          </a:p>
          <a:p>
            <a:endParaRPr lang="pt-BR" sz="1400" dirty="0"/>
          </a:p>
          <a:p>
            <a:pPr algn="r"/>
            <a:r>
              <a:rPr lang="pt-BR" sz="1400" b="1" dirty="0" smtClean="0"/>
              <a:t>Roberto Lima</a:t>
            </a:r>
          </a:p>
          <a:p>
            <a:pPr algn="r"/>
            <a:r>
              <a:rPr lang="pt-BR" sz="1000" dirty="0" smtClean="0"/>
              <a:t>Fonte: Valor Econômico, em </a:t>
            </a:r>
            <a:r>
              <a:rPr lang="pt-BR" sz="1200" b="1" dirty="0" smtClean="0"/>
              <a:t>23.07.2015</a:t>
            </a:r>
          </a:p>
          <a:p>
            <a:pPr algn="r"/>
            <a:r>
              <a:rPr lang="pt-BR" sz="1000" dirty="0" smtClean="0"/>
              <a:t>Por: Tatiane </a:t>
            </a:r>
            <a:r>
              <a:rPr lang="pt-BR" sz="1000" dirty="0" err="1" smtClean="0"/>
              <a:t>Bortolozi</a:t>
            </a:r>
            <a:endParaRPr lang="pt-BR" sz="1000" dirty="0"/>
          </a:p>
        </p:txBody>
      </p:sp>
      <p:pic>
        <p:nvPicPr>
          <p:cNvPr id="15" name="Imagem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4771" y="2078675"/>
            <a:ext cx="5374042" cy="2438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13507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8" descr="NAT_marca_branca_natura-01.png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0432" y="19878"/>
            <a:ext cx="576000" cy="57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CaixaDeTexto 5"/>
          <p:cNvSpPr txBox="1"/>
          <p:nvPr/>
        </p:nvSpPr>
        <p:spPr>
          <a:xfrm>
            <a:off x="-1" y="2"/>
            <a:ext cx="9144001" cy="646331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O que </a:t>
            </a:r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orientamos </a:t>
            </a:r>
          </a:p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Estimular </a:t>
            </a:r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a busca por Soluções</a:t>
            </a:r>
          </a:p>
        </p:txBody>
      </p:sp>
      <p:sp>
        <p:nvSpPr>
          <p:cNvPr id="8" name="CaixaDeTexto 7"/>
          <p:cNvSpPr txBox="1"/>
          <p:nvPr/>
        </p:nvSpPr>
        <p:spPr>
          <a:xfrm rot="16200000">
            <a:off x="8127558" y="4147980"/>
            <a:ext cx="176338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 b="1" dirty="0">
                <a:solidFill>
                  <a:schemeClr val="accent1">
                    <a:lumMod val="75000"/>
                  </a:schemeClr>
                </a:solidFill>
              </a:rPr>
              <a:t>CHACON</a:t>
            </a:r>
            <a:r>
              <a:rPr lang="pt-BR" sz="900" dirty="0"/>
              <a:t> </a:t>
            </a:r>
            <a:r>
              <a:rPr lang="pt-BR" sz="900" b="1" dirty="0">
                <a:solidFill>
                  <a:schemeClr val="bg1">
                    <a:lumMod val="85000"/>
                  </a:schemeClr>
                </a:solidFill>
              </a:rPr>
              <a:t>|</a:t>
            </a:r>
            <a:r>
              <a:rPr lang="pt-BR" sz="900" dirty="0"/>
              <a:t> </a:t>
            </a:r>
            <a:r>
              <a:rPr lang="pt-BR" sz="900" b="1" dirty="0">
                <a:solidFill>
                  <a:schemeClr val="bg1">
                    <a:lumMod val="65000"/>
                  </a:schemeClr>
                </a:solidFill>
              </a:rPr>
              <a:t>Consultoria Ilimitada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336422" y="773499"/>
            <a:ext cx="834003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Clr>
                <a:srgbClr val="7030A0"/>
              </a:buClr>
              <a:buSzPct val="50000"/>
            </a:pPr>
            <a:r>
              <a:rPr lang="pt-BR" dirty="0" smtClean="0">
                <a:solidFill>
                  <a:schemeClr val="accent4"/>
                </a:solidFill>
              </a:rPr>
              <a:t>Identificamos uma </a:t>
            </a:r>
            <a:r>
              <a:rPr lang="pt-BR" b="1" dirty="0" smtClean="0">
                <a:solidFill>
                  <a:schemeClr val="accent4"/>
                </a:solidFill>
              </a:rPr>
              <a:t>reação negativa em relação ao Gerenciamento de Problemas</a:t>
            </a:r>
            <a:r>
              <a:rPr lang="pt-BR" dirty="0" smtClean="0">
                <a:solidFill>
                  <a:schemeClr val="accent4"/>
                </a:solidFill>
              </a:rPr>
              <a:t>. Os profissionais não se oferecem para a investigação, pois “</a:t>
            </a:r>
            <a:r>
              <a:rPr lang="pt-BR" b="1" dirty="0" smtClean="0">
                <a:solidFill>
                  <a:schemeClr val="accent4"/>
                </a:solidFill>
              </a:rPr>
              <a:t>ter um problema</a:t>
            </a:r>
            <a:r>
              <a:rPr lang="pt-BR" dirty="0" smtClean="0">
                <a:solidFill>
                  <a:schemeClr val="accent4"/>
                </a:solidFill>
              </a:rPr>
              <a:t>” é algo mal visto, passível de cobranças e pressões. Todos fogem de problemas, ou ao menos tentam transferir ou dividir responsabilidades, para não “</a:t>
            </a:r>
            <a:r>
              <a:rPr lang="pt-BR" b="1" dirty="0" smtClean="0">
                <a:solidFill>
                  <a:schemeClr val="accent4"/>
                </a:solidFill>
              </a:rPr>
              <a:t>ser o culpado</a:t>
            </a:r>
            <a:r>
              <a:rPr lang="pt-BR" dirty="0" smtClean="0">
                <a:solidFill>
                  <a:schemeClr val="accent4"/>
                </a:solidFill>
              </a:rPr>
              <a:t>”.</a:t>
            </a:r>
          </a:p>
          <a:p>
            <a:pPr algn="just">
              <a:buClr>
                <a:srgbClr val="7030A0"/>
              </a:buClr>
              <a:buSzPct val="50000"/>
            </a:pPr>
            <a:endParaRPr lang="pt-BR" sz="1400" dirty="0" smtClean="0">
              <a:solidFill>
                <a:schemeClr val="accent4"/>
              </a:solidFill>
            </a:endParaRPr>
          </a:p>
          <a:p>
            <a:pPr algn="just">
              <a:buClr>
                <a:srgbClr val="7030A0"/>
              </a:buClr>
              <a:buSzPct val="50000"/>
            </a:pPr>
            <a:r>
              <a:rPr lang="pt-BR" dirty="0" smtClean="0">
                <a:solidFill>
                  <a:schemeClr val="accent4"/>
                </a:solidFill>
              </a:rPr>
              <a:t>Recomendamos a adoção de uma </a:t>
            </a:r>
            <a:r>
              <a:rPr lang="pt-BR" b="1" dirty="0" smtClean="0">
                <a:solidFill>
                  <a:schemeClr val="accent4"/>
                </a:solidFill>
              </a:rPr>
              <a:t>perspectiva positiva</a:t>
            </a:r>
            <a:r>
              <a:rPr lang="pt-BR" dirty="0" smtClean="0">
                <a:solidFill>
                  <a:schemeClr val="accent4"/>
                </a:solidFill>
              </a:rPr>
              <a:t>, na qual a </a:t>
            </a:r>
            <a:r>
              <a:rPr lang="pt-BR" b="1" dirty="0" smtClean="0">
                <a:solidFill>
                  <a:schemeClr val="accent4"/>
                </a:solidFill>
              </a:rPr>
              <a:t>identificação de soluções</a:t>
            </a:r>
            <a:r>
              <a:rPr lang="pt-BR" dirty="0" smtClean="0">
                <a:solidFill>
                  <a:schemeClr val="accent4"/>
                </a:solidFill>
              </a:rPr>
              <a:t> seja </a:t>
            </a:r>
            <a:r>
              <a:rPr lang="pt-BR" b="1" dirty="0" smtClean="0">
                <a:solidFill>
                  <a:schemeClr val="accent4"/>
                </a:solidFill>
              </a:rPr>
              <a:t>motivo de celebração e reconhecimento</a:t>
            </a:r>
            <a:r>
              <a:rPr lang="pt-BR" dirty="0" smtClean="0">
                <a:solidFill>
                  <a:schemeClr val="accent4"/>
                </a:solidFill>
              </a:rPr>
              <a:t>. Um processo de problemas sem prazos e pressões – mas com estimativas, determinação e controle – é </a:t>
            </a:r>
            <a:r>
              <a:rPr lang="pt-BR" b="1" dirty="0" smtClean="0">
                <a:solidFill>
                  <a:schemeClr val="accent4"/>
                </a:solidFill>
              </a:rPr>
              <a:t>fator determinante para a melhoria da qualidade dos serviços</a:t>
            </a:r>
            <a:r>
              <a:rPr lang="pt-BR" dirty="0" smtClean="0">
                <a:solidFill>
                  <a:schemeClr val="accent4"/>
                </a:solidFill>
              </a:rPr>
              <a:t>.</a:t>
            </a:r>
            <a:endParaRPr lang="pt-BR" sz="1700" b="1" dirty="0">
              <a:solidFill>
                <a:srgbClr val="FF0000"/>
              </a:solidFill>
            </a:endParaRP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7904" y="3444127"/>
            <a:ext cx="4819517" cy="1575000"/>
          </a:xfrm>
          <a:prstGeom prst="rect">
            <a:avLst/>
          </a:prstGeom>
        </p:spPr>
      </p:pic>
      <p:sp>
        <p:nvSpPr>
          <p:cNvPr id="3" name="CaixaDeTexto 2"/>
          <p:cNvSpPr txBox="1"/>
          <p:nvPr/>
        </p:nvSpPr>
        <p:spPr>
          <a:xfrm>
            <a:off x="467544" y="3416019"/>
            <a:ext cx="266429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000" b="1" dirty="0">
                <a:solidFill>
                  <a:srgbClr val="FF0000"/>
                </a:solidFill>
              </a:rPr>
              <a:t>Gerenciar Problemas não é colocar mais pressão sobre a </a:t>
            </a:r>
            <a:r>
              <a:rPr lang="pt-BR" sz="2000" b="1" dirty="0" smtClean="0">
                <a:solidFill>
                  <a:srgbClr val="FF0000"/>
                </a:solidFill>
              </a:rPr>
              <a:t>resolução </a:t>
            </a:r>
            <a:r>
              <a:rPr lang="pt-BR" sz="2000" b="1" dirty="0">
                <a:solidFill>
                  <a:srgbClr val="FF0000"/>
                </a:solidFill>
              </a:rPr>
              <a:t>de um incidente crítico</a:t>
            </a:r>
            <a:r>
              <a:rPr lang="pt-BR" sz="2000" b="1" dirty="0" smtClean="0">
                <a:solidFill>
                  <a:srgbClr val="FF0000"/>
                </a:solidFill>
              </a:rPr>
              <a:t>!</a:t>
            </a:r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28275399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8" descr="NAT_marca_branca_natura-01.png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0432" y="19878"/>
            <a:ext cx="576000" cy="57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CaixaDeTexto 5"/>
          <p:cNvSpPr txBox="1"/>
          <p:nvPr/>
        </p:nvSpPr>
        <p:spPr>
          <a:xfrm>
            <a:off x="-1" y="2"/>
            <a:ext cx="9144001" cy="646331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O que </a:t>
            </a:r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orientamos</a:t>
            </a:r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ExtraBold" pitchFamily="34" charset="0"/>
            </a:endParaRPr>
          </a:p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Reduzir Mudanças não Planejadas</a:t>
            </a:r>
          </a:p>
        </p:txBody>
      </p:sp>
      <p:sp>
        <p:nvSpPr>
          <p:cNvPr id="8" name="CaixaDeTexto 7"/>
          <p:cNvSpPr txBox="1"/>
          <p:nvPr/>
        </p:nvSpPr>
        <p:spPr>
          <a:xfrm rot="16200000">
            <a:off x="8127558" y="4147980"/>
            <a:ext cx="176338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 b="1" dirty="0">
                <a:solidFill>
                  <a:schemeClr val="accent1">
                    <a:lumMod val="75000"/>
                  </a:schemeClr>
                </a:solidFill>
              </a:rPr>
              <a:t>CHACON</a:t>
            </a:r>
            <a:r>
              <a:rPr lang="pt-BR" sz="900" dirty="0"/>
              <a:t> </a:t>
            </a:r>
            <a:r>
              <a:rPr lang="pt-BR" sz="900" b="1" dirty="0">
                <a:solidFill>
                  <a:schemeClr val="bg1">
                    <a:lumMod val="85000"/>
                  </a:schemeClr>
                </a:solidFill>
              </a:rPr>
              <a:t>|</a:t>
            </a:r>
            <a:r>
              <a:rPr lang="pt-BR" sz="900" dirty="0"/>
              <a:t> </a:t>
            </a:r>
            <a:r>
              <a:rPr lang="pt-BR" sz="900" b="1" dirty="0">
                <a:solidFill>
                  <a:schemeClr val="bg1">
                    <a:lumMod val="65000"/>
                  </a:schemeClr>
                </a:solidFill>
              </a:rPr>
              <a:t>Consultoria Ilimitada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336422" y="773499"/>
            <a:ext cx="834003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Clr>
                <a:srgbClr val="7030A0"/>
              </a:buClr>
              <a:buSzPct val="50000"/>
            </a:pPr>
            <a:r>
              <a:rPr lang="pt-BR" dirty="0" smtClean="0">
                <a:solidFill>
                  <a:schemeClr val="accent4"/>
                </a:solidFill>
              </a:rPr>
              <a:t>Quase a metade (45%) das </a:t>
            </a:r>
            <a:r>
              <a:rPr lang="pt-BR" b="1" dirty="0" smtClean="0">
                <a:solidFill>
                  <a:schemeClr val="accent4"/>
                </a:solidFill>
              </a:rPr>
              <a:t>mudanças não são planejadas</a:t>
            </a:r>
            <a:r>
              <a:rPr lang="pt-BR" dirty="0" smtClean="0">
                <a:solidFill>
                  <a:schemeClr val="accent4"/>
                </a:solidFill>
              </a:rPr>
              <a:t>. Diversas são as razões – ou justificativas – mas este índice demonstra um apetite ao </a:t>
            </a:r>
            <a:r>
              <a:rPr lang="pt-BR" b="1" dirty="0" smtClean="0">
                <a:solidFill>
                  <a:schemeClr val="accent4"/>
                </a:solidFill>
              </a:rPr>
              <a:t>risco que não condiz com os objetivos de estabilidade do ambiente</a:t>
            </a:r>
            <a:r>
              <a:rPr lang="pt-BR" dirty="0" smtClean="0">
                <a:solidFill>
                  <a:schemeClr val="accent4"/>
                </a:solidFill>
              </a:rPr>
              <a:t>. É imperativo </a:t>
            </a:r>
            <a:r>
              <a:rPr lang="pt-BR" b="1" dirty="0" smtClean="0">
                <a:solidFill>
                  <a:schemeClr val="accent4"/>
                </a:solidFill>
              </a:rPr>
              <a:t>antecipar o controle </a:t>
            </a:r>
            <a:r>
              <a:rPr lang="pt-BR" dirty="0" smtClean="0">
                <a:solidFill>
                  <a:schemeClr val="accent4"/>
                </a:solidFill>
              </a:rPr>
              <a:t>sobre quaisquer mudanças e </a:t>
            </a:r>
            <a:r>
              <a:rPr lang="pt-BR" b="1" dirty="0" smtClean="0">
                <a:solidFill>
                  <a:schemeClr val="accent4"/>
                </a:solidFill>
              </a:rPr>
              <a:t>estabelecer limites </a:t>
            </a:r>
            <a:r>
              <a:rPr lang="pt-BR" dirty="0" smtClean="0">
                <a:solidFill>
                  <a:schemeClr val="accent4"/>
                </a:solidFill>
              </a:rPr>
              <a:t>(metas) para as urgências.</a:t>
            </a:r>
            <a:endParaRPr lang="pt-BR" sz="1400" dirty="0" smtClean="0">
              <a:solidFill>
                <a:schemeClr val="accent4"/>
              </a:solidFill>
            </a:endParaRP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964" y="1996480"/>
            <a:ext cx="3796057" cy="3139321"/>
          </a:xfrm>
          <a:prstGeom prst="rect">
            <a:avLst/>
          </a:prstGeom>
        </p:spPr>
      </p:pic>
      <p:sp>
        <p:nvSpPr>
          <p:cNvPr id="5" name="Seta para a direita 4"/>
          <p:cNvSpPr/>
          <p:nvPr/>
        </p:nvSpPr>
        <p:spPr>
          <a:xfrm>
            <a:off x="660517" y="4357376"/>
            <a:ext cx="3600399" cy="740005"/>
          </a:xfrm>
          <a:prstGeom prst="rightArrow">
            <a:avLst>
              <a:gd name="adj1" fmla="val 71921"/>
              <a:gd name="adj2" fmla="val 60680"/>
            </a:avLst>
          </a:prstGeom>
          <a:solidFill>
            <a:schemeClr val="accent4">
              <a:lumMod val="40000"/>
              <a:lumOff val="60000"/>
              <a:alpha val="4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CaixaDeTexto 9"/>
          <p:cNvSpPr txBox="1"/>
          <p:nvPr/>
        </p:nvSpPr>
        <p:spPr>
          <a:xfrm>
            <a:off x="4302021" y="1996480"/>
            <a:ext cx="4211523" cy="31393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>
              <a:buClr>
                <a:srgbClr val="7030A0"/>
              </a:buClr>
              <a:buSzPct val="50000"/>
            </a:pPr>
            <a:r>
              <a:rPr lang="pt-BR" dirty="0" smtClean="0">
                <a:solidFill>
                  <a:schemeClr val="accent4"/>
                </a:solidFill>
              </a:rPr>
              <a:t>Intervimos na mais recente evolução do processo de Gerenciamento de Mudanças, propondo o </a:t>
            </a:r>
            <a:r>
              <a:rPr lang="pt-BR" b="1" dirty="0" smtClean="0">
                <a:solidFill>
                  <a:schemeClr val="accent4"/>
                </a:solidFill>
              </a:rPr>
              <a:t>vínculo entre Demandas, Mudanças e Projetos</a:t>
            </a:r>
            <a:r>
              <a:rPr lang="pt-BR" dirty="0" smtClean="0">
                <a:solidFill>
                  <a:schemeClr val="accent4"/>
                </a:solidFill>
              </a:rPr>
              <a:t>, de modo a antecipar a visibilidade e o control</a:t>
            </a:r>
            <a:r>
              <a:rPr lang="pt-BR" dirty="0">
                <a:solidFill>
                  <a:schemeClr val="accent4"/>
                </a:solidFill>
              </a:rPr>
              <a:t>e</a:t>
            </a:r>
            <a:r>
              <a:rPr lang="pt-BR" dirty="0" smtClean="0">
                <a:solidFill>
                  <a:schemeClr val="accent4"/>
                </a:solidFill>
              </a:rPr>
              <a:t>.</a:t>
            </a:r>
          </a:p>
          <a:p>
            <a:pPr algn="just">
              <a:buClr>
                <a:srgbClr val="7030A0"/>
              </a:buClr>
              <a:buSzPct val="50000"/>
            </a:pPr>
            <a:endParaRPr lang="pt-BR" dirty="0" smtClean="0">
              <a:solidFill>
                <a:schemeClr val="accent4"/>
              </a:solidFill>
            </a:endParaRPr>
          </a:p>
          <a:p>
            <a:pPr algn="just">
              <a:buClr>
                <a:srgbClr val="7030A0"/>
              </a:buClr>
              <a:buSzPct val="50000"/>
            </a:pPr>
            <a:r>
              <a:rPr lang="pt-BR" dirty="0" smtClean="0">
                <a:solidFill>
                  <a:schemeClr val="accent4"/>
                </a:solidFill>
              </a:rPr>
              <a:t>É um desafio muito significativo, pois exige uma </a:t>
            </a:r>
            <a:r>
              <a:rPr lang="pt-BR" b="1" dirty="0" smtClean="0">
                <a:solidFill>
                  <a:schemeClr val="accent4"/>
                </a:solidFill>
              </a:rPr>
              <a:t>mudança de mentalidade e disciplina </a:t>
            </a:r>
            <a:r>
              <a:rPr lang="pt-BR" dirty="0" smtClean="0">
                <a:solidFill>
                  <a:schemeClr val="accent4"/>
                </a:solidFill>
              </a:rPr>
              <a:t>também significativas, mas favorecerá o planejamento e a </a:t>
            </a:r>
            <a:r>
              <a:rPr lang="pt-BR" b="1" dirty="0" smtClean="0">
                <a:solidFill>
                  <a:schemeClr val="accent4"/>
                </a:solidFill>
              </a:rPr>
              <a:t>estabilidade do ambiente, sem perda de agilidade</a:t>
            </a:r>
            <a:r>
              <a:rPr lang="pt-BR" dirty="0" smtClean="0">
                <a:solidFill>
                  <a:schemeClr val="accent4"/>
                </a:solidFill>
              </a:rPr>
              <a:t>.</a:t>
            </a:r>
            <a:endParaRPr lang="pt-BR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52689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1" nodeType="after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7" presetClass="emph" presetSubtype="0" repeatCount="indefinite" fill="remove" grpId="0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Clr clrSpc="rgb" dir="cw">
                                      <p:cBhvr override="childStyle">
                                        <p:cTn id="18" dur="2500" autoRev="1" fill="remove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9" dur="2500" autoRev="1" fill="remove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0" dur="2500" autoRev="1" fill="remove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" dur="2500" autoRev="1" fill="remove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10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8" descr="NAT_marca_branca_natura-01.png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0432" y="19878"/>
            <a:ext cx="576000" cy="57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CaixaDeTexto 5"/>
          <p:cNvSpPr txBox="1"/>
          <p:nvPr/>
        </p:nvSpPr>
        <p:spPr>
          <a:xfrm>
            <a:off x="-1" y="2"/>
            <a:ext cx="9144001" cy="646331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O que </a:t>
            </a:r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orientamos</a:t>
            </a:r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ExtraBold" pitchFamily="34" charset="0"/>
            </a:endParaRPr>
          </a:p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Ritos diferentes para mudanças</a:t>
            </a:r>
          </a:p>
        </p:txBody>
      </p:sp>
      <p:sp>
        <p:nvSpPr>
          <p:cNvPr id="8" name="CaixaDeTexto 7"/>
          <p:cNvSpPr txBox="1"/>
          <p:nvPr/>
        </p:nvSpPr>
        <p:spPr>
          <a:xfrm rot="16200000">
            <a:off x="8127558" y="4147980"/>
            <a:ext cx="176338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 b="1" dirty="0">
                <a:solidFill>
                  <a:schemeClr val="accent1">
                    <a:lumMod val="75000"/>
                  </a:schemeClr>
                </a:solidFill>
              </a:rPr>
              <a:t>CHACON</a:t>
            </a:r>
            <a:r>
              <a:rPr lang="pt-BR" sz="900" dirty="0"/>
              <a:t> </a:t>
            </a:r>
            <a:r>
              <a:rPr lang="pt-BR" sz="900" b="1" dirty="0">
                <a:solidFill>
                  <a:schemeClr val="bg1">
                    <a:lumMod val="85000"/>
                  </a:schemeClr>
                </a:solidFill>
              </a:rPr>
              <a:t>|</a:t>
            </a:r>
            <a:r>
              <a:rPr lang="pt-BR" sz="900" dirty="0"/>
              <a:t> </a:t>
            </a:r>
            <a:r>
              <a:rPr lang="pt-BR" sz="900" b="1" dirty="0">
                <a:solidFill>
                  <a:schemeClr val="bg1">
                    <a:lumMod val="65000"/>
                  </a:schemeClr>
                </a:solidFill>
              </a:rPr>
              <a:t>Consultoria Ilimitada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336422" y="773499"/>
            <a:ext cx="834003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Clr>
                <a:srgbClr val="7030A0"/>
              </a:buClr>
              <a:buSzPct val="50000"/>
            </a:pPr>
            <a:r>
              <a:rPr lang="pt-BR" dirty="0" smtClean="0">
                <a:solidFill>
                  <a:schemeClr val="accent4"/>
                </a:solidFill>
              </a:rPr>
              <a:t>O processo de Gerenciamento de Mudanças atribui a </a:t>
            </a:r>
            <a:r>
              <a:rPr lang="pt-BR" b="1" dirty="0" smtClean="0">
                <a:solidFill>
                  <a:schemeClr val="accent4"/>
                </a:solidFill>
              </a:rPr>
              <a:t>qualquer tipo de mudança o mesmo rito</a:t>
            </a:r>
            <a:r>
              <a:rPr lang="pt-BR" dirty="0" smtClean="0">
                <a:solidFill>
                  <a:schemeClr val="accent4"/>
                </a:solidFill>
              </a:rPr>
              <a:t>, diferenciando apenas as não planejadas das planejadas e </a:t>
            </a:r>
            <a:r>
              <a:rPr lang="pt-BR" i="1" dirty="0">
                <a:solidFill>
                  <a:schemeClr val="accent4"/>
                </a:solidFill>
              </a:rPr>
              <a:t>releases</a:t>
            </a:r>
            <a:r>
              <a:rPr lang="pt-BR" dirty="0" smtClean="0">
                <a:solidFill>
                  <a:schemeClr val="accent4"/>
                </a:solidFill>
              </a:rPr>
              <a:t>.</a:t>
            </a:r>
          </a:p>
          <a:p>
            <a:pPr algn="just">
              <a:buClr>
                <a:srgbClr val="7030A0"/>
              </a:buClr>
              <a:buSzPct val="50000"/>
            </a:pPr>
            <a:endParaRPr lang="pt-BR" dirty="0" smtClean="0">
              <a:solidFill>
                <a:schemeClr val="accent4"/>
              </a:solidFill>
            </a:endParaRPr>
          </a:p>
          <a:p>
            <a:pPr algn="just">
              <a:buClr>
                <a:srgbClr val="7030A0"/>
              </a:buClr>
              <a:buSzPct val="50000"/>
            </a:pPr>
            <a:r>
              <a:rPr lang="pt-BR" dirty="0" smtClean="0">
                <a:solidFill>
                  <a:schemeClr val="accent4"/>
                </a:solidFill>
              </a:rPr>
              <a:t>Em conformidade com as melhores práticas – e porquê faz todo o sentido para a TD – recomendamos a </a:t>
            </a:r>
            <a:r>
              <a:rPr lang="pt-BR" dirty="0">
                <a:solidFill>
                  <a:schemeClr val="accent4"/>
                </a:solidFill>
              </a:rPr>
              <a:t>definição de </a:t>
            </a:r>
            <a:r>
              <a:rPr lang="pt-BR" b="1" dirty="0">
                <a:solidFill>
                  <a:schemeClr val="accent4"/>
                </a:solidFill>
              </a:rPr>
              <a:t>ritos diferentes para mudanças </a:t>
            </a:r>
            <a:r>
              <a:rPr lang="pt-BR" b="1" dirty="0" smtClean="0">
                <a:solidFill>
                  <a:schemeClr val="accent4"/>
                </a:solidFill>
              </a:rPr>
              <a:t>diferentes</a:t>
            </a:r>
            <a:r>
              <a:rPr lang="pt-BR" dirty="0" smtClean="0">
                <a:solidFill>
                  <a:schemeClr val="accent4"/>
                </a:solidFill>
              </a:rPr>
              <a:t>, adotando a prática de </a:t>
            </a:r>
            <a:r>
              <a:rPr lang="pt-BR" b="1" dirty="0" smtClean="0">
                <a:solidFill>
                  <a:schemeClr val="accent4"/>
                </a:solidFill>
              </a:rPr>
              <a:t>segregar mudanças em categorias Padrão, Emergencial e Normal</a:t>
            </a:r>
            <a:r>
              <a:rPr lang="pt-BR" dirty="0" smtClean="0">
                <a:solidFill>
                  <a:schemeClr val="accent4"/>
                </a:solidFill>
              </a:rPr>
              <a:t>.</a:t>
            </a:r>
            <a:endParaRPr lang="pt-BR" dirty="0">
              <a:solidFill>
                <a:schemeClr val="accent4"/>
              </a:solidFill>
            </a:endParaRPr>
          </a:p>
        </p:txBody>
      </p:sp>
      <p:sp>
        <p:nvSpPr>
          <p:cNvPr id="10" name="CaixaDeTexto 9"/>
          <p:cNvSpPr txBox="1"/>
          <p:nvPr/>
        </p:nvSpPr>
        <p:spPr>
          <a:xfrm>
            <a:off x="467543" y="2969166"/>
            <a:ext cx="2579393" cy="1631216"/>
          </a:xfrm>
          <a:prstGeom prst="rect">
            <a:avLst/>
          </a:prstGeom>
          <a:solidFill>
            <a:schemeClr val="accent3">
              <a:lumMod val="75000"/>
            </a:schemeClr>
          </a:solidFill>
          <a:effectLst>
            <a:softEdge rad="31750"/>
          </a:effectLst>
        </p:spPr>
        <p:txBody>
          <a:bodyPr wrap="square" rtlCol="0">
            <a:spAutoFit/>
          </a:bodyPr>
          <a:lstStyle/>
          <a:p>
            <a:pPr algn="just">
              <a:buClr>
                <a:srgbClr val="7030A0"/>
              </a:buClr>
              <a:buSzPct val="50000"/>
            </a:pPr>
            <a:r>
              <a:rPr lang="pt-BR" b="1" dirty="0" smtClean="0">
                <a:solidFill>
                  <a:schemeClr val="bg1"/>
                </a:solidFill>
              </a:rPr>
              <a:t>Padrão</a:t>
            </a:r>
          </a:p>
          <a:p>
            <a:pPr algn="just">
              <a:buClr>
                <a:srgbClr val="7030A0"/>
              </a:buClr>
              <a:buSzPct val="50000"/>
            </a:pPr>
            <a:endParaRPr lang="pt-BR" dirty="0">
              <a:solidFill>
                <a:schemeClr val="bg1"/>
              </a:solidFill>
            </a:endParaRPr>
          </a:p>
          <a:p>
            <a:pPr algn="just">
              <a:buClr>
                <a:srgbClr val="7030A0"/>
              </a:buClr>
              <a:buSzPct val="50000"/>
            </a:pPr>
            <a:r>
              <a:rPr lang="pt-BR" sz="1600" dirty="0" err="1" smtClean="0">
                <a:solidFill>
                  <a:schemeClr val="bg1"/>
                </a:solidFill>
              </a:rPr>
              <a:t>Pré</a:t>
            </a:r>
            <a:r>
              <a:rPr lang="pt-BR" sz="1600" dirty="0" smtClean="0">
                <a:solidFill>
                  <a:schemeClr val="bg1"/>
                </a:solidFill>
              </a:rPr>
              <a:t>-autorizadas pelo Gerente de Mudanças, são tratadas através de Requisições </a:t>
            </a:r>
            <a:r>
              <a:rPr lang="pt-BR" sz="1600" dirty="0">
                <a:solidFill>
                  <a:schemeClr val="bg1"/>
                </a:solidFill>
              </a:rPr>
              <a:t>de </a:t>
            </a:r>
            <a:r>
              <a:rPr lang="pt-BR" sz="1600" dirty="0" smtClean="0">
                <a:solidFill>
                  <a:schemeClr val="bg1"/>
                </a:solidFill>
              </a:rPr>
              <a:t>Serviços.</a:t>
            </a:r>
            <a:endParaRPr lang="pt-BR" sz="1600" dirty="0">
              <a:solidFill>
                <a:schemeClr val="bg1"/>
              </a:solidFill>
            </a:endParaRPr>
          </a:p>
        </p:txBody>
      </p:sp>
      <p:sp>
        <p:nvSpPr>
          <p:cNvPr id="9" name="CaixaDeTexto 8"/>
          <p:cNvSpPr txBox="1"/>
          <p:nvPr/>
        </p:nvSpPr>
        <p:spPr>
          <a:xfrm>
            <a:off x="3216742" y="2599834"/>
            <a:ext cx="2579393" cy="2369880"/>
          </a:xfrm>
          <a:prstGeom prst="rect">
            <a:avLst/>
          </a:prstGeom>
          <a:solidFill>
            <a:srgbClr val="C00000"/>
          </a:solidFill>
          <a:effectLst>
            <a:softEdge rad="31750"/>
          </a:effectLst>
        </p:spPr>
        <p:txBody>
          <a:bodyPr wrap="square" rtlCol="0">
            <a:spAutoFit/>
          </a:bodyPr>
          <a:lstStyle/>
          <a:p>
            <a:pPr algn="just">
              <a:buClr>
                <a:srgbClr val="7030A0"/>
              </a:buClr>
              <a:buSzPct val="50000"/>
            </a:pPr>
            <a:r>
              <a:rPr lang="pt-BR" b="1" dirty="0" smtClean="0">
                <a:solidFill>
                  <a:schemeClr val="bg1"/>
                </a:solidFill>
              </a:rPr>
              <a:t>Emergenciais</a:t>
            </a:r>
          </a:p>
          <a:p>
            <a:pPr algn="just">
              <a:buClr>
                <a:srgbClr val="7030A0"/>
              </a:buClr>
              <a:buSzPct val="50000"/>
            </a:pPr>
            <a:endParaRPr lang="pt-BR" dirty="0">
              <a:solidFill>
                <a:schemeClr val="bg1"/>
              </a:solidFill>
            </a:endParaRPr>
          </a:p>
          <a:p>
            <a:pPr algn="just">
              <a:buClr>
                <a:srgbClr val="7030A0"/>
              </a:buClr>
              <a:buSzPct val="50000"/>
            </a:pPr>
            <a:r>
              <a:rPr lang="pt-BR" sz="1600" dirty="0" smtClean="0">
                <a:solidFill>
                  <a:schemeClr val="bg1"/>
                </a:solidFill>
              </a:rPr>
              <a:t>Autorizadas pelo Gerente de Mudanças exclusivamente para solucionar incidentes críticos. </a:t>
            </a:r>
          </a:p>
          <a:p>
            <a:pPr algn="just">
              <a:buClr>
                <a:srgbClr val="7030A0"/>
              </a:buClr>
              <a:buSzPct val="50000"/>
            </a:pPr>
            <a:endParaRPr lang="pt-BR" sz="1600" dirty="0">
              <a:solidFill>
                <a:schemeClr val="bg1"/>
              </a:solidFill>
            </a:endParaRPr>
          </a:p>
          <a:p>
            <a:pPr algn="just">
              <a:buClr>
                <a:srgbClr val="7030A0"/>
              </a:buClr>
              <a:buSzPct val="50000"/>
            </a:pPr>
            <a:r>
              <a:rPr lang="pt-BR" sz="1600" dirty="0" smtClean="0">
                <a:solidFill>
                  <a:schemeClr val="bg1"/>
                </a:solidFill>
              </a:rPr>
              <a:t>Podem ser retroativas, em casos excepcionais.</a:t>
            </a:r>
            <a:endParaRPr lang="pt-BR" sz="1600" dirty="0">
              <a:solidFill>
                <a:schemeClr val="bg1"/>
              </a:solidFill>
            </a:endParaRPr>
          </a:p>
        </p:txBody>
      </p:sp>
      <p:sp>
        <p:nvSpPr>
          <p:cNvPr id="11" name="CaixaDeTexto 10"/>
          <p:cNvSpPr txBox="1"/>
          <p:nvPr/>
        </p:nvSpPr>
        <p:spPr>
          <a:xfrm>
            <a:off x="5965941" y="2476723"/>
            <a:ext cx="2579393" cy="2616101"/>
          </a:xfrm>
          <a:prstGeom prst="rect">
            <a:avLst/>
          </a:prstGeom>
          <a:solidFill>
            <a:srgbClr val="7030A0"/>
          </a:solidFill>
          <a:effectLst>
            <a:softEdge rad="31750"/>
          </a:effectLst>
        </p:spPr>
        <p:txBody>
          <a:bodyPr wrap="square" rtlCol="0">
            <a:spAutoFit/>
          </a:bodyPr>
          <a:lstStyle/>
          <a:p>
            <a:pPr algn="just">
              <a:buClr>
                <a:srgbClr val="7030A0"/>
              </a:buClr>
              <a:buSzPct val="50000"/>
            </a:pPr>
            <a:r>
              <a:rPr lang="pt-BR" b="1" dirty="0" smtClean="0">
                <a:solidFill>
                  <a:schemeClr val="bg1"/>
                </a:solidFill>
              </a:rPr>
              <a:t>Normais</a:t>
            </a:r>
            <a:r>
              <a:rPr lang="pt-BR" dirty="0" smtClean="0">
                <a:solidFill>
                  <a:schemeClr val="bg1"/>
                </a:solidFill>
              </a:rPr>
              <a:t> (Planejadas)</a:t>
            </a:r>
            <a:endParaRPr lang="pt-BR" dirty="0">
              <a:solidFill>
                <a:schemeClr val="bg1"/>
              </a:solidFill>
            </a:endParaRPr>
          </a:p>
          <a:p>
            <a:pPr algn="just">
              <a:buClr>
                <a:srgbClr val="7030A0"/>
              </a:buClr>
              <a:buSzPct val="50000"/>
            </a:pPr>
            <a:endParaRPr lang="pt-BR" dirty="0" smtClean="0">
              <a:solidFill>
                <a:schemeClr val="bg1"/>
              </a:solidFill>
            </a:endParaRPr>
          </a:p>
          <a:p>
            <a:pPr algn="just">
              <a:buClr>
                <a:srgbClr val="7030A0"/>
              </a:buClr>
              <a:buSzPct val="50000"/>
            </a:pPr>
            <a:r>
              <a:rPr lang="pt-BR" sz="1600" dirty="0" smtClean="0">
                <a:solidFill>
                  <a:schemeClr val="bg1"/>
                </a:solidFill>
              </a:rPr>
              <a:t>Se </a:t>
            </a:r>
            <a:r>
              <a:rPr lang="pt-BR" sz="1600" dirty="0">
                <a:solidFill>
                  <a:schemeClr val="bg1"/>
                </a:solidFill>
              </a:rPr>
              <a:t>subdividem em Menores, Significativas e Maiores, conforme recursos envolvidos e impacto para os </a:t>
            </a:r>
            <a:r>
              <a:rPr lang="pt-BR" sz="1600" dirty="0" smtClean="0">
                <a:solidFill>
                  <a:schemeClr val="bg1"/>
                </a:solidFill>
              </a:rPr>
              <a:t>negócios.</a:t>
            </a:r>
          </a:p>
          <a:p>
            <a:pPr algn="just">
              <a:buClr>
                <a:srgbClr val="7030A0"/>
              </a:buClr>
              <a:buSzPct val="50000"/>
            </a:pPr>
            <a:endParaRPr lang="pt-BR" sz="1600" dirty="0">
              <a:solidFill>
                <a:schemeClr val="bg1"/>
              </a:solidFill>
            </a:endParaRPr>
          </a:p>
          <a:p>
            <a:pPr algn="just">
              <a:buClr>
                <a:srgbClr val="7030A0"/>
              </a:buClr>
              <a:buSzPct val="50000"/>
            </a:pPr>
            <a:r>
              <a:rPr lang="pt-BR" sz="1600" dirty="0" smtClean="0">
                <a:solidFill>
                  <a:schemeClr val="bg1"/>
                </a:solidFill>
              </a:rPr>
              <a:t>Para cada tipo, um rito e uma alçada de aprovação.</a:t>
            </a:r>
          </a:p>
        </p:txBody>
      </p:sp>
    </p:spTree>
    <p:extLst>
      <p:ext uri="{BB962C8B-B14F-4D97-AF65-F5344CB8AC3E}">
        <p14:creationId xmlns:p14="http://schemas.microsoft.com/office/powerpoint/2010/main" val="27200999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9" grpId="0" animBg="1"/>
      <p:bldP spid="11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8" descr="NAT_marca_branca_natura-01.png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0432" y="19878"/>
            <a:ext cx="576000" cy="57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CaixaDeTexto 5"/>
          <p:cNvSpPr txBox="1"/>
          <p:nvPr/>
        </p:nvSpPr>
        <p:spPr>
          <a:xfrm>
            <a:off x="-1" y="2"/>
            <a:ext cx="9144001" cy="646331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O que </a:t>
            </a:r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orientamos</a:t>
            </a:r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ExtraBold" pitchFamily="34" charset="0"/>
            </a:endParaRPr>
          </a:p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Gerir </a:t>
            </a:r>
            <a:r>
              <a:rPr 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automação dos </a:t>
            </a:r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processos</a:t>
            </a:r>
          </a:p>
        </p:txBody>
      </p:sp>
      <p:sp>
        <p:nvSpPr>
          <p:cNvPr id="8" name="CaixaDeTexto 7"/>
          <p:cNvSpPr txBox="1"/>
          <p:nvPr/>
        </p:nvSpPr>
        <p:spPr>
          <a:xfrm rot="16200000">
            <a:off x="8127558" y="4147980"/>
            <a:ext cx="176338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 b="1" dirty="0">
                <a:solidFill>
                  <a:schemeClr val="accent1">
                    <a:lumMod val="75000"/>
                  </a:schemeClr>
                </a:solidFill>
              </a:rPr>
              <a:t>CHACON</a:t>
            </a:r>
            <a:r>
              <a:rPr lang="pt-BR" sz="900" dirty="0"/>
              <a:t> </a:t>
            </a:r>
            <a:r>
              <a:rPr lang="pt-BR" sz="900" b="1" dirty="0">
                <a:solidFill>
                  <a:schemeClr val="bg1">
                    <a:lumMod val="85000"/>
                  </a:schemeClr>
                </a:solidFill>
              </a:rPr>
              <a:t>|</a:t>
            </a:r>
            <a:r>
              <a:rPr lang="pt-BR" sz="900" dirty="0"/>
              <a:t> </a:t>
            </a:r>
            <a:r>
              <a:rPr lang="pt-BR" sz="900" b="1" dirty="0">
                <a:solidFill>
                  <a:schemeClr val="bg1">
                    <a:lumMod val="65000"/>
                  </a:schemeClr>
                </a:solidFill>
              </a:rPr>
              <a:t>Consultoria Ilimitada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336422" y="773499"/>
            <a:ext cx="8340034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Clr>
                <a:srgbClr val="7030A0"/>
              </a:buClr>
              <a:buSzPct val="50000"/>
            </a:pPr>
            <a:r>
              <a:rPr lang="pt-BR" dirty="0" smtClean="0">
                <a:solidFill>
                  <a:schemeClr val="accent4"/>
                </a:solidFill>
              </a:rPr>
              <a:t>A substituição das ferramentas ITSM provocou um impacto negativo nos níveis de automação dos processos. Houve um </a:t>
            </a:r>
            <a:r>
              <a:rPr lang="pt-BR" b="1" dirty="0" smtClean="0">
                <a:solidFill>
                  <a:schemeClr val="accent4"/>
                </a:solidFill>
              </a:rPr>
              <a:t>retrocesso em vários aspectos de gestão</a:t>
            </a:r>
            <a:r>
              <a:rPr lang="pt-BR" dirty="0" smtClean="0">
                <a:solidFill>
                  <a:schemeClr val="accent4"/>
                </a:solidFill>
              </a:rPr>
              <a:t>, causando </a:t>
            </a:r>
            <a:r>
              <a:rPr lang="pt-BR" b="1" dirty="0">
                <a:solidFill>
                  <a:schemeClr val="accent4"/>
                </a:solidFill>
              </a:rPr>
              <a:t>perdas relevantes </a:t>
            </a:r>
            <a:r>
              <a:rPr lang="pt-BR" b="1" dirty="0" smtClean="0">
                <a:solidFill>
                  <a:schemeClr val="accent4"/>
                </a:solidFill>
              </a:rPr>
              <a:t>para a gestão</a:t>
            </a:r>
            <a:r>
              <a:rPr lang="pt-BR" dirty="0" smtClean="0">
                <a:solidFill>
                  <a:schemeClr val="accent4"/>
                </a:solidFill>
              </a:rPr>
              <a:t>. Além disso, as novas ferramentas ficaram “sem dono”, ou melhor, quem as gere não gere os processos e vice-versa.</a:t>
            </a:r>
          </a:p>
          <a:p>
            <a:pPr algn="just">
              <a:buClr>
                <a:srgbClr val="7030A0"/>
              </a:buClr>
              <a:buSzPct val="50000"/>
            </a:pPr>
            <a:r>
              <a:rPr lang="pt-BR" sz="1000" dirty="0" smtClean="0">
                <a:solidFill>
                  <a:schemeClr val="accent4"/>
                </a:solidFill>
              </a:rPr>
              <a:t/>
            </a:r>
            <a:br>
              <a:rPr lang="pt-BR" sz="1000" dirty="0" smtClean="0">
                <a:solidFill>
                  <a:schemeClr val="accent4"/>
                </a:solidFill>
              </a:rPr>
            </a:br>
            <a:r>
              <a:rPr lang="pt-BR" dirty="0" smtClean="0">
                <a:solidFill>
                  <a:schemeClr val="accent4"/>
                </a:solidFill>
              </a:rPr>
              <a:t>Instamos a Governança a assumir sua </a:t>
            </a:r>
            <a:r>
              <a:rPr lang="pt-BR" b="1" dirty="0" smtClean="0">
                <a:solidFill>
                  <a:schemeClr val="accent4"/>
                </a:solidFill>
              </a:rPr>
              <a:t>responsabilidade e autoridade sobre todos os aspectos de automação dos processos</a:t>
            </a:r>
            <a:r>
              <a:rPr lang="pt-BR" dirty="0" smtClean="0">
                <a:solidFill>
                  <a:schemeClr val="accent4"/>
                </a:solidFill>
              </a:rPr>
              <a:t>, mantendo na DI a responsabilidade pela disponibilidade, confiabilidade e performance dos softwares. Para tanto, a </a:t>
            </a:r>
            <a:r>
              <a:rPr lang="pt-BR" dirty="0">
                <a:solidFill>
                  <a:schemeClr val="accent4"/>
                </a:solidFill>
              </a:rPr>
              <a:t>Governança deve convidar a CA a apresentar todas as </a:t>
            </a:r>
            <a:r>
              <a:rPr lang="pt-BR" b="1" dirty="0">
                <a:solidFill>
                  <a:schemeClr val="accent4"/>
                </a:solidFill>
              </a:rPr>
              <a:t>funcionalidades das soluções de automação contratadas</a:t>
            </a:r>
            <a:r>
              <a:rPr lang="pt-BR" dirty="0">
                <a:solidFill>
                  <a:schemeClr val="accent4"/>
                </a:solidFill>
              </a:rPr>
              <a:t> (CA SDM, CA </a:t>
            </a:r>
            <a:r>
              <a:rPr lang="pt-BR" dirty="0" err="1">
                <a:solidFill>
                  <a:schemeClr val="accent4"/>
                </a:solidFill>
              </a:rPr>
              <a:t>Clarity</a:t>
            </a:r>
            <a:r>
              <a:rPr lang="pt-BR" dirty="0">
                <a:solidFill>
                  <a:schemeClr val="accent4"/>
                </a:solidFill>
              </a:rPr>
              <a:t>-PPM e CA IM).</a:t>
            </a:r>
            <a:endParaRPr lang="pt-BR" sz="1600" dirty="0">
              <a:solidFill>
                <a:srgbClr val="FF0000"/>
              </a:solidFill>
            </a:endParaRPr>
          </a:p>
          <a:p>
            <a:pPr algn="just">
              <a:buClr>
                <a:srgbClr val="7030A0"/>
              </a:buClr>
              <a:buSzPct val="50000"/>
            </a:pPr>
            <a:endParaRPr lang="pt-BR" sz="1000" dirty="0">
              <a:solidFill>
                <a:schemeClr val="accent4"/>
              </a:solidFill>
            </a:endParaRPr>
          </a:p>
          <a:p>
            <a:pPr marL="985838" indent="-357188" algn="just">
              <a:buClr>
                <a:srgbClr val="FF0000"/>
              </a:buClr>
              <a:buSzPct val="50000"/>
            </a:pPr>
            <a:r>
              <a:rPr lang="pt-BR" dirty="0" smtClean="0">
                <a:solidFill>
                  <a:srgbClr val="FF0000"/>
                </a:solidFill>
              </a:rPr>
              <a:t>Os </a:t>
            </a:r>
            <a:r>
              <a:rPr lang="pt-BR" b="1" dirty="0" smtClean="0">
                <a:solidFill>
                  <a:srgbClr val="FF0000"/>
                </a:solidFill>
              </a:rPr>
              <a:t>aspectos mais urgentes a recuperar e melhorar</a:t>
            </a:r>
            <a:r>
              <a:rPr lang="pt-BR" dirty="0" smtClean="0">
                <a:solidFill>
                  <a:srgbClr val="FF0000"/>
                </a:solidFill>
              </a:rPr>
              <a:t>, com ações iniciadas, são:</a:t>
            </a:r>
          </a:p>
          <a:p>
            <a:pPr marL="985838" lvl="0" indent="-357188" algn="just">
              <a:buClr>
                <a:srgbClr val="FF0000"/>
              </a:buClr>
              <a:buSzPct val="50000"/>
              <a:buFont typeface="Wingdings" panose="05000000000000000000" pitchFamily="2" charset="2"/>
              <a:buChar char="§"/>
            </a:pPr>
            <a:r>
              <a:rPr lang="pt-BR" sz="1600" dirty="0" smtClean="0">
                <a:solidFill>
                  <a:srgbClr val="FF0000"/>
                </a:solidFill>
              </a:rPr>
              <a:t>Classificar Incidentes, Requisições e Problemas por </a:t>
            </a:r>
            <a:r>
              <a:rPr lang="pt-BR" sz="1600" b="1" dirty="0" smtClean="0">
                <a:solidFill>
                  <a:srgbClr val="FF0000"/>
                </a:solidFill>
              </a:rPr>
              <a:t>SINTOMAS</a:t>
            </a:r>
            <a:r>
              <a:rPr lang="pt-BR" sz="1600" dirty="0" smtClean="0">
                <a:solidFill>
                  <a:srgbClr val="FF0000"/>
                </a:solidFill>
              </a:rPr>
              <a:t>.</a:t>
            </a:r>
          </a:p>
          <a:p>
            <a:pPr marL="985838" lvl="0" indent="-357188" algn="just">
              <a:buClr>
                <a:srgbClr val="FF0000"/>
              </a:buClr>
              <a:buSzPct val="50000"/>
              <a:buFont typeface="Wingdings" panose="05000000000000000000" pitchFamily="2" charset="2"/>
              <a:buChar char="§"/>
            </a:pPr>
            <a:r>
              <a:rPr lang="pt-BR" sz="1600" dirty="0" smtClean="0">
                <a:solidFill>
                  <a:srgbClr val="FF0000"/>
                </a:solidFill>
              </a:rPr>
              <a:t>Reduzir a quantidade e reorganizar todas as </a:t>
            </a:r>
            <a:r>
              <a:rPr lang="pt-BR" sz="1600" b="1" dirty="0" smtClean="0">
                <a:solidFill>
                  <a:srgbClr val="FF0000"/>
                </a:solidFill>
              </a:rPr>
              <a:t>FILAS DE SUPORTE</a:t>
            </a:r>
            <a:r>
              <a:rPr lang="pt-BR" sz="1600" dirty="0" smtClean="0">
                <a:solidFill>
                  <a:srgbClr val="FF0000"/>
                </a:solidFill>
              </a:rPr>
              <a:t>.</a:t>
            </a:r>
          </a:p>
          <a:p>
            <a:pPr marL="985838" lvl="0" indent="-357188" algn="just">
              <a:buClr>
                <a:srgbClr val="FF0000"/>
              </a:buClr>
              <a:buSzPct val="50000"/>
              <a:buFont typeface="Wingdings" panose="05000000000000000000" pitchFamily="2" charset="2"/>
              <a:buChar char="§"/>
            </a:pPr>
            <a:r>
              <a:rPr lang="pt-BR" sz="1600" dirty="0" smtClean="0">
                <a:solidFill>
                  <a:srgbClr val="FF0000"/>
                </a:solidFill>
              </a:rPr>
              <a:t>Utilizar os </a:t>
            </a:r>
            <a:r>
              <a:rPr lang="pt-BR" sz="1600" b="1" dirty="0" smtClean="0">
                <a:solidFill>
                  <a:srgbClr val="FF0000"/>
                </a:solidFill>
              </a:rPr>
              <a:t>DASHBOARDS</a:t>
            </a:r>
            <a:r>
              <a:rPr lang="pt-BR" sz="1600" dirty="0" smtClean="0">
                <a:solidFill>
                  <a:srgbClr val="FF0000"/>
                </a:solidFill>
              </a:rPr>
              <a:t>.</a:t>
            </a:r>
          </a:p>
          <a:p>
            <a:pPr marL="985838" lvl="0" indent="-357188" algn="just">
              <a:buClr>
                <a:srgbClr val="FF0000"/>
              </a:buClr>
              <a:buSzPct val="50000"/>
              <a:buFont typeface="Wingdings" panose="05000000000000000000" pitchFamily="2" charset="2"/>
              <a:buChar char="§"/>
            </a:pPr>
            <a:r>
              <a:rPr lang="pt-BR" sz="1600" dirty="0" smtClean="0">
                <a:solidFill>
                  <a:srgbClr val="FF0000"/>
                </a:solidFill>
              </a:rPr>
              <a:t>Integrar </a:t>
            </a:r>
            <a:r>
              <a:rPr lang="pt-BR" sz="1600" b="1" dirty="0" smtClean="0">
                <a:solidFill>
                  <a:srgbClr val="FF0000"/>
                </a:solidFill>
              </a:rPr>
              <a:t>CA PPM </a:t>
            </a:r>
            <a:r>
              <a:rPr lang="pt-BR" sz="1600" dirty="0" smtClean="0">
                <a:solidFill>
                  <a:srgbClr val="FF0000"/>
                </a:solidFill>
              </a:rPr>
              <a:t>ao </a:t>
            </a:r>
            <a:r>
              <a:rPr lang="pt-BR" sz="1600" b="1" dirty="0" smtClean="0">
                <a:solidFill>
                  <a:srgbClr val="FF0000"/>
                </a:solidFill>
              </a:rPr>
              <a:t>CA SDM</a:t>
            </a:r>
            <a:r>
              <a:rPr lang="pt-BR" sz="1600" dirty="0" smtClean="0">
                <a:solidFill>
                  <a:srgbClr val="FF0000"/>
                </a:solidFill>
              </a:rPr>
              <a:t>.</a:t>
            </a:r>
          </a:p>
          <a:p>
            <a:pPr marL="985838" indent="-357188" algn="just">
              <a:buClr>
                <a:srgbClr val="FF0000"/>
              </a:buClr>
              <a:buSzPct val="50000"/>
              <a:buFont typeface="Wingdings" panose="05000000000000000000" pitchFamily="2" charset="2"/>
              <a:buChar char="§"/>
            </a:pPr>
            <a:r>
              <a:rPr lang="pt-BR" sz="1600" dirty="0" smtClean="0">
                <a:solidFill>
                  <a:srgbClr val="FF0000"/>
                </a:solidFill>
              </a:rPr>
              <a:t>Iniciar </a:t>
            </a:r>
            <a:r>
              <a:rPr lang="pt-BR" sz="1600" b="1" dirty="0" smtClean="0">
                <a:solidFill>
                  <a:srgbClr val="FF0000"/>
                </a:solidFill>
              </a:rPr>
              <a:t>CONFIGURAÇÃO DOS SERVIÇOS</a:t>
            </a:r>
            <a:r>
              <a:rPr lang="pt-BR" sz="1600" dirty="0" smtClean="0">
                <a:solidFill>
                  <a:srgbClr val="FF0000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369469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355" y="1178731"/>
            <a:ext cx="5173789" cy="3880341"/>
          </a:xfrm>
          <a:prstGeom prst="rect">
            <a:avLst/>
          </a:prstGeom>
        </p:spPr>
      </p:pic>
      <p:pic>
        <p:nvPicPr>
          <p:cNvPr id="14" name="Picture 8" descr="NAT_marca_branca_natura-01.png"/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0432" y="19878"/>
            <a:ext cx="576000" cy="57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CaixaDeTexto 5"/>
          <p:cNvSpPr txBox="1"/>
          <p:nvPr/>
        </p:nvSpPr>
        <p:spPr>
          <a:xfrm>
            <a:off x="-5355" y="-3842"/>
            <a:ext cx="9149355" cy="646331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O que </a:t>
            </a:r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orientamos</a:t>
            </a:r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ExtraBold" pitchFamily="34" charset="0"/>
            </a:endParaRPr>
          </a:p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Gerir </a:t>
            </a:r>
            <a:r>
              <a:rPr 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automação dos </a:t>
            </a:r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processos</a:t>
            </a:r>
          </a:p>
        </p:txBody>
      </p:sp>
      <p:sp>
        <p:nvSpPr>
          <p:cNvPr id="8" name="CaixaDeTexto 7"/>
          <p:cNvSpPr txBox="1"/>
          <p:nvPr/>
        </p:nvSpPr>
        <p:spPr>
          <a:xfrm rot="16200000">
            <a:off x="8127558" y="4147980"/>
            <a:ext cx="176338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 b="1" dirty="0">
                <a:solidFill>
                  <a:schemeClr val="accent1">
                    <a:lumMod val="75000"/>
                  </a:schemeClr>
                </a:solidFill>
              </a:rPr>
              <a:t>CHACON</a:t>
            </a:r>
            <a:r>
              <a:rPr lang="pt-BR" sz="900" dirty="0"/>
              <a:t> </a:t>
            </a:r>
            <a:r>
              <a:rPr lang="pt-BR" sz="900" b="1" dirty="0">
                <a:solidFill>
                  <a:schemeClr val="bg1">
                    <a:lumMod val="85000"/>
                  </a:schemeClr>
                </a:solidFill>
              </a:rPr>
              <a:t>|</a:t>
            </a:r>
            <a:r>
              <a:rPr lang="pt-BR" sz="900" dirty="0"/>
              <a:t> </a:t>
            </a:r>
            <a:r>
              <a:rPr lang="pt-BR" sz="900" b="1" dirty="0">
                <a:solidFill>
                  <a:schemeClr val="bg1">
                    <a:lumMod val="65000"/>
                  </a:schemeClr>
                </a:solidFill>
              </a:rPr>
              <a:t>Consultoria Ilimitada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251520" y="784085"/>
            <a:ext cx="68283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0363" lvl="0" indent="-360363" algn="just">
              <a:buClr>
                <a:srgbClr val="FF0000"/>
              </a:buClr>
              <a:buSzPct val="50000"/>
              <a:buFont typeface="Wingdings" panose="05000000000000000000" pitchFamily="2" charset="2"/>
              <a:buChar char="§"/>
            </a:pPr>
            <a:r>
              <a:rPr lang="pt-BR" dirty="0" smtClean="0">
                <a:solidFill>
                  <a:srgbClr val="FF0000"/>
                </a:solidFill>
              </a:rPr>
              <a:t>Classificar Incidentes, Requisições e Problemas por </a:t>
            </a:r>
            <a:r>
              <a:rPr lang="pt-BR" b="1" dirty="0" smtClean="0">
                <a:solidFill>
                  <a:srgbClr val="FF0000"/>
                </a:solidFill>
              </a:rPr>
              <a:t>SINTOMAS</a:t>
            </a:r>
            <a:r>
              <a:rPr lang="pt-BR" dirty="0" smtClean="0">
                <a:solidFill>
                  <a:srgbClr val="FF0000"/>
                </a:solidFill>
              </a:rPr>
              <a:t>.</a:t>
            </a:r>
          </a:p>
        </p:txBody>
      </p:sp>
      <p:sp>
        <p:nvSpPr>
          <p:cNvPr id="10" name="CaixaDeTexto 9"/>
          <p:cNvSpPr txBox="1"/>
          <p:nvPr/>
        </p:nvSpPr>
        <p:spPr>
          <a:xfrm>
            <a:off x="251520" y="789164"/>
            <a:ext cx="7260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0363" lvl="0" indent="-360363" algn="just">
              <a:buClr>
                <a:srgbClr val="FF0000"/>
              </a:buClr>
              <a:buSzPct val="50000"/>
              <a:buFont typeface="Wingdings" panose="05000000000000000000" pitchFamily="2" charset="2"/>
              <a:buChar char="§"/>
            </a:pPr>
            <a:r>
              <a:rPr lang="pt-BR" dirty="0" smtClean="0">
                <a:solidFill>
                  <a:srgbClr val="FF0000"/>
                </a:solidFill>
              </a:rPr>
              <a:t>Reduzir a quantidade e reorganizar todas as </a:t>
            </a:r>
            <a:r>
              <a:rPr lang="pt-BR" b="1" dirty="0" smtClean="0">
                <a:solidFill>
                  <a:srgbClr val="FF0000"/>
                </a:solidFill>
              </a:rPr>
              <a:t>FILAS DE SUPORTE</a:t>
            </a:r>
            <a:r>
              <a:rPr lang="pt-BR" dirty="0" smtClean="0">
                <a:solidFill>
                  <a:srgbClr val="FF0000"/>
                </a:solidFill>
              </a:rPr>
              <a:t>.</a:t>
            </a:r>
          </a:p>
        </p:txBody>
      </p:sp>
      <p:sp>
        <p:nvSpPr>
          <p:cNvPr id="11" name="CaixaDeTexto 10"/>
          <p:cNvSpPr txBox="1"/>
          <p:nvPr/>
        </p:nvSpPr>
        <p:spPr>
          <a:xfrm>
            <a:off x="265840" y="784085"/>
            <a:ext cx="75361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0363" lvl="0" indent="-360363" algn="just">
              <a:buClr>
                <a:srgbClr val="FF0000"/>
              </a:buClr>
              <a:buSzPct val="50000"/>
              <a:buFont typeface="Wingdings" panose="05000000000000000000" pitchFamily="2" charset="2"/>
              <a:buChar char="§"/>
            </a:pPr>
            <a:r>
              <a:rPr lang="pt-BR" dirty="0" smtClean="0">
                <a:solidFill>
                  <a:srgbClr val="FF0000"/>
                </a:solidFill>
              </a:rPr>
              <a:t>Utilizar os </a:t>
            </a:r>
            <a:r>
              <a:rPr lang="pt-BR" b="1" dirty="0" smtClean="0">
                <a:solidFill>
                  <a:srgbClr val="FF0000"/>
                </a:solidFill>
              </a:rPr>
              <a:t>DASHBOARDS</a:t>
            </a:r>
            <a:r>
              <a:rPr lang="pt-BR" dirty="0" smtClean="0">
                <a:solidFill>
                  <a:srgbClr val="FF0000"/>
                </a:solidFill>
              </a:rPr>
              <a:t>.</a:t>
            </a:r>
          </a:p>
        </p:txBody>
      </p:sp>
      <p:sp>
        <p:nvSpPr>
          <p:cNvPr id="12" name="CaixaDeTexto 11"/>
          <p:cNvSpPr txBox="1"/>
          <p:nvPr/>
        </p:nvSpPr>
        <p:spPr>
          <a:xfrm>
            <a:off x="265840" y="790086"/>
            <a:ext cx="7894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0363" lvl="0" indent="-360363" algn="just">
              <a:buClr>
                <a:srgbClr val="FF0000"/>
              </a:buClr>
              <a:buSzPct val="50000"/>
              <a:buFont typeface="Wingdings" panose="05000000000000000000" pitchFamily="2" charset="2"/>
              <a:buChar char="§"/>
            </a:pPr>
            <a:r>
              <a:rPr lang="pt-BR" dirty="0" smtClean="0">
                <a:solidFill>
                  <a:srgbClr val="FF0000"/>
                </a:solidFill>
              </a:rPr>
              <a:t>Integrar </a:t>
            </a:r>
            <a:r>
              <a:rPr lang="pt-BR" b="1" dirty="0" smtClean="0">
                <a:solidFill>
                  <a:srgbClr val="FF0000"/>
                </a:solidFill>
              </a:rPr>
              <a:t>CA PPM </a:t>
            </a:r>
            <a:r>
              <a:rPr lang="pt-BR" dirty="0" smtClean="0">
                <a:solidFill>
                  <a:srgbClr val="FF0000"/>
                </a:solidFill>
              </a:rPr>
              <a:t>ao </a:t>
            </a:r>
            <a:r>
              <a:rPr lang="pt-BR" b="1" dirty="0" smtClean="0">
                <a:solidFill>
                  <a:srgbClr val="FF0000"/>
                </a:solidFill>
              </a:rPr>
              <a:t>CA SDM</a:t>
            </a:r>
            <a:r>
              <a:rPr lang="pt-BR" dirty="0" smtClean="0">
                <a:solidFill>
                  <a:srgbClr val="FF0000"/>
                </a:solidFill>
              </a:rPr>
              <a:t>.</a:t>
            </a:r>
          </a:p>
        </p:txBody>
      </p:sp>
      <p:sp>
        <p:nvSpPr>
          <p:cNvPr id="13" name="CaixaDeTexto 12"/>
          <p:cNvSpPr txBox="1"/>
          <p:nvPr/>
        </p:nvSpPr>
        <p:spPr>
          <a:xfrm>
            <a:off x="265840" y="792603"/>
            <a:ext cx="82562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0363" lvl="0" indent="-360363" algn="just">
              <a:buClr>
                <a:srgbClr val="FF0000"/>
              </a:buClr>
              <a:buSzPct val="50000"/>
              <a:buFont typeface="Wingdings" panose="05000000000000000000" pitchFamily="2" charset="2"/>
              <a:buChar char="§"/>
            </a:pPr>
            <a:r>
              <a:rPr lang="pt-BR" dirty="0" smtClean="0">
                <a:solidFill>
                  <a:srgbClr val="FF0000"/>
                </a:solidFill>
              </a:rPr>
              <a:t>Iniciar </a:t>
            </a:r>
            <a:r>
              <a:rPr lang="pt-BR" b="1" dirty="0" smtClean="0">
                <a:solidFill>
                  <a:srgbClr val="FF0000"/>
                </a:solidFill>
              </a:rPr>
              <a:t>CONFIGURAÇÃO DOS SERVIÇOS</a:t>
            </a:r>
            <a:r>
              <a:rPr lang="pt-BR" dirty="0" smtClean="0">
                <a:solidFill>
                  <a:srgbClr val="FF0000"/>
                </a:solidFill>
              </a:rPr>
              <a:t>.</a:t>
            </a:r>
          </a:p>
        </p:txBody>
      </p:sp>
      <p:pic>
        <p:nvPicPr>
          <p:cNvPr id="15" name="Picture 8" descr="http://thinkit.co.jp/images/article/0710/11/2/1_zoom.gif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888" y="1169606"/>
            <a:ext cx="5385279" cy="3900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Imagem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516" y="1174093"/>
            <a:ext cx="5406561" cy="3865857"/>
          </a:xfrm>
          <a:prstGeom prst="rect">
            <a:avLst/>
          </a:prstGeom>
        </p:spPr>
      </p:pic>
      <p:pic>
        <p:nvPicPr>
          <p:cNvPr id="17" name="Picture 10" descr="https://support.ca.com/cadocs/0/CA%20Clarity%20PPM%2012%201%200-ENU/Bookshelf_Files/HTML/Connector%20for%20CA%20Unicenter%20Service%20Desk%20&amp;%20CA%20Software%20Change%20Manager%20for%20Distributed/384989.png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691" y="1186490"/>
            <a:ext cx="5356386" cy="39146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aixaDeTexto 2"/>
          <p:cNvSpPr txBox="1"/>
          <p:nvPr/>
        </p:nvSpPr>
        <p:spPr>
          <a:xfrm>
            <a:off x="6424377" y="1130365"/>
            <a:ext cx="2164913" cy="369331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dirty="0" smtClean="0">
                <a:solidFill>
                  <a:srgbClr val="7030A0"/>
                </a:solidFill>
              </a:rPr>
              <a:t>O registro de incidentes e requisições precisa ser intuitivo.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dirty="0" smtClean="0">
                <a:solidFill>
                  <a:srgbClr val="7030A0"/>
                </a:solidFill>
              </a:rPr>
              <a:t>Usuários não sabem o que é ITIL, apenas abrem chamados.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dirty="0" smtClean="0">
                <a:solidFill>
                  <a:srgbClr val="7030A0"/>
                </a:solidFill>
              </a:rPr>
              <a:t>Problemas devem ter a mesma classificação dos incidentes.</a:t>
            </a:r>
            <a:endParaRPr lang="pt-BR" dirty="0">
              <a:solidFill>
                <a:srgbClr val="7030A0"/>
              </a:solidFill>
            </a:endParaRPr>
          </a:p>
        </p:txBody>
      </p:sp>
      <p:sp>
        <p:nvSpPr>
          <p:cNvPr id="19" name="CaixaDeTexto 18"/>
          <p:cNvSpPr txBox="1"/>
          <p:nvPr/>
        </p:nvSpPr>
        <p:spPr>
          <a:xfrm>
            <a:off x="6429423" y="1156707"/>
            <a:ext cx="2164913" cy="397031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dirty="0" smtClean="0">
                <a:solidFill>
                  <a:srgbClr val="7030A0"/>
                </a:solidFill>
              </a:rPr>
              <a:t>Há muitas filas de suporte e isto facilita – quando não estimula – o redirecionamento dos chamados.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dirty="0" smtClean="0">
                <a:solidFill>
                  <a:srgbClr val="7030A0"/>
                </a:solidFill>
              </a:rPr>
              <a:t>É preciso centralizar a autoridade sobre a definição de filas e grupos solucionadores na Governança.</a:t>
            </a:r>
          </a:p>
          <a:p>
            <a:endParaRPr lang="pt-BR" dirty="0">
              <a:solidFill>
                <a:srgbClr val="7030A0"/>
              </a:solidFill>
            </a:endParaRPr>
          </a:p>
        </p:txBody>
      </p:sp>
      <p:sp>
        <p:nvSpPr>
          <p:cNvPr id="20" name="CaixaDeTexto 19"/>
          <p:cNvSpPr txBox="1"/>
          <p:nvPr/>
        </p:nvSpPr>
        <p:spPr>
          <a:xfrm>
            <a:off x="6434469" y="1155062"/>
            <a:ext cx="2164913" cy="397031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dirty="0" smtClean="0">
                <a:solidFill>
                  <a:srgbClr val="7030A0"/>
                </a:solidFill>
              </a:rPr>
              <a:t>As soluções da CA possuem facilidades de </a:t>
            </a:r>
            <a:r>
              <a:rPr lang="pt-BR" i="1" dirty="0" err="1" smtClean="0">
                <a:solidFill>
                  <a:srgbClr val="7030A0"/>
                </a:solidFill>
              </a:rPr>
              <a:t>dashboard</a:t>
            </a:r>
            <a:r>
              <a:rPr lang="pt-BR" dirty="0" smtClean="0">
                <a:solidFill>
                  <a:srgbClr val="7030A0"/>
                </a:solidFill>
              </a:rPr>
              <a:t> para parametrização de indicadores de gestão.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dirty="0" smtClean="0">
                <a:solidFill>
                  <a:srgbClr val="7030A0"/>
                </a:solidFill>
              </a:rPr>
              <a:t>A Governança deve conhecer estas facilidades e definir os melhores indicadores para Gestão à Vista.</a:t>
            </a:r>
            <a:endParaRPr lang="pt-BR" dirty="0">
              <a:solidFill>
                <a:srgbClr val="7030A0"/>
              </a:solidFill>
            </a:endParaRPr>
          </a:p>
        </p:txBody>
      </p:sp>
      <p:sp>
        <p:nvSpPr>
          <p:cNvPr id="21" name="CaixaDeTexto 20"/>
          <p:cNvSpPr txBox="1"/>
          <p:nvPr/>
        </p:nvSpPr>
        <p:spPr>
          <a:xfrm>
            <a:off x="6422163" y="1134251"/>
            <a:ext cx="2164913" cy="397031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dirty="0" smtClean="0">
                <a:solidFill>
                  <a:srgbClr val="7030A0"/>
                </a:solidFill>
              </a:rPr>
              <a:t>As soluções da CA Service Desk </a:t>
            </a:r>
            <a:r>
              <a:rPr lang="pt-BR" dirty="0" err="1" smtClean="0">
                <a:solidFill>
                  <a:srgbClr val="7030A0"/>
                </a:solidFill>
              </a:rPr>
              <a:t>Mgt</a:t>
            </a:r>
            <a:r>
              <a:rPr lang="pt-BR" dirty="0" smtClean="0">
                <a:solidFill>
                  <a:srgbClr val="7030A0"/>
                </a:solidFill>
              </a:rPr>
              <a:t>. E CA </a:t>
            </a:r>
            <a:r>
              <a:rPr lang="pt-BR" dirty="0" err="1" smtClean="0">
                <a:solidFill>
                  <a:srgbClr val="7030A0"/>
                </a:solidFill>
              </a:rPr>
              <a:t>Clarity</a:t>
            </a:r>
            <a:r>
              <a:rPr lang="pt-BR" dirty="0" smtClean="0">
                <a:solidFill>
                  <a:srgbClr val="7030A0"/>
                </a:solidFill>
              </a:rPr>
              <a:t> PPM podem e devem ser integradas.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pt-BR" dirty="0" smtClean="0">
              <a:solidFill>
                <a:srgbClr val="7030A0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dirty="0" smtClean="0">
                <a:solidFill>
                  <a:srgbClr val="7030A0"/>
                </a:solidFill>
              </a:rPr>
              <a:t>É condição </a:t>
            </a:r>
            <a:r>
              <a:rPr lang="pt-BR" i="1" dirty="0" err="1" smtClean="0">
                <a:solidFill>
                  <a:srgbClr val="7030A0"/>
                </a:solidFill>
              </a:rPr>
              <a:t>sine</a:t>
            </a:r>
            <a:r>
              <a:rPr lang="pt-BR" i="1" dirty="0" smtClean="0">
                <a:solidFill>
                  <a:srgbClr val="7030A0"/>
                </a:solidFill>
              </a:rPr>
              <a:t> </a:t>
            </a:r>
            <a:r>
              <a:rPr lang="pt-BR" i="1" dirty="0" err="1" smtClean="0">
                <a:solidFill>
                  <a:srgbClr val="7030A0"/>
                </a:solidFill>
              </a:rPr>
              <a:t>qua</a:t>
            </a:r>
            <a:r>
              <a:rPr lang="pt-BR" i="1" dirty="0" smtClean="0">
                <a:solidFill>
                  <a:srgbClr val="7030A0"/>
                </a:solidFill>
              </a:rPr>
              <a:t> non</a:t>
            </a:r>
            <a:r>
              <a:rPr lang="pt-BR" dirty="0" smtClean="0">
                <a:solidFill>
                  <a:srgbClr val="7030A0"/>
                </a:solidFill>
              </a:rPr>
              <a:t> para o ideal gerenciamento integrado dos processos de gestão de Serviços.</a:t>
            </a:r>
            <a:endParaRPr lang="pt-BR" dirty="0">
              <a:solidFill>
                <a:srgbClr val="7030A0"/>
              </a:solidFill>
            </a:endParaRPr>
          </a:p>
        </p:txBody>
      </p:sp>
      <p:sp>
        <p:nvSpPr>
          <p:cNvPr id="22" name="CaixaDeTexto 21"/>
          <p:cNvSpPr txBox="1"/>
          <p:nvPr/>
        </p:nvSpPr>
        <p:spPr>
          <a:xfrm>
            <a:off x="6434469" y="1139321"/>
            <a:ext cx="2164913" cy="397031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dirty="0" smtClean="0">
                <a:solidFill>
                  <a:srgbClr val="7030A0"/>
                </a:solidFill>
              </a:rPr>
              <a:t>Um Sistema de Gerenciamento da Configuração só pode ser efetivo se proporcionar análises relacionadas aos serviços.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dirty="0" smtClean="0">
                <a:solidFill>
                  <a:srgbClr val="7030A0"/>
                </a:solidFill>
              </a:rPr>
              <a:t>A configuração dos serviços é a alternativa para se extrair valor de um CMDB.</a:t>
            </a:r>
            <a:endParaRPr lang="pt-BR" dirty="0">
              <a:solidFill>
                <a:srgbClr val="7030A0"/>
              </a:solidFill>
            </a:endParaRP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1716" y="1172800"/>
            <a:ext cx="5334000" cy="3867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93655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4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00"/>
                            </p:stCondLst>
                            <p:childTnLst>
                              <p:par>
                                <p:cTn id="7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allAtOnce"/>
      <p:bldP spid="10" grpId="0" build="allAtOnce"/>
      <p:bldP spid="11" grpId="0" build="allAtOnce"/>
      <p:bldP spid="12" grpId="0" build="allAtOnce"/>
      <p:bldP spid="3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8" descr="NAT_marca_branca_natura-01.png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0432" y="19878"/>
            <a:ext cx="576000" cy="57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CaixaDeTexto 5"/>
          <p:cNvSpPr txBox="1"/>
          <p:nvPr/>
        </p:nvSpPr>
        <p:spPr>
          <a:xfrm>
            <a:off x="-11383" y="-12060"/>
            <a:ext cx="9155383" cy="646331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O que </a:t>
            </a:r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orientamos</a:t>
            </a:r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ExtraBold" pitchFamily="34" charset="0"/>
            </a:endParaRPr>
          </a:p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Treinar e capacitar em Gestão e Governança</a:t>
            </a:r>
          </a:p>
        </p:txBody>
      </p:sp>
      <p:sp>
        <p:nvSpPr>
          <p:cNvPr id="8" name="CaixaDeTexto 7"/>
          <p:cNvSpPr txBox="1"/>
          <p:nvPr/>
        </p:nvSpPr>
        <p:spPr>
          <a:xfrm rot="16200000">
            <a:off x="8127558" y="4147980"/>
            <a:ext cx="176338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 b="1" dirty="0">
                <a:solidFill>
                  <a:schemeClr val="accent1">
                    <a:lumMod val="75000"/>
                  </a:schemeClr>
                </a:solidFill>
              </a:rPr>
              <a:t>CHACON</a:t>
            </a:r>
            <a:r>
              <a:rPr lang="pt-BR" sz="900" dirty="0"/>
              <a:t> </a:t>
            </a:r>
            <a:r>
              <a:rPr lang="pt-BR" sz="900" b="1" dirty="0">
                <a:solidFill>
                  <a:schemeClr val="bg1">
                    <a:lumMod val="85000"/>
                  </a:schemeClr>
                </a:solidFill>
              </a:rPr>
              <a:t>|</a:t>
            </a:r>
            <a:r>
              <a:rPr lang="pt-BR" sz="900" dirty="0"/>
              <a:t> </a:t>
            </a:r>
            <a:r>
              <a:rPr lang="pt-BR" sz="900" b="1" dirty="0">
                <a:solidFill>
                  <a:schemeClr val="bg1">
                    <a:lumMod val="65000"/>
                  </a:schemeClr>
                </a:solidFill>
              </a:rPr>
              <a:t>Consultoria Ilimitada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336422" y="700336"/>
            <a:ext cx="834003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Clr>
                <a:srgbClr val="7030A0"/>
              </a:buClr>
              <a:buSzPct val="50000"/>
            </a:pPr>
            <a:r>
              <a:rPr lang="pt-BR" dirty="0" smtClean="0">
                <a:solidFill>
                  <a:schemeClr val="accent4"/>
                </a:solidFill>
              </a:rPr>
              <a:t>O conhecimento dos profissionais sobre as melhores práticas </a:t>
            </a:r>
            <a:r>
              <a:rPr lang="pt-BR" dirty="0">
                <a:solidFill>
                  <a:schemeClr val="accent4"/>
                </a:solidFill>
              </a:rPr>
              <a:t>de gestão de serviços de </a:t>
            </a:r>
            <a:r>
              <a:rPr lang="pt-BR" dirty="0" smtClean="0">
                <a:solidFill>
                  <a:schemeClr val="accent4"/>
                </a:solidFill>
              </a:rPr>
              <a:t>TI – </a:t>
            </a:r>
            <a:r>
              <a:rPr lang="pt-BR" b="1" dirty="0" smtClean="0">
                <a:solidFill>
                  <a:schemeClr val="accent4"/>
                </a:solidFill>
              </a:rPr>
              <a:t>ITIL, COBIT 5, LEAN, </a:t>
            </a:r>
            <a:r>
              <a:rPr lang="pt-BR" b="1" dirty="0" err="1" smtClean="0">
                <a:solidFill>
                  <a:schemeClr val="accent4"/>
                </a:solidFill>
              </a:rPr>
              <a:t>Agile</a:t>
            </a:r>
            <a:r>
              <a:rPr lang="pt-BR" b="1" dirty="0" smtClean="0">
                <a:solidFill>
                  <a:schemeClr val="accent4"/>
                </a:solidFill>
              </a:rPr>
              <a:t> e ISO20K</a:t>
            </a:r>
            <a:r>
              <a:rPr lang="pt-BR" dirty="0" smtClean="0">
                <a:solidFill>
                  <a:schemeClr val="accent4"/>
                </a:solidFill>
              </a:rPr>
              <a:t> – é variado e, na prática, incipiente. Os </a:t>
            </a:r>
            <a:r>
              <a:rPr lang="pt-BR" b="1" dirty="0" smtClean="0">
                <a:solidFill>
                  <a:schemeClr val="accent4"/>
                </a:solidFill>
              </a:rPr>
              <a:t>processos do Metrô</a:t>
            </a:r>
            <a:r>
              <a:rPr lang="pt-BR" dirty="0" smtClean="0">
                <a:solidFill>
                  <a:schemeClr val="accent4"/>
                </a:solidFill>
              </a:rPr>
              <a:t>, baseados em melhores práticas, </a:t>
            </a:r>
            <a:r>
              <a:rPr lang="pt-BR" b="1" dirty="0" smtClean="0">
                <a:solidFill>
                  <a:schemeClr val="accent4"/>
                </a:solidFill>
              </a:rPr>
              <a:t>requerem um conhecimento mais uniforme sobre os conceitos e princípios das melhores práticas</a:t>
            </a:r>
            <a:r>
              <a:rPr lang="pt-BR" dirty="0" smtClean="0">
                <a:solidFill>
                  <a:schemeClr val="accent4"/>
                </a:solidFill>
              </a:rPr>
              <a:t>.</a:t>
            </a:r>
          </a:p>
        </p:txBody>
      </p:sp>
      <p:sp>
        <p:nvSpPr>
          <p:cNvPr id="11" name="CaixaDeTexto 10"/>
          <p:cNvSpPr txBox="1"/>
          <p:nvPr/>
        </p:nvSpPr>
        <p:spPr>
          <a:xfrm>
            <a:off x="4368870" y="1996480"/>
            <a:ext cx="430758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Clr>
                <a:srgbClr val="7030A0"/>
              </a:buClr>
              <a:buSzPct val="50000"/>
            </a:pPr>
            <a:r>
              <a:rPr lang="pt-BR" dirty="0" smtClean="0">
                <a:solidFill>
                  <a:srgbClr val="0070C0"/>
                </a:solidFill>
              </a:rPr>
              <a:t>Realizamos </a:t>
            </a:r>
            <a:r>
              <a:rPr lang="pt-BR" b="1" dirty="0" smtClean="0">
                <a:solidFill>
                  <a:srgbClr val="0070C0"/>
                </a:solidFill>
              </a:rPr>
              <a:t>sessões de </a:t>
            </a:r>
            <a:r>
              <a:rPr lang="pt-BR" b="1" i="1" dirty="0" err="1" smtClean="0">
                <a:solidFill>
                  <a:srgbClr val="0070C0"/>
                </a:solidFill>
              </a:rPr>
              <a:t>coaching</a:t>
            </a:r>
            <a:r>
              <a:rPr lang="pt-BR" b="1" dirty="0" smtClean="0">
                <a:solidFill>
                  <a:srgbClr val="0070C0"/>
                </a:solidFill>
              </a:rPr>
              <a:t> </a:t>
            </a:r>
            <a:r>
              <a:rPr lang="pt-BR" dirty="0" smtClean="0">
                <a:solidFill>
                  <a:srgbClr val="0070C0"/>
                </a:solidFill>
              </a:rPr>
              <a:t>com os gestores e equipes de Governança e </a:t>
            </a:r>
            <a:r>
              <a:rPr lang="pt-BR" b="1" dirty="0" smtClean="0">
                <a:solidFill>
                  <a:srgbClr val="0070C0"/>
                </a:solidFill>
              </a:rPr>
              <a:t>realizaremos um </a:t>
            </a:r>
            <a:r>
              <a:rPr lang="pt-BR" b="1" i="1" dirty="0" smtClean="0">
                <a:solidFill>
                  <a:srgbClr val="0070C0"/>
                </a:solidFill>
              </a:rPr>
              <a:t>workshop</a:t>
            </a:r>
            <a:r>
              <a:rPr lang="pt-BR" dirty="0" smtClean="0">
                <a:solidFill>
                  <a:srgbClr val="0070C0"/>
                </a:solidFill>
              </a:rPr>
              <a:t> sobre as características das melhores práticas, mas um </a:t>
            </a:r>
            <a:r>
              <a:rPr lang="pt-BR" b="1" dirty="0" smtClean="0">
                <a:solidFill>
                  <a:srgbClr val="0070C0"/>
                </a:solidFill>
              </a:rPr>
              <a:t>programa de capacitação</a:t>
            </a:r>
            <a:r>
              <a:rPr lang="pt-BR" dirty="0" smtClean="0">
                <a:solidFill>
                  <a:srgbClr val="0070C0"/>
                </a:solidFill>
              </a:rPr>
              <a:t>, abrangendo toda a VPTD, </a:t>
            </a:r>
            <a:r>
              <a:rPr lang="pt-BR" dirty="0">
                <a:solidFill>
                  <a:srgbClr val="0070C0"/>
                </a:solidFill>
              </a:rPr>
              <a:t>deve ser estabelecido e </a:t>
            </a:r>
            <a:r>
              <a:rPr lang="pt-BR" dirty="0" smtClean="0">
                <a:solidFill>
                  <a:srgbClr val="0070C0"/>
                </a:solidFill>
              </a:rPr>
              <a:t>executado, para que os </a:t>
            </a:r>
            <a:r>
              <a:rPr lang="pt-BR" b="1" dirty="0" smtClean="0">
                <a:solidFill>
                  <a:srgbClr val="0070C0"/>
                </a:solidFill>
              </a:rPr>
              <a:t>objetivos de melhoria contínua sejam atingidos mais rapidamente e mantidos de forma sustentável</a:t>
            </a:r>
            <a:r>
              <a:rPr lang="pt-BR" dirty="0" smtClean="0">
                <a:solidFill>
                  <a:srgbClr val="0070C0"/>
                </a:solidFill>
              </a:rPr>
              <a:t>. </a:t>
            </a:r>
            <a:endParaRPr lang="pt-BR" sz="1400" dirty="0" smtClean="0">
              <a:solidFill>
                <a:srgbClr val="0070C0"/>
              </a:solidFill>
            </a:endParaRPr>
          </a:p>
        </p:txBody>
      </p:sp>
      <p:grpSp>
        <p:nvGrpSpPr>
          <p:cNvPr id="9" name="Grupo 8"/>
          <p:cNvGrpSpPr/>
          <p:nvPr/>
        </p:nvGrpSpPr>
        <p:grpSpPr>
          <a:xfrm>
            <a:off x="683568" y="2158435"/>
            <a:ext cx="2955336" cy="3046601"/>
            <a:chOff x="683568" y="2013141"/>
            <a:chExt cx="2955336" cy="3046601"/>
          </a:xfrm>
        </p:grpSpPr>
        <p:pic>
          <p:nvPicPr>
            <p:cNvPr id="8194" name="Picture 2" descr="http://www.clipartbest.com/cliparts/9TR/Rzy/9TRRzy88c.png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3568" y="2013141"/>
              <a:ext cx="2939434" cy="30466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" name="CaixaDeTexto 2"/>
            <p:cNvSpPr txBox="1"/>
            <p:nvPr/>
          </p:nvSpPr>
          <p:spPr>
            <a:xfrm>
              <a:off x="971600" y="2090839"/>
              <a:ext cx="1368152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000" dirty="0" smtClean="0">
                  <a:solidFill>
                    <a:srgbClr val="FF0000"/>
                  </a:solidFill>
                  <a:latin typeface="Comic Sans MS" panose="030F0702030302020204" pitchFamily="66" charset="0"/>
                </a:rPr>
                <a:t>“E se treinarmos os profissionais e eles forem embora?”</a:t>
              </a:r>
              <a:endParaRPr lang="pt-BR" sz="1000" dirty="0">
                <a:solidFill>
                  <a:srgbClr val="FF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13" name="CaixaDeTexto 12"/>
            <p:cNvSpPr txBox="1"/>
            <p:nvPr/>
          </p:nvSpPr>
          <p:spPr>
            <a:xfrm>
              <a:off x="2365298" y="2403469"/>
              <a:ext cx="1273606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000" b="1" dirty="0" smtClean="0">
                  <a:solidFill>
                    <a:srgbClr val="C00000"/>
                  </a:solidFill>
                  <a:latin typeface="Comic Sans MS" panose="030F0702030302020204" pitchFamily="66" charset="0"/>
                </a:rPr>
                <a:t>“E se não os treinarmos e eles não forem?”</a:t>
              </a:r>
              <a:endParaRPr lang="pt-BR" sz="1000" b="1" dirty="0">
                <a:solidFill>
                  <a:srgbClr val="C00000"/>
                </a:solidFill>
                <a:latin typeface="Comic Sans MS" panose="030F0702030302020204" pitchFamily="66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118604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8" descr="NAT_marca_branca_natura-01.png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0432" y="19878"/>
            <a:ext cx="576000" cy="57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CaixaDeTexto 5"/>
          <p:cNvSpPr txBox="1"/>
          <p:nvPr/>
        </p:nvSpPr>
        <p:spPr>
          <a:xfrm>
            <a:off x="-11383" y="-19744"/>
            <a:ext cx="9155383" cy="646331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O que </a:t>
            </a:r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orientamos</a:t>
            </a:r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ExtraBold" pitchFamily="34" charset="0"/>
            </a:endParaRPr>
          </a:p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Política de Conformidade</a:t>
            </a:r>
          </a:p>
        </p:txBody>
      </p:sp>
      <p:sp>
        <p:nvSpPr>
          <p:cNvPr id="8" name="CaixaDeTexto 7"/>
          <p:cNvSpPr txBox="1"/>
          <p:nvPr/>
        </p:nvSpPr>
        <p:spPr>
          <a:xfrm rot="16200000">
            <a:off x="8127558" y="4147980"/>
            <a:ext cx="176338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 b="1" dirty="0">
                <a:solidFill>
                  <a:schemeClr val="accent1">
                    <a:lumMod val="75000"/>
                  </a:schemeClr>
                </a:solidFill>
              </a:rPr>
              <a:t>CHACON</a:t>
            </a:r>
            <a:r>
              <a:rPr lang="pt-BR" sz="900" dirty="0"/>
              <a:t> </a:t>
            </a:r>
            <a:r>
              <a:rPr lang="pt-BR" sz="900" b="1" dirty="0">
                <a:solidFill>
                  <a:schemeClr val="bg1">
                    <a:lumMod val="85000"/>
                  </a:schemeClr>
                </a:solidFill>
              </a:rPr>
              <a:t>|</a:t>
            </a:r>
            <a:r>
              <a:rPr lang="pt-BR" sz="900" dirty="0"/>
              <a:t> </a:t>
            </a:r>
            <a:r>
              <a:rPr lang="pt-BR" sz="900" b="1" dirty="0">
                <a:solidFill>
                  <a:schemeClr val="bg1">
                    <a:lumMod val="65000"/>
                  </a:schemeClr>
                </a:solidFill>
              </a:rPr>
              <a:t>Consultoria Ilimitada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336422" y="700336"/>
            <a:ext cx="834003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Clr>
                <a:srgbClr val="7030A0"/>
              </a:buClr>
              <a:buSzPct val="50000"/>
            </a:pPr>
            <a:r>
              <a:rPr lang="pt-BR" dirty="0" smtClean="0">
                <a:solidFill>
                  <a:schemeClr val="accent4"/>
                </a:solidFill>
              </a:rPr>
              <a:t>A </a:t>
            </a:r>
            <a:r>
              <a:rPr lang="pt-BR" b="1" dirty="0" smtClean="0">
                <a:solidFill>
                  <a:schemeClr val="accent4"/>
                </a:solidFill>
              </a:rPr>
              <a:t>impunidade</a:t>
            </a:r>
            <a:r>
              <a:rPr lang="pt-BR" dirty="0" smtClean="0">
                <a:solidFill>
                  <a:schemeClr val="accent4"/>
                </a:solidFill>
              </a:rPr>
              <a:t> foi um substantivo muito presente durante as interlocuções. Não foram poucos os profissionais que afirmaram </a:t>
            </a:r>
            <a:r>
              <a:rPr lang="pt-BR" b="1" dirty="0" smtClean="0">
                <a:solidFill>
                  <a:schemeClr val="accent4"/>
                </a:solidFill>
              </a:rPr>
              <a:t>não haver qualquer estímulo para agir em conformidade com os processos estabelecidos</a:t>
            </a:r>
            <a:r>
              <a:rPr lang="pt-BR" dirty="0" smtClean="0">
                <a:solidFill>
                  <a:schemeClr val="accent4"/>
                </a:solidFill>
              </a:rPr>
              <a:t>, pois quem não o faz, nada sofre.</a:t>
            </a:r>
          </a:p>
        </p:txBody>
      </p:sp>
      <p:sp>
        <p:nvSpPr>
          <p:cNvPr id="15" name="CaixaDeTexto 14"/>
          <p:cNvSpPr txBox="1"/>
          <p:nvPr/>
        </p:nvSpPr>
        <p:spPr>
          <a:xfrm>
            <a:off x="336422" y="1848396"/>
            <a:ext cx="459561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Clr>
                <a:srgbClr val="7030A0"/>
              </a:buClr>
              <a:buSzPct val="50000"/>
            </a:pPr>
            <a:r>
              <a:rPr lang="pt-BR" dirty="0" smtClean="0">
                <a:solidFill>
                  <a:schemeClr val="accent4"/>
                </a:solidFill>
              </a:rPr>
              <a:t>Compreendemos que é da natureza da organização </a:t>
            </a:r>
            <a:r>
              <a:rPr lang="pt-BR" b="1" dirty="0" smtClean="0">
                <a:solidFill>
                  <a:schemeClr val="accent4"/>
                </a:solidFill>
              </a:rPr>
              <a:t>estimular os bons relacionamentos</a:t>
            </a:r>
            <a:r>
              <a:rPr lang="pt-BR" dirty="0" smtClean="0">
                <a:solidFill>
                  <a:schemeClr val="accent4"/>
                </a:solidFill>
              </a:rPr>
              <a:t>, no entanto recomendamos que uma </a:t>
            </a:r>
            <a:r>
              <a:rPr lang="pt-BR" b="1" dirty="0" smtClean="0">
                <a:solidFill>
                  <a:schemeClr val="accent4"/>
                </a:solidFill>
              </a:rPr>
              <a:t>Política de Conformidade com Processos</a:t>
            </a:r>
            <a:r>
              <a:rPr lang="pt-BR" dirty="0" smtClean="0">
                <a:solidFill>
                  <a:schemeClr val="accent4"/>
                </a:solidFill>
              </a:rPr>
              <a:t> seja redigida e publicada, eliminando qualquer ambiguidade sobre o que não é tolerado e sobre o comportamento esperado de todos.</a:t>
            </a: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8064" y="1852464"/>
            <a:ext cx="3420380" cy="2280252"/>
          </a:xfrm>
          <a:prstGeom prst="rect">
            <a:avLst/>
          </a:prstGeom>
        </p:spPr>
      </p:pic>
      <p:sp>
        <p:nvSpPr>
          <p:cNvPr id="9" name="CaixaDeTexto 8"/>
          <p:cNvSpPr txBox="1"/>
          <p:nvPr/>
        </p:nvSpPr>
        <p:spPr>
          <a:xfrm>
            <a:off x="336422" y="4179855"/>
            <a:ext cx="834003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Clr>
                <a:srgbClr val="7030A0"/>
              </a:buClr>
              <a:buSzPct val="50000"/>
            </a:pPr>
            <a:r>
              <a:rPr lang="pt-BR" dirty="0" smtClean="0">
                <a:solidFill>
                  <a:schemeClr val="accent4"/>
                </a:solidFill>
              </a:rPr>
              <a:t>A </a:t>
            </a:r>
            <a:r>
              <a:rPr lang="pt-BR" b="1" dirty="0" smtClean="0">
                <a:solidFill>
                  <a:schemeClr val="accent4"/>
                </a:solidFill>
              </a:rPr>
              <a:t>atitude e o comportamento dos gestores</a:t>
            </a:r>
            <a:r>
              <a:rPr lang="pt-BR" dirty="0" smtClean="0">
                <a:solidFill>
                  <a:schemeClr val="accent4"/>
                </a:solidFill>
              </a:rPr>
              <a:t> das áreas é exemplo e referência para suas equipes e deve ser gerenciada com rigor pela TD, para que </a:t>
            </a:r>
            <a:r>
              <a:rPr lang="pt-BR" b="1" dirty="0" smtClean="0">
                <a:solidFill>
                  <a:schemeClr val="accent4"/>
                </a:solidFill>
              </a:rPr>
              <a:t>objetivos comuns de melhoria contínua</a:t>
            </a:r>
            <a:r>
              <a:rPr lang="pt-BR" dirty="0" smtClean="0">
                <a:solidFill>
                  <a:schemeClr val="accent4"/>
                </a:solidFill>
              </a:rPr>
              <a:t> sejam alcançados. Devem ser eles os agentes das mudanças.</a:t>
            </a:r>
          </a:p>
        </p:txBody>
      </p:sp>
    </p:spTree>
    <p:extLst>
      <p:ext uri="{BB962C8B-B14F-4D97-AF65-F5344CB8AC3E}">
        <p14:creationId xmlns:p14="http://schemas.microsoft.com/office/powerpoint/2010/main" val="2492542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8" descr="NAT_marca_branca_natura-01.png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0432" y="19878"/>
            <a:ext cx="576000" cy="57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CaixaDeTexto 5"/>
          <p:cNvSpPr txBox="1"/>
          <p:nvPr/>
        </p:nvSpPr>
        <p:spPr>
          <a:xfrm>
            <a:off x="-1" y="2"/>
            <a:ext cx="9144001" cy="646331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O que </a:t>
            </a:r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recomendamos</a:t>
            </a:r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Light" pitchFamily="34" charset="0"/>
            </a:endParaRPr>
          </a:p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Planos de Ação</a:t>
            </a:r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Light" pitchFamily="34" charset="0"/>
            </a:endParaRPr>
          </a:p>
        </p:txBody>
      </p:sp>
      <p:sp>
        <p:nvSpPr>
          <p:cNvPr id="8" name="CaixaDeTexto 7"/>
          <p:cNvSpPr txBox="1"/>
          <p:nvPr/>
        </p:nvSpPr>
        <p:spPr>
          <a:xfrm rot="16200000">
            <a:off x="8127558" y="4147980"/>
            <a:ext cx="176338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 b="1" dirty="0">
                <a:solidFill>
                  <a:schemeClr val="accent1">
                    <a:lumMod val="75000"/>
                  </a:schemeClr>
                </a:solidFill>
              </a:rPr>
              <a:t>CHACON</a:t>
            </a:r>
            <a:r>
              <a:rPr lang="pt-BR" sz="900" dirty="0"/>
              <a:t> </a:t>
            </a:r>
            <a:r>
              <a:rPr lang="pt-BR" sz="900" b="1" dirty="0">
                <a:solidFill>
                  <a:schemeClr val="bg1">
                    <a:lumMod val="85000"/>
                  </a:schemeClr>
                </a:solidFill>
              </a:rPr>
              <a:t>|</a:t>
            </a:r>
            <a:r>
              <a:rPr lang="pt-BR" sz="900" dirty="0"/>
              <a:t> </a:t>
            </a:r>
            <a:r>
              <a:rPr lang="pt-BR" sz="900" b="1" dirty="0">
                <a:solidFill>
                  <a:schemeClr val="bg1">
                    <a:lumMod val="65000"/>
                  </a:schemeClr>
                </a:solidFill>
              </a:rPr>
              <a:t>Consultoria Ilimitada</a:t>
            </a:r>
          </a:p>
        </p:txBody>
      </p:sp>
      <p:pic>
        <p:nvPicPr>
          <p:cNvPr id="1026" name="Picture 2" descr="http://desk14.com/wp-content/uploads/2015/06/5w2h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7303" y="1276400"/>
            <a:ext cx="5009392" cy="33348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110588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8" descr="NAT_marca_branca_natura-01.png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0432" y="19878"/>
            <a:ext cx="576000" cy="57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CaixaDeTexto 5"/>
          <p:cNvSpPr txBox="1"/>
          <p:nvPr/>
        </p:nvSpPr>
        <p:spPr>
          <a:xfrm>
            <a:off x="1905" y="-19744"/>
            <a:ext cx="9144001" cy="646331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O que </a:t>
            </a:r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recomendamos</a:t>
            </a:r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Light" pitchFamily="34" charset="0"/>
            </a:endParaRPr>
          </a:p>
          <a:p>
            <a:r>
              <a:rPr 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Planos de </a:t>
            </a:r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Ação – Gestão de Serviços</a:t>
            </a:r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Light" pitchFamily="34" charset="0"/>
            </a:endParaRPr>
          </a:p>
        </p:txBody>
      </p:sp>
      <p:sp>
        <p:nvSpPr>
          <p:cNvPr id="8" name="CaixaDeTexto 7"/>
          <p:cNvSpPr txBox="1"/>
          <p:nvPr/>
        </p:nvSpPr>
        <p:spPr>
          <a:xfrm rot="16200000">
            <a:off x="8127558" y="4147980"/>
            <a:ext cx="176338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 b="1" dirty="0">
                <a:solidFill>
                  <a:schemeClr val="accent1">
                    <a:lumMod val="75000"/>
                  </a:schemeClr>
                </a:solidFill>
              </a:rPr>
              <a:t>CHACON</a:t>
            </a:r>
            <a:r>
              <a:rPr lang="pt-BR" sz="900" dirty="0"/>
              <a:t> </a:t>
            </a:r>
            <a:r>
              <a:rPr lang="pt-BR" sz="900" b="1" dirty="0">
                <a:solidFill>
                  <a:schemeClr val="bg1">
                    <a:lumMod val="85000"/>
                  </a:schemeClr>
                </a:solidFill>
              </a:rPr>
              <a:t>|</a:t>
            </a:r>
            <a:r>
              <a:rPr lang="pt-BR" sz="900" dirty="0"/>
              <a:t> </a:t>
            </a:r>
            <a:r>
              <a:rPr lang="pt-BR" sz="900" b="1" dirty="0">
                <a:solidFill>
                  <a:schemeClr val="bg1">
                    <a:lumMod val="65000"/>
                  </a:schemeClr>
                </a:solidFill>
              </a:rPr>
              <a:t>Consultoria Ilimitada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2371030" y="998025"/>
            <a:ext cx="1590187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 smtClean="0">
                <a:latin typeface="Comic Sans MS" panose="030F0702030302020204" pitchFamily="66" charset="0"/>
              </a:rPr>
              <a:t>Alterar a classificação dos processos nas ferramentas para identificar Serviços e Configuração</a:t>
            </a:r>
            <a:endParaRPr lang="pt-BR" sz="1400" dirty="0">
              <a:latin typeface="Comic Sans MS" panose="030F0702030302020204" pitchFamily="66" charset="0"/>
            </a:endParaRPr>
          </a:p>
        </p:txBody>
      </p:sp>
      <p:sp>
        <p:nvSpPr>
          <p:cNvPr id="25" name="CaixaDeTexto 24"/>
          <p:cNvSpPr txBox="1"/>
          <p:nvPr/>
        </p:nvSpPr>
        <p:spPr>
          <a:xfrm>
            <a:off x="2034875" y="3963061"/>
            <a:ext cx="166891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 smtClean="0">
                <a:latin typeface="Comic Sans MS" panose="030F0702030302020204" pitchFamily="66" charset="0"/>
              </a:rPr>
              <a:t>Desenvolver Portfólio e Catálogo de Serviços</a:t>
            </a:r>
            <a:endParaRPr lang="pt-BR" sz="1400" dirty="0">
              <a:latin typeface="Comic Sans MS" panose="030F0702030302020204" pitchFamily="66" charset="0"/>
            </a:endParaRPr>
          </a:p>
        </p:txBody>
      </p:sp>
      <p:cxnSp>
        <p:nvCxnSpPr>
          <p:cNvPr id="37" name="Conector em curva 36"/>
          <p:cNvCxnSpPr>
            <a:stCxn id="84" idx="3"/>
            <a:endCxn id="25" idx="1"/>
          </p:cNvCxnSpPr>
          <p:nvPr/>
        </p:nvCxnSpPr>
        <p:spPr>
          <a:xfrm>
            <a:off x="1767003" y="4100915"/>
            <a:ext cx="267872" cy="339200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Conector em curva 48"/>
          <p:cNvCxnSpPr>
            <a:stCxn id="268" idx="1"/>
            <a:endCxn id="62" idx="2"/>
          </p:cNvCxnSpPr>
          <p:nvPr/>
        </p:nvCxnSpPr>
        <p:spPr>
          <a:xfrm rot="10800000">
            <a:off x="734625" y="2527955"/>
            <a:ext cx="320659" cy="449922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2" name="CaixaDeTexto 61"/>
          <p:cNvSpPr txBox="1"/>
          <p:nvPr/>
        </p:nvSpPr>
        <p:spPr>
          <a:xfrm>
            <a:off x="14544" y="2004735"/>
            <a:ext cx="14401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latin typeface="Comic Sans MS" panose="030F0702030302020204" pitchFamily="66" charset="0"/>
              </a:rPr>
              <a:t>Catalogar os </a:t>
            </a:r>
            <a:r>
              <a:rPr lang="pt-BR" sz="1400" dirty="0" smtClean="0">
                <a:latin typeface="Comic Sans MS" panose="030F0702030302020204" pitchFamily="66" charset="0"/>
              </a:rPr>
              <a:t>Serviços</a:t>
            </a:r>
            <a:endParaRPr lang="pt-BR" sz="1400" dirty="0">
              <a:latin typeface="Comic Sans MS" panose="030F0702030302020204" pitchFamily="66" charset="0"/>
            </a:endParaRPr>
          </a:p>
        </p:txBody>
      </p:sp>
      <p:cxnSp>
        <p:nvCxnSpPr>
          <p:cNvPr id="66" name="Conector em curva 65"/>
          <p:cNvCxnSpPr>
            <a:stCxn id="62" idx="3"/>
            <a:endCxn id="7" idx="1"/>
          </p:cNvCxnSpPr>
          <p:nvPr/>
        </p:nvCxnSpPr>
        <p:spPr>
          <a:xfrm flipV="1">
            <a:off x="1454704" y="1798244"/>
            <a:ext cx="916326" cy="468101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4" name="CaixaDeTexto 83"/>
          <p:cNvSpPr txBox="1"/>
          <p:nvPr/>
        </p:nvSpPr>
        <p:spPr>
          <a:xfrm>
            <a:off x="98085" y="3731583"/>
            <a:ext cx="166891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 smtClean="0">
                <a:latin typeface="Comic Sans MS" panose="030F0702030302020204" pitchFamily="66" charset="0"/>
              </a:rPr>
              <a:t>Assumir a gestão das ferramentas ITSM</a:t>
            </a:r>
            <a:endParaRPr lang="pt-BR" sz="1400" dirty="0">
              <a:latin typeface="Comic Sans MS" panose="030F0702030302020204" pitchFamily="66" charset="0"/>
            </a:endParaRPr>
          </a:p>
        </p:txBody>
      </p:sp>
      <p:cxnSp>
        <p:nvCxnSpPr>
          <p:cNvPr id="89" name="Conector em curva 88"/>
          <p:cNvCxnSpPr>
            <a:stCxn id="99" idx="1"/>
            <a:endCxn id="268" idx="3"/>
          </p:cNvCxnSpPr>
          <p:nvPr/>
        </p:nvCxnSpPr>
        <p:spPr>
          <a:xfrm rot="10800000">
            <a:off x="2495444" y="2977877"/>
            <a:ext cx="672077" cy="315382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9" name="CaixaDeTexto 98"/>
          <p:cNvSpPr txBox="1"/>
          <p:nvPr/>
        </p:nvSpPr>
        <p:spPr>
          <a:xfrm>
            <a:off x="3167520" y="2816205"/>
            <a:ext cx="166891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 smtClean="0">
                <a:latin typeface="Comic Sans MS" panose="030F0702030302020204" pitchFamily="66" charset="0"/>
              </a:rPr>
              <a:t>Definir uso do Portfólio e Catálogo nos processos</a:t>
            </a:r>
            <a:endParaRPr lang="pt-BR" sz="1400" dirty="0">
              <a:latin typeface="Comic Sans MS" panose="030F0702030302020204" pitchFamily="66" charset="0"/>
            </a:endParaRPr>
          </a:p>
        </p:txBody>
      </p:sp>
      <p:cxnSp>
        <p:nvCxnSpPr>
          <p:cNvPr id="100" name="Conector em curva 99"/>
          <p:cNvCxnSpPr>
            <a:stCxn id="25" idx="3"/>
            <a:endCxn id="99" idx="2"/>
          </p:cNvCxnSpPr>
          <p:nvPr/>
        </p:nvCxnSpPr>
        <p:spPr>
          <a:xfrm flipV="1">
            <a:off x="3703793" y="3770312"/>
            <a:ext cx="298186" cy="669803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9" name="CaixaDeTexto 108"/>
          <p:cNvSpPr txBox="1"/>
          <p:nvPr/>
        </p:nvSpPr>
        <p:spPr>
          <a:xfrm>
            <a:off x="4833304" y="3607272"/>
            <a:ext cx="144016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 smtClean="0">
                <a:latin typeface="Comic Sans MS" panose="030F0702030302020204" pitchFamily="66" charset="0"/>
              </a:rPr>
              <a:t>Vincular processos de Demandas, Mudanças e Projetos</a:t>
            </a:r>
            <a:endParaRPr lang="pt-BR" sz="1400" dirty="0">
              <a:latin typeface="Comic Sans MS" panose="030F0702030302020204" pitchFamily="66" charset="0"/>
            </a:endParaRPr>
          </a:p>
        </p:txBody>
      </p:sp>
      <p:cxnSp>
        <p:nvCxnSpPr>
          <p:cNvPr id="110" name="Conector em curva 109"/>
          <p:cNvCxnSpPr>
            <a:stCxn id="99" idx="3"/>
            <a:endCxn id="109" idx="0"/>
          </p:cNvCxnSpPr>
          <p:nvPr/>
        </p:nvCxnSpPr>
        <p:spPr>
          <a:xfrm>
            <a:off x="4836438" y="3293259"/>
            <a:ext cx="716946" cy="314013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5" name="CaixaDeTexto 114"/>
          <p:cNvSpPr txBox="1"/>
          <p:nvPr/>
        </p:nvSpPr>
        <p:spPr>
          <a:xfrm>
            <a:off x="6863569" y="3905255"/>
            <a:ext cx="144016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 smtClean="0">
                <a:latin typeface="Comic Sans MS" panose="030F0702030302020204" pitchFamily="66" charset="0"/>
              </a:rPr>
              <a:t>Estabelecer processo de Transição Segura</a:t>
            </a:r>
          </a:p>
          <a:p>
            <a:pPr algn="ctr"/>
            <a:r>
              <a:rPr lang="pt-BR" sz="1400" dirty="0" smtClean="0">
                <a:latin typeface="Comic Sans MS" panose="030F0702030302020204" pitchFamily="66" charset="0"/>
              </a:rPr>
              <a:t>(SPE e CAS)</a:t>
            </a:r>
            <a:endParaRPr lang="pt-BR" sz="1400" dirty="0">
              <a:latin typeface="Comic Sans MS" panose="030F0702030302020204" pitchFamily="66" charset="0"/>
            </a:endParaRPr>
          </a:p>
        </p:txBody>
      </p:sp>
      <p:cxnSp>
        <p:nvCxnSpPr>
          <p:cNvPr id="116" name="Conector em curva 115"/>
          <p:cNvCxnSpPr>
            <a:stCxn id="109" idx="3"/>
            <a:endCxn id="115" idx="1"/>
          </p:cNvCxnSpPr>
          <p:nvPr/>
        </p:nvCxnSpPr>
        <p:spPr>
          <a:xfrm>
            <a:off x="6273464" y="4192048"/>
            <a:ext cx="590105" cy="297983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4" name="Conector em curva 123"/>
          <p:cNvCxnSpPr>
            <a:stCxn id="7" idx="3"/>
            <a:endCxn id="127" idx="1"/>
          </p:cNvCxnSpPr>
          <p:nvPr/>
        </p:nvCxnSpPr>
        <p:spPr>
          <a:xfrm flipV="1">
            <a:off x="3961217" y="1101556"/>
            <a:ext cx="874394" cy="696688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7" name="CaixaDeTexto 126"/>
          <p:cNvSpPr txBox="1"/>
          <p:nvPr/>
        </p:nvSpPr>
        <p:spPr>
          <a:xfrm>
            <a:off x="4835611" y="732224"/>
            <a:ext cx="144016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 smtClean="0">
                <a:latin typeface="Comic Sans MS" panose="030F0702030302020204" pitchFamily="66" charset="0"/>
              </a:rPr>
              <a:t>Definir Metas SMART para Serviços</a:t>
            </a:r>
            <a:endParaRPr lang="pt-BR" sz="1400" dirty="0">
              <a:latin typeface="Comic Sans MS" panose="030F0702030302020204" pitchFamily="66" charset="0"/>
            </a:endParaRPr>
          </a:p>
        </p:txBody>
      </p:sp>
      <p:sp>
        <p:nvSpPr>
          <p:cNvPr id="136" name="CaixaDeTexto 135"/>
          <p:cNvSpPr txBox="1"/>
          <p:nvPr/>
        </p:nvSpPr>
        <p:spPr>
          <a:xfrm>
            <a:off x="4830997" y="1875908"/>
            <a:ext cx="144016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 smtClean="0">
                <a:latin typeface="Comic Sans MS" panose="030F0702030302020204" pitchFamily="66" charset="0"/>
              </a:rPr>
              <a:t>Definir e Catalogar Indicadores Oficiais dos Processos</a:t>
            </a:r>
            <a:endParaRPr lang="pt-BR" sz="1400" dirty="0">
              <a:latin typeface="Comic Sans MS" panose="030F0702030302020204" pitchFamily="66" charset="0"/>
            </a:endParaRPr>
          </a:p>
        </p:txBody>
      </p:sp>
      <p:cxnSp>
        <p:nvCxnSpPr>
          <p:cNvPr id="137" name="Conector em curva 136"/>
          <p:cNvCxnSpPr>
            <a:stCxn id="7" idx="3"/>
            <a:endCxn id="136" idx="1"/>
          </p:cNvCxnSpPr>
          <p:nvPr/>
        </p:nvCxnSpPr>
        <p:spPr>
          <a:xfrm>
            <a:off x="3961217" y="1798244"/>
            <a:ext cx="869780" cy="662440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9" name="CaixaDeTexto 148"/>
          <p:cNvSpPr txBox="1"/>
          <p:nvPr/>
        </p:nvSpPr>
        <p:spPr>
          <a:xfrm>
            <a:off x="6737903" y="844137"/>
            <a:ext cx="144016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 smtClean="0">
                <a:latin typeface="Comic Sans MS" panose="030F0702030302020204" pitchFamily="66" charset="0"/>
              </a:rPr>
              <a:t>Estabelecer Monitoração dos Serviços</a:t>
            </a:r>
            <a:endParaRPr lang="pt-BR" sz="1400" dirty="0">
              <a:latin typeface="Comic Sans MS" panose="030F0702030302020204" pitchFamily="66" charset="0"/>
            </a:endParaRPr>
          </a:p>
        </p:txBody>
      </p:sp>
      <p:cxnSp>
        <p:nvCxnSpPr>
          <p:cNvPr id="150" name="Conector em curva 149"/>
          <p:cNvCxnSpPr>
            <a:stCxn id="127" idx="3"/>
            <a:endCxn id="149" idx="1"/>
          </p:cNvCxnSpPr>
          <p:nvPr/>
        </p:nvCxnSpPr>
        <p:spPr>
          <a:xfrm>
            <a:off x="6275771" y="1101556"/>
            <a:ext cx="462132" cy="111913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4" name="CaixaDeTexto 193"/>
          <p:cNvSpPr txBox="1"/>
          <p:nvPr/>
        </p:nvSpPr>
        <p:spPr>
          <a:xfrm>
            <a:off x="482052" y="868771"/>
            <a:ext cx="14401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 smtClean="0">
                <a:latin typeface="Comic Sans MS" panose="030F0702030302020204" pitchFamily="66" charset="0"/>
              </a:rPr>
              <a:t>Configurar os Serviços</a:t>
            </a:r>
            <a:endParaRPr lang="pt-BR" sz="1400" dirty="0">
              <a:latin typeface="Comic Sans MS" panose="030F0702030302020204" pitchFamily="66" charset="0"/>
            </a:endParaRPr>
          </a:p>
        </p:txBody>
      </p:sp>
      <p:cxnSp>
        <p:nvCxnSpPr>
          <p:cNvPr id="197" name="Conector em curva 196"/>
          <p:cNvCxnSpPr>
            <a:stCxn id="62" idx="0"/>
            <a:endCxn id="194" idx="2"/>
          </p:cNvCxnSpPr>
          <p:nvPr/>
        </p:nvCxnSpPr>
        <p:spPr>
          <a:xfrm rot="5400000" flipH="1" flipV="1">
            <a:off x="662006" y="1464609"/>
            <a:ext cx="612744" cy="467508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1" name="Conector em curva 200"/>
          <p:cNvCxnSpPr>
            <a:stCxn id="194" idx="3"/>
            <a:endCxn id="7" idx="1"/>
          </p:cNvCxnSpPr>
          <p:nvPr/>
        </p:nvCxnSpPr>
        <p:spPr>
          <a:xfrm>
            <a:off x="1922212" y="1130381"/>
            <a:ext cx="448818" cy="667863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026" name="Picture 2" descr="http://www.npu.com.br/blog/wp-content/uploads/2014/09/Hinc-Gest%C3%A3o-PDCA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0170" y="2100733"/>
            <a:ext cx="1344153" cy="13495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56" name="Conector em curva 255"/>
          <p:cNvCxnSpPr>
            <a:stCxn id="149" idx="2"/>
            <a:endCxn id="1026" idx="0"/>
          </p:cNvCxnSpPr>
          <p:nvPr/>
        </p:nvCxnSpPr>
        <p:spPr>
          <a:xfrm rot="5400000">
            <a:off x="7076149" y="1718899"/>
            <a:ext cx="517932" cy="245736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7" name="Conector em curva 256"/>
          <p:cNvCxnSpPr>
            <a:stCxn id="136" idx="3"/>
            <a:endCxn id="1026" idx="1"/>
          </p:cNvCxnSpPr>
          <p:nvPr/>
        </p:nvCxnSpPr>
        <p:spPr>
          <a:xfrm>
            <a:off x="6271157" y="2460684"/>
            <a:ext cx="269013" cy="314815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8" name="Conector em curva 257"/>
          <p:cNvCxnSpPr>
            <a:stCxn id="115" idx="0"/>
            <a:endCxn id="1026" idx="2"/>
          </p:cNvCxnSpPr>
          <p:nvPr/>
        </p:nvCxnSpPr>
        <p:spPr>
          <a:xfrm rot="16200000" flipV="1">
            <a:off x="7170453" y="3492059"/>
            <a:ext cx="454990" cy="371402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5" name="CaixaDeTexto 264"/>
          <p:cNvSpPr txBox="1"/>
          <p:nvPr/>
        </p:nvSpPr>
        <p:spPr>
          <a:xfrm rot="16200000">
            <a:off x="8127559" y="4147980"/>
            <a:ext cx="176338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 b="1" dirty="0">
                <a:solidFill>
                  <a:schemeClr val="accent1">
                    <a:lumMod val="75000"/>
                  </a:schemeClr>
                </a:solidFill>
              </a:rPr>
              <a:t>CHACON</a:t>
            </a:r>
            <a:r>
              <a:rPr lang="pt-BR" sz="900" dirty="0"/>
              <a:t> </a:t>
            </a:r>
            <a:r>
              <a:rPr lang="pt-BR" sz="900" b="1" dirty="0">
                <a:solidFill>
                  <a:schemeClr val="bg1">
                    <a:lumMod val="85000"/>
                  </a:schemeClr>
                </a:solidFill>
              </a:rPr>
              <a:t>|</a:t>
            </a:r>
            <a:r>
              <a:rPr lang="pt-BR" sz="900" dirty="0"/>
              <a:t> </a:t>
            </a:r>
            <a:r>
              <a:rPr lang="pt-BR" sz="900" b="1" dirty="0">
                <a:solidFill>
                  <a:schemeClr val="bg1">
                    <a:lumMod val="65000"/>
                  </a:schemeClr>
                </a:solidFill>
              </a:rPr>
              <a:t>Consultoria Ilimitada</a:t>
            </a:r>
          </a:p>
        </p:txBody>
      </p:sp>
      <p:sp>
        <p:nvSpPr>
          <p:cNvPr id="268" name="CaixaDeTexto 267"/>
          <p:cNvSpPr txBox="1"/>
          <p:nvPr/>
        </p:nvSpPr>
        <p:spPr>
          <a:xfrm>
            <a:off x="1055283" y="2608545"/>
            <a:ext cx="144016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 smtClean="0">
                <a:latin typeface="Comic Sans MS" panose="030F0702030302020204" pitchFamily="66" charset="0"/>
              </a:rPr>
              <a:t>Priorizar os Serviços </a:t>
            </a:r>
            <a:r>
              <a:rPr lang="pt-BR" sz="1400" dirty="0">
                <a:latin typeface="Comic Sans MS" panose="030F0702030302020204" pitchFamily="66" charset="0"/>
              </a:rPr>
              <a:t>do Ciclo do Pedido</a:t>
            </a:r>
          </a:p>
        </p:txBody>
      </p:sp>
      <p:sp>
        <p:nvSpPr>
          <p:cNvPr id="359" name="CaixaDeTexto 358"/>
          <p:cNvSpPr txBox="1"/>
          <p:nvPr/>
        </p:nvSpPr>
        <p:spPr>
          <a:xfrm rot="16200000">
            <a:off x="8127560" y="4147980"/>
            <a:ext cx="176338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 b="1" dirty="0">
                <a:solidFill>
                  <a:schemeClr val="accent1">
                    <a:lumMod val="75000"/>
                  </a:schemeClr>
                </a:solidFill>
              </a:rPr>
              <a:t>CHACON</a:t>
            </a:r>
            <a:r>
              <a:rPr lang="pt-BR" sz="900" dirty="0"/>
              <a:t> </a:t>
            </a:r>
            <a:r>
              <a:rPr lang="pt-BR" sz="900" b="1" dirty="0">
                <a:solidFill>
                  <a:schemeClr val="bg1">
                    <a:lumMod val="85000"/>
                  </a:schemeClr>
                </a:solidFill>
              </a:rPr>
              <a:t>|</a:t>
            </a:r>
            <a:r>
              <a:rPr lang="pt-BR" sz="900" dirty="0"/>
              <a:t> </a:t>
            </a:r>
            <a:r>
              <a:rPr lang="pt-BR" sz="900" b="1" dirty="0">
                <a:solidFill>
                  <a:schemeClr val="bg1">
                    <a:lumMod val="65000"/>
                  </a:schemeClr>
                </a:solidFill>
              </a:rPr>
              <a:t>Consultoria Ilimitada</a:t>
            </a:r>
          </a:p>
        </p:txBody>
      </p:sp>
      <p:cxnSp>
        <p:nvCxnSpPr>
          <p:cNvPr id="388" name="Conector em curva 387"/>
          <p:cNvCxnSpPr>
            <a:stCxn id="127" idx="2"/>
            <a:endCxn id="136" idx="0"/>
          </p:cNvCxnSpPr>
          <p:nvPr/>
        </p:nvCxnSpPr>
        <p:spPr>
          <a:xfrm rot="5400000">
            <a:off x="5350874" y="1671091"/>
            <a:ext cx="405020" cy="4614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3" name="CaixaDeTexto 432"/>
          <p:cNvSpPr txBox="1"/>
          <p:nvPr/>
        </p:nvSpPr>
        <p:spPr>
          <a:xfrm>
            <a:off x="7886630" y="1789291"/>
            <a:ext cx="123803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 smtClean="0">
                <a:latin typeface="Comic Sans MS" panose="030F0702030302020204" pitchFamily="66" charset="0"/>
              </a:rPr>
              <a:t>Gestão Financeira dos Serviços</a:t>
            </a:r>
            <a:endParaRPr lang="pt-BR" sz="1400" dirty="0">
              <a:latin typeface="Comic Sans MS" panose="030F0702030302020204" pitchFamily="66" charset="0"/>
            </a:endParaRPr>
          </a:p>
        </p:txBody>
      </p:sp>
      <p:cxnSp>
        <p:nvCxnSpPr>
          <p:cNvPr id="441" name="Conector em curva 440"/>
          <p:cNvCxnSpPr>
            <a:stCxn id="1026" idx="3"/>
            <a:endCxn id="433" idx="2"/>
          </p:cNvCxnSpPr>
          <p:nvPr/>
        </p:nvCxnSpPr>
        <p:spPr>
          <a:xfrm flipV="1">
            <a:off x="7884323" y="2527955"/>
            <a:ext cx="621326" cy="247544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52629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500"/>
                            </p:stCondLst>
                            <p:childTnLst>
                              <p:par>
                                <p:cTn id="8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3" presetClass="emph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6" dur="20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7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8" dur="2000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9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0" dur="20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1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2" dur="20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3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4" dur="2000" fill="hold"/>
                                        <p:tgtEl>
                                          <p:spTgt spid="43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5" grpId="0"/>
      <p:bldP spid="62" grpId="0"/>
      <p:bldP spid="84" grpId="0"/>
      <p:bldP spid="99" grpId="0"/>
      <p:bldP spid="109" grpId="0"/>
      <p:bldP spid="115" grpId="0"/>
      <p:bldP spid="115" grpId="1"/>
      <p:bldP spid="127" grpId="0"/>
      <p:bldP spid="127" grpId="1"/>
      <p:bldP spid="136" grpId="0"/>
      <p:bldP spid="136" grpId="1"/>
      <p:bldP spid="149" grpId="0"/>
      <p:bldP spid="149" grpId="1"/>
      <p:bldP spid="194" grpId="0"/>
      <p:bldP spid="268" grpId="0"/>
      <p:bldP spid="433" grpId="0"/>
      <p:bldP spid="433" grpId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8" descr="NAT_marca_branca_natura-01.png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0432" y="19878"/>
            <a:ext cx="576000" cy="57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CaixaDeTexto 5"/>
          <p:cNvSpPr txBox="1"/>
          <p:nvPr/>
        </p:nvSpPr>
        <p:spPr>
          <a:xfrm>
            <a:off x="-1" y="2"/>
            <a:ext cx="9144001" cy="646331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O que </a:t>
            </a:r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recomendamos</a:t>
            </a:r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Light" pitchFamily="34" charset="0"/>
            </a:endParaRPr>
          </a:p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Planos </a:t>
            </a:r>
            <a:r>
              <a:rPr 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de Ação – Estrutura Organizacional</a:t>
            </a:r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Light" pitchFamily="34" charset="0"/>
            </a:endParaRPr>
          </a:p>
        </p:txBody>
      </p:sp>
      <p:sp>
        <p:nvSpPr>
          <p:cNvPr id="8" name="CaixaDeTexto 7"/>
          <p:cNvSpPr txBox="1"/>
          <p:nvPr/>
        </p:nvSpPr>
        <p:spPr>
          <a:xfrm rot="16200000">
            <a:off x="8127558" y="4147980"/>
            <a:ext cx="176338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 b="1" dirty="0">
                <a:solidFill>
                  <a:schemeClr val="accent1">
                    <a:lumMod val="75000"/>
                  </a:schemeClr>
                </a:solidFill>
              </a:rPr>
              <a:t>CHACON</a:t>
            </a:r>
            <a:r>
              <a:rPr lang="pt-BR" sz="900" dirty="0"/>
              <a:t> </a:t>
            </a:r>
            <a:r>
              <a:rPr lang="pt-BR" sz="900" b="1" dirty="0">
                <a:solidFill>
                  <a:schemeClr val="bg1">
                    <a:lumMod val="85000"/>
                  </a:schemeClr>
                </a:solidFill>
              </a:rPr>
              <a:t>|</a:t>
            </a:r>
            <a:r>
              <a:rPr lang="pt-BR" sz="900" dirty="0"/>
              <a:t> </a:t>
            </a:r>
            <a:r>
              <a:rPr lang="pt-BR" sz="900" b="1" dirty="0">
                <a:solidFill>
                  <a:schemeClr val="bg1">
                    <a:lumMod val="65000"/>
                  </a:schemeClr>
                </a:solidFill>
              </a:rPr>
              <a:t>Consultoria Ilimitada</a:t>
            </a:r>
          </a:p>
        </p:txBody>
      </p:sp>
      <p:sp>
        <p:nvSpPr>
          <p:cNvPr id="148" name="CaixaDeTexto 147"/>
          <p:cNvSpPr txBox="1"/>
          <p:nvPr/>
        </p:nvSpPr>
        <p:spPr>
          <a:xfrm>
            <a:off x="33509" y="1012887"/>
            <a:ext cx="151216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 smtClean="0">
                <a:latin typeface="Comic Sans MS" panose="030F0702030302020204" pitchFamily="66" charset="0"/>
              </a:rPr>
              <a:t>Documentar Conhecimento </a:t>
            </a:r>
            <a:r>
              <a:rPr lang="pt-BR" sz="1400" dirty="0">
                <a:latin typeface="Comic Sans MS" panose="030F0702030302020204" pitchFamily="66" charset="0"/>
              </a:rPr>
              <a:t>e Competências (</a:t>
            </a:r>
            <a:r>
              <a:rPr lang="pt-BR" sz="1400" dirty="0">
                <a:solidFill>
                  <a:schemeClr val="accent4"/>
                </a:solidFill>
                <a:latin typeface="Comic Sans MS" panose="030F0702030302020204" pitchFamily="66" charset="0"/>
              </a:rPr>
              <a:t>censo</a:t>
            </a:r>
            <a:r>
              <a:rPr lang="pt-BR" sz="1400" dirty="0" smtClean="0">
                <a:latin typeface="Comic Sans MS" panose="030F0702030302020204" pitchFamily="66" charset="0"/>
              </a:rPr>
              <a:t>)</a:t>
            </a:r>
            <a:endParaRPr lang="pt-BR" sz="1400" dirty="0">
              <a:latin typeface="Comic Sans MS" panose="030F0702030302020204" pitchFamily="66" charset="0"/>
            </a:endParaRPr>
          </a:p>
        </p:txBody>
      </p:sp>
      <p:sp>
        <p:nvSpPr>
          <p:cNvPr id="62" name="CaixaDeTexto 61"/>
          <p:cNvSpPr txBox="1"/>
          <p:nvPr/>
        </p:nvSpPr>
        <p:spPr>
          <a:xfrm>
            <a:off x="3460423" y="1012887"/>
            <a:ext cx="169218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 smtClean="0">
                <a:latin typeface="Comic Sans MS" panose="030F0702030302020204" pitchFamily="66" charset="0"/>
              </a:rPr>
              <a:t>(Re)definir Papéis e Responsabilidades</a:t>
            </a:r>
            <a:endParaRPr lang="pt-BR" sz="1400" dirty="0">
              <a:latin typeface="Comic Sans MS" panose="030F0702030302020204" pitchFamily="66" charset="0"/>
            </a:endParaRPr>
          </a:p>
        </p:txBody>
      </p:sp>
      <p:sp>
        <p:nvSpPr>
          <p:cNvPr id="64" name="CaixaDeTexto 63"/>
          <p:cNvSpPr txBox="1"/>
          <p:nvPr/>
        </p:nvSpPr>
        <p:spPr>
          <a:xfrm>
            <a:off x="7070313" y="2778009"/>
            <a:ext cx="151216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 smtClean="0">
                <a:latin typeface="Comic Sans MS" panose="030F0702030302020204" pitchFamily="66" charset="0"/>
              </a:rPr>
              <a:t>Redefinir a Estrutura Organizacional</a:t>
            </a:r>
            <a:endParaRPr lang="pt-BR" sz="1400" dirty="0">
              <a:latin typeface="Comic Sans MS" panose="030F0702030302020204" pitchFamily="66" charset="0"/>
            </a:endParaRPr>
          </a:p>
        </p:txBody>
      </p:sp>
      <p:sp>
        <p:nvSpPr>
          <p:cNvPr id="66" name="CaixaDeTexto 65"/>
          <p:cNvSpPr txBox="1"/>
          <p:nvPr/>
        </p:nvSpPr>
        <p:spPr>
          <a:xfrm>
            <a:off x="4778417" y="2904649"/>
            <a:ext cx="169218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 smtClean="0">
                <a:latin typeface="Comic Sans MS" panose="030F0702030302020204" pitchFamily="66" charset="0"/>
              </a:rPr>
              <a:t>Definir suporte especializado para as Operações Internacionais</a:t>
            </a:r>
            <a:endParaRPr lang="pt-BR" sz="1400" dirty="0">
              <a:latin typeface="Comic Sans MS" panose="030F0702030302020204" pitchFamily="66" charset="0"/>
            </a:endParaRPr>
          </a:p>
        </p:txBody>
      </p:sp>
      <p:sp>
        <p:nvSpPr>
          <p:cNvPr id="67" name="CaixaDeTexto 66"/>
          <p:cNvSpPr txBox="1"/>
          <p:nvPr/>
        </p:nvSpPr>
        <p:spPr>
          <a:xfrm>
            <a:off x="1295122" y="2166674"/>
            <a:ext cx="151216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 smtClean="0">
                <a:latin typeface="Comic Sans MS" panose="030F0702030302020204" pitchFamily="66" charset="0"/>
              </a:rPr>
              <a:t>Programar Treinamentos e Capacitação</a:t>
            </a:r>
            <a:endParaRPr lang="pt-BR" sz="1400" dirty="0">
              <a:latin typeface="Comic Sans MS" panose="030F0702030302020204" pitchFamily="66" charset="0"/>
            </a:endParaRPr>
          </a:p>
        </p:txBody>
      </p:sp>
      <p:sp>
        <p:nvSpPr>
          <p:cNvPr id="68" name="CaixaDeTexto 67"/>
          <p:cNvSpPr txBox="1"/>
          <p:nvPr/>
        </p:nvSpPr>
        <p:spPr>
          <a:xfrm>
            <a:off x="23869" y="3918597"/>
            <a:ext cx="151216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 smtClean="0">
                <a:latin typeface="Comic Sans MS" panose="030F0702030302020204" pitchFamily="66" charset="0"/>
              </a:rPr>
              <a:t>Identificar e documentar </a:t>
            </a:r>
            <a:r>
              <a:rPr lang="pt-BR" sz="1400" dirty="0">
                <a:latin typeface="Comic Sans MS" panose="030F0702030302020204" pitchFamily="66" charset="0"/>
              </a:rPr>
              <a:t>Requisitos para Gestão de Serviços</a:t>
            </a:r>
          </a:p>
        </p:txBody>
      </p:sp>
      <p:cxnSp>
        <p:nvCxnSpPr>
          <p:cNvPr id="70" name="Conector em curva 69"/>
          <p:cNvCxnSpPr>
            <a:stCxn id="148" idx="2"/>
            <a:endCxn id="68" idx="0"/>
          </p:cNvCxnSpPr>
          <p:nvPr/>
        </p:nvCxnSpPr>
        <p:spPr>
          <a:xfrm rot="5400000">
            <a:off x="-191028" y="2937975"/>
            <a:ext cx="1951603" cy="9640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1" name="Conector em curva 70"/>
          <p:cNvCxnSpPr>
            <a:stCxn id="68" idx="3"/>
            <a:endCxn id="58" idx="2"/>
          </p:cNvCxnSpPr>
          <p:nvPr/>
        </p:nvCxnSpPr>
        <p:spPr>
          <a:xfrm flipV="1">
            <a:off x="1536037" y="3845149"/>
            <a:ext cx="516031" cy="658224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2" name="Conector em curva 71"/>
          <p:cNvCxnSpPr>
            <a:stCxn id="67" idx="0"/>
            <a:endCxn id="62" idx="1"/>
          </p:cNvCxnSpPr>
          <p:nvPr/>
        </p:nvCxnSpPr>
        <p:spPr>
          <a:xfrm rot="5400000" flipH="1" flipV="1">
            <a:off x="2363587" y="1069839"/>
            <a:ext cx="784455" cy="1409217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4" name="Conector em curva 73"/>
          <p:cNvCxnSpPr>
            <a:stCxn id="62" idx="3"/>
            <a:endCxn id="66" idx="0"/>
          </p:cNvCxnSpPr>
          <p:nvPr/>
        </p:nvCxnSpPr>
        <p:spPr>
          <a:xfrm>
            <a:off x="5152611" y="1382219"/>
            <a:ext cx="471900" cy="1522430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5" name="Conector em curva 74"/>
          <p:cNvCxnSpPr>
            <a:stCxn id="28" idx="3"/>
            <a:endCxn id="50" idx="1"/>
          </p:cNvCxnSpPr>
          <p:nvPr/>
        </p:nvCxnSpPr>
        <p:spPr>
          <a:xfrm flipV="1">
            <a:off x="6476955" y="4141444"/>
            <a:ext cx="759309" cy="361353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3" name="Conector em curva 82"/>
          <p:cNvCxnSpPr>
            <a:stCxn id="64" idx="0"/>
            <a:endCxn id="13" idx="2"/>
          </p:cNvCxnSpPr>
          <p:nvPr/>
        </p:nvCxnSpPr>
        <p:spPr>
          <a:xfrm rot="16200000" flipV="1">
            <a:off x="7343137" y="2294748"/>
            <a:ext cx="429413" cy="537109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CaixaDeTexto 27"/>
          <p:cNvSpPr txBox="1"/>
          <p:nvPr/>
        </p:nvSpPr>
        <p:spPr>
          <a:xfrm>
            <a:off x="4784767" y="4241187"/>
            <a:ext cx="16921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 smtClean="0">
                <a:latin typeface="Comic Sans MS" panose="030F0702030302020204" pitchFamily="66" charset="0"/>
              </a:rPr>
              <a:t>Montar RACI dos Processos</a:t>
            </a:r>
            <a:endParaRPr lang="pt-BR" sz="1400" dirty="0">
              <a:latin typeface="Comic Sans MS" panose="030F0702030302020204" pitchFamily="66" charset="0"/>
            </a:endParaRPr>
          </a:p>
        </p:txBody>
      </p:sp>
      <p:cxnSp>
        <p:nvCxnSpPr>
          <p:cNvPr id="34" name="Conector em curva 33"/>
          <p:cNvCxnSpPr>
            <a:stCxn id="66" idx="2"/>
            <a:endCxn id="28" idx="0"/>
          </p:cNvCxnSpPr>
          <p:nvPr/>
        </p:nvCxnSpPr>
        <p:spPr>
          <a:xfrm rot="16200000" flipH="1">
            <a:off x="5436471" y="4046796"/>
            <a:ext cx="382431" cy="6350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8" name="CaixaDeTexto 57"/>
          <p:cNvSpPr txBox="1"/>
          <p:nvPr/>
        </p:nvSpPr>
        <p:spPr>
          <a:xfrm>
            <a:off x="1295984" y="3321929"/>
            <a:ext cx="15121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 smtClean="0">
                <a:latin typeface="Comic Sans MS" panose="030F0702030302020204" pitchFamily="66" charset="0"/>
              </a:rPr>
              <a:t>Avaliar </a:t>
            </a:r>
            <a:r>
              <a:rPr lang="pt-BR" sz="1400" dirty="0" err="1" smtClean="0">
                <a:latin typeface="Comic Sans MS" panose="030F0702030302020204" pitchFamily="66" charset="0"/>
              </a:rPr>
              <a:t>GAPs</a:t>
            </a:r>
            <a:r>
              <a:rPr lang="pt-BR" sz="1400" dirty="0" smtClean="0">
                <a:latin typeface="Comic Sans MS" panose="030F0702030302020204" pitchFamily="66" charset="0"/>
              </a:rPr>
              <a:t> de Competências</a:t>
            </a:r>
            <a:endParaRPr lang="pt-BR" sz="1400" dirty="0">
              <a:latin typeface="Comic Sans MS" panose="030F0702030302020204" pitchFamily="66" charset="0"/>
            </a:endParaRPr>
          </a:p>
        </p:txBody>
      </p:sp>
      <p:cxnSp>
        <p:nvCxnSpPr>
          <p:cNvPr id="63" name="Conector em curva 62"/>
          <p:cNvCxnSpPr>
            <a:stCxn id="58" idx="0"/>
            <a:endCxn id="67" idx="2"/>
          </p:cNvCxnSpPr>
          <p:nvPr/>
        </p:nvCxnSpPr>
        <p:spPr>
          <a:xfrm rot="16200000" flipV="1">
            <a:off x="1843342" y="3113203"/>
            <a:ext cx="416591" cy="862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CaixaDeTexto 23"/>
          <p:cNvSpPr txBox="1"/>
          <p:nvPr/>
        </p:nvSpPr>
        <p:spPr>
          <a:xfrm>
            <a:off x="2791922" y="4263395"/>
            <a:ext cx="182703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 smtClean="0">
                <a:latin typeface="Comic Sans MS" panose="030F0702030302020204" pitchFamily="66" charset="0"/>
              </a:rPr>
              <a:t>Avaliar </a:t>
            </a:r>
            <a:r>
              <a:rPr lang="pt-BR" sz="1400" dirty="0" err="1" smtClean="0">
                <a:latin typeface="Comic Sans MS" panose="030F0702030302020204" pitchFamily="66" charset="0"/>
              </a:rPr>
              <a:t>GAPs</a:t>
            </a:r>
            <a:r>
              <a:rPr lang="pt-BR" sz="1400" dirty="0" smtClean="0">
                <a:latin typeface="Comic Sans MS" panose="030F0702030302020204" pitchFamily="66" charset="0"/>
              </a:rPr>
              <a:t> de Recursos e Autoridades</a:t>
            </a:r>
            <a:endParaRPr lang="pt-BR" sz="1400" dirty="0">
              <a:latin typeface="Comic Sans MS" panose="030F0702030302020204" pitchFamily="66" charset="0"/>
            </a:endParaRPr>
          </a:p>
        </p:txBody>
      </p:sp>
      <p:cxnSp>
        <p:nvCxnSpPr>
          <p:cNvPr id="27" name="Conector em curva 26"/>
          <p:cNvCxnSpPr>
            <a:stCxn id="68" idx="3"/>
          </p:cNvCxnSpPr>
          <p:nvPr/>
        </p:nvCxnSpPr>
        <p:spPr>
          <a:xfrm>
            <a:off x="1536037" y="4503373"/>
            <a:ext cx="1324627" cy="11857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Conector em curva 31"/>
          <p:cNvCxnSpPr>
            <a:stCxn id="24" idx="0"/>
            <a:endCxn id="60" idx="2"/>
          </p:cNvCxnSpPr>
          <p:nvPr/>
        </p:nvCxnSpPr>
        <p:spPr>
          <a:xfrm rot="16200000" flipV="1">
            <a:off x="3264595" y="3822548"/>
            <a:ext cx="881693" cy="1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Conector em curva 58"/>
          <p:cNvCxnSpPr>
            <a:stCxn id="60" idx="0"/>
            <a:endCxn id="62" idx="2"/>
          </p:cNvCxnSpPr>
          <p:nvPr/>
        </p:nvCxnSpPr>
        <p:spPr>
          <a:xfrm rot="5400000" flipH="1" flipV="1">
            <a:off x="3560235" y="1896757"/>
            <a:ext cx="891487" cy="601077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0" name="CaixaDeTexto 59"/>
          <p:cNvSpPr txBox="1"/>
          <p:nvPr/>
        </p:nvSpPr>
        <p:spPr>
          <a:xfrm>
            <a:off x="2885800" y="2643038"/>
            <a:ext cx="163928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latin typeface="Comic Sans MS" panose="030F0702030302020204" pitchFamily="66" charset="0"/>
              </a:rPr>
              <a:t>Ajustar/Adquirir </a:t>
            </a:r>
            <a:r>
              <a:rPr lang="pt-BR" sz="1400" dirty="0" smtClean="0">
                <a:latin typeface="Comic Sans MS" panose="030F0702030302020204" pitchFamily="66" charset="0"/>
              </a:rPr>
              <a:t>Recursos e Autoridades</a:t>
            </a:r>
            <a:endParaRPr lang="pt-BR" sz="1400" dirty="0">
              <a:latin typeface="Comic Sans MS" panose="030F0702030302020204" pitchFamily="66" charset="0"/>
            </a:endParaRPr>
          </a:p>
        </p:txBody>
      </p:sp>
      <p:pic>
        <p:nvPicPr>
          <p:cNvPr id="13" name="Imagem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189179">
            <a:off x="5976414" y="837007"/>
            <a:ext cx="3153911" cy="1557725"/>
          </a:xfrm>
          <a:prstGeom prst="rect">
            <a:avLst/>
          </a:prstGeom>
        </p:spPr>
      </p:pic>
      <p:sp>
        <p:nvSpPr>
          <p:cNvPr id="50" name="CaixaDeTexto 49"/>
          <p:cNvSpPr txBox="1"/>
          <p:nvPr/>
        </p:nvSpPr>
        <p:spPr>
          <a:xfrm>
            <a:off x="7236264" y="3772112"/>
            <a:ext cx="151216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 smtClean="0">
                <a:latin typeface="Comic Sans MS" panose="030F0702030302020204" pitchFamily="66" charset="0"/>
              </a:rPr>
              <a:t>Organizar o Pool de Competências</a:t>
            </a:r>
            <a:endParaRPr lang="pt-BR" sz="1400" dirty="0">
              <a:latin typeface="Comic Sans MS" panose="030F0702030302020204" pitchFamily="66" charset="0"/>
            </a:endParaRPr>
          </a:p>
        </p:txBody>
      </p:sp>
      <p:cxnSp>
        <p:nvCxnSpPr>
          <p:cNvPr id="52" name="Conector em curva 51"/>
          <p:cNvCxnSpPr>
            <a:stCxn id="50" idx="0"/>
            <a:endCxn id="64" idx="3"/>
          </p:cNvCxnSpPr>
          <p:nvPr/>
        </p:nvCxnSpPr>
        <p:spPr>
          <a:xfrm rot="5400000" flipH="1" flipV="1">
            <a:off x="7975029" y="3164661"/>
            <a:ext cx="624771" cy="590133"/>
          </a:xfrm>
          <a:prstGeom prst="curvedConnector4">
            <a:avLst>
              <a:gd name="adj1" fmla="val 20443"/>
              <a:gd name="adj2" fmla="val 138737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55352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500"/>
                            </p:stCondLst>
                            <p:childTnLst>
                              <p:par>
                                <p:cTn id="96" presetID="3" presetClass="emph" presetSubtype="2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7" dur="1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2000"/>
                            </p:stCondLst>
                            <p:childTnLst>
                              <p:par>
                                <p:cTn id="99" presetID="3" presetClass="emph" presetSubtype="2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0" dur="1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8" grpId="0"/>
      <p:bldP spid="62" grpId="0"/>
      <p:bldP spid="64" grpId="0"/>
      <p:bldP spid="64" grpId="1"/>
      <p:bldP spid="66" grpId="0"/>
      <p:bldP spid="67" grpId="0"/>
      <p:bldP spid="68" grpId="0"/>
      <p:bldP spid="28" grpId="0"/>
      <p:bldP spid="58" grpId="0"/>
      <p:bldP spid="24" grpId="0"/>
      <p:bldP spid="60" grpId="0"/>
      <p:bldP spid="50" grpId="0"/>
      <p:bldP spid="50" grpId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8" descr="NAT_marca_branca_natura-01.png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0432" y="19878"/>
            <a:ext cx="576000" cy="57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CaixaDeTexto 5"/>
          <p:cNvSpPr txBox="1"/>
          <p:nvPr/>
        </p:nvSpPr>
        <p:spPr>
          <a:xfrm>
            <a:off x="-1" y="2"/>
            <a:ext cx="9144001" cy="646331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O que </a:t>
            </a:r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recomendamos</a:t>
            </a:r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Light" pitchFamily="34" charset="0"/>
            </a:endParaRPr>
          </a:p>
          <a:p>
            <a:r>
              <a:rPr 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Planos de Ação – Estrutura Organizacional</a:t>
            </a:r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Light" pitchFamily="34" charset="0"/>
            </a:endParaRPr>
          </a:p>
        </p:txBody>
      </p:sp>
      <p:sp>
        <p:nvSpPr>
          <p:cNvPr id="8" name="CaixaDeTexto 7"/>
          <p:cNvSpPr txBox="1"/>
          <p:nvPr/>
        </p:nvSpPr>
        <p:spPr>
          <a:xfrm rot="16200000">
            <a:off x="8126207" y="4147980"/>
            <a:ext cx="176338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 b="1" dirty="0">
                <a:solidFill>
                  <a:schemeClr val="accent1">
                    <a:lumMod val="75000"/>
                  </a:schemeClr>
                </a:solidFill>
              </a:rPr>
              <a:t>CHACON</a:t>
            </a:r>
            <a:r>
              <a:rPr lang="pt-BR" sz="900" dirty="0"/>
              <a:t> </a:t>
            </a:r>
            <a:r>
              <a:rPr lang="pt-BR" sz="900" b="1" dirty="0">
                <a:solidFill>
                  <a:schemeClr val="bg1">
                    <a:lumMod val="85000"/>
                  </a:schemeClr>
                </a:solidFill>
              </a:rPr>
              <a:t>|</a:t>
            </a:r>
            <a:r>
              <a:rPr lang="pt-BR" sz="900" dirty="0"/>
              <a:t> </a:t>
            </a:r>
            <a:r>
              <a:rPr lang="pt-BR" sz="900" b="1" dirty="0">
                <a:solidFill>
                  <a:schemeClr val="bg1">
                    <a:lumMod val="65000"/>
                  </a:schemeClr>
                </a:solidFill>
              </a:rPr>
              <a:t>Consultoria Ilimitada</a:t>
            </a:r>
          </a:p>
        </p:txBody>
      </p:sp>
      <p:grpSp>
        <p:nvGrpSpPr>
          <p:cNvPr id="28" name="Grupo 27"/>
          <p:cNvGrpSpPr/>
          <p:nvPr/>
        </p:nvGrpSpPr>
        <p:grpSpPr>
          <a:xfrm>
            <a:off x="1937269" y="882816"/>
            <a:ext cx="4224995" cy="3978744"/>
            <a:chOff x="2357089" y="988368"/>
            <a:chExt cx="4224995" cy="3862046"/>
          </a:xfrm>
        </p:grpSpPr>
        <p:grpSp>
          <p:nvGrpSpPr>
            <p:cNvPr id="170" name="Grupo 169"/>
            <p:cNvGrpSpPr/>
            <p:nvPr/>
          </p:nvGrpSpPr>
          <p:grpSpPr>
            <a:xfrm>
              <a:off x="2411760" y="988368"/>
              <a:ext cx="4138025" cy="3862046"/>
              <a:chOff x="1922829" y="1065890"/>
              <a:chExt cx="4138025" cy="3862046"/>
            </a:xfrm>
          </p:grpSpPr>
          <p:sp>
            <p:nvSpPr>
              <p:cNvPr id="5" name="Rosca 4"/>
              <p:cNvSpPr/>
              <p:nvPr/>
            </p:nvSpPr>
            <p:spPr>
              <a:xfrm>
                <a:off x="5412782" y="2684077"/>
                <a:ext cx="648072" cy="648072"/>
              </a:xfrm>
              <a:prstGeom prst="donut">
                <a:avLst>
                  <a:gd name="adj" fmla="val 7901"/>
                </a:avLst>
              </a:prstGeom>
              <a:ln w="12700">
                <a:noFill/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0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1" name="Rosca 30"/>
              <p:cNvSpPr/>
              <p:nvPr/>
            </p:nvSpPr>
            <p:spPr>
              <a:xfrm>
                <a:off x="1922829" y="2686817"/>
                <a:ext cx="648072" cy="648072"/>
              </a:xfrm>
              <a:prstGeom prst="donut">
                <a:avLst>
                  <a:gd name="adj" fmla="val 7901"/>
                </a:avLst>
              </a:prstGeom>
              <a:ln w="12700">
                <a:noFill/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pt-BR" sz="90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2" name="Rosca 31"/>
              <p:cNvSpPr/>
              <p:nvPr/>
            </p:nvSpPr>
            <p:spPr>
              <a:xfrm>
                <a:off x="3667868" y="4279864"/>
                <a:ext cx="648072" cy="648072"/>
              </a:xfrm>
              <a:prstGeom prst="donut">
                <a:avLst>
                  <a:gd name="adj" fmla="val 7901"/>
                </a:avLst>
              </a:prstGeom>
              <a:solidFill>
                <a:schemeClr val="accent6">
                  <a:lumMod val="40000"/>
                  <a:lumOff val="60000"/>
                </a:schemeClr>
              </a:solidFill>
              <a:ln w="12700">
                <a:noFill/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0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3" name="Rosca 32"/>
              <p:cNvSpPr/>
              <p:nvPr/>
            </p:nvSpPr>
            <p:spPr>
              <a:xfrm>
                <a:off x="3655953" y="1065890"/>
                <a:ext cx="648072" cy="648072"/>
              </a:xfrm>
              <a:prstGeom prst="donut">
                <a:avLst>
                  <a:gd name="adj" fmla="val 7901"/>
                </a:avLst>
              </a:prstGeom>
              <a:ln w="12700">
                <a:noFill/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0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4" name="Rosca 33"/>
              <p:cNvSpPr/>
              <p:nvPr/>
            </p:nvSpPr>
            <p:spPr>
              <a:xfrm>
                <a:off x="4888686" y="3843019"/>
                <a:ext cx="648072" cy="648072"/>
              </a:xfrm>
              <a:prstGeom prst="donut">
                <a:avLst>
                  <a:gd name="adj" fmla="val 7901"/>
                </a:avLst>
              </a:prstGeom>
              <a:solidFill>
                <a:schemeClr val="accent5">
                  <a:lumMod val="40000"/>
                  <a:lumOff val="60000"/>
                </a:schemeClr>
              </a:solidFill>
              <a:ln w="12700">
                <a:noFill/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0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5" name="Rosca 34"/>
              <p:cNvSpPr/>
              <p:nvPr/>
            </p:nvSpPr>
            <p:spPr>
              <a:xfrm>
                <a:off x="4890905" y="1530092"/>
                <a:ext cx="648072" cy="648072"/>
              </a:xfrm>
              <a:prstGeom prst="donut">
                <a:avLst>
                  <a:gd name="adj" fmla="val 7901"/>
                </a:avLst>
              </a:prstGeom>
              <a:ln w="12700">
                <a:noFill/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0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6" name="Rosca 35"/>
              <p:cNvSpPr/>
              <p:nvPr/>
            </p:nvSpPr>
            <p:spPr>
              <a:xfrm>
                <a:off x="2454492" y="1530092"/>
                <a:ext cx="648072" cy="648072"/>
              </a:xfrm>
              <a:prstGeom prst="donut">
                <a:avLst>
                  <a:gd name="adj" fmla="val 7901"/>
                </a:avLst>
              </a:prstGeom>
              <a:ln w="12700">
                <a:noFill/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pt-BR" sz="90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7" name="Rosca 36"/>
              <p:cNvSpPr/>
              <p:nvPr/>
            </p:nvSpPr>
            <p:spPr>
              <a:xfrm>
                <a:off x="2447050" y="3846233"/>
                <a:ext cx="648072" cy="648072"/>
              </a:xfrm>
              <a:prstGeom prst="donut">
                <a:avLst>
                  <a:gd name="adj" fmla="val 7901"/>
                </a:avLst>
              </a:prstGeom>
              <a:ln w="12700">
                <a:noFill/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1">
                <a:schemeClr val="dk1"/>
              </a:lnRef>
              <a:fillRef idx="3">
                <a:schemeClr val="dk1"/>
              </a:fillRef>
              <a:effectRef idx="2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0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9" name="Conector reto 8"/>
              <p:cNvCxnSpPr>
                <a:stCxn id="38" idx="6"/>
                <a:endCxn id="40" idx="2"/>
              </p:cNvCxnSpPr>
              <p:nvPr/>
            </p:nvCxnSpPr>
            <p:spPr>
              <a:xfrm flipV="1">
                <a:off x="3819509" y="3010591"/>
                <a:ext cx="344790" cy="524"/>
              </a:xfrm>
              <a:prstGeom prst="line">
                <a:avLst/>
              </a:prstGeom>
              <a:ln w="127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Conector reto 42"/>
              <p:cNvCxnSpPr>
                <a:stCxn id="31" idx="6"/>
                <a:endCxn id="38" idx="2"/>
              </p:cNvCxnSpPr>
              <p:nvPr/>
            </p:nvCxnSpPr>
            <p:spPr>
              <a:xfrm>
                <a:off x="2570901" y="3010853"/>
                <a:ext cx="344915" cy="262"/>
              </a:xfrm>
              <a:prstGeom prst="line">
                <a:avLst/>
              </a:prstGeom>
              <a:ln w="127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Conector reto 45"/>
              <p:cNvCxnSpPr>
                <a:stCxn id="40" idx="6"/>
                <a:endCxn id="5" idx="2"/>
              </p:cNvCxnSpPr>
              <p:nvPr/>
            </p:nvCxnSpPr>
            <p:spPr>
              <a:xfrm flipV="1">
                <a:off x="5067992" y="3008113"/>
                <a:ext cx="344790" cy="2478"/>
              </a:xfrm>
              <a:prstGeom prst="line">
                <a:avLst/>
              </a:prstGeom>
              <a:ln w="127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Conector reto 50"/>
              <p:cNvCxnSpPr>
                <a:stCxn id="34" idx="1"/>
                <a:endCxn id="40" idx="4"/>
              </p:cNvCxnSpPr>
              <p:nvPr/>
            </p:nvCxnSpPr>
            <p:spPr>
              <a:xfrm flipH="1" flipV="1">
                <a:off x="4616146" y="3469351"/>
                <a:ext cx="367448" cy="468576"/>
              </a:xfrm>
              <a:prstGeom prst="line">
                <a:avLst/>
              </a:prstGeom>
              <a:ln w="127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Conector reto 53"/>
              <p:cNvCxnSpPr>
                <a:stCxn id="32" idx="0"/>
                <a:endCxn id="40" idx="4"/>
              </p:cNvCxnSpPr>
              <p:nvPr/>
            </p:nvCxnSpPr>
            <p:spPr>
              <a:xfrm flipV="1">
                <a:off x="3991904" y="3469351"/>
                <a:ext cx="624242" cy="810513"/>
              </a:xfrm>
              <a:prstGeom prst="line">
                <a:avLst/>
              </a:prstGeom>
              <a:ln w="127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Conector reto 57"/>
              <p:cNvCxnSpPr>
                <a:stCxn id="32" idx="0"/>
                <a:endCxn id="38" idx="4"/>
              </p:cNvCxnSpPr>
              <p:nvPr/>
            </p:nvCxnSpPr>
            <p:spPr>
              <a:xfrm flipH="1" flipV="1">
                <a:off x="3367663" y="3469875"/>
                <a:ext cx="624241" cy="809989"/>
              </a:xfrm>
              <a:prstGeom prst="line">
                <a:avLst/>
              </a:prstGeom>
              <a:ln w="127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Conector reto 60"/>
              <p:cNvCxnSpPr>
                <a:stCxn id="37" idx="7"/>
                <a:endCxn id="38" idx="4"/>
              </p:cNvCxnSpPr>
              <p:nvPr/>
            </p:nvCxnSpPr>
            <p:spPr>
              <a:xfrm flipV="1">
                <a:off x="3000214" y="3469875"/>
                <a:ext cx="367449" cy="471266"/>
              </a:xfrm>
              <a:prstGeom prst="line">
                <a:avLst/>
              </a:prstGeom>
              <a:ln w="127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Conector reto 68"/>
              <p:cNvCxnSpPr>
                <a:stCxn id="36" idx="5"/>
                <a:endCxn id="38" idx="0"/>
              </p:cNvCxnSpPr>
              <p:nvPr/>
            </p:nvCxnSpPr>
            <p:spPr>
              <a:xfrm>
                <a:off x="3007656" y="2083256"/>
                <a:ext cx="360007" cy="469099"/>
              </a:xfrm>
              <a:prstGeom prst="line">
                <a:avLst/>
              </a:prstGeom>
              <a:ln w="127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Conector reto 75"/>
              <p:cNvCxnSpPr>
                <a:stCxn id="35" idx="3"/>
                <a:endCxn id="40" idx="0"/>
              </p:cNvCxnSpPr>
              <p:nvPr/>
            </p:nvCxnSpPr>
            <p:spPr>
              <a:xfrm flipH="1">
                <a:off x="4616146" y="2083256"/>
                <a:ext cx="369667" cy="468575"/>
              </a:xfrm>
              <a:prstGeom prst="line">
                <a:avLst/>
              </a:prstGeom>
              <a:ln w="127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Conector reto 76"/>
              <p:cNvCxnSpPr>
                <a:stCxn id="33" idx="4"/>
                <a:endCxn id="40" idx="0"/>
              </p:cNvCxnSpPr>
              <p:nvPr/>
            </p:nvCxnSpPr>
            <p:spPr>
              <a:xfrm>
                <a:off x="3979989" y="1713962"/>
                <a:ext cx="636157" cy="837869"/>
              </a:xfrm>
              <a:prstGeom prst="line">
                <a:avLst/>
              </a:prstGeom>
              <a:ln w="127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Conector reto 77"/>
              <p:cNvCxnSpPr>
                <a:stCxn id="33" idx="4"/>
                <a:endCxn id="38" idx="0"/>
              </p:cNvCxnSpPr>
              <p:nvPr/>
            </p:nvCxnSpPr>
            <p:spPr>
              <a:xfrm flipH="1">
                <a:off x="3367663" y="1713962"/>
                <a:ext cx="612326" cy="838393"/>
              </a:xfrm>
              <a:prstGeom prst="line">
                <a:avLst/>
              </a:prstGeom>
              <a:ln w="127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Conector reto 78"/>
              <p:cNvCxnSpPr>
                <a:stCxn id="36" idx="3"/>
                <a:endCxn id="31" idx="0"/>
              </p:cNvCxnSpPr>
              <p:nvPr/>
            </p:nvCxnSpPr>
            <p:spPr>
              <a:xfrm flipH="1">
                <a:off x="2246865" y="2083256"/>
                <a:ext cx="302535" cy="603561"/>
              </a:xfrm>
              <a:prstGeom prst="line">
                <a:avLst/>
              </a:prstGeom>
              <a:ln w="127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Conector reto 79"/>
              <p:cNvCxnSpPr>
                <a:stCxn id="31" idx="4"/>
                <a:endCxn id="37" idx="1"/>
              </p:cNvCxnSpPr>
              <p:nvPr/>
            </p:nvCxnSpPr>
            <p:spPr>
              <a:xfrm>
                <a:off x="2246865" y="3334889"/>
                <a:ext cx="295093" cy="606252"/>
              </a:xfrm>
              <a:prstGeom prst="line">
                <a:avLst/>
              </a:prstGeom>
              <a:ln w="127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Conector reto 81"/>
              <p:cNvCxnSpPr>
                <a:stCxn id="37" idx="5"/>
                <a:endCxn id="32" idx="2"/>
              </p:cNvCxnSpPr>
              <p:nvPr/>
            </p:nvCxnSpPr>
            <p:spPr>
              <a:xfrm>
                <a:off x="3000214" y="4399397"/>
                <a:ext cx="667654" cy="204503"/>
              </a:xfrm>
              <a:prstGeom prst="line">
                <a:avLst/>
              </a:prstGeom>
              <a:ln w="127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Conector reto 84"/>
              <p:cNvCxnSpPr>
                <a:stCxn id="34" idx="3"/>
                <a:endCxn id="32" idx="6"/>
              </p:cNvCxnSpPr>
              <p:nvPr/>
            </p:nvCxnSpPr>
            <p:spPr>
              <a:xfrm flipH="1">
                <a:off x="4315940" y="4396183"/>
                <a:ext cx="667654" cy="207717"/>
              </a:xfrm>
              <a:prstGeom prst="line">
                <a:avLst/>
              </a:prstGeom>
              <a:ln w="127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Conector reto 88"/>
              <p:cNvCxnSpPr>
                <a:stCxn id="5" idx="4"/>
                <a:endCxn id="34" idx="7"/>
              </p:cNvCxnSpPr>
              <p:nvPr/>
            </p:nvCxnSpPr>
            <p:spPr>
              <a:xfrm flipH="1">
                <a:off x="5441850" y="3332149"/>
                <a:ext cx="294968" cy="605778"/>
              </a:xfrm>
              <a:prstGeom prst="line">
                <a:avLst/>
              </a:prstGeom>
              <a:ln w="127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Conector reto 91"/>
              <p:cNvCxnSpPr>
                <a:stCxn id="35" idx="5"/>
                <a:endCxn id="5" idx="0"/>
              </p:cNvCxnSpPr>
              <p:nvPr/>
            </p:nvCxnSpPr>
            <p:spPr>
              <a:xfrm>
                <a:off x="5444069" y="2083256"/>
                <a:ext cx="292749" cy="600821"/>
              </a:xfrm>
              <a:prstGeom prst="line">
                <a:avLst/>
              </a:prstGeom>
              <a:ln w="127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Conector reto 94"/>
              <p:cNvCxnSpPr>
                <a:stCxn id="33" idx="6"/>
                <a:endCxn id="35" idx="1"/>
              </p:cNvCxnSpPr>
              <p:nvPr/>
            </p:nvCxnSpPr>
            <p:spPr>
              <a:xfrm>
                <a:off x="4304025" y="1389926"/>
                <a:ext cx="681788" cy="235074"/>
              </a:xfrm>
              <a:prstGeom prst="line">
                <a:avLst/>
              </a:prstGeom>
              <a:ln w="127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Conector reto 97"/>
              <p:cNvCxnSpPr>
                <a:stCxn id="33" idx="2"/>
                <a:endCxn id="36" idx="7"/>
              </p:cNvCxnSpPr>
              <p:nvPr/>
            </p:nvCxnSpPr>
            <p:spPr>
              <a:xfrm flipH="1">
                <a:off x="3007656" y="1389926"/>
                <a:ext cx="648297" cy="235074"/>
              </a:xfrm>
              <a:prstGeom prst="line">
                <a:avLst/>
              </a:prstGeom>
              <a:ln w="127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65" name="Grupo 164"/>
              <p:cNvGrpSpPr/>
              <p:nvPr/>
            </p:nvGrpSpPr>
            <p:grpSpPr>
              <a:xfrm>
                <a:off x="2915816" y="2552355"/>
                <a:ext cx="903693" cy="917520"/>
                <a:chOff x="2915816" y="2552355"/>
                <a:chExt cx="903693" cy="917520"/>
              </a:xfrm>
            </p:grpSpPr>
            <p:sp>
              <p:nvSpPr>
                <p:cNvPr id="38" name="Rosca 37"/>
                <p:cNvSpPr/>
                <p:nvPr/>
              </p:nvSpPr>
              <p:spPr>
                <a:xfrm>
                  <a:off x="2915816" y="2552355"/>
                  <a:ext cx="903693" cy="917520"/>
                </a:xfrm>
                <a:prstGeom prst="donut">
                  <a:avLst>
                    <a:gd name="adj" fmla="val 7901"/>
                  </a:avLst>
                </a:prstGeom>
                <a:ln w="12700">
                  <a:noFill/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 sz="900" b="1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125" name="CaixaDeTexto 124"/>
                <p:cNvSpPr txBox="1"/>
                <p:nvPr/>
              </p:nvSpPr>
              <p:spPr>
                <a:xfrm>
                  <a:off x="3022872" y="2716720"/>
                  <a:ext cx="668773" cy="58256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pt-BR" sz="1100" b="1" dirty="0" smtClean="0">
                      <a:solidFill>
                        <a:schemeClr val="bg1">
                          <a:lumMod val="50000"/>
                        </a:schemeClr>
                      </a:solidFill>
                    </a:rPr>
                    <a:t>Suporte</a:t>
                  </a:r>
                </a:p>
                <a:p>
                  <a:pPr algn="ctr"/>
                  <a:r>
                    <a:rPr lang="pt-BR" sz="1100" b="1" dirty="0">
                      <a:solidFill>
                        <a:schemeClr val="bg1">
                          <a:lumMod val="50000"/>
                        </a:schemeClr>
                      </a:solidFill>
                    </a:rPr>
                    <a:t>a</a:t>
                  </a:r>
                  <a:r>
                    <a:rPr lang="pt-BR" sz="1100" b="1" dirty="0" smtClean="0">
                      <a:solidFill>
                        <a:schemeClr val="bg1">
                          <a:lumMod val="50000"/>
                        </a:schemeClr>
                      </a:solidFill>
                    </a:rPr>
                    <a:t>os</a:t>
                  </a:r>
                </a:p>
                <a:p>
                  <a:pPr algn="ctr"/>
                  <a:r>
                    <a:rPr lang="pt-BR" sz="1100" b="1" dirty="0" smtClean="0">
                      <a:solidFill>
                        <a:schemeClr val="bg1">
                          <a:lumMod val="50000"/>
                        </a:schemeClr>
                      </a:solidFill>
                    </a:rPr>
                    <a:t>Serviços</a:t>
                  </a:r>
                  <a:endParaRPr lang="pt-BR" sz="1100" b="1" dirty="0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</p:grpSp>
          <p:grpSp>
            <p:nvGrpSpPr>
              <p:cNvPr id="166" name="Grupo 165"/>
              <p:cNvGrpSpPr/>
              <p:nvPr/>
            </p:nvGrpSpPr>
            <p:grpSpPr>
              <a:xfrm>
                <a:off x="4164299" y="2551831"/>
                <a:ext cx="903693" cy="917520"/>
                <a:chOff x="4164299" y="2551831"/>
                <a:chExt cx="903693" cy="917520"/>
              </a:xfrm>
            </p:grpSpPr>
            <p:sp>
              <p:nvSpPr>
                <p:cNvPr id="40" name="Rosca 39"/>
                <p:cNvSpPr/>
                <p:nvPr/>
              </p:nvSpPr>
              <p:spPr>
                <a:xfrm>
                  <a:off x="4164299" y="2551831"/>
                  <a:ext cx="903693" cy="917520"/>
                </a:xfrm>
                <a:prstGeom prst="donut">
                  <a:avLst>
                    <a:gd name="adj" fmla="val 7901"/>
                  </a:avLst>
                </a:prstGeom>
                <a:ln w="12700">
                  <a:noFill/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 sz="900" b="1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160" name="CaixaDeTexto 159"/>
                <p:cNvSpPr txBox="1"/>
                <p:nvPr/>
              </p:nvSpPr>
              <p:spPr>
                <a:xfrm>
                  <a:off x="4280614" y="2727390"/>
                  <a:ext cx="665567" cy="58256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pt-BR" sz="1100" b="1" dirty="0" smtClean="0">
                      <a:solidFill>
                        <a:schemeClr val="bg1">
                          <a:lumMod val="50000"/>
                        </a:schemeClr>
                      </a:solidFill>
                    </a:rPr>
                    <a:t>Entrega</a:t>
                  </a:r>
                </a:p>
                <a:p>
                  <a:pPr algn="ctr"/>
                  <a:r>
                    <a:rPr lang="pt-BR" sz="1100" b="1" dirty="0" smtClean="0">
                      <a:solidFill>
                        <a:schemeClr val="bg1">
                          <a:lumMod val="50000"/>
                        </a:schemeClr>
                      </a:solidFill>
                    </a:rPr>
                    <a:t>de</a:t>
                  </a:r>
                </a:p>
                <a:p>
                  <a:pPr algn="ctr"/>
                  <a:r>
                    <a:rPr lang="pt-BR" sz="1100" b="1" dirty="0" smtClean="0">
                      <a:solidFill>
                        <a:schemeClr val="bg1">
                          <a:lumMod val="50000"/>
                        </a:schemeClr>
                      </a:solidFill>
                    </a:rPr>
                    <a:t>Serviços</a:t>
                  </a:r>
                  <a:endParaRPr lang="pt-BR" sz="1100" b="1" dirty="0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</p:grpSp>
        </p:grpSp>
        <p:sp>
          <p:nvSpPr>
            <p:cNvPr id="27" name="CaixaDeTexto 26"/>
            <p:cNvSpPr txBox="1"/>
            <p:nvPr/>
          </p:nvSpPr>
          <p:spPr>
            <a:xfrm>
              <a:off x="2940236" y="1617500"/>
              <a:ext cx="66542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900" b="1" dirty="0" smtClean="0">
                  <a:solidFill>
                    <a:schemeClr val="bg1">
                      <a:lumMod val="50000"/>
                    </a:schemeClr>
                  </a:solidFill>
                </a:rPr>
                <a:t>Mobile e Telecom</a:t>
              </a:r>
              <a:endParaRPr lang="pt-BR" sz="900" b="1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60" name="CaixaDeTexto 59"/>
            <p:cNvSpPr txBox="1"/>
            <p:nvPr/>
          </p:nvSpPr>
          <p:spPr>
            <a:xfrm>
              <a:off x="4156799" y="1186495"/>
              <a:ext cx="599623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900" b="1" dirty="0" smtClean="0">
                  <a:solidFill>
                    <a:schemeClr val="bg1">
                      <a:lumMod val="50000"/>
                    </a:schemeClr>
                  </a:solidFill>
                </a:rPr>
                <a:t>SAP</a:t>
              </a:r>
              <a:endParaRPr lang="pt-BR" sz="900" b="1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62" name="CaixaDeTexto 61"/>
            <p:cNvSpPr txBox="1"/>
            <p:nvPr/>
          </p:nvSpPr>
          <p:spPr>
            <a:xfrm>
              <a:off x="5380300" y="1590176"/>
              <a:ext cx="648650" cy="369332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900" b="1" dirty="0" err="1" smtClean="0">
                  <a:solidFill>
                    <a:schemeClr val="bg1">
                      <a:lumMod val="50000"/>
                    </a:schemeClr>
                  </a:solidFill>
                </a:rPr>
                <a:t>Storage</a:t>
              </a:r>
              <a:r>
                <a:rPr lang="pt-BR" sz="900" b="1" dirty="0" smtClean="0">
                  <a:solidFill>
                    <a:schemeClr val="bg1">
                      <a:lumMod val="50000"/>
                    </a:schemeClr>
                  </a:solidFill>
                </a:rPr>
                <a:t> e DB</a:t>
              </a:r>
              <a:endParaRPr lang="pt-BR" sz="900" b="1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63" name="CaixaDeTexto 62"/>
            <p:cNvSpPr txBox="1"/>
            <p:nvPr/>
          </p:nvSpPr>
          <p:spPr>
            <a:xfrm>
              <a:off x="5869415" y="2803664"/>
              <a:ext cx="712669" cy="2240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900" b="1" dirty="0" smtClean="0">
                  <a:solidFill>
                    <a:schemeClr val="bg1">
                      <a:lumMod val="50000"/>
                    </a:schemeClr>
                  </a:solidFill>
                </a:rPr>
                <a:t>Redes</a:t>
              </a:r>
              <a:endParaRPr lang="pt-BR" sz="900" b="1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64" name="CaixaDeTexto 63"/>
            <p:cNvSpPr txBox="1"/>
            <p:nvPr/>
          </p:nvSpPr>
          <p:spPr>
            <a:xfrm>
              <a:off x="5312556" y="3906791"/>
              <a:ext cx="7752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900" b="1" dirty="0" err="1" smtClean="0">
                  <a:solidFill>
                    <a:schemeClr val="bg1">
                      <a:lumMod val="50000"/>
                    </a:schemeClr>
                  </a:solidFill>
                </a:rPr>
                <a:t>SysOpe</a:t>
              </a:r>
              <a:r>
                <a:rPr lang="pt-BR" sz="900" b="1" dirty="0" smtClean="0">
                  <a:solidFill>
                    <a:schemeClr val="bg1">
                      <a:lumMod val="50000"/>
                    </a:schemeClr>
                  </a:solidFill>
                </a:rPr>
                <a:t> e Servidores</a:t>
              </a:r>
              <a:endParaRPr lang="pt-BR" sz="900" b="1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65" name="CaixaDeTexto 64"/>
            <p:cNvSpPr txBox="1"/>
            <p:nvPr/>
          </p:nvSpPr>
          <p:spPr>
            <a:xfrm>
              <a:off x="4112585" y="4403547"/>
              <a:ext cx="712669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900" b="1" dirty="0" smtClean="0">
                  <a:solidFill>
                    <a:schemeClr val="bg1">
                      <a:lumMod val="50000"/>
                    </a:schemeClr>
                  </a:solidFill>
                </a:rPr>
                <a:t>Web</a:t>
              </a:r>
              <a:endParaRPr lang="pt-BR" sz="900" b="1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66" name="CaixaDeTexto 65"/>
            <p:cNvSpPr txBox="1"/>
            <p:nvPr/>
          </p:nvSpPr>
          <p:spPr>
            <a:xfrm>
              <a:off x="2905747" y="3966059"/>
              <a:ext cx="712669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900" b="1" dirty="0" smtClean="0">
                  <a:solidFill>
                    <a:schemeClr val="bg1">
                      <a:lumMod val="50000"/>
                    </a:schemeClr>
                  </a:solidFill>
                </a:rPr>
                <a:t>Aplicações</a:t>
              </a:r>
              <a:endParaRPr lang="pt-BR" sz="900" b="1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67" name="CaixaDeTexto 66"/>
            <p:cNvSpPr txBox="1"/>
            <p:nvPr/>
          </p:nvSpPr>
          <p:spPr>
            <a:xfrm>
              <a:off x="2357089" y="2827046"/>
              <a:ext cx="772424" cy="2240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900" b="1" dirty="0" smtClean="0">
                  <a:solidFill>
                    <a:schemeClr val="bg1">
                      <a:lumMod val="50000"/>
                    </a:schemeClr>
                  </a:solidFill>
                </a:rPr>
                <a:t>Arquitetura</a:t>
              </a:r>
              <a:endParaRPr lang="pt-BR" sz="900" b="1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sp>
        <p:nvSpPr>
          <p:cNvPr id="29" name="Rosca 28"/>
          <p:cNvSpPr/>
          <p:nvPr/>
        </p:nvSpPr>
        <p:spPr>
          <a:xfrm>
            <a:off x="1773379" y="673689"/>
            <a:ext cx="4590512" cy="4416439"/>
          </a:xfrm>
          <a:prstGeom prst="donut">
            <a:avLst>
              <a:gd name="adj" fmla="val 1815"/>
            </a:avLst>
          </a:prstGeom>
          <a:solidFill>
            <a:schemeClr val="accent4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/>
              </a:solidFill>
            </a:endParaRPr>
          </a:p>
        </p:txBody>
      </p:sp>
      <p:grpSp>
        <p:nvGrpSpPr>
          <p:cNvPr id="20" name="Grupo 19"/>
          <p:cNvGrpSpPr/>
          <p:nvPr/>
        </p:nvGrpSpPr>
        <p:grpSpPr>
          <a:xfrm>
            <a:off x="7265946" y="2352271"/>
            <a:ext cx="978512" cy="945244"/>
            <a:chOff x="7329473" y="1324737"/>
            <a:chExt cx="978512" cy="945244"/>
          </a:xfrm>
        </p:grpSpPr>
        <p:sp>
          <p:nvSpPr>
            <p:cNvPr id="50" name="Rosca 49"/>
            <p:cNvSpPr/>
            <p:nvPr/>
          </p:nvSpPr>
          <p:spPr>
            <a:xfrm>
              <a:off x="7366883" y="1324737"/>
              <a:ext cx="903693" cy="945244"/>
            </a:xfrm>
            <a:prstGeom prst="donut">
              <a:avLst>
                <a:gd name="adj" fmla="val 7901"/>
              </a:avLst>
            </a:prstGeom>
            <a:solidFill>
              <a:schemeClr val="bg1">
                <a:lumMod val="50000"/>
              </a:schemeClr>
            </a:solidFill>
            <a:ln w="12700">
              <a:noFill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00" b="1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52" name="CaixaDeTexto 51"/>
            <p:cNvSpPr txBox="1"/>
            <p:nvPr/>
          </p:nvSpPr>
          <p:spPr>
            <a:xfrm>
              <a:off x="7329473" y="1558174"/>
              <a:ext cx="978512" cy="600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100" b="1" dirty="0" smtClean="0">
                  <a:solidFill>
                    <a:schemeClr val="bg1">
                      <a:lumMod val="50000"/>
                    </a:schemeClr>
                  </a:solidFill>
                </a:rPr>
                <a:t>Governança</a:t>
              </a:r>
            </a:p>
            <a:p>
              <a:pPr algn="ctr"/>
              <a:r>
                <a:rPr lang="pt-BR" sz="1100" b="1" dirty="0" smtClean="0">
                  <a:solidFill>
                    <a:schemeClr val="bg1">
                      <a:lumMod val="50000"/>
                    </a:schemeClr>
                  </a:solidFill>
                </a:rPr>
                <a:t>e Gestão de TI</a:t>
              </a:r>
              <a:endParaRPr lang="pt-BR" sz="1100" b="1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cxnSp>
        <p:nvCxnSpPr>
          <p:cNvPr id="53" name="Conector reto 52"/>
          <p:cNvCxnSpPr>
            <a:stCxn id="52" idx="1"/>
            <a:endCxn id="29" idx="6"/>
          </p:cNvCxnSpPr>
          <p:nvPr/>
        </p:nvCxnSpPr>
        <p:spPr>
          <a:xfrm flipH="1" flipV="1">
            <a:off x="6363891" y="2881909"/>
            <a:ext cx="902055" cy="3881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3" name="Grupo 82"/>
          <p:cNvGrpSpPr/>
          <p:nvPr/>
        </p:nvGrpSpPr>
        <p:grpSpPr>
          <a:xfrm>
            <a:off x="179515" y="1599257"/>
            <a:ext cx="978512" cy="945244"/>
            <a:chOff x="7329473" y="1324737"/>
            <a:chExt cx="978512" cy="945244"/>
          </a:xfrm>
        </p:grpSpPr>
        <p:sp>
          <p:nvSpPr>
            <p:cNvPr id="84" name="Rosca 83"/>
            <p:cNvSpPr/>
            <p:nvPr/>
          </p:nvSpPr>
          <p:spPr>
            <a:xfrm>
              <a:off x="7366883" y="1324737"/>
              <a:ext cx="903693" cy="945244"/>
            </a:xfrm>
            <a:prstGeom prst="donut">
              <a:avLst>
                <a:gd name="adj" fmla="val 7901"/>
              </a:avLst>
            </a:prstGeom>
            <a:solidFill>
              <a:srgbClr val="FF3300"/>
            </a:solidFill>
            <a:ln w="12700">
              <a:noFill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00" b="1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86" name="CaixaDeTexto 85"/>
            <p:cNvSpPr txBox="1"/>
            <p:nvPr/>
          </p:nvSpPr>
          <p:spPr>
            <a:xfrm>
              <a:off x="7329473" y="1497277"/>
              <a:ext cx="978512" cy="600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100" b="1" dirty="0" err="1" smtClean="0">
                  <a:solidFill>
                    <a:schemeClr val="bg1">
                      <a:lumMod val="50000"/>
                    </a:schemeClr>
                  </a:solidFill>
                </a:rPr>
                <a:t>Relaciona-mento</a:t>
              </a:r>
              <a:r>
                <a:rPr lang="pt-BR" sz="1100" b="1" dirty="0" smtClean="0">
                  <a:solidFill>
                    <a:schemeClr val="bg1">
                      <a:lumMod val="50000"/>
                    </a:schemeClr>
                  </a:solidFill>
                </a:rPr>
                <a:t> com Parceiros</a:t>
              </a:r>
              <a:endParaRPr lang="pt-BR" sz="1100" b="1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cxnSp>
        <p:nvCxnSpPr>
          <p:cNvPr id="87" name="Conector reto 86"/>
          <p:cNvCxnSpPr>
            <a:stCxn id="29" idx="2"/>
            <a:endCxn id="84" idx="7"/>
          </p:cNvCxnSpPr>
          <p:nvPr/>
        </p:nvCxnSpPr>
        <p:spPr>
          <a:xfrm flipH="1" flipV="1">
            <a:off x="988275" y="1737685"/>
            <a:ext cx="785104" cy="1144224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0" name="Grupo 89"/>
          <p:cNvGrpSpPr/>
          <p:nvPr/>
        </p:nvGrpSpPr>
        <p:grpSpPr>
          <a:xfrm>
            <a:off x="186522" y="3324672"/>
            <a:ext cx="978512" cy="945244"/>
            <a:chOff x="7332722" y="1324737"/>
            <a:chExt cx="978512" cy="945244"/>
          </a:xfrm>
        </p:grpSpPr>
        <p:sp>
          <p:nvSpPr>
            <p:cNvPr id="91" name="Rosca 90"/>
            <p:cNvSpPr/>
            <p:nvPr/>
          </p:nvSpPr>
          <p:spPr>
            <a:xfrm>
              <a:off x="7366883" y="1324737"/>
              <a:ext cx="903693" cy="945244"/>
            </a:xfrm>
            <a:prstGeom prst="donut">
              <a:avLst>
                <a:gd name="adj" fmla="val 7901"/>
              </a:avLst>
            </a:prstGeom>
            <a:solidFill>
              <a:schemeClr val="bg2">
                <a:lumMod val="75000"/>
              </a:schemeClr>
            </a:solidFill>
            <a:ln w="12700">
              <a:noFill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00" b="1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93" name="CaixaDeTexto 92"/>
            <p:cNvSpPr txBox="1"/>
            <p:nvPr/>
          </p:nvSpPr>
          <p:spPr>
            <a:xfrm>
              <a:off x="7332722" y="1662145"/>
              <a:ext cx="97851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100" b="1" dirty="0" smtClean="0">
                  <a:solidFill>
                    <a:schemeClr val="bg1">
                      <a:lumMod val="50000"/>
                    </a:schemeClr>
                  </a:solidFill>
                </a:rPr>
                <a:t>Inovação</a:t>
              </a:r>
              <a:endParaRPr lang="pt-BR" sz="1100" b="1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cxnSp>
        <p:nvCxnSpPr>
          <p:cNvPr id="94" name="Conector reto 93"/>
          <p:cNvCxnSpPr>
            <a:stCxn id="29" idx="2"/>
            <a:endCxn id="91" idx="5"/>
          </p:cNvCxnSpPr>
          <p:nvPr/>
        </p:nvCxnSpPr>
        <p:spPr>
          <a:xfrm flipH="1">
            <a:off x="992033" y="2881909"/>
            <a:ext cx="781346" cy="1249579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9" name="Grupo 58"/>
          <p:cNvGrpSpPr/>
          <p:nvPr/>
        </p:nvGrpSpPr>
        <p:grpSpPr>
          <a:xfrm>
            <a:off x="6731340" y="3435843"/>
            <a:ext cx="712669" cy="667655"/>
            <a:chOff x="7766321" y="2588566"/>
            <a:chExt cx="712669" cy="667655"/>
          </a:xfrm>
        </p:grpSpPr>
        <p:sp>
          <p:nvSpPr>
            <p:cNvPr id="96" name="Rosca 95"/>
            <p:cNvSpPr/>
            <p:nvPr/>
          </p:nvSpPr>
          <p:spPr>
            <a:xfrm>
              <a:off x="7796370" y="2588566"/>
              <a:ext cx="648072" cy="667655"/>
            </a:xfrm>
            <a:prstGeom prst="donut">
              <a:avLst>
                <a:gd name="adj" fmla="val 7901"/>
              </a:avLst>
            </a:prstGeom>
            <a:solidFill>
              <a:schemeClr val="accent2">
                <a:lumMod val="60000"/>
                <a:lumOff val="40000"/>
              </a:schemeClr>
            </a:solidFill>
            <a:ln w="12700">
              <a:noFill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700" b="1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97" name="CaixaDeTexto 96"/>
            <p:cNvSpPr txBox="1"/>
            <p:nvPr/>
          </p:nvSpPr>
          <p:spPr>
            <a:xfrm>
              <a:off x="7766321" y="2668478"/>
              <a:ext cx="712669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900" b="1" dirty="0" smtClean="0">
                  <a:solidFill>
                    <a:schemeClr val="bg1">
                      <a:lumMod val="50000"/>
                    </a:schemeClr>
                  </a:solidFill>
                </a:rPr>
                <a:t>Escritório de Projetos</a:t>
              </a:r>
              <a:endParaRPr lang="pt-BR" sz="900" b="1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99" name="Grupo 98"/>
          <p:cNvGrpSpPr/>
          <p:nvPr/>
        </p:nvGrpSpPr>
        <p:grpSpPr>
          <a:xfrm>
            <a:off x="8065324" y="3631017"/>
            <a:ext cx="712669" cy="667655"/>
            <a:chOff x="7870566" y="2534552"/>
            <a:chExt cx="712669" cy="667655"/>
          </a:xfrm>
        </p:grpSpPr>
        <p:sp>
          <p:nvSpPr>
            <p:cNvPr id="100" name="Rosca 99"/>
            <p:cNvSpPr/>
            <p:nvPr/>
          </p:nvSpPr>
          <p:spPr>
            <a:xfrm>
              <a:off x="7912247" y="2534552"/>
              <a:ext cx="648072" cy="667655"/>
            </a:xfrm>
            <a:prstGeom prst="donut">
              <a:avLst>
                <a:gd name="adj" fmla="val 7901"/>
              </a:avLst>
            </a:prstGeom>
            <a:solidFill>
              <a:schemeClr val="accent4">
                <a:lumMod val="60000"/>
                <a:lumOff val="40000"/>
              </a:schemeClr>
            </a:solidFill>
            <a:ln w="12700">
              <a:noFill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700" b="1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01" name="CaixaDeTexto 100"/>
            <p:cNvSpPr txBox="1"/>
            <p:nvPr/>
          </p:nvSpPr>
          <p:spPr>
            <a:xfrm>
              <a:off x="7870566" y="2632328"/>
              <a:ext cx="712669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900" b="1" dirty="0" smtClean="0">
                  <a:solidFill>
                    <a:schemeClr val="bg1">
                      <a:lumMod val="50000"/>
                    </a:schemeClr>
                  </a:solidFill>
                </a:rPr>
                <a:t>Escritório de Serviços</a:t>
              </a:r>
              <a:endParaRPr lang="pt-BR" sz="900" b="1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102" name="Grupo 101"/>
          <p:cNvGrpSpPr/>
          <p:nvPr/>
        </p:nvGrpSpPr>
        <p:grpSpPr>
          <a:xfrm>
            <a:off x="7769331" y="1298788"/>
            <a:ext cx="712669" cy="667655"/>
            <a:chOff x="7879948" y="2534552"/>
            <a:chExt cx="712669" cy="667655"/>
          </a:xfrm>
        </p:grpSpPr>
        <p:sp>
          <p:nvSpPr>
            <p:cNvPr id="103" name="Rosca 102"/>
            <p:cNvSpPr/>
            <p:nvPr/>
          </p:nvSpPr>
          <p:spPr>
            <a:xfrm>
              <a:off x="7912247" y="2534552"/>
              <a:ext cx="648072" cy="667655"/>
            </a:xfrm>
            <a:prstGeom prst="donut">
              <a:avLst>
                <a:gd name="adj" fmla="val 7901"/>
              </a:avLst>
            </a:prstGeom>
            <a:solidFill>
              <a:srgbClr val="00B050"/>
            </a:solidFill>
            <a:ln w="12700">
              <a:noFill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700" b="1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04" name="CaixaDeTexto 103"/>
            <p:cNvSpPr txBox="1"/>
            <p:nvPr/>
          </p:nvSpPr>
          <p:spPr>
            <a:xfrm>
              <a:off x="7879948" y="2691820"/>
              <a:ext cx="71266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900" b="1" dirty="0" smtClean="0">
                  <a:solidFill>
                    <a:schemeClr val="bg1">
                      <a:lumMod val="50000"/>
                    </a:schemeClr>
                  </a:solidFill>
                </a:rPr>
                <a:t>Controles Internos</a:t>
              </a:r>
              <a:endParaRPr lang="pt-BR" sz="900" b="1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105" name="Grupo 104"/>
          <p:cNvGrpSpPr/>
          <p:nvPr/>
        </p:nvGrpSpPr>
        <p:grpSpPr>
          <a:xfrm>
            <a:off x="6417545" y="1769998"/>
            <a:ext cx="712669" cy="667655"/>
            <a:chOff x="7879948" y="2534552"/>
            <a:chExt cx="712669" cy="667655"/>
          </a:xfrm>
        </p:grpSpPr>
        <p:sp>
          <p:nvSpPr>
            <p:cNvPr id="106" name="Rosca 105"/>
            <p:cNvSpPr/>
            <p:nvPr/>
          </p:nvSpPr>
          <p:spPr>
            <a:xfrm>
              <a:off x="7912247" y="2534552"/>
              <a:ext cx="648072" cy="667655"/>
            </a:xfrm>
            <a:prstGeom prst="donut">
              <a:avLst>
                <a:gd name="adj" fmla="val 7901"/>
              </a:avLst>
            </a:prstGeom>
            <a:solidFill>
              <a:srgbClr val="FFC000"/>
            </a:solidFill>
            <a:ln w="12700">
              <a:noFill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700" b="1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07" name="CaixaDeTexto 106"/>
            <p:cNvSpPr txBox="1"/>
            <p:nvPr/>
          </p:nvSpPr>
          <p:spPr>
            <a:xfrm>
              <a:off x="7879948" y="2693332"/>
              <a:ext cx="71266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900" b="1" dirty="0" smtClean="0">
                  <a:solidFill>
                    <a:schemeClr val="bg1">
                      <a:lumMod val="50000"/>
                    </a:schemeClr>
                  </a:solidFill>
                </a:rPr>
                <a:t>Gestão Financeira</a:t>
              </a:r>
              <a:endParaRPr lang="pt-BR" sz="900" b="1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cxnSp>
        <p:nvCxnSpPr>
          <p:cNvPr id="108" name="Conector reto 107"/>
          <p:cNvCxnSpPr>
            <a:stCxn id="50" idx="1"/>
            <a:endCxn id="106" idx="7"/>
          </p:cNvCxnSpPr>
          <p:nvPr/>
        </p:nvCxnSpPr>
        <p:spPr>
          <a:xfrm flipH="1" flipV="1">
            <a:off x="7003008" y="1867774"/>
            <a:ext cx="432691" cy="622925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Conector reto 110"/>
          <p:cNvCxnSpPr>
            <a:stCxn id="50" idx="0"/>
            <a:endCxn id="103" idx="5"/>
          </p:cNvCxnSpPr>
          <p:nvPr/>
        </p:nvCxnSpPr>
        <p:spPr>
          <a:xfrm flipV="1">
            <a:off x="7755203" y="1868667"/>
            <a:ext cx="599591" cy="483604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Conector reto 113"/>
          <p:cNvCxnSpPr>
            <a:stCxn id="50" idx="3"/>
            <a:endCxn id="96" idx="1"/>
          </p:cNvCxnSpPr>
          <p:nvPr/>
        </p:nvCxnSpPr>
        <p:spPr>
          <a:xfrm flipH="1">
            <a:off x="6856297" y="3159087"/>
            <a:ext cx="579402" cy="374532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Conector reto 116"/>
          <p:cNvCxnSpPr>
            <a:stCxn id="50" idx="5"/>
            <a:endCxn id="100" idx="1"/>
          </p:cNvCxnSpPr>
          <p:nvPr/>
        </p:nvCxnSpPr>
        <p:spPr>
          <a:xfrm>
            <a:off x="8074706" y="3159087"/>
            <a:ext cx="127207" cy="569706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8" name="Grupo 147"/>
          <p:cNvGrpSpPr/>
          <p:nvPr/>
        </p:nvGrpSpPr>
        <p:grpSpPr>
          <a:xfrm>
            <a:off x="8460435" y="2172290"/>
            <a:ext cx="712669" cy="667655"/>
            <a:chOff x="7879948" y="2534552"/>
            <a:chExt cx="712669" cy="667655"/>
          </a:xfrm>
        </p:grpSpPr>
        <p:sp>
          <p:nvSpPr>
            <p:cNvPr id="149" name="Rosca 148"/>
            <p:cNvSpPr/>
            <p:nvPr/>
          </p:nvSpPr>
          <p:spPr>
            <a:xfrm>
              <a:off x="7912247" y="2534552"/>
              <a:ext cx="648072" cy="667655"/>
            </a:xfrm>
            <a:prstGeom prst="donut">
              <a:avLst>
                <a:gd name="adj" fmla="val 7901"/>
              </a:avLst>
            </a:prstGeom>
            <a:solidFill>
              <a:srgbClr val="00B0F0"/>
            </a:solidFill>
            <a:ln w="12700">
              <a:noFill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700" b="1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50" name="CaixaDeTexto 149"/>
            <p:cNvSpPr txBox="1"/>
            <p:nvPr/>
          </p:nvSpPr>
          <p:spPr>
            <a:xfrm>
              <a:off x="7879948" y="2691820"/>
              <a:ext cx="71266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900" b="1" dirty="0" err="1" smtClean="0">
                  <a:solidFill>
                    <a:schemeClr val="bg1">
                      <a:lumMod val="50000"/>
                    </a:schemeClr>
                  </a:solidFill>
                </a:rPr>
                <a:t>Comunica-ção</a:t>
              </a:r>
              <a:endParaRPr lang="pt-BR" sz="900" b="1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cxnSp>
        <p:nvCxnSpPr>
          <p:cNvPr id="154" name="Conector reto 153"/>
          <p:cNvCxnSpPr>
            <a:stCxn id="50" idx="7"/>
            <a:endCxn id="149" idx="3"/>
          </p:cNvCxnSpPr>
          <p:nvPr/>
        </p:nvCxnSpPr>
        <p:spPr>
          <a:xfrm>
            <a:off x="8074706" y="2490699"/>
            <a:ext cx="512936" cy="25147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" name="CaixaDeTexto 204"/>
          <p:cNvSpPr txBox="1"/>
          <p:nvPr/>
        </p:nvSpPr>
        <p:spPr>
          <a:xfrm rot="16200000">
            <a:off x="8126205" y="4147980"/>
            <a:ext cx="176338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 b="1" dirty="0">
                <a:solidFill>
                  <a:schemeClr val="accent1">
                    <a:lumMod val="75000"/>
                  </a:schemeClr>
                </a:solidFill>
              </a:rPr>
              <a:t>CHACON</a:t>
            </a:r>
            <a:r>
              <a:rPr lang="pt-BR" sz="900" dirty="0"/>
              <a:t> </a:t>
            </a:r>
            <a:r>
              <a:rPr lang="pt-BR" sz="900" b="1" dirty="0">
                <a:solidFill>
                  <a:schemeClr val="bg1">
                    <a:lumMod val="85000"/>
                  </a:schemeClr>
                </a:solidFill>
              </a:rPr>
              <a:t>|</a:t>
            </a:r>
            <a:r>
              <a:rPr lang="pt-BR" sz="900" dirty="0"/>
              <a:t> </a:t>
            </a:r>
            <a:r>
              <a:rPr lang="pt-BR" sz="900" b="1" dirty="0">
                <a:solidFill>
                  <a:schemeClr val="bg1">
                    <a:lumMod val="65000"/>
                  </a:schemeClr>
                </a:solidFill>
              </a:rPr>
              <a:t>Consultoria Ilimitada</a:t>
            </a:r>
          </a:p>
        </p:txBody>
      </p:sp>
      <p:grpSp>
        <p:nvGrpSpPr>
          <p:cNvPr id="206" name="Grupo 205"/>
          <p:cNvGrpSpPr/>
          <p:nvPr/>
        </p:nvGrpSpPr>
        <p:grpSpPr>
          <a:xfrm>
            <a:off x="1937270" y="882816"/>
            <a:ext cx="4224995" cy="3978744"/>
            <a:chOff x="2357089" y="988368"/>
            <a:chExt cx="4224995" cy="3862046"/>
          </a:xfrm>
        </p:grpSpPr>
        <p:grpSp>
          <p:nvGrpSpPr>
            <p:cNvPr id="207" name="Grupo 206"/>
            <p:cNvGrpSpPr/>
            <p:nvPr/>
          </p:nvGrpSpPr>
          <p:grpSpPr>
            <a:xfrm>
              <a:off x="2411760" y="988368"/>
              <a:ext cx="4138025" cy="3862046"/>
              <a:chOff x="1922829" y="1065890"/>
              <a:chExt cx="4138025" cy="3862046"/>
            </a:xfrm>
          </p:grpSpPr>
          <p:sp>
            <p:nvSpPr>
              <p:cNvPr id="216" name="Rosca 215"/>
              <p:cNvSpPr/>
              <p:nvPr/>
            </p:nvSpPr>
            <p:spPr>
              <a:xfrm>
                <a:off x="5412782" y="2684077"/>
                <a:ext cx="648072" cy="648072"/>
              </a:xfrm>
              <a:prstGeom prst="donut">
                <a:avLst>
                  <a:gd name="adj" fmla="val 7901"/>
                </a:avLst>
              </a:prstGeom>
              <a:ln w="12700">
                <a:noFill/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0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217" name="Rosca 216"/>
              <p:cNvSpPr/>
              <p:nvPr/>
            </p:nvSpPr>
            <p:spPr>
              <a:xfrm>
                <a:off x="1922829" y="2686817"/>
                <a:ext cx="648072" cy="648072"/>
              </a:xfrm>
              <a:prstGeom prst="donut">
                <a:avLst>
                  <a:gd name="adj" fmla="val 7901"/>
                </a:avLst>
              </a:prstGeom>
              <a:ln w="12700">
                <a:noFill/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pt-BR" sz="90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218" name="Rosca 217"/>
              <p:cNvSpPr/>
              <p:nvPr/>
            </p:nvSpPr>
            <p:spPr>
              <a:xfrm>
                <a:off x="3667868" y="4279864"/>
                <a:ext cx="648072" cy="648072"/>
              </a:xfrm>
              <a:prstGeom prst="donut">
                <a:avLst>
                  <a:gd name="adj" fmla="val 7901"/>
                </a:avLst>
              </a:prstGeom>
              <a:solidFill>
                <a:schemeClr val="accent6">
                  <a:lumMod val="40000"/>
                  <a:lumOff val="60000"/>
                </a:schemeClr>
              </a:solidFill>
              <a:ln w="12700">
                <a:noFill/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0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219" name="Rosca 218"/>
              <p:cNvSpPr/>
              <p:nvPr/>
            </p:nvSpPr>
            <p:spPr>
              <a:xfrm>
                <a:off x="3655953" y="1065890"/>
                <a:ext cx="648072" cy="648072"/>
              </a:xfrm>
              <a:prstGeom prst="donut">
                <a:avLst>
                  <a:gd name="adj" fmla="val 7901"/>
                </a:avLst>
              </a:prstGeom>
              <a:ln w="12700">
                <a:noFill/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0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220" name="Rosca 219"/>
              <p:cNvSpPr/>
              <p:nvPr/>
            </p:nvSpPr>
            <p:spPr>
              <a:xfrm>
                <a:off x="4888686" y="3843019"/>
                <a:ext cx="648072" cy="648072"/>
              </a:xfrm>
              <a:prstGeom prst="donut">
                <a:avLst>
                  <a:gd name="adj" fmla="val 7901"/>
                </a:avLst>
              </a:prstGeom>
              <a:solidFill>
                <a:schemeClr val="accent5">
                  <a:lumMod val="40000"/>
                  <a:lumOff val="60000"/>
                </a:schemeClr>
              </a:solidFill>
              <a:ln w="12700">
                <a:noFill/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0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221" name="Rosca 220"/>
              <p:cNvSpPr/>
              <p:nvPr/>
            </p:nvSpPr>
            <p:spPr>
              <a:xfrm>
                <a:off x="4890905" y="1530092"/>
                <a:ext cx="648072" cy="648072"/>
              </a:xfrm>
              <a:prstGeom prst="donut">
                <a:avLst>
                  <a:gd name="adj" fmla="val 7901"/>
                </a:avLst>
              </a:prstGeom>
              <a:ln w="12700">
                <a:noFill/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0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222" name="Rosca 221"/>
              <p:cNvSpPr/>
              <p:nvPr/>
            </p:nvSpPr>
            <p:spPr>
              <a:xfrm>
                <a:off x="2454492" y="1530092"/>
                <a:ext cx="648072" cy="648072"/>
              </a:xfrm>
              <a:prstGeom prst="donut">
                <a:avLst>
                  <a:gd name="adj" fmla="val 7901"/>
                </a:avLst>
              </a:prstGeom>
              <a:ln w="12700">
                <a:noFill/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pt-BR" sz="90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223" name="Rosca 222"/>
              <p:cNvSpPr/>
              <p:nvPr/>
            </p:nvSpPr>
            <p:spPr>
              <a:xfrm>
                <a:off x="2447050" y="3846233"/>
                <a:ext cx="648072" cy="648072"/>
              </a:xfrm>
              <a:prstGeom prst="donut">
                <a:avLst>
                  <a:gd name="adj" fmla="val 7901"/>
                </a:avLst>
              </a:prstGeom>
              <a:ln w="12700">
                <a:noFill/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1">
                <a:schemeClr val="dk1"/>
              </a:lnRef>
              <a:fillRef idx="3">
                <a:schemeClr val="dk1"/>
              </a:fillRef>
              <a:effectRef idx="2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0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224" name="Conector reto 223"/>
              <p:cNvCxnSpPr>
                <a:stCxn id="247" idx="6"/>
                <a:endCxn id="245" idx="2"/>
              </p:cNvCxnSpPr>
              <p:nvPr/>
            </p:nvCxnSpPr>
            <p:spPr>
              <a:xfrm flipV="1">
                <a:off x="3819509" y="3010591"/>
                <a:ext cx="344790" cy="524"/>
              </a:xfrm>
              <a:prstGeom prst="line">
                <a:avLst/>
              </a:prstGeom>
              <a:ln w="127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5" name="Conector reto 224"/>
              <p:cNvCxnSpPr>
                <a:stCxn id="217" idx="6"/>
                <a:endCxn id="247" idx="2"/>
              </p:cNvCxnSpPr>
              <p:nvPr/>
            </p:nvCxnSpPr>
            <p:spPr>
              <a:xfrm>
                <a:off x="2570901" y="3010853"/>
                <a:ext cx="344915" cy="262"/>
              </a:xfrm>
              <a:prstGeom prst="line">
                <a:avLst/>
              </a:prstGeom>
              <a:ln w="127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6" name="Conector reto 225"/>
              <p:cNvCxnSpPr>
                <a:stCxn id="245" idx="6"/>
                <a:endCxn id="216" idx="2"/>
              </p:cNvCxnSpPr>
              <p:nvPr/>
            </p:nvCxnSpPr>
            <p:spPr>
              <a:xfrm flipV="1">
                <a:off x="5067992" y="3008113"/>
                <a:ext cx="344790" cy="2478"/>
              </a:xfrm>
              <a:prstGeom prst="line">
                <a:avLst/>
              </a:prstGeom>
              <a:ln w="127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7" name="Conector reto 226"/>
              <p:cNvCxnSpPr>
                <a:stCxn id="220" idx="1"/>
                <a:endCxn id="245" idx="4"/>
              </p:cNvCxnSpPr>
              <p:nvPr/>
            </p:nvCxnSpPr>
            <p:spPr>
              <a:xfrm flipH="1" flipV="1">
                <a:off x="4616146" y="3469351"/>
                <a:ext cx="367448" cy="468576"/>
              </a:xfrm>
              <a:prstGeom prst="line">
                <a:avLst/>
              </a:prstGeom>
              <a:ln w="127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8" name="Conector reto 227"/>
              <p:cNvCxnSpPr>
                <a:stCxn id="218" idx="0"/>
                <a:endCxn id="245" idx="4"/>
              </p:cNvCxnSpPr>
              <p:nvPr/>
            </p:nvCxnSpPr>
            <p:spPr>
              <a:xfrm flipV="1">
                <a:off x="3991904" y="3469351"/>
                <a:ext cx="624242" cy="810513"/>
              </a:xfrm>
              <a:prstGeom prst="line">
                <a:avLst/>
              </a:prstGeom>
              <a:ln w="127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9" name="Conector reto 228"/>
              <p:cNvCxnSpPr>
                <a:stCxn id="218" idx="0"/>
                <a:endCxn id="247" idx="4"/>
              </p:cNvCxnSpPr>
              <p:nvPr/>
            </p:nvCxnSpPr>
            <p:spPr>
              <a:xfrm flipH="1" flipV="1">
                <a:off x="3367663" y="3469875"/>
                <a:ext cx="624241" cy="809989"/>
              </a:xfrm>
              <a:prstGeom prst="line">
                <a:avLst/>
              </a:prstGeom>
              <a:ln w="127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0" name="Conector reto 229"/>
              <p:cNvCxnSpPr>
                <a:stCxn id="223" idx="7"/>
                <a:endCxn id="247" idx="4"/>
              </p:cNvCxnSpPr>
              <p:nvPr/>
            </p:nvCxnSpPr>
            <p:spPr>
              <a:xfrm flipV="1">
                <a:off x="3000214" y="3469875"/>
                <a:ext cx="367449" cy="471266"/>
              </a:xfrm>
              <a:prstGeom prst="line">
                <a:avLst/>
              </a:prstGeom>
              <a:ln w="127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1" name="Conector reto 230"/>
              <p:cNvCxnSpPr>
                <a:stCxn id="222" idx="5"/>
                <a:endCxn id="247" idx="0"/>
              </p:cNvCxnSpPr>
              <p:nvPr/>
            </p:nvCxnSpPr>
            <p:spPr>
              <a:xfrm>
                <a:off x="3007656" y="2083256"/>
                <a:ext cx="360007" cy="469099"/>
              </a:xfrm>
              <a:prstGeom prst="line">
                <a:avLst/>
              </a:prstGeom>
              <a:ln w="127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2" name="Conector reto 231"/>
              <p:cNvCxnSpPr>
                <a:stCxn id="221" idx="3"/>
                <a:endCxn id="245" idx="0"/>
              </p:cNvCxnSpPr>
              <p:nvPr/>
            </p:nvCxnSpPr>
            <p:spPr>
              <a:xfrm flipH="1">
                <a:off x="4616146" y="2083256"/>
                <a:ext cx="369667" cy="468575"/>
              </a:xfrm>
              <a:prstGeom prst="line">
                <a:avLst/>
              </a:prstGeom>
              <a:ln w="127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3" name="Conector reto 232"/>
              <p:cNvCxnSpPr>
                <a:stCxn id="219" idx="4"/>
                <a:endCxn id="245" idx="0"/>
              </p:cNvCxnSpPr>
              <p:nvPr/>
            </p:nvCxnSpPr>
            <p:spPr>
              <a:xfrm>
                <a:off x="3979989" y="1713962"/>
                <a:ext cx="636157" cy="837869"/>
              </a:xfrm>
              <a:prstGeom prst="line">
                <a:avLst/>
              </a:prstGeom>
              <a:ln w="127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4" name="Conector reto 233"/>
              <p:cNvCxnSpPr>
                <a:stCxn id="219" idx="4"/>
                <a:endCxn id="247" idx="0"/>
              </p:cNvCxnSpPr>
              <p:nvPr/>
            </p:nvCxnSpPr>
            <p:spPr>
              <a:xfrm flipH="1">
                <a:off x="3367663" y="1713962"/>
                <a:ext cx="612326" cy="838393"/>
              </a:xfrm>
              <a:prstGeom prst="line">
                <a:avLst/>
              </a:prstGeom>
              <a:ln w="127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5" name="Conector reto 234"/>
              <p:cNvCxnSpPr>
                <a:stCxn id="222" idx="3"/>
                <a:endCxn id="217" idx="0"/>
              </p:cNvCxnSpPr>
              <p:nvPr/>
            </p:nvCxnSpPr>
            <p:spPr>
              <a:xfrm flipH="1">
                <a:off x="2246865" y="2083256"/>
                <a:ext cx="302535" cy="603561"/>
              </a:xfrm>
              <a:prstGeom prst="line">
                <a:avLst/>
              </a:prstGeom>
              <a:ln w="127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6" name="Conector reto 235"/>
              <p:cNvCxnSpPr>
                <a:stCxn id="217" idx="4"/>
                <a:endCxn id="223" idx="1"/>
              </p:cNvCxnSpPr>
              <p:nvPr/>
            </p:nvCxnSpPr>
            <p:spPr>
              <a:xfrm>
                <a:off x="2246865" y="3334889"/>
                <a:ext cx="295093" cy="606252"/>
              </a:xfrm>
              <a:prstGeom prst="line">
                <a:avLst/>
              </a:prstGeom>
              <a:ln w="127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7" name="Conector reto 236"/>
              <p:cNvCxnSpPr>
                <a:stCxn id="223" idx="5"/>
                <a:endCxn id="218" idx="2"/>
              </p:cNvCxnSpPr>
              <p:nvPr/>
            </p:nvCxnSpPr>
            <p:spPr>
              <a:xfrm>
                <a:off x="3000214" y="4399397"/>
                <a:ext cx="667654" cy="204503"/>
              </a:xfrm>
              <a:prstGeom prst="line">
                <a:avLst/>
              </a:prstGeom>
              <a:ln w="127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8" name="Conector reto 237"/>
              <p:cNvCxnSpPr>
                <a:stCxn id="220" idx="3"/>
                <a:endCxn id="218" idx="6"/>
              </p:cNvCxnSpPr>
              <p:nvPr/>
            </p:nvCxnSpPr>
            <p:spPr>
              <a:xfrm flipH="1">
                <a:off x="4315940" y="4396183"/>
                <a:ext cx="667654" cy="207717"/>
              </a:xfrm>
              <a:prstGeom prst="line">
                <a:avLst/>
              </a:prstGeom>
              <a:ln w="127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9" name="Conector reto 238"/>
              <p:cNvCxnSpPr>
                <a:stCxn id="216" idx="4"/>
                <a:endCxn id="220" idx="7"/>
              </p:cNvCxnSpPr>
              <p:nvPr/>
            </p:nvCxnSpPr>
            <p:spPr>
              <a:xfrm flipH="1">
                <a:off x="5441850" y="3332149"/>
                <a:ext cx="294968" cy="605778"/>
              </a:xfrm>
              <a:prstGeom prst="line">
                <a:avLst/>
              </a:prstGeom>
              <a:ln w="127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0" name="Conector reto 239"/>
              <p:cNvCxnSpPr>
                <a:stCxn id="221" idx="5"/>
                <a:endCxn id="216" idx="0"/>
              </p:cNvCxnSpPr>
              <p:nvPr/>
            </p:nvCxnSpPr>
            <p:spPr>
              <a:xfrm>
                <a:off x="5444069" y="2083256"/>
                <a:ext cx="292749" cy="600821"/>
              </a:xfrm>
              <a:prstGeom prst="line">
                <a:avLst/>
              </a:prstGeom>
              <a:ln w="127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1" name="Conector reto 240"/>
              <p:cNvCxnSpPr>
                <a:stCxn id="219" idx="6"/>
                <a:endCxn id="221" idx="1"/>
              </p:cNvCxnSpPr>
              <p:nvPr/>
            </p:nvCxnSpPr>
            <p:spPr>
              <a:xfrm>
                <a:off x="4304025" y="1389926"/>
                <a:ext cx="681788" cy="235074"/>
              </a:xfrm>
              <a:prstGeom prst="line">
                <a:avLst/>
              </a:prstGeom>
              <a:ln w="127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2" name="Conector reto 241"/>
              <p:cNvCxnSpPr>
                <a:stCxn id="219" idx="2"/>
                <a:endCxn id="222" idx="7"/>
              </p:cNvCxnSpPr>
              <p:nvPr/>
            </p:nvCxnSpPr>
            <p:spPr>
              <a:xfrm flipH="1">
                <a:off x="3007656" y="1389926"/>
                <a:ext cx="648297" cy="235074"/>
              </a:xfrm>
              <a:prstGeom prst="line">
                <a:avLst/>
              </a:prstGeom>
              <a:ln w="127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43" name="Grupo 242"/>
              <p:cNvGrpSpPr/>
              <p:nvPr/>
            </p:nvGrpSpPr>
            <p:grpSpPr>
              <a:xfrm>
                <a:off x="2915816" y="2552355"/>
                <a:ext cx="903693" cy="917520"/>
                <a:chOff x="2915816" y="2552355"/>
                <a:chExt cx="903693" cy="917520"/>
              </a:xfrm>
            </p:grpSpPr>
            <p:sp>
              <p:nvSpPr>
                <p:cNvPr id="247" name="Rosca 246"/>
                <p:cNvSpPr/>
                <p:nvPr/>
              </p:nvSpPr>
              <p:spPr>
                <a:xfrm>
                  <a:off x="2915816" y="2552355"/>
                  <a:ext cx="903693" cy="917520"/>
                </a:xfrm>
                <a:prstGeom prst="donut">
                  <a:avLst>
                    <a:gd name="adj" fmla="val 7901"/>
                  </a:avLst>
                </a:prstGeom>
                <a:ln w="12700">
                  <a:noFill/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 sz="900" b="1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248" name="CaixaDeTexto 247"/>
                <p:cNvSpPr txBox="1"/>
                <p:nvPr/>
              </p:nvSpPr>
              <p:spPr>
                <a:xfrm>
                  <a:off x="3022872" y="2716720"/>
                  <a:ext cx="668773" cy="58256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pt-BR" sz="1100" b="1" dirty="0" smtClean="0">
                      <a:solidFill>
                        <a:schemeClr val="bg1">
                          <a:lumMod val="50000"/>
                        </a:schemeClr>
                      </a:solidFill>
                    </a:rPr>
                    <a:t>Suporte</a:t>
                  </a:r>
                </a:p>
                <a:p>
                  <a:pPr algn="ctr"/>
                  <a:r>
                    <a:rPr lang="pt-BR" sz="1100" b="1" dirty="0">
                      <a:solidFill>
                        <a:schemeClr val="bg1">
                          <a:lumMod val="50000"/>
                        </a:schemeClr>
                      </a:solidFill>
                    </a:rPr>
                    <a:t>a</a:t>
                  </a:r>
                  <a:r>
                    <a:rPr lang="pt-BR" sz="1100" b="1" dirty="0" smtClean="0">
                      <a:solidFill>
                        <a:schemeClr val="bg1">
                          <a:lumMod val="50000"/>
                        </a:schemeClr>
                      </a:solidFill>
                    </a:rPr>
                    <a:t>os</a:t>
                  </a:r>
                </a:p>
                <a:p>
                  <a:pPr algn="ctr"/>
                  <a:r>
                    <a:rPr lang="pt-BR" sz="1100" b="1" dirty="0" smtClean="0">
                      <a:solidFill>
                        <a:schemeClr val="bg1">
                          <a:lumMod val="50000"/>
                        </a:schemeClr>
                      </a:solidFill>
                    </a:rPr>
                    <a:t>Serviços</a:t>
                  </a:r>
                  <a:endParaRPr lang="pt-BR" sz="1100" b="1" dirty="0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</p:grpSp>
          <p:grpSp>
            <p:nvGrpSpPr>
              <p:cNvPr id="244" name="Grupo 243"/>
              <p:cNvGrpSpPr/>
              <p:nvPr/>
            </p:nvGrpSpPr>
            <p:grpSpPr>
              <a:xfrm>
                <a:off x="4164299" y="2551831"/>
                <a:ext cx="903693" cy="917520"/>
                <a:chOff x="4164299" y="2551831"/>
                <a:chExt cx="903693" cy="917520"/>
              </a:xfrm>
            </p:grpSpPr>
            <p:sp>
              <p:nvSpPr>
                <p:cNvPr id="245" name="Rosca 244"/>
                <p:cNvSpPr/>
                <p:nvPr/>
              </p:nvSpPr>
              <p:spPr>
                <a:xfrm>
                  <a:off x="4164299" y="2551831"/>
                  <a:ext cx="903693" cy="917520"/>
                </a:xfrm>
                <a:prstGeom prst="donut">
                  <a:avLst>
                    <a:gd name="adj" fmla="val 7901"/>
                  </a:avLst>
                </a:prstGeom>
                <a:ln w="12700">
                  <a:noFill/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 sz="900" b="1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246" name="CaixaDeTexto 245"/>
                <p:cNvSpPr txBox="1"/>
                <p:nvPr/>
              </p:nvSpPr>
              <p:spPr>
                <a:xfrm>
                  <a:off x="4280614" y="2727390"/>
                  <a:ext cx="665567" cy="58256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pt-BR" sz="1100" b="1" dirty="0" smtClean="0">
                      <a:solidFill>
                        <a:schemeClr val="bg1">
                          <a:lumMod val="50000"/>
                        </a:schemeClr>
                      </a:solidFill>
                    </a:rPr>
                    <a:t>Entrega</a:t>
                  </a:r>
                </a:p>
                <a:p>
                  <a:pPr algn="ctr"/>
                  <a:r>
                    <a:rPr lang="pt-BR" sz="1100" b="1" dirty="0" smtClean="0">
                      <a:solidFill>
                        <a:schemeClr val="bg1">
                          <a:lumMod val="50000"/>
                        </a:schemeClr>
                      </a:solidFill>
                    </a:rPr>
                    <a:t>de</a:t>
                  </a:r>
                </a:p>
                <a:p>
                  <a:pPr algn="ctr"/>
                  <a:r>
                    <a:rPr lang="pt-BR" sz="1100" b="1" dirty="0" smtClean="0">
                      <a:solidFill>
                        <a:schemeClr val="bg1">
                          <a:lumMod val="50000"/>
                        </a:schemeClr>
                      </a:solidFill>
                    </a:rPr>
                    <a:t>Serviços</a:t>
                  </a:r>
                  <a:endParaRPr lang="pt-BR" sz="1100" b="1" dirty="0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</p:grpSp>
        </p:grpSp>
        <p:sp>
          <p:nvSpPr>
            <p:cNvPr id="208" name="CaixaDeTexto 207"/>
            <p:cNvSpPr txBox="1"/>
            <p:nvPr/>
          </p:nvSpPr>
          <p:spPr>
            <a:xfrm>
              <a:off x="2940236" y="1617500"/>
              <a:ext cx="66542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900" b="1" dirty="0" smtClean="0">
                  <a:solidFill>
                    <a:schemeClr val="bg1">
                      <a:lumMod val="50000"/>
                    </a:schemeClr>
                  </a:solidFill>
                </a:rPr>
                <a:t>Mobile e Telecom</a:t>
              </a:r>
              <a:endParaRPr lang="pt-BR" sz="900" b="1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09" name="CaixaDeTexto 208"/>
            <p:cNvSpPr txBox="1"/>
            <p:nvPr/>
          </p:nvSpPr>
          <p:spPr>
            <a:xfrm>
              <a:off x="4156799" y="1186495"/>
              <a:ext cx="599623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900" b="1" dirty="0" smtClean="0">
                  <a:solidFill>
                    <a:schemeClr val="bg1">
                      <a:lumMod val="50000"/>
                    </a:schemeClr>
                  </a:solidFill>
                </a:rPr>
                <a:t>SAP</a:t>
              </a:r>
              <a:endParaRPr lang="pt-BR" sz="900" b="1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10" name="CaixaDeTexto 209"/>
            <p:cNvSpPr txBox="1"/>
            <p:nvPr/>
          </p:nvSpPr>
          <p:spPr>
            <a:xfrm>
              <a:off x="5380300" y="1590176"/>
              <a:ext cx="648650" cy="369332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900" b="1" dirty="0" err="1" smtClean="0">
                  <a:solidFill>
                    <a:schemeClr val="bg1">
                      <a:lumMod val="50000"/>
                    </a:schemeClr>
                  </a:solidFill>
                </a:rPr>
                <a:t>Storage</a:t>
              </a:r>
              <a:r>
                <a:rPr lang="pt-BR" sz="900" b="1" dirty="0" smtClean="0">
                  <a:solidFill>
                    <a:schemeClr val="bg1">
                      <a:lumMod val="50000"/>
                    </a:schemeClr>
                  </a:solidFill>
                </a:rPr>
                <a:t> e DB</a:t>
              </a:r>
              <a:endParaRPr lang="pt-BR" sz="900" b="1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11" name="CaixaDeTexto 210"/>
            <p:cNvSpPr txBox="1"/>
            <p:nvPr/>
          </p:nvSpPr>
          <p:spPr>
            <a:xfrm>
              <a:off x="5869415" y="2803664"/>
              <a:ext cx="712669" cy="2240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900" b="1" dirty="0" smtClean="0">
                  <a:solidFill>
                    <a:schemeClr val="bg1">
                      <a:lumMod val="50000"/>
                    </a:schemeClr>
                  </a:solidFill>
                </a:rPr>
                <a:t>Redes</a:t>
              </a:r>
              <a:endParaRPr lang="pt-BR" sz="900" b="1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12" name="CaixaDeTexto 211"/>
            <p:cNvSpPr txBox="1"/>
            <p:nvPr/>
          </p:nvSpPr>
          <p:spPr>
            <a:xfrm>
              <a:off x="5312556" y="3906791"/>
              <a:ext cx="7752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900" b="1" dirty="0" err="1" smtClean="0">
                  <a:solidFill>
                    <a:schemeClr val="bg1">
                      <a:lumMod val="50000"/>
                    </a:schemeClr>
                  </a:solidFill>
                </a:rPr>
                <a:t>SysOpe</a:t>
              </a:r>
              <a:r>
                <a:rPr lang="pt-BR" sz="900" b="1" dirty="0" smtClean="0">
                  <a:solidFill>
                    <a:schemeClr val="bg1">
                      <a:lumMod val="50000"/>
                    </a:schemeClr>
                  </a:solidFill>
                </a:rPr>
                <a:t> e Servidores</a:t>
              </a:r>
              <a:endParaRPr lang="pt-BR" sz="900" b="1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13" name="CaixaDeTexto 212"/>
            <p:cNvSpPr txBox="1"/>
            <p:nvPr/>
          </p:nvSpPr>
          <p:spPr>
            <a:xfrm>
              <a:off x="4112585" y="4403547"/>
              <a:ext cx="712669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900" b="1" dirty="0" smtClean="0">
                  <a:solidFill>
                    <a:schemeClr val="bg1">
                      <a:lumMod val="50000"/>
                    </a:schemeClr>
                  </a:solidFill>
                </a:rPr>
                <a:t>Web</a:t>
              </a:r>
              <a:endParaRPr lang="pt-BR" sz="900" b="1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14" name="CaixaDeTexto 213"/>
            <p:cNvSpPr txBox="1"/>
            <p:nvPr/>
          </p:nvSpPr>
          <p:spPr>
            <a:xfrm>
              <a:off x="2905747" y="3966059"/>
              <a:ext cx="712669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900" b="1" dirty="0" smtClean="0">
                  <a:solidFill>
                    <a:schemeClr val="bg1">
                      <a:lumMod val="50000"/>
                    </a:schemeClr>
                  </a:solidFill>
                </a:rPr>
                <a:t>Aplicações</a:t>
              </a:r>
              <a:endParaRPr lang="pt-BR" sz="900" b="1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15" name="CaixaDeTexto 214"/>
            <p:cNvSpPr txBox="1"/>
            <p:nvPr/>
          </p:nvSpPr>
          <p:spPr>
            <a:xfrm>
              <a:off x="2357089" y="2827046"/>
              <a:ext cx="772424" cy="2240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900" b="1" dirty="0" smtClean="0">
                  <a:solidFill>
                    <a:schemeClr val="bg1">
                      <a:lumMod val="50000"/>
                    </a:schemeClr>
                  </a:solidFill>
                </a:rPr>
                <a:t>Arquitetura</a:t>
              </a:r>
              <a:endParaRPr lang="pt-BR" sz="900" b="1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sp>
        <p:nvSpPr>
          <p:cNvPr id="249" name="Rosca 248"/>
          <p:cNvSpPr/>
          <p:nvPr/>
        </p:nvSpPr>
        <p:spPr>
          <a:xfrm>
            <a:off x="1773380" y="673689"/>
            <a:ext cx="4590512" cy="4416439"/>
          </a:xfrm>
          <a:prstGeom prst="donut">
            <a:avLst>
              <a:gd name="adj" fmla="val 1815"/>
            </a:avLst>
          </a:prstGeom>
          <a:solidFill>
            <a:schemeClr val="accent4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/>
              </a:solidFill>
            </a:endParaRPr>
          </a:p>
        </p:txBody>
      </p:sp>
      <p:grpSp>
        <p:nvGrpSpPr>
          <p:cNvPr id="250" name="Grupo 249"/>
          <p:cNvGrpSpPr/>
          <p:nvPr/>
        </p:nvGrpSpPr>
        <p:grpSpPr>
          <a:xfrm>
            <a:off x="7265947" y="2352271"/>
            <a:ext cx="978512" cy="945244"/>
            <a:chOff x="7329473" y="1324737"/>
            <a:chExt cx="978512" cy="945244"/>
          </a:xfrm>
        </p:grpSpPr>
        <p:sp>
          <p:nvSpPr>
            <p:cNvPr id="251" name="Rosca 250"/>
            <p:cNvSpPr/>
            <p:nvPr/>
          </p:nvSpPr>
          <p:spPr>
            <a:xfrm>
              <a:off x="7366883" y="1324737"/>
              <a:ext cx="903693" cy="945244"/>
            </a:xfrm>
            <a:prstGeom prst="donut">
              <a:avLst>
                <a:gd name="adj" fmla="val 7901"/>
              </a:avLst>
            </a:prstGeom>
            <a:solidFill>
              <a:schemeClr val="bg1">
                <a:lumMod val="50000"/>
              </a:schemeClr>
            </a:solidFill>
            <a:ln w="12700">
              <a:noFill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00" b="1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52" name="CaixaDeTexto 251"/>
            <p:cNvSpPr txBox="1"/>
            <p:nvPr/>
          </p:nvSpPr>
          <p:spPr>
            <a:xfrm>
              <a:off x="7329473" y="1558174"/>
              <a:ext cx="978512" cy="600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100" b="1" dirty="0" smtClean="0">
                  <a:solidFill>
                    <a:schemeClr val="bg1">
                      <a:lumMod val="50000"/>
                    </a:schemeClr>
                  </a:solidFill>
                </a:rPr>
                <a:t>Governança</a:t>
              </a:r>
            </a:p>
            <a:p>
              <a:pPr algn="ctr"/>
              <a:r>
                <a:rPr lang="pt-BR" sz="1100" b="1" dirty="0" smtClean="0">
                  <a:solidFill>
                    <a:schemeClr val="bg1">
                      <a:lumMod val="50000"/>
                    </a:schemeClr>
                  </a:solidFill>
                </a:rPr>
                <a:t>e Gestão de TI</a:t>
              </a:r>
              <a:endParaRPr lang="pt-BR" sz="1100" b="1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cxnSp>
        <p:nvCxnSpPr>
          <p:cNvPr id="253" name="Conector reto 252"/>
          <p:cNvCxnSpPr>
            <a:stCxn id="252" idx="1"/>
            <a:endCxn id="249" idx="6"/>
          </p:cNvCxnSpPr>
          <p:nvPr/>
        </p:nvCxnSpPr>
        <p:spPr>
          <a:xfrm flipH="1" flipV="1">
            <a:off x="6363892" y="2881909"/>
            <a:ext cx="902055" cy="3881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4" name="Grupo 253"/>
          <p:cNvGrpSpPr/>
          <p:nvPr/>
        </p:nvGrpSpPr>
        <p:grpSpPr>
          <a:xfrm>
            <a:off x="179516" y="1599257"/>
            <a:ext cx="978512" cy="945244"/>
            <a:chOff x="7329473" y="1324737"/>
            <a:chExt cx="978512" cy="945244"/>
          </a:xfrm>
        </p:grpSpPr>
        <p:sp>
          <p:nvSpPr>
            <p:cNvPr id="255" name="Rosca 254"/>
            <p:cNvSpPr/>
            <p:nvPr/>
          </p:nvSpPr>
          <p:spPr>
            <a:xfrm>
              <a:off x="7366883" y="1324737"/>
              <a:ext cx="903693" cy="945244"/>
            </a:xfrm>
            <a:prstGeom prst="donut">
              <a:avLst>
                <a:gd name="adj" fmla="val 7901"/>
              </a:avLst>
            </a:prstGeom>
            <a:solidFill>
              <a:srgbClr val="FF3300"/>
            </a:solidFill>
            <a:ln w="12700">
              <a:noFill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00" b="1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56" name="CaixaDeTexto 255"/>
            <p:cNvSpPr txBox="1"/>
            <p:nvPr/>
          </p:nvSpPr>
          <p:spPr>
            <a:xfrm>
              <a:off x="7329473" y="1497277"/>
              <a:ext cx="978512" cy="600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100" b="1" dirty="0" err="1" smtClean="0">
                  <a:solidFill>
                    <a:schemeClr val="bg1">
                      <a:lumMod val="50000"/>
                    </a:schemeClr>
                  </a:solidFill>
                </a:rPr>
                <a:t>Relaciona-mento</a:t>
              </a:r>
              <a:r>
                <a:rPr lang="pt-BR" sz="1100" b="1" dirty="0" smtClean="0">
                  <a:solidFill>
                    <a:schemeClr val="bg1">
                      <a:lumMod val="50000"/>
                    </a:schemeClr>
                  </a:solidFill>
                </a:rPr>
                <a:t> com Parceiros</a:t>
              </a:r>
              <a:endParaRPr lang="pt-BR" sz="1100" b="1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cxnSp>
        <p:nvCxnSpPr>
          <p:cNvPr id="257" name="Conector reto 256"/>
          <p:cNvCxnSpPr>
            <a:stCxn id="249" idx="2"/>
            <a:endCxn id="255" idx="7"/>
          </p:cNvCxnSpPr>
          <p:nvPr/>
        </p:nvCxnSpPr>
        <p:spPr>
          <a:xfrm flipH="1" flipV="1">
            <a:off x="988276" y="1737685"/>
            <a:ext cx="785104" cy="1144224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8" name="Grupo 257"/>
          <p:cNvGrpSpPr/>
          <p:nvPr/>
        </p:nvGrpSpPr>
        <p:grpSpPr>
          <a:xfrm>
            <a:off x="186523" y="3324672"/>
            <a:ext cx="978512" cy="945244"/>
            <a:chOff x="7332722" y="1324737"/>
            <a:chExt cx="978512" cy="945244"/>
          </a:xfrm>
        </p:grpSpPr>
        <p:sp>
          <p:nvSpPr>
            <p:cNvPr id="259" name="Rosca 258"/>
            <p:cNvSpPr/>
            <p:nvPr/>
          </p:nvSpPr>
          <p:spPr>
            <a:xfrm>
              <a:off x="7366883" y="1324737"/>
              <a:ext cx="903693" cy="945244"/>
            </a:xfrm>
            <a:prstGeom prst="donut">
              <a:avLst>
                <a:gd name="adj" fmla="val 7901"/>
              </a:avLst>
            </a:prstGeom>
            <a:solidFill>
              <a:schemeClr val="bg2">
                <a:lumMod val="75000"/>
              </a:schemeClr>
            </a:solidFill>
            <a:ln w="12700">
              <a:noFill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00" b="1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60" name="CaixaDeTexto 259"/>
            <p:cNvSpPr txBox="1"/>
            <p:nvPr/>
          </p:nvSpPr>
          <p:spPr>
            <a:xfrm>
              <a:off x="7332722" y="1662145"/>
              <a:ext cx="97851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100" b="1" dirty="0" smtClean="0">
                  <a:solidFill>
                    <a:schemeClr val="bg1">
                      <a:lumMod val="50000"/>
                    </a:schemeClr>
                  </a:solidFill>
                </a:rPr>
                <a:t>Inovação</a:t>
              </a:r>
              <a:endParaRPr lang="pt-BR" sz="1100" b="1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cxnSp>
        <p:nvCxnSpPr>
          <p:cNvPr id="261" name="Conector reto 260"/>
          <p:cNvCxnSpPr>
            <a:stCxn id="249" idx="2"/>
            <a:endCxn id="259" idx="5"/>
          </p:cNvCxnSpPr>
          <p:nvPr/>
        </p:nvCxnSpPr>
        <p:spPr>
          <a:xfrm flipH="1">
            <a:off x="992034" y="2881909"/>
            <a:ext cx="781346" cy="1249579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2" name="Grupo 261"/>
          <p:cNvGrpSpPr/>
          <p:nvPr/>
        </p:nvGrpSpPr>
        <p:grpSpPr>
          <a:xfrm>
            <a:off x="6731341" y="3435843"/>
            <a:ext cx="712669" cy="667655"/>
            <a:chOff x="7766321" y="2588566"/>
            <a:chExt cx="712669" cy="667655"/>
          </a:xfrm>
        </p:grpSpPr>
        <p:sp>
          <p:nvSpPr>
            <p:cNvPr id="263" name="Rosca 262"/>
            <p:cNvSpPr/>
            <p:nvPr/>
          </p:nvSpPr>
          <p:spPr>
            <a:xfrm>
              <a:off x="7796370" y="2588566"/>
              <a:ext cx="648072" cy="667655"/>
            </a:xfrm>
            <a:prstGeom prst="donut">
              <a:avLst>
                <a:gd name="adj" fmla="val 7901"/>
              </a:avLst>
            </a:prstGeom>
            <a:solidFill>
              <a:schemeClr val="accent2">
                <a:lumMod val="60000"/>
                <a:lumOff val="40000"/>
              </a:schemeClr>
            </a:solidFill>
            <a:ln w="12700">
              <a:noFill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700" b="1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64" name="CaixaDeTexto 263"/>
            <p:cNvSpPr txBox="1"/>
            <p:nvPr/>
          </p:nvSpPr>
          <p:spPr>
            <a:xfrm>
              <a:off x="7766321" y="2668478"/>
              <a:ext cx="712669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900" b="1" dirty="0" smtClean="0">
                  <a:solidFill>
                    <a:schemeClr val="bg1">
                      <a:lumMod val="50000"/>
                    </a:schemeClr>
                  </a:solidFill>
                </a:rPr>
                <a:t>Escritório de Projetos</a:t>
              </a:r>
              <a:endParaRPr lang="pt-BR" sz="900" b="1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265" name="Grupo 264"/>
          <p:cNvGrpSpPr/>
          <p:nvPr/>
        </p:nvGrpSpPr>
        <p:grpSpPr>
          <a:xfrm>
            <a:off x="8065325" y="3631017"/>
            <a:ext cx="712669" cy="667655"/>
            <a:chOff x="7870566" y="2534552"/>
            <a:chExt cx="712669" cy="667655"/>
          </a:xfrm>
        </p:grpSpPr>
        <p:sp>
          <p:nvSpPr>
            <p:cNvPr id="266" name="Rosca 265"/>
            <p:cNvSpPr/>
            <p:nvPr/>
          </p:nvSpPr>
          <p:spPr>
            <a:xfrm>
              <a:off x="7912247" y="2534552"/>
              <a:ext cx="648072" cy="667655"/>
            </a:xfrm>
            <a:prstGeom prst="donut">
              <a:avLst>
                <a:gd name="adj" fmla="val 7901"/>
              </a:avLst>
            </a:prstGeom>
            <a:solidFill>
              <a:schemeClr val="accent4">
                <a:lumMod val="60000"/>
                <a:lumOff val="40000"/>
              </a:schemeClr>
            </a:solidFill>
            <a:ln w="12700">
              <a:noFill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700" b="1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67" name="CaixaDeTexto 266"/>
            <p:cNvSpPr txBox="1"/>
            <p:nvPr/>
          </p:nvSpPr>
          <p:spPr>
            <a:xfrm>
              <a:off x="7870566" y="2632328"/>
              <a:ext cx="712669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900" b="1" dirty="0" smtClean="0">
                  <a:solidFill>
                    <a:schemeClr val="bg1">
                      <a:lumMod val="50000"/>
                    </a:schemeClr>
                  </a:solidFill>
                </a:rPr>
                <a:t>Escritório de Serviços</a:t>
              </a:r>
              <a:endParaRPr lang="pt-BR" sz="900" b="1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268" name="Grupo 267"/>
          <p:cNvGrpSpPr/>
          <p:nvPr/>
        </p:nvGrpSpPr>
        <p:grpSpPr>
          <a:xfrm>
            <a:off x="7769332" y="1298788"/>
            <a:ext cx="712669" cy="667655"/>
            <a:chOff x="7879948" y="2534552"/>
            <a:chExt cx="712669" cy="667655"/>
          </a:xfrm>
        </p:grpSpPr>
        <p:sp>
          <p:nvSpPr>
            <p:cNvPr id="269" name="Rosca 268"/>
            <p:cNvSpPr/>
            <p:nvPr/>
          </p:nvSpPr>
          <p:spPr>
            <a:xfrm>
              <a:off x="7912247" y="2534552"/>
              <a:ext cx="648072" cy="667655"/>
            </a:xfrm>
            <a:prstGeom prst="donut">
              <a:avLst>
                <a:gd name="adj" fmla="val 7901"/>
              </a:avLst>
            </a:prstGeom>
            <a:solidFill>
              <a:srgbClr val="00B050"/>
            </a:solidFill>
            <a:ln w="12700">
              <a:noFill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700" b="1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70" name="CaixaDeTexto 269"/>
            <p:cNvSpPr txBox="1"/>
            <p:nvPr/>
          </p:nvSpPr>
          <p:spPr>
            <a:xfrm>
              <a:off x="7879948" y="2691820"/>
              <a:ext cx="71266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900" b="1" dirty="0" smtClean="0">
                  <a:solidFill>
                    <a:schemeClr val="bg1">
                      <a:lumMod val="50000"/>
                    </a:schemeClr>
                  </a:solidFill>
                </a:rPr>
                <a:t>Controles Internos</a:t>
              </a:r>
              <a:endParaRPr lang="pt-BR" sz="900" b="1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271" name="Grupo 270"/>
          <p:cNvGrpSpPr/>
          <p:nvPr/>
        </p:nvGrpSpPr>
        <p:grpSpPr>
          <a:xfrm>
            <a:off x="6417546" y="1769998"/>
            <a:ext cx="712669" cy="667655"/>
            <a:chOff x="7879948" y="2534552"/>
            <a:chExt cx="712669" cy="667655"/>
          </a:xfrm>
        </p:grpSpPr>
        <p:sp>
          <p:nvSpPr>
            <p:cNvPr id="272" name="Rosca 271"/>
            <p:cNvSpPr/>
            <p:nvPr/>
          </p:nvSpPr>
          <p:spPr>
            <a:xfrm>
              <a:off x="7912247" y="2534552"/>
              <a:ext cx="648072" cy="667655"/>
            </a:xfrm>
            <a:prstGeom prst="donut">
              <a:avLst>
                <a:gd name="adj" fmla="val 7901"/>
              </a:avLst>
            </a:prstGeom>
            <a:solidFill>
              <a:srgbClr val="FFC000"/>
            </a:solidFill>
            <a:ln w="12700">
              <a:noFill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700" b="1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73" name="CaixaDeTexto 272"/>
            <p:cNvSpPr txBox="1"/>
            <p:nvPr/>
          </p:nvSpPr>
          <p:spPr>
            <a:xfrm>
              <a:off x="7879948" y="2693332"/>
              <a:ext cx="71266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900" b="1" dirty="0" smtClean="0">
                  <a:solidFill>
                    <a:schemeClr val="bg1">
                      <a:lumMod val="50000"/>
                    </a:schemeClr>
                  </a:solidFill>
                </a:rPr>
                <a:t>Gestão Financeira</a:t>
              </a:r>
              <a:endParaRPr lang="pt-BR" sz="900" b="1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cxnSp>
        <p:nvCxnSpPr>
          <p:cNvPr id="274" name="Conector reto 273"/>
          <p:cNvCxnSpPr>
            <a:stCxn id="251" idx="1"/>
            <a:endCxn id="272" idx="7"/>
          </p:cNvCxnSpPr>
          <p:nvPr/>
        </p:nvCxnSpPr>
        <p:spPr>
          <a:xfrm flipH="1" flipV="1">
            <a:off x="7003009" y="1867774"/>
            <a:ext cx="432691" cy="622925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5" name="Conector reto 274"/>
          <p:cNvCxnSpPr>
            <a:stCxn id="251" idx="0"/>
            <a:endCxn id="269" idx="5"/>
          </p:cNvCxnSpPr>
          <p:nvPr/>
        </p:nvCxnSpPr>
        <p:spPr>
          <a:xfrm flipV="1">
            <a:off x="7755204" y="1868667"/>
            <a:ext cx="599591" cy="483604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6" name="Conector reto 275"/>
          <p:cNvCxnSpPr>
            <a:stCxn id="251" idx="3"/>
            <a:endCxn id="263" idx="1"/>
          </p:cNvCxnSpPr>
          <p:nvPr/>
        </p:nvCxnSpPr>
        <p:spPr>
          <a:xfrm flipH="1">
            <a:off x="6856298" y="3159087"/>
            <a:ext cx="579402" cy="374532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Conector reto 276"/>
          <p:cNvCxnSpPr>
            <a:stCxn id="251" idx="5"/>
            <a:endCxn id="266" idx="1"/>
          </p:cNvCxnSpPr>
          <p:nvPr/>
        </p:nvCxnSpPr>
        <p:spPr>
          <a:xfrm>
            <a:off x="8074707" y="3159087"/>
            <a:ext cx="127207" cy="569706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8" name="Conector reto 277"/>
          <p:cNvCxnSpPr>
            <a:stCxn id="251" idx="7"/>
          </p:cNvCxnSpPr>
          <p:nvPr/>
        </p:nvCxnSpPr>
        <p:spPr>
          <a:xfrm>
            <a:off x="8074707" y="2490699"/>
            <a:ext cx="512936" cy="25147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26655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8" descr="NAT_marca_branca_natura-01.png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0432" y="19878"/>
            <a:ext cx="576000" cy="57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CaixaDeTexto 5"/>
          <p:cNvSpPr txBox="1"/>
          <p:nvPr/>
        </p:nvSpPr>
        <p:spPr>
          <a:xfrm>
            <a:off x="-1" y="2"/>
            <a:ext cx="9144001" cy="646331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O que </a:t>
            </a:r>
            <a:r>
              <a:rPr 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r</a:t>
            </a:r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ecomendamos</a:t>
            </a:r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Light" pitchFamily="34" charset="0"/>
            </a:endParaRPr>
          </a:p>
          <a:p>
            <a:r>
              <a:rPr 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Planos de Ação – Estrutura Organizacional</a:t>
            </a:r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Light" pitchFamily="34" charset="0"/>
            </a:endParaRPr>
          </a:p>
        </p:txBody>
      </p:sp>
      <p:sp>
        <p:nvSpPr>
          <p:cNvPr id="8" name="CaixaDeTexto 7"/>
          <p:cNvSpPr txBox="1"/>
          <p:nvPr/>
        </p:nvSpPr>
        <p:spPr>
          <a:xfrm rot="16200000">
            <a:off x="8126207" y="4147980"/>
            <a:ext cx="176338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 b="1" dirty="0">
                <a:solidFill>
                  <a:schemeClr val="accent1">
                    <a:lumMod val="75000"/>
                  </a:schemeClr>
                </a:solidFill>
              </a:rPr>
              <a:t>CHACON</a:t>
            </a:r>
            <a:r>
              <a:rPr lang="pt-BR" sz="900" dirty="0"/>
              <a:t> </a:t>
            </a:r>
            <a:r>
              <a:rPr lang="pt-BR" sz="900" b="1" dirty="0">
                <a:solidFill>
                  <a:schemeClr val="bg1">
                    <a:lumMod val="85000"/>
                  </a:schemeClr>
                </a:solidFill>
              </a:rPr>
              <a:t>|</a:t>
            </a:r>
            <a:r>
              <a:rPr lang="pt-BR" sz="900" dirty="0"/>
              <a:t> </a:t>
            </a:r>
            <a:r>
              <a:rPr lang="pt-BR" sz="900" b="1" dirty="0">
                <a:solidFill>
                  <a:schemeClr val="bg1">
                    <a:lumMod val="65000"/>
                  </a:schemeClr>
                </a:solidFill>
              </a:rPr>
              <a:t>Consultoria Ilimitada</a:t>
            </a:r>
          </a:p>
        </p:txBody>
      </p:sp>
      <p:sp>
        <p:nvSpPr>
          <p:cNvPr id="205" name="CaixaDeTexto 204"/>
          <p:cNvSpPr txBox="1"/>
          <p:nvPr/>
        </p:nvSpPr>
        <p:spPr>
          <a:xfrm rot="16200000">
            <a:off x="8126205" y="4147980"/>
            <a:ext cx="176338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 b="1" dirty="0">
                <a:solidFill>
                  <a:schemeClr val="accent1">
                    <a:lumMod val="75000"/>
                  </a:schemeClr>
                </a:solidFill>
              </a:rPr>
              <a:t>CHACON</a:t>
            </a:r>
            <a:r>
              <a:rPr lang="pt-BR" sz="900" dirty="0"/>
              <a:t> </a:t>
            </a:r>
            <a:r>
              <a:rPr lang="pt-BR" sz="900" b="1" dirty="0">
                <a:solidFill>
                  <a:schemeClr val="bg1">
                    <a:lumMod val="85000"/>
                  </a:schemeClr>
                </a:solidFill>
              </a:rPr>
              <a:t>|</a:t>
            </a:r>
            <a:r>
              <a:rPr lang="pt-BR" sz="900" dirty="0"/>
              <a:t> </a:t>
            </a:r>
            <a:r>
              <a:rPr lang="pt-BR" sz="900" b="1" dirty="0">
                <a:solidFill>
                  <a:schemeClr val="bg1">
                    <a:lumMod val="65000"/>
                  </a:schemeClr>
                </a:solidFill>
              </a:rPr>
              <a:t>Consultoria Ilimitada</a:t>
            </a:r>
          </a:p>
        </p:txBody>
      </p:sp>
      <p:graphicFrame>
        <p:nvGraphicFramePr>
          <p:cNvPr id="2" name="Diagrama 1"/>
          <p:cNvGraphicFramePr/>
          <p:nvPr>
            <p:extLst>
              <p:ext uri="{D42A27DB-BD31-4B8C-83A1-F6EECF244321}">
                <p14:modId xmlns:p14="http://schemas.microsoft.com/office/powerpoint/2010/main" val="2558769479"/>
              </p:ext>
            </p:extLst>
          </p:nvPr>
        </p:nvGraphicFramePr>
        <p:xfrm>
          <a:off x="8816" y="1060376"/>
          <a:ext cx="8784977" cy="43727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3683992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CaixaDeTexto 62"/>
          <p:cNvSpPr txBox="1"/>
          <p:nvPr/>
        </p:nvSpPr>
        <p:spPr>
          <a:xfrm>
            <a:off x="-1" y="-1"/>
            <a:ext cx="9144001" cy="369332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Obrigado!</a:t>
            </a:r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Light" pitchFamily="34" charset="0"/>
            </a:endParaRPr>
          </a:p>
        </p:txBody>
      </p:sp>
      <p:grpSp>
        <p:nvGrpSpPr>
          <p:cNvPr id="7" name="Grupo 6"/>
          <p:cNvGrpSpPr/>
          <p:nvPr/>
        </p:nvGrpSpPr>
        <p:grpSpPr>
          <a:xfrm>
            <a:off x="1258916" y="1780457"/>
            <a:ext cx="7492503" cy="2799695"/>
            <a:chOff x="970885" y="2814436"/>
            <a:chExt cx="7492501" cy="2799696"/>
          </a:xfrm>
        </p:grpSpPr>
        <p:grpSp>
          <p:nvGrpSpPr>
            <p:cNvPr id="8" name="Grupo 7"/>
            <p:cNvGrpSpPr/>
            <p:nvPr/>
          </p:nvGrpSpPr>
          <p:grpSpPr>
            <a:xfrm>
              <a:off x="1882861" y="2814436"/>
              <a:ext cx="4802215" cy="1622675"/>
              <a:chOff x="1763688" y="2814436"/>
              <a:chExt cx="4802215" cy="1622675"/>
            </a:xfrm>
          </p:grpSpPr>
          <p:pic>
            <p:nvPicPr>
              <p:cNvPr id="13" name="Picture 15" descr="NAT_marca_laranja_natura-01.png"/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763688" y="3369329"/>
                <a:ext cx="754773" cy="6889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4" name="Imagem 13"/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842765" y="2814436"/>
                <a:ext cx="3723138" cy="1622675"/>
              </a:xfrm>
              <a:prstGeom prst="rect">
                <a:avLst/>
              </a:prstGeom>
            </p:spPr>
          </p:pic>
        </p:grpSp>
        <p:grpSp>
          <p:nvGrpSpPr>
            <p:cNvPr id="9" name="Grupo 8"/>
            <p:cNvGrpSpPr/>
            <p:nvPr/>
          </p:nvGrpSpPr>
          <p:grpSpPr>
            <a:xfrm>
              <a:off x="970885" y="4815110"/>
              <a:ext cx="7492501" cy="799022"/>
              <a:chOff x="970885" y="4815110"/>
              <a:chExt cx="7492501" cy="799022"/>
            </a:xfrm>
          </p:grpSpPr>
          <p:sp>
            <p:nvSpPr>
              <p:cNvPr id="10" name="Retângulo 9"/>
              <p:cNvSpPr/>
              <p:nvPr/>
            </p:nvSpPr>
            <p:spPr>
              <a:xfrm rot="1799664">
                <a:off x="6827490" y="4815110"/>
                <a:ext cx="1635896" cy="46153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91440" tIns="45720" rIns="91440" bIns="45720">
                <a:spAutoFit/>
              </a:bodyPr>
              <a:lstStyle/>
              <a:p>
                <a:pPr algn="ctr"/>
                <a:r>
                  <a:rPr lang="pt-BR" sz="2399" b="1" spc="51" dirty="0">
                    <a:ln w="12700" cmpd="sng">
                      <a:noFill/>
                      <a:prstDash val="solid"/>
                    </a:ln>
                    <a:solidFill>
                      <a:srgbClr val="7030A0"/>
                    </a:solidFill>
                    <a:effectLst>
                      <a:glow rad="53100">
                        <a:schemeClr val="bg1">
                          <a:alpha val="30000"/>
                        </a:schemeClr>
                      </a:glow>
                    </a:effectLst>
                  </a:rPr>
                  <a:t>#pegaprasi</a:t>
                </a:r>
              </a:p>
            </p:txBody>
          </p:sp>
          <p:sp>
            <p:nvSpPr>
              <p:cNvPr id="11" name="Retângulo 10"/>
              <p:cNvSpPr/>
              <p:nvPr/>
            </p:nvSpPr>
            <p:spPr>
              <a:xfrm rot="19829581">
                <a:off x="970885" y="5152595"/>
                <a:ext cx="1751185" cy="46153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91440" tIns="45720" rIns="91440" bIns="45720">
                <a:spAutoFit/>
              </a:bodyPr>
              <a:lstStyle/>
              <a:p>
                <a:pPr algn="ctr"/>
                <a:r>
                  <a:rPr lang="pt-BR" sz="2399" b="1" spc="51" dirty="0">
                    <a:ln w="12700" cmpd="sng">
                      <a:noFill/>
                      <a:prstDash val="solid"/>
                    </a:ln>
                    <a:solidFill>
                      <a:srgbClr val="FFC000"/>
                    </a:solidFill>
                    <a:effectLst>
                      <a:glow rad="53100">
                        <a:schemeClr val="bg1">
                          <a:alpha val="30000"/>
                        </a:schemeClr>
                      </a:glow>
                    </a:effectLst>
                  </a:rPr>
                  <a:t>#tamojunto</a:t>
                </a:r>
              </a:p>
            </p:txBody>
          </p:sp>
          <p:sp>
            <p:nvSpPr>
              <p:cNvPr id="12" name="Retângulo 11"/>
              <p:cNvSpPr/>
              <p:nvPr/>
            </p:nvSpPr>
            <p:spPr>
              <a:xfrm rot="20549306">
                <a:off x="3707904" y="4897879"/>
                <a:ext cx="2535308" cy="46153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91440" tIns="45720" rIns="91440" bIns="45720">
                <a:spAutoFit/>
              </a:bodyPr>
              <a:lstStyle/>
              <a:p>
                <a:pPr algn="ctr"/>
                <a:r>
                  <a:rPr lang="pt-BR" sz="2399" b="1" spc="51" dirty="0">
                    <a:ln w="12700" cmpd="sng">
                      <a:noFill/>
                      <a:prstDash val="solid"/>
                    </a:ln>
                    <a:solidFill>
                      <a:srgbClr val="92D050"/>
                    </a:solidFill>
                    <a:effectLst>
                      <a:glow rad="53100">
                        <a:schemeClr val="bg1">
                          <a:alpha val="30000"/>
                        </a:schemeClr>
                      </a:glow>
                    </a:effectLst>
                  </a:rPr>
                  <a:t>#foconoresultado</a:t>
                </a:r>
              </a:p>
            </p:txBody>
          </p:sp>
        </p:grpSp>
      </p:grpSp>
      <p:sp>
        <p:nvSpPr>
          <p:cNvPr id="2" name="Retângulo 1"/>
          <p:cNvSpPr/>
          <p:nvPr/>
        </p:nvSpPr>
        <p:spPr>
          <a:xfrm rot="21061960">
            <a:off x="6444208" y="913659"/>
            <a:ext cx="2093522" cy="4615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BR" sz="2399" b="1" spc="51" dirty="0">
                <a:ln w="12700" cmpd="sng">
                  <a:noFill/>
                  <a:prstDash val="solid"/>
                </a:ln>
                <a:solidFill>
                  <a:schemeClr val="accent6">
                    <a:lumMod val="75000"/>
                  </a:schemeClr>
                </a:solidFill>
                <a:effectLst>
                  <a:glow rad="53100">
                    <a:schemeClr val="bg1">
                      <a:alpha val="30000"/>
                    </a:schemeClr>
                  </a:glow>
                </a:effectLst>
              </a:rPr>
              <a:t>#</a:t>
            </a:r>
            <a:r>
              <a:rPr lang="pt-BR" sz="2399" b="1" spc="51" dirty="0" err="1">
                <a:ln w="12700" cmpd="sng">
                  <a:noFill/>
                  <a:prstDash val="solid"/>
                </a:ln>
                <a:solidFill>
                  <a:schemeClr val="accent6">
                    <a:lumMod val="75000"/>
                  </a:schemeClr>
                </a:solidFill>
                <a:effectLst>
                  <a:glow rad="53100">
                    <a:schemeClr val="bg1">
                      <a:alpha val="30000"/>
                    </a:schemeClr>
                  </a:glow>
                </a:effectLst>
              </a:rPr>
              <a:t>semmelindre</a:t>
            </a:r>
            <a:endParaRPr lang="pt-BR" sz="2399" b="1" spc="51" dirty="0">
              <a:ln w="12700" cmpd="sng">
                <a:noFill/>
                <a:prstDash val="solid"/>
              </a:ln>
              <a:solidFill>
                <a:schemeClr val="accent6">
                  <a:lumMod val="75000"/>
                </a:schemeClr>
              </a:solidFill>
              <a:effectLst>
                <a:glow rad="53100">
                  <a:schemeClr val="bg1">
                    <a:alpha val="30000"/>
                  </a:schemeClr>
                </a:glow>
              </a:effectLst>
            </a:endParaRPr>
          </a:p>
        </p:txBody>
      </p:sp>
      <p:sp>
        <p:nvSpPr>
          <p:cNvPr id="15" name="Retângulo 14"/>
          <p:cNvSpPr/>
          <p:nvPr/>
        </p:nvSpPr>
        <p:spPr>
          <a:xfrm rot="1585960">
            <a:off x="144568" y="2793565"/>
            <a:ext cx="2026324" cy="461537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lang="pt-BR" sz="2399" b="1" spc="51" dirty="0">
                <a:ln w="12700" cmpd="sng">
                  <a:noFill/>
                  <a:prstDash val="solid"/>
                </a:ln>
                <a:solidFill>
                  <a:srgbClr val="00AEC7"/>
                </a:solidFill>
                <a:effectLst>
                  <a:glow rad="53100">
                    <a:schemeClr val="bg1">
                      <a:alpha val="30000"/>
                    </a:schemeClr>
                  </a:glow>
                </a:effectLst>
              </a:rPr>
              <a:t>#</a:t>
            </a:r>
            <a:r>
              <a:rPr lang="pt-BR" sz="2399" b="1" spc="51" dirty="0" err="1">
                <a:ln w="12700" cmpd="sng">
                  <a:noFill/>
                  <a:prstDash val="solid"/>
                </a:ln>
                <a:solidFill>
                  <a:srgbClr val="00AEC7"/>
                </a:solidFill>
                <a:effectLst>
                  <a:glow rad="53100">
                    <a:schemeClr val="bg1">
                      <a:alpha val="30000"/>
                    </a:schemeClr>
                  </a:glow>
                </a:effectLst>
              </a:rPr>
              <a:t>menosémais</a:t>
            </a:r>
            <a:endParaRPr lang="pt-BR" sz="2399" b="1" spc="51" dirty="0">
              <a:ln w="12700" cmpd="sng">
                <a:noFill/>
                <a:prstDash val="solid"/>
              </a:ln>
              <a:solidFill>
                <a:srgbClr val="00AEC7"/>
              </a:solidFill>
              <a:effectLst>
                <a:glow rad="53100">
                  <a:schemeClr val="bg1">
                    <a:alpha val="30000"/>
                  </a:schemeClr>
                </a:glow>
              </a:effectLst>
            </a:endParaRPr>
          </a:p>
        </p:txBody>
      </p:sp>
      <p:sp>
        <p:nvSpPr>
          <p:cNvPr id="16" name="Retângulo 15"/>
          <p:cNvSpPr/>
          <p:nvPr/>
        </p:nvSpPr>
        <p:spPr>
          <a:xfrm rot="20313516">
            <a:off x="515420" y="962178"/>
            <a:ext cx="2617896" cy="4615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BR" sz="2399" b="1" spc="51" dirty="0">
                <a:ln w="12700" cmpd="sng">
                  <a:noFill/>
                  <a:prstDash val="solid"/>
                </a:ln>
                <a:solidFill>
                  <a:srgbClr val="FF6699"/>
                </a:solidFill>
                <a:effectLst>
                  <a:glow rad="53100">
                    <a:schemeClr val="bg1">
                      <a:alpha val="30000"/>
                    </a:schemeClr>
                  </a:glow>
                </a:effectLst>
              </a:rPr>
              <a:t>#</a:t>
            </a:r>
            <a:r>
              <a:rPr lang="pt-BR" sz="2399" b="1" spc="51" dirty="0" err="1">
                <a:ln w="12700" cmpd="sng">
                  <a:noFill/>
                  <a:prstDash val="solid"/>
                </a:ln>
                <a:solidFill>
                  <a:srgbClr val="FF6699"/>
                </a:solidFill>
                <a:effectLst>
                  <a:glow rad="53100">
                    <a:schemeClr val="bg1">
                      <a:alpha val="30000"/>
                    </a:schemeClr>
                  </a:glow>
                </a:effectLst>
              </a:rPr>
              <a:t>promessaédívida</a:t>
            </a:r>
            <a:endParaRPr lang="pt-BR" sz="2399" b="1" spc="51" dirty="0">
              <a:ln w="12700" cmpd="sng">
                <a:noFill/>
                <a:prstDash val="solid"/>
              </a:ln>
              <a:solidFill>
                <a:srgbClr val="FF6699"/>
              </a:solidFill>
              <a:effectLst>
                <a:glow rad="53100">
                  <a:schemeClr val="bg1">
                    <a:alpha val="30000"/>
                  </a:schemeClr>
                </a:glow>
              </a:effectLst>
            </a:endParaRPr>
          </a:p>
        </p:txBody>
      </p:sp>
      <p:sp>
        <p:nvSpPr>
          <p:cNvPr id="17" name="CaixaDeTexto 16"/>
          <p:cNvSpPr txBox="1"/>
          <p:nvPr/>
        </p:nvSpPr>
        <p:spPr>
          <a:xfrm rot="16200000">
            <a:off x="8127558" y="4147980"/>
            <a:ext cx="176338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 b="1" dirty="0">
                <a:solidFill>
                  <a:schemeClr val="accent1">
                    <a:lumMod val="75000"/>
                  </a:schemeClr>
                </a:solidFill>
              </a:rPr>
              <a:t>CHACON</a:t>
            </a:r>
            <a:r>
              <a:rPr lang="pt-BR" sz="900" dirty="0"/>
              <a:t> </a:t>
            </a:r>
            <a:r>
              <a:rPr lang="pt-BR" sz="900" b="1" dirty="0">
                <a:solidFill>
                  <a:schemeClr val="bg1">
                    <a:lumMod val="85000"/>
                  </a:schemeClr>
                </a:solidFill>
              </a:rPr>
              <a:t>|</a:t>
            </a:r>
            <a:r>
              <a:rPr lang="pt-BR" sz="900" dirty="0"/>
              <a:t> </a:t>
            </a:r>
            <a:r>
              <a:rPr lang="pt-BR" sz="900" b="1" dirty="0">
                <a:solidFill>
                  <a:schemeClr val="bg1">
                    <a:lumMod val="65000"/>
                  </a:schemeClr>
                </a:solidFill>
              </a:rPr>
              <a:t>Consultoria Ilimitada</a:t>
            </a:r>
          </a:p>
        </p:txBody>
      </p:sp>
    </p:spTree>
    <p:extLst>
      <p:ext uri="{BB962C8B-B14F-4D97-AF65-F5344CB8AC3E}">
        <p14:creationId xmlns:p14="http://schemas.microsoft.com/office/powerpoint/2010/main" val="28086695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8" descr="NAT_marca_branca_natura-01.png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0432" y="19878"/>
            <a:ext cx="576000" cy="57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CaixaDeTexto 5"/>
          <p:cNvSpPr txBox="1"/>
          <p:nvPr/>
        </p:nvSpPr>
        <p:spPr>
          <a:xfrm>
            <a:off x="-1" y="2"/>
            <a:ext cx="9144001" cy="646331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O que Recomendamos</a:t>
            </a:r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Light" pitchFamily="34" charset="0"/>
            </a:endParaRPr>
          </a:p>
          <a:p>
            <a:r>
              <a:rPr 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Planos de Ação</a:t>
            </a:r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Light" pitchFamily="34" charset="0"/>
            </a:endParaRPr>
          </a:p>
        </p:txBody>
      </p:sp>
      <p:sp>
        <p:nvSpPr>
          <p:cNvPr id="8" name="CaixaDeTexto 7"/>
          <p:cNvSpPr txBox="1"/>
          <p:nvPr/>
        </p:nvSpPr>
        <p:spPr>
          <a:xfrm rot="16200000">
            <a:off x="8127558" y="4147980"/>
            <a:ext cx="176338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 b="1" dirty="0">
                <a:solidFill>
                  <a:schemeClr val="accent1">
                    <a:lumMod val="75000"/>
                  </a:schemeClr>
                </a:solidFill>
              </a:rPr>
              <a:t>CHACON</a:t>
            </a:r>
            <a:r>
              <a:rPr lang="pt-BR" sz="900" dirty="0"/>
              <a:t> </a:t>
            </a:r>
            <a:r>
              <a:rPr lang="pt-BR" sz="900" b="1" dirty="0">
                <a:solidFill>
                  <a:schemeClr val="bg1">
                    <a:lumMod val="85000"/>
                  </a:schemeClr>
                </a:solidFill>
              </a:rPr>
              <a:t>|</a:t>
            </a:r>
            <a:r>
              <a:rPr lang="pt-BR" sz="900" dirty="0"/>
              <a:t> </a:t>
            </a:r>
            <a:r>
              <a:rPr lang="pt-BR" sz="900" b="1" dirty="0">
                <a:solidFill>
                  <a:schemeClr val="bg1">
                    <a:lumMod val="65000"/>
                  </a:schemeClr>
                </a:solidFill>
              </a:rPr>
              <a:t>Consultoria Ilimitada</a:t>
            </a:r>
          </a:p>
        </p:txBody>
      </p:sp>
    </p:spTree>
    <p:extLst>
      <p:ext uri="{BB962C8B-B14F-4D97-AF65-F5344CB8AC3E}">
        <p14:creationId xmlns:p14="http://schemas.microsoft.com/office/powerpoint/2010/main" val="3758384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14437</TotalTime>
  <Words>3996</Words>
  <Application>Microsoft Office PowerPoint</Application>
  <PresentationFormat>Personalizar</PresentationFormat>
  <Paragraphs>566</Paragraphs>
  <Slides>39</Slides>
  <Notes>36</Notes>
  <HiddenSlides>1</HiddenSlides>
  <MMClips>0</MMClips>
  <ScaleCrop>false</ScaleCrop>
  <HeadingPairs>
    <vt:vector size="6" baseType="variant">
      <vt:variant>
        <vt:lpstr>Fontes usadas</vt:lpstr>
      </vt:variant>
      <vt:variant>
        <vt:i4>13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39</vt:i4>
      </vt:variant>
    </vt:vector>
  </HeadingPairs>
  <TitlesOfParts>
    <vt:vector size="53" baseType="lpstr">
      <vt:lpstr>Gungsuh</vt:lpstr>
      <vt:lpstr>KaiTi</vt:lpstr>
      <vt:lpstr>Arial</vt:lpstr>
      <vt:lpstr>Bradley Hand ITC</vt:lpstr>
      <vt:lpstr>Calibri</vt:lpstr>
      <vt:lpstr>Comic Sans MS</vt:lpstr>
      <vt:lpstr>Courier New</vt:lpstr>
      <vt:lpstr>Gill Sans Std</vt:lpstr>
      <vt:lpstr>Gill Sans Std ExtraBold</vt:lpstr>
      <vt:lpstr>Gill Sans Std Light</vt:lpstr>
      <vt:lpstr>Lucida Console</vt:lpstr>
      <vt:lpstr>Segoe UI</vt:lpstr>
      <vt:lpstr>Wingdings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Natura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BR92457</dc:creator>
  <cp:lastModifiedBy>Adolpho Chacon</cp:lastModifiedBy>
  <cp:revision>764</cp:revision>
  <dcterms:created xsi:type="dcterms:W3CDTF">2014-10-02T13:42:42Z</dcterms:created>
  <dcterms:modified xsi:type="dcterms:W3CDTF">2015-08-14T17:34:22Z</dcterms:modified>
</cp:coreProperties>
</file>