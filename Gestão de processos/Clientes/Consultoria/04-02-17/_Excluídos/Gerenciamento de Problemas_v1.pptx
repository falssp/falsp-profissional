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1" r:id="rId5"/>
  </p:sldMasterIdLst>
  <p:sldIdLst>
    <p:sldId id="270" r:id="rId6"/>
    <p:sldId id="288" r:id="rId7"/>
    <p:sldId id="289" r:id="rId8"/>
    <p:sldId id="28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11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45B"/>
    <a:srgbClr val="1934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09" autoAdjust="0"/>
    <p:restoredTop sz="99854" autoAdjust="0"/>
  </p:normalViewPr>
  <p:slideViewPr>
    <p:cSldViewPr snapToGrid="0" snapToObjects="1">
      <p:cViewPr varScale="1">
        <p:scale>
          <a:sx n="80" d="100"/>
          <a:sy n="80" d="100"/>
        </p:scale>
        <p:origin x="540" y="78"/>
      </p:cViewPr>
      <p:guideLst>
        <p:guide orient="horz"/>
        <p:guide pos="11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0C7E4D-A4E8-BF44-B1B2-500D2A97A33A}" type="datetimeFigureOut">
              <a:rPr lang="en-US" smtClean="0"/>
              <a:t>9/22/2015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73305AD-EBDD-564C-9E4A-0F61261509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4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08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350" y="4259569"/>
            <a:ext cx="2476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77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06-02.jp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6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4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21333" y="384983"/>
            <a:ext cx="1603348" cy="388071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7" y="5840350"/>
            <a:ext cx="955343" cy="101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1"/>
            <a:ext cx="789296" cy="103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 txBox="1">
            <a:spLocks/>
          </p:cNvSpPr>
          <p:nvPr/>
        </p:nvSpPr>
        <p:spPr>
          <a:xfrm>
            <a:off x="814789" y="2672962"/>
            <a:ext cx="4406916" cy="1196726"/>
          </a:xfrm>
          <a:prstGeom prst="rect">
            <a:avLst/>
          </a:prstGeom>
        </p:spPr>
        <p:txBody>
          <a:bodyPr vert="horz"/>
          <a:lstStyle>
            <a:lvl1pPr marL="342900" indent="-342900" algn="r" defTabSz="457200" rtl="0" eaLnBrk="1" latinLnBrk="0" hangingPunct="1">
              <a:spcBef>
                <a:spcPct val="20000"/>
              </a:spcBef>
              <a:buFont typeface="Arial"/>
              <a:buNone/>
              <a:defRPr sz="22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200" b="1" dirty="0" smtClean="0">
                <a:solidFill>
                  <a:schemeClr val="bg1"/>
                </a:solidFill>
              </a:rPr>
              <a:t>Gerenciamento de Problemas</a:t>
            </a:r>
            <a:endParaRPr lang="pt-BR" sz="3200" b="1" dirty="0" smtClean="0">
              <a:solidFill>
                <a:schemeClr val="bg1"/>
              </a:solidFill>
            </a:endParaRPr>
          </a:p>
          <a:p>
            <a:pPr algn="l"/>
            <a:r>
              <a:rPr lang="pt-BR" b="1" i="0" dirty="0" smtClean="0">
                <a:solidFill>
                  <a:schemeClr val="bg1"/>
                </a:solidFill>
              </a:rPr>
              <a:t>22/Set/2015</a:t>
            </a:r>
            <a:endParaRPr lang="x-none" i="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184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61381" y="124592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  <a:endParaRPr lang="en-US" sz="30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grpSp>
        <p:nvGrpSpPr>
          <p:cNvPr id="10" name="Grupo 9"/>
          <p:cNvGrpSpPr/>
          <p:nvPr/>
        </p:nvGrpSpPr>
        <p:grpSpPr>
          <a:xfrm>
            <a:off x="937495" y="1413268"/>
            <a:ext cx="2214984" cy="1587589"/>
            <a:chOff x="408488" y="1450276"/>
            <a:chExt cx="2214984" cy="1587589"/>
          </a:xfrm>
        </p:grpSpPr>
        <p:grpSp>
          <p:nvGrpSpPr>
            <p:cNvPr id="8" name="Grupo 7"/>
            <p:cNvGrpSpPr/>
            <p:nvPr/>
          </p:nvGrpSpPr>
          <p:grpSpPr>
            <a:xfrm>
              <a:off x="408488" y="1547813"/>
              <a:ext cx="1107492" cy="1490052"/>
              <a:chOff x="408487" y="1547813"/>
              <a:chExt cx="1540753" cy="2228842"/>
            </a:xfrm>
          </p:grpSpPr>
          <p:pic>
            <p:nvPicPr>
              <p:cNvPr id="1026" name="Picture 2" descr="http://icon-icons.com/icons2/35/PNG/512/admin_person_user_man_2839.pn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8740" y="1547813"/>
                <a:ext cx="1300246" cy="13002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CaixaDeTexto 6"/>
              <p:cNvSpPr txBox="1"/>
              <p:nvPr/>
            </p:nvSpPr>
            <p:spPr>
              <a:xfrm>
                <a:off x="408487" y="2878921"/>
                <a:ext cx="1540753" cy="897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b="1" dirty="0" smtClean="0"/>
                  <a:t>Gestor do Processo de Incidentes</a:t>
                </a:r>
                <a:endParaRPr lang="pt-BR" sz="1100" b="1" dirty="0"/>
              </a:p>
            </p:txBody>
          </p:sp>
        </p:grpSp>
        <p:grpSp>
          <p:nvGrpSpPr>
            <p:cNvPr id="9" name="Grupo 8"/>
            <p:cNvGrpSpPr/>
            <p:nvPr/>
          </p:nvGrpSpPr>
          <p:grpSpPr>
            <a:xfrm>
              <a:off x="1515980" y="1450276"/>
              <a:ext cx="1107492" cy="1587588"/>
              <a:chOff x="1515980" y="1450276"/>
              <a:chExt cx="1107492" cy="1587588"/>
            </a:xfrm>
          </p:grpSpPr>
          <p:pic>
            <p:nvPicPr>
              <p:cNvPr id="1028" name="Picture 4" descr="http://images.all-free-download.com/images/graphiclarge/veston_user_554.jp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76014" y="1450276"/>
                <a:ext cx="987425" cy="9874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CaixaDeTexto 11"/>
              <p:cNvSpPr txBox="1"/>
              <p:nvPr/>
            </p:nvSpPr>
            <p:spPr>
              <a:xfrm>
                <a:off x="1515980" y="2437700"/>
                <a:ext cx="1107492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b="1" dirty="0" smtClean="0"/>
                  <a:t>Gestor do Processo de  Problemas</a:t>
                </a:r>
                <a:endParaRPr lang="pt-BR" sz="1100" b="1" dirty="0"/>
              </a:p>
            </p:txBody>
          </p:sp>
        </p:grpSp>
      </p:grpSp>
      <p:sp>
        <p:nvSpPr>
          <p:cNvPr id="13" name="CaixaDeTexto 12"/>
          <p:cNvSpPr txBox="1"/>
          <p:nvPr/>
        </p:nvSpPr>
        <p:spPr>
          <a:xfrm>
            <a:off x="1276826" y="1043936"/>
            <a:ext cx="158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Reunião Diária</a:t>
            </a:r>
            <a:endParaRPr lang="pt-BR" b="1" dirty="0"/>
          </a:p>
        </p:txBody>
      </p:sp>
      <p:grpSp>
        <p:nvGrpSpPr>
          <p:cNvPr id="14" name="Grupo 13"/>
          <p:cNvGrpSpPr/>
          <p:nvPr/>
        </p:nvGrpSpPr>
        <p:grpSpPr>
          <a:xfrm>
            <a:off x="2200828" y="4390473"/>
            <a:ext cx="1107492" cy="1587588"/>
            <a:chOff x="815281" y="3618900"/>
            <a:chExt cx="1107492" cy="1587588"/>
          </a:xfrm>
        </p:grpSpPr>
        <p:pic>
          <p:nvPicPr>
            <p:cNvPr id="16" name="Picture 4" descr="http://images.all-free-download.com/images/graphiclarge/veston_user_554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5315" y="3618900"/>
              <a:ext cx="987425" cy="987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CaixaDeTexto 16"/>
            <p:cNvSpPr txBox="1"/>
            <p:nvPr/>
          </p:nvSpPr>
          <p:spPr>
            <a:xfrm>
              <a:off x="815281" y="4606324"/>
              <a:ext cx="110749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smtClean="0"/>
                <a:t>Gestor do Processo de  Problemas</a:t>
              </a:r>
              <a:endParaRPr lang="pt-BR" sz="1100" b="1" dirty="0"/>
            </a:p>
          </p:txBody>
        </p:sp>
      </p:grpSp>
      <p:sp>
        <p:nvSpPr>
          <p:cNvPr id="19" name="CaixaDeTexto 18"/>
          <p:cNvSpPr txBox="1"/>
          <p:nvPr/>
        </p:nvSpPr>
        <p:spPr>
          <a:xfrm>
            <a:off x="694532" y="3021214"/>
            <a:ext cx="29960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000" dirty="0" smtClean="0"/>
              <a:t>Identificar incidente </a:t>
            </a:r>
            <a:r>
              <a:rPr lang="pt-BR" sz="1000" dirty="0"/>
              <a:t>Crítico ou Recorrência de </a:t>
            </a:r>
            <a:r>
              <a:rPr lang="pt-BR" sz="1000" dirty="0" smtClean="0"/>
              <a:t>Incidentes.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000" dirty="0" smtClean="0"/>
              <a:t>Associar incidentes a problemas abertos.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000" dirty="0" smtClean="0"/>
              <a:t>Elevar a prioridade </a:t>
            </a:r>
            <a:r>
              <a:rPr lang="pt-BR" sz="1000" dirty="0"/>
              <a:t>de </a:t>
            </a:r>
            <a:r>
              <a:rPr lang="pt-BR" sz="1000" i="1" dirty="0"/>
              <a:t>tickets</a:t>
            </a:r>
            <a:r>
              <a:rPr lang="pt-BR" sz="1000" dirty="0"/>
              <a:t> de </a:t>
            </a:r>
            <a:r>
              <a:rPr lang="pt-BR" sz="1000" dirty="0" smtClean="0"/>
              <a:t>Problemas, </a:t>
            </a:r>
            <a:r>
              <a:rPr lang="pt-BR" sz="1000" dirty="0"/>
              <a:t>sempre que houver o aumento significativo de recorrências ou de impactos sobre Incidentes já associados a tickets de Problemas em </a:t>
            </a:r>
            <a:r>
              <a:rPr lang="pt-BR" sz="1000" dirty="0" smtClean="0"/>
              <a:t>aberto.</a:t>
            </a:r>
            <a:endParaRPr lang="pt-BR" dirty="0"/>
          </a:p>
        </p:txBody>
      </p:sp>
      <p:sp>
        <p:nvSpPr>
          <p:cNvPr id="21" name="CaixaDeTexto 20"/>
          <p:cNvSpPr txBox="1"/>
          <p:nvPr/>
        </p:nvSpPr>
        <p:spPr>
          <a:xfrm>
            <a:off x="658863" y="6061153"/>
            <a:ext cx="2922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000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Planejamento </a:t>
            </a:r>
            <a:r>
              <a:rPr lang="pt-BR" sz="10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de Capacidade, Gerência de Disponibilidade, assim como pelos próprios pontos focais de Problemas de cada equipe de </a:t>
            </a:r>
            <a:r>
              <a:rPr lang="pt-BR" sz="1000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TI. (Gerência e Diretoria).</a:t>
            </a:r>
            <a:endParaRPr lang="pt-BR" sz="1000" dirty="0">
              <a:latin typeface="+mj-lt"/>
            </a:endParaRPr>
          </a:p>
        </p:txBody>
      </p:sp>
      <p:grpSp>
        <p:nvGrpSpPr>
          <p:cNvPr id="26" name="Grupo 25"/>
          <p:cNvGrpSpPr/>
          <p:nvPr/>
        </p:nvGrpSpPr>
        <p:grpSpPr>
          <a:xfrm>
            <a:off x="5816087" y="1213904"/>
            <a:ext cx="1107492" cy="1587588"/>
            <a:chOff x="815281" y="3618900"/>
            <a:chExt cx="1107492" cy="1587588"/>
          </a:xfrm>
        </p:grpSpPr>
        <p:pic>
          <p:nvPicPr>
            <p:cNvPr id="27" name="Picture 4" descr="http://images.all-free-download.com/images/graphiclarge/veston_user_554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5315" y="3618900"/>
              <a:ext cx="987425" cy="987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CaixaDeTexto 27"/>
            <p:cNvSpPr txBox="1"/>
            <p:nvPr/>
          </p:nvSpPr>
          <p:spPr>
            <a:xfrm>
              <a:off x="815281" y="4606324"/>
              <a:ext cx="110749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smtClean="0"/>
                <a:t>Gestor do Processo de  Problemas</a:t>
              </a:r>
              <a:endParaRPr lang="pt-BR" sz="1100" b="1" dirty="0"/>
            </a:p>
          </p:txBody>
        </p:sp>
      </p:grpSp>
      <p:sp>
        <p:nvSpPr>
          <p:cNvPr id="30" name="CaixaDeTexto 29"/>
          <p:cNvSpPr txBox="1"/>
          <p:nvPr/>
        </p:nvSpPr>
        <p:spPr>
          <a:xfrm>
            <a:off x="4541166" y="3823967"/>
            <a:ext cx="11074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 smtClean="0"/>
              <a:t>Dono do Problema</a:t>
            </a:r>
            <a:endParaRPr lang="pt-BR" sz="1100" b="1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4337239" y="4181091"/>
            <a:ext cx="154422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G</a:t>
            </a:r>
            <a:r>
              <a:rPr lang="pt-BR" sz="1100" dirty="0" smtClean="0"/>
              <a:t>estor </a:t>
            </a:r>
            <a:r>
              <a:rPr lang="pt-BR" sz="1100" dirty="0"/>
              <a:t>responsável pelos ICs </a:t>
            </a:r>
            <a:r>
              <a:rPr lang="pt-BR" sz="1100" dirty="0" smtClean="0"/>
              <a:t>que </a:t>
            </a:r>
            <a:r>
              <a:rPr lang="pt-BR" sz="1100" dirty="0"/>
              <a:t>causaram os Incidentes</a:t>
            </a:r>
            <a:endParaRPr lang="pt-BR" sz="1100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1250725" y="4205807"/>
            <a:ext cx="158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/>
              <a:t>Pontual </a:t>
            </a:r>
            <a:endParaRPr lang="pt-BR" b="1" dirty="0"/>
          </a:p>
        </p:txBody>
      </p:sp>
      <p:pic>
        <p:nvPicPr>
          <p:cNvPr id="1032" name="Picture 8" descr="http://www.ujaen.es/sci/sau/graficos/user-group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644" y="4558691"/>
            <a:ext cx="1251151" cy="125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aixaDeTexto 33"/>
          <p:cNvSpPr txBox="1"/>
          <p:nvPr/>
        </p:nvSpPr>
        <p:spPr>
          <a:xfrm>
            <a:off x="1509331" y="5459319"/>
            <a:ext cx="7376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 smtClean="0"/>
              <a:t>Pontos Focais</a:t>
            </a:r>
            <a:endParaRPr lang="pt-BR" sz="1100" b="1" dirty="0"/>
          </a:p>
        </p:txBody>
      </p:sp>
      <p:pic>
        <p:nvPicPr>
          <p:cNvPr id="1034" name="Picture 10" descr="http://www.mod.gov.eg/mod/images/Doctor0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468" y="2782069"/>
            <a:ext cx="782888" cy="106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://icons.iconseeker.com/png/128/sleek-xp-software/notepad-7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797" y="1750019"/>
            <a:ext cx="846834" cy="846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Conector angulado 37"/>
          <p:cNvCxnSpPr>
            <a:stCxn id="27" idx="1"/>
            <a:endCxn id="1034" idx="0"/>
          </p:cNvCxnSpPr>
          <p:nvPr/>
        </p:nvCxnSpPr>
        <p:spPr>
          <a:xfrm rot="10800000" flipV="1">
            <a:off x="5094913" y="1707617"/>
            <a:ext cx="781209" cy="10744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8" name="Picture 14" descr="http://www.erasoft.com.br/img/cortes/usuarios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579" y="4346653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2" name="Conector angulado 41"/>
          <p:cNvCxnSpPr>
            <a:stCxn id="1034" idx="3"/>
            <a:endCxn id="1038" idx="0"/>
          </p:cNvCxnSpPr>
          <p:nvPr/>
        </p:nvCxnSpPr>
        <p:spPr>
          <a:xfrm>
            <a:off x="5486356" y="3315179"/>
            <a:ext cx="2294473" cy="10314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/>
          <p:cNvSpPr txBox="1"/>
          <p:nvPr/>
        </p:nvSpPr>
        <p:spPr>
          <a:xfrm>
            <a:off x="6467468" y="4246126"/>
            <a:ext cx="1140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/>
              <a:t>Áreas solucionadoras </a:t>
            </a:r>
            <a:endParaRPr lang="pt-BR" sz="1200" dirty="0"/>
          </a:p>
        </p:txBody>
      </p:sp>
      <p:pic>
        <p:nvPicPr>
          <p:cNvPr id="54" name="Picture 12" descr="http://icons.iconseeker.com/png/128/sleek-xp-software/notepad-7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658" y="4679456"/>
            <a:ext cx="846834" cy="846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CaixaDeTexto 46"/>
          <p:cNvSpPr txBox="1"/>
          <p:nvPr/>
        </p:nvSpPr>
        <p:spPr>
          <a:xfrm>
            <a:off x="4703468" y="5789373"/>
            <a:ext cx="2754048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050" dirty="0" smtClean="0"/>
              <a:t>Registrar todas </a:t>
            </a:r>
            <a:r>
              <a:rPr lang="pt-BR" sz="1050" dirty="0"/>
              <a:t>as atividades necessárias para o tratamento das causas-raízes identificadas no Problema (para aprovação do Gestor de Problemas</a:t>
            </a:r>
            <a:r>
              <a:rPr lang="pt-BR" sz="1050" dirty="0" smtClean="0"/>
              <a:t>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050" dirty="0" smtClean="0"/>
              <a:t>Planejar e implementar a solução definitiva.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2451856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61381" y="124592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  <a:endParaRPr lang="en-US" sz="30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grpSp>
        <p:nvGrpSpPr>
          <p:cNvPr id="26" name="Grupo 25"/>
          <p:cNvGrpSpPr/>
          <p:nvPr/>
        </p:nvGrpSpPr>
        <p:grpSpPr>
          <a:xfrm>
            <a:off x="2523474" y="2573849"/>
            <a:ext cx="1350694" cy="1897167"/>
            <a:chOff x="815281" y="3618900"/>
            <a:chExt cx="1107492" cy="1580913"/>
          </a:xfrm>
        </p:grpSpPr>
        <p:pic>
          <p:nvPicPr>
            <p:cNvPr id="27" name="Picture 4" descr="http://images.all-free-download.com/images/graphiclarge/veston_user_554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5315" y="3618900"/>
              <a:ext cx="987425" cy="987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CaixaDeTexto 27"/>
            <p:cNvSpPr txBox="1"/>
            <p:nvPr/>
          </p:nvSpPr>
          <p:spPr>
            <a:xfrm>
              <a:off x="815281" y="4599649"/>
              <a:ext cx="110749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smtClean="0"/>
                <a:t>Gestor do Processo de  Problemas</a:t>
              </a:r>
              <a:endParaRPr lang="pt-BR" sz="1100" b="1" dirty="0"/>
            </a:p>
          </p:txBody>
        </p:sp>
      </p:grpSp>
      <p:sp>
        <p:nvSpPr>
          <p:cNvPr id="32" name="CaixaDeTexto 31"/>
          <p:cNvSpPr txBox="1"/>
          <p:nvPr/>
        </p:nvSpPr>
        <p:spPr>
          <a:xfrm>
            <a:off x="2346156" y="1219929"/>
            <a:ext cx="395839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 smtClean="0"/>
              <a:t>Reunião Semanal</a:t>
            </a:r>
          </a:p>
          <a:p>
            <a:pPr marL="0" lvl="1" algn="ctr"/>
            <a:r>
              <a:rPr lang="pt-BR" sz="2000" b="1" dirty="0">
                <a:solidFill>
                  <a:srgbClr val="C00000"/>
                </a:solidFill>
              </a:rPr>
              <a:t>Comitê Operacional de Problemas de TI</a:t>
            </a:r>
            <a:endParaRPr lang="pt-BR" dirty="0">
              <a:solidFill>
                <a:srgbClr val="C00000"/>
              </a:solidFill>
            </a:endParaRPr>
          </a:p>
          <a:p>
            <a:pPr algn="ctr"/>
            <a:endParaRPr lang="pt-BR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902777" y="4913455"/>
            <a:ext cx="77840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 smtClean="0"/>
              <a:t>Deliberação </a:t>
            </a:r>
            <a:r>
              <a:rPr lang="pt-BR" sz="1600" dirty="0"/>
              <a:t>sobre entraves diretamente relacionados à investigação e/ou tratamento das causas-raízes dos Problemas </a:t>
            </a:r>
            <a:r>
              <a:rPr lang="pt-BR" sz="1600" dirty="0" smtClean="0"/>
              <a:t>abertos.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 smtClean="0"/>
              <a:t>Apresentação </a:t>
            </a:r>
            <a:r>
              <a:rPr lang="pt-BR" sz="1600" dirty="0"/>
              <a:t>de novos </a:t>
            </a:r>
            <a:r>
              <a:rPr lang="pt-BR" sz="1600" dirty="0" smtClean="0"/>
              <a:t>Problemas.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A</a:t>
            </a:r>
            <a:r>
              <a:rPr lang="pt-BR" sz="1600" dirty="0" smtClean="0"/>
              <a:t>companhamento </a:t>
            </a:r>
            <a:r>
              <a:rPr lang="pt-BR" sz="1600" dirty="0"/>
              <a:t>de Problemas Críticos que estão em </a:t>
            </a:r>
            <a:r>
              <a:rPr lang="pt-BR" sz="1600" dirty="0" smtClean="0"/>
              <a:t>foco.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 err="1" smtClean="0"/>
              <a:t>KPIs</a:t>
            </a:r>
            <a:r>
              <a:rPr lang="pt-BR" sz="1600" dirty="0" smtClean="0"/>
              <a:t>.</a:t>
            </a:r>
          </a:p>
        </p:txBody>
      </p:sp>
      <p:pic>
        <p:nvPicPr>
          <p:cNvPr id="35" name="Picture 14" descr="http://www.erasoft.com.br/img/cortes/usuario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1562" y="2337478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CaixaDeTexto 35"/>
          <p:cNvSpPr txBox="1"/>
          <p:nvPr/>
        </p:nvSpPr>
        <p:spPr>
          <a:xfrm>
            <a:off x="4481320" y="3836534"/>
            <a:ext cx="11074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 smtClean="0"/>
              <a:t>Donos de Problemas</a:t>
            </a:r>
            <a:endParaRPr lang="pt-BR" sz="1100" b="1" dirty="0"/>
          </a:p>
        </p:txBody>
      </p:sp>
    </p:spTree>
    <p:extLst>
      <p:ext uri="{BB962C8B-B14F-4D97-AF65-F5344CB8AC3E}">
        <p14:creationId xmlns:p14="http://schemas.microsoft.com/office/powerpoint/2010/main" val="3599273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561294" y="2983269"/>
            <a:ext cx="1901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i="1" dirty="0">
                <a:solidFill>
                  <a:schemeClr val="tx2">
                    <a:lumMod val="75000"/>
                  </a:schemeClr>
                </a:solidFill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143719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3B5D3D784E3BA449570ADAAF37FA8B2" ma:contentTypeVersion="0" ma:contentTypeDescription="Crie um novo documento." ma:contentTypeScope="" ma:versionID="704348065d9a17421fec285126e8bba4">
  <xsd:schema xmlns:xsd="http://www.w3.org/2001/XMLSchema" xmlns:p="http://schemas.microsoft.com/office/2006/metadata/properties" targetNamespace="http://schemas.microsoft.com/office/2006/metadata/properties" ma:root="true" ma:fieldsID="834597303d62dd03ddcd59f56325a2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9C7E2F5D-080C-444C-BD34-4F68389326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C01CA5-A8B7-4410-91AF-052B76957A67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CBB0CFE-F86C-44BA-96EA-0C3DC43577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196</Words>
  <Application>Microsoft Office PowerPoint</Application>
  <PresentationFormat>Apresentação na tela (4:3)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Tahoma</vt:lpstr>
      <vt:lpstr>Times New Roman</vt:lpstr>
      <vt:lpstr>Office Theme</vt:lpstr>
      <vt:lpstr>Custom Design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iMac de Plinio</dc:creator>
  <cp:lastModifiedBy>Wagner Fumagalli</cp:lastModifiedBy>
  <cp:revision>157</cp:revision>
  <dcterms:created xsi:type="dcterms:W3CDTF">2015-08-23T23:08:42Z</dcterms:created>
  <dcterms:modified xsi:type="dcterms:W3CDTF">2015-09-22T20:11:55Z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0x01010043B5D3D784E3BA449570ADAAF37FA8B2</vt:lpwstr>
  </property>
</Properties>
</file>