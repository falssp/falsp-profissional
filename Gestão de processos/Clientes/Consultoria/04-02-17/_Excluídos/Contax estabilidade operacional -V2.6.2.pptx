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5"/>
  </p:notesMasterIdLst>
  <p:sldIdLst>
    <p:sldId id="262" r:id="rId5"/>
    <p:sldId id="265" r:id="rId6"/>
    <p:sldId id="355" r:id="rId7"/>
    <p:sldId id="356" r:id="rId8"/>
    <p:sldId id="357" r:id="rId9"/>
    <p:sldId id="353" r:id="rId10"/>
    <p:sldId id="354" r:id="rId11"/>
    <p:sldId id="345" r:id="rId12"/>
    <p:sldId id="318" r:id="rId13"/>
    <p:sldId id="308" r:id="rId14"/>
    <p:sldId id="349" r:id="rId15"/>
    <p:sldId id="352" r:id="rId16"/>
    <p:sldId id="279" r:id="rId17"/>
    <p:sldId id="358" r:id="rId18"/>
    <p:sldId id="317" r:id="rId19"/>
    <p:sldId id="351" r:id="rId20"/>
    <p:sldId id="309" r:id="rId21"/>
    <p:sldId id="310" r:id="rId22"/>
    <p:sldId id="311" r:id="rId23"/>
    <p:sldId id="291" r:id="rId24"/>
    <p:sldId id="284" r:id="rId25"/>
    <p:sldId id="288" r:id="rId26"/>
    <p:sldId id="276" r:id="rId27"/>
    <p:sldId id="277" r:id="rId28"/>
    <p:sldId id="294" r:id="rId29"/>
    <p:sldId id="280" r:id="rId30"/>
    <p:sldId id="289" r:id="rId31"/>
    <p:sldId id="295" r:id="rId32"/>
    <p:sldId id="315" r:id="rId33"/>
    <p:sldId id="314" r:id="rId3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1785" autoAdjust="0"/>
  </p:normalViewPr>
  <p:slideViewPr>
    <p:cSldViewPr snapToGrid="0" snapToObjects="1">
      <p:cViewPr varScale="1">
        <p:scale>
          <a:sx n="88" d="100"/>
          <a:sy n="88" d="100"/>
        </p:scale>
        <p:origin x="96" y="432"/>
      </p:cViewPr>
      <p:guideLst>
        <p:guide orient="horz" pos="2347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CEX_Producao%20NGR%20SP\1.%20CONTROL%20-%20NGR\1.%20PRODU&#199;&#195;O\1.%20Infraestrutura\ArcServe\INVENT&#193;RIOS%20SITES\Status_BKP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1"/>
          <c:order val="0"/>
          <c:tx>
            <c:strRef>
              <c:f>Pendências!$D$3</c:f>
              <c:strCache>
                <c:ptCount val="1"/>
                <c:pt idx="0">
                  <c:v>Backupeados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Pendências!$C$4:$C$18</c:f>
              <c:strCache>
                <c:ptCount val="15"/>
                <c:pt idx="0">
                  <c:v>Navegantes</c:v>
                </c:pt>
                <c:pt idx="1">
                  <c:v>Fonte Nova</c:v>
                </c:pt>
                <c:pt idx="2">
                  <c:v>Niterói</c:v>
                </c:pt>
                <c:pt idx="3">
                  <c:v>Comercio</c:v>
                </c:pt>
                <c:pt idx="4">
                  <c:v>Lapa</c:v>
                </c:pt>
                <c:pt idx="5">
                  <c:v>Maua</c:v>
                </c:pt>
                <c:pt idx="6">
                  <c:v>Engenho de Dentro</c:v>
                </c:pt>
                <c:pt idx="7">
                  <c:v>Campinas</c:v>
                </c:pt>
                <c:pt idx="8">
                  <c:v>Antartica</c:v>
                </c:pt>
                <c:pt idx="9">
                  <c:v>Mackenzie</c:v>
                </c:pt>
                <c:pt idx="10">
                  <c:v>Rio Comprido</c:v>
                </c:pt>
                <c:pt idx="11">
                  <c:v>Alegria</c:v>
                </c:pt>
                <c:pt idx="12">
                  <c:v>São Cristóvão</c:v>
                </c:pt>
                <c:pt idx="13">
                  <c:v>Luigi Amorese</c:v>
                </c:pt>
                <c:pt idx="14">
                  <c:v>Paulista 07</c:v>
                </c:pt>
              </c:strCache>
            </c:strRef>
          </c:cat>
          <c:val>
            <c:numRef>
              <c:f>Pendências!$D$4:$D$18</c:f>
              <c:numCache>
                <c:formatCode>General</c:formatCode>
                <c:ptCount val="15"/>
                <c:pt idx="0">
                  <c:v>0</c:v>
                </c:pt>
                <c:pt idx="1">
                  <c:v>7</c:v>
                </c:pt>
                <c:pt idx="2">
                  <c:v>20</c:v>
                </c:pt>
                <c:pt idx="3">
                  <c:v>12</c:v>
                </c:pt>
                <c:pt idx="4">
                  <c:v>33</c:v>
                </c:pt>
                <c:pt idx="5">
                  <c:v>14</c:v>
                </c:pt>
                <c:pt idx="6">
                  <c:v>17</c:v>
                </c:pt>
                <c:pt idx="7">
                  <c:v>15</c:v>
                </c:pt>
                <c:pt idx="8">
                  <c:v>42</c:v>
                </c:pt>
                <c:pt idx="9">
                  <c:v>40</c:v>
                </c:pt>
                <c:pt idx="10">
                  <c:v>24</c:v>
                </c:pt>
                <c:pt idx="11">
                  <c:v>93</c:v>
                </c:pt>
                <c:pt idx="12">
                  <c:v>27</c:v>
                </c:pt>
                <c:pt idx="13">
                  <c:v>26</c:v>
                </c:pt>
                <c:pt idx="14">
                  <c:v>19</c:v>
                </c:pt>
              </c:numCache>
            </c:numRef>
          </c:val>
        </c:ser>
        <c:ser>
          <c:idx val="2"/>
          <c:order val="1"/>
          <c:tx>
            <c:strRef>
              <c:f>Pendências!$E$3</c:f>
              <c:strCache>
                <c:ptCount val="1"/>
                <c:pt idx="0">
                  <c:v>Sem backup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Pendências!$C$4:$C$18</c:f>
              <c:strCache>
                <c:ptCount val="15"/>
                <c:pt idx="0">
                  <c:v>Navegantes</c:v>
                </c:pt>
                <c:pt idx="1">
                  <c:v>Fonte Nova</c:v>
                </c:pt>
                <c:pt idx="2">
                  <c:v>Niterói</c:v>
                </c:pt>
                <c:pt idx="3">
                  <c:v>Comercio</c:v>
                </c:pt>
                <c:pt idx="4">
                  <c:v>Lapa</c:v>
                </c:pt>
                <c:pt idx="5">
                  <c:v>Maua</c:v>
                </c:pt>
                <c:pt idx="6">
                  <c:v>Engenho de Dentro</c:v>
                </c:pt>
                <c:pt idx="7">
                  <c:v>Campinas</c:v>
                </c:pt>
                <c:pt idx="8">
                  <c:v>Antartica</c:v>
                </c:pt>
                <c:pt idx="9">
                  <c:v>Mackenzie</c:v>
                </c:pt>
                <c:pt idx="10">
                  <c:v>Rio Comprido</c:v>
                </c:pt>
                <c:pt idx="11">
                  <c:v>Alegria</c:v>
                </c:pt>
                <c:pt idx="12">
                  <c:v>São Cristóvão</c:v>
                </c:pt>
                <c:pt idx="13">
                  <c:v>Luigi Amorese</c:v>
                </c:pt>
                <c:pt idx="14">
                  <c:v>Paulista 07</c:v>
                </c:pt>
              </c:strCache>
            </c:strRef>
          </c:cat>
          <c:val>
            <c:numRef>
              <c:f>Pendências!$E$4:$E$18</c:f>
              <c:numCache>
                <c:formatCode>General</c:formatCode>
                <c:ptCount val="15"/>
                <c:pt idx="0">
                  <c:v>43</c:v>
                </c:pt>
                <c:pt idx="1">
                  <c:v>17</c:v>
                </c:pt>
                <c:pt idx="2">
                  <c:v>26</c:v>
                </c:pt>
                <c:pt idx="3">
                  <c:v>10</c:v>
                </c:pt>
                <c:pt idx="4">
                  <c:v>190</c:v>
                </c:pt>
                <c:pt idx="5">
                  <c:v>9</c:v>
                </c:pt>
                <c:pt idx="6">
                  <c:v>11</c:v>
                </c:pt>
                <c:pt idx="7">
                  <c:v>45</c:v>
                </c:pt>
                <c:pt idx="8">
                  <c:v>77</c:v>
                </c:pt>
                <c:pt idx="9">
                  <c:v>81</c:v>
                </c:pt>
                <c:pt idx="10">
                  <c:v>25</c:v>
                </c:pt>
                <c:pt idx="11">
                  <c:v>125</c:v>
                </c:pt>
                <c:pt idx="12">
                  <c:v>3</c:v>
                </c:pt>
                <c:pt idx="13">
                  <c:v>14</c:v>
                </c:pt>
                <c:pt idx="14">
                  <c:v>4</c:v>
                </c:pt>
              </c:numCache>
            </c:numRef>
          </c:val>
        </c:ser>
        <c:ser>
          <c:idx val="0"/>
          <c:order val="2"/>
          <c:tx>
            <c:strRef>
              <c:f>Pendências!$F$3</c:f>
              <c:strCache>
                <c:ptCount val="1"/>
                <c:pt idx="0">
                  <c:v>Mapeados</c:v>
                </c:pt>
              </c:strCache>
            </c:strRef>
          </c:tx>
          <c:invertIfNegative val="0"/>
          <c:cat>
            <c:strRef>
              <c:f>Pendências!$C$4:$C$18</c:f>
              <c:strCache>
                <c:ptCount val="15"/>
                <c:pt idx="0">
                  <c:v>Navegantes</c:v>
                </c:pt>
                <c:pt idx="1">
                  <c:v>Fonte Nova</c:v>
                </c:pt>
                <c:pt idx="2">
                  <c:v>Niterói</c:v>
                </c:pt>
                <c:pt idx="3">
                  <c:v>Comercio</c:v>
                </c:pt>
                <c:pt idx="4">
                  <c:v>Lapa</c:v>
                </c:pt>
                <c:pt idx="5">
                  <c:v>Maua</c:v>
                </c:pt>
                <c:pt idx="6">
                  <c:v>Engenho de Dentro</c:v>
                </c:pt>
                <c:pt idx="7">
                  <c:v>Campinas</c:v>
                </c:pt>
                <c:pt idx="8">
                  <c:v>Antartica</c:v>
                </c:pt>
                <c:pt idx="9">
                  <c:v>Mackenzie</c:v>
                </c:pt>
                <c:pt idx="10">
                  <c:v>Rio Comprido</c:v>
                </c:pt>
                <c:pt idx="11">
                  <c:v>Alegria</c:v>
                </c:pt>
                <c:pt idx="12">
                  <c:v>São Cristóvão</c:v>
                </c:pt>
                <c:pt idx="13">
                  <c:v>Luigi Amorese</c:v>
                </c:pt>
                <c:pt idx="14">
                  <c:v>Paulista 07</c:v>
                </c:pt>
              </c:strCache>
            </c:strRef>
          </c:cat>
          <c:val>
            <c:numRef>
              <c:f>Pendências!$F$4:$F$18</c:f>
            </c:numRef>
          </c:val>
        </c:ser>
        <c:ser>
          <c:idx val="3"/>
          <c:order val="3"/>
          <c:tx>
            <c:strRef>
              <c:f>Pendências!$G$3</c:f>
              <c:strCache>
                <c:ptCount val="1"/>
                <c:pt idx="0">
                  <c:v>Percentual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74443515222212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1.62820126907193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7695472620296818E-3"/>
                  <c:y val="-1.12695423429886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"/>
                  <c:y val="-5.88584655505340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"/>
                  <c:y val="-8.82876983258010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7.0781890481187923E-3"/>
                  <c:y val="-1.4131129709459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0"/>
                  <c:y val="-1.19281083236761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0"/>
                  <c:y val="-1.1869018131883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1.7695472620296818E-3"/>
                  <c:y val="-1.44472043039905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0"/>
                  <c:y val="-1.09173184546547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0"/>
                  <c:y val="-1.62398385146162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3"/>
              <c:layout>
                <c:manualLayout>
                  <c:x val="0"/>
                  <c:y val="-1.29020537201678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4"/>
              <c:layout>
                <c:manualLayout>
                  <c:x val="5.3086417860890456E-3"/>
                  <c:y val="-1.24022202154729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Pendências!$C$4:$C$18</c:f>
              <c:strCache>
                <c:ptCount val="15"/>
                <c:pt idx="0">
                  <c:v>Navegantes</c:v>
                </c:pt>
                <c:pt idx="1">
                  <c:v>Fonte Nova</c:v>
                </c:pt>
                <c:pt idx="2">
                  <c:v>Niterói</c:v>
                </c:pt>
                <c:pt idx="3">
                  <c:v>Comercio</c:v>
                </c:pt>
                <c:pt idx="4">
                  <c:v>Lapa</c:v>
                </c:pt>
                <c:pt idx="5">
                  <c:v>Maua</c:v>
                </c:pt>
                <c:pt idx="6">
                  <c:v>Engenho de Dentro</c:v>
                </c:pt>
                <c:pt idx="7">
                  <c:v>Campinas</c:v>
                </c:pt>
                <c:pt idx="8">
                  <c:v>Antartica</c:v>
                </c:pt>
                <c:pt idx="9">
                  <c:v>Mackenzie</c:v>
                </c:pt>
                <c:pt idx="10">
                  <c:v>Rio Comprido</c:v>
                </c:pt>
                <c:pt idx="11">
                  <c:v>Alegria</c:v>
                </c:pt>
                <c:pt idx="12">
                  <c:v>São Cristóvão</c:v>
                </c:pt>
                <c:pt idx="13">
                  <c:v>Luigi Amorese</c:v>
                </c:pt>
                <c:pt idx="14">
                  <c:v>Paulista 07</c:v>
                </c:pt>
              </c:strCache>
            </c:strRef>
          </c:cat>
          <c:val>
            <c:numRef>
              <c:f>Pendências!$G$4:$G$18</c:f>
              <c:numCache>
                <c:formatCode>0%</c:formatCode>
                <c:ptCount val="15"/>
                <c:pt idx="0">
                  <c:v>1</c:v>
                </c:pt>
                <c:pt idx="1">
                  <c:v>0.93</c:v>
                </c:pt>
                <c:pt idx="2">
                  <c:v>0.88</c:v>
                </c:pt>
                <c:pt idx="3">
                  <c:v>0.86</c:v>
                </c:pt>
                <c:pt idx="4">
                  <c:v>0.85</c:v>
                </c:pt>
                <c:pt idx="5">
                  <c:v>0.83</c:v>
                </c:pt>
                <c:pt idx="6">
                  <c:v>0.82</c:v>
                </c:pt>
                <c:pt idx="7">
                  <c:v>0.75</c:v>
                </c:pt>
                <c:pt idx="8">
                  <c:v>0.69</c:v>
                </c:pt>
                <c:pt idx="9">
                  <c:v>0.68</c:v>
                </c:pt>
                <c:pt idx="10">
                  <c:v>0.66</c:v>
                </c:pt>
                <c:pt idx="11">
                  <c:v>0.6</c:v>
                </c:pt>
                <c:pt idx="12">
                  <c:v>0.56999999999999995</c:v>
                </c:pt>
                <c:pt idx="13">
                  <c:v>0.35</c:v>
                </c:pt>
                <c:pt idx="14">
                  <c:v>0.17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317959336"/>
        <c:axId val="217501728"/>
      </c:barChart>
      <c:catAx>
        <c:axId val="317959336"/>
        <c:scaling>
          <c:orientation val="minMax"/>
        </c:scaling>
        <c:delete val="0"/>
        <c:axPos val="b"/>
        <c:numFmt formatCode="0.00%" sourceLinked="0"/>
        <c:majorTickMark val="out"/>
        <c:minorTickMark val="none"/>
        <c:tickLblPos val="nextTo"/>
        <c:crossAx val="217501728"/>
        <c:crosses val="autoZero"/>
        <c:auto val="1"/>
        <c:lblAlgn val="ctr"/>
        <c:lblOffset val="100"/>
        <c:noMultiLvlLbl val="0"/>
      </c:catAx>
      <c:valAx>
        <c:axId val="217501728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0%" sourceLinked="1"/>
        <c:majorTickMark val="none"/>
        <c:minorTickMark val="none"/>
        <c:tickLblPos val="nextTo"/>
        <c:crossAx val="317959336"/>
        <c:crosses val="autoZero"/>
        <c:crossBetween val="between"/>
      </c:valAx>
      <c:spPr>
        <a:solidFill>
          <a:sysClr val="window" lastClr="FFFFFF"/>
        </a:solidFill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36986722009663997"/>
          <c:y val="0.84807331256583507"/>
          <c:w val="0.48856642975666864"/>
          <c:h val="8.7226789773280647E-2"/>
        </c:manualLayout>
      </c:layout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/>
              <a:t>Quantidade de Incidentes </a:t>
            </a:r>
            <a:r>
              <a:rPr lang="pt-BR" sz="1400" b="1" dirty="0" smtClean="0"/>
              <a:t> </a:t>
            </a:r>
          </a:p>
          <a:p>
            <a:pPr algn="ctr">
              <a:defRPr sz="1400" b="1"/>
            </a:pPr>
            <a:r>
              <a:rPr lang="pt-BR" sz="1400" b="1" dirty="0" smtClean="0"/>
              <a:t>Alto </a:t>
            </a:r>
            <a:r>
              <a:rPr lang="pt-BR" sz="1400" b="1" dirty="0"/>
              <a:t>Impacto</a:t>
            </a:r>
          </a:p>
        </c:rich>
      </c:tx>
      <c:layout>
        <c:manualLayout>
          <c:xMode val="edge"/>
          <c:yMode val="edge"/>
          <c:x val="0.23439559165933119"/>
          <c:y val="3.9711347491488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Quantidade de Incidentes de Alto Impacto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  <c:pt idx="3">
                  <c:v>Setembro</c:v>
                </c:pt>
                <c:pt idx="4">
                  <c:v>Out 
(01 a 21)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1648</c:v>
                </c:pt>
                <c:pt idx="1">
                  <c:v>1633</c:v>
                </c:pt>
                <c:pt idx="2">
                  <c:v>1588</c:v>
                </c:pt>
                <c:pt idx="3">
                  <c:v>1443</c:v>
                </c:pt>
                <c:pt idx="4">
                  <c:v>1057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0634456"/>
        <c:axId val="320634848"/>
      </c:barChart>
      <c:catAx>
        <c:axId val="320634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0634848"/>
        <c:crosses val="autoZero"/>
        <c:auto val="1"/>
        <c:lblAlgn val="ctr"/>
        <c:lblOffset val="100"/>
        <c:noMultiLvlLbl val="0"/>
      </c:catAx>
      <c:valAx>
        <c:axId val="3206348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206344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err="1"/>
              <a:t>Problemas</a:t>
            </a:r>
            <a:r>
              <a:rPr lang="en-US" sz="1400" b="1" dirty="0"/>
              <a:t>  e </a:t>
            </a:r>
            <a:r>
              <a:rPr lang="en-US" sz="1400" b="1" dirty="0" err="1"/>
              <a:t>Incidentes</a:t>
            </a:r>
            <a:r>
              <a:rPr lang="en-US" sz="1400" b="1" dirty="0"/>
              <a:t> </a:t>
            </a:r>
            <a:r>
              <a:rPr lang="en-US" sz="1400" b="1" dirty="0" err="1"/>
              <a:t>Relacionados</a:t>
            </a:r>
            <a:endParaRPr lang="en-US" sz="1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Inc.</c:v>
                </c:pt>
                <c:pt idx="1">
                  <c:v>Probl.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113</c:v>
                </c:pt>
                <c:pt idx="1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0635240"/>
        <c:axId val="320633280"/>
      </c:barChart>
      <c:catAx>
        <c:axId val="3206352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0633280"/>
        <c:crosses val="autoZero"/>
        <c:auto val="1"/>
        <c:lblAlgn val="ctr"/>
        <c:lblOffset val="100"/>
        <c:noMultiLvlLbl val="0"/>
      </c:catAx>
      <c:valAx>
        <c:axId val="3206332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20635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Gestão de Problemas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Concluído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Em Andamento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</c:numCache>
            </c:numRef>
          </c:val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Solução 
Definitva</c:v>
                </c:pt>
                <c:pt idx="1">
                  <c:v>Solução 
Contorno</c:v>
                </c:pt>
                <c:pt idx="2">
                  <c:v>Causas mais 
prováveis</c:v>
                </c:pt>
                <c:pt idx="3">
                  <c:v>Possíveis 
Causas</c:v>
                </c:pt>
              </c:strCache>
            </c:strRef>
          </c:cat>
          <c:val>
            <c:numRef>
              <c:f>Plan1!$D$2:$D$5</c:f>
              <c:numCache>
                <c:formatCode>General</c:formatCode>
                <c:ptCount val="4"/>
                <c:pt idx="0">
                  <c:v>25</c:v>
                </c:pt>
                <c:pt idx="1">
                  <c:v>15</c:v>
                </c:pt>
                <c:pt idx="2">
                  <c:v>22</c:v>
                </c:pt>
                <c:pt idx="3">
                  <c:v>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0632496"/>
        <c:axId val="320633672"/>
      </c:barChart>
      <c:catAx>
        <c:axId val="3206324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0633672"/>
        <c:crosses val="autoZero"/>
        <c:auto val="1"/>
        <c:lblAlgn val="ctr"/>
        <c:lblOffset val="100"/>
        <c:noMultiLvlLbl val="0"/>
      </c:catAx>
      <c:valAx>
        <c:axId val="3206336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2063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3702064448360488"/>
          <c:y val="7.84990406531285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Solução Contorno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 smtClean="0"/>
              <a:t>Solução Definitiva</a:t>
            </a:r>
            <a:endParaRPr lang="pt-BR" sz="1400" b="1" dirty="0"/>
          </a:p>
        </c:rich>
      </c:tx>
      <c:layout>
        <c:manualLayout>
          <c:xMode val="edge"/>
          <c:yMode val="edge"/>
          <c:x val="0.26262762023985325"/>
          <c:y val="0.11347790597259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Projeto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Ongoing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Plan1!$A$2:$A$3</c:f>
              <c:strCache>
                <c:ptCount val="2"/>
                <c:pt idx="0">
                  <c:v>Processo</c:v>
                </c:pt>
                <c:pt idx="1">
                  <c:v>Tecnológica</c:v>
                </c:pt>
              </c:strCache>
            </c:strRef>
          </c:cat>
          <c:val>
            <c:numRef>
              <c:f>Plan1!$C$2:$C$3</c:f>
              <c:numCache>
                <c:formatCode>General</c:formatCode>
                <c:ptCount val="2"/>
                <c:pt idx="0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9097600"/>
        <c:axId val="379097992"/>
      </c:barChart>
      <c:catAx>
        <c:axId val="37909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9097992"/>
        <c:crosses val="autoZero"/>
        <c:auto val="1"/>
        <c:lblAlgn val="ctr"/>
        <c:lblOffset val="100"/>
        <c:noMultiLvlLbl val="0"/>
      </c:catAx>
      <c:valAx>
        <c:axId val="379097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9097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03F4424-6A03-46B4-AA53-F416B555D965}">
      <dgm:prSet phldrT="[Texto]"/>
      <dgm:spPr/>
      <dgm:t>
        <a:bodyPr/>
        <a:lstStyle/>
        <a:p>
          <a:r>
            <a:rPr lang="pt-BR" dirty="0" smtClean="0"/>
            <a:t>Outubro	</a:t>
          </a:r>
          <a:endParaRPr lang="pt-BR" dirty="0"/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/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/>
        </a:p>
      </dgm:t>
    </dgm:pt>
    <dgm:pt modelId="{A515B516-91D9-41CB-A66B-834065F259B9}">
      <dgm:prSet phldrT="[Texto]"/>
      <dgm:spPr/>
      <dgm:t>
        <a:bodyPr/>
        <a:lstStyle/>
        <a:p>
          <a:r>
            <a:rPr lang="pt-BR" dirty="0" smtClean="0"/>
            <a:t>Novembro</a:t>
          </a:r>
          <a:endParaRPr lang="pt-BR" dirty="0"/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/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/>
        </a:p>
      </dgm:t>
    </dgm:pt>
    <dgm:pt modelId="{57AA9C27-7F7C-4B09-BCED-BF508BC90DA5}">
      <dgm:prSet phldrT="[Texto]"/>
      <dgm:spPr/>
      <dgm:t>
        <a:bodyPr/>
        <a:lstStyle/>
        <a:p>
          <a:r>
            <a:rPr lang="pt-BR" dirty="0" smtClean="0"/>
            <a:t>Dezembro</a:t>
          </a:r>
          <a:endParaRPr lang="pt-BR" dirty="0"/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/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3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1" presStyleCnt="3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2" presStyleCnt="3" custLinFactNeighborX="2463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5F6EF1D6-2FDB-43B5-8252-9473A351CD62}" srcId="{BBBD8EEE-5EAC-4ACB-A5CB-4EC11AF34169}" destId="{A515B516-91D9-41CB-A66B-834065F259B9}" srcOrd="1" destOrd="0" parTransId="{ADFE67F8-D8A1-4A32-9A16-59A09CBF1EA2}" sibTransId="{D69DF602-E0FB-48B6-97F6-1EE3CC37A411}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001D692D-028F-44FD-9898-3146D4F49845}" srcId="{BBBD8EEE-5EAC-4ACB-A5CB-4EC11AF34169}" destId="{57AA9C27-7F7C-4B09-BCED-BF508BC90DA5}" srcOrd="2" destOrd="0" parTransId="{236DD897-94E3-49E1-A1C2-9C7342CFE3CB}" sibTransId="{FF9A7E47-6DB7-4299-8C3E-F8DCB12443C4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E08A8142-75FF-4F46-8D8A-9718CE4F28D7}" type="presParOf" srcId="{F6290B4D-2087-4FCD-891E-E9D7206508DB}" destId="{C5376FE0-79CA-4533-AF28-F8315D09F747}" srcOrd="2" destOrd="0" presId="urn:microsoft.com/office/officeart/2005/8/layout/chevron1"/>
    <dgm:cxn modelId="{8310A572-2292-4991-8E7D-A2A09E78270B}" type="presParOf" srcId="{F6290B4D-2087-4FCD-891E-E9D7206508DB}" destId="{0CEBBDC0-98C9-4B2A-9CED-5552CB570245}" srcOrd="3" destOrd="0" presId="urn:microsoft.com/office/officeart/2005/8/layout/chevron1"/>
    <dgm:cxn modelId="{71CAEFAB-6C51-4453-9234-6D3331B10F58}" type="presParOf" srcId="{F6290B4D-2087-4FCD-891E-E9D7206508DB}" destId="{C4706F8D-485C-4F91-8A83-AAA10BBD481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Outubro	</a:t>
          </a:r>
          <a:endParaRPr lang="pt-BR" sz="2900" kern="1200" dirty="0"/>
        </a:p>
      </dsp:txBody>
      <dsp:txXfrm>
        <a:off x="245913" y="0"/>
        <a:ext cx="1917658" cy="491825"/>
      </dsp:txXfrm>
    </dsp:sp>
    <dsp:sp modelId="{C5376FE0-79CA-4533-AF28-F8315D09F747}">
      <dsp:nvSpPr>
        <dsp:cNvPr id="0" name=""/>
        <dsp:cNvSpPr/>
      </dsp:nvSpPr>
      <dsp:spPr>
        <a:xfrm>
          <a:off x="2176975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Novembro</a:t>
          </a:r>
          <a:endParaRPr lang="pt-BR" sz="2900" kern="1200" dirty="0"/>
        </a:p>
      </dsp:txBody>
      <dsp:txXfrm>
        <a:off x="2422888" y="0"/>
        <a:ext cx="1917658" cy="491825"/>
      </dsp:txXfrm>
    </dsp:sp>
    <dsp:sp modelId="{C4706F8D-485C-4F91-8A83-AAA10BBD4814}">
      <dsp:nvSpPr>
        <dsp:cNvPr id="0" name=""/>
        <dsp:cNvSpPr/>
      </dsp:nvSpPr>
      <dsp:spPr>
        <a:xfrm>
          <a:off x="4341025" y="0"/>
          <a:ext cx="2409483" cy="4918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 dirty="0" smtClean="0"/>
            <a:t>Dezembro</a:t>
          </a:r>
          <a:endParaRPr lang="pt-BR" sz="2900" kern="1200" dirty="0"/>
        </a:p>
      </dsp:txBody>
      <dsp:txXfrm>
        <a:off x="4586938" y="0"/>
        <a:ext cx="1917658" cy="491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23/10/2015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31838"/>
            <a:ext cx="6511925" cy="366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9F4-2A97-4F4C-BA5E-8E7B892BE339}" type="slidenum">
              <a:rPr lang="pt-BR" smtClean="0">
                <a:solidFill>
                  <a:prstClr val="black"/>
                </a:solidFill>
              </a:rPr>
              <a:pPr/>
              <a:t>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27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468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10/23/2015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jpg"/><Relationship Id="rId9" Type="http://schemas.microsoft.com/office/2007/relationships/diagramDrawing" Target="../diagrams/drawin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4.png"/><Relationship Id="rId7" Type="http://schemas.openxmlformats.org/officeDocument/2006/relationships/chart" Target="../charts/chart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5.jpg"/><Relationship Id="rId9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emf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emf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emf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emf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emf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emf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emf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emf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emf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emf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emf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900329" y="1968310"/>
            <a:ext cx="3140052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23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Outubro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2015</a:t>
            </a:r>
            <a:endParaRPr lang="en-US" sz="2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1"/>
    </mc:Choice>
    <mc:Fallback xmlns="">
      <p:transition spd="slow"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5959" y="-32183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201223" y="1061209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3013442"/>
            <a:ext cx="5157767" cy="1543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endParaRPr lang="pt-PT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 Gravação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 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Monitoração Projetos – Fase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Mudanças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Situação de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Projeção de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rgbClr val="19345B"/>
                </a:solidFill>
                <a:latin typeface="Arial"/>
                <a:cs typeface="Arial"/>
              </a:rPr>
              <a:t>Processos</a:t>
            </a:r>
            <a:r>
              <a:rPr lang="en-US" sz="1800" b="1" dirty="0">
                <a:solidFill>
                  <a:srgbClr val="19345B"/>
                </a:solidFill>
                <a:latin typeface="Arial"/>
                <a:cs typeface="Arial"/>
              </a:rPr>
              <a:t> de </a:t>
            </a:r>
            <a:r>
              <a:rPr lang="pt-BR" sz="1800" b="1" dirty="0" smtClean="0">
                <a:solidFill>
                  <a:srgbClr val="19345B"/>
                </a:solidFill>
                <a:latin typeface="Arial"/>
                <a:cs typeface="Arial"/>
              </a:rPr>
              <a:t>Gestão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rgbClr val="19345B"/>
                </a:solidFill>
                <a:latin typeface="Arial"/>
                <a:cs typeface="Arial"/>
              </a:rPr>
              <a:t>Indicadores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endParaRPr lang="pt-PT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65065" y="580328"/>
            <a:ext cx="41750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Problemas: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Não grava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b="1" dirty="0" smtClean="0"/>
              <a:t>Efeito: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financeira (Informação disponível R$22M - JAN~JUN)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credibilidade</a:t>
            </a:r>
          </a:p>
          <a:p>
            <a:endParaRPr lang="pt-BR" sz="1200" dirty="0"/>
          </a:p>
          <a:p>
            <a:r>
              <a:rPr lang="pt-BR" sz="1200" b="1" dirty="0" smtClean="0"/>
              <a:t>Solução definitiva: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Utilizar polo de gravadores Contax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Dispõe de 3K licenças de gravação (Sem uso)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200TB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 centralizado (*3K P.A. em 1 Ano)</a:t>
            </a:r>
          </a:p>
          <a:p>
            <a:pPr lvl="1"/>
            <a:endParaRPr lang="pt-BR" sz="1200" dirty="0" smtClean="0"/>
          </a:p>
          <a:p>
            <a:r>
              <a:rPr lang="pt-BR" sz="1200" b="1" dirty="0" smtClean="0"/>
              <a:t>Investimento P/ 3k P.A.: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 para captura do áudio no site (R$25k P/ 500 P.A.);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 para gravadores (A avaliar);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 smtClean="0"/>
              <a:t>Investimento migrar restante do parque 6.5K P.A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Negociar upgrade e migração das licenças da plataforma obsoleta para o polo Contax 2.0.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Upgrade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2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4705202" y="604903"/>
            <a:ext cx="43512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1.	Prós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Soluciona os seguintes problemas: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 por armazenamento obsoleto;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Falta de contrato de manutenção com fornecedor;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Elimina a necessidade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por fita;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Bugs das plataformas atuais ( 8.x/3.0/3.1/3.4/3.5);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Permite a busca de chamadas por </a:t>
            </a:r>
            <a:r>
              <a:rPr lang="pt-BR" sz="1200" dirty="0" err="1" smtClean="0"/>
              <a:t>login</a:t>
            </a:r>
            <a:r>
              <a:rPr lang="pt-BR" sz="1200" dirty="0" smtClean="0"/>
              <a:t> </a:t>
            </a:r>
            <a:r>
              <a:rPr lang="pt-BR" sz="1200" dirty="0" err="1" smtClean="0"/>
              <a:t>full</a:t>
            </a:r>
            <a:r>
              <a:rPr lang="pt-BR" sz="1200" dirty="0" smtClean="0"/>
              <a:t>;</a:t>
            </a:r>
          </a:p>
          <a:p>
            <a:endParaRPr lang="pt-BR" sz="1200" dirty="0" smtClean="0"/>
          </a:p>
          <a:p>
            <a:r>
              <a:rPr lang="pt-BR" sz="1200" b="1" dirty="0" smtClean="0"/>
              <a:t>Ganhos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Reduz </a:t>
            </a:r>
            <a:r>
              <a:rPr lang="pt-BR" sz="1200" dirty="0"/>
              <a:t>a </a:t>
            </a:r>
            <a:r>
              <a:rPr lang="pt-BR" sz="1200" dirty="0" smtClean="0"/>
              <a:t>carga elétrica </a:t>
            </a:r>
            <a:r>
              <a:rPr lang="pt-BR" sz="1200" dirty="0"/>
              <a:t>no </a:t>
            </a:r>
            <a:r>
              <a:rPr lang="pt-BR" sz="1200" dirty="0" err="1" smtClean="0"/>
              <a:t>DataCenter</a:t>
            </a:r>
            <a:r>
              <a:rPr lang="pt-BR" sz="12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Gerenciamento centralizado;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Padronização do Parque;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Maior disponibilidade;</a:t>
            </a:r>
            <a:endParaRPr lang="pt-BR" sz="1200" b="1" dirty="0" smtClean="0"/>
          </a:p>
          <a:p>
            <a:pPr marL="228600" indent="-228600">
              <a:buFont typeface="+mj-lt"/>
              <a:buAutoNum type="arabicPeriod"/>
            </a:pPr>
            <a:endParaRPr lang="pt-BR" sz="1200" b="1" dirty="0" smtClean="0"/>
          </a:p>
          <a:p>
            <a:r>
              <a:rPr lang="pt-BR" sz="1200" b="1" dirty="0" smtClean="0"/>
              <a:t>2.	Contras</a:t>
            </a:r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Aumenta a necessidade de recursos de rede;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Demanda investimento;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Médio prazo de implementação;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164829" y="599214"/>
            <a:ext cx="8550613" cy="4415972"/>
          </a:xfrm>
          <a:prstGeom prst="roundRect">
            <a:avLst/>
          </a:prstGeom>
          <a:solidFill>
            <a:srgbClr val="FFFFFF">
              <a:alpha val="94902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070596" y="566950"/>
            <a:ext cx="2798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BUSINESS PLAN 3K LIC NICE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pSp>
        <p:nvGrpSpPr>
          <p:cNvPr id="24" name="Grupo 23"/>
          <p:cNvGrpSpPr/>
          <p:nvPr/>
        </p:nvGrpSpPr>
        <p:grpSpPr>
          <a:xfrm>
            <a:off x="581636" y="912321"/>
            <a:ext cx="2060221" cy="3700580"/>
            <a:chOff x="581636" y="1052996"/>
            <a:chExt cx="2060221" cy="3537804"/>
          </a:xfrm>
        </p:grpSpPr>
        <p:grpSp>
          <p:nvGrpSpPr>
            <p:cNvPr id="18" name="Grupo 17"/>
            <p:cNvGrpSpPr/>
            <p:nvPr/>
          </p:nvGrpSpPr>
          <p:grpSpPr>
            <a:xfrm>
              <a:off x="582132" y="1052996"/>
              <a:ext cx="2059725" cy="3537804"/>
              <a:chOff x="651753" y="1127158"/>
              <a:chExt cx="2059725" cy="3537804"/>
            </a:xfrm>
          </p:grpSpPr>
          <p:sp>
            <p:nvSpPr>
              <p:cNvPr id="19" name="Retângulo de cantos arredondados 18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CaixaDeTexto 19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Cliente Vivo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CaixaDeTexto 20"/>
            <p:cNvSpPr txBox="1"/>
            <p:nvPr/>
          </p:nvSpPr>
          <p:spPr>
            <a:xfrm>
              <a:off x="581636" y="1517621"/>
              <a:ext cx="205972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>
                  <a:solidFill>
                    <a:schemeClr val="bg1"/>
                  </a:solidFill>
                </a:rPr>
                <a:t>P.A = 3.001</a:t>
              </a:r>
            </a:p>
            <a:p>
              <a:endParaRPr lang="pt-BR" sz="10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pt-BR" sz="1600" b="1" u="sng" dirty="0" smtClean="0">
                  <a:solidFill>
                    <a:schemeClr val="bg1"/>
                  </a:solidFill>
                </a:rPr>
                <a:t>Sites</a:t>
              </a:r>
            </a:p>
            <a:p>
              <a:r>
                <a:rPr lang="pt-BR" sz="1600" dirty="0" err="1">
                  <a:solidFill>
                    <a:schemeClr val="bg1"/>
                  </a:solidFill>
                </a:rPr>
                <a:t>Jpasa</a:t>
              </a:r>
              <a:r>
                <a:rPr lang="pt-BR" sz="1600" dirty="0">
                  <a:solidFill>
                    <a:schemeClr val="bg1"/>
                  </a:solidFill>
                </a:rPr>
                <a:t>			   252</a:t>
              </a:r>
              <a:endParaRPr lang="pt-BR" sz="1600" dirty="0" smtClean="0">
                <a:solidFill>
                  <a:schemeClr val="bg1"/>
                </a:solidFill>
              </a:endParaRPr>
            </a:p>
            <a:p>
              <a:r>
                <a:rPr lang="pt-BR" sz="1600" dirty="0" err="1" smtClean="0">
                  <a:solidFill>
                    <a:schemeClr val="bg1"/>
                  </a:solidFill>
                </a:rPr>
                <a:t>Hicham</a:t>
              </a:r>
              <a:r>
                <a:rPr lang="pt-BR" sz="1600" dirty="0">
                  <a:solidFill>
                    <a:schemeClr val="bg1"/>
                  </a:solidFill>
                </a:rPr>
                <a:t>		   264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Joinville		   450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Lapa			   985</a:t>
              </a:r>
            </a:p>
            <a:p>
              <a:r>
                <a:rPr lang="pt-BR" sz="1600" dirty="0" smtClean="0">
                  <a:solidFill>
                    <a:schemeClr val="bg1"/>
                  </a:solidFill>
                </a:rPr>
                <a:t>Antártica		1.050</a:t>
              </a:r>
            </a:p>
            <a:p>
              <a:endParaRPr lang="pt-BR" sz="1400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664346" y="3364708"/>
            <a:ext cx="2054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bg1"/>
                </a:solidFill>
              </a:rPr>
              <a:t>08/2015 </a:t>
            </a:r>
            <a:r>
              <a:rPr lang="pt-BR" sz="1200" dirty="0">
                <a:solidFill>
                  <a:schemeClr val="bg1"/>
                </a:solidFill>
              </a:rPr>
              <a:t>= </a:t>
            </a:r>
            <a:r>
              <a:rPr lang="pt-BR" sz="1200" dirty="0" smtClean="0">
                <a:solidFill>
                  <a:schemeClr val="bg1"/>
                </a:solidFill>
              </a:rPr>
              <a:t>C.R. </a:t>
            </a:r>
            <a:r>
              <a:rPr lang="pt-BR" sz="1200" dirty="0">
                <a:solidFill>
                  <a:schemeClr val="bg1"/>
                </a:solidFill>
              </a:rPr>
              <a:t>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09/2015 = C.R. 67%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Maior </a:t>
            </a:r>
            <a:r>
              <a:rPr lang="pt-BR" sz="1200" dirty="0" smtClean="0">
                <a:solidFill>
                  <a:schemeClr val="bg1"/>
                </a:solidFill>
              </a:rPr>
              <a:t>demandante </a:t>
            </a:r>
            <a:r>
              <a:rPr lang="pt-BR" sz="1200" dirty="0">
                <a:solidFill>
                  <a:schemeClr val="bg1"/>
                </a:solidFill>
              </a:rPr>
              <a:t>de </a:t>
            </a:r>
            <a:r>
              <a:rPr lang="pt-BR" sz="1200" dirty="0" err="1" smtClean="0">
                <a:solidFill>
                  <a:schemeClr val="bg1"/>
                </a:solidFill>
              </a:rPr>
              <a:t>retrieval</a:t>
            </a:r>
            <a:r>
              <a:rPr lang="pt-BR" sz="1200" dirty="0" smtClean="0">
                <a:solidFill>
                  <a:schemeClr val="bg1"/>
                </a:solidFill>
              </a:rPr>
              <a:t> (55% da demanda)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800" dirty="0" smtClean="0">
              <a:solidFill>
                <a:schemeClr val="bg1"/>
              </a:solidFill>
            </a:endParaRPr>
          </a:p>
          <a:p>
            <a:r>
              <a:rPr lang="pt-BR" sz="1200" dirty="0" smtClean="0"/>
              <a:t>C.R. = Chamados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recuperados</a:t>
            </a:r>
            <a:endParaRPr lang="pt-BR" sz="1200" dirty="0"/>
          </a:p>
          <a:p>
            <a:endParaRPr lang="pt-BR" sz="1200" dirty="0"/>
          </a:p>
        </p:txBody>
      </p:sp>
      <p:grpSp>
        <p:nvGrpSpPr>
          <p:cNvPr id="29" name="Grupo 28"/>
          <p:cNvGrpSpPr/>
          <p:nvPr/>
        </p:nvGrpSpPr>
        <p:grpSpPr>
          <a:xfrm>
            <a:off x="2753969" y="912321"/>
            <a:ext cx="2965884" cy="3700580"/>
            <a:chOff x="3143084" y="1052996"/>
            <a:chExt cx="2566083" cy="3537804"/>
          </a:xfrm>
        </p:grpSpPr>
        <p:grpSp>
          <p:nvGrpSpPr>
            <p:cNvPr id="15" name="Grupo 14"/>
            <p:cNvGrpSpPr/>
            <p:nvPr/>
          </p:nvGrpSpPr>
          <p:grpSpPr>
            <a:xfrm>
              <a:off x="3143084" y="1052996"/>
              <a:ext cx="2566083" cy="3537804"/>
              <a:chOff x="651753" y="1127158"/>
              <a:chExt cx="2227779" cy="3537804"/>
            </a:xfrm>
          </p:grpSpPr>
          <p:sp>
            <p:nvSpPr>
              <p:cNvPr id="16" name="Retângulo de cantos arredondados 15"/>
              <p:cNvSpPr/>
              <p:nvPr/>
            </p:nvSpPr>
            <p:spPr>
              <a:xfrm>
                <a:off x="819807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7" name="CaixaDeTexto 16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Investimento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CaixaDeTexto 25"/>
            <p:cNvSpPr txBox="1"/>
            <p:nvPr/>
          </p:nvSpPr>
          <p:spPr>
            <a:xfrm>
              <a:off x="3143084" y="1516117"/>
              <a:ext cx="2372507" cy="2765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pt-BR" sz="1400" b="1" dirty="0" smtClean="0">
                  <a:solidFill>
                    <a:schemeClr val="bg1"/>
                  </a:solidFill>
                </a:rPr>
                <a:t>HW/SW = R$ 245K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7 Servidores 	(R$175)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5 Switches 	(R$70K)</a:t>
              </a:r>
            </a:p>
            <a:p>
              <a:pPr lvl="1"/>
              <a:r>
                <a:rPr lang="pt-BR" sz="1400" b="1" dirty="0" smtClean="0">
                  <a:solidFill>
                    <a:schemeClr val="bg1"/>
                  </a:solidFill>
                </a:rPr>
                <a:t>PS = R$ 25K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Contax IT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Viagens</a:t>
              </a:r>
            </a:p>
            <a:p>
              <a:pPr lvl="1"/>
              <a:r>
                <a:rPr lang="pt-BR" sz="1400" b="1" dirty="0" smtClean="0">
                  <a:solidFill>
                    <a:schemeClr val="bg1"/>
                  </a:solidFill>
                </a:rPr>
                <a:t>Total = R$ 270K</a:t>
              </a:r>
            </a:p>
            <a:p>
              <a:pPr lvl="1"/>
              <a:endParaRPr lang="pt-BR" sz="1400" b="1" dirty="0" smtClean="0">
                <a:solidFill>
                  <a:schemeClr val="bg1"/>
                </a:solidFill>
              </a:endParaRPr>
            </a:p>
            <a:p>
              <a:pPr lvl="1"/>
              <a:r>
                <a:rPr lang="pt-BR" sz="1400" b="1" dirty="0" err="1" smtClean="0">
                  <a:solidFill>
                    <a:schemeClr val="bg1"/>
                  </a:solidFill>
                </a:rPr>
                <a:t>Saving</a:t>
              </a:r>
              <a:r>
                <a:rPr lang="pt-BR" sz="1400" b="1" dirty="0" smtClean="0">
                  <a:solidFill>
                    <a:schemeClr val="bg1"/>
                  </a:solidFill>
                </a:rPr>
                <a:t> = R$ 203K </a:t>
              </a:r>
              <a:r>
                <a:rPr lang="pt-BR" sz="1400" dirty="0" smtClean="0">
                  <a:solidFill>
                    <a:schemeClr val="bg1"/>
                  </a:solidFill>
                </a:rPr>
                <a:t>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02 Switches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pt-BR" sz="1400" dirty="0" smtClean="0">
                  <a:solidFill>
                    <a:schemeClr val="bg1"/>
                  </a:solidFill>
                </a:rPr>
                <a:t>07 Servidores</a:t>
              </a:r>
              <a:endParaRPr lang="pt-BR" sz="1400" b="1" dirty="0" smtClean="0">
                <a:solidFill>
                  <a:schemeClr val="bg1"/>
                </a:solidFill>
              </a:endParaRPr>
            </a:p>
            <a:p>
              <a:pPr lvl="1"/>
              <a:r>
                <a:rPr lang="pt-BR" sz="1400" b="1" dirty="0" smtClean="0">
                  <a:solidFill>
                    <a:schemeClr val="bg1"/>
                  </a:solidFill>
                </a:rPr>
                <a:t>Total c/ </a:t>
              </a:r>
              <a:r>
                <a:rPr lang="pt-BR" sz="1400" b="1" dirty="0" err="1" smtClean="0">
                  <a:solidFill>
                    <a:schemeClr val="bg1"/>
                  </a:solidFill>
                </a:rPr>
                <a:t>Saving</a:t>
              </a:r>
              <a:r>
                <a:rPr lang="pt-BR" sz="1400" b="1" dirty="0" smtClean="0">
                  <a:solidFill>
                    <a:schemeClr val="bg1"/>
                  </a:solidFill>
                </a:rPr>
                <a:t> = R$ 67K</a:t>
              </a:r>
            </a:p>
            <a:p>
              <a:pPr lvl="1"/>
              <a:r>
                <a:rPr lang="pt-BR" sz="1400" b="1" dirty="0" smtClean="0">
                  <a:solidFill>
                    <a:schemeClr val="bg1"/>
                  </a:solidFill>
                </a:rPr>
                <a:t>Total + Garantia E.=R$ 85K</a:t>
              </a: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6009512" y="912321"/>
            <a:ext cx="2806165" cy="3700579"/>
            <a:chOff x="6009512" y="1059062"/>
            <a:chExt cx="2806165" cy="3537804"/>
          </a:xfrm>
        </p:grpSpPr>
        <p:grpSp>
          <p:nvGrpSpPr>
            <p:cNvPr id="13" name="Grupo 12"/>
            <p:cNvGrpSpPr/>
            <p:nvPr/>
          </p:nvGrpSpPr>
          <p:grpSpPr>
            <a:xfrm>
              <a:off x="6016818" y="1059062"/>
              <a:ext cx="2607863" cy="3537804"/>
              <a:chOff x="651753" y="1127158"/>
              <a:chExt cx="2059725" cy="3537804"/>
            </a:xfrm>
          </p:grpSpPr>
          <p:sp>
            <p:nvSpPr>
              <p:cNvPr id="7" name="Retângulo de cantos arredondados 6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Cronograma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CaixaDeTexto 27"/>
            <p:cNvSpPr txBox="1"/>
            <p:nvPr/>
          </p:nvSpPr>
          <p:spPr>
            <a:xfrm>
              <a:off x="6009512" y="1435051"/>
              <a:ext cx="2806165" cy="2721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err="1" smtClean="0">
                  <a:solidFill>
                    <a:schemeClr val="bg1"/>
                  </a:solidFill>
                </a:rPr>
                <a:t>Kick</a:t>
              </a:r>
              <a:r>
                <a:rPr lang="pt-BR" sz="1400" dirty="0" smtClean="0">
                  <a:solidFill>
                    <a:schemeClr val="bg1"/>
                  </a:solidFill>
                </a:rPr>
                <a:t> off		- 19/10/15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Negociações		- 19/10~23/10</a:t>
              </a:r>
              <a:endParaRPr lang="pt-BR" sz="1400" dirty="0">
                <a:solidFill>
                  <a:schemeClr val="bg1"/>
                </a:solidFill>
              </a:endParaRP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P.C. 			- 26/10~30/10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Entrega/FT (45D.C)	- 10/12/2015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Implementação	- 11/12~22/01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Antártica	- 11/12~18/12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Lapa		- 21/12~25/12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err="1" smtClean="0">
                  <a:solidFill>
                    <a:schemeClr val="bg1"/>
                  </a:solidFill>
                </a:rPr>
                <a:t>Hicham</a:t>
              </a:r>
              <a:r>
                <a:rPr lang="pt-BR" sz="1100" dirty="0" smtClean="0">
                  <a:solidFill>
                    <a:schemeClr val="bg1"/>
                  </a:solidFill>
                </a:rPr>
                <a:t>	- 04/01~08/01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smtClean="0">
                  <a:solidFill>
                    <a:schemeClr val="bg1"/>
                  </a:solidFill>
                </a:rPr>
                <a:t>Joinville	- 11/01~15/01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dirty="0" err="1" smtClean="0">
                  <a:solidFill>
                    <a:schemeClr val="bg1"/>
                  </a:solidFill>
                </a:rPr>
                <a:t>Jpasa</a:t>
              </a:r>
              <a:r>
                <a:rPr lang="pt-BR" sz="1100" dirty="0" smtClean="0">
                  <a:solidFill>
                    <a:schemeClr val="bg1"/>
                  </a:solidFill>
                </a:rPr>
                <a:t>	- 18/01~22/01</a:t>
              </a:r>
            </a:p>
            <a:p>
              <a:endParaRPr lang="pt-BR" sz="1200" dirty="0" smtClean="0">
                <a:solidFill>
                  <a:schemeClr val="bg1"/>
                </a:solidFill>
              </a:endParaRP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Treinamento	  - 11/12~30/01</a:t>
              </a:r>
            </a:p>
            <a:p>
              <a:r>
                <a:rPr lang="pt-BR" sz="1400" dirty="0" smtClean="0">
                  <a:solidFill>
                    <a:schemeClr val="bg1"/>
                  </a:solidFill>
                </a:rPr>
                <a:t>Desativar obsoleto       - 30/01/16</a:t>
              </a:r>
            </a:p>
            <a:p>
              <a:r>
                <a:rPr lang="pt-BR" sz="1400" b="1" dirty="0" smtClean="0">
                  <a:solidFill>
                    <a:schemeClr val="bg1"/>
                  </a:solidFill>
                </a:rPr>
                <a:t>Desembolso de caixa   - 08/02/16</a:t>
              </a:r>
            </a:p>
          </p:txBody>
        </p:sp>
      </p:grpSp>
      <p:sp>
        <p:nvSpPr>
          <p:cNvPr id="30" name="Title 1"/>
          <p:cNvSpPr txBox="1">
            <a:spLocks/>
          </p:cNvSpPr>
          <p:nvPr/>
        </p:nvSpPr>
        <p:spPr>
          <a:xfrm>
            <a:off x="218925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Projeto Gravação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24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65065" y="580328"/>
            <a:ext cx="41750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Problemas: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Não grava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b="1" dirty="0" smtClean="0"/>
              <a:t>Efeito: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financeira (Informação disponível R$22M - JAN~JUN)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credibilidade</a:t>
            </a:r>
          </a:p>
          <a:p>
            <a:endParaRPr lang="pt-BR" sz="1200" dirty="0"/>
          </a:p>
          <a:p>
            <a:r>
              <a:rPr lang="pt-BR" sz="1200" b="1" dirty="0" smtClean="0"/>
              <a:t>Solução definitiva: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Utilizar polo de gravadores Contax 2.0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Dispõe de 3K licenças de gravação (Sem uso)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200TB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 centralizado (*3K P.A. em 1 Ano)</a:t>
            </a:r>
          </a:p>
          <a:p>
            <a:pPr lvl="1"/>
            <a:endParaRPr lang="pt-BR" sz="1200" dirty="0" smtClean="0"/>
          </a:p>
          <a:p>
            <a:r>
              <a:rPr lang="pt-BR" sz="1200" b="1" dirty="0" smtClean="0"/>
              <a:t>Investimento P/ 3k P.A.: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 para captura do áudio no site (R$25k P/ 500 P.A.);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 para gravadores (A avaliar);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 smtClean="0"/>
              <a:t>Investimento migrar restante do parque 6.5K P.A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Negociar upgrade e migração das licenças da plataforma obsoleta para o polo Contax 2.0.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Upgrade de </a:t>
            </a:r>
            <a:r>
              <a:rPr lang="pt-BR" sz="1200" dirty="0" err="1" smtClean="0"/>
              <a:t>Storage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Compra de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 smtClean="0"/>
              <a:t>Equipamentos de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2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4705202" y="604903"/>
            <a:ext cx="43512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1.	Prós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Soluciona os seguintes problemas: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Perda de gravação por armazenamento obsoleto;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Falta de contrato de manutenção com fornecedor;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Elimina a necessidade de </a:t>
            </a:r>
            <a:r>
              <a:rPr lang="pt-BR" sz="1200" dirty="0" err="1" smtClean="0"/>
              <a:t>retrieval</a:t>
            </a:r>
            <a:r>
              <a:rPr lang="pt-BR" sz="1200" dirty="0" smtClean="0"/>
              <a:t> por fita;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Bugs das plataformas atuais ( 8.x/3.0/3.1/3.4/3.5);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Permite a busca de chamadas por </a:t>
            </a:r>
            <a:r>
              <a:rPr lang="pt-BR" sz="1200" dirty="0" err="1" smtClean="0"/>
              <a:t>login</a:t>
            </a:r>
            <a:r>
              <a:rPr lang="pt-BR" sz="1200" dirty="0" smtClean="0"/>
              <a:t> </a:t>
            </a:r>
            <a:r>
              <a:rPr lang="pt-BR" sz="1200" dirty="0" err="1" smtClean="0"/>
              <a:t>full</a:t>
            </a:r>
            <a:r>
              <a:rPr lang="pt-BR" sz="1200" dirty="0" smtClean="0"/>
              <a:t>;</a:t>
            </a:r>
          </a:p>
          <a:p>
            <a:endParaRPr lang="pt-BR" sz="1200" dirty="0" smtClean="0"/>
          </a:p>
          <a:p>
            <a:r>
              <a:rPr lang="pt-BR" sz="1200" b="1" dirty="0" smtClean="0"/>
              <a:t>Ganhos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Reduz </a:t>
            </a:r>
            <a:r>
              <a:rPr lang="pt-BR" sz="1200" dirty="0"/>
              <a:t>a </a:t>
            </a:r>
            <a:r>
              <a:rPr lang="pt-BR" sz="1200" dirty="0" smtClean="0"/>
              <a:t>carga elétrica </a:t>
            </a:r>
            <a:r>
              <a:rPr lang="pt-BR" sz="1200" dirty="0"/>
              <a:t>no </a:t>
            </a:r>
            <a:r>
              <a:rPr lang="pt-BR" sz="1200" dirty="0" err="1" smtClean="0"/>
              <a:t>DataCenter</a:t>
            </a:r>
            <a:r>
              <a:rPr lang="pt-BR" sz="12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Gerenciamento centralizado;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Padronização do Parque;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Maior disponibilidade;</a:t>
            </a:r>
            <a:endParaRPr lang="pt-BR" sz="1200" b="1" dirty="0" smtClean="0"/>
          </a:p>
          <a:p>
            <a:pPr marL="228600" indent="-228600">
              <a:buFont typeface="+mj-lt"/>
              <a:buAutoNum type="arabicPeriod"/>
            </a:pPr>
            <a:endParaRPr lang="pt-BR" sz="1200" b="1" dirty="0" smtClean="0"/>
          </a:p>
          <a:p>
            <a:r>
              <a:rPr lang="pt-BR" sz="1200" b="1" dirty="0" smtClean="0"/>
              <a:t>2.	Contras</a:t>
            </a:r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Aumenta a necessidade de recursos de rede;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Demanda investimento;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Médio prazo de implementação;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194552" y="599214"/>
            <a:ext cx="8550613" cy="4415972"/>
          </a:xfrm>
          <a:prstGeom prst="roundRect">
            <a:avLst/>
          </a:prstGeom>
          <a:solidFill>
            <a:srgbClr val="FFFFFF">
              <a:alpha val="8902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2357266" y="569704"/>
            <a:ext cx="494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BUSINESS PLAN UPGRADE 7K LIC NICE + </a:t>
            </a:r>
            <a:r>
              <a:rPr lang="pt-BR" b="1" dirty="0" err="1" smtClean="0"/>
              <a:t>Saving</a:t>
            </a:r>
            <a:r>
              <a:rPr lang="pt-BR" b="1" dirty="0" smtClean="0"/>
              <a:t> 3K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pSp>
        <p:nvGrpSpPr>
          <p:cNvPr id="29" name="Grupo 28"/>
          <p:cNvGrpSpPr/>
          <p:nvPr/>
        </p:nvGrpSpPr>
        <p:grpSpPr>
          <a:xfrm>
            <a:off x="422035" y="1052996"/>
            <a:ext cx="8202653" cy="3558563"/>
            <a:chOff x="3143084" y="1052996"/>
            <a:chExt cx="2372507" cy="3558563"/>
          </a:xfrm>
        </p:grpSpPr>
        <p:grpSp>
          <p:nvGrpSpPr>
            <p:cNvPr id="15" name="Grupo 14"/>
            <p:cNvGrpSpPr/>
            <p:nvPr/>
          </p:nvGrpSpPr>
          <p:grpSpPr>
            <a:xfrm>
              <a:off x="3143084" y="1052996"/>
              <a:ext cx="2372507" cy="3537804"/>
              <a:chOff x="651753" y="1127158"/>
              <a:chExt cx="2059725" cy="3537804"/>
            </a:xfrm>
          </p:grpSpPr>
          <p:sp>
            <p:nvSpPr>
              <p:cNvPr id="16" name="Retângulo de cantos arredondados 15"/>
              <p:cNvSpPr/>
              <p:nvPr/>
            </p:nvSpPr>
            <p:spPr>
              <a:xfrm>
                <a:off x="651753" y="1127158"/>
                <a:ext cx="2059725" cy="353780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7" name="CaixaDeTexto 16"/>
              <p:cNvSpPr txBox="1"/>
              <p:nvPr/>
            </p:nvSpPr>
            <p:spPr>
              <a:xfrm>
                <a:off x="651753" y="1197404"/>
                <a:ext cx="2059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>
                    <a:solidFill>
                      <a:schemeClr val="bg1"/>
                    </a:solidFill>
                  </a:rPr>
                  <a:t>Investimento (Estudo preliminar)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CaixaDeTexto 25"/>
            <p:cNvSpPr txBox="1"/>
            <p:nvPr/>
          </p:nvSpPr>
          <p:spPr>
            <a:xfrm>
              <a:off x="4319941" y="1626126"/>
              <a:ext cx="1069534" cy="2985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 smtClean="0">
                  <a:solidFill>
                    <a:schemeClr val="bg1"/>
                  </a:solidFill>
                </a:rPr>
                <a:t>HW/SW = R$ 6.6M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16 Servidores 			R$ 805K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16 Switches 	  			R$ 224K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Upgrade 7K </a:t>
              </a:r>
              <a:r>
                <a:rPr lang="pt-BR" sz="1600" dirty="0" err="1" smtClean="0">
                  <a:solidFill>
                    <a:schemeClr val="bg1"/>
                  </a:solidFill>
                </a:rPr>
                <a:t>lic.</a:t>
              </a:r>
              <a:r>
                <a:rPr lang="pt-BR" sz="1600" dirty="0" smtClean="0">
                  <a:solidFill>
                    <a:schemeClr val="bg1"/>
                  </a:solidFill>
                </a:rPr>
                <a:t> (US$ 1.5M)	R$ 5.6M</a:t>
              </a:r>
            </a:p>
            <a:p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pt-BR" sz="1600" b="1" dirty="0">
                  <a:solidFill>
                    <a:schemeClr val="bg1"/>
                  </a:solidFill>
                </a:rPr>
                <a:t>PS = R$ </a:t>
              </a:r>
              <a:r>
                <a:rPr lang="pt-BR" sz="1600" b="1" dirty="0" smtClean="0">
                  <a:solidFill>
                    <a:schemeClr val="bg1"/>
                  </a:solidFill>
                </a:rPr>
                <a:t>1.4M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Nice (US$ 351K) 	R$ 1.3M</a:t>
              </a:r>
              <a:endParaRPr lang="pt-BR" sz="16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Contax IT 		R$ 150K</a:t>
              </a:r>
            </a:p>
            <a:p>
              <a:endParaRPr lang="pt-BR" sz="1600" dirty="0" smtClean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Total = R$ 8M</a:t>
              </a:r>
              <a:endParaRPr lang="pt-BR" sz="1600" b="1" dirty="0">
                <a:solidFill>
                  <a:schemeClr val="bg1"/>
                </a:solidFill>
              </a:endParaRPr>
            </a:p>
            <a:p>
              <a:r>
                <a:rPr lang="pt-BR" sz="1600" b="1" dirty="0" smtClean="0">
                  <a:solidFill>
                    <a:schemeClr val="bg1"/>
                  </a:solidFill>
                </a:rPr>
                <a:t>Manutenção e Garantia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smtClean="0">
                  <a:solidFill>
                    <a:schemeClr val="bg1"/>
                  </a:solidFill>
                </a:rPr>
                <a:t>Nice (US$ 261K)	R$ 1M (Anual)</a:t>
              </a:r>
            </a:p>
          </p:txBody>
        </p:sp>
      </p:grp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70" y="2003877"/>
            <a:ext cx="3361552" cy="950338"/>
          </a:xfrm>
          <a:prstGeom prst="rect">
            <a:avLst/>
          </a:prstGeom>
        </p:spPr>
      </p:pic>
      <p:sp>
        <p:nvSpPr>
          <p:cNvPr id="31" name="CaixaDeTexto 30"/>
          <p:cNvSpPr txBox="1"/>
          <p:nvPr/>
        </p:nvSpPr>
        <p:spPr>
          <a:xfrm>
            <a:off x="757935" y="1623921"/>
            <a:ext cx="289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Proposta Nice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795470" y="2973101"/>
            <a:ext cx="2894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Com este projeto eliminamos todas as plataformas obsoletas do Nice e realizamos o Upgrade para o Nice 6.3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189256" y="19928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1.1 Projeto Gravação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23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01" y="289005"/>
            <a:ext cx="1203624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7287006" y="4384319"/>
            <a:ext cx="717171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1139825" y="1"/>
            <a:ext cx="592520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783287" y="19928"/>
            <a:ext cx="3604030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402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4.1 Projeto </a:t>
            </a:r>
            <a:r>
              <a:rPr lang="pt-BR" sz="2402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Monitoração</a:t>
            </a:r>
            <a:endParaRPr lang="pt-BR" sz="1426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22692" y="187112"/>
            <a:ext cx="3134203" cy="549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Problemas: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de dados por “crash” em discos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Baixa performance  de servidores por problemas de Hardware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Falta de monitoração de saúde do ambiente</a:t>
            </a:r>
          </a:p>
          <a:p>
            <a:endParaRPr lang="pt-BR" sz="1050" dirty="0"/>
          </a:p>
          <a:p>
            <a:r>
              <a:rPr lang="pt-BR" sz="1050" b="1" dirty="0"/>
              <a:t>Efeito: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Financeira ( falha de backup / gravação)</a:t>
            </a:r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Perda de credibilidade</a:t>
            </a:r>
          </a:p>
          <a:p>
            <a:endParaRPr lang="pt-BR" sz="1050" dirty="0"/>
          </a:p>
          <a:p>
            <a:r>
              <a:rPr lang="pt-BR" sz="1050" b="1" dirty="0"/>
              <a:t>Solução definitiva: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dirty="0"/>
              <a:t>Utilizar a ferramenta DELL </a:t>
            </a:r>
            <a:r>
              <a:rPr lang="pt-BR" sz="1050" dirty="0" err="1"/>
              <a:t>OpenManager</a:t>
            </a:r>
            <a:r>
              <a:rPr lang="pt-BR" sz="1050" dirty="0"/>
              <a:t> Essentials</a:t>
            </a:r>
          </a:p>
          <a:p>
            <a:pPr lvl="1"/>
            <a:r>
              <a:rPr lang="pt-BR" sz="1050" dirty="0"/>
              <a:t>Obs.: Instalação realizada por engenheiro DELL com transferência de conhecimento.</a:t>
            </a:r>
          </a:p>
          <a:p>
            <a:pPr marL="128708" indent="-128708">
              <a:buFont typeface="Arial" pitchFamily="34" charset="0"/>
              <a:buChar char="•"/>
            </a:pPr>
            <a:r>
              <a:rPr lang="pt-BR" sz="1050" dirty="0"/>
              <a:t>Preparar ferramenta </a:t>
            </a:r>
            <a:r>
              <a:rPr lang="pt-BR" sz="1050" dirty="0" err="1"/>
              <a:t>Zabixx</a:t>
            </a:r>
            <a:r>
              <a:rPr lang="pt-BR" sz="1050" dirty="0"/>
              <a:t> para monitoração de serviços</a:t>
            </a:r>
          </a:p>
          <a:p>
            <a:pPr lvl="1"/>
            <a:endParaRPr lang="pt-BR" sz="1050" dirty="0"/>
          </a:p>
          <a:p>
            <a:r>
              <a:rPr lang="pt-BR" sz="1050" b="1" dirty="0"/>
              <a:t>Investimento :</a:t>
            </a:r>
          </a:p>
          <a:p>
            <a:endParaRPr lang="pt-BR" sz="1050" b="1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u="sng" dirty="0"/>
              <a:t>Sem necessidade de desembolso </a:t>
            </a:r>
            <a:r>
              <a:rPr lang="pt-BR" sz="1050" u="sng" dirty="0" smtClean="0"/>
              <a:t>para</a:t>
            </a:r>
            <a:r>
              <a:rPr lang="pt-BR" sz="1050" dirty="0" smtClean="0"/>
              <a:t>: </a:t>
            </a:r>
          </a:p>
          <a:p>
            <a:pPr marL="671713" lvl="1" indent="-214513">
              <a:buFont typeface="Arial" panose="020B0604020202020204" pitchFamily="34" charset="0"/>
              <a:buChar char="•"/>
            </a:pPr>
            <a:r>
              <a:rPr lang="pt-BR" sz="1050" dirty="0" smtClean="0"/>
              <a:t>Ferramenta </a:t>
            </a:r>
            <a:r>
              <a:rPr lang="pt-BR" sz="1050" dirty="0"/>
              <a:t>DELL </a:t>
            </a:r>
            <a:r>
              <a:rPr lang="pt-BR" sz="1050" dirty="0" err="1"/>
              <a:t>OpenManager</a:t>
            </a:r>
            <a:r>
              <a:rPr lang="pt-BR" sz="1050" dirty="0"/>
              <a:t> Essentials</a:t>
            </a:r>
            <a:r>
              <a:rPr lang="pt-BR" sz="1050" dirty="0" smtClean="0"/>
              <a:t>);</a:t>
            </a:r>
          </a:p>
          <a:p>
            <a:pPr marL="671713" lvl="1" indent="-214513">
              <a:buFont typeface="Arial" panose="020B0604020202020204" pitchFamily="34" charset="0"/>
              <a:buChar char="•"/>
            </a:pPr>
            <a:r>
              <a:rPr lang="pt-BR" sz="1050" u="sng" dirty="0"/>
              <a:t>2 servidores numa </a:t>
            </a:r>
            <a:r>
              <a:rPr lang="pt-BR" sz="1050" u="sng" dirty="0" err="1"/>
              <a:t>Blade</a:t>
            </a:r>
            <a:endParaRPr lang="pt-BR" sz="1050" u="sng" dirty="0"/>
          </a:p>
          <a:p>
            <a:pPr marL="214513" indent="-214513">
              <a:buFont typeface="Arial" panose="020B0604020202020204" pitchFamily="34" charset="0"/>
              <a:buChar char="•"/>
            </a:pPr>
            <a:r>
              <a:rPr lang="pt-BR" sz="1050" b="1" u="sng" dirty="0"/>
              <a:t>R$ 70.000,00 </a:t>
            </a:r>
            <a:r>
              <a:rPr lang="pt-BR" sz="1050" u="sng" dirty="0" smtClean="0"/>
              <a:t>para licença </a:t>
            </a:r>
            <a:r>
              <a:rPr lang="pt-BR" sz="1050" u="sng" dirty="0"/>
              <a:t>de SQL Standard </a:t>
            </a:r>
            <a:r>
              <a:rPr lang="pt-BR" sz="1050" dirty="0"/>
              <a:t>( monitoração de 4000 </a:t>
            </a:r>
            <a:r>
              <a:rPr lang="pt-BR" sz="1050" dirty="0" err="1"/>
              <a:t>devices</a:t>
            </a:r>
            <a:r>
              <a:rPr lang="pt-BR" sz="1050" dirty="0"/>
              <a:t>) (em validação da disponibilidade de licença</a:t>
            </a:r>
            <a:r>
              <a:rPr lang="pt-BR" sz="1050" dirty="0" smtClean="0"/>
              <a:t>);</a:t>
            </a:r>
            <a:endParaRPr lang="pt-BR" sz="1050" dirty="0"/>
          </a:p>
          <a:p>
            <a:endParaRPr lang="pt-BR" sz="901" dirty="0"/>
          </a:p>
          <a:p>
            <a:endParaRPr lang="pt-BR" sz="901" dirty="0"/>
          </a:p>
          <a:p>
            <a:pPr marL="214513" indent="-214513">
              <a:buFont typeface="Arial" panose="020B0604020202020204" pitchFamily="34" charset="0"/>
              <a:buChar char="•"/>
            </a:pPr>
            <a:endParaRPr lang="pt-BR" sz="901" dirty="0"/>
          </a:p>
          <a:p>
            <a:pPr marL="557733" lvl="1" indent="-214513">
              <a:buFont typeface="Arial" panose="020B0604020202020204" pitchFamily="34" charset="0"/>
              <a:buChar char="•"/>
            </a:pPr>
            <a:endParaRPr lang="pt-BR" sz="901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917180" y="585300"/>
            <a:ext cx="3266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 smtClean="0"/>
              <a:t>1. Prós</a:t>
            </a:r>
            <a:endParaRPr lang="pt-BR" sz="1050" b="1" dirty="0"/>
          </a:p>
          <a:p>
            <a:endParaRPr lang="pt-BR" sz="1050" b="1" dirty="0"/>
          </a:p>
          <a:p>
            <a:r>
              <a:rPr lang="pt-BR" sz="1050" b="1" dirty="0"/>
              <a:t>Soluciona os seguintes problemas: </a:t>
            </a:r>
          </a:p>
          <a:p>
            <a:endParaRPr lang="pt-BR" sz="1050" b="1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Falta de monitoração pró ativa de hardware;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Elimina a possibilidade de perda de dados por falta de visibilidade do ambiente;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Mantem a monitoração centralizada no </a:t>
            </a:r>
            <a:r>
              <a:rPr lang="pt-BR" sz="1050" dirty="0" err="1"/>
              <a:t>Zabixx</a:t>
            </a:r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Permite a monitoração de </a:t>
            </a:r>
            <a:r>
              <a:rPr lang="pt-BR" sz="1050" dirty="0" err="1"/>
              <a:t>devices</a:t>
            </a:r>
            <a:r>
              <a:rPr lang="pt-BR" sz="1050" dirty="0"/>
              <a:t> de outros fabricantes</a:t>
            </a:r>
          </a:p>
          <a:p>
            <a:endParaRPr lang="pt-BR" sz="1050" dirty="0"/>
          </a:p>
          <a:p>
            <a:r>
              <a:rPr lang="pt-BR" sz="1050" b="1" dirty="0"/>
              <a:t>Ganhos</a:t>
            </a:r>
          </a:p>
          <a:p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Uso efetivo do contrato em servidores que o possuem;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Aquisição de conhecimento interno para a manutenção da ferramenta;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Efetiva monitoração pró ativa da saúde do ambiente (Hardware)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Inventário do ambiente incluindo </a:t>
            </a:r>
            <a:r>
              <a:rPr lang="pt-BR" sz="1050" dirty="0" err="1"/>
              <a:t>capacity</a:t>
            </a:r>
            <a:r>
              <a:rPr lang="pt-BR" sz="1050" dirty="0"/>
              <a:t>;</a:t>
            </a:r>
          </a:p>
          <a:p>
            <a:endParaRPr lang="pt-BR" sz="1050" b="1" dirty="0"/>
          </a:p>
          <a:p>
            <a:r>
              <a:rPr lang="pt-BR" sz="1050" b="1" dirty="0"/>
              <a:t>2</a:t>
            </a:r>
            <a:r>
              <a:rPr lang="pt-BR" sz="1050" b="1" dirty="0" smtClean="0"/>
              <a:t>. Contras</a:t>
            </a:r>
            <a:endParaRPr lang="pt-BR" sz="1050" b="1" dirty="0"/>
          </a:p>
          <a:p>
            <a:pPr marL="128708" indent="-128708">
              <a:buFont typeface="Arial" panose="020B0604020202020204" pitchFamily="34" charset="0"/>
              <a:buChar char="•"/>
            </a:pPr>
            <a:endParaRPr lang="pt-BR" sz="105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050" dirty="0"/>
              <a:t>Mais um sistema a ser operado;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66932" y="4880963"/>
            <a:ext cx="4555742" cy="21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26" dirty="0"/>
              <a:t>*Solução elaborada pelos times Engenharia IT/ CSE / Engenharia </a:t>
            </a:r>
          </a:p>
        </p:txBody>
      </p:sp>
      <p:pic>
        <p:nvPicPr>
          <p:cNvPr id="4" name="Picture 2" descr="http://zh.community.dell.com/resized-image.ashx/__size/550x0/__key/communityserver-wikis-components-files/00-00-00-00-46/7120._3462145C_OpenManage-Essentials_08FF_OME_09FFFB7CDF7EA17B06745759F64E8269C889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45" y="1636668"/>
            <a:ext cx="2296720" cy="167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624" y="3475308"/>
            <a:ext cx="909011" cy="909011"/>
          </a:xfrm>
          <a:prstGeom prst="rect">
            <a:avLst/>
          </a:prstGeom>
        </p:spPr>
      </p:pic>
      <p:sp>
        <p:nvSpPr>
          <p:cNvPr id="6" name="Retângulo de cantos arredondados 5"/>
          <p:cNvSpPr/>
          <p:nvPr/>
        </p:nvSpPr>
        <p:spPr>
          <a:xfrm>
            <a:off x="182547" y="3426589"/>
            <a:ext cx="2959840" cy="1653950"/>
          </a:xfrm>
          <a:prstGeom prst="round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02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01" y="289005"/>
            <a:ext cx="1203624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7614325" y="4364691"/>
            <a:ext cx="717171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46198"/>
            <a:ext cx="592520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32899" y="-62061"/>
            <a:ext cx="5029451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Projeto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Monitoração – Fase 2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65505" y="565489"/>
            <a:ext cx="3627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Preparar ferramenta </a:t>
            </a:r>
            <a:r>
              <a:rPr lang="pt-BR" sz="1200" b="1" dirty="0" err="1"/>
              <a:t>Zabixx</a:t>
            </a:r>
            <a:r>
              <a:rPr lang="pt-BR" sz="1200" b="1" dirty="0"/>
              <a:t> para monitoração de serviços</a:t>
            </a:r>
          </a:p>
          <a:p>
            <a:pPr lvl="1"/>
            <a:endParaRPr lang="pt-B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Fazer monitoração de serviços e aplicações;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Integração com Dell Open Manager Essentials;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Desenvolvimento de competência de administração e configuração da ferramenta</a:t>
            </a:r>
            <a:r>
              <a:rPr lang="pt-BR" sz="1200" dirty="0" smtClean="0"/>
              <a:t>;</a:t>
            </a:r>
            <a:endParaRPr lang="pt-BR" sz="1200" b="1" dirty="0"/>
          </a:p>
          <a:p>
            <a:pPr marL="128708" indent="-128708">
              <a:buFontTx/>
              <a:buChar char="-"/>
            </a:pPr>
            <a:endParaRPr lang="pt-BR" sz="1200" b="1" dirty="0"/>
          </a:p>
          <a:p>
            <a:r>
              <a:rPr lang="pt-BR" sz="1200" b="1" dirty="0" smtClean="0"/>
              <a:t>Investimento:</a:t>
            </a:r>
            <a:endParaRPr lang="pt-B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R$ 20.000,00</a:t>
            </a:r>
          </a:p>
          <a:p>
            <a:r>
              <a:rPr lang="pt-BR" sz="1200" dirty="0"/>
              <a:t>(Treinamento com certificação para 4 recursos)</a:t>
            </a:r>
          </a:p>
          <a:p>
            <a:r>
              <a:rPr lang="pt-BR" sz="1200" dirty="0"/>
              <a:t>(Consultoria de configuração da ferramenta</a:t>
            </a:r>
            <a:r>
              <a:rPr lang="pt-BR" sz="1200" dirty="0" smtClean="0"/>
              <a:t>)</a:t>
            </a:r>
            <a:endParaRPr lang="pt-BR" sz="1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4558534" y="683804"/>
            <a:ext cx="43177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Prós</a:t>
            </a:r>
            <a:endParaRPr lang="pt-BR" sz="1200" b="1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Utilizar ferramenta  open </a:t>
            </a:r>
            <a:r>
              <a:rPr lang="pt-BR" sz="1200" dirty="0" err="1"/>
              <a:t>source</a:t>
            </a:r>
            <a:r>
              <a:rPr lang="pt-BR" sz="1200" dirty="0"/>
              <a:t> já implantada;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Melhora a visibilidade  e administração do ambiente;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Desenvolvimento de monitoração pró ativa.</a:t>
            </a:r>
          </a:p>
          <a:p>
            <a:endParaRPr lang="pt-BR" sz="1200" dirty="0"/>
          </a:p>
          <a:p>
            <a:r>
              <a:rPr lang="pt-BR" sz="1200" b="1" dirty="0" smtClean="0"/>
              <a:t>Ganhos</a:t>
            </a:r>
            <a:endParaRPr lang="pt-BR" sz="120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Uso efetivo do contrato em servidores que o possuem;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Aquisição de conhecimento interno para a manutenção da ferramenta;</a:t>
            </a:r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u="sng" dirty="0"/>
              <a:t>Efetiva monitoração pró ativa da saúde do ambiente (Software</a:t>
            </a:r>
            <a:r>
              <a:rPr lang="pt-BR" sz="1200" u="sng" dirty="0" smtClean="0"/>
              <a:t>)</a:t>
            </a:r>
            <a:endParaRPr lang="pt-BR" sz="1200" b="1" u="sng" dirty="0"/>
          </a:p>
          <a:p>
            <a:endParaRPr lang="pt-BR" sz="1200" b="1" dirty="0"/>
          </a:p>
          <a:p>
            <a:r>
              <a:rPr lang="pt-BR" sz="1200" b="1" dirty="0" smtClean="0"/>
              <a:t>Contras</a:t>
            </a:r>
            <a:endParaRPr lang="pt-BR" sz="1200" dirty="0"/>
          </a:p>
          <a:p>
            <a:pPr marL="128708" indent="-128708">
              <a:buFont typeface="Arial" panose="020B0604020202020204" pitchFamily="34" charset="0"/>
              <a:buChar char="•"/>
            </a:pPr>
            <a:r>
              <a:rPr lang="pt-BR" sz="1200" dirty="0"/>
              <a:t>Necessidade  de investimento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66932" y="4880963"/>
            <a:ext cx="4555742" cy="21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26" dirty="0"/>
              <a:t>*Solução elaborada pelos times Engenharia IT/ CSE / Engenharia </a:t>
            </a:r>
          </a:p>
        </p:txBody>
      </p:sp>
      <p:pic>
        <p:nvPicPr>
          <p:cNvPr id="1028" name="Picture 4" descr="http://technozed.com/wp-content/uploads/2015/06/zabbix-monitoring-system-featured-log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05" y="3034712"/>
            <a:ext cx="2798883" cy="200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4347860" y="3467487"/>
            <a:ext cx="3266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Estratégia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Configuração em conjunto com a consultoria  para os </a:t>
            </a:r>
            <a:r>
              <a:rPr lang="pt-BR" sz="1200" dirty="0" err="1" smtClean="0"/>
              <a:t>Santantder</a:t>
            </a:r>
            <a:r>
              <a:rPr lang="pt-BR" sz="1200" dirty="0"/>
              <a:t> </a:t>
            </a:r>
            <a:r>
              <a:rPr lang="pt-BR" sz="1200" dirty="0" smtClean="0"/>
              <a:t>e </a:t>
            </a:r>
            <a:r>
              <a:rPr lang="pt-BR" sz="1200" dirty="0" err="1" smtClean="0"/>
              <a:t>Cielo</a:t>
            </a:r>
            <a:endParaRPr lang="pt-B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/>
              <a:t>Prazo: 2 semanas cada cliente  </a:t>
            </a:r>
            <a:endParaRPr lang="pt-BR" sz="1200" dirty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4435028" y="1492222"/>
            <a:ext cx="4441302" cy="1251231"/>
          </a:xfrm>
          <a:prstGeom prst="round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97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186529"/>
            <a:ext cx="1603348" cy="291323"/>
          </a:xfrm>
          <a:prstGeom prst="rect">
            <a:avLst/>
          </a:prstGeom>
        </p:spPr>
      </p:pic>
      <p:pic>
        <p:nvPicPr>
          <p:cNvPr id="13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-174171" y="21583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Gestão de Mudanças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98833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3091543" y="1215152"/>
            <a:ext cx="5681117" cy="38222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pt-BR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Objetivos: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Garantir 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o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Registro</a:t>
            </a:r>
            <a:r>
              <a:rPr lang="pt-BR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e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Produzir Indicadores</a:t>
            </a:r>
            <a:r>
              <a:rPr lang="pt-BR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para gerenciamento e decisão</a:t>
            </a:r>
            <a:endParaRPr lang="pt-BR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>
              <a:spcBef>
                <a:spcPct val="0"/>
              </a:spcBef>
            </a:pPr>
            <a:endParaRPr lang="pt-BR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71913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Definir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ritos diferentes para mudanças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diferentes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(menor; significativa; maior);</a:t>
            </a:r>
          </a:p>
          <a:p>
            <a:pPr marL="71913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Automatizar um “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Registro Rápido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” para mudanças menores;</a:t>
            </a:r>
          </a:p>
          <a:p>
            <a:pPr marL="71913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Elaborar e divulgar uma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Politica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definindo regras e sanções relativas a efetivação 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mudanças em ambiente de produção sem registro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;</a:t>
            </a:r>
          </a:p>
          <a:p>
            <a:pPr marL="71913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Avaliar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recursos, papéis e responsabilidades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da </a:t>
            </a:r>
            <a:r>
              <a:rPr lang="pt-BR" sz="14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equipe 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GMUD;</a:t>
            </a:r>
          </a:p>
          <a:p>
            <a:pPr marL="71913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Revisar periodicamente 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processo</a:t>
            </a:r>
            <a:r>
              <a:rPr lang="pt-BR" sz="14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 de 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Mudanças </a:t>
            </a:r>
            <a:r>
              <a:rPr lang="pt-BR" sz="14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(2016</a:t>
            </a:r>
            <a:r>
              <a:rPr lang="pt-BR" sz="1400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).</a:t>
            </a:r>
            <a:endParaRPr lang="pt-BR" sz="1400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44" y="1875780"/>
            <a:ext cx="2521524" cy="2905026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1861980" y="2075543"/>
            <a:ext cx="1070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Controlado.</a:t>
            </a:r>
            <a:endParaRPr lang="pt-BR" sz="1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405087" y="4377545"/>
            <a:ext cx="1527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Descontrolado!</a:t>
            </a:r>
            <a:endParaRPr lang="pt-BR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79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4508897" y="1087561"/>
            <a:ext cx="4439894" cy="1943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51" b="1" dirty="0"/>
              <a:t>15 SITES CRÍTICOS – 1541 Servidores  </a:t>
            </a:r>
          </a:p>
        </p:txBody>
      </p:sp>
      <p:sp>
        <p:nvSpPr>
          <p:cNvPr id="9" name="Retângulo 8"/>
          <p:cNvSpPr/>
          <p:nvPr/>
        </p:nvSpPr>
        <p:spPr>
          <a:xfrm>
            <a:off x="393226" y="3634235"/>
            <a:ext cx="1333402" cy="817587"/>
          </a:xfrm>
          <a:prstGeom prst="rect">
            <a:avLst/>
          </a:prstGeom>
          <a:solidFill>
            <a:srgbClr val="B50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>
                <a:latin typeface="Arial Black" pitchFamily="34" charset="0"/>
              </a:rPr>
              <a:t>19,8%</a:t>
            </a:r>
          </a:p>
          <a:p>
            <a:pPr algn="ctr"/>
            <a:r>
              <a:rPr lang="pt-BR" sz="826" dirty="0">
                <a:latin typeface="Arial" pitchFamily="34" charset="0"/>
                <a:cs typeface="Arial" pitchFamily="34" charset="0"/>
              </a:rPr>
              <a:t>680 SERVIDORES SEM </a:t>
            </a:r>
            <a:r>
              <a:rPr lang="pt-BR" sz="826" dirty="0" smtClean="0">
                <a:latin typeface="Arial" pitchFamily="34" charset="0"/>
                <a:cs typeface="Arial" pitchFamily="34" charset="0"/>
              </a:rPr>
              <a:t>BACKUP </a:t>
            </a:r>
            <a:r>
              <a:rPr lang="pt-BR" sz="1050" dirty="0" smtClean="0">
                <a:latin typeface="Arial" pitchFamily="34" charset="0"/>
                <a:cs typeface="Arial" pitchFamily="34" charset="0"/>
              </a:rPr>
              <a:t>estimado </a:t>
            </a:r>
            <a:endParaRPr lang="pt-BR" sz="826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509638" y="444242"/>
            <a:ext cx="6353516" cy="45050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8644" tIns="34322" rIns="68644" bIns="34322">
            <a:spAutoFit/>
          </a:bodyPr>
          <a:lstStyle/>
          <a:p>
            <a:endParaRPr lang="pt-BR" sz="2402" b="1" dirty="0">
              <a:ln w="12700">
                <a:noFill/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369793"/>
              </p:ext>
            </p:extLst>
          </p:nvPr>
        </p:nvGraphicFramePr>
        <p:xfrm>
          <a:off x="4188722" y="1481699"/>
          <a:ext cx="4941455" cy="2822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2863895" y="4884863"/>
            <a:ext cx="1645002" cy="196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76" dirty="0"/>
              <a:t>* Porcentagem de servidores sem backup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2025977" y="3634235"/>
            <a:ext cx="1333402" cy="80796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>
                <a:latin typeface="Arial Black" pitchFamily="34" charset="0"/>
              </a:rPr>
              <a:t>18,2%</a:t>
            </a:r>
          </a:p>
          <a:p>
            <a:pPr algn="ctr"/>
            <a:r>
              <a:rPr lang="pt-BR" sz="900" dirty="0">
                <a:latin typeface="Arial" pitchFamily="34" charset="0"/>
                <a:cs typeface="Arial" pitchFamily="34" charset="0"/>
              </a:rPr>
              <a:t>Após ações Navegantes e Engenho de Dentro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635529" y="124441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Situação de Backup </a:t>
            </a:r>
          </a:p>
          <a:p>
            <a:pPr>
              <a:buClr>
                <a:srgbClr val="800000"/>
              </a:buClr>
            </a:pP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Referencia 21 Outubro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45" y="4380100"/>
            <a:ext cx="957155" cy="76816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86452" cy="77425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06" y="966872"/>
            <a:ext cx="2063070" cy="176467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575" y="1031440"/>
            <a:ext cx="1932096" cy="16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673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01" y="289005"/>
            <a:ext cx="1203624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426829" y="4384318"/>
            <a:ext cx="717171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592520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62743" y="19928"/>
            <a:ext cx="5124574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402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4.1 Backup – Ações em andamento</a:t>
            </a:r>
            <a:endParaRPr lang="pt-BR" sz="1426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82047" y="719613"/>
            <a:ext cx="6885966" cy="1000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 </a:t>
            </a:r>
            <a:r>
              <a:rPr lang="pt-BR" b="1" i="1" u="sng" dirty="0">
                <a:solidFill>
                  <a:schemeClr val="accent5">
                    <a:lumMod val="50000"/>
                  </a:schemeClr>
                </a:solidFill>
              </a:rPr>
              <a:t>L</a:t>
            </a:r>
            <a:r>
              <a:rPr lang="pt-BR" b="1" i="1" u="sng" dirty="0" smtClean="0">
                <a:solidFill>
                  <a:schemeClr val="accent5">
                    <a:lumMod val="50000"/>
                  </a:schemeClr>
                </a:solidFill>
              </a:rPr>
              <a:t>evantamento </a:t>
            </a:r>
            <a:r>
              <a:rPr lang="pt-BR" b="1" i="1" u="sng" dirty="0">
                <a:solidFill>
                  <a:schemeClr val="accent5">
                    <a:lumMod val="50000"/>
                  </a:schemeClr>
                </a:solidFill>
              </a:rPr>
              <a:t>dos Sites mais </a:t>
            </a:r>
            <a:r>
              <a:rPr lang="pt-BR" b="1" i="1" u="sng" dirty="0" smtClean="0">
                <a:solidFill>
                  <a:schemeClr val="accent5">
                    <a:lumMod val="50000"/>
                  </a:schemeClr>
                </a:solidFill>
              </a:rPr>
              <a:t>“críticos” sem backup:</a:t>
            </a:r>
          </a:p>
          <a:p>
            <a:pPr marL="285750" indent="-285750">
              <a:buFontTx/>
              <a:buChar char="-"/>
            </a:pPr>
            <a:r>
              <a:rPr lang="pt-BR" sz="1600" b="1" i="1" dirty="0" smtClean="0">
                <a:solidFill>
                  <a:schemeClr val="accent5">
                    <a:lumMod val="50000"/>
                  </a:schemeClr>
                </a:solidFill>
              </a:rPr>
              <a:t>Navegantes</a:t>
            </a:r>
            <a:r>
              <a:rPr lang="pt-BR" sz="1600" b="1" dirty="0">
                <a:solidFill>
                  <a:schemeClr val="accent5">
                    <a:lumMod val="50000"/>
                  </a:schemeClr>
                </a:solidFill>
              </a:rPr>
              <a:t>, sem hardware de </a:t>
            </a:r>
            <a:r>
              <a:rPr lang="pt-BR" sz="1600" b="1" dirty="0" smtClean="0">
                <a:solidFill>
                  <a:schemeClr val="accent5">
                    <a:lumMod val="50000"/>
                  </a:schemeClr>
                </a:solidFill>
              </a:rPr>
              <a:t>backup</a:t>
            </a:r>
          </a:p>
          <a:p>
            <a:pPr marL="285750" indent="-285750">
              <a:buFontTx/>
              <a:buChar char="-"/>
            </a:pPr>
            <a:r>
              <a:rPr lang="pt-BR" sz="1600" b="1" dirty="0" smtClean="0">
                <a:solidFill>
                  <a:schemeClr val="accent5">
                    <a:lumMod val="50000"/>
                  </a:schemeClr>
                </a:solidFill>
              </a:rPr>
              <a:t>Engenho </a:t>
            </a:r>
            <a:r>
              <a:rPr lang="pt-BR" sz="1600" b="1" dirty="0">
                <a:solidFill>
                  <a:schemeClr val="accent5">
                    <a:lumMod val="50000"/>
                  </a:schemeClr>
                </a:solidFill>
              </a:rPr>
              <a:t>de Dentro, contam apenas com uma tape </a:t>
            </a:r>
            <a:r>
              <a:rPr lang="pt-BR" sz="1600" b="1" dirty="0" err="1" smtClean="0">
                <a:solidFill>
                  <a:schemeClr val="accent5">
                    <a:lumMod val="50000"/>
                  </a:schemeClr>
                </a:solidFill>
              </a:rPr>
              <a:t>library</a:t>
            </a:r>
            <a:r>
              <a:rPr lang="pt-BR" sz="1600" b="1" dirty="0" smtClean="0">
                <a:solidFill>
                  <a:schemeClr val="accent5">
                    <a:lumMod val="50000"/>
                  </a:schemeClr>
                </a:solidFill>
              </a:rPr>
              <a:t> para substituir</a:t>
            </a:r>
            <a:endParaRPr lang="pt-BR" sz="901" dirty="0">
              <a:solidFill>
                <a:schemeClr val="accent5">
                  <a:lumMod val="50000"/>
                </a:schemeClr>
              </a:solidFill>
            </a:endParaRPr>
          </a:p>
          <a:p>
            <a:pPr marL="557733" lvl="1" indent="-214513">
              <a:buFont typeface="Arial" panose="020B0604020202020204" pitchFamily="34" charset="0"/>
              <a:buChar char="•"/>
            </a:pPr>
            <a:endParaRPr lang="pt-BR" sz="901" dirty="0"/>
          </a:p>
        </p:txBody>
      </p:sp>
      <p:sp>
        <p:nvSpPr>
          <p:cNvPr id="3" name="Retângulo 2"/>
          <p:cNvSpPr/>
          <p:nvPr/>
        </p:nvSpPr>
        <p:spPr>
          <a:xfrm>
            <a:off x="5603104" y="4880963"/>
            <a:ext cx="4555742" cy="219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26" dirty="0"/>
              <a:t>*Solução elaborada pelos times Engenharia IT/ CSE / Engenharia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47" y="1953518"/>
            <a:ext cx="1947496" cy="829077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6510098" y="2175631"/>
            <a:ext cx="3134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accent5">
                    <a:lumMod val="50000"/>
                  </a:schemeClr>
                </a:solidFill>
              </a:rPr>
              <a:t>Site Navegantes:  43 servidores</a:t>
            </a:r>
            <a:endParaRPr lang="pt-BR" sz="11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999455" y="2175631"/>
            <a:ext cx="313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S</a:t>
            </a:r>
            <a:r>
              <a:rPr lang="pt-BR" sz="1200" b="1" dirty="0" smtClean="0">
                <a:solidFill>
                  <a:schemeClr val="accent5">
                    <a:lumMod val="50000"/>
                  </a:schemeClr>
                </a:solidFill>
              </a:rPr>
              <a:t>olicitado </a:t>
            </a:r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envio de um robô </a:t>
            </a:r>
            <a:r>
              <a:rPr lang="pt-BR" sz="1200" b="1" dirty="0" smtClean="0">
                <a:solidFill>
                  <a:schemeClr val="accent5">
                    <a:lumMod val="50000"/>
                  </a:schemeClr>
                </a:solidFill>
              </a:rPr>
              <a:t>resultante </a:t>
            </a:r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da desmobilização da </a:t>
            </a: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</a:rPr>
              <a:t>Ability</a:t>
            </a:r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pt-BR" sz="105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eta em curva para baixo 5"/>
          <p:cNvSpPr/>
          <p:nvPr/>
        </p:nvSpPr>
        <p:spPr>
          <a:xfrm>
            <a:off x="2329543" y="1578081"/>
            <a:ext cx="4474028" cy="580328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Seta em curva para baixo 12"/>
          <p:cNvSpPr/>
          <p:nvPr/>
        </p:nvSpPr>
        <p:spPr>
          <a:xfrm>
            <a:off x="2329542" y="2671244"/>
            <a:ext cx="4474028" cy="580328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496895" y="3292148"/>
            <a:ext cx="3134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accent5">
                    <a:lumMod val="50000"/>
                  </a:schemeClr>
                </a:solidFill>
              </a:rPr>
              <a:t>Engenho de Dentro:  11 servidores</a:t>
            </a:r>
            <a:endParaRPr lang="pt-BR" sz="11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085060" y="3292689"/>
            <a:ext cx="3134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S</a:t>
            </a:r>
            <a:r>
              <a:rPr lang="pt-BR" sz="1200" b="1" dirty="0" smtClean="0">
                <a:solidFill>
                  <a:schemeClr val="accent5">
                    <a:lumMod val="50000"/>
                  </a:schemeClr>
                </a:solidFill>
              </a:rPr>
              <a:t>olicitado </a:t>
            </a:r>
            <a:r>
              <a:rPr lang="pt-BR" sz="1200" b="1" dirty="0">
                <a:solidFill>
                  <a:schemeClr val="accent5">
                    <a:lumMod val="50000"/>
                  </a:schemeClr>
                </a:solidFill>
              </a:rPr>
              <a:t>envio de um robô que </a:t>
            </a:r>
            <a:r>
              <a:rPr lang="pt-BR" sz="1200" b="1" dirty="0" smtClean="0">
                <a:solidFill>
                  <a:schemeClr val="accent5">
                    <a:lumMod val="50000"/>
                  </a:schemeClr>
                </a:solidFill>
              </a:rPr>
              <a:t>esta na Av. Paulista 07 sem uso </a:t>
            </a:r>
            <a:endParaRPr lang="pt-BR" sz="105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060" y="658437"/>
            <a:ext cx="1220874" cy="1220874"/>
          </a:xfrm>
          <a:prstGeom prst="rect">
            <a:avLst/>
          </a:prstGeom>
        </p:spPr>
      </p:pic>
      <p:sp>
        <p:nvSpPr>
          <p:cNvPr id="19" name="Retângulo 18"/>
          <p:cNvSpPr/>
          <p:nvPr/>
        </p:nvSpPr>
        <p:spPr>
          <a:xfrm>
            <a:off x="2459006" y="3994493"/>
            <a:ext cx="456746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600" b="1" cap="none" spc="0" dirty="0" smtClean="0">
                <a:ln w="6600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680/54 Redução de 8%</a:t>
            </a:r>
            <a:endParaRPr lang="pt-BR" sz="3600" b="1" cap="none" spc="0" dirty="0">
              <a:ln w="6600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4">
                  <a:lumMod val="75000"/>
                </a:schemeClr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47" y="3031499"/>
            <a:ext cx="1947496" cy="8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8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6" grpId="0" animBg="1"/>
      <p:bldP spid="13" grpId="0" animBg="1"/>
      <p:bldP spid="14" grpId="0"/>
      <p:bldP spid="15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635529" y="124441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 Projeção de Projetos</a:t>
            </a:r>
          </a:p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Melhorias estruturais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140145" y="4096250"/>
            <a:ext cx="8552965" cy="491825"/>
            <a:chOff x="236119" y="2867237"/>
            <a:chExt cx="8552965" cy="491825"/>
          </a:xfrm>
        </p:grpSpPr>
        <p:graphicFrame>
          <p:nvGraphicFramePr>
            <p:cNvPr id="11" name="Diagrama 10"/>
            <p:cNvGraphicFramePr/>
            <p:nvPr>
              <p:extLst>
                <p:ext uri="{D42A27DB-BD31-4B8C-83A1-F6EECF244321}">
                  <p14:modId xmlns:p14="http://schemas.microsoft.com/office/powerpoint/2010/main" val="2139685997"/>
                </p:ext>
              </p:extLst>
            </p:nvPr>
          </p:nvGraphicFramePr>
          <p:xfrm>
            <a:off x="236119" y="2867237"/>
            <a:ext cx="6750509" cy="49182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8" name="Pentágono 17"/>
            <p:cNvSpPr/>
            <p:nvPr/>
          </p:nvSpPr>
          <p:spPr>
            <a:xfrm>
              <a:off x="7065687" y="2867237"/>
              <a:ext cx="1723397" cy="49182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Janeiro 2016</a:t>
              </a:r>
              <a:endParaRPr lang="pt-BR" dirty="0"/>
            </a:p>
          </p:txBody>
        </p:sp>
      </p:grpSp>
      <p:sp>
        <p:nvSpPr>
          <p:cNvPr id="17" name="Pentágono 16"/>
          <p:cNvSpPr/>
          <p:nvPr/>
        </p:nvSpPr>
        <p:spPr>
          <a:xfrm>
            <a:off x="1347848" y="3551197"/>
            <a:ext cx="6807450" cy="470419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b="1" i="1" dirty="0" err="1"/>
              <a:t>Proj</a:t>
            </a:r>
            <a:r>
              <a:rPr lang="pt-BR" sz="1400" b="1" i="1" dirty="0"/>
              <a:t>. </a:t>
            </a:r>
            <a:r>
              <a:rPr lang="pt-BR" sz="1400" b="1" i="1" dirty="0" smtClean="0"/>
              <a:t>Gravação (NICE)</a:t>
            </a:r>
            <a:endParaRPr lang="pt-BR" sz="1400" b="1" i="1" dirty="0"/>
          </a:p>
          <a:p>
            <a:r>
              <a:rPr lang="pt-BR" sz="1200" dirty="0"/>
              <a:t>Beneficiados: Santander, ITAU, Bradesco, VIVO, </a:t>
            </a:r>
            <a:r>
              <a:rPr lang="pt-BR" sz="1200" dirty="0" smtClean="0"/>
              <a:t>OI</a:t>
            </a:r>
            <a:endParaRPr lang="pt-BR" sz="1200" dirty="0"/>
          </a:p>
        </p:txBody>
      </p:sp>
      <p:sp>
        <p:nvSpPr>
          <p:cNvPr id="22" name="Pentágono 21"/>
          <p:cNvSpPr/>
          <p:nvPr/>
        </p:nvSpPr>
        <p:spPr>
          <a:xfrm>
            <a:off x="1347848" y="2440908"/>
            <a:ext cx="6840810" cy="573348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400" b="1" i="1" dirty="0" err="1"/>
              <a:t>Proj</a:t>
            </a:r>
            <a:r>
              <a:rPr lang="pt-BR" sz="1400" b="1" i="1" dirty="0"/>
              <a:t>. </a:t>
            </a:r>
            <a:r>
              <a:rPr lang="pt-B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Ura Internalização</a:t>
            </a:r>
            <a:endParaRPr lang="pt-BR" sz="105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1200" dirty="0" smtClean="0"/>
              <a:t>Beneficiados</a:t>
            </a:r>
            <a:r>
              <a:rPr lang="pt-BR" sz="1200" dirty="0"/>
              <a:t>: Santander CRC - SAC; TAM</a:t>
            </a:r>
          </a:p>
        </p:txBody>
      </p:sp>
      <p:sp>
        <p:nvSpPr>
          <p:cNvPr id="24" name="Pentágono 23"/>
          <p:cNvSpPr/>
          <p:nvPr/>
        </p:nvSpPr>
        <p:spPr>
          <a:xfrm>
            <a:off x="1347848" y="1875624"/>
            <a:ext cx="5412876" cy="573348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400" b="1" i="1" dirty="0" err="1"/>
              <a:t>Proj</a:t>
            </a:r>
            <a:r>
              <a:rPr lang="pt-BR" sz="1400" b="1" i="1" dirty="0"/>
              <a:t>. </a:t>
            </a:r>
            <a:r>
              <a:rPr lang="pt-BR" sz="1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Aspect 7.3 (1° Fase – Instalar Infra)</a:t>
            </a:r>
          </a:p>
          <a:p>
            <a:pPr>
              <a:buClr>
                <a:srgbClr val="800000"/>
              </a:buClr>
            </a:pPr>
            <a:r>
              <a:rPr lang="pt-BR" sz="1200" dirty="0" smtClean="0"/>
              <a:t>Beneficiados</a:t>
            </a:r>
            <a:r>
              <a:rPr lang="pt-BR" sz="1200" dirty="0"/>
              <a:t>: </a:t>
            </a:r>
            <a:r>
              <a:rPr lang="pt-BR" sz="1200" dirty="0" err="1" smtClean="0"/>
              <a:t>Credsystem</a:t>
            </a:r>
            <a:r>
              <a:rPr lang="pt-BR" sz="1200" dirty="0" smtClean="0"/>
              <a:t>/</a:t>
            </a:r>
            <a:r>
              <a:rPr lang="pt-BR" sz="1200" dirty="0" err="1" smtClean="0"/>
              <a:t>Cielo</a:t>
            </a:r>
            <a:r>
              <a:rPr lang="pt-BR" sz="1200" dirty="0" smtClean="0"/>
              <a:t>/SKY</a:t>
            </a:r>
            <a:endParaRPr lang="pt-BR" sz="1200" dirty="0"/>
          </a:p>
        </p:txBody>
      </p:sp>
      <p:sp>
        <p:nvSpPr>
          <p:cNvPr id="25" name="Pentágono 24"/>
          <p:cNvSpPr/>
          <p:nvPr/>
        </p:nvSpPr>
        <p:spPr>
          <a:xfrm>
            <a:off x="1347848" y="3030161"/>
            <a:ext cx="3403725" cy="553920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b="1" i="1" dirty="0" err="1"/>
              <a:t>Proj</a:t>
            </a:r>
            <a:r>
              <a:rPr lang="pt-BR" sz="1400" b="1" i="1" dirty="0"/>
              <a:t>. Monitoração</a:t>
            </a:r>
          </a:p>
          <a:p>
            <a:r>
              <a:rPr lang="pt-BR" sz="1400" dirty="0"/>
              <a:t>Beneficiados: </a:t>
            </a:r>
            <a:r>
              <a:rPr lang="pt-BR" sz="1400" dirty="0" smtClean="0"/>
              <a:t>Brasil</a:t>
            </a:r>
            <a:endParaRPr lang="pt-BR" sz="1400" dirty="0"/>
          </a:p>
        </p:txBody>
      </p:sp>
      <p:sp>
        <p:nvSpPr>
          <p:cNvPr id="2" name="Elipse 1"/>
          <p:cNvSpPr/>
          <p:nvPr/>
        </p:nvSpPr>
        <p:spPr>
          <a:xfrm>
            <a:off x="641072" y="3077747"/>
            <a:ext cx="597640" cy="414346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10%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641072" y="3607270"/>
            <a:ext cx="618726" cy="414346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5%</a:t>
            </a:r>
            <a:endPara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655042" y="2548225"/>
            <a:ext cx="638982" cy="414346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20%</a:t>
            </a:r>
            <a:endParaRPr lang="pt-B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641072" y="2026562"/>
            <a:ext cx="611610" cy="414346"/>
          </a:xfrm>
          <a:prstGeom prst="ellipse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pt-BR" sz="1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endPara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" name="Conector reto 5"/>
          <p:cNvCxnSpPr/>
          <p:nvPr/>
        </p:nvCxnSpPr>
        <p:spPr>
          <a:xfrm>
            <a:off x="1970035" y="1602170"/>
            <a:ext cx="32658" cy="2712311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1632579" y="127751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23 Out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296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181" y="4549508"/>
            <a:ext cx="1247638" cy="61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64" y="111843"/>
            <a:ext cx="1113203" cy="269440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934164" y="11832"/>
            <a:ext cx="5300369" cy="469462"/>
          </a:xfrm>
          <a:prstGeom prst="rect">
            <a:avLst/>
          </a:prstGeom>
        </p:spPr>
        <p:txBody>
          <a:bodyPr vert="horz" lIns="91362" tIns="45680" rIns="91362" bIns="4568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97" b="1" dirty="0" smtClean="0">
                <a:solidFill>
                  <a:srgbClr val="19345B"/>
                </a:solidFill>
                <a:latin typeface="Arial"/>
                <a:cs typeface="Arial"/>
              </a:rPr>
              <a:t>6. Processos</a:t>
            </a:r>
            <a:r>
              <a:rPr lang="en-US" sz="2797" b="1" dirty="0" smtClean="0">
                <a:solidFill>
                  <a:srgbClr val="19345B"/>
                </a:solidFill>
                <a:latin typeface="Arial"/>
                <a:cs typeface="Arial"/>
              </a:rPr>
              <a:t> </a:t>
            </a:r>
            <a:r>
              <a:rPr lang="en-US" sz="2797" b="1" dirty="0">
                <a:solidFill>
                  <a:srgbClr val="19345B"/>
                </a:solidFill>
                <a:latin typeface="Arial"/>
                <a:cs typeface="Arial"/>
              </a:rPr>
              <a:t>de </a:t>
            </a:r>
            <a:r>
              <a:rPr lang="pt-BR" sz="2797" b="1" dirty="0">
                <a:solidFill>
                  <a:srgbClr val="19345B"/>
                </a:solidFill>
                <a:latin typeface="Arial"/>
                <a:cs typeface="Arial"/>
              </a:rPr>
              <a:t>Gestão</a:t>
            </a:r>
            <a:endParaRPr lang="pt-BR" sz="279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6" name="image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24046" y="-341293"/>
            <a:ext cx="1247638" cy="61404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tângulo de cantos arredondados 2"/>
          <p:cNvSpPr/>
          <p:nvPr/>
        </p:nvSpPr>
        <p:spPr>
          <a:xfrm>
            <a:off x="125264" y="491132"/>
            <a:ext cx="2810842" cy="408012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798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</a:t>
            </a:r>
            <a:r>
              <a:rPr lang="pt-BR" sz="1798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  <a:p>
            <a:pPr algn="ctr"/>
            <a:r>
              <a:rPr lang="pt-BR" sz="1499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 Incidentes</a:t>
            </a:r>
          </a:p>
          <a:p>
            <a:pPr marL="285493" indent="-285493">
              <a:buFont typeface="Wingdings" panose="05000000000000000000" pitchFamily="2" charset="2"/>
              <a:buChar char="§"/>
            </a:pPr>
            <a:endParaRPr lang="pt-BR" sz="1199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 definido e implantado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Gestor nomeado e treinado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Sintomas identificados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em Serviços e Clientes priorizados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Soluções de Contorno e Definitivas identificadas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Projetos Estruturais especificados e iniciados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Investigação permanente estabelecida</a:t>
            </a:r>
          </a:p>
          <a:p>
            <a:pPr algn="r">
              <a:spcBef>
                <a:spcPts val="599"/>
              </a:spcBef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Conclusão: outubro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3042427" y="491132"/>
            <a:ext cx="2810842" cy="40899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1" tIns="45680" rIns="91361" bIns="45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798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</a:t>
            </a:r>
            <a:r>
              <a:rPr lang="pt-BR" sz="1798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Incidentes</a:t>
            </a:r>
          </a:p>
          <a:p>
            <a:pPr algn="ctr"/>
            <a:r>
              <a:rPr lang="pt-BR" sz="1499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Prazos de solução</a:t>
            </a:r>
          </a:p>
          <a:p>
            <a:pPr algn="ctr"/>
            <a:endParaRPr lang="pt-BR" sz="1199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 revisado e melhorado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Novos indicadores definidos e em produção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por Sintomas em desenvolvimento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Prioridades e escaladas redefinidas, com foco nas operações de negócios (GUT)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Revisão da qualidade dos registros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Reclassificação dos registros efetuados</a:t>
            </a:r>
          </a:p>
          <a:p>
            <a:pPr algn="r">
              <a:spcBef>
                <a:spcPts val="599"/>
              </a:spcBef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Conclusão: novembro</a:t>
            </a:r>
          </a:p>
          <a:p>
            <a:pPr>
              <a:spcBef>
                <a:spcPts val="599"/>
              </a:spcBef>
            </a:pPr>
            <a:endParaRPr lang="pt-BR" sz="1399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959591" y="491131"/>
            <a:ext cx="2810842" cy="408012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1" tIns="45680" rIns="91361" bIns="45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798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</a:t>
            </a:r>
            <a:r>
              <a:rPr lang="pt-BR" sz="1798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</a:p>
          <a:p>
            <a:pPr algn="ctr"/>
            <a:r>
              <a:rPr lang="pt-BR" sz="1499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Garantir o Registro</a:t>
            </a:r>
          </a:p>
          <a:p>
            <a:pPr>
              <a:spcBef>
                <a:spcPts val="599"/>
              </a:spcBef>
            </a:pPr>
            <a:endParaRPr lang="pt-BR" sz="1199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Definição ritos diferentes para mudanças desenhada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Automação do Registro Rápido de Mudança solicitada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Divulgação da Politica para mudanças não registradas em elaboração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Criação de indicadores para gerenciamento em andamento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Eventual reforço da equipe GMUD em avaliação</a:t>
            </a:r>
          </a:p>
          <a:p>
            <a:pPr marL="285493" indent="-285493">
              <a:spcBef>
                <a:spcPts val="599"/>
              </a:spcBef>
              <a:buFont typeface="Wingdings" panose="05000000000000000000" pitchFamily="2" charset="2"/>
              <a:buChar char="§"/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Revisão do processo de Mudanças programada (2016)</a:t>
            </a:r>
          </a:p>
          <a:p>
            <a:pPr algn="r">
              <a:spcBef>
                <a:spcPts val="599"/>
              </a:spcBef>
            </a:pPr>
            <a:r>
              <a:rPr lang="pt-BR" sz="1199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Conclusão: novembro</a:t>
            </a:r>
          </a:p>
          <a:p>
            <a:pPr algn="r">
              <a:spcBef>
                <a:spcPts val="599"/>
              </a:spcBef>
            </a:pPr>
            <a:endParaRPr lang="pt-BR" sz="1199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ta para a esquerda e para a direita 3"/>
          <p:cNvSpPr/>
          <p:nvPr/>
        </p:nvSpPr>
        <p:spPr>
          <a:xfrm>
            <a:off x="990931" y="4571261"/>
            <a:ext cx="7186835" cy="553552"/>
          </a:xfrm>
          <a:prstGeom prst="left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798" b="1" dirty="0"/>
              <a:t>Capacitação e Transferência de Conhecimento</a:t>
            </a:r>
          </a:p>
        </p:txBody>
      </p:sp>
    </p:spTree>
    <p:extLst>
      <p:ext uri="{BB962C8B-B14F-4D97-AF65-F5344CB8AC3E}">
        <p14:creationId xmlns:p14="http://schemas.microsoft.com/office/powerpoint/2010/main" val="220170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74171" y="124059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  <a:endParaRPr lang="pt-BR" sz="1800" b="1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Gráfico 5"/>
          <p:cNvGraphicFramePr/>
          <p:nvPr>
            <p:extLst/>
          </p:nvPr>
        </p:nvGraphicFramePr>
        <p:xfrm>
          <a:off x="0" y="966889"/>
          <a:ext cx="3431822" cy="21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135465" y="3102890"/>
          <a:ext cx="2833511" cy="1921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2" name="Gráfico 21"/>
          <p:cNvGraphicFramePr/>
          <p:nvPr>
            <p:extLst/>
          </p:nvPr>
        </p:nvGraphicFramePr>
        <p:xfrm>
          <a:off x="3390491" y="1106162"/>
          <a:ext cx="3601156" cy="3183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0" name="Gráfico 29"/>
          <p:cNvGraphicFramePr/>
          <p:nvPr>
            <p:extLst/>
          </p:nvPr>
        </p:nvGraphicFramePr>
        <p:xfrm>
          <a:off x="7021333" y="929840"/>
          <a:ext cx="1907822" cy="194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025" name="Gráfico 1024"/>
          <p:cNvGraphicFramePr/>
          <p:nvPr>
            <p:extLst/>
          </p:nvPr>
        </p:nvGraphicFramePr>
        <p:xfrm>
          <a:off x="6494630" y="2970727"/>
          <a:ext cx="2961227" cy="1902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" name="Seta para a direita 1"/>
          <p:cNvSpPr/>
          <p:nvPr/>
        </p:nvSpPr>
        <p:spPr>
          <a:xfrm>
            <a:off x="5098839" y="3044952"/>
            <a:ext cx="227894" cy="961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a direita 11"/>
          <p:cNvSpPr/>
          <p:nvPr/>
        </p:nvSpPr>
        <p:spPr>
          <a:xfrm>
            <a:off x="4916665" y="3614565"/>
            <a:ext cx="227894" cy="961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5285232" y="2961583"/>
            <a:ext cx="1847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73 Incidentes Associados</a:t>
            </a:r>
            <a:endParaRPr lang="pt-BR" sz="11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098839" y="3531850"/>
            <a:ext cx="1847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5 Incidentes Associados</a:t>
            </a:r>
            <a:endParaRPr lang="pt-BR" sz="110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85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18581"/>
            <a:ext cx="4379232" cy="32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186529"/>
            <a:ext cx="1603348" cy="291323"/>
          </a:xfrm>
          <a:prstGeom prst="rect">
            <a:avLst/>
          </a:prstGeom>
        </p:spPr>
      </p:pic>
      <p:pic>
        <p:nvPicPr>
          <p:cNvPr id="13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-174171" y="21583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Fluxo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troca de Hardware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98833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9160" y="760655"/>
            <a:ext cx="5017826" cy="438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8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94544" y="0"/>
            <a:ext cx="5394722" cy="441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</a:t>
            </a:r>
            <a:endParaRPr lang="pt-PT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974" y="388467"/>
            <a:ext cx="5886359" cy="46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9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21362" y="0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896351" y="1451399"/>
            <a:ext cx="7292307" cy="2061848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Status dos Projetos em andamento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4673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844324" y="19420"/>
            <a:ext cx="480092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4.2  Cronograma Projeto Gravação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0" y="775246"/>
            <a:ext cx="8401595" cy="3770210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98861" y="874605"/>
            <a:ext cx="3255106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652383" y="1070137"/>
            <a:ext cx="2580825" cy="11295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13 de Outubro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19 Dezembro 2015 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9922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65761" y="7227"/>
            <a:ext cx="6535524" cy="693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4.3 Cronograma Projeto </a:t>
            </a: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Internalização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68" y="1520642"/>
            <a:ext cx="8848165" cy="2485989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74059" y="1746552"/>
            <a:ext cx="3255106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206148" y="743741"/>
            <a:ext cx="4006466" cy="7337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14 de Outubro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27 Dezembro 2015  </a:t>
            </a:r>
            <a:endParaRPr lang="pt-BR" sz="1600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971198" y="3993931"/>
            <a:ext cx="4660829" cy="109866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inventário do ambiente ( </a:t>
            </a:r>
            <a:r>
              <a:rPr lang="pt-BR" sz="1600" dirty="0" err="1" smtClean="0"/>
              <a:t>Tam</a:t>
            </a:r>
            <a:r>
              <a:rPr lang="pt-BR" sz="1600" dirty="0" smtClean="0"/>
              <a:t> e Santander)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Avaliar o "gap" de serviço com a </a:t>
            </a:r>
            <a:r>
              <a:rPr lang="pt-BR" sz="1600" dirty="0" err="1" smtClean="0"/>
              <a:t>Infosys</a:t>
            </a:r>
            <a:endParaRPr lang="pt-B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Obter conhecimento e gestão sobre código </a:t>
            </a:r>
            <a:r>
              <a:rPr lang="pt-BR" sz="1600" dirty="0" smtClean="0"/>
              <a:t>fonte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Treinar </a:t>
            </a:r>
            <a:r>
              <a:rPr lang="pt-BR" sz="1600" dirty="0"/>
              <a:t>a equipe com novas </a:t>
            </a:r>
            <a:r>
              <a:rPr lang="pt-BR" sz="1600" dirty="0" smtClean="0"/>
              <a:t>valências </a:t>
            </a:r>
            <a:endParaRPr lang="pt-BR" sz="1600" dirty="0"/>
          </a:p>
        </p:txBody>
      </p:sp>
      <p:sp>
        <p:nvSpPr>
          <p:cNvPr id="15" name="Retângulo 14"/>
          <p:cNvSpPr/>
          <p:nvPr/>
        </p:nvSpPr>
        <p:spPr>
          <a:xfrm>
            <a:off x="4698458" y="4880964"/>
            <a:ext cx="60687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 smtClean="0"/>
              <a:t>*Solução elaborada pelos times Engenharia IT/ CSE / Engenharia 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0884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560576" y="7227"/>
            <a:ext cx="5340708" cy="675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4.4 Cronograma Projeto Aspect 7.3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5137165" y="737727"/>
            <a:ext cx="3487516" cy="7337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de Início: 3 Agosto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smtClean="0"/>
              <a:t>Data Fim estimada: 1 Janeiro 2016  </a:t>
            </a:r>
            <a:endParaRPr lang="pt-BR" sz="16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6935"/>
            <a:ext cx="4937042" cy="4331476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633472" y="1044867"/>
            <a:ext cx="2303570" cy="391064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899748" y="1522602"/>
            <a:ext cx="434107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As atividades a serem priorizadas são:</a:t>
            </a:r>
          </a:p>
          <a:p>
            <a:pPr lvl="0"/>
            <a:r>
              <a:rPr lang="pt-BR" sz="1600" dirty="0"/>
              <a:t>Montar a topologia de Redes para instalação dos UMS – Previsão de início: 19/10 – prazo: 10 dias.</a:t>
            </a:r>
          </a:p>
          <a:p>
            <a:pPr lvl="0"/>
            <a:r>
              <a:rPr lang="pt-BR" sz="1600" dirty="0"/>
              <a:t>Adequação do cabeamento – Previsão de  início: 26/10 – Prazo: 5 dias.</a:t>
            </a:r>
          </a:p>
          <a:p>
            <a:r>
              <a:rPr lang="pt-BR" sz="1600" dirty="0"/>
              <a:t> </a:t>
            </a:r>
          </a:p>
          <a:p>
            <a:r>
              <a:rPr lang="pt-BR" sz="1600" u="sng" dirty="0"/>
              <a:t>Com as atividade acima conseguimos contornar a limitação de portas de Switch</a:t>
            </a:r>
            <a:r>
              <a:rPr lang="pt-BR" sz="1600" dirty="0"/>
              <a:t>.</a:t>
            </a:r>
          </a:p>
          <a:p>
            <a:r>
              <a:rPr lang="pt-BR" sz="1600" dirty="0"/>
              <a:t> </a:t>
            </a:r>
          </a:p>
          <a:p>
            <a:r>
              <a:rPr lang="pt-BR" sz="1600" dirty="0"/>
              <a:t>Mas recomendamos fortemente a compra de 2 switches para que no futuro não tenhamos limitação de portas de switch, pois serão instalados mais 7 UMS.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44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72276" y="-65314"/>
            <a:ext cx="642243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Ações previstas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1605114" y="1494491"/>
            <a:ext cx="5165557" cy="832439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Estruturação do processo de mudança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1605114" y="2522139"/>
            <a:ext cx="5165556" cy="82723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Implantação do piloto de classificação via GUT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92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.0. Problemas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22" y="854943"/>
            <a:ext cx="8876356" cy="34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9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.1.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NICE - Gravações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Não grava e Perca de Gravação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41" y="434666"/>
            <a:ext cx="6825492" cy="45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210429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7457" y="-277716"/>
            <a:ext cx="7249886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.2. Aspect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ligação muda / caixa postal / número inexistente / queda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7" y="879271"/>
            <a:ext cx="8518086" cy="33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2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.3.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 End &gt;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Falha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no Pop-Up/Explore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29" y="1175264"/>
            <a:ext cx="7964329" cy="27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94648" y="-140017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.4.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Não disca (baixa qualidade da voz -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picotamento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do operador para o cliente)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1348401"/>
            <a:ext cx="7984176" cy="28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8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192220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.5.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Proxy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Lentidão seguida de indisponibilidade total ao acesso aos sistemas da Internet para as operações VIVO SP e PB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90" y="969155"/>
            <a:ext cx="7996903" cy="363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.6.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URA&gt;Santander | Não valida CPF | Não atende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86" y="388467"/>
            <a:ext cx="4328312" cy="46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.7.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Alta volumetria de incidentes classificados como Alto Impacto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79" y="1126607"/>
            <a:ext cx="8517881" cy="30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.8.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Alta volumetria de incidentes classificados como Alto Impacto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858044"/>
            <a:ext cx="7614159" cy="405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.9.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Back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up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Todos os sites | Falta de backup de servidores críticos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37" y="434666"/>
            <a:ext cx="6768886" cy="462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6166</TotalTime>
  <Words>1517</Words>
  <Application>Microsoft Office PowerPoint</Application>
  <PresentationFormat>Personalizar</PresentationFormat>
  <Paragraphs>371</Paragraphs>
  <Slides>30</Slides>
  <Notes>1</Notes>
  <HiddenSlides>1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478</cp:revision>
  <dcterms:created xsi:type="dcterms:W3CDTF">2015-08-20T14:57:26Z</dcterms:created>
  <dcterms:modified xsi:type="dcterms:W3CDTF">2015-10-23T20:17:28Z</dcterms:modified>
</cp:coreProperties>
</file>