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23"/>
  </p:notesMasterIdLst>
  <p:sldIdLst>
    <p:sldId id="262" r:id="rId5"/>
    <p:sldId id="266" r:id="rId6"/>
    <p:sldId id="265" r:id="rId7"/>
    <p:sldId id="268" r:id="rId8"/>
    <p:sldId id="269" r:id="rId9"/>
    <p:sldId id="274" r:id="rId10"/>
    <p:sldId id="275" r:id="rId11"/>
    <p:sldId id="276" r:id="rId12"/>
    <p:sldId id="283" r:id="rId13"/>
    <p:sldId id="273" r:id="rId14"/>
    <p:sldId id="279" r:id="rId15"/>
    <p:sldId id="270" r:id="rId16"/>
    <p:sldId id="271" r:id="rId17"/>
    <p:sldId id="277" r:id="rId18"/>
    <p:sldId id="278" r:id="rId19"/>
    <p:sldId id="284" r:id="rId20"/>
    <p:sldId id="280" r:id="rId21"/>
    <p:sldId id="281" r:id="rId22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52" autoAdjust="0"/>
    <p:restoredTop sz="91785" autoAdjust="0"/>
  </p:normalViewPr>
  <p:slideViewPr>
    <p:cSldViewPr snapToGrid="0" snapToObjects="1">
      <p:cViewPr varScale="1">
        <p:scale>
          <a:sx n="85" d="100"/>
          <a:sy n="85" d="100"/>
        </p:scale>
        <p:origin x="-666" y="-78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03/12/2015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12/3/2015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estabilidade.operacional@contax.com.br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1" y="-18566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121602"/>
            <a:ext cx="91442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2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 você quem faz. Foi você quem fez! </a:t>
            </a:r>
          </a:p>
          <a:p>
            <a:r>
              <a:rPr lang="pt-BR" sz="1200" dirty="0" smtClean="0">
                <a:solidFill>
                  <a:schemeClr val="bg1">
                    <a:lumMod val="50000"/>
                  </a:schemeClr>
                </a:solidFill>
              </a:rPr>
              <a:t>2015, dezembro</a:t>
            </a:r>
            <a:endParaRPr lang="pt-B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/>
              <a:t>Consultoria Ilimitada</a:t>
            </a:r>
            <a:endParaRPr lang="pt-BR" sz="1200" b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>
                <a:solidFill>
                  <a:schemeClr val="bg1"/>
                </a:solidFill>
              </a:rPr>
              <a:t>1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31"/>
    </mc:Choice>
    <mc:Fallback xmlns="">
      <p:transition advTm="83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58802" y="414440"/>
            <a:ext cx="424599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Agenda:</a:t>
            </a:r>
          </a:p>
          <a:p>
            <a:endParaRPr lang="pt-BR" sz="2400" dirty="0" smtClean="0">
              <a:solidFill>
                <a:srgbClr val="002060"/>
              </a:solidFill>
            </a:endParaRP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Olhando para trás.</a:t>
            </a:r>
            <a:endParaRPr lang="pt-BR" sz="2000" dirty="0">
              <a:solidFill>
                <a:srgbClr val="002060"/>
              </a:solidFill>
            </a:endParaRPr>
          </a:p>
          <a:p>
            <a:r>
              <a:rPr lang="pt-BR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Optando pela ação.</a:t>
            </a:r>
          </a:p>
          <a:p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Olhando para o agora.</a:t>
            </a:r>
            <a:endParaRPr lang="pt-BR" sz="2000" dirty="0">
              <a:solidFill>
                <a:srgbClr val="002060"/>
              </a:solidFill>
            </a:endParaRPr>
          </a:p>
          <a:p>
            <a:r>
              <a:rPr lang="pt-BR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realizadas e definidas.</a:t>
            </a:r>
          </a:p>
          <a:p>
            <a:r>
              <a:rPr lang="pt-BR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Demonstrando resultados.</a:t>
            </a:r>
          </a:p>
          <a:p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Olhando para frente</a:t>
            </a:r>
            <a:r>
              <a:rPr lang="pt-BR" sz="2000" dirty="0" smtClean="0">
                <a:solidFill>
                  <a:srgbClr val="002060"/>
                </a:solidFill>
              </a:rPr>
              <a:t>.</a:t>
            </a:r>
          </a:p>
          <a:p>
            <a:r>
              <a:rPr lang="pt-BR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Compartilhando a visão.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3" y="1768552"/>
            <a:ext cx="3682227" cy="2589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2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84195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4038"/>
            <a:ext cx="9144002" cy="37194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51075" y="1764083"/>
            <a:ext cx="85828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pt-BR" dirty="0">
              <a:solidFill>
                <a:schemeClr val="bg1">
                  <a:lumMod val="95000"/>
                </a:schemeClr>
              </a:solidFill>
            </a:endParaRPr>
          </a:p>
          <a:p>
            <a:endParaRPr lang="pt-BR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pt-BR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Instabilidade. Mais de </a:t>
            </a:r>
            <a:r>
              <a:rPr lang="pt-BR" b="1" dirty="0" smtClean="0">
                <a:solidFill>
                  <a:schemeClr val="bg1">
                    <a:lumMod val="95000"/>
                  </a:schemeClr>
                </a:solidFill>
              </a:rPr>
              <a:t>22.000 incidentes por mês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Reincidências. Mais de </a:t>
            </a:r>
            <a:r>
              <a:rPr lang="pt-BR" b="1" dirty="0" smtClean="0">
                <a:solidFill>
                  <a:schemeClr val="bg1">
                    <a:lumMod val="95000"/>
                  </a:schemeClr>
                </a:solidFill>
              </a:rPr>
              <a:t>2 incidentes de alto impacto por hora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pt-BR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Equipe </a:t>
            </a:r>
            <a:r>
              <a:rPr lang="pt-BR" b="1" dirty="0" smtClean="0">
                <a:solidFill>
                  <a:schemeClr val="bg1">
                    <a:lumMod val="95000"/>
                  </a:schemeClr>
                </a:solidFill>
              </a:rPr>
              <a:t>competente, mas desmotivada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, desacreditada, triste.</a:t>
            </a:r>
          </a:p>
          <a:p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Perspectivas negativas, medo, confusão, </a:t>
            </a:r>
            <a:r>
              <a:rPr lang="pt-BR" b="1" dirty="0" smtClean="0">
                <a:solidFill>
                  <a:schemeClr val="bg1">
                    <a:lumMod val="95000"/>
                  </a:schemeClr>
                </a:solidFill>
              </a:rPr>
              <a:t>salve-se quem puder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pt-BR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Clientes insatisfeitos, rupturas contratuais, penalidades, </a:t>
            </a:r>
            <a:r>
              <a:rPr lang="pt-BR" b="1" dirty="0" smtClean="0">
                <a:solidFill>
                  <a:schemeClr val="bg1">
                    <a:lumMod val="95000"/>
                  </a:schemeClr>
                </a:solidFill>
              </a:rPr>
              <a:t>perdas</a:t>
            </a: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Olhando para trás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69302" y="894190"/>
            <a:ext cx="529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agosto</a:t>
            </a:r>
          </a:p>
          <a:p>
            <a:endParaRPr lang="pt-BR" dirty="0">
              <a:solidFill>
                <a:srgbClr val="002060"/>
              </a:solidFill>
            </a:endParaRP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3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www.fcamara.com.br/content/img/banner-inovaca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6" y="2545982"/>
            <a:ext cx="9139185" cy="260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tx2"/>
                </a:solidFill>
              </a:rPr>
              <a:t>Optando pela ação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421527" y="2554459"/>
            <a:ext cx="28782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Reconhecer os sintomas.</a:t>
            </a:r>
            <a:endParaRPr lang="pt-B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Estabelecer prioridades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Investigar causas.</a:t>
            </a: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Propor soluções.</a:t>
            </a: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Eliminar erros.</a:t>
            </a: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Focar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em serviços.</a:t>
            </a: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Inovar.</a:t>
            </a: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Pensar nos clientes.</a:t>
            </a:r>
          </a:p>
          <a:p>
            <a:pPr marL="285750" indent="-285750" algn="just">
              <a:buSzPct val="65000"/>
              <a:buFont typeface="Courier New" panose="02070309020205020404" pitchFamily="49" charset="0"/>
              <a:buChar char="o"/>
            </a:pPr>
            <a:r>
              <a:rPr lang="pt-BR" dirty="0" smtClean="0">
                <a:solidFill>
                  <a:schemeClr val="bg1">
                    <a:lumMod val="95000"/>
                  </a:schemeClr>
                </a:solidFill>
              </a:rPr>
              <a:t>Cuidar do negócio.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66977" y="895152"/>
            <a:ext cx="887365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rgbClr val="002060"/>
                </a:solidFill>
              </a:rPr>
              <a:t>2015, setembro</a:t>
            </a:r>
          </a:p>
          <a:p>
            <a:pPr algn="just"/>
            <a:endParaRPr lang="pt-BR" sz="1400" dirty="0" smtClean="0">
              <a:solidFill>
                <a:srgbClr val="002060"/>
              </a:solidFill>
            </a:endParaRPr>
          </a:p>
          <a:p>
            <a:pPr marL="269875" algn="just"/>
            <a:r>
              <a:rPr lang="pt-BR" dirty="0" smtClean="0">
                <a:solidFill>
                  <a:srgbClr val="002060"/>
                </a:solidFill>
              </a:rPr>
              <a:t>Inicia-se um projeto para transformar a situação. Uma </a:t>
            </a:r>
            <a:r>
              <a:rPr lang="pt-BR" b="1" dirty="0" smtClean="0">
                <a:solidFill>
                  <a:srgbClr val="002060"/>
                </a:solidFill>
              </a:rPr>
              <a:t>mobilização dos profissionais de TI </a:t>
            </a:r>
            <a:r>
              <a:rPr lang="pt-BR" dirty="0" smtClean="0">
                <a:solidFill>
                  <a:srgbClr val="002060"/>
                </a:solidFill>
              </a:rPr>
              <a:t>da Contax para uma abordagem </a:t>
            </a:r>
            <a:r>
              <a:rPr lang="pt-BR" b="1" dirty="0" smtClean="0">
                <a:solidFill>
                  <a:srgbClr val="002060"/>
                </a:solidFill>
              </a:rPr>
              <a:t>proativa e pragmática</a:t>
            </a:r>
            <a:r>
              <a:rPr lang="pt-BR" dirty="0" smtClean="0">
                <a:solidFill>
                  <a:srgbClr val="002060"/>
                </a:solidFill>
              </a:rPr>
              <a:t>, orientada a </a:t>
            </a:r>
            <a:r>
              <a:rPr lang="pt-BR" b="1" dirty="0" smtClean="0">
                <a:solidFill>
                  <a:srgbClr val="002060"/>
                </a:solidFill>
              </a:rPr>
              <a:t>reduzir a quantidade de incidentes</a:t>
            </a:r>
            <a:r>
              <a:rPr lang="pt-BR" dirty="0" smtClean="0">
                <a:solidFill>
                  <a:srgbClr val="002060"/>
                </a:solidFill>
              </a:rPr>
              <a:t>, melhorando a </a:t>
            </a:r>
            <a:r>
              <a:rPr lang="pt-BR" b="1" dirty="0" smtClean="0">
                <a:solidFill>
                  <a:srgbClr val="002060"/>
                </a:solidFill>
              </a:rPr>
              <a:t>estabilidade operacional</a:t>
            </a:r>
            <a:r>
              <a:rPr lang="pt-BR" dirty="0" smtClean="0">
                <a:solidFill>
                  <a:srgbClr val="002060"/>
                </a:solidFill>
              </a:rPr>
              <a:t> e a </a:t>
            </a:r>
            <a:r>
              <a:rPr lang="pt-BR" b="1" dirty="0" smtClean="0">
                <a:solidFill>
                  <a:srgbClr val="002060"/>
                </a:solidFill>
              </a:rPr>
              <a:t>satisfação dos clientes</a:t>
            </a:r>
            <a:r>
              <a:rPr lang="pt-BR" dirty="0" smtClean="0">
                <a:solidFill>
                  <a:srgbClr val="002060"/>
                </a:solidFill>
              </a:rPr>
              <a:t>.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5438692" y="2692958"/>
            <a:ext cx="33666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Mudar a </a:t>
            </a:r>
            <a:r>
              <a:rPr lang="pt-BR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mentalidade e a atitude. Revisar processos, práticas e hábitos</a:t>
            </a:r>
            <a:r>
              <a:rPr lang="pt-B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, melhorar o que já vinha sendo feito. São estes os principais direcionadores do projeto Estabilidade Operacional.</a:t>
            </a:r>
          </a:p>
          <a:p>
            <a:pPr algn="just"/>
            <a:r>
              <a:rPr lang="pt-B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/>
            </a:r>
            <a:br>
              <a:rPr lang="pt-B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pt-B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São estes os </a:t>
            </a:r>
            <a:r>
              <a:rPr lang="pt-BR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direcionadores da TI</a:t>
            </a:r>
            <a:r>
              <a:rPr lang="pt-B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  <a:endParaRPr lang="pt-BR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4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25686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15" y="3528102"/>
            <a:ext cx="9144000" cy="16397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94190"/>
            <a:ext cx="529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novembro</a:t>
            </a:r>
          </a:p>
          <a:p>
            <a:endParaRPr lang="pt-BR" dirty="0">
              <a:solidFill>
                <a:srgbClr val="002060"/>
              </a:solidFill>
            </a:endParaRP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Olhando para o agora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Texto explicativo em elipse 8"/>
          <p:cNvSpPr/>
          <p:nvPr/>
        </p:nvSpPr>
        <p:spPr>
          <a:xfrm>
            <a:off x="3744677" y="2511040"/>
            <a:ext cx="1311965" cy="795130"/>
          </a:xfrm>
          <a:prstGeom prst="wedgeEllipseCallout">
            <a:avLst>
              <a:gd name="adj1" fmla="val 31560"/>
              <a:gd name="adj2" fmla="val 12488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i="1" dirty="0"/>
              <a:t>“Agora conseguimos pensar e </a:t>
            </a:r>
            <a:r>
              <a:rPr lang="pt-BR" sz="1100" i="1" dirty="0" smtClean="0"/>
              <a:t>planejar.”</a:t>
            </a:r>
            <a:endParaRPr lang="pt-BR" sz="1100" i="1" dirty="0"/>
          </a:p>
        </p:txBody>
      </p:sp>
      <p:sp>
        <p:nvSpPr>
          <p:cNvPr id="14" name="Texto explicativo em elipse 13"/>
          <p:cNvSpPr/>
          <p:nvPr/>
        </p:nvSpPr>
        <p:spPr>
          <a:xfrm>
            <a:off x="5150119" y="1845639"/>
            <a:ext cx="1608489" cy="1382799"/>
          </a:xfrm>
          <a:prstGeom prst="wedgeEllipseCallout">
            <a:avLst>
              <a:gd name="adj1" fmla="val -25714"/>
              <a:gd name="adj2" fmla="val 9478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/>
              <a:t>“Já há clientes percebendo e comentando a </a:t>
            </a:r>
            <a:r>
              <a:rPr lang="pt-BR" sz="1200" i="1" dirty="0" smtClean="0"/>
              <a:t>melhoria.”</a:t>
            </a:r>
            <a:endParaRPr lang="pt-BR" sz="1200" i="1" dirty="0"/>
          </a:p>
        </p:txBody>
      </p:sp>
      <p:sp>
        <p:nvSpPr>
          <p:cNvPr id="15" name="Texto explicativo em elipse 14"/>
          <p:cNvSpPr/>
          <p:nvPr/>
        </p:nvSpPr>
        <p:spPr>
          <a:xfrm>
            <a:off x="7423264" y="2436268"/>
            <a:ext cx="1305676" cy="1109042"/>
          </a:xfrm>
          <a:prstGeom prst="wedgeEllipseCallout">
            <a:avLst>
              <a:gd name="adj1" fmla="val 57800"/>
              <a:gd name="adj2" fmla="val 11556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i="1" dirty="0"/>
              <a:t>“Foi o plantão mais tranquilo de todos os que já </a:t>
            </a:r>
            <a:r>
              <a:rPr lang="pt-BR" sz="1100" i="1" dirty="0" smtClean="0"/>
              <a:t>fiz.”</a:t>
            </a:r>
            <a:endParaRPr lang="pt-BR" sz="1100" i="1" dirty="0"/>
          </a:p>
        </p:txBody>
      </p:sp>
      <p:sp>
        <p:nvSpPr>
          <p:cNvPr id="16" name="Texto explicativo em elipse 15"/>
          <p:cNvSpPr/>
          <p:nvPr/>
        </p:nvSpPr>
        <p:spPr>
          <a:xfrm>
            <a:off x="1395304" y="2593224"/>
            <a:ext cx="1093472" cy="795130"/>
          </a:xfrm>
          <a:prstGeom prst="wedgeEllipseCallout">
            <a:avLst>
              <a:gd name="adj1" fmla="val 6560"/>
              <a:gd name="adj2" fmla="val 11488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i="1" dirty="0"/>
              <a:t>“Consegui dormir uma noite </a:t>
            </a:r>
            <a:r>
              <a:rPr lang="pt-BR" sz="1100" i="1" dirty="0" smtClean="0"/>
              <a:t>inteira.”</a:t>
            </a:r>
            <a:endParaRPr lang="pt-BR" sz="1100" i="1" dirty="0"/>
          </a:p>
        </p:txBody>
      </p:sp>
      <p:sp>
        <p:nvSpPr>
          <p:cNvPr id="12" name="Texto explicativo em forma de nuvem 11"/>
          <p:cNvSpPr/>
          <p:nvPr/>
        </p:nvSpPr>
        <p:spPr>
          <a:xfrm>
            <a:off x="72531" y="2317227"/>
            <a:ext cx="1270221" cy="1182756"/>
          </a:xfrm>
          <a:prstGeom prst="cloudCallout">
            <a:avLst>
              <a:gd name="adj1" fmla="val 47018"/>
              <a:gd name="adj2" fmla="val 8574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i="1" dirty="0"/>
              <a:t>“Pensei que meu celular tinha </a:t>
            </a:r>
            <a:r>
              <a:rPr lang="pt-BR" sz="1100" i="1" dirty="0" smtClean="0"/>
              <a:t>quebrado.”</a:t>
            </a:r>
            <a:endParaRPr lang="pt-BR" sz="1100" i="1" dirty="0"/>
          </a:p>
        </p:txBody>
      </p:sp>
      <p:sp>
        <p:nvSpPr>
          <p:cNvPr id="18" name="Texto explicativo em forma de nuvem 17"/>
          <p:cNvSpPr/>
          <p:nvPr/>
        </p:nvSpPr>
        <p:spPr>
          <a:xfrm>
            <a:off x="2377494" y="2033760"/>
            <a:ext cx="1568341" cy="846850"/>
          </a:xfrm>
          <a:prstGeom prst="cloudCallout">
            <a:avLst>
              <a:gd name="adj1" fmla="val 12320"/>
              <a:gd name="adj2" fmla="val 13127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i="1" dirty="0" smtClean="0"/>
              <a:t>“Recuperamos o controle da situação.”</a:t>
            </a:r>
            <a:endParaRPr lang="pt-BR" sz="1100" i="1" dirty="0"/>
          </a:p>
        </p:txBody>
      </p:sp>
      <p:sp>
        <p:nvSpPr>
          <p:cNvPr id="20" name="Texto explicativo em forma de nuvem 19"/>
          <p:cNvSpPr/>
          <p:nvPr/>
        </p:nvSpPr>
        <p:spPr>
          <a:xfrm>
            <a:off x="6374136" y="3132814"/>
            <a:ext cx="1155749" cy="986666"/>
          </a:xfrm>
          <a:prstGeom prst="cloudCallout">
            <a:avLst>
              <a:gd name="adj1" fmla="val 15527"/>
              <a:gd name="adj2" fmla="val 8721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i="1" dirty="0"/>
              <a:t>“</a:t>
            </a:r>
            <a:r>
              <a:rPr lang="pt-BR" sz="1100" i="1" dirty="0" smtClean="0"/>
              <a:t>Nossa, </a:t>
            </a:r>
            <a:r>
              <a:rPr lang="pt-BR" sz="1100" i="1" dirty="0"/>
              <a:t>não tenho </a:t>
            </a:r>
            <a:r>
              <a:rPr lang="pt-BR" sz="1100" i="1" dirty="0" smtClean="0"/>
              <a:t>backlog!”</a:t>
            </a:r>
            <a:endParaRPr lang="pt-BR" sz="1100" i="1" dirty="0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5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26430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4" grpId="0" animBg="1"/>
      <p:bldP spid="15" grpId="0" animBg="1"/>
      <p:bldP spid="16" grpId="0" animBg="1"/>
      <p:bldP spid="12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Processos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Ações realizadas e definidas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6068495" y="2465881"/>
            <a:ext cx="2794571" cy="24662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/>
                </a:solidFill>
              </a:rPr>
              <a:t>Automação </a:t>
            </a:r>
            <a:r>
              <a:rPr lang="pt-BR" sz="1200" dirty="0">
                <a:solidFill>
                  <a:schemeClr val="tx1"/>
                </a:solidFill>
              </a:rPr>
              <a:t>do Registro Rápido de Mudanças Técnicas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Divulgação da Politica para mudanças não registradas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Criação de indicadores para gerenciamento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/>
                </a:solidFill>
              </a:rPr>
              <a:t>Reforço </a:t>
            </a:r>
            <a:r>
              <a:rPr lang="pt-BR" sz="1200" dirty="0">
                <a:solidFill>
                  <a:schemeClr val="tx1"/>
                </a:solidFill>
              </a:rPr>
              <a:t>da equipe GMUD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Definição ritos diferentes para mudanças </a:t>
            </a:r>
            <a:r>
              <a:rPr lang="pt-BR" sz="1200" dirty="0" smtClean="0">
                <a:solidFill>
                  <a:schemeClr val="tx1"/>
                </a:solidFill>
              </a:rPr>
              <a:t>diferentes</a:t>
            </a:r>
            <a:endParaRPr lang="pt-BR" sz="1200" dirty="0">
              <a:solidFill>
                <a:schemeClr val="tx1"/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Revisão do processo de Mudanças (2016</a:t>
            </a:r>
            <a:r>
              <a:rPr lang="pt-BR" sz="1200" dirty="0" smtClean="0">
                <a:solidFill>
                  <a:schemeClr val="tx1"/>
                </a:solidFill>
              </a:rPr>
              <a:t>)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6052593" y="1787471"/>
            <a:ext cx="2816462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Mudanças</a:t>
            </a:r>
            <a:b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1600" i="1" dirty="0" smtClean="0"/>
              <a:t>Garantia do Registro</a:t>
            </a:r>
            <a:endParaRPr lang="pt-BR" sz="1600" i="1" dirty="0"/>
          </a:p>
        </p:txBody>
      </p:sp>
      <p:sp>
        <p:nvSpPr>
          <p:cNvPr id="10" name="Retângulo 9"/>
          <p:cNvSpPr/>
          <p:nvPr/>
        </p:nvSpPr>
        <p:spPr>
          <a:xfrm>
            <a:off x="3144847" y="2264225"/>
            <a:ext cx="2716304" cy="24690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definido e implantado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Gestor nomeado e treinado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Principais Sintomas identificados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Problemas em Serviços e Clientes priorizados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Soluções de Contorno e Definitivas identificadas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Investigação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permanente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estabelecida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Base de Erros Conhecidos em desenvolvimento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revisado e melhorado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Novos indicadores definidos e em produção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Classificação por Sintomas definida e em implementação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Prioridades e escaladas redefinidas, com foco nas operações de negócios (GUT)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Revisão da qualidade dos registros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Reclassificação dos registros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efetuados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3144846" y="1597530"/>
            <a:ext cx="2716305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Problemas</a:t>
            </a:r>
            <a:b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16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Eliminar Incidentes</a:t>
            </a:r>
            <a:endParaRPr lang="pt-BR" sz="1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1404920"/>
            <a:ext cx="2716382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Incidentes</a:t>
            </a:r>
          </a:p>
          <a:p>
            <a:pPr algn="ctr"/>
            <a:r>
              <a:rPr lang="pt-BR" sz="1600" i="1" dirty="0" smtClean="0"/>
              <a:t>Reduzir Prazos de Solução</a:t>
            </a:r>
          </a:p>
        </p:txBody>
      </p:sp>
      <p:sp>
        <p:nvSpPr>
          <p:cNvPr id="1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529885" y="878287"/>
            <a:ext cx="1275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000" dirty="0" smtClean="0">
                <a:solidFill>
                  <a:srgbClr val="0070C0"/>
                </a:solidFill>
              </a:rPr>
              <a:t>Realizada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000" dirty="0" smtClean="0">
                <a:solidFill>
                  <a:srgbClr val="0070C0"/>
                </a:solidFill>
              </a:rPr>
              <a:t>Definida</a:t>
            </a:r>
            <a:endParaRPr lang="pt-BR" sz="1000" dirty="0">
              <a:solidFill>
                <a:srgbClr val="0070C0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6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37623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  <p:bldP spid="10" grpId="0" animBg="1"/>
      <p:bldP spid="12" grpId="0" animBg="1"/>
      <p:bldP spid="14" grpId="0" animBg="1"/>
      <p:bldP spid="15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Catálogo de Classificação de Incidentes (</a:t>
            </a:r>
            <a:r>
              <a:rPr lang="pt-BR" i="1" dirty="0" smtClean="0">
                <a:solidFill>
                  <a:srgbClr val="002060"/>
                </a:solidFill>
              </a:rPr>
              <a:t>Lean IT</a:t>
            </a:r>
            <a:r>
              <a:rPr lang="pt-BR" dirty="0" smtClean="0">
                <a:solidFill>
                  <a:srgbClr val="002060"/>
                </a:solidFill>
              </a:rPr>
              <a:t>)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Ações a implantar em breve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75" y="1247619"/>
            <a:ext cx="9045031" cy="3325379"/>
          </a:xfrm>
          <a:prstGeom prst="rect">
            <a:avLst/>
          </a:prstGeom>
        </p:spPr>
      </p:pic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7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6507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Mudança Técnica (</a:t>
            </a:r>
            <a:r>
              <a:rPr lang="pt-BR" i="1" dirty="0" smtClean="0">
                <a:solidFill>
                  <a:srgbClr val="002060"/>
                </a:solidFill>
              </a:rPr>
              <a:t>Lean IT</a:t>
            </a:r>
            <a:r>
              <a:rPr lang="pt-BR" dirty="0" smtClean="0">
                <a:solidFill>
                  <a:srgbClr val="002060"/>
                </a:solidFill>
              </a:rPr>
              <a:t>)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2060"/>
                </a:solidFill>
              </a:rPr>
              <a:t>Ações a implantar em breve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73" y="1498580"/>
            <a:ext cx="8243455" cy="3117273"/>
          </a:xfrm>
          <a:prstGeom prst="rect">
            <a:avLst/>
          </a:prstGeom>
        </p:spPr>
      </p:pic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8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91370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Mudar gera desconforto?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Ações realizadas e definidas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272" y="1498580"/>
            <a:ext cx="1816430" cy="1429662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757" y="3120412"/>
            <a:ext cx="1724539" cy="1642419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55536" y="1498580"/>
            <a:ext cx="5646481" cy="33480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pt-BR" sz="2251" b="1" u="sng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Leia as cores das palavras, não as </a:t>
            </a:r>
            <a:r>
              <a:rPr lang="pt-BR" sz="2251" b="1" u="sng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palavras</a:t>
            </a:r>
            <a:r>
              <a:rPr lang="pt-BR" sz="2251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!</a:t>
            </a:r>
            <a:endParaRPr lang="pt-BR" sz="2251" b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ctr" eaLnBrk="0" hangingPunct="0">
              <a:spcBef>
                <a:spcPct val="20000"/>
              </a:spcBef>
              <a:defRPr/>
            </a:pPr>
            <a:endParaRPr lang="pt-BR" sz="2251" b="1" i="1" dirty="0">
              <a:solidFill>
                <a:srgbClr val="0000CC"/>
              </a:solidFill>
              <a:latin typeface="Calibri" pitchFamily="34" charset="0"/>
              <a:cs typeface="Calibri" pitchFamily="34" charset="0"/>
            </a:endParaRP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preto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roxo</a:t>
            </a:r>
            <a:r>
              <a:rPr lang="pt-BR" sz="2251" b="1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 </a:t>
            </a:r>
            <a:r>
              <a:rPr lang="pt-BR" sz="2251" b="1" i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preto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verde –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cinza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660066"/>
                </a:solidFill>
                <a:latin typeface="Calibri" pitchFamily="34" charset="0"/>
                <a:cs typeface="Calibri" pitchFamily="34" charset="0"/>
              </a:rPr>
              <a:t>amarelo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laranja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roxo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roxo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branco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663300"/>
                </a:solidFill>
                <a:latin typeface="Calibri" pitchFamily="34" charset="0"/>
                <a:cs typeface="Calibri" pitchFamily="34" charset="0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verde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preto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verde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cs typeface="Calibri" pitchFamily="34" charset="0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amarelo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branco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preto</a:t>
            </a:r>
            <a:r>
              <a:rPr lang="pt-BR" sz="2251" b="1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cinza</a:t>
            </a:r>
            <a:endParaRPr lang="pt-BR" sz="2251" b="1" i="1" dirty="0">
              <a:solidFill>
                <a:srgbClr val="FFFF66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20000"/>
              </a:spcBef>
              <a:defRPr/>
            </a:pPr>
            <a:endParaRPr lang="pt-BR" sz="2251" b="1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22670" y="77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9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68483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Projetos Estruturantes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Ações realizadas e definidas</a:t>
            </a:r>
            <a:endParaRPr lang="pt-BR" dirty="0">
              <a:solidFill>
                <a:srgbClr val="002060"/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1083075" y="533894"/>
            <a:ext cx="6675699" cy="4621169"/>
            <a:chOff x="1083075" y="533894"/>
            <a:chExt cx="6675699" cy="4621169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3075" y="533894"/>
              <a:ext cx="6675699" cy="4621169"/>
            </a:xfrm>
            <a:prstGeom prst="rect">
              <a:avLst/>
            </a:prstGeom>
          </p:spPr>
        </p:pic>
        <p:sp>
          <p:nvSpPr>
            <p:cNvPr id="3" name="CaixaDeTexto 2"/>
            <p:cNvSpPr txBox="1"/>
            <p:nvPr/>
          </p:nvSpPr>
          <p:spPr>
            <a:xfrm>
              <a:off x="5250186" y="710609"/>
              <a:ext cx="26239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 smtClean="0">
                  <a:solidFill>
                    <a:srgbClr val="0070C0"/>
                  </a:solidFill>
                </a:rPr>
                <a:t>?</a:t>
              </a:r>
              <a:endParaRPr lang="pt-BR" sz="2200" dirty="0">
                <a:solidFill>
                  <a:srgbClr val="0070C0"/>
                </a:solidFill>
              </a:endParaRP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5711698" y="533894"/>
              <a:ext cx="26239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 smtClean="0">
                  <a:solidFill>
                    <a:srgbClr val="0070C0"/>
                  </a:solidFill>
                </a:rPr>
                <a:t>?</a:t>
              </a:r>
              <a:endParaRPr lang="pt-BR" sz="2200" dirty="0">
                <a:solidFill>
                  <a:srgbClr val="0070C0"/>
                </a:solidFill>
              </a:endParaRPr>
            </a:p>
          </p:txBody>
        </p:sp>
      </p:grpSp>
      <p:sp>
        <p:nvSpPr>
          <p:cNvPr id="15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10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60507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novembro</a:t>
            </a: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Demonstrando resultados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46" y="1383528"/>
            <a:ext cx="8246513" cy="3596094"/>
          </a:xfrm>
          <a:prstGeom prst="rect">
            <a:avLst/>
          </a:prstGeom>
        </p:spPr>
      </p:pic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11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novembro</a:t>
            </a:r>
            <a:endParaRPr lang="pt-BR" dirty="0">
              <a:solidFill>
                <a:srgbClr val="002060"/>
              </a:solidFill>
            </a:endParaRP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Demonstrando resultados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4701" y="2105072"/>
            <a:ext cx="5899571" cy="1804682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720" y="852172"/>
            <a:ext cx="3028111" cy="1440997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721" y="2293169"/>
            <a:ext cx="3028111" cy="1451075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7721" y="3744244"/>
            <a:ext cx="3028111" cy="1446036"/>
          </a:xfrm>
          <a:prstGeom prst="rect">
            <a:avLst/>
          </a:prstGeom>
        </p:spPr>
      </p:pic>
      <p:sp>
        <p:nvSpPr>
          <p:cNvPr id="25" name="Chave esquerda 24"/>
          <p:cNvSpPr/>
          <p:nvPr/>
        </p:nvSpPr>
        <p:spPr>
          <a:xfrm>
            <a:off x="5544380" y="925993"/>
            <a:ext cx="228265" cy="4162840"/>
          </a:xfrm>
          <a:prstGeom prst="leftBrace">
            <a:avLst>
              <a:gd name="adj1" fmla="val 109350"/>
              <a:gd name="adj2" fmla="val 50382"/>
            </a:avLst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12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26021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52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novembro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Demonstrando resultados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5992" y="1874836"/>
            <a:ext cx="6484489" cy="1985150"/>
          </a:xfrm>
          <a:prstGeom prst="rect">
            <a:avLst/>
          </a:prstGeom>
        </p:spPr>
      </p:pic>
      <p:sp>
        <p:nvSpPr>
          <p:cNvPr id="5" name="Retângulo de cantos arredondados 4"/>
          <p:cNvSpPr/>
          <p:nvPr/>
        </p:nvSpPr>
        <p:spPr>
          <a:xfrm>
            <a:off x="5929792" y="2030694"/>
            <a:ext cx="2955165" cy="16734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b="1" dirty="0" smtClean="0">
                <a:solidFill>
                  <a:srgbClr val="002060"/>
                </a:solidFill>
              </a:rPr>
              <a:t>Confiabilidade</a:t>
            </a:r>
            <a:r>
              <a:rPr lang="pt-BR" dirty="0" smtClean="0">
                <a:solidFill>
                  <a:srgbClr val="002060"/>
                </a:solidFill>
              </a:rPr>
              <a:t>, a </a:t>
            </a:r>
            <a:r>
              <a:rPr lang="pt-BR" dirty="0">
                <a:solidFill>
                  <a:srgbClr val="002060"/>
                </a:solidFill>
              </a:rPr>
              <a:t>principal métrica de Estabilidade Operacional, </a:t>
            </a:r>
            <a:r>
              <a:rPr lang="pt-BR" dirty="0" smtClean="0">
                <a:solidFill>
                  <a:srgbClr val="002060"/>
                </a:solidFill>
              </a:rPr>
              <a:t>determina a </a:t>
            </a:r>
            <a:r>
              <a:rPr lang="pt-BR" dirty="0">
                <a:solidFill>
                  <a:srgbClr val="002060"/>
                </a:solidFill>
              </a:rPr>
              <a:t>satisfação dos clientes.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13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19725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69302" y="878287"/>
            <a:ext cx="838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novembro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Demonstrando resultados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43" y="1638472"/>
            <a:ext cx="6800815" cy="3372832"/>
          </a:xfrm>
          <a:prstGeom prst="rect">
            <a:avLst/>
          </a:prstGeom>
        </p:spPr>
      </p:pic>
      <p:cxnSp>
        <p:nvCxnSpPr>
          <p:cNvPr id="6" name="Conector de seta reta 5"/>
          <p:cNvCxnSpPr/>
          <p:nvPr/>
        </p:nvCxnSpPr>
        <p:spPr>
          <a:xfrm flipH="1">
            <a:off x="6962281" y="3808675"/>
            <a:ext cx="222994" cy="31078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7185275" y="3604958"/>
            <a:ext cx="17565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rgbClr val="0070C0"/>
                </a:solidFill>
              </a:rPr>
              <a:t>Nice, única solução Contax entre os Top 10.</a:t>
            </a:r>
          </a:p>
          <a:p>
            <a:endParaRPr lang="pt-BR" sz="1100" dirty="0">
              <a:solidFill>
                <a:srgbClr val="0070C0"/>
              </a:solidFill>
            </a:endParaRPr>
          </a:p>
          <a:p>
            <a:r>
              <a:rPr lang="pt-BR" sz="1100" dirty="0" smtClean="0">
                <a:solidFill>
                  <a:srgbClr val="0070C0"/>
                </a:solidFill>
              </a:rPr>
              <a:t>E já há um plano de ação!</a:t>
            </a:r>
          </a:p>
          <a:p>
            <a:endParaRPr lang="pt-BR" sz="1100" b="1" dirty="0">
              <a:solidFill>
                <a:srgbClr val="0070C0"/>
              </a:solidFill>
            </a:endParaRPr>
          </a:p>
          <a:p>
            <a:endParaRPr lang="pt-BR" sz="1100" b="1" dirty="0" smtClean="0">
              <a:solidFill>
                <a:srgbClr val="0070C0"/>
              </a:solidFill>
            </a:endParaRPr>
          </a:p>
          <a:p>
            <a:endParaRPr lang="pt-BR" sz="1100" b="1" dirty="0">
              <a:solidFill>
                <a:srgbClr val="0070C0"/>
              </a:solidFill>
            </a:endParaRPr>
          </a:p>
          <a:p>
            <a:r>
              <a:rPr lang="pt-BR" sz="1100" b="1" dirty="0" smtClean="0">
                <a:solidFill>
                  <a:srgbClr val="0070C0"/>
                </a:solidFill>
              </a:rPr>
              <a:t>              </a:t>
            </a:r>
            <a:r>
              <a:rPr lang="pt-BR" sz="1000" dirty="0" smtClean="0">
                <a:solidFill>
                  <a:srgbClr val="0070C0"/>
                </a:solidFill>
              </a:rPr>
              <a:t> </a:t>
            </a:r>
            <a:r>
              <a:rPr lang="pt-BR" sz="900" b="1" dirty="0" smtClean="0">
                <a:solidFill>
                  <a:srgbClr val="0070C0"/>
                </a:solidFill>
              </a:rPr>
              <a:t>Total          -74%</a:t>
            </a:r>
            <a:endParaRPr lang="pt-BR" sz="900" b="1" dirty="0">
              <a:solidFill>
                <a:srgbClr val="0070C0"/>
              </a:solidFill>
            </a:endParaRP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266" y="1609845"/>
            <a:ext cx="1726482" cy="1595488"/>
          </a:xfrm>
          <a:prstGeom prst="rect">
            <a:avLst/>
          </a:prstGeom>
        </p:spPr>
      </p:pic>
      <p:sp>
        <p:nvSpPr>
          <p:cNvPr id="30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14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33929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Olhando para frente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69302" y="894190"/>
            <a:ext cx="529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dezembro</a:t>
            </a:r>
            <a:endParaRPr lang="pt-BR" dirty="0">
              <a:solidFill>
                <a:srgbClr val="002060"/>
              </a:solidFill>
            </a:endParaRPr>
          </a:p>
          <a:p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770" y="1105231"/>
            <a:ext cx="3894386" cy="2508653"/>
          </a:xfrm>
          <a:prstGeom prst="rect">
            <a:avLst/>
          </a:prstGeom>
        </p:spPr>
      </p:pic>
      <p:sp>
        <p:nvSpPr>
          <p:cNvPr id="9" name="Retângulo de cantos arredondados 8"/>
          <p:cNvSpPr/>
          <p:nvPr/>
        </p:nvSpPr>
        <p:spPr>
          <a:xfrm>
            <a:off x="418687" y="1450571"/>
            <a:ext cx="3840098" cy="209011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 smtClean="0">
                <a:solidFill>
                  <a:srgbClr val="002060"/>
                </a:solidFill>
              </a:rPr>
              <a:t>Um dos maiores desafios de um esforço de qualidade é não baixar a guarda, não deixar a peteca cair. Mas, como garantir que a melhoria seja mesmo contínua?</a:t>
            </a:r>
          </a:p>
          <a:p>
            <a:pPr algn="just"/>
            <a:endParaRPr lang="pt-BR" dirty="0">
              <a:solidFill>
                <a:srgbClr val="002060"/>
              </a:solidFill>
            </a:endParaRPr>
          </a:p>
          <a:p>
            <a:pPr algn="just"/>
            <a:r>
              <a:rPr lang="pt-BR" b="1" dirty="0" smtClean="0">
                <a:solidFill>
                  <a:srgbClr val="FF0000"/>
                </a:solidFill>
              </a:rPr>
              <a:t>PDCA</a:t>
            </a:r>
            <a:r>
              <a:rPr lang="pt-BR" b="1" dirty="0" smtClean="0">
                <a:solidFill>
                  <a:srgbClr val="002060"/>
                </a:solidFill>
              </a:rPr>
              <a:t>, </a:t>
            </a:r>
            <a:r>
              <a:rPr lang="pt-BR" dirty="0" smtClean="0">
                <a:solidFill>
                  <a:srgbClr val="002060"/>
                </a:solidFill>
              </a:rPr>
              <a:t>desde </a:t>
            </a:r>
            <a:r>
              <a:rPr lang="pt-BR" b="1" dirty="0" smtClean="0">
                <a:solidFill>
                  <a:srgbClr val="FF0000"/>
                </a:solidFill>
              </a:rPr>
              <a:t>1956</a:t>
            </a:r>
            <a:r>
              <a:rPr lang="pt-BR" dirty="0" smtClean="0">
                <a:solidFill>
                  <a:srgbClr val="002060"/>
                </a:solidFill>
              </a:rPr>
              <a:t> auxiliando o sucesso dos gestores de qualidade!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834887" y="3719162"/>
            <a:ext cx="7503354" cy="1227935"/>
            <a:chOff x="1138391" y="3580987"/>
            <a:chExt cx="7207801" cy="1060412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8391" y="3766899"/>
              <a:ext cx="7207801" cy="874500"/>
            </a:xfrm>
            <a:prstGeom prst="rect">
              <a:avLst/>
            </a:prstGeom>
          </p:spPr>
        </p:pic>
        <p:sp>
          <p:nvSpPr>
            <p:cNvPr id="10" name="Retângulo de cantos arredondados 9"/>
            <p:cNvSpPr/>
            <p:nvPr/>
          </p:nvSpPr>
          <p:spPr>
            <a:xfrm>
              <a:off x="3487806" y="3580987"/>
              <a:ext cx="3764210" cy="58157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pt-BR" sz="1600" dirty="0" smtClean="0">
                  <a:solidFill>
                    <a:srgbClr val="002060"/>
                  </a:solidFill>
                </a:rPr>
                <a:t>Vamos definir algumas metas de melhoria!</a:t>
              </a:r>
            </a:p>
          </p:txBody>
        </p:sp>
      </p:grpSp>
      <p:sp>
        <p:nvSpPr>
          <p:cNvPr id="12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15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2669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Olhando para frente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69302" y="894190"/>
            <a:ext cx="529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2015, dezembro</a:t>
            </a:r>
            <a:endParaRPr lang="pt-BR" dirty="0">
              <a:solidFill>
                <a:srgbClr val="002060"/>
              </a:solidFill>
            </a:endParaRP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297927" y="1351764"/>
            <a:ext cx="684125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FF0000"/>
                </a:solidFill>
                <a:hlinkClick r:id="rId3"/>
              </a:rPr>
              <a:t>estabilidade.operacional@contax.com.br</a:t>
            </a:r>
            <a:endParaRPr lang="pt-BR" sz="2400" dirty="0" smtClean="0">
              <a:solidFill>
                <a:srgbClr val="FF0000"/>
              </a:solidFill>
            </a:endParaRPr>
          </a:p>
          <a:p>
            <a:endParaRPr lang="pt-BR" sz="2000" dirty="0" smtClean="0">
              <a:solidFill>
                <a:srgbClr val="FF0000"/>
              </a:solidFill>
            </a:endParaRPr>
          </a:p>
          <a:p>
            <a:r>
              <a:rPr lang="pt-BR" sz="2000" dirty="0" smtClean="0">
                <a:solidFill>
                  <a:srgbClr val="002060"/>
                </a:solidFill>
              </a:rPr>
              <a:t>Este endereço de e-mail está disponível para que os </a:t>
            </a:r>
            <a:r>
              <a:rPr lang="pt-BR" sz="2000" b="1" dirty="0" smtClean="0">
                <a:solidFill>
                  <a:srgbClr val="002060"/>
                </a:solidFill>
              </a:rPr>
              <a:t>profissionais de TI</a:t>
            </a:r>
            <a:r>
              <a:rPr lang="pt-BR" sz="2000" dirty="0" smtClean="0">
                <a:solidFill>
                  <a:srgbClr val="002060"/>
                </a:solidFill>
              </a:rPr>
              <a:t> possam fazer </a:t>
            </a:r>
            <a:r>
              <a:rPr lang="pt-BR" sz="2200" b="1" dirty="0" smtClean="0">
                <a:solidFill>
                  <a:srgbClr val="002060"/>
                </a:solidFill>
              </a:rPr>
              <a:t>sugestões e recomendações para melhoria</a:t>
            </a:r>
            <a:r>
              <a:rPr lang="pt-BR" sz="2000" dirty="0" smtClean="0">
                <a:solidFill>
                  <a:srgbClr val="002060"/>
                </a:solidFill>
              </a:rPr>
              <a:t>. Contribua, colabore, participe!</a:t>
            </a:r>
          </a:p>
          <a:p>
            <a:endParaRPr lang="pt-BR" sz="2000" dirty="0">
              <a:solidFill>
                <a:srgbClr val="002060"/>
              </a:solidFill>
            </a:endParaRPr>
          </a:p>
          <a:p>
            <a:r>
              <a:rPr lang="pt-BR" sz="2000" dirty="0" smtClean="0">
                <a:solidFill>
                  <a:srgbClr val="002060"/>
                </a:solidFill>
              </a:rPr>
              <a:t>Este é o seu canal para contribuir com aquela ideia que só você conhece, ou que já falou pra todo mundo, mas ninguém nunca deu ouvidos. </a:t>
            </a:r>
            <a:endParaRPr lang="pt-BR" sz="2000" dirty="0">
              <a:solidFill>
                <a:srgbClr val="002060"/>
              </a:solidFill>
            </a:endParaRPr>
          </a:p>
          <a:p>
            <a:pPr algn="ctr"/>
            <a:endParaRPr lang="pt-BR" sz="2000" dirty="0">
              <a:solidFill>
                <a:srgbClr val="002060"/>
              </a:solidFill>
            </a:endParaRPr>
          </a:p>
          <a:p>
            <a:pPr algn="ctr"/>
            <a:r>
              <a:rPr lang="pt-BR" b="1" dirty="0" smtClean="0">
                <a:solidFill>
                  <a:srgbClr val="002060"/>
                </a:solidFill>
              </a:rPr>
              <a:t>TODOS os e-mail recebidos serão analisados e RESPONDIDOS.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endParaRPr lang="pt-BR" b="1" dirty="0">
              <a:solidFill>
                <a:srgbClr val="FF000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02" y="2307949"/>
            <a:ext cx="1922318" cy="1965614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16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66987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Compartilhando a visão</a:t>
            </a:r>
            <a:endParaRPr lang="pt-BR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169302" y="894190"/>
            <a:ext cx="52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2016...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51075" y="1530386"/>
            <a:ext cx="878137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solidFill>
                  <a:srgbClr val="002060"/>
                </a:solidFill>
              </a:rPr>
              <a:t>Giulio </a:t>
            </a:r>
            <a:r>
              <a:rPr lang="pt-BR" sz="1600" b="1" dirty="0" err="1">
                <a:solidFill>
                  <a:srgbClr val="002060"/>
                </a:solidFill>
              </a:rPr>
              <a:t>Salomone</a:t>
            </a:r>
            <a:r>
              <a:rPr lang="pt-BR" sz="1600" dirty="0">
                <a:solidFill>
                  <a:srgbClr val="002060"/>
                </a:solidFill>
              </a:rPr>
              <a:t>, </a:t>
            </a:r>
            <a:r>
              <a:rPr lang="pt-BR" sz="1600" dirty="0" smtClean="0">
                <a:solidFill>
                  <a:srgbClr val="002060"/>
                </a:solidFill>
              </a:rPr>
              <a:t>nosso COO, em recente entrevista </a:t>
            </a:r>
            <a:r>
              <a:rPr lang="pt-BR" sz="1600" dirty="0">
                <a:solidFill>
                  <a:srgbClr val="002060"/>
                </a:solidFill>
              </a:rPr>
              <a:t>a</a:t>
            </a:r>
            <a:r>
              <a:rPr lang="pt-BR" sz="1600" dirty="0" smtClean="0">
                <a:solidFill>
                  <a:srgbClr val="002060"/>
                </a:solidFill>
              </a:rPr>
              <a:t>o site </a:t>
            </a:r>
            <a:r>
              <a:rPr lang="pt-BR" sz="1600" i="1" dirty="0" smtClean="0">
                <a:solidFill>
                  <a:srgbClr val="002060"/>
                </a:solidFill>
              </a:rPr>
              <a:t>callcenter.inf.br</a:t>
            </a:r>
            <a:r>
              <a:rPr lang="pt-BR" sz="1600" dirty="0" smtClean="0">
                <a:solidFill>
                  <a:srgbClr val="002060"/>
                </a:solidFill>
              </a:rPr>
              <a:t> disse que </a:t>
            </a:r>
            <a:r>
              <a:rPr lang="pt-BR" sz="1600" i="1" dirty="0" smtClean="0">
                <a:solidFill>
                  <a:srgbClr val="002060"/>
                </a:solidFill>
              </a:rPr>
              <a:t>“há </a:t>
            </a:r>
            <a:r>
              <a:rPr lang="pt-BR" sz="1600" i="1" dirty="0">
                <a:solidFill>
                  <a:srgbClr val="002060"/>
                </a:solidFill>
              </a:rPr>
              <a:t>alguns desafios a serem enfrentados para as empresas avançarem ainda mais na adoção da </a:t>
            </a:r>
            <a:r>
              <a:rPr lang="pt-BR" sz="1600" i="1" dirty="0" err="1" smtClean="0">
                <a:solidFill>
                  <a:srgbClr val="002060"/>
                </a:solidFill>
              </a:rPr>
              <a:t>multicanalidade</a:t>
            </a:r>
            <a:r>
              <a:rPr lang="pt-BR" sz="1600" dirty="0" smtClean="0">
                <a:solidFill>
                  <a:srgbClr val="002060"/>
                </a:solidFill>
              </a:rPr>
              <a:t>”, dentre os quais destacou:</a:t>
            </a:r>
          </a:p>
          <a:p>
            <a:endParaRPr lang="pt-BR" sz="800" i="1" dirty="0" smtClean="0">
              <a:solidFill>
                <a:srgbClr val="002060"/>
              </a:solidFill>
            </a:endParaRPr>
          </a:p>
          <a:p>
            <a:pPr marL="444500" indent="-261938">
              <a:buFont typeface="Courier New" panose="02070309020205020404" pitchFamily="49" charset="0"/>
              <a:buChar char="o"/>
            </a:pPr>
            <a:r>
              <a:rPr lang="pt-BR" sz="1600" b="1" i="1" dirty="0" smtClean="0">
                <a:solidFill>
                  <a:srgbClr val="002060"/>
                </a:solidFill>
              </a:rPr>
              <a:t>alinhar </a:t>
            </a:r>
            <a:r>
              <a:rPr lang="pt-BR" sz="1600" b="1" i="1" dirty="0">
                <a:solidFill>
                  <a:srgbClr val="002060"/>
                </a:solidFill>
              </a:rPr>
              <a:t>processos internos </a:t>
            </a:r>
            <a:r>
              <a:rPr lang="pt-BR" sz="1600" i="1" dirty="0">
                <a:solidFill>
                  <a:srgbClr val="002060"/>
                </a:solidFill>
              </a:rPr>
              <a:t>para que o atendimento ao cliente seja </a:t>
            </a:r>
            <a:r>
              <a:rPr lang="pt-BR" sz="1600" i="1" dirty="0" smtClean="0">
                <a:solidFill>
                  <a:srgbClr val="002060"/>
                </a:solidFill>
              </a:rPr>
              <a:t>consistente;</a:t>
            </a:r>
          </a:p>
          <a:p>
            <a:pPr marL="444500" indent="-261938">
              <a:buFont typeface="Courier New" panose="02070309020205020404" pitchFamily="49" charset="0"/>
              <a:buChar char="o"/>
            </a:pPr>
            <a:r>
              <a:rPr lang="pt-BR" sz="1600" b="1" i="1" dirty="0" smtClean="0">
                <a:solidFill>
                  <a:srgbClr val="002060"/>
                </a:solidFill>
              </a:rPr>
              <a:t>entregar </a:t>
            </a:r>
            <a:r>
              <a:rPr lang="pt-BR" sz="1600" b="1" i="1" dirty="0">
                <a:solidFill>
                  <a:srgbClr val="002060"/>
                </a:solidFill>
              </a:rPr>
              <a:t>um serviço </a:t>
            </a:r>
            <a:r>
              <a:rPr lang="pt-BR" sz="1600" i="1" dirty="0" smtClean="0">
                <a:solidFill>
                  <a:srgbClr val="002060"/>
                </a:solidFill>
              </a:rPr>
              <a:t>multicanal;</a:t>
            </a:r>
          </a:p>
          <a:p>
            <a:pPr marL="444500" indent="-261938">
              <a:buFont typeface="Courier New" panose="02070309020205020404" pitchFamily="49" charset="0"/>
              <a:buChar char="o"/>
            </a:pPr>
            <a:r>
              <a:rPr lang="pt-BR" sz="1600" b="1" i="1" dirty="0" smtClean="0">
                <a:solidFill>
                  <a:srgbClr val="002060"/>
                </a:solidFill>
              </a:rPr>
              <a:t>medir </a:t>
            </a:r>
            <a:r>
              <a:rPr lang="pt-BR" sz="1600" b="1" i="1" dirty="0">
                <a:solidFill>
                  <a:srgbClr val="002060"/>
                </a:solidFill>
              </a:rPr>
              <a:t>a qualidade dos processos, a eficiência dos serviços e a qualidade percebida pelo </a:t>
            </a:r>
            <a:r>
              <a:rPr lang="pt-BR" sz="1600" b="1" i="1" dirty="0" smtClean="0">
                <a:solidFill>
                  <a:srgbClr val="002060"/>
                </a:solidFill>
              </a:rPr>
              <a:t>cliente</a:t>
            </a:r>
            <a:r>
              <a:rPr lang="pt-BR" sz="1600" i="1" dirty="0" smtClean="0">
                <a:solidFill>
                  <a:srgbClr val="002060"/>
                </a:solidFill>
              </a:rPr>
              <a:t>“.</a:t>
            </a:r>
            <a:endParaRPr lang="pt-BR" sz="1600" dirty="0" smtClean="0">
              <a:solidFill>
                <a:srgbClr val="FF0000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67652" y="3462435"/>
            <a:ext cx="71482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solidFill>
                  <a:schemeClr val="bg1">
                    <a:lumMod val="65000"/>
                  </a:schemeClr>
                </a:solidFill>
              </a:rPr>
              <a:t>Fabio </a:t>
            </a:r>
            <a:r>
              <a:rPr lang="pt-BR" sz="1600" b="1" dirty="0" err="1" smtClean="0">
                <a:solidFill>
                  <a:schemeClr val="bg1">
                    <a:lumMod val="65000"/>
                  </a:schemeClr>
                </a:solidFill>
              </a:rPr>
              <a:t>Koreeda</a:t>
            </a:r>
            <a:r>
              <a:rPr lang="pt-BR" sz="1600" b="1" dirty="0" smtClean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nosso CIO interino, concorda e afirma ter certeza de que a Contax está preparada para crescer em qualquer cenário econômico, pois a TI possui::</a:t>
            </a:r>
          </a:p>
          <a:p>
            <a:endParaRPr lang="pt-BR" sz="800" i="1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444500" indent="-261938">
              <a:buFont typeface="Courier New" panose="02070309020205020404" pitchFamily="49" charset="0"/>
              <a:buChar char="o"/>
            </a:pPr>
            <a:r>
              <a:rPr lang="pt-BR" sz="1600" b="1" i="1" dirty="0" smtClean="0">
                <a:solidFill>
                  <a:schemeClr val="bg1">
                    <a:lumMod val="65000"/>
                  </a:schemeClr>
                </a:solidFill>
              </a:rPr>
              <a:t>Profissionais competentes e motivados;</a:t>
            </a:r>
          </a:p>
          <a:p>
            <a:pPr marL="444500" indent="-261938">
              <a:buFont typeface="Courier New" panose="02070309020205020404" pitchFamily="49" charset="0"/>
              <a:buChar char="o"/>
            </a:pPr>
            <a:r>
              <a:rPr lang="pt-BR" sz="1600" b="1" i="1" dirty="0" smtClean="0">
                <a:solidFill>
                  <a:schemeClr val="bg1">
                    <a:lumMod val="65000"/>
                  </a:schemeClr>
                </a:solidFill>
              </a:rPr>
              <a:t>Processos orientados à melhoria contínua;</a:t>
            </a:r>
          </a:p>
          <a:p>
            <a:pPr marL="444500" indent="-261938">
              <a:buFont typeface="Courier New" panose="02070309020205020404" pitchFamily="49" charset="0"/>
              <a:buChar char="o"/>
            </a:pPr>
            <a:r>
              <a:rPr lang="pt-BR" sz="1600" b="1" i="1" dirty="0" smtClean="0">
                <a:solidFill>
                  <a:schemeClr val="bg1">
                    <a:lumMod val="65000"/>
                  </a:schemeClr>
                </a:solidFill>
              </a:rPr>
              <a:t>Indicadores e metas, para suportar a tomada de decisão.</a:t>
            </a:r>
            <a:endParaRPr lang="pt-BR" sz="16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17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18824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3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 smtClean="0">
                <a:solidFill>
                  <a:schemeClr val="tx2"/>
                </a:solidFill>
              </a:rPr>
              <a:t>CHACON</a:t>
            </a:r>
            <a:r>
              <a:rPr lang="pt-BR" sz="12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  <a:endParaRPr lang="pt-BR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51075" y="257994"/>
            <a:ext cx="625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2060"/>
                </a:solidFill>
              </a:rPr>
              <a:t>Agradecimentos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418687" y="707666"/>
            <a:ext cx="4280534" cy="43732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 smtClean="0">
                <a:solidFill>
                  <a:srgbClr val="002060"/>
                </a:solidFill>
              </a:rPr>
              <a:t>A CHACON </a:t>
            </a:r>
            <a:r>
              <a:rPr lang="pt-BR" dirty="0" smtClean="0">
                <a:solidFill>
                  <a:schemeClr val="bg1"/>
                </a:solidFill>
              </a:rPr>
              <a:t>|</a:t>
            </a:r>
            <a:r>
              <a:rPr lang="pt-BR" dirty="0" smtClean="0">
                <a:solidFill>
                  <a:srgbClr val="002060"/>
                </a:solidFill>
              </a:rPr>
              <a:t> </a:t>
            </a:r>
            <a:r>
              <a:rPr lang="pt-BR" dirty="0" smtClean="0">
                <a:solidFill>
                  <a:schemeClr val="bg2">
                    <a:lumMod val="75000"/>
                  </a:schemeClr>
                </a:solidFill>
              </a:rPr>
              <a:t>Consultoria Ilimitada </a:t>
            </a:r>
            <a:r>
              <a:rPr lang="pt-BR" dirty="0" smtClean="0">
                <a:solidFill>
                  <a:srgbClr val="002060"/>
                </a:solidFill>
              </a:rPr>
              <a:t>agradece a todos os profissionais que direta ou indiretamente contribuíram para estes resultados, incluindo os colegas oriundos da </a:t>
            </a:r>
            <a:r>
              <a:rPr lang="pt-BR" i="1" dirty="0" smtClean="0">
                <a:solidFill>
                  <a:srgbClr val="002060"/>
                </a:solidFill>
              </a:rPr>
              <a:t>Todo!</a:t>
            </a:r>
            <a:r>
              <a:rPr lang="pt-BR" dirty="0">
                <a:solidFill>
                  <a:srgbClr val="002060"/>
                </a:solidFill>
              </a:rPr>
              <a:t> </a:t>
            </a:r>
            <a:r>
              <a:rPr lang="pt-BR" dirty="0" smtClean="0">
                <a:solidFill>
                  <a:srgbClr val="002060"/>
                </a:solidFill>
              </a:rPr>
              <a:t>e os parceiros da </a:t>
            </a:r>
            <a:r>
              <a:rPr lang="pt-BR" i="1" dirty="0" err="1" smtClean="0">
                <a:solidFill>
                  <a:srgbClr val="002060"/>
                </a:solidFill>
              </a:rPr>
              <a:t>Galeazzi</a:t>
            </a:r>
            <a:r>
              <a:rPr lang="pt-BR" i="1" dirty="0" smtClean="0">
                <a:solidFill>
                  <a:srgbClr val="002060"/>
                </a:solidFill>
              </a:rPr>
              <a:t> &amp; Associados</a:t>
            </a:r>
            <a:r>
              <a:rPr lang="pt-BR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endParaRPr lang="pt-BR" dirty="0">
              <a:solidFill>
                <a:srgbClr val="002060"/>
              </a:solidFill>
            </a:endParaRPr>
          </a:p>
          <a:p>
            <a:pPr algn="just"/>
            <a:r>
              <a:rPr lang="pt-BR" dirty="0" smtClean="0">
                <a:solidFill>
                  <a:srgbClr val="002060"/>
                </a:solidFill>
              </a:rPr>
              <a:t>Vocês, talvez, poderiam ter realizado muito sem nós. Nós, certamente, não teríamos realizado muito sem vocês.</a:t>
            </a:r>
          </a:p>
          <a:p>
            <a:pPr algn="just"/>
            <a:endParaRPr lang="pt-BR" dirty="0" smtClean="0">
              <a:solidFill>
                <a:srgbClr val="002060"/>
              </a:solidFill>
            </a:endParaRPr>
          </a:p>
          <a:p>
            <a:pPr algn="ctr"/>
            <a:r>
              <a:rPr lang="pt-BR" b="1" dirty="0" smtClean="0">
                <a:solidFill>
                  <a:srgbClr val="0070C0"/>
                </a:solidFill>
              </a:rPr>
              <a:t>Estabilidade Operacional</a:t>
            </a:r>
          </a:p>
          <a:p>
            <a:pPr algn="ctr"/>
            <a:r>
              <a:rPr lang="pt-BR" b="1" dirty="0" smtClean="0">
                <a:solidFill>
                  <a:srgbClr val="0070C0"/>
                </a:solidFill>
              </a:rPr>
              <a:t>É você quem faz.</a:t>
            </a:r>
          </a:p>
          <a:p>
            <a:pPr algn="ctr"/>
            <a:r>
              <a:rPr lang="pt-BR" b="1" dirty="0" smtClean="0">
                <a:solidFill>
                  <a:srgbClr val="0070C0"/>
                </a:solidFill>
              </a:rPr>
              <a:t>Foi você quem fez!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363030" y="978096"/>
            <a:ext cx="8386646" cy="3861018"/>
            <a:chOff x="418687" y="978096"/>
            <a:chExt cx="8386646" cy="3861018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944315" y="978096"/>
              <a:ext cx="3861018" cy="3861018"/>
            </a:xfrm>
            <a:prstGeom prst="rect">
              <a:avLst/>
            </a:prstGeom>
          </p:spPr>
        </p:pic>
        <p:sp>
          <p:nvSpPr>
            <p:cNvPr id="2" name="CaixaDeTexto 1"/>
            <p:cNvSpPr txBox="1"/>
            <p:nvPr/>
          </p:nvSpPr>
          <p:spPr>
            <a:xfrm>
              <a:off x="418687" y="2663441"/>
              <a:ext cx="464198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 smtClean="0">
                  <a:solidFill>
                    <a:srgbClr val="0070C0"/>
                  </a:solidFill>
                  <a:latin typeface="Lucida Handwriting" panose="03010101010101010101" pitchFamily="66" charset="0"/>
                </a:rPr>
                <a:t>A estória do rabo do peixe</a:t>
              </a:r>
              <a:endParaRPr lang="pt-BR" sz="2200" dirty="0">
                <a:solidFill>
                  <a:srgbClr val="0070C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22670" y="773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18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80130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1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1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1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1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1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"/>
                            </p:stCondLst>
                            <p:childTnLst>
                              <p:par>
                                <p:cTn id="5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uiExpand="1" build="allAtOnce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9994</TotalTime>
  <Words>980</Words>
  <Application>Microsoft Office PowerPoint</Application>
  <PresentationFormat>Personalizar</PresentationFormat>
  <Paragraphs>183</Paragraphs>
  <Slides>18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4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Daniel Donaire</cp:lastModifiedBy>
  <cp:revision>779</cp:revision>
  <dcterms:created xsi:type="dcterms:W3CDTF">2015-08-20T14:57:26Z</dcterms:created>
  <dcterms:modified xsi:type="dcterms:W3CDTF">2015-12-03T15:40:59Z</dcterms:modified>
</cp:coreProperties>
</file>