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1" r:id="rId5"/>
  </p:sldMasterIdLst>
  <p:sldIdLst>
    <p:sldId id="270" r:id="rId6"/>
    <p:sldId id="288" r:id="rId7"/>
    <p:sldId id="290" r:id="rId8"/>
    <p:sldId id="298" r:id="rId9"/>
    <p:sldId id="301" r:id="rId10"/>
    <p:sldId id="300" r:id="rId11"/>
    <p:sldId id="299" r:id="rId12"/>
    <p:sldId id="302" r:id="rId13"/>
    <p:sldId id="303" r:id="rId14"/>
    <p:sldId id="297" r:id="rId15"/>
    <p:sldId id="28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112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345C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09" autoAdjust="0"/>
    <p:restoredTop sz="99854" autoAdjust="0"/>
  </p:normalViewPr>
  <p:slideViewPr>
    <p:cSldViewPr snapToGrid="0" snapToObjects="1">
      <p:cViewPr varScale="1">
        <p:scale>
          <a:sx n="80" d="100"/>
          <a:sy n="80" d="100"/>
        </p:scale>
        <p:origin x="1512" y="78"/>
      </p:cViewPr>
      <p:guideLst>
        <p:guide orient="horz"/>
        <p:guide pos="112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400" b="1" dirty="0"/>
              <a:t>Quantidade de Incidentes </a:t>
            </a:r>
            <a:r>
              <a:rPr lang="pt-BR" sz="1400" b="1" dirty="0" smtClean="0"/>
              <a:t> </a:t>
            </a:r>
          </a:p>
          <a:p>
            <a:pPr algn="ctr">
              <a:defRPr sz="1400" b="1"/>
            </a:pPr>
            <a:r>
              <a:rPr lang="pt-BR" sz="1400" b="1" dirty="0" smtClean="0"/>
              <a:t>Alto </a:t>
            </a:r>
            <a:r>
              <a:rPr lang="pt-BR" sz="1400" b="1" dirty="0"/>
              <a:t>Impacto</a:t>
            </a:r>
          </a:p>
        </c:rich>
      </c:tx>
      <c:layout>
        <c:manualLayout>
          <c:xMode val="edge"/>
          <c:yMode val="edge"/>
          <c:x val="0.23439559165933119"/>
          <c:y val="3.971134749148837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Quantidade de Incidentes de Alto Impacto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lang="pt-BR" sz="1197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Plan1!$A$2:$A$6</c:f>
              <c:strCache>
                <c:ptCount val="5"/>
                <c:pt idx="0">
                  <c:v>Junho</c:v>
                </c:pt>
                <c:pt idx="1">
                  <c:v>Julho</c:v>
                </c:pt>
                <c:pt idx="2">
                  <c:v>Agosto</c:v>
                </c:pt>
                <c:pt idx="3">
                  <c:v>Setembro</c:v>
                </c:pt>
                <c:pt idx="4">
                  <c:v>Out 
(01 a 14)</c:v>
                </c:pt>
              </c:strCache>
            </c:strRef>
          </c:cat>
          <c:val>
            <c:numRef>
              <c:f>Plan1!$B$2:$B$6</c:f>
              <c:numCache>
                <c:formatCode>#,##0</c:formatCode>
                <c:ptCount val="5"/>
                <c:pt idx="0">
                  <c:v>1648</c:v>
                </c:pt>
                <c:pt idx="1">
                  <c:v>1633</c:v>
                </c:pt>
                <c:pt idx="2">
                  <c:v>1588</c:v>
                </c:pt>
                <c:pt idx="3">
                  <c:v>1443</c:v>
                </c:pt>
                <c:pt idx="4" formatCode="General">
                  <c:v>720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75270328"/>
        <c:axId val="375268760"/>
      </c:barChart>
      <c:catAx>
        <c:axId val="375270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75268760"/>
        <c:crosses val="autoZero"/>
        <c:auto val="1"/>
        <c:lblAlgn val="ctr"/>
        <c:lblOffset val="100"/>
        <c:noMultiLvlLbl val="0"/>
      </c:catAx>
      <c:valAx>
        <c:axId val="375268760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7527032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 err="1"/>
              <a:t>Problemas</a:t>
            </a:r>
            <a:r>
              <a:rPr lang="en-US" sz="1400" b="1" dirty="0"/>
              <a:t>  e </a:t>
            </a:r>
            <a:r>
              <a:rPr lang="en-US" sz="1400" b="1" dirty="0" err="1"/>
              <a:t>Incidentes</a:t>
            </a:r>
            <a:r>
              <a:rPr lang="en-US" sz="1400" b="1" dirty="0"/>
              <a:t> </a:t>
            </a:r>
            <a:r>
              <a:rPr lang="en-US" sz="1400" b="1" dirty="0" err="1"/>
              <a:t>Relacionados</a:t>
            </a:r>
            <a:endParaRPr lang="en-US" sz="1400" b="1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Qtd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Plan1!$A$2:$A$3</c:f>
              <c:strCache>
                <c:ptCount val="2"/>
                <c:pt idx="0">
                  <c:v>Inc.</c:v>
                </c:pt>
                <c:pt idx="1">
                  <c:v>Probl.</c:v>
                </c:pt>
              </c:strCache>
            </c:strRef>
          </c:cat>
          <c:val>
            <c:numRef>
              <c:f>Plan1!$B$2:$B$3</c:f>
              <c:numCache>
                <c:formatCode>General</c:formatCode>
                <c:ptCount val="2"/>
                <c:pt idx="0">
                  <c:v>99</c:v>
                </c:pt>
                <c:pt idx="1">
                  <c:v>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75264840"/>
        <c:axId val="375262488"/>
      </c:barChart>
      <c:catAx>
        <c:axId val="3752648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75262488"/>
        <c:crosses val="autoZero"/>
        <c:auto val="1"/>
        <c:lblAlgn val="ctr"/>
        <c:lblOffset val="100"/>
        <c:noMultiLvlLbl val="0"/>
      </c:catAx>
      <c:valAx>
        <c:axId val="37526248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752648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/>
              <a:t>Gestão de Problemas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Gestão de Problemas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Plan1!$A$2:$A$5</c:f>
              <c:strCache>
                <c:ptCount val="4"/>
                <c:pt idx="0">
                  <c:v>Solução 
Definitva</c:v>
                </c:pt>
                <c:pt idx="1">
                  <c:v>Solução 
Contorno</c:v>
                </c:pt>
                <c:pt idx="2">
                  <c:v>Causas mais 
prováveis</c:v>
                </c:pt>
                <c:pt idx="3">
                  <c:v>Possíveis 
Causas</c:v>
                </c:pt>
              </c:strCache>
            </c:strRef>
          </c:cat>
          <c:val>
            <c:numRef>
              <c:f>Plan1!$B$2:$B$5</c:f>
              <c:numCache>
                <c:formatCode>General</c:formatCode>
                <c:ptCount val="4"/>
                <c:pt idx="0">
                  <c:v>25</c:v>
                </c:pt>
                <c:pt idx="1">
                  <c:v>15</c:v>
                </c:pt>
                <c:pt idx="2">
                  <c:v>22</c:v>
                </c:pt>
                <c:pt idx="3">
                  <c:v>56</c:v>
                </c:pt>
              </c:numCache>
            </c:numRef>
          </c:val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Feito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Plan1!$A$2:$A$5</c:f>
              <c:strCache>
                <c:ptCount val="4"/>
                <c:pt idx="0">
                  <c:v>Solução 
Definitva</c:v>
                </c:pt>
                <c:pt idx="1">
                  <c:v>Solução 
Contorno</c:v>
                </c:pt>
                <c:pt idx="2">
                  <c:v>Causas mais 
prováveis</c:v>
                </c:pt>
                <c:pt idx="3">
                  <c:v>Possíveis 
Causas</c:v>
                </c:pt>
              </c:strCache>
            </c:strRef>
          </c:cat>
          <c:val>
            <c:numRef>
              <c:f>Plan1!$C$2:$C$5</c:f>
              <c:numCache>
                <c:formatCode>General</c:formatCode>
                <c:ptCount val="4"/>
                <c:pt idx="0">
                  <c:v>2</c:v>
                </c:pt>
                <c:pt idx="1">
                  <c:v>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75262880"/>
        <c:axId val="375263272"/>
      </c:barChart>
      <c:catAx>
        <c:axId val="3752628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75263272"/>
        <c:crosses val="autoZero"/>
        <c:auto val="1"/>
        <c:lblAlgn val="ctr"/>
        <c:lblOffset val="100"/>
        <c:noMultiLvlLbl val="0"/>
      </c:catAx>
      <c:valAx>
        <c:axId val="37526327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7526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13702064448360488"/>
          <c:y val="7.849904065312850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Solução Contorno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Plan1!$A$2:$A$3</c:f>
              <c:strCache>
                <c:ptCount val="2"/>
                <c:pt idx="0">
                  <c:v>Processo</c:v>
                </c:pt>
                <c:pt idx="1">
                  <c:v>Tecnológica</c:v>
                </c:pt>
              </c:strCache>
            </c:strRef>
          </c:cat>
          <c:val>
            <c:numRef>
              <c:f>Plan1!$B$2:$B$3</c:f>
              <c:numCache>
                <c:formatCode>General</c:formatCode>
                <c:ptCount val="2"/>
                <c:pt idx="0">
                  <c:v>10</c:v>
                </c:pt>
                <c:pt idx="1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400" b="1" dirty="0" smtClean="0"/>
              <a:t>Solução Definitiva</a:t>
            </a:r>
            <a:endParaRPr lang="pt-BR" sz="1400" b="1" dirty="0"/>
          </a:p>
        </c:rich>
      </c:tx>
      <c:layout>
        <c:manualLayout>
          <c:xMode val="edge"/>
          <c:yMode val="edge"/>
          <c:x val="0.26262762023985325"/>
          <c:y val="0.1134779059725960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Projeto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Plan1!$A$2:$A$3</c:f>
              <c:strCache>
                <c:ptCount val="2"/>
                <c:pt idx="0">
                  <c:v>Processo</c:v>
                </c:pt>
                <c:pt idx="1">
                  <c:v>Tecnológica</c:v>
                </c:pt>
              </c:strCache>
            </c:strRef>
          </c:cat>
          <c:val>
            <c:numRef>
              <c:f>Plan1!$B$2:$B$3</c:f>
              <c:numCache>
                <c:formatCode>General</c:formatCode>
                <c:ptCount val="2"/>
                <c:pt idx="1">
                  <c:v>6</c:v>
                </c:pt>
              </c:numCache>
            </c:numRef>
          </c:val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Ongoing</c:v>
                </c:pt>
              </c:strCache>
            </c:strRef>
          </c:tx>
          <c:spPr>
            <a:solidFill>
              <a:schemeClr val="accent3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Plan1!$A$2:$A$3</c:f>
              <c:strCache>
                <c:ptCount val="2"/>
                <c:pt idx="0">
                  <c:v>Processo</c:v>
                </c:pt>
                <c:pt idx="1">
                  <c:v>Tecnológica</c:v>
                </c:pt>
              </c:strCache>
            </c:strRef>
          </c:cat>
          <c:val>
            <c:numRef>
              <c:f>Plan1!$C$2:$C$3</c:f>
              <c:numCache>
                <c:formatCode>General</c:formatCode>
                <c:ptCount val="2"/>
                <c:pt idx="0">
                  <c:v>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75271896"/>
        <c:axId val="375273072"/>
      </c:barChart>
      <c:catAx>
        <c:axId val="375271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75273072"/>
        <c:crosses val="autoZero"/>
        <c:auto val="1"/>
        <c:lblAlgn val="ctr"/>
        <c:lblOffset val="100"/>
        <c:noMultiLvlLbl val="0"/>
      </c:catAx>
      <c:valAx>
        <c:axId val="3752730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75271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F0C7E4D-A4E8-BF44-B1B2-500D2A97A33A}" type="datetimeFigureOut">
              <a:rPr lang="en-US" smtClean="0"/>
              <a:t>10/16/2015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73305AD-EBDD-564C-9E4A-0F61261509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549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089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350" y="4259569"/>
            <a:ext cx="24765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177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15A96241-9EE8-3241-9C65-A8F2A1D83BB2}" type="datetimeFigureOut">
              <a:rPr lang="en-US" smtClean="0"/>
              <a:t>10/16/2015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89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06-02.jp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6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4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021333" y="384983"/>
            <a:ext cx="1603348" cy="388071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7" y="5840350"/>
            <a:ext cx="955343" cy="101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-1"/>
            <a:ext cx="789296" cy="103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52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/>
          <p:cNvSpPr txBox="1">
            <a:spLocks/>
          </p:cNvSpPr>
          <p:nvPr/>
        </p:nvSpPr>
        <p:spPr>
          <a:xfrm>
            <a:off x="814789" y="2672962"/>
            <a:ext cx="4406916" cy="1196726"/>
          </a:xfrm>
          <a:prstGeom prst="rect">
            <a:avLst/>
          </a:prstGeom>
        </p:spPr>
        <p:txBody>
          <a:bodyPr vert="horz"/>
          <a:lstStyle>
            <a:lvl1pPr marL="342900" indent="-342900" algn="r" defTabSz="457200" rtl="0" eaLnBrk="1" latinLnBrk="0" hangingPunct="1">
              <a:spcBef>
                <a:spcPct val="20000"/>
              </a:spcBef>
              <a:buFont typeface="Arial"/>
              <a:buNone/>
              <a:defRPr sz="220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200" b="1" dirty="0" smtClean="0">
                <a:solidFill>
                  <a:schemeClr val="bg1"/>
                </a:solidFill>
              </a:rPr>
              <a:t>Gerenciamento de </a:t>
            </a:r>
            <a:r>
              <a:rPr lang="pt-BR" sz="3200" b="1" dirty="0">
                <a:solidFill>
                  <a:schemeClr val="bg1"/>
                </a:solidFill>
              </a:rPr>
              <a:t>Problemas </a:t>
            </a:r>
            <a:endParaRPr lang="pt-BR" sz="3200" b="1" dirty="0" smtClean="0">
              <a:solidFill>
                <a:schemeClr val="bg1"/>
              </a:solidFill>
            </a:endParaRPr>
          </a:p>
          <a:p>
            <a:pPr algn="l"/>
            <a:r>
              <a:rPr lang="pt-BR" sz="24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(</a:t>
            </a:r>
            <a:r>
              <a:rPr lang="pt-BR" sz="2400" b="1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Novo </a:t>
            </a:r>
            <a:r>
              <a:rPr lang="pt-BR" sz="24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Processo)</a:t>
            </a:r>
          </a:p>
        </p:txBody>
      </p:sp>
    </p:spTree>
    <p:extLst>
      <p:ext uri="{BB962C8B-B14F-4D97-AF65-F5344CB8AC3E}">
        <p14:creationId xmlns:p14="http://schemas.microsoft.com/office/powerpoint/2010/main" val="439184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541421" y="1965900"/>
            <a:ext cx="8109284" cy="27176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processo de Gerenciamento de Problemas de TI busca eliminar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e/ou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evitar recorrências dos impactos negativos causados aos negócios da Contax por falhas nos ativos tecnológicos sob responsabilidade da Área de TI.</a:t>
            </a:r>
            <a:endParaRPr lang="pt-BR" dirty="0">
              <a:solidFill>
                <a:schemeClr val="accent1">
                  <a:lumMod val="50000"/>
                </a:schemeClr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gestão deste processo busca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identificação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entendimento, tratativa e correção definitiva das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causas raízes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dos denominados “Problemas de TI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”. Sempre com foco na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redução ou eliminação da ocorrência de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incidentes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 TI que estejam causando indisponibilidades, lentidões, inconsistências, entre outros impactos negativos.</a:t>
            </a:r>
            <a:endParaRPr lang="pt-BR" dirty="0">
              <a:solidFill>
                <a:schemeClr val="accent1">
                  <a:lumMod val="50000"/>
                </a:schemeClr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itle 1"/>
          <p:cNvSpPr txBox="1">
            <a:spLocks/>
          </p:cNvSpPr>
          <p:nvPr/>
        </p:nvSpPr>
        <p:spPr>
          <a:xfrm>
            <a:off x="661381" y="220848"/>
            <a:ext cx="564316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 smtClean="0">
                <a:solidFill>
                  <a:schemeClr val="tx2"/>
                </a:solidFill>
                <a:latin typeface="Arial"/>
                <a:cs typeface="Arial"/>
              </a:rPr>
              <a:t>Gerenciamento de Problemas</a:t>
            </a:r>
          </a:p>
          <a:p>
            <a:pPr algn="l"/>
            <a:r>
              <a:rPr lang="en-US" sz="2400" dirty="0" smtClean="0">
                <a:solidFill>
                  <a:schemeClr val="tx2"/>
                </a:solidFill>
                <a:latin typeface="Arial"/>
                <a:cs typeface="Arial"/>
              </a:rPr>
              <a:t>Objetivo</a:t>
            </a:r>
            <a:endParaRPr lang="en-US" sz="2400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pic>
        <p:nvPicPr>
          <p:cNvPr id="4100" name="Picture 4" descr="http://www.jrmcoaching.com.br/wp-content/uploads/2015/03/metas-e-objetivos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5" t="20119"/>
          <a:stretch/>
        </p:blipFill>
        <p:spPr bwMode="auto">
          <a:xfrm>
            <a:off x="5185610" y="4521209"/>
            <a:ext cx="3368842" cy="14009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2451856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61381" y="220848"/>
            <a:ext cx="564316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 smtClean="0">
                <a:solidFill>
                  <a:schemeClr val="tx2"/>
                </a:solidFill>
                <a:latin typeface="Arial"/>
                <a:cs typeface="Arial"/>
              </a:rPr>
              <a:t>Gerenciamento de Problemas</a:t>
            </a:r>
          </a:p>
          <a:p>
            <a:pPr algn="l"/>
            <a:r>
              <a:rPr lang="en-US" sz="2400" dirty="0" smtClean="0">
                <a:solidFill>
                  <a:schemeClr val="tx2"/>
                </a:solidFill>
                <a:latin typeface="Arial"/>
                <a:cs typeface="Arial"/>
              </a:rPr>
              <a:t>Etapas do Processo</a:t>
            </a:r>
            <a:endParaRPr lang="en-US" sz="2400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661381" y="1795374"/>
            <a:ext cx="7996304" cy="3787847"/>
            <a:chOff x="661381" y="1795374"/>
            <a:chExt cx="7996304" cy="3787847"/>
          </a:xfrm>
        </p:grpSpPr>
        <p:sp>
          <p:nvSpPr>
            <p:cNvPr id="5" name="Retângulo 4"/>
            <p:cNvSpPr>
              <a:spLocks noChangeArrowheads="1"/>
            </p:cNvSpPr>
            <p:nvPr/>
          </p:nvSpPr>
          <p:spPr bwMode="auto">
            <a:xfrm>
              <a:off x="3482963" y="1795374"/>
              <a:ext cx="5174722" cy="37878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78373" tIns="39187" rIns="78373" bIns="39187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77616" lvl="1" indent="-285750" algn="just">
                <a:lnSpc>
                  <a:spcPct val="150000"/>
                </a:lnSpc>
                <a:spcBef>
                  <a:spcPts val="514"/>
                </a:spcBef>
                <a:buFont typeface="Wingdings" pitchFamily="2" charset="2"/>
                <a:buChar char="Ø"/>
              </a:pPr>
              <a:r>
                <a:rPr lang="pt-BR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Detecção e Registro do Problema</a:t>
              </a:r>
              <a:endPara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677616" lvl="1" indent="-285750" algn="just">
                <a:lnSpc>
                  <a:spcPct val="150000"/>
                </a:lnSpc>
                <a:spcBef>
                  <a:spcPts val="514"/>
                </a:spcBef>
                <a:buFont typeface="Wingdings" pitchFamily="2" charset="2"/>
                <a:buChar char="Ø"/>
              </a:pPr>
              <a:r>
                <a:rPr lang="pt-BR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Categorização do Problema</a:t>
              </a:r>
            </a:p>
            <a:p>
              <a:pPr marL="677616" lvl="1" indent="-285750" algn="just">
                <a:lnSpc>
                  <a:spcPct val="150000"/>
                </a:lnSpc>
                <a:spcBef>
                  <a:spcPts val="514"/>
                </a:spcBef>
                <a:buFont typeface="Wingdings" pitchFamily="2" charset="2"/>
                <a:buChar char="Ø"/>
              </a:pPr>
              <a:r>
                <a:rPr lang="pt-BR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Atribuição do Dono do Problema</a:t>
              </a:r>
              <a:endPara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677616" lvl="1" indent="-285750" algn="just">
                <a:lnSpc>
                  <a:spcPct val="150000"/>
                </a:lnSpc>
                <a:spcBef>
                  <a:spcPts val="514"/>
                </a:spcBef>
                <a:buFont typeface="Wingdings" pitchFamily="2" charset="2"/>
                <a:buChar char="Ø"/>
              </a:pPr>
              <a:r>
                <a:rPr lang="pt-BR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Priorização do Problema</a:t>
              </a:r>
              <a:endPara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677616" lvl="1" indent="-285750" algn="just">
                <a:lnSpc>
                  <a:spcPct val="150000"/>
                </a:lnSpc>
                <a:spcBef>
                  <a:spcPts val="514"/>
                </a:spcBef>
                <a:buFont typeface="Wingdings" pitchFamily="2" charset="2"/>
                <a:buChar char="Ø"/>
              </a:pPr>
              <a:r>
                <a:rPr lang="pt-BR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Investigação e Diagnóstico de Causa Raiz</a:t>
              </a:r>
            </a:p>
            <a:p>
              <a:pPr marL="677616" lvl="1" indent="-285750" algn="just">
                <a:lnSpc>
                  <a:spcPct val="150000"/>
                </a:lnSpc>
                <a:spcBef>
                  <a:spcPts val="514"/>
                </a:spcBef>
                <a:buFont typeface="Wingdings" pitchFamily="2" charset="2"/>
                <a:buChar char="Ø"/>
              </a:pPr>
              <a:r>
                <a:rPr lang="pt-BR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Resolução do Problema (Solução de Contorno ou Solução Definitiva)</a:t>
              </a:r>
              <a:endPara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677616" lvl="1" indent="-285750" algn="just">
                <a:lnSpc>
                  <a:spcPct val="150000"/>
                </a:lnSpc>
                <a:spcBef>
                  <a:spcPts val="514"/>
                </a:spcBef>
                <a:buFont typeface="Wingdings" pitchFamily="2" charset="2"/>
                <a:buChar char="Ø"/>
              </a:pPr>
              <a:r>
                <a:rPr lang="pt-BR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Atualização da base de conhecimento.</a:t>
              </a:r>
              <a:endPara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Picture 2" descr="http://4.bp.blogspot.com/-VyD3ezEHAII/VPtlHdFFIlI/AAAAAAAAPI0/zBiyJPYu3D8/s1600/gerenciamento-problemas-itil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381" y="2386665"/>
              <a:ext cx="3020763" cy="3020763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  <a:extLst/>
          </p:spPr>
        </p:pic>
      </p:grpSp>
    </p:spTree>
    <p:extLst>
      <p:ext uri="{BB962C8B-B14F-4D97-AF65-F5344CB8AC3E}">
        <p14:creationId xmlns:p14="http://schemas.microsoft.com/office/powerpoint/2010/main" val="1924459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61381" y="220848"/>
            <a:ext cx="564316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 smtClean="0">
                <a:solidFill>
                  <a:schemeClr val="tx2"/>
                </a:solidFill>
                <a:latin typeface="Arial"/>
                <a:cs typeface="Arial"/>
              </a:rPr>
              <a:t>Gerenciamento de Problemas</a:t>
            </a:r>
          </a:p>
          <a:p>
            <a:pPr algn="l"/>
            <a:r>
              <a:rPr lang="en-US" sz="2400" dirty="0" smtClean="0">
                <a:solidFill>
                  <a:schemeClr val="tx2"/>
                </a:solidFill>
                <a:latin typeface="Arial"/>
                <a:cs typeface="Arial"/>
              </a:rPr>
              <a:t>Categoria dos Problemas</a:t>
            </a:r>
            <a:endParaRPr lang="en-US" sz="2400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9" name="Retângulo 8"/>
          <p:cNvSpPr>
            <a:spLocks noChangeArrowheads="1"/>
          </p:cNvSpPr>
          <p:nvPr/>
        </p:nvSpPr>
        <p:spPr bwMode="auto">
          <a:xfrm>
            <a:off x="342720" y="1737885"/>
            <a:ext cx="7477805" cy="4331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8373" tIns="39187" rIns="78373" bIns="39187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Sistemas Aplicativos e Pacotes de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negócio;</a:t>
            </a:r>
          </a:p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 Software / Sistemas Operacionais;</a:t>
            </a:r>
          </a:p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Hardware;</a:t>
            </a:r>
            <a:endParaRPr lang="pt-B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Redes de Dados e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Voz;</a:t>
            </a:r>
            <a:endParaRPr lang="pt-B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Storage;</a:t>
            </a:r>
            <a:endParaRPr lang="pt-B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Telecomunicações;</a:t>
            </a:r>
          </a:p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Segurança da Informação;</a:t>
            </a:r>
          </a:p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Infraestrutura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Predial (</a:t>
            </a:r>
            <a:r>
              <a:rPr lang="pt-BR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Facilities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pt-B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1866" lvl="1" algn="just">
              <a:lnSpc>
                <a:spcPct val="150000"/>
              </a:lnSpc>
              <a:spcBef>
                <a:spcPts val="514"/>
              </a:spcBef>
            </a:pPr>
            <a:endParaRPr lang="pt-B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https://www.veltec.com.br/sites/default/files/styles/galeria-solucoes/public/galeria/grafico.png?itok=Ls3uY3I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123" y="2923673"/>
            <a:ext cx="33337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9807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61381" y="220848"/>
            <a:ext cx="564316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 smtClean="0">
                <a:solidFill>
                  <a:schemeClr val="tx2"/>
                </a:solidFill>
                <a:latin typeface="Arial"/>
                <a:cs typeface="Arial"/>
              </a:rPr>
              <a:t>Gerenciamento de Problemas</a:t>
            </a:r>
          </a:p>
          <a:p>
            <a:pPr algn="l"/>
            <a:r>
              <a:rPr lang="en-US" sz="2400" dirty="0" err="1" smtClean="0">
                <a:solidFill>
                  <a:schemeClr val="tx2"/>
                </a:solidFill>
                <a:latin typeface="Arial"/>
                <a:cs typeface="Arial"/>
              </a:rPr>
              <a:t>Dinâmica</a:t>
            </a:r>
            <a:endParaRPr lang="en-US" sz="2400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grpSp>
        <p:nvGrpSpPr>
          <p:cNvPr id="9" name="Grupo 8"/>
          <p:cNvGrpSpPr/>
          <p:nvPr/>
        </p:nvGrpSpPr>
        <p:grpSpPr>
          <a:xfrm>
            <a:off x="658863" y="1213904"/>
            <a:ext cx="7979216" cy="5555135"/>
            <a:chOff x="658863" y="1213904"/>
            <a:chExt cx="7979216" cy="5555135"/>
          </a:xfrm>
        </p:grpSpPr>
        <p:grpSp>
          <p:nvGrpSpPr>
            <p:cNvPr id="10" name="Grupo 9"/>
            <p:cNvGrpSpPr/>
            <p:nvPr/>
          </p:nvGrpSpPr>
          <p:grpSpPr>
            <a:xfrm>
              <a:off x="937495" y="1413268"/>
              <a:ext cx="2214984" cy="1587589"/>
              <a:chOff x="408488" y="1450276"/>
              <a:chExt cx="2214984" cy="1587589"/>
            </a:xfrm>
          </p:grpSpPr>
          <p:grpSp>
            <p:nvGrpSpPr>
              <p:cNvPr id="32" name="Grupo 31"/>
              <p:cNvGrpSpPr/>
              <p:nvPr/>
            </p:nvGrpSpPr>
            <p:grpSpPr>
              <a:xfrm>
                <a:off x="408488" y="1547813"/>
                <a:ext cx="1107492" cy="1490052"/>
                <a:chOff x="408487" y="1547813"/>
                <a:chExt cx="1540753" cy="2228842"/>
              </a:xfrm>
            </p:grpSpPr>
            <p:pic>
              <p:nvPicPr>
                <p:cNvPr id="36" name="Picture 2" descr="http://icon-icons.com/icons2/35/PNG/512/admin_person_user_man_2839.png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28740" y="1547813"/>
                  <a:ext cx="1300246" cy="130024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7" name="CaixaDeTexto 36"/>
                <p:cNvSpPr txBox="1"/>
                <p:nvPr/>
              </p:nvSpPr>
              <p:spPr>
                <a:xfrm>
                  <a:off x="408487" y="2878921"/>
                  <a:ext cx="1540753" cy="8977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100" b="1" dirty="0" smtClean="0"/>
                    <a:t>Gestor do Processo de Incidentes</a:t>
                  </a:r>
                  <a:endParaRPr lang="pt-BR" sz="1100" b="1" dirty="0"/>
                </a:p>
              </p:txBody>
            </p:sp>
          </p:grpSp>
          <p:grpSp>
            <p:nvGrpSpPr>
              <p:cNvPr id="33" name="Grupo 32"/>
              <p:cNvGrpSpPr/>
              <p:nvPr/>
            </p:nvGrpSpPr>
            <p:grpSpPr>
              <a:xfrm>
                <a:off x="1515980" y="1450276"/>
                <a:ext cx="1107492" cy="1587588"/>
                <a:chOff x="1515980" y="1450276"/>
                <a:chExt cx="1107492" cy="1587588"/>
              </a:xfrm>
            </p:grpSpPr>
            <p:pic>
              <p:nvPicPr>
                <p:cNvPr id="34" name="Picture 4" descr="http://images.all-free-download.com/images/graphiclarge/veston_user_554.jpg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576014" y="1450276"/>
                  <a:ext cx="987425" cy="9874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5" name="CaixaDeTexto 34"/>
                <p:cNvSpPr txBox="1"/>
                <p:nvPr/>
              </p:nvSpPr>
              <p:spPr>
                <a:xfrm>
                  <a:off x="1515980" y="2437700"/>
                  <a:ext cx="1107492" cy="6001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100" b="1" dirty="0" smtClean="0"/>
                    <a:t>Gestor do Processo de  Problemas</a:t>
                  </a:r>
                  <a:endParaRPr lang="pt-BR" sz="1100" b="1" dirty="0"/>
                </a:p>
              </p:txBody>
            </p:sp>
          </p:grpSp>
        </p:grpSp>
        <p:grpSp>
          <p:nvGrpSpPr>
            <p:cNvPr id="11" name="Grupo 10"/>
            <p:cNvGrpSpPr/>
            <p:nvPr/>
          </p:nvGrpSpPr>
          <p:grpSpPr>
            <a:xfrm>
              <a:off x="2200828" y="4390473"/>
              <a:ext cx="1107492" cy="1587588"/>
              <a:chOff x="815281" y="3618900"/>
              <a:chExt cx="1107492" cy="1587588"/>
            </a:xfrm>
          </p:grpSpPr>
          <p:pic>
            <p:nvPicPr>
              <p:cNvPr id="30" name="Picture 4" descr="http://images.all-free-download.com/images/graphiclarge/veston_user_554.jpg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315" y="3618900"/>
                <a:ext cx="987425" cy="9874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1" name="CaixaDeTexto 30"/>
              <p:cNvSpPr txBox="1"/>
              <p:nvPr/>
            </p:nvSpPr>
            <p:spPr>
              <a:xfrm>
                <a:off x="815281" y="4606324"/>
                <a:ext cx="1107492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100" b="1" dirty="0" smtClean="0"/>
                  <a:t>Gestor do Processo de  Problemas</a:t>
                </a:r>
                <a:endParaRPr lang="pt-BR" sz="1100" b="1" dirty="0"/>
              </a:p>
            </p:txBody>
          </p:sp>
        </p:grpSp>
        <p:sp>
          <p:nvSpPr>
            <p:cNvPr id="12" name="CaixaDeTexto 11"/>
            <p:cNvSpPr txBox="1"/>
            <p:nvPr/>
          </p:nvSpPr>
          <p:spPr>
            <a:xfrm>
              <a:off x="694532" y="3021214"/>
              <a:ext cx="2996067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pt-BR" sz="1000" dirty="0" smtClean="0"/>
                <a:t>Identificar incidente </a:t>
              </a:r>
              <a:r>
                <a:rPr lang="pt-BR" sz="1000" dirty="0"/>
                <a:t>Crítico ou Recorrência de </a:t>
              </a:r>
              <a:r>
                <a:rPr lang="pt-BR" sz="1000" dirty="0" smtClean="0"/>
                <a:t>Incidentes.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pt-BR" sz="1000" dirty="0" smtClean="0"/>
                <a:t>Associar incidentes a problemas abertos.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pt-BR" sz="1000" dirty="0" smtClean="0"/>
                <a:t>Elevar a prioridade </a:t>
              </a:r>
              <a:r>
                <a:rPr lang="pt-BR" sz="1000" dirty="0"/>
                <a:t>de </a:t>
              </a:r>
              <a:r>
                <a:rPr lang="pt-BR" sz="1000" i="1" dirty="0"/>
                <a:t>tickets</a:t>
              </a:r>
              <a:r>
                <a:rPr lang="pt-BR" sz="1000" dirty="0"/>
                <a:t> de </a:t>
              </a:r>
              <a:r>
                <a:rPr lang="pt-BR" sz="1000" dirty="0" smtClean="0"/>
                <a:t>Problemas, </a:t>
              </a:r>
              <a:r>
                <a:rPr lang="pt-BR" sz="1000" dirty="0"/>
                <a:t>sempre que houver o aumento significativo de recorrências ou de impactos sobre Incidentes já associados a tickets de Problemas em </a:t>
              </a:r>
              <a:r>
                <a:rPr lang="pt-BR" sz="1000" dirty="0" smtClean="0"/>
                <a:t>aberto.</a:t>
              </a:r>
              <a:endParaRPr lang="pt-BR" dirty="0"/>
            </a:p>
          </p:txBody>
        </p:sp>
        <p:sp>
          <p:nvSpPr>
            <p:cNvPr id="13" name="CaixaDeTexto 12"/>
            <p:cNvSpPr txBox="1"/>
            <p:nvPr/>
          </p:nvSpPr>
          <p:spPr>
            <a:xfrm>
              <a:off x="658863" y="6061153"/>
              <a:ext cx="29221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pt-BR" sz="1000" dirty="0" smtClean="0"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rPr>
                <a:t>Planejamento </a:t>
              </a:r>
              <a:r>
                <a:rPr lang="pt-BR" sz="1000" dirty="0"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rPr>
                <a:t>de Capacidade, Gerência de Disponibilidade, assim como pelos próprios pontos focais de Problemas de cada equipe de </a:t>
              </a:r>
              <a:r>
                <a:rPr lang="pt-BR" sz="1000" dirty="0" smtClean="0"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rPr>
                <a:t>TI. (Gerência e Diretoria).</a:t>
              </a:r>
              <a:endParaRPr lang="pt-BR" sz="1000" dirty="0">
                <a:latin typeface="+mj-lt"/>
              </a:endParaRPr>
            </a:p>
          </p:txBody>
        </p:sp>
        <p:grpSp>
          <p:nvGrpSpPr>
            <p:cNvPr id="14" name="Grupo 13"/>
            <p:cNvGrpSpPr/>
            <p:nvPr/>
          </p:nvGrpSpPr>
          <p:grpSpPr>
            <a:xfrm>
              <a:off x="5816087" y="1213904"/>
              <a:ext cx="1107492" cy="1587588"/>
              <a:chOff x="815281" y="3618900"/>
              <a:chExt cx="1107492" cy="1587588"/>
            </a:xfrm>
          </p:grpSpPr>
          <p:pic>
            <p:nvPicPr>
              <p:cNvPr id="28" name="Picture 4" descr="http://images.all-free-download.com/images/graphiclarge/veston_user_554.jpg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315" y="3618900"/>
                <a:ext cx="987425" cy="9874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9" name="CaixaDeTexto 28"/>
              <p:cNvSpPr txBox="1"/>
              <p:nvPr/>
            </p:nvSpPr>
            <p:spPr>
              <a:xfrm>
                <a:off x="815281" y="4606324"/>
                <a:ext cx="1107492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100" b="1" dirty="0" smtClean="0"/>
                  <a:t>Gestor do Processo de  Problemas</a:t>
                </a:r>
                <a:endParaRPr lang="pt-BR" sz="1100" b="1" dirty="0"/>
              </a:p>
            </p:txBody>
          </p:sp>
        </p:grpSp>
        <p:sp>
          <p:nvSpPr>
            <p:cNvPr id="15" name="CaixaDeTexto 14"/>
            <p:cNvSpPr txBox="1"/>
            <p:nvPr/>
          </p:nvSpPr>
          <p:spPr>
            <a:xfrm>
              <a:off x="4541166" y="3823967"/>
              <a:ext cx="110749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 smtClean="0"/>
                <a:t>Dono do Problema</a:t>
              </a:r>
              <a:endParaRPr lang="pt-BR" sz="1100" b="1" dirty="0"/>
            </a:p>
          </p:txBody>
        </p:sp>
        <p:sp>
          <p:nvSpPr>
            <p:cNvPr id="16" name="CaixaDeTexto 15"/>
            <p:cNvSpPr txBox="1"/>
            <p:nvPr/>
          </p:nvSpPr>
          <p:spPr>
            <a:xfrm>
              <a:off x="4337239" y="4181091"/>
              <a:ext cx="1544226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/>
                <a:t>G</a:t>
              </a:r>
              <a:r>
                <a:rPr lang="pt-BR" sz="1100" dirty="0" smtClean="0"/>
                <a:t>estor </a:t>
              </a:r>
              <a:r>
                <a:rPr lang="pt-BR" sz="1100" dirty="0"/>
                <a:t>responsável pelos ICs </a:t>
              </a:r>
              <a:r>
                <a:rPr lang="pt-BR" sz="1100" dirty="0" smtClean="0"/>
                <a:t>que </a:t>
              </a:r>
              <a:r>
                <a:rPr lang="pt-BR" sz="1100" dirty="0"/>
                <a:t>causaram os Incidentes</a:t>
              </a:r>
            </a:p>
          </p:txBody>
        </p:sp>
        <p:sp>
          <p:nvSpPr>
            <p:cNvPr id="17" name="CaixaDeTexto 16"/>
            <p:cNvSpPr txBox="1"/>
            <p:nvPr/>
          </p:nvSpPr>
          <p:spPr>
            <a:xfrm>
              <a:off x="1250725" y="4205807"/>
              <a:ext cx="15885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 smtClean="0"/>
                <a:t>Pontual </a:t>
              </a:r>
              <a:endParaRPr lang="pt-BR" b="1" dirty="0"/>
            </a:p>
          </p:txBody>
        </p:sp>
        <p:pic>
          <p:nvPicPr>
            <p:cNvPr id="18" name="Picture 8" descr="http://www.ujaen.es/sci/sau/graficos/user-group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9644" y="4558691"/>
              <a:ext cx="1251151" cy="1251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CaixaDeTexto 18"/>
            <p:cNvSpPr txBox="1"/>
            <p:nvPr/>
          </p:nvSpPr>
          <p:spPr>
            <a:xfrm>
              <a:off x="1509331" y="5459319"/>
              <a:ext cx="7376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 smtClean="0"/>
                <a:t>Pontos Focais</a:t>
              </a:r>
              <a:endParaRPr lang="pt-BR" sz="1100" b="1" dirty="0"/>
            </a:p>
          </p:txBody>
        </p:sp>
        <p:pic>
          <p:nvPicPr>
            <p:cNvPr id="20" name="Picture 10" descr="http://www.mod.gov.eg/mod/images/Doctor03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3468" y="2782069"/>
              <a:ext cx="782888" cy="10662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http://icons.iconseeker.com/png/128/sleek-xp-software/notepad-7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8797" y="1750019"/>
              <a:ext cx="846834" cy="8468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2" name="Conector angulado 21"/>
            <p:cNvCxnSpPr>
              <a:stCxn id="28" idx="1"/>
              <a:endCxn id="20" idx="0"/>
            </p:cNvCxnSpPr>
            <p:nvPr/>
          </p:nvCxnSpPr>
          <p:spPr>
            <a:xfrm rot="10800000" flipV="1">
              <a:off x="5094913" y="1707617"/>
              <a:ext cx="781209" cy="1074452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14" descr="http://www.erasoft.com.br/img/cortes/usuarios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3579" y="4346653"/>
              <a:ext cx="1714500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4" name="Conector angulado 23"/>
            <p:cNvCxnSpPr>
              <a:stCxn id="20" idx="3"/>
              <a:endCxn id="23" idx="0"/>
            </p:cNvCxnSpPr>
            <p:nvPr/>
          </p:nvCxnSpPr>
          <p:spPr>
            <a:xfrm>
              <a:off x="5486356" y="3315179"/>
              <a:ext cx="2294473" cy="1031474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CaixaDeTexto 24"/>
            <p:cNvSpPr txBox="1"/>
            <p:nvPr/>
          </p:nvSpPr>
          <p:spPr>
            <a:xfrm>
              <a:off x="6467468" y="4246126"/>
              <a:ext cx="11404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/>
                <a:t>Áreas solucionadoras </a:t>
              </a:r>
              <a:endParaRPr lang="pt-BR" sz="1200" dirty="0"/>
            </a:p>
          </p:txBody>
        </p:sp>
        <p:pic>
          <p:nvPicPr>
            <p:cNvPr id="26" name="Picture 12" descr="http://icons.iconseeker.com/png/128/sleek-xp-software/notepad-7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8658" y="4679456"/>
              <a:ext cx="846834" cy="8468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CaixaDeTexto 26"/>
            <p:cNvSpPr txBox="1"/>
            <p:nvPr/>
          </p:nvSpPr>
          <p:spPr>
            <a:xfrm>
              <a:off x="4703468" y="5789373"/>
              <a:ext cx="2754048" cy="90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pt-BR" sz="1050" dirty="0" smtClean="0"/>
                <a:t>Registrar todas </a:t>
              </a:r>
              <a:r>
                <a:rPr lang="pt-BR" sz="1050" dirty="0"/>
                <a:t>as atividades necessárias para o tratamento das causas-raízes identificadas no Problema (para aprovação do Gestor de Problemas</a:t>
              </a:r>
              <a:r>
                <a:rPr lang="pt-BR" sz="1050" dirty="0" smtClean="0"/>
                <a:t>).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pt-BR" sz="1050" dirty="0" smtClean="0"/>
                <a:t>Planejar e implementar a solução definitiva.</a:t>
              </a:r>
              <a:endParaRPr lang="pt-BR" sz="1050" dirty="0"/>
            </a:p>
          </p:txBody>
        </p:sp>
      </p:grpSp>
      <p:sp>
        <p:nvSpPr>
          <p:cNvPr id="38" name="CaixaDeTexto 37"/>
          <p:cNvSpPr txBox="1"/>
          <p:nvPr/>
        </p:nvSpPr>
        <p:spPr>
          <a:xfrm>
            <a:off x="3248287" y="1326139"/>
            <a:ext cx="1588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/>
              <a:t>Diariamente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96104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10" t="1694" r="2425" b="61406"/>
          <a:stretch/>
        </p:blipFill>
        <p:spPr>
          <a:xfrm>
            <a:off x="884143" y="1413719"/>
            <a:ext cx="7375714" cy="4511843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661381" y="220848"/>
            <a:ext cx="564316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 smtClean="0">
                <a:solidFill>
                  <a:schemeClr val="tx2"/>
                </a:solidFill>
                <a:latin typeface="Arial"/>
                <a:cs typeface="Arial"/>
              </a:rPr>
              <a:t>Gerenciamento de Problemas</a:t>
            </a:r>
          </a:p>
          <a:p>
            <a:pPr algn="l"/>
            <a:r>
              <a:rPr lang="en-US" sz="2400" dirty="0" smtClean="0">
                <a:solidFill>
                  <a:schemeClr val="tx2"/>
                </a:solidFill>
                <a:latin typeface="Arial"/>
                <a:cs typeface="Arial"/>
              </a:rPr>
              <a:t>Fluxo</a:t>
            </a:r>
            <a:endParaRPr lang="en-US" sz="2400" dirty="0">
              <a:solidFill>
                <a:schemeClr val="tx2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4753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4" t="40090" r="2425" b="7547"/>
          <a:stretch/>
        </p:blipFill>
        <p:spPr>
          <a:xfrm>
            <a:off x="709863" y="1299930"/>
            <a:ext cx="7607448" cy="5558070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661381" y="220848"/>
            <a:ext cx="564316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 smtClean="0">
                <a:solidFill>
                  <a:schemeClr val="tx2"/>
                </a:solidFill>
                <a:latin typeface="Arial"/>
                <a:cs typeface="Arial"/>
              </a:rPr>
              <a:t>Gerenciamento de Problemas</a:t>
            </a:r>
          </a:p>
          <a:p>
            <a:pPr algn="l"/>
            <a:r>
              <a:rPr lang="en-US" sz="2400" dirty="0" smtClean="0">
                <a:solidFill>
                  <a:schemeClr val="tx2"/>
                </a:solidFill>
                <a:latin typeface="Arial"/>
                <a:cs typeface="Arial"/>
              </a:rPr>
              <a:t>Fluxo</a:t>
            </a:r>
            <a:endParaRPr lang="en-US" sz="2400" dirty="0">
              <a:solidFill>
                <a:schemeClr val="tx2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1683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0" y="1251284"/>
            <a:ext cx="9455858" cy="5197642"/>
            <a:chOff x="0" y="1784710"/>
            <a:chExt cx="9455858" cy="4094243"/>
          </a:xfrm>
        </p:grpSpPr>
        <p:graphicFrame>
          <p:nvGraphicFramePr>
            <p:cNvPr id="6" name="Gráfico 5"/>
            <p:cNvGraphicFramePr/>
            <p:nvPr>
              <p:extLst>
                <p:ext uri="{D42A27DB-BD31-4B8C-83A1-F6EECF244321}">
                  <p14:modId xmlns:p14="http://schemas.microsoft.com/office/powerpoint/2010/main" val="1021804249"/>
                </p:ext>
              </p:extLst>
            </p:nvPr>
          </p:nvGraphicFramePr>
          <p:xfrm>
            <a:off x="0" y="1821758"/>
            <a:ext cx="3431822" cy="211497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18" name="Gráfico 17"/>
            <p:cNvGraphicFramePr/>
            <p:nvPr>
              <p:extLst>
                <p:ext uri="{D42A27DB-BD31-4B8C-83A1-F6EECF244321}">
                  <p14:modId xmlns:p14="http://schemas.microsoft.com/office/powerpoint/2010/main" val="3403313707"/>
                </p:ext>
              </p:extLst>
            </p:nvPr>
          </p:nvGraphicFramePr>
          <p:xfrm>
            <a:off x="135466" y="3957759"/>
            <a:ext cx="2833511" cy="192119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22" name="Gráfico 21"/>
            <p:cNvGraphicFramePr/>
            <p:nvPr>
              <p:extLst>
                <p:ext uri="{D42A27DB-BD31-4B8C-83A1-F6EECF244321}">
                  <p14:modId xmlns:p14="http://schemas.microsoft.com/office/powerpoint/2010/main" val="2891279696"/>
                </p:ext>
              </p:extLst>
            </p:nvPr>
          </p:nvGraphicFramePr>
          <p:xfrm>
            <a:off x="3605993" y="2265562"/>
            <a:ext cx="3601156" cy="298000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30" name="Gráfico 29"/>
            <p:cNvGraphicFramePr/>
            <p:nvPr>
              <p:extLst>
                <p:ext uri="{D42A27DB-BD31-4B8C-83A1-F6EECF244321}">
                  <p14:modId xmlns:p14="http://schemas.microsoft.com/office/powerpoint/2010/main" val="2274872015"/>
                </p:ext>
              </p:extLst>
            </p:nvPr>
          </p:nvGraphicFramePr>
          <p:xfrm>
            <a:off x="7021333" y="1784710"/>
            <a:ext cx="1907822" cy="194142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1025" name="Gráfico 1024"/>
            <p:cNvGraphicFramePr/>
            <p:nvPr>
              <p:extLst>
                <p:ext uri="{D42A27DB-BD31-4B8C-83A1-F6EECF244321}">
                  <p14:modId xmlns:p14="http://schemas.microsoft.com/office/powerpoint/2010/main" val="587477874"/>
                </p:ext>
              </p:extLst>
            </p:nvPr>
          </p:nvGraphicFramePr>
          <p:xfrm>
            <a:off x="6494631" y="3825597"/>
            <a:ext cx="2961227" cy="190257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</p:grpSp>
      <p:sp>
        <p:nvSpPr>
          <p:cNvPr id="11" name="Title 1"/>
          <p:cNvSpPr txBox="1">
            <a:spLocks/>
          </p:cNvSpPr>
          <p:nvPr/>
        </p:nvSpPr>
        <p:spPr>
          <a:xfrm>
            <a:off x="661381" y="220848"/>
            <a:ext cx="564316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 smtClean="0">
                <a:solidFill>
                  <a:schemeClr val="tx2"/>
                </a:solidFill>
                <a:latin typeface="Arial"/>
                <a:cs typeface="Arial"/>
              </a:rPr>
              <a:t>Gerenciamento de Problemas</a:t>
            </a:r>
          </a:p>
          <a:p>
            <a:pPr algn="l"/>
            <a:r>
              <a:rPr lang="en-US" sz="2400" dirty="0" err="1" smtClean="0">
                <a:solidFill>
                  <a:schemeClr val="tx2"/>
                </a:solidFill>
                <a:latin typeface="Arial"/>
                <a:cs typeface="Arial"/>
              </a:rPr>
              <a:t>Indicadores</a:t>
            </a:r>
            <a:endParaRPr lang="en-US" sz="2400" dirty="0">
              <a:solidFill>
                <a:schemeClr val="tx2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250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36885" y="1561363"/>
            <a:ext cx="854242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002060"/>
                </a:solidFill>
              </a:rPr>
              <a:t>FCS1</a:t>
            </a:r>
            <a:r>
              <a:rPr lang="pt-BR" dirty="0">
                <a:solidFill>
                  <a:srgbClr val="002060"/>
                </a:solidFill>
              </a:rPr>
              <a:t>: Minimizar o impacto ao negócio dos incidentes que não podem ser prevenidos.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Números de erros conhecidos adicionados a BDEC. (</a:t>
            </a:r>
            <a:r>
              <a:rPr lang="pt-BR" sz="1600" i="1" dirty="0">
                <a:solidFill>
                  <a:schemeClr val="accent5">
                    <a:lumMod val="75000"/>
                  </a:schemeClr>
                </a:solidFill>
              </a:rPr>
              <a:t>Base de dados de erros conhecidos</a:t>
            </a: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Porcentagem de incidentes fechados pela Central de Serviços sem o apoio de outro nível de suporte.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Tempo médio de resolução de incidentes relacionados a problemas.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19345B"/>
                </a:solidFill>
              </a:rPr>
              <a:t>FCS2</a:t>
            </a:r>
            <a:r>
              <a:rPr lang="pt-BR" dirty="0">
                <a:solidFill>
                  <a:srgbClr val="19345B"/>
                </a:solidFill>
              </a:rPr>
              <a:t>: Elevar a qualidade dos serviços de TI através da eliminação de incidentes recorrentes.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Número total de problemas.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Tamanho atual do backlog de problemas para cada serviço e TI.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Número de incidentes recorrentes para cada serviço de TI.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19345B"/>
                </a:solidFill>
              </a:rPr>
              <a:t>FCS3</a:t>
            </a:r>
            <a:r>
              <a:rPr lang="pt-BR" dirty="0">
                <a:solidFill>
                  <a:srgbClr val="19345B"/>
                </a:solidFill>
              </a:rPr>
              <a:t>: Fornecer qualidade e profissionalismo nas atividades de problemas a fim de manter a confiança do negócio na prestação de serviços realizadas por TI.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Número de problemas graves. (</a:t>
            </a:r>
            <a:r>
              <a:rPr lang="pt-BR" sz="1600" i="1" dirty="0">
                <a:solidFill>
                  <a:schemeClr val="accent5">
                    <a:lumMod val="75000"/>
                  </a:schemeClr>
                </a:solidFill>
              </a:rPr>
              <a:t>Abertos, Fechados e Backlog</a:t>
            </a: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Backlog de problemas pendentes e tendências. (</a:t>
            </a:r>
            <a:r>
              <a:rPr lang="pt-BR" sz="1600" i="1" dirty="0">
                <a:solidFill>
                  <a:schemeClr val="accent5">
                    <a:lumMod val="75000"/>
                  </a:schemeClr>
                </a:solidFill>
              </a:rPr>
              <a:t>Reduzindo ou aumentando?</a:t>
            </a: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Percentual de problemas resolvidos. (</a:t>
            </a:r>
            <a:r>
              <a:rPr lang="pt-BR" sz="1600" i="1" dirty="0">
                <a:solidFill>
                  <a:schemeClr val="accent5">
                    <a:lumMod val="75000"/>
                  </a:schemeClr>
                </a:solidFill>
              </a:rPr>
              <a:t>Dentro e fora do prazo</a:t>
            </a: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Percentual de problemas não resolvidos. </a:t>
            </a:r>
            <a:endParaRPr lang="pt-BR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61381" y="220848"/>
            <a:ext cx="564316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 smtClean="0">
                <a:solidFill>
                  <a:schemeClr val="tx2"/>
                </a:solidFill>
                <a:latin typeface="Arial"/>
                <a:cs typeface="Arial"/>
              </a:rPr>
              <a:t>Gerenciamento de Problemas</a:t>
            </a:r>
          </a:p>
          <a:p>
            <a:pPr algn="l"/>
            <a:r>
              <a:rPr lang="en-US" sz="2400" dirty="0" err="1" smtClean="0">
                <a:solidFill>
                  <a:schemeClr val="tx2"/>
                </a:solidFill>
                <a:latin typeface="Arial"/>
                <a:cs typeface="Arial"/>
              </a:rPr>
              <a:t>Novos</a:t>
            </a:r>
            <a:r>
              <a:rPr lang="en-US" sz="2400" dirty="0" smtClean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sz="2400" dirty="0" err="1" smtClean="0">
                <a:solidFill>
                  <a:schemeClr val="tx2"/>
                </a:solidFill>
                <a:latin typeface="Arial"/>
                <a:cs typeface="Arial"/>
              </a:rPr>
              <a:t>Indicadores</a:t>
            </a:r>
            <a:endParaRPr lang="en-US" sz="2400" dirty="0">
              <a:solidFill>
                <a:schemeClr val="tx2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388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61381" y="220848"/>
            <a:ext cx="564316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 smtClean="0">
                <a:solidFill>
                  <a:schemeClr val="tx2"/>
                </a:solidFill>
                <a:latin typeface="Arial"/>
                <a:cs typeface="Arial"/>
              </a:rPr>
              <a:t>Gerenciamento de Problemas</a:t>
            </a:r>
          </a:p>
          <a:p>
            <a:pPr algn="l"/>
            <a:r>
              <a:rPr lang="en-US" sz="2400" dirty="0" smtClean="0">
                <a:solidFill>
                  <a:schemeClr val="tx2"/>
                </a:solidFill>
                <a:latin typeface="Arial"/>
                <a:cs typeface="Arial"/>
              </a:rPr>
              <a:t>Benefícios</a:t>
            </a:r>
            <a:endParaRPr lang="en-US" sz="2400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5" name="Retângulo 4"/>
          <p:cNvSpPr>
            <a:spLocks noChangeArrowheads="1"/>
          </p:cNvSpPr>
          <p:nvPr/>
        </p:nvSpPr>
        <p:spPr bwMode="auto">
          <a:xfrm>
            <a:off x="342720" y="1737885"/>
            <a:ext cx="7477805" cy="2892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8373" tIns="39187" rIns="78373" bIns="39187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Redução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significativa da reincidência de incidentes;</a:t>
            </a:r>
            <a:endParaRPr lang="pt-B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Diminuição perceptível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 tempo de resolução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Aumento da estabilidade Operacional;</a:t>
            </a:r>
          </a:p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Maior disponibilidade dos Serviços;</a:t>
            </a:r>
          </a:p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Elevar a satisfação dos clientes internos e externos;</a:t>
            </a:r>
          </a:p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Diminuição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 risco de perda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contratual.</a:t>
            </a:r>
            <a:endParaRPr lang="pt-B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https://aprender.buzzero.com/buzzers/administracao-cursos/34457/HotSiteImage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38"/>
          <a:stretch/>
        </p:blipFill>
        <p:spPr bwMode="auto">
          <a:xfrm>
            <a:off x="4739606" y="4510161"/>
            <a:ext cx="3526087" cy="22627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190012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561293" y="2983269"/>
            <a:ext cx="2225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i="1" dirty="0">
                <a:solidFill>
                  <a:schemeClr val="tx2">
                    <a:lumMod val="75000"/>
                  </a:schemeClr>
                </a:solidFill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1437198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3B5D3D784E3BA449570ADAAF37FA8B2" ma:contentTypeVersion="0" ma:contentTypeDescription="Crie um novo documento." ma:contentTypeScope="" ma:versionID="704348065d9a17421fec285126e8bba4">
  <xsd:schema xmlns:xsd="http://www.w3.org/2001/XMLSchema" xmlns:p="http://schemas.microsoft.com/office/2006/metadata/properties" targetNamespace="http://schemas.microsoft.com/office/2006/metadata/properties" ma:root="true" ma:fieldsID="834597303d62dd03ddcd59f56325a21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 ma:readOnly="tru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9C7E2F5D-080C-444C-BD34-4F68389326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CBB0CFE-F86C-44BA-96EA-0C3DC43577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D0C01CA5-A8B7-4410-91AF-052B76957A67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2134</TotalTime>
  <Words>568</Words>
  <Application>Microsoft Office PowerPoint</Application>
  <PresentationFormat>Apresentação na tela (4:3)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11</vt:i4>
      </vt:variant>
    </vt:vector>
  </HeadingPairs>
  <TitlesOfParts>
    <vt:vector size="19" baseType="lpstr">
      <vt:lpstr>Arial</vt:lpstr>
      <vt:lpstr>Calibri</vt:lpstr>
      <vt:lpstr>Tahoma</vt:lpstr>
      <vt:lpstr>Times New Roman</vt:lpstr>
      <vt:lpstr>Verdana</vt:lpstr>
      <vt:lpstr>Wingdings</vt:lpstr>
      <vt:lpstr>Office Theme</vt:lpstr>
      <vt:lpstr>Custom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Chacon Consultoria</dc:creator>
  <cp:lastModifiedBy>Wagner Fumagalli</cp:lastModifiedBy>
  <cp:revision>204</cp:revision>
  <dcterms:created xsi:type="dcterms:W3CDTF">2015-08-23T23:08:42Z</dcterms:created>
  <dcterms:modified xsi:type="dcterms:W3CDTF">2015-10-16T14:10:42Z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0x01010043B5D3D784E3BA449570ADAAF37FA8B2</vt:lpwstr>
  </property>
</Properties>
</file>