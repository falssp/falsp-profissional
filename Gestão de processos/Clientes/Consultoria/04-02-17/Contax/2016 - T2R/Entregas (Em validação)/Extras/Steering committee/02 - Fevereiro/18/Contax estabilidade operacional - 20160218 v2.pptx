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ags/tag3.xml" ContentType="application/vnd.openxmlformats-officedocument.presentationml.tags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2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5.xml" ContentType="application/vnd.openxmlformats-officedocument.drawingml.chart+xml"/>
  <Override PartName="/ppt/notesSlides/notesSlide5.xml" ContentType="application/vnd.openxmlformats-officedocument.presentationml.notesSlide+xml"/>
  <Override PartName="/ppt/charts/chart6.xml" ContentType="application/vnd.openxmlformats-officedocument.drawingml.chart+xml"/>
  <Override PartName="/ppt/notesSlides/notesSlide6.xml" ContentType="application/vnd.openxmlformats-officedocument.presentationml.notesSlide+xml"/>
  <Override PartName="/ppt/charts/chart7.xml" ContentType="application/vnd.openxmlformats-officedocument.drawingml.chart+xml"/>
  <Override PartName="/ppt/notesSlides/notesSlide7.xml" ContentType="application/vnd.openxmlformats-officedocument.presentationml.notesSlide+xml"/>
  <Override PartName="/ppt/charts/chart8.xml" ContentType="application/vnd.openxmlformats-officedocument.drawingml.chart+xml"/>
  <Override PartName="/ppt/theme/themeOverride1.xml" ContentType="application/vnd.openxmlformats-officedocument.themeOverr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3" r:id="rId2"/>
    <p:sldMasterId id="2147483675" r:id="rId3"/>
    <p:sldMasterId id="2147483677" r:id="rId4"/>
  </p:sldMasterIdLst>
  <p:notesMasterIdLst>
    <p:notesMasterId r:id="rId26"/>
  </p:notesMasterIdLst>
  <p:sldIdLst>
    <p:sldId id="262" r:id="rId5"/>
    <p:sldId id="265" r:id="rId6"/>
    <p:sldId id="474" r:id="rId7"/>
    <p:sldId id="475" r:id="rId8"/>
    <p:sldId id="481" r:id="rId9"/>
    <p:sldId id="476" r:id="rId10"/>
    <p:sldId id="477" r:id="rId11"/>
    <p:sldId id="478" r:id="rId12"/>
    <p:sldId id="484" r:id="rId13"/>
    <p:sldId id="468" r:id="rId14"/>
    <p:sldId id="466" r:id="rId15"/>
    <p:sldId id="455" r:id="rId16"/>
    <p:sldId id="469" r:id="rId17"/>
    <p:sldId id="470" r:id="rId18"/>
    <p:sldId id="471" r:id="rId19"/>
    <p:sldId id="472" r:id="rId20"/>
    <p:sldId id="461" r:id="rId21"/>
    <p:sldId id="480" r:id="rId22"/>
    <p:sldId id="473" r:id="rId23"/>
    <p:sldId id="464" r:id="rId24"/>
    <p:sldId id="411" r:id="rId25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83" userDrawn="1">
          <p15:clr>
            <a:srgbClr val="A4A3A4"/>
          </p15:clr>
        </p15:guide>
        <p15:guide id="2" pos="61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" initials="a" lastIdx="1" clrIdx="0">
    <p:extLst>
      <p:ext uri="{19B8F6BF-5375-455C-9EA6-DF929625EA0E}">
        <p15:presenceInfo xmlns:p15="http://schemas.microsoft.com/office/powerpoint/2012/main" userId="adm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CCCC00"/>
    <a:srgbClr val="1934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67" autoAdjust="0"/>
    <p:restoredTop sz="91785" autoAdjust="0"/>
  </p:normalViewPr>
  <p:slideViewPr>
    <p:cSldViewPr snapToGrid="0" snapToObjects="1">
      <p:cViewPr varScale="1">
        <p:scale>
          <a:sx n="60" d="100"/>
          <a:sy n="60" d="100"/>
        </p:scale>
        <p:origin x="72" y="414"/>
      </p:cViewPr>
      <p:guideLst>
        <p:guide orient="horz" pos="2483"/>
        <p:guide pos="612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Felipe\Desktop\Comparativo%20AI.xlsm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Felipe\Desktop\Comparativo%20AI.xlsm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Felipe\Desktop\Comparativo%20AI.xlsm" TargetMode="External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oleObject" Target="file:///\\10.49.0.66\csc\10.%20Medi&#231;&#227;o%20e%20An&#225;lise\03.%20Relat&#243;rios\27.%20Apresentacoes%20diversas\Por%20Responsabilidade%20pela%20Solucao\Incidentes%20Alto%20Impacto%20Responsavel%20pela%20Solu&#231;&#227;o%2001_2016.xlsx" TargetMode="External"/><Relationship Id="rId1" Type="http://schemas.openxmlformats.org/officeDocument/2006/relationships/themeOverride" Target="../theme/themeOverrid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>
              <a:defRPr sz="15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BR" sz="1500" b="1" dirty="0" smtClean="0"/>
              <a:t>Volume</a:t>
            </a:r>
            <a:r>
              <a:rPr lang="pt-BR" sz="1500" b="1" baseline="0" dirty="0" smtClean="0"/>
              <a:t> de </a:t>
            </a:r>
            <a:r>
              <a:rPr lang="pt-BR" sz="1500" b="1" dirty="0" smtClean="0"/>
              <a:t>Incidentes Alto Impacto</a:t>
            </a:r>
            <a:endParaRPr lang="pt-BR" sz="1500" b="1" dirty="0"/>
          </a:p>
        </c:rich>
      </c:tx>
      <c:layout>
        <c:manualLayout>
          <c:xMode val="edge"/>
          <c:yMode val="edge"/>
          <c:x val="0.13204545348244393"/>
          <c:y val="1.13419541115253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>
            <a:defRPr sz="15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2.4382486517836682E-2"/>
          <c:y val="0.21105009973328545"/>
          <c:w val="0.90799622273489888"/>
          <c:h val="0.5809471943938796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Plan1!$B$1</c:f>
              <c:strCache>
                <c:ptCount val="1"/>
                <c:pt idx="0">
                  <c:v>Incidentes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65100" prst="coolSlant"/>
            </a:sp3d>
          </c:spPr>
          <c:invertIfNegative val="0"/>
          <c:dPt>
            <c:idx val="3"/>
            <c:invertIfNegative val="0"/>
            <c:bubble3D val="0"/>
            <c:spPr>
              <a:solidFill>
                <a:schemeClr val="tx2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3AF3-47B6-B362-8D75B94687B9}"/>
              </c:ext>
            </c:extLst>
          </c:dPt>
          <c:dPt>
            <c:idx val="4"/>
            <c:invertIfNegative val="0"/>
            <c:bubble3D val="0"/>
            <c:spPr>
              <a:solidFill>
                <a:srgbClr val="00B050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3AF3-47B6-B362-8D75B94687B9}"/>
              </c:ext>
            </c:extLst>
          </c:dPt>
          <c:dPt>
            <c:idx val="5"/>
            <c:invertIfNegative val="0"/>
            <c:bubble3D val="0"/>
            <c:spPr>
              <a:solidFill>
                <a:schemeClr val="tx2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A342-4057-BDFD-D4272EDC6324}"/>
              </c:ext>
            </c:extLst>
          </c:dPt>
          <c:dLbls>
            <c:dLbl>
              <c:idx val="0"/>
              <c:layout>
                <c:manualLayout>
                  <c:x val="-5.9401031800599621E-3"/>
                  <c:y val="-0.2948908068996589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A342-4057-BDFD-D4272EDC6324}"/>
                </c:ext>
                <c:ext xmlns:c15="http://schemas.microsoft.com/office/drawing/2012/chart" uri="{CE6537A1-D6FC-4f65-9D91-7224C49458BB}"/>
              </c:extLst>
            </c:dLbl>
            <c:dLbl>
              <c:idx val="1"/>
              <c:layout>
                <c:manualLayout>
                  <c:x val="-5.4450316802510192E-17"/>
                  <c:y val="-0.1361034493383041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A342-4057-BDFD-D4272EDC6324}"/>
                </c:ext>
                <c:ext xmlns:c15="http://schemas.microsoft.com/office/drawing/2012/chart" uri="{CE6537A1-D6FC-4f65-9D91-7224C49458BB}"/>
              </c:extLst>
            </c:dLbl>
            <c:dLbl>
              <c:idx val="2"/>
              <c:layout>
                <c:manualLayout>
                  <c:x val="2.9700515900299811E-3"/>
                  <c:y val="-0.1190905181710161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A342-4057-BDFD-D4272EDC6324}"/>
                </c:ex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2.9700515900299811E-3"/>
                  <c:y val="-0.1304324722825414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3AF3-47B6-B362-8D75B94687B9}"/>
                </c:ext>
                <c:ext xmlns:c15="http://schemas.microsoft.com/office/drawing/2012/chart" uri="{CE6537A1-D6FC-4f65-9D91-7224C49458BB}"/>
              </c:extLst>
            </c:dLbl>
            <c:dLbl>
              <c:idx val="4"/>
              <c:layout>
                <c:manualLayout>
                  <c:x val="-5.9401031800599621E-3"/>
                  <c:y val="-0.107748564059490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3AF3-47B6-B362-8D75B94687B9}"/>
                </c:ex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5.9401031800599621E-3"/>
                  <c:y val="-7.3722701724914741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A342-4057-BDFD-D4272EDC6324}"/>
                </c:ext>
                <c:ext xmlns:c15="http://schemas.microsoft.com/office/drawing/2012/chart" uri="{CE6537A1-D6FC-4f65-9D91-7224C49458BB}"/>
              </c:extLst>
            </c:dLbl>
            <c:dLbl>
              <c:idx val="6"/>
              <c:layout>
                <c:manualLayout>
                  <c:x val="-1.0890063360502038E-16"/>
                  <c:y val="-5.670977055762662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9BCA-49D8-A455-9E0DDBEF4916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Plan1!$A$2:$A$6</c:f>
              <c:strCache>
                <c:ptCount val="5"/>
                <c:pt idx="0">
                  <c:v>Ago</c:v>
                </c:pt>
                <c:pt idx="1">
                  <c:v>Nov</c:v>
                </c:pt>
                <c:pt idx="2">
                  <c:v>Dez</c:v>
                </c:pt>
                <c:pt idx="3">
                  <c:v>Jan</c:v>
                </c:pt>
                <c:pt idx="4">
                  <c:v>Fev</c:v>
                </c:pt>
              </c:strCache>
            </c:strRef>
          </c:cat>
          <c:val>
            <c:numRef>
              <c:f>Plan1!$B$2:$B$6</c:f>
              <c:numCache>
                <c:formatCode>#,##0</c:formatCode>
                <c:ptCount val="5"/>
                <c:pt idx="0">
                  <c:v>1494</c:v>
                </c:pt>
                <c:pt idx="1">
                  <c:v>415</c:v>
                </c:pt>
                <c:pt idx="2">
                  <c:v>294</c:v>
                </c:pt>
                <c:pt idx="3">
                  <c:v>210</c:v>
                </c:pt>
                <c:pt idx="4">
                  <c:v>128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7-3AF3-47B6-B362-8D75B94687B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100"/>
        <c:axId val="341784960"/>
        <c:axId val="341785352"/>
      </c:barChart>
      <c:catAx>
        <c:axId val="341784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41785352"/>
        <c:crosses val="autoZero"/>
        <c:auto val="1"/>
        <c:lblAlgn val="ctr"/>
        <c:lblOffset val="100"/>
        <c:noMultiLvlLbl val="0"/>
      </c:catAx>
      <c:valAx>
        <c:axId val="341785352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341784960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>
              <a:defRPr sz="15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BR" sz="1500" b="1" dirty="0" smtClean="0"/>
              <a:t>Média diária de Incidentes Alto Impacto</a:t>
            </a:r>
            <a:endParaRPr lang="pt-BR" sz="1500" b="1" dirty="0"/>
          </a:p>
        </c:rich>
      </c:tx>
      <c:layout>
        <c:manualLayout>
          <c:xMode val="edge"/>
          <c:yMode val="edge"/>
          <c:x val="0.1585050000070585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>
            <a:defRPr sz="15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2.7352474322057077E-2"/>
          <c:y val="0.19970809412273891"/>
          <c:w val="0.90799622273489888"/>
          <c:h val="0.5809471943938796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Plan1!$B$1</c:f>
              <c:strCache>
                <c:ptCount val="1"/>
                <c:pt idx="0">
                  <c:v>Incidentes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/>
            </a:sp3d>
          </c:spPr>
          <c:invertIfNegative val="0"/>
          <c:dPt>
            <c:idx val="3"/>
            <c:invertIfNegative val="0"/>
            <c:bubble3D val="0"/>
            <c:spPr>
              <a:solidFill>
                <a:schemeClr val="tx2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852E-40EC-BB07-F4FF4F71836A}"/>
              </c:ext>
            </c:extLst>
          </c:dPt>
          <c:dPt>
            <c:idx val="4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852E-40EC-BB07-F4FF4F71836A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1336-4DE1-AAF2-45A9A199F5C6}"/>
              </c:ext>
            </c:extLst>
          </c:dPt>
          <c:dLbls>
            <c:dLbl>
              <c:idx val="0"/>
              <c:layout>
                <c:manualLayout>
                  <c:x val="2.9880988961915622E-3"/>
                  <c:y val="-0.30721553333342294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1336-4DE1-AAF2-45A9A199F5C6}"/>
                </c:ext>
                <c:ext xmlns:c15="http://schemas.microsoft.com/office/drawing/2012/chart" uri="{CE6537A1-D6FC-4f65-9D91-7224C49458BB}">
                  <c15:layout>
                    <c:manualLayout>
                      <c:w val="0.10159536247051311"/>
                      <c:h val="0.11947270740744224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"/>
                  <c:y val="-0.1479185901234999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1336-4DE1-AAF2-45A9A199F5C6}"/>
                </c:ext>
                <c:ext xmlns:c15="http://schemas.microsoft.com/office/drawing/2012/chart" uri="{CE6537A1-D6FC-4f65-9D91-7224C49458BB}"/>
              </c:extLst>
            </c:dLbl>
            <c:dLbl>
              <c:idx val="2"/>
              <c:layout>
                <c:manualLayout>
                  <c:x val="0"/>
                  <c:y val="-0.136540237037076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1336-4DE1-AAF2-45A9A199F5C6}"/>
                </c:ex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"/>
                  <c:y val="-0.125161883950653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852E-40EC-BB07-F4FF4F71836A}"/>
                </c:ext>
                <c:ext xmlns:c15="http://schemas.microsoft.com/office/drawing/2012/chart" uri="{CE6537A1-D6FC-4f65-9D91-7224C49458BB}"/>
              </c:extLst>
            </c:dLbl>
            <c:dLbl>
              <c:idx val="4"/>
              <c:layout>
                <c:manualLayout>
                  <c:x val="-5.9761977923831243E-3"/>
                  <c:y val="-0.1194727074074422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852E-40EC-BB07-F4FF4F71836A}"/>
                </c:ex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2.9880988961914524E-3"/>
                  <c:y val="-9.6716001234596213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1336-4DE1-AAF2-45A9A199F5C6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Plan1!$A$2:$A$6</c:f>
              <c:strCache>
                <c:ptCount val="5"/>
                <c:pt idx="0">
                  <c:v>Ago</c:v>
                </c:pt>
                <c:pt idx="1">
                  <c:v>Nov</c:v>
                </c:pt>
                <c:pt idx="2">
                  <c:v>Dez</c:v>
                </c:pt>
                <c:pt idx="3">
                  <c:v>Jan</c:v>
                </c:pt>
                <c:pt idx="4">
                  <c:v>Fev</c:v>
                </c:pt>
              </c:strCache>
            </c:strRef>
          </c:cat>
          <c:val>
            <c:numRef>
              <c:f>Plan1!$B$2:$B$6</c:f>
              <c:numCache>
                <c:formatCode>#,##0.00</c:formatCode>
                <c:ptCount val="5"/>
                <c:pt idx="0">
                  <c:v>48.19</c:v>
                </c:pt>
                <c:pt idx="1">
                  <c:v>13.84</c:v>
                </c:pt>
                <c:pt idx="2">
                  <c:v>9.48</c:v>
                </c:pt>
                <c:pt idx="3">
                  <c:v>7.11</c:v>
                </c:pt>
                <c:pt idx="4">
                  <c:v>8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7-852E-40EC-BB07-F4FF4F71836A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100"/>
        <c:axId val="340378904"/>
        <c:axId val="340378120"/>
      </c:barChart>
      <c:catAx>
        <c:axId val="340378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40378120"/>
        <c:crosses val="autoZero"/>
        <c:auto val="1"/>
        <c:lblAlgn val="ctr"/>
        <c:lblOffset val="100"/>
        <c:noMultiLvlLbl val="0"/>
      </c:catAx>
      <c:valAx>
        <c:axId val="340378120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3403789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500" b="1" dirty="0"/>
              <a:t>Gestão de </a:t>
            </a:r>
            <a:r>
              <a:rPr lang="en-US" sz="1500" b="1" dirty="0" smtClean="0"/>
              <a:t>Problemas</a:t>
            </a:r>
          </a:p>
          <a:p>
            <a:pPr>
              <a:defRPr sz="1600" b="1"/>
            </a:pPr>
            <a:r>
              <a:rPr lang="en-US" sz="1200" b="1" dirty="0" smtClean="0"/>
              <a:t>Total 36</a:t>
            </a:r>
            <a:endParaRPr lang="en-US" sz="1200" b="1" dirty="0"/>
          </a:p>
        </c:rich>
      </c:tx>
      <c:layout>
        <c:manualLayout>
          <c:xMode val="edge"/>
          <c:yMode val="edge"/>
          <c:x val="0.2135858779210657"/>
          <c:y val="1.782481046260829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7523974564955888"/>
          <c:y val="0.29664687735193479"/>
          <c:w val="0.35111029917702913"/>
          <c:h val="0.58968743462673223"/>
        </c:manualLayout>
      </c:layout>
      <c:pieChart>
        <c:varyColors val="1"/>
        <c:ser>
          <c:idx val="0"/>
          <c:order val="0"/>
          <c:tx>
            <c:strRef>
              <c:f>Plan1!$B$1</c:f>
              <c:strCache>
                <c:ptCount val="1"/>
                <c:pt idx="0">
                  <c:v>Coluna1</c:v>
                </c:pt>
              </c:strCache>
            </c:strRef>
          </c:tx>
          <c:spPr>
            <a:scene3d>
              <a:camera prst="orthographicFront"/>
              <a:lightRig rig="balanced" dir="t">
                <a:rot lat="0" lon="0" rev="0"/>
              </a:lightRig>
            </a:scene3d>
            <a:sp3d prstMaterial="softEdge">
              <a:bevelT w="165100" prst="coolSlant"/>
            </a:sp3d>
          </c:spPr>
          <c:explosion val="11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4C87-4E75-B6BC-1613E3B4466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0-4E6D-4022-8EBF-F734882408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4C87-4E75-B6BC-1613E3B4466B}"/>
              </c:ext>
            </c:extLst>
          </c:dPt>
          <c:dPt>
            <c:idx val="3"/>
            <c:bubble3D val="0"/>
            <c:spPr>
              <a:solidFill>
                <a:srgbClr val="00B050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7-4C87-4E75-B6BC-1613E3B4466B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9-F7CF-4ED1-8645-4BF9226656C5}"/>
              </c:ext>
            </c:extLst>
          </c:dPt>
          <c:dLbls>
            <c:dLbl>
              <c:idx val="0"/>
              <c:layout>
                <c:manualLayout>
                  <c:x val="-3.7038988393764995E-2"/>
                  <c:y val="0.12290246488779243"/>
                </c:manualLayout>
              </c:layout>
              <c:spPr>
                <a:solidFill>
                  <a:schemeClr val="accen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4C87-4E75-B6BC-1613E3B4466B}"/>
                </c:ext>
                <c:ext xmlns:c15="http://schemas.microsoft.com/office/drawing/2012/chart" uri="{CE6537A1-D6FC-4f65-9D91-7224C49458BB}"/>
              </c:extLst>
            </c:dLbl>
            <c:dLbl>
              <c:idx val="1"/>
              <c:layout>
                <c:manualLayout>
                  <c:x val="-4.151606355267675E-2"/>
                  <c:y val="8.1908045811181565E-2"/>
                </c:manualLayout>
              </c:layout>
              <c:spPr>
                <a:solidFill>
                  <a:schemeClr val="accent2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4E6D-4022-8EBF-F73488240805}"/>
                </c:ext>
                <c:ext xmlns:c15="http://schemas.microsoft.com/office/drawing/2012/chart" uri="{CE6537A1-D6FC-4f65-9D91-7224C49458BB}"/>
              </c:extLst>
            </c:dLbl>
            <c:dLbl>
              <c:idx val="2"/>
              <c:layout>
                <c:manualLayout>
                  <c:x val="-7.2341895006424045E-2"/>
                  <c:y val="-1.7420848752407538E-2"/>
                </c:manualLayout>
              </c:layout>
              <c:spPr>
                <a:solidFill>
                  <a:schemeClr val="accent3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4C87-4E75-B6BC-1613E3B4466B}"/>
                </c:ex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11121890235993162"/>
                  <c:y val="-8.0653359975569938E-2"/>
                </c:manualLayout>
              </c:layout>
              <c:spPr>
                <a:solidFill>
                  <a:srgbClr val="00B05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4C87-4E75-B6BC-1613E3B4466B}"/>
                </c:ext>
                <c:ext xmlns:c15="http://schemas.microsoft.com/office/drawing/2012/chart" uri="{CE6537A1-D6FC-4f65-9D91-7224C49458BB}"/>
              </c:extLst>
            </c:dLbl>
            <c:spPr>
              <a:solidFill>
                <a:schemeClr val="bg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 xmlns:c16r2="http://schemas.microsoft.com/office/drawing/2015/06/chart">
              <c:ext xmlns:c15="http://schemas.microsoft.com/office/drawing/2012/chart" uri="{CE6537A1-D6FC-4f65-9D91-7224C49458BB}"/>
            </c:extLst>
          </c:dLbls>
          <c:cat>
            <c:strRef>
              <c:f>Plan1!$A$2:$A$5</c:f>
              <c:strCache>
                <c:ptCount val="4"/>
                <c:pt idx="0">
                  <c:v>Backlog</c:v>
                </c:pt>
                <c:pt idx="1">
                  <c:v>Investigação</c:v>
                </c:pt>
                <c:pt idx="2">
                  <c:v>Diagnosticado</c:v>
                </c:pt>
                <c:pt idx="3">
                  <c:v>Finalizado</c:v>
                </c:pt>
              </c:strCache>
            </c:strRef>
          </c:cat>
          <c:val>
            <c:numRef>
              <c:f>Plan1!$B$2:$B$5</c:f>
              <c:numCache>
                <c:formatCode>General</c:formatCode>
                <c:ptCount val="4"/>
                <c:pt idx="0">
                  <c:v>4</c:v>
                </c:pt>
                <c:pt idx="1">
                  <c:v>2</c:v>
                </c:pt>
                <c:pt idx="2">
                  <c:v>8</c:v>
                </c:pt>
                <c:pt idx="3">
                  <c:v>22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4E6D-4022-8EBF-F734882408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4382486517836682E-2"/>
          <c:y val="0.21105009973328545"/>
          <c:w val="0.90799622273489888"/>
          <c:h val="0.5809471943938796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Plan1!$B$1</c:f>
              <c:strCache>
                <c:ptCount val="1"/>
                <c:pt idx="0">
                  <c:v>Incidentes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65100" prst="coolSlant"/>
            </a:sp3d>
          </c:spPr>
          <c:invertIfNegative val="0"/>
          <c:dPt>
            <c:idx val="3"/>
            <c:invertIfNegative val="0"/>
            <c:bubble3D val="0"/>
            <c:spPr>
              <a:solidFill>
                <a:schemeClr val="tx2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3AF3-47B6-B362-8D75B94687B9}"/>
              </c:ext>
            </c:extLst>
          </c:dPt>
          <c:dPt>
            <c:idx val="4"/>
            <c:invertIfNegative val="0"/>
            <c:bubble3D val="0"/>
            <c:spPr>
              <a:solidFill>
                <a:srgbClr val="00B050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3AF3-47B6-B362-8D75B94687B9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B343-4B87-A407-FBF943380C67}"/>
              </c:ext>
            </c:extLst>
          </c:dPt>
          <c:dLbls>
            <c:dLbl>
              <c:idx val="0"/>
              <c:layout>
                <c:manualLayout>
                  <c:x val="-5.9400113486707184E-3"/>
                  <c:y val="-0.2986728170429673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B343-4B87-A407-FBF943380C67}"/>
                </c:ext>
                <c:ext xmlns:c15="http://schemas.microsoft.com/office/drawing/2012/chart" uri="{CE6537A1-D6FC-4f65-9D91-7224C49458BB}"/>
              </c:extLst>
            </c:dLbl>
            <c:dLbl>
              <c:idx val="1"/>
              <c:layout>
                <c:manualLayout>
                  <c:x val="5.5555324682596465E-3"/>
                  <c:y val="-0.2914791512736120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B343-4B87-A407-FBF943380C67}"/>
                </c:ext>
                <c:ext xmlns:c15="http://schemas.microsoft.com/office/drawing/2012/chart" uri="{CE6537A1-D6FC-4f65-9D91-7224C49458BB}"/>
              </c:extLst>
            </c:dLbl>
            <c:dLbl>
              <c:idx val="2"/>
              <c:layout>
                <c:manualLayout>
                  <c:x val="8.5255551212713165E-3"/>
                  <c:y val="-0.2937381741077724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B343-4B87-A407-FBF943380C67}"/>
                </c:ex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5.7477888871415453E-3"/>
                  <c:y val="-0.2900685877198874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3AF3-47B6-B362-8D75B94687B9}"/>
                </c:ext>
                <c:ext xmlns:c15="http://schemas.microsoft.com/office/drawing/2012/chart" uri="{CE6537A1-D6FC-4f65-9D91-7224C49458BB}"/>
              </c:extLst>
            </c:dLbl>
            <c:dLbl>
              <c:idx val="4"/>
              <c:layout>
                <c:manualLayout>
                  <c:x val="-6.252661440287236E-3"/>
                  <c:y val="-0.177751406961895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3AF3-47B6-B362-8D75B94687B9}"/>
                </c:ex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7.5384243048088051E-2"/>
                  <c:y val="3.193856821799037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B343-4B87-A407-FBF943380C67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Plan1!$A$2:$A$6</c:f>
              <c:strCache>
                <c:ptCount val="5"/>
                <c:pt idx="0">
                  <c:v>Agosto</c:v>
                </c:pt>
                <c:pt idx="1">
                  <c:v>Novembro</c:v>
                </c:pt>
                <c:pt idx="2">
                  <c:v>Dezembro</c:v>
                </c:pt>
                <c:pt idx="3">
                  <c:v>Janeiro</c:v>
                </c:pt>
                <c:pt idx="4">
                  <c:v>Fevereiro</c:v>
                </c:pt>
              </c:strCache>
            </c:strRef>
          </c:cat>
          <c:val>
            <c:numRef>
              <c:f>Plan1!$B$2:$B$6</c:f>
              <c:numCache>
                <c:formatCode>#,##0</c:formatCode>
                <c:ptCount val="5"/>
                <c:pt idx="0">
                  <c:v>24272</c:v>
                </c:pt>
                <c:pt idx="1">
                  <c:v>24028</c:v>
                </c:pt>
                <c:pt idx="2">
                  <c:v>19386</c:v>
                </c:pt>
                <c:pt idx="3">
                  <c:v>21648</c:v>
                </c:pt>
                <c:pt idx="4">
                  <c:v>10992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7-3AF3-47B6-B362-8D75B94687B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100"/>
        <c:axId val="345683120"/>
        <c:axId val="345683512"/>
      </c:barChart>
      <c:catAx>
        <c:axId val="345683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45683512"/>
        <c:crosses val="autoZero"/>
        <c:auto val="1"/>
        <c:lblAlgn val="ctr"/>
        <c:lblOffset val="100"/>
        <c:noMultiLvlLbl val="0"/>
      </c:catAx>
      <c:valAx>
        <c:axId val="345683512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345683120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3200968655044549E-2"/>
          <c:y val="0.1152471147111666"/>
          <c:w val="0.94864560982860335"/>
          <c:h val="0.75295003854531117"/>
        </c:manualLayout>
      </c:layout>
      <c:barChart>
        <c:barDir val="col"/>
        <c:grouping val="clustered"/>
        <c:varyColors val="0"/>
        <c:ser>
          <c:idx val="1"/>
          <c:order val="0"/>
          <c:tx>
            <c:v>Total de Chamados</c:v>
          </c:tx>
          <c:spPr>
            <a:solidFill>
              <a:schemeClr val="accent1"/>
            </a:solidFill>
            <a:ln w="19050" cap="flat" cmpd="sng" algn="ctr">
              <a:solidFill>
                <a:schemeClr val="lt1"/>
              </a:solidFill>
              <a:prstDash val="solid"/>
              <a:miter lim="800000"/>
            </a:ln>
            <a:effectLst/>
          </c:spPr>
          <c:invertIfNegative val="0"/>
          <c:dLbls>
            <c:dLbl>
              <c:idx val="16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17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18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2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19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20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4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21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22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23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24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25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9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26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A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27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B-09C1-4A96-96E8-3C03FCADB1D5}"/>
                </c:ext>
                <c:ext xmlns:c15="http://schemas.microsoft.com/office/drawing/2012/chart" uri="{CE6537A1-D6FC-4f65-9D91-7224C49458BB}"/>
              </c:extLst>
            </c:dLbl>
            <c:dLbl>
              <c:idx val="28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C-09C1-4A96-96E8-3C03FCADB1D5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Gráficos'!$D$4:$AF$4</c:f>
              <c:numCache>
                <c:formatCode>#,##0</c:formatCode>
                <c:ptCount val="29"/>
                <c:pt idx="0">
                  <c:v>11</c:v>
                </c:pt>
                <c:pt idx="1">
                  <c:v>10</c:v>
                </c:pt>
                <c:pt idx="2">
                  <c:v>9</c:v>
                </c:pt>
                <c:pt idx="3">
                  <c:v>14</c:v>
                </c:pt>
                <c:pt idx="4">
                  <c:v>9</c:v>
                </c:pt>
                <c:pt idx="5">
                  <c:v>4</c:v>
                </c:pt>
                <c:pt idx="6">
                  <c:v>2</c:v>
                </c:pt>
                <c:pt idx="7">
                  <c:v>4</c:v>
                </c:pt>
                <c:pt idx="8">
                  <c:v>4</c:v>
                </c:pt>
                <c:pt idx="9">
                  <c:v>7</c:v>
                </c:pt>
                <c:pt idx="10">
                  <c:v>12</c:v>
                </c:pt>
                <c:pt idx="11">
                  <c:v>8</c:v>
                </c:pt>
                <c:pt idx="12">
                  <c:v>2</c:v>
                </c:pt>
                <c:pt idx="13">
                  <c:v>2</c:v>
                </c:pt>
                <c:pt idx="14">
                  <c:v>15</c:v>
                </c:pt>
                <c:pt idx="15">
                  <c:v>15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D-09C1-4A96-96E8-3C03FCADB1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2"/>
        <c:overlap val="100"/>
        <c:axId val="340274616"/>
        <c:axId val="340275008"/>
      </c:barChart>
      <c:lineChart>
        <c:grouping val="standard"/>
        <c:varyColors val="0"/>
        <c:ser>
          <c:idx val="0"/>
          <c:order val="1"/>
          <c:tx>
            <c:v>Meta seg à sex</c:v>
          </c:tx>
          <c:spPr>
            <a:ln>
              <a:solidFill>
                <a:schemeClr val="bg1"/>
              </a:solidFill>
            </a:ln>
            <a:effectLst/>
          </c:spPr>
          <c:marker>
            <c:symbol val="none"/>
          </c:marker>
          <c:dLbls>
            <c:dLbl>
              <c:idx val="27"/>
              <c:layout>
                <c:manualLayout>
                  <c:x val="8.2081686429512329E-2"/>
                  <c:y val="0"/>
                </c:manualLayout>
              </c:layout>
              <c:spPr/>
              <c:txPr>
                <a:bodyPr/>
                <a:lstStyle/>
                <a:p>
                  <a:pPr>
                    <a:defRPr>
                      <a:solidFill>
                        <a:srgbClr val="FF0000"/>
                      </a:solidFill>
                    </a:defRPr>
                  </a:pPr>
                  <a:endParaRPr lang="pt-BR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E-09C1-4A96-96E8-3C03FCADB1D5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trendline>
            <c:spPr>
              <a:ln w="38100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Gráficos'!$D$10:$AF$10</c:f>
              <c:numCache>
                <c:formatCode>#,##0.00</c:formatCode>
                <c:ptCount val="29"/>
                <c:pt idx="0">
                  <c:v>11</c:v>
                </c:pt>
                <c:pt idx="1">
                  <c:v>11</c:v>
                </c:pt>
                <c:pt idx="2">
                  <c:v>11</c:v>
                </c:pt>
                <c:pt idx="3">
                  <c:v>11</c:v>
                </c:pt>
                <c:pt idx="4">
                  <c:v>11</c:v>
                </c:pt>
                <c:pt idx="5">
                  <c:v>11</c:v>
                </c:pt>
                <c:pt idx="6">
                  <c:v>11</c:v>
                </c:pt>
                <c:pt idx="7">
                  <c:v>11</c:v>
                </c:pt>
                <c:pt idx="8">
                  <c:v>11</c:v>
                </c:pt>
                <c:pt idx="9">
                  <c:v>11</c:v>
                </c:pt>
                <c:pt idx="10">
                  <c:v>11</c:v>
                </c:pt>
                <c:pt idx="11">
                  <c:v>11</c:v>
                </c:pt>
                <c:pt idx="12">
                  <c:v>11</c:v>
                </c:pt>
                <c:pt idx="13">
                  <c:v>11</c:v>
                </c:pt>
                <c:pt idx="14">
                  <c:v>11</c:v>
                </c:pt>
                <c:pt idx="15">
                  <c:v>11</c:v>
                </c:pt>
                <c:pt idx="16">
                  <c:v>11</c:v>
                </c:pt>
                <c:pt idx="17">
                  <c:v>11</c:v>
                </c:pt>
                <c:pt idx="18">
                  <c:v>11</c:v>
                </c:pt>
                <c:pt idx="19">
                  <c:v>11</c:v>
                </c:pt>
                <c:pt idx="20">
                  <c:v>11</c:v>
                </c:pt>
                <c:pt idx="21">
                  <c:v>11</c:v>
                </c:pt>
                <c:pt idx="22">
                  <c:v>11</c:v>
                </c:pt>
                <c:pt idx="23">
                  <c:v>11</c:v>
                </c:pt>
                <c:pt idx="24">
                  <c:v>11</c:v>
                </c:pt>
                <c:pt idx="25">
                  <c:v>11</c:v>
                </c:pt>
                <c:pt idx="26">
                  <c:v>11</c:v>
                </c:pt>
                <c:pt idx="27">
                  <c:v>11</c:v>
                </c:pt>
                <c:pt idx="28">
                  <c:v>11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0F-09C1-4A96-96E8-3C03FCADB1D5}"/>
            </c:ext>
          </c:extLst>
        </c:ser>
        <c:ser>
          <c:idx val="2"/>
          <c:order val="2"/>
          <c:tx>
            <c:v>Meta sab e dom</c:v>
          </c:tx>
          <c:spPr>
            <a:ln w="38100">
              <a:solidFill>
                <a:srgbClr val="00B050"/>
              </a:solidFill>
              <a:prstDash val="sysDot"/>
            </a:ln>
          </c:spPr>
          <c:marker>
            <c:symbol val="none"/>
          </c:marker>
          <c:dLbls>
            <c:dLbl>
              <c:idx val="28"/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10-09C1-4A96-96E8-3C03FCADB1D5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>
                    <a:solidFill>
                      <a:srgbClr val="00B050"/>
                    </a:solidFill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Gráficos'!$D$11:$AF$11</c:f>
              <c:numCache>
                <c:formatCode>#,##0.00</c:formatCode>
                <c:ptCount val="29"/>
                <c:pt idx="0">
                  <c:v>4.01</c:v>
                </c:pt>
                <c:pt idx="1">
                  <c:v>4.01</c:v>
                </c:pt>
                <c:pt idx="2">
                  <c:v>4.01</c:v>
                </c:pt>
                <c:pt idx="3">
                  <c:v>4.01</c:v>
                </c:pt>
                <c:pt idx="4">
                  <c:v>4.01</c:v>
                </c:pt>
                <c:pt idx="5">
                  <c:v>4.01</c:v>
                </c:pt>
                <c:pt idx="6">
                  <c:v>4.01</c:v>
                </c:pt>
                <c:pt idx="7">
                  <c:v>4.01</c:v>
                </c:pt>
                <c:pt idx="8">
                  <c:v>4.01</c:v>
                </c:pt>
                <c:pt idx="9">
                  <c:v>4.01</c:v>
                </c:pt>
                <c:pt idx="10">
                  <c:v>4.01</c:v>
                </c:pt>
                <c:pt idx="11">
                  <c:v>4.01</c:v>
                </c:pt>
                <c:pt idx="12">
                  <c:v>4.01</c:v>
                </c:pt>
                <c:pt idx="13">
                  <c:v>4.01</c:v>
                </c:pt>
                <c:pt idx="14">
                  <c:v>4.01</c:v>
                </c:pt>
                <c:pt idx="15">
                  <c:v>4.01</c:v>
                </c:pt>
                <c:pt idx="16">
                  <c:v>4.01</c:v>
                </c:pt>
                <c:pt idx="17">
                  <c:v>4.01</c:v>
                </c:pt>
                <c:pt idx="18">
                  <c:v>4.01</c:v>
                </c:pt>
                <c:pt idx="19">
                  <c:v>4.01</c:v>
                </c:pt>
                <c:pt idx="20">
                  <c:v>4.01</c:v>
                </c:pt>
                <c:pt idx="21">
                  <c:v>4.01</c:v>
                </c:pt>
                <c:pt idx="22">
                  <c:v>4.01</c:v>
                </c:pt>
                <c:pt idx="23">
                  <c:v>4.01</c:v>
                </c:pt>
                <c:pt idx="24">
                  <c:v>4.01</c:v>
                </c:pt>
                <c:pt idx="25">
                  <c:v>4.01</c:v>
                </c:pt>
                <c:pt idx="26">
                  <c:v>4.01</c:v>
                </c:pt>
                <c:pt idx="27">
                  <c:v>4.01</c:v>
                </c:pt>
                <c:pt idx="28">
                  <c:v>4.01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11-09C1-4A96-96E8-3C03FCADB1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40274616"/>
        <c:axId val="340275008"/>
      </c:lineChart>
      <c:dateAx>
        <c:axId val="340274616"/>
        <c:scaling>
          <c:orientation val="minMax"/>
        </c:scaling>
        <c:delete val="0"/>
        <c:axPos val="b"/>
        <c:numFmt formatCode="[$-416]d;@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40275008"/>
        <c:crosses val="autoZero"/>
        <c:auto val="1"/>
        <c:lblOffset val="100"/>
        <c:baseTimeUnit val="days"/>
      </c:dateAx>
      <c:valAx>
        <c:axId val="340275008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340274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1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0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3200968655044549E-2"/>
          <c:y val="0.1152471147111666"/>
          <c:w val="0.94864560982860335"/>
          <c:h val="0.75295003854531117"/>
        </c:manualLayout>
      </c:layout>
      <c:barChart>
        <c:barDir val="col"/>
        <c:grouping val="clustered"/>
        <c:varyColors val="0"/>
        <c:ser>
          <c:idx val="1"/>
          <c:order val="0"/>
          <c:tx>
            <c:v>Total de Chamados</c:v>
          </c:tx>
          <c:spPr>
            <a:solidFill>
              <a:schemeClr val="accent1"/>
            </a:solidFill>
            <a:ln w="19050" cap="flat" cmpd="sng" algn="ctr">
              <a:solidFill>
                <a:schemeClr val="lt1"/>
              </a:solidFill>
              <a:prstDash val="solid"/>
              <a:miter lim="800000"/>
            </a:ln>
            <a:effectLst/>
          </c:spPr>
          <c:invertIfNegative val="0"/>
          <c:dLbls>
            <c:dLbl>
              <c:idx val="16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17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18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2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19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20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4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21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22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23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24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25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9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26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A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27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B-3DA0-4EFD-9CD4-F05E5FFE8AA1}"/>
                </c:ext>
                <c:ext xmlns:c15="http://schemas.microsoft.com/office/drawing/2012/chart" uri="{CE6537A1-D6FC-4f65-9D91-7224C49458BB}"/>
              </c:extLst>
            </c:dLbl>
            <c:dLbl>
              <c:idx val="28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C-3DA0-4EFD-9CD4-F05E5FFE8AA1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Gráficos'!$D$5:$AF$5</c:f>
              <c:numCache>
                <c:formatCode>#,##0</c:formatCode>
                <c:ptCount val="29"/>
                <c:pt idx="0">
                  <c:v>862</c:v>
                </c:pt>
                <c:pt idx="1">
                  <c:v>664</c:v>
                </c:pt>
                <c:pt idx="2">
                  <c:v>597</c:v>
                </c:pt>
                <c:pt idx="3">
                  <c:v>531</c:v>
                </c:pt>
                <c:pt idx="4">
                  <c:v>484</c:v>
                </c:pt>
                <c:pt idx="5">
                  <c:v>97</c:v>
                </c:pt>
                <c:pt idx="6">
                  <c:v>41</c:v>
                </c:pt>
                <c:pt idx="7">
                  <c:v>185</c:v>
                </c:pt>
                <c:pt idx="8">
                  <c:v>128</c:v>
                </c:pt>
                <c:pt idx="9">
                  <c:v>565</c:v>
                </c:pt>
                <c:pt idx="10">
                  <c:v>594</c:v>
                </c:pt>
                <c:pt idx="11">
                  <c:v>570</c:v>
                </c:pt>
                <c:pt idx="12">
                  <c:v>137</c:v>
                </c:pt>
                <c:pt idx="13">
                  <c:v>39</c:v>
                </c:pt>
                <c:pt idx="14">
                  <c:v>663</c:v>
                </c:pt>
                <c:pt idx="15">
                  <c:v>583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D-3DA0-4EFD-9CD4-F05E5FFE8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2"/>
        <c:overlap val="100"/>
        <c:axId val="340275792"/>
        <c:axId val="340276184"/>
      </c:barChart>
      <c:lineChart>
        <c:grouping val="standard"/>
        <c:varyColors val="0"/>
        <c:ser>
          <c:idx val="0"/>
          <c:order val="1"/>
          <c:tx>
            <c:v>Meta seg à sex</c:v>
          </c:tx>
          <c:spPr>
            <a:ln>
              <a:solidFill>
                <a:schemeClr val="bg1"/>
              </a:solidFill>
            </a:ln>
            <a:effectLst/>
          </c:spPr>
          <c:marker>
            <c:symbol val="none"/>
          </c:marker>
          <c:dLbls>
            <c:dLbl>
              <c:idx val="27"/>
              <c:layout>
                <c:manualLayout>
                  <c:x val="2.6745750440534542E-2"/>
                  <c:y val="0"/>
                </c:manualLayout>
              </c:layout>
              <c:spPr/>
              <c:txPr>
                <a:bodyPr/>
                <a:lstStyle/>
                <a:p>
                  <a:pPr>
                    <a:defRPr>
                      <a:solidFill>
                        <a:srgbClr val="FF0000"/>
                      </a:solidFill>
                    </a:defRPr>
                  </a:pPr>
                  <a:endParaRPr lang="pt-BR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E-3DA0-4EFD-9CD4-F05E5FFE8AA1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trendline>
            <c:spPr>
              <a:ln w="38100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Gráficos'!$D$12:$AF$12</c:f>
              <c:numCache>
                <c:formatCode>#,##0.00</c:formatCode>
                <c:ptCount val="29"/>
                <c:pt idx="0">
                  <c:v>535.65384615384608</c:v>
                </c:pt>
                <c:pt idx="1">
                  <c:v>535.65384615384608</c:v>
                </c:pt>
                <c:pt idx="2">
                  <c:v>535.65384615384608</c:v>
                </c:pt>
                <c:pt idx="3">
                  <c:v>535.65384615384608</c:v>
                </c:pt>
                <c:pt idx="4">
                  <c:v>535.65384615384608</c:v>
                </c:pt>
                <c:pt idx="5">
                  <c:v>535.65384615384608</c:v>
                </c:pt>
                <c:pt idx="6">
                  <c:v>535.65384615384608</c:v>
                </c:pt>
                <c:pt idx="7">
                  <c:v>535.65384615384608</c:v>
                </c:pt>
                <c:pt idx="8">
                  <c:v>535.65384615384608</c:v>
                </c:pt>
                <c:pt idx="9">
                  <c:v>535.65384615384608</c:v>
                </c:pt>
                <c:pt idx="10">
                  <c:v>535.65384615384608</c:v>
                </c:pt>
                <c:pt idx="11">
                  <c:v>535.65384615384608</c:v>
                </c:pt>
                <c:pt idx="12">
                  <c:v>535.65384615384608</c:v>
                </c:pt>
                <c:pt idx="13">
                  <c:v>535.65384615384608</c:v>
                </c:pt>
                <c:pt idx="14">
                  <c:v>535.65384615384608</c:v>
                </c:pt>
                <c:pt idx="15">
                  <c:v>535.65384615384608</c:v>
                </c:pt>
                <c:pt idx="16">
                  <c:v>535.65384615384608</c:v>
                </c:pt>
                <c:pt idx="17">
                  <c:v>535.65384615384608</c:v>
                </c:pt>
                <c:pt idx="18">
                  <c:v>535.65384615384608</c:v>
                </c:pt>
                <c:pt idx="19">
                  <c:v>535.65384615384608</c:v>
                </c:pt>
                <c:pt idx="20">
                  <c:v>535.65384615384608</c:v>
                </c:pt>
                <c:pt idx="21">
                  <c:v>535.65384615384608</c:v>
                </c:pt>
                <c:pt idx="22">
                  <c:v>535.65384615384608</c:v>
                </c:pt>
                <c:pt idx="23">
                  <c:v>535.65384615384608</c:v>
                </c:pt>
                <c:pt idx="24">
                  <c:v>535.65384615384608</c:v>
                </c:pt>
                <c:pt idx="25">
                  <c:v>535.65384615384608</c:v>
                </c:pt>
                <c:pt idx="26">
                  <c:v>535.65384615384608</c:v>
                </c:pt>
                <c:pt idx="27">
                  <c:v>535.65384615384608</c:v>
                </c:pt>
                <c:pt idx="28">
                  <c:v>535.65384615384608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0F-3DA0-4EFD-9CD4-F05E5FFE8AA1}"/>
            </c:ext>
          </c:extLst>
        </c:ser>
        <c:ser>
          <c:idx val="2"/>
          <c:order val="2"/>
          <c:tx>
            <c:v>Meta sab e dom</c:v>
          </c:tx>
          <c:spPr>
            <a:ln w="38100">
              <a:solidFill>
                <a:srgbClr val="00B050"/>
              </a:solidFill>
              <a:prstDash val="sysDot"/>
            </a:ln>
          </c:spPr>
          <c:marker>
            <c:symbol val="none"/>
          </c:marker>
          <c:dLbls>
            <c:dLbl>
              <c:idx val="28"/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10-3DA0-4EFD-9CD4-F05E5FFE8AA1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>
                    <a:solidFill>
                      <a:srgbClr val="00B050"/>
                    </a:solidFill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Gráficos'!$D$13:$AF$13</c:f>
              <c:numCache>
                <c:formatCode>#,##0.00</c:formatCode>
                <c:ptCount val="29"/>
                <c:pt idx="0">
                  <c:v>90.742592592592587</c:v>
                </c:pt>
                <c:pt idx="1">
                  <c:v>90.742592592592587</c:v>
                </c:pt>
                <c:pt idx="2">
                  <c:v>90.742592592592587</c:v>
                </c:pt>
                <c:pt idx="3">
                  <c:v>90.742592592592587</c:v>
                </c:pt>
                <c:pt idx="4">
                  <c:v>90.742592592592587</c:v>
                </c:pt>
                <c:pt idx="5">
                  <c:v>90.742592592592587</c:v>
                </c:pt>
                <c:pt idx="6">
                  <c:v>90.742592592592587</c:v>
                </c:pt>
                <c:pt idx="7">
                  <c:v>90.742592592592587</c:v>
                </c:pt>
                <c:pt idx="8">
                  <c:v>90.742592592592587</c:v>
                </c:pt>
                <c:pt idx="9">
                  <c:v>90.742592592592587</c:v>
                </c:pt>
                <c:pt idx="10">
                  <c:v>90.742592592592587</c:v>
                </c:pt>
                <c:pt idx="11">
                  <c:v>90.742592592592587</c:v>
                </c:pt>
                <c:pt idx="12">
                  <c:v>90.742592592592587</c:v>
                </c:pt>
                <c:pt idx="13">
                  <c:v>90.742592592592587</c:v>
                </c:pt>
                <c:pt idx="14">
                  <c:v>90.742592592592587</c:v>
                </c:pt>
                <c:pt idx="15">
                  <c:v>90.742592592592587</c:v>
                </c:pt>
                <c:pt idx="16">
                  <c:v>90.742592592592587</c:v>
                </c:pt>
                <c:pt idx="17">
                  <c:v>90.742592592592587</c:v>
                </c:pt>
                <c:pt idx="18">
                  <c:v>90.742592592592587</c:v>
                </c:pt>
                <c:pt idx="19">
                  <c:v>90.742592592592587</c:v>
                </c:pt>
                <c:pt idx="20">
                  <c:v>90.742592592592587</c:v>
                </c:pt>
                <c:pt idx="21">
                  <c:v>90.742592592592587</c:v>
                </c:pt>
                <c:pt idx="22">
                  <c:v>90.742592592592587</c:v>
                </c:pt>
                <c:pt idx="23">
                  <c:v>90.742592592592587</c:v>
                </c:pt>
                <c:pt idx="24">
                  <c:v>90.742592592592587</c:v>
                </c:pt>
                <c:pt idx="25">
                  <c:v>90.742592592592587</c:v>
                </c:pt>
                <c:pt idx="26">
                  <c:v>90.742592592592587</c:v>
                </c:pt>
                <c:pt idx="27">
                  <c:v>90.742592592592587</c:v>
                </c:pt>
                <c:pt idx="28">
                  <c:v>90.742592592592587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11-3DA0-4EFD-9CD4-F05E5FFE8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40275792"/>
        <c:axId val="340276184"/>
      </c:lineChart>
      <c:dateAx>
        <c:axId val="340275792"/>
        <c:scaling>
          <c:orientation val="minMax"/>
        </c:scaling>
        <c:delete val="0"/>
        <c:axPos val="b"/>
        <c:numFmt formatCode="[$-416]d;@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40276184"/>
        <c:crosses val="autoZero"/>
        <c:auto val="1"/>
        <c:lblOffset val="100"/>
        <c:baseTimeUnit val="days"/>
      </c:dateAx>
      <c:valAx>
        <c:axId val="3402761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3402757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1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0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3200968655044549E-2"/>
          <c:y val="0.1152471147111666"/>
          <c:w val="0.94864560982860335"/>
          <c:h val="0.75295003854531117"/>
        </c:manualLayout>
      </c:layout>
      <c:barChart>
        <c:barDir val="col"/>
        <c:grouping val="clustered"/>
        <c:varyColors val="0"/>
        <c:ser>
          <c:idx val="1"/>
          <c:order val="0"/>
          <c:tx>
            <c:v>Total de Chamados</c:v>
          </c:tx>
          <c:spPr>
            <a:solidFill>
              <a:schemeClr val="accent1"/>
            </a:solidFill>
            <a:ln w="19050" cap="flat" cmpd="sng" algn="ctr">
              <a:solidFill>
                <a:schemeClr val="lt1"/>
              </a:solidFill>
              <a:prstDash val="solid"/>
              <a:miter lim="800000"/>
            </a:ln>
            <a:effectLst/>
          </c:spPr>
          <c:invertIfNegative val="0"/>
          <c:dLbls>
            <c:dLbl>
              <c:idx val="16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17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18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2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19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20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4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21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22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23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24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25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9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26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A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27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B-BD16-4612-A9F4-E15418EFC0C8}"/>
                </c:ext>
                <c:ext xmlns:c15="http://schemas.microsoft.com/office/drawing/2012/chart" uri="{CE6537A1-D6FC-4f65-9D91-7224C49458BB}"/>
              </c:extLst>
            </c:dLbl>
            <c:dLbl>
              <c:idx val="28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C-BD16-4612-A9F4-E15418EFC0C8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Gráficos'!$D$6:$AF$6</c:f>
              <c:numCache>
                <c:formatCode>#,##0</c:formatCode>
                <c:ptCount val="29"/>
                <c:pt idx="0">
                  <c:v>521</c:v>
                </c:pt>
                <c:pt idx="1">
                  <c:v>451</c:v>
                </c:pt>
                <c:pt idx="2">
                  <c:v>412</c:v>
                </c:pt>
                <c:pt idx="3">
                  <c:v>375</c:v>
                </c:pt>
                <c:pt idx="4">
                  <c:v>261</c:v>
                </c:pt>
                <c:pt idx="5">
                  <c:v>73</c:v>
                </c:pt>
                <c:pt idx="6">
                  <c:v>23</c:v>
                </c:pt>
                <c:pt idx="7">
                  <c:v>118</c:v>
                </c:pt>
                <c:pt idx="8">
                  <c:v>67</c:v>
                </c:pt>
                <c:pt idx="9">
                  <c:v>333</c:v>
                </c:pt>
                <c:pt idx="10">
                  <c:v>348</c:v>
                </c:pt>
                <c:pt idx="11">
                  <c:v>313</c:v>
                </c:pt>
                <c:pt idx="12">
                  <c:v>78</c:v>
                </c:pt>
                <c:pt idx="13">
                  <c:v>45</c:v>
                </c:pt>
                <c:pt idx="14">
                  <c:v>400</c:v>
                </c:pt>
                <c:pt idx="15">
                  <c:v>306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D-BD16-4612-A9F4-E15418EFC0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2"/>
        <c:overlap val="100"/>
        <c:axId val="340276968"/>
        <c:axId val="340375376"/>
      </c:barChart>
      <c:lineChart>
        <c:grouping val="standard"/>
        <c:varyColors val="0"/>
        <c:ser>
          <c:idx val="0"/>
          <c:order val="1"/>
          <c:tx>
            <c:v>Meta seg à sex</c:v>
          </c:tx>
          <c:spPr>
            <a:ln>
              <a:solidFill>
                <a:schemeClr val="bg1"/>
              </a:solidFill>
            </a:ln>
            <a:effectLst/>
          </c:spPr>
          <c:marker>
            <c:symbol val="none"/>
          </c:marker>
          <c:dLbls>
            <c:dLbl>
              <c:idx val="27"/>
              <c:layout>
                <c:manualLayout>
                  <c:x val="2.6745750440534542E-2"/>
                  <c:y val="0"/>
                </c:manualLayout>
              </c:layout>
              <c:spPr/>
              <c:txPr>
                <a:bodyPr/>
                <a:lstStyle/>
                <a:p>
                  <a:pPr>
                    <a:defRPr>
                      <a:solidFill>
                        <a:srgbClr val="FF0000"/>
                      </a:solidFill>
                    </a:defRPr>
                  </a:pPr>
                  <a:endParaRPr lang="pt-BR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E-BD16-4612-A9F4-E15418EFC0C8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trendline>
            <c:spPr>
              <a:ln w="38100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multiLvlStrRef>
              <c:f>'Dados - Gráficos'!#REF!</c:f>
            </c:multiLvlStrRef>
          </c:cat>
          <c:val>
            <c:numRef>
              <c:f>'Dados - Gráficos'!$D$14:$AF$14</c:f>
              <c:numCache>
                <c:formatCode>#,##0.00</c:formatCode>
                <c:ptCount val="29"/>
                <c:pt idx="0">
                  <c:v>335.37923076923079</c:v>
                </c:pt>
                <c:pt idx="1">
                  <c:v>335.37923076923079</c:v>
                </c:pt>
                <c:pt idx="2">
                  <c:v>335.37923076923079</c:v>
                </c:pt>
                <c:pt idx="3">
                  <c:v>335.37923076923079</c:v>
                </c:pt>
                <c:pt idx="4">
                  <c:v>335.37923076923079</c:v>
                </c:pt>
                <c:pt idx="5">
                  <c:v>335.37923076923079</c:v>
                </c:pt>
                <c:pt idx="6">
                  <c:v>335.37923076923079</c:v>
                </c:pt>
                <c:pt idx="7">
                  <c:v>335.37923076923079</c:v>
                </c:pt>
                <c:pt idx="8">
                  <c:v>335.37923076923079</c:v>
                </c:pt>
                <c:pt idx="9">
                  <c:v>335.37923076923079</c:v>
                </c:pt>
                <c:pt idx="10">
                  <c:v>335.37923076923079</c:v>
                </c:pt>
                <c:pt idx="11">
                  <c:v>335.37923076923079</c:v>
                </c:pt>
                <c:pt idx="12">
                  <c:v>335.37923076923079</c:v>
                </c:pt>
                <c:pt idx="13">
                  <c:v>335.37923076923079</c:v>
                </c:pt>
                <c:pt idx="14">
                  <c:v>335.37923076923079</c:v>
                </c:pt>
                <c:pt idx="15">
                  <c:v>335.37923076923079</c:v>
                </c:pt>
                <c:pt idx="16">
                  <c:v>335.37923076923079</c:v>
                </c:pt>
                <c:pt idx="17">
                  <c:v>335.37923076923079</c:v>
                </c:pt>
                <c:pt idx="18">
                  <c:v>335.37923076923079</c:v>
                </c:pt>
                <c:pt idx="19">
                  <c:v>335.37923076923079</c:v>
                </c:pt>
                <c:pt idx="20">
                  <c:v>335.37923076923079</c:v>
                </c:pt>
                <c:pt idx="21">
                  <c:v>335.37923076923079</c:v>
                </c:pt>
                <c:pt idx="22">
                  <c:v>335.37923076923079</c:v>
                </c:pt>
                <c:pt idx="23">
                  <c:v>335.37923076923079</c:v>
                </c:pt>
                <c:pt idx="24">
                  <c:v>335.37923076923079</c:v>
                </c:pt>
                <c:pt idx="25">
                  <c:v>335.37923076923079</c:v>
                </c:pt>
                <c:pt idx="26">
                  <c:v>335.37923076923079</c:v>
                </c:pt>
                <c:pt idx="27">
                  <c:v>335.37923076923079</c:v>
                </c:pt>
                <c:pt idx="28">
                  <c:v>335.37923076923079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0F-BD16-4612-A9F4-E15418EFC0C8}"/>
            </c:ext>
          </c:extLst>
        </c:ser>
        <c:ser>
          <c:idx val="2"/>
          <c:order val="2"/>
          <c:tx>
            <c:v>Meta sab e dom</c:v>
          </c:tx>
          <c:spPr>
            <a:ln w="38100">
              <a:solidFill>
                <a:srgbClr val="00B050"/>
              </a:solidFill>
              <a:prstDash val="sysDot"/>
            </a:ln>
          </c:spPr>
          <c:marker>
            <c:symbol val="none"/>
          </c:marker>
          <c:dLbls>
            <c:dLbl>
              <c:idx val="28"/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10-BD16-4612-A9F4-E15418EFC0C8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>
                    <a:solidFill>
                      <a:srgbClr val="00B050"/>
                    </a:solidFill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'Dados - Gráficos'!$D$15:$AF$15</c:f>
              <c:numCache>
                <c:formatCode>#,##0.00</c:formatCode>
                <c:ptCount val="29"/>
                <c:pt idx="0">
                  <c:v>69.209259259259255</c:v>
                </c:pt>
                <c:pt idx="1">
                  <c:v>69.209259259259255</c:v>
                </c:pt>
                <c:pt idx="2">
                  <c:v>69.209259259259255</c:v>
                </c:pt>
                <c:pt idx="3">
                  <c:v>69.209259259259255</c:v>
                </c:pt>
                <c:pt idx="4">
                  <c:v>69.209259259259255</c:v>
                </c:pt>
                <c:pt idx="5">
                  <c:v>69.209259259259255</c:v>
                </c:pt>
                <c:pt idx="6">
                  <c:v>69.209259259259255</c:v>
                </c:pt>
                <c:pt idx="7">
                  <c:v>69.209259259259255</c:v>
                </c:pt>
                <c:pt idx="8">
                  <c:v>69.209259259259255</c:v>
                </c:pt>
                <c:pt idx="9">
                  <c:v>69.209259259259255</c:v>
                </c:pt>
                <c:pt idx="10">
                  <c:v>69.209259259259255</c:v>
                </c:pt>
                <c:pt idx="11">
                  <c:v>69.209259259259255</c:v>
                </c:pt>
                <c:pt idx="12">
                  <c:v>69.209259259259255</c:v>
                </c:pt>
                <c:pt idx="13">
                  <c:v>69.209259259259255</c:v>
                </c:pt>
                <c:pt idx="14">
                  <c:v>69.209259259259255</c:v>
                </c:pt>
                <c:pt idx="15">
                  <c:v>69.209259259259255</c:v>
                </c:pt>
                <c:pt idx="16">
                  <c:v>69.209259259259255</c:v>
                </c:pt>
                <c:pt idx="17">
                  <c:v>69.209259259259255</c:v>
                </c:pt>
                <c:pt idx="18">
                  <c:v>69.209259259259255</c:v>
                </c:pt>
                <c:pt idx="19">
                  <c:v>69.209259259259255</c:v>
                </c:pt>
                <c:pt idx="20">
                  <c:v>69.209259259259255</c:v>
                </c:pt>
                <c:pt idx="21">
                  <c:v>69.209259259259255</c:v>
                </c:pt>
                <c:pt idx="22">
                  <c:v>69.209259259259255</c:v>
                </c:pt>
                <c:pt idx="23">
                  <c:v>69.209259259259255</c:v>
                </c:pt>
                <c:pt idx="24">
                  <c:v>69.209259259259255</c:v>
                </c:pt>
                <c:pt idx="25">
                  <c:v>69.209259259259255</c:v>
                </c:pt>
                <c:pt idx="26">
                  <c:v>69.209259259259255</c:v>
                </c:pt>
                <c:pt idx="27">
                  <c:v>69.209259259259255</c:v>
                </c:pt>
                <c:pt idx="28">
                  <c:v>69.209259259259255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11-BD16-4612-A9F4-E15418EFC0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40276968"/>
        <c:axId val="340375376"/>
      </c:lineChart>
      <c:catAx>
        <c:axId val="340276968"/>
        <c:scaling>
          <c:orientation val="minMax"/>
        </c:scaling>
        <c:delete val="0"/>
        <c:axPos val="b"/>
        <c:numFmt formatCode="[$-416]d;@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40375376"/>
        <c:crosses val="autoZero"/>
        <c:auto val="1"/>
        <c:lblAlgn val="ctr"/>
        <c:lblOffset val="100"/>
        <c:noMultiLvlLbl val="0"/>
      </c:catAx>
      <c:valAx>
        <c:axId val="340375376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340276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1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0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ysClr val="window" lastClr="FFFFFF">
                  <a:lumMod val="65000"/>
                </a:sysClr>
              </a:solidFill>
            </c:spPr>
          </c:dPt>
          <c:dPt>
            <c:idx val="1"/>
            <c:bubble3D val="0"/>
            <c:spPr>
              <a:solidFill>
                <a:srgbClr val="FF0000"/>
              </a:solidFill>
            </c:spPr>
          </c:dPt>
          <c:dPt>
            <c:idx val="2"/>
            <c:bubble3D val="0"/>
            <c:spPr>
              <a:solidFill>
                <a:srgbClr val="184E82"/>
              </a:solidFill>
            </c:spPr>
          </c:dPt>
          <c:dLbls>
            <c:dLbl>
              <c:idx val="0"/>
              <c:layout>
                <c:manualLayout>
                  <c:x val="-6.4542828007553232E-2"/>
                  <c:y val="9.0787378212866907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>
                <c:manualLayout>
                  <c:x val="-0.23987173454293115"/>
                  <c:y val="-0.11431947850164961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>
                <c:manualLayout>
                  <c:x val="0.21194246656515553"/>
                  <c:y val="9.4075049120921503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1" baseline="0">
                    <a:solidFill>
                      <a:schemeClr val="bg1"/>
                    </a:solidFill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'Tabelas Resp pela Resolução'!$A$6:$A$8</c:f>
              <c:strCache>
                <c:ptCount val="3"/>
                <c:pt idx="0">
                  <c:v>Fornecedor Contax</c:v>
                </c:pt>
                <c:pt idx="1">
                  <c:v>Suporte Cliente</c:v>
                </c:pt>
                <c:pt idx="2">
                  <c:v>TI Contax</c:v>
                </c:pt>
              </c:strCache>
            </c:strRef>
          </c:cat>
          <c:val>
            <c:numRef>
              <c:f>'Tabelas Resp pela Resolução'!$B$6:$B$8</c:f>
              <c:numCache>
                <c:formatCode>General</c:formatCode>
                <c:ptCount val="3"/>
                <c:pt idx="0">
                  <c:v>12</c:v>
                </c:pt>
                <c:pt idx="1">
                  <c:v>108</c:v>
                </c:pt>
                <c:pt idx="2">
                  <c:v>90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</c:plotArea>
    <c:plotVisOnly val="1"/>
    <c:dispBlanksAs val="gap"/>
    <c:showDLblsOverMax val="0"/>
  </c:chart>
  <c:externalData r:id="rId2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B0D43F-B80B-40D7-B843-4AC81DACC905}" type="datetimeFigureOut">
              <a:rPr lang="pt-BR" smtClean="0"/>
              <a:t>18/02/2016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1143000"/>
            <a:ext cx="5480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626FD-18EF-494C-A467-3D85C3950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0951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52602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64311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4405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66869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123644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8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72790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>
                <a:solidFill>
                  <a:prstClr val="black"/>
                </a:solidFill>
              </a:rPr>
              <a:pPr/>
              <a:t>9</a:t>
            </a:fld>
            <a:endParaRPr lang="pt-BR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9178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10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23211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77985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29387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95820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95569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5347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1417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299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70919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16761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9440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842552"/>
            <a:ext cx="6858000" cy="179235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2704030"/>
            <a:ext cx="6858000" cy="1242971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29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106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283491"/>
            <a:ext cx="7886700" cy="2141534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3888" y="3445285"/>
            <a:ext cx="7886700" cy="112618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464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28650" y="1370486"/>
            <a:ext cx="3886200" cy="3266526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29150" y="1370486"/>
            <a:ext cx="3886200" cy="3266526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221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274098"/>
            <a:ext cx="7886700" cy="99509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9842" y="1262040"/>
            <a:ext cx="3868340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29842" y="1880546"/>
            <a:ext cx="3868340" cy="2766000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29150" y="1262040"/>
            <a:ext cx="3887391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29150" y="1880546"/>
            <a:ext cx="3887391" cy="2766000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108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559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58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87391" y="741255"/>
            <a:ext cx="4629150" cy="365860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632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3887391" y="741255"/>
            <a:ext cx="4629150" cy="365860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529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17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274097"/>
            <a:ext cx="1971675" cy="4362915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274097"/>
            <a:ext cx="5800725" cy="4362915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638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31484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956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069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vmlDrawing" Target="../drawings/vmlDrawing1.vml"/><Relationship Id="rId7" Type="http://schemas.openxmlformats.org/officeDocument/2006/relationships/image" Target="../media/image2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vmlDrawing" Target="../drawings/vmlDrawing2.vml"/><Relationship Id="rId7" Type="http://schemas.openxmlformats.org/officeDocument/2006/relationships/image" Target="../media/image3.e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2.xml"/><Relationship Id="rId9" Type="http://schemas.openxmlformats.org/officeDocument/2006/relationships/image" Target="../media/image5.jp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vmlDrawing" Target="../drawings/vmlDrawing3.vml"/><Relationship Id="rId7" Type="http://schemas.openxmlformats.org/officeDocument/2006/relationships/image" Target="../media/image6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.bin"/><Relationship Id="rId4" Type="http://schemas.openxmlformats.org/officeDocument/2006/relationships/tags" Target="../tags/tag3.xml"/><Relationship Id="rId9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96241-9EE8-3241-9C65-A8F2A1D83BB2}" type="datetimeFigureOut">
              <a:rPr lang="en-US" smtClean="0"/>
              <a:t>2/18/2016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142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099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14" descr="t02-02.jpg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8263"/>
          </a:xfrm>
          <a:prstGeom prst="rect">
            <a:avLst/>
          </a:prstGeom>
        </p:spPr>
      </p:pic>
      <p:pic>
        <p:nvPicPr>
          <p:cNvPr id="7" name="Picture 10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38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123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9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062980" y="289005"/>
            <a:ext cx="1603348" cy="291323"/>
          </a:xfrm>
          <a:prstGeom prst="rect">
            <a:avLst/>
          </a:prstGeom>
        </p:spPr>
      </p:pic>
      <p:pic>
        <p:nvPicPr>
          <p:cNvPr id="7" name="Picture 2"/>
          <p:cNvPicPr>
            <a:picLocks noChangeAspect="1" noChangeArrowheads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1" descr="t03-02.jpg"/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21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147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interna_img-3.png"/>
          <p:cNvPicPr/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182"/>
          <a:stretch>
            <a:fillRect/>
          </a:stretch>
        </p:blipFill>
        <p:spPr>
          <a:xfrm>
            <a:off x="1" y="-4669"/>
            <a:ext cx="3640873" cy="5157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9" name="image5.png"/>
          <p:cNvPicPr/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8118917" y="4410609"/>
            <a:ext cx="1043999" cy="7707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icture 1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296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10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hyperlink" Target="Gest&#227;o%20de%20problemas%20atualizado%2028.01.2016.xls" TargetMode="External"/><Relationship Id="rId5" Type="http://schemas.openxmlformats.org/officeDocument/2006/relationships/chart" Target="../charts/chart2.xml"/><Relationship Id="rId10" Type="http://schemas.openxmlformats.org/officeDocument/2006/relationships/image" Target="../media/image3.emf"/><Relationship Id="rId4" Type="http://schemas.openxmlformats.org/officeDocument/2006/relationships/chart" Target="../charts/chart1.xml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emf"/><Relationship Id="rId3" Type="http://schemas.openxmlformats.org/officeDocument/2006/relationships/image" Target="../media/image4.png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package" Target="../embeddings/Microsoft_Excel_Worksheet5.xlsx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3.emf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Relationship Id="rId9" Type="http://schemas.openxmlformats.org/officeDocument/2006/relationships/image" Target="../media/image14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7" Type="http://schemas.openxmlformats.org/officeDocument/2006/relationships/image" Target="../media/image15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emf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emf"/><Relationship Id="rId3" Type="http://schemas.openxmlformats.org/officeDocument/2006/relationships/image" Target="../media/image16.jpg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20.png"/><Relationship Id="rId4" Type="http://schemas.openxmlformats.org/officeDocument/2006/relationships/image" Target="../media/image17.jpg"/><Relationship Id="rId9" Type="http://schemas.openxmlformats.org/officeDocument/2006/relationships/image" Target="../media/image19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emf"/><Relationship Id="rId3" Type="http://schemas.openxmlformats.org/officeDocument/2006/relationships/image" Target="../media/image4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5.jpg"/><Relationship Id="rId10" Type="http://schemas.openxmlformats.org/officeDocument/2006/relationships/image" Target="../media/image25.png"/><Relationship Id="rId4" Type="http://schemas.openxmlformats.org/officeDocument/2006/relationships/image" Target="../media/image3.emf"/><Relationship Id="rId9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jpg"/><Relationship Id="rId4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fachad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39"/>
            <a:ext cx="9144000" cy="5145024"/>
          </a:xfrm>
          <a:prstGeom prst="rect">
            <a:avLst/>
          </a:prstGeom>
        </p:spPr>
      </p:pic>
      <p:pic>
        <p:nvPicPr>
          <p:cNvPr id="10" name="Picture 9" descr="meia_bolinha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1466" y="4354709"/>
            <a:ext cx="1635846" cy="80436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29" y="3208"/>
            <a:ext cx="3345084" cy="122185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9711" y="325132"/>
            <a:ext cx="1744578" cy="422254"/>
          </a:xfrm>
          <a:prstGeom prst="rect">
            <a:avLst/>
          </a:prstGeom>
        </p:spPr>
      </p:pic>
      <p:sp>
        <p:nvSpPr>
          <p:cNvPr id="11" name="Title 1"/>
          <p:cNvSpPr txBox="1">
            <a:spLocks/>
          </p:cNvSpPr>
          <p:nvPr/>
        </p:nvSpPr>
        <p:spPr>
          <a:xfrm>
            <a:off x="0" y="292955"/>
            <a:ext cx="3942260" cy="1757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70000"/>
              </a:lnSpc>
            </a:pPr>
            <a:r>
              <a:rPr lang="en-US" sz="3000" b="1" dirty="0" smtClean="0">
                <a:solidFill>
                  <a:srgbClr val="19345B"/>
                </a:solidFill>
                <a:latin typeface="Arial"/>
                <a:cs typeface="Arial"/>
              </a:rPr>
              <a:t>Contact Center</a:t>
            </a:r>
            <a:r>
              <a:rPr lang="en-US" sz="3000" b="1" dirty="0" smtClean="0">
                <a:solidFill>
                  <a:srgbClr val="FF0000"/>
                </a:solidFill>
                <a:latin typeface="Arial"/>
                <a:cs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lang="en-US" sz="2200" b="1" dirty="0" err="1" smtClean="0">
                <a:solidFill>
                  <a:srgbClr val="FF0000"/>
                </a:solidFill>
                <a:latin typeface="Arial"/>
                <a:cs typeface="Arial"/>
              </a:rPr>
              <a:t>Estabilidade</a:t>
            </a:r>
            <a:r>
              <a:rPr lang="en-US" sz="2200" b="1" dirty="0" smtClean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lang="en-US" sz="2200" b="1" dirty="0" err="1" smtClean="0">
                <a:solidFill>
                  <a:srgbClr val="FF0000"/>
                </a:solidFill>
                <a:latin typeface="Arial"/>
                <a:cs typeface="Arial"/>
              </a:rPr>
              <a:t>Operacional</a:t>
            </a:r>
            <a:endParaRPr lang="en-US" sz="2200" b="1" dirty="0" smtClean="0">
              <a:solidFill>
                <a:srgbClr val="FF0000"/>
              </a:solidFill>
              <a:latin typeface="Arial"/>
              <a:cs typeface="Arial"/>
            </a:endParaRPr>
          </a:p>
          <a:p>
            <a:pPr algn="l">
              <a:lnSpc>
                <a:spcPct val="110000"/>
              </a:lnSpc>
            </a:pPr>
            <a:r>
              <a:rPr lang="en-US" sz="2200" b="1" dirty="0" smtClean="0">
                <a:solidFill>
                  <a:srgbClr val="FF0000"/>
                </a:solidFill>
                <a:latin typeface="Arial"/>
                <a:cs typeface="Arial"/>
              </a:rPr>
              <a:t>18.Fevereiro.2016</a:t>
            </a:r>
            <a:endParaRPr lang="en-US" sz="2200" b="1" dirty="0">
              <a:solidFill>
                <a:srgbClr val="FF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8422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Tm="8331">
        <p14:reveal/>
      </p:transition>
    </mc:Choice>
    <mc:Fallback xmlns="">
      <p:transition spd="slow" advTm="8331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interna_img-3.pn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292" cy="5148264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Shape 114"/>
          <p:cNvSpPr/>
          <p:nvPr/>
        </p:nvSpPr>
        <p:spPr>
          <a:xfrm>
            <a:off x="2669861" y="503053"/>
            <a:ext cx="1409769" cy="858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ctr">
            <a:normAutofit/>
          </a:bodyPr>
          <a:lstStyle>
            <a:lvl1pPr>
              <a:defRPr sz="3000" b="1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pt-BR" sz="3000" b="1" dirty="0" smtClean="0">
                <a:solidFill>
                  <a:srgbClr val="1F497D"/>
                </a:solidFill>
              </a:rPr>
              <a:t>Índice</a:t>
            </a:r>
            <a:endParaRPr sz="3000" b="1" dirty="0">
              <a:solidFill>
                <a:srgbClr val="1F497D"/>
              </a:solidFill>
            </a:endParaRPr>
          </a:p>
        </p:txBody>
      </p:sp>
      <p:pic>
        <p:nvPicPr>
          <p:cNvPr id="116" name="image5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860" y="4531179"/>
            <a:ext cx="1248721" cy="614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2625970" y="1276051"/>
            <a:ext cx="6515322" cy="317862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1. Indicadores – Incidentes de Alto Impacto e Problemas</a:t>
            </a:r>
          </a:p>
          <a:p>
            <a:pPr algn="l">
              <a:buClr>
                <a:srgbClr val="800000"/>
              </a:buClr>
            </a:pP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2. Indicadores – Total de Incidentes (Alto, Médio e Baixo)</a:t>
            </a:r>
          </a:p>
          <a:p>
            <a:pPr algn="l">
              <a:buClr>
                <a:srgbClr val="800000"/>
              </a:buClr>
            </a:pP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3. Gestão de 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problemas</a:t>
            </a:r>
          </a:p>
          <a:p>
            <a:pPr algn="l"/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4. Incidentes de Alto Impacto por Responsável pela 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Solução Janeiro 2016</a:t>
            </a:r>
          </a:p>
          <a:p>
            <a:pPr algn="l"/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5. </a:t>
            </a: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Processo de Escalonamento de Incidentes Alto Impacto</a:t>
            </a:r>
          </a:p>
          <a:p>
            <a:pPr algn="l">
              <a:buClr>
                <a:srgbClr val="800000"/>
              </a:buClr>
            </a:pP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6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Projeto: Multas de 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Gravação</a:t>
            </a:r>
          </a:p>
          <a:p>
            <a:pPr algn="l">
              <a:buClr>
                <a:srgbClr val="800000"/>
              </a:buClr>
            </a:pP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Projetos Estruturantes e Especiais</a:t>
            </a:r>
          </a:p>
          <a:p>
            <a:pPr algn="l">
              <a:buClr>
                <a:srgbClr val="800000"/>
              </a:buClr>
            </a:pP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8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Alinhamento</a:t>
            </a:r>
          </a:p>
        </p:txBody>
      </p:sp>
    </p:spTree>
    <p:extLst>
      <p:ext uri="{BB962C8B-B14F-4D97-AF65-F5344CB8AC3E}">
        <p14:creationId xmlns:p14="http://schemas.microsoft.com/office/powerpoint/2010/main" val="3268750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/>
          <p:cNvGrpSpPr/>
          <p:nvPr/>
        </p:nvGrpSpPr>
        <p:grpSpPr>
          <a:xfrm>
            <a:off x="0" y="2436"/>
            <a:ext cx="9144001" cy="5145828"/>
            <a:chOff x="0" y="2436"/>
            <a:chExt cx="9144001" cy="5145828"/>
          </a:xfrm>
        </p:grpSpPr>
        <p:grpSp>
          <p:nvGrpSpPr>
            <p:cNvPr id="2" name="Agrupar 1"/>
            <p:cNvGrpSpPr/>
            <p:nvPr/>
          </p:nvGrpSpPr>
          <p:grpSpPr>
            <a:xfrm>
              <a:off x="1" y="153259"/>
              <a:ext cx="9144000" cy="4995005"/>
              <a:chOff x="1" y="153259"/>
              <a:chExt cx="9144000" cy="4995005"/>
            </a:xfrm>
          </p:grpSpPr>
          <p:sp>
            <p:nvSpPr>
              <p:cNvPr id="6" name="CaixaDeTexto 5"/>
              <p:cNvSpPr txBox="1"/>
              <p:nvPr/>
            </p:nvSpPr>
            <p:spPr>
              <a:xfrm>
                <a:off x="2039091" y="300128"/>
                <a:ext cx="184731" cy="369332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none" rtlCol="0">
                <a:spAutoFit/>
              </a:bodyPr>
              <a:lstStyle/>
              <a:p>
                <a:endParaRPr lang="pt-BR" dirty="0"/>
              </a:p>
            </p:txBody>
          </p:sp>
          <p:sp>
            <p:nvSpPr>
              <p:cNvPr id="20" name="Title 1"/>
              <p:cNvSpPr txBox="1">
                <a:spLocks/>
              </p:cNvSpPr>
              <p:nvPr/>
            </p:nvSpPr>
            <p:spPr>
              <a:xfrm>
                <a:off x="734184" y="153259"/>
                <a:ext cx="6254098" cy="560400"/>
              </a:xfrm>
              <a:prstGeom prst="rect">
                <a:avLst/>
              </a:prstGeom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vert="horz" lIns="91440" tIns="45720" rIns="91440" bIns="45720" rtlCol="0" anchor="ctr">
                <a:normAutofit fontScale="62500" lnSpcReduction="20000"/>
              </a:bodyPr>
              <a:lstStyle>
                <a:lvl1pPr algn="ctr" defTabSz="4572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>
                  <a:buClr>
                    <a:srgbClr val="800000"/>
                  </a:buClr>
                </a:pPr>
                <a:r>
                  <a:rPr lang="pt-BR" sz="2800" b="1" dirty="0" smtClean="0">
                    <a:solidFill>
                      <a:schemeClr val="tx2"/>
                    </a:solidFill>
                    <a:latin typeface="Arial" pitchFamily="34" charset="0"/>
                    <a:cs typeface="Arial" pitchFamily="34" charset="0"/>
                  </a:rPr>
                  <a:t>1. Indicadores: Incidentes Alto impacto e Problemas</a:t>
                </a:r>
                <a:endParaRPr lang="pt-BR" sz="18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780" t="78172" r="18395" b="12686"/>
              <a:stretch/>
            </p:blipFill>
            <p:spPr bwMode="auto">
              <a:xfrm>
                <a:off x="8188658" y="4384319"/>
                <a:ext cx="955343" cy="763945"/>
              </a:xfrm>
              <a:prstGeom prst="rect">
                <a:avLst/>
              </a:prstGeom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aphicFrame>
            <p:nvGraphicFramePr>
              <p:cNvPr id="23" name="Gráfico 22"/>
              <p:cNvGraphicFramePr/>
              <p:nvPr>
                <p:extLst/>
              </p:nvPr>
            </p:nvGraphicFramePr>
            <p:xfrm>
              <a:off x="1" y="784099"/>
              <a:ext cx="4276020" cy="2239473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27" name="Gráfico 26"/>
              <p:cNvGraphicFramePr/>
              <p:nvPr>
                <p:extLst>
                  <p:ext uri="{D42A27DB-BD31-4B8C-83A1-F6EECF244321}">
                    <p14:modId xmlns:p14="http://schemas.microsoft.com/office/powerpoint/2010/main" val="3735435243"/>
                  </p:ext>
                </p:extLst>
              </p:nvPr>
            </p:nvGraphicFramePr>
            <p:xfrm>
              <a:off x="4532563" y="791263"/>
              <a:ext cx="4250194" cy="2232309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31" name="Gráfico 30">
                <a:hlinkClick r:id="rId6" action="ppaction://hlinkfile"/>
              </p:cNvPr>
              <p:cNvGraphicFramePr>
                <a:graphicFrameLocks noChangeAspect="1"/>
              </p:cNvGraphicFramePr>
              <p:nvPr>
                <p:extLst/>
              </p:nvPr>
            </p:nvGraphicFramePr>
            <p:xfrm>
              <a:off x="4968607" y="3068858"/>
              <a:ext cx="3492347" cy="2079405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sp>
            <p:nvSpPr>
              <p:cNvPr id="33" name="Retângulo de cantos arredondados 32"/>
              <p:cNvSpPr/>
              <p:nvPr/>
            </p:nvSpPr>
            <p:spPr>
              <a:xfrm>
                <a:off x="220647" y="3553688"/>
                <a:ext cx="1775024" cy="105807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600" b="1" dirty="0" smtClean="0"/>
                  <a:t>Redução </a:t>
                </a:r>
                <a:r>
                  <a:rPr lang="pt-BR" sz="1600" b="1" i="1" dirty="0" smtClean="0"/>
                  <a:t>Consolidada</a:t>
                </a:r>
                <a:r>
                  <a:rPr lang="pt-BR" sz="1600" b="1" dirty="0" smtClean="0"/>
                  <a:t/>
                </a:r>
                <a:br>
                  <a:rPr lang="pt-BR" sz="1600" b="1" dirty="0" smtClean="0"/>
                </a:br>
                <a:r>
                  <a:rPr lang="pt-BR" sz="1600" b="1" dirty="0" smtClean="0"/>
                  <a:t> Ago </a:t>
                </a:r>
                <a:r>
                  <a:rPr lang="pt-BR" sz="1600" b="1" dirty="0"/>
                  <a:t>/ </a:t>
                </a:r>
                <a:r>
                  <a:rPr lang="pt-BR" sz="1600" b="1" dirty="0" smtClean="0"/>
                  <a:t>Dez</a:t>
                </a:r>
                <a:endParaRPr lang="pt-BR" sz="1600" b="1" dirty="0"/>
              </a:p>
              <a:p>
                <a:pPr algn="ctr"/>
                <a:r>
                  <a:rPr lang="pt-BR" sz="1600" b="1" dirty="0" smtClean="0"/>
                  <a:t>-80,32%</a:t>
                </a:r>
                <a:endParaRPr lang="pt-BR" sz="1600" b="1" dirty="0"/>
              </a:p>
            </p:txBody>
          </p:sp>
          <p:sp>
            <p:nvSpPr>
              <p:cNvPr id="19" name="Retângulo de cantos arredondados 18"/>
              <p:cNvSpPr/>
              <p:nvPr/>
            </p:nvSpPr>
            <p:spPr>
              <a:xfrm>
                <a:off x="2138011" y="3553689"/>
                <a:ext cx="1775024" cy="1058077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600" b="1" dirty="0"/>
                  <a:t>Redução </a:t>
                </a:r>
                <a:r>
                  <a:rPr lang="pt-BR" sz="1600" b="1" i="1" dirty="0" smtClean="0"/>
                  <a:t>Projetada</a:t>
                </a:r>
                <a:r>
                  <a:rPr lang="pt-BR" sz="1600" b="1" i="1" dirty="0"/>
                  <a:t/>
                </a:r>
                <a:br>
                  <a:rPr lang="pt-BR" sz="1600" b="1" i="1" dirty="0"/>
                </a:br>
                <a:r>
                  <a:rPr lang="pt-BR" sz="1600" b="1" dirty="0"/>
                  <a:t> </a:t>
                </a:r>
                <a:r>
                  <a:rPr lang="pt-BR" sz="1600" b="1" dirty="0" err="1"/>
                  <a:t>Ago</a:t>
                </a:r>
                <a:r>
                  <a:rPr lang="pt-BR" sz="1600" b="1" dirty="0"/>
                  <a:t> / </a:t>
                </a:r>
                <a:r>
                  <a:rPr lang="pt-BR" sz="1600" b="1" dirty="0" err="1" smtClean="0"/>
                  <a:t>Fev</a:t>
                </a:r>
                <a:endParaRPr lang="pt-BR" sz="1600" b="1" dirty="0"/>
              </a:p>
              <a:p>
                <a:pPr algn="ctr"/>
                <a:r>
                  <a:rPr lang="pt-BR" sz="1600" b="1" dirty="0" smtClean="0"/>
                  <a:t>-91,43%</a:t>
                </a:r>
                <a:endParaRPr lang="pt-BR" sz="1600" b="1" dirty="0"/>
              </a:p>
            </p:txBody>
          </p:sp>
          <p:pic>
            <p:nvPicPr>
              <p:cNvPr id="17" name="Imagem 16"/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87919" y="2822883"/>
                <a:ext cx="247650" cy="1762125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/>
            </p:spPr>
          </p:pic>
          <p:sp>
            <p:nvSpPr>
              <p:cNvPr id="3" name="CaixaDeTexto 2"/>
              <p:cNvSpPr txBox="1"/>
              <p:nvPr/>
            </p:nvSpPr>
            <p:spPr>
              <a:xfrm>
                <a:off x="1" y="4848225"/>
                <a:ext cx="5067299" cy="246221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000" dirty="0" smtClean="0">
                    <a:solidFill>
                      <a:schemeClr val="bg1">
                        <a:lumMod val="65000"/>
                      </a:schemeClr>
                    </a:solidFill>
                  </a:rPr>
                  <a:t>Informações retiradas dos indicadores de SLA e </a:t>
                </a:r>
                <a:r>
                  <a:rPr lang="pt-BR" sz="1000" dirty="0" err="1" smtClean="0">
                    <a:solidFill>
                      <a:schemeClr val="bg1">
                        <a:lumMod val="65000"/>
                      </a:schemeClr>
                    </a:solidFill>
                  </a:rPr>
                  <a:t>tProcess</a:t>
                </a:r>
                <a:r>
                  <a:rPr lang="pt-BR" sz="1000" dirty="0" smtClean="0">
                    <a:solidFill>
                      <a:schemeClr val="bg1">
                        <a:lumMod val="65000"/>
                      </a:schemeClr>
                    </a:solidFill>
                  </a:rPr>
                  <a:t>! referentes ao período de 01 à 16/02.</a:t>
                </a:r>
                <a:endParaRPr lang="pt-BR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p:grpSp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0" y="2436"/>
              <a:ext cx="786452" cy="774259"/>
            </a:xfrm>
            <a:prstGeom prst="rect">
              <a:avLst/>
            </a:prstGeom>
          </p:spPr>
        </p:pic>
      </p:grpSp>
      <p:pic>
        <p:nvPicPr>
          <p:cNvPr id="26" name="Picture 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sp>
        <p:nvSpPr>
          <p:cNvPr id="35" name="CaixaDeTexto 34"/>
          <p:cNvSpPr txBox="1"/>
          <p:nvPr/>
        </p:nvSpPr>
        <p:spPr>
          <a:xfrm>
            <a:off x="514848" y="2328058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 smtClean="0">
                <a:solidFill>
                  <a:schemeClr val="accent2"/>
                </a:solidFill>
              </a:rPr>
              <a:t>-72,2%</a:t>
            </a:r>
            <a:endParaRPr lang="pt-BR" sz="1100" b="1" dirty="0">
              <a:solidFill>
                <a:schemeClr val="accent2"/>
              </a:solidFill>
            </a:endParaRPr>
          </a:p>
        </p:txBody>
      </p:sp>
      <p:sp>
        <p:nvSpPr>
          <p:cNvPr id="36" name="CaixaDeTexto 35"/>
          <p:cNvSpPr txBox="1"/>
          <p:nvPr/>
        </p:nvSpPr>
        <p:spPr>
          <a:xfrm>
            <a:off x="1307813" y="2318022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 smtClean="0">
                <a:solidFill>
                  <a:schemeClr val="accent2"/>
                </a:solidFill>
              </a:rPr>
              <a:t>-29,2%</a:t>
            </a:r>
            <a:endParaRPr lang="pt-BR" sz="1100" b="1" dirty="0">
              <a:solidFill>
                <a:schemeClr val="accent2"/>
              </a:solidFill>
            </a:endParaRPr>
          </a:p>
        </p:txBody>
      </p:sp>
      <p:sp>
        <p:nvSpPr>
          <p:cNvPr id="37" name="CaixaDeTexto 36"/>
          <p:cNvSpPr txBox="1"/>
          <p:nvPr/>
        </p:nvSpPr>
        <p:spPr>
          <a:xfrm>
            <a:off x="2073857" y="2333767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 smtClean="0">
                <a:solidFill>
                  <a:schemeClr val="accent2"/>
                </a:solidFill>
              </a:rPr>
              <a:t>-28,6%</a:t>
            </a:r>
            <a:endParaRPr lang="pt-BR" sz="1100" b="1" dirty="0">
              <a:solidFill>
                <a:schemeClr val="accent2"/>
              </a:solidFill>
            </a:endParaRPr>
          </a:p>
        </p:txBody>
      </p:sp>
      <p:sp>
        <p:nvSpPr>
          <p:cNvPr id="38" name="CaixaDeTexto 37"/>
          <p:cNvSpPr txBox="1"/>
          <p:nvPr/>
        </p:nvSpPr>
        <p:spPr>
          <a:xfrm>
            <a:off x="5075343" y="2317782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 smtClean="0">
                <a:solidFill>
                  <a:schemeClr val="accent2"/>
                </a:solidFill>
              </a:rPr>
              <a:t>-71,3%</a:t>
            </a:r>
            <a:endParaRPr lang="pt-BR" sz="1100" b="1" dirty="0">
              <a:solidFill>
                <a:schemeClr val="accent2"/>
              </a:solidFill>
            </a:endParaRPr>
          </a:p>
        </p:txBody>
      </p:sp>
      <p:sp>
        <p:nvSpPr>
          <p:cNvPr id="39" name="CaixaDeTexto 38"/>
          <p:cNvSpPr txBox="1"/>
          <p:nvPr/>
        </p:nvSpPr>
        <p:spPr>
          <a:xfrm>
            <a:off x="5871161" y="2312172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 smtClean="0">
                <a:solidFill>
                  <a:schemeClr val="accent2"/>
                </a:solidFill>
              </a:rPr>
              <a:t>-31,5%</a:t>
            </a:r>
            <a:endParaRPr lang="pt-BR" sz="1100" b="1" dirty="0">
              <a:solidFill>
                <a:schemeClr val="accent2"/>
              </a:solidFill>
            </a:endParaRPr>
          </a:p>
        </p:txBody>
      </p:sp>
      <p:sp>
        <p:nvSpPr>
          <p:cNvPr id="40" name="CaixaDeTexto 39"/>
          <p:cNvSpPr txBox="1"/>
          <p:nvPr/>
        </p:nvSpPr>
        <p:spPr>
          <a:xfrm>
            <a:off x="6642177" y="2312172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 smtClean="0">
                <a:solidFill>
                  <a:schemeClr val="accent2"/>
                </a:solidFill>
              </a:rPr>
              <a:t>-25,0%</a:t>
            </a:r>
            <a:endParaRPr lang="pt-BR" sz="1100" b="1" dirty="0">
              <a:solidFill>
                <a:schemeClr val="accent2"/>
              </a:solidFill>
            </a:endParaRPr>
          </a:p>
        </p:txBody>
      </p:sp>
      <p:sp>
        <p:nvSpPr>
          <p:cNvPr id="41" name="CaixaDeTexto 40"/>
          <p:cNvSpPr txBox="1"/>
          <p:nvPr/>
        </p:nvSpPr>
        <p:spPr>
          <a:xfrm>
            <a:off x="7395830" y="2327416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 smtClean="0">
                <a:solidFill>
                  <a:schemeClr val="accent2"/>
                </a:solidFill>
              </a:rPr>
              <a:t>+12,5%</a:t>
            </a:r>
            <a:endParaRPr lang="pt-BR" sz="11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556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Agrupar 1"/>
          <p:cNvGrpSpPr/>
          <p:nvPr/>
        </p:nvGrpSpPr>
        <p:grpSpPr>
          <a:xfrm>
            <a:off x="3518" y="69812"/>
            <a:ext cx="9144000" cy="5049962"/>
            <a:chOff x="1" y="98302"/>
            <a:chExt cx="9144000" cy="5049962"/>
          </a:xfrm>
        </p:grpSpPr>
        <p:sp>
          <p:nvSpPr>
            <p:cNvPr id="6" name="CaixaDeTexto 5"/>
            <p:cNvSpPr txBox="1"/>
            <p:nvPr/>
          </p:nvSpPr>
          <p:spPr>
            <a:xfrm>
              <a:off x="2039091" y="300128"/>
              <a:ext cx="184731" cy="461665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none" rtlCol="0">
              <a:spAutoFit/>
            </a:bodyPr>
            <a:lstStyle/>
            <a:p>
              <a:endParaRPr lang="pt-BR" sz="2400" dirty="0"/>
            </a:p>
          </p:txBody>
        </p:sp>
        <p:sp>
          <p:nvSpPr>
            <p:cNvPr id="20" name="Title 1"/>
            <p:cNvSpPr txBox="1">
              <a:spLocks/>
            </p:cNvSpPr>
            <p:nvPr/>
          </p:nvSpPr>
          <p:spPr>
            <a:xfrm>
              <a:off x="754515" y="98302"/>
              <a:ext cx="6254098" cy="5604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vert="horz" lIns="91440" tIns="45720" rIns="91440" bIns="45720" rtlCol="0" anchor="ctr">
              <a:normAutofit fontScale="85000" lnSpcReduction="1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buClr>
                  <a:srgbClr val="800000"/>
                </a:buClr>
              </a:pPr>
              <a:r>
                <a:rPr lang="pt-BR" sz="32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2. Indicadores: Total de Incidentes</a:t>
              </a:r>
              <a:endParaRPr lang="pt-BR" sz="20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graphicFrame>
          <p:nvGraphicFramePr>
            <p:cNvPr id="23" name="Gráfico 22"/>
            <p:cNvGraphicFramePr/>
            <p:nvPr>
              <p:extLst/>
            </p:nvPr>
          </p:nvGraphicFramePr>
          <p:xfrm>
            <a:off x="1133035" y="504650"/>
            <a:ext cx="5875578" cy="300079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24" name="CaixaDeTexto 23"/>
            <p:cNvSpPr txBox="1"/>
            <p:nvPr/>
          </p:nvSpPr>
          <p:spPr>
            <a:xfrm>
              <a:off x="1904443" y="2614964"/>
              <a:ext cx="703482" cy="276999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 smtClean="0">
                  <a:solidFill>
                    <a:schemeClr val="accent2"/>
                  </a:solidFill>
                </a:rPr>
                <a:t>-1,01%</a:t>
              </a:r>
              <a:endParaRPr lang="pt-BR" sz="1200" b="1" dirty="0">
                <a:solidFill>
                  <a:schemeClr val="accent2"/>
                </a:solidFill>
              </a:endParaRPr>
            </a:p>
          </p:txBody>
        </p:sp>
        <p:sp>
          <p:nvSpPr>
            <p:cNvPr id="25" name="CaixaDeTexto 24"/>
            <p:cNvSpPr txBox="1"/>
            <p:nvPr/>
          </p:nvSpPr>
          <p:spPr>
            <a:xfrm>
              <a:off x="3013240" y="2627408"/>
              <a:ext cx="732185" cy="276999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 smtClean="0">
                  <a:solidFill>
                    <a:schemeClr val="accent2"/>
                  </a:solidFill>
                </a:rPr>
                <a:t>-19,32%</a:t>
              </a:r>
              <a:endParaRPr lang="pt-BR" sz="1200" b="1" dirty="0">
                <a:solidFill>
                  <a:schemeClr val="accent2"/>
                </a:solidFill>
              </a:endParaRPr>
            </a:p>
          </p:txBody>
        </p:sp>
        <p:pic>
          <p:nvPicPr>
            <p:cNvPr id="17" name="Imagem 1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7919" y="2822883"/>
              <a:ext cx="247650" cy="176212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18" name="CaixaDeTexto 17"/>
            <p:cNvSpPr txBox="1"/>
            <p:nvPr/>
          </p:nvSpPr>
          <p:spPr>
            <a:xfrm>
              <a:off x="4121138" y="2627408"/>
              <a:ext cx="732185" cy="276999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 smtClean="0">
                  <a:solidFill>
                    <a:schemeClr val="accent2"/>
                  </a:solidFill>
                </a:rPr>
                <a:t>+11,67%</a:t>
              </a:r>
              <a:endParaRPr lang="pt-BR" sz="1200" b="1" dirty="0">
                <a:solidFill>
                  <a:schemeClr val="accent2"/>
                </a:solidFill>
              </a:endParaRPr>
            </a:p>
          </p:txBody>
        </p:sp>
        <p:sp>
          <p:nvSpPr>
            <p:cNvPr id="3" name="CaixaDeTexto 2"/>
            <p:cNvSpPr txBox="1"/>
            <p:nvPr/>
          </p:nvSpPr>
          <p:spPr>
            <a:xfrm>
              <a:off x="1" y="4848225"/>
              <a:ext cx="5948978" cy="261610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just"/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Informações retiradas dos indicadores de SLA e </a:t>
              </a:r>
              <a:r>
                <a:rPr lang="pt-BR" sz="1100" dirty="0" err="1">
                  <a:solidFill>
                    <a:schemeClr val="bg1">
                      <a:lumMod val="65000"/>
                    </a:schemeClr>
                  </a:solidFill>
                </a:rPr>
                <a:t>tProcess</a:t>
              </a:r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! referentes ao período de 01 à </a:t>
              </a:r>
              <a:r>
                <a:rPr lang="pt-BR" sz="1100" dirty="0" smtClean="0">
                  <a:solidFill>
                    <a:schemeClr val="bg1">
                      <a:lumMod val="65000"/>
                    </a:schemeClr>
                  </a:solidFill>
                </a:rPr>
                <a:t>16/02.</a:t>
              </a:r>
              <a:endParaRPr lang="pt-BR" sz="11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pic>
        <p:nvPicPr>
          <p:cNvPr id="4" name="Imagem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611" y="3353404"/>
            <a:ext cx="5716727" cy="1443469"/>
          </a:xfrm>
          <a:prstGeom prst="rect">
            <a:avLst/>
          </a:prstGeom>
        </p:spPr>
      </p:pic>
      <p:sp>
        <p:nvSpPr>
          <p:cNvPr id="28" name="CaixaDeTexto 27"/>
          <p:cNvSpPr txBox="1"/>
          <p:nvPr/>
        </p:nvSpPr>
        <p:spPr>
          <a:xfrm>
            <a:off x="5151763" y="2628419"/>
            <a:ext cx="732185" cy="276999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 smtClean="0">
                <a:solidFill>
                  <a:schemeClr val="accent2"/>
                </a:solidFill>
              </a:rPr>
              <a:t>-49,22%</a:t>
            </a:r>
            <a:endParaRPr lang="pt-BR" sz="12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7596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/>
          <p:cNvGrpSpPr/>
          <p:nvPr/>
        </p:nvGrpSpPr>
        <p:grpSpPr>
          <a:xfrm>
            <a:off x="0" y="2436"/>
            <a:ext cx="9144001" cy="5145828"/>
            <a:chOff x="0" y="2436"/>
            <a:chExt cx="9144001" cy="5145828"/>
          </a:xfrm>
        </p:grpSpPr>
        <p:grpSp>
          <p:nvGrpSpPr>
            <p:cNvPr id="2" name="Agrupar 1"/>
            <p:cNvGrpSpPr/>
            <p:nvPr/>
          </p:nvGrpSpPr>
          <p:grpSpPr>
            <a:xfrm>
              <a:off x="734184" y="153259"/>
              <a:ext cx="8409817" cy="4995005"/>
              <a:chOff x="734184" y="153259"/>
              <a:chExt cx="8409817" cy="4995005"/>
            </a:xfrm>
          </p:grpSpPr>
          <p:sp>
            <p:nvSpPr>
              <p:cNvPr id="6" name="CaixaDeTexto 5"/>
              <p:cNvSpPr txBox="1"/>
              <p:nvPr/>
            </p:nvSpPr>
            <p:spPr>
              <a:xfrm>
                <a:off x="2039091" y="300128"/>
                <a:ext cx="184731" cy="369332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none" rtlCol="0">
                <a:spAutoFit/>
              </a:bodyPr>
              <a:lstStyle/>
              <a:p>
                <a:endParaRPr lang="pt-BR" dirty="0"/>
              </a:p>
            </p:txBody>
          </p:sp>
          <p:sp>
            <p:nvSpPr>
              <p:cNvPr id="20" name="Title 1"/>
              <p:cNvSpPr txBox="1">
                <a:spLocks/>
              </p:cNvSpPr>
              <p:nvPr/>
            </p:nvSpPr>
            <p:spPr>
              <a:xfrm>
                <a:off x="734184" y="153259"/>
                <a:ext cx="6254098" cy="560400"/>
              </a:xfrm>
              <a:prstGeom prst="rect">
                <a:avLst/>
              </a:prstGeom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4572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>
                  <a:buClr>
                    <a:srgbClr val="800000"/>
                  </a:buClr>
                </a:pPr>
                <a:r>
                  <a:rPr lang="pt-BR" sz="2800" b="1" dirty="0">
                    <a:solidFill>
                      <a:schemeClr val="tx2"/>
                    </a:solidFill>
                    <a:latin typeface="Arial" pitchFamily="34" charset="0"/>
                    <a:cs typeface="Arial" pitchFamily="34" charset="0"/>
                  </a:rPr>
                  <a:t>3</a:t>
                </a:r>
                <a:r>
                  <a:rPr lang="pt-BR" sz="2800" b="1" dirty="0" smtClean="0">
                    <a:solidFill>
                      <a:schemeClr val="tx2"/>
                    </a:solidFill>
                    <a:latin typeface="Arial" pitchFamily="34" charset="0"/>
                    <a:cs typeface="Arial" pitchFamily="34" charset="0"/>
                  </a:rPr>
                  <a:t>. Gestão de problemas</a:t>
                </a:r>
                <a:endParaRPr lang="pt-BR" sz="18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780" t="78172" r="18395" b="12686"/>
              <a:stretch/>
            </p:blipFill>
            <p:spPr bwMode="auto">
              <a:xfrm>
                <a:off x="8188658" y="4384319"/>
                <a:ext cx="955343" cy="763945"/>
              </a:xfrm>
              <a:prstGeom prst="rect">
                <a:avLst/>
              </a:prstGeom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7" name="Imagem 16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87919" y="2822883"/>
                <a:ext cx="247650" cy="1762125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/>
            </p:spPr>
          </p:pic>
        </p:grpSp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2436"/>
              <a:ext cx="786452" cy="774259"/>
            </a:xfrm>
            <a:prstGeom prst="rect">
              <a:avLst/>
            </a:prstGeom>
          </p:spPr>
        </p:pic>
      </p:grpSp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graphicFrame>
        <p:nvGraphicFramePr>
          <p:cNvPr id="12" name="Objeto 11"/>
          <p:cNvGraphicFramePr>
            <a:graphicFrameLocks noChangeAspect="1"/>
          </p:cNvGraphicFramePr>
          <p:nvPr>
            <p:extLst/>
          </p:nvPr>
        </p:nvGraphicFramePr>
        <p:xfrm>
          <a:off x="205562" y="973396"/>
          <a:ext cx="8690422" cy="34109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7" name="Planilha" r:id="rId8" imgW="11572905" imgH="3248111" progId="Excel.Sheet.12">
                  <p:embed/>
                </p:oleObj>
              </mc:Choice>
              <mc:Fallback>
                <p:oleObj name="Planilha" r:id="rId8" imgW="11572905" imgH="3248111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05562" y="973396"/>
                        <a:ext cx="8690422" cy="34109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31948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Gráfico 11"/>
          <p:cNvGraphicFramePr>
            <a:graphicFrameLocks noGrp="1" noChangeAspect="1"/>
          </p:cNvGraphicFramePr>
          <p:nvPr>
            <p:extLst/>
          </p:nvPr>
        </p:nvGraphicFramePr>
        <p:xfrm>
          <a:off x="80084" y="639978"/>
          <a:ext cx="7230630" cy="45082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2" name="Agrupar 1"/>
          <p:cNvGrpSpPr/>
          <p:nvPr/>
        </p:nvGrpSpPr>
        <p:grpSpPr>
          <a:xfrm>
            <a:off x="1" y="108241"/>
            <a:ext cx="9144000" cy="5049962"/>
            <a:chOff x="1" y="98302"/>
            <a:chExt cx="9144000" cy="5049962"/>
          </a:xfrm>
        </p:grpSpPr>
        <p:sp>
          <p:nvSpPr>
            <p:cNvPr id="6" name="CaixaDeTexto 5"/>
            <p:cNvSpPr txBox="1"/>
            <p:nvPr/>
          </p:nvSpPr>
          <p:spPr>
            <a:xfrm>
              <a:off x="2039091" y="300128"/>
              <a:ext cx="184731" cy="461665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none" rtlCol="0">
              <a:spAutoFit/>
            </a:bodyPr>
            <a:lstStyle/>
            <a:p>
              <a:endParaRPr lang="pt-BR" sz="2400" dirty="0"/>
            </a:p>
          </p:txBody>
        </p:sp>
        <p:sp>
          <p:nvSpPr>
            <p:cNvPr id="20" name="Title 1"/>
            <p:cNvSpPr txBox="1">
              <a:spLocks/>
            </p:cNvSpPr>
            <p:nvPr/>
          </p:nvSpPr>
          <p:spPr>
            <a:xfrm>
              <a:off x="754515" y="98302"/>
              <a:ext cx="6254098" cy="5604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vert="horz" lIns="91440" tIns="45720" rIns="91440" bIns="45720" rtlCol="0" anchor="ctr">
              <a:normAutofit fontScale="77500" lnSpcReduction="2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buClr>
                  <a:srgbClr val="800000"/>
                </a:buClr>
              </a:pPr>
              <a:r>
                <a:rPr lang="pt-BR" sz="32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2. Indicadores: Total de Incidentes Alto</a:t>
              </a:r>
              <a:endParaRPr lang="pt-BR" sz="20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7" name="Imagem 1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7919" y="2822883"/>
              <a:ext cx="247650" cy="176212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3" name="CaixaDeTexto 2"/>
            <p:cNvSpPr txBox="1"/>
            <p:nvPr/>
          </p:nvSpPr>
          <p:spPr>
            <a:xfrm>
              <a:off x="1" y="4848225"/>
              <a:ext cx="5948978" cy="261610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just"/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Informações retiradas dos indicadores de SLA e </a:t>
              </a:r>
              <a:r>
                <a:rPr lang="pt-BR" sz="1100" dirty="0" err="1">
                  <a:solidFill>
                    <a:schemeClr val="bg1">
                      <a:lumMod val="65000"/>
                    </a:schemeClr>
                  </a:solidFill>
                </a:rPr>
                <a:t>tProcess</a:t>
              </a:r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! referentes ao período de 01 à </a:t>
              </a:r>
              <a:r>
                <a:rPr lang="pt-BR" sz="1100" dirty="0" smtClean="0">
                  <a:solidFill>
                    <a:schemeClr val="bg1">
                      <a:lumMod val="65000"/>
                    </a:schemeClr>
                  </a:solidFill>
                </a:rPr>
                <a:t>16/02.</a:t>
              </a:r>
              <a:endParaRPr lang="pt-BR" sz="11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pic>
        <p:nvPicPr>
          <p:cNvPr id="4" name="Imagem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sp>
        <p:nvSpPr>
          <p:cNvPr id="13" name="Retângulo de cantos arredondados 12"/>
          <p:cNvSpPr>
            <a:spLocks noChangeAspect="1"/>
          </p:cNvSpPr>
          <p:nvPr/>
        </p:nvSpPr>
        <p:spPr>
          <a:xfrm>
            <a:off x="7527600" y="740192"/>
            <a:ext cx="1440000" cy="352000"/>
          </a:xfrm>
          <a:prstGeom prst="roundRect">
            <a:avLst/>
          </a:prstGeom>
          <a:solidFill>
            <a:srgbClr val="92D05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smtClean="0"/>
              <a:t>Meta &lt; 294</a:t>
            </a:r>
            <a:endParaRPr lang="pt-BR" sz="1600" b="1" dirty="0"/>
          </a:p>
        </p:txBody>
      </p:sp>
      <p:sp>
        <p:nvSpPr>
          <p:cNvPr id="14" name="Retângulo de cantos arredondados 12"/>
          <p:cNvSpPr>
            <a:spLocks noChangeAspect="1"/>
          </p:cNvSpPr>
          <p:nvPr/>
        </p:nvSpPr>
        <p:spPr>
          <a:xfrm>
            <a:off x="7527600" y="1186770"/>
            <a:ext cx="1440000" cy="352000"/>
          </a:xfrm>
          <a:prstGeom prst="roundRect">
            <a:avLst/>
          </a:prstGeom>
          <a:solidFill>
            <a:srgbClr val="0070C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smtClean="0"/>
              <a:t>Atual 128</a:t>
            </a:r>
            <a:endParaRPr lang="pt-BR" sz="1600" b="1" dirty="0"/>
          </a:p>
        </p:txBody>
      </p:sp>
      <p:sp>
        <p:nvSpPr>
          <p:cNvPr id="7" name="CaixaDeTexto 6"/>
          <p:cNvSpPr txBox="1"/>
          <p:nvPr/>
        </p:nvSpPr>
        <p:spPr>
          <a:xfrm>
            <a:off x="7444292" y="1818042"/>
            <a:ext cx="144362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 smtClean="0"/>
              <a:t>04 - Itaú</a:t>
            </a:r>
          </a:p>
          <a:p>
            <a:r>
              <a:rPr lang="pt-BR" sz="1400" dirty="0" smtClean="0"/>
              <a:t>11 - TAM, Santander e Souza Cruz. </a:t>
            </a:r>
          </a:p>
          <a:p>
            <a:r>
              <a:rPr lang="pt-BR" sz="1400" dirty="0" smtClean="0"/>
              <a:t>15 - </a:t>
            </a:r>
            <a:r>
              <a:rPr lang="pt-BR" sz="1400" dirty="0" err="1" smtClean="0"/>
              <a:t>Logger</a:t>
            </a:r>
            <a:r>
              <a:rPr lang="pt-BR" sz="1400" dirty="0" smtClean="0"/>
              <a:t> e Uras Santander e TAM.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9013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Gráfico 14"/>
          <p:cNvGraphicFramePr>
            <a:graphicFrameLocks noGrp="1"/>
          </p:cNvGraphicFramePr>
          <p:nvPr>
            <p:extLst/>
          </p:nvPr>
        </p:nvGraphicFramePr>
        <p:xfrm>
          <a:off x="1" y="560806"/>
          <a:ext cx="7230634" cy="45082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2" name="Agrupar 1"/>
          <p:cNvGrpSpPr/>
          <p:nvPr/>
        </p:nvGrpSpPr>
        <p:grpSpPr>
          <a:xfrm>
            <a:off x="1" y="108241"/>
            <a:ext cx="9144000" cy="5049962"/>
            <a:chOff x="1" y="98302"/>
            <a:chExt cx="9144000" cy="5049962"/>
          </a:xfrm>
        </p:grpSpPr>
        <p:sp>
          <p:nvSpPr>
            <p:cNvPr id="6" name="CaixaDeTexto 5"/>
            <p:cNvSpPr txBox="1"/>
            <p:nvPr/>
          </p:nvSpPr>
          <p:spPr>
            <a:xfrm>
              <a:off x="2039091" y="300128"/>
              <a:ext cx="184731" cy="461665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none" rtlCol="0">
              <a:spAutoFit/>
            </a:bodyPr>
            <a:lstStyle/>
            <a:p>
              <a:endParaRPr lang="pt-BR" sz="2400" dirty="0"/>
            </a:p>
          </p:txBody>
        </p:sp>
        <p:sp>
          <p:nvSpPr>
            <p:cNvPr id="20" name="Title 1"/>
            <p:cNvSpPr txBox="1">
              <a:spLocks/>
            </p:cNvSpPr>
            <p:nvPr/>
          </p:nvSpPr>
          <p:spPr>
            <a:xfrm>
              <a:off x="754515" y="98302"/>
              <a:ext cx="6254098" cy="5604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vert="horz" lIns="91440" tIns="45720" rIns="91440" bIns="45720" rtlCol="0" anchor="ctr">
              <a:normAutofit fontScale="70000" lnSpcReduction="2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buClr>
                  <a:srgbClr val="800000"/>
                </a:buClr>
              </a:pPr>
              <a:r>
                <a:rPr lang="pt-BR" sz="32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2. Indicadores: Total de Incidentes Médio</a:t>
              </a:r>
              <a:endParaRPr lang="pt-BR" sz="20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7" name="Imagem 1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7919" y="2822883"/>
              <a:ext cx="247650" cy="176212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3" name="CaixaDeTexto 2"/>
            <p:cNvSpPr txBox="1"/>
            <p:nvPr/>
          </p:nvSpPr>
          <p:spPr>
            <a:xfrm>
              <a:off x="1" y="4848225"/>
              <a:ext cx="5948978" cy="261610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just"/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Informações retiradas dos indicadores de SLA e </a:t>
              </a:r>
              <a:r>
                <a:rPr lang="pt-BR" sz="1100" dirty="0" err="1">
                  <a:solidFill>
                    <a:schemeClr val="bg1">
                      <a:lumMod val="65000"/>
                    </a:schemeClr>
                  </a:solidFill>
                </a:rPr>
                <a:t>tProcess</a:t>
              </a:r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! referentes ao período de 01 à </a:t>
              </a:r>
              <a:r>
                <a:rPr lang="pt-BR" sz="1100" dirty="0" smtClean="0">
                  <a:solidFill>
                    <a:schemeClr val="bg1">
                      <a:lumMod val="65000"/>
                    </a:schemeClr>
                  </a:solidFill>
                </a:rPr>
                <a:t>16/02.</a:t>
              </a:r>
              <a:endParaRPr lang="pt-BR" sz="11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pic>
        <p:nvPicPr>
          <p:cNvPr id="4" name="Imagem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sp>
        <p:nvSpPr>
          <p:cNvPr id="13" name="Retângulo de cantos arredondados 12"/>
          <p:cNvSpPr>
            <a:spLocks noChangeAspect="1"/>
          </p:cNvSpPr>
          <p:nvPr/>
        </p:nvSpPr>
        <p:spPr>
          <a:xfrm>
            <a:off x="7525761" y="714053"/>
            <a:ext cx="1440000" cy="352000"/>
          </a:xfrm>
          <a:prstGeom prst="roundRect">
            <a:avLst/>
          </a:prstGeom>
          <a:solidFill>
            <a:srgbClr val="92D05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smtClean="0"/>
              <a:t>Meta &lt; 13.076</a:t>
            </a:r>
            <a:endParaRPr lang="pt-BR" sz="1600" b="1" dirty="0"/>
          </a:p>
        </p:txBody>
      </p:sp>
      <p:sp>
        <p:nvSpPr>
          <p:cNvPr id="12" name="Retângulo de cantos arredondados 12"/>
          <p:cNvSpPr>
            <a:spLocks noChangeAspect="1"/>
          </p:cNvSpPr>
          <p:nvPr/>
        </p:nvSpPr>
        <p:spPr>
          <a:xfrm>
            <a:off x="7525761" y="1199778"/>
            <a:ext cx="1440000" cy="352000"/>
          </a:xfrm>
          <a:prstGeom prst="roundRect">
            <a:avLst/>
          </a:prstGeom>
          <a:solidFill>
            <a:srgbClr val="0070C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smtClean="0"/>
              <a:t>Atual 6.740</a:t>
            </a:r>
            <a:endParaRPr lang="pt-BR" sz="1600" b="1" dirty="0"/>
          </a:p>
        </p:txBody>
      </p:sp>
    </p:spTree>
    <p:extLst>
      <p:ext uri="{BB962C8B-B14F-4D97-AF65-F5344CB8AC3E}">
        <p14:creationId xmlns:p14="http://schemas.microsoft.com/office/powerpoint/2010/main" val="2599236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áfico 12"/>
          <p:cNvGraphicFramePr>
            <a:graphicFrameLocks noGrp="1"/>
          </p:cNvGraphicFramePr>
          <p:nvPr>
            <p:extLst/>
          </p:nvPr>
        </p:nvGraphicFramePr>
        <p:xfrm>
          <a:off x="1" y="639978"/>
          <a:ext cx="7230634" cy="45082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2" name="Agrupar 1"/>
          <p:cNvGrpSpPr/>
          <p:nvPr/>
        </p:nvGrpSpPr>
        <p:grpSpPr>
          <a:xfrm>
            <a:off x="1" y="108241"/>
            <a:ext cx="9144000" cy="5049962"/>
            <a:chOff x="1" y="98302"/>
            <a:chExt cx="9144000" cy="5049962"/>
          </a:xfrm>
        </p:grpSpPr>
        <p:sp>
          <p:nvSpPr>
            <p:cNvPr id="6" name="CaixaDeTexto 5"/>
            <p:cNvSpPr txBox="1"/>
            <p:nvPr/>
          </p:nvSpPr>
          <p:spPr>
            <a:xfrm>
              <a:off x="2039091" y="300128"/>
              <a:ext cx="184731" cy="461665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none" rtlCol="0">
              <a:spAutoFit/>
            </a:bodyPr>
            <a:lstStyle/>
            <a:p>
              <a:endParaRPr lang="pt-BR" sz="2400" dirty="0"/>
            </a:p>
          </p:txBody>
        </p:sp>
        <p:sp>
          <p:nvSpPr>
            <p:cNvPr id="20" name="Title 1"/>
            <p:cNvSpPr txBox="1">
              <a:spLocks/>
            </p:cNvSpPr>
            <p:nvPr/>
          </p:nvSpPr>
          <p:spPr>
            <a:xfrm>
              <a:off x="754515" y="98302"/>
              <a:ext cx="6254098" cy="5604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vert="horz" lIns="91440" tIns="45720" rIns="91440" bIns="45720" rtlCol="0" anchor="ctr">
              <a:normAutofit fontScale="70000" lnSpcReduction="2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buClr>
                  <a:srgbClr val="800000"/>
                </a:buClr>
              </a:pPr>
              <a:r>
                <a:rPr lang="pt-BR" sz="32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2. Indicadores: Total de Incidentes Baixo</a:t>
              </a: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7" name="Imagem 1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7919" y="2822883"/>
              <a:ext cx="247650" cy="176212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3" name="CaixaDeTexto 2"/>
            <p:cNvSpPr txBox="1"/>
            <p:nvPr/>
          </p:nvSpPr>
          <p:spPr>
            <a:xfrm>
              <a:off x="1" y="4848225"/>
              <a:ext cx="5948978" cy="261610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just"/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Informações retiradas dos indicadores de SLA e </a:t>
              </a:r>
              <a:r>
                <a:rPr lang="pt-BR" sz="1100" dirty="0" err="1">
                  <a:solidFill>
                    <a:schemeClr val="bg1">
                      <a:lumMod val="65000"/>
                    </a:schemeClr>
                  </a:solidFill>
                </a:rPr>
                <a:t>tProcess</a:t>
              </a:r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! referentes ao período de 01 à </a:t>
              </a:r>
              <a:r>
                <a:rPr lang="pt-BR" sz="1100" dirty="0" smtClean="0">
                  <a:solidFill>
                    <a:schemeClr val="bg1">
                      <a:lumMod val="65000"/>
                    </a:schemeClr>
                  </a:solidFill>
                </a:rPr>
                <a:t>16/02.</a:t>
              </a:r>
              <a:endParaRPr lang="pt-BR" sz="11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pic>
        <p:nvPicPr>
          <p:cNvPr id="4" name="Imagem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sp>
        <p:nvSpPr>
          <p:cNvPr id="14" name="Retângulo de cantos arredondados 12"/>
          <p:cNvSpPr>
            <a:spLocks noChangeAspect="1"/>
          </p:cNvSpPr>
          <p:nvPr/>
        </p:nvSpPr>
        <p:spPr>
          <a:xfrm>
            <a:off x="7525761" y="714053"/>
            <a:ext cx="1440000" cy="352000"/>
          </a:xfrm>
          <a:prstGeom prst="roundRect">
            <a:avLst/>
          </a:prstGeom>
          <a:solidFill>
            <a:srgbClr val="92D05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smtClean="0"/>
              <a:t>Meta &lt; 8.305</a:t>
            </a:r>
            <a:endParaRPr lang="pt-BR" sz="1600" b="1" dirty="0"/>
          </a:p>
        </p:txBody>
      </p:sp>
      <p:sp>
        <p:nvSpPr>
          <p:cNvPr id="15" name="Retângulo de cantos arredondados 12"/>
          <p:cNvSpPr>
            <a:spLocks noChangeAspect="1"/>
          </p:cNvSpPr>
          <p:nvPr/>
        </p:nvSpPr>
        <p:spPr>
          <a:xfrm>
            <a:off x="7525761" y="1199778"/>
            <a:ext cx="1440000" cy="352000"/>
          </a:xfrm>
          <a:prstGeom prst="roundRect">
            <a:avLst/>
          </a:prstGeom>
          <a:solidFill>
            <a:srgbClr val="0070C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smtClean="0"/>
              <a:t>Atual 4.124</a:t>
            </a:r>
            <a:endParaRPr lang="pt-BR" sz="1600" b="1" dirty="0"/>
          </a:p>
        </p:txBody>
      </p:sp>
    </p:spTree>
    <p:extLst>
      <p:ext uri="{BB962C8B-B14F-4D97-AF65-F5344CB8AC3E}">
        <p14:creationId xmlns:p14="http://schemas.microsoft.com/office/powerpoint/2010/main" val="2554416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ráfico 16"/>
          <p:cNvGraphicFramePr>
            <a:graphicFrameLocks noChangeAspect="1"/>
          </p:cNvGraphicFramePr>
          <p:nvPr>
            <p:extLst/>
          </p:nvPr>
        </p:nvGraphicFramePr>
        <p:xfrm>
          <a:off x="1187625" y="928497"/>
          <a:ext cx="6477787" cy="38866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8" name="Grupo 7"/>
          <p:cNvGrpSpPr/>
          <p:nvPr/>
        </p:nvGrpSpPr>
        <p:grpSpPr>
          <a:xfrm>
            <a:off x="-1" y="4816"/>
            <a:ext cx="9143999" cy="5150994"/>
            <a:chOff x="-1" y="2435"/>
            <a:chExt cx="9143999" cy="5150994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51624" y="4390191"/>
              <a:ext cx="992374" cy="763238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435"/>
              <a:ext cx="928369" cy="913131"/>
            </a:xfrm>
            <a:prstGeom prst="rect">
              <a:avLst/>
            </a:prstGeom>
          </p:spPr>
        </p:pic>
        <p:pic>
          <p:nvPicPr>
            <p:cNvPr id="26" name="Picture 9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20272" y="201819"/>
              <a:ext cx="1866343" cy="338794"/>
            </a:xfrm>
            <a:prstGeom prst="rect">
              <a:avLst/>
            </a:prstGeom>
          </p:spPr>
        </p:pic>
      </p:grpSp>
      <p:sp>
        <p:nvSpPr>
          <p:cNvPr id="21" name="CaixaDeTexto 20"/>
          <p:cNvSpPr txBox="1"/>
          <p:nvPr/>
        </p:nvSpPr>
        <p:spPr>
          <a:xfrm>
            <a:off x="464183" y="84549"/>
            <a:ext cx="66103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rPr>
              <a:t>4</a:t>
            </a:r>
            <a:r>
              <a:rPr lang="pt-BR" sz="1600" b="1" dirty="0" smtClean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rPr>
              <a:t>. </a:t>
            </a:r>
            <a:r>
              <a:rPr lang="pt-BR" sz="1600" b="1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rPr>
              <a:t>Incidentes de Alto Impacto por Responsável pela Solução</a:t>
            </a:r>
          </a:p>
          <a:p>
            <a:pPr algn="ctr"/>
            <a:r>
              <a:rPr lang="pt-BR" sz="1600" b="1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rPr>
              <a:t>Janeiro de 2016</a:t>
            </a:r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784817"/>
            <a:ext cx="6470798" cy="414630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96707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2254" y="2684727"/>
            <a:ext cx="1137876" cy="759532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462" y="2740545"/>
            <a:ext cx="1159233" cy="754752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436"/>
            <a:ext cx="757363" cy="7456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</p:pic>
      <p:grpSp>
        <p:nvGrpSpPr>
          <p:cNvPr id="2" name="Agrupar 1"/>
          <p:cNvGrpSpPr/>
          <p:nvPr/>
        </p:nvGrpSpPr>
        <p:grpSpPr>
          <a:xfrm>
            <a:off x="818350" y="88276"/>
            <a:ext cx="8357549" cy="5069927"/>
            <a:chOff x="786452" y="78337"/>
            <a:chExt cx="8357549" cy="5069927"/>
          </a:xfrm>
        </p:grpSpPr>
        <p:sp>
          <p:nvSpPr>
            <p:cNvPr id="6" name="CaixaDeTexto 5"/>
            <p:cNvSpPr txBox="1"/>
            <p:nvPr/>
          </p:nvSpPr>
          <p:spPr>
            <a:xfrm>
              <a:off x="2039091" y="300128"/>
              <a:ext cx="184731" cy="461665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none" rtlCol="0">
              <a:spAutoFit/>
            </a:bodyPr>
            <a:lstStyle/>
            <a:p>
              <a:endParaRPr lang="pt-BR" sz="2400" dirty="0"/>
            </a:p>
          </p:txBody>
        </p:sp>
        <p:sp>
          <p:nvSpPr>
            <p:cNvPr id="20" name="Title 1"/>
            <p:cNvSpPr txBox="1">
              <a:spLocks/>
            </p:cNvSpPr>
            <p:nvPr/>
          </p:nvSpPr>
          <p:spPr>
            <a:xfrm>
              <a:off x="786452" y="78337"/>
              <a:ext cx="6571443" cy="5757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vert="horz" lIns="91440" tIns="45720" rIns="91440" bIns="45720" rtlCol="0" anchor="ctr">
              <a:normAutofit fontScale="62500" lnSpcReduction="2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>
                <a:buClr>
                  <a:srgbClr val="800000"/>
                </a:buClr>
              </a:pPr>
              <a:r>
                <a:rPr lang="pt-BR" sz="3100" b="1" dirty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5</a:t>
              </a:r>
              <a:r>
                <a:rPr lang="pt-BR" sz="31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. Processo de Escalonamento de Incidentes Alto Impacto</a:t>
              </a:r>
              <a:endParaRPr lang="pt-BR" sz="31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6984" y="389565"/>
            <a:ext cx="1603348" cy="291323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295" y="713773"/>
            <a:ext cx="7703552" cy="1759424"/>
          </a:xfrm>
          <a:prstGeom prst="rect">
            <a:avLst/>
          </a:prstGeom>
        </p:spPr>
      </p:pic>
      <p:sp>
        <p:nvSpPr>
          <p:cNvPr id="14" name="Retângulo 13"/>
          <p:cNvSpPr/>
          <p:nvPr/>
        </p:nvSpPr>
        <p:spPr>
          <a:xfrm>
            <a:off x="128171" y="3425386"/>
            <a:ext cx="1380358" cy="163358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Chamado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pt-BR" sz="1200" b="1" dirty="0" smtClean="0">
                <a:solidFill>
                  <a:srgbClr val="FF0000"/>
                </a:solidFill>
              </a:rPr>
              <a:t>Critico </a:t>
            </a:r>
            <a:endParaRPr lang="pt-BR" sz="1200" b="1" dirty="0">
              <a:solidFill>
                <a:srgbClr val="FF0000"/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pt-BR" sz="1200" b="1" dirty="0" smtClean="0">
                <a:solidFill>
                  <a:srgbClr val="FF0000"/>
                </a:solidFill>
              </a:rPr>
              <a:t>Muito Alto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Chamado com a descrição da situação detectada.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1742667" y="3414017"/>
            <a:ext cx="1380358" cy="16449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Técnico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Analisa o chamado.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Execução de procedimentos para resolver o incidente.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3315971" y="3425386"/>
            <a:ext cx="1380358" cy="164495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Coordenador</a:t>
            </a:r>
            <a:endParaRPr lang="pt-BR" sz="12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Validar alternativas para intervir no incidente. Elaborar uma analise técnica para a solução.</a:t>
            </a:r>
          </a:p>
        </p:txBody>
      </p:sp>
      <p:sp>
        <p:nvSpPr>
          <p:cNvPr id="21" name="Retângulo 20"/>
          <p:cNvSpPr/>
          <p:nvPr/>
        </p:nvSpPr>
        <p:spPr>
          <a:xfrm>
            <a:off x="252295" y="2382490"/>
            <a:ext cx="1117314" cy="32699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Chamado</a:t>
            </a:r>
          </a:p>
        </p:txBody>
      </p:sp>
      <p:sp>
        <p:nvSpPr>
          <p:cNvPr id="23" name="Retângulo 22"/>
          <p:cNvSpPr/>
          <p:nvPr/>
        </p:nvSpPr>
        <p:spPr>
          <a:xfrm>
            <a:off x="1824904" y="2382490"/>
            <a:ext cx="1124479" cy="3327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Técnico</a:t>
            </a:r>
          </a:p>
        </p:txBody>
      </p:sp>
      <p:sp>
        <p:nvSpPr>
          <p:cNvPr id="24" name="Retângulo 23"/>
          <p:cNvSpPr/>
          <p:nvPr/>
        </p:nvSpPr>
        <p:spPr>
          <a:xfrm>
            <a:off x="3404678" y="2376515"/>
            <a:ext cx="1180736" cy="35254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Coordenador</a:t>
            </a:r>
          </a:p>
        </p:txBody>
      </p:sp>
      <p:sp>
        <p:nvSpPr>
          <p:cNvPr id="25" name="Retângulo 24"/>
          <p:cNvSpPr/>
          <p:nvPr/>
        </p:nvSpPr>
        <p:spPr>
          <a:xfrm>
            <a:off x="4920929" y="3413279"/>
            <a:ext cx="1380358" cy="1645695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Gerente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Gerente é escalado. Decide se envolve parceiros e/ou fornecedores para resolver o problema.</a:t>
            </a:r>
          </a:p>
        </p:txBody>
      </p:sp>
      <p:sp>
        <p:nvSpPr>
          <p:cNvPr id="27" name="Retângulo 26"/>
          <p:cNvSpPr/>
          <p:nvPr/>
        </p:nvSpPr>
        <p:spPr>
          <a:xfrm>
            <a:off x="5000462" y="2355196"/>
            <a:ext cx="1193049" cy="364030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Gerente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</p:txBody>
      </p:sp>
      <p:sp>
        <p:nvSpPr>
          <p:cNvPr id="28" name="Retângulo 27"/>
          <p:cNvSpPr/>
          <p:nvPr/>
        </p:nvSpPr>
        <p:spPr>
          <a:xfrm>
            <a:off x="6470352" y="3425386"/>
            <a:ext cx="1380358" cy="1633588"/>
          </a:xfrm>
          <a:prstGeom prst="rect">
            <a:avLst/>
          </a:prstGeom>
          <a:solidFill>
            <a:srgbClr val="00B0F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Diretor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 Diretor é escalado para tomada de decisão executiva. </a:t>
            </a:r>
          </a:p>
        </p:txBody>
      </p:sp>
      <p:sp>
        <p:nvSpPr>
          <p:cNvPr id="29" name="Retângulo 28"/>
          <p:cNvSpPr/>
          <p:nvPr/>
        </p:nvSpPr>
        <p:spPr>
          <a:xfrm>
            <a:off x="6600106" y="2372763"/>
            <a:ext cx="1084033" cy="332970"/>
          </a:xfrm>
          <a:prstGeom prst="rect">
            <a:avLst/>
          </a:prstGeom>
          <a:solidFill>
            <a:srgbClr val="00B0F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Diretor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2827329" y="1221424"/>
            <a:ext cx="677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 smtClean="0"/>
              <a:t>2:00h</a:t>
            </a:r>
            <a:endParaRPr lang="pt-BR" dirty="0"/>
          </a:p>
        </p:txBody>
      </p:sp>
      <p:sp>
        <p:nvSpPr>
          <p:cNvPr id="31" name="CaixaDeTexto 30"/>
          <p:cNvSpPr txBox="1"/>
          <p:nvPr/>
        </p:nvSpPr>
        <p:spPr>
          <a:xfrm>
            <a:off x="5983822" y="1184508"/>
            <a:ext cx="677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6</a:t>
            </a:r>
            <a:r>
              <a:rPr lang="pt-BR" sz="1400" dirty="0" smtClean="0"/>
              <a:t>:00h</a:t>
            </a:r>
            <a:endParaRPr lang="pt-BR" dirty="0"/>
          </a:p>
        </p:txBody>
      </p:sp>
      <p:sp>
        <p:nvSpPr>
          <p:cNvPr id="32" name="CaixaDeTexto 31"/>
          <p:cNvSpPr txBox="1"/>
          <p:nvPr/>
        </p:nvSpPr>
        <p:spPr>
          <a:xfrm>
            <a:off x="4437746" y="1184508"/>
            <a:ext cx="677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4</a:t>
            </a:r>
            <a:r>
              <a:rPr lang="pt-BR" sz="1400" dirty="0" smtClean="0"/>
              <a:t>:00h</a:t>
            </a:r>
            <a:endParaRPr lang="pt-BR" dirty="0"/>
          </a:p>
        </p:txBody>
      </p:sp>
      <p:sp>
        <p:nvSpPr>
          <p:cNvPr id="9" name="Chave direita 8"/>
          <p:cNvSpPr/>
          <p:nvPr/>
        </p:nvSpPr>
        <p:spPr>
          <a:xfrm>
            <a:off x="7623063" y="762436"/>
            <a:ext cx="638057" cy="4296538"/>
          </a:xfrm>
          <a:prstGeom prst="rightBrace">
            <a:avLst>
              <a:gd name="adj1" fmla="val 8333"/>
              <a:gd name="adj2" fmla="val 48287"/>
            </a:avLst>
          </a:prstGeom>
          <a:ln w="317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7806022" y="2130514"/>
            <a:ext cx="153996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32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Cliente</a:t>
            </a:r>
            <a:endParaRPr lang="pt-BR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11" name="Imagem 1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08" y="2942824"/>
            <a:ext cx="1149790" cy="1268602"/>
          </a:xfrm>
          <a:prstGeom prst="rect">
            <a:avLst/>
          </a:prstGeom>
        </p:spPr>
      </p:pic>
      <p:sp>
        <p:nvSpPr>
          <p:cNvPr id="33" name="CaixaDeTexto 32"/>
          <p:cNvSpPr txBox="1"/>
          <p:nvPr/>
        </p:nvSpPr>
        <p:spPr>
          <a:xfrm>
            <a:off x="1276910" y="1239377"/>
            <a:ext cx="677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0</a:t>
            </a:r>
            <a:r>
              <a:rPr lang="pt-BR" sz="1400" dirty="0" smtClean="0"/>
              <a:t>:00h</a:t>
            </a:r>
            <a:endParaRPr lang="pt-BR" dirty="0"/>
          </a:p>
        </p:txBody>
      </p:sp>
      <p:sp>
        <p:nvSpPr>
          <p:cNvPr id="8" name="Ondulado 7"/>
          <p:cNvSpPr/>
          <p:nvPr/>
        </p:nvSpPr>
        <p:spPr>
          <a:xfrm rot="19400075">
            <a:off x="-50283" y="419292"/>
            <a:ext cx="1454669" cy="636562"/>
          </a:xfrm>
          <a:prstGeom prst="wave">
            <a:avLst/>
          </a:prstGeom>
          <a:solidFill>
            <a:schemeClr val="accent1">
              <a:alpha val="24000"/>
            </a:schemeClr>
          </a:solidFill>
          <a:ln w="15875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Draft</a:t>
            </a:r>
            <a:endParaRPr lang="pt-BR" dirty="0"/>
          </a:p>
        </p:txBody>
      </p:sp>
      <p:pic>
        <p:nvPicPr>
          <p:cNvPr id="14338" name="Imagem 2" descr="image001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051" y="626151"/>
            <a:ext cx="7505700" cy="360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26778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4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17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6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Multas de Gravação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82573" y="2236284"/>
            <a:ext cx="2716382" cy="1963576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Slide semanal de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update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do projeto (S.R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).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Comunicação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projeto para as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pontas (sites).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Processo de transição de serviços para atividades que se relacionem a mudanças no ambiente 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gravação.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Avaliar a necessidade de treinamento das equipes envolvidas no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retrieval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234301" y="1747238"/>
            <a:ext cx="2716382" cy="393366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Pessoas</a:t>
            </a:r>
            <a:endParaRPr lang="pt-BR" sz="1200" i="1" dirty="0" smtClean="0"/>
          </a:p>
        </p:txBody>
      </p:sp>
      <p:sp>
        <p:nvSpPr>
          <p:cNvPr id="16" name="Retângulo 15"/>
          <p:cNvSpPr/>
          <p:nvPr/>
        </p:nvSpPr>
        <p:spPr>
          <a:xfrm>
            <a:off x="3185826" y="2205293"/>
            <a:ext cx="2716382" cy="294296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Definir as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prioridades.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Levantamento dos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contratos. 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Documentação do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projeto.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de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KPIs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 indicadores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(Valor de multas, quantidade, evolução por cliente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Revisão do processo de entrega (venda x delivery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): É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coeso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? Possui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risco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? É exequível?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Processo de transição de serviços para atividades que se relacionem a mudanças no ambiente 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gravação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Validação das multas aplicadas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Sugestões de demais atividades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processuais.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89079" y="2218769"/>
            <a:ext cx="2700000" cy="198109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Raio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 do ambiente 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gravação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Atrelar os chamados de ligações não recuperadas para problemas – Tratar todas chamadas não recuperadas.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185826" y="1747238"/>
            <a:ext cx="2668109" cy="393366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Processos</a:t>
            </a:r>
            <a:endParaRPr lang="pt-BR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Retângulo de cantos arredondados 23"/>
          <p:cNvSpPr/>
          <p:nvPr/>
        </p:nvSpPr>
        <p:spPr>
          <a:xfrm>
            <a:off x="373521" y="744518"/>
            <a:ext cx="8251160" cy="747248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</a:t>
            </a:r>
            <a:r>
              <a:rPr lang="pt-BR" sz="1400" dirty="0" smtClean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Este projeto tem como escopo, executar um plano de ação para eliminar multas (de gravação) nos clientes Contax.</a:t>
            </a:r>
          </a:p>
          <a:p>
            <a:r>
              <a:rPr lang="pt-BR" sz="1400" dirty="0" smtClean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Vamos adotar o trabalho baseado em PPT (Pessoas – Processos – Tecnologia)</a:t>
            </a:r>
            <a:endParaRPr lang="pt-BR" sz="1400" dirty="0">
              <a:solidFill>
                <a:schemeClr val="accent1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5" name="Retângulo de cantos arredondados 24"/>
          <p:cNvSpPr/>
          <p:nvPr/>
        </p:nvSpPr>
        <p:spPr>
          <a:xfrm>
            <a:off x="6089079" y="1747238"/>
            <a:ext cx="2700000" cy="393366"/>
          </a:xfrm>
          <a:prstGeom prst="roundRect">
            <a:avLst/>
          </a:prstGeom>
          <a:solidFill>
            <a:schemeClr val="bg2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Tecnologia</a:t>
            </a:r>
            <a:endParaRPr lang="pt-BR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6" name="Retângulo 25"/>
          <p:cNvSpPr/>
          <p:nvPr/>
        </p:nvSpPr>
        <p:spPr>
          <a:xfrm>
            <a:off x="2998955" y="2495455"/>
            <a:ext cx="3134231" cy="2448923"/>
          </a:xfrm>
          <a:prstGeom prst="rect">
            <a:avLst/>
          </a:prstGeom>
          <a:gradFill flip="none" rotWithShape="1">
            <a:gsLst>
              <a:gs pos="97000">
                <a:schemeClr val="accent4">
                  <a:lumMod val="40000"/>
                  <a:lumOff val="60000"/>
                </a:schemeClr>
              </a:gs>
              <a:gs pos="100000">
                <a:schemeClr val="bg1">
                  <a:lumMod val="75000"/>
                  <a:tint val="44500"/>
                  <a:satMod val="160000"/>
                </a:schemeClr>
              </a:gs>
              <a:gs pos="2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innerShdw blurRad="114300">
              <a:prstClr val="black"/>
            </a:innerShdw>
          </a:effectLst>
          <a:scene3d>
            <a:camera prst="orthographicFront">
              <a:rot lat="0" lon="0" rev="21599987"/>
            </a:camera>
            <a:lightRig rig="threePt" dir="t">
              <a:rot lat="0" lon="0" rev="0"/>
            </a:lightRig>
          </a:scene3d>
          <a:sp3d>
            <a:bevelT w="165100" prst="coolSlant"/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de papéis</a:t>
            </a:r>
          </a:p>
          <a:p>
            <a:endParaRPr lang="pt-BR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/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Donaire – Demanda projeto (</a:t>
            </a:r>
            <a:r>
              <a:rPr lang="pt-BR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Sponsor</a:t>
            </a:r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</a:p>
          <a:p>
            <a:pPr lvl="0"/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Fabiana – Processos</a:t>
            </a:r>
          </a:p>
          <a:p>
            <a:pPr lvl="0"/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Rogerio dos Santos – Tecnologia</a:t>
            </a:r>
          </a:p>
          <a:p>
            <a:pPr lvl="0"/>
            <a:r>
              <a:rPr lang="pt-BR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Chacon</a:t>
            </a:r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– Pessoas / Processo</a:t>
            </a:r>
          </a:p>
          <a:p>
            <a:pPr lvl="0"/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Marçal – Gestão do projeto</a:t>
            </a:r>
          </a:p>
          <a:p>
            <a:pPr lvl="0"/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Stuart – Gestão do problema</a:t>
            </a:r>
          </a:p>
          <a:p>
            <a:pPr lvl="0"/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Muto – Auditoria</a:t>
            </a:r>
          </a:p>
          <a:p>
            <a:pPr lvl="0"/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Rafael Alves – Dono do </a:t>
            </a:r>
            <a:r>
              <a:rPr lang="pt-BR" sz="14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processo</a:t>
            </a:r>
          </a:p>
          <a:p>
            <a:pPr lvl="0"/>
            <a:endParaRPr lang="pt-BR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6326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Projetos Estruturantes e Especiais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18417" y="4685852"/>
            <a:ext cx="421149" cy="419261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3624" y="4714150"/>
            <a:ext cx="476393" cy="48698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84174" y="4689459"/>
            <a:ext cx="486980" cy="486980"/>
          </a:xfrm>
          <a:prstGeom prst="rect">
            <a:avLst/>
          </a:prstGeom>
        </p:spPr>
      </p:pic>
      <p:sp>
        <p:nvSpPr>
          <p:cNvPr id="11" name="Elipse 10"/>
          <p:cNvSpPr/>
          <p:nvPr/>
        </p:nvSpPr>
        <p:spPr>
          <a:xfrm>
            <a:off x="1734829" y="4716924"/>
            <a:ext cx="292773" cy="371074"/>
          </a:xfrm>
          <a:prstGeom prst="ellipse">
            <a:avLst/>
          </a:prstGeom>
          <a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8000" r="-8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2" name="Elipse 11"/>
          <p:cNvSpPr/>
          <p:nvPr/>
        </p:nvSpPr>
        <p:spPr>
          <a:xfrm>
            <a:off x="562660" y="4682551"/>
            <a:ext cx="271410" cy="437608"/>
          </a:xfrm>
          <a:prstGeom prst="ellipse">
            <a:avLst/>
          </a:prstGeom>
          <a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46000" r="-46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pic>
        <p:nvPicPr>
          <p:cNvPr id="7" name="Imagem 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05416" y="4710223"/>
            <a:ext cx="408297" cy="408297"/>
          </a:xfrm>
          <a:prstGeom prst="rect">
            <a:avLst/>
          </a:prstGeom>
        </p:spPr>
      </p:pic>
      <p:pic>
        <p:nvPicPr>
          <p:cNvPr id="2" name="Imagem 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7344" y="4699920"/>
            <a:ext cx="431214" cy="405193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040" y="741342"/>
            <a:ext cx="9010969" cy="3642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  <a:reflection blurRad="6350" stA="52000" endA="300" endPos="35000" dir="5400000" sy="-100000" algn="bl" rotWithShape="0"/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93561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</a:t>
            </a:r>
            <a:r>
              <a:rPr lang="pt-BR" sz="2800" b="1" dirty="0" err="1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Proj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pt-BR" sz="2800" b="1" dirty="0" err="1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Aspect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7.3 (infra)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221121" y="2081341"/>
            <a:ext cx="2716382" cy="284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Validação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ambiente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Início dos entendimentos para definição de qual polo será migrado</a:t>
            </a: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234301" y="908683"/>
            <a:ext cx="2716382" cy="978810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</a:t>
            </a:r>
            <a:r>
              <a:rPr lang="pt-BR" sz="1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Aspect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7.3 (infra)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14-10-2015</a:t>
            </a:r>
          </a:p>
          <a:p>
            <a:r>
              <a:rPr lang="pt-BR" sz="1200" i="1" dirty="0" smtClean="0"/>
              <a:t>Data Conclusão: 29-02-2016</a:t>
            </a:r>
          </a:p>
          <a:p>
            <a:r>
              <a:rPr lang="pt-BR" sz="1200" i="1" dirty="0" smtClean="0"/>
              <a:t>Progresso: 40%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Luiz </a:t>
            </a:r>
            <a:r>
              <a:rPr lang="pt-BR" sz="1200" i="1" dirty="0" smtClean="0"/>
              <a:t>Washington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0"/>
            <a:ext cx="2716382" cy="284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Configuração dos UMS.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do primeiro polo a ser migrado: Polo Belo Horizonte.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Iniciado contatos com fornecedores para adequação de integração (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Ayty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e TQS)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da data de encerramento da migração – até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20/05</a:t>
            </a:r>
            <a:endParaRPr lang="pt-BR" sz="1200" dirty="0">
              <a:solidFill>
                <a:schemeClr val="tx1"/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/>
              </a:solidFill>
            </a:endParaRPr>
          </a:p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1"/>
            <a:ext cx="2700000" cy="284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  <a:endParaRPr lang="pt-BR" sz="12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Não foi possível “rodar” a ferramenta APEA para validação final do ambiente – Não foi possível segregar o acesso. Pré-requisito para inicio das instalações – Definição de solução alternativa para o dia 17/02.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das datas de migração das Operações.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Alinhamento com o Planejamento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Contratação de troncos.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de treinamento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089903" y="923882"/>
            <a:ext cx="5630497" cy="934045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Este projeto tem como escopo, preparar/adequar toda 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infra de HW para instalar a versão 7.3 do </a:t>
            </a:r>
            <a:r>
              <a:rPr lang="pt-BR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Aspect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 O objetivo é a permitir o alinhamento de toda a plataforma  </a:t>
            </a:r>
            <a:r>
              <a:rPr lang="pt-BR" sz="14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Aspect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da Contax.</a:t>
            </a:r>
            <a:endParaRPr lang="pt-BR" sz="1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13" name="Group 27"/>
          <p:cNvGrpSpPr>
            <a:grpSpLocks/>
          </p:cNvGrpSpPr>
          <p:nvPr/>
        </p:nvGrpSpPr>
        <p:grpSpPr bwMode="auto">
          <a:xfrm>
            <a:off x="2582421" y="1548891"/>
            <a:ext cx="274637" cy="274638"/>
            <a:chOff x="0" y="0"/>
            <a:chExt cx="173" cy="173"/>
          </a:xfrm>
        </p:grpSpPr>
        <p:sp>
          <p:nvSpPr>
            <p:cNvPr id="14" name="Oval 28"/>
            <p:cNvSpPr>
              <a:spLocks noChangeArrowheads="1"/>
            </p:cNvSpPr>
            <p:nvPr/>
          </p:nvSpPr>
          <p:spPr bwMode="auto">
            <a:xfrm>
              <a:off x="0" y="0"/>
              <a:ext cx="173" cy="173"/>
            </a:xfrm>
            <a:prstGeom prst="ellips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19" name="Arc 29"/>
            <p:cNvSpPr>
              <a:spLocks/>
            </p:cNvSpPr>
            <p:nvPr/>
          </p:nvSpPr>
          <p:spPr bwMode="auto">
            <a:xfrm>
              <a:off x="86" y="0"/>
              <a:ext cx="62" cy="86"/>
            </a:xfrm>
            <a:custGeom>
              <a:avLst/>
              <a:gdLst>
                <a:gd name="G0" fmla="+- 58 0 0"/>
                <a:gd name="G1" fmla="+- 21600 0 0"/>
                <a:gd name="G2" fmla="+- 21600 0 0"/>
                <a:gd name="T0" fmla="*/ 0 w 15318"/>
                <a:gd name="T1" fmla="*/ 1 h 21600"/>
                <a:gd name="T2" fmla="*/ 15318 w 15318"/>
                <a:gd name="T3" fmla="*/ 6314 h 21600"/>
                <a:gd name="T4" fmla="*/ 58 w 15318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18" h="21600" fill="none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</a:path>
                <a:path w="15318" h="21600" stroke="0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  <a:lnTo>
                    <a:pt x="58" y="2160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0" name="Arc 30"/>
            <p:cNvSpPr>
              <a:spLocks/>
            </p:cNvSpPr>
            <p:nvPr/>
          </p:nvSpPr>
          <p:spPr bwMode="auto">
            <a:xfrm>
              <a:off x="86" y="25"/>
              <a:ext cx="87" cy="62"/>
            </a:xfrm>
            <a:custGeom>
              <a:avLst/>
              <a:gdLst>
                <a:gd name="G0" fmla="+- 0 0 0"/>
                <a:gd name="G1" fmla="+- 15382 0 0"/>
                <a:gd name="G2" fmla="+- 21600 0 0"/>
                <a:gd name="T0" fmla="*/ 15163 w 21600"/>
                <a:gd name="T1" fmla="*/ 0 h 15382"/>
                <a:gd name="T2" fmla="*/ 21600 w 21600"/>
                <a:gd name="T3" fmla="*/ 15382 h 15382"/>
                <a:gd name="T4" fmla="*/ 0 w 21600"/>
                <a:gd name="T5" fmla="*/ 15382 h 15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382" fill="none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</a:path>
                <a:path w="21600" h="15382" stroke="0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  <a:lnTo>
                    <a:pt x="0" y="15382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1" name="Arc 31"/>
            <p:cNvSpPr>
              <a:spLocks/>
            </p:cNvSpPr>
            <p:nvPr/>
          </p:nvSpPr>
          <p:spPr bwMode="auto">
            <a:xfrm>
              <a:off x="86" y="87"/>
              <a:ext cx="87" cy="61"/>
            </a:xfrm>
            <a:custGeom>
              <a:avLst/>
              <a:gdLst>
                <a:gd name="G0" fmla="+- 0 0 0"/>
                <a:gd name="G1" fmla="+- 29 0 0"/>
                <a:gd name="G2" fmla="+- 21600 0 0"/>
                <a:gd name="T0" fmla="*/ 21599 w 21600"/>
                <a:gd name="T1" fmla="*/ 0 h 15266"/>
                <a:gd name="T2" fmla="*/ 15309 w 21600"/>
                <a:gd name="T3" fmla="*/ 15266 h 15266"/>
                <a:gd name="T4" fmla="*/ 0 w 21600"/>
                <a:gd name="T5" fmla="*/ 29 h 152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266" fill="none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</a:path>
                <a:path w="21600" h="15266" stroke="0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  <a:lnTo>
                    <a:pt x="0" y="29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2" name="Arc 32"/>
            <p:cNvSpPr>
              <a:spLocks/>
            </p:cNvSpPr>
            <p:nvPr/>
          </p:nvSpPr>
          <p:spPr bwMode="auto">
            <a:xfrm>
              <a:off x="86" y="87"/>
              <a:ext cx="62" cy="86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15386 w 15386"/>
                <a:gd name="T1" fmla="*/ 15159 h 21599"/>
                <a:gd name="T2" fmla="*/ 28 w 15386"/>
                <a:gd name="T3" fmla="*/ 21599 h 21599"/>
                <a:gd name="T4" fmla="*/ 0 w 15386"/>
                <a:gd name="T5" fmla="*/ 0 h 21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86" h="21599" fill="none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</a:path>
                <a:path w="15386" h="21599" stroke="0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3" name="Arc 33"/>
            <p:cNvSpPr>
              <a:spLocks/>
            </p:cNvSpPr>
            <p:nvPr/>
          </p:nvSpPr>
          <p:spPr bwMode="auto">
            <a:xfrm flipH="1">
              <a:off x="25" y="87"/>
              <a:ext cx="62" cy="86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15386 w 15386"/>
                <a:gd name="T1" fmla="*/ 15159 h 21599"/>
                <a:gd name="T2" fmla="*/ 28 w 15386"/>
                <a:gd name="T3" fmla="*/ 21599 h 21599"/>
                <a:gd name="T4" fmla="*/ 0 w 15386"/>
                <a:gd name="T5" fmla="*/ 0 h 21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86" h="21599" fill="none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</a:path>
                <a:path w="15386" h="21599" stroke="0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791349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Gravação (Nice) TAM e VIVO 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Aguardamos a entrega dos 12 HDs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860528"/>
            <a:ext cx="3064339" cy="9974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</a:t>
            </a:r>
            <a:r>
              <a:rPr lang="pt-BR" sz="14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Gravacao</a:t>
            </a:r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(NICE) TAM e </a:t>
            </a:r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VIVO </a:t>
            </a:r>
          </a:p>
          <a:p>
            <a:r>
              <a:rPr lang="pt-BR" sz="1200" i="1" dirty="0" smtClean="0"/>
              <a:t>Data Inicio: 14-10-2015</a:t>
            </a:r>
          </a:p>
          <a:p>
            <a:r>
              <a:rPr lang="pt-BR" sz="1200" i="1" dirty="0" smtClean="0"/>
              <a:t>Data Conclusão: 25-03-2016</a:t>
            </a:r>
          </a:p>
          <a:p>
            <a:r>
              <a:rPr lang="pt-BR" sz="1200" i="1" dirty="0" smtClean="0"/>
              <a:t>Progresso: 26%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</a:t>
            </a:r>
            <a:r>
              <a:rPr lang="pt-BR" sz="1200" i="1" dirty="0" smtClean="0"/>
              <a:t>Julio Cesar e Thiago Augusto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Recebemos o numero do pedido de Suprimentos.</a:t>
            </a: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Processo de compras demorado. 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rgbClr val="FF0000"/>
                </a:solidFill>
              </a:rPr>
              <a:t>SC 775 -  </a:t>
            </a:r>
            <a:r>
              <a:rPr lang="pt-BR" sz="1200" dirty="0" smtClean="0">
                <a:solidFill>
                  <a:srgbClr val="FF0000"/>
                </a:solidFill>
              </a:rPr>
              <a:t>A equipe de suprimentos/</a:t>
            </a:r>
            <a:r>
              <a:rPr lang="pt-BR" sz="1200" dirty="0" err="1" smtClean="0">
                <a:solidFill>
                  <a:srgbClr val="FF0000"/>
                </a:solidFill>
              </a:rPr>
              <a:t>Aquanima</a:t>
            </a:r>
            <a:r>
              <a:rPr lang="pt-BR" sz="1200" dirty="0" smtClean="0">
                <a:solidFill>
                  <a:srgbClr val="FF0000"/>
                </a:solidFill>
              </a:rPr>
              <a:t>  esta alinhando a entrega dos equipamentos com o fornecedor. 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874284"/>
            <a:ext cx="5338175" cy="983644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Este projeto tem como escopo, adequar infra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 HW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instalar 3K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licenças de gravação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atualmente sem uso. </a:t>
            </a:r>
            <a:endParaRPr lang="pt-BR" sz="1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2094" y="1548974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482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6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Projeto: Monitoração Dell – Open Manager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Concluir/corrigir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 execução da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Gmud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de abertura de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Vlans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para permitir o cadastro de equipamentos.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Monitoração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(Dell-Open Manager)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14-10-2015</a:t>
            </a:r>
          </a:p>
          <a:p>
            <a:r>
              <a:rPr lang="pt-BR" sz="1200" i="1" dirty="0" smtClean="0"/>
              <a:t>Data Conclusão: 23-04-2016</a:t>
            </a:r>
          </a:p>
          <a:p>
            <a:r>
              <a:rPr lang="pt-BR" sz="1200" i="1" dirty="0" smtClean="0"/>
              <a:t>Progresso: 61%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</a:t>
            </a:r>
            <a:r>
              <a:rPr lang="pt-BR" sz="1200" i="1" dirty="0" smtClean="0"/>
              <a:t>Júlio Cesar e Thiago Augusto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Continuação do cadastro de equipamentos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n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 ferramenta por agrupamento de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Vlans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Processo de liberação das redes foi complexo.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/>
              <a:t>M</a:t>
            </a:r>
            <a:r>
              <a:rPr lang="pt-BR" sz="1400" dirty="0" smtClean="0"/>
              <a:t>onitoração </a:t>
            </a:r>
            <a:r>
              <a:rPr lang="pt-BR" sz="1400" dirty="0"/>
              <a:t>pró ativa de </a:t>
            </a:r>
            <a:r>
              <a:rPr lang="pt-BR" sz="1400" dirty="0" smtClean="0"/>
              <a:t>hardware para eliminar </a:t>
            </a:r>
            <a:r>
              <a:rPr lang="pt-BR" sz="1400" dirty="0"/>
              <a:t>a possibilidade de perda de dados por falta de visibilidade do </a:t>
            </a:r>
            <a:r>
              <a:rPr lang="pt-BR" sz="1400" dirty="0" smtClean="0"/>
              <a:t>ambiente. </a:t>
            </a:r>
            <a:endParaRPr lang="pt-BR" sz="14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3609" y="1548974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801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Monitoração </a:t>
            </a:r>
            <a:r>
              <a:rPr lang="pt-BR" sz="2800" b="1" dirty="0" err="1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Zabbix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Aguardamos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aprovação de verbas para treinamento da equipe.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Continuação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cadastro de equipamentos.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chemeClr val="accent2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Monitoração </a:t>
            </a:r>
            <a:r>
              <a:rPr lang="pt-BR" sz="14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Zabbix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19-10-2015</a:t>
            </a:r>
          </a:p>
          <a:p>
            <a:r>
              <a:rPr lang="pt-BR" sz="1200" i="1" dirty="0" smtClean="0"/>
              <a:t>Data Conclusão: 29-02-2016</a:t>
            </a:r>
          </a:p>
          <a:p>
            <a:r>
              <a:rPr lang="pt-BR" sz="1200" i="1" dirty="0" smtClean="0"/>
              <a:t>Progresso: 49%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</a:t>
            </a:r>
            <a:r>
              <a:rPr lang="pt-BR" sz="1200" i="1" dirty="0" smtClean="0"/>
              <a:t>Júlio Cesar e Thiago Augusto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Continuação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cadastro </a:t>
            </a:r>
            <a:r>
              <a:rPr lang="pt-BR" sz="1200" u="sng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pontual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equipamentos.</a:t>
            </a: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Risco: Perda 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proficiência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na ferramenta for falta de treinamento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rgbClr val="FF0000"/>
                </a:solidFill>
              </a:rPr>
              <a:t>SC 750 - A </a:t>
            </a:r>
            <a:r>
              <a:rPr lang="pt-BR" sz="1200" dirty="0" err="1">
                <a:solidFill>
                  <a:srgbClr val="FF0000"/>
                </a:solidFill>
              </a:rPr>
              <a:t>Aquanima</a:t>
            </a:r>
            <a:r>
              <a:rPr lang="pt-BR" sz="1200" dirty="0">
                <a:solidFill>
                  <a:srgbClr val="FF0000"/>
                </a:solidFill>
              </a:rPr>
              <a:t> iniciou o processo de </a:t>
            </a:r>
            <a:r>
              <a:rPr lang="pt-BR" sz="1200" dirty="0" smtClean="0">
                <a:solidFill>
                  <a:srgbClr val="FF0000"/>
                </a:solidFill>
              </a:rPr>
              <a:t>concorrência. Financeiro aguarda retorno. 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/>
              <a:t>M</a:t>
            </a:r>
            <a:r>
              <a:rPr lang="pt-BR" sz="1400" dirty="0" smtClean="0"/>
              <a:t>onitoração </a:t>
            </a:r>
            <a:r>
              <a:rPr lang="pt-BR" sz="1400" dirty="0"/>
              <a:t>pró ativa de </a:t>
            </a:r>
            <a:r>
              <a:rPr lang="pt-BR" sz="1400" dirty="0" smtClean="0"/>
              <a:t>hardware e elimina </a:t>
            </a:r>
            <a:r>
              <a:rPr lang="pt-BR" sz="1400" dirty="0"/>
              <a:t>a possibilidade de perda de dados por falta de visibilidade do </a:t>
            </a:r>
            <a:r>
              <a:rPr lang="pt-BR" sz="1400" dirty="0" smtClean="0"/>
              <a:t>ambiente. </a:t>
            </a:r>
            <a:endParaRPr lang="pt-BR" sz="14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2094" y="1548974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62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Redundância links MPLS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Foi realizado com sucesso o teste de redundância de MPLS no site Navegantes (GMUD 19350)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Redundância links MPLS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01-12-2015</a:t>
            </a:r>
          </a:p>
          <a:p>
            <a:r>
              <a:rPr lang="pt-BR" sz="1200" i="1" dirty="0" smtClean="0"/>
              <a:t>Data Conclusão: 11-04-2016</a:t>
            </a:r>
          </a:p>
          <a:p>
            <a:r>
              <a:rPr lang="pt-BR" sz="1200" i="1" dirty="0" smtClean="0"/>
              <a:t>Progresso: 21%</a:t>
            </a:r>
          </a:p>
          <a:p>
            <a:r>
              <a:rPr lang="pt-BR" sz="1200" i="1" dirty="0" smtClean="0"/>
              <a:t>PM: </a:t>
            </a:r>
            <a:r>
              <a:rPr lang="pt-BR" sz="1200" i="1" dirty="0" err="1" smtClean="0"/>
              <a:t>Luis</a:t>
            </a:r>
            <a:r>
              <a:rPr lang="pt-BR" sz="1200" i="1" dirty="0" smtClean="0"/>
              <a:t> Marçal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No site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Navegantes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no dia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18 de Fevereiro vai ser efetuada a correção /configuração nos equipamentos da VIVO para 400MB (GMUD 19412)</a:t>
            </a: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Foi detectado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que a banda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contratada </a:t>
            </a:r>
            <a:r>
              <a:rPr lang="pt-BR" sz="1200" dirty="0" smtClean="0">
                <a:solidFill>
                  <a:srgbClr val="FF0000"/>
                </a:solidFill>
              </a:rPr>
              <a:t>(</a:t>
            </a:r>
            <a:r>
              <a:rPr lang="pt-BR" sz="1200" dirty="0">
                <a:solidFill>
                  <a:srgbClr val="FF0000"/>
                </a:solidFill>
              </a:rPr>
              <a:t>25-06-2015</a:t>
            </a:r>
            <a:r>
              <a:rPr lang="pt-BR" sz="1200" dirty="0" smtClean="0">
                <a:solidFill>
                  <a:srgbClr val="FF0000"/>
                </a:solidFill>
              </a:rPr>
              <a:t>)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para o link MPLS VIVO no Site Navegante é 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400MB.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Atualmente os equipamentos estão configurados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para 100MB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 smtClean="0"/>
              <a:t>Para </a:t>
            </a:r>
            <a:r>
              <a:rPr lang="pt-BR" sz="1400" dirty="0"/>
              <a:t>dar </a:t>
            </a:r>
            <a:r>
              <a:rPr lang="pt-BR" sz="1400" b="1" dirty="0"/>
              <a:t>resposta imediata </a:t>
            </a:r>
            <a:r>
              <a:rPr lang="pt-BR" sz="1400" dirty="0"/>
              <a:t>a situações recorrentes de incidentes, relacionados com a perda de </a:t>
            </a:r>
            <a:r>
              <a:rPr lang="pt-BR" sz="1400" b="1" dirty="0"/>
              <a:t>Links </a:t>
            </a:r>
            <a:r>
              <a:rPr lang="pt-BR" sz="1400" dirty="0"/>
              <a:t>que interligam os sites da Contax, </a:t>
            </a:r>
            <a:r>
              <a:rPr lang="pt-BR" sz="1400" dirty="0" smtClean="0"/>
              <a:t>este projeto visa, </a:t>
            </a:r>
            <a:r>
              <a:rPr lang="pt-BR" sz="1400" b="1" dirty="0" smtClean="0"/>
              <a:t>Garantir </a:t>
            </a:r>
            <a:r>
              <a:rPr lang="pt-BR" sz="1400" b="1" dirty="0"/>
              <a:t>e documentar a funcionalidade da </a:t>
            </a:r>
            <a:r>
              <a:rPr lang="pt-BR" sz="1400" b="1" dirty="0" smtClean="0"/>
              <a:t>contingência e </a:t>
            </a:r>
            <a:r>
              <a:rPr lang="pt-BR" sz="1400" dirty="0"/>
              <a:t>v</a:t>
            </a:r>
            <a:r>
              <a:rPr lang="pt-BR" sz="1400" dirty="0" smtClean="0"/>
              <a:t>alidar </a:t>
            </a:r>
            <a:r>
              <a:rPr lang="pt-BR" sz="1400" dirty="0"/>
              <a:t>caminhos possíveis e documentar </a:t>
            </a:r>
            <a:r>
              <a:rPr lang="pt-BR" sz="1400" dirty="0" smtClean="0"/>
              <a:t>ações. </a:t>
            </a:r>
            <a:endParaRPr lang="pt-BR" sz="14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2094" y="1512748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82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Backups Ambiente de Produção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Backup realizado em 52% do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parque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Licença da </a:t>
            </a:r>
            <a:r>
              <a:rPr lang="pt-BR" sz="1200" i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feature</a:t>
            </a:r>
            <a:r>
              <a:rPr lang="pt-BR" sz="1200" i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ArcServe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UDP recebida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Instalação do piloto do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ArcServe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UDP para teste de backup e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restore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de ambientes Windows e Linux  (Virtuais e Físicas) – Em andamento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Backup &amp; Restore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Ambiente de Produção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14-10-2015</a:t>
            </a:r>
          </a:p>
          <a:p>
            <a:r>
              <a:rPr lang="pt-BR" sz="1200" i="1" dirty="0" smtClean="0"/>
              <a:t>Data Conclusão: 31-03-2016</a:t>
            </a:r>
          </a:p>
          <a:p>
            <a:r>
              <a:rPr lang="pt-BR" sz="1200" i="1" dirty="0" smtClean="0"/>
              <a:t>Progresso: 53%</a:t>
            </a:r>
          </a:p>
          <a:p>
            <a:r>
              <a:rPr lang="pt-BR" sz="1200" i="1" dirty="0" smtClean="0"/>
              <a:t>PM: Poubel e Rafael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Continuação da execução de Backups do ambiente de produção da Contax.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Apoio da Regional NE e MG para suporte e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discovery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dos servidores nos sites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Centralizado os servidores do SPOAS e um servidor do SPOAL apontando para o DC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Plano de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restore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iniciado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Queda na aderência de backup devido as desmobilizações de sites sem nossa ciência. 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Baixo índice de aderência no plano de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restore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devido a falta de infra.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Armazenamento indevido das mídias causando degradação das mesmas.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 smtClean="0"/>
              <a:t>Providenciar Backup em todos os equipamentos de produção da Contax. Garantir plano de </a:t>
            </a:r>
            <a:r>
              <a:rPr lang="pt-BR" sz="1400" dirty="0" err="1" smtClean="0"/>
              <a:t>restore</a:t>
            </a:r>
            <a:r>
              <a:rPr lang="pt-BR" sz="1400" dirty="0" smtClean="0"/>
              <a:t> do ambiente. </a:t>
            </a:r>
            <a:endParaRPr lang="pt-BR" sz="1400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2094" y="1537397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030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OCS </a:t>
            </a:r>
            <a:r>
              <a:rPr lang="pt-BR" sz="2800" b="1" dirty="0" err="1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Inventory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86279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Ativos cadastrados no OCS: 3576/6476.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chemeClr val="accent2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OCS </a:t>
            </a:r>
            <a:r>
              <a:rPr lang="pt-BR" sz="14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Inventory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</a:t>
            </a:r>
            <a:r>
              <a:rPr lang="pt-BR" sz="1200" i="1" dirty="0"/>
              <a:t>0</a:t>
            </a:r>
            <a:r>
              <a:rPr lang="pt-BR" sz="1200" i="1" dirty="0" smtClean="0"/>
              <a:t>4-12-2015</a:t>
            </a:r>
          </a:p>
          <a:p>
            <a:r>
              <a:rPr lang="pt-BR" sz="1200" i="1" dirty="0" smtClean="0"/>
              <a:t>Data Conclusão: 22-02-2016</a:t>
            </a:r>
          </a:p>
          <a:p>
            <a:r>
              <a:rPr lang="pt-BR" sz="1200" i="1" dirty="0" smtClean="0"/>
              <a:t>Progresso: 60%</a:t>
            </a:r>
          </a:p>
          <a:p>
            <a:r>
              <a:rPr lang="pt-BR" sz="1200" i="1" dirty="0" smtClean="0"/>
              <a:t>PM: Thiago Augusto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86279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Continuação 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cadastramento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ativos.</a:t>
            </a: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99740" cy="286279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Faltam cadastrar:</a:t>
            </a:r>
          </a:p>
          <a:p>
            <a:pPr marL="742950" lvl="2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1200 servidores Windows.</a:t>
            </a:r>
          </a:p>
          <a:p>
            <a:pPr marL="742950" lvl="2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1000 Linux.</a:t>
            </a:r>
          </a:p>
          <a:p>
            <a:pPr marL="742950" lvl="2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700 Outros ativos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</a:t>
            </a:r>
            <a:r>
              <a:rPr lang="pt-BR" sz="1400" dirty="0" smtClean="0"/>
              <a:t> OCS </a:t>
            </a:r>
            <a:r>
              <a:rPr lang="pt-BR" sz="1400" dirty="0"/>
              <a:t>é uma ferramenta de </a:t>
            </a:r>
            <a:r>
              <a:rPr lang="pt-BR" sz="1400" dirty="0" smtClean="0"/>
              <a:t>Inventário de servidores para auxiliar a </a:t>
            </a:r>
            <a:r>
              <a:rPr lang="pt-BR" sz="1400" dirty="0"/>
              <a:t>equipe de Controle de Ativos</a:t>
            </a:r>
            <a:r>
              <a:rPr lang="pt-BR" sz="1400" dirty="0" smtClean="0"/>
              <a:t>. </a:t>
            </a:r>
            <a:endParaRPr lang="pt-BR" sz="1400" dirty="0"/>
          </a:p>
        </p:txBody>
      </p:sp>
      <p:grpSp>
        <p:nvGrpSpPr>
          <p:cNvPr id="14" name="Group 27"/>
          <p:cNvGrpSpPr>
            <a:grpSpLocks/>
          </p:cNvGrpSpPr>
          <p:nvPr/>
        </p:nvGrpSpPr>
        <p:grpSpPr bwMode="auto">
          <a:xfrm>
            <a:off x="2904282" y="1528044"/>
            <a:ext cx="274637" cy="274638"/>
            <a:chOff x="0" y="0"/>
            <a:chExt cx="173" cy="173"/>
          </a:xfrm>
        </p:grpSpPr>
        <p:sp>
          <p:nvSpPr>
            <p:cNvPr id="19" name="Oval 28"/>
            <p:cNvSpPr>
              <a:spLocks noChangeArrowheads="1"/>
            </p:cNvSpPr>
            <p:nvPr/>
          </p:nvSpPr>
          <p:spPr bwMode="auto">
            <a:xfrm>
              <a:off x="0" y="0"/>
              <a:ext cx="173" cy="173"/>
            </a:xfrm>
            <a:prstGeom prst="ellips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0" name="Arc 29"/>
            <p:cNvSpPr>
              <a:spLocks/>
            </p:cNvSpPr>
            <p:nvPr/>
          </p:nvSpPr>
          <p:spPr bwMode="auto">
            <a:xfrm>
              <a:off x="86" y="0"/>
              <a:ext cx="62" cy="86"/>
            </a:xfrm>
            <a:custGeom>
              <a:avLst/>
              <a:gdLst>
                <a:gd name="G0" fmla="+- 58 0 0"/>
                <a:gd name="G1" fmla="+- 21600 0 0"/>
                <a:gd name="G2" fmla="+- 21600 0 0"/>
                <a:gd name="T0" fmla="*/ 0 w 15318"/>
                <a:gd name="T1" fmla="*/ 1 h 21600"/>
                <a:gd name="T2" fmla="*/ 15318 w 15318"/>
                <a:gd name="T3" fmla="*/ 6314 h 21600"/>
                <a:gd name="T4" fmla="*/ 58 w 15318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18" h="21600" fill="none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</a:path>
                <a:path w="15318" h="21600" stroke="0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  <a:lnTo>
                    <a:pt x="58" y="2160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1" name="Arc 30"/>
            <p:cNvSpPr>
              <a:spLocks/>
            </p:cNvSpPr>
            <p:nvPr/>
          </p:nvSpPr>
          <p:spPr bwMode="auto">
            <a:xfrm>
              <a:off x="86" y="25"/>
              <a:ext cx="87" cy="62"/>
            </a:xfrm>
            <a:custGeom>
              <a:avLst/>
              <a:gdLst>
                <a:gd name="G0" fmla="+- 0 0 0"/>
                <a:gd name="G1" fmla="+- 15382 0 0"/>
                <a:gd name="G2" fmla="+- 21600 0 0"/>
                <a:gd name="T0" fmla="*/ 15163 w 21600"/>
                <a:gd name="T1" fmla="*/ 0 h 15382"/>
                <a:gd name="T2" fmla="*/ 21600 w 21600"/>
                <a:gd name="T3" fmla="*/ 15382 h 15382"/>
                <a:gd name="T4" fmla="*/ 0 w 21600"/>
                <a:gd name="T5" fmla="*/ 15382 h 15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382" fill="none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</a:path>
                <a:path w="21600" h="15382" stroke="0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  <a:lnTo>
                    <a:pt x="0" y="15382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2" name="Arc 31"/>
            <p:cNvSpPr>
              <a:spLocks/>
            </p:cNvSpPr>
            <p:nvPr/>
          </p:nvSpPr>
          <p:spPr bwMode="auto">
            <a:xfrm>
              <a:off x="86" y="87"/>
              <a:ext cx="87" cy="61"/>
            </a:xfrm>
            <a:custGeom>
              <a:avLst/>
              <a:gdLst>
                <a:gd name="G0" fmla="+- 0 0 0"/>
                <a:gd name="G1" fmla="+- 29 0 0"/>
                <a:gd name="G2" fmla="+- 21600 0 0"/>
                <a:gd name="T0" fmla="*/ 21599 w 21600"/>
                <a:gd name="T1" fmla="*/ 0 h 15266"/>
                <a:gd name="T2" fmla="*/ 15309 w 21600"/>
                <a:gd name="T3" fmla="*/ 15266 h 15266"/>
                <a:gd name="T4" fmla="*/ 0 w 21600"/>
                <a:gd name="T5" fmla="*/ 29 h 152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266" fill="none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</a:path>
                <a:path w="21600" h="15266" stroke="0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  <a:lnTo>
                    <a:pt x="0" y="29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3" name="Arc 32"/>
            <p:cNvSpPr>
              <a:spLocks/>
            </p:cNvSpPr>
            <p:nvPr/>
          </p:nvSpPr>
          <p:spPr bwMode="auto">
            <a:xfrm>
              <a:off x="86" y="87"/>
              <a:ext cx="62" cy="86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15386 w 15386"/>
                <a:gd name="T1" fmla="*/ 15159 h 21599"/>
                <a:gd name="T2" fmla="*/ 28 w 15386"/>
                <a:gd name="T3" fmla="*/ 21599 h 21599"/>
                <a:gd name="T4" fmla="*/ 0 w 15386"/>
                <a:gd name="T5" fmla="*/ 0 h 21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86" h="21599" fill="none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</a:path>
                <a:path w="15386" h="21599" stroke="0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4" name="Arc 33"/>
            <p:cNvSpPr>
              <a:spLocks/>
            </p:cNvSpPr>
            <p:nvPr/>
          </p:nvSpPr>
          <p:spPr bwMode="auto">
            <a:xfrm flipH="1">
              <a:off x="25" y="87"/>
              <a:ext cx="62" cy="86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15386 w 15386"/>
                <a:gd name="T1" fmla="*/ 15159 h 21599"/>
                <a:gd name="T2" fmla="*/ 28 w 15386"/>
                <a:gd name="T3" fmla="*/ 21599 h 21599"/>
                <a:gd name="T4" fmla="*/ 0 w 15386"/>
                <a:gd name="T5" fmla="*/ 0 h 21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86" h="21599" fill="none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</a:path>
                <a:path w="15386" h="21599" stroke="0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196821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Ura Internalização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Aguardando definição da estrutura que será responsável por assumir os serviços de suporte dessa Internalização. Pendente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uma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Rivaldo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Koreeda.</a:t>
            </a: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chemeClr val="accent2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Ura Internalização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20-10-2015</a:t>
            </a:r>
          </a:p>
          <a:p>
            <a:r>
              <a:rPr lang="pt-BR" sz="1200" i="1" dirty="0" smtClean="0"/>
              <a:t>Data Conclusão: 06-06-2016</a:t>
            </a:r>
          </a:p>
          <a:p>
            <a:r>
              <a:rPr lang="pt-BR" sz="1200" i="1" dirty="0" smtClean="0"/>
              <a:t>Progresso: 20%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</a:t>
            </a:r>
            <a:r>
              <a:rPr lang="pt-BR" sz="1200" i="1" dirty="0" err="1" smtClean="0"/>
              <a:t>Luis</a:t>
            </a:r>
            <a:r>
              <a:rPr lang="pt-BR" sz="1200" i="1" dirty="0" smtClean="0"/>
              <a:t> Marçal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Confirmado dia 16 o recebimento da 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Genesys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do pedido para treinamento.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400" dirty="0" smtClean="0">
                <a:solidFill>
                  <a:srgbClr val="00B050"/>
                </a:solidFill>
              </a:rPr>
              <a:t>SC </a:t>
            </a:r>
            <a:r>
              <a:rPr lang="pt-BR" sz="1400" dirty="0">
                <a:solidFill>
                  <a:srgbClr val="00B050"/>
                </a:solidFill>
              </a:rPr>
              <a:t>784 e 785 - Processo Concluído. 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pt-BR" sz="1200" dirty="0" smtClean="0">
                <a:solidFill>
                  <a:srgbClr val="FF0000"/>
                </a:solidFill>
              </a:rPr>
              <a:t>Risco: Prazo de treinamento vencido esta semana. 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Existe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ainda a pendência de definição de qual equipe será treinada. Depende de uma conversa do Rivaldo com o Koreeda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/>
              <a:t>M</a:t>
            </a:r>
            <a:r>
              <a:rPr lang="pt-BR" sz="1400" dirty="0" smtClean="0"/>
              <a:t>onitoração </a:t>
            </a:r>
            <a:r>
              <a:rPr lang="pt-BR" sz="1400" dirty="0"/>
              <a:t>pró ativa de </a:t>
            </a:r>
            <a:r>
              <a:rPr lang="pt-BR" sz="1400" dirty="0" smtClean="0"/>
              <a:t>hardware e elimina </a:t>
            </a:r>
            <a:r>
              <a:rPr lang="pt-BR" sz="1400" dirty="0"/>
              <a:t>a possibilidade de perda de dados por falta de visibilidade do </a:t>
            </a:r>
            <a:r>
              <a:rPr lang="pt-BR" sz="1400" dirty="0" smtClean="0"/>
              <a:t>ambiente. </a:t>
            </a:r>
            <a:endParaRPr lang="pt-BR" sz="1400" dirty="0"/>
          </a:p>
        </p:txBody>
      </p:sp>
      <p:grpSp>
        <p:nvGrpSpPr>
          <p:cNvPr id="13" name="Group 16"/>
          <p:cNvGrpSpPr>
            <a:grpSpLocks/>
          </p:cNvGrpSpPr>
          <p:nvPr/>
        </p:nvGrpSpPr>
        <p:grpSpPr bwMode="auto">
          <a:xfrm>
            <a:off x="2890797" y="1499802"/>
            <a:ext cx="274638" cy="274638"/>
            <a:chOff x="0" y="0"/>
            <a:chExt cx="173" cy="173"/>
          </a:xfrm>
        </p:grpSpPr>
        <p:sp>
          <p:nvSpPr>
            <p:cNvPr id="14" name="Oval 17"/>
            <p:cNvSpPr>
              <a:spLocks noChangeArrowheads="1"/>
            </p:cNvSpPr>
            <p:nvPr/>
          </p:nvSpPr>
          <p:spPr bwMode="auto">
            <a:xfrm>
              <a:off x="0" y="0"/>
              <a:ext cx="173" cy="173"/>
            </a:xfrm>
            <a:prstGeom prst="ellips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19" name="Arc 18"/>
            <p:cNvSpPr>
              <a:spLocks/>
            </p:cNvSpPr>
            <p:nvPr/>
          </p:nvSpPr>
          <p:spPr bwMode="auto">
            <a:xfrm>
              <a:off x="86" y="0"/>
              <a:ext cx="62" cy="86"/>
            </a:xfrm>
            <a:custGeom>
              <a:avLst/>
              <a:gdLst>
                <a:gd name="G0" fmla="+- 58 0 0"/>
                <a:gd name="G1" fmla="+- 21600 0 0"/>
                <a:gd name="G2" fmla="+- 21600 0 0"/>
                <a:gd name="T0" fmla="*/ 0 w 15318"/>
                <a:gd name="T1" fmla="*/ 1 h 21600"/>
                <a:gd name="T2" fmla="*/ 15318 w 15318"/>
                <a:gd name="T3" fmla="*/ 6314 h 21600"/>
                <a:gd name="T4" fmla="*/ 58 w 15318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18" h="21600" fill="none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</a:path>
                <a:path w="15318" h="21600" stroke="0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  <a:lnTo>
                    <a:pt x="58" y="2160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0" name="Arc 19"/>
            <p:cNvSpPr>
              <a:spLocks/>
            </p:cNvSpPr>
            <p:nvPr/>
          </p:nvSpPr>
          <p:spPr bwMode="auto">
            <a:xfrm>
              <a:off x="86" y="25"/>
              <a:ext cx="87" cy="62"/>
            </a:xfrm>
            <a:custGeom>
              <a:avLst/>
              <a:gdLst>
                <a:gd name="G0" fmla="+- 0 0 0"/>
                <a:gd name="G1" fmla="+- 15382 0 0"/>
                <a:gd name="G2" fmla="+- 21600 0 0"/>
                <a:gd name="T0" fmla="*/ 15163 w 21600"/>
                <a:gd name="T1" fmla="*/ 0 h 15382"/>
                <a:gd name="T2" fmla="*/ 21600 w 21600"/>
                <a:gd name="T3" fmla="*/ 15382 h 15382"/>
                <a:gd name="T4" fmla="*/ 0 w 21600"/>
                <a:gd name="T5" fmla="*/ 15382 h 15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382" fill="none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</a:path>
                <a:path w="21600" h="15382" stroke="0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  <a:lnTo>
                    <a:pt x="0" y="15382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1" name="Arc 20"/>
            <p:cNvSpPr>
              <a:spLocks/>
            </p:cNvSpPr>
            <p:nvPr/>
          </p:nvSpPr>
          <p:spPr bwMode="auto">
            <a:xfrm>
              <a:off x="86" y="87"/>
              <a:ext cx="87" cy="61"/>
            </a:xfrm>
            <a:custGeom>
              <a:avLst/>
              <a:gdLst>
                <a:gd name="G0" fmla="+- 0 0 0"/>
                <a:gd name="G1" fmla="+- 29 0 0"/>
                <a:gd name="G2" fmla="+- 21600 0 0"/>
                <a:gd name="T0" fmla="*/ 21599 w 21600"/>
                <a:gd name="T1" fmla="*/ 0 h 15266"/>
                <a:gd name="T2" fmla="*/ 15309 w 21600"/>
                <a:gd name="T3" fmla="*/ 15266 h 15266"/>
                <a:gd name="T4" fmla="*/ 0 w 21600"/>
                <a:gd name="T5" fmla="*/ 29 h 152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266" fill="none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</a:path>
                <a:path w="21600" h="15266" stroke="0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  <a:lnTo>
                    <a:pt x="0" y="29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391538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503" y="650871"/>
            <a:ext cx="6027461" cy="4520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8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Alinhamento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1886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7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0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tint val="100000"/>
              <a:shade val="100000"/>
              <a:satMod val="130000"/>
            </a:schemeClr>
          </a:gs>
          <a:gs pos="100000">
            <a:schemeClr val="phClr">
              <a:tint val="50000"/>
              <a:shade val="100000"/>
              <a:satMod val="350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12806</TotalTime>
  <Words>1875</Words>
  <Application>Microsoft Office PowerPoint</Application>
  <PresentationFormat>Personalizar</PresentationFormat>
  <Paragraphs>275</Paragraphs>
  <Slides>21</Slides>
  <Notes>18</Notes>
  <HiddenSlides>3</HiddenSlides>
  <MMClips>0</MMClips>
  <ScaleCrop>false</ScaleCrop>
  <HeadingPairs>
    <vt:vector size="8" baseType="variant">
      <vt:variant>
        <vt:lpstr>Fontes usadas</vt:lpstr>
      </vt:variant>
      <vt:variant>
        <vt:i4>4</vt:i4>
      </vt:variant>
      <vt:variant>
        <vt:lpstr>Tema</vt:lpstr>
      </vt:variant>
      <vt:variant>
        <vt:i4>4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21</vt:i4>
      </vt:variant>
    </vt:vector>
  </HeadingPairs>
  <TitlesOfParts>
    <vt:vector size="31" baseType="lpstr">
      <vt:lpstr>Arial</vt:lpstr>
      <vt:lpstr>Calibri</vt:lpstr>
      <vt:lpstr>Calibri Light</vt:lpstr>
      <vt:lpstr>Wingdings</vt:lpstr>
      <vt:lpstr>Tema do Office</vt:lpstr>
      <vt:lpstr>5_Tema do Office</vt:lpstr>
      <vt:lpstr>7_Tema do Office</vt:lpstr>
      <vt:lpstr>10_Tema do Office</vt:lpstr>
      <vt:lpstr>Slide do think-cell</vt:lpstr>
      <vt:lpstr>Planilha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Gustavo Nitzsche</dc:creator>
  <cp:lastModifiedBy>adm</cp:lastModifiedBy>
  <cp:revision>1013</cp:revision>
  <dcterms:created xsi:type="dcterms:W3CDTF">2015-08-20T14:57:26Z</dcterms:created>
  <dcterms:modified xsi:type="dcterms:W3CDTF">2016-02-18T18:14:59Z</dcterms:modified>
</cp:coreProperties>
</file>