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notesSlides/notesSlide3.xml" ContentType="application/vnd.openxmlformats-officedocument.presentationml.notesSlide+xml"/>
  <Override PartName="/ppt/charts/chart5.xml" ContentType="application/vnd.openxmlformats-officedocument.drawingml.chart+xml"/>
  <Override PartName="/ppt/notesSlides/notesSlide4.xml" ContentType="application/vnd.openxmlformats-officedocument.presentationml.notesSlide+xml"/>
  <Override PartName="/ppt/charts/chart6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22"/>
  </p:notesMasterIdLst>
  <p:sldIdLst>
    <p:sldId id="262" r:id="rId5"/>
    <p:sldId id="265" r:id="rId6"/>
    <p:sldId id="437" r:id="rId7"/>
    <p:sldId id="438" r:id="rId8"/>
    <p:sldId id="439" r:id="rId9"/>
    <p:sldId id="440" r:id="rId10"/>
    <p:sldId id="441" r:id="rId11"/>
    <p:sldId id="444" r:id="rId12"/>
    <p:sldId id="442" r:id="rId13"/>
    <p:sldId id="443" r:id="rId14"/>
    <p:sldId id="401" r:id="rId15"/>
    <p:sldId id="411" r:id="rId16"/>
    <p:sldId id="424" r:id="rId17"/>
    <p:sldId id="425" r:id="rId18"/>
    <p:sldId id="434" r:id="rId19"/>
    <p:sldId id="435" r:id="rId20"/>
    <p:sldId id="436" r:id="rId21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" initials="a" lastIdx="1" clrIdx="0">
    <p:extLst>
      <p:ext uri="{19B8F6BF-5375-455C-9EA6-DF929625EA0E}">
        <p15:presenceInfo xmlns:p15="http://schemas.microsoft.com/office/powerpoint/2012/main" userId="adm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9" autoAdjust="0"/>
    <p:restoredTop sz="91785" autoAdjust="0"/>
  </p:normalViewPr>
  <p:slideViewPr>
    <p:cSldViewPr snapToGrid="0" snapToObjects="1">
      <p:cViewPr varScale="1">
        <p:scale>
          <a:sx n="90" d="100"/>
          <a:sy n="90" d="100"/>
        </p:scale>
        <p:origin x="846" y="84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elipe\Desktop\Comparativo%20AI.xlsm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elipe\Desktop\Comparativo%20AI.xlsm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elipe\Desktop\Comparativo%20AI.xlsm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 smtClean="0"/>
              <a:t>Volume</a:t>
            </a:r>
            <a:r>
              <a:rPr lang="pt-BR" sz="1500" b="1" baseline="0" dirty="0" smtClean="0"/>
              <a:t> de </a:t>
            </a:r>
            <a:r>
              <a:rPr lang="pt-BR" sz="1500" b="1" dirty="0" smtClean="0"/>
              <a:t>Incidentes Alto Impacto</a:t>
            </a:r>
            <a:endParaRPr lang="pt-BR" sz="1500" b="1" dirty="0"/>
          </a:p>
        </c:rich>
      </c:tx>
      <c:layout>
        <c:manualLayout>
          <c:xMode val="edge"/>
          <c:yMode val="edge"/>
          <c:x val="0.13204545348244393"/>
          <c:y val="1.13419541115253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2.4382486517836682E-2"/>
          <c:y val="0.21105009973328545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A342-4057-BDFD-D4272EDC6324}"/>
              </c:ext>
            </c:extLst>
          </c:dPt>
          <c:dLbls>
            <c:dLbl>
              <c:idx val="0"/>
              <c:layout>
                <c:manualLayout>
                  <c:x val="-5.9401031800599621E-3"/>
                  <c:y val="-0.2948908068996589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A342-4057-BDFD-D4272EDC6324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5.4450316802510192E-17"/>
                  <c:y val="-0.1361034493383041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A342-4057-BDFD-D4272EDC6324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2.9700515900299811E-3"/>
                  <c:y val="-0.1190905181710161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A342-4057-BDFD-D4272EDC6324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2.9700515900299811E-3"/>
                  <c:y val="-0.1304324722825414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3AF3-47B6-B362-8D75B94687B9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5.9401031800599621E-3"/>
                  <c:y val="-0.1077485640594908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3AF3-47B6-B362-8D75B94687B9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5.9401031800599621E-3"/>
                  <c:y val="-7.372270172491474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A342-4057-BDFD-D4272EDC6324}"/>
                </c:ex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-1.0890063360502038E-16"/>
                  <c:y val="-5.670977055762662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9BCA-49D8-A455-9E0DDBEF4916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Plan1!$A$2:$A$6</c:f>
              <c:strCache>
                <c:ptCount val="5"/>
                <c:pt idx="0">
                  <c:v>Ago</c:v>
                </c:pt>
                <c:pt idx="1">
                  <c:v>Nov</c:v>
                </c:pt>
                <c:pt idx="2">
                  <c:v>Dez</c:v>
                </c:pt>
                <c:pt idx="3">
                  <c:v>Jan</c:v>
                </c:pt>
                <c:pt idx="4">
                  <c:v>Fev</c:v>
                </c:pt>
              </c:strCache>
            </c:strRef>
          </c:cat>
          <c:val>
            <c:numRef>
              <c:f>Plan1!$B$2:$B$6</c:f>
              <c:numCache>
                <c:formatCode>General</c:formatCode>
                <c:ptCount val="5"/>
                <c:pt idx="0" formatCode="#,##0">
                  <c:v>1494</c:v>
                </c:pt>
                <c:pt idx="1">
                  <c:v>415</c:v>
                </c:pt>
                <c:pt idx="2">
                  <c:v>294</c:v>
                </c:pt>
                <c:pt idx="3">
                  <c:v>210</c:v>
                </c:pt>
                <c:pt idx="4">
                  <c:v>34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411608368"/>
        <c:axId val="411608760"/>
      </c:barChart>
      <c:catAx>
        <c:axId val="411608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11608760"/>
        <c:crosses val="autoZero"/>
        <c:auto val="1"/>
        <c:lblAlgn val="ctr"/>
        <c:lblOffset val="100"/>
        <c:noMultiLvlLbl val="0"/>
      </c:catAx>
      <c:valAx>
        <c:axId val="411608760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4116083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 smtClean="0"/>
              <a:t>Média diária de Incidentes Alto Impacto</a:t>
            </a:r>
            <a:endParaRPr lang="pt-BR" sz="1500" b="1" dirty="0"/>
          </a:p>
        </c:rich>
      </c:tx>
      <c:layout>
        <c:manualLayout>
          <c:xMode val="edge"/>
          <c:yMode val="edge"/>
          <c:x val="0.158505000007058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2.7352474322057077E-2"/>
          <c:y val="0.19970809412273891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852E-40EC-BB07-F4FF4F71836A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52E-40EC-BB07-F4FF4F71836A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336-4DE1-AAF2-45A9A199F5C6}"/>
              </c:ext>
            </c:extLst>
          </c:dPt>
          <c:dLbls>
            <c:dLbl>
              <c:idx val="0"/>
              <c:layout>
                <c:manualLayout>
                  <c:x val="2.9880988961915622E-3"/>
                  <c:y val="-0.3072155333334229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1336-4DE1-AAF2-45A9A199F5C6}"/>
                </c:ext>
                <c:ext xmlns:c15="http://schemas.microsoft.com/office/drawing/2012/chart" uri="{CE6537A1-D6FC-4f65-9D91-7224C49458BB}">
                  <c15:layout>
                    <c:manualLayout>
                      <c:w val="0.10159536247051311"/>
                      <c:h val="0.11947270740744224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"/>
                  <c:y val="-0.1479185901234999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1336-4DE1-AAF2-45A9A199F5C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1365402370370768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1336-4DE1-AAF2-45A9A199F5C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1251618839506537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852E-40EC-BB07-F4FF4F71836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5.9761977923831243E-3"/>
                  <c:y val="-0.1194727074074422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852E-40EC-BB07-F4FF4F71836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2.9880988961914524E-3"/>
                  <c:y val="-9.671600123459621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1336-4DE1-AAF2-45A9A199F5C6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Plan1!$A$2:$A$6</c:f>
              <c:strCache>
                <c:ptCount val="5"/>
                <c:pt idx="0">
                  <c:v>Ago</c:v>
                </c:pt>
                <c:pt idx="1">
                  <c:v>Nov</c:v>
                </c:pt>
                <c:pt idx="2">
                  <c:v>Dez</c:v>
                </c:pt>
                <c:pt idx="3">
                  <c:v>Jan</c:v>
                </c:pt>
                <c:pt idx="4">
                  <c:v>Fev</c:v>
                </c:pt>
              </c:strCache>
            </c:strRef>
          </c:cat>
          <c:val>
            <c:numRef>
              <c:f>Plan1!$B$2:$B$6</c:f>
              <c:numCache>
                <c:formatCode>#,##0.00</c:formatCode>
                <c:ptCount val="5"/>
                <c:pt idx="0">
                  <c:v>48.19</c:v>
                </c:pt>
                <c:pt idx="1">
                  <c:v>13.84</c:v>
                </c:pt>
                <c:pt idx="2" formatCode="General">
                  <c:v>9.48</c:v>
                </c:pt>
                <c:pt idx="3" formatCode="0.00">
                  <c:v>7.11</c:v>
                </c:pt>
                <c:pt idx="4" formatCode="General">
                  <c:v>11.33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852E-40EC-BB07-F4FF4F71836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411609544"/>
        <c:axId val="411609936"/>
      </c:barChart>
      <c:catAx>
        <c:axId val="411609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11609936"/>
        <c:crosses val="autoZero"/>
        <c:auto val="1"/>
        <c:lblAlgn val="ctr"/>
        <c:lblOffset val="100"/>
        <c:noMultiLvlLbl val="0"/>
      </c:catAx>
      <c:valAx>
        <c:axId val="411609936"/>
        <c:scaling>
          <c:orientation val="minMax"/>
        </c:scaling>
        <c:delete val="1"/>
        <c:axPos val="l"/>
        <c:numFmt formatCode="#,##0.00" sourceLinked="1"/>
        <c:majorTickMark val="none"/>
        <c:minorTickMark val="none"/>
        <c:tickLblPos val="nextTo"/>
        <c:crossAx val="4116095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500" b="1" dirty="0"/>
              <a:t>Gestão de </a:t>
            </a:r>
            <a:r>
              <a:rPr lang="en-US" sz="1500" b="1" dirty="0" smtClean="0"/>
              <a:t>Problemas</a:t>
            </a:r>
          </a:p>
          <a:p>
            <a:pPr>
              <a:defRPr sz="1600" b="1"/>
            </a:pPr>
            <a:r>
              <a:rPr lang="en-US" sz="1200" b="1" dirty="0" smtClean="0"/>
              <a:t>Total 32</a:t>
            </a:r>
            <a:endParaRPr lang="en-US" sz="1200" b="1" dirty="0"/>
          </a:p>
        </c:rich>
      </c:tx>
      <c:layout>
        <c:manualLayout>
          <c:xMode val="edge"/>
          <c:yMode val="edge"/>
          <c:x val="0.2135858779210657"/>
          <c:y val="1.782481046260829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7523974564955888"/>
          <c:y val="0.29664687735193479"/>
          <c:w val="0.35111029917702913"/>
          <c:h val="0.58968743462673223"/>
        </c:manualLayout>
      </c:layout>
      <c:pie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Coluna1</c:v>
                </c:pt>
              </c:strCache>
            </c:strRef>
          </c:tx>
          <c:spPr>
            <a:scene3d>
              <a:camera prst="orthographicFront"/>
              <a:lightRig rig="balanced" dir="t">
                <a:rot lat="0" lon="0" rev="0"/>
              </a:lightRig>
            </a:scene3d>
            <a:sp3d prstMaterial="softEdge">
              <a:bevelT w="165100" prst="coolSlant"/>
            </a:sp3d>
          </c:spPr>
          <c:explosion val="11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alanced" dir="t">
                  <a:rot lat="0" lon="0" rev="0"/>
                </a:lightRig>
              </a:scene3d>
              <a:sp3d prstMaterial="softEdge"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4C87-4E75-B6BC-1613E3B4466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alanced" dir="t">
                  <a:rot lat="0" lon="0" rev="0"/>
                </a:lightRig>
              </a:scene3d>
              <a:sp3d prstMaterial="softEdge"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0-4E6D-4022-8EBF-F7348824080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alanced" dir="t">
                  <a:rot lat="0" lon="0" rev="0"/>
                </a:lightRig>
              </a:scene3d>
              <a:sp3d prstMaterial="softEdge"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4C87-4E75-B6BC-1613E3B4466B}"/>
              </c:ext>
            </c:extLst>
          </c:dPt>
          <c:dPt>
            <c:idx val="3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balanced" dir="t">
                  <a:rot lat="0" lon="0" rev="0"/>
                </a:lightRig>
              </a:scene3d>
              <a:sp3d prstMaterial="softEdge"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4C87-4E75-B6BC-1613E3B4466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balanced" dir="t">
                  <a:rot lat="0" lon="0" rev="0"/>
                </a:lightRig>
              </a:scene3d>
              <a:sp3d prstMaterial="softEdge"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F7CF-4ED1-8645-4BF9226656C5}"/>
              </c:ext>
            </c:extLst>
          </c:dPt>
          <c:dLbls>
            <c:dLbl>
              <c:idx val="0"/>
              <c:layout>
                <c:manualLayout>
                  <c:x val="-3.7038988393764995E-2"/>
                  <c:y val="0.1229024648877924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4C87-4E75-B6BC-1613E3B4466B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6.506884911493617E-2"/>
                  <c:y val="-9.68185610787701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4C87-4E75-B6BC-1613E3B4466B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2.3332446632594071E-2"/>
                  <c:y val="-1.95781966475987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4C87-4E75-B6BC-1613E3B4466B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solidFill>
                <a:schemeClr val="tx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Plan1!$A$2:$A$5</c:f>
              <c:strCache>
                <c:ptCount val="4"/>
                <c:pt idx="0">
                  <c:v>Backlog</c:v>
                </c:pt>
                <c:pt idx="1">
                  <c:v>Investigação</c:v>
                </c:pt>
                <c:pt idx="2">
                  <c:v>Diagnosticado</c:v>
                </c:pt>
                <c:pt idx="3">
                  <c:v>Finalizado</c:v>
                </c:pt>
              </c:strCache>
            </c:strRef>
          </c:cat>
          <c:val>
            <c:numRef>
              <c:f>Plan1!$B$2:$B$5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3</c:v>
                </c:pt>
                <c:pt idx="3">
                  <c:v>19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4E6D-4022-8EBF-F734882408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200968655044549E-2"/>
          <c:y val="0.1152471147111666"/>
          <c:w val="0.94864560982860335"/>
          <c:h val="0.75295003854531117"/>
        </c:manualLayout>
      </c:layout>
      <c:barChart>
        <c:barDir val="col"/>
        <c:grouping val="clustered"/>
        <c:varyColors val="0"/>
        <c:ser>
          <c:idx val="1"/>
          <c:order val="0"/>
          <c:tx>
            <c:v>Total de Chamados</c:v>
          </c:tx>
          <c:spPr>
            <a:solidFill>
              <a:schemeClr val="accent1"/>
            </a:solidFill>
            <a:ln w="19050" cap="flat" cmpd="sng" algn="ctr">
              <a:solidFill>
                <a:schemeClr val="lt1"/>
              </a:solidFill>
              <a:prstDash val="solid"/>
              <a:miter lim="800000"/>
            </a:ln>
            <a:effectLst/>
          </c:spPr>
          <c:invertIfNegative val="0"/>
          <c:dLbls>
            <c:dLbl>
              <c:idx val="3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F51F-4A4D-8F0D-21C73ACFA155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F51F-4A4D-8F0D-21C73ACFA155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F51F-4A4D-8F0D-21C73ACFA155}"/>
                </c:ex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F51F-4A4D-8F0D-21C73ACFA155}"/>
                </c:ex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F51F-4A4D-8F0D-21C73ACFA155}"/>
                </c:ex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F51F-4A4D-8F0D-21C73ACFA155}"/>
                </c:ex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F51F-4A4D-8F0D-21C73ACFA155}"/>
                </c:ex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F51F-4A4D-8F0D-21C73ACFA155}"/>
                </c:ext>
                <c:ext xmlns:c15="http://schemas.microsoft.com/office/drawing/2012/chart" uri="{CE6537A1-D6FC-4f65-9D91-7224C49458BB}"/>
              </c:extLst>
            </c:dLbl>
            <c:dLbl>
              <c:idx val="11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F51F-4A4D-8F0D-21C73ACFA155}"/>
                </c:ext>
                <c:ext xmlns:c15="http://schemas.microsoft.com/office/drawing/2012/chart" uri="{CE6537A1-D6FC-4f65-9D91-7224C49458BB}"/>
              </c:extLst>
            </c:dLbl>
            <c:dLbl>
              <c:idx val="12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F51F-4A4D-8F0D-21C73ACFA155}"/>
                </c:ext>
                <c:ext xmlns:c15="http://schemas.microsoft.com/office/drawing/2012/chart" uri="{CE6537A1-D6FC-4f65-9D91-7224C49458BB}"/>
              </c:extLst>
            </c:dLbl>
            <c:dLbl>
              <c:idx val="13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F51F-4A4D-8F0D-21C73ACFA155}"/>
                </c:ext>
                <c:ext xmlns:c15="http://schemas.microsoft.com/office/drawing/2012/chart" uri="{CE6537A1-D6FC-4f65-9D91-7224C49458BB}"/>
              </c:extLst>
            </c:dLbl>
            <c:dLbl>
              <c:idx val="14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F51F-4A4D-8F0D-21C73ACFA155}"/>
                </c:ext>
                <c:ext xmlns:c15="http://schemas.microsoft.com/office/drawing/2012/chart" uri="{CE6537A1-D6FC-4f65-9D91-7224C49458BB}"/>
              </c:extLst>
            </c:dLbl>
            <c:dLbl>
              <c:idx val="15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C-F51F-4A4D-8F0D-21C73ACFA155}"/>
                </c:ext>
                <c:ext xmlns:c15="http://schemas.microsoft.com/office/drawing/2012/chart" uri="{CE6537A1-D6FC-4f65-9D91-7224C49458BB}"/>
              </c:extLst>
            </c:dLbl>
            <c:dLbl>
              <c:idx val="16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D-F51F-4A4D-8F0D-21C73ACFA155}"/>
                </c:ext>
                <c:ext xmlns:c15="http://schemas.microsoft.com/office/drawing/2012/chart" uri="{CE6537A1-D6FC-4f65-9D91-7224C49458BB}"/>
              </c:extLst>
            </c:dLbl>
            <c:dLbl>
              <c:idx val="17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E-F51F-4A4D-8F0D-21C73ACFA155}"/>
                </c:ext>
                <c:ext xmlns:c15="http://schemas.microsoft.com/office/drawing/2012/chart" uri="{CE6537A1-D6FC-4f65-9D91-7224C49458BB}"/>
              </c:extLst>
            </c:dLbl>
            <c:dLbl>
              <c:idx val="18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F-F51F-4A4D-8F0D-21C73ACFA155}"/>
                </c:ext>
                <c:ext xmlns:c15="http://schemas.microsoft.com/office/drawing/2012/chart" uri="{CE6537A1-D6FC-4f65-9D91-7224C49458BB}"/>
              </c:extLst>
            </c:dLbl>
            <c:dLbl>
              <c:idx val="19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0-F51F-4A4D-8F0D-21C73ACFA155}"/>
                </c:ext>
                <c:ext xmlns:c15="http://schemas.microsoft.com/office/drawing/2012/chart" uri="{CE6537A1-D6FC-4f65-9D91-7224C49458BB}"/>
              </c:extLst>
            </c:dLbl>
            <c:dLbl>
              <c:idx val="20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1-F51F-4A4D-8F0D-21C73ACFA155}"/>
                </c:ext>
                <c:ext xmlns:c15="http://schemas.microsoft.com/office/drawing/2012/chart" uri="{CE6537A1-D6FC-4f65-9D91-7224C49458BB}"/>
              </c:extLst>
            </c:dLbl>
            <c:dLbl>
              <c:idx val="21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2-F51F-4A4D-8F0D-21C73ACFA155}"/>
                </c:ext>
                <c:ext xmlns:c15="http://schemas.microsoft.com/office/drawing/2012/chart" uri="{CE6537A1-D6FC-4f65-9D91-7224C49458BB}"/>
              </c:extLst>
            </c:dLbl>
            <c:dLbl>
              <c:idx val="22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3-F51F-4A4D-8F0D-21C73ACFA155}"/>
                </c:ext>
                <c:ext xmlns:c15="http://schemas.microsoft.com/office/drawing/2012/chart" uri="{CE6537A1-D6FC-4f65-9D91-7224C49458BB}"/>
              </c:extLst>
            </c:dLbl>
            <c:dLbl>
              <c:idx val="23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4-F51F-4A4D-8F0D-21C73ACFA155}"/>
                </c:ext>
                <c:ext xmlns:c15="http://schemas.microsoft.com/office/drawing/2012/chart" uri="{CE6537A1-D6FC-4f65-9D91-7224C49458BB}"/>
              </c:extLst>
            </c:dLbl>
            <c:dLbl>
              <c:idx val="24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5-F51F-4A4D-8F0D-21C73ACFA155}"/>
                </c:ext>
                <c:ext xmlns:c15="http://schemas.microsoft.com/office/drawing/2012/chart" uri="{CE6537A1-D6FC-4f65-9D91-7224C49458BB}"/>
              </c:extLst>
            </c:dLbl>
            <c:dLbl>
              <c:idx val="25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6-F51F-4A4D-8F0D-21C73ACFA155}"/>
                </c:ext>
                <c:ext xmlns:c15="http://schemas.microsoft.com/office/drawing/2012/chart" uri="{CE6537A1-D6FC-4f65-9D91-7224C49458BB}"/>
              </c:extLst>
            </c:dLbl>
            <c:dLbl>
              <c:idx val="26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7-F51F-4A4D-8F0D-21C73ACFA155}"/>
                </c:ext>
                <c:ext xmlns:c15="http://schemas.microsoft.com/office/drawing/2012/chart" uri="{CE6537A1-D6FC-4f65-9D91-7224C49458BB}"/>
              </c:extLst>
            </c:dLbl>
            <c:dLbl>
              <c:idx val="27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8-F51F-4A4D-8F0D-21C73ACFA155}"/>
                </c:ext>
                <c:ext xmlns:c15="http://schemas.microsoft.com/office/drawing/2012/chart" uri="{CE6537A1-D6FC-4f65-9D91-7224C49458BB}"/>
              </c:extLst>
            </c:dLbl>
            <c:dLbl>
              <c:idx val="28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9-F51F-4A4D-8F0D-21C73ACFA155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numRef>
              <c:f>'Dados - Gráficos'!$D$9:$AF$9</c:f>
              <c:numCache>
                <c:formatCode>[$-416]d;@</c:formatCode>
                <c:ptCount val="29"/>
                <c:pt idx="0">
                  <c:v>42401</c:v>
                </c:pt>
                <c:pt idx="1">
                  <c:v>42402</c:v>
                </c:pt>
                <c:pt idx="2">
                  <c:v>42403</c:v>
                </c:pt>
                <c:pt idx="3">
                  <c:v>42404</c:v>
                </c:pt>
                <c:pt idx="4">
                  <c:v>42405</c:v>
                </c:pt>
                <c:pt idx="5">
                  <c:v>42406</c:v>
                </c:pt>
                <c:pt idx="6">
                  <c:v>42407</c:v>
                </c:pt>
                <c:pt idx="7">
                  <c:v>42408</c:v>
                </c:pt>
                <c:pt idx="8">
                  <c:v>42409</c:v>
                </c:pt>
                <c:pt idx="9">
                  <c:v>42410</c:v>
                </c:pt>
                <c:pt idx="10">
                  <c:v>42411</c:v>
                </c:pt>
                <c:pt idx="11">
                  <c:v>42412</c:v>
                </c:pt>
                <c:pt idx="12">
                  <c:v>42413</c:v>
                </c:pt>
                <c:pt idx="13">
                  <c:v>42414</c:v>
                </c:pt>
                <c:pt idx="14">
                  <c:v>42415</c:v>
                </c:pt>
                <c:pt idx="15">
                  <c:v>42416</c:v>
                </c:pt>
                <c:pt idx="16">
                  <c:v>42417</c:v>
                </c:pt>
                <c:pt idx="17">
                  <c:v>42418</c:v>
                </c:pt>
                <c:pt idx="18">
                  <c:v>42419</c:v>
                </c:pt>
                <c:pt idx="19">
                  <c:v>42420</c:v>
                </c:pt>
                <c:pt idx="20">
                  <c:v>42421</c:v>
                </c:pt>
                <c:pt idx="21">
                  <c:v>42422</c:v>
                </c:pt>
                <c:pt idx="22">
                  <c:v>42423</c:v>
                </c:pt>
                <c:pt idx="23">
                  <c:v>42424</c:v>
                </c:pt>
                <c:pt idx="24">
                  <c:v>42425</c:v>
                </c:pt>
                <c:pt idx="25">
                  <c:v>42426</c:v>
                </c:pt>
                <c:pt idx="26">
                  <c:v>42427</c:v>
                </c:pt>
                <c:pt idx="27">
                  <c:v>42428</c:v>
                </c:pt>
                <c:pt idx="28">
                  <c:v>42429</c:v>
                </c:pt>
              </c:numCache>
            </c:numRef>
          </c:cat>
          <c:val>
            <c:numRef>
              <c:f>'Dados - Gráficos'!$D$4:$AF$4</c:f>
              <c:numCache>
                <c:formatCode>#,##0</c:formatCode>
                <c:ptCount val="29"/>
                <c:pt idx="0">
                  <c:v>11</c:v>
                </c:pt>
                <c:pt idx="1">
                  <c:v>11</c:v>
                </c:pt>
                <c:pt idx="2">
                  <c:v>12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A-F51F-4A4D-8F0D-21C73ACFA1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2"/>
        <c:overlap val="100"/>
        <c:axId val="401184448"/>
        <c:axId val="401184840"/>
      </c:barChart>
      <c:lineChart>
        <c:grouping val="standard"/>
        <c:varyColors val="0"/>
        <c:ser>
          <c:idx val="0"/>
          <c:order val="1"/>
          <c:tx>
            <c:v>Meta seg à sex</c:v>
          </c:tx>
          <c:spPr>
            <a:ln>
              <a:solidFill>
                <a:schemeClr val="bg1"/>
              </a:solidFill>
            </a:ln>
            <a:effectLst/>
          </c:spPr>
          <c:marker>
            <c:symbol val="none"/>
          </c:marker>
          <c:dLbls>
            <c:dLbl>
              <c:idx val="27"/>
              <c:layout>
                <c:manualLayout>
                  <c:x val="8.2081686429512329E-2"/>
                  <c:y val="0"/>
                </c:manualLayout>
              </c:layout>
              <c:spPr/>
              <c:txPr>
                <a:bodyPr/>
                <a:lstStyle/>
                <a:p>
                  <a:pPr>
                    <a:defRPr>
                      <a:solidFill>
                        <a:srgbClr val="FF0000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B-F51F-4A4D-8F0D-21C73ACFA155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38100" cap="rnd">
                <a:solidFill>
                  <a:srgbClr val="FF000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'Dados - Gráficos'!$D$9:$AF$9</c:f>
              <c:numCache>
                <c:formatCode>[$-416]d;@</c:formatCode>
                <c:ptCount val="29"/>
                <c:pt idx="0">
                  <c:v>42401</c:v>
                </c:pt>
                <c:pt idx="1">
                  <c:v>42402</c:v>
                </c:pt>
                <c:pt idx="2">
                  <c:v>42403</c:v>
                </c:pt>
                <c:pt idx="3">
                  <c:v>42404</c:v>
                </c:pt>
                <c:pt idx="4">
                  <c:v>42405</c:v>
                </c:pt>
                <c:pt idx="5">
                  <c:v>42406</c:v>
                </c:pt>
                <c:pt idx="6">
                  <c:v>42407</c:v>
                </c:pt>
                <c:pt idx="7">
                  <c:v>42408</c:v>
                </c:pt>
                <c:pt idx="8">
                  <c:v>42409</c:v>
                </c:pt>
                <c:pt idx="9">
                  <c:v>42410</c:v>
                </c:pt>
                <c:pt idx="10">
                  <c:v>42411</c:v>
                </c:pt>
                <c:pt idx="11">
                  <c:v>42412</c:v>
                </c:pt>
                <c:pt idx="12">
                  <c:v>42413</c:v>
                </c:pt>
                <c:pt idx="13">
                  <c:v>42414</c:v>
                </c:pt>
                <c:pt idx="14">
                  <c:v>42415</c:v>
                </c:pt>
                <c:pt idx="15">
                  <c:v>42416</c:v>
                </c:pt>
                <c:pt idx="16">
                  <c:v>42417</c:v>
                </c:pt>
                <c:pt idx="17">
                  <c:v>42418</c:v>
                </c:pt>
                <c:pt idx="18">
                  <c:v>42419</c:v>
                </c:pt>
                <c:pt idx="19">
                  <c:v>42420</c:v>
                </c:pt>
                <c:pt idx="20">
                  <c:v>42421</c:v>
                </c:pt>
                <c:pt idx="21">
                  <c:v>42422</c:v>
                </c:pt>
                <c:pt idx="22">
                  <c:v>42423</c:v>
                </c:pt>
                <c:pt idx="23">
                  <c:v>42424</c:v>
                </c:pt>
                <c:pt idx="24">
                  <c:v>42425</c:v>
                </c:pt>
                <c:pt idx="25">
                  <c:v>42426</c:v>
                </c:pt>
                <c:pt idx="26">
                  <c:v>42427</c:v>
                </c:pt>
                <c:pt idx="27">
                  <c:v>42428</c:v>
                </c:pt>
                <c:pt idx="28">
                  <c:v>42429</c:v>
                </c:pt>
              </c:numCache>
            </c:numRef>
          </c:cat>
          <c:val>
            <c:numRef>
              <c:f>'Dados - Gráficos'!$D$10:$AF$10</c:f>
              <c:numCache>
                <c:formatCode>General</c:formatCode>
                <c:ptCount val="29"/>
                <c:pt idx="0">
                  <c:v>11</c:v>
                </c:pt>
                <c:pt idx="1">
                  <c:v>11</c:v>
                </c:pt>
                <c:pt idx="2">
                  <c:v>11</c:v>
                </c:pt>
                <c:pt idx="3">
                  <c:v>11</c:v>
                </c:pt>
                <c:pt idx="4">
                  <c:v>11</c:v>
                </c:pt>
                <c:pt idx="5">
                  <c:v>11</c:v>
                </c:pt>
                <c:pt idx="6">
                  <c:v>11</c:v>
                </c:pt>
                <c:pt idx="7">
                  <c:v>11</c:v>
                </c:pt>
                <c:pt idx="8">
                  <c:v>11</c:v>
                </c:pt>
                <c:pt idx="9">
                  <c:v>11</c:v>
                </c:pt>
                <c:pt idx="10">
                  <c:v>11</c:v>
                </c:pt>
                <c:pt idx="11">
                  <c:v>11</c:v>
                </c:pt>
                <c:pt idx="12">
                  <c:v>11</c:v>
                </c:pt>
                <c:pt idx="13">
                  <c:v>11</c:v>
                </c:pt>
                <c:pt idx="14">
                  <c:v>11</c:v>
                </c:pt>
                <c:pt idx="15">
                  <c:v>11</c:v>
                </c:pt>
                <c:pt idx="16">
                  <c:v>11</c:v>
                </c:pt>
                <c:pt idx="17">
                  <c:v>11</c:v>
                </c:pt>
                <c:pt idx="18">
                  <c:v>11</c:v>
                </c:pt>
                <c:pt idx="19">
                  <c:v>11</c:v>
                </c:pt>
                <c:pt idx="20">
                  <c:v>11</c:v>
                </c:pt>
                <c:pt idx="21">
                  <c:v>11</c:v>
                </c:pt>
                <c:pt idx="22">
                  <c:v>11</c:v>
                </c:pt>
                <c:pt idx="23">
                  <c:v>11</c:v>
                </c:pt>
                <c:pt idx="24">
                  <c:v>11</c:v>
                </c:pt>
                <c:pt idx="25">
                  <c:v>11</c:v>
                </c:pt>
                <c:pt idx="26">
                  <c:v>11</c:v>
                </c:pt>
                <c:pt idx="27">
                  <c:v>11</c:v>
                </c:pt>
                <c:pt idx="28">
                  <c:v>11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1C-F51F-4A4D-8F0D-21C73ACFA155}"/>
            </c:ext>
          </c:extLst>
        </c:ser>
        <c:ser>
          <c:idx val="2"/>
          <c:order val="2"/>
          <c:tx>
            <c:v>Meta sab e dom</c:v>
          </c:tx>
          <c:spPr>
            <a:ln w="38100">
              <a:solidFill>
                <a:srgbClr val="00B050"/>
              </a:solidFill>
              <a:prstDash val="sysDot"/>
            </a:ln>
          </c:spPr>
          <c:marker>
            <c:symbol val="none"/>
          </c:marker>
          <c:dLbls>
            <c:dLbl>
              <c:idx val="28"/>
              <c:layout/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D-F51F-4A4D-8F0D-21C73ACFA155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rgbClr val="00B050"/>
                    </a:solidFill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'Dados - Gráficos'!$D$9:$AF$9</c:f>
              <c:numCache>
                <c:formatCode>[$-416]d;@</c:formatCode>
                <c:ptCount val="29"/>
                <c:pt idx="0">
                  <c:v>42401</c:v>
                </c:pt>
                <c:pt idx="1">
                  <c:v>42402</c:v>
                </c:pt>
                <c:pt idx="2">
                  <c:v>42403</c:v>
                </c:pt>
                <c:pt idx="3">
                  <c:v>42404</c:v>
                </c:pt>
                <c:pt idx="4">
                  <c:v>42405</c:v>
                </c:pt>
                <c:pt idx="5">
                  <c:v>42406</c:v>
                </c:pt>
                <c:pt idx="6">
                  <c:v>42407</c:v>
                </c:pt>
                <c:pt idx="7">
                  <c:v>42408</c:v>
                </c:pt>
                <c:pt idx="8">
                  <c:v>42409</c:v>
                </c:pt>
                <c:pt idx="9">
                  <c:v>42410</c:v>
                </c:pt>
                <c:pt idx="10">
                  <c:v>42411</c:v>
                </c:pt>
                <c:pt idx="11">
                  <c:v>42412</c:v>
                </c:pt>
                <c:pt idx="12">
                  <c:v>42413</c:v>
                </c:pt>
                <c:pt idx="13">
                  <c:v>42414</c:v>
                </c:pt>
                <c:pt idx="14">
                  <c:v>42415</c:v>
                </c:pt>
                <c:pt idx="15">
                  <c:v>42416</c:v>
                </c:pt>
                <c:pt idx="16">
                  <c:v>42417</c:v>
                </c:pt>
                <c:pt idx="17">
                  <c:v>42418</c:v>
                </c:pt>
                <c:pt idx="18">
                  <c:v>42419</c:v>
                </c:pt>
                <c:pt idx="19">
                  <c:v>42420</c:v>
                </c:pt>
                <c:pt idx="20">
                  <c:v>42421</c:v>
                </c:pt>
                <c:pt idx="21">
                  <c:v>42422</c:v>
                </c:pt>
                <c:pt idx="22">
                  <c:v>42423</c:v>
                </c:pt>
                <c:pt idx="23">
                  <c:v>42424</c:v>
                </c:pt>
                <c:pt idx="24">
                  <c:v>42425</c:v>
                </c:pt>
                <c:pt idx="25">
                  <c:v>42426</c:v>
                </c:pt>
                <c:pt idx="26">
                  <c:v>42427</c:v>
                </c:pt>
                <c:pt idx="27">
                  <c:v>42428</c:v>
                </c:pt>
                <c:pt idx="28">
                  <c:v>42429</c:v>
                </c:pt>
              </c:numCache>
            </c:numRef>
          </c:cat>
          <c:val>
            <c:numRef>
              <c:f>'Dados - Gráficos'!$D$11:$AF$11</c:f>
              <c:numCache>
                <c:formatCode>General</c:formatCode>
                <c:ptCount val="29"/>
                <c:pt idx="0">
                  <c:v>4.01</c:v>
                </c:pt>
                <c:pt idx="1">
                  <c:v>4.01</c:v>
                </c:pt>
                <c:pt idx="2">
                  <c:v>4.01</c:v>
                </c:pt>
                <c:pt idx="3">
                  <c:v>4.01</c:v>
                </c:pt>
                <c:pt idx="4">
                  <c:v>4.01</c:v>
                </c:pt>
                <c:pt idx="5">
                  <c:v>4.01</c:v>
                </c:pt>
                <c:pt idx="6">
                  <c:v>4.01</c:v>
                </c:pt>
                <c:pt idx="7">
                  <c:v>4.01</c:v>
                </c:pt>
                <c:pt idx="8">
                  <c:v>4.01</c:v>
                </c:pt>
                <c:pt idx="9">
                  <c:v>4.01</c:v>
                </c:pt>
                <c:pt idx="10">
                  <c:v>4.01</c:v>
                </c:pt>
                <c:pt idx="11">
                  <c:v>4.01</c:v>
                </c:pt>
                <c:pt idx="12">
                  <c:v>4.01</c:v>
                </c:pt>
                <c:pt idx="13">
                  <c:v>4.01</c:v>
                </c:pt>
                <c:pt idx="14">
                  <c:v>4.01</c:v>
                </c:pt>
                <c:pt idx="15">
                  <c:v>4.01</c:v>
                </c:pt>
                <c:pt idx="16">
                  <c:v>4.01</c:v>
                </c:pt>
                <c:pt idx="17">
                  <c:v>4.01</c:v>
                </c:pt>
                <c:pt idx="18">
                  <c:v>4.01</c:v>
                </c:pt>
                <c:pt idx="19">
                  <c:v>4.01</c:v>
                </c:pt>
                <c:pt idx="20">
                  <c:v>4.01</c:v>
                </c:pt>
                <c:pt idx="21">
                  <c:v>4.01</c:v>
                </c:pt>
                <c:pt idx="22">
                  <c:v>4.01</c:v>
                </c:pt>
                <c:pt idx="23">
                  <c:v>4.01</c:v>
                </c:pt>
                <c:pt idx="24">
                  <c:v>4.01</c:v>
                </c:pt>
                <c:pt idx="25">
                  <c:v>4.01</c:v>
                </c:pt>
                <c:pt idx="26">
                  <c:v>4.01</c:v>
                </c:pt>
                <c:pt idx="27">
                  <c:v>4.01</c:v>
                </c:pt>
                <c:pt idx="28">
                  <c:v>4.01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1E-F51F-4A4D-8F0D-21C73ACFA1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1184448"/>
        <c:axId val="401184840"/>
      </c:lineChart>
      <c:dateAx>
        <c:axId val="401184448"/>
        <c:scaling>
          <c:orientation val="minMax"/>
        </c:scaling>
        <c:delete val="0"/>
        <c:axPos val="b"/>
        <c:numFmt formatCode="[$-416]d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01184840"/>
        <c:crosses val="autoZero"/>
        <c:auto val="1"/>
        <c:lblOffset val="100"/>
        <c:baseTimeUnit val="days"/>
      </c:dateAx>
      <c:valAx>
        <c:axId val="401184840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401184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1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0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200968655044549E-2"/>
          <c:y val="0.1152471147111666"/>
          <c:w val="0.94864560982860335"/>
          <c:h val="0.75295003854531117"/>
        </c:manualLayout>
      </c:layout>
      <c:barChart>
        <c:barDir val="col"/>
        <c:grouping val="clustered"/>
        <c:varyColors val="0"/>
        <c:ser>
          <c:idx val="1"/>
          <c:order val="0"/>
          <c:tx>
            <c:v>Total de Chamados</c:v>
          </c:tx>
          <c:spPr>
            <a:solidFill>
              <a:schemeClr val="accent1"/>
            </a:solidFill>
            <a:ln w="19050" cap="flat" cmpd="sng" algn="ctr">
              <a:solidFill>
                <a:schemeClr val="lt1"/>
              </a:solidFill>
              <a:prstDash val="solid"/>
              <a:miter lim="800000"/>
            </a:ln>
            <a:effectLst/>
          </c:spPr>
          <c:invertIfNegative val="0"/>
          <c:dLbls>
            <c:dLbl>
              <c:idx val="3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6E53-47CE-9A9E-BF68C02E32D8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6E53-47CE-9A9E-BF68C02E32D8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6E53-47CE-9A9E-BF68C02E32D8}"/>
                </c:ex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6E53-47CE-9A9E-BF68C02E32D8}"/>
                </c:ex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6E53-47CE-9A9E-BF68C02E32D8}"/>
                </c:ex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6E53-47CE-9A9E-BF68C02E32D8}"/>
                </c:ex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6E53-47CE-9A9E-BF68C02E32D8}"/>
                </c:ex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6E53-47CE-9A9E-BF68C02E32D8}"/>
                </c:ext>
                <c:ext xmlns:c15="http://schemas.microsoft.com/office/drawing/2012/chart" uri="{CE6537A1-D6FC-4f65-9D91-7224C49458BB}"/>
              </c:extLst>
            </c:dLbl>
            <c:dLbl>
              <c:idx val="11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6E53-47CE-9A9E-BF68C02E32D8}"/>
                </c:ext>
                <c:ext xmlns:c15="http://schemas.microsoft.com/office/drawing/2012/chart" uri="{CE6537A1-D6FC-4f65-9D91-7224C49458BB}"/>
              </c:extLst>
            </c:dLbl>
            <c:dLbl>
              <c:idx val="12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6E53-47CE-9A9E-BF68C02E32D8}"/>
                </c:ext>
                <c:ext xmlns:c15="http://schemas.microsoft.com/office/drawing/2012/chart" uri="{CE6537A1-D6FC-4f65-9D91-7224C49458BB}"/>
              </c:extLst>
            </c:dLbl>
            <c:dLbl>
              <c:idx val="13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6E53-47CE-9A9E-BF68C02E32D8}"/>
                </c:ext>
                <c:ext xmlns:c15="http://schemas.microsoft.com/office/drawing/2012/chart" uri="{CE6537A1-D6FC-4f65-9D91-7224C49458BB}"/>
              </c:extLst>
            </c:dLbl>
            <c:dLbl>
              <c:idx val="14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6E53-47CE-9A9E-BF68C02E32D8}"/>
                </c:ext>
                <c:ext xmlns:c15="http://schemas.microsoft.com/office/drawing/2012/chart" uri="{CE6537A1-D6FC-4f65-9D91-7224C49458BB}"/>
              </c:extLst>
            </c:dLbl>
            <c:dLbl>
              <c:idx val="15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C-6E53-47CE-9A9E-BF68C02E32D8}"/>
                </c:ext>
                <c:ext xmlns:c15="http://schemas.microsoft.com/office/drawing/2012/chart" uri="{CE6537A1-D6FC-4f65-9D91-7224C49458BB}"/>
              </c:extLst>
            </c:dLbl>
            <c:dLbl>
              <c:idx val="16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D-6E53-47CE-9A9E-BF68C02E32D8}"/>
                </c:ext>
                <c:ext xmlns:c15="http://schemas.microsoft.com/office/drawing/2012/chart" uri="{CE6537A1-D6FC-4f65-9D91-7224C49458BB}"/>
              </c:extLst>
            </c:dLbl>
            <c:dLbl>
              <c:idx val="17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E-6E53-47CE-9A9E-BF68C02E32D8}"/>
                </c:ext>
                <c:ext xmlns:c15="http://schemas.microsoft.com/office/drawing/2012/chart" uri="{CE6537A1-D6FC-4f65-9D91-7224C49458BB}"/>
              </c:extLst>
            </c:dLbl>
            <c:dLbl>
              <c:idx val="18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F-6E53-47CE-9A9E-BF68C02E32D8}"/>
                </c:ext>
                <c:ext xmlns:c15="http://schemas.microsoft.com/office/drawing/2012/chart" uri="{CE6537A1-D6FC-4f65-9D91-7224C49458BB}"/>
              </c:extLst>
            </c:dLbl>
            <c:dLbl>
              <c:idx val="19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0-6E53-47CE-9A9E-BF68C02E32D8}"/>
                </c:ext>
                <c:ext xmlns:c15="http://schemas.microsoft.com/office/drawing/2012/chart" uri="{CE6537A1-D6FC-4f65-9D91-7224C49458BB}"/>
              </c:extLst>
            </c:dLbl>
            <c:dLbl>
              <c:idx val="20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1-6E53-47CE-9A9E-BF68C02E32D8}"/>
                </c:ext>
                <c:ext xmlns:c15="http://schemas.microsoft.com/office/drawing/2012/chart" uri="{CE6537A1-D6FC-4f65-9D91-7224C49458BB}"/>
              </c:extLst>
            </c:dLbl>
            <c:dLbl>
              <c:idx val="21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2-6E53-47CE-9A9E-BF68C02E32D8}"/>
                </c:ext>
                <c:ext xmlns:c15="http://schemas.microsoft.com/office/drawing/2012/chart" uri="{CE6537A1-D6FC-4f65-9D91-7224C49458BB}"/>
              </c:extLst>
            </c:dLbl>
            <c:dLbl>
              <c:idx val="22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3-6E53-47CE-9A9E-BF68C02E32D8}"/>
                </c:ext>
                <c:ext xmlns:c15="http://schemas.microsoft.com/office/drawing/2012/chart" uri="{CE6537A1-D6FC-4f65-9D91-7224C49458BB}"/>
              </c:extLst>
            </c:dLbl>
            <c:dLbl>
              <c:idx val="23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4-6E53-47CE-9A9E-BF68C02E32D8}"/>
                </c:ext>
                <c:ext xmlns:c15="http://schemas.microsoft.com/office/drawing/2012/chart" uri="{CE6537A1-D6FC-4f65-9D91-7224C49458BB}"/>
              </c:extLst>
            </c:dLbl>
            <c:dLbl>
              <c:idx val="24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5-6E53-47CE-9A9E-BF68C02E32D8}"/>
                </c:ext>
                <c:ext xmlns:c15="http://schemas.microsoft.com/office/drawing/2012/chart" uri="{CE6537A1-D6FC-4f65-9D91-7224C49458BB}"/>
              </c:extLst>
            </c:dLbl>
            <c:dLbl>
              <c:idx val="25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6-6E53-47CE-9A9E-BF68C02E32D8}"/>
                </c:ext>
                <c:ext xmlns:c15="http://schemas.microsoft.com/office/drawing/2012/chart" uri="{CE6537A1-D6FC-4f65-9D91-7224C49458BB}"/>
              </c:extLst>
            </c:dLbl>
            <c:dLbl>
              <c:idx val="26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7-6E53-47CE-9A9E-BF68C02E32D8}"/>
                </c:ext>
                <c:ext xmlns:c15="http://schemas.microsoft.com/office/drawing/2012/chart" uri="{CE6537A1-D6FC-4f65-9D91-7224C49458BB}"/>
              </c:extLst>
            </c:dLbl>
            <c:dLbl>
              <c:idx val="27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8-6E53-47CE-9A9E-BF68C02E32D8}"/>
                </c:ext>
                <c:ext xmlns:c15="http://schemas.microsoft.com/office/drawing/2012/chart" uri="{CE6537A1-D6FC-4f65-9D91-7224C49458BB}"/>
              </c:extLst>
            </c:dLbl>
            <c:dLbl>
              <c:idx val="28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9-6E53-47CE-9A9E-BF68C02E32D8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numRef>
              <c:f>'Dados - Gráficos'!$D$9:$AF$9</c:f>
              <c:numCache>
                <c:formatCode>[$-416]d;@</c:formatCode>
                <c:ptCount val="29"/>
                <c:pt idx="0">
                  <c:v>42401</c:v>
                </c:pt>
                <c:pt idx="1">
                  <c:v>42402</c:v>
                </c:pt>
                <c:pt idx="2">
                  <c:v>42403</c:v>
                </c:pt>
                <c:pt idx="3">
                  <c:v>42404</c:v>
                </c:pt>
                <c:pt idx="4">
                  <c:v>42405</c:v>
                </c:pt>
                <c:pt idx="5">
                  <c:v>42406</c:v>
                </c:pt>
                <c:pt idx="6">
                  <c:v>42407</c:v>
                </c:pt>
                <c:pt idx="7">
                  <c:v>42408</c:v>
                </c:pt>
                <c:pt idx="8">
                  <c:v>42409</c:v>
                </c:pt>
                <c:pt idx="9">
                  <c:v>42410</c:v>
                </c:pt>
                <c:pt idx="10">
                  <c:v>42411</c:v>
                </c:pt>
                <c:pt idx="11">
                  <c:v>42412</c:v>
                </c:pt>
                <c:pt idx="12">
                  <c:v>42413</c:v>
                </c:pt>
                <c:pt idx="13">
                  <c:v>42414</c:v>
                </c:pt>
                <c:pt idx="14">
                  <c:v>42415</c:v>
                </c:pt>
                <c:pt idx="15">
                  <c:v>42416</c:v>
                </c:pt>
                <c:pt idx="16">
                  <c:v>42417</c:v>
                </c:pt>
                <c:pt idx="17">
                  <c:v>42418</c:v>
                </c:pt>
                <c:pt idx="18">
                  <c:v>42419</c:v>
                </c:pt>
                <c:pt idx="19">
                  <c:v>42420</c:v>
                </c:pt>
                <c:pt idx="20">
                  <c:v>42421</c:v>
                </c:pt>
                <c:pt idx="21">
                  <c:v>42422</c:v>
                </c:pt>
                <c:pt idx="22">
                  <c:v>42423</c:v>
                </c:pt>
                <c:pt idx="23">
                  <c:v>42424</c:v>
                </c:pt>
                <c:pt idx="24">
                  <c:v>42425</c:v>
                </c:pt>
                <c:pt idx="25">
                  <c:v>42426</c:v>
                </c:pt>
                <c:pt idx="26">
                  <c:v>42427</c:v>
                </c:pt>
                <c:pt idx="27">
                  <c:v>42428</c:v>
                </c:pt>
                <c:pt idx="28">
                  <c:v>42429</c:v>
                </c:pt>
              </c:numCache>
            </c:numRef>
          </c:cat>
          <c:val>
            <c:numRef>
              <c:f>'Dados - Gráficos'!$D$5:$AF$5</c:f>
              <c:numCache>
                <c:formatCode>#,##0</c:formatCode>
                <c:ptCount val="29"/>
                <c:pt idx="0">
                  <c:v>897</c:v>
                </c:pt>
                <c:pt idx="1">
                  <c:v>691</c:v>
                </c:pt>
                <c:pt idx="2">
                  <c:v>647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A-6E53-47CE-9A9E-BF68C02E32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2"/>
        <c:overlap val="100"/>
        <c:axId val="401185624"/>
        <c:axId val="401186016"/>
      </c:barChart>
      <c:lineChart>
        <c:grouping val="standard"/>
        <c:varyColors val="0"/>
        <c:ser>
          <c:idx val="0"/>
          <c:order val="1"/>
          <c:tx>
            <c:v>Meta seg à sex</c:v>
          </c:tx>
          <c:spPr>
            <a:ln>
              <a:solidFill>
                <a:schemeClr val="bg1"/>
              </a:solidFill>
            </a:ln>
            <a:effectLst/>
          </c:spPr>
          <c:marker>
            <c:symbol val="none"/>
          </c:marker>
          <c:dLbls>
            <c:dLbl>
              <c:idx val="27"/>
              <c:layout>
                <c:manualLayout>
                  <c:x val="2.6745750440534542E-2"/>
                  <c:y val="0"/>
                </c:manualLayout>
              </c:layout>
              <c:spPr/>
              <c:txPr>
                <a:bodyPr/>
                <a:lstStyle/>
                <a:p>
                  <a:pPr>
                    <a:defRPr>
                      <a:solidFill>
                        <a:srgbClr val="FF0000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B-6E53-47CE-9A9E-BF68C02E32D8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38100" cap="rnd">
                <a:solidFill>
                  <a:srgbClr val="FF000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'Dados - Gráficos'!$D$9:$AF$9</c:f>
              <c:numCache>
                <c:formatCode>[$-416]d;@</c:formatCode>
                <c:ptCount val="29"/>
                <c:pt idx="0">
                  <c:v>42401</c:v>
                </c:pt>
                <c:pt idx="1">
                  <c:v>42402</c:v>
                </c:pt>
                <c:pt idx="2">
                  <c:v>42403</c:v>
                </c:pt>
                <c:pt idx="3">
                  <c:v>42404</c:v>
                </c:pt>
                <c:pt idx="4">
                  <c:v>42405</c:v>
                </c:pt>
                <c:pt idx="5">
                  <c:v>42406</c:v>
                </c:pt>
                <c:pt idx="6">
                  <c:v>42407</c:v>
                </c:pt>
                <c:pt idx="7">
                  <c:v>42408</c:v>
                </c:pt>
                <c:pt idx="8">
                  <c:v>42409</c:v>
                </c:pt>
                <c:pt idx="9">
                  <c:v>42410</c:v>
                </c:pt>
                <c:pt idx="10">
                  <c:v>42411</c:v>
                </c:pt>
                <c:pt idx="11">
                  <c:v>42412</c:v>
                </c:pt>
                <c:pt idx="12">
                  <c:v>42413</c:v>
                </c:pt>
                <c:pt idx="13">
                  <c:v>42414</c:v>
                </c:pt>
                <c:pt idx="14">
                  <c:v>42415</c:v>
                </c:pt>
                <c:pt idx="15">
                  <c:v>42416</c:v>
                </c:pt>
                <c:pt idx="16">
                  <c:v>42417</c:v>
                </c:pt>
                <c:pt idx="17">
                  <c:v>42418</c:v>
                </c:pt>
                <c:pt idx="18">
                  <c:v>42419</c:v>
                </c:pt>
                <c:pt idx="19">
                  <c:v>42420</c:v>
                </c:pt>
                <c:pt idx="20">
                  <c:v>42421</c:v>
                </c:pt>
                <c:pt idx="21">
                  <c:v>42422</c:v>
                </c:pt>
                <c:pt idx="22">
                  <c:v>42423</c:v>
                </c:pt>
                <c:pt idx="23">
                  <c:v>42424</c:v>
                </c:pt>
                <c:pt idx="24">
                  <c:v>42425</c:v>
                </c:pt>
                <c:pt idx="25">
                  <c:v>42426</c:v>
                </c:pt>
                <c:pt idx="26">
                  <c:v>42427</c:v>
                </c:pt>
                <c:pt idx="27">
                  <c:v>42428</c:v>
                </c:pt>
                <c:pt idx="28">
                  <c:v>42429</c:v>
                </c:pt>
              </c:numCache>
            </c:numRef>
          </c:cat>
          <c:val>
            <c:numRef>
              <c:f>'Dados - Gráficos'!$D$12:$AF$12</c:f>
              <c:numCache>
                <c:formatCode>0.00</c:formatCode>
                <c:ptCount val="29"/>
                <c:pt idx="0">
                  <c:v>535.65384615384608</c:v>
                </c:pt>
                <c:pt idx="1">
                  <c:v>535.65384615384608</c:v>
                </c:pt>
                <c:pt idx="2">
                  <c:v>535.65384615384608</c:v>
                </c:pt>
                <c:pt idx="3">
                  <c:v>535.65384615384608</c:v>
                </c:pt>
                <c:pt idx="4">
                  <c:v>535.65384615384608</c:v>
                </c:pt>
                <c:pt idx="5">
                  <c:v>535.65384615384608</c:v>
                </c:pt>
                <c:pt idx="6">
                  <c:v>535.65384615384608</c:v>
                </c:pt>
                <c:pt idx="7">
                  <c:v>535.65384615384608</c:v>
                </c:pt>
                <c:pt idx="8">
                  <c:v>535.65384615384608</c:v>
                </c:pt>
                <c:pt idx="9">
                  <c:v>535.65384615384608</c:v>
                </c:pt>
                <c:pt idx="10">
                  <c:v>535.65384615384608</c:v>
                </c:pt>
                <c:pt idx="11">
                  <c:v>535.65384615384608</c:v>
                </c:pt>
                <c:pt idx="12">
                  <c:v>535.65384615384608</c:v>
                </c:pt>
                <c:pt idx="13">
                  <c:v>535.65384615384608</c:v>
                </c:pt>
                <c:pt idx="14">
                  <c:v>535.65384615384608</c:v>
                </c:pt>
                <c:pt idx="15">
                  <c:v>535.65384615384608</c:v>
                </c:pt>
                <c:pt idx="16">
                  <c:v>535.65384615384608</c:v>
                </c:pt>
                <c:pt idx="17">
                  <c:v>535.65384615384608</c:v>
                </c:pt>
                <c:pt idx="18">
                  <c:v>535.65384615384608</c:v>
                </c:pt>
                <c:pt idx="19">
                  <c:v>535.65384615384608</c:v>
                </c:pt>
                <c:pt idx="20">
                  <c:v>535.65384615384608</c:v>
                </c:pt>
                <c:pt idx="21">
                  <c:v>535.65384615384608</c:v>
                </c:pt>
                <c:pt idx="22">
                  <c:v>535.65384615384608</c:v>
                </c:pt>
                <c:pt idx="23">
                  <c:v>535.65384615384608</c:v>
                </c:pt>
                <c:pt idx="24">
                  <c:v>535.65384615384608</c:v>
                </c:pt>
                <c:pt idx="25">
                  <c:v>535.65384615384608</c:v>
                </c:pt>
                <c:pt idx="26">
                  <c:v>535.65384615384608</c:v>
                </c:pt>
                <c:pt idx="27">
                  <c:v>535.65384615384608</c:v>
                </c:pt>
                <c:pt idx="28">
                  <c:v>535.65384615384608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1C-6E53-47CE-9A9E-BF68C02E32D8}"/>
            </c:ext>
          </c:extLst>
        </c:ser>
        <c:ser>
          <c:idx val="2"/>
          <c:order val="2"/>
          <c:tx>
            <c:v>Meta sab e dom</c:v>
          </c:tx>
          <c:spPr>
            <a:ln w="38100">
              <a:solidFill>
                <a:srgbClr val="00B050"/>
              </a:solidFill>
              <a:prstDash val="sysDot"/>
            </a:ln>
          </c:spPr>
          <c:marker>
            <c:symbol val="none"/>
          </c:marker>
          <c:dLbls>
            <c:dLbl>
              <c:idx val="28"/>
              <c:layout/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D-6E53-47CE-9A9E-BF68C02E32D8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rgbClr val="00B050"/>
                    </a:solidFill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'Dados - Gráficos'!$D$9:$AF$9</c:f>
              <c:numCache>
                <c:formatCode>[$-416]d;@</c:formatCode>
                <c:ptCount val="29"/>
                <c:pt idx="0">
                  <c:v>42401</c:v>
                </c:pt>
                <c:pt idx="1">
                  <c:v>42402</c:v>
                </c:pt>
                <c:pt idx="2">
                  <c:v>42403</c:v>
                </c:pt>
                <c:pt idx="3">
                  <c:v>42404</c:v>
                </c:pt>
                <c:pt idx="4">
                  <c:v>42405</c:v>
                </c:pt>
                <c:pt idx="5">
                  <c:v>42406</c:v>
                </c:pt>
                <c:pt idx="6">
                  <c:v>42407</c:v>
                </c:pt>
                <c:pt idx="7">
                  <c:v>42408</c:v>
                </c:pt>
                <c:pt idx="8">
                  <c:v>42409</c:v>
                </c:pt>
                <c:pt idx="9">
                  <c:v>42410</c:v>
                </c:pt>
                <c:pt idx="10">
                  <c:v>42411</c:v>
                </c:pt>
                <c:pt idx="11">
                  <c:v>42412</c:v>
                </c:pt>
                <c:pt idx="12">
                  <c:v>42413</c:v>
                </c:pt>
                <c:pt idx="13">
                  <c:v>42414</c:v>
                </c:pt>
                <c:pt idx="14">
                  <c:v>42415</c:v>
                </c:pt>
                <c:pt idx="15">
                  <c:v>42416</c:v>
                </c:pt>
                <c:pt idx="16">
                  <c:v>42417</c:v>
                </c:pt>
                <c:pt idx="17">
                  <c:v>42418</c:v>
                </c:pt>
                <c:pt idx="18">
                  <c:v>42419</c:v>
                </c:pt>
                <c:pt idx="19">
                  <c:v>42420</c:v>
                </c:pt>
                <c:pt idx="20">
                  <c:v>42421</c:v>
                </c:pt>
                <c:pt idx="21">
                  <c:v>42422</c:v>
                </c:pt>
                <c:pt idx="22">
                  <c:v>42423</c:v>
                </c:pt>
                <c:pt idx="23">
                  <c:v>42424</c:v>
                </c:pt>
                <c:pt idx="24">
                  <c:v>42425</c:v>
                </c:pt>
                <c:pt idx="25">
                  <c:v>42426</c:v>
                </c:pt>
                <c:pt idx="26">
                  <c:v>42427</c:v>
                </c:pt>
                <c:pt idx="27">
                  <c:v>42428</c:v>
                </c:pt>
                <c:pt idx="28">
                  <c:v>42429</c:v>
                </c:pt>
              </c:numCache>
            </c:numRef>
          </c:cat>
          <c:val>
            <c:numRef>
              <c:f>'Dados - Gráficos'!$D$13:$AF$13</c:f>
              <c:numCache>
                <c:formatCode>0.00</c:formatCode>
                <c:ptCount val="29"/>
                <c:pt idx="0">
                  <c:v>90.742592592592587</c:v>
                </c:pt>
                <c:pt idx="1">
                  <c:v>90.742592592592587</c:v>
                </c:pt>
                <c:pt idx="2">
                  <c:v>90.742592592592587</c:v>
                </c:pt>
                <c:pt idx="3">
                  <c:v>90.742592592592587</c:v>
                </c:pt>
                <c:pt idx="4">
                  <c:v>90.742592592592587</c:v>
                </c:pt>
                <c:pt idx="5">
                  <c:v>90.742592592592587</c:v>
                </c:pt>
                <c:pt idx="6">
                  <c:v>90.742592592592587</c:v>
                </c:pt>
                <c:pt idx="7">
                  <c:v>90.742592592592587</c:v>
                </c:pt>
                <c:pt idx="8">
                  <c:v>90.742592592592587</c:v>
                </c:pt>
                <c:pt idx="9">
                  <c:v>90.742592592592587</c:v>
                </c:pt>
                <c:pt idx="10">
                  <c:v>90.742592592592587</c:v>
                </c:pt>
                <c:pt idx="11">
                  <c:v>90.742592592592587</c:v>
                </c:pt>
                <c:pt idx="12">
                  <c:v>90.742592592592587</c:v>
                </c:pt>
                <c:pt idx="13">
                  <c:v>90.742592592592587</c:v>
                </c:pt>
                <c:pt idx="14">
                  <c:v>90.742592592592587</c:v>
                </c:pt>
                <c:pt idx="15">
                  <c:v>90.742592592592587</c:v>
                </c:pt>
                <c:pt idx="16">
                  <c:v>90.742592592592587</c:v>
                </c:pt>
                <c:pt idx="17">
                  <c:v>90.742592592592587</c:v>
                </c:pt>
                <c:pt idx="18">
                  <c:v>90.742592592592587</c:v>
                </c:pt>
                <c:pt idx="19">
                  <c:v>90.742592592592587</c:v>
                </c:pt>
                <c:pt idx="20">
                  <c:v>90.742592592592587</c:v>
                </c:pt>
                <c:pt idx="21">
                  <c:v>90.742592592592587</c:v>
                </c:pt>
                <c:pt idx="22">
                  <c:v>90.742592592592587</c:v>
                </c:pt>
                <c:pt idx="23">
                  <c:v>90.742592592592587</c:v>
                </c:pt>
                <c:pt idx="24">
                  <c:v>90.742592592592587</c:v>
                </c:pt>
                <c:pt idx="25">
                  <c:v>90.742592592592587</c:v>
                </c:pt>
                <c:pt idx="26">
                  <c:v>90.742592592592587</c:v>
                </c:pt>
                <c:pt idx="27">
                  <c:v>90.742592592592587</c:v>
                </c:pt>
                <c:pt idx="28">
                  <c:v>90.742592592592587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1E-6E53-47CE-9A9E-BF68C02E32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1185624"/>
        <c:axId val="401186016"/>
      </c:lineChart>
      <c:dateAx>
        <c:axId val="401185624"/>
        <c:scaling>
          <c:orientation val="minMax"/>
        </c:scaling>
        <c:delete val="0"/>
        <c:axPos val="b"/>
        <c:numFmt formatCode="[$-416]d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01186016"/>
        <c:crosses val="autoZero"/>
        <c:auto val="1"/>
        <c:lblOffset val="100"/>
        <c:baseTimeUnit val="days"/>
      </c:dateAx>
      <c:valAx>
        <c:axId val="401186016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401185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1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0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200968655044549E-2"/>
          <c:y val="0.1152471147111666"/>
          <c:w val="0.94864560982860335"/>
          <c:h val="0.75295003854531117"/>
        </c:manualLayout>
      </c:layout>
      <c:barChart>
        <c:barDir val="col"/>
        <c:grouping val="clustered"/>
        <c:varyColors val="0"/>
        <c:ser>
          <c:idx val="1"/>
          <c:order val="0"/>
          <c:tx>
            <c:v>Total de Chamados</c:v>
          </c:tx>
          <c:spPr>
            <a:solidFill>
              <a:schemeClr val="accent1"/>
            </a:solidFill>
            <a:ln w="19050" cap="flat" cmpd="sng" algn="ctr">
              <a:solidFill>
                <a:schemeClr val="lt1"/>
              </a:solidFill>
              <a:prstDash val="solid"/>
              <a:miter lim="800000"/>
            </a:ln>
            <a:effectLst/>
          </c:spPr>
          <c:invertIfNegative val="0"/>
          <c:dLbls>
            <c:dLbl>
              <c:idx val="3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257D-4961-AF02-6030551F51E8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257D-4961-AF02-6030551F51E8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257D-4961-AF02-6030551F51E8}"/>
                </c:ex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257D-4961-AF02-6030551F51E8}"/>
                </c:ex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257D-4961-AF02-6030551F51E8}"/>
                </c:ex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257D-4961-AF02-6030551F51E8}"/>
                </c:ex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257D-4961-AF02-6030551F51E8}"/>
                </c:ex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257D-4961-AF02-6030551F51E8}"/>
                </c:ext>
                <c:ext xmlns:c15="http://schemas.microsoft.com/office/drawing/2012/chart" uri="{CE6537A1-D6FC-4f65-9D91-7224C49458BB}"/>
              </c:extLst>
            </c:dLbl>
            <c:dLbl>
              <c:idx val="11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257D-4961-AF02-6030551F51E8}"/>
                </c:ext>
                <c:ext xmlns:c15="http://schemas.microsoft.com/office/drawing/2012/chart" uri="{CE6537A1-D6FC-4f65-9D91-7224C49458BB}"/>
              </c:extLst>
            </c:dLbl>
            <c:dLbl>
              <c:idx val="12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257D-4961-AF02-6030551F51E8}"/>
                </c:ext>
                <c:ext xmlns:c15="http://schemas.microsoft.com/office/drawing/2012/chart" uri="{CE6537A1-D6FC-4f65-9D91-7224C49458BB}"/>
              </c:extLst>
            </c:dLbl>
            <c:dLbl>
              <c:idx val="13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257D-4961-AF02-6030551F51E8}"/>
                </c:ext>
                <c:ext xmlns:c15="http://schemas.microsoft.com/office/drawing/2012/chart" uri="{CE6537A1-D6FC-4f65-9D91-7224C49458BB}"/>
              </c:extLst>
            </c:dLbl>
            <c:dLbl>
              <c:idx val="14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257D-4961-AF02-6030551F51E8}"/>
                </c:ext>
                <c:ext xmlns:c15="http://schemas.microsoft.com/office/drawing/2012/chart" uri="{CE6537A1-D6FC-4f65-9D91-7224C49458BB}"/>
              </c:extLst>
            </c:dLbl>
            <c:dLbl>
              <c:idx val="15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C-257D-4961-AF02-6030551F51E8}"/>
                </c:ext>
                <c:ext xmlns:c15="http://schemas.microsoft.com/office/drawing/2012/chart" uri="{CE6537A1-D6FC-4f65-9D91-7224C49458BB}"/>
              </c:extLst>
            </c:dLbl>
            <c:dLbl>
              <c:idx val="16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D-257D-4961-AF02-6030551F51E8}"/>
                </c:ext>
                <c:ext xmlns:c15="http://schemas.microsoft.com/office/drawing/2012/chart" uri="{CE6537A1-D6FC-4f65-9D91-7224C49458BB}"/>
              </c:extLst>
            </c:dLbl>
            <c:dLbl>
              <c:idx val="17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E-257D-4961-AF02-6030551F51E8}"/>
                </c:ext>
                <c:ext xmlns:c15="http://schemas.microsoft.com/office/drawing/2012/chart" uri="{CE6537A1-D6FC-4f65-9D91-7224C49458BB}"/>
              </c:extLst>
            </c:dLbl>
            <c:dLbl>
              <c:idx val="18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F-257D-4961-AF02-6030551F51E8}"/>
                </c:ext>
                <c:ext xmlns:c15="http://schemas.microsoft.com/office/drawing/2012/chart" uri="{CE6537A1-D6FC-4f65-9D91-7224C49458BB}"/>
              </c:extLst>
            </c:dLbl>
            <c:dLbl>
              <c:idx val="19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0-257D-4961-AF02-6030551F51E8}"/>
                </c:ext>
                <c:ext xmlns:c15="http://schemas.microsoft.com/office/drawing/2012/chart" uri="{CE6537A1-D6FC-4f65-9D91-7224C49458BB}"/>
              </c:extLst>
            </c:dLbl>
            <c:dLbl>
              <c:idx val="20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1-257D-4961-AF02-6030551F51E8}"/>
                </c:ext>
                <c:ext xmlns:c15="http://schemas.microsoft.com/office/drawing/2012/chart" uri="{CE6537A1-D6FC-4f65-9D91-7224C49458BB}"/>
              </c:extLst>
            </c:dLbl>
            <c:dLbl>
              <c:idx val="21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2-257D-4961-AF02-6030551F51E8}"/>
                </c:ext>
                <c:ext xmlns:c15="http://schemas.microsoft.com/office/drawing/2012/chart" uri="{CE6537A1-D6FC-4f65-9D91-7224C49458BB}"/>
              </c:extLst>
            </c:dLbl>
            <c:dLbl>
              <c:idx val="22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3-257D-4961-AF02-6030551F51E8}"/>
                </c:ext>
                <c:ext xmlns:c15="http://schemas.microsoft.com/office/drawing/2012/chart" uri="{CE6537A1-D6FC-4f65-9D91-7224C49458BB}"/>
              </c:extLst>
            </c:dLbl>
            <c:dLbl>
              <c:idx val="23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4-257D-4961-AF02-6030551F51E8}"/>
                </c:ext>
                <c:ext xmlns:c15="http://schemas.microsoft.com/office/drawing/2012/chart" uri="{CE6537A1-D6FC-4f65-9D91-7224C49458BB}"/>
              </c:extLst>
            </c:dLbl>
            <c:dLbl>
              <c:idx val="24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5-257D-4961-AF02-6030551F51E8}"/>
                </c:ext>
                <c:ext xmlns:c15="http://schemas.microsoft.com/office/drawing/2012/chart" uri="{CE6537A1-D6FC-4f65-9D91-7224C49458BB}"/>
              </c:extLst>
            </c:dLbl>
            <c:dLbl>
              <c:idx val="25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6-257D-4961-AF02-6030551F51E8}"/>
                </c:ext>
                <c:ext xmlns:c15="http://schemas.microsoft.com/office/drawing/2012/chart" uri="{CE6537A1-D6FC-4f65-9D91-7224C49458BB}"/>
              </c:extLst>
            </c:dLbl>
            <c:dLbl>
              <c:idx val="26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7-257D-4961-AF02-6030551F51E8}"/>
                </c:ext>
                <c:ext xmlns:c15="http://schemas.microsoft.com/office/drawing/2012/chart" uri="{CE6537A1-D6FC-4f65-9D91-7224C49458BB}"/>
              </c:extLst>
            </c:dLbl>
            <c:dLbl>
              <c:idx val="27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8-257D-4961-AF02-6030551F51E8}"/>
                </c:ext>
                <c:ext xmlns:c15="http://schemas.microsoft.com/office/drawing/2012/chart" uri="{CE6537A1-D6FC-4f65-9D91-7224C49458BB}"/>
              </c:extLst>
            </c:dLbl>
            <c:dLbl>
              <c:idx val="28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9-257D-4961-AF02-6030551F51E8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numRef>
              <c:f>'Dados - Gráficos'!$D$9:$AF$9</c:f>
              <c:numCache>
                <c:formatCode>[$-416]d;@</c:formatCode>
                <c:ptCount val="29"/>
                <c:pt idx="0">
                  <c:v>42401</c:v>
                </c:pt>
                <c:pt idx="1">
                  <c:v>42402</c:v>
                </c:pt>
                <c:pt idx="2">
                  <c:v>42403</c:v>
                </c:pt>
                <c:pt idx="3">
                  <c:v>42404</c:v>
                </c:pt>
                <c:pt idx="4">
                  <c:v>42405</c:v>
                </c:pt>
                <c:pt idx="5">
                  <c:v>42406</c:v>
                </c:pt>
                <c:pt idx="6">
                  <c:v>42407</c:v>
                </c:pt>
                <c:pt idx="7">
                  <c:v>42408</c:v>
                </c:pt>
                <c:pt idx="8">
                  <c:v>42409</c:v>
                </c:pt>
                <c:pt idx="9">
                  <c:v>42410</c:v>
                </c:pt>
                <c:pt idx="10">
                  <c:v>42411</c:v>
                </c:pt>
                <c:pt idx="11">
                  <c:v>42412</c:v>
                </c:pt>
                <c:pt idx="12">
                  <c:v>42413</c:v>
                </c:pt>
                <c:pt idx="13">
                  <c:v>42414</c:v>
                </c:pt>
                <c:pt idx="14">
                  <c:v>42415</c:v>
                </c:pt>
                <c:pt idx="15">
                  <c:v>42416</c:v>
                </c:pt>
                <c:pt idx="16">
                  <c:v>42417</c:v>
                </c:pt>
                <c:pt idx="17">
                  <c:v>42418</c:v>
                </c:pt>
                <c:pt idx="18">
                  <c:v>42419</c:v>
                </c:pt>
                <c:pt idx="19">
                  <c:v>42420</c:v>
                </c:pt>
                <c:pt idx="20">
                  <c:v>42421</c:v>
                </c:pt>
                <c:pt idx="21">
                  <c:v>42422</c:v>
                </c:pt>
                <c:pt idx="22">
                  <c:v>42423</c:v>
                </c:pt>
                <c:pt idx="23">
                  <c:v>42424</c:v>
                </c:pt>
                <c:pt idx="24">
                  <c:v>42425</c:v>
                </c:pt>
                <c:pt idx="25">
                  <c:v>42426</c:v>
                </c:pt>
                <c:pt idx="26">
                  <c:v>42427</c:v>
                </c:pt>
                <c:pt idx="27">
                  <c:v>42428</c:v>
                </c:pt>
                <c:pt idx="28">
                  <c:v>42429</c:v>
                </c:pt>
              </c:numCache>
            </c:numRef>
          </c:cat>
          <c:val>
            <c:numRef>
              <c:f>'Dados - Gráficos'!$D$6:$AF$6</c:f>
              <c:numCache>
                <c:formatCode>#,##0</c:formatCode>
                <c:ptCount val="29"/>
                <c:pt idx="0">
                  <c:v>524</c:v>
                </c:pt>
                <c:pt idx="1">
                  <c:v>470</c:v>
                </c:pt>
                <c:pt idx="2">
                  <c:v>398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A-257D-4961-AF02-6030551F51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2"/>
        <c:overlap val="100"/>
        <c:axId val="407562544"/>
        <c:axId val="407562936"/>
      </c:barChart>
      <c:lineChart>
        <c:grouping val="standard"/>
        <c:varyColors val="0"/>
        <c:ser>
          <c:idx val="0"/>
          <c:order val="1"/>
          <c:tx>
            <c:v>Meta seg à sex</c:v>
          </c:tx>
          <c:spPr>
            <a:ln>
              <a:solidFill>
                <a:schemeClr val="bg1"/>
              </a:solidFill>
            </a:ln>
            <a:effectLst/>
          </c:spPr>
          <c:marker>
            <c:symbol val="none"/>
          </c:marker>
          <c:dLbls>
            <c:dLbl>
              <c:idx val="27"/>
              <c:layout>
                <c:manualLayout>
                  <c:x val="2.6745750440534542E-2"/>
                  <c:y val="0"/>
                </c:manualLayout>
              </c:layout>
              <c:spPr/>
              <c:txPr>
                <a:bodyPr/>
                <a:lstStyle/>
                <a:p>
                  <a:pPr>
                    <a:defRPr>
                      <a:solidFill>
                        <a:srgbClr val="FF0000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B-257D-4961-AF02-6030551F51E8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38100" cap="rnd">
                <a:solidFill>
                  <a:srgbClr val="FF000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multiLvlStrRef>
              <c:f>'Dados - Gráficos'!#REF!</c:f>
            </c:multiLvlStrRef>
          </c:cat>
          <c:val>
            <c:numRef>
              <c:f>'Dados - Gráficos'!$D$14:$AF$14</c:f>
              <c:numCache>
                <c:formatCode>0.00</c:formatCode>
                <c:ptCount val="29"/>
                <c:pt idx="0">
                  <c:v>335.37923076923079</c:v>
                </c:pt>
                <c:pt idx="1">
                  <c:v>335.37923076923079</c:v>
                </c:pt>
                <c:pt idx="2">
                  <c:v>335.37923076923079</c:v>
                </c:pt>
                <c:pt idx="3">
                  <c:v>335.37923076923079</c:v>
                </c:pt>
                <c:pt idx="4">
                  <c:v>335.37923076923079</c:v>
                </c:pt>
                <c:pt idx="5">
                  <c:v>335.37923076923079</c:v>
                </c:pt>
                <c:pt idx="6">
                  <c:v>335.37923076923079</c:v>
                </c:pt>
                <c:pt idx="7">
                  <c:v>335.37923076923079</c:v>
                </c:pt>
                <c:pt idx="8">
                  <c:v>335.37923076923079</c:v>
                </c:pt>
                <c:pt idx="9">
                  <c:v>335.37923076923079</c:v>
                </c:pt>
                <c:pt idx="10">
                  <c:v>335.37923076923079</c:v>
                </c:pt>
                <c:pt idx="11">
                  <c:v>335.37923076923079</c:v>
                </c:pt>
                <c:pt idx="12">
                  <c:v>335.37923076923079</c:v>
                </c:pt>
                <c:pt idx="13">
                  <c:v>335.37923076923079</c:v>
                </c:pt>
                <c:pt idx="14">
                  <c:v>335.37923076923079</c:v>
                </c:pt>
                <c:pt idx="15">
                  <c:v>335.37923076923079</c:v>
                </c:pt>
                <c:pt idx="16">
                  <c:v>335.37923076923079</c:v>
                </c:pt>
                <c:pt idx="17">
                  <c:v>335.37923076923079</c:v>
                </c:pt>
                <c:pt idx="18">
                  <c:v>335.37923076923079</c:v>
                </c:pt>
                <c:pt idx="19">
                  <c:v>335.37923076923079</c:v>
                </c:pt>
                <c:pt idx="20">
                  <c:v>335.37923076923079</c:v>
                </c:pt>
                <c:pt idx="21">
                  <c:v>335.37923076923079</c:v>
                </c:pt>
                <c:pt idx="22">
                  <c:v>335.37923076923079</c:v>
                </c:pt>
                <c:pt idx="23">
                  <c:v>335.37923076923079</c:v>
                </c:pt>
                <c:pt idx="24">
                  <c:v>335.37923076923079</c:v>
                </c:pt>
                <c:pt idx="25">
                  <c:v>335.37923076923079</c:v>
                </c:pt>
                <c:pt idx="26">
                  <c:v>335.37923076923079</c:v>
                </c:pt>
                <c:pt idx="27">
                  <c:v>335.37923076923079</c:v>
                </c:pt>
                <c:pt idx="28">
                  <c:v>335.37923076923079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1C-257D-4961-AF02-6030551F51E8}"/>
            </c:ext>
          </c:extLst>
        </c:ser>
        <c:ser>
          <c:idx val="2"/>
          <c:order val="2"/>
          <c:tx>
            <c:v>Meta sab e dom</c:v>
          </c:tx>
          <c:spPr>
            <a:ln w="38100">
              <a:solidFill>
                <a:srgbClr val="00B050"/>
              </a:solidFill>
              <a:prstDash val="sysDot"/>
            </a:ln>
          </c:spPr>
          <c:marker>
            <c:symbol val="none"/>
          </c:marker>
          <c:dLbls>
            <c:dLbl>
              <c:idx val="28"/>
              <c:layout/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D-257D-4961-AF02-6030551F51E8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rgbClr val="00B050"/>
                    </a:solidFill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'Dados - Gráficos'!$D$15:$AF$15</c:f>
              <c:numCache>
                <c:formatCode>0.00</c:formatCode>
                <c:ptCount val="29"/>
                <c:pt idx="0">
                  <c:v>69.209259259259255</c:v>
                </c:pt>
                <c:pt idx="1">
                  <c:v>69.209259259259255</c:v>
                </c:pt>
                <c:pt idx="2">
                  <c:v>69.209259259259255</c:v>
                </c:pt>
                <c:pt idx="3">
                  <c:v>69.209259259259255</c:v>
                </c:pt>
                <c:pt idx="4">
                  <c:v>69.209259259259255</c:v>
                </c:pt>
                <c:pt idx="5">
                  <c:v>69.209259259259255</c:v>
                </c:pt>
                <c:pt idx="6">
                  <c:v>69.209259259259255</c:v>
                </c:pt>
                <c:pt idx="7">
                  <c:v>69.209259259259255</c:v>
                </c:pt>
                <c:pt idx="8">
                  <c:v>69.209259259259255</c:v>
                </c:pt>
                <c:pt idx="9">
                  <c:v>69.209259259259255</c:v>
                </c:pt>
                <c:pt idx="10">
                  <c:v>69.209259259259255</c:v>
                </c:pt>
                <c:pt idx="11">
                  <c:v>69.209259259259255</c:v>
                </c:pt>
                <c:pt idx="12">
                  <c:v>69.209259259259255</c:v>
                </c:pt>
                <c:pt idx="13">
                  <c:v>69.209259259259255</c:v>
                </c:pt>
                <c:pt idx="14">
                  <c:v>69.209259259259255</c:v>
                </c:pt>
                <c:pt idx="15">
                  <c:v>69.209259259259255</c:v>
                </c:pt>
                <c:pt idx="16">
                  <c:v>69.209259259259255</c:v>
                </c:pt>
                <c:pt idx="17">
                  <c:v>69.209259259259255</c:v>
                </c:pt>
                <c:pt idx="18">
                  <c:v>69.209259259259255</c:v>
                </c:pt>
                <c:pt idx="19">
                  <c:v>69.209259259259255</c:v>
                </c:pt>
                <c:pt idx="20">
                  <c:v>69.209259259259255</c:v>
                </c:pt>
                <c:pt idx="21">
                  <c:v>69.209259259259255</c:v>
                </c:pt>
                <c:pt idx="22">
                  <c:v>69.209259259259255</c:v>
                </c:pt>
                <c:pt idx="23">
                  <c:v>69.209259259259255</c:v>
                </c:pt>
                <c:pt idx="24">
                  <c:v>69.209259259259255</c:v>
                </c:pt>
                <c:pt idx="25">
                  <c:v>69.209259259259255</c:v>
                </c:pt>
                <c:pt idx="26">
                  <c:v>69.209259259259255</c:v>
                </c:pt>
                <c:pt idx="27">
                  <c:v>69.209259259259255</c:v>
                </c:pt>
                <c:pt idx="28">
                  <c:v>69.209259259259255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1E-257D-4961-AF02-6030551F51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7562544"/>
        <c:axId val="407562936"/>
      </c:lineChart>
      <c:catAx>
        <c:axId val="407562544"/>
        <c:scaling>
          <c:orientation val="minMax"/>
        </c:scaling>
        <c:delete val="0"/>
        <c:axPos val="b"/>
        <c:numFmt formatCode="[$-416]d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07562936"/>
        <c:crosses val="autoZero"/>
        <c:auto val="1"/>
        <c:lblAlgn val="ctr"/>
        <c:lblOffset val="100"/>
        <c:noMultiLvlLbl val="0"/>
      </c:catAx>
      <c:valAx>
        <c:axId val="407562936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4075625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1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0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04/02/2016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7463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00212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6681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95829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7309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574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089924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15639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Contrato vai</a:t>
            </a:r>
            <a:r>
              <a:rPr lang="pt-BR" baseline="0" dirty="0" smtClean="0"/>
              <a:t> até Março do BTCC da Oi – Adolpho e </a:t>
            </a:r>
            <a:r>
              <a:rPr lang="pt-BR" baseline="0" dirty="0" err="1" smtClean="0"/>
              <a:t>Koreeda</a:t>
            </a:r>
            <a:r>
              <a:rPr lang="pt-BR" baseline="0" dirty="0" smtClean="0"/>
              <a:t> cientes –</a:t>
            </a:r>
            <a:r>
              <a:rPr lang="pt-BR" baseline="0" dirty="0" err="1" smtClean="0"/>
              <a:t>Boarim</a:t>
            </a:r>
            <a:r>
              <a:rPr lang="pt-BR" baseline="0" dirty="0" smtClean="0"/>
              <a:t> sugere congelar a </a:t>
            </a:r>
            <a:r>
              <a:rPr lang="pt-BR" baseline="0" dirty="0" err="1" smtClean="0"/>
              <a:t>Interlalização</a:t>
            </a:r>
            <a:endParaRPr lang="pt-BR" baseline="0" dirty="0" smtClean="0"/>
          </a:p>
          <a:p>
            <a:r>
              <a:rPr lang="pt-BR" baseline="0" dirty="0" smtClean="0"/>
              <a:t>MPLS - Fortaleza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98529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00189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72368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2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 smtClean="0"/>
          </a:p>
        </p:txBody>
      </p:sp>
      <p:sp>
        <p:nvSpPr>
          <p:cNvPr id="10243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36591CD-E73B-4BE4-A5FD-D8C9C361607F}" type="slidenum">
              <a:rPr lang="pt-BR" altLang="pt-BR"/>
              <a:pPr>
                <a:spcBef>
                  <a:spcPct val="0"/>
                </a:spcBef>
              </a:pPr>
              <a:t>17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86950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2/4/2016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2/4/2016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2/4/2016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2/4/2016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2/4/2016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2/4/2016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2/4/2016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2/4/2016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2/4/2016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2/4/2016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2/4/2016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2/4/2016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36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0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84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hyperlink" Target="Gest&#227;o%20de%20problemas%20atualizado%2028.01.2016.xls" TargetMode="External"/><Relationship Id="rId5" Type="http://schemas.openxmlformats.org/officeDocument/2006/relationships/chart" Target="../charts/chart2.xml"/><Relationship Id="rId10" Type="http://schemas.openxmlformats.org/officeDocument/2006/relationships/image" Target="../media/image3.emf"/><Relationship Id="rId4" Type="http://schemas.openxmlformats.org/officeDocument/2006/relationships/chart" Target="../charts/chart1.xml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7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7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hart" Target="../charts/chart6.xml"/><Relationship Id="rId7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emf"/><Relationship Id="rId5" Type="http://schemas.openxmlformats.org/officeDocument/2006/relationships/image" Target="../media/image3.emf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emf"/><Relationship Id="rId5" Type="http://schemas.openxmlformats.org/officeDocument/2006/relationships/image" Target="../media/image3.emf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emf"/><Relationship Id="rId5" Type="http://schemas.openxmlformats.org/officeDocument/2006/relationships/image" Target="../media/image3.emf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emf"/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5.jpg"/><Relationship Id="rId10" Type="http://schemas.openxmlformats.org/officeDocument/2006/relationships/image" Target="../media/image26.png"/><Relationship Id="rId4" Type="http://schemas.openxmlformats.org/officeDocument/2006/relationships/image" Target="../media/image3.emf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jpg"/><Relationship Id="rId4" Type="http://schemas.openxmlformats.org/officeDocument/2006/relationships/image" Target="../media/image5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12.png"/><Relationship Id="rId4" Type="http://schemas.openxmlformats.org/officeDocument/2006/relationships/image" Target="../media/image32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achad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39"/>
            <a:ext cx="9144000" cy="5145024"/>
          </a:xfrm>
          <a:prstGeom prst="rect">
            <a:avLst/>
          </a:prstGeom>
        </p:spPr>
      </p:pic>
      <p:pic>
        <p:nvPicPr>
          <p:cNvPr id="10" name="Picture 9" descr="meia_bolin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466" y="4354709"/>
            <a:ext cx="1635846" cy="8043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329" y="3208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9711" y="325132"/>
            <a:ext cx="1744578" cy="422254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0" y="292955"/>
            <a:ext cx="3942260" cy="175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70000"/>
              </a:lnSpc>
            </a:pPr>
            <a:r>
              <a:rPr lang="en-US" sz="3000" b="1" dirty="0" smtClean="0">
                <a:solidFill>
                  <a:srgbClr val="19345B"/>
                </a:solidFill>
                <a:latin typeface="Arial"/>
                <a:cs typeface="Arial"/>
              </a:rPr>
              <a:t>Contact Center</a:t>
            </a:r>
            <a:r>
              <a:rPr lang="en-US" sz="30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en-US" sz="2200" b="1" dirty="0" err="1" smtClean="0">
                <a:solidFill>
                  <a:srgbClr val="FF0000"/>
                </a:solidFill>
                <a:latin typeface="Arial"/>
                <a:cs typeface="Arial"/>
              </a:rPr>
              <a:t>Estabilidade</a:t>
            </a:r>
            <a:r>
              <a:rPr lang="en-US" sz="22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200" b="1" dirty="0" err="1" smtClean="0">
                <a:solidFill>
                  <a:srgbClr val="FF0000"/>
                </a:solidFill>
                <a:latin typeface="Arial"/>
                <a:cs typeface="Arial"/>
              </a:rPr>
              <a:t>Operacional</a:t>
            </a:r>
            <a:endParaRPr lang="en-US" sz="2200" b="1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pPr algn="l">
              <a:lnSpc>
                <a:spcPct val="110000"/>
              </a:lnSpc>
            </a:pPr>
            <a:r>
              <a:rPr lang="en-US" sz="2200" b="1" dirty="0" smtClean="0">
                <a:solidFill>
                  <a:srgbClr val="FF0000"/>
                </a:solidFill>
                <a:latin typeface="Arial"/>
                <a:cs typeface="Arial"/>
              </a:rPr>
              <a:t>05.Fevereiro.2016</a:t>
            </a:r>
            <a:endParaRPr lang="en-US" sz="2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8331">
        <p14:reveal/>
      </p:transition>
    </mc:Choice>
    <mc:Fallback xmlns="">
      <p:transition spd="slow" advTm="8331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nterna_img-3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292" cy="5148264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hape 114"/>
          <p:cNvSpPr/>
          <p:nvPr/>
        </p:nvSpPr>
        <p:spPr>
          <a:xfrm>
            <a:off x="2669861" y="503053"/>
            <a:ext cx="1409769" cy="85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pt-BR" sz="3000" b="1" dirty="0" smtClean="0">
                <a:solidFill>
                  <a:srgbClr val="1F497D"/>
                </a:solidFill>
              </a:rPr>
              <a:t>Índice</a:t>
            </a:r>
            <a:endParaRPr sz="3000" b="1" dirty="0">
              <a:solidFill>
                <a:srgbClr val="1F497D"/>
              </a:solidFill>
            </a:endParaRPr>
          </a:p>
        </p:txBody>
      </p:sp>
      <p:pic>
        <p:nvPicPr>
          <p:cNvPr id="116" name="image5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860" y="4531179"/>
            <a:ext cx="1248721" cy="614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625970" y="1276051"/>
            <a:ext cx="5908890" cy="31786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Indicadores – Incidentes de Alto Impacto e Problemas</a:t>
            </a:r>
          </a:p>
          <a:p>
            <a:pPr algn="l">
              <a:buClr>
                <a:srgbClr val="800000"/>
              </a:buClr>
            </a:pP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Indicadores – Total de Incidentes (Alto, Médio e Baixo)</a:t>
            </a:r>
          </a:p>
          <a:p>
            <a:pPr algn="l">
              <a:buClr>
                <a:srgbClr val="800000"/>
              </a:buClr>
            </a:pP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3. Distribuição responsabilidade</a:t>
            </a:r>
          </a:p>
          <a:p>
            <a:pPr algn="l">
              <a:buClr>
                <a:srgbClr val="800000"/>
              </a:buClr>
            </a:pP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4. </a:t>
            </a:r>
            <a:r>
              <a:rPr lang="pt-BR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Impacto por Tipo (HW) Incidentes Médio e 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Baixo</a:t>
            </a:r>
          </a:p>
          <a:p>
            <a:pPr algn="l">
              <a:buClr>
                <a:srgbClr val="800000"/>
              </a:buClr>
            </a:pP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5. </a:t>
            </a:r>
            <a:r>
              <a:rPr lang="pt-BR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Relação de incidentes por PA e Site</a:t>
            </a:r>
          </a:p>
          <a:p>
            <a:pPr algn="l">
              <a:buClr>
                <a:srgbClr val="800000"/>
              </a:buClr>
            </a:pP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 </a:t>
            </a:r>
            <a:r>
              <a:rPr lang="pt-BR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Participação % dos Incidentes nos </a:t>
            </a:r>
            <a:r>
              <a:rPr lang="pt-BR" sz="16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Dias da Semana</a:t>
            </a:r>
          </a:p>
          <a:p>
            <a:pPr algn="l">
              <a:buClr>
                <a:srgbClr val="800000"/>
              </a:buClr>
            </a:pP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Projetos 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Estruturantes e Especiais</a:t>
            </a:r>
          </a:p>
          <a:p>
            <a:pPr algn="l">
              <a:buClr>
                <a:srgbClr val="800000"/>
              </a:buClr>
            </a:pP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Alinhamento</a:t>
            </a:r>
          </a:p>
        </p:txBody>
      </p:sp>
    </p:spTree>
    <p:extLst>
      <p:ext uri="{BB962C8B-B14F-4D97-AF65-F5344CB8AC3E}">
        <p14:creationId xmlns:p14="http://schemas.microsoft.com/office/powerpoint/2010/main" val="326875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Agrupar 4"/>
          <p:cNvGrpSpPr/>
          <p:nvPr/>
        </p:nvGrpSpPr>
        <p:grpSpPr>
          <a:xfrm>
            <a:off x="0" y="2436"/>
            <a:ext cx="9144001" cy="5145828"/>
            <a:chOff x="0" y="2436"/>
            <a:chExt cx="9144001" cy="5145828"/>
          </a:xfrm>
        </p:grpSpPr>
        <p:grpSp>
          <p:nvGrpSpPr>
            <p:cNvPr id="2" name="Agrupar 1"/>
            <p:cNvGrpSpPr/>
            <p:nvPr/>
          </p:nvGrpSpPr>
          <p:grpSpPr>
            <a:xfrm>
              <a:off x="1" y="153259"/>
              <a:ext cx="9144000" cy="4995005"/>
              <a:chOff x="1" y="153259"/>
              <a:chExt cx="9144000" cy="4995005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36933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dirty="0"/>
              </a:p>
            </p:txBody>
          </p:sp>
          <p:sp>
            <p:nvSpPr>
              <p:cNvPr id="20" name="Title 1"/>
              <p:cNvSpPr txBox="1">
                <a:spLocks/>
              </p:cNvSpPr>
              <p:nvPr/>
            </p:nvSpPr>
            <p:spPr>
              <a:xfrm>
                <a:off x="734184" y="153259"/>
                <a:ext cx="6254098" cy="56040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vert="horz" lIns="91440" tIns="45720" rIns="91440" bIns="45720" rtlCol="0" anchor="ctr">
                <a:normAutofit fontScale="62500" lnSpcReduction="20000"/>
              </a:bodyPr>
              <a:lstStyle>
                <a:lvl1pPr algn="ctr" defTabSz="4572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>
                  <a:buClr>
                    <a:srgbClr val="800000"/>
                  </a:buClr>
                </a:pPr>
                <a:r>
                  <a:rPr lang="pt-BR" sz="2800" b="1" dirty="0" smtClean="0">
                    <a:solidFill>
                      <a:schemeClr val="tx2"/>
                    </a:solidFill>
                    <a:latin typeface="Arial" pitchFamily="34" charset="0"/>
                    <a:cs typeface="Arial" pitchFamily="34" charset="0"/>
                  </a:rPr>
                  <a:t>1. Indicadores: Incidentes </a:t>
                </a:r>
                <a:r>
                  <a:rPr lang="pt-BR" sz="2800" b="1" dirty="0" smtClean="0">
                    <a:solidFill>
                      <a:schemeClr val="tx2"/>
                    </a:solidFill>
                    <a:latin typeface="Arial" pitchFamily="34" charset="0"/>
                    <a:cs typeface="Arial" pitchFamily="34" charset="0"/>
                  </a:rPr>
                  <a:t>Alto impacto e </a:t>
                </a:r>
                <a:r>
                  <a:rPr lang="pt-BR" sz="2800" b="1" dirty="0" smtClean="0">
                    <a:solidFill>
                      <a:schemeClr val="tx2"/>
                    </a:solidFill>
                    <a:latin typeface="Arial" pitchFamily="34" charset="0"/>
                    <a:cs typeface="Arial" pitchFamily="34" charset="0"/>
                  </a:rPr>
                  <a:t>Problemas</a:t>
                </a:r>
                <a:endParaRPr lang="pt-BR" sz="18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384319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aphicFrame>
            <p:nvGraphicFramePr>
              <p:cNvPr id="23" name="Gráfico 22"/>
              <p:cNvGraphicFramePr/>
              <p:nvPr>
                <p:extLst/>
              </p:nvPr>
            </p:nvGraphicFramePr>
            <p:xfrm>
              <a:off x="1" y="784099"/>
              <a:ext cx="4276020" cy="2239473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graphicFrame>
            <p:nvGraphicFramePr>
              <p:cNvPr id="27" name="Gráfico 26"/>
              <p:cNvGraphicFramePr/>
              <p:nvPr>
                <p:extLst/>
              </p:nvPr>
            </p:nvGraphicFramePr>
            <p:xfrm>
              <a:off x="4532563" y="791263"/>
              <a:ext cx="4250194" cy="223230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  <p:graphicFrame>
            <p:nvGraphicFramePr>
              <p:cNvPr id="31" name="Gráfico 30">
                <a:hlinkClick r:id="rId6" action="ppaction://hlinkfile"/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05788023"/>
                  </p:ext>
                </p:extLst>
              </p:nvPr>
            </p:nvGraphicFramePr>
            <p:xfrm>
              <a:off x="4968607" y="3068858"/>
              <a:ext cx="3492347" cy="2079405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7"/>
              </a:graphicData>
            </a:graphic>
          </p:graphicFrame>
          <p:sp>
            <p:nvSpPr>
              <p:cNvPr id="33" name="Retângulo de cantos arredondados 32"/>
              <p:cNvSpPr/>
              <p:nvPr/>
            </p:nvSpPr>
            <p:spPr>
              <a:xfrm>
                <a:off x="220647" y="3553688"/>
                <a:ext cx="1775024" cy="1058077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b="1" dirty="0" smtClean="0"/>
                  <a:t>Redução </a:t>
                </a:r>
                <a:r>
                  <a:rPr lang="pt-BR" sz="1600" b="1" i="1" dirty="0" smtClean="0"/>
                  <a:t>Consolidada</a:t>
                </a:r>
                <a:r>
                  <a:rPr lang="pt-BR" sz="1600" b="1" dirty="0" smtClean="0"/>
                  <a:t/>
                </a:r>
                <a:br>
                  <a:rPr lang="pt-BR" sz="1600" b="1" dirty="0" smtClean="0"/>
                </a:br>
                <a:r>
                  <a:rPr lang="pt-BR" sz="1600" b="1" dirty="0" smtClean="0"/>
                  <a:t> Ago </a:t>
                </a:r>
                <a:r>
                  <a:rPr lang="pt-BR" sz="1600" b="1" dirty="0"/>
                  <a:t>/ </a:t>
                </a:r>
                <a:r>
                  <a:rPr lang="pt-BR" sz="1600" b="1" dirty="0" smtClean="0"/>
                  <a:t>Dez</a:t>
                </a:r>
                <a:endParaRPr lang="pt-BR" sz="1600" b="1" dirty="0"/>
              </a:p>
              <a:p>
                <a:pPr algn="ctr"/>
                <a:r>
                  <a:rPr lang="pt-BR" sz="1600" b="1" dirty="0" smtClean="0"/>
                  <a:t>-80,32%</a:t>
                </a:r>
                <a:endParaRPr lang="pt-BR" sz="1600" b="1" dirty="0"/>
              </a:p>
            </p:txBody>
          </p:sp>
          <p:sp>
            <p:nvSpPr>
              <p:cNvPr id="19" name="Retângulo de cantos arredondados 18"/>
              <p:cNvSpPr/>
              <p:nvPr/>
            </p:nvSpPr>
            <p:spPr>
              <a:xfrm>
                <a:off x="2138011" y="3553689"/>
                <a:ext cx="1775024" cy="1058077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b="1" dirty="0"/>
                  <a:t>Redução </a:t>
                </a:r>
                <a:r>
                  <a:rPr lang="pt-BR" sz="1600" b="1" i="1" dirty="0" smtClean="0"/>
                  <a:t>Projetada</a:t>
                </a:r>
                <a:r>
                  <a:rPr lang="pt-BR" sz="1600" b="1" i="1" dirty="0"/>
                  <a:t/>
                </a:r>
                <a:br>
                  <a:rPr lang="pt-BR" sz="1600" b="1" i="1" dirty="0"/>
                </a:br>
                <a:r>
                  <a:rPr lang="pt-BR" sz="1600" b="1" dirty="0"/>
                  <a:t> </a:t>
                </a:r>
                <a:r>
                  <a:rPr lang="pt-BR" sz="1600" b="1" dirty="0" err="1"/>
                  <a:t>Ago</a:t>
                </a:r>
                <a:r>
                  <a:rPr lang="pt-BR" sz="1600" b="1" dirty="0"/>
                  <a:t> / </a:t>
                </a:r>
                <a:r>
                  <a:rPr lang="pt-BR" sz="1600" b="1" dirty="0" err="1" smtClean="0"/>
                  <a:t>Fev</a:t>
                </a:r>
                <a:endParaRPr lang="pt-BR" sz="1600" b="1" dirty="0"/>
              </a:p>
              <a:p>
                <a:pPr algn="ctr"/>
                <a:r>
                  <a:rPr lang="pt-BR" sz="1600" b="1" dirty="0" smtClean="0"/>
                  <a:t>-97,15%</a:t>
                </a:r>
                <a:endParaRPr lang="pt-BR" sz="1600" b="1" dirty="0"/>
              </a:p>
            </p:txBody>
          </p:sp>
          <p:pic>
            <p:nvPicPr>
              <p:cNvPr id="17" name="Imagem 16"/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87919" y="2822883"/>
                <a:ext cx="247650" cy="1762125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/>
            </p:spPr>
          </p:pic>
          <p:sp>
            <p:nvSpPr>
              <p:cNvPr id="3" name="CaixaDeTexto 2"/>
              <p:cNvSpPr txBox="1"/>
              <p:nvPr/>
            </p:nvSpPr>
            <p:spPr>
              <a:xfrm>
                <a:off x="1" y="4848225"/>
                <a:ext cx="5067299" cy="246221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pt-BR" sz="1000" dirty="0" smtClean="0">
                    <a:solidFill>
                      <a:schemeClr val="bg1">
                        <a:lumMod val="65000"/>
                      </a:schemeClr>
                    </a:solidFill>
                  </a:rPr>
                  <a:t>Informações retiradas dos indicadores de SLA e </a:t>
                </a:r>
                <a:r>
                  <a:rPr lang="pt-BR" sz="1000" dirty="0" err="1" smtClean="0">
                    <a:solidFill>
                      <a:schemeClr val="bg1">
                        <a:lumMod val="65000"/>
                      </a:schemeClr>
                    </a:solidFill>
                  </a:rPr>
                  <a:t>tProcess</a:t>
                </a:r>
                <a:r>
                  <a:rPr lang="pt-BR" sz="1000" dirty="0" smtClean="0">
                    <a:solidFill>
                      <a:schemeClr val="bg1">
                        <a:lumMod val="65000"/>
                      </a:schemeClr>
                    </a:solidFill>
                  </a:rPr>
                  <a:t>! referentes ao período de 01 à 03/02.</a:t>
                </a:r>
                <a:endParaRPr lang="pt-BR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0" y="2436"/>
              <a:ext cx="786452" cy="774259"/>
            </a:xfrm>
            <a:prstGeom prst="rect">
              <a:avLst/>
            </a:prstGeom>
          </p:spPr>
        </p:pic>
      </p:grpSp>
      <p:pic>
        <p:nvPicPr>
          <p:cNvPr id="26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sp>
        <p:nvSpPr>
          <p:cNvPr id="35" name="CaixaDeTexto 34"/>
          <p:cNvSpPr txBox="1"/>
          <p:nvPr/>
        </p:nvSpPr>
        <p:spPr>
          <a:xfrm>
            <a:off x="583668" y="2317782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r>
              <a:rPr lang="pt-BR" sz="1100" b="1" dirty="0" smtClean="0">
                <a:solidFill>
                  <a:schemeClr val="accent2"/>
                </a:solidFill>
              </a:rPr>
              <a:t>-72,2%</a:t>
            </a:r>
            <a:endParaRPr lang="pt-BR" sz="1100" b="1" dirty="0">
              <a:solidFill>
                <a:schemeClr val="accent2"/>
              </a:solidFill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1372913" y="2318022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r>
              <a:rPr lang="pt-BR" sz="1100" b="1" dirty="0" smtClean="0">
                <a:solidFill>
                  <a:schemeClr val="accent2"/>
                </a:solidFill>
              </a:rPr>
              <a:t>-29,2%</a:t>
            </a:r>
            <a:endParaRPr lang="pt-BR" sz="1100" b="1" dirty="0">
              <a:solidFill>
                <a:schemeClr val="accent2"/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2132154" y="2312172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r>
              <a:rPr lang="pt-BR" sz="1100" b="1" dirty="0" smtClean="0">
                <a:solidFill>
                  <a:schemeClr val="accent2"/>
                </a:solidFill>
              </a:rPr>
              <a:t>-28,6%</a:t>
            </a:r>
            <a:endParaRPr lang="pt-BR" sz="1100" b="1" dirty="0">
              <a:solidFill>
                <a:schemeClr val="accent2"/>
              </a:solidFill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5118708" y="2317782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r>
              <a:rPr lang="pt-BR" sz="1100" b="1" dirty="0" smtClean="0">
                <a:solidFill>
                  <a:schemeClr val="accent2"/>
                </a:solidFill>
              </a:rPr>
              <a:t>-71,3%</a:t>
            </a:r>
            <a:endParaRPr lang="pt-BR" sz="1100" b="1" dirty="0">
              <a:solidFill>
                <a:schemeClr val="accent2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5918170" y="2312172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r>
              <a:rPr lang="pt-BR" sz="1100" b="1" dirty="0" smtClean="0">
                <a:solidFill>
                  <a:schemeClr val="accent2"/>
                </a:solidFill>
              </a:rPr>
              <a:t>-31,5%</a:t>
            </a:r>
            <a:endParaRPr lang="pt-BR" sz="1100" b="1" dirty="0">
              <a:solidFill>
                <a:schemeClr val="accent2"/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6684214" y="2312172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r>
              <a:rPr lang="pt-BR" sz="1100" b="1" dirty="0" smtClean="0">
                <a:solidFill>
                  <a:schemeClr val="accent2"/>
                </a:solidFill>
              </a:rPr>
              <a:t>-25,0%</a:t>
            </a:r>
            <a:endParaRPr lang="pt-BR" sz="1100" b="1" dirty="0">
              <a:solidFill>
                <a:schemeClr val="accent2"/>
              </a:solidFill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7450258" y="2333767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r>
              <a:rPr lang="pt-BR" sz="1100" b="1" dirty="0" smtClean="0">
                <a:solidFill>
                  <a:schemeClr val="accent2"/>
                </a:solidFill>
              </a:rPr>
              <a:t>+59,4%</a:t>
            </a:r>
            <a:endParaRPr lang="pt-BR" sz="11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487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Gráfico 1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996898121"/>
              </p:ext>
            </p:extLst>
          </p:nvPr>
        </p:nvGraphicFramePr>
        <p:xfrm>
          <a:off x="988658" y="672859"/>
          <a:ext cx="7200000" cy="4486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" name="Agrupar 1"/>
          <p:cNvGrpSpPr/>
          <p:nvPr/>
        </p:nvGrpSpPr>
        <p:grpSpPr>
          <a:xfrm>
            <a:off x="1" y="10824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775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2. Indicadores: Total de Incidentes Alto</a:t>
              </a:r>
              <a:endParaRPr lang="pt-BR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à </a:t>
              </a:r>
              <a:r>
                <a:rPr lang="pt-BR" sz="1100" dirty="0" smtClean="0">
                  <a:solidFill>
                    <a:schemeClr val="bg1">
                      <a:lumMod val="65000"/>
                    </a:schemeClr>
                  </a:solidFill>
                </a:rPr>
                <a:t>03/02.</a:t>
              </a:r>
              <a:endParaRPr lang="pt-BR" sz="11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sp>
        <p:nvSpPr>
          <p:cNvPr id="13" name="Retângulo de cantos arredondados 12"/>
          <p:cNvSpPr>
            <a:spLocks noChangeAspect="1"/>
          </p:cNvSpPr>
          <p:nvPr/>
        </p:nvSpPr>
        <p:spPr>
          <a:xfrm>
            <a:off x="7571744" y="1055342"/>
            <a:ext cx="1440000" cy="352000"/>
          </a:xfrm>
          <a:prstGeom prst="roundRect">
            <a:avLst/>
          </a:prstGeom>
          <a:solidFill>
            <a:srgbClr val="92D05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/>
              <a:t>Meta &lt; 294</a:t>
            </a:r>
            <a:endParaRPr lang="pt-BR" sz="1600" b="1" dirty="0"/>
          </a:p>
        </p:txBody>
      </p:sp>
    </p:spTree>
    <p:extLst>
      <p:ext uri="{BB962C8B-B14F-4D97-AF65-F5344CB8AC3E}">
        <p14:creationId xmlns:p14="http://schemas.microsoft.com/office/powerpoint/2010/main" val="3894711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áfico 9"/>
          <p:cNvGraphicFramePr>
            <a:graphicFrameLocks noGrp="1"/>
          </p:cNvGraphicFramePr>
          <p:nvPr>
            <p:extLst/>
          </p:nvPr>
        </p:nvGraphicFramePr>
        <p:xfrm>
          <a:off x="754514" y="635652"/>
          <a:ext cx="7200000" cy="426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" name="Agrupar 1"/>
          <p:cNvGrpSpPr/>
          <p:nvPr/>
        </p:nvGrpSpPr>
        <p:grpSpPr>
          <a:xfrm>
            <a:off x="1" y="10824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700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2. Indicadores: Total de Incidentes Médio</a:t>
              </a:r>
              <a:endParaRPr lang="pt-BR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à </a:t>
              </a:r>
              <a:r>
                <a:rPr lang="pt-BR" sz="1100" dirty="0" smtClean="0">
                  <a:solidFill>
                    <a:schemeClr val="bg1">
                      <a:lumMod val="65000"/>
                    </a:schemeClr>
                  </a:solidFill>
                </a:rPr>
                <a:t>03/02.</a:t>
              </a:r>
              <a:endParaRPr lang="pt-BR" sz="11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sp>
        <p:nvSpPr>
          <p:cNvPr id="13" name="Retângulo de cantos arredondados 12"/>
          <p:cNvSpPr>
            <a:spLocks noChangeAspect="1"/>
          </p:cNvSpPr>
          <p:nvPr/>
        </p:nvSpPr>
        <p:spPr>
          <a:xfrm>
            <a:off x="7447919" y="931739"/>
            <a:ext cx="1440000" cy="352000"/>
          </a:xfrm>
          <a:prstGeom prst="roundRect">
            <a:avLst/>
          </a:prstGeom>
          <a:solidFill>
            <a:srgbClr val="92D05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/>
              <a:t>Meta &lt; 13.076</a:t>
            </a:r>
            <a:endParaRPr lang="pt-BR" sz="1600" b="1" dirty="0"/>
          </a:p>
        </p:txBody>
      </p:sp>
    </p:spTree>
    <p:extLst>
      <p:ext uri="{BB962C8B-B14F-4D97-AF65-F5344CB8AC3E}">
        <p14:creationId xmlns:p14="http://schemas.microsoft.com/office/powerpoint/2010/main" val="1345385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áfico 9"/>
          <p:cNvGraphicFramePr>
            <a:graphicFrameLocks noGrp="1" noChangeAspect="1"/>
          </p:cNvGraphicFramePr>
          <p:nvPr>
            <p:extLst/>
          </p:nvPr>
        </p:nvGraphicFramePr>
        <p:xfrm>
          <a:off x="786450" y="671641"/>
          <a:ext cx="7200000" cy="44869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" name="Agrupar 1"/>
          <p:cNvGrpSpPr/>
          <p:nvPr/>
        </p:nvGrpSpPr>
        <p:grpSpPr>
          <a:xfrm>
            <a:off x="1" y="10824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700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2. Indicadores: Total de Incidentes Baixo</a:t>
              </a: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à </a:t>
              </a:r>
              <a:r>
                <a:rPr lang="pt-BR" sz="1100" dirty="0" smtClean="0">
                  <a:solidFill>
                    <a:schemeClr val="bg1">
                      <a:lumMod val="65000"/>
                    </a:schemeClr>
                  </a:solidFill>
                </a:rPr>
                <a:t>03/02.</a:t>
              </a:r>
              <a:endParaRPr lang="pt-BR" sz="11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0288" y="1055955"/>
            <a:ext cx="1481456" cy="44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972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de cantos arredondados 17"/>
          <p:cNvSpPr/>
          <p:nvPr/>
        </p:nvSpPr>
        <p:spPr>
          <a:xfrm>
            <a:off x="6125308" y="2474260"/>
            <a:ext cx="1775024" cy="602991"/>
          </a:xfrm>
          <a:prstGeom prst="roundRect">
            <a:avLst/>
          </a:prstGeom>
          <a:solidFill>
            <a:srgbClr val="FF0000"/>
          </a:solidFill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/>
              <a:t>Santander</a:t>
            </a:r>
            <a:endParaRPr lang="pt-BR" sz="1600" b="1" dirty="0" smtClean="0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101" y="3129994"/>
            <a:ext cx="2971295" cy="1817493"/>
          </a:xfrm>
          <a:prstGeom prst="rect">
            <a:avLst/>
          </a:prstGeom>
        </p:spPr>
      </p:pic>
      <p:grpSp>
        <p:nvGrpSpPr>
          <p:cNvPr id="2" name="Agrupar 1"/>
          <p:cNvGrpSpPr/>
          <p:nvPr/>
        </p:nvGrpSpPr>
        <p:grpSpPr>
          <a:xfrm>
            <a:off x="754515" y="108241"/>
            <a:ext cx="8389486" cy="5049962"/>
            <a:chOff x="754515" y="98302"/>
            <a:chExt cx="8389486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85000" lnSpcReduction="1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buClr>
                  <a:srgbClr val="800000"/>
                </a:buClr>
              </a:pP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3</a:t>
              </a:r>
              <a:r>
                <a:rPr lang="pt-BR" sz="32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. Distribuição por responsabilidade</a:t>
              </a:r>
              <a:endPara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17" y="1394986"/>
            <a:ext cx="2982189" cy="1790319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4807" y="2362954"/>
            <a:ext cx="2984689" cy="1791820"/>
          </a:xfrm>
          <a:prstGeom prst="rect">
            <a:avLst/>
          </a:prstGeom>
        </p:spPr>
      </p:pic>
      <p:sp>
        <p:nvSpPr>
          <p:cNvPr id="15" name="Retângulo de cantos arredondados 14"/>
          <p:cNvSpPr/>
          <p:nvPr/>
        </p:nvSpPr>
        <p:spPr>
          <a:xfrm>
            <a:off x="54434" y="683941"/>
            <a:ext cx="1775024" cy="602991"/>
          </a:xfrm>
          <a:prstGeom prst="round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/>
              <a:t>Contax</a:t>
            </a:r>
            <a:endParaRPr lang="pt-BR" sz="1600" b="1" dirty="0"/>
          </a:p>
        </p:txBody>
      </p:sp>
      <p:sp>
        <p:nvSpPr>
          <p:cNvPr id="16" name="Retângulo de cantos arredondados 15"/>
          <p:cNvSpPr/>
          <p:nvPr/>
        </p:nvSpPr>
        <p:spPr>
          <a:xfrm>
            <a:off x="3084807" y="1658618"/>
            <a:ext cx="1775024" cy="602991"/>
          </a:xfrm>
          <a:prstGeom prst="roundRect">
            <a:avLst/>
          </a:prstGeom>
          <a:solidFill>
            <a:srgbClr val="7030A0"/>
          </a:solidFill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/>
              <a:t>Vivo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85718" y="4556452"/>
            <a:ext cx="3487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Incidentes de Alto </a:t>
            </a:r>
            <a:r>
              <a:rPr lang="pt-BR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impacto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0924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/>
          <p:cNvGrpSpPr/>
          <p:nvPr/>
        </p:nvGrpSpPr>
        <p:grpSpPr>
          <a:xfrm>
            <a:off x="671340" y="118618"/>
            <a:ext cx="8472661" cy="5039585"/>
            <a:chOff x="671340" y="108679"/>
            <a:chExt cx="8472661" cy="5039585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671340" y="108679"/>
              <a:ext cx="6888409" cy="827836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buClr>
                  <a:srgbClr val="800000"/>
                </a:buClr>
              </a:pPr>
              <a:r>
                <a:rPr lang="pt-BR" sz="18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4</a:t>
              </a:r>
              <a:r>
                <a:rPr lang="pt-BR" sz="18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. Impacto por Tipo (HW) Incidentes Médio e Baixo</a:t>
              </a: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6984" y="241213"/>
            <a:ext cx="1603348" cy="291323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340" y="1270167"/>
            <a:ext cx="7151667" cy="350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560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/>
          <p:cNvGrpSpPr/>
          <p:nvPr/>
        </p:nvGrpSpPr>
        <p:grpSpPr>
          <a:xfrm>
            <a:off x="754515" y="108241"/>
            <a:ext cx="8389486" cy="5049962"/>
            <a:chOff x="754515" y="98302"/>
            <a:chExt cx="8389486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775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buClr>
                  <a:srgbClr val="800000"/>
                </a:buClr>
              </a:pP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5</a:t>
              </a:r>
              <a:r>
                <a:rPr lang="pt-BR" sz="32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. Relação de incidentes por PA e Site</a:t>
              </a:r>
              <a:endPara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970" y="865008"/>
            <a:ext cx="3875925" cy="3538983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2093" y="869317"/>
            <a:ext cx="3891007" cy="3534674"/>
          </a:xfrm>
          <a:prstGeom prst="rect">
            <a:avLst/>
          </a:prstGeom>
        </p:spPr>
      </p:pic>
      <p:cxnSp>
        <p:nvCxnSpPr>
          <p:cNvPr id="11" name="Conector em curva 10"/>
          <p:cNvCxnSpPr/>
          <p:nvPr/>
        </p:nvCxnSpPr>
        <p:spPr>
          <a:xfrm rot="5400000" flipH="1" flipV="1">
            <a:off x="3104990" y="2661046"/>
            <a:ext cx="2810007" cy="67588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909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/>
          <p:cNvGrpSpPr/>
          <p:nvPr/>
        </p:nvGrpSpPr>
        <p:grpSpPr>
          <a:xfrm>
            <a:off x="754515" y="8805"/>
            <a:ext cx="8389486" cy="5149398"/>
            <a:chOff x="754515" y="-1134"/>
            <a:chExt cx="8389486" cy="5149398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-1134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550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6</a:t>
              </a:r>
              <a:r>
                <a:rPr lang="pt-BR" sz="32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. Participação % dos Incidentes nos </a:t>
              </a:r>
              <a:r>
                <a:rPr lang="pt-BR" sz="3200" b="1" u="sng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Dias da Semana</a:t>
              </a:r>
              <a:endParaRPr lang="pt-BR" sz="3200" b="1" u="sng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6984" y="164405"/>
            <a:ext cx="1603348" cy="291323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152" y="539716"/>
            <a:ext cx="7104137" cy="257826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2024" y="3129099"/>
            <a:ext cx="3375853" cy="2029104"/>
          </a:xfrm>
          <a:prstGeom prst="rect">
            <a:avLst/>
          </a:prstGeom>
        </p:spPr>
      </p:pic>
      <p:sp>
        <p:nvSpPr>
          <p:cNvPr id="12" name="Texto Explicativo 1 11"/>
          <p:cNvSpPr/>
          <p:nvPr/>
        </p:nvSpPr>
        <p:spPr>
          <a:xfrm>
            <a:off x="946298" y="3636300"/>
            <a:ext cx="1956390" cy="507351"/>
          </a:xfrm>
          <a:prstGeom prst="borderCallout1">
            <a:avLst>
              <a:gd name="adj1" fmla="val 18750"/>
              <a:gd name="adj2" fmla="val -8333"/>
              <a:gd name="adj3" fmla="val -97070"/>
              <a:gd name="adj4" fmla="val -17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solidFill>
                  <a:schemeClr val="bg1"/>
                </a:solidFill>
              </a:rPr>
              <a:t>Categoria de incidentes</a:t>
            </a:r>
          </a:p>
          <a:p>
            <a:r>
              <a:rPr lang="pt-BR" sz="1400" b="1" dirty="0">
                <a:solidFill>
                  <a:schemeClr val="bg1"/>
                </a:solidFill>
              </a:rPr>
              <a:t> relacionados com </a:t>
            </a:r>
            <a:r>
              <a:rPr lang="pt-BR" sz="1400" b="1" dirty="0" err="1">
                <a:solidFill>
                  <a:schemeClr val="bg1"/>
                </a:solidFill>
              </a:rPr>
              <a:t>PA,s</a:t>
            </a:r>
            <a:endParaRPr lang="pt-BR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7802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Projetos Estruturantes e Especiais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8417" y="4417520"/>
            <a:ext cx="690691" cy="687594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3624" y="4402475"/>
            <a:ext cx="781292" cy="79865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4173" y="4377784"/>
            <a:ext cx="798655" cy="798655"/>
          </a:xfrm>
          <a:prstGeom prst="rect">
            <a:avLst/>
          </a:prstGeom>
        </p:spPr>
      </p:pic>
      <p:sp>
        <p:nvSpPr>
          <p:cNvPr id="11" name="Elipse 10"/>
          <p:cNvSpPr/>
          <p:nvPr/>
        </p:nvSpPr>
        <p:spPr>
          <a:xfrm>
            <a:off x="1734829" y="4479431"/>
            <a:ext cx="608523" cy="608567"/>
          </a:xfrm>
          <a:prstGeom prst="ellipse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000" r="-8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2" name="Elipse 11"/>
          <p:cNvSpPr/>
          <p:nvPr/>
        </p:nvSpPr>
        <p:spPr>
          <a:xfrm>
            <a:off x="562659" y="4402475"/>
            <a:ext cx="564119" cy="717684"/>
          </a:xfrm>
          <a:prstGeom prst="ellipse">
            <a:avLst/>
          </a:prstGeom>
          <a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6000" r="-4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7" name="Imagem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05416" y="4448907"/>
            <a:ext cx="669613" cy="669613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7343" y="4440592"/>
            <a:ext cx="707197" cy="664522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088" y="776935"/>
            <a:ext cx="9020975" cy="32634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3543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503" y="650871"/>
            <a:ext cx="6027461" cy="45205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Alinhamento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88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Agrupar 41"/>
          <p:cNvGrpSpPr/>
          <p:nvPr/>
        </p:nvGrpSpPr>
        <p:grpSpPr>
          <a:xfrm rot="20909702">
            <a:off x="4479136" y="1785458"/>
            <a:ext cx="4277275" cy="1804782"/>
            <a:chOff x="4656528" y="1965933"/>
            <a:chExt cx="4176406" cy="1737150"/>
          </a:xfrm>
        </p:grpSpPr>
        <p:grpSp>
          <p:nvGrpSpPr>
            <p:cNvPr id="43" name="Agrupar 42"/>
            <p:cNvGrpSpPr/>
            <p:nvPr/>
          </p:nvGrpSpPr>
          <p:grpSpPr>
            <a:xfrm>
              <a:off x="4656528" y="1965933"/>
              <a:ext cx="4176406" cy="1737150"/>
              <a:chOff x="-19680" y="3542711"/>
              <a:chExt cx="8928992" cy="3176829"/>
            </a:xfrm>
          </p:grpSpPr>
          <p:pic>
            <p:nvPicPr>
              <p:cNvPr id="45" name="Imagem 4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9680" y="3562773"/>
                <a:ext cx="8928992" cy="3156767"/>
              </a:xfrm>
              <a:prstGeom prst="rect">
                <a:avLst/>
              </a:prstGeom>
            </p:spPr>
          </p:pic>
          <p:sp>
            <p:nvSpPr>
              <p:cNvPr id="46" name="CaixaDeTexto 45"/>
              <p:cNvSpPr txBox="1"/>
              <p:nvPr/>
            </p:nvSpPr>
            <p:spPr>
              <a:xfrm>
                <a:off x="1043609" y="3542711"/>
                <a:ext cx="7200799" cy="786632"/>
              </a:xfrm>
              <a:prstGeom prst="rect">
                <a:avLst/>
              </a:prstGeom>
              <a:solidFill>
                <a:srgbClr val="FFC000">
                  <a:alpha val="25098"/>
                </a:srgb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pt-BR" dirty="0"/>
              </a:p>
            </p:txBody>
          </p:sp>
          <p:sp>
            <p:nvSpPr>
              <p:cNvPr id="47" name="CaixaDeTexto 46"/>
              <p:cNvSpPr txBox="1"/>
              <p:nvPr/>
            </p:nvSpPr>
            <p:spPr>
              <a:xfrm>
                <a:off x="2152303" y="5664850"/>
                <a:ext cx="3509340" cy="786632"/>
              </a:xfrm>
              <a:prstGeom prst="rect">
                <a:avLst/>
              </a:prstGeom>
              <a:solidFill>
                <a:srgbClr val="FFC000">
                  <a:alpha val="25098"/>
                </a:srgb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pt-BR" dirty="0"/>
              </a:p>
            </p:txBody>
          </p:sp>
        </p:grpSp>
        <p:pic>
          <p:nvPicPr>
            <p:cNvPr id="44" name="Picture 2" descr="http://2.bp.blogspot.com/-FA13KvVejpc/VZrjx0SSpwI/AAAAAAAAAfM/sTNY7bS_mxI/s1600/done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4706" y="2118613"/>
              <a:ext cx="1514054" cy="15140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4086" y="280913"/>
            <a:ext cx="1603348" cy="291323"/>
          </a:xfrm>
          <a:prstGeom prst="rect">
            <a:avLst/>
          </a:prstGeom>
        </p:spPr>
      </p:pic>
      <p:sp>
        <p:nvSpPr>
          <p:cNvPr id="22" name="Title 1"/>
          <p:cNvSpPr txBox="1">
            <a:spLocks/>
          </p:cNvSpPr>
          <p:nvPr/>
        </p:nvSpPr>
        <p:spPr>
          <a:xfrm>
            <a:off x="518663" y="109365"/>
            <a:ext cx="6770459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pt-BR" sz="2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2ª Fase – T2R – Objetivos</a:t>
            </a:r>
            <a:endParaRPr lang="pt-BR" sz="2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Subtítulo 2"/>
          <p:cNvSpPr txBox="1">
            <a:spLocks/>
          </p:cNvSpPr>
          <p:nvPr/>
        </p:nvSpPr>
        <p:spPr>
          <a:xfrm>
            <a:off x="74938" y="960667"/>
            <a:ext cx="5780348" cy="110713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sz="2200" dirty="0" smtClean="0">
                <a:cs typeface="Aharoni" panose="02010803020104030203" pitchFamily="2" charset="-79"/>
              </a:rPr>
              <a:t>Para consolidar a Estabilidade Operacional é preciso agora </a:t>
            </a:r>
            <a:r>
              <a:rPr lang="pt-BR" sz="2200" b="1" dirty="0" smtClean="0">
                <a:cs typeface="Aharoni" panose="02010803020104030203" pitchFamily="2" charset="-79"/>
              </a:rPr>
              <a:t>manter o ímpeto</a:t>
            </a:r>
            <a:r>
              <a:rPr lang="pt-BR" sz="2200" dirty="0" smtClean="0">
                <a:cs typeface="Aharoni" panose="02010803020104030203" pitchFamily="2" charset="-79"/>
              </a:rPr>
              <a:t> e melhorar as práticas relacionadas a </a:t>
            </a:r>
            <a:r>
              <a:rPr lang="pt-BR" sz="2200" b="1" i="1" dirty="0" smtClean="0">
                <a:cs typeface="Aharoni" panose="02010803020104030203" pitchFamily="2" charset="-79"/>
              </a:rPr>
              <a:t>Transition to Run </a:t>
            </a:r>
            <a:r>
              <a:rPr lang="pt-BR" sz="2200" b="1" dirty="0" smtClean="0">
                <a:cs typeface="Aharoni" panose="02010803020104030203" pitchFamily="2" charset="-79"/>
              </a:rPr>
              <a:t>– T2R</a:t>
            </a:r>
            <a:r>
              <a:rPr lang="pt-BR" sz="2200" dirty="0" smtClean="0">
                <a:cs typeface="Aharoni" panose="02010803020104030203" pitchFamily="2" charset="-79"/>
              </a:rPr>
              <a:t>.</a:t>
            </a:r>
            <a:endParaRPr lang="pt-BR" sz="2200" dirty="0">
              <a:cs typeface="Aharoni" panose="02010803020104030203" pitchFamily="2" charset="-79"/>
            </a:endParaRPr>
          </a:p>
        </p:txBody>
      </p:sp>
      <p:sp>
        <p:nvSpPr>
          <p:cNvPr id="48" name="Subtítulo 2"/>
          <p:cNvSpPr txBox="1">
            <a:spLocks/>
          </p:cNvSpPr>
          <p:nvPr/>
        </p:nvSpPr>
        <p:spPr>
          <a:xfrm>
            <a:off x="0" y="1954024"/>
            <a:ext cx="8907433" cy="149315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Os processos de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T2R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 devem considerar todo o ciclo da mudança, desde a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demanda por serviços novos ou alterados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 por parte das unidades de</a:t>
            </a:r>
            <a:b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</a:b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negócio </a:t>
            </a:r>
            <a:r>
              <a:rPr lang="pt-BR" sz="2000" dirty="0" smtClean="0">
                <a:solidFill>
                  <a:schemeClr val="tx1"/>
                </a:solidFill>
                <a:cs typeface="Aharoni" panose="02010803020104030203" pitchFamily="2" charset="-79"/>
              </a:rPr>
              <a:t>até as 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atualizações tecnológicas efetuadas pelas equipes de TI até </a:t>
            </a:r>
            <a:r>
              <a:rPr lang="pt-BR" sz="2000" dirty="0" smtClean="0">
                <a:solidFill>
                  <a:schemeClr val="tx1"/>
                </a:solidFill>
                <a:cs typeface="Aharoni" panose="02010803020104030203" pitchFamily="2" charset="-79"/>
              </a:rPr>
              <a:t>sua </a:t>
            </a:r>
            <a:r>
              <a:rPr lang="pt-BR" sz="2000" b="1" dirty="0" smtClean="0">
                <a:solidFill>
                  <a:schemeClr val="tx1"/>
                </a:solidFill>
                <a:cs typeface="Aharoni" panose="02010803020104030203" pitchFamily="2" charset="-79"/>
              </a:rPr>
              <a:t>estabilização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em ambiente de produção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.</a:t>
            </a:r>
          </a:p>
          <a:p>
            <a:pPr algn="r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r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pic>
        <p:nvPicPr>
          <p:cNvPr id="49" name="Imagem 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332" y="3380497"/>
            <a:ext cx="8303012" cy="1758695"/>
          </a:xfrm>
          <a:prstGeom prst="rect">
            <a:avLst/>
          </a:prstGeom>
        </p:spPr>
      </p:pic>
      <p:grpSp>
        <p:nvGrpSpPr>
          <p:cNvPr id="27" name="Agrupar 26"/>
          <p:cNvGrpSpPr/>
          <p:nvPr/>
        </p:nvGrpSpPr>
        <p:grpSpPr>
          <a:xfrm>
            <a:off x="8302427" y="2320565"/>
            <a:ext cx="841573" cy="2827698"/>
            <a:chOff x="8188658" y="2674201"/>
            <a:chExt cx="955343" cy="2474063"/>
          </a:xfrm>
        </p:grpSpPr>
        <p:pic>
          <p:nvPicPr>
            <p:cNvPr id="30" name="Picture 2"/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Imagem 35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5454" y="2674201"/>
              <a:ext cx="268546" cy="191080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814624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4086" y="280913"/>
            <a:ext cx="1603348" cy="291323"/>
          </a:xfrm>
          <a:prstGeom prst="rect">
            <a:avLst/>
          </a:prstGeom>
        </p:spPr>
      </p:pic>
      <p:sp>
        <p:nvSpPr>
          <p:cNvPr id="22" name="Title 1"/>
          <p:cNvSpPr txBox="1">
            <a:spLocks/>
          </p:cNvSpPr>
          <p:nvPr/>
        </p:nvSpPr>
        <p:spPr>
          <a:xfrm>
            <a:off x="518663" y="109365"/>
            <a:ext cx="6770459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pt-BR" sz="2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2ª Fase – T2R – Ações</a:t>
            </a:r>
            <a:endParaRPr lang="pt-BR" sz="2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7" name="Agrupar 26"/>
          <p:cNvGrpSpPr/>
          <p:nvPr/>
        </p:nvGrpSpPr>
        <p:grpSpPr>
          <a:xfrm>
            <a:off x="8302427" y="2320565"/>
            <a:ext cx="841573" cy="2827698"/>
            <a:chOff x="8188658" y="2674201"/>
            <a:chExt cx="955343" cy="2474063"/>
          </a:xfrm>
        </p:grpSpPr>
        <p:pic>
          <p:nvPicPr>
            <p:cNvPr id="30" name="Picture 2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Imagem 35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5454" y="2674201"/>
              <a:ext cx="268546" cy="191080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sp>
        <p:nvSpPr>
          <p:cNvPr id="17" name="Subtítulo 2"/>
          <p:cNvSpPr txBox="1">
            <a:spLocks/>
          </p:cNvSpPr>
          <p:nvPr/>
        </p:nvSpPr>
        <p:spPr>
          <a:xfrm>
            <a:off x="82659" y="861620"/>
            <a:ext cx="8611722" cy="303451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dirty="0" smtClean="0">
                <a:cs typeface="Aharoni" panose="02010803020104030203" pitchFamily="2" charset="-79"/>
              </a:rPr>
              <a:t>As ações para consolidar a melhoria da estabilidade operacional são as seguintes: </a:t>
            </a:r>
          </a:p>
          <a:p>
            <a:pPr marL="0" indent="0">
              <a:buNone/>
            </a:pPr>
            <a:endParaRPr lang="pt-BR" sz="2000" dirty="0" smtClean="0">
              <a:cs typeface="Aharoni" panose="02010803020104030203" pitchFamily="2" charset="-79"/>
            </a:endParaRPr>
          </a:p>
          <a:p>
            <a:pPr marL="0" indent="0" algn="r">
              <a:buNone/>
            </a:pPr>
            <a:r>
              <a:rPr lang="pt-BR" sz="2000" dirty="0" smtClean="0">
                <a:cs typeface="Aharoni" panose="02010803020104030203" pitchFamily="2" charset="-79"/>
              </a:rPr>
              <a:t>0. </a:t>
            </a:r>
            <a:r>
              <a:rPr lang="pt-BR" sz="2000" b="1" dirty="0" smtClean="0">
                <a:cs typeface="Aharoni" panose="02010803020104030203" pitchFamily="2" charset="-79"/>
              </a:rPr>
              <a:t>Manter o ímpeto</a:t>
            </a:r>
            <a:r>
              <a:rPr lang="pt-BR" sz="2000" dirty="0" smtClean="0">
                <a:cs typeface="Aharoni" panose="02010803020104030203" pitchFamily="2" charset="-79"/>
              </a:rPr>
              <a:t> das conquistas da Gestão de Problemas e Incidentes;</a:t>
            </a:r>
          </a:p>
          <a:p>
            <a:pPr marL="0" indent="0" algn="r">
              <a:buNone/>
            </a:pPr>
            <a:r>
              <a:rPr lang="pt-BR" sz="2000" dirty="0" smtClean="0">
                <a:cs typeface="Aharoni" panose="02010803020104030203" pitchFamily="2" charset="-79"/>
              </a:rPr>
              <a:t>1. Identificar e documentar </a:t>
            </a:r>
            <a:r>
              <a:rPr lang="pt-BR" sz="2000" b="1" dirty="0" smtClean="0">
                <a:cs typeface="Aharoni" panose="02010803020104030203" pitchFamily="2" charset="-79"/>
              </a:rPr>
              <a:t>Canais e Serviços de TI</a:t>
            </a:r>
            <a:r>
              <a:rPr lang="pt-BR" sz="2000" dirty="0" smtClean="0">
                <a:cs typeface="Aharoni" panose="02010803020104030203" pitchFamily="2" charset="-79"/>
              </a:rPr>
              <a:t>;</a:t>
            </a:r>
          </a:p>
          <a:p>
            <a:pPr marL="0" indent="0" algn="r">
              <a:buNone/>
            </a:pPr>
            <a:r>
              <a:rPr lang="pt-BR" sz="2000" dirty="0" smtClean="0">
                <a:cs typeface="Aharoni" panose="02010803020104030203" pitchFamily="2" charset="-79"/>
              </a:rPr>
              <a:t>2. Identificar os </a:t>
            </a:r>
            <a:r>
              <a:rPr lang="pt-BR" sz="2000" b="1" dirty="0" smtClean="0">
                <a:cs typeface="Aharoni" panose="02010803020104030203" pitchFamily="2" charset="-79"/>
              </a:rPr>
              <a:t>Ativos dos Serviços</a:t>
            </a:r>
            <a:r>
              <a:rPr lang="pt-BR" sz="2000" dirty="0" smtClean="0">
                <a:cs typeface="Aharoni" panose="02010803020104030203" pitchFamily="2" charset="-79"/>
              </a:rPr>
              <a:t> e sua </a:t>
            </a:r>
            <a:r>
              <a:rPr lang="pt-BR" sz="2000" b="1" dirty="0" smtClean="0">
                <a:cs typeface="Aharoni" panose="02010803020104030203" pitchFamily="2" charset="-79"/>
              </a:rPr>
              <a:t>Configuração;</a:t>
            </a:r>
          </a:p>
          <a:p>
            <a:pPr marL="0" indent="0" algn="r">
              <a:buNone/>
            </a:pPr>
            <a:endParaRPr lang="pt-BR" sz="2000" b="1" dirty="0">
              <a:cs typeface="Aharoni" panose="02010803020104030203" pitchFamily="2" charset="-79"/>
            </a:endParaRPr>
          </a:p>
          <a:p>
            <a:pPr marL="0" indent="0" algn="r">
              <a:buNone/>
            </a:pPr>
            <a:endParaRPr lang="pt-BR" sz="2000" b="1" dirty="0" smtClean="0">
              <a:cs typeface="Aharoni" panose="02010803020104030203" pitchFamily="2" charset="-79"/>
            </a:endParaRPr>
          </a:p>
          <a:p>
            <a:pPr marL="0" indent="0" algn="r">
              <a:buNone/>
            </a:pPr>
            <a:endParaRPr lang="pt-BR" sz="2000" dirty="0" smtClean="0">
              <a:cs typeface="Aharoni" panose="02010803020104030203" pitchFamily="2" charset="-79"/>
            </a:endParaRPr>
          </a:p>
          <a:p>
            <a:pPr marL="0" indent="0" algn="r">
              <a:buNone/>
            </a:pPr>
            <a:r>
              <a:rPr lang="pt-BR" sz="2000" dirty="0" smtClean="0">
                <a:cs typeface="Aharoni" panose="02010803020104030203" pitchFamily="2" charset="-79"/>
              </a:rPr>
              <a:t>3. Revisar e melhorar o processo e os </a:t>
            </a:r>
            <a:r>
              <a:rPr lang="pt-BR" sz="2000" b="1" dirty="0" smtClean="0">
                <a:cs typeface="Aharoni" panose="02010803020104030203" pitchFamily="2" charset="-79"/>
              </a:rPr>
              <a:t>ritos de Gestão de Mudanças</a:t>
            </a:r>
            <a:r>
              <a:rPr lang="pt-BR" sz="2000" dirty="0" smtClean="0">
                <a:cs typeface="Aharoni" panose="02010803020104030203" pitchFamily="2" charset="-79"/>
              </a:rPr>
              <a:t>;</a:t>
            </a:r>
          </a:p>
          <a:p>
            <a:pPr marL="0" indent="0" algn="r">
              <a:buNone/>
            </a:pPr>
            <a:r>
              <a:rPr lang="pt-BR" sz="2000" dirty="0" smtClean="0">
                <a:cs typeface="Aharoni" panose="02010803020104030203" pitchFamily="2" charset="-79"/>
              </a:rPr>
              <a:t>4. Vincular Gestão de </a:t>
            </a:r>
            <a:r>
              <a:rPr lang="pt-BR" sz="2000" b="1" dirty="0" smtClean="0">
                <a:cs typeface="Aharoni" panose="02010803020104030203" pitchFamily="2" charset="-79"/>
              </a:rPr>
              <a:t>Demandas, Projetos e Mudanças</a:t>
            </a:r>
            <a:r>
              <a:rPr lang="pt-BR" sz="2000" dirty="0" smtClean="0">
                <a:cs typeface="Aharoni" panose="02010803020104030203" pitchFamily="2" charset="-79"/>
              </a:rPr>
              <a:t>;</a:t>
            </a:r>
          </a:p>
          <a:p>
            <a:pPr marL="0" indent="0" algn="r">
              <a:buNone/>
            </a:pPr>
            <a:r>
              <a:rPr lang="pt-BR" sz="2000" dirty="0" smtClean="0">
                <a:cs typeface="Aharoni" panose="02010803020104030203" pitchFamily="2" charset="-79"/>
              </a:rPr>
              <a:t>5. Aumentar o </a:t>
            </a:r>
            <a:r>
              <a:rPr lang="pt-BR" sz="2000" b="1" dirty="0" smtClean="0">
                <a:cs typeface="Aharoni" panose="02010803020104030203" pitchFamily="2" charset="-79"/>
              </a:rPr>
              <a:t>compromisso com a qualidade </a:t>
            </a:r>
            <a:r>
              <a:rPr lang="pt-BR" sz="2000" dirty="0" smtClean="0">
                <a:cs typeface="Aharoni" panose="02010803020104030203" pitchFamily="2" charset="-79"/>
              </a:rPr>
              <a:t>nas implantações e Mudanças.</a:t>
            </a:r>
          </a:p>
          <a:p>
            <a:pPr marL="0" indent="0" algn="r">
              <a:buNone/>
            </a:pPr>
            <a:endParaRPr lang="pt-BR" sz="2000" dirty="0">
              <a:cs typeface="Aharoni" panose="02010803020104030203" pitchFamily="2" charset="-79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8523" y="2837957"/>
            <a:ext cx="4692724" cy="91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417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896" y="704311"/>
            <a:ext cx="4383173" cy="1758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671" y="2574131"/>
            <a:ext cx="6578335" cy="2552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171" name="Text Box 27"/>
          <p:cNvSpPr txBox="1">
            <a:spLocks noChangeArrowheads="1"/>
          </p:cNvSpPr>
          <p:nvPr/>
        </p:nvSpPr>
        <p:spPr bwMode="auto">
          <a:xfrm>
            <a:off x="1382938" y="195443"/>
            <a:ext cx="5212616" cy="392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952" b="1">
                <a:solidFill>
                  <a:srgbClr val="1F497D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Cen</a:t>
            </a:r>
            <a:r>
              <a:rPr lang="en-US" altLang="pt-BR" sz="1952" b="1">
                <a:solidFill>
                  <a:srgbClr val="1F497D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ário atual – Jan/2016 </a:t>
            </a:r>
            <a:endParaRPr lang="pt-BR" altLang="pt-BR" sz="1201" b="1">
              <a:solidFill>
                <a:srgbClr val="FF0000"/>
              </a:solidFill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7804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7550" y="737679"/>
            <a:ext cx="4123377" cy="1425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" name="Retângulo 4"/>
          <p:cNvSpPr/>
          <p:nvPr/>
        </p:nvSpPr>
        <p:spPr>
          <a:xfrm>
            <a:off x="1467550" y="2291692"/>
            <a:ext cx="6349524" cy="2597378"/>
          </a:xfrm>
          <a:prstGeom prst="rect">
            <a:avLst/>
          </a:prstGeom>
        </p:spPr>
        <p:txBody>
          <a:bodyPr>
            <a:spAutoFit/>
          </a:bodyPr>
          <a:lstStyle/>
          <a:p>
            <a:pPr marL="89381" lvl="1" indent="-89381">
              <a:spcBef>
                <a:spcPts val="1051"/>
              </a:spcBef>
              <a:buFont typeface="Arial" charset="0"/>
              <a:buChar char="•"/>
              <a:defRPr/>
            </a:pPr>
            <a:r>
              <a:rPr lang="pt-BR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98 chamados com 237 liga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ções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não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resgatadas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representa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42%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motivo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: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Informações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incompletas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/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divergentes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;</a:t>
            </a:r>
          </a:p>
          <a:p>
            <a:pPr marL="89381" lvl="1" indent="-89381">
              <a:spcBef>
                <a:spcPts val="1051"/>
              </a:spcBef>
              <a:buFont typeface="Arial" charset="0"/>
              <a:buChar char="•"/>
              <a:defRPr/>
            </a:pP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22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chamados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com 83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ligações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não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resgatadas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representa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15%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motivo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: PA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não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possui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serviço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de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gravação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;</a:t>
            </a:r>
          </a:p>
          <a:p>
            <a:pPr marL="89381" lvl="1" indent="-89381">
              <a:spcBef>
                <a:spcPts val="1051"/>
              </a:spcBef>
              <a:buFont typeface="Arial" charset="0"/>
              <a:buChar char="•"/>
              <a:defRPr/>
            </a:pP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36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chamados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com 99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ligações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não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resgatadas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representa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17%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motivo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: Outros (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ligações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não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encontradas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agrupados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no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mesmo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chamado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de um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grupo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de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ligações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encontradas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)</a:t>
            </a:r>
          </a:p>
          <a:p>
            <a:pPr marL="0" lvl="1">
              <a:spcBef>
                <a:spcPts val="1051"/>
              </a:spcBef>
              <a:defRPr/>
            </a:pP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Esses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motivos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NÃO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são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de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resposabilidade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de TI,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pois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são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erros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apontados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na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abertura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do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chamados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, com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informações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faltantes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ou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divergente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como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:</a:t>
            </a:r>
          </a:p>
          <a:p>
            <a:pPr marL="471928" lvl="2">
              <a:lnSpc>
                <a:spcPct val="200000"/>
              </a:lnSpc>
              <a:buFont typeface="Wingdings" charset="2"/>
              <a:buChar char="ü"/>
              <a:defRPr/>
            </a:pP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Ramal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;</a:t>
            </a:r>
          </a:p>
          <a:p>
            <a:pPr marL="471928" lvl="2">
              <a:buFont typeface="Wingdings" charset="2"/>
              <a:buChar char="ü"/>
              <a:defRPr/>
            </a:pP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Login;</a:t>
            </a:r>
          </a:p>
          <a:p>
            <a:pPr marL="471928" lvl="2">
              <a:buFont typeface="Wingdings" charset="2"/>
              <a:buChar char="ü"/>
              <a:defRPr/>
            </a:pP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Periodo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de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gravação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;</a:t>
            </a:r>
          </a:p>
          <a:p>
            <a:pPr marL="471928" lvl="2">
              <a:buFont typeface="Wingdings" charset="2"/>
              <a:buChar char="ü"/>
              <a:defRPr/>
            </a:pP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Lay-out da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operação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.</a:t>
            </a:r>
          </a:p>
          <a:p>
            <a:pPr marL="0" lvl="1">
              <a:spcBef>
                <a:spcPts val="1051"/>
              </a:spcBef>
              <a:defRPr/>
            </a:pP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Podemos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concluir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que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901" b="1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74% 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dos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ofensores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de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não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resgate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estão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diretamente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ligado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a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má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qualidade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na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aberutra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do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chamado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e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apenas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26%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deveriam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ser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atribuidos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a </a:t>
            </a:r>
            <a:r>
              <a:rPr lang="en-US" altLang="pt-BR" sz="901" b="1" dirty="0" err="1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plataforma</a:t>
            </a:r>
            <a:r>
              <a:rPr lang="en-US" altLang="pt-BR" sz="901" b="1" dirty="0">
                <a:solidFill>
                  <a:srgbClr val="1F497D"/>
                </a:solidFill>
                <a:latin typeface="Arial" charset="0"/>
                <a:ea typeface="Arial" charset="0"/>
                <a:cs typeface="Arial" charset="0"/>
              </a:rPr>
              <a:t> e a area de TI.</a:t>
            </a:r>
          </a:p>
        </p:txBody>
      </p:sp>
      <p:sp>
        <p:nvSpPr>
          <p:cNvPr id="8195" name="Text Box 27"/>
          <p:cNvSpPr txBox="1">
            <a:spLocks noChangeArrowheads="1"/>
          </p:cNvSpPr>
          <p:nvPr/>
        </p:nvSpPr>
        <p:spPr bwMode="auto">
          <a:xfrm>
            <a:off x="1382938" y="195443"/>
            <a:ext cx="5212616" cy="392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pt-BR" sz="1952" b="1">
                <a:solidFill>
                  <a:srgbClr val="1F497D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Ofensores</a:t>
            </a:r>
            <a:endParaRPr lang="pt-BR" altLang="pt-BR" sz="1201" b="1">
              <a:solidFill>
                <a:srgbClr val="FF0000"/>
              </a:solidFill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9010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27"/>
          <p:cNvSpPr txBox="1">
            <a:spLocks noChangeArrowheads="1"/>
          </p:cNvSpPr>
          <p:nvPr/>
        </p:nvSpPr>
        <p:spPr bwMode="auto">
          <a:xfrm>
            <a:off x="1382938" y="195443"/>
            <a:ext cx="5212616" cy="392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952" b="1">
                <a:solidFill>
                  <a:srgbClr val="1F497D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TO-DOs </a:t>
            </a:r>
            <a:endParaRPr lang="pt-BR" altLang="pt-BR" sz="1201" b="1">
              <a:solidFill>
                <a:srgbClr val="FF0000"/>
              </a:solidFill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1293558" y="1041570"/>
          <a:ext cx="6396000" cy="2593206"/>
        </p:xfrm>
        <a:graphic>
          <a:graphicData uri="http://schemas.openxmlformats.org/drawingml/2006/table">
            <a:tbl>
              <a:tblPr/>
              <a:tblGrid>
                <a:gridCol w="2689728"/>
                <a:gridCol w="686435"/>
                <a:gridCol w="588713"/>
                <a:gridCol w="2431124"/>
              </a:tblGrid>
              <a:tr h="3050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Issue</a:t>
                      </a:r>
                      <a:endParaRPr kumimoji="0" lang="pt-BR" altLang="pt-B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646" marR="68646" marT="34325" marB="343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Resp.</a:t>
                      </a:r>
                      <a:endParaRPr kumimoji="0" lang="pt-BR" altLang="pt-B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646" marR="68646" marT="34325" marB="343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Prazo</a:t>
                      </a:r>
                      <a:endParaRPr kumimoji="0" lang="pt-BR" altLang="pt-B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646" marR="68646" marT="34325" marB="343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  <a:endParaRPr kumimoji="0" lang="pt-BR" altLang="pt-B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646" marR="68646" marT="34325" marB="343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/>
                    </a:solidFill>
                  </a:tcPr>
                </a:tc>
              </a:tr>
              <a:tr h="43498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42D6A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Levantamento Layout das operações</a:t>
                      </a:r>
                    </a:p>
                  </a:txBody>
                  <a:tcPr marL="68646" marR="68646" marT="34325" marB="343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42D6A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Tiago/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42D6A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Rafael</a:t>
                      </a:r>
                    </a:p>
                  </a:txBody>
                  <a:tcPr marL="68646" marR="68646" marT="34325" marB="3432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42D6A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22/02</a:t>
                      </a:r>
                    </a:p>
                  </a:txBody>
                  <a:tcPr marL="68646" marR="68646" marT="34325" marB="3432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42D6A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Em andamento. Aguardando pontos focais de planejamento</a:t>
                      </a:r>
                    </a:p>
                  </a:txBody>
                  <a:tcPr marL="68646" marR="68646" marT="34325" marB="3432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800847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1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42D6A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Verificar com Telemetria a reclassifica</a:t>
                      </a:r>
                      <a:r>
                        <a:rPr kumimoji="0" lang="en-US" alt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42D6A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ção correta </a:t>
                      </a:r>
                      <a:r>
                        <a:rPr kumimoji="0" lang="pt-BR" alt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42D6A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dos chamados, apontando os reais resposaveis pelos ofensores.</a:t>
                      </a:r>
                    </a:p>
                  </a:txBody>
                  <a:tcPr marL="68646" marR="68646" marT="34325" marB="343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42D6A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Tiago/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42D6A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Rafael</a:t>
                      </a:r>
                    </a:p>
                  </a:txBody>
                  <a:tcPr marL="68646" marR="68646" marT="34325" marB="3432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42D6A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01/02</a:t>
                      </a:r>
                    </a:p>
                  </a:txBody>
                  <a:tcPr marL="68646" marR="68646" marT="34325" marB="3432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42D6A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Em andamento. Como não é problema da área de gravação. Verificar junto a Telemetria quem podemos acionar</a:t>
                      </a:r>
                    </a:p>
                  </a:txBody>
                  <a:tcPr marL="68646" marR="68646" marT="34325" marB="3432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34981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1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alt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142D6A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646" marR="68646" marT="34325" marB="343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alt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142D6A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646" marR="68646" marT="34325" marB="3432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alt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142D6A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646" marR="68646" marT="34325" marB="3432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alt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142D6A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646" marR="68646" marT="34325" marB="3432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61731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1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alt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142D6A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646" marR="68646" marT="34325" marB="343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alt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142D6A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646" marR="68646" marT="34325" marB="3432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alt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142D6A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646" marR="68646" marT="34325" marB="3432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alt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142D6A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646" marR="68646" marT="34325" marB="3432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0264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11592</TotalTime>
  <Words>694</Words>
  <Application>Microsoft Office PowerPoint</Application>
  <PresentationFormat>Personalizar</PresentationFormat>
  <Paragraphs>123</Paragraphs>
  <Slides>17</Slides>
  <Notes>12</Notes>
  <HiddenSlides>5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8" baseType="lpstr">
      <vt:lpstr>Aharoni</vt:lpstr>
      <vt:lpstr>Arial</vt:lpstr>
      <vt:lpstr>Calibri</vt:lpstr>
      <vt:lpstr>Calibri Light</vt:lpstr>
      <vt:lpstr>Verdana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adm</cp:lastModifiedBy>
  <cp:revision>890</cp:revision>
  <dcterms:created xsi:type="dcterms:W3CDTF">2015-08-20T14:57:26Z</dcterms:created>
  <dcterms:modified xsi:type="dcterms:W3CDTF">2016-02-04T21:07:41Z</dcterms:modified>
</cp:coreProperties>
</file>