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tiff" ContentType="image/tiff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charts/chart8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3" r:id="rId2"/>
    <p:sldMasterId id="2147483675" r:id="rId3"/>
    <p:sldMasterId id="2147483677" r:id="rId4"/>
  </p:sldMasterIdLst>
  <p:notesMasterIdLst>
    <p:notesMasterId r:id="rId46"/>
  </p:notesMasterIdLst>
  <p:sldIdLst>
    <p:sldId id="262" r:id="rId5"/>
    <p:sldId id="265" r:id="rId6"/>
    <p:sldId id="495" r:id="rId7"/>
    <p:sldId id="496" r:id="rId8"/>
    <p:sldId id="520" r:id="rId9"/>
    <p:sldId id="521" r:id="rId10"/>
    <p:sldId id="522" r:id="rId11"/>
    <p:sldId id="523" r:id="rId12"/>
    <p:sldId id="524" r:id="rId13"/>
    <p:sldId id="525" r:id="rId14"/>
    <p:sldId id="497" r:id="rId15"/>
    <p:sldId id="498" r:id="rId16"/>
    <p:sldId id="499" r:id="rId17"/>
    <p:sldId id="506" r:id="rId18"/>
    <p:sldId id="511" r:id="rId19"/>
    <p:sldId id="512" r:id="rId20"/>
    <p:sldId id="513" r:id="rId21"/>
    <p:sldId id="516" r:id="rId22"/>
    <p:sldId id="517" r:id="rId23"/>
    <p:sldId id="518" r:id="rId24"/>
    <p:sldId id="519" r:id="rId25"/>
    <p:sldId id="514" r:id="rId26"/>
    <p:sldId id="505" r:id="rId27"/>
    <p:sldId id="510" r:id="rId28"/>
    <p:sldId id="485" r:id="rId29"/>
    <p:sldId id="486" r:id="rId30"/>
    <p:sldId id="470" r:id="rId31"/>
    <p:sldId id="471" r:id="rId32"/>
    <p:sldId id="472" r:id="rId33"/>
    <p:sldId id="461" r:id="rId34"/>
    <p:sldId id="480" r:id="rId35"/>
    <p:sldId id="500" r:id="rId36"/>
    <p:sldId id="501" r:id="rId37"/>
    <p:sldId id="502" r:id="rId38"/>
    <p:sldId id="503" r:id="rId39"/>
    <p:sldId id="526" r:id="rId40"/>
    <p:sldId id="464" r:id="rId41"/>
    <p:sldId id="490" r:id="rId42"/>
    <p:sldId id="493" r:id="rId43"/>
    <p:sldId id="494" r:id="rId44"/>
    <p:sldId id="411" r:id="rId45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83" userDrawn="1">
          <p15:clr>
            <a:srgbClr val="A4A3A4"/>
          </p15:clr>
        </p15:guide>
        <p15:guide id="2" pos="61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" initials="a" lastIdx="1" clrIdx="0">
    <p:extLst>
      <p:ext uri="{19B8F6BF-5375-455C-9EA6-DF929625EA0E}">
        <p15:presenceInfo xmlns:p15="http://schemas.microsoft.com/office/powerpoint/2012/main" userId="adm" providerId="None"/>
      </p:ext>
    </p:extLst>
  </p:cmAuthor>
  <p:cmAuthor id="2" name="Luis Marcal" initials="LM" lastIdx="0" clrIdx="1">
    <p:extLst>
      <p:ext uri="{19B8F6BF-5375-455C-9EA6-DF929625EA0E}">
        <p15:presenceInfo xmlns:p15="http://schemas.microsoft.com/office/powerpoint/2012/main" userId="Luis Marca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CCCC00"/>
    <a:srgbClr val="193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1785" autoAdjust="0"/>
  </p:normalViewPr>
  <p:slideViewPr>
    <p:cSldViewPr snapToGrid="0" snapToObjects="1">
      <p:cViewPr>
        <p:scale>
          <a:sx n="202" d="100"/>
          <a:sy n="202" d="100"/>
        </p:scale>
        <p:origin x="-1128" y="-1398"/>
      </p:cViewPr>
      <p:guideLst>
        <p:guide orient="horz" pos="2483"/>
        <p:guide pos="61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%202.xlsm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%202.xlsm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Felipe\Desktop\Comparativo%20AI%202.xlsm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C:\Todo%20Roberto\CSC%20ADM%20Processos\An&#225;lises\Responsavel%20Natureza%20AL%20de%2001%20a%2021_02_2016\Responsavel%20Natureza%20dos%20AL%20de%2001%20a%2021_02_2016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5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1500" b="1" dirty="0"/>
              <a:t>Volume</a:t>
            </a:r>
            <a:r>
              <a:rPr lang="pt-BR" sz="1500" b="1" baseline="0" dirty="0"/>
              <a:t> de </a:t>
            </a:r>
            <a:r>
              <a:rPr lang="pt-BR" sz="1500" b="1" dirty="0"/>
              <a:t>Incidentes Alto Impacto</a:t>
            </a:r>
          </a:p>
        </c:rich>
      </c:tx>
      <c:layout>
        <c:manualLayout>
          <c:xMode val="edge"/>
          <c:yMode val="edge"/>
          <c:x val="0.13204545348244393"/>
          <c:y val="1.1341954111525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5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2.4382486517836682E-2"/>
          <c:y val="0.21105009973328545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65100" prst="coolSlant"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3AF3-47B6-B362-8D75B94687B9}"/>
              </c:ext>
            </c:extLst>
          </c:dPt>
          <c:dPt>
            <c:idx val="4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3AF3-47B6-B362-8D75B94687B9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A342-4057-BDFD-D4272EDC6324}"/>
              </c:ext>
            </c:extLst>
          </c:dPt>
          <c:dLbls>
            <c:dLbl>
              <c:idx val="0"/>
              <c:layout>
                <c:manualLayout>
                  <c:x val="-5.9401031800599621E-3"/>
                  <c:y val="-0.2948908068996589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A342-4057-BDFD-D4272EDC632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5.4450316802510192E-17"/>
                  <c:y val="-0.1361034493383041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A342-4057-BDFD-D4272EDC632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2.9700515900299811E-3"/>
                  <c:y val="-0.1190905181710161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A342-4057-BDFD-D4272EDC632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2.9700515900299811E-3"/>
                  <c:y val="-0.1304324722825414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AF3-47B6-B362-8D75B94687B9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5.9401031800599621E-3"/>
                  <c:y val="-0.107748564059490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AF3-47B6-B362-8D75B94687B9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5.9401031800599621E-3"/>
                  <c:y val="-7.372270172491474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A342-4057-BDFD-D4272EDC6324}"/>
                </c:ext>
                <c:ext xmlns:c15="http://schemas.microsoft.com/office/drawing/2012/chart" uri="{CE6537A1-D6FC-4f65-9D91-7224C49458BB}"/>
              </c:extLst>
            </c:dLbl>
            <c:dLbl>
              <c:idx val="6"/>
              <c:layout>
                <c:manualLayout>
                  <c:x val="-1.0890063360502038E-16"/>
                  <c:y val="-5.670977055762662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9BCA-49D8-A455-9E0DDBEF4916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</c:v>
                </c:pt>
                <c:pt idx="1">
                  <c:v>Nov</c:v>
                </c:pt>
                <c:pt idx="2">
                  <c:v>Dez</c:v>
                </c:pt>
                <c:pt idx="3">
                  <c:v>Jan</c:v>
                </c:pt>
                <c:pt idx="4">
                  <c:v>Fev</c:v>
                </c:pt>
              </c:strCache>
            </c:strRef>
          </c:cat>
          <c:val>
            <c:numRef>
              <c:f>Plan1!$B$2:$B$6</c:f>
              <c:numCache>
                <c:formatCode>#,##0</c:formatCode>
                <c:ptCount val="5"/>
                <c:pt idx="0">
                  <c:v>1494</c:v>
                </c:pt>
                <c:pt idx="1">
                  <c:v>415</c:v>
                </c:pt>
                <c:pt idx="2">
                  <c:v>294</c:v>
                </c:pt>
                <c:pt idx="3">
                  <c:v>210</c:v>
                </c:pt>
                <c:pt idx="4">
                  <c:v>166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3AF3-47B6-B362-8D75B94687B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188467760"/>
        <c:axId val="305801256"/>
      </c:barChart>
      <c:catAx>
        <c:axId val="188467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05801256"/>
        <c:crosses val="autoZero"/>
        <c:auto val="1"/>
        <c:lblAlgn val="ctr"/>
        <c:lblOffset val="100"/>
        <c:noMultiLvlLbl val="0"/>
      </c:catAx>
      <c:valAx>
        <c:axId val="305801256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88467760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>
              <a:defRPr sz="15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1500" b="1" dirty="0"/>
              <a:t>Média diária de Incidentes Alto Impacto</a:t>
            </a:r>
          </a:p>
        </c:rich>
      </c:tx>
      <c:layout>
        <c:manualLayout>
          <c:xMode val="edge"/>
          <c:yMode val="edge"/>
          <c:x val="0.1585050000070585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>
            <a:defRPr sz="15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2.7352474322057077E-2"/>
          <c:y val="0.19970809412273891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852E-40EC-BB07-F4FF4F71836A}"/>
              </c:ext>
            </c:extLst>
          </c:dPt>
          <c:dPt>
            <c:idx val="4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852E-40EC-BB07-F4FF4F71836A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1336-4DE1-AAF2-45A9A199F5C6}"/>
              </c:ext>
            </c:extLst>
          </c:dPt>
          <c:dLbls>
            <c:dLbl>
              <c:idx val="0"/>
              <c:layout>
                <c:manualLayout>
                  <c:x val="2.9880988961915622E-3"/>
                  <c:y val="-0.30721553333342294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1336-4DE1-AAF2-45A9A199F5C6}"/>
                </c:ext>
                <c:ext xmlns:c15="http://schemas.microsoft.com/office/drawing/2012/chart" uri="{CE6537A1-D6FC-4f65-9D91-7224C49458BB}">
                  <c15:layout>
                    <c:manualLayout>
                      <c:w val="0.10159536247051311"/>
                      <c:h val="0.1194727074074422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-0.1479185901234999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1336-4DE1-AAF2-45A9A199F5C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136540237037076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1336-4DE1-AAF2-45A9A199F5C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125161883950653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852E-40EC-BB07-F4FF4F71836A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5.9761977923831243E-3"/>
                  <c:y val="-0.1194727074074422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852E-40EC-BB07-F4FF4F71836A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2.9880988961914524E-3"/>
                  <c:y val="-9.671600123459621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1336-4DE1-AAF2-45A9A199F5C6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</c:v>
                </c:pt>
                <c:pt idx="1">
                  <c:v>Nov</c:v>
                </c:pt>
                <c:pt idx="2">
                  <c:v>Dez</c:v>
                </c:pt>
                <c:pt idx="3">
                  <c:v>Jan</c:v>
                </c:pt>
                <c:pt idx="4">
                  <c:v>Fev</c:v>
                </c:pt>
              </c:strCache>
            </c:strRef>
          </c:cat>
          <c:val>
            <c:numRef>
              <c:f>Plan1!$B$2:$B$6</c:f>
              <c:numCache>
                <c:formatCode>#,##0.00</c:formatCode>
                <c:ptCount val="5"/>
                <c:pt idx="0">
                  <c:v>48.19</c:v>
                </c:pt>
                <c:pt idx="1">
                  <c:v>13.84</c:v>
                </c:pt>
                <c:pt idx="2">
                  <c:v>9.48</c:v>
                </c:pt>
                <c:pt idx="3">
                  <c:v>6.77</c:v>
                </c:pt>
                <c:pt idx="4">
                  <c:v>7.22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852E-40EC-BB07-F4FF4F71836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239507728"/>
        <c:axId val="239508120"/>
      </c:barChart>
      <c:catAx>
        <c:axId val="239507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39508120"/>
        <c:crosses val="autoZero"/>
        <c:auto val="1"/>
        <c:lblAlgn val="ctr"/>
        <c:lblOffset val="100"/>
        <c:noMultiLvlLbl val="0"/>
      </c:catAx>
      <c:valAx>
        <c:axId val="239508120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239507728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500" b="1" dirty="0"/>
              <a:t>Gestão de Problemas</a:t>
            </a:r>
          </a:p>
          <a:p>
            <a:pPr>
              <a:defRPr sz="1600" b="1"/>
            </a:pPr>
            <a:r>
              <a:rPr lang="en-US" sz="1200" b="1" dirty="0"/>
              <a:t>Total 34</a:t>
            </a:r>
          </a:p>
        </c:rich>
      </c:tx>
      <c:layout>
        <c:manualLayout>
          <c:xMode val="edge"/>
          <c:yMode val="edge"/>
          <c:x val="0.2135858779210657"/>
          <c:y val="1.782481046260829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7523974564955888"/>
          <c:y val="0.29664687735193479"/>
          <c:w val="0.35111029917702913"/>
          <c:h val="0.58968743462673223"/>
        </c:manualLayout>
      </c:layout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Coluna1</c:v>
                </c:pt>
              </c:strCache>
            </c:strRef>
          </c:tx>
          <c:spPr>
            <a:scene3d>
              <a:camera prst="orthographicFront"/>
              <a:lightRig rig="balanced" dir="t">
                <a:rot lat="0" lon="0" rev="0"/>
              </a:lightRig>
            </a:scene3d>
            <a:sp3d prstMaterial="softEdge">
              <a:bevelT w="165100" prst="coolSlant"/>
            </a:sp3d>
          </c:spPr>
          <c:explosion val="11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4C87-4E75-B6BC-1613E3B4466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0-4E6D-4022-8EBF-F734882408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4C87-4E75-B6BC-1613E3B4466B}"/>
              </c:ext>
            </c:extLst>
          </c:dPt>
          <c:dPt>
            <c:idx val="3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7-4C87-4E75-B6BC-1613E3B4466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/>
              <a:scene3d>
                <a:camera prst="orthographicFront"/>
                <a:lightRig rig="balanced" dir="t">
                  <a:rot lat="0" lon="0" rev="0"/>
                </a:lightRig>
              </a:scene3d>
              <a:sp3d prstMaterial="softEdge"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9-F7CF-4ED1-8645-4BF9226656C5}"/>
              </c:ext>
            </c:extLst>
          </c:dPt>
          <c:dLbls>
            <c:dLbl>
              <c:idx val="0"/>
              <c:layout>
                <c:manualLayout>
                  <c:x val="-3.7038988393764995E-2"/>
                  <c:y val="0.12290246488779243"/>
                </c:manualLayout>
              </c:layout>
              <c:spPr>
                <a:solidFill>
                  <a:schemeClr val="accen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4C87-4E75-B6BC-1613E3B4466B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3.0606351545250227E-2"/>
                  <c:y val="0.10633811114237006"/>
                </c:manualLayout>
              </c:layout>
              <c:spPr>
                <a:solidFill>
                  <a:schemeClr val="accent2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4E6D-4022-8EBF-F73488240805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7.2341895006424045E-2"/>
                  <c:y val="-1.7420848752407538E-2"/>
                </c:manualLayout>
              </c:layout>
              <c:spPr>
                <a:solidFill>
                  <a:schemeClr val="accent3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4C87-4E75-B6BC-1613E3B4466B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11121890235993162"/>
                  <c:y val="-8.0653359975569938E-2"/>
                </c:manualLayout>
              </c:layout>
              <c:spPr>
                <a:solidFill>
                  <a:srgbClr val="00B05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4C87-4E75-B6BC-1613E3B4466B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solidFill>
                <a:schemeClr val="bg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Plan1!$A$2:$A$5</c:f>
              <c:strCache>
                <c:ptCount val="4"/>
                <c:pt idx="0">
                  <c:v>Backlog</c:v>
                </c:pt>
                <c:pt idx="1">
                  <c:v>Investigação</c:v>
                </c:pt>
                <c:pt idx="2">
                  <c:v>Diagnosticado</c:v>
                </c:pt>
                <c:pt idx="3">
                  <c:v>Finalizado</c:v>
                </c:pt>
              </c:strCache>
            </c:strRef>
          </c:cat>
          <c:val>
            <c:numRef>
              <c:f>Plan1!$B$2:$B$5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12</c:v>
                </c:pt>
                <c:pt idx="3">
                  <c:v>20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4E6D-4022-8EBF-F734882408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4382486517836682E-2"/>
          <c:y val="0.21105009973328545"/>
          <c:w val="0.90799622273489888"/>
          <c:h val="0.5809471943938796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Plan1!$B$1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65100" prst="coolSlant"/>
            </a:sp3d>
          </c:spPr>
          <c:invertIfNegative val="0"/>
          <c:dPt>
            <c:idx val="3"/>
            <c:invertIfNegative val="0"/>
            <c:bubble3D val="0"/>
            <c:spPr>
              <a:solidFill>
                <a:schemeClr val="tx2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3AF3-47B6-B362-8D75B94687B9}"/>
              </c:ext>
            </c:extLst>
          </c:dPt>
          <c:dPt>
            <c:idx val="4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3AF3-47B6-B362-8D75B94687B9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>
                <a:bevelT w="165100" prst="coolSlant"/>
              </a:sp3d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B343-4B87-A407-FBF943380C67}"/>
              </c:ext>
            </c:extLst>
          </c:dPt>
          <c:dLbls>
            <c:dLbl>
              <c:idx val="0"/>
              <c:layout>
                <c:manualLayout>
                  <c:x val="-5.9400113486707184E-3"/>
                  <c:y val="-0.2986728170429673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6-B343-4B87-A407-FBF943380C67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5.5555324682596465E-3"/>
                  <c:y val="-0.2914791512736120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B343-4B87-A407-FBF943380C67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8.5255551212713165E-3"/>
                  <c:y val="-0.293738174107772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B343-4B87-A407-FBF943380C67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5.7477888871415453E-3"/>
                  <c:y val="-0.2900685877198874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AF3-47B6-B362-8D75B94687B9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6.252661440287236E-3"/>
                  <c:y val="-0.177751406961895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AF3-47B6-B362-8D75B94687B9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7.5384243048088051E-2"/>
                  <c:y val="3.193856821799037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B343-4B87-A407-FBF943380C67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Plan1!$A$2:$A$6</c:f>
              <c:strCache>
                <c:ptCount val="5"/>
                <c:pt idx="0">
                  <c:v>Agosto</c:v>
                </c:pt>
                <c:pt idx="1">
                  <c:v>Novembro</c:v>
                </c:pt>
                <c:pt idx="2">
                  <c:v>Dezembro</c:v>
                </c:pt>
                <c:pt idx="3">
                  <c:v>Janeiro</c:v>
                </c:pt>
                <c:pt idx="4">
                  <c:v>Fevereiro</c:v>
                </c:pt>
              </c:strCache>
            </c:strRef>
          </c:cat>
          <c:val>
            <c:numRef>
              <c:f>Plan1!$B$2:$B$6</c:f>
              <c:numCache>
                <c:formatCode>#,##0</c:formatCode>
                <c:ptCount val="5"/>
                <c:pt idx="0">
                  <c:v>24272</c:v>
                </c:pt>
                <c:pt idx="1">
                  <c:v>24028</c:v>
                </c:pt>
                <c:pt idx="2">
                  <c:v>19386</c:v>
                </c:pt>
                <c:pt idx="3">
                  <c:v>21648</c:v>
                </c:pt>
                <c:pt idx="4">
                  <c:v>15639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7-3AF3-47B6-B362-8D75B94687B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100"/>
        <c:axId val="194107024"/>
        <c:axId val="194107416"/>
      </c:barChart>
      <c:catAx>
        <c:axId val="1941070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94107416"/>
        <c:crosses val="autoZero"/>
        <c:auto val="1"/>
        <c:lblAlgn val="ctr"/>
        <c:lblOffset val="100"/>
        <c:noMultiLvlLbl val="0"/>
      </c:catAx>
      <c:valAx>
        <c:axId val="194107416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9410702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6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2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3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9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20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Lbls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B4AA-4BCA-B155-EBF4F8C47DAB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B4AA-4BCA-B155-EBF4F8C47DAB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B4AA-4BCA-B155-EBF4F8C47DAB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B4AA-4BCA-B155-EBF4F8C47DAB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B4AA-4BCA-B155-EBF4F8C47DAB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B4AA-4BCA-B155-EBF4F8C47DAB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Gráficos'!$D$4:$AF$4</c:f>
              <c:numCache>
                <c:formatCode>#,##0</c:formatCode>
                <c:ptCount val="29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14</c:v>
                </c:pt>
                <c:pt idx="4">
                  <c:v>9</c:v>
                </c:pt>
                <c:pt idx="5">
                  <c:v>4</c:v>
                </c:pt>
                <c:pt idx="6">
                  <c:v>2</c:v>
                </c:pt>
                <c:pt idx="7">
                  <c:v>4</c:v>
                </c:pt>
                <c:pt idx="8">
                  <c:v>4</c:v>
                </c:pt>
                <c:pt idx="9">
                  <c:v>7</c:v>
                </c:pt>
                <c:pt idx="10">
                  <c:v>12</c:v>
                </c:pt>
                <c:pt idx="11">
                  <c:v>8</c:v>
                </c:pt>
                <c:pt idx="12">
                  <c:v>2</c:v>
                </c:pt>
                <c:pt idx="13">
                  <c:v>2</c:v>
                </c:pt>
                <c:pt idx="14">
                  <c:v>13</c:v>
                </c:pt>
                <c:pt idx="15">
                  <c:v>15</c:v>
                </c:pt>
                <c:pt idx="16">
                  <c:v>6</c:v>
                </c:pt>
                <c:pt idx="17">
                  <c:v>9</c:v>
                </c:pt>
                <c:pt idx="18">
                  <c:v>7</c:v>
                </c:pt>
                <c:pt idx="19">
                  <c:v>3</c:v>
                </c:pt>
                <c:pt idx="20">
                  <c:v>1</c:v>
                </c:pt>
                <c:pt idx="21">
                  <c:v>9</c:v>
                </c:pt>
                <c:pt idx="22">
                  <c:v>5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4AA-4BCA-B155-EBF4F8C47D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186717400"/>
        <c:axId val="297235448"/>
      </c:barChart>
      <c:lineChart>
        <c:grouping val="standard"/>
        <c:varyColors val="0"/>
        <c:ser>
          <c:idx val="0"/>
          <c:order val="1"/>
          <c:tx>
            <c:v>Meta</c:v>
          </c:tx>
          <c:spPr>
            <a:ln w="19050">
              <a:solidFill>
                <a:srgbClr val="FF0000"/>
              </a:solidFill>
            </a:ln>
            <a:effectLst/>
          </c:spPr>
          <c:marker>
            <c:symbol val="none"/>
          </c:marker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Gráficos'!$D$10:$AF$10</c:f>
              <c:numCache>
                <c:formatCode>#,##0.00</c:formatCode>
                <c:ptCount val="29"/>
                <c:pt idx="0">
                  <c:v>13.013677322462991</c:v>
                </c:pt>
                <c:pt idx="1">
                  <c:v>12.938347687498084</c:v>
                </c:pt>
                <c:pt idx="2">
                  <c:v>12.246860269102278</c:v>
                </c:pt>
                <c:pt idx="3">
                  <c:v>11.106292334569529</c:v>
                </c:pt>
                <c:pt idx="4">
                  <c:v>9.2047019339810596</c:v>
                </c:pt>
                <c:pt idx="5">
                  <c:v>3.1512897293652498</c:v>
                </c:pt>
                <c:pt idx="6">
                  <c:v>1.3588307230208112</c:v>
                </c:pt>
                <c:pt idx="7">
                  <c:v>13.013677322462991</c:v>
                </c:pt>
                <c:pt idx="8">
                  <c:v>12.938347687498084</c:v>
                </c:pt>
                <c:pt idx="9">
                  <c:v>12.246860269102278</c:v>
                </c:pt>
                <c:pt idx="10">
                  <c:v>11.106292334569529</c:v>
                </c:pt>
                <c:pt idx="11">
                  <c:v>9.2047019339810596</c:v>
                </c:pt>
                <c:pt idx="12">
                  <c:v>3.1512897293652498</c:v>
                </c:pt>
                <c:pt idx="13">
                  <c:v>1.3588307230208112</c:v>
                </c:pt>
                <c:pt idx="14">
                  <c:v>13.013677322462991</c:v>
                </c:pt>
                <c:pt idx="15">
                  <c:v>12.938347687498084</c:v>
                </c:pt>
                <c:pt idx="16">
                  <c:v>12.246860269102278</c:v>
                </c:pt>
                <c:pt idx="17">
                  <c:v>11.106292334569529</c:v>
                </c:pt>
                <c:pt idx="18">
                  <c:v>9.2047019339810596</c:v>
                </c:pt>
                <c:pt idx="19">
                  <c:v>3.1512897293652498</c:v>
                </c:pt>
                <c:pt idx="20">
                  <c:v>1.3588307230208112</c:v>
                </c:pt>
                <c:pt idx="21">
                  <c:v>13.013677322462991</c:v>
                </c:pt>
                <c:pt idx="22">
                  <c:v>12.938347687498084</c:v>
                </c:pt>
                <c:pt idx="23">
                  <c:v>12.246860269102278</c:v>
                </c:pt>
                <c:pt idx="24">
                  <c:v>11.106292334569529</c:v>
                </c:pt>
                <c:pt idx="25">
                  <c:v>9.2047019339810596</c:v>
                </c:pt>
                <c:pt idx="26">
                  <c:v>3.1512897293652498</c:v>
                </c:pt>
                <c:pt idx="27">
                  <c:v>1.3588307230208112</c:v>
                </c:pt>
                <c:pt idx="28">
                  <c:v>13.013677322462991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7-B4AA-4BCA-B155-EBF4F8C47D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6717400"/>
        <c:axId val="297235448"/>
      </c:lineChart>
      <c:dateAx>
        <c:axId val="186717400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97235448"/>
        <c:crosses val="autoZero"/>
        <c:auto val="1"/>
        <c:lblOffset val="100"/>
        <c:baseTimeUnit val="days"/>
      </c:dateAx>
      <c:valAx>
        <c:axId val="297235448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86717400"/>
        <c:crosses val="autoZero"/>
        <c:crossBetween val="between"/>
      </c:valAx>
      <c:spPr>
        <a:noFill/>
        <a:ln>
          <a:noFill/>
        </a:ln>
        <a:effectLst/>
      </c:spPr>
    </c:plotArea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6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2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3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9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20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Lbls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9009-4393-B5E9-EAE672492398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9009-4393-B5E9-EAE672492398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9009-4393-B5E9-EAE672492398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9009-4393-B5E9-EAE672492398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9009-4393-B5E9-EAE672492398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9009-4393-B5E9-EAE672492398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Gráficos'!$D$5:$AF$5</c:f>
              <c:numCache>
                <c:formatCode>#,##0</c:formatCode>
                <c:ptCount val="29"/>
                <c:pt idx="0">
                  <c:v>831</c:v>
                </c:pt>
                <c:pt idx="1">
                  <c:v>646</c:v>
                </c:pt>
                <c:pt idx="2">
                  <c:v>587</c:v>
                </c:pt>
                <c:pt idx="3">
                  <c:v>531</c:v>
                </c:pt>
                <c:pt idx="4">
                  <c:v>476</c:v>
                </c:pt>
                <c:pt idx="5">
                  <c:v>97</c:v>
                </c:pt>
                <c:pt idx="6">
                  <c:v>41</c:v>
                </c:pt>
                <c:pt idx="7">
                  <c:v>167</c:v>
                </c:pt>
                <c:pt idx="8">
                  <c:v>127</c:v>
                </c:pt>
                <c:pt idx="9">
                  <c:v>558</c:v>
                </c:pt>
                <c:pt idx="10">
                  <c:v>588</c:v>
                </c:pt>
                <c:pt idx="11">
                  <c:v>554</c:v>
                </c:pt>
                <c:pt idx="12">
                  <c:v>130</c:v>
                </c:pt>
                <c:pt idx="13">
                  <c:v>33</c:v>
                </c:pt>
                <c:pt idx="14">
                  <c:v>631</c:v>
                </c:pt>
                <c:pt idx="15">
                  <c:v>547</c:v>
                </c:pt>
                <c:pt idx="16">
                  <c:v>449</c:v>
                </c:pt>
                <c:pt idx="17">
                  <c:v>545</c:v>
                </c:pt>
                <c:pt idx="18">
                  <c:v>474</c:v>
                </c:pt>
                <c:pt idx="19">
                  <c:v>131</c:v>
                </c:pt>
                <c:pt idx="20">
                  <c:v>49</c:v>
                </c:pt>
                <c:pt idx="21">
                  <c:v>744</c:v>
                </c:pt>
                <c:pt idx="22">
                  <c:v>667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9009-4393-B5E9-EAE6724923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297236624"/>
        <c:axId val="297237016"/>
      </c:barChart>
      <c:lineChart>
        <c:grouping val="standard"/>
        <c:varyColors val="0"/>
        <c:ser>
          <c:idx val="0"/>
          <c:order val="1"/>
          <c:tx>
            <c:v>Meta</c:v>
          </c:tx>
          <c:spPr>
            <a:ln w="19050">
              <a:solidFill>
                <a:srgbClr val="FF0000"/>
              </a:solidFill>
            </a:ln>
            <a:effectLst/>
          </c:spPr>
          <c:marker>
            <c:symbol val="none"/>
          </c:marker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Gráficos'!$D$11:$AF$11</c:f>
              <c:numCache>
                <c:formatCode>0.0</c:formatCode>
                <c:ptCount val="29"/>
                <c:pt idx="0">
                  <c:v>546.72375028677766</c:v>
                </c:pt>
                <c:pt idx="1">
                  <c:v>548.49882739809834</c:v>
                </c:pt>
                <c:pt idx="2">
                  <c:v>529.24606795992759</c:v>
                </c:pt>
                <c:pt idx="3">
                  <c:v>476.40338779984194</c:v>
                </c:pt>
                <c:pt idx="4">
                  <c:v>401.30397155165826</c:v>
                </c:pt>
                <c:pt idx="5">
                  <c:v>125.82565831400238</c:v>
                </c:pt>
                <c:pt idx="6">
                  <c:v>50.248336689693851</c:v>
                </c:pt>
                <c:pt idx="7">
                  <c:v>546.72375028677766</c:v>
                </c:pt>
                <c:pt idx="8">
                  <c:v>548.49882739809834</c:v>
                </c:pt>
                <c:pt idx="9">
                  <c:v>529.24606795992759</c:v>
                </c:pt>
                <c:pt idx="10">
                  <c:v>476.40338779984194</c:v>
                </c:pt>
                <c:pt idx="11">
                  <c:v>401.30397155165826</c:v>
                </c:pt>
                <c:pt idx="12">
                  <c:v>125.82565831400238</c:v>
                </c:pt>
                <c:pt idx="13">
                  <c:v>50.248336689693851</c:v>
                </c:pt>
                <c:pt idx="14">
                  <c:v>546.72375028677766</c:v>
                </c:pt>
                <c:pt idx="15">
                  <c:v>548.49882739809834</c:v>
                </c:pt>
                <c:pt idx="16">
                  <c:v>529.24606795992759</c:v>
                </c:pt>
                <c:pt idx="17">
                  <c:v>476.40338779984194</c:v>
                </c:pt>
                <c:pt idx="18">
                  <c:v>401.30397155165826</c:v>
                </c:pt>
                <c:pt idx="19">
                  <c:v>125.82565831400238</c:v>
                </c:pt>
                <c:pt idx="20">
                  <c:v>50.248336689693851</c:v>
                </c:pt>
                <c:pt idx="21">
                  <c:v>546.72375028677766</c:v>
                </c:pt>
                <c:pt idx="22">
                  <c:v>548.49882739809834</c:v>
                </c:pt>
                <c:pt idx="23">
                  <c:v>529.24606795992759</c:v>
                </c:pt>
                <c:pt idx="24">
                  <c:v>476.40338779984194</c:v>
                </c:pt>
                <c:pt idx="25">
                  <c:v>401.30397155165826</c:v>
                </c:pt>
                <c:pt idx="26">
                  <c:v>125.82565831400238</c:v>
                </c:pt>
                <c:pt idx="27">
                  <c:v>50.248336689693851</c:v>
                </c:pt>
                <c:pt idx="28">
                  <c:v>546.72375028677766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7-9009-4393-B5E9-EAE6724923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7236624"/>
        <c:axId val="297237016"/>
      </c:lineChart>
      <c:dateAx>
        <c:axId val="297236624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97237016"/>
        <c:crosses val="autoZero"/>
        <c:auto val="1"/>
        <c:lblOffset val="100"/>
        <c:baseTimeUnit val="days"/>
      </c:dateAx>
      <c:valAx>
        <c:axId val="297237016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297236624"/>
        <c:crosses val="autoZero"/>
        <c:crossBetween val="between"/>
      </c:valAx>
      <c:spPr>
        <a:noFill/>
        <a:ln>
          <a:noFill/>
        </a:ln>
        <a:effectLst/>
      </c:spPr>
    </c:plotArea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3200968655044549E-2"/>
          <c:y val="0.1152471147111666"/>
          <c:w val="0.94864560982860335"/>
          <c:h val="0.75295003854531117"/>
        </c:manualLayout>
      </c:layout>
      <c:barChart>
        <c:barDir val="col"/>
        <c:grouping val="clustered"/>
        <c:varyColors val="0"/>
        <c:ser>
          <c:idx val="1"/>
          <c:order val="0"/>
          <c:tx>
            <c:v>Total de Chamados</c:v>
          </c:tx>
          <c:spPr>
            <a:solidFill>
              <a:schemeClr val="accent1"/>
            </a:solidFill>
            <a:ln w="19050" cap="flat" cmpd="sng" algn="ctr">
              <a:solidFill>
                <a:schemeClr val="lt1"/>
              </a:solidFill>
              <a:prstDash val="solid"/>
              <a:miter lim="800000"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6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2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3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19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Pt>
            <c:idx val="20"/>
            <c:invertIfNegative val="0"/>
            <c:bubble3D val="0"/>
            <c:spPr>
              <a:solidFill>
                <a:srgbClr val="002060"/>
              </a:solidFill>
              <a:ln w="19050" cap="flat" cmpd="sng" algn="ctr">
                <a:solidFill>
                  <a:schemeClr val="lt1"/>
                </a:solidFill>
                <a:prstDash val="solid"/>
                <a:miter lim="800000"/>
              </a:ln>
              <a:effectLst/>
            </c:spPr>
          </c:dPt>
          <c:dLbls>
            <c:dLbl>
              <c:idx val="23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2212-4105-8176-354BD1E8826F}"/>
                </c:ext>
                <c:ext xmlns:c15="http://schemas.microsoft.com/office/drawing/2012/chart" uri="{CE6537A1-D6FC-4f65-9D91-7224C49458BB}"/>
              </c:extLst>
            </c:dLbl>
            <c:dLbl>
              <c:idx val="24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2212-4105-8176-354BD1E8826F}"/>
                </c:ext>
                <c:ext xmlns:c15="http://schemas.microsoft.com/office/drawing/2012/chart" uri="{CE6537A1-D6FC-4f65-9D91-7224C49458BB}"/>
              </c:extLst>
            </c:dLbl>
            <c:dLbl>
              <c:idx val="25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2212-4105-8176-354BD1E8826F}"/>
                </c:ext>
                <c:ext xmlns:c15="http://schemas.microsoft.com/office/drawing/2012/chart" uri="{CE6537A1-D6FC-4f65-9D91-7224C49458BB}"/>
              </c:extLst>
            </c:dLbl>
            <c:dLbl>
              <c:idx val="26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2212-4105-8176-354BD1E8826F}"/>
                </c:ext>
                <c:ext xmlns:c15="http://schemas.microsoft.com/office/drawing/2012/chart" uri="{CE6537A1-D6FC-4f65-9D91-7224C49458BB}"/>
              </c:extLst>
            </c:dLbl>
            <c:dLbl>
              <c:idx val="27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2212-4105-8176-354BD1E8826F}"/>
                </c:ext>
                <c:ext xmlns:c15="http://schemas.microsoft.com/office/drawing/2012/chart" uri="{CE6537A1-D6FC-4f65-9D91-7224C49458BB}"/>
              </c:extLst>
            </c:dLbl>
            <c:dLbl>
              <c:idx val="28"/>
              <c:delete val="1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2212-4105-8176-354BD1E8826F}"/>
                </c:ex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numRef>
              <c:f>'Dados - Gráficos'!$D$9:$AF$9</c:f>
              <c:numCache>
                <c:formatCode>[$-416]d;@</c:formatCode>
                <c:ptCount val="29"/>
                <c:pt idx="0">
                  <c:v>42401</c:v>
                </c:pt>
                <c:pt idx="1">
                  <c:v>42402</c:v>
                </c:pt>
                <c:pt idx="2">
                  <c:v>42403</c:v>
                </c:pt>
                <c:pt idx="3">
                  <c:v>42404</c:v>
                </c:pt>
                <c:pt idx="4">
                  <c:v>42405</c:v>
                </c:pt>
                <c:pt idx="5">
                  <c:v>42406</c:v>
                </c:pt>
                <c:pt idx="6">
                  <c:v>42407</c:v>
                </c:pt>
                <c:pt idx="7">
                  <c:v>42408</c:v>
                </c:pt>
                <c:pt idx="8">
                  <c:v>42409</c:v>
                </c:pt>
                <c:pt idx="9">
                  <c:v>42410</c:v>
                </c:pt>
                <c:pt idx="10">
                  <c:v>42411</c:v>
                </c:pt>
                <c:pt idx="11">
                  <c:v>42412</c:v>
                </c:pt>
                <c:pt idx="12">
                  <c:v>42413</c:v>
                </c:pt>
                <c:pt idx="13">
                  <c:v>42414</c:v>
                </c:pt>
                <c:pt idx="14">
                  <c:v>42415</c:v>
                </c:pt>
                <c:pt idx="15">
                  <c:v>42416</c:v>
                </c:pt>
                <c:pt idx="16">
                  <c:v>42417</c:v>
                </c:pt>
                <c:pt idx="17">
                  <c:v>42418</c:v>
                </c:pt>
                <c:pt idx="18">
                  <c:v>42419</c:v>
                </c:pt>
                <c:pt idx="19">
                  <c:v>42420</c:v>
                </c:pt>
                <c:pt idx="20">
                  <c:v>42421</c:v>
                </c:pt>
                <c:pt idx="21">
                  <c:v>42422</c:v>
                </c:pt>
                <c:pt idx="22">
                  <c:v>42423</c:v>
                </c:pt>
                <c:pt idx="23">
                  <c:v>42424</c:v>
                </c:pt>
                <c:pt idx="24">
                  <c:v>42425</c:v>
                </c:pt>
                <c:pt idx="25">
                  <c:v>42426</c:v>
                </c:pt>
                <c:pt idx="26">
                  <c:v>42427</c:v>
                </c:pt>
                <c:pt idx="27">
                  <c:v>42428</c:v>
                </c:pt>
                <c:pt idx="28">
                  <c:v>42429</c:v>
                </c:pt>
              </c:numCache>
            </c:numRef>
          </c:cat>
          <c:val>
            <c:numRef>
              <c:f>'Dados - Gráficos'!$D$6:$AF$6</c:f>
              <c:numCache>
                <c:formatCode>#,##0</c:formatCode>
                <c:ptCount val="29"/>
                <c:pt idx="0">
                  <c:v>519</c:v>
                </c:pt>
                <c:pt idx="1">
                  <c:v>446</c:v>
                </c:pt>
                <c:pt idx="2">
                  <c:v>410</c:v>
                </c:pt>
                <c:pt idx="3">
                  <c:v>374</c:v>
                </c:pt>
                <c:pt idx="4">
                  <c:v>261</c:v>
                </c:pt>
                <c:pt idx="5">
                  <c:v>73</c:v>
                </c:pt>
                <c:pt idx="6">
                  <c:v>23</c:v>
                </c:pt>
                <c:pt idx="7">
                  <c:v>117</c:v>
                </c:pt>
                <c:pt idx="8">
                  <c:v>67</c:v>
                </c:pt>
                <c:pt idx="9">
                  <c:v>333</c:v>
                </c:pt>
                <c:pt idx="10">
                  <c:v>346</c:v>
                </c:pt>
                <c:pt idx="11">
                  <c:v>316</c:v>
                </c:pt>
                <c:pt idx="12">
                  <c:v>78</c:v>
                </c:pt>
                <c:pt idx="13">
                  <c:v>45</c:v>
                </c:pt>
                <c:pt idx="14">
                  <c:v>404</c:v>
                </c:pt>
                <c:pt idx="15">
                  <c:v>311</c:v>
                </c:pt>
                <c:pt idx="16">
                  <c:v>271</c:v>
                </c:pt>
                <c:pt idx="17">
                  <c:v>321</c:v>
                </c:pt>
                <c:pt idx="18">
                  <c:v>270</c:v>
                </c:pt>
                <c:pt idx="19">
                  <c:v>119</c:v>
                </c:pt>
                <c:pt idx="20">
                  <c:v>46</c:v>
                </c:pt>
                <c:pt idx="21">
                  <c:v>397</c:v>
                </c:pt>
                <c:pt idx="22">
                  <c:v>323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2212-4105-8176-354BD1E882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2"/>
        <c:overlap val="100"/>
        <c:axId val="310631816"/>
        <c:axId val="310632208"/>
      </c:barChart>
      <c:lineChart>
        <c:grouping val="standard"/>
        <c:varyColors val="0"/>
        <c:ser>
          <c:idx val="0"/>
          <c:order val="1"/>
          <c:tx>
            <c:v>Meta</c:v>
          </c:tx>
          <c:spPr>
            <a:ln>
              <a:solidFill>
                <a:srgbClr val="FF0000"/>
              </a:solidFill>
            </a:ln>
            <a:effectLst/>
          </c:spPr>
          <c:marker>
            <c:symbol val="none"/>
          </c:marker>
          <c:cat>
            <c:multiLvlStrRef>
              <c:f>'Dados - Gráficos'!#REF!</c:f>
            </c:multiLvlStrRef>
          </c:cat>
          <c:val>
            <c:numRef>
              <c:f>'Dados - Gráficos'!$D$12:$AF$12</c:f>
              <c:numCache>
                <c:formatCode>0.0</c:formatCode>
                <c:ptCount val="29"/>
                <c:pt idx="0">
                  <c:v>384.42756361884892</c:v>
                </c:pt>
                <c:pt idx="1">
                  <c:v>376.84976479088067</c:v>
                </c:pt>
                <c:pt idx="2">
                  <c:v>342.2396259131412</c:v>
                </c:pt>
                <c:pt idx="3">
                  <c:v>314.04147065906722</c:v>
                </c:pt>
                <c:pt idx="4">
                  <c:v>254.43916833908648</c:v>
                </c:pt>
                <c:pt idx="5">
                  <c:v>97.418433009552871</c:v>
                </c:pt>
                <c:pt idx="6">
                  <c:v>45.903973669422818</c:v>
                </c:pt>
                <c:pt idx="7">
                  <c:v>384.42756361884892</c:v>
                </c:pt>
                <c:pt idx="8">
                  <c:v>376.84976479088067</c:v>
                </c:pt>
                <c:pt idx="9">
                  <c:v>342.2396259131412</c:v>
                </c:pt>
                <c:pt idx="10">
                  <c:v>314.04147065906722</c:v>
                </c:pt>
                <c:pt idx="11">
                  <c:v>254.43916833908648</c:v>
                </c:pt>
                <c:pt idx="12">
                  <c:v>97.418433009552871</c:v>
                </c:pt>
                <c:pt idx="13">
                  <c:v>45.903973669422818</c:v>
                </c:pt>
                <c:pt idx="14">
                  <c:v>384.42756361884892</c:v>
                </c:pt>
                <c:pt idx="15">
                  <c:v>376.84976479088067</c:v>
                </c:pt>
                <c:pt idx="16">
                  <c:v>342.2396259131412</c:v>
                </c:pt>
                <c:pt idx="17">
                  <c:v>314.04147065906722</c:v>
                </c:pt>
                <c:pt idx="18">
                  <c:v>254.43916833908648</c:v>
                </c:pt>
                <c:pt idx="19">
                  <c:v>97.418433009552871</c:v>
                </c:pt>
                <c:pt idx="20">
                  <c:v>45.903973669422818</c:v>
                </c:pt>
                <c:pt idx="21">
                  <c:v>384.42756361884892</c:v>
                </c:pt>
                <c:pt idx="22">
                  <c:v>376.84976479088067</c:v>
                </c:pt>
                <c:pt idx="23">
                  <c:v>342.2396259131412</c:v>
                </c:pt>
                <c:pt idx="24">
                  <c:v>314.04147065906722</c:v>
                </c:pt>
                <c:pt idx="25">
                  <c:v>254.43916833908648</c:v>
                </c:pt>
                <c:pt idx="26">
                  <c:v>97.418433009552871</c:v>
                </c:pt>
                <c:pt idx="27">
                  <c:v>45.903973669422818</c:v>
                </c:pt>
                <c:pt idx="28">
                  <c:v>384.42756361884892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7-2212-4105-8176-354BD1E882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10631816"/>
        <c:axId val="310632208"/>
      </c:lineChart>
      <c:catAx>
        <c:axId val="310631816"/>
        <c:scaling>
          <c:orientation val="minMax"/>
        </c:scaling>
        <c:delete val="0"/>
        <c:axPos val="b"/>
        <c:numFmt formatCode="[$-416]d;@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310632208"/>
        <c:crosses val="autoZero"/>
        <c:auto val="1"/>
        <c:lblAlgn val="ctr"/>
        <c:lblOffset val="100"/>
        <c:noMultiLvlLbl val="0"/>
      </c:catAx>
      <c:valAx>
        <c:axId val="310632208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310631816"/>
        <c:crosses val="autoZero"/>
        <c:crossBetween val="between"/>
      </c:valAx>
      <c:spPr>
        <a:noFill/>
        <a:ln>
          <a:noFill/>
        </a:ln>
        <a:effectLst/>
      </c:spPr>
    </c:plotArea>
    <c:plotVisOnly val="0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Plan3!$C$3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bubble3D val="0"/>
            <c:spPr>
              <a:solidFill>
                <a:srgbClr val="939597"/>
              </a:solidFill>
            </c:spPr>
          </c:dPt>
          <c:dPt>
            <c:idx val="1"/>
            <c:bubble3D val="0"/>
            <c:spPr>
              <a:solidFill>
                <a:srgbClr val="D71920"/>
              </a:solidFill>
            </c:spPr>
          </c:dPt>
          <c:dPt>
            <c:idx val="2"/>
            <c:bubble3D val="0"/>
            <c:spPr>
              <a:solidFill>
                <a:srgbClr val="184E82"/>
              </a:solidFill>
            </c:spPr>
          </c:dPt>
          <c:dLbls>
            <c:dLbl>
              <c:idx val="0"/>
              <c:layout>
                <c:manualLayout>
                  <c:x val="-0.11647065988651863"/>
                  <c:y val="0.15233171305264165"/>
                </c:manualLayout>
              </c:layout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113894306255127"/>
                      <c:h val="9.7556926836704569E-2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22279870509702401"/>
                  <c:y val="-5.1593680310747625E-2"/>
                </c:manualLayout>
              </c:layout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13206698586368"/>
                      <c:h val="9.7556926836704569E-2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23366951914849587"/>
                  <c:y val="1.6558835741908452E-2"/>
                </c:manualLayout>
              </c:layout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0084850009972119"/>
                      <c:h val="0.1186992948818108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chemeClr val="bg1"/>
                    </a:solidFill>
                  </a:defRPr>
                </a:pPr>
                <a:endParaRPr lang="pt-BR"/>
              </a:p>
            </c:txPr>
            <c:showLegendKey val="0"/>
            <c:showVal val="1"/>
            <c:showCatName val="1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Plan3!$B$4:$B$6</c:f>
              <c:strCache>
                <c:ptCount val="3"/>
                <c:pt idx="0">
                  <c:v>Fornecedor Contax</c:v>
                </c:pt>
                <c:pt idx="1">
                  <c:v>Suporte Cliente</c:v>
                </c:pt>
                <c:pt idx="2">
                  <c:v>TI Contax</c:v>
                </c:pt>
              </c:strCache>
            </c:strRef>
          </c:cat>
          <c:val>
            <c:numRef>
              <c:f>Plan3!$C$4:$C$6</c:f>
              <c:numCache>
                <c:formatCode>General</c:formatCode>
                <c:ptCount val="3"/>
                <c:pt idx="0">
                  <c:v>11</c:v>
                </c:pt>
                <c:pt idx="1">
                  <c:v>69</c:v>
                </c:pt>
                <c:pt idx="2">
                  <c:v>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7C8760-3017-45E4-8F99-BD10FBEA82B4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8EBB79E5-8072-4506-9D14-5E47E499080E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dirty="0" smtClean="0"/>
            <a:t>0 a 45 minutos</a:t>
          </a:r>
        </a:p>
        <a:p>
          <a:r>
            <a:rPr lang="pt-BR" dirty="0" smtClean="0"/>
            <a:t>Técnico/Analista</a:t>
          </a:r>
          <a:endParaRPr lang="pt-BR" dirty="0"/>
        </a:p>
      </dgm:t>
    </dgm:pt>
    <dgm:pt modelId="{0ADC33D0-3506-46A5-BEB1-51FBA5FFFB44}" type="parTrans" cxnId="{A74E25E2-4361-401C-B77A-CEF0DAEB9D0A}">
      <dgm:prSet/>
      <dgm:spPr/>
      <dgm:t>
        <a:bodyPr/>
        <a:lstStyle/>
        <a:p>
          <a:endParaRPr lang="pt-BR"/>
        </a:p>
      </dgm:t>
    </dgm:pt>
    <dgm:pt modelId="{C09CDDB6-F9CD-4EAF-9C08-346340D43C52}" type="sibTrans" cxnId="{A74E25E2-4361-401C-B77A-CEF0DAEB9D0A}">
      <dgm:prSet/>
      <dgm:spPr/>
      <dgm:t>
        <a:bodyPr/>
        <a:lstStyle/>
        <a:p>
          <a:endParaRPr lang="pt-BR"/>
        </a:p>
      </dgm:t>
    </dgm:pt>
    <dgm:pt modelId="{0C6878BC-0BA8-4B33-A549-172567DD647F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dirty="0" smtClean="0"/>
            <a:t>45m a 1h 15m </a:t>
          </a:r>
        </a:p>
        <a:p>
          <a:r>
            <a:rPr lang="pt-BR" dirty="0" smtClean="0"/>
            <a:t>Coordenador</a:t>
          </a:r>
          <a:endParaRPr lang="pt-BR" dirty="0"/>
        </a:p>
      </dgm:t>
    </dgm:pt>
    <dgm:pt modelId="{2948FAEA-53C0-4CE2-A73A-2B685BCCD0FF}" type="parTrans" cxnId="{B9F0CEAE-BDB4-4D45-9F10-4A0FE3859F8A}">
      <dgm:prSet/>
      <dgm:spPr/>
      <dgm:t>
        <a:bodyPr/>
        <a:lstStyle/>
        <a:p>
          <a:endParaRPr lang="pt-BR"/>
        </a:p>
      </dgm:t>
    </dgm:pt>
    <dgm:pt modelId="{1C62A60E-89E1-4BB0-8915-CE6E6EADC482}" type="sibTrans" cxnId="{B9F0CEAE-BDB4-4D45-9F10-4A0FE3859F8A}">
      <dgm:prSet/>
      <dgm:spPr/>
      <dgm:t>
        <a:bodyPr/>
        <a:lstStyle/>
        <a:p>
          <a:endParaRPr lang="pt-BR"/>
        </a:p>
      </dgm:t>
    </dgm:pt>
    <dgm:pt modelId="{289F8A02-8A74-4CD1-A58A-09586730523C}">
      <dgm:prSet phldrT="[Texto]" custT="1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sz="1200" dirty="0" smtClean="0"/>
            <a:t>1h 15m a 1h 45m</a:t>
          </a:r>
        </a:p>
        <a:p>
          <a:r>
            <a:rPr lang="pt-BR" sz="1400" dirty="0" smtClean="0"/>
            <a:t>Gerente</a:t>
          </a:r>
        </a:p>
      </dgm:t>
    </dgm:pt>
    <dgm:pt modelId="{9E8F9BD3-6CB0-4E02-9B7D-E4BE6E1DC473}" type="parTrans" cxnId="{47DEB685-6B6D-4C3B-9410-469FE259F1F9}">
      <dgm:prSet/>
      <dgm:spPr/>
      <dgm:t>
        <a:bodyPr/>
        <a:lstStyle/>
        <a:p>
          <a:endParaRPr lang="pt-BR"/>
        </a:p>
      </dgm:t>
    </dgm:pt>
    <dgm:pt modelId="{3335A063-2439-4521-8C62-011D09BAE079}" type="sibTrans" cxnId="{47DEB685-6B6D-4C3B-9410-469FE259F1F9}">
      <dgm:prSet/>
      <dgm:spPr/>
      <dgm:t>
        <a:bodyPr/>
        <a:lstStyle/>
        <a:p>
          <a:endParaRPr lang="pt-BR"/>
        </a:p>
      </dgm:t>
    </dgm:pt>
    <dgm:pt modelId="{F499CB4C-5439-4133-ACA7-BF2E2AAE249A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u="sng" dirty="0" smtClean="0"/>
            <a:t>&gt;</a:t>
          </a:r>
          <a:r>
            <a:rPr lang="pt-BR" dirty="0" smtClean="0"/>
            <a:t> 1h 45m </a:t>
          </a:r>
        </a:p>
        <a:p>
          <a:r>
            <a:rPr lang="pt-BR" dirty="0" smtClean="0"/>
            <a:t>Diretor</a:t>
          </a:r>
        </a:p>
      </dgm:t>
    </dgm:pt>
    <dgm:pt modelId="{347DBE92-9DCB-413F-9EB9-8C3B38DBED05}" type="parTrans" cxnId="{5D17D50D-738B-4626-9CF7-E4AA174AB211}">
      <dgm:prSet/>
      <dgm:spPr/>
      <dgm:t>
        <a:bodyPr/>
        <a:lstStyle/>
        <a:p>
          <a:endParaRPr lang="pt-BR"/>
        </a:p>
      </dgm:t>
    </dgm:pt>
    <dgm:pt modelId="{A362779B-3B66-4EBE-B208-5655936DDA3B}" type="sibTrans" cxnId="{5D17D50D-738B-4626-9CF7-E4AA174AB211}">
      <dgm:prSet/>
      <dgm:spPr/>
      <dgm:t>
        <a:bodyPr/>
        <a:lstStyle/>
        <a:p>
          <a:endParaRPr lang="pt-BR"/>
        </a:p>
      </dgm:t>
    </dgm:pt>
    <dgm:pt modelId="{D59E1488-0534-46A4-B252-6F419902B28F}" type="pres">
      <dgm:prSet presAssocID="{967C8760-3017-45E4-8F99-BD10FBEA82B4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AEE1C33A-3F84-4018-BC5F-18DFEC057371}" type="pres">
      <dgm:prSet presAssocID="{8EBB79E5-8072-4506-9D14-5E47E499080E}" presName="parTxOnly" presStyleLbl="node1" presStyleIdx="0" presStyleCnt="4" custScaleX="2000000" custScaleY="2000000" custLinFactNeighborY="-45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DCC965E1-05F2-4E5C-B577-F022B130CE05}" type="pres">
      <dgm:prSet presAssocID="{C09CDDB6-F9CD-4EAF-9C08-346340D43C52}" presName="parTxOnlySpace" presStyleCnt="0"/>
      <dgm:spPr/>
    </dgm:pt>
    <dgm:pt modelId="{684FAFDD-4104-423B-ADDC-A89F05668428}" type="pres">
      <dgm:prSet presAssocID="{0C6878BC-0BA8-4B33-A549-172567DD647F}" presName="parTxOnly" presStyleLbl="node1" presStyleIdx="1" presStyleCnt="4" custScaleX="2000000" custScaleY="2000000" custLinFactX="-316821" custLinFactNeighborX="-400000" custLinFactNeighborY="-45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9BFB3F8E-614B-48A9-9185-650C97F773DF}" type="pres">
      <dgm:prSet presAssocID="{1C62A60E-89E1-4BB0-8915-CE6E6EADC482}" presName="parTxOnlySpace" presStyleCnt="0"/>
      <dgm:spPr/>
    </dgm:pt>
    <dgm:pt modelId="{CF8FFEC0-616F-4EE7-8AE2-1BC392682DA0}" type="pres">
      <dgm:prSet presAssocID="{289F8A02-8A74-4CD1-A58A-09586730523C}" presName="parTxOnly" presStyleLbl="node1" presStyleIdx="2" presStyleCnt="4" custScaleX="2000000" custScaleY="2000000" custLinFactX="-641564" custLinFactNeighborX="-700000" custLinFactNeighborY="-45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3B917226-0AE8-4CAF-A19A-AFE57123E8D0}" type="pres">
      <dgm:prSet presAssocID="{3335A063-2439-4521-8C62-011D09BAE079}" presName="parTxOnlySpace" presStyleCnt="0"/>
      <dgm:spPr/>
    </dgm:pt>
    <dgm:pt modelId="{BC598258-03E9-48CD-990C-659D000FAC1B}" type="pres">
      <dgm:prSet presAssocID="{F499CB4C-5439-4133-ACA7-BF2E2AAE249A}" presName="parTxOnly" presStyleLbl="node1" presStyleIdx="3" presStyleCnt="4" custScaleX="2000000" custScaleY="2000000" custLinFactX="-988915" custLinFactNeighborX="-1000000" custLinFactNeighborY="-45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47DEB685-6B6D-4C3B-9410-469FE259F1F9}" srcId="{967C8760-3017-45E4-8F99-BD10FBEA82B4}" destId="{289F8A02-8A74-4CD1-A58A-09586730523C}" srcOrd="2" destOrd="0" parTransId="{9E8F9BD3-6CB0-4E02-9B7D-E4BE6E1DC473}" sibTransId="{3335A063-2439-4521-8C62-011D09BAE079}"/>
    <dgm:cxn modelId="{5D17D50D-738B-4626-9CF7-E4AA174AB211}" srcId="{967C8760-3017-45E4-8F99-BD10FBEA82B4}" destId="{F499CB4C-5439-4133-ACA7-BF2E2AAE249A}" srcOrd="3" destOrd="0" parTransId="{347DBE92-9DCB-413F-9EB9-8C3B38DBED05}" sibTransId="{A362779B-3B66-4EBE-B208-5655936DDA3B}"/>
    <dgm:cxn modelId="{CBC16349-0365-414E-93E3-6C27CFB21249}" type="presOf" srcId="{0C6878BC-0BA8-4B33-A549-172567DD647F}" destId="{684FAFDD-4104-423B-ADDC-A89F05668428}" srcOrd="0" destOrd="0" presId="urn:microsoft.com/office/officeart/2005/8/layout/chevron1"/>
    <dgm:cxn modelId="{B9F0CEAE-BDB4-4D45-9F10-4A0FE3859F8A}" srcId="{967C8760-3017-45E4-8F99-BD10FBEA82B4}" destId="{0C6878BC-0BA8-4B33-A549-172567DD647F}" srcOrd="1" destOrd="0" parTransId="{2948FAEA-53C0-4CE2-A73A-2B685BCCD0FF}" sibTransId="{1C62A60E-89E1-4BB0-8915-CE6E6EADC482}"/>
    <dgm:cxn modelId="{8A0857E7-2B59-4F41-B255-33E1D29EE232}" type="presOf" srcId="{8EBB79E5-8072-4506-9D14-5E47E499080E}" destId="{AEE1C33A-3F84-4018-BC5F-18DFEC057371}" srcOrd="0" destOrd="0" presId="urn:microsoft.com/office/officeart/2005/8/layout/chevron1"/>
    <dgm:cxn modelId="{1191BB25-D011-4B06-8B58-8645F789C624}" type="presOf" srcId="{F499CB4C-5439-4133-ACA7-BF2E2AAE249A}" destId="{BC598258-03E9-48CD-990C-659D000FAC1B}" srcOrd="0" destOrd="0" presId="urn:microsoft.com/office/officeart/2005/8/layout/chevron1"/>
    <dgm:cxn modelId="{1F8F94A8-7399-48F2-8545-A57D1A9085C7}" type="presOf" srcId="{967C8760-3017-45E4-8F99-BD10FBEA82B4}" destId="{D59E1488-0534-46A4-B252-6F419902B28F}" srcOrd="0" destOrd="0" presId="urn:microsoft.com/office/officeart/2005/8/layout/chevron1"/>
    <dgm:cxn modelId="{1A3E276E-C0EF-441C-8295-7ACD62FEB53D}" type="presOf" srcId="{289F8A02-8A74-4CD1-A58A-09586730523C}" destId="{CF8FFEC0-616F-4EE7-8AE2-1BC392682DA0}" srcOrd="0" destOrd="0" presId="urn:microsoft.com/office/officeart/2005/8/layout/chevron1"/>
    <dgm:cxn modelId="{A74E25E2-4361-401C-B77A-CEF0DAEB9D0A}" srcId="{967C8760-3017-45E4-8F99-BD10FBEA82B4}" destId="{8EBB79E5-8072-4506-9D14-5E47E499080E}" srcOrd="0" destOrd="0" parTransId="{0ADC33D0-3506-46A5-BEB1-51FBA5FFFB44}" sibTransId="{C09CDDB6-F9CD-4EAF-9C08-346340D43C52}"/>
    <dgm:cxn modelId="{2B93E494-B6E5-4435-8937-8A7D0BA27F61}" type="presParOf" srcId="{D59E1488-0534-46A4-B252-6F419902B28F}" destId="{AEE1C33A-3F84-4018-BC5F-18DFEC057371}" srcOrd="0" destOrd="0" presId="urn:microsoft.com/office/officeart/2005/8/layout/chevron1"/>
    <dgm:cxn modelId="{6CD8292F-F455-44D9-AB20-1F3452D4F79C}" type="presParOf" srcId="{D59E1488-0534-46A4-B252-6F419902B28F}" destId="{DCC965E1-05F2-4E5C-B577-F022B130CE05}" srcOrd="1" destOrd="0" presId="urn:microsoft.com/office/officeart/2005/8/layout/chevron1"/>
    <dgm:cxn modelId="{DF38B8B8-50C6-4050-9445-9AA17963EC64}" type="presParOf" srcId="{D59E1488-0534-46A4-B252-6F419902B28F}" destId="{684FAFDD-4104-423B-ADDC-A89F05668428}" srcOrd="2" destOrd="0" presId="urn:microsoft.com/office/officeart/2005/8/layout/chevron1"/>
    <dgm:cxn modelId="{348C2739-FE82-473C-8C54-6A970E02C1C3}" type="presParOf" srcId="{D59E1488-0534-46A4-B252-6F419902B28F}" destId="{9BFB3F8E-614B-48A9-9185-650C97F773DF}" srcOrd="3" destOrd="0" presId="urn:microsoft.com/office/officeart/2005/8/layout/chevron1"/>
    <dgm:cxn modelId="{3DB761B5-B0F0-4DB7-8257-F67841FC3ADF}" type="presParOf" srcId="{D59E1488-0534-46A4-B252-6F419902B28F}" destId="{CF8FFEC0-616F-4EE7-8AE2-1BC392682DA0}" srcOrd="4" destOrd="0" presId="urn:microsoft.com/office/officeart/2005/8/layout/chevron1"/>
    <dgm:cxn modelId="{5953E4A3-45A1-43D6-9652-FC09FC775D63}" type="presParOf" srcId="{D59E1488-0534-46A4-B252-6F419902B28F}" destId="{3B917226-0AE8-4CAF-A19A-AFE57123E8D0}" srcOrd="5" destOrd="0" presId="urn:microsoft.com/office/officeart/2005/8/layout/chevron1"/>
    <dgm:cxn modelId="{CD1170E9-1676-495A-AF56-ED40B69F0351}" type="presParOf" srcId="{D59E1488-0534-46A4-B252-6F419902B28F}" destId="{BC598258-03E9-48CD-990C-659D000FAC1B}" srcOrd="6" destOrd="0" presId="urn:microsoft.com/office/officeart/2005/8/layout/chevron1"/>
  </dgm:cxnLst>
  <dgm:bg>
    <a:noFill/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7C8760-3017-45E4-8F99-BD10FBEA82B4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8EBB79E5-8072-4506-9D14-5E47E499080E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dirty="0" smtClean="0"/>
            <a:t>Imediata</a:t>
          </a:r>
        </a:p>
        <a:p>
          <a:r>
            <a:rPr lang="pt-BR" dirty="0" smtClean="0"/>
            <a:t>Telefone</a:t>
          </a:r>
          <a:endParaRPr lang="pt-BR" dirty="0"/>
        </a:p>
      </dgm:t>
    </dgm:pt>
    <dgm:pt modelId="{0ADC33D0-3506-46A5-BEB1-51FBA5FFFB44}" type="parTrans" cxnId="{A74E25E2-4361-401C-B77A-CEF0DAEB9D0A}">
      <dgm:prSet/>
      <dgm:spPr/>
      <dgm:t>
        <a:bodyPr/>
        <a:lstStyle/>
        <a:p>
          <a:endParaRPr lang="pt-BR"/>
        </a:p>
      </dgm:t>
    </dgm:pt>
    <dgm:pt modelId="{C09CDDB6-F9CD-4EAF-9C08-346340D43C52}" type="sibTrans" cxnId="{A74E25E2-4361-401C-B77A-CEF0DAEB9D0A}">
      <dgm:prSet/>
      <dgm:spPr/>
      <dgm:t>
        <a:bodyPr/>
        <a:lstStyle/>
        <a:p>
          <a:endParaRPr lang="pt-BR"/>
        </a:p>
      </dgm:t>
    </dgm:pt>
    <dgm:pt modelId="{0C6878BC-0BA8-4B33-A549-172567DD647F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dirty="0" smtClean="0"/>
            <a:t>15 minutos </a:t>
          </a:r>
        </a:p>
        <a:p>
          <a:r>
            <a:rPr lang="pt-BR" dirty="0" smtClean="0"/>
            <a:t>Coordenador</a:t>
          </a:r>
        </a:p>
        <a:p>
          <a:r>
            <a:rPr lang="pt-BR" dirty="0" smtClean="0"/>
            <a:t>e Gerente</a:t>
          </a:r>
        </a:p>
        <a:p>
          <a:r>
            <a:rPr lang="pt-BR" dirty="0" smtClean="0"/>
            <a:t>SMS</a:t>
          </a:r>
          <a:endParaRPr lang="pt-BR" dirty="0"/>
        </a:p>
      </dgm:t>
    </dgm:pt>
    <dgm:pt modelId="{2948FAEA-53C0-4CE2-A73A-2B685BCCD0FF}" type="parTrans" cxnId="{B9F0CEAE-BDB4-4D45-9F10-4A0FE3859F8A}">
      <dgm:prSet/>
      <dgm:spPr/>
      <dgm:t>
        <a:bodyPr/>
        <a:lstStyle/>
        <a:p>
          <a:endParaRPr lang="pt-BR"/>
        </a:p>
      </dgm:t>
    </dgm:pt>
    <dgm:pt modelId="{1C62A60E-89E1-4BB0-8915-CE6E6EADC482}" type="sibTrans" cxnId="{B9F0CEAE-BDB4-4D45-9F10-4A0FE3859F8A}">
      <dgm:prSet/>
      <dgm:spPr/>
      <dgm:t>
        <a:bodyPr/>
        <a:lstStyle/>
        <a:p>
          <a:endParaRPr lang="pt-BR"/>
        </a:p>
      </dgm:t>
    </dgm:pt>
    <dgm:pt modelId="{289F8A02-8A74-4CD1-A58A-09586730523C}">
      <dgm:prSet phldrT="[Texto]"/>
      <dgm:spPr>
        <a:solidFill>
          <a:srgbClr val="184E82"/>
        </a:solidFill>
        <a:scene3d>
          <a:camera prst="orthographicFront"/>
          <a:lightRig rig="threePt" dir="t"/>
        </a:scene3d>
        <a:sp3d>
          <a:bevelT/>
        </a:sp3d>
      </dgm:spPr>
      <dgm:t>
        <a:bodyPr/>
        <a:lstStyle/>
        <a:p>
          <a:r>
            <a:rPr lang="pt-BR" dirty="0" smtClean="0"/>
            <a:t>20 minutos </a:t>
          </a:r>
        </a:p>
        <a:p>
          <a:r>
            <a:rPr lang="pt-BR" dirty="0" smtClean="0"/>
            <a:t>Diretor</a:t>
          </a:r>
        </a:p>
        <a:p>
          <a:r>
            <a:rPr lang="pt-BR" dirty="0" smtClean="0"/>
            <a:t>A definir</a:t>
          </a:r>
        </a:p>
      </dgm:t>
    </dgm:pt>
    <dgm:pt modelId="{9E8F9BD3-6CB0-4E02-9B7D-E4BE6E1DC473}" type="parTrans" cxnId="{47DEB685-6B6D-4C3B-9410-469FE259F1F9}">
      <dgm:prSet/>
      <dgm:spPr/>
      <dgm:t>
        <a:bodyPr/>
        <a:lstStyle/>
        <a:p>
          <a:endParaRPr lang="pt-BR"/>
        </a:p>
      </dgm:t>
    </dgm:pt>
    <dgm:pt modelId="{3335A063-2439-4521-8C62-011D09BAE079}" type="sibTrans" cxnId="{47DEB685-6B6D-4C3B-9410-469FE259F1F9}">
      <dgm:prSet/>
      <dgm:spPr/>
      <dgm:t>
        <a:bodyPr/>
        <a:lstStyle/>
        <a:p>
          <a:endParaRPr lang="pt-BR"/>
        </a:p>
      </dgm:t>
    </dgm:pt>
    <dgm:pt modelId="{5A30AAFF-6CB4-4683-97EF-F9493E116895}" type="pres">
      <dgm:prSet presAssocID="{967C8760-3017-45E4-8F99-BD10FBEA82B4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DC4BB4EF-8DF3-467E-B937-02E6E3B6E8DE}" type="pres">
      <dgm:prSet presAssocID="{8EBB79E5-8072-4506-9D14-5E47E499080E}" presName="compNode" presStyleCnt="0"/>
      <dgm:spPr/>
    </dgm:pt>
    <dgm:pt modelId="{070B816F-84B4-4E54-9F93-E31B2331A29C}" type="pres">
      <dgm:prSet presAssocID="{8EBB79E5-8072-4506-9D14-5E47E499080E}" presName="noGeometry" presStyleCnt="0"/>
      <dgm:spPr/>
    </dgm:pt>
    <dgm:pt modelId="{C4273972-1A5B-4D28-9CC9-FCA49B526134}" type="pres">
      <dgm:prSet presAssocID="{8EBB79E5-8072-4506-9D14-5E47E499080E}" presName="childTextVisible" presStyleLbl="bgAccFollowNode1" presStyleIdx="0" presStyleCnt="3">
        <dgm:presLayoutVars>
          <dgm:bulletEnabled val="1"/>
        </dgm:presLayoutVars>
      </dgm:prSet>
      <dgm:spPr/>
    </dgm:pt>
    <dgm:pt modelId="{53506D7D-58D7-4433-AC1E-1D74FE13E6B2}" type="pres">
      <dgm:prSet presAssocID="{8EBB79E5-8072-4506-9D14-5E47E499080E}" presName="childTextHidden" presStyleLbl="bgAccFollowNode1" presStyleIdx="0" presStyleCnt="3"/>
      <dgm:spPr/>
    </dgm:pt>
    <dgm:pt modelId="{51A832AB-5F99-4100-AF31-EAA299F4A182}" type="pres">
      <dgm:prSet presAssocID="{8EBB79E5-8072-4506-9D14-5E47E499080E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78E8081B-9808-4842-9515-4EA0F8FC20D3}" type="pres">
      <dgm:prSet presAssocID="{8EBB79E5-8072-4506-9D14-5E47E499080E}" presName="aSpace" presStyleCnt="0"/>
      <dgm:spPr/>
    </dgm:pt>
    <dgm:pt modelId="{8A746302-7D85-4A8A-B118-FA67D039C0D8}" type="pres">
      <dgm:prSet presAssocID="{0C6878BC-0BA8-4B33-A549-172567DD647F}" presName="compNode" presStyleCnt="0"/>
      <dgm:spPr/>
    </dgm:pt>
    <dgm:pt modelId="{9AB258C2-2179-4F88-9DF7-E63F45F7DEBD}" type="pres">
      <dgm:prSet presAssocID="{0C6878BC-0BA8-4B33-A549-172567DD647F}" presName="noGeometry" presStyleCnt="0"/>
      <dgm:spPr/>
    </dgm:pt>
    <dgm:pt modelId="{29D59DA8-6FC2-49A6-BEA1-74662D4938C0}" type="pres">
      <dgm:prSet presAssocID="{0C6878BC-0BA8-4B33-A549-172567DD647F}" presName="childTextVisible" presStyleLbl="bgAccFollowNode1" presStyleIdx="1" presStyleCnt="3">
        <dgm:presLayoutVars>
          <dgm:bulletEnabled val="1"/>
        </dgm:presLayoutVars>
      </dgm:prSet>
      <dgm:spPr/>
    </dgm:pt>
    <dgm:pt modelId="{776903EA-0A60-4CCB-9D6B-730AD30C2F11}" type="pres">
      <dgm:prSet presAssocID="{0C6878BC-0BA8-4B33-A549-172567DD647F}" presName="childTextHidden" presStyleLbl="bgAccFollowNode1" presStyleIdx="1" presStyleCnt="3"/>
      <dgm:spPr/>
    </dgm:pt>
    <dgm:pt modelId="{76EEAB1F-F3C7-4A45-ACEE-4DB0F0EC030A}" type="pres">
      <dgm:prSet presAssocID="{0C6878BC-0BA8-4B33-A549-172567DD647F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E8356AF5-EC9B-42EA-BB1A-F3CB760A7AA5}" type="pres">
      <dgm:prSet presAssocID="{0C6878BC-0BA8-4B33-A549-172567DD647F}" presName="aSpace" presStyleCnt="0"/>
      <dgm:spPr/>
    </dgm:pt>
    <dgm:pt modelId="{85A457F7-3430-475E-8D0C-8B970F60C70B}" type="pres">
      <dgm:prSet presAssocID="{289F8A02-8A74-4CD1-A58A-09586730523C}" presName="compNode" presStyleCnt="0"/>
      <dgm:spPr/>
    </dgm:pt>
    <dgm:pt modelId="{4AA84788-E2BA-4A67-826F-BF7FF0649886}" type="pres">
      <dgm:prSet presAssocID="{289F8A02-8A74-4CD1-A58A-09586730523C}" presName="noGeometry" presStyleCnt="0"/>
      <dgm:spPr/>
    </dgm:pt>
    <dgm:pt modelId="{1C95749F-8BFE-4BB0-A013-BA3B90BD754C}" type="pres">
      <dgm:prSet presAssocID="{289F8A02-8A74-4CD1-A58A-09586730523C}" presName="childTextVisible" presStyleLbl="bgAccFollowNode1" presStyleIdx="2" presStyleCnt="3">
        <dgm:presLayoutVars>
          <dgm:bulletEnabled val="1"/>
        </dgm:presLayoutVars>
      </dgm:prSet>
      <dgm:spPr/>
    </dgm:pt>
    <dgm:pt modelId="{1F4765F7-DF3C-4670-A8D0-D0FF1772EF13}" type="pres">
      <dgm:prSet presAssocID="{289F8A02-8A74-4CD1-A58A-09586730523C}" presName="childTextHidden" presStyleLbl="bgAccFollowNode1" presStyleIdx="2" presStyleCnt="3"/>
      <dgm:spPr/>
    </dgm:pt>
    <dgm:pt modelId="{9AF15ED0-5E8E-4E32-AD4B-34064B410055}" type="pres">
      <dgm:prSet presAssocID="{289F8A02-8A74-4CD1-A58A-09586730523C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348CF745-770B-4A3E-A1B7-F13AD42C2570}" type="presOf" srcId="{0C6878BC-0BA8-4B33-A549-172567DD647F}" destId="{76EEAB1F-F3C7-4A45-ACEE-4DB0F0EC030A}" srcOrd="0" destOrd="0" presId="urn:microsoft.com/office/officeart/2005/8/layout/hProcess6"/>
    <dgm:cxn modelId="{3F38BC22-7B3B-478A-9F49-2C466CFA4CA0}" type="presOf" srcId="{967C8760-3017-45E4-8F99-BD10FBEA82B4}" destId="{5A30AAFF-6CB4-4683-97EF-F9493E116895}" srcOrd="0" destOrd="0" presId="urn:microsoft.com/office/officeart/2005/8/layout/hProcess6"/>
    <dgm:cxn modelId="{0B3F7BAA-EFC6-4E8A-A761-B166393ABF9B}" type="presOf" srcId="{8EBB79E5-8072-4506-9D14-5E47E499080E}" destId="{51A832AB-5F99-4100-AF31-EAA299F4A182}" srcOrd="0" destOrd="0" presId="urn:microsoft.com/office/officeart/2005/8/layout/hProcess6"/>
    <dgm:cxn modelId="{47DEB685-6B6D-4C3B-9410-469FE259F1F9}" srcId="{967C8760-3017-45E4-8F99-BD10FBEA82B4}" destId="{289F8A02-8A74-4CD1-A58A-09586730523C}" srcOrd="2" destOrd="0" parTransId="{9E8F9BD3-6CB0-4E02-9B7D-E4BE6E1DC473}" sibTransId="{3335A063-2439-4521-8C62-011D09BAE079}"/>
    <dgm:cxn modelId="{A2E8111C-F4C3-4489-9D7C-B1A6358D6D15}" type="presOf" srcId="{289F8A02-8A74-4CD1-A58A-09586730523C}" destId="{9AF15ED0-5E8E-4E32-AD4B-34064B410055}" srcOrd="0" destOrd="0" presId="urn:microsoft.com/office/officeart/2005/8/layout/hProcess6"/>
    <dgm:cxn modelId="{A74E25E2-4361-401C-B77A-CEF0DAEB9D0A}" srcId="{967C8760-3017-45E4-8F99-BD10FBEA82B4}" destId="{8EBB79E5-8072-4506-9D14-5E47E499080E}" srcOrd="0" destOrd="0" parTransId="{0ADC33D0-3506-46A5-BEB1-51FBA5FFFB44}" sibTransId="{C09CDDB6-F9CD-4EAF-9C08-346340D43C52}"/>
    <dgm:cxn modelId="{B9F0CEAE-BDB4-4D45-9F10-4A0FE3859F8A}" srcId="{967C8760-3017-45E4-8F99-BD10FBEA82B4}" destId="{0C6878BC-0BA8-4B33-A549-172567DD647F}" srcOrd="1" destOrd="0" parTransId="{2948FAEA-53C0-4CE2-A73A-2B685BCCD0FF}" sibTransId="{1C62A60E-89E1-4BB0-8915-CE6E6EADC482}"/>
    <dgm:cxn modelId="{FC256296-1C3E-4F63-A805-5078B57EFA2E}" type="presParOf" srcId="{5A30AAFF-6CB4-4683-97EF-F9493E116895}" destId="{DC4BB4EF-8DF3-467E-B937-02E6E3B6E8DE}" srcOrd="0" destOrd="0" presId="urn:microsoft.com/office/officeart/2005/8/layout/hProcess6"/>
    <dgm:cxn modelId="{0D2B7712-9FEF-4D9C-B640-B75D5CB0E682}" type="presParOf" srcId="{DC4BB4EF-8DF3-467E-B937-02E6E3B6E8DE}" destId="{070B816F-84B4-4E54-9F93-E31B2331A29C}" srcOrd="0" destOrd="0" presId="urn:microsoft.com/office/officeart/2005/8/layout/hProcess6"/>
    <dgm:cxn modelId="{67A7C117-F47A-432A-9E3D-3421EC6D63CE}" type="presParOf" srcId="{DC4BB4EF-8DF3-467E-B937-02E6E3B6E8DE}" destId="{C4273972-1A5B-4D28-9CC9-FCA49B526134}" srcOrd="1" destOrd="0" presId="urn:microsoft.com/office/officeart/2005/8/layout/hProcess6"/>
    <dgm:cxn modelId="{50EE4373-0BB4-45AB-A43F-FA9FE3CB96A7}" type="presParOf" srcId="{DC4BB4EF-8DF3-467E-B937-02E6E3B6E8DE}" destId="{53506D7D-58D7-4433-AC1E-1D74FE13E6B2}" srcOrd="2" destOrd="0" presId="urn:microsoft.com/office/officeart/2005/8/layout/hProcess6"/>
    <dgm:cxn modelId="{7C27FFEC-388E-4D3A-9390-0DD27514E8BB}" type="presParOf" srcId="{DC4BB4EF-8DF3-467E-B937-02E6E3B6E8DE}" destId="{51A832AB-5F99-4100-AF31-EAA299F4A182}" srcOrd="3" destOrd="0" presId="urn:microsoft.com/office/officeart/2005/8/layout/hProcess6"/>
    <dgm:cxn modelId="{64A20038-395B-4111-9D44-4E15083F12A9}" type="presParOf" srcId="{5A30AAFF-6CB4-4683-97EF-F9493E116895}" destId="{78E8081B-9808-4842-9515-4EA0F8FC20D3}" srcOrd="1" destOrd="0" presId="urn:microsoft.com/office/officeart/2005/8/layout/hProcess6"/>
    <dgm:cxn modelId="{4D03D64E-276F-425E-BB3F-A3A135295292}" type="presParOf" srcId="{5A30AAFF-6CB4-4683-97EF-F9493E116895}" destId="{8A746302-7D85-4A8A-B118-FA67D039C0D8}" srcOrd="2" destOrd="0" presId="urn:microsoft.com/office/officeart/2005/8/layout/hProcess6"/>
    <dgm:cxn modelId="{3717FCEB-F4FC-4217-9DEA-FF3CEC721F4C}" type="presParOf" srcId="{8A746302-7D85-4A8A-B118-FA67D039C0D8}" destId="{9AB258C2-2179-4F88-9DF7-E63F45F7DEBD}" srcOrd="0" destOrd="0" presId="urn:microsoft.com/office/officeart/2005/8/layout/hProcess6"/>
    <dgm:cxn modelId="{998079F3-FD66-482B-B8B5-0A8DE5FB4E09}" type="presParOf" srcId="{8A746302-7D85-4A8A-B118-FA67D039C0D8}" destId="{29D59DA8-6FC2-49A6-BEA1-74662D4938C0}" srcOrd="1" destOrd="0" presId="urn:microsoft.com/office/officeart/2005/8/layout/hProcess6"/>
    <dgm:cxn modelId="{41FDAB6E-1610-4ECF-B429-50F8099BC60D}" type="presParOf" srcId="{8A746302-7D85-4A8A-B118-FA67D039C0D8}" destId="{776903EA-0A60-4CCB-9D6B-730AD30C2F11}" srcOrd="2" destOrd="0" presId="urn:microsoft.com/office/officeart/2005/8/layout/hProcess6"/>
    <dgm:cxn modelId="{E005AE77-8BDE-408E-99D8-3DCCB5479EA6}" type="presParOf" srcId="{8A746302-7D85-4A8A-B118-FA67D039C0D8}" destId="{76EEAB1F-F3C7-4A45-ACEE-4DB0F0EC030A}" srcOrd="3" destOrd="0" presId="urn:microsoft.com/office/officeart/2005/8/layout/hProcess6"/>
    <dgm:cxn modelId="{7DA04502-9CEB-4FBA-B422-7DA069F70671}" type="presParOf" srcId="{5A30AAFF-6CB4-4683-97EF-F9493E116895}" destId="{E8356AF5-EC9B-42EA-BB1A-F3CB760A7AA5}" srcOrd="3" destOrd="0" presId="urn:microsoft.com/office/officeart/2005/8/layout/hProcess6"/>
    <dgm:cxn modelId="{CDC63827-FFCB-46F5-8877-725703BBF584}" type="presParOf" srcId="{5A30AAFF-6CB4-4683-97EF-F9493E116895}" destId="{85A457F7-3430-475E-8D0C-8B970F60C70B}" srcOrd="4" destOrd="0" presId="urn:microsoft.com/office/officeart/2005/8/layout/hProcess6"/>
    <dgm:cxn modelId="{C064EB71-A83F-4173-AEBF-787AD92F8EE8}" type="presParOf" srcId="{85A457F7-3430-475E-8D0C-8B970F60C70B}" destId="{4AA84788-E2BA-4A67-826F-BF7FF0649886}" srcOrd="0" destOrd="0" presId="urn:microsoft.com/office/officeart/2005/8/layout/hProcess6"/>
    <dgm:cxn modelId="{641EC315-75F5-49CE-8BD6-4CA7A0724AA8}" type="presParOf" srcId="{85A457F7-3430-475E-8D0C-8B970F60C70B}" destId="{1C95749F-8BFE-4BB0-A013-BA3B90BD754C}" srcOrd="1" destOrd="0" presId="urn:microsoft.com/office/officeart/2005/8/layout/hProcess6"/>
    <dgm:cxn modelId="{99E9B4A5-BA58-4AF7-BCC0-C0DD436B9F2A}" type="presParOf" srcId="{85A457F7-3430-475E-8D0C-8B970F60C70B}" destId="{1F4765F7-DF3C-4670-A8D0-D0FF1772EF13}" srcOrd="2" destOrd="0" presId="urn:microsoft.com/office/officeart/2005/8/layout/hProcess6"/>
    <dgm:cxn modelId="{4F4A9FE3-5429-418C-9BE1-FE181DA89D0B}" type="presParOf" srcId="{85A457F7-3430-475E-8D0C-8B970F60C70B}" destId="{9AF15ED0-5E8E-4E32-AD4B-34064B410055}" srcOrd="3" destOrd="0" presId="urn:microsoft.com/office/officeart/2005/8/layout/hProcess6"/>
  </dgm:cxnLst>
  <dgm:bg>
    <a:noFill/>
  </dgm:bg>
  <dgm:whole/>
  <dgm:extLst>
    <a:ext uri="http://schemas.microsoft.com/office/drawing/2008/diagram">
      <dsp:dataModelExt xmlns:dsp="http://schemas.microsoft.com/office/drawing/2008/diagram" relId="rId1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E1C33A-3F84-4018-BC5F-18DFEC057371}">
      <dsp:nvSpPr>
        <dsp:cNvPr id="0" name=""/>
        <dsp:cNvSpPr/>
      </dsp:nvSpPr>
      <dsp:spPr>
        <a:xfrm>
          <a:off x="1713" y="356024"/>
          <a:ext cx="2492767" cy="997106"/>
        </a:xfrm>
        <a:prstGeom prst="chevron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0 a 45 minutos</a:t>
          </a:r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Técnico/Analista</a:t>
          </a:r>
          <a:endParaRPr lang="pt-BR" sz="1600" kern="1200" dirty="0"/>
        </a:p>
      </dsp:txBody>
      <dsp:txXfrm>
        <a:off x="500266" y="356024"/>
        <a:ext cx="1495661" cy="997106"/>
      </dsp:txXfrm>
    </dsp:sp>
    <dsp:sp modelId="{684FAFDD-4104-423B-ADDC-A89F05668428}">
      <dsp:nvSpPr>
        <dsp:cNvPr id="0" name=""/>
        <dsp:cNvSpPr/>
      </dsp:nvSpPr>
      <dsp:spPr>
        <a:xfrm>
          <a:off x="2037280" y="356024"/>
          <a:ext cx="2492767" cy="997106"/>
        </a:xfrm>
        <a:prstGeom prst="chevron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45m a 1h 15m </a:t>
          </a:r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Coordenador</a:t>
          </a:r>
          <a:endParaRPr lang="pt-BR" sz="1600" kern="1200" dirty="0"/>
        </a:p>
      </dsp:txBody>
      <dsp:txXfrm>
        <a:off x="2535833" y="356024"/>
        <a:ext cx="1495661" cy="997106"/>
      </dsp:txXfrm>
    </dsp:sp>
    <dsp:sp modelId="{CF8FFEC0-616F-4EE7-8AE2-1BC392682DA0}">
      <dsp:nvSpPr>
        <dsp:cNvPr id="0" name=""/>
        <dsp:cNvSpPr/>
      </dsp:nvSpPr>
      <dsp:spPr>
        <a:xfrm>
          <a:off x="4075438" y="356024"/>
          <a:ext cx="2492767" cy="997106"/>
        </a:xfrm>
        <a:prstGeom prst="chevron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200" kern="1200" dirty="0" smtClean="0"/>
            <a:t>1h 15m a 1h 45m</a:t>
          </a:r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Gerente</a:t>
          </a:r>
        </a:p>
      </dsp:txBody>
      <dsp:txXfrm>
        <a:off x="4573991" y="356024"/>
        <a:ext cx="1495661" cy="997106"/>
      </dsp:txXfrm>
    </dsp:sp>
    <dsp:sp modelId="{BC598258-03E9-48CD-990C-659D000FAC1B}">
      <dsp:nvSpPr>
        <dsp:cNvPr id="0" name=""/>
        <dsp:cNvSpPr/>
      </dsp:nvSpPr>
      <dsp:spPr>
        <a:xfrm>
          <a:off x="6085417" y="356024"/>
          <a:ext cx="2492767" cy="997106"/>
        </a:xfrm>
        <a:prstGeom prst="chevron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u="sng" kern="1200" dirty="0" smtClean="0"/>
            <a:t>&gt;</a:t>
          </a:r>
          <a:r>
            <a:rPr lang="pt-BR" sz="1600" kern="1200" dirty="0" smtClean="0"/>
            <a:t> 1h 45m </a:t>
          </a:r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Diretor</a:t>
          </a:r>
        </a:p>
      </dsp:txBody>
      <dsp:txXfrm>
        <a:off x="6583970" y="356024"/>
        <a:ext cx="1495661" cy="9971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273972-1A5B-4D28-9CC9-FCA49B526134}">
      <dsp:nvSpPr>
        <dsp:cNvPr id="0" name=""/>
        <dsp:cNvSpPr/>
      </dsp:nvSpPr>
      <dsp:spPr>
        <a:xfrm>
          <a:off x="1300132" y="0"/>
          <a:ext cx="1708665" cy="149358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A832AB-5F99-4100-AF31-EAA299F4A182}">
      <dsp:nvSpPr>
        <dsp:cNvPr id="0" name=""/>
        <dsp:cNvSpPr/>
      </dsp:nvSpPr>
      <dsp:spPr>
        <a:xfrm>
          <a:off x="872966" y="319628"/>
          <a:ext cx="854332" cy="854332"/>
        </a:xfrm>
        <a:prstGeom prst="ellipse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Imediata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Telefone</a:t>
          </a:r>
          <a:endParaRPr lang="pt-BR" sz="800" kern="1200" dirty="0"/>
        </a:p>
      </dsp:txBody>
      <dsp:txXfrm>
        <a:off x="998080" y="444742"/>
        <a:ext cx="604104" cy="604104"/>
      </dsp:txXfrm>
    </dsp:sp>
    <dsp:sp modelId="{29D59DA8-6FC2-49A6-BEA1-74662D4938C0}">
      <dsp:nvSpPr>
        <dsp:cNvPr id="0" name=""/>
        <dsp:cNvSpPr/>
      </dsp:nvSpPr>
      <dsp:spPr>
        <a:xfrm>
          <a:off x="3571718" y="0"/>
          <a:ext cx="1708665" cy="149358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EEAB1F-F3C7-4A45-ACEE-4DB0F0EC030A}">
      <dsp:nvSpPr>
        <dsp:cNvPr id="0" name=""/>
        <dsp:cNvSpPr/>
      </dsp:nvSpPr>
      <dsp:spPr>
        <a:xfrm>
          <a:off x="3144551" y="319628"/>
          <a:ext cx="854332" cy="854332"/>
        </a:xfrm>
        <a:prstGeom prst="ellipse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15 minutos 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Coordenador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e Gerente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SMS</a:t>
          </a:r>
          <a:endParaRPr lang="pt-BR" sz="800" kern="1200" dirty="0"/>
        </a:p>
      </dsp:txBody>
      <dsp:txXfrm>
        <a:off x="3269665" y="444742"/>
        <a:ext cx="604104" cy="604104"/>
      </dsp:txXfrm>
    </dsp:sp>
    <dsp:sp modelId="{1C95749F-8BFE-4BB0-A013-BA3B90BD754C}">
      <dsp:nvSpPr>
        <dsp:cNvPr id="0" name=""/>
        <dsp:cNvSpPr/>
      </dsp:nvSpPr>
      <dsp:spPr>
        <a:xfrm>
          <a:off x="5843303" y="0"/>
          <a:ext cx="1708665" cy="149358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F15ED0-5E8E-4E32-AD4B-34064B410055}">
      <dsp:nvSpPr>
        <dsp:cNvPr id="0" name=""/>
        <dsp:cNvSpPr/>
      </dsp:nvSpPr>
      <dsp:spPr>
        <a:xfrm>
          <a:off x="5416137" y="319628"/>
          <a:ext cx="854332" cy="854332"/>
        </a:xfrm>
        <a:prstGeom prst="ellipse">
          <a:avLst/>
        </a:prstGeom>
        <a:solidFill>
          <a:srgbClr val="184E8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20 minutos 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Diretor</a:t>
          </a:r>
        </a:p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800" kern="1200" dirty="0" smtClean="0"/>
            <a:t>A definir</a:t>
          </a:r>
        </a:p>
      </dsp:txBody>
      <dsp:txXfrm>
        <a:off x="5541251" y="444742"/>
        <a:ext cx="604104" cy="6041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image" Target="../media/image22.emf"/><Relationship Id="rId6" Type="http://schemas.openxmlformats.org/officeDocument/2006/relationships/image" Target="../media/image27.emf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image" Target="../media/image28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0D43F-B80B-40D7-B843-4AC81DACC905}" type="datetimeFigureOut">
              <a:rPr lang="pt-BR" smtClean="0"/>
              <a:t>25/02/2016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626FD-18EF-494C-A467-3D85C3950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095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0312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30910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0113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7647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9491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924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3152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75494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32943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24970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4503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14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80235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15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049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16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5199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17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61178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9516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8222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7335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6574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39488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>
                <a:solidFill>
                  <a:prstClr val="black"/>
                </a:solidFill>
              </a:rPr>
              <a:pPr/>
              <a:t>23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50815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40895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2392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13495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9556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5347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1417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2998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70919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22565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Contrato vai</a:t>
            </a:r>
            <a:r>
              <a:rPr lang="pt-BR" baseline="0" dirty="0" smtClean="0"/>
              <a:t> até Março do BTCC da Oi – Adolpho e </a:t>
            </a:r>
            <a:r>
              <a:rPr lang="pt-BR" baseline="0" dirty="0" err="1" smtClean="0"/>
              <a:t>Koreeda</a:t>
            </a:r>
            <a:r>
              <a:rPr lang="pt-BR" baseline="0" dirty="0" smtClean="0"/>
              <a:t> cientes –</a:t>
            </a:r>
            <a:r>
              <a:rPr lang="pt-BR" baseline="0" dirty="0" err="1" smtClean="0"/>
              <a:t>Boarim</a:t>
            </a:r>
            <a:r>
              <a:rPr lang="pt-BR" baseline="0" dirty="0" smtClean="0"/>
              <a:t> sugere congelar a </a:t>
            </a:r>
            <a:r>
              <a:rPr lang="pt-BR" baseline="0" dirty="0" err="1" smtClean="0"/>
              <a:t>Interlalização</a:t>
            </a:r>
            <a:endParaRPr lang="pt-BR" baseline="0" dirty="0" smtClean="0"/>
          </a:p>
          <a:p>
            <a:r>
              <a:rPr lang="pt-BR" baseline="0" dirty="0" smtClean="0"/>
              <a:t>MPLS - Fortaleza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94402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informou que existe um alinhamento em andamento para que as multas aplicadas pelos clientes a Contax não serão mais discriminadas separadamente no faturamento. O valor a ser faturado virá consolidado. A partir de Março alguns clientes já entrarão neste novo modelo e de forma gradativa será feito para o demais. Desta forma, perderemos a visibilidade de quanto estamos sendo impactados financeiramente decorrente de multas. 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66674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39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171369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7626FD-18EF-494C-A467-3D85C3950BD0}" type="slidenum">
              <a:rPr lang="pt-BR" smtClean="0"/>
              <a:t>40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59872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842552"/>
            <a:ext cx="6858000" cy="179235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4030"/>
            <a:ext cx="6858000" cy="1242971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2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06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283491"/>
            <a:ext cx="7886700" cy="214153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3445285"/>
            <a:ext cx="7886700" cy="112618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64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286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291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21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274098"/>
            <a:ext cx="7886700" cy="99509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9842" y="1262040"/>
            <a:ext cx="3868340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9842" y="1880546"/>
            <a:ext cx="3868340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29150" y="1262040"/>
            <a:ext cx="3887391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29150" y="1880546"/>
            <a:ext cx="3887391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08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59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5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32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2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17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274097"/>
            <a:ext cx="1971675" cy="436291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274097"/>
            <a:ext cx="5800725" cy="436291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3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1484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956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069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1.vml"/><Relationship Id="rId7" Type="http://schemas.openxmlformats.org/officeDocument/2006/relationships/image" Target="../media/image2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vmlDrawing" Target="../drawings/vmlDrawing2.vml"/><Relationship Id="rId7" Type="http://schemas.openxmlformats.org/officeDocument/2006/relationships/image" Target="../media/image3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Relationship Id="rId9" Type="http://schemas.openxmlformats.org/officeDocument/2006/relationships/image" Target="../media/image5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vmlDrawing" Target="../drawings/vmlDrawing3.vml"/><Relationship Id="rId7" Type="http://schemas.openxmlformats.org/officeDocument/2006/relationships/image" Target="../media/image6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.bin"/><Relationship Id="rId4" Type="http://schemas.openxmlformats.org/officeDocument/2006/relationships/tags" Target="../tags/tag3.xml"/><Relationship Id="rId9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96241-9EE8-3241-9C65-A8F2A1D83BB2}" type="datetimeFigureOut">
              <a:rPr lang="en-US" smtClean="0"/>
              <a:t>2/25/2016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4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175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14" descr="t02-02.jp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8263"/>
          </a:xfrm>
          <a:prstGeom prst="rect">
            <a:avLst/>
          </a:prstGeom>
        </p:spPr>
      </p:pic>
      <p:pic>
        <p:nvPicPr>
          <p:cNvPr id="7" name="Picture 10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99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9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062980" y="289005"/>
            <a:ext cx="1603348" cy="291323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" descr="t03-02.jpg"/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21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223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nterna_img-3.png"/>
          <p:cNvPicPr/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182"/>
          <a:stretch>
            <a:fillRect/>
          </a:stretch>
        </p:blipFill>
        <p:spPr>
          <a:xfrm>
            <a:off x="1" y="-4669"/>
            <a:ext cx="3640873" cy="5157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5.png"/>
          <p:cNvPicPr/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8118917" y="4410609"/>
            <a:ext cx="1043999" cy="770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1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296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10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hyperlink" Target="Gest&#227;o%20de%20problemas%20atualizado%2028.01.2016.xls" TargetMode="External"/><Relationship Id="rId5" Type="http://schemas.openxmlformats.org/officeDocument/2006/relationships/chart" Target="../charts/chart2.xml"/><Relationship Id="rId10" Type="http://schemas.openxmlformats.org/officeDocument/2006/relationships/image" Target="../media/image3.emf"/><Relationship Id="rId4" Type="http://schemas.openxmlformats.org/officeDocument/2006/relationships/chart" Target="../charts/chart1.xml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emf"/><Relationship Id="rId3" Type="http://schemas.openxmlformats.org/officeDocument/2006/relationships/image" Target="../media/image4.pn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emf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emf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emf"/><Relationship Id="rId4" Type="http://schemas.openxmlformats.org/officeDocument/2006/relationships/image" Target="../media/image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emf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emf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chart" Target="../charts/chart6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chart" Target="../charts/chart7.xml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8.xml"/><Relationship Id="rId5" Type="http://schemas.openxmlformats.org/officeDocument/2006/relationships/image" Target="../media/image3.emf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13" Type="http://schemas.openxmlformats.org/officeDocument/2006/relationships/package" Target="../embeddings/Microsoft_Excel_Worksheet8.xlsx"/><Relationship Id="rId18" Type="http://schemas.openxmlformats.org/officeDocument/2006/relationships/image" Target="../media/image27.emf"/><Relationship Id="rId3" Type="http://schemas.openxmlformats.org/officeDocument/2006/relationships/notesSlide" Target="../notesSlides/notesSlide13.xml"/><Relationship Id="rId7" Type="http://schemas.openxmlformats.org/officeDocument/2006/relationships/package" Target="../embeddings/Microsoft_Excel_Worksheet5.xlsx"/><Relationship Id="rId12" Type="http://schemas.openxmlformats.org/officeDocument/2006/relationships/image" Target="../media/image24.emf"/><Relationship Id="rId17" Type="http://schemas.openxmlformats.org/officeDocument/2006/relationships/package" Target="../embeddings/Microsoft_Excel_Worksheet10.xlsx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26.emf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11" Type="http://schemas.openxmlformats.org/officeDocument/2006/relationships/package" Target="../embeddings/Microsoft_Excel_Worksheet7.xlsx"/><Relationship Id="rId5" Type="http://schemas.openxmlformats.org/officeDocument/2006/relationships/image" Target="../media/image12.png"/><Relationship Id="rId15" Type="http://schemas.openxmlformats.org/officeDocument/2006/relationships/package" Target="../embeddings/Microsoft_Excel_Worksheet9.xlsx"/><Relationship Id="rId10" Type="http://schemas.openxmlformats.org/officeDocument/2006/relationships/image" Target="../media/image23.emf"/><Relationship Id="rId4" Type="http://schemas.openxmlformats.org/officeDocument/2006/relationships/image" Target="../media/image4.png"/><Relationship Id="rId9" Type="http://schemas.openxmlformats.org/officeDocument/2006/relationships/package" Target="../embeddings/Microsoft_Excel_Worksheet6.xlsx"/><Relationship Id="rId14" Type="http://schemas.openxmlformats.org/officeDocument/2006/relationships/image" Target="../media/image25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emf"/><Relationship Id="rId3" Type="http://schemas.openxmlformats.org/officeDocument/2006/relationships/notesSlide" Target="../notesSlides/notesSlide14.xml"/><Relationship Id="rId7" Type="http://schemas.openxmlformats.org/officeDocument/2006/relationships/package" Target="../embeddings/Microsoft_Excel_Worksheet11.xlsx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3.emf"/><Relationship Id="rId11" Type="http://schemas.openxmlformats.org/officeDocument/2006/relationships/image" Target="../media/image30.png"/><Relationship Id="rId5" Type="http://schemas.openxmlformats.org/officeDocument/2006/relationships/image" Target="../media/image12.png"/><Relationship Id="rId10" Type="http://schemas.openxmlformats.org/officeDocument/2006/relationships/image" Target="../media/image29.emf"/><Relationship Id="rId4" Type="http://schemas.openxmlformats.org/officeDocument/2006/relationships/image" Target="../media/image4.png"/><Relationship Id="rId9" Type="http://schemas.openxmlformats.org/officeDocument/2006/relationships/package" Target="../embeddings/Microsoft_Excel_Worksheet12.xlsx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emf"/><Relationship Id="rId3" Type="http://schemas.openxmlformats.org/officeDocument/2006/relationships/image" Target="../media/image4.png"/><Relationship Id="rId7" Type="http://schemas.openxmlformats.org/officeDocument/2006/relationships/image" Target="../media/image32.emf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emf"/><Relationship Id="rId11" Type="http://schemas.openxmlformats.org/officeDocument/2006/relationships/image" Target="../media/image36.emf"/><Relationship Id="rId5" Type="http://schemas.openxmlformats.org/officeDocument/2006/relationships/image" Target="../media/image3.emf"/><Relationship Id="rId10" Type="http://schemas.openxmlformats.org/officeDocument/2006/relationships/image" Target="../media/image35.emf"/><Relationship Id="rId4" Type="http://schemas.openxmlformats.org/officeDocument/2006/relationships/image" Target="../media/image12.png"/><Relationship Id="rId9" Type="http://schemas.openxmlformats.org/officeDocument/2006/relationships/image" Target="../media/image34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emf"/><Relationship Id="rId4" Type="http://schemas.openxmlformats.org/officeDocument/2006/relationships/image" Target="../media/image5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emf"/><Relationship Id="rId4" Type="http://schemas.openxmlformats.org/officeDocument/2006/relationships/image" Target="../media/image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emf"/><Relationship Id="rId4" Type="http://schemas.openxmlformats.org/officeDocument/2006/relationships/image" Target="../media/image5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emf"/><Relationship Id="rId4" Type="http://schemas.openxmlformats.org/officeDocument/2006/relationships/image" Target="../media/image5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13" Type="http://schemas.openxmlformats.org/officeDocument/2006/relationships/diagramQuickStyle" Target="../diagrams/quickStyle2.xml"/><Relationship Id="rId3" Type="http://schemas.openxmlformats.org/officeDocument/2006/relationships/image" Target="../media/image4.png"/><Relationship Id="rId7" Type="http://schemas.openxmlformats.org/officeDocument/2006/relationships/diagramLayout" Target="../diagrams/layout1.xml"/><Relationship Id="rId12" Type="http://schemas.openxmlformats.org/officeDocument/2006/relationships/diagramLayout" Target="../diagrams/layout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diagramData" Target="../diagrams/data1.xml"/><Relationship Id="rId11" Type="http://schemas.openxmlformats.org/officeDocument/2006/relationships/diagramData" Target="../diagrams/data2.xml"/><Relationship Id="rId5" Type="http://schemas.openxmlformats.org/officeDocument/2006/relationships/image" Target="../media/image3.emf"/><Relationship Id="rId15" Type="http://schemas.microsoft.com/office/2007/relationships/diagramDrawing" Target="../diagrams/drawing2.xml"/><Relationship Id="rId10" Type="http://schemas.microsoft.com/office/2007/relationships/diagramDrawing" Target="../diagrams/drawing1.xml"/><Relationship Id="rId4" Type="http://schemas.openxmlformats.org/officeDocument/2006/relationships/image" Target="../media/image12.png"/><Relationship Id="rId9" Type="http://schemas.openxmlformats.org/officeDocument/2006/relationships/diagramColors" Target="../diagrams/colors1.xml"/><Relationship Id="rId14" Type="http://schemas.openxmlformats.org/officeDocument/2006/relationships/diagramColors" Target="../diagrams/colors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emf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iff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emf"/><Relationship Id="rId4" Type="http://schemas.openxmlformats.org/officeDocument/2006/relationships/image" Target="../media/image5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3.e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emf"/><Relationship Id="rId5" Type="http://schemas.openxmlformats.org/officeDocument/2006/relationships/image" Target="../media/image12.png"/><Relationship Id="rId4" Type="http://schemas.openxmlformats.org/officeDocument/2006/relationships/image" Target="../media/image57.png"/><Relationship Id="rId9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jp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achad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39"/>
            <a:ext cx="9144000" cy="5145024"/>
          </a:xfrm>
          <a:prstGeom prst="rect">
            <a:avLst/>
          </a:prstGeom>
        </p:spPr>
      </p:pic>
      <p:pic>
        <p:nvPicPr>
          <p:cNvPr id="10" name="Picture 9" descr="meia_bolinha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466" y="4354709"/>
            <a:ext cx="1635846" cy="80436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29" y="3208"/>
            <a:ext cx="3345084" cy="122185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711" y="325132"/>
            <a:ext cx="1744578" cy="422254"/>
          </a:xfrm>
          <a:prstGeom prst="rect">
            <a:avLst/>
          </a:prstGeom>
        </p:spPr>
      </p:pic>
      <p:sp>
        <p:nvSpPr>
          <p:cNvPr id="11" name="Title 1"/>
          <p:cNvSpPr txBox="1">
            <a:spLocks/>
          </p:cNvSpPr>
          <p:nvPr/>
        </p:nvSpPr>
        <p:spPr>
          <a:xfrm>
            <a:off x="0" y="292955"/>
            <a:ext cx="3942260" cy="1757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70000"/>
              </a:lnSpc>
            </a:pPr>
            <a:r>
              <a:rPr lang="en-US" sz="3000" b="1" dirty="0" smtClean="0">
                <a:solidFill>
                  <a:srgbClr val="19345B"/>
                </a:solidFill>
                <a:latin typeface="Arial"/>
                <a:cs typeface="Arial"/>
              </a:rPr>
              <a:t>Contact Center</a:t>
            </a:r>
            <a:r>
              <a:rPr lang="en-US" sz="30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Estabilidade</a:t>
            </a: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Operacional</a:t>
            </a:r>
            <a:endParaRPr lang="en-US" sz="2200" b="1" dirty="0" smtClean="0">
              <a:solidFill>
                <a:srgbClr val="FF0000"/>
              </a:solidFill>
              <a:latin typeface="Arial"/>
              <a:cs typeface="Arial"/>
            </a:endParaRPr>
          </a:p>
          <a:p>
            <a:pPr algn="l">
              <a:lnSpc>
                <a:spcPct val="110000"/>
              </a:lnSpc>
            </a:pP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25.Fevereiro.2016</a:t>
            </a:r>
            <a:endParaRPr lang="en-US" sz="2200" b="1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4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Tm="8331">
        <p14:reveal/>
      </p:transition>
    </mc:Choice>
    <mc:Fallback xmlns="">
      <p:transition spd="slow" advTm="8331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interna_img-3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292" cy="5148264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Shape 114"/>
          <p:cNvSpPr/>
          <p:nvPr/>
        </p:nvSpPr>
        <p:spPr>
          <a:xfrm>
            <a:off x="2669861" y="503053"/>
            <a:ext cx="1409769" cy="858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>
            <a:normAutofit/>
          </a:bodyPr>
          <a:lstStyle>
            <a:lvl1pPr>
              <a:defRPr sz="300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pt-BR" sz="3000" b="1" dirty="0" smtClean="0">
                <a:solidFill>
                  <a:srgbClr val="1F497D"/>
                </a:solidFill>
              </a:rPr>
              <a:t>Índice</a:t>
            </a:r>
            <a:endParaRPr sz="3000" b="1" dirty="0">
              <a:solidFill>
                <a:srgbClr val="1F497D"/>
              </a:solidFill>
            </a:endParaRPr>
          </a:p>
        </p:txBody>
      </p:sp>
      <p:pic>
        <p:nvPicPr>
          <p:cNvPr id="116" name="image5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860" y="4531179"/>
            <a:ext cx="1248721" cy="614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2625970" y="1276051"/>
            <a:ext cx="6515322" cy="31786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1. Indicadores – Incidentes de Alto Impacto e Problemas</a:t>
            </a:r>
          </a:p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2. Indicadores – Total de Incidentes</a:t>
            </a: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problemas</a:t>
            </a:r>
          </a:p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4.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Indicadores – Total de Incidentes (Alto, Médio e Baixo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)</a:t>
            </a:r>
          </a:p>
          <a:p>
            <a:pPr algn="l"/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Incidentes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resolvidos de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Alto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Impacto</a:t>
            </a:r>
          </a:p>
          <a:p>
            <a:pPr algn="l"/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Vulnerabilidades Mapeadas</a:t>
            </a:r>
          </a:p>
          <a:p>
            <a:pPr algn="l"/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7. Processo Revisão de Incidentes de Médio Impacto</a:t>
            </a:r>
          </a:p>
          <a:p>
            <a:pPr algn="l"/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8. </a:t>
            </a: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Plano de Comunicação e 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Escalonamento </a:t>
            </a:r>
            <a:endParaRPr lang="pt-BR" sz="14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>
              <a:buClr>
                <a:srgbClr val="800000"/>
              </a:buClr>
            </a:pPr>
            <a:r>
              <a:rPr lang="pt-BR" sz="1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Projetos Estruturantes e Especiais</a:t>
            </a:r>
          </a:p>
          <a:p>
            <a:pPr algn="l">
              <a:buClr>
                <a:srgbClr val="800000"/>
              </a:buClr>
            </a:pPr>
            <a:r>
              <a:rPr lang="pt-BR" sz="1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10. Alinhamento</a:t>
            </a:r>
          </a:p>
        </p:txBody>
      </p:sp>
    </p:spTree>
    <p:extLst>
      <p:ext uri="{BB962C8B-B14F-4D97-AF65-F5344CB8AC3E}">
        <p14:creationId xmlns:p14="http://schemas.microsoft.com/office/powerpoint/2010/main" val="3268750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/>
          <p:cNvGrpSpPr/>
          <p:nvPr/>
        </p:nvGrpSpPr>
        <p:grpSpPr>
          <a:xfrm>
            <a:off x="0" y="2436"/>
            <a:ext cx="9144001" cy="5145828"/>
            <a:chOff x="0" y="2436"/>
            <a:chExt cx="9144001" cy="5145828"/>
          </a:xfrm>
        </p:grpSpPr>
        <p:grpSp>
          <p:nvGrpSpPr>
            <p:cNvPr id="2" name="Agrupar 1"/>
            <p:cNvGrpSpPr/>
            <p:nvPr/>
          </p:nvGrpSpPr>
          <p:grpSpPr>
            <a:xfrm>
              <a:off x="1" y="153259"/>
              <a:ext cx="9144000" cy="4995005"/>
              <a:chOff x="1" y="153259"/>
              <a:chExt cx="9144000" cy="4995005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369332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dirty="0"/>
              </a:p>
            </p:txBody>
          </p:sp>
          <p:sp>
            <p:nvSpPr>
              <p:cNvPr id="20" name="Title 1"/>
              <p:cNvSpPr txBox="1">
                <a:spLocks/>
              </p:cNvSpPr>
              <p:nvPr/>
            </p:nvSpPr>
            <p:spPr>
              <a:xfrm>
                <a:off x="734184" y="153259"/>
                <a:ext cx="6254098" cy="560400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vert="horz" lIns="91440" tIns="45720" rIns="91440" bIns="45720" rtlCol="0" anchor="ctr">
                <a:normAutofit fontScale="62500" lnSpcReduction="20000"/>
              </a:bodyPr>
              <a:lstStyle>
                <a:lvl1pPr algn="ctr" defTabSz="4572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buClr>
                    <a:srgbClr val="800000"/>
                  </a:buClr>
                </a:pPr>
                <a:r>
                  <a:rPr lang="pt-BR" sz="2800" b="1" dirty="0">
                    <a:solidFill>
                      <a:schemeClr val="tx2"/>
                    </a:solidFill>
                    <a:latin typeface="Arial" pitchFamily="34" charset="0"/>
                    <a:cs typeface="Arial" pitchFamily="34" charset="0"/>
                  </a:rPr>
                  <a:t>1. Indicadores: Incidentes Alto impacto e Problemas</a:t>
                </a:r>
                <a:endParaRPr lang="pt-BR" sz="18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aphicFrame>
            <p:nvGraphicFramePr>
              <p:cNvPr id="23" name="Gráfico 22"/>
              <p:cNvGraphicFramePr/>
              <p:nvPr>
                <p:extLst/>
              </p:nvPr>
            </p:nvGraphicFramePr>
            <p:xfrm>
              <a:off x="1" y="784099"/>
              <a:ext cx="4276020" cy="2239473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27" name="Gráfico 26"/>
              <p:cNvGraphicFramePr/>
              <p:nvPr>
                <p:extLst>
                  <p:ext uri="{D42A27DB-BD31-4B8C-83A1-F6EECF244321}">
                    <p14:modId xmlns:p14="http://schemas.microsoft.com/office/powerpoint/2010/main" val="4245562180"/>
                  </p:ext>
                </p:extLst>
              </p:nvPr>
            </p:nvGraphicFramePr>
            <p:xfrm>
              <a:off x="4532563" y="791263"/>
              <a:ext cx="4250194" cy="2232309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31" name="Gráfico 30">
                <a:hlinkClick r:id="rId6" action="ppaction://hlinkfile"/>
              </p:cNvPr>
              <p:cNvGraphicFramePr>
                <a:graphicFrameLocks noChangeAspect="1"/>
              </p:cNvGraphicFramePr>
              <p:nvPr>
                <p:extLst/>
              </p:nvPr>
            </p:nvGraphicFramePr>
            <p:xfrm>
              <a:off x="4968607" y="3068858"/>
              <a:ext cx="3492347" cy="2079405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sp>
            <p:nvSpPr>
              <p:cNvPr id="33" name="Retângulo de cantos arredondados 32"/>
              <p:cNvSpPr/>
              <p:nvPr/>
            </p:nvSpPr>
            <p:spPr>
              <a:xfrm>
                <a:off x="220647" y="3553688"/>
                <a:ext cx="1775024" cy="105807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 b="1" dirty="0"/>
                  <a:t>Redução </a:t>
                </a:r>
                <a:r>
                  <a:rPr lang="pt-BR" sz="1600" b="1" i="1" dirty="0"/>
                  <a:t>Consolidada</a:t>
                </a:r>
                <a:r>
                  <a:rPr lang="pt-BR" sz="1600" b="1" dirty="0"/>
                  <a:t/>
                </a:r>
                <a:br>
                  <a:rPr lang="pt-BR" sz="1600" b="1" dirty="0"/>
                </a:br>
                <a:r>
                  <a:rPr lang="pt-BR" sz="1600" b="1" dirty="0"/>
                  <a:t> Ago / Dez</a:t>
                </a:r>
              </a:p>
              <a:p>
                <a:pPr algn="ctr"/>
                <a:r>
                  <a:rPr lang="pt-BR" sz="1600" b="1" dirty="0"/>
                  <a:t>-80,32%</a:t>
                </a:r>
              </a:p>
            </p:txBody>
          </p:sp>
          <p:sp>
            <p:nvSpPr>
              <p:cNvPr id="19" name="Retângulo de cantos arredondados 18"/>
              <p:cNvSpPr/>
              <p:nvPr/>
            </p:nvSpPr>
            <p:spPr>
              <a:xfrm>
                <a:off x="2138011" y="3553689"/>
                <a:ext cx="1775024" cy="1058077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 b="1" dirty="0"/>
                  <a:t>Redução </a:t>
                </a:r>
                <a:r>
                  <a:rPr lang="pt-BR" sz="1600" b="1" i="1" dirty="0"/>
                  <a:t>Projetada</a:t>
                </a:r>
                <a:br>
                  <a:rPr lang="pt-BR" sz="1600" b="1" i="1" dirty="0"/>
                </a:br>
                <a:r>
                  <a:rPr lang="pt-BR" sz="1600" b="1" dirty="0"/>
                  <a:t> </a:t>
                </a:r>
                <a:r>
                  <a:rPr lang="pt-BR" sz="1600" b="1" dirty="0" err="1"/>
                  <a:t>Ago</a:t>
                </a:r>
                <a:r>
                  <a:rPr lang="pt-BR" sz="1600" b="1" dirty="0"/>
                  <a:t> / </a:t>
                </a:r>
                <a:r>
                  <a:rPr lang="pt-BR" sz="1600" b="1" dirty="0" err="1"/>
                  <a:t>Fev</a:t>
                </a:r>
                <a:endParaRPr lang="pt-BR" sz="1600" b="1" dirty="0"/>
              </a:p>
              <a:p>
                <a:pPr algn="ctr"/>
                <a:r>
                  <a:rPr lang="pt-BR" sz="1600" b="1" dirty="0"/>
                  <a:t>-88,89%</a:t>
                </a:r>
              </a:p>
            </p:txBody>
          </p:sp>
          <p:pic>
            <p:nvPicPr>
              <p:cNvPr id="17" name="Imagem 16"/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87919" y="2822883"/>
                <a:ext cx="247650" cy="1762125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/>
            </p:spPr>
          </p:pic>
          <p:sp>
            <p:nvSpPr>
              <p:cNvPr id="3" name="CaixaDeTexto 2"/>
              <p:cNvSpPr txBox="1"/>
              <p:nvPr/>
            </p:nvSpPr>
            <p:spPr>
              <a:xfrm>
                <a:off x="1" y="4848225"/>
                <a:ext cx="5067299" cy="246221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000" dirty="0">
                    <a:solidFill>
                      <a:schemeClr val="bg1">
                        <a:lumMod val="65000"/>
                      </a:schemeClr>
                    </a:solidFill>
                  </a:rPr>
                  <a:t>Informações retiradas dos indicadores de SLA e </a:t>
                </a:r>
                <a:r>
                  <a:rPr lang="pt-BR" sz="1000" dirty="0" err="1">
                    <a:solidFill>
                      <a:schemeClr val="bg1">
                        <a:lumMod val="65000"/>
                      </a:schemeClr>
                    </a:solidFill>
                  </a:rPr>
                  <a:t>tProcess</a:t>
                </a:r>
                <a:r>
                  <a:rPr lang="pt-BR" sz="1000" dirty="0">
                    <a:solidFill>
                      <a:schemeClr val="bg1">
                        <a:lumMod val="65000"/>
                      </a:schemeClr>
                    </a:solidFill>
                  </a:rPr>
                  <a:t>! referentes ao período de 01 à 23/02.</a:t>
                </a:r>
                <a:endParaRPr lang="pt-BR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2436"/>
              <a:ext cx="786452" cy="774259"/>
            </a:xfrm>
            <a:prstGeom prst="rect">
              <a:avLst/>
            </a:prstGeom>
          </p:spPr>
        </p:pic>
      </p:grpSp>
      <p:pic>
        <p:nvPicPr>
          <p:cNvPr id="26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35" name="CaixaDeTexto 34"/>
          <p:cNvSpPr txBox="1"/>
          <p:nvPr/>
        </p:nvSpPr>
        <p:spPr>
          <a:xfrm>
            <a:off x="514848" y="2328058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-72,2%</a:t>
            </a:r>
          </a:p>
        </p:txBody>
      </p:sp>
      <p:sp>
        <p:nvSpPr>
          <p:cNvPr id="36" name="CaixaDeTexto 35"/>
          <p:cNvSpPr txBox="1"/>
          <p:nvPr/>
        </p:nvSpPr>
        <p:spPr>
          <a:xfrm>
            <a:off x="1307813" y="231802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-29,2%</a:t>
            </a:r>
          </a:p>
        </p:txBody>
      </p:sp>
      <p:sp>
        <p:nvSpPr>
          <p:cNvPr id="37" name="CaixaDeTexto 36"/>
          <p:cNvSpPr txBox="1"/>
          <p:nvPr/>
        </p:nvSpPr>
        <p:spPr>
          <a:xfrm>
            <a:off x="2073857" y="2333767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-28,6%</a:t>
            </a:r>
          </a:p>
        </p:txBody>
      </p:sp>
      <p:sp>
        <p:nvSpPr>
          <p:cNvPr id="38" name="CaixaDeTexto 37"/>
          <p:cNvSpPr txBox="1"/>
          <p:nvPr/>
        </p:nvSpPr>
        <p:spPr>
          <a:xfrm>
            <a:off x="5075343" y="231778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-71,3%</a:t>
            </a:r>
          </a:p>
        </p:txBody>
      </p:sp>
      <p:sp>
        <p:nvSpPr>
          <p:cNvPr id="39" name="CaixaDeTexto 38"/>
          <p:cNvSpPr txBox="1"/>
          <p:nvPr/>
        </p:nvSpPr>
        <p:spPr>
          <a:xfrm>
            <a:off x="5871161" y="231217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-31,5%</a:t>
            </a:r>
          </a:p>
        </p:txBody>
      </p:sp>
      <p:sp>
        <p:nvSpPr>
          <p:cNvPr id="40" name="CaixaDeTexto 39"/>
          <p:cNvSpPr txBox="1"/>
          <p:nvPr/>
        </p:nvSpPr>
        <p:spPr>
          <a:xfrm>
            <a:off x="6642177" y="2312172"/>
            <a:ext cx="684782" cy="26161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accent2"/>
                </a:solidFill>
              </a:rPr>
              <a:t>-</a:t>
            </a:r>
            <a:r>
              <a:rPr lang="pt-BR" sz="1100" b="1" dirty="0" smtClean="0">
                <a:solidFill>
                  <a:schemeClr val="accent2"/>
                </a:solidFill>
              </a:rPr>
              <a:t>28,6%</a:t>
            </a:r>
            <a:endParaRPr lang="pt-BR" sz="11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86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Agrupar 1"/>
          <p:cNvGrpSpPr/>
          <p:nvPr/>
        </p:nvGrpSpPr>
        <p:grpSpPr>
          <a:xfrm>
            <a:off x="3518" y="69812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2. Indicadores: Total de Incidentes</a:t>
              </a:r>
              <a:endParaRPr lang="pt-BR" sz="20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aphicFrame>
          <p:nvGraphicFramePr>
            <p:cNvPr id="23" name="Gráfico 22"/>
            <p:cNvGraphicFramePr/>
            <p:nvPr>
              <p:extLst/>
            </p:nvPr>
          </p:nvGraphicFramePr>
          <p:xfrm>
            <a:off x="1133035" y="504650"/>
            <a:ext cx="5875578" cy="300079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4" name="CaixaDeTexto 23"/>
            <p:cNvSpPr txBox="1"/>
            <p:nvPr/>
          </p:nvSpPr>
          <p:spPr>
            <a:xfrm>
              <a:off x="1904443" y="2614964"/>
              <a:ext cx="703482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accent2"/>
                  </a:solidFill>
                </a:rPr>
                <a:t>-1,01%</a:t>
              </a: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3013240" y="2627408"/>
              <a:ext cx="732185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accent2"/>
                  </a:solidFill>
                </a:rPr>
                <a:t>-19,32%</a:t>
              </a:r>
            </a:p>
          </p:txBody>
        </p:sp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18" name="CaixaDeTexto 17"/>
            <p:cNvSpPr txBox="1"/>
            <p:nvPr/>
          </p:nvSpPr>
          <p:spPr>
            <a:xfrm>
              <a:off x="4121138" y="2627408"/>
              <a:ext cx="732185" cy="2769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accent2"/>
                  </a:solidFill>
                </a:rPr>
                <a:t>+11,67%</a:t>
              </a:r>
            </a:p>
          </p:txBody>
        </p:sp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23/02.</a:t>
              </a: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5977" y="3320645"/>
            <a:ext cx="5716727" cy="144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15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8435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582613"/>
            <a:ext cx="8420100" cy="3981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66385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582613"/>
            <a:ext cx="8420100" cy="3981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76753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048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51" y="479009"/>
            <a:ext cx="7410450" cy="46692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1455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659" y="528594"/>
            <a:ext cx="7697529" cy="44582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19214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392" y="455281"/>
            <a:ext cx="8219391" cy="4342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4642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3. Gestão de Problemas</a:t>
            </a:r>
            <a:endParaRPr lang="pt-BR" sz="1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92" y="587268"/>
            <a:ext cx="8420100" cy="3733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4014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Gráfico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880116"/>
              </p:ext>
            </p:extLst>
          </p:nvPr>
        </p:nvGraphicFramePr>
        <p:xfrm>
          <a:off x="224660" y="617857"/>
          <a:ext cx="7232400" cy="450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75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4</a:t>
              </a: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. </a:t>
              </a: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Indicadores: Total de Incidentes Alto</a:t>
              </a:r>
              <a:endParaRPr lang="pt-BR" sz="20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23/02.</a:t>
              </a: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3" name="Retângulo de cantos arredondados 12"/>
          <p:cNvSpPr>
            <a:spLocks noChangeAspect="1"/>
          </p:cNvSpPr>
          <p:nvPr/>
        </p:nvSpPr>
        <p:spPr>
          <a:xfrm>
            <a:off x="7527600" y="740192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Meta &lt; 294</a:t>
            </a:r>
          </a:p>
        </p:txBody>
      </p:sp>
      <p:sp>
        <p:nvSpPr>
          <p:cNvPr id="14" name="Retângulo de cantos arredondados 12"/>
          <p:cNvSpPr>
            <a:spLocks noChangeAspect="1"/>
          </p:cNvSpPr>
          <p:nvPr/>
        </p:nvSpPr>
        <p:spPr>
          <a:xfrm>
            <a:off x="7527600" y="1186770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Atual 166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7444292" y="1818042"/>
            <a:ext cx="14436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04 - Itaú</a:t>
            </a:r>
          </a:p>
          <a:p>
            <a:r>
              <a:rPr lang="pt-BR" sz="1400" dirty="0"/>
              <a:t>11 - TAM, Santander e Souza Cruz. </a:t>
            </a:r>
          </a:p>
          <a:p>
            <a:r>
              <a:rPr lang="pt-BR" sz="1400" dirty="0"/>
              <a:t>16 -  Oi</a:t>
            </a:r>
          </a:p>
        </p:txBody>
      </p:sp>
      <p:sp>
        <p:nvSpPr>
          <p:cNvPr id="5" name="Retângulo de cantos arredondados 4"/>
          <p:cNvSpPr/>
          <p:nvPr/>
        </p:nvSpPr>
        <p:spPr>
          <a:xfrm>
            <a:off x="1485072" y="2710928"/>
            <a:ext cx="1108038" cy="1538344"/>
          </a:xfrm>
          <a:prstGeom prst="roundRect">
            <a:avLst/>
          </a:prstGeom>
          <a:noFill/>
          <a:ln w="317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Carnaval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68978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Gráfico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393770"/>
              </p:ext>
            </p:extLst>
          </p:nvPr>
        </p:nvGraphicFramePr>
        <p:xfrm>
          <a:off x="265364" y="714053"/>
          <a:ext cx="7232400" cy="450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00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4</a:t>
              </a: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. </a:t>
              </a: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Indicadores: Total de Incidentes Médio</a:t>
              </a:r>
              <a:endParaRPr lang="pt-BR" sz="20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23/02.</a:t>
              </a: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3" name="Retângulo de cantos arredondados 12"/>
          <p:cNvSpPr>
            <a:spLocks noChangeAspect="1"/>
          </p:cNvSpPr>
          <p:nvPr/>
        </p:nvSpPr>
        <p:spPr>
          <a:xfrm>
            <a:off x="7525761" y="714053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Meta &lt; 13.076</a:t>
            </a:r>
          </a:p>
        </p:txBody>
      </p:sp>
      <p:sp>
        <p:nvSpPr>
          <p:cNvPr id="12" name="Retângulo de cantos arredondados 12"/>
          <p:cNvSpPr>
            <a:spLocks noChangeAspect="1"/>
          </p:cNvSpPr>
          <p:nvPr/>
        </p:nvSpPr>
        <p:spPr>
          <a:xfrm>
            <a:off x="7525761" y="1199778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Atual 9.603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295" y="2967653"/>
            <a:ext cx="1133954" cy="15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224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Gráfico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778036"/>
              </p:ext>
            </p:extLst>
          </p:nvPr>
        </p:nvGraphicFramePr>
        <p:xfrm>
          <a:off x="155603" y="612574"/>
          <a:ext cx="7232400" cy="450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" name="Agrupar 1"/>
          <p:cNvGrpSpPr/>
          <p:nvPr/>
        </p:nvGrpSpPr>
        <p:grpSpPr>
          <a:xfrm>
            <a:off x="1" y="108241"/>
            <a:ext cx="9144000" cy="5049962"/>
            <a:chOff x="1" y="98302"/>
            <a:chExt cx="9144000" cy="5049962"/>
          </a:xfrm>
        </p:grpSpPr>
        <p:sp>
          <p:nvSpPr>
            <p:cNvPr id="6" name="CaixaDeTexto 5"/>
            <p:cNvSpPr txBox="1"/>
            <p:nvPr/>
          </p:nvSpPr>
          <p:spPr>
            <a:xfrm>
              <a:off x="2039091" y="300128"/>
              <a:ext cx="184731" cy="461665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none" rtlCol="0">
              <a:spAutoFit/>
            </a:bodyPr>
            <a:lstStyle/>
            <a:p>
              <a:endParaRPr lang="pt-BR" sz="2400" dirty="0"/>
            </a:p>
          </p:txBody>
        </p:sp>
        <p:sp>
          <p:nvSpPr>
            <p:cNvPr id="20" name="Title 1"/>
            <p:cNvSpPr txBox="1">
              <a:spLocks/>
            </p:cNvSpPr>
            <p:nvPr/>
          </p:nvSpPr>
          <p:spPr>
            <a:xfrm>
              <a:off x="754515" y="98302"/>
              <a:ext cx="6254098" cy="5604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vert="horz" lIns="91440" tIns="45720" rIns="91440" bIns="45720" rtlCol="0" anchor="ctr">
              <a:normAutofit fontScale="70000" lnSpcReduction="2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buClr>
                  <a:srgbClr val="800000"/>
                </a:buClr>
              </a:pP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4</a:t>
              </a:r>
              <a:r>
                <a:rPr lang="pt-BR" sz="3200" b="1" dirty="0" smtClean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. </a:t>
              </a:r>
              <a:r>
                <a:rPr lang="pt-BR" sz="3200" b="1" dirty="0">
                  <a:solidFill>
                    <a:schemeClr val="tx2"/>
                  </a:solidFill>
                  <a:latin typeface="Arial" pitchFamily="34" charset="0"/>
                  <a:cs typeface="Arial" pitchFamily="34" charset="0"/>
                </a:rPr>
                <a:t>Indicadores: Total de Incidentes Baixo</a:t>
              </a: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Imagem 1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7919" y="2822883"/>
              <a:ext cx="247650" cy="176212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" name="CaixaDeTexto 2"/>
            <p:cNvSpPr txBox="1"/>
            <p:nvPr/>
          </p:nvSpPr>
          <p:spPr>
            <a:xfrm>
              <a:off x="1" y="4848225"/>
              <a:ext cx="5948978" cy="261610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14300" prst="artDeco"/>
              <a:bevelB/>
            </a:sp3d>
          </p:spPr>
          <p:txBody>
            <a:bodyPr wrap="square" rtlCol="0">
              <a:spAutoFit/>
            </a:bodyPr>
            <a:lstStyle/>
            <a:p>
              <a:pPr algn="just"/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Informações retiradas dos indicadores de SLA e </a:t>
              </a:r>
              <a:r>
                <a:rPr lang="pt-BR" sz="1100" dirty="0" err="1">
                  <a:solidFill>
                    <a:schemeClr val="bg1">
                      <a:lumMod val="65000"/>
                    </a:schemeClr>
                  </a:solidFill>
                </a:rPr>
                <a:t>tProcess</a:t>
              </a:r>
              <a:r>
                <a:rPr lang="pt-BR" sz="1100" dirty="0">
                  <a:solidFill>
                    <a:schemeClr val="bg1">
                      <a:lumMod val="65000"/>
                    </a:schemeClr>
                  </a:solidFill>
                </a:rPr>
                <a:t>! referentes ao período de 01 à 23/02.</a:t>
              </a:r>
            </a:p>
          </p:txBody>
        </p:sp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sp>
        <p:nvSpPr>
          <p:cNvPr id="14" name="Retângulo de cantos arredondados 12"/>
          <p:cNvSpPr>
            <a:spLocks noChangeAspect="1"/>
          </p:cNvSpPr>
          <p:nvPr/>
        </p:nvSpPr>
        <p:spPr>
          <a:xfrm>
            <a:off x="7525761" y="714053"/>
            <a:ext cx="1440000" cy="352000"/>
          </a:xfrm>
          <a:prstGeom prst="roundRect">
            <a:avLst/>
          </a:prstGeom>
          <a:solidFill>
            <a:srgbClr val="92D05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Meta &lt; 8.305</a:t>
            </a:r>
          </a:p>
        </p:txBody>
      </p:sp>
      <p:sp>
        <p:nvSpPr>
          <p:cNvPr id="15" name="Retângulo de cantos arredondados 12"/>
          <p:cNvSpPr>
            <a:spLocks noChangeAspect="1"/>
          </p:cNvSpPr>
          <p:nvPr/>
        </p:nvSpPr>
        <p:spPr>
          <a:xfrm>
            <a:off x="7525761" y="1199778"/>
            <a:ext cx="1440000" cy="352000"/>
          </a:xfrm>
          <a:prstGeom prst="roundRect">
            <a:avLst/>
          </a:prstGeom>
          <a:solidFill>
            <a:srgbClr val="0070C0"/>
          </a:solidFill>
          <a:scene3d>
            <a:camera prst="orthographicFront"/>
            <a:lightRig rig="flood" dir="t"/>
          </a:scene3d>
          <a:sp3d prstMaterial="matte">
            <a:bevelT w="114300" prst="artDeco"/>
            <a:bevelB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Atual 5.870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8283" y="2808646"/>
            <a:ext cx="1133954" cy="15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0398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/>
          <p:cNvGrpSpPr/>
          <p:nvPr/>
        </p:nvGrpSpPr>
        <p:grpSpPr>
          <a:xfrm>
            <a:off x="-1" y="-28222"/>
            <a:ext cx="9144002" cy="5150996"/>
            <a:chOff x="-1" y="2435"/>
            <a:chExt cx="9144002" cy="5150996"/>
          </a:xfrm>
        </p:grpSpPr>
        <p:grpSp>
          <p:nvGrpSpPr>
            <p:cNvPr id="2" name="Agrupar 1"/>
            <p:cNvGrpSpPr/>
            <p:nvPr/>
          </p:nvGrpSpPr>
          <p:grpSpPr>
            <a:xfrm>
              <a:off x="1763688" y="309780"/>
              <a:ext cx="7380313" cy="4843651"/>
              <a:chOff x="2039091" y="300128"/>
              <a:chExt cx="7104910" cy="4848136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462093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sz="24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graphicFrame>
        <p:nvGraphicFramePr>
          <p:cNvPr id="13" name="Gráfico 1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6418793"/>
              </p:ext>
            </p:extLst>
          </p:nvPr>
        </p:nvGraphicFramePr>
        <p:xfrm>
          <a:off x="1403648" y="961593"/>
          <a:ext cx="5976664" cy="4204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3" name="CaixaDeTexto 2"/>
          <p:cNvSpPr txBox="1"/>
          <p:nvPr/>
        </p:nvSpPr>
        <p:spPr>
          <a:xfrm>
            <a:off x="2976939" y="757947"/>
            <a:ext cx="3212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De 01 a 23 de Fevereiro de 2016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847271" y="95724"/>
            <a:ext cx="6254098" cy="5604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32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</a:t>
            </a:r>
            <a:r>
              <a:rPr lang="pt-BR" sz="32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Incidentes Resolvidos de Alto Impacto</a:t>
            </a:r>
            <a:endParaRPr lang="pt-BR" sz="32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10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/>
          <p:cNvGrpSpPr/>
          <p:nvPr/>
        </p:nvGrpSpPr>
        <p:grpSpPr>
          <a:xfrm>
            <a:off x="-1" y="-28222"/>
            <a:ext cx="9144002" cy="5150996"/>
            <a:chOff x="-1" y="2435"/>
            <a:chExt cx="9144002" cy="5150996"/>
          </a:xfrm>
        </p:grpSpPr>
        <p:grpSp>
          <p:nvGrpSpPr>
            <p:cNvPr id="2" name="Agrupar 1"/>
            <p:cNvGrpSpPr/>
            <p:nvPr/>
          </p:nvGrpSpPr>
          <p:grpSpPr>
            <a:xfrm>
              <a:off x="1763688" y="309780"/>
              <a:ext cx="7380313" cy="4843651"/>
              <a:chOff x="2039091" y="300128"/>
              <a:chExt cx="7104910" cy="4848136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462093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sz="24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sp>
        <p:nvSpPr>
          <p:cNvPr id="30" name="CaixaDeTexto 29"/>
          <p:cNvSpPr txBox="1"/>
          <p:nvPr/>
        </p:nvSpPr>
        <p:spPr>
          <a:xfrm>
            <a:off x="-1" y="4784220"/>
            <a:ext cx="2873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De 01 a 23 de Fevereiro de 2016</a:t>
            </a:r>
          </a:p>
        </p:txBody>
      </p:sp>
      <p:cxnSp>
        <p:nvCxnSpPr>
          <p:cNvPr id="18" name="Conector angulado 17"/>
          <p:cNvCxnSpPr/>
          <p:nvPr/>
        </p:nvCxnSpPr>
        <p:spPr>
          <a:xfrm rot="5400000">
            <a:off x="1455320" y="1656189"/>
            <a:ext cx="570162" cy="1253918"/>
          </a:xfrm>
          <a:prstGeom prst="bentConnector3">
            <a:avLst/>
          </a:prstGeom>
          <a:ln>
            <a:solidFill>
              <a:srgbClr val="184E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angulado 19"/>
          <p:cNvCxnSpPr/>
          <p:nvPr/>
        </p:nvCxnSpPr>
        <p:spPr>
          <a:xfrm rot="16200000" flipH="1">
            <a:off x="2604181" y="1761246"/>
            <a:ext cx="570158" cy="1043800"/>
          </a:xfrm>
          <a:prstGeom prst="bentConnector3">
            <a:avLst/>
          </a:prstGeom>
          <a:ln>
            <a:solidFill>
              <a:srgbClr val="184E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angulado 22"/>
          <p:cNvCxnSpPr/>
          <p:nvPr/>
        </p:nvCxnSpPr>
        <p:spPr>
          <a:xfrm rot="5400000">
            <a:off x="5965930" y="1813655"/>
            <a:ext cx="554293" cy="923116"/>
          </a:xfrm>
          <a:prstGeom prst="bentConnector3">
            <a:avLst/>
          </a:prstGeom>
          <a:ln>
            <a:solidFill>
              <a:srgbClr val="184E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rot="16200000" flipH="1">
            <a:off x="7032673" y="1670027"/>
            <a:ext cx="576064" cy="1232145"/>
          </a:xfrm>
          <a:prstGeom prst="bentConnector3">
            <a:avLst>
              <a:gd name="adj1" fmla="val 48110"/>
            </a:avLst>
          </a:prstGeom>
          <a:ln>
            <a:solidFill>
              <a:srgbClr val="184E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lipse 42"/>
          <p:cNvSpPr/>
          <p:nvPr/>
        </p:nvSpPr>
        <p:spPr>
          <a:xfrm>
            <a:off x="8845956" y="2779270"/>
            <a:ext cx="85875" cy="845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44" name="Elipse 43"/>
          <p:cNvSpPr/>
          <p:nvPr/>
        </p:nvSpPr>
        <p:spPr>
          <a:xfrm>
            <a:off x="6685716" y="2746612"/>
            <a:ext cx="85875" cy="845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45" name="Elipse 44"/>
          <p:cNvSpPr/>
          <p:nvPr/>
        </p:nvSpPr>
        <p:spPr>
          <a:xfrm>
            <a:off x="8976584" y="2779270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46" name="Elipse 45"/>
          <p:cNvSpPr/>
          <p:nvPr/>
        </p:nvSpPr>
        <p:spPr>
          <a:xfrm>
            <a:off x="6821827" y="2746612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graphicFrame>
        <p:nvGraphicFramePr>
          <p:cNvPr id="33" name="Objeto 32"/>
          <p:cNvGraphicFramePr>
            <a:graphicFrameLocks noChangeAspect="1"/>
          </p:cNvGraphicFramePr>
          <p:nvPr>
            <p:extLst/>
          </p:nvPr>
        </p:nvGraphicFramePr>
        <p:xfrm>
          <a:off x="1314848" y="845939"/>
          <a:ext cx="2105025" cy="1162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0" name="Planilha" r:id="rId7" imgW="2104999" imgH="1162064" progId="Excel.Sheet.12">
                  <p:embed/>
                </p:oleObj>
              </mc:Choice>
              <mc:Fallback>
                <p:oleObj name="Planilha" r:id="rId7" imgW="2104999" imgH="116206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314848" y="845939"/>
                        <a:ext cx="2105025" cy="1162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to 34"/>
          <p:cNvGraphicFramePr>
            <a:graphicFrameLocks noChangeAspect="1"/>
          </p:cNvGraphicFramePr>
          <p:nvPr>
            <p:extLst/>
          </p:nvPr>
        </p:nvGraphicFramePr>
        <p:xfrm>
          <a:off x="5652121" y="845939"/>
          <a:ext cx="2105025" cy="1162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1" name="Planilha" r:id="rId9" imgW="2104999" imgH="1162064" progId="Excel.Sheet.12">
                  <p:embed/>
                </p:oleObj>
              </mc:Choice>
              <mc:Fallback>
                <p:oleObj name="Planilha" r:id="rId9" imgW="2104999" imgH="116206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652121" y="845939"/>
                        <a:ext cx="2105025" cy="1162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to 36"/>
          <p:cNvGraphicFramePr>
            <a:graphicFrameLocks noChangeAspect="1"/>
          </p:cNvGraphicFramePr>
          <p:nvPr>
            <p:extLst/>
          </p:nvPr>
        </p:nvGraphicFramePr>
        <p:xfrm>
          <a:off x="291686" y="2552365"/>
          <a:ext cx="1789249" cy="17892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2" name="Planilha" r:id="rId11" imgW="2104999" imgH="2104942" progId="Excel.Sheet.12">
                  <p:embed/>
                </p:oleObj>
              </mc:Choice>
              <mc:Fallback>
                <p:oleObj name="Planilha" r:id="rId11" imgW="2104999" imgH="210494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91686" y="2552365"/>
                        <a:ext cx="1789249" cy="17892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Objeto 40"/>
          <p:cNvGraphicFramePr>
            <a:graphicFrameLocks noChangeAspect="1"/>
          </p:cNvGraphicFramePr>
          <p:nvPr>
            <p:extLst/>
          </p:nvPr>
        </p:nvGraphicFramePr>
        <p:xfrm>
          <a:off x="2555777" y="2552364"/>
          <a:ext cx="1789249" cy="14654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3" name="Planilha" r:id="rId13" imgW="2104999" imgH="1724066" progId="Excel.Sheet.12">
                  <p:embed/>
                </p:oleObj>
              </mc:Choice>
              <mc:Fallback>
                <p:oleObj name="Planilha" r:id="rId13" imgW="2104999" imgH="172406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555777" y="2552364"/>
                        <a:ext cx="1789249" cy="14654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to 46"/>
          <p:cNvGraphicFramePr>
            <a:graphicFrameLocks noChangeAspect="1"/>
          </p:cNvGraphicFramePr>
          <p:nvPr>
            <p:extLst/>
          </p:nvPr>
        </p:nvGraphicFramePr>
        <p:xfrm>
          <a:off x="4870984" y="2552365"/>
          <a:ext cx="1789249" cy="17892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4" name="Planilha" r:id="rId15" imgW="2104999" imgH="2104942" progId="Excel.Sheet.12">
                  <p:embed/>
                </p:oleObj>
              </mc:Choice>
              <mc:Fallback>
                <p:oleObj name="Planilha" r:id="rId15" imgW="2104999" imgH="210494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870984" y="2552365"/>
                        <a:ext cx="1789249" cy="17892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" name="Elipse 61"/>
          <p:cNvSpPr/>
          <p:nvPr/>
        </p:nvSpPr>
        <p:spPr>
          <a:xfrm>
            <a:off x="6699583" y="3081523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63" name="Elipse 62"/>
          <p:cNvSpPr/>
          <p:nvPr/>
        </p:nvSpPr>
        <p:spPr>
          <a:xfrm>
            <a:off x="6702472" y="3400894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64" name="Elipse 63"/>
          <p:cNvSpPr/>
          <p:nvPr/>
        </p:nvSpPr>
        <p:spPr>
          <a:xfrm>
            <a:off x="6711754" y="4041929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66" name="Elipse 65"/>
          <p:cNvSpPr/>
          <p:nvPr/>
        </p:nvSpPr>
        <p:spPr>
          <a:xfrm>
            <a:off x="8852277" y="3273694"/>
            <a:ext cx="85875" cy="845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graphicFrame>
        <p:nvGraphicFramePr>
          <p:cNvPr id="51" name="Objeto 50"/>
          <p:cNvGraphicFramePr>
            <a:graphicFrameLocks noChangeAspect="1"/>
          </p:cNvGraphicFramePr>
          <p:nvPr>
            <p:extLst/>
          </p:nvPr>
        </p:nvGraphicFramePr>
        <p:xfrm>
          <a:off x="7047126" y="2552364"/>
          <a:ext cx="1789249" cy="14654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595" name="Planilha" r:id="rId17" imgW="2104999" imgH="1724066" progId="Excel.Sheet.12">
                  <p:embed/>
                </p:oleObj>
              </mc:Choice>
              <mc:Fallback>
                <p:oleObj name="Planilha" r:id="rId17" imgW="2104999" imgH="172406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047126" y="2552364"/>
                        <a:ext cx="1789249" cy="14654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9" name="Elipse 68"/>
          <p:cNvSpPr/>
          <p:nvPr/>
        </p:nvSpPr>
        <p:spPr>
          <a:xfrm>
            <a:off x="6156177" y="4577789"/>
            <a:ext cx="85875" cy="845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70" name="Elipse 69"/>
          <p:cNvSpPr/>
          <p:nvPr/>
        </p:nvSpPr>
        <p:spPr>
          <a:xfrm>
            <a:off x="7085769" y="4577789"/>
            <a:ext cx="85875" cy="845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pt-BR"/>
          </a:p>
        </p:txBody>
      </p:sp>
      <p:sp>
        <p:nvSpPr>
          <p:cNvPr id="52" name="CaixaDeTexto 51"/>
          <p:cNvSpPr txBox="1"/>
          <p:nvPr/>
        </p:nvSpPr>
        <p:spPr>
          <a:xfrm>
            <a:off x="6234734" y="4480248"/>
            <a:ext cx="641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Projeto</a:t>
            </a:r>
          </a:p>
        </p:txBody>
      </p:sp>
      <p:sp>
        <p:nvSpPr>
          <p:cNvPr id="72" name="CaixaDeTexto 71"/>
          <p:cNvSpPr txBox="1"/>
          <p:nvPr/>
        </p:nvSpPr>
        <p:spPr>
          <a:xfrm>
            <a:off x="7169880" y="4476423"/>
            <a:ext cx="786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Problema</a:t>
            </a:r>
          </a:p>
        </p:txBody>
      </p:sp>
      <p:sp>
        <p:nvSpPr>
          <p:cNvPr id="32" name="Title 1"/>
          <p:cNvSpPr txBox="1">
            <a:spLocks/>
          </p:cNvSpPr>
          <p:nvPr/>
        </p:nvSpPr>
        <p:spPr>
          <a:xfrm>
            <a:off x="1098824" y="-28847"/>
            <a:ext cx="6254098" cy="5604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32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</a:t>
            </a:r>
            <a:r>
              <a:rPr lang="pt-BR" sz="32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Incidentes Resolvidos de Alto Impacto</a:t>
            </a:r>
            <a:endParaRPr lang="pt-BR" sz="32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35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/>
          <p:cNvGrpSpPr/>
          <p:nvPr/>
        </p:nvGrpSpPr>
        <p:grpSpPr>
          <a:xfrm>
            <a:off x="-1" y="-28222"/>
            <a:ext cx="9144002" cy="5150996"/>
            <a:chOff x="-1" y="2435"/>
            <a:chExt cx="9144002" cy="5150996"/>
          </a:xfrm>
        </p:grpSpPr>
        <p:grpSp>
          <p:nvGrpSpPr>
            <p:cNvPr id="2" name="Agrupar 1"/>
            <p:cNvGrpSpPr/>
            <p:nvPr/>
          </p:nvGrpSpPr>
          <p:grpSpPr>
            <a:xfrm>
              <a:off x="1763688" y="309780"/>
              <a:ext cx="7380313" cy="4843651"/>
              <a:chOff x="2039091" y="300128"/>
              <a:chExt cx="7104910" cy="4848136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462093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sz="24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sp>
        <p:nvSpPr>
          <p:cNvPr id="17" name="CaixaDeTexto 16"/>
          <p:cNvSpPr txBox="1"/>
          <p:nvPr/>
        </p:nvSpPr>
        <p:spPr>
          <a:xfrm>
            <a:off x="32170" y="4754897"/>
            <a:ext cx="2873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De 01 a 23 de Fevereiro de 2016</a:t>
            </a:r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/>
          </p:nvPr>
        </p:nvGraphicFramePr>
        <p:xfrm>
          <a:off x="762770" y="1331120"/>
          <a:ext cx="3305175" cy="2486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78" name="Planilha" r:id="rId7" imgW="3305156" imgH="2486088" progId="Excel.Sheet.12">
                  <p:embed/>
                </p:oleObj>
              </mc:Choice>
              <mc:Fallback>
                <p:oleObj name="Planilha" r:id="rId7" imgW="3305156" imgH="248608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62770" y="1331120"/>
                        <a:ext cx="3305175" cy="2486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>
            <p:extLst/>
          </p:nvPr>
        </p:nvGraphicFramePr>
        <p:xfrm>
          <a:off x="5292799" y="1712120"/>
          <a:ext cx="3048000" cy="172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79" name="Planilha" r:id="rId9" imgW="3047902" imgH="1724066" progId="Excel.Sheet.12">
                  <p:embed/>
                </p:oleObj>
              </mc:Choice>
              <mc:Fallback>
                <p:oleObj name="Planilha" r:id="rId9" imgW="3047902" imgH="172406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292799" y="1712120"/>
                        <a:ext cx="3048000" cy="172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m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077" y="185173"/>
            <a:ext cx="6346486" cy="60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959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/>
          <p:cNvGrpSpPr/>
          <p:nvPr/>
        </p:nvGrpSpPr>
        <p:grpSpPr>
          <a:xfrm>
            <a:off x="-1" y="-28222"/>
            <a:ext cx="9144002" cy="5150996"/>
            <a:chOff x="-1" y="2435"/>
            <a:chExt cx="9144002" cy="5150996"/>
          </a:xfrm>
        </p:grpSpPr>
        <p:grpSp>
          <p:nvGrpSpPr>
            <p:cNvPr id="2" name="Agrupar 1"/>
            <p:cNvGrpSpPr/>
            <p:nvPr/>
          </p:nvGrpSpPr>
          <p:grpSpPr>
            <a:xfrm>
              <a:off x="1763688" y="309780"/>
              <a:ext cx="7380313" cy="4843651"/>
              <a:chOff x="2039091" y="300128"/>
              <a:chExt cx="7104910" cy="4848136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462093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sz="24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pic>
        <p:nvPicPr>
          <p:cNvPr id="7169" name="Picture 1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116" y="917948"/>
            <a:ext cx="2424326" cy="2109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530" y="917947"/>
            <a:ext cx="2424326" cy="16907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804" y="917946"/>
            <a:ext cx="2424326" cy="12715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116" y="3454225"/>
            <a:ext cx="2424326" cy="9921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530" y="3454226"/>
            <a:ext cx="2424326" cy="712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4" name="Picture 6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804" y="3454226"/>
            <a:ext cx="2424326" cy="4331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CaixaDeTexto 21"/>
          <p:cNvSpPr txBox="1"/>
          <p:nvPr/>
        </p:nvSpPr>
        <p:spPr>
          <a:xfrm>
            <a:off x="-16768" y="4765780"/>
            <a:ext cx="2873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De 01 a 23 de Fevereiro de 2016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8368" y="126565"/>
            <a:ext cx="6346486" cy="60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01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6. Vulnerabilidades Mapeadas</a:t>
            </a:r>
            <a:endParaRPr lang="pt-BR" sz="16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4337" name="Picture 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92" y="457179"/>
            <a:ext cx="6235583" cy="45977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2652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Vulnerabilidades Mapeadas</a:t>
            </a:r>
            <a:endParaRPr lang="pt-BR" sz="16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752" y="586965"/>
            <a:ext cx="7350089" cy="44152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77018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Vulnerabilidades Mapeadas</a:t>
            </a:r>
            <a:endParaRPr lang="pt-BR" sz="16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21" y="544449"/>
            <a:ext cx="6576272" cy="45081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08331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629" y="72274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13849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2179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-14516"/>
            <a:ext cx="6562970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4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Vulnerabilidades Mapeadas</a:t>
            </a:r>
            <a:endParaRPr lang="pt-BR" sz="16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7409" name="Picture 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4" y="790784"/>
            <a:ext cx="8086725" cy="1628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8844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Processo revisão de Incidentes de Médio Impacto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de cantos arredondados 14"/>
          <p:cNvSpPr/>
          <p:nvPr/>
        </p:nvSpPr>
        <p:spPr>
          <a:xfrm>
            <a:off x="423746" y="1454901"/>
            <a:ext cx="8242583" cy="2767652"/>
          </a:xfrm>
          <a:prstGeom prst="roundRect">
            <a:avLst/>
          </a:prstGeom>
          <a:noFill/>
          <a:ln>
            <a:solidFill>
              <a:srgbClr val="002060"/>
            </a:solidFill>
          </a:ln>
          <a:scene3d>
            <a:camera prst="orthographicFront"/>
            <a:lightRig rig="threePt" dir="t"/>
          </a:scene3d>
          <a:sp3d>
            <a:bevelB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Courier New" panose="02070309020205020404" pitchFamily="49" charset="0"/>
              <a:buChar char="o"/>
            </a:pPr>
            <a:r>
              <a:rPr lang="pt-BR" b="1" dirty="0">
                <a:solidFill>
                  <a:srgbClr val="002060"/>
                </a:solidFill>
              </a:rPr>
              <a:t>Identificar</a:t>
            </a:r>
            <a:r>
              <a:rPr lang="pt-BR" dirty="0">
                <a:solidFill>
                  <a:srgbClr val="002060"/>
                </a:solidFill>
              </a:rPr>
              <a:t>, pela </a:t>
            </a:r>
            <a:r>
              <a:rPr lang="pt-BR" dirty="0" smtClean="0">
                <a:solidFill>
                  <a:srgbClr val="002060"/>
                </a:solidFill>
              </a:rPr>
              <a:t>manhã ou ao final do dia, </a:t>
            </a:r>
            <a:r>
              <a:rPr lang="pt-BR" b="1" dirty="0">
                <a:solidFill>
                  <a:srgbClr val="002060"/>
                </a:solidFill>
              </a:rPr>
              <a:t>todos os incidentes que afetam operações</a:t>
            </a:r>
            <a:r>
              <a:rPr lang="pt-BR" dirty="0">
                <a:solidFill>
                  <a:srgbClr val="002060"/>
                </a:solidFill>
              </a:rPr>
              <a:t> de clientes </a:t>
            </a:r>
            <a:r>
              <a:rPr lang="pt-BR" dirty="0" smtClean="0">
                <a:solidFill>
                  <a:srgbClr val="002060"/>
                </a:solidFill>
              </a:rPr>
              <a:t>que </a:t>
            </a:r>
            <a:r>
              <a:rPr lang="pt-BR" b="1" dirty="0">
                <a:solidFill>
                  <a:srgbClr val="002060"/>
                </a:solidFill>
              </a:rPr>
              <a:t>já superaram ou superarão </a:t>
            </a:r>
            <a:r>
              <a:rPr lang="pt-BR" dirty="0" smtClean="0">
                <a:solidFill>
                  <a:srgbClr val="002060"/>
                </a:solidFill>
              </a:rPr>
              <a:t>mais </a:t>
            </a:r>
            <a:r>
              <a:rPr lang="pt-BR" dirty="0">
                <a:solidFill>
                  <a:srgbClr val="002060"/>
                </a:solidFill>
              </a:rPr>
              <a:t>de 24 horas desde o </a:t>
            </a:r>
            <a:r>
              <a:rPr lang="pt-BR" dirty="0" smtClean="0">
                <a:solidFill>
                  <a:srgbClr val="002060"/>
                </a:solidFill>
              </a:rPr>
              <a:t>registro.</a:t>
            </a:r>
          </a:p>
          <a:p>
            <a:pPr marL="285750" indent="-285750" algn="just">
              <a:buFont typeface="Courier New" panose="02070309020205020404" pitchFamily="49" charset="0"/>
              <a:buChar char="o"/>
            </a:pPr>
            <a:endParaRPr lang="pt-BR" dirty="0" smtClean="0">
              <a:solidFill>
                <a:srgbClr val="002060"/>
              </a:solidFill>
            </a:endParaRPr>
          </a:p>
          <a:p>
            <a:pPr marL="285750" lvl="0" indent="-285750" algn="just">
              <a:buFont typeface="Courier New" panose="02070309020205020404" pitchFamily="49" charset="0"/>
              <a:buChar char="o"/>
            </a:pPr>
            <a:r>
              <a:rPr lang="pt-BR" dirty="0">
                <a:solidFill>
                  <a:srgbClr val="002060"/>
                </a:solidFill>
              </a:rPr>
              <a:t>Alertar os responsáveis pelos incidentes para que </a:t>
            </a:r>
            <a:r>
              <a:rPr lang="pt-BR" b="1" dirty="0">
                <a:solidFill>
                  <a:srgbClr val="002060"/>
                </a:solidFill>
              </a:rPr>
              <a:t>reavaliem os atributos (categoria, impacto...) e decidam se deve haver escalada hierárquica</a:t>
            </a:r>
            <a:r>
              <a:rPr lang="pt-BR" dirty="0">
                <a:solidFill>
                  <a:srgbClr val="002060"/>
                </a:solidFill>
              </a:rPr>
              <a:t>, de modo a não permitir que nenhum incidente que afete a operação de clientes permaneça sem acompanhamento apenas por ter sido categorizado </a:t>
            </a:r>
            <a:r>
              <a:rPr lang="pt-BR" dirty="0" smtClean="0">
                <a:solidFill>
                  <a:srgbClr val="002060"/>
                </a:solidFill>
              </a:rPr>
              <a:t>na origem com </a:t>
            </a:r>
            <a:r>
              <a:rPr lang="pt-BR" dirty="0">
                <a:solidFill>
                  <a:srgbClr val="002060"/>
                </a:solidFill>
              </a:rPr>
              <a:t>baixo ou médio impacto</a:t>
            </a:r>
            <a:r>
              <a:rPr lang="pt-BR" dirty="0" smtClean="0">
                <a:solidFill>
                  <a:srgbClr val="002060"/>
                </a:solidFill>
              </a:rPr>
              <a:t>.</a:t>
            </a:r>
            <a:endParaRPr lang="pt-BR" sz="2000" b="1" dirty="0">
              <a:solidFill>
                <a:srgbClr val="002060"/>
              </a:solidFill>
            </a:endParaRPr>
          </a:p>
        </p:txBody>
      </p:sp>
      <p:sp>
        <p:nvSpPr>
          <p:cNvPr id="13" name="CaixaDeTexto 12"/>
          <p:cNvSpPr txBox="1"/>
          <p:nvPr/>
        </p:nvSpPr>
        <p:spPr>
          <a:xfrm rot="21179128">
            <a:off x="2888867" y="4445741"/>
            <a:ext cx="5479355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t-BR" b="1" dirty="0" smtClean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Dinâmica proposta sob análise de viabilidade.</a:t>
            </a:r>
            <a:endParaRPr lang="pt-BR" b="1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468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/>
          <p:cNvGrpSpPr/>
          <p:nvPr/>
        </p:nvGrpSpPr>
        <p:grpSpPr>
          <a:xfrm>
            <a:off x="-1" y="-28222"/>
            <a:ext cx="9144002" cy="5150996"/>
            <a:chOff x="-1" y="2435"/>
            <a:chExt cx="9144002" cy="5150996"/>
          </a:xfrm>
        </p:grpSpPr>
        <p:grpSp>
          <p:nvGrpSpPr>
            <p:cNvPr id="2" name="Agrupar 1"/>
            <p:cNvGrpSpPr/>
            <p:nvPr/>
          </p:nvGrpSpPr>
          <p:grpSpPr>
            <a:xfrm>
              <a:off x="1763688" y="309780"/>
              <a:ext cx="7380313" cy="4843651"/>
              <a:chOff x="2039091" y="300128"/>
              <a:chExt cx="7104910" cy="4848136"/>
            </a:xfrm>
          </p:grpSpPr>
          <p:sp>
            <p:nvSpPr>
              <p:cNvPr id="6" name="CaixaDeTexto 5"/>
              <p:cNvSpPr txBox="1"/>
              <p:nvPr/>
            </p:nvSpPr>
            <p:spPr>
              <a:xfrm>
                <a:off x="2039091" y="300128"/>
                <a:ext cx="184731" cy="462093"/>
              </a:xfrm>
              <a:prstGeom prst="rect">
                <a:avLst/>
              </a:prstGeom>
              <a:noFill/>
              <a:scene3d>
                <a:camera prst="orthographicFront"/>
                <a:lightRig rig="threePt" dir="t"/>
              </a:scene3d>
              <a:sp3d>
                <a:bevelT w="114300" prst="artDeco"/>
                <a:bevelB/>
              </a:sp3d>
            </p:spPr>
            <p:txBody>
              <a:bodyPr wrap="none" rtlCol="0">
                <a:spAutoFit/>
              </a:bodyPr>
              <a:lstStyle/>
              <a:p>
                <a:endParaRPr lang="pt-BR" sz="24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780" t="78172" r="18395" b="12686"/>
              <a:stretch/>
            </p:blipFill>
            <p:spPr bwMode="auto">
              <a:xfrm>
                <a:off x="8188658" y="4384319"/>
                <a:ext cx="955343" cy="763945"/>
              </a:xfrm>
              <a:prstGeom prst="rect">
                <a:avLst/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2435"/>
              <a:ext cx="928369" cy="913131"/>
            </a:xfrm>
            <a:prstGeom prst="rect">
              <a:avLst/>
            </a:prstGeom>
          </p:spPr>
        </p:pic>
        <p:pic>
          <p:nvPicPr>
            <p:cNvPr id="26" name="Picture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0272" y="201819"/>
              <a:ext cx="1866343" cy="338794"/>
            </a:xfrm>
            <a:prstGeom prst="rect">
              <a:avLst/>
            </a:prstGeom>
          </p:spPr>
        </p:pic>
      </p:grpSp>
      <p:sp>
        <p:nvSpPr>
          <p:cNvPr id="21" name="CaixaDeTexto 20"/>
          <p:cNvSpPr txBox="1"/>
          <p:nvPr/>
        </p:nvSpPr>
        <p:spPr>
          <a:xfrm>
            <a:off x="923120" y="444375"/>
            <a:ext cx="3123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Incidentes </a:t>
            </a:r>
            <a:r>
              <a:rPr lang="pt-BR" dirty="0"/>
              <a:t>Críticos e Muito Alto</a:t>
            </a:r>
          </a:p>
        </p:txBody>
      </p:sp>
      <p:graphicFrame>
        <p:nvGraphicFramePr>
          <p:cNvPr id="3" name="Diagrama 2"/>
          <p:cNvGraphicFramePr/>
          <p:nvPr>
            <p:extLst/>
          </p:nvPr>
        </p:nvGraphicFramePr>
        <p:xfrm>
          <a:off x="323528" y="3096767"/>
          <a:ext cx="9937104" cy="1709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graphicFrame>
        <p:nvGraphicFramePr>
          <p:cNvPr id="10" name="Diagrama 9"/>
          <p:cNvGraphicFramePr/>
          <p:nvPr>
            <p:extLst/>
          </p:nvPr>
        </p:nvGraphicFramePr>
        <p:xfrm>
          <a:off x="438217" y="1152551"/>
          <a:ext cx="8424936" cy="14935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1" r:lo="rId12" r:qs="rId13" r:cs="rId14"/>
          </a:graphicData>
        </a:graphic>
      </p:graphicFrame>
      <p:sp>
        <p:nvSpPr>
          <p:cNvPr id="5" name="CaixaDeTexto 4"/>
          <p:cNvSpPr txBox="1"/>
          <p:nvPr/>
        </p:nvSpPr>
        <p:spPr>
          <a:xfrm>
            <a:off x="3779914" y="773931"/>
            <a:ext cx="1728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i="1" dirty="0"/>
              <a:t>Comunicação</a:t>
            </a:r>
          </a:p>
        </p:txBody>
      </p:sp>
      <p:sp>
        <p:nvSpPr>
          <p:cNvPr id="18" name="CaixaDeTexto 17"/>
          <p:cNvSpPr txBox="1"/>
          <p:nvPr/>
        </p:nvSpPr>
        <p:spPr>
          <a:xfrm>
            <a:off x="3788298" y="2934171"/>
            <a:ext cx="200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i="1" dirty="0"/>
              <a:t>Escalonamento</a:t>
            </a:r>
          </a:p>
        </p:txBody>
      </p:sp>
      <p:sp>
        <p:nvSpPr>
          <p:cNvPr id="13" name="Title 1"/>
          <p:cNvSpPr txBox="1">
            <a:spLocks/>
          </p:cNvSpPr>
          <p:nvPr/>
        </p:nvSpPr>
        <p:spPr>
          <a:xfrm>
            <a:off x="566655" y="34010"/>
            <a:ext cx="6254098" cy="5604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32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8</a:t>
            </a:r>
            <a:r>
              <a:rPr lang="pt-BR" sz="32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Plano de Comunicação e Escalonamento</a:t>
            </a:r>
            <a:endParaRPr lang="pt-BR" sz="32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467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Projetos Estruturantes e Especiais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2" y="1009380"/>
            <a:ext cx="8965477" cy="357154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5" name="Retângulo de cantos arredondados 14"/>
          <p:cNvSpPr/>
          <p:nvPr/>
        </p:nvSpPr>
        <p:spPr>
          <a:xfrm>
            <a:off x="90312" y="3646944"/>
            <a:ext cx="2160762" cy="4309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542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Proj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pt-BR" sz="2800" b="1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Aspect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7.3 (infra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) System 1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1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Configuração dos UMS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21121" y="879118"/>
            <a:ext cx="2716382" cy="978810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7.3 (infra)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04-03-2016</a:t>
            </a:r>
          </a:p>
          <a:p>
            <a:r>
              <a:rPr lang="pt-BR" sz="1200" i="1" dirty="0" smtClean="0"/>
              <a:t>Progresso: 75%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Luiz </a:t>
            </a:r>
            <a:r>
              <a:rPr lang="pt-BR" sz="1200" i="1" dirty="0" smtClean="0"/>
              <a:t>Washington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0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Realizada a validação da Plataforma (APEA) – identificado ajustes que devem ser feitos.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Conclusão dos ajustes previsto para 26/02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/>
              </a:solidFill>
            </a:endParaRPr>
          </a:p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1"/>
            <a:ext cx="2700000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  <a:endParaRPr lang="pt-BR" sz="12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Observação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Mesmo com a conclusão dos ajustes da plataforma,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não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poderemos colocar o ambiente em produção devido a limitações de memória e disco,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está agendada uma reunião entre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Engenharia e CSE para definirmos quais ações deverão ser tomadas para resolver estas limitações.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Versão 8.1 x Versão 8.0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089903" y="923882"/>
            <a:ext cx="5630497" cy="934045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Este projeto tem como escopo, preparar/adequar toda 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infra de HW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instalar a versão 7.3 do </a:t>
            </a:r>
            <a:r>
              <a:rPr lang="pt-BR" sz="14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para 2000 </a:t>
            </a:r>
            <a:r>
              <a:rPr lang="pt-BR" sz="14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</a:t>
            </a:r>
            <a:endParaRPr lang="pt-BR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4" name="Group 34"/>
          <p:cNvGrpSpPr>
            <a:grpSpLocks/>
          </p:cNvGrpSpPr>
          <p:nvPr/>
        </p:nvGrpSpPr>
        <p:grpSpPr bwMode="auto">
          <a:xfrm>
            <a:off x="2592250" y="1478345"/>
            <a:ext cx="274638" cy="274638"/>
            <a:chOff x="0" y="0"/>
            <a:chExt cx="173" cy="173"/>
          </a:xfrm>
        </p:grpSpPr>
        <p:sp>
          <p:nvSpPr>
            <p:cNvPr id="25" name="Arc 35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6" name="Arc 36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7" name="Arc 37"/>
            <p:cNvSpPr>
              <a:spLocks/>
            </p:cNvSpPr>
            <p:nvPr/>
          </p:nvSpPr>
          <p:spPr bwMode="auto">
            <a:xfrm>
              <a:off x="86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8" name="Arc 38"/>
            <p:cNvSpPr>
              <a:spLocks/>
            </p:cNvSpPr>
            <p:nvPr/>
          </p:nvSpPr>
          <p:spPr bwMode="auto">
            <a:xfrm flipH="1">
              <a:off x="0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9" name="Arc 39"/>
            <p:cNvSpPr>
              <a:spLocks/>
            </p:cNvSpPr>
            <p:nvPr/>
          </p:nvSpPr>
          <p:spPr bwMode="auto">
            <a:xfrm flipH="1">
              <a:off x="25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30" name="Oval 40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31" name="Arc 41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8358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Migração Polo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Aspect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BH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1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Elaborado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cronograma preliminar que será  submetido a Operação, Planejamento e Equipe de Aplicações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21121" y="879118"/>
            <a:ext cx="2716382" cy="978810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Migração Polo BH</a:t>
            </a:r>
          </a:p>
          <a:p>
            <a:r>
              <a:rPr lang="pt-BR" sz="1200" i="1" dirty="0" smtClean="0"/>
              <a:t>Data Inicio: 19-02-2016</a:t>
            </a:r>
          </a:p>
          <a:p>
            <a:r>
              <a:rPr lang="pt-BR" sz="1200" i="1" dirty="0" smtClean="0"/>
              <a:t>Data Conclusão: 20-05-2016</a:t>
            </a:r>
          </a:p>
          <a:p>
            <a:r>
              <a:rPr lang="pt-BR" sz="1200" i="1" dirty="0" smtClean="0"/>
              <a:t>Progresso: 5%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Leonardo Marques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0"/>
            <a:ext cx="2716382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Definido a data objetivo.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Efetuado mapeamento de necessidades com as operações, planejamento e a fabrica.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Contatado os fornecedores para receber propostas.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/>
              </a:solidFill>
            </a:endParaRPr>
          </a:p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1"/>
            <a:ext cx="2700000" cy="284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  <a:endParaRPr lang="pt-BR" sz="12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Pontos de Atenção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das datas de migração das Operações.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Contratação de troncos.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</a:t>
            </a:r>
          </a:p>
          <a:p>
            <a:pPr marL="742950" lvl="2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Prazo para aprovação de treinamento (estimativa 160K).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089903" y="923882"/>
            <a:ext cx="5630497" cy="934045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Migrar as Operações que estão no Polo </a:t>
            </a:r>
            <a:r>
              <a:rPr lang="pt-BR" sz="14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BH para o Polo </a:t>
            </a:r>
            <a:r>
              <a:rPr lang="pt-BR" sz="14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Aspect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7.3 (Datacenter)</a:t>
            </a:r>
            <a:endParaRPr lang="pt-BR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3043" y="1548975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75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Gravação (Nice) TAM e VIVO 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Aguardamos a entrega dos 12 HDs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860528"/>
            <a:ext cx="3064339" cy="9974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Gravacao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(NICE) TAM e 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VIVO </a:t>
            </a: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25-03-2016</a:t>
            </a:r>
          </a:p>
          <a:p>
            <a:r>
              <a:rPr lang="pt-BR" sz="1200" i="1" dirty="0" smtClean="0"/>
              <a:t>Progresso: 26%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Recebemos o numero do pedido de Suprimentos.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Processo de compras demorado.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rgbClr val="FF0000"/>
                </a:solidFill>
              </a:rPr>
              <a:t>SC 775 -  A equipe de suprimentos/</a:t>
            </a:r>
            <a:r>
              <a:rPr lang="pt-BR" sz="1200" dirty="0" err="1">
                <a:solidFill>
                  <a:srgbClr val="FF0000"/>
                </a:solidFill>
              </a:rPr>
              <a:t>Aquanima</a:t>
            </a:r>
            <a:r>
              <a:rPr lang="pt-BR" sz="1200" dirty="0">
                <a:solidFill>
                  <a:srgbClr val="FF0000"/>
                </a:solidFill>
              </a:rPr>
              <a:t>  esta alinhando a entrega dos equipamentos com o fornecedor em </a:t>
            </a:r>
            <a:r>
              <a:rPr lang="pt-BR" sz="1200" dirty="0" smtClean="0">
                <a:solidFill>
                  <a:srgbClr val="FF0000"/>
                </a:solidFill>
              </a:rPr>
              <a:t>30 dias.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874284"/>
            <a:ext cx="5338175" cy="983644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Este projeto tem como escopo, adequar infra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 HW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instalar 3K </a:t>
            </a:r>
            <a:r>
              <a:rPr lang="pt-BR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licenças de gravação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atualmente sem uso. </a:t>
            </a:r>
            <a:endParaRPr lang="pt-BR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2503" y="1511828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482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9. Projeto: Monitoração Dell – Open Manager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Submetido o chamado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“abertura”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Vlans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para permitir o cadastro de equipamentos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área de segurança detectou necessidade de homologar SW da Dell.</a:t>
            </a: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17834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Monitoração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(Dell-Open Manager)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23-04-2016</a:t>
            </a:r>
          </a:p>
          <a:p>
            <a:r>
              <a:rPr lang="pt-BR" sz="1200" i="1" dirty="0" smtClean="0"/>
              <a:t>Progresso: 61%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Júlio Cesar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Documentação SW submetida para parecer da área de segurança. Data....  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Demora ou recusa na homologação.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para eliminar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3609" y="1548974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01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Monitoração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Zabbix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rgbClr val="00B050"/>
                </a:solidFill>
              </a:rPr>
              <a:t>SC 750 - pedido emitido 2678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Nova data de conclusão do projeto 22 de Abril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Monitoração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Zabbix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19-10-2015</a:t>
            </a:r>
          </a:p>
          <a:p>
            <a:r>
              <a:rPr lang="pt-BR" sz="1200" i="1" dirty="0" smtClean="0"/>
              <a:t>Data Conclusão: 22-04-2016</a:t>
            </a:r>
          </a:p>
          <a:p>
            <a:r>
              <a:rPr lang="pt-BR" sz="1200" i="1" dirty="0" smtClean="0"/>
              <a:t>Progresso: 49%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smtClean="0"/>
              <a:t>Júlio Cesar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Continuação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cadastro </a:t>
            </a:r>
            <a:r>
              <a:rPr lang="pt-BR" sz="1200" u="sng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pontual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equipamentos.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Risco: Perda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proficiência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na ferramenta for falta de treinamento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e elimina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48974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62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Redundância links MPLS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Foi realizado com sucesso o teste de redundância de MPLS no site Navegantes (GMUD 19350)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Redundância links MPLS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01-12-2015</a:t>
            </a:r>
          </a:p>
          <a:p>
            <a:r>
              <a:rPr lang="pt-BR" sz="1200" i="1" dirty="0" smtClean="0"/>
              <a:t>Data Conclusão: 11-04-2016</a:t>
            </a:r>
          </a:p>
          <a:p>
            <a:r>
              <a:rPr lang="pt-BR" sz="1200" i="1" dirty="0" smtClean="0"/>
              <a:t>Progresso: 21%</a:t>
            </a:r>
          </a:p>
          <a:p>
            <a:r>
              <a:rPr lang="pt-BR" sz="1200" i="1" dirty="0" smtClean="0"/>
              <a:t>PM: </a:t>
            </a:r>
            <a:r>
              <a:rPr lang="pt-BR" sz="1200" i="1" dirty="0" err="1" smtClean="0"/>
              <a:t>Luis</a:t>
            </a:r>
            <a:r>
              <a:rPr lang="pt-BR" sz="1200" i="1" dirty="0" smtClean="0"/>
              <a:t> Marçal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 site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Navegantes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 dia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18 de Fevereiro vai ser efetuada a correção /configuração nos equipamentos da VIVO para 400MB (GMUD 19412)</a:t>
            </a: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Foi detectado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que a banda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contratada </a:t>
            </a:r>
            <a:r>
              <a:rPr lang="pt-BR" sz="1200" dirty="0" smtClean="0">
                <a:solidFill>
                  <a:srgbClr val="FF0000"/>
                </a:solidFill>
              </a:rPr>
              <a:t>(</a:t>
            </a:r>
            <a:r>
              <a:rPr lang="pt-BR" sz="1200" dirty="0">
                <a:solidFill>
                  <a:srgbClr val="FF0000"/>
                </a:solidFill>
              </a:rPr>
              <a:t>25-06-2015</a:t>
            </a:r>
            <a:r>
              <a:rPr lang="pt-BR" sz="1200" dirty="0" smtClean="0">
                <a:solidFill>
                  <a:srgbClr val="FF0000"/>
                </a:solidFill>
              </a:rPr>
              <a:t>)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para o link MPLS VIVO no Site Navegante é 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400MB.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Atualmente os equipamentos estão configurados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para 100MB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/>
              <a:t>Para </a:t>
            </a:r>
            <a:r>
              <a:rPr lang="pt-BR" sz="1400" dirty="0"/>
              <a:t>dar </a:t>
            </a:r>
            <a:r>
              <a:rPr lang="pt-BR" sz="1400" b="1" dirty="0"/>
              <a:t>resposta imediata </a:t>
            </a:r>
            <a:r>
              <a:rPr lang="pt-BR" sz="1400" dirty="0"/>
              <a:t>a situações recorrentes de incidentes, relacionados com a perda de </a:t>
            </a:r>
            <a:r>
              <a:rPr lang="pt-BR" sz="1400" b="1" dirty="0"/>
              <a:t>Links </a:t>
            </a:r>
            <a:r>
              <a:rPr lang="pt-BR" sz="1400" dirty="0"/>
              <a:t>que interligam os sites da Contax, </a:t>
            </a:r>
            <a:r>
              <a:rPr lang="pt-BR" sz="1400" dirty="0" smtClean="0"/>
              <a:t>este projeto visa, </a:t>
            </a:r>
            <a:r>
              <a:rPr lang="pt-BR" sz="1400" b="1" dirty="0" smtClean="0"/>
              <a:t>Garantir </a:t>
            </a:r>
            <a:r>
              <a:rPr lang="pt-BR" sz="1400" b="1" dirty="0"/>
              <a:t>e documentar a funcionalidade da </a:t>
            </a:r>
            <a:r>
              <a:rPr lang="pt-BR" sz="1400" b="1" dirty="0" smtClean="0"/>
              <a:t>contingência e </a:t>
            </a:r>
            <a:r>
              <a:rPr lang="pt-BR" sz="1400" dirty="0"/>
              <a:t>v</a:t>
            </a:r>
            <a:r>
              <a:rPr lang="pt-BR" sz="1400" dirty="0" smtClean="0"/>
              <a:t>alidar </a:t>
            </a:r>
            <a:r>
              <a:rPr lang="pt-BR" sz="1400" dirty="0"/>
              <a:t>caminhos possíveis e documentar </a:t>
            </a:r>
            <a:r>
              <a:rPr lang="pt-BR" sz="1400" dirty="0" smtClean="0"/>
              <a:t>ações. </a:t>
            </a:r>
            <a:endParaRPr lang="pt-BR"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12748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82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Backups 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Restore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em Produção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Instalação do piloto do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ArcServe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UDP para teste de backup 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 ambientes Windows e Linux  (Virtuais e Físicas) – Em andamento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Escopo do projeto ampliado com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para 30 de Abril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Plano de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iniciado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17834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Backup &amp; Restore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Ambiente de Produção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14-10-2015</a:t>
            </a:r>
          </a:p>
          <a:p>
            <a:r>
              <a:rPr lang="pt-BR" sz="1200" i="1" dirty="0" smtClean="0"/>
              <a:t>Data Conclusão: 30-04-2016</a:t>
            </a:r>
          </a:p>
          <a:p>
            <a:r>
              <a:rPr lang="pt-BR" sz="1200" i="1" dirty="0" smtClean="0"/>
              <a:t>Progresso: 52%</a:t>
            </a:r>
          </a:p>
          <a:p>
            <a:r>
              <a:rPr lang="pt-BR" sz="1200" i="1" dirty="0" smtClean="0"/>
              <a:t>PM: Rafael Alves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Apoio da Regional NE e MG para suporte 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discovery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dos servidores nos sites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Licença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feature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ArcServe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UDP recebida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Queda na aderência de backup devido as desmobilizações de sites sem nossa ciência.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Baixo índice de aderência no plano de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restore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devido a falta de infra.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Armazenamento indevido das mídias causando degradação das mesmas.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/>
              <a:t>Providenciar Backup em todos os equipamentos de produção da Contax. Garantir plano de </a:t>
            </a:r>
            <a:r>
              <a:rPr lang="pt-BR" sz="1400" dirty="0" err="1" smtClean="0"/>
              <a:t>restore</a:t>
            </a:r>
            <a:r>
              <a:rPr lang="pt-BR" sz="1400" dirty="0" smtClean="0"/>
              <a:t> do ambiente. </a:t>
            </a:r>
            <a:endParaRPr lang="pt-BR" sz="1400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094" y="1537397"/>
            <a:ext cx="280440" cy="2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03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655" y="1092055"/>
            <a:ext cx="6692117" cy="2741840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62" y="1428136"/>
            <a:ext cx="5569496" cy="2405759"/>
          </a:xfrm>
          <a:prstGeom prst="rect">
            <a:avLst/>
          </a:prstGeom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1552411" y="109829"/>
            <a:ext cx="4186529" cy="644129"/>
          </a:xfrm>
          <a:prstGeom prst="rect">
            <a:avLst/>
          </a:prstGeom>
        </p:spPr>
        <p:txBody>
          <a:bodyPr vert="horz" lIns="68644" tIns="34322" rIns="68644" bIns="34322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252" b="1" dirty="0" err="1">
                <a:solidFill>
                  <a:schemeClr val="tx2"/>
                </a:solidFill>
                <a:latin typeface="Arial"/>
                <a:cs typeface="Arial"/>
              </a:rPr>
              <a:t>Visão</a:t>
            </a:r>
            <a:r>
              <a:rPr lang="en-US" sz="2252" b="1" dirty="0">
                <a:solidFill>
                  <a:schemeClr val="tx2"/>
                </a:solidFill>
                <a:latin typeface="Arial"/>
                <a:cs typeface="Arial"/>
              </a:rPr>
              <a:t> Macro - </a:t>
            </a:r>
            <a:r>
              <a:rPr lang="en-US" sz="2252" b="1" dirty="0" err="1">
                <a:solidFill>
                  <a:schemeClr val="tx2"/>
                </a:solidFill>
                <a:latin typeface="Arial"/>
                <a:cs typeface="Arial"/>
              </a:rPr>
              <a:t>Cenário</a:t>
            </a:r>
            <a:r>
              <a:rPr lang="en-US" sz="2252" b="1" dirty="0">
                <a:solidFill>
                  <a:schemeClr val="tx2"/>
                </a:solidFill>
                <a:latin typeface="Arial"/>
                <a:cs typeface="Arial"/>
              </a:rPr>
              <a:t> </a:t>
            </a:r>
            <a:r>
              <a:rPr lang="en-US" sz="2252" b="1" dirty="0" err="1">
                <a:solidFill>
                  <a:schemeClr val="tx2"/>
                </a:solidFill>
                <a:latin typeface="Arial"/>
                <a:cs typeface="Arial"/>
              </a:rPr>
              <a:t>Atual</a:t>
            </a:r>
            <a:endParaRPr lang="en-US" sz="2252" b="1" dirty="0">
              <a:solidFill>
                <a:schemeClr val="tx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275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652" y="1248192"/>
            <a:ext cx="6443129" cy="2477623"/>
          </a:xfrm>
          <a:prstGeom prst="rect">
            <a:avLst/>
          </a:prstGeom>
        </p:spPr>
      </p:pic>
      <p:sp>
        <p:nvSpPr>
          <p:cNvPr id="3" name="Title 1"/>
          <p:cNvSpPr txBox="1">
            <a:spLocks/>
          </p:cNvSpPr>
          <p:nvPr/>
        </p:nvSpPr>
        <p:spPr>
          <a:xfrm>
            <a:off x="1552411" y="109829"/>
            <a:ext cx="5449569" cy="644129"/>
          </a:xfrm>
          <a:prstGeom prst="rect">
            <a:avLst/>
          </a:prstGeom>
        </p:spPr>
        <p:txBody>
          <a:bodyPr vert="horz" lIns="68644" tIns="34322" rIns="68644" bIns="34322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252" b="1" dirty="0" err="1">
                <a:solidFill>
                  <a:schemeClr val="tx2"/>
                </a:solidFill>
                <a:latin typeface="Arial"/>
                <a:cs typeface="Arial"/>
              </a:rPr>
              <a:t>Detalhamento</a:t>
            </a:r>
            <a:r>
              <a:rPr lang="en-US" sz="2252" b="1" dirty="0">
                <a:solidFill>
                  <a:schemeClr val="tx2"/>
                </a:solidFill>
                <a:latin typeface="Arial"/>
                <a:cs typeface="Arial"/>
              </a:rPr>
              <a:t> - </a:t>
            </a:r>
            <a:r>
              <a:rPr lang="en-US" sz="2252" b="1" dirty="0" err="1">
                <a:solidFill>
                  <a:schemeClr val="tx2"/>
                </a:solidFill>
                <a:latin typeface="Arial"/>
                <a:cs typeface="Arial"/>
              </a:rPr>
              <a:t>Ofensores</a:t>
            </a:r>
            <a:endParaRPr lang="en-US" sz="2252" b="1" dirty="0">
              <a:solidFill>
                <a:schemeClr val="tx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5777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480" y="785440"/>
            <a:ext cx="3246419" cy="2729107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09" y="3514547"/>
            <a:ext cx="3249169" cy="122471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6878" y="3514547"/>
            <a:ext cx="3362409" cy="122471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6878" y="785440"/>
            <a:ext cx="3362409" cy="2729107"/>
          </a:xfrm>
          <a:prstGeom prst="rect">
            <a:avLst/>
          </a:prstGeom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1455586" y="58937"/>
            <a:ext cx="6393701" cy="644129"/>
          </a:xfrm>
          <a:prstGeom prst="rect">
            <a:avLst/>
          </a:prstGeom>
        </p:spPr>
        <p:txBody>
          <a:bodyPr vert="horz" lIns="68644" tIns="34322" rIns="68644" bIns="34322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252" b="1">
                <a:solidFill>
                  <a:schemeClr val="tx2"/>
                </a:solidFill>
                <a:latin typeface="Arial"/>
                <a:cs typeface="Arial"/>
              </a:rPr>
              <a:t>Report - Site </a:t>
            </a:r>
            <a:r>
              <a:rPr lang="en-US" sz="2252" b="1" dirty="0">
                <a:solidFill>
                  <a:schemeClr val="tx2"/>
                </a:solidFill>
                <a:latin typeface="Arial"/>
                <a:cs typeface="Arial"/>
              </a:rPr>
              <a:t>a Site</a:t>
            </a:r>
          </a:p>
        </p:txBody>
      </p:sp>
    </p:spTree>
    <p:extLst>
      <p:ext uri="{BB962C8B-B14F-4D97-AF65-F5344CB8AC3E}">
        <p14:creationId xmlns:p14="http://schemas.microsoft.com/office/powerpoint/2010/main" val="4148580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511225" y="100125"/>
            <a:ext cx="1523161" cy="644129"/>
          </a:xfrm>
          <a:prstGeom prst="rect">
            <a:avLst/>
          </a:prstGeom>
        </p:spPr>
        <p:txBody>
          <a:bodyPr vert="horz" lIns="68644" tIns="34322" rIns="68644" bIns="34322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252" b="1">
                <a:solidFill>
                  <a:schemeClr val="tx2"/>
                </a:solidFill>
                <a:latin typeface="Arial"/>
                <a:cs typeface="Arial"/>
              </a:rPr>
              <a:t>Time Line</a:t>
            </a:r>
            <a:endParaRPr lang="en-US" sz="2252" b="1" dirty="0">
              <a:solidFill>
                <a:schemeClr val="tx2"/>
              </a:solidFill>
              <a:latin typeface="Arial"/>
              <a:cs typeface="Arial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926" y="934314"/>
            <a:ext cx="6672148" cy="326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137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OCS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Inventory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86279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strike="sngStrike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Ativos cadastrados no OCS: 3.576/6.476 (18/02/2016).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Ativos cadastrados no OCS: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3.781/6.476.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Evolução de 205 = 34 por dia (Considerando 6 dias de trabalho).</a:t>
            </a:r>
          </a:p>
          <a:p>
            <a:pPr marL="216000" lvl="1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Projeção de 34 dias uteis para completarmos os 2.695 servidores restantes, media de 80 Servidores por dia.</a:t>
            </a:r>
            <a:endParaRPr lang="pt-BR" sz="1200" dirty="0">
              <a:solidFill>
                <a:schemeClr val="tx1"/>
              </a:solidFill>
            </a:endParaRP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C000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OCS </a:t>
            </a:r>
            <a:r>
              <a:rPr lang="pt-BR" sz="14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Inventory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</a:t>
            </a:r>
            <a:r>
              <a:rPr lang="pt-BR" sz="1200" i="1" dirty="0"/>
              <a:t>0</a:t>
            </a:r>
            <a:r>
              <a:rPr lang="pt-BR" sz="1200" i="1" dirty="0" smtClean="0"/>
              <a:t>4-12-2015</a:t>
            </a:r>
          </a:p>
          <a:p>
            <a:r>
              <a:rPr lang="pt-BR" sz="1200" i="1" dirty="0" smtClean="0"/>
              <a:t>Data Conclusão: </a:t>
            </a:r>
            <a:r>
              <a:rPr lang="pt-BR" sz="1200" i="1" strike="sngStrike" dirty="0" smtClean="0"/>
              <a:t>22-02-2016</a:t>
            </a:r>
            <a:r>
              <a:rPr lang="pt-BR" sz="1200" i="1" dirty="0" smtClean="0"/>
              <a:t> 14-04-2016</a:t>
            </a:r>
            <a:r>
              <a:rPr lang="pt-BR" sz="1200" i="1" strike="sngStrike" dirty="0" smtClean="0"/>
              <a:t> </a:t>
            </a:r>
          </a:p>
          <a:p>
            <a:r>
              <a:rPr lang="pt-BR" sz="1200" i="1" dirty="0" smtClean="0"/>
              <a:t>Progresso: 64%</a:t>
            </a:r>
          </a:p>
          <a:p>
            <a:r>
              <a:rPr lang="pt-BR" sz="1200" i="1" dirty="0" smtClean="0"/>
              <a:t>PM: Thiago Augusto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86279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Iniciado a analise pela equipe do Rogerio Veloso, 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na Automatização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instalação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nos restantes dos elementos.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Alinhado a execução e enviado lista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com 727 servidores para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equipe CSE.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Direcionado lista de 1.968 servidores para 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Recurso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dedicado.</a:t>
            </a: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99740" cy="286279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Velocidade de evolução da instalação é afetada de acordo com instabilidade do ambiente.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Conflitos entre prioridades do gestor de projetos (pré-vendas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Contact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Center/IT e Estabilidade operacional).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Tivemos incidentes de alto impacto que nos afetou a produtividade em 2 dias de trabalho (CSE).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Tivemos a ausência por 02 dias do recurso que está dedicado ao projeto, (problemas de força maior).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r>
              <a:rPr lang="pt-BR" sz="1400" dirty="0" smtClean="0"/>
              <a:t> OCS </a:t>
            </a:r>
            <a:r>
              <a:rPr lang="pt-BR" sz="1400" dirty="0"/>
              <a:t>é uma ferramenta de </a:t>
            </a:r>
            <a:r>
              <a:rPr lang="pt-BR" sz="1400" dirty="0" smtClean="0"/>
              <a:t>Inventário de servidores para auxiliar a </a:t>
            </a:r>
            <a:r>
              <a:rPr lang="pt-BR" sz="1400" dirty="0"/>
              <a:t>equipe de Controle de Ativos</a:t>
            </a:r>
            <a:r>
              <a:rPr lang="pt-BR" sz="1400" dirty="0" smtClean="0"/>
              <a:t>. </a:t>
            </a:r>
            <a:endParaRPr lang="pt-BR" sz="1400" dirty="0"/>
          </a:p>
        </p:txBody>
      </p:sp>
      <p:grpSp>
        <p:nvGrpSpPr>
          <p:cNvPr id="14" name="Group 27"/>
          <p:cNvGrpSpPr>
            <a:grpSpLocks/>
          </p:cNvGrpSpPr>
          <p:nvPr/>
        </p:nvGrpSpPr>
        <p:grpSpPr bwMode="auto">
          <a:xfrm>
            <a:off x="2904282" y="1528044"/>
            <a:ext cx="274637" cy="274638"/>
            <a:chOff x="0" y="0"/>
            <a:chExt cx="173" cy="173"/>
          </a:xfrm>
        </p:grpSpPr>
        <p:sp>
          <p:nvSpPr>
            <p:cNvPr id="19" name="Oval 28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0" name="Arc 29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1" name="Arc 30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2" name="Arc 31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3" name="Arc 32"/>
            <p:cNvSpPr>
              <a:spLocks/>
            </p:cNvSpPr>
            <p:nvPr/>
          </p:nvSpPr>
          <p:spPr bwMode="auto">
            <a:xfrm>
              <a:off x="86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4" name="Arc 33"/>
            <p:cNvSpPr>
              <a:spLocks/>
            </p:cNvSpPr>
            <p:nvPr/>
          </p:nvSpPr>
          <p:spPr bwMode="auto">
            <a:xfrm flipH="1">
              <a:off x="25" y="87"/>
              <a:ext cx="62" cy="86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15386 w 15386"/>
                <a:gd name="T1" fmla="*/ 15159 h 21599"/>
                <a:gd name="T2" fmla="*/ 28 w 15386"/>
                <a:gd name="T3" fmla="*/ 21599 h 21599"/>
                <a:gd name="T4" fmla="*/ 0 w 15386"/>
                <a:gd name="T5" fmla="*/ 0 h 21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86" h="21599" fill="none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</a:path>
                <a:path w="15386" h="21599" stroke="0" extrusionOk="0">
                  <a:moveTo>
                    <a:pt x="15386" y="15159"/>
                  </a:moveTo>
                  <a:cubicBezTo>
                    <a:pt x="11333" y="19273"/>
                    <a:pt x="5802" y="21592"/>
                    <a:pt x="28" y="2159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  <p:pic>
        <p:nvPicPr>
          <p:cNvPr id="25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pic>
        <p:nvPicPr>
          <p:cNvPr id="27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922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</a:t>
            </a: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Ura Internalização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221121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Aguardando definição da estrutura que será responsável por assumir os serviços de suporte dessa Internalização. Pendente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uma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Rivaldo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Koreeda.</a:t>
            </a: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Ura Internalização</a:t>
            </a:r>
            <a:endParaRPr lang="pt-BR" sz="14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200" i="1" dirty="0" smtClean="0"/>
              <a:t>Data Inicio: 20-10-2015</a:t>
            </a:r>
          </a:p>
          <a:p>
            <a:r>
              <a:rPr lang="pt-BR" sz="1200" i="1" dirty="0" smtClean="0"/>
              <a:t>Data Conclusão: 06-06-2016</a:t>
            </a:r>
          </a:p>
          <a:p>
            <a:r>
              <a:rPr lang="pt-BR" sz="1200" i="1" dirty="0" smtClean="0"/>
              <a:t>Progresso: 20%</a:t>
            </a:r>
          </a:p>
          <a:p>
            <a:r>
              <a:rPr lang="pt-BR" sz="1200" i="1" dirty="0" smtClean="0"/>
              <a:t>PM</a:t>
            </a:r>
            <a:r>
              <a:rPr lang="pt-BR" sz="1200" i="1" dirty="0"/>
              <a:t>: </a:t>
            </a:r>
            <a:r>
              <a:rPr lang="pt-BR" sz="1200" i="1" dirty="0" err="1" smtClean="0"/>
              <a:t>Luis</a:t>
            </a:r>
            <a:r>
              <a:rPr lang="pt-BR" sz="1200" i="1" dirty="0" smtClean="0"/>
              <a:t> Marçal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2081341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Confirmado dia 16 o recebimento da 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Genesys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do pedido para treinamento. 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400" dirty="0" smtClean="0">
                <a:solidFill>
                  <a:srgbClr val="00B050"/>
                </a:solidFill>
              </a:rPr>
              <a:t>SC </a:t>
            </a:r>
            <a:r>
              <a:rPr lang="pt-BR" sz="1400" dirty="0">
                <a:solidFill>
                  <a:srgbClr val="00B050"/>
                </a:solidFill>
              </a:rPr>
              <a:t>784 e 785 - Processo Concluído. 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004018" y="2081342"/>
            <a:ext cx="2716382" cy="2475419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rgbClr val="FF0000"/>
                </a:solidFill>
              </a:rPr>
              <a:t>Risco: Prazo de treinamento vencido esta semana. </a:t>
            </a: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Existe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ainda a pendência de definição de qual equipe será treinada. Depende de uma conversa do Rivaldo com o Koreeda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 </a:t>
            </a:r>
            <a:r>
              <a:rPr lang="pt-BR" sz="1400" dirty="0"/>
              <a:t>M</a:t>
            </a:r>
            <a:r>
              <a:rPr lang="pt-BR" sz="1400" dirty="0" smtClean="0"/>
              <a:t>onitoração </a:t>
            </a:r>
            <a:r>
              <a:rPr lang="pt-BR" sz="1400" dirty="0"/>
              <a:t>pró ativa de </a:t>
            </a:r>
            <a:r>
              <a:rPr lang="pt-BR" sz="1400" dirty="0" smtClean="0"/>
              <a:t>hardware e elimina </a:t>
            </a:r>
            <a:r>
              <a:rPr lang="pt-BR" sz="1400" dirty="0"/>
              <a:t>a possibilidade de perda de dados por falta de visibilidade do </a:t>
            </a:r>
            <a:r>
              <a:rPr lang="pt-BR" sz="1400" dirty="0" smtClean="0"/>
              <a:t>ambiente. </a:t>
            </a:r>
            <a:endParaRPr lang="pt-BR" sz="1400" dirty="0"/>
          </a:p>
        </p:txBody>
      </p:sp>
      <p:grpSp>
        <p:nvGrpSpPr>
          <p:cNvPr id="13" name="Group 16"/>
          <p:cNvGrpSpPr>
            <a:grpSpLocks/>
          </p:cNvGrpSpPr>
          <p:nvPr/>
        </p:nvGrpSpPr>
        <p:grpSpPr bwMode="auto">
          <a:xfrm>
            <a:off x="2890797" y="1499802"/>
            <a:ext cx="274638" cy="274638"/>
            <a:chOff x="0" y="0"/>
            <a:chExt cx="173" cy="173"/>
          </a:xfrm>
        </p:grpSpPr>
        <p:sp>
          <p:nvSpPr>
            <p:cNvPr id="14" name="Oval 17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19" name="Arc 18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0" name="Arc 19"/>
            <p:cNvSpPr>
              <a:spLocks/>
            </p:cNvSpPr>
            <p:nvPr/>
          </p:nvSpPr>
          <p:spPr bwMode="auto">
            <a:xfrm>
              <a:off x="86" y="25"/>
              <a:ext cx="87" cy="62"/>
            </a:xfrm>
            <a:custGeom>
              <a:avLst/>
              <a:gdLst>
                <a:gd name="G0" fmla="+- 0 0 0"/>
                <a:gd name="G1" fmla="+- 15382 0 0"/>
                <a:gd name="G2" fmla="+- 21600 0 0"/>
                <a:gd name="T0" fmla="*/ 15163 w 21600"/>
                <a:gd name="T1" fmla="*/ 0 h 15382"/>
                <a:gd name="T2" fmla="*/ 21600 w 21600"/>
                <a:gd name="T3" fmla="*/ 15382 h 15382"/>
                <a:gd name="T4" fmla="*/ 0 w 21600"/>
                <a:gd name="T5" fmla="*/ 15382 h 15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382" fill="none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</a:path>
                <a:path w="21600" h="15382" stroke="0" extrusionOk="0">
                  <a:moveTo>
                    <a:pt x="15163" y="-1"/>
                  </a:moveTo>
                  <a:cubicBezTo>
                    <a:pt x="19281" y="4058"/>
                    <a:pt x="21600" y="9599"/>
                    <a:pt x="21600" y="15382"/>
                  </a:cubicBezTo>
                  <a:lnTo>
                    <a:pt x="0" y="15382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1" name="Arc 20"/>
            <p:cNvSpPr>
              <a:spLocks/>
            </p:cNvSpPr>
            <p:nvPr/>
          </p:nvSpPr>
          <p:spPr bwMode="auto">
            <a:xfrm>
              <a:off x="86" y="87"/>
              <a:ext cx="87" cy="61"/>
            </a:xfrm>
            <a:custGeom>
              <a:avLst/>
              <a:gdLst>
                <a:gd name="G0" fmla="+- 0 0 0"/>
                <a:gd name="G1" fmla="+- 29 0 0"/>
                <a:gd name="G2" fmla="+- 21600 0 0"/>
                <a:gd name="T0" fmla="*/ 21599 w 21600"/>
                <a:gd name="T1" fmla="*/ 0 h 15266"/>
                <a:gd name="T2" fmla="*/ 15309 w 21600"/>
                <a:gd name="T3" fmla="*/ 15266 h 15266"/>
                <a:gd name="T4" fmla="*/ 0 w 21600"/>
                <a:gd name="T5" fmla="*/ 29 h 152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5266" fill="none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</a:path>
                <a:path w="21600" h="15266" stroke="0" extrusionOk="0">
                  <a:moveTo>
                    <a:pt x="21599" y="-1"/>
                  </a:moveTo>
                  <a:cubicBezTo>
                    <a:pt x="21599" y="9"/>
                    <a:pt x="21600" y="19"/>
                    <a:pt x="21600" y="29"/>
                  </a:cubicBezTo>
                  <a:cubicBezTo>
                    <a:pt x="21600" y="5740"/>
                    <a:pt x="19338" y="11218"/>
                    <a:pt x="15309" y="15266"/>
                  </a:cubicBezTo>
                  <a:lnTo>
                    <a:pt x="0" y="29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91538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9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Projeto: Qualidade em Gravação</a:t>
            </a:r>
            <a:endParaRPr lang="pt-BR" sz="2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21121" y="1986751"/>
            <a:ext cx="2716382" cy="255176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Último Status</a:t>
            </a: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Fase de levantamentos de dados, e alinhamentos com todas as áreas integrantes.</a:t>
            </a: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 </a:t>
            </a: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158943" y="776935"/>
            <a:ext cx="3064339" cy="1080993"/>
          </a:xfrm>
          <a:prstGeom prst="roundRect">
            <a:avLst/>
          </a:prstGeom>
          <a:solidFill>
            <a:srgbClr val="00B05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Projeto: Ura Internalização</a:t>
            </a:r>
          </a:p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 Inicio: 24-02-2016</a:t>
            </a:r>
          </a:p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 Conclusão: </a:t>
            </a:r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23-05-2016</a:t>
            </a:r>
            <a:endParaRPr lang="pt-BR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Progresso: 4%</a:t>
            </a:r>
          </a:p>
          <a:p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PM: </a:t>
            </a:r>
            <a:r>
              <a:rPr lang="pt-BR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Luis</a:t>
            </a:r>
            <a:r>
              <a:rPr lang="pt-BR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Marçal</a:t>
            </a:r>
          </a:p>
        </p:txBody>
      </p:sp>
      <p:sp>
        <p:nvSpPr>
          <p:cNvPr id="16" name="Retângulo 15"/>
          <p:cNvSpPr/>
          <p:nvPr/>
        </p:nvSpPr>
        <p:spPr>
          <a:xfrm>
            <a:off x="3112569" y="1986750"/>
            <a:ext cx="2716382" cy="255176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Objetivos alcançados na última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semana</a:t>
            </a:r>
            <a:endParaRPr lang="pt-BR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Realização do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Kick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off. 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6120750" y="1986751"/>
            <a:ext cx="2716382" cy="3161512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lvl="1" algn="ctr">
              <a:spcBef>
                <a:spcPts val="200"/>
              </a:spcBef>
              <a:spcAft>
                <a:spcPts val="200"/>
              </a:spcAft>
            </a:pP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Riscos/Problemas/Observações</a:t>
            </a:r>
            <a:endParaRPr lang="pt-BR" sz="12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lvl="1" indent="-171450" algn="just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Nos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próximos meses ficou definido pela equipe do financeiro (do Marcos Barbosa) que o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item multa não vai ser mais detalhado no faturamento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alguns clientes (</a:t>
            </a:r>
            <a:r>
              <a:rPr lang="pt-BR" sz="1200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e demais clientes nos meses seguintes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 Ou seja,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não teremos a visão de quanto de multa por gravação estamos sendo penalizados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lvl="1" indent="-171450" algn="just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correm também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negociações entre o cliente e operações onde a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Multa é “abonada” e repassada para os valores contratuais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(um abatimento no pagamento </a:t>
            </a:r>
            <a:r>
              <a:rPr lang="pt-BR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full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sem detalhar que é multa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). 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382225" y="776936"/>
            <a:ext cx="5338175" cy="1080992"/>
          </a:xfrm>
          <a:prstGeom prst="roundRect">
            <a:avLst/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Descritivo: </a:t>
            </a:r>
            <a:r>
              <a:rPr lang="pt-BR" sz="1400" dirty="0"/>
              <a:t>Este projeto tem como escopo, executar um plano de ação para eliminar multas (de gravação) nos clientes Contax.</a:t>
            </a:r>
          </a:p>
        </p:txBody>
      </p:sp>
      <p:grpSp>
        <p:nvGrpSpPr>
          <p:cNvPr id="22" name="Group 9"/>
          <p:cNvGrpSpPr>
            <a:grpSpLocks/>
          </p:cNvGrpSpPr>
          <p:nvPr/>
        </p:nvGrpSpPr>
        <p:grpSpPr bwMode="auto">
          <a:xfrm>
            <a:off x="2912885" y="1482314"/>
            <a:ext cx="274638" cy="274638"/>
            <a:chOff x="0" y="0"/>
            <a:chExt cx="173" cy="173"/>
          </a:xfrm>
        </p:grpSpPr>
        <p:sp>
          <p:nvSpPr>
            <p:cNvPr id="23" name="Oval 10"/>
            <p:cNvSpPr>
              <a:spLocks noChangeArrowheads="1"/>
            </p:cNvSpPr>
            <p:nvPr/>
          </p:nvSpPr>
          <p:spPr bwMode="auto">
            <a:xfrm>
              <a:off x="0" y="0"/>
              <a:ext cx="173" cy="173"/>
            </a:xfrm>
            <a:prstGeom prst="ellips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  <p:sp>
          <p:nvSpPr>
            <p:cNvPr id="24" name="Arc 11"/>
            <p:cNvSpPr>
              <a:spLocks/>
            </p:cNvSpPr>
            <p:nvPr/>
          </p:nvSpPr>
          <p:spPr bwMode="auto">
            <a:xfrm>
              <a:off x="86" y="0"/>
              <a:ext cx="62" cy="86"/>
            </a:xfrm>
            <a:custGeom>
              <a:avLst/>
              <a:gdLst>
                <a:gd name="G0" fmla="+- 58 0 0"/>
                <a:gd name="G1" fmla="+- 21600 0 0"/>
                <a:gd name="G2" fmla="+- 21600 0 0"/>
                <a:gd name="T0" fmla="*/ 0 w 15318"/>
                <a:gd name="T1" fmla="*/ 1 h 21600"/>
                <a:gd name="T2" fmla="*/ 15318 w 15318"/>
                <a:gd name="T3" fmla="*/ 6314 h 21600"/>
                <a:gd name="T4" fmla="*/ 58 w 15318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318" h="21600" fill="none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</a:path>
                <a:path w="15318" h="21600" stroke="0" extrusionOk="0">
                  <a:moveTo>
                    <a:pt x="-1" y="0"/>
                  </a:moveTo>
                  <a:cubicBezTo>
                    <a:pt x="19" y="0"/>
                    <a:pt x="38" y="0"/>
                    <a:pt x="58" y="0"/>
                  </a:cubicBezTo>
                  <a:cubicBezTo>
                    <a:pt x="5780" y="0"/>
                    <a:pt x="11268" y="2270"/>
                    <a:pt x="15318" y="6313"/>
                  </a:cubicBezTo>
                  <a:lnTo>
                    <a:pt x="58" y="21600"/>
                  </a:lnTo>
                  <a:close/>
                </a:path>
              </a:pathLst>
            </a:custGeom>
            <a:solidFill>
              <a:srgbClr val="000000"/>
            </a:solidFill>
            <a:ln w="0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>
              <a:sp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36548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Agrupar 41"/>
          <p:cNvGrpSpPr/>
          <p:nvPr/>
        </p:nvGrpSpPr>
        <p:grpSpPr>
          <a:xfrm rot="20909702">
            <a:off x="4479136" y="1785458"/>
            <a:ext cx="4277275" cy="1804782"/>
            <a:chOff x="4656528" y="1965933"/>
            <a:chExt cx="4176406" cy="1737150"/>
          </a:xfrm>
        </p:grpSpPr>
        <p:grpSp>
          <p:nvGrpSpPr>
            <p:cNvPr id="43" name="Agrupar 42"/>
            <p:cNvGrpSpPr/>
            <p:nvPr/>
          </p:nvGrpSpPr>
          <p:grpSpPr>
            <a:xfrm>
              <a:off x="4656528" y="1965933"/>
              <a:ext cx="4176406" cy="1737150"/>
              <a:chOff x="-19680" y="3542711"/>
              <a:chExt cx="8928992" cy="3176829"/>
            </a:xfrm>
          </p:grpSpPr>
          <p:pic>
            <p:nvPicPr>
              <p:cNvPr id="45" name="Imagem 4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9680" y="3562773"/>
                <a:ext cx="8928992" cy="3156767"/>
              </a:xfrm>
              <a:prstGeom prst="rect">
                <a:avLst/>
              </a:prstGeom>
            </p:spPr>
          </p:pic>
          <p:sp>
            <p:nvSpPr>
              <p:cNvPr id="46" name="CaixaDeTexto 45"/>
              <p:cNvSpPr txBox="1"/>
              <p:nvPr/>
            </p:nvSpPr>
            <p:spPr>
              <a:xfrm>
                <a:off x="1043609" y="3542711"/>
                <a:ext cx="7200799" cy="786632"/>
              </a:xfrm>
              <a:prstGeom prst="rect">
                <a:avLst/>
              </a:prstGeom>
              <a:solidFill>
                <a:srgbClr val="FFC000">
                  <a:alpha val="25098"/>
                </a:srgb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pt-BR" dirty="0"/>
              </a:p>
            </p:txBody>
          </p:sp>
          <p:sp>
            <p:nvSpPr>
              <p:cNvPr id="47" name="CaixaDeTexto 46"/>
              <p:cNvSpPr txBox="1"/>
              <p:nvPr/>
            </p:nvSpPr>
            <p:spPr>
              <a:xfrm>
                <a:off x="2152303" y="5664850"/>
                <a:ext cx="3509340" cy="786632"/>
              </a:xfrm>
              <a:prstGeom prst="rect">
                <a:avLst/>
              </a:prstGeom>
              <a:solidFill>
                <a:srgbClr val="FFC000">
                  <a:alpha val="25098"/>
                </a:srgb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pt-BR" dirty="0"/>
              </a:p>
            </p:txBody>
          </p:sp>
        </p:grpSp>
        <p:pic>
          <p:nvPicPr>
            <p:cNvPr id="44" name="Picture 2" descr="http://2.bp.blogspot.com/-FA13KvVejpc/VZrjx0SSpwI/AAAAAAAAAfM/sTNY7bS_mxI/s1600/done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4706" y="2118613"/>
              <a:ext cx="1514054" cy="15140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Imagem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4086" y="280913"/>
            <a:ext cx="1603348" cy="291323"/>
          </a:xfrm>
          <a:prstGeom prst="rect">
            <a:avLst/>
          </a:prstGeom>
        </p:spPr>
      </p:pic>
      <p:sp>
        <p:nvSpPr>
          <p:cNvPr id="22" name="Title 1"/>
          <p:cNvSpPr txBox="1">
            <a:spLocks/>
          </p:cNvSpPr>
          <p:nvPr/>
        </p:nvSpPr>
        <p:spPr>
          <a:xfrm>
            <a:off x="518663" y="109365"/>
            <a:ext cx="6770459" cy="5604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6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2ª Fase – T2R – Objetivos</a:t>
            </a:r>
            <a:endParaRPr lang="pt-BR" sz="2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Subtítulo 2"/>
          <p:cNvSpPr txBox="1">
            <a:spLocks/>
          </p:cNvSpPr>
          <p:nvPr/>
        </p:nvSpPr>
        <p:spPr>
          <a:xfrm>
            <a:off x="74938" y="960667"/>
            <a:ext cx="5780348" cy="110713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pt-BR" sz="2200" dirty="0" smtClean="0">
                <a:cs typeface="Aharoni" panose="02010803020104030203" pitchFamily="2" charset="-79"/>
              </a:rPr>
              <a:t>Para consolidar a Estabilidade Operacional é preciso agora </a:t>
            </a:r>
            <a:r>
              <a:rPr lang="pt-BR" sz="2200" b="1" dirty="0" smtClean="0">
                <a:cs typeface="Aharoni" panose="02010803020104030203" pitchFamily="2" charset="-79"/>
              </a:rPr>
              <a:t>manter o ímpeto</a:t>
            </a:r>
            <a:r>
              <a:rPr lang="pt-BR" sz="2200" dirty="0" smtClean="0">
                <a:cs typeface="Aharoni" panose="02010803020104030203" pitchFamily="2" charset="-79"/>
              </a:rPr>
              <a:t> e melhorar as práticas relacionadas a </a:t>
            </a:r>
            <a:r>
              <a:rPr lang="pt-BR" sz="2200" b="1" i="1" dirty="0" smtClean="0">
                <a:cs typeface="Aharoni" panose="02010803020104030203" pitchFamily="2" charset="-79"/>
              </a:rPr>
              <a:t>Transition to Run </a:t>
            </a:r>
            <a:r>
              <a:rPr lang="pt-BR" sz="2200" b="1" dirty="0" smtClean="0">
                <a:cs typeface="Aharoni" panose="02010803020104030203" pitchFamily="2" charset="-79"/>
              </a:rPr>
              <a:t>– T2R</a:t>
            </a:r>
            <a:r>
              <a:rPr lang="pt-BR" sz="2200" dirty="0" smtClean="0">
                <a:cs typeface="Aharoni" panose="02010803020104030203" pitchFamily="2" charset="-79"/>
              </a:rPr>
              <a:t>.</a:t>
            </a:r>
            <a:endParaRPr lang="pt-BR" sz="2200" dirty="0">
              <a:cs typeface="Aharoni" panose="02010803020104030203" pitchFamily="2" charset="-79"/>
            </a:endParaRPr>
          </a:p>
        </p:txBody>
      </p:sp>
      <p:sp>
        <p:nvSpPr>
          <p:cNvPr id="48" name="Subtítulo 2"/>
          <p:cNvSpPr txBox="1">
            <a:spLocks/>
          </p:cNvSpPr>
          <p:nvPr/>
        </p:nvSpPr>
        <p:spPr>
          <a:xfrm>
            <a:off x="0" y="1954024"/>
            <a:ext cx="8907433" cy="14931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3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Os processos de </a:t>
            </a:r>
            <a:r>
              <a:rPr lang="pt-BR" sz="2000" b="1" dirty="0">
                <a:solidFill>
                  <a:schemeClr val="tx1"/>
                </a:solidFill>
                <a:cs typeface="Aharoni" panose="02010803020104030203" pitchFamily="2" charset="-79"/>
              </a:rPr>
              <a:t>T2R</a:t>
            </a:r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 devem considerar todo o ciclo da mudança, desde a </a:t>
            </a:r>
            <a:r>
              <a:rPr lang="pt-BR" sz="2000" b="1" dirty="0">
                <a:solidFill>
                  <a:schemeClr val="tx1"/>
                </a:solidFill>
                <a:cs typeface="Aharoni" panose="02010803020104030203" pitchFamily="2" charset="-79"/>
              </a:rPr>
              <a:t>demanda por serviços novos ou alterados</a:t>
            </a:r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 por parte das unidades de</a:t>
            </a:r>
            <a:b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</a:br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negócio </a:t>
            </a:r>
            <a:r>
              <a:rPr lang="pt-BR" sz="2000" dirty="0" smtClean="0">
                <a:solidFill>
                  <a:schemeClr val="tx1"/>
                </a:solidFill>
                <a:cs typeface="Aharoni" panose="02010803020104030203" pitchFamily="2" charset="-79"/>
              </a:rPr>
              <a:t>até as </a:t>
            </a:r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atualizações tecnológicas efetuadas pelas equipes de TI até </a:t>
            </a:r>
            <a:r>
              <a:rPr lang="pt-BR" sz="2000" dirty="0" smtClean="0">
                <a:solidFill>
                  <a:schemeClr val="tx1"/>
                </a:solidFill>
                <a:cs typeface="Aharoni" panose="02010803020104030203" pitchFamily="2" charset="-79"/>
              </a:rPr>
              <a:t>sua </a:t>
            </a:r>
            <a:r>
              <a:rPr lang="pt-BR" sz="2000" b="1" dirty="0" smtClean="0">
                <a:solidFill>
                  <a:schemeClr val="tx1"/>
                </a:solidFill>
                <a:cs typeface="Aharoni" panose="02010803020104030203" pitchFamily="2" charset="-79"/>
              </a:rPr>
              <a:t>estabilização </a:t>
            </a:r>
            <a:r>
              <a:rPr lang="pt-BR" sz="2000" b="1" dirty="0">
                <a:solidFill>
                  <a:schemeClr val="tx1"/>
                </a:solidFill>
                <a:cs typeface="Aharoni" panose="02010803020104030203" pitchFamily="2" charset="-79"/>
              </a:rPr>
              <a:t>em ambiente de produção</a:t>
            </a:r>
            <a:r>
              <a:rPr lang="pt-BR" sz="2000" dirty="0">
                <a:solidFill>
                  <a:schemeClr val="tx1"/>
                </a:solidFill>
                <a:cs typeface="Aharoni" panose="02010803020104030203" pitchFamily="2" charset="-79"/>
              </a:rPr>
              <a:t>.</a:t>
            </a:r>
          </a:p>
          <a:p>
            <a:pPr algn="r"/>
            <a:endParaRPr lang="pt-BR" sz="2000" dirty="0">
              <a:solidFill>
                <a:schemeClr val="tx1"/>
              </a:solidFill>
              <a:cs typeface="Aharoni" panose="02010803020104030203" pitchFamily="2" charset="-79"/>
            </a:endParaRPr>
          </a:p>
          <a:p>
            <a:pPr algn="r"/>
            <a:endParaRPr lang="pt-BR" sz="2000" dirty="0">
              <a:solidFill>
                <a:schemeClr val="tx1"/>
              </a:solidFill>
              <a:cs typeface="Aharoni" panose="02010803020104030203" pitchFamily="2" charset="-79"/>
            </a:endParaRPr>
          </a:p>
        </p:txBody>
      </p:sp>
      <p:pic>
        <p:nvPicPr>
          <p:cNvPr id="49" name="Imagem 4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332" y="3380497"/>
            <a:ext cx="8303012" cy="1758695"/>
          </a:xfrm>
          <a:prstGeom prst="rect">
            <a:avLst/>
          </a:prstGeom>
        </p:spPr>
      </p:pic>
      <p:grpSp>
        <p:nvGrpSpPr>
          <p:cNvPr id="27" name="Agrupar 26"/>
          <p:cNvGrpSpPr/>
          <p:nvPr/>
        </p:nvGrpSpPr>
        <p:grpSpPr>
          <a:xfrm>
            <a:off x="8302427" y="2320565"/>
            <a:ext cx="841573" cy="2827698"/>
            <a:chOff x="8188658" y="2674201"/>
            <a:chExt cx="955343" cy="2474063"/>
          </a:xfrm>
        </p:grpSpPr>
        <p:pic>
          <p:nvPicPr>
            <p:cNvPr id="30" name="Picture 2"/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" name="Imagem 35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5454" y="2674201"/>
              <a:ext cx="268546" cy="191080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355811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36"/>
            <a:ext cx="786452" cy="774259"/>
          </a:xfrm>
          <a:prstGeom prst="rect">
            <a:avLst/>
          </a:prstGeom>
        </p:spPr>
      </p:pic>
      <p:pic>
        <p:nvPicPr>
          <p:cNvPr id="26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086" y="280913"/>
            <a:ext cx="1603348" cy="291323"/>
          </a:xfrm>
          <a:prstGeom prst="rect">
            <a:avLst/>
          </a:prstGeom>
        </p:spPr>
      </p:pic>
      <p:sp>
        <p:nvSpPr>
          <p:cNvPr id="22" name="Title 1"/>
          <p:cNvSpPr txBox="1">
            <a:spLocks/>
          </p:cNvSpPr>
          <p:nvPr/>
        </p:nvSpPr>
        <p:spPr>
          <a:xfrm>
            <a:off x="518663" y="109365"/>
            <a:ext cx="6770459" cy="5604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14300" prst="artDeco"/>
            <a:bevelB/>
          </a:sp3d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6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2ª Fase – T2R – Ações</a:t>
            </a:r>
            <a:endParaRPr lang="pt-BR" sz="26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7" name="Agrupar 26"/>
          <p:cNvGrpSpPr/>
          <p:nvPr/>
        </p:nvGrpSpPr>
        <p:grpSpPr>
          <a:xfrm>
            <a:off x="8302427" y="2320565"/>
            <a:ext cx="841573" cy="2827698"/>
            <a:chOff x="8188658" y="2674201"/>
            <a:chExt cx="955343" cy="2474063"/>
          </a:xfrm>
        </p:grpSpPr>
        <p:pic>
          <p:nvPicPr>
            <p:cNvPr id="30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780" t="78172" r="18395" b="12686"/>
            <a:stretch/>
          </p:blipFill>
          <p:spPr bwMode="auto">
            <a:xfrm>
              <a:off x="8188658" y="4384319"/>
              <a:ext cx="955343" cy="763945"/>
            </a:xfrm>
            <a:prstGeom prst="rect">
              <a:avLst/>
            </a:prstGeom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" name="Imagem 35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5454" y="2674201"/>
              <a:ext cx="268546" cy="191080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</p:grpSp>
      <p:sp>
        <p:nvSpPr>
          <p:cNvPr id="17" name="Subtítulo 2"/>
          <p:cNvSpPr txBox="1">
            <a:spLocks/>
          </p:cNvSpPr>
          <p:nvPr/>
        </p:nvSpPr>
        <p:spPr>
          <a:xfrm>
            <a:off x="82659" y="861620"/>
            <a:ext cx="8611722" cy="30345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As ações para consolidar a melhoria da estabilidade operacional são as seguintes: </a:t>
            </a:r>
          </a:p>
          <a:p>
            <a:pPr marL="0" indent="0">
              <a:buNone/>
            </a:pPr>
            <a:endParaRPr lang="pt-BR" sz="2000" dirty="0" smtClean="0">
              <a:cs typeface="Aharoni" panose="02010803020104030203" pitchFamily="2" charset="-79"/>
            </a:endParaRP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0. </a:t>
            </a:r>
            <a:r>
              <a:rPr lang="pt-BR" sz="2000" b="1" dirty="0" smtClean="0">
                <a:cs typeface="Aharoni" panose="02010803020104030203" pitchFamily="2" charset="-79"/>
              </a:rPr>
              <a:t>Manter o ímpeto</a:t>
            </a:r>
            <a:r>
              <a:rPr lang="pt-BR" sz="2000" dirty="0" smtClean="0">
                <a:cs typeface="Aharoni" panose="02010803020104030203" pitchFamily="2" charset="-79"/>
              </a:rPr>
              <a:t> das conquistas da Gestão de Problemas e Incidentes;</a:t>
            </a: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1. Identificar e documentar </a:t>
            </a:r>
            <a:r>
              <a:rPr lang="pt-BR" sz="2000" b="1" dirty="0" smtClean="0">
                <a:cs typeface="Aharoni" panose="02010803020104030203" pitchFamily="2" charset="-79"/>
              </a:rPr>
              <a:t>Canais e Serviços de TI</a:t>
            </a:r>
            <a:r>
              <a:rPr lang="pt-BR" sz="2000" dirty="0" smtClean="0">
                <a:cs typeface="Aharoni" panose="02010803020104030203" pitchFamily="2" charset="-79"/>
              </a:rPr>
              <a:t>;</a:t>
            </a: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2. Identificar os </a:t>
            </a:r>
            <a:r>
              <a:rPr lang="pt-BR" sz="2000" b="1" dirty="0" smtClean="0">
                <a:cs typeface="Aharoni" panose="02010803020104030203" pitchFamily="2" charset="-79"/>
              </a:rPr>
              <a:t>Ativos dos Serviços</a:t>
            </a:r>
            <a:r>
              <a:rPr lang="pt-BR" sz="2000" dirty="0" smtClean="0">
                <a:cs typeface="Aharoni" panose="02010803020104030203" pitchFamily="2" charset="-79"/>
              </a:rPr>
              <a:t> e sua </a:t>
            </a:r>
            <a:r>
              <a:rPr lang="pt-BR" sz="2000" b="1" dirty="0" smtClean="0">
                <a:cs typeface="Aharoni" panose="02010803020104030203" pitchFamily="2" charset="-79"/>
              </a:rPr>
              <a:t>Configuração;</a:t>
            </a:r>
          </a:p>
          <a:p>
            <a:pPr marL="0" indent="0" algn="r">
              <a:buNone/>
            </a:pPr>
            <a:endParaRPr lang="pt-BR" sz="2000" b="1" dirty="0">
              <a:cs typeface="Aharoni" panose="02010803020104030203" pitchFamily="2" charset="-79"/>
            </a:endParaRPr>
          </a:p>
          <a:p>
            <a:pPr marL="0" indent="0" algn="r">
              <a:buNone/>
            </a:pPr>
            <a:endParaRPr lang="pt-BR" sz="2000" b="1" dirty="0" smtClean="0">
              <a:cs typeface="Aharoni" panose="02010803020104030203" pitchFamily="2" charset="-79"/>
            </a:endParaRPr>
          </a:p>
          <a:p>
            <a:pPr marL="0" indent="0" algn="r">
              <a:buNone/>
            </a:pPr>
            <a:endParaRPr lang="pt-BR" sz="2000" dirty="0" smtClean="0">
              <a:cs typeface="Aharoni" panose="02010803020104030203" pitchFamily="2" charset="-79"/>
            </a:endParaRP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3. Revisar e melhorar o processo e os </a:t>
            </a:r>
            <a:r>
              <a:rPr lang="pt-BR" sz="2000" b="1" dirty="0" smtClean="0">
                <a:cs typeface="Aharoni" panose="02010803020104030203" pitchFamily="2" charset="-79"/>
              </a:rPr>
              <a:t>ritos de Gestão de Mudanças</a:t>
            </a:r>
            <a:r>
              <a:rPr lang="pt-BR" sz="2000" dirty="0" smtClean="0">
                <a:cs typeface="Aharoni" panose="02010803020104030203" pitchFamily="2" charset="-79"/>
              </a:rPr>
              <a:t>;</a:t>
            </a: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4. Vincular Gestão de </a:t>
            </a:r>
            <a:r>
              <a:rPr lang="pt-BR" sz="2000" b="1" dirty="0" smtClean="0">
                <a:cs typeface="Aharoni" panose="02010803020104030203" pitchFamily="2" charset="-79"/>
              </a:rPr>
              <a:t>Demandas, Projetos e Mudanças</a:t>
            </a:r>
            <a:r>
              <a:rPr lang="pt-BR" sz="2000" dirty="0" smtClean="0">
                <a:cs typeface="Aharoni" panose="02010803020104030203" pitchFamily="2" charset="-79"/>
              </a:rPr>
              <a:t>;</a:t>
            </a:r>
          </a:p>
          <a:p>
            <a:pPr marL="0" indent="0" algn="r">
              <a:buNone/>
            </a:pPr>
            <a:r>
              <a:rPr lang="pt-BR" sz="2000" dirty="0" smtClean="0">
                <a:cs typeface="Aharoni" panose="02010803020104030203" pitchFamily="2" charset="-79"/>
              </a:rPr>
              <a:t>5. Aumentar o </a:t>
            </a:r>
            <a:r>
              <a:rPr lang="pt-BR" sz="2000" b="1" dirty="0" smtClean="0">
                <a:cs typeface="Aharoni" panose="02010803020104030203" pitchFamily="2" charset="-79"/>
              </a:rPr>
              <a:t>compromisso com a qualidade </a:t>
            </a:r>
            <a:r>
              <a:rPr lang="pt-BR" sz="2000" dirty="0" smtClean="0">
                <a:cs typeface="Aharoni" panose="02010803020104030203" pitchFamily="2" charset="-79"/>
              </a:rPr>
              <a:t>nas implantações e Mudanças.</a:t>
            </a:r>
          </a:p>
          <a:p>
            <a:pPr marL="0" indent="0" algn="r">
              <a:buNone/>
            </a:pPr>
            <a:endParaRPr lang="pt-BR" sz="2000" dirty="0">
              <a:cs typeface="Aharoni" panose="02010803020104030203" pitchFamily="2" charset="-79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8523" y="2837957"/>
            <a:ext cx="4692724" cy="919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3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56" y="3888759"/>
            <a:ext cx="1524000" cy="1143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10. Alinhamento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743" y="1885837"/>
            <a:ext cx="2015419" cy="15115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162" y="1885837"/>
            <a:ext cx="2574943" cy="193120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Imagem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596" y="1346058"/>
            <a:ext cx="3218155" cy="24136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81886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0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13468</TotalTime>
  <Words>2396</Words>
  <Application>Microsoft Office PowerPoint</Application>
  <PresentationFormat>Personalizar</PresentationFormat>
  <Paragraphs>352</Paragraphs>
  <Slides>41</Slides>
  <Notes>34</Notes>
  <HiddenSlides>2</HiddenSlides>
  <MMClips>0</MMClips>
  <ScaleCrop>false</ScaleCrop>
  <HeadingPairs>
    <vt:vector size="8" baseType="variant">
      <vt:variant>
        <vt:lpstr>Fontes usadas</vt:lpstr>
      </vt:variant>
      <vt:variant>
        <vt:i4>6</vt:i4>
      </vt:variant>
      <vt:variant>
        <vt:lpstr>Tema</vt:lpstr>
      </vt:variant>
      <vt:variant>
        <vt:i4>4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41</vt:i4>
      </vt:variant>
    </vt:vector>
  </HeadingPairs>
  <TitlesOfParts>
    <vt:vector size="53" baseType="lpstr">
      <vt:lpstr>Aharoni</vt:lpstr>
      <vt:lpstr>Arial</vt:lpstr>
      <vt:lpstr>Calibri</vt:lpstr>
      <vt:lpstr>Calibri Light</vt:lpstr>
      <vt:lpstr>Courier New</vt:lpstr>
      <vt:lpstr>Wingdings</vt:lpstr>
      <vt:lpstr>Tema do Office</vt:lpstr>
      <vt:lpstr>5_Tema do Office</vt:lpstr>
      <vt:lpstr>7_Tema do Office</vt:lpstr>
      <vt:lpstr>10_Tema do Office</vt:lpstr>
      <vt:lpstr>Slide do think-cell</vt:lpstr>
      <vt:lpstr>Planilha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Gustavo Nitzsche</dc:creator>
  <cp:lastModifiedBy>Luis Marcal</cp:lastModifiedBy>
  <cp:revision>1097</cp:revision>
  <dcterms:created xsi:type="dcterms:W3CDTF">2015-08-20T14:57:26Z</dcterms:created>
  <dcterms:modified xsi:type="dcterms:W3CDTF">2016-02-25T16:14:34Z</dcterms:modified>
</cp:coreProperties>
</file>