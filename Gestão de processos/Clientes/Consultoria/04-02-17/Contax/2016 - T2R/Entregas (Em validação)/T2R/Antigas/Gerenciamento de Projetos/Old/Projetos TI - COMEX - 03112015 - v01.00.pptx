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8" r:id="rId2"/>
    <p:sldId id="287" r:id="rId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7691" autoAdjust="0"/>
  </p:normalViewPr>
  <p:slideViewPr>
    <p:cSldViewPr>
      <p:cViewPr>
        <p:scale>
          <a:sx n="80" d="100"/>
          <a:sy n="80" d="100"/>
        </p:scale>
        <p:origin x="-1086" y="180"/>
      </p:cViewPr>
      <p:guideLst>
        <p:guide orient="horz" pos="216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8970C-9372-4F17-A0C8-4B544A4D0E5B}" type="datetimeFigureOut">
              <a:rPr lang="pt-BR" smtClean="0"/>
              <a:t>23/05/2016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FD6C1-D1CC-4FB0-96F4-4EBEA9FB2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10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260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78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81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1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1741"/>
            <a:ext cx="4038600" cy="3397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741"/>
            <a:ext cx="4038600" cy="3397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11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59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5" indent="0">
              <a:buNone/>
              <a:defRPr sz="1600" b="1"/>
            </a:lvl6pPr>
            <a:lvl7pPr marL="2742918" indent="0">
              <a:buNone/>
              <a:defRPr sz="1600" b="1"/>
            </a:lvl7pPr>
            <a:lvl8pPr marL="3200071" indent="0">
              <a:buNone/>
              <a:defRPr sz="1600" b="1"/>
            </a:lvl8pPr>
            <a:lvl9pPr marL="3657224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59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5" indent="0">
              <a:buNone/>
              <a:defRPr sz="1600" b="1"/>
            </a:lvl6pPr>
            <a:lvl7pPr marL="2742918" indent="0">
              <a:buNone/>
              <a:defRPr sz="1600" b="1"/>
            </a:lvl7pPr>
            <a:lvl8pPr marL="3200071" indent="0">
              <a:buNone/>
              <a:defRPr sz="1600" b="1"/>
            </a:lvl8pPr>
            <a:lvl9pPr marL="3657224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60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8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909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1" y="273057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1" y="1435108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6" indent="0">
              <a:buNone/>
              <a:defRPr sz="1000"/>
            </a:lvl3pPr>
            <a:lvl4pPr marL="1371459" indent="0">
              <a:buNone/>
              <a:defRPr sz="900"/>
            </a:lvl4pPr>
            <a:lvl5pPr marL="1828613" indent="0">
              <a:buNone/>
              <a:defRPr sz="900"/>
            </a:lvl5pPr>
            <a:lvl6pPr marL="2285765" indent="0">
              <a:buNone/>
              <a:defRPr sz="900"/>
            </a:lvl6pPr>
            <a:lvl7pPr marL="2742918" indent="0">
              <a:buNone/>
              <a:defRPr sz="900"/>
            </a:lvl7pPr>
            <a:lvl8pPr marL="3200071" indent="0">
              <a:buNone/>
              <a:defRPr sz="900"/>
            </a:lvl8pPr>
            <a:lvl9pPr marL="3657224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24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53" indent="0">
              <a:buNone/>
              <a:defRPr sz="2800"/>
            </a:lvl2pPr>
            <a:lvl3pPr marL="914306" indent="0">
              <a:buNone/>
              <a:defRPr sz="2400"/>
            </a:lvl3pPr>
            <a:lvl4pPr marL="1371459" indent="0">
              <a:buNone/>
              <a:defRPr sz="2000"/>
            </a:lvl4pPr>
            <a:lvl5pPr marL="1828613" indent="0">
              <a:buNone/>
              <a:defRPr sz="2000"/>
            </a:lvl5pPr>
            <a:lvl6pPr marL="2285765" indent="0">
              <a:buNone/>
              <a:defRPr sz="2000"/>
            </a:lvl6pPr>
            <a:lvl7pPr marL="2742918" indent="0">
              <a:buNone/>
              <a:defRPr sz="2000"/>
            </a:lvl7pPr>
            <a:lvl8pPr marL="3200071" indent="0">
              <a:buNone/>
              <a:defRPr sz="2000"/>
            </a:lvl8pPr>
            <a:lvl9pPr marL="365722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5"/>
            <a:ext cx="54864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6" indent="0">
              <a:buNone/>
              <a:defRPr sz="1000"/>
            </a:lvl3pPr>
            <a:lvl4pPr marL="1371459" indent="0">
              <a:buNone/>
              <a:defRPr sz="900"/>
            </a:lvl4pPr>
            <a:lvl5pPr marL="1828613" indent="0">
              <a:buNone/>
              <a:defRPr sz="900"/>
            </a:lvl5pPr>
            <a:lvl6pPr marL="2285765" indent="0">
              <a:buNone/>
              <a:defRPr sz="900"/>
            </a:lvl6pPr>
            <a:lvl7pPr marL="2742918" indent="0">
              <a:buNone/>
              <a:defRPr sz="900"/>
            </a:lvl7pPr>
            <a:lvl8pPr marL="3200071" indent="0">
              <a:buNone/>
              <a:defRPr sz="900"/>
            </a:lvl8pPr>
            <a:lvl9pPr marL="3657224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99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10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6"/>
            <a:ext cx="2057400" cy="4392612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6"/>
            <a:ext cx="6019800" cy="4392612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45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8"/>
            <a:ext cx="2133600" cy="36512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53"/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53"/>
              <a:t>5/23/2016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8"/>
            <a:ext cx="2895600" cy="36512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53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8"/>
            <a:ext cx="2133600" cy="36512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53"/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53"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7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15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4" indent="-342864" algn="l" defTabSz="457153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74" indent="-285720" algn="l" defTabSz="457153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3" indent="-228577" algn="l" defTabSz="457153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36" indent="-228577" algn="l" defTabSz="457153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88" indent="-228577" algn="l" defTabSz="457153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1" indent="-228577" algn="l" defTabSz="45715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4" indent="-228577" algn="l" defTabSz="45715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48" indent="-228577" algn="l" defTabSz="45715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1" indent="-228577" algn="l" defTabSz="45715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9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5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18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1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4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05-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81942" y="2647467"/>
            <a:ext cx="5994314" cy="910237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FFFFFF"/>
                </a:solidFill>
                <a:latin typeface="Arial"/>
                <a:cs typeface="Arial"/>
              </a:rPr>
              <a:t>Projetos </a:t>
            </a:r>
            <a:r>
              <a:rPr lang="en-US" sz="2400" b="1" dirty="0" err="1" smtClean="0">
                <a:solidFill>
                  <a:srgbClr val="FFFFFF"/>
                </a:solidFill>
                <a:latin typeface="Arial"/>
                <a:cs typeface="Arial"/>
              </a:rPr>
              <a:t>Contax</a:t>
            </a:r>
            <a:r>
              <a:rPr lang="en-US" sz="2400" b="1" dirty="0" smtClean="0">
                <a:solidFill>
                  <a:srgbClr val="FFFFFF"/>
                </a:solidFill>
                <a:latin typeface="Arial"/>
                <a:cs typeface="Arial"/>
              </a:rPr>
              <a:t> vs. Capacity TI</a:t>
            </a:r>
            <a:endParaRPr lang="en-US" sz="24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81932" y="3316655"/>
            <a:ext cx="3749832" cy="557533"/>
          </a:xfrm>
          <a:prstGeom prst="rect">
            <a:avLst/>
          </a:prstGeom>
        </p:spPr>
        <p:txBody>
          <a:bodyPr vert="horz" lIns="91431" tIns="45715" rIns="91431" bIns="45715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14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881941" y="3811376"/>
            <a:ext cx="1065786" cy="307766"/>
          </a:xfrm>
          <a:prstGeom prst="rect">
            <a:avLst/>
          </a:prstGeom>
          <a:noFill/>
        </p:spPr>
        <p:txBody>
          <a:bodyPr wrap="none" lIns="91431" tIns="45715" rIns="91431" bIns="45715" rtlCol="0">
            <a:spAutoFit/>
          </a:bodyPr>
          <a:lstStyle/>
          <a:p>
            <a:r>
              <a:rPr lang="pt-BR" sz="1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03/11/2015</a:t>
            </a:r>
            <a:endParaRPr lang="pt-BR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31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1413606" y="1047219"/>
            <a:ext cx="2442912" cy="4082970"/>
          </a:xfrm>
          <a:prstGeom prst="rect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Retângulo 66"/>
          <p:cNvSpPr/>
          <p:nvPr/>
        </p:nvSpPr>
        <p:spPr>
          <a:xfrm>
            <a:off x="1424240" y="1080524"/>
            <a:ext cx="2438314" cy="3392591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4" name="Retângulo 123"/>
          <p:cNvSpPr/>
          <p:nvPr/>
        </p:nvSpPr>
        <p:spPr>
          <a:xfrm>
            <a:off x="2627784" y="5956412"/>
            <a:ext cx="1728192" cy="6420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Implantar modelo de priorização</a:t>
            </a:r>
            <a:endParaRPr lang="pt-BR" sz="1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125" name="Retângulo 124"/>
          <p:cNvSpPr/>
          <p:nvPr/>
        </p:nvSpPr>
        <p:spPr>
          <a:xfrm>
            <a:off x="4644008" y="5956412"/>
            <a:ext cx="1728192" cy="6420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Garantir implementação dos processos</a:t>
            </a:r>
            <a:endParaRPr lang="pt-BR" sz="1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pic>
        <p:nvPicPr>
          <p:cNvPr id="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38" y="5580471"/>
            <a:ext cx="776362" cy="127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itle 1"/>
          <p:cNvSpPr txBox="1">
            <a:spLocks/>
          </p:cNvSpPr>
          <p:nvPr/>
        </p:nvSpPr>
        <p:spPr>
          <a:xfrm>
            <a:off x="394649" y="0"/>
            <a:ext cx="6665371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Projetos de TI: Contexto atual</a:t>
            </a:r>
            <a:endParaRPr lang="pt-BR" sz="20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1475656" y="1273775"/>
            <a:ext cx="1872208" cy="3367748"/>
            <a:chOff x="1475656" y="1273775"/>
            <a:chExt cx="1872208" cy="3367748"/>
          </a:xfrm>
        </p:grpSpPr>
        <p:sp>
          <p:nvSpPr>
            <p:cNvPr id="4" name="Retângulo 3"/>
            <p:cNvSpPr/>
            <p:nvPr/>
          </p:nvSpPr>
          <p:spPr>
            <a:xfrm>
              <a:off x="2051720" y="2636611"/>
              <a:ext cx="1296144" cy="6420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latin typeface="Trebuchet MS" panose="020B0603020202020204" pitchFamily="34" charset="0"/>
                  <a:ea typeface="Tahoma" pitchFamily="34" charset="0"/>
                  <a:cs typeface="Tahoma" pitchFamily="34" charset="0"/>
                </a:rPr>
                <a:t>Gestão </a:t>
              </a:r>
              <a:r>
                <a:rPr lang="pt-BR" sz="1600" b="1" dirty="0" err="1" smtClean="0">
                  <a:latin typeface="Trebuchet MS" panose="020B0603020202020204" pitchFamily="34" charset="0"/>
                  <a:ea typeface="Tahoma" pitchFamily="34" charset="0"/>
                  <a:cs typeface="Tahoma" pitchFamily="34" charset="0"/>
                </a:rPr>
                <a:t>Proj</a:t>
              </a:r>
              <a:r>
                <a:rPr lang="pt-BR" sz="1600" b="1" dirty="0" smtClean="0">
                  <a:latin typeface="Trebuchet MS" panose="020B0603020202020204" pitchFamily="34" charset="0"/>
                  <a:ea typeface="Tahoma" pitchFamily="34" charset="0"/>
                  <a:cs typeface="Tahoma" pitchFamily="34" charset="0"/>
                </a:rPr>
                <a:t>. TI</a:t>
              </a:r>
              <a:endParaRPr lang="pt-BR" sz="1600" b="1" dirty="0">
                <a:latin typeface="Trebuchet MS" panose="020B0603020202020204" pitchFamily="34" charset="0"/>
                <a:ea typeface="Tahoma" pitchFamily="34" charset="0"/>
                <a:cs typeface="Tahoma" pitchFamily="34" charset="0"/>
              </a:endParaRPr>
            </a:p>
          </p:txBody>
        </p:sp>
        <p:cxnSp>
          <p:nvCxnSpPr>
            <p:cNvPr id="72" name="Conector reto 71"/>
            <p:cNvCxnSpPr/>
            <p:nvPr/>
          </p:nvCxnSpPr>
          <p:spPr>
            <a:xfrm>
              <a:off x="1475656" y="1273775"/>
              <a:ext cx="0" cy="33677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de seta reta 73"/>
            <p:cNvCxnSpPr/>
            <p:nvPr/>
          </p:nvCxnSpPr>
          <p:spPr>
            <a:xfrm>
              <a:off x="1475656" y="2957649"/>
              <a:ext cx="540000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o 8"/>
          <p:cNvGrpSpPr/>
          <p:nvPr/>
        </p:nvGrpSpPr>
        <p:grpSpPr>
          <a:xfrm>
            <a:off x="3347864" y="2637529"/>
            <a:ext cx="1804654" cy="642077"/>
            <a:chOff x="3347864" y="2637529"/>
            <a:chExt cx="1804654" cy="642077"/>
          </a:xfrm>
        </p:grpSpPr>
        <p:sp>
          <p:nvSpPr>
            <p:cNvPr id="102" name="Retângulo 101"/>
            <p:cNvSpPr/>
            <p:nvPr/>
          </p:nvSpPr>
          <p:spPr>
            <a:xfrm>
              <a:off x="3856518" y="2637529"/>
              <a:ext cx="1296000" cy="6420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latin typeface="Trebuchet MS" panose="020B0603020202020204" pitchFamily="34" charset="0"/>
                  <a:ea typeface="Tahoma" pitchFamily="34" charset="0"/>
                  <a:cs typeface="Tahoma" pitchFamily="34" charset="0"/>
                </a:rPr>
                <a:t>Executores TI</a:t>
              </a:r>
            </a:p>
          </p:txBody>
        </p:sp>
        <p:cxnSp>
          <p:nvCxnSpPr>
            <p:cNvPr id="103" name="Conector de seta reta 102"/>
            <p:cNvCxnSpPr>
              <a:stCxn id="4" idx="3"/>
              <a:endCxn id="102" idx="1"/>
            </p:cNvCxnSpPr>
            <p:nvPr/>
          </p:nvCxnSpPr>
          <p:spPr>
            <a:xfrm>
              <a:off x="3347864" y="2957650"/>
              <a:ext cx="508654" cy="91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upo 118"/>
          <p:cNvGrpSpPr/>
          <p:nvPr/>
        </p:nvGrpSpPr>
        <p:grpSpPr>
          <a:xfrm>
            <a:off x="6111347" y="908720"/>
            <a:ext cx="2383619" cy="360040"/>
            <a:chOff x="5652120" y="1268760"/>
            <a:chExt cx="2383619" cy="360040"/>
          </a:xfrm>
        </p:grpSpPr>
        <p:sp>
          <p:nvSpPr>
            <p:cNvPr id="105" name="CaixaDeTexto 104"/>
            <p:cNvSpPr txBox="1"/>
            <p:nvPr/>
          </p:nvSpPr>
          <p:spPr>
            <a:xfrm>
              <a:off x="5652120" y="1268760"/>
              <a:ext cx="23836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 smtClean="0">
                  <a:latin typeface="Trebuchet MS" panose="020B0603020202020204" pitchFamily="34" charset="0"/>
                </a:rPr>
                <a:t>Problemática</a:t>
              </a:r>
              <a:endParaRPr lang="pt-BR" sz="1600" dirty="0">
                <a:latin typeface="Trebuchet MS" panose="020B0603020202020204" pitchFamily="34" charset="0"/>
              </a:endParaRPr>
            </a:p>
          </p:txBody>
        </p:sp>
        <p:cxnSp>
          <p:nvCxnSpPr>
            <p:cNvPr id="109" name="Conector reto 108"/>
            <p:cNvCxnSpPr/>
            <p:nvPr/>
          </p:nvCxnSpPr>
          <p:spPr>
            <a:xfrm>
              <a:off x="5979833" y="1628800"/>
              <a:ext cx="17281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CaixaDeTexto 113"/>
          <p:cNvSpPr txBox="1"/>
          <p:nvPr/>
        </p:nvSpPr>
        <p:spPr>
          <a:xfrm>
            <a:off x="5595974" y="1622990"/>
            <a:ext cx="34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Incremento de projetos </a:t>
            </a:r>
            <a:r>
              <a:rPr lang="pt-BR" sz="1200" dirty="0" smtClean="0">
                <a:latin typeface="Trebuchet MS" panose="020B0603020202020204" pitchFamily="34" charset="0"/>
              </a:rPr>
              <a:t>prioritários frequentemente, sem </a:t>
            </a:r>
            <a:r>
              <a:rPr lang="pt-BR" sz="1200" dirty="0" err="1" smtClean="0">
                <a:latin typeface="Trebuchet MS" panose="020B0603020202020204" pitchFamily="34" charset="0"/>
              </a:rPr>
              <a:t>despriorização</a:t>
            </a:r>
            <a:r>
              <a:rPr lang="pt-BR" sz="1200" dirty="0" smtClean="0">
                <a:latin typeface="Trebuchet MS" panose="020B0603020202020204" pitchFamily="34" charset="0"/>
              </a:rPr>
              <a:t> de outros</a:t>
            </a:r>
            <a:endParaRPr lang="pt-BR" sz="1200" dirty="0">
              <a:latin typeface="Trebuchet MS" panose="020B0603020202020204" pitchFamily="34" charset="0"/>
            </a:endParaRPr>
          </a:p>
        </p:txBody>
      </p:sp>
      <p:sp>
        <p:nvSpPr>
          <p:cNvPr id="117" name="CaixaDeTexto 116"/>
          <p:cNvSpPr txBox="1"/>
          <p:nvPr/>
        </p:nvSpPr>
        <p:spPr>
          <a:xfrm>
            <a:off x="5595974" y="2879884"/>
            <a:ext cx="34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>
                <a:latin typeface="Trebuchet MS" panose="020B0603020202020204" pitchFamily="34" charset="0"/>
              </a:rPr>
              <a:t>Demandas / incidentes / </a:t>
            </a:r>
            <a:r>
              <a:rPr lang="pt-BR" sz="1200" dirty="0" err="1" smtClean="0">
                <a:latin typeface="Trebuchet MS" panose="020B0603020202020204" pitchFamily="34" charset="0"/>
              </a:rPr>
              <a:t>fast</a:t>
            </a:r>
            <a:r>
              <a:rPr lang="pt-BR" sz="1200" dirty="0" smtClean="0">
                <a:latin typeface="Trebuchet MS" panose="020B0603020202020204" pitchFamily="34" charset="0"/>
              </a:rPr>
              <a:t> </a:t>
            </a:r>
            <a:r>
              <a:rPr lang="pt-BR" sz="1200" dirty="0" err="1" smtClean="0">
                <a:latin typeface="Trebuchet MS" panose="020B0603020202020204" pitchFamily="34" charset="0"/>
              </a:rPr>
              <a:t>tracking</a:t>
            </a:r>
            <a:r>
              <a:rPr lang="pt-BR" sz="1200" dirty="0" smtClean="0">
                <a:latin typeface="Trebuchet MS" panose="020B0603020202020204" pitchFamily="34" charset="0"/>
              </a:rPr>
              <a:t> cobrados como projetos</a:t>
            </a:r>
          </a:p>
        </p:txBody>
      </p:sp>
      <p:grpSp>
        <p:nvGrpSpPr>
          <p:cNvPr id="29" name="Grupo 28"/>
          <p:cNvGrpSpPr/>
          <p:nvPr/>
        </p:nvGrpSpPr>
        <p:grpSpPr>
          <a:xfrm>
            <a:off x="381444" y="5394920"/>
            <a:ext cx="8223003" cy="482352"/>
            <a:chOff x="381444" y="5259398"/>
            <a:chExt cx="8223003" cy="482352"/>
          </a:xfrm>
        </p:grpSpPr>
        <p:sp>
          <p:nvSpPr>
            <p:cNvPr id="121" name="Triângulo isósceles 120"/>
            <p:cNvSpPr/>
            <p:nvPr/>
          </p:nvSpPr>
          <p:spPr>
            <a:xfrm rot="10800000">
              <a:off x="381444" y="5259398"/>
              <a:ext cx="8223003" cy="482352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3312708" y="5305767"/>
              <a:ext cx="2383619" cy="372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 smtClean="0">
                  <a:latin typeface="Trebuchet MS" panose="020B0603020202020204" pitchFamily="34" charset="0"/>
                </a:rPr>
                <a:t>Solução</a:t>
              </a:r>
              <a:endParaRPr lang="pt-BR" sz="1600" dirty="0">
                <a:latin typeface="Trebuchet MS" panose="020B0603020202020204" pitchFamily="34" charset="0"/>
              </a:endParaRPr>
            </a:p>
          </p:txBody>
        </p:sp>
      </p:grpSp>
      <p:sp>
        <p:nvSpPr>
          <p:cNvPr id="39" name="CaixaDeTexto 38"/>
          <p:cNvSpPr txBox="1"/>
          <p:nvPr/>
        </p:nvSpPr>
        <p:spPr>
          <a:xfrm>
            <a:off x="5595974" y="3323665"/>
            <a:ext cx="34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>
                <a:latin typeface="Trebuchet MS" panose="020B0603020202020204" pitchFamily="34" charset="0"/>
              </a:rPr>
              <a:t>Não há recursos (líderes e executores de TI) suficientes para tratamento </a:t>
            </a:r>
            <a:r>
              <a:rPr lang="pt-BR" sz="1200" dirty="0" smtClean="0">
                <a:latin typeface="Trebuchet MS" panose="020B0603020202020204" pitchFamily="34" charset="0"/>
              </a:rPr>
              <a:t>em paralelo de </a:t>
            </a:r>
            <a:r>
              <a:rPr lang="pt-BR" sz="1200" dirty="0" smtClean="0">
                <a:latin typeface="Trebuchet MS" panose="020B0603020202020204" pitchFamily="34" charset="0"/>
              </a:rPr>
              <a:t>todos os </a:t>
            </a:r>
            <a:r>
              <a:rPr lang="pt-BR" sz="1200" dirty="0" smtClean="0">
                <a:latin typeface="Trebuchet MS" panose="020B0603020202020204" pitchFamily="34" charset="0"/>
              </a:rPr>
              <a:t>projetos que áreas solicitam</a:t>
            </a:r>
            <a:endParaRPr lang="pt-BR" sz="1200" dirty="0" smtClean="0">
              <a:latin typeface="Trebuchet MS" panose="020B0603020202020204" pitchFamily="34" charset="0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5595974" y="1363875"/>
            <a:ext cx="34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Não existe priorização </a:t>
            </a:r>
            <a:r>
              <a:rPr lang="pt-BR" sz="1200" dirty="0" smtClean="0">
                <a:latin typeface="Trebuchet MS" panose="020B0603020202020204" pitchFamily="34" charset="0"/>
              </a:rPr>
              <a:t>efetiva de projetos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5595974" y="2251437"/>
            <a:ext cx="34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smtClean="0">
                <a:latin typeface="Trebuchet MS" panose="020B0603020202020204" pitchFamily="34" charset="0"/>
              </a:rPr>
              <a:t>Não existe centralização de demandas - </a:t>
            </a:r>
            <a:r>
              <a:rPr lang="pt-BR" sz="12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muitas entidades que cobram a mesma demanda </a:t>
            </a:r>
            <a:r>
              <a:rPr lang="pt-BR" sz="1200" dirty="0" smtClean="0">
                <a:latin typeface="Trebuchet MS" panose="020B0603020202020204" pitchFamily="34" charset="0"/>
              </a:rPr>
              <a:t>e por vários canais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5595974" y="3952112"/>
            <a:ext cx="34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Processo não é respeitado: </a:t>
            </a:r>
            <a:r>
              <a:rPr lang="pt-BR" sz="1200" dirty="0" smtClean="0">
                <a:latin typeface="Trebuchet MS" panose="020B0603020202020204" pitchFamily="34" charset="0"/>
              </a:rPr>
              <a:t>executores cobrados pelos demandantes, execução de projetos menos importantes que passam à frente dos prioritários</a:t>
            </a:r>
          </a:p>
        </p:txBody>
      </p:sp>
      <p:cxnSp>
        <p:nvCxnSpPr>
          <p:cNvPr id="13" name="Conector de seta reta 12"/>
          <p:cNvCxnSpPr>
            <a:stCxn id="56" idx="3"/>
            <a:endCxn id="102" idx="1"/>
          </p:cNvCxnSpPr>
          <p:nvPr/>
        </p:nvCxnSpPr>
        <p:spPr>
          <a:xfrm>
            <a:off x="1342851" y="1502375"/>
            <a:ext cx="2513667" cy="145619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stCxn id="3" idx="3"/>
            <a:endCxn id="102" idx="1"/>
          </p:cNvCxnSpPr>
          <p:nvPr/>
        </p:nvCxnSpPr>
        <p:spPr>
          <a:xfrm>
            <a:off x="1342851" y="2084485"/>
            <a:ext cx="2513667" cy="87408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/>
          <p:cNvCxnSpPr>
            <a:stCxn id="54" idx="3"/>
            <a:endCxn id="102" idx="1"/>
          </p:cNvCxnSpPr>
          <p:nvPr/>
        </p:nvCxnSpPr>
        <p:spPr>
          <a:xfrm>
            <a:off x="1342851" y="2666595"/>
            <a:ext cx="2513667" cy="29197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55" idx="3"/>
            <a:endCxn id="102" idx="1"/>
          </p:cNvCxnSpPr>
          <p:nvPr/>
        </p:nvCxnSpPr>
        <p:spPr>
          <a:xfrm flipV="1">
            <a:off x="1342851" y="2958568"/>
            <a:ext cx="2513667" cy="29013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62" idx="3"/>
            <a:endCxn id="102" idx="1"/>
          </p:cNvCxnSpPr>
          <p:nvPr/>
        </p:nvCxnSpPr>
        <p:spPr>
          <a:xfrm flipV="1">
            <a:off x="1342851" y="2958568"/>
            <a:ext cx="2513667" cy="872247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>
            <a:stCxn id="63" idx="3"/>
            <a:endCxn id="102" idx="1"/>
          </p:cNvCxnSpPr>
          <p:nvPr/>
        </p:nvCxnSpPr>
        <p:spPr>
          <a:xfrm flipV="1">
            <a:off x="1342851" y="2958568"/>
            <a:ext cx="2513667" cy="1454355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5642055" y="4767535"/>
            <a:ext cx="34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Projetos estruturantes de TI sem acompanhamento/ líder de projeto</a:t>
            </a:r>
          </a:p>
        </p:txBody>
      </p:sp>
      <p:sp>
        <p:nvSpPr>
          <p:cNvPr id="70" name="Retângulo 69"/>
          <p:cNvSpPr/>
          <p:nvPr/>
        </p:nvSpPr>
        <p:spPr>
          <a:xfrm>
            <a:off x="301443" y="4714410"/>
            <a:ext cx="1102205" cy="457200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/>
                </a:solidFill>
                <a:latin typeface="Trebuchet MS" panose="020B0603020202020204" pitchFamily="34" charset="0"/>
              </a:rPr>
              <a:t>Projetos Estruturantes de TI/ TODO</a:t>
            </a:r>
            <a:endParaRPr lang="pt-BR" sz="10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66" name="Retângulo 65"/>
          <p:cNvSpPr/>
          <p:nvPr/>
        </p:nvSpPr>
        <p:spPr>
          <a:xfrm>
            <a:off x="3862554" y="1047219"/>
            <a:ext cx="1697898" cy="1589693"/>
          </a:xfrm>
          <a:prstGeom prst="rect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Retângulo 68"/>
          <p:cNvSpPr/>
          <p:nvPr/>
        </p:nvSpPr>
        <p:spPr>
          <a:xfrm>
            <a:off x="3856518" y="3711515"/>
            <a:ext cx="1817435" cy="1589693"/>
          </a:xfrm>
          <a:prstGeom prst="rect">
            <a:avLst/>
          </a:prstGeom>
          <a:solidFill>
            <a:schemeClr val="lt1">
              <a:alpha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" name="Grupo 6"/>
          <p:cNvGrpSpPr/>
          <p:nvPr/>
        </p:nvGrpSpPr>
        <p:grpSpPr>
          <a:xfrm>
            <a:off x="263395" y="908720"/>
            <a:ext cx="1224135" cy="3732803"/>
            <a:chOff x="263395" y="908720"/>
            <a:chExt cx="1224135" cy="3732803"/>
          </a:xfrm>
        </p:grpSpPr>
        <p:grpSp>
          <p:nvGrpSpPr>
            <p:cNvPr id="122" name="Grupo 121"/>
            <p:cNvGrpSpPr/>
            <p:nvPr/>
          </p:nvGrpSpPr>
          <p:grpSpPr>
            <a:xfrm>
              <a:off x="381445" y="1273775"/>
              <a:ext cx="961406" cy="3367748"/>
              <a:chOff x="381445" y="1141372"/>
              <a:chExt cx="961406" cy="3367748"/>
            </a:xfrm>
          </p:grpSpPr>
          <p:sp>
            <p:nvSpPr>
              <p:cNvPr id="56" name="Retângulo 55"/>
              <p:cNvSpPr/>
              <p:nvPr/>
            </p:nvSpPr>
            <p:spPr>
              <a:xfrm>
                <a:off x="381445" y="1141372"/>
                <a:ext cx="961406" cy="457200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>
                    <a:solidFill>
                      <a:schemeClr val="bg1"/>
                    </a:solidFill>
                    <a:latin typeface="Trebuchet MS" panose="020B0603020202020204" pitchFamily="34" charset="0"/>
                  </a:rPr>
                  <a:t>PMO Área de negócios</a:t>
                </a:r>
                <a:endParaRPr lang="pt-BR" sz="1000" b="1" dirty="0">
                  <a:solidFill>
                    <a:schemeClr val="bg1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3" name="Retângulo 2"/>
              <p:cNvSpPr/>
              <p:nvPr/>
            </p:nvSpPr>
            <p:spPr>
              <a:xfrm>
                <a:off x="381445" y="1723482"/>
                <a:ext cx="961406" cy="457200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err="1" smtClean="0">
                    <a:solidFill>
                      <a:schemeClr val="bg1"/>
                    </a:solidFill>
                    <a:latin typeface="Trebuchet MS" panose="020B0603020202020204" pitchFamily="34" charset="0"/>
                  </a:rPr>
                  <a:t>Dir</a:t>
                </a:r>
                <a:r>
                  <a:rPr lang="pt-BR" sz="1000" b="1" dirty="0" smtClean="0">
                    <a:solidFill>
                      <a:schemeClr val="bg1"/>
                    </a:solidFill>
                    <a:latin typeface="Trebuchet MS" panose="020B0603020202020204" pitchFamily="34" charset="0"/>
                  </a:rPr>
                  <a:t> Operação</a:t>
                </a:r>
              </a:p>
              <a:p>
                <a:pPr algn="ctr"/>
                <a:r>
                  <a:rPr lang="pt-BR" sz="1000" b="1" dirty="0" smtClean="0">
                    <a:solidFill>
                      <a:schemeClr val="bg1"/>
                    </a:solidFill>
                    <a:latin typeface="Trebuchet MS" panose="020B0603020202020204" pitchFamily="34" charset="0"/>
                  </a:rPr>
                  <a:t>(direto)</a:t>
                </a:r>
                <a:endParaRPr lang="pt-BR" sz="1000" b="1" dirty="0">
                  <a:solidFill>
                    <a:schemeClr val="bg1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54" name="Retângulo 53"/>
              <p:cNvSpPr/>
              <p:nvPr/>
            </p:nvSpPr>
            <p:spPr>
              <a:xfrm>
                <a:off x="381445" y="2305592"/>
                <a:ext cx="961406" cy="457200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>
                    <a:solidFill>
                      <a:schemeClr val="bg1"/>
                    </a:solidFill>
                    <a:latin typeface="Trebuchet MS" panose="020B0603020202020204" pitchFamily="34" charset="0"/>
                  </a:rPr>
                  <a:t>Ger. suporte Operação</a:t>
                </a:r>
                <a:endParaRPr lang="pt-BR" sz="1000" b="1" dirty="0">
                  <a:solidFill>
                    <a:schemeClr val="bg1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55" name="Retângulo 54"/>
              <p:cNvSpPr/>
              <p:nvPr/>
            </p:nvSpPr>
            <p:spPr>
              <a:xfrm>
                <a:off x="381445" y="2887702"/>
                <a:ext cx="961406" cy="457200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err="1" smtClean="0">
                    <a:solidFill>
                      <a:schemeClr val="bg1"/>
                    </a:solidFill>
                    <a:latin typeface="Trebuchet MS" panose="020B0603020202020204" pitchFamily="34" charset="0"/>
                  </a:rPr>
                  <a:t>Pré</a:t>
                </a:r>
                <a:r>
                  <a:rPr lang="pt-BR" sz="1000" b="1" dirty="0" smtClean="0">
                    <a:solidFill>
                      <a:schemeClr val="bg1"/>
                    </a:solidFill>
                    <a:latin typeface="Trebuchet MS" panose="020B0603020202020204" pitchFamily="34" charset="0"/>
                  </a:rPr>
                  <a:t> vendas</a:t>
                </a:r>
                <a:endParaRPr lang="pt-BR" sz="1000" b="1" dirty="0">
                  <a:solidFill>
                    <a:schemeClr val="bg1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63" name="Retângulo 62"/>
              <p:cNvSpPr/>
              <p:nvPr/>
            </p:nvSpPr>
            <p:spPr>
              <a:xfrm>
                <a:off x="381445" y="4051920"/>
                <a:ext cx="961406" cy="457200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smtClean="0">
                    <a:solidFill>
                      <a:schemeClr val="bg1"/>
                    </a:solidFill>
                    <a:latin typeface="Trebuchet MS" panose="020B0603020202020204" pitchFamily="34" charset="0"/>
                  </a:rPr>
                  <a:t>Corporativos</a:t>
                </a:r>
                <a:endParaRPr lang="pt-BR" sz="1000" b="1" dirty="0">
                  <a:solidFill>
                    <a:schemeClr val="bg1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62" name="Retângulo 61"/>
              <p:cNvSpPr/>
              <p:nvPr/>
            </p:nvSpPr>
            <p:spPr>
              <a:xfrm>
                <a:off x="381445" y="3469812"/>
                <a:ext cx="961406" cy="457200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 err="1" smtClean="0">
                    <a:solidFill>
                      <a:schemeClr val="bg1"/>
                    </a:solidFill>
                    <a:latin typeface="Trebuchet MS" panose="020B0603020202020204" pitchFamily="34" charset="0"/>
                  </a:rPr>
                  <a:t>POPs</a:t>
                </a:r>
                <a:endParaRPr lang="pt-BR" sz="1000" b="1" dirty="0">
                  <a:solidFill>
                    <a:schemeClr val="bg1"/>
                  </a:solidFill>
                  <a:latin typeface="Trebuchet MS" panose="020B0603020202020204" pitchFamily="34" charset="0"/>
                </a:endParaRPr>
              </a:p>
            </p:txBody>
          </p:sp>
        </p:grpSp>
        <p:cxnSp>
          <p:nvCxnSpPr>
            <p:cNvPr id="130" name="Conector reto 129"/>
            <p:cNvCxnSpPr/>
            <p:nvPr/>
          </p:nvCxnSpPr>
          <p:spPr>
            <a:xfrm>
              <a:off x="371028" y="1154941"/>
              <a:ext cx="99000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CaixaDeTexto 131"/>
            <p:cNvSpPr txBox="1"/>
            <p:nvPr/>
          </p:nvSpPr>
          <p:spPr>
            <a:xfrm>
              <a:off x="263395" y="908720"/>
              <a:ext cx="12241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solidFill>
                    <a:schemeClr val="bg1">
                      <a:lumMod val="50000"/>
                    </a:schemeClr>
                  </a:solidFill>
                  <a:latin typeface="Trebuchet MS" panose="020B0603020202020204" pitchFamily="34" charset="0"/>
                </a:rPr>
                <a:t>Demandantes</a:t>
              </a:r>
              <a:endParaRPr lang="pt-BR" sz="1200" b="1" dirty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endParaRPr>
            </a:p>
          </p:txBody>
        </p:sp>
      </p:grpSp>
      <p:sp>
        <p:nvSpPr>
          <p:cNvPr id="40" name="Texto explicativo retangular 39"/>
          <p:cNvSpPr/>
          <p:nvPr/>
        </p:nvSpPr>
        <p:spPr>
          <a:xfrm>
            <a:off x="3203849" y="1204385"/>
            <a:ext cx="2160239" cy="936104"/>
          </a:xfrm>
          <a:prstGeom prst="wedgeRectCallout">
            <a:avLst>
              <a:gd name="adj1" fmla="val 2970"/>
              <a:gd name="adj2" fmla="val 94726"/>
            </a:avLst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b="1" dirty="0" smtClean="0">
                <a:solidFill>
                  <a:srgbClr val="FF0000"/>
                </a:solidFill>
              </a:rPr>
              <a:t>Executores nas pontas 100% alocados e 40% projetos prioritários na fila para execução</a:t>
            </a:r>
          </a:p>
        </p:txBody>
      </p:sp>
      <p:sp>
        <p:nvSpPr>
          <p:cNvPr id="2" name="Texto explicativo retangular 1"/>
          <p:cNvSpPr/>
          <p:nvPr/>
        </p:nvSpPr>
        <p:spPr>
          <a:xfrm>
            <a:off x="3347865" y="4149080"/>
            <a:ext cx="2294190" cy="648072"/>
          </a:xfrm>
          <a:prstGeom prst="wedgeRectCallout">
            <a:avLst>
              <a:gd name="adj1" fmla="val -52002"/>
              <a:gd name="adj2" fmla="val -82877"/>
            </a:avLst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b="1" dirty="0" smtClean="0">
                <a:solidFill>
                  <a:srgbClr val="FF0000"/>
                </a:solidFill>
              </a:rPr>
              <a:t>5 líderes de projeto TI, </a:t>
            </a:r>
          </a:p>
          <a:p>
            <a:r>
              <a:rPr lang="pt-BR" sz="1100" b="1" dirty="0" err="1">
                <a:solidFill>
                  <a:srgbClr val="FF0000"/>
                </a:solidFill>
              </a:rPr>
              <a:t>S</a:t>
            </a:r>
            <a:r>
              <a:rPr lang="pt-BR" sz="1100" b="1" dirty="0" err="1" smtClean="0">
                <a:solidFill>
                  <a:srgbClr val="FF0000"/>
                </a:solidFill>
              </a:rPr>
              <a:t>pan</a:t>
            </a:r>
            <a:r>
              <a:rPr lang="pt-BR" sz="1100" b="1" dirty="0" smtClean="0">
                <a:solidFill>
                  <a:srgbClr val="FF0000"/>
                </a:solidFill>
              </a:rPr>
              <a:t> </a:t>
            </a:r>
            <a:r>
              <a:rPr lang="pt-BR" sz="1200" b="1" dirty="0" smtClean="0">
                <a:solidFill>
                  <a:srgbClr val="FF0000"/>
                </a:solidFill>
              </a:rPr>
              <a:t>~</a:t>
            </a:r>
            <a:r>
              <a:rPr lang="pt-BR" sz="1200" b="1" dirty="0" smtClean="0">
                <a:solidFill>
                  <a:srgbClr val="FF0000"/>
                </a:solidFill>
              </a:rPr>
              <a:t>30</a:t>
            </a:r>
            <a:r>
              <a:rPr lang="pt-BR" sz="1200" b="1" dirty="0" smtClean="0">
                <a:solidFill>
                  <a:srgbClr val="FF0000"/>
                </a:solidFill>
              </a:rPr>
              <a:t> </a:t>
            </a:r>
            <a:r>
              <a:rPr lang="pt-BR" sz="1200" b="1" dirty="0" smtClean="0">
                <a:solidFill>
                  <a:srgbClr val="FF0000"/>
                </a:solidFill>
              </a:rPr>
              <a:t>projetos cada</a:t>
            </a:r>
            <a:r>
              <a:rPr lang="pt-BR" sz="1100" b="1" dirty="0" smtClean="0">
                <a:solidFill>
                  <a:srgbClr val="FF0000"/>
                </a:solidFill>
              </a:rPr>
              <a:t>,</a:t>
            </a:r>
          </a:p>
          <a:p>
            <a:r>
              <a:rPr lang="pt-BR" sz="1100" b="1" dirty="0" smtClean="0">
                <a:solidFill>
                  <a:srgbClr val="FF0000"/>
                </a:solidFill>
              </a:rPr>
              <a:t>Projetos </a:t>
            </a:r>
            <a:r>
              <a:rPr lang="pt-BR" sz="1100" b="1" dirty="0" smtClean="0">
                <a:solidFill>
                  <a:srgbClr val="FF0000"/>
                </a:solidFill>
              </a:rPr>
              <a:t>prioritários sem líder de TI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2033893" y="3430882"/>
            <a:ext cx="1483385" cy="523220"/>
            <a:chOff x="2033893" y="3436981"/>
            <a:chExt cx="1483385" cy="523220"/>
          </a:xfrm>
        </p:grpSpPr>
        <p:sp>
          <p:nvSpPr>
            <p:cNvPr id="104" name="CaixaDeTexto 103"/>
            <p:cNvSpPr txBox="1"/>
            <p:nvPr/>
          </p:nvSpPr>
          <p:spPr>
            <a:xfrm>
              <a:off x="2033893" y="3436981"/>
              <a:ext cx="12961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smtClean="0">
                  <a:solidFill>
                    <a:srgbClr val="FF0000"/>
                  </a:solidFill>
                  <a:latin typeface="Trebuchet MS" panose="020B0603020202020204" pitchFamily="34" charset="0"/>
                </a:rPr>
                <a:t>130</a:t>
              </a:r>
            </a:p>
            <a:p>
              <a:pPr algn="ctr"/>
              <a:r>
                <a:rPr lang="pt-BR" sz="1400" b="1" dirty="0" smtClean="0">
                  <a:solidFill>
                    <a:srgbClr val="FF0000"/>
                  </a:solidFill>
                  <a:latin typeface="Trebuchet MS" panose="020B0603020202020204" pitchFamily="34" charset="0"/>
                </a:rPr>
                <a:t>Prioritários </a:t>
              </a:r>
              <a:endParaRPr lang="pt-BR" sz="1400" b="1" dirty="0">
                <a:solidFill>
                  <a:srgbClr val="FF000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13" name="Botão de ação: Fim 112">
              <a:hlinkClick r:id="" action="ppaction://noaction" highlightClick="1"/>
            </p:cNvPr>
            <p:cNvSpPr/>
            <p:nvPr/>
          </p:nvSpPr>
          <p:spPr>
            <a:xfrm>
              <a:off x="3275856" y="3500696"/>
              <a:ext cx="241422" cy="294443"/>
            </a:xfrm>
            <a:prstGeom prst="actionButtonEnd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36798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4" grpId="0" animBg="1"/>
      <p:bldP spid="125" grpId="0" animBg="1"/>
      <p:bldP spid="114" grpId="0"/>
      <p:bldP spid="117" grpId="0"/>
      <p:bldP spid="39" grpId="0"/>
      <p:bldP spid="60" grpId="0"/>
      <p:bldP spid="65" grpId="0"/>
      <p:bldP spid="120" grpId="0"/>
      <p:bldP spid="71" grpId="0"/>
      <p:bldP spid="66" grpId="0" animBg="1"/>
      <p:bldP spid="69" grpId="0" animBg="1"/>
      <p:bldP spid="40" grpId="0" animBg="1"/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6721</TotalTime>
  <Words>184</Words>
  <Application>Microsoft Office PowerPoint</Application>
  <PresentationFormat>Apresentação na tela (4:3)</PresentationFormat>
  <Paragraphs>32</Paragraphs>
  <Slides>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Joice Pereira De Souza</dc:creator>
  <cp:lastModifiedBy>Milene Areias Jorge</cp:lastModifiedBy>
  <cp:revision>293</cp:revision>
  <dcterms:created xsi:type="dcterms:W3CDTF">2015-09-28T15:57:11Z</dcterms:created>
  <dcterms:modified xsi:type="dcterms:W3CDTF">2016-05-24T14:46:37Z</dcterms:modified>
</cp:coreProperties>
</file>