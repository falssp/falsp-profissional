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5" r:id="rId2"/>
    <p:sldMasterId id="2147483677" r:id="rId3"/>
  </p:sldMasterIdLst>
  <p:notesMasterIdLst>
    <p:notesMasterId r:id="rId14"/>
  </p:notesMasterIdLst>
  <p:sldIdLst>
    <p:sldId id="591" r:id="rId4"/>
    <p:sldId id="587" r:id="rId5"/>
    <p:sldId id="599" r:id="rId6"/>
    <p:sldId id="592" r:id="rId7"/>
    <p:sldId id="593" r:id="rId8"/>
    <p:sldId id="594" r:id="rId9"/>
    <p:sldId id="595" r:id="rId10"/>
    <p:sldId id="596" r:id="rId11"/>
    <p:sldId id="597" r:id="rId12"/>
    <p:sldId id="598" r:id="rId13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88220" autoAdjust="0"/>
  </p:normalViewPr>
  <p:slideViewPr>
    <p:cSldViewPr snapToGrid="0" snapToObjects="1">
      <p:cViewPr varScale="1">
        <p:scale>
          <a:sx n="101" d="100"/>
          <a:sy n="101" d="100"/>
        </p:scale>
        <p:origin x="922" y="7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08/08/2016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101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992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139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56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738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818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002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167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977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91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t03-02.jpg"/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4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31/03/2016</a:t>
            </a:r>
          </a:p>
        </p:txBody>
      </p:sp>
    </p:spTree>
    <p:extLst>
      <p:ext uri="{BB962C8B-B14F-4D97-AF65-F5344CB8AC3E}">
        <p14:creationId xmlns:p14="http://schemas.microsoft.com/office/powerpoint/2010/main" val="29152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07/04/2016</a:t>
            </a:r>
          </a:p>
        </p:txBody>
      </p:sp>
      <p:sp>
        <p:nvSpPr>
          <p:cNvPr id="29" name="Retângulo 28"/>
          <p:cNvSpPr/>
          <p:nvPr/>
        </p:nvSpPr>
        <p:spPr>
          <a:xfrm>
            <a:off x="322360" y="198862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mapeamento As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(Demandas, Projetos e Mudanças)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a abordagem para desenvolvimento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Elaborado o desenho macro da solução</a:t>
            </a:r>
          </a:p>
        </p:txBody>
      </p:sp>
      <p:sp>
        <p:nvSpPr>
          <p:cNvPr id="30" name="Retângulo de cantos arredondados 14"/>
          <p:cNvSpPr/>
          <p:nvPr/>
        </p:nvSpPr>
        <p:spPr>
          <a:xfrm>
            <a:off x="322360" y="684219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10%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31" name="Retângulo 30"/>
          <p:cNvSpPr/>
          <p:nvPr/>
        </p:nvSpPr>
        <p:spPr>
          <a:xfrm>
            <a:off x="3213808" y="1988625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Ritos diferentes para Mudanças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critérios para qualificação de solicitações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Desenhar fluxo detalhado das solicitações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6105257" y="198862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eGEMUD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sem manutenção</a:t>
            </a:r>
          </a:p>
        </p:txBody>
      </p:sp>
      <p:sp>
        <p:nvSpPr>
          <p:cNvPr id="33" name="Retângulo de cantos arredondados 17"/>
          <p:cNvSpPr/>
          <p:nvPr/>
        </p:nvSpPr>
        <p:spPr>
          <a:xfrm>
            <a:off x="3483464" y="684220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34" name="Group 9"/>
          <p:cNvGrpSpPr>
            <a:grpSpLocks/>
          </p:cNvGrpSpPr>
          <p:nvPr/>
        </p:nvGrpSpPr>
        <p:grpSpPr bwMode="auto">
          <a:xfrm>
            <a:off x="3059226" y="1431816"/>
            <a:ext cx="274638" cy="274638"/>
            <a:chOff x="0" y="0"/>
            <a:chExt cx="173" cy="173"/>
          </a:xfrm>
        </p:grpSpPr>
        <p:sp>
          <p:nvSpPr>
            <p:cNvPr id="35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8234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28/04/2016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22360" y="198862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Ritos diferentes para Mudanças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critérios para qualificação de </a:t>
            </a:r>
            <a:r>
              <a:rPr lang="pt-BR" sz="1200" dirty="0">
                <a:solidFill>
                  <a:schemeClr val="tx1"/>
                </a:solidFill>
              </a:rPr>
              <a:t>solicitações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/>
                </a:solidFill>
              </a:rPr>
              <a:t>Desenhar fluxo detalhado das solicitações.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Retângulo de cantos arredondados 14"/>
          <p:cNvSpPr/>
          <p:nvPr/>
        </p:nvSpPr>
        <p:spPr>
          <a:xfrm>
            <a:off x="322360" y="684219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</a:t>
            </a:r>
            <a:r>
              <a:rPr lang="pt-BR" sz="1200" i="1"/>
              <a:t>: 15%</a:t>
            </a:r>
            <a:endParaRPr lang="pt-BR" sz="1200" i="1" dirty="0"/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3213808" y="1988625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Levantamento de controles por atividade da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de documentação e padronização dos controles.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Desenho de fluxograma detalhado por processos.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os pontos de interface entre os processos de Gestão de Demandas e de Gestão de Projetos e o processo de Gestão de Mudanças. 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105257" y="1988626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Necessidades de alteração na ferramenta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36" name="Retângulo de cantos arredondados 17"/>
          <p:cNvSpPr/>
          <p:nvPr/>
        </p:nvSpPr>
        <p:spPr>
          <a:xfrm>
            <a:off x="3483464" y="684220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37" name="Group 9"/>
          <p:cNvGrpSpPr>
            <a:grpSpLocks/>
          </p:cNvGrpSpPr>
          <p:nvPr/>
        </p:nvGrpSpPr>
        <p:grpSpPr bwMode="auto">
          <a:xfrm>
            <a:off x="3059226" y="1431816"/>
            <a:ext cx="274638" cy="274638"/>
            <a:chOff x="0" y="0"/>
            <a:chExt cx="173" cy="173"/>
          </a:xfrm>
        </p:grpSpPr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9" name="Arc 11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04102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12/05/2016</a:t>
            </a:r>
          </a:p>
        </p:txBody>
      </p:sp>
    </p:spTree>
    <p:extLst>
      <p:ext uri="{BB962C8B-B14F-4D97-AF65-F5344CB8AC3E}">
        <p14:creationId xmlns:p14="http://schemas.microsoft.com/office/powerpoint/2010/main" val="354112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24/05/2016</a:t>
            </a:r>
          </a:p>
        </p:txBody>
      </p:sp>
      <p:sp>
        <p:nvSpPr>
          <p:cNvPr id="7" name="Retângulo 6"/>
          <p:cNvSpPr/>
          <p:nvPr/>
        </p:nvSpPr>
        <p:spPr>
          <a:xfrm>
            <a:off x="221121" y="1814445"/>
            <a:ext cx="2716382" cy="279565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/>
                </a:solidFill>
              </a:rPr>
              <a:t>Em homologação a </a:t>
            </a:r>
            <a:r>
              <a:rPr lang="pt-BR" sz="1200" b="1" dirty="0">
                <a:solidFill>
                  <a:schemeClr val="tx1"/>
                </a:solidFill>
              </a:rPr>
              <a:t>ferramenta no </a:t>
            </a:r>
            <a:r>
              <a:rPr lang="pt-BR" sz="1200" b="1" dirty="0" err="1">
                <a:solidFill>
                  <a:schemeClr val="tx1"/>
                </a:solidFill>
              </a:rPr>
              <a:t>Tprocess</a:t>
            </a:r>
            <a:r>
              <a:rPr lang="pt-BR" sz="1200" b="1" dirty="0">
                <a:solidFill>
                  <a:schemeClr val="tx1"/>
                </a:solidFill>
              </a:rPr>
              <a:t>, para ser o piloto no Bradesco </a:t>
            </a:r>
            <a:r>
              <a:rPr lang="pt-BR" sz="1200" dirty="0">
                <a:solidFill>
                  <a:schemeClr val="tx1"/>
                </a:solidFill>
              </a:rPr>
              <a:t>no processo de recuperação de gravações, na nova metodologia “centralização funcional”.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/>
                </a:solidFill>
              </a:rPr>
              <a:t>Elaboração da matriz de papéis e responsabilidades </a:t>
            </a:r>
            <a:r>
              <a:rPr lang="pt-BR" sz="1200" b="1" dirty="0">
                <a:solidFill>
                  <a:schemeClr val="tx1"/>
                </a:solidFill>
              </a:rPr>
              <a:t>(RACI) para </a:t>
            </a:r>
            <a:r>
              <a:rPr lang="pt-BR" sz="1200" b="1" dirty="0" err="1">
                <a:solidFill>
                  <a:schemeClr val="tx1"/>
                </a:solidFill>
              </a:rPr>
              <a:t>gravaç</a:t>
            </a:r>
            <a:r>
              <a:rPr lang="pt-PT" sz="1200" b="1" dirty="0">
                <a:solidFill>
                  <a:schemeClr val="tx1"/>
                </a:solidFill>
              </a:rPr>
              <a:t>ão</a:t>
            </a:r>
            <a:r>
              <a:rPr lang="pt-BR" sz="1200" dirty="0">
                <a:solidFill>
                  <a:schemeClr val="tx1"/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u="sng" dirty="0">
                <a:solidFill>
                  <a:schemeClr val="tx1"/>
                </a:solidFill>
              </a:rPr>
              <a:t>Foi implantando </a:t>
            </a:r>
            <a:r>
              <a:rPr lang="pt-BR" sz="1200" b="1" u="sng" dirty="0">
                <a:solidFill>
                  <a:schemeClr val="tx1"/>
                </a:solidFill>
              </a:rPr>
              <a:t>na ferramenta de </a:t>
            </a:r>
            <a:r>
              <a:rPr lang="pt-BR" sz="1200" b="1" u="sng" dirty="0" err="1">
                <a:solidFill>
                  <a:schemeClr val="tx1"/>
                </a:solidFill>
              </a:rPr>
              <a:t>Checklist</a:t>
            </a:r>
            <a:r>
              <a:rPr lang="pt-BR" sz="1200" b="1" u="sng" dirty="0">
                <a:solidFill>
                  <a:schemeClr val="tx1"/>
                </a:solidFill>
              </a:rPr>
              <a:t> Sites </a:t>
            </a:r>
            <a:r>
              <a:rPr lang="pt-BR" sz="1200" b="1" dirty="0">
                <a:solidFill>
                  <a:schemeClr val="tx1"/>
                </a:solidFill>
              </a:rPr>
              <a:t>- </a:t>
            </a:r>
            <a:r>
              <a:rPr lang="pt-BR" sz="1200" b="1" dirty="0" err="1">
                <a:solidFill>
                  <a:schemeClr val="tx1"/>
                </a:solidFill>
              </a:rPr>
              <a:t>Dashboard</a:t>
            </a:r>
            <a:r>
              <a:rPr lang="pt-BR" sz="1200" b="1" dirty="0">
                <a:solidFill>
                  <a:schemeClr val="tx1"/>
                </a:solidFill>
              </a:rPr>
              <a:t> que mostra um farol dos sites na execução do </a:t>
            </a:r>
            <a:r>
              <a:rPr lang="pt-BR" sz="1200" b="1" dirty="0" err="1">
                <a:solidFill>
                  <a:schemeClr val="tx1"/>
                </a:solidFill>
              </a:rPr>
              <a:t>checklist</a:t>
            </a:r>
            <a:r>
              <a:rPr lang="pt-BR" sz="1200" b="1" dirty="0">
                <a:solidFill>
                  <a:schemeClr val="tx1"/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tângulo de cantos arredondados 14"/>
          <p:cNvSpPr/>
          <p:nvPr/>
        </p:nvSpPr>
        <p:spPr>
          <a:xfrm>
            <a:off x="184623" y="635027"/>
            <a:ext cx="3064339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Qualidade em Gravação</a:t>
            </a:r>
          </a:p>
          <a:p>
            <a:r>
              <a:rPr lang="pt-BR" sz="1200" dirty="0"/>
              <a:t>Data Inicio: 24-02-2016  </a:t>
            </a:r>
          </a:p>
          <a:p>
            <a:r>
              <a:rPr lang="pt-BR" sz="1200" dirty="0"/>
              <a:t>Data Conclusão: 23-08-2016</a:t>
            </a:r>
          </a:p>
          <a:p>
            <a:r>
              <a:rPr lang="pt-BR" sz="1200" dirty="0"/>
              <a:t>Progresso: 72%</a:t>
            </a:r>
          </a:p>
          <a:p>
            <a:r>
              <a:rPr lang="pt-BR" sz="1200" dirty="0"/>
              <a:t>PM: </a:t>
            </a:r>
            <a:r>
              <a:rPr lang="pt-BR" sz="1200" dirty="0" err="1"/>
              <a:t>Luis</a:t>
            </a:r>
            <a:r>
              <a:rPr lang="pt-BR" sz="1200" dirty="0"/>
              <a:t> Marçal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112449" y="1817850"/>
            <a:ext cx="2910818" cy="279225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1200" b="1" dirty="0">
                <a:solidFill>
                  <a:schemeClr val="tx1"/>
                </a:solidFill>
              </a:rPr>
              <a:t>O </a:t>
            </a:r>
            <a:r>
              <a:rPr lang="pt-BR" sz="1200" b="1" dirty="0" err="1">
                <a:solidFill>
                  <a:schemeClr val="tx1"/>
                </a:solidFill>
              </a:rPr>
              <a:t>Tprocess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foi selecionado como </a:t>
            </a:r>
            <a:r>
              <a:rPr lang="pt-BR" sz="1200" b="1" dirty="0">
                <a:solidFill>
                  <a:schemeClr val="tx1"/>
                </a:solidFill>
              </a:rPr>
              <a:t>canal único de entrada </a:t>
            </a:r>
            <a:r>
              <a:rPr lang="pt-BR" sz="1200" dirty="0">
                <a:solidFill>
                  <a:schemeClr val="tx1"/>
                </a:solidFill>
              </a:rPr>
              <a:t>para chamados para recuperação de gravação.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/>
                </a:solidFill>
              </a:rPr>
              <a:t>“Piloto” - Implantar a nova metodologia de recuperação de chamados no  Bradesco para avaliar resultados.</a:t>
            </a:r>
          </a:p>
          <a:p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6225443" y="1859071"/>
            <a:ext cx="2716382" cy="275103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>
                <a:solidFill>
                  <a:schemeClr val="tx1"/>
                </a:solidFill>
              </a:rPr>
              <a:t>Obs</a:t>
            </a:r>
            <a:r>
              <a:rPr lang="pt-BR" sz="1200" dirty="0">
                <a:solidFill>
                  <a:schemeClr val="tx1"/>
                </a:solidFill>
              </a:rPr>
              <a:t>: A abrangência e aderência na nova metodologia no novo “modus operandi” de recuperação de gravação, poderá ser um desafio para algumas áreas.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de cantos arredondados 17"/>
          <p:cNvSpPr/>
          <p:nvPr/>
        </p:nvSpPr>
        <p:spPr>
          <a:xfrm>
            <a:off x="3345800" y="642950"/>
            <a:ext cx="5559600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</a:t>
            </a:r>
            <a:r>
              <a:rPr lang="pt-BR" sz="1400" b="1" dirty="0"/>
              <a:t>plano de ação para eliminar multas (de gravação)</a:t>
            </a:r>
            <a:r>
              <a:rPr lang="pt-BR" sz="1400" dirty="0"/>
              <a:t> nos clientes Contax.</a:t>
            </a:r>
          </a:p>
          <a:p>
            <a:r>
              <a:rPr lang="pt-BR" sz="1400" dirty="0"/>
              <a:t>Vamos adotar o trabalho baseado em PPT (</a:t>
            </a:r>
            <a:r>
              <a:rPr lang="pt-BR" sz="1400" b="1" dirty="0"/>
              <a:t>Pessoas – Processos – Tecnologia</a:t>
            </a:r>
            <a:r>
              <a:rPr lang="pt-BR" sz="1400" dirty="0"/>
              <a:t>).</a:t>
            </a:r>
          </a:p>
        </p:txBody>
      </p:sp>
      <p:grpSp>
        <p:nvGrpSpPr>
          <p:cNvPr id="15" name="Group 27"/>
          <p:cNvGrpSpPr>
            <a:grpSpLocks/>
          </p:cNvGrpSpPr>
          <p:nvPr/>
        </p:nvGrpSpPr>
        <p:grpSpPr bwMode="auto">
          <a:xfrm>
            <a:off x="2841062" y="1317432"/>
            <a:ext cx="274637" cy="274638"/>
            <a:chOff x="0" y="0"/>
            <a:chExt cx="173" cy="173"/>
          </a:xfrm>
        </p:grpSpPr>
        <p:sp>
          <p:nvSpPr>
            <p:cNvPr id="16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7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5666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09/06/2016</a:t>
            </a:r>
          </a:p>
        </p:txBody>
      </p:sp>
    </p:spTree>
    <p:extLst>
      <p:ext uri="{BB962C8B-B14F-4D97-AF65-F5344CB8AC3E}">
        <p14:creationId xmlns:p14="http://schemas.microsoft.com/office/powerpoint/2010/main" val="140080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23/06/2016</a:t>
            </a:r>
          </a:p>
        </p:txBody>
      </p:sp>
    </p:spTree>
    <p:extLst>
      <p:ext uri="{BB962C8B-B14F-4D97-AF65-F5344CB8AC3E}">
        <p14:creationId xmlns:p14="http://schemas.microsoft.com/office/powerpoint/2010/main" val="396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95420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07/07/2016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254755" y="1868751"/>
            <a:ext cx="2821854" cy="28921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Acompanhamento da solução de automação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de 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requerimentos mandatórios GMUD.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Produção de indicadores relacionados ao T2R.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Alinhamento e revisão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processode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Projetos com Milene e Paulo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Americo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com ajustes.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da implantação dos novos processos e indicadores, considerando automação, treinamento e piloto (em andamento).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263120" y="680283"/>
            <a:ext cx="2945646" cy="10809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 22-07-2016</a:t>
            </a:r>
          </a:p>
          <a:p>
            <a:r>
              <a:rPr lang="pt-BR" sz="1200" i="1" dirty="0"/>
              <a:t>Progresso: 85%</a:t>
            </a:r>
          </a:p>
          <a:p>
            <a:r>
              <a:rPr lang="pt-BR" sz="1200" i="1" dirty="0"/>
              <a:t>PM: Adolpho Chacon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214721" y="1868751"/>
            <a:ext cx="2701049" cy="28921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Planejamento e Implantação dos novos critérios para definição de ritos de Mudança ou Projeto (</a:t>
            </a:r>
            <a:r>
              <a:rPr lang="pt-BR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Completar e obter aceite da documentação de Gerenciamento de Projetos (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booking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Realização do workshop sobre conceitos do T2R (Demandas X Mudanças X Projetos).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Suporte ao time GMUD durante as férias da sua gestora.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6053882" y="1868751"/>
            <a:ext cx="2623388" cy="289217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Prazo para desenvolvimento de solução integrada no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(380h).</a:t>
            </a:r>
          </a:p>
        </p:txBody>
      </p:sp>
      <p:sp>
        <p:nvSpPr>
          <p:cNvPr id="15" name="Retângulo de cantos arredondados 17"/>
          <p:cNvSpPr/>
          <p:nvPr/>
        </p:nvSpPr>
        <p:spPr>
          <a:xfrm>
            <a:off x="3286506" y="680284"/>
            <a:ext cx="5390764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16" name="Group 34"/>
          <p:cNvGrpSpPr>
            <a:grpSpLocks/>
          </p:cNvGrpSpPr>
          <p:nvPr/>
        </p:nvGrpSpPr>
        <p:grpSpPr bwMode="auto">
          <a:xfrm>
            <a:off x="2836497" y="1414983"/>
            <a:ext cx="274638" cy="274638"/>
            <a:chOff x="0" y="0"/>
            <a:chExt cx="173" cy="173"/>
          </a:xfrm>
        </p:grpSpPr>
        <p:sp>
          <p:nvSpPr>
            <p:cNvPr id="1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98204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21/07/2016</a:t>
            </a:r>
          </a:p>
        </p:txBody>
      </p:sp>
    </p:spTree>
    <p:extLst>
      <p:ext uri="{BB962C8B-B14F-4D97-AF65-F5344CB8AC3E}">
        <p14:creationId xmlns:p14="http://schemas.microsoft.com/office/powerpoint/2010/main" val="177385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Projeto: T2R – Transição de Serviços</a:t>
            </a: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0" y="4587863"/>
            <a:ext cx="9144001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04/08/2016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352729" y="1836358"/>
            <a:ext cx="2829867" cy="28187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Últimas Realizações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Produção de indicadores relacionados ao T2R (</a:t>
            </a:r>
            <a:r>
              <a:rPr lang="pt-BR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dashboards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lang="pt-BR" sz="11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novos critérios para definição de ritos de Mudança ou Projeto (</a:t>
            </a:r>
            <a:r>
              <a:rPr lang="pt-BR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Entregue e aceita a documentação de Ger. de Projetos (</a:t>
            </a:r>
            <a:r>
              <a:rPr lang="pt-BR" sz="11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booking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Suporte ao time GMUD durante férias da Gestora.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Workshop sobre conceitos do T2R (Demandas X Mudanças X Projetos).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de </a:t>
            </a:r>
            <a:r>
              <a:rPr lang="pt-BR" sz="11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requerimentos mandatórios GMUD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5" name="Retângulo de cantos arredondados 14"/>
          <p:cNvSpPr/>
          <p:nvPr/>
        </p:nvSpPr>
        <p:spPr>
          <a:xfrm>
            <a:off x="360742" y="675758"/>
            <a:ext cx="2954011" cy="10840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22-03-2016</a:t>
            </a:r>
          </a:p>
          <a:p>
            <a:r>
              <a:rPr lang="pt-BR" sz="1200" i="1" dirty="0"/>
              <a:t>Data Conclusão:</a:t>
            </a:r>
            <a:r>
              <a:rPr lang="pt-BR" sz="1200" i="1" strike="sngStrike" dirty="0"/>
              <a:t>22-07-2016 </a:t>
            </a:r>
            <a:r>
              <a:rPr lang="pt-BR" sz="1200" i="1" dirty="0"/>
              <a:t>29-07-2016</a:t>
            </a:r>
          </a:p>
          <a:p>
            <a:r>
              <a:rPr lang="pt-BR" sz="1200" i="1" dirty="0"/>
              <a:t>Progresso: 90%</a:t>
            </a:r>
          </a:p>
          <a:p>
            <a:r>
              <a:rPr lang="pt-BR" sz="1200" i="1" dirty="0"/>
              <a:t>PM: Adolpho Chacon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3313038" y="1836357"/>
            <a:ext cx="2708719" cy="281877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Próximas Ações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do </a:t>
            </a:r>
            <a:r>
              <a:rPr lang="pt-BR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 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(em andamento).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rgbClr val="FF0000"/>
                </a:solidFill>
              </a:rPr>
              <a:t>Implantação dos novos processos automatizados e indicadores, considerando treinamento, piloto e </a:t>
            </a:r>
            <a:r>
              <a:rPr lang="pt-BR" sz="1100" i="1" dirty="0" err="1">
                <a:solidFill>
                  <a:srgbClr val="FF0000"/>
                </a:solidFill>
              </a:rPr>
              <a:t>rollout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6152419" y="1836358"/>
            <a:ext cx="2630838" cy="281877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Perda de prioridade e prazo para desenvolvimento de solução integrada no </a:t>
            </a:r>
            <a:r>
              <a:rPr lang="pt-BR" sz="11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(1 mês).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Requerido MS-Excel &gt;2010 para </a:t>
            </a:r>
            <a:r>
              <a:rPr lang="pt-BR" sz="11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dashboards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Consultor Henrique </a:t>
            </a:r>
            <a:r>
              <a:rPr lang="pt-BR" sz="11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Abrileri</a:t>
            </a: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desmobiliado em 29/07/2016.</a:t>
            </a:r>
          </a:p>
        </p:txBody>
      </p:sp>
      <p:sp>
        <p:nvSpPr>
          <p:cNvPr id="68" name="Retângulo de cantos arredondados 17"/>
          <p:cNvSpPr/>
          <p:nvPr/>
        </p:nvSpPr>
        <p:spPr>
          <a:xfrm>
            <a:off x="3377184" y="675759"/>
            <a:ext cx="5406073" cy="10840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Integração entre os processos de gerenciamento de Demandas, Projetos e Mudanças, para controle sobre o desenvolvimento e a implantação de Serviços novos ou alterados. </a:t>
            </a:r>
          </a:p>
        </p:txBody>
      </p:sp>
      <p:grpSp>
        <p:nvGrpSpPr>
          <p:cNvPr id="69" name="Agrupar 68"/>
          <p:cNvGrpSpPr/>
          <p:nvPr/>
        </p:nvGrpSpPr>
        <p:grpSpPr>
          <a:xfrm>
            <a:off x="2961185" y="1204834"/>
            <a:ext cx="274638" cy="274638"/>
            <a:chOff x="2712585" y="1502745"/>
            <a:chExt cx="274638" cy="274638"/>
          </a:xfrm>
        </p:grpSpPr>
        <p:grpSp>
          <p:nvGrpSpPr>
            <p:cNvPr id="70" name="Group 34"/>
            <p:cNvGrpSpPr>
              <a:grpSpLocks/>
            </p:cNvGrpSpPr>
            <p:nvPr/>
          </p:nvGrpSpPr>
          <p:grpSpPr bwMode="auto">
            <a:xfrm>
              <a:off x="2712585" y="1502745"/>
              <a:ext cx="274638" cy="274638"/>
              <a:chOff x="0" y="0"/>
              <a:chExt cx="173" cy="173"/>
            </a:xfrm>
          </p:grpSpPr>
          <p:sp>
            <p:nvSpPr>
              <p:cNvPr id="72" name="Arc 35"/>
              <p:cNvSpPr>
                <a:spLocks/>
              </p:cNvSpPr>
              <p:nvPr/>
            </p:nvSpPr>
            <p:spPr bwMode="auto">
              <a:xfrm>
                <a:off x="86" y="0"/>
                <a:ext cx="62" cy="86"/>
              </a:xfrm>
              <a:custGeom>
                <a:avLst/>
                <a:gdLst>
                  <a:gd name="G0" fmla="+- 58 0 0"/>
                  <a:gd name="G1" fmla="+- 21600 0 0"/>
                  <a:gd name="G2" fmla="+- 21600 0 0"/>
                  <a:gd name="T0" fmla="*/ 0 w 15318"/>
                  <a:gd name="T1" fmla="*/ 1 h 21600"/>
                  <a:gd name="T2" fmla="*/ 15318 w 15318"/>
                  <a:gd name="T3" fmla="*/ 6314 h 21600"/>
                  <a:gd name="T4" fmla="*/ 58 w 15318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18" h="21600" fill="none" extrusionOk="0">
                    <a:moveTo>
                      <a:pt x="-1" y="0"/>
                    </a:moveTo>
                    <a:cubicBezTo>
                      <a:pt x="19" y="0"/>
                      <a:pt x="38" y="0"/>
                      <a:pt x="58" y="0"/>
                    </a:cubicBezTo>
                    <a:cubicBezTo>
                      <a:pt x="5780" y="0"/>
                      <a:pt x="11268" y="2270"/>
                      <a:pt x="15318" y="6313"/>
                    </a:cubicBezTo>
                  </a:path>
                  <a:path w="15318" h="21600" stroke="0" extrusionOk="0">
                    <a:moveTo>
                      <a:pt x="-1" y="0"/>
                    </a:moveTo>
                    <a:cubicBezTo>
                      <a:pt x="19" y="0"/>
                      <a:pt x="38" y="0"/>
                      <a:pt x="58" y="0"/>
                    </a:cubicBezTo>
                    <a:cubicBezTo>
                      <a:pt x="5780" y="0"/>
                      <a:pt x="11268" y="2270"/>
                      <a:pt x="15318" y="6313"/>
                    </a:cubicBezTo>
                    <a:lnTo>
                      <a:pt x="58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3" name="Arc 36"/>
              <p:cNvSpPr>
                <a:spLocks/>
              </p:cNvSpPr>
              <p:nvPr/>
            </p:nvSpPr>
            <p:spPr bwMode="auto">
              <a:xfrm>
                <a:off x="86" y="87"/>
                <a:ext cx="87" cy="61"/>
              </a:xfrm>
              <a:custGeom>
                <a:avLst/>
                <a:gdLst>
                  <a:gd name="G0" fmla="+- 0 0 0"/>
                  <a:gd name="G1" fmla="+- 29 0 0"/>
                  <a:gd name="G2" fmla="+- 21600 0 0"/>
                  <a:gd name="T0" fmla="*/ 21599 w 21600"/>
                  <a:gd name="T1" fmla="*/ 0 h 15266"/>
                  <a:gd name="T2" fmla="*/ 15309 w 21600"/>
                  <a:gd name="T3" fmla="*/ 15266 h 15266"/>
                  <a:gd name="T4" fmla="*/ 0 w 21600"/>
                  <a:gd name="T5" fmla="*/ 29 h 15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5266" fill="none" extrusionOk="0">
                    <a:moveTo>
                      <a:pt x="21599" y="-1"/>
                    </a:moveTo>
                    <a:cubicBezTo>
                      <a:pt x="21599" y="9"/>
                      <a:pt x="21600" y="19"/>
                      <a:pt x="21600" y="29"/>
                    </a:cubicBezTo>
                    <a:cubicBezTo>
                      <a:pt x="21600" y="5740"/>
                      <a:pt x="19338" y="11218"/>
                      <a:pt x="15309" y="15266"/>
                    </a:cubicBezTo>
                  </a:path>
                  <a:path w="21600" h="15266" stroke="0" extrusionOk="0">
                    <a:moveTo>
                      <a:pt x="21599" y="-1"/>
                    </a:moveTo>
                    <a:cubicBezTo>
                      <a:pt x="21599" y="9"/>
                      <a:pt x="21600" y="19"/>
                      <a:pt x="21600" y="29"/>
                    </a:cubicBezTo>
                    <a:cubicBezTo>
                      <a:pt x="21600" y="5740"/>
                      <a:pt x="19338" y="11218"/>
                      <a:pt x="15309" y="15266"/>
                    </a:cubicBez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4" name="Arc 37"/>
              <p:cNvSpPr>
                <a:spLocks/>
              </p:cNvSpPr>
              <p:nvPr/>
            </p:nvSpPr>
            <p:spPr bwMode="auto">
              <a:xfrm>
                <a:off x="86" y="87"/>
                <a:ext cx="62" cy="8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15386 w 15386"/>
                  <a:gd name="T1" fmla="*/ 15159 h 21599"/>
                  <a:gd name="T2" fmla="*/ 28 w 15386"/>
                  <a:gd name="T3" fmla="*/ 21599 h 21599"/>
                  <a:gd name="T4" fmla="*/ 0 w 15386"/>
                  <a:gd name="T5" fmla="*/ 0 h 21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86" h="21599" fill="none" extrusionOk="0">
                    <a:moveTo>
                      <a:pt x="15386" y="15159"/>
                    </a:moveTo>
                    <a:cubicBezTo>
                      <a:pt x="11333" y="19273"/>
                      <a:pt x="5802" y="21592"/>
                      <a:pt x="28" y="21599"/>
                    </a:cubicBezTo>
                  </a:path>
                  <a:path w="15386" h="21599" stroke="0" extrusionOk="0">
                    <a:moveTo>
                      <a:pt x="15386" y="15159"/>
                    </a:moveTo>
                    <a:cubicBezTo>
                      <a:pt x="11333" y="19273"/>
                      <a:pt x="5802" y="21592"/>
                      <a:pt x="28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5" name="Arc 38"/>
              <p:cNvSpPr>
                <a:spLocks/>
              </p:cNvSpPr>
              <p:nvPr/>
            </p:nvSpPr>
            <p:spPr bwMode="auto">
              <a:xfrm flipH="1">
                <a:off x="0" y="87"/>
                <a:ext cx="87" cy="61"/>
              </a:xfrm>
              <a:custGeom>
                <a:avLst/>
                <a:gdLst>
                  <a:gd name="G0" fmla="+- 0 0 0"/>
                  <a:gd name="G1" fmla="+- 29 0 0"/>
                  <a:gd name="G2" fmla="+- 21600 0 0"/>
                  <a:gd name="T0" fmla="*/ 21599 w 21600"/>
                  <a:gd name="T1" fmla="*/ 0 h 15266"/>
                  <a:gd name="T2" fmla="*/ 15309 w 21600"/>
                  <a:gd name="T3" fmla="*/ 15266 h 15266"/>
                  <a:gd name="T4" fmla="*/ 0 w 21600"/>
                  <a:gd name="T5" fmla="*/ 29 h 15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5266" fill="none" extrusionOk="0">
                    <a:moveTo>
                      <a:pt x="21599" y="-1"/>
                    </a:moveTo>
                    <a:cubicBezTo>
                      <a:pt x="21599" y="9"/>
                      <a:pt x="21600" y="19"/>
                      <a:pt x="21600" y="29"/>
                    </a:cubicBezTo>
                    <a:cubicBezTo>
                      <a:pt x="21600" y="5740"/>
                      <a:pt x="19338" y="11218"/>
                      <a:pt x="15309" y="15266"/>
                    </a:cubicBezTo>
                  </a:path>
                  <a:path w="21600" h="15266" stroke="0" extrusionOk="0">
                    <a:moveTo>
                      <a:pt x="21599" y="-1"/>
                    </a:moveTo>
                    <a:cubicBezTo>
                      <a:pt x="21599" y="9"/>
                      <a:pt x="21600" y="19"/>
                      <a:pt x="21600" y="29"/>
                    </a:cubicBezTo>
                    <a:cubicBezTo>
                      <a:pt x="21600" y="5740"/>
                      <a:pt x="19338" y="11218"/>
                      <a:pt x="15309" y="15266"/>
                    </a:cubicBez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6" name="Arc 39"/>
              <p:cNvSpPr>
                <a:spLocks/>
              </p:cNvSpPr>
              <p:nvPr/>
            </p:nvSpPr>
            <p:spPr bwMode="auto">
              <a:xfrm flipH="1">
                <a:off x="25" y="87"/>
                <a:ext cx="62" cy="8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15386 w 15386"/>
                  <a:gd name="T1" fmla="*/ 15159 h 21599"/>
                  <a:gd name="T2" fmla="*/ 28 w 15386"/>
                  <a:gd name="T3" fmla="*/ 21599 h 21599"/>
                  <a:gd name="T4" fmla="*/ 0 w 15386"/>
                  <a:gd name="T5" fmla="*/ 0 h 215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386" h="21599" fill="none" extrusionOk="0">
                    <a:moveTo>
                      <a:pt x="15386" y="15159"/>
                    </a:moveTo>
                    <a:cubicBezTo>
                      <a:pt x="11333" y="19273"/>
                      <a:pt x="5802" y="21592"/>
                      <a:pt x="28" y="21599"/>
                    </a:cubicBezTo>
                  </a:path>
                  <a:path w="15386" h="21599" stroke="0" extrusionOk="0">
                    <a:moveTo>
                      <a:pt x="15386" y="15159"/>
                    </a:moveTo>
                    <a:cubicBezTo>
                      <a:pt x="11333" y="19273"/>
                      <a:pt x="5802" y="21592"/>
                      <a:pt x="28" y="2159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7" name="Oval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73" cy="173"/>
              </a:xfrm>
              <a:prstGeom prst="ellips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  <p:sp>
            <p:nvSpPr>
              <p:cNvPr id="78" name="Arc 41"/>
              <p:cNvSpPr>
                <a:spLocks/>
              </p:cNvSpPr>
              <p:nvPr/>
            </p:nvSpPr>
            <p:spPr bwMode="auto">
              <a:xfrm>
                <a:off x="86" y="25"/>
                <a:ext cx="87" cy="62"/>
              </a:xfrm>
              <a:custGeom>
                <a:avLst/>
                <a:gdLst>
                  <a:gd name="G0" fmla="+- 0 0 0"/>
                  <a:gd name="G1" fmla="+- 15382 0 0"/>
                  <a:gd name="G2" fmla="+- 21600 0 0"/>
                  <a:gd name="T0" fmla="*/ 15163 w 21600"/>
                  <a:gd name="T1" fmla="*/ 0 h 15382"/>
                  <a:gd name="T2" fmla="*/ 21600 w 21600"/>
                  <a:gd name="T3" fmla="*/ 15382 h 15382"/>
                  <a:gd name="T4" fmla="*/ 0 w 21600"/>
                  <a:gd name="T5" fmla="*/ 15382 h 15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5382" fill="none" extrusionOk="0">
                    <a:moveTo>
                      <a:pt x="15163" y="-1"/>
                    </a:moveTo>
                    <a:cubicBezTo>
                      <a:pt x="19281" y="4058"/>
                      <a:pt x="21600" y="9599"/>
                      <a:pt x="21600" y="15382"/>
                    </a:cubicBezTo>
                  </a:path>
                  <a:path w="21600" h="15382" stroke="0" extrusionOk="0">
                    <a:moveTo>
                      <a:pt x="15163" y="-1"/>
                    </a:moveTo>
                    <a:cubicBezTo>
                      <a:pt x="19281" y="4058"/>
                      <a:pt x="21600" y="9599"/>
                      <a:pt x="21600" y="15382"/>
                    </a:cubicBezTo>
                    <a:lnTo>
                      <a:pt x="0" y="1538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pt-BR"/>
              </a:p>
            </p:txBody>
          </p:sp>
        </p:grpSp>
        <p:sp>
          <p:nvSpPr>
            <p:cNvPr id="71" name="Arc 38"/>
            <p:cNvSpPr>
              <a:spLocks/>
            </p:cNvSpPr>
            <p:nvPr/>
          </p:nvSpPr>
          <p:spPr bwMode="auto">
            <a:xfrm rot="2740200" flipH="1">
              <a:off x="2710316" y="1557196"/>
              <a:ext cx="163612" cy="135912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36306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reveal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15808</TotalTime>
  <Words>884</Words>
  <Application>Microsoft Office PowerPoint</Application>
  <PresentationFormat>Personalizar</PresentationFormat>
  <Paragraphs>121</Paragraphs>
  <Slides>10</Slides>
  <Notes>10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Wingdings</vt:lpstr>
      <vt:lpstr>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Chacon</cp:lastModifiedBy>
  <cp:revision>1337</cp:revision>
  <dcterms:created xsi:type="dcterms:W3CDTF">2015-08-20T14:57:26Z</dcterms:created>
  <dcterms:modified xsi:type="dcterms:W3CDTF">2016-08-08T16:55:47Z</dcterms:modified>
</cp:coreProperties>
</file>