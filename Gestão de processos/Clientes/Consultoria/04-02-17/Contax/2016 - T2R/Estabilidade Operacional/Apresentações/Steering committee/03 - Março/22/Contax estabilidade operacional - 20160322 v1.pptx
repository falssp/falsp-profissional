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slideLayouts/slideLayout15.xml" ContentType="application/vnd.openxmlformats-officedocument.presentationml.slideLayout+xml"/>
  <Override PartName="/ppt/theme/theme4.xml" ContentType="application/vnd.openxmlformats-officedocument.theme+xml"/>
  <Override PartName="/ppt/tags/tag3.xml" ContentType="application/vnd.openxmlformats-officedocument.presentationml.tags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notesSlides/notesSlide6.xml" ContentType="application/vnd.openxmlformats-officedocument.presentationml.notesSlide+xml"/>
  <Override PartName="/ppt/charts/chart5.xml" ContentType="application/vnd.openxmlformats-officedocument.drawingml.chart+xml"/>
  <Override PartName="/ppt/notesSlides/notesSlide7.xml" ContentType="application/vnd.openxmlformats-officedocument.presentationml.notesSlide+xml"/>
  <Override PartName="/ppt/charts/chart6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7.xml" ContentType="application/vnd.openxmlformats-officedocument.drawingml.chart+xml"/>
  <Override PartName="/ppt/notesSlides/notesSlide10.xml" ContentType="application/vnd.openxmlformats-officedocument.presentationml.notes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theme/themeOverride1.xml" ContentType="application/vnd.openxmlformats-officedocument.themeOverride+xml"/>
  <Override PartName="/ppt/charts/chart10.xml" ContentType="application/vnd.openxmlformats-officedocument.drawingml.chart+xml"/>
  <Override PartName="/ppt/theme/themeOverride2.xml" ContentType="application/vnd.openxmlformats-officedocument.themeOverride+xml"/>
  <Override PartName="/ppt/charts/chart11.xml" ContentType="application/vnd.openxmlformats-officedocument.drawingml.chart+xml"/>
  <Override PartName="/ppt/theme/themeOverride3.xml" ContentType="application/vnd.openxmlformats-officedocument.themeOverride+xml"/>
  <Override PartName="/ppt/notesSlides/notesSlide11.xml" ContentType="application/vnd.openxmlformats-officedocument.presentationml.notesSlide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theme/themeOverride4.xml" ContentType="application/vnd.openxmlformats-officedocument.themeOverride+xml"/>
  <Override PartName="/ppt/charts/chart14.xml" ContentType="application/vnd.openxmlformats-officedocument.drawingml.chart+xml"/>
  <Override PartName="/ppt/theme/themeOverride5.xml" ContentType="application/vnd.openxmlformats-officedocument.themeOverride+xml"/>
  <Override PartName="/ppt/charts/chart15.xml" ContentType="application/vnd.openxmlformats-officedocument.drawingml.chart+xml"/>
  <Override PartName="/ppt/theme/themeOverride6.xml" ContentType="application/vnd.openxmlformats-officedocument.themeOverr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16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3" r:id="rId2"/>
    <p:sldMasterId id="2147483675" r:id="rId3"/>
    <p:sldMasterId id="2147483677" r:id="rId4"/>
  </p:sldMasterIdLst>
  <p:notesMasterIdLst>
    <p:notesMasterId r:id="rId32"/>
  </p:notesMasterIdLst>
  <p:sldIdLst>
    <p:sldId id="262" r:id="rId5"/>
    <p:sldId id="265" r:id="rId6"/>
    <p:sldId id="561" r:id="rId7"/>
    <p:sldId id="562" r:id="rId8"/>
    <p:sldId id="563" r:id="rId9"/>
    <p:sldId id="564" r:id="rId10"/>
    <p:sldId id="565" r:id="rId11"/>
    <p:sldId id="574" r:id="rId12"/>
    <p:sldId id="575" r:id="rId13"/>
    <p:sldId id="570" r:id="rId14"/>
    <p:sldId id="571" r:id="rId15"/>
    <p:sldId id="572" r:id="rId16"/>
    <p:sldId id="573" r:id="rId17"/>
    <p:sldId id="535" r:id="rId18"/>
    <p:sldId id="470" r:id="rId19"/>
    <p:sldId id="532" r:id="rId20"/>
    <p:sldId id="533" r:id="rId21"/>
    <p:sldId id="461" r:id="rId22"/>
    <p:sldId id="576" r:id="rId23"/>
    <p:sldId id="577" r:id="rId24"/>
    <p:sldId id="578" r:id="rId25"/>
    <p:sldId id="579" r:id="rId26"/>
    <p:sldId id="580" r:id="rId27"/>
    <p:sldId id="537" r:id="rId28"/>
    <p:sldId id="464" r:id="rId29"/>
    <p:sldId id="490" r:id="rId30"/>
    <p:sldId id="411" r:id="rId31"/>
  </p:sldIdLst>
  <p:sldSz cx="9144000" cy="5148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3" userDrawn="1">
          <p15:clr>
            <a:srgbClr val="A4A3A4"/>
          </p15:clr>
        </p15:guide>
        <p15:guide id="2" pos="61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" initials="a" lastIdx="1" clrIdx="0">
    <p:extLst>
      <p:ext uri="{19B8F6BF-5375-455C-9EA6-DF929625EA0E}">
        <p15:presenceInfo xmlns:p15="http://schemas.microsoft.com/office/powerpoint/2012/main" userId="adm" providerId="None"/>
      </p:ext>
    </p:extLst>
  </p:cmAuthor>
  <p:cmAuthor id="2" name="Luis Marcal" initials="LM" lastIdx="0" clrIdx="1">
    <p:extLst>
      <p:ext uri="{19B8F6BF-5375-455C-9EA6-DF929625EA0E}">
        <p15:presenceInfo xmlns:p15="http://schemas.microsoft.com/office/powerpoint/2012/main" userId="Luis Marca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CCCC00"/>
    <a:srgbClr val="1934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2" autoAdjust="0"/>
    <p:restoredTop sz="91785" autoAdjust="0"/>
  </p:normalViewPr>
  <p:slideViewPr>
    <p:cSldViewPr snapToGrid="0" snapToObjects="1">
      <p:cViewPr varScale="1">
        <p:scale>
          <a:sx n="62" d="100"/>
          <a:sy n="62" d="100"/>
        </p:scale>
        <p:origin x="180" y="42"/>
      </p:cViewPr>
      <p:guideLst>
        <p:guide orient="horz" pos="2483"/>
        <p:guide pos="612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Felipe\Desktop\Comparativo%20AI%20-%2022-03-16.xlsm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Felipe\Desktop\Comparativo%20AI%20-%2022-03-16.xlsm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Felipe\Desktop\Comparativo%20AI%20-%2022-03-16.xlsm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202712.CONTAX-BR\Dropbox\Gest&#227;o%20de%20Problemas\Report_Semana_G_Problemas_V1_18032016.xlsx" TargetMode="Externa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file:///\\10.100.10.211\GEQ_Medicao%20e%20Analise\02.%20Relatorios\Comite%20de%20estabiliza&#231;&#227;o\Relatorio%20de%20Tempo%20M&#233;dio%20Entre%20Falhas%20e%20Tempo%20M&#233;dio%20de%20Resolu&#231;&#227;o%20-%20de%20set%20de%202015%20&#224;%20mar&#231;o%20parcial%20.xlsb" TargetMode="External"/></Relationships>
</file>

<file path=ppt/charts/_rels/chart9.xml.rels><?xml version="1.0" encoding="UTF-8" standalone="yes"?>
<Relationships xmlns="http://schemas.openxmlformats.org/package/2006/relationships"><Relationship Id="rId2" Type="http://schemas.openxmlformats.org/officeDocument/2006/relationships/oleObject" Target="file:///\\10.100.10.211\GEQ_Medicao%20e%20Analise\02.%20Relatorios\Comite%20de%20estabiliza&#231;&#227;o\Relatorio%20de%20Tempo%20M&#233;dio%20Entre%20Falhas%20e%20Tempo%20M&#233;dio%20de%20Resolu&#231;&#227;o%20-%20de%20set%20de%202015%20&#224;%20mar&#231;o%20parcial%20.xlsb" TargetMode="External"/><Relationship Id="rId1" Type="http://schemas.openxmlformats.org/officeDocument/2006/relationships/themeOverride" Target="../theme/themeOverride1.xml"/></Relationships>
</file>

<file path=ppt/charts/_rels/chart10.xml.rels><?xml version="1.0" encoding="UTF-8" standalone="yes"?>
<Relationships xmlns="http://schemas.openxmlformats.org/package/2006/relationships"><Relationship Id="rId2" Type="http://schemas.openxmlformats.org/officeDocument/2006/relationships/oleObject" Target="file:///\\10.100.10.211\GEQ_Medicao%20e%20Analise\02.%20Relatorios\Comite%20de%20estabiliza&#231;&#227;o\Relatorio%20de%20Tempo%20M&#233;dio%20Entre%20Falhas%20e%20Tempo%20M&#233;dio%20de%20Resolu&#231;&#227;o%20-%20de%20set%20de%202015%20&#224;%20mar&#231;o%20parcial%20.xlsb" TargetMode="External"/><Relationship Id="rId1" Type="http://schemas.openxmlformats.org/officeDocument/2006/relationships/themeOverride" Target="../theme/themeOverride2.xml"/></Relationships>
</file>

<file path=ppt/charts/_rels/chart11.xml.rels><?xml version="1.0" encoding="UTF-8" standalone="yes"?>
<Relationships xmlns="http://schemas.openxmlformats.org/package/2006/relationships"><Relationship Id="rId2" Type="http://schemas.openxmlformats.org/officeDocument/2006/relationships/oleObject" Target="file:///\\10.100.10.211\GEQ_Medicao%20e%20Analise\02.%20Relatorios\Comite%20de%20estabiliza&#231;&#227;o\Relatorio%20de%20Tempo%20M&#233;dio%20Entre%20Falhas%20e%20Tempo%20M&#233;dio%20de%20Resolu&#231;&#227;o%20-%20de%20set%20de%202015%20&#224;%20mar&#231;o%20parcial%20.xlsb" TargetMode="External"/><Relationship Id="rId1" Type="http://schemas.openxmlformats.org/officeDocument/2006/relationships/themeOverride" Target="../theme/themeOverride3.xml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oleObject" Target="file:///\\10.100.10.211\GEQ_Medicao%20e%20Analise\02.%20Relatorios\Comite%20de%20estabiliza&#231;&#227;o\Relatorio%20de%20Tempo%20M&#233;dio%20Entre%20Falhas%20e%20Tempo%20M&#233;dio%20de%20Resolu&#231;&#227;o%20-%20de%20set%20de%202015%20&#224;%20mar&#231;o%20parcial%20.xlsb" TargetMode="External"/></Relationships>
</file>

<file path=ppt/charts/_rels/chart13.xml.rels><?xml version="1.0" encoding="UTF-8" standalone="yes"?>
<Relationships xmlns="http://schemas.openxmlformats.org/package/2006/relationships"><Relationship Id="rId2" Type="http://schemas.openxmlformats.org/officeDocument/2006/relationships/oleObject" Target="file:///\\10.100.10.211\GEQ_Medicao%20e%20Analise\02.%20Relatorios\Comite%20de%20estabiliza&#231;&#227;o\Relatorio%20de%20Tempo%20M&#233;dio%20Entre%20Falhas%20e%20Tempo%20M&#233;dio%20de%20Resolu&#231;&#227;o%20-%20de%20set%20de%202015%20&#224;%20mar&#231;o%20parcial%20.xlsb" TargetMode="External"/><Relationship Id="rId1" Type="http://schemas.openxmlformats.org/officeDocument/2006/relationships/themeOverride" Target="../theme/themeOverride4.xml"/></Relationships>
</file>

<file path=ppt/charts/_rels/chart14.xml.rels><?xml version="1.0" encoding="UTF-8" standalone="yes"?>
<Relationships xmlns="http://schemas.openxmlformats.org/package/2006/relationships"><Relationship Id="rId2" Type="http://schemas.openxmlformats.org/officeDocument/2006/relationships/oleObject" Target="file:///\\10.100.10.211\GEQ_Medicao%20e%20Analise\02.%20Relatorios\Comite%20de%20estabiliza&#231;&#227;o\Relatorio%20de%20Tempo%20M&#233;dio%20Entre%20Falhas%20e%20Tempo%20M&#233;dio%20de%20Resolu&#231;&#227;o%20-%20de%20set%20de%202015%20&#224;%20mar&#231;o%20parcial%20.xlsb" TargetMode="External"/><Relationship Id="rId1" Type="http://schemas.openxmlformats.org/officeDocument/2006/relationships/themeOverride" Target="../theme/themeOverride5.xml"/></Relationships>
</file>

<file path=ppt/charts/_rels/chart15.xml.rels><?xml version="1.0" encoding="UTF-8" standalone="yes"?>
<Relationships xmlns="http://schemas.openxmlformats.org/package/2006/relationships"><Relationship Id="rId2" Type="http://schemas.openxmlformats.org/officeDocument/2006/relationships/oleObject" Target="file:///\\10.100.10.211\GEQ_Medicao%20e%20Analise\02.%20Relatorios\Comite%20de%20estabiliza&#231;&#227;o\Relatorio%20de%20Tempo%20M&#233;dio%20Entre%20Falhas%20e%20Tempo%20M&#233;dio%20de%20Resolu&#231;&#227;o%20-%20de%20set%20de%202015%20&#224;%20mar&#231;o%20parcial%20.xlsb" TargetMode="External"/><Relationship Id="rId1" Type="http://schemas.openxmlformats.org/officeDocument/2006/relationships/themeOverride" Target="../theme/themeOverride6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oleObject" Target="file:///\\localhost\Users\368838\Google%20Drive\_CORPORATIVO\BKP\Priscila%20Claros\Apresentac&#807;o&#771;es%20BKP\Status_BKP_4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sz="15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 sz="1500" b="1" dirty="0"/>
              <a:t>Volume</a:t>
            </a:r>
            <a:r>
              <a:rPr lang="pt-BR" sz="1500" b="1" baseline="0" dirty="0"/>
              <a:t> de </a:t>
            </a:r>
            <a:r>
              <a:rPr lang="pt-BR" sz="1500" b="1" dirty="0"/>
              <a:t>Incidentes Alto Impacto</a:t>
            </a:r>
          </a:p>
        </c:rich>
      </c:tx>
      <c:layout>
        <c:manualLayout>
          <c:xMode val="edge"/>
          <c:yMode val="edge"/>
          <c:x val="0.13204545348244393"/>
          <c:y val="1.134195411152534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sz="15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2.4382486517836682E-2"/>
          <c:y val="0.21105009973328545"/>
          <c:w val="0.90799622273489888"/>
          <c:h val="0.5809471943938796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Incidentes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c:spPr>
          <c:invertIfNegative val="0"/>
          <c:dPt>
            <c:idx val="3"/>
            <c:invertIfNegative val="0"/>
            <c:bubble3D val="0"/>
            <c:spPr>
              <a:solidFill>
                <a:schemeClr val="tx2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3AF3-47B6-B362-8D75B94687B9}"/>
              </c:ext>
            </c:extLst>
          </c:dPt>
          <c:dPt>
            <c:idx val="4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3AF3-47B6-B362-8D75B94687B9}"/>
              </c:ext>
            </c:extLst>
          </c:dPt>
          <c:dPt>
            <c:idx val="5"/>
            <c:invertIfNegative val="0"/>
            <c:bubble3D val="0"/>
            <c:spPr>
              <a:solidFill>
                <a:schemeClr val="tx2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A342-4057-BDFD-D4272EDC6324}"/>
              </c:ext>
            </c:extLst>
          </c:dPt>
          <c:dLbls>
            <c:dLbl>
              <c:idx val="0"/>
              <c:layout>
                <c:manualLayout>
                  <c:x val="2.9700515900299811E-3"/>
                  <c:y val="-0.27787787573237099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6-A342-4057-BDFD-D4272EDC6324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5.9401031800599621E-3"/>
                  <c:y val="-0.124761495226778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7-A342-4057-BDFD-D4272EDC6324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5.9401031800599075E-3"/>
                  <c:y val="-0.1361034493383042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8-A342-4057-BDFD-D4272EDC6324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-8.9101547700900525E-3"/>
                  <c:y val="-0.1417744263940668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3AF3-47B6-B362-8D75B94687B9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2.9700515900298722E-3"/>
                  <c:y val="-0.1474454034498294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3AF3-47B6-B362-8D75B94687B9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Plan1!$A$2:$A$6</c:f>
              <c:strCache>
                <c:ptCount val="5"/>
                <c:pt idx="0">
                  <c:v>Ago</c:v>
                </c:pt>
                <c:pt idx="1">
                  <c:v>Dez</c:v>
                </c:pt>
                <c:pt idx="2">
                  <c:v>Jan</c:v>
                </c:pt>
                <c:pt idx="3">
                  <c:v>Fev</c:v>
                </c:pt>
                <c:pt idx="4">
                  <c:v>Mar</c:v>
                </c:pt>
              </c:strCache>
            </c:strRef>
          </c:cat>
          <c:val>
            <c:numRef>
              <c:f>Plan1!$B$2:$B$6</c:f>
              <c:numCache>
                <c:formatCode>#,##0</c:formatCode>
                <c:ptCount val="5"/>
                <c:pt idx="0">
                  <c:v>1494</c:v>
                </c:pt>
                <c:pt idx="1">
                  <c:v>294</c:v>
                </c:pt>
                <c:pt idx="2">
                  <c:v>210</c:v>
                </c:pt>
                <c:pt idx="3">
                  <c:v>204</c:v>
                </c:pt>
                <c:pt idx="4">
                  <c:v>114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7-3AF3-47B6-B362-8D75B94687B9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100"/>
        <c:axId val="177384328"/>
        <c:axId val="177384720"/>
      </c:barChart>
      <c:catAx>
        <c:axId val="1773843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77384720"/>
        <c:crosses val="autoZero"/>
        <c:auto val="1"/>
        <c:lblAlgn val="ctr"/>
        <c:lblOffset val="100"/>
        <c:noMultiLvlLbl val="0"/>
      </c:catAx>
      <c:valAx>
        <c:axId val="177384720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177384328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sz="15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 sz="1500" b="1" dirty="0"/>
              <a:t>Média diária de Incidentes Alto Impacto</a:t>
            </a:r>
          </a:p>
        </c:rich>
      </c:tx>
      <c:layout>
        <c:manualLayout>
          <c:xMode val="edge"/>
          <c:yMode val="edge"/>
          <c:x val="0.1585050000070585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sz="15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2.7352474322057077E-2"/>
          <c:y val="0.19970809412273891"/>
          <c:w val="0.90799622273489888"/>
          <c:h val="0.5809471943938796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Incidentes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c:spPr>
          <c:invertIfNegative val="0"/>
          <c:dPt>
            <c:idx val="3"/>
            <c:invertIfNegative val="0"/>
            <c:bubble3D val="0"/>
            <c:spPr>
              <a:solidFill>
                <a:schemeClr val="tx2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852E-40EC-BB07-F4FF4F71836A}"/>
              </c:ext>
            </c:extLst>
          </c:dPt>
          <c:dPt>
            <c:idx val="4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852E-40EC-BB07-F4FF4F71836A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1336-4DE1-AAF2-45A9A199F5C6}"/>
              </c:ext>
            </c:extLst>
          </c:dPt>
          <c:dLbls>
            <c:dLbl>
              <c:idx val="0"/>
              <c:layout>
                <c:manualLayout>
                  <c:x val="-2.9880988961915756E-3"/>
                  <c:y val="-0.3299722395062690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6-1336-4DE1-AAF2-45A9A199F5C6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-8.9642966885746869E-3"/>
                  <c:y val="-0.1649861197531345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7-1336-4DE1-AAF2-45A9A199F5C6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2.9880988961916168E-3"/>
                  <c:y val="-0.17636447283955761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8-1336-4DE1-AAF2-45A9A199F5C6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-2.9880988961915622E-3"/>
                  <c:y val="-0.1649861197531346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852E-40EC-BB07-F4FF4F71836A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-1.0956236051995256E-16"/>
                  <c:y val="-0.170675296296346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852E-40EC-BB07-F4FF4F71836A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t" anchorCtr="0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Plan1!$A$2:$A$6</c:f>
              <c:strCache>
                <c:ptCount val="5"/>
                <c:pt idx="0">
                  <c:v>Ago</c:v>
                </c:pt>
                <c:pt idx="1">
                  <c:v>Dez</c:v>
                </c:pt>
                <c:pt idx="2">
                  <c:v>Jan</c:v>
                </c:pt>
                <c:pt idx="3">
                  <c:v>Fev</c:v>
                </c:pt>
                <c:pt idx="4">
                  <c:v>Mar</c:v>
                </c:pt>
              </c:strCache>
            </c:strRef>
          </c:cat>
          <c:val>
            <c:numRef>
              <c:f>Plan1!$B$2:$B$6</c:f>
              <c:numCache>
                <c:formatCode>#,##0.00</c:formatCode>
                <c:ptCount val="5"/>
                <c:pt idx="0">
                  <c:v>48.19</c:v>
                </c:pt>
                <c:pt idx="1">
                  <c:v>9.48</c:v>
                </c:pt>
                <c:pt idx="2">
                  <c:v>6.77</c:v>
                </c:pt>
                <c:pt idx="3">
                  <c:v>7.03</c:v>
                </c:pt>
                <c:pt idx="4">
                  <c:v>5.7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7-852E-40EC-BB07-F4FF4F71836A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100"/>
        <c:axId val="177385504"/>
        <c:axId val="177385896"/>
      </c:barChart>
      <c:catAx>
        <c:axId val="1773855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77385896"/>
        <c:crosses val="autoZero"/>
        <c:auto val="1"/>
        <c:lblAlgn val="ctr"/>
        <c:lblOffset val="100"/>
        <c:noMultiLvlLbl val="0"/>
      </c:catAx>
      <c:valAx>
        <c:axId val="177385896"/>
        <c:scaling>
          <c:orientation val="minMax"/>
        </c:scaling>
        <c:delete val="1"/>
        <c:axPos val="l"/>
        <c:numFmt formatCode="#,##0.00" sourceLinked="1"/>
        <c:majorTickMark val="none"/>
        <c:minorTickMark val="none"/>
        <c:tickLblPos val="nextTo"/>
        <c:crossAx val="17738550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4382486517836682E-2"/>
          <c:y val="0.21105009973328545"/>
          <c:w val="0.90799622273489888"/>
          <c:h val="0.5809471943938796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Incidentes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c:spPr>
          <c:invertIfNegative val="0"/>
          <c:dPt>
            <c:idx val="3"/>
            <c:invertIfNegative val="0"/>
            <c:bubble3D val="0"/>
            <c:spPr>
              <a:solidFill>
                <a:schemeClr val="tx2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3AF3-47B6-B362-8D75B94687B9}"/>
              </c:ext>
            </c:extLst>
          </c:dPt>
          <c:dPt>
            <c:idx val="4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3AF3-47B6-B362-8D75B94687B9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B343-4B87-A407-FBF943380C67}"/>
              </c:ext>
            </c:extLst>
          </c:dPt>
          <c:dLbls>
            <c:dLbl>
              <c:idx val="0"/>
              <c:layout>
                <c:manualLayout>
                  <c:x val="-5.9400113486707184E-3"/>
                  <c:y val="-0.2986728170429673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6-B343-4B87-A407-FBF943380C67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5.5555324682596465E-3"/>
                  <c:y val="-0.29147915127361201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7-B343-4B87-A407-FBF943380C67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8.5255551212713165E-3"/>
                  <c:y val="-0.2937381741077724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8-B343-4B87-A407-FBF943380C67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-5.7477888871415453E-3"/>
                  <c:y val="-0.2900685877198874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3AF3-47B6-B362-8D75B94687B9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-6.252661440287236E-3"/>
                  <c:y val="-0.23277021532981959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3AF3-47B6-B362-8D75B94687B9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7.5384243048088051E-2"/>
                  <c:y val="3.1938568217990376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5-B343-4B87-A407-FBF943380C67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Plan1!$A$2:$A$6</c:f>
              <c:strCache>
                <c:ptCount val="5"/>
                <c:pt idx="0">
                  <c:v>Agosto</c:v>
                </c:pt>
                <c:pt idx="1">
                  <c:v>Dezembro</c:v>
                </c:pt>
                <c:pt idx="2">
                  <c:v>Janeiro</c:v>
                </c:pt>
                <c:pt idx="3">
                  <c:v>Fevereiro</c:v>
                </c:pt>
                <c:pt idx="4">
                  <c:v>Março</c:v>
                </c:pt>
              </c:strCache>
            </c:strRef>
          </c:cat>
          <c:val>
            <c:numRef>
              <c:f>Plan1!$B$2:$B$6</c:f>
              <c:numCache>
                <c:formatCode>#,##0</c:formatCode>
                <c:ptCount val="5"/>
                <c:pt idx="0">
                  <c:v>24272</c:v>
                </c:pt>
                <c:pt idx="1">
                  <c:v>19386</c:v>
                </c:pt>
                <c:pt idx="2">
                  <c:v>21648</c:v>
                </c:pt>
                <c:pt idx="3">
                  <c:v>19660</c:v>
                </c:pt>
                <c:pt idx="4">
                  <c:v>14219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7-3AF3-47B6-B362-8D75B94687B9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100"/>
        <c:axId val="178168800"/>
        <c:axId val="178169192"/>
      </c:barChart>
      <c:catAx>
        <c:axId val="17816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78169192"/>
        <c:crosses val="autoZero"/>
        <c:auto val="1"/>
        <c:lblAlgn val="ctr"/>
        <c:lblOffset val="100"/>
        <c:noMultiLvlLbl val="0"/>
      </c:catAx>
      <c:valAx>
        <c:axId val="178169192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178168800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3200968655044549E-2"/>
          <c:y val="0.1152471147111666"/>
          <c:w val="0.94158558494854694"/>
          <c:h val="0.75295003854531117"/>
        </c:manualLayout>
      </c:layout>
      <c:barChart>
        <c:barDir val="col"/>
        <c:grouping val="clustered"/>
        <c:varyColors val="0"/>
        <c:ser>
          <c:idx val="1"/>
          <c:order val="0"/>
          <c:tx>
            <c:v>Total de Chamados</c:v>
          </c:tx>
          <c:spPr>
            <a:solidFill>
              <a:schemeClr val="accent1"/>
            </a:solidFill>
            <a:ln w="19050" cap="flat" cmpd="sng" algn="ctr">
              <a:solidFill>
                <a:schemeClr val="lt1"/>
              </a:solidFill>
              <a:prstDash val="solid"/>
              <a:miter lim="800000"/>
            </a:ln>
            <a:effectLst/>
          </c:spPr>
          <c:invertIfNegative val="0"/>
          <c:dLbls>
            <c:dLbl>
              <c:idx val="20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0-2AAD-48C4-A35C-75FF99696D29}"/>
                </c:ext>
                <c:ext xmlns:c15="http://schemas.microsoft.com/office/drawing/2012/chart" uri="{CE6537A1-D6FC-4f65-9D91-7224C49458BB}"/>
              </c:extLst>
            </c:dLbl>
            <c:dLbl>
              <c:idx val="21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2AAD-48C4-A35C-75FF99696D29}"/>
                </c:ext>
                <c:ext xmlns:c15="http://schemas.microsoft.com/office/drawing/2012/chart" uri="{CE6537A1-D6FC-4f65-9D91-7224C49458BB}"/>
              </c:extLst>
            </c:dLbl>
            <c:dLbl>
              <c:idx val="22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2-2AAD-48C4-A35C-75FF99696D29}"/>
                </c:ext>
                <c:ext xmlns:c15="http://schemas.microsoft.com/office/drawing/2012/chart" uri="{CE6537A1-D6FC-4f65-9D91-7224C49458BB}"/>
              </c:extLst>
            </c:dLbl>
            <c:dLbl>
              <c:idx val="23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2AAD-48C4-A35C-75FF99696D29}"/>
                </c:ext>
                <c:ext xmlns:c15="http://schemas.microsoft.com/office/drawing/2012/chart" uri="{CE6537A1-D6FC-4f65-9D91-7224C49458BB}"/>
              </c:extLst>
            </c:dLbl>
            <c:dLbl>
              <c:idx val="24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4-2AAD-48C4-A35C-75FF99696D29}"/>
                </c:ext>
                <c:ext xmlns:c15="http://schemas.microsoft.com/office/drawing/2012/chart" uri="{CE6537A1-D6FC-4f65-9D91-7224C49458BB}"/>
              </c:extLst>
            </c:dLbl>
            <c:dLbl>
              <c:idx val="25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5-2AAD-48C4-A35C-75FF99696D29}"/>
                </c:ext>
                <c:ext xmlns:c15="http://schemas.microsoft.com/office/drawing/2012/chart" uri="{CE6537A1-D6FC-4f65-9D91-7224C49458BB}"/>
              </c:extLst>
            </c:dLbl>
            <c:dLbl>
              <c:idx val="26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6-2AAD-48C4-A35C-75FF99696D29}"/>
                </c:ext>
                <c:ext xmlns:c15="http://schemas.microsoft.com/office/drawing/2012/chart" uri="{CE6537A1-D6FC-4f65-9D91-7224C49458BB}"/>
              </c:extLst>
            </c:dLbl>
            <c:dLbl>
              <c:idx val="27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7-2AAD-48C4-A35C-75FF99696D29}"/>
                </c:ext>
                <c:ext xmlns:c15="http://schemas.microsoft.com/office/drawing/2012/chart" uri="{CE6537A1-D6FC-4f65-9D91-7224C49458BB}"/>
              </c:extLst>
            </c:dLbl>
            <c:dLbl>
              <c:idx val="28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8-2AAD-48C4-A35C-75FF99696D29}"/>
                </c:ext>
                <c:ext xmlns:c15="http://schemas.microsoft.com/office/drawing/2012/chart" uri="{CE6537A1-D6FC-4f65-9D91-7224C49458BB}"/>
              </c:extLst>
            </c:dLbl>
            <c:dLbl>
              <c:idx val="29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9-2AAD-48C4-A35C-75FF99696D29}"/>
                </c:ext>
                <c:ext xmlns:c15="http://schemas.microsoft.com/office/drawing/2012/chart" uri="{CE6537A1-D6FC-4f65-9D91-7224C49458BB}"/>
              </c:extLst>
            </c:dLbl>
            <c:dLbl>
              <c:idx val="30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A-2AAD-48C4-A35C-75FF99696D29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numRef>
              <c:f>'Dados - Gráficos'!$D$9:$AH$9</c:f>
              <c:numCache>
                <c:formatCode>[$-416]d;@</c:formatCode>
                <c:ptCount val="31"/>
                <c:pt idx="0">
                  <c:v>42430</c:v>
                </c:pt>
                <c:pt idx="1">
                  <c:v>42431</c:v>
                </c:pt>
                <c:pt idx="2">
                  <c:v>42432</c:v>
                </c:pt>
                <c:pt idx="3">
                  <c:v>42433</c:v>
                </c:pt>
                <c:pt idx="4">
                  <c:v>42434</c:v>
                </c:pt>
                <c:pt idx="5">
                  <c:v>42435</c:v>
                </c:pt>
                <c:pt idx="6">
                  <c:v>42436</c:v>
                </c:pt>
                <c:pt idx="7">
                  <c:v>42437</c:v>
                </c:pt>
                <c:pt idx="8">
                  <c:v>42438</c:v>
                </c:pt>
                <c:pt idx="9">
                  <c:v>42439</c:v>
                </c:pt>
                <c:pt idx="10">
                  <c:v>42440</c:v>
                </c:pt>
                <c:pt idx="11">
                  <c:v>42441</c:v>
                </c:pt>
                <c:pt idx="12">
                  <c:v>42442</c:v>
                </c:pt>
                <c:pt idx="13">
                  <c:v>42443</c:v>
                </c:pt>
                <c:pt idx="14">
                  <c:v>42444</c:v>
                </c:pt>
                <c:pt idx="15">
                  <c:v>42445</c:v>
                </c:pt>
                <c:pt idx="16">
                  <c:v>42446</c:v>
                </c:pt>
                <c:pt idx="17">
                  <c:v>42447</c:v>
                </c:pt>
                <c:pt idx="18">
                  <c:v>42448</c:v>
                </c:pt>
                <c:pt idx="19">
                  <c:v>42449</c:v>
                </c:pt>
                <c:pt idx="20">
                  <c:v>42450</c:v>
                </c:pt>
                <c:pt idx="21">
                  <c:v>42451</c:v>
                </c:pt>
                <c:pt idx="22">
                  <c:v>42452</c:v>
                </c:pt>
                <c:pt idx="23">
                  <c:v>42453</c:v>
                </c:pt>
                <c:pt idx="24">
                  <c:v>42454</c:v>
                </c:pt>
                <c:pt idx="25">
                  <c:v>42455</c:v>
                </c:pt>
                <c:pt idx="26">
                  <c:v>42456</c:v>
                </c:pt>
                <c:pt idx="27">
                  <c:v>42457</c:v>
                </c:pt>
                <c:pt idx="28">
                  <c:v>42458</c:v>
                </c:pt>
                <c:pt idx="29">
                  <c:v>42459</c:v>
                </c:pt>
                <c:pt idx="30">
                  <c:v>42460</c:v>
                </c:pt>
              </c:numCache>
            </c:numRef>
          </c:cat>
          <c:val>
            <c:numRef>
              <c:f>'Dados - Gráficos'!$D$4:$AH$4</c:f>
              <c:numCache>
                <c:formatCode>#,##0</c:formatCode>
                <c:ptCount val="31"/>
                <c:pt idx="0">
                  <c:v>6</c:v>
                </c:pt>
                <c:pt idx="1">
                  <c:v>10</c:v>
                </c:pt>
                <c:pt idx="2">
                  <c:v>6</c:v>
                </c:pt>
                <c:pt idx="3">
                  <c:v>9</c:v>
                </c:pt>
                <c:pt idx="4">
                  <c:v>3</c:v>
                </c:pt>
                <c:pt idx="5">
                  <c:v>1</c:v>
                </c:pt>
                <c:pt idx="6">
                  <c:v>8</c:v>
                </c:pt>
                <c:pt idx="7">
                  <c:v>6</c:v>
                </c:pt>
                <c:pt idx="8">
                  <c:v>9</c:v>
                </c:pt>
                <c:pt idx="9">
                  <c:v>10</c:v>
                </c:pt>
                <c:pt idx="10">
                  <c:v>6</c:v>
                </c:pt>
                <c:pt idx="11">
                  <c:v>0</c:v>
                </c:pt>
                <c:pt idx="12">
                  <c:v>2</c:v>
                </c:pt>
                <c:pt idx="13">
                  <c:v>3</c:v>
                </c:pt>
                <c:pt idx="14">
                  <c:v>12</c:v>
                </c:pt>
                <c:pt idx="15">
                  <c:v>7</c:v>
                </c:pt>
                <c:pt idx="16">
                  <c:v>6</c:v>
                </c:pt>
                <c:pt idx="17">
                  <c:v>6</c:v>
                </c:pt>
                <c:pt idx="18">
                  <c:v>2</c:v>
                </c:pt>
                <c:pt idx="19">
                  <c:v>2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B-2AAD-48C4-A35C-75FF99696D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2"/>
        <c:overlap val="100"/>
        <c:axId val="163219912"/>
        <c:axId val="165614448"/>
      </c:barChart>
      <c:lineChart>
        <c:grouping val="standard"/>
        <c:varyColors val="0"/>
        <c:ser>
          <c:idx val="0"/>
          <c:order val="1"/>
          <c:tx>
            <c:v>Meta</c:v>
          </c:tx>
          <c:spPr>
            <a:ln w="19050">
              <a:solidFill>
                <a:srgbClr val="FF0000"/>
              </a:solidFill>
            </a:ln>
            <a:effectLst/>
          </c:spPr>
          <c:marker>
            <c:symbol val="none"/>
          </c:marker>
          <c:cat>
            <c:numRef>
              <c:f>'Dados - Gráficos'!$D$9:$AH$9</c:f>
              <c:numCache>
                <c:formatCode>[$-416]d;@</c:formatCode>
                <c:ptCount val="31"/>
                <c:pt idx="0">
                  <c:v>42430</c:v>
                </c:pt>
                <c:pt idx="1">
                  <c:v>42431</c:v>
                </c:pt>
                <c:pt idx="2">
                  <c:v>42432</c:v>
                </c:pt>
                <c:pt idx="3">
                  <c:v>42433</c:v>
                </c:pt>
                <c:pt idx="4">
                  <c:v>42434</c:v>
                </c:pt>
                <c:pt idx="5">
                  <c:v>42435</c:v>
                </c:pt>
                <c:pt idx="6">
                  <c:v>42436</c:v>
                </c:pt>
                <c:pt idx="7">
                  <c:v>42437</c:v>
                </c:pt>
                <c:pt idx="8">
                  <c:v>42438</c:v>
                </c:pt>
                <c:pt idx="9">
                  <c:v>42439</c:v>
                </c:pt>
                <c:pt idx="10">
                  <c:v>42440</c:v>
                </c:pt>
                <c:pt idx="11">
                  <c:v>42441</c:v>
                </c:pt>
                <c:pt idx="12">
                  <c:v>42442</c:v>
                </c:pt>
                <c:pt idx="13">
                  <c:v>42443</c:v>
                </c:pt>
                <c:pt idx="14">
                  <c:v>42444</c:v>
                </c:pt>
                <c:pt idx="15">
                  <c:v>42445</c:v>
                </c:pt>
                <c:pt idx="16">
                  <c:v>42446</c:v>
                </c:pt>
                <c:pt idx="17">
                  <c:v>42447</c:v>
                </c:pt>
                <c:pt idx="18">
                  <c:v>42448</c:v>
                </c:pt>
                <c:pt idx="19">
                  <c:v>42449</c:v>
                </c:pt>
                <c:pt idx="20">
                  <c:v>42450</c:v>
                </c:pt>
                <c:pt idx="21">
                  <c:v>42451</c:v>
                </c:pt>
                <c:pt idx="22">
                  <c:v>42452</c:v>
                </c:pt>
                <c:pt idx="23">
                  <c:v>42453</c:v>
                </c:pt>
                <c:pt idx="24">
                  <c:v>42454</c:v>
                </c:pt>
                <c:pt idx="25">
                  <c:v>42455</c:v>
                </c:pt>
                <c:pt idx="26">
                  <c:v>42456</c:v>
                </c:pt>
                <c:pt idx="27">
                  <c:v>42457</c:v>
                </c:pt>
                <c:pt idx="28">
                  <c:v>42458</c:v>
                </c:pt>
                <c:pt idx="29">
                  <c:v>42459</c:v>
                </c:pt>
                <c:pt idx="30">
                  <c:v>42460</c:v>
                </c:pt>
              </c:numCache>
            </c:numRef>
          </c:cat>
          <c:val>
            <c:numRef>
              <c:f>'Dados - Gráficos'!$D$10:$AH$10</c:f>
              <c:numCache>
                <c:formatCode>#,##0.00</c:formatCode>
                <c:ptCount val="31"/>
                <c:pt idx="0">
                  <c:v>11.217680681812055</c:v>
                </c:pt>
                <c:pt idx="1">
                  <c:v>12.93969306717794</c:v>
                </c:pt>
                <c:pt idx="2">
                  <c:v>12.792092005575151</c:v>
                </c:pt>
                <c:pt idx="3">
                  <c:v>9.5448686503137665</c:v>
                </c:pt>
                <c:pt idx="4">
                  <c:v>4.9200353867596736</c:v>
                </c:pt>
                <c:pt idx="5">
                  <c:v>2.4108173395122403</c:v>
                </c:pt>
                <c:pt idx="6">
                  <c:v>10.374848953068486</c:v>
                </c:pt>
                <c:pt idx="7">
                  <c:v>9.8152097979237141</c:v>
                </c:pt>
                <c:pt idx="8">
                  <c:v>11.321930600236563</c:v>
                </c:pt>
                <c:pt idx="9">
                  <c:v>11.192783102895463</c:v>
                </c:pt>
                <c:pt idx="10">
                  <c:v>8.3515381613912307</c:v>
                </c:pt>
                <c:pt idx="11">
                  <c:v>4.3049165780367167</c:v>
                </c:pt>
                <c:pt idx="12">
                  <c:v>2.1094091232379912</c:v>
                </c:pt>
                <c:pt idx="13">
                  <c:v>9.1658760349339445</c:v>
                </c:pt>
                <c:pt idx="14">
                  <c:v>8.6714511865765118</c:v>
                </c:pt>
                <c:pt idx="15">
                  <c:v>10.002595009077289</c:v>
                </c:pt>
                <c:pt idx="16">
                  <c:v>9.8884969671486527</c:v>
                </c:pt>
                <c:pt idx="17">
                  <c:v>7.3783400447186107</c:v>
                </c:pt>
                <c:pt idx="18">
                  <c:v>3.8032680642879435</c:v>
                </c:pt>
                <c:pt idx="19">
                  <c:v>1.8636013515010923</c:v>
                </c:pt>
                <c:pt idx="20">
                  <c:v>9.1230922432305341</c:v>
                </c:pt>
                <c:pt idx="21">
                  <c:v>8.6309752342595925</c:v>
                </c:pt>
                <c:pt idx="22">
                  <c:v>9.9559056430275099</c:v>
                </c:pt>
                <c:pt idx="23">
                  <c:v>9.8423401794188319</c:v>
                </c:pt>
                <c:pt idx="24">
                  <c:v>7.3438999800278983</c:v>
                </c:pt>
                <c:pt idx="25">
                  <c:v>3.7855154536226281</c:v>
                </c:pt>
                <c:pt idx="26">
                  <c:v>1.8549025722750878</c:v>
                </c:pt>
                <c:pt idx="27">
                  <c:v>9.1230922432305341</c:v>
                </c:pt>
                <c:pt idx="28">
                  <c:v>8.6309752342595925</c:v>
                </c:pt>
                <c:pt idx="29">
                  <c:v>9.9559056430275099</c:v>
                </c:pt>
                <c:pt idx="30">
                  <c:v>9.8423401794188319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C-2AAD-48C4-A35C-75FF99696D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3219912"/>
        <c:axId val="165614448"/>
      </c:lineChart>
      <c:dateAx>
        <c:axId val="163219912"/>
        <c:scaling>
          <c:orientation val="minMax"/>
        </c:scaling>
        <c:delete val="0"/>
        <c:axPos val="b"/>
        <c:numFmt formatCode="[$-416]d;@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65614448"/>
        <c:crosses val="autoZero"/>
        <c:auto val="1"/>
        <c:lblOffset val="100"/>
        <c:baseTimeUnit val="days"/>
      </c:dateAx>
      <c:valAx>
        <c:axId val="165614448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163219912"/>
        <c:crosses val="autoZero"/>
        <c:crossBetween val="between"/>
      </c:valAx>
      <c:spPr>
        <a:noFill/>
        <a:ln>
          <a:noFill/>
        </a:ln>
        <a:effectLst/>
      </c:spPr>
    </c:plotArea>
    <c:plotVisOnly val="0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pt-BR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3200968655044549E-2"/>
          <c:y val="0.1152471147111666"/>
          <c:w val="0.94864560982860335"/>
          <c:h val="0.75295003854531117"/>
        </c:manualLayout>
      </c:layout>
      <c:barChart>
        <c:barDir val="col"/>
        <c:grouping val="clustered"/>
        <c:varyColors val="0"/>
        <c:ser>
          <c:idx val="1"/>
          <c:order val="0"/>
          <c:tx>
            <c:v>Total de Chamados</c:v>
          </c:tx>
          <c:spPr>
            <a:solidFill>
              <a:schemeClr val="accent1"/>
            </a:solidFill>
            <a:ln w="19050" cap="flat" cmpd="sng" algn="ctr">
              <a:solidFill>
                <a:schemeClr val="lt1"/>
              </a:solidFill>
              <a:prstDash val="solid"/>
              <a:miter lim="800000"/>
            </a:ln>
            <a:effectLst/>
          </c:spPr>
          <c:invertIfNegative val="0"/>
          <c:dLbls>
            <c:dLbl>
              <c:idx val="20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0-D292-4115-8B77-F477B981D657}"/>
                </c:ext>
                <c:ext xmlns:c15="http://schemas.microsoft.com/office/drawing/2012/chart" uri="{CE6537A1-D6FC-4f65-9D91-7224C49458BB}"/>
              </c:extLst>
            </c:dLbl>
            <c:dLbl>
              <c:idx val="21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D292-4115-8B77-F477B981D657}"/>
                </c:ext>
                <c:ext xmlns:c15="http://schemas.microsoft.com/office/drawing/2012/chart" uri="{CE6537A1-D6FC-4f65-9D91-7224C49458BB}"/>
              </c:extLst>
            </c:dLbl>
            <c:dLbl>
              <c:idx val="22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2-D292-4115-8B77-F477B981D657}"/>
                </c:ext>
                <c:ext xmlns:c15="http://schemas.microsoft.com/office/drawing/2012/chart" uri="{CE6537A1-D6FC-4f65-9D91-7224C49458BB}"/>
              </c:extLst>
            </c:dLbl>
            <c:dLbl>
              <c:idx val="23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D292-4115-8B77-F477B981D657}"/>
                </c:ext>
                <c:ext xmlns:c15="http://schemas.microsoft.com/office/drawing/2012/chart" uri="{CE6537A1-D6FC-4f65-9D91-7224C49458BB}"/>
              </c:extLst>
            </c:dLbl>
            <c:dLbl>
              <c:idx val="24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4-D292-4115-8B77-F477B981D657}"/>
                </c:ext>
                <c:ext xmlns:c15="http://schemas.microsoft.com/office/drawing/2012/chart" uri="{CE6537A1-D6FC-4f65-9D91-7224C49458BB}"/>
              </c:extLst>
            </c:dLbl>
            <c:dLbl>
              <c:idx val="25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5-D292-4115-8B77-F477B981D657}"/>
                </c:ext>
                <c:ext xmlns:c15="http://schemas.microsoft.com/office/drawing/2012/chart" uri="{CE6537A1-D6FC-4f65-9D91-7224C49458BB}"/>
              </c:extLst>
            </c:dLbl>
            <c:dLbl>
              <c:idx val="26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6-D292-4115-8B77-F477B981D657}"/>
                </c:ext>
                <c:ext xmlns:c15="http://schemas.microsoft.com/office/drawing/2012/chart" uri="{CE6537A1-D6FC-4f65-9D91-7224C49458BB}"/>
              </c:extLst>
            </c:dLbl>
            <c:dLbl>
              <c:idx val="27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7-D292-4115-8B77-F477B981D657}"/>
                </c:ext>
                <c:ext xmlns:c15="http://schemas.microsoft.com/office/drawing/2012/chart" uri="{CE6537A1-D6FC-4f65-9D91-7224C49458BB}"/>
              </c:extLst>
            </c:dLbl>
            <c:dLbl>
              <c:idx val="28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8-D292-4115-8B77-F477B981D657}"/>
                </c:ext>
                <c:ext xmlns:c15="http://schemas.microsoft.com/office/drawing/2012/chart" uri="{CE6537A1-D6FC-4f65-9D91-7224C49458BB}"/>
              </c:extLst>
            </c:dLbl>
            <c:dLbl>
              <c:idx val="29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9-D292-4115-8B77-F477B981D657}"/>
                </c:ext>
                <c:ext xmlns:c15="http://schemas.microsoft.com/office/drawing/2012/chart" uri="{CE6537A1-D6FC-4f65-9D91-7224C49458BB}"/>
              </c:extLst>
            </c:dLbl>
            <c:dLbl>
              <c:idx val="30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A-D292-4115-8B77-F477B981D657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'Dados - Gráficos'!$D$9:$AH$9</c:f>
              <c:numCache>
                <c:formatCode>[$-416]d;@</c:formatCode>
                <c:ptCount val="31"/>
                <c:pt idx="0">
                  <c:v>42430</c:v>
                </c:pt>
                <c:pt idx="1">
                  <c:v>42431</c:v>
                </c:pt>
                <c:pt idx="2">
                  <c:v>42432</c:v>
                </c:pt>
                <c:pt idx="3">
                  <c:v>42433</c:v>
                </c:pt>
                <c:pt idx="4">
                  <c:v>42434</c:v>
                </c:pt>
                <c:pt idx="5">
                  <c:v>42435</c:v>
                </c:pt>
                <c:pt idx="6">
                  <c:v>42436</c:v>
                </c:pt>
                <c:pt idx="7">
                  <c:v>42437</c:v>
                </c:pt>
                <c:pt idx="8">
                  <c:v>42438</c:v>
                </c:pt>
                <c:pt idx="9">
                  <c:v>42439</c:v>
                </c:pt>
                <c:pt idx="10">
                  <c:v>42440</c:v>
                </c:pt>
                <c:pt idx="11">
                  <c:v>42441</c:v>
                </c:pt>
                <c:pt idx="12">
                  <c:v>42442</c:v>
                </c:pt>
                <c:pt idx="13">
                  <c:v>42443</c:v>
                </c:pt>
                <c:pt idx="14">
                  <c:v>42444</c:v>
                </c:pt>
                <c:pt idx="15">
                  <c:v>42445</c:v>
                </c:pt>
                <c:pt idx="16">
                  <c:v>42446</c:v>
                </c:pt>
                <c:pt idx="17">
                  <c:v>42447</c:v>
                </c:pt>
                <c:pt idx="18">
                  <c:v>42448</c:v>
                </c:pt>
                <c:pt idx="19">
                  <c:v>42449</c:v>
                </c:pt>
                <c:pt idx="20">
                  <c:v>42450</c:v>
                </c:pt>
                <c:pt idx="21">
                  <c:v>42451</c:v>
                </c:pt>
                <c:pt idx="22">
                  <c:v>42452</c:v>
                </c:pt>
                <c:pt idx="23">
                  <c:v>42453</c:v>
                </c:pt>
                <c:pt idx="24">
                  <c:v>42454</c:v>
                </c:pt>
                <c:pt idx="25">
                  <c:v>42455</c:v>
                </c:pt>
                <c:pt idx="26">
                  <c:v>42456</c:v>
                </c:pt>
                <c:pt idx="27">
                  <c:v>42457</c:v>
                </c:pt>
                <c:pt idx="28">
                  <c:v>42458</c:v>
                </c:pt>
                <c:pt idx="29">
                  <c:v>42459</c:v>
                </c:pt>
                <c:pt idx="30">
                  <c:v>42460</c:v>
                </c:pt>
              </c:numCache>
            </c:numRef>
          </c:cat>
          <c:val>
            <c:numRef>
              <c:f>'Dados - Gráficos'!$D$5:$AH$5</c:f>
              <c:numCache>
                <c:formatCode>#,##0</c:formatCode>
                <c:ptCount val="31"/>
                <c:pt idx="0">
                  <c:v>682</c:v>
                </c:pt>
                <c:pt idx="1">
                  <c:v>726</c:v>
                </c:pt>
                <c:pt idx="2">
                  <c:v>551</c:v>
                </c:pt>
                <c:pt idx="3">
                  <c:v>591</c:v>
                </c:pt>
                <c:pt idx="4">
                  <c:v>104</c:v>
                </c:pt>
                <c:pt idx="5">
                  <c:v>70</c:v>
                </c:pt>
                <c:pt idx="6">
                  <c:v>612</c:v>
                </c:pt>
                <c:pt idx="7">
                  <c:v>476</c:v>
                </c:pt>
                <c:pt idx="8">
                  <c:v>565</c:v>
                </c:pt>
                <c:pt idx="9">
                  <c:v>488</c:v>
                </c:pt>
                <c:pt idx="10">
                  <c:v>464</c:v>
                </c:pt>
                <c:pt idx="11">
                  <c:v>123</c:v>
                </c:pt>
                <c:pt idx="12">
                  <c:v>37</c:v>
                </c:pt>
                <c:pt idx="13">
                  <c:v>544</c:v>
                </c:pt>
                <c:pt idx="14">
                  <c:v>559</c:v>
                </c:pt>
                <c:pt idx="15">
                  <c:v>420</c:v>
                </c:pt>
                <c:pt idx="16">
                  <c:v>488</c:v>
                </c:pt>
                <c:pt idx="17">
                  <c:v>369</c:v>
                </c:pt>
                <c:pt idx="18">
                  <c:v>128</c:v>
                </c:pt>
                <c:pt idx="19">
                  <c:v>48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B-D292-4115-8B77-F477B981D6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2"/>
        <c:overlap val="100"/>
        <c:axId val="174065880"/>
        <c:axId val="166176264"/>
      </c:barChart>
      <c:lineChart>
        <c:grouping val="standard"/>
        <c:varyColors val="0"/>
        <c:ser>
          <c:idx val="0"/>
          <c:order val="1"/>
          <c:tx>
            <c:v>Meta</c:v>
          </c:tx>
          <c:spPr>
            <a:ln w="19050">
              <a:solidFill>
                <a:srgbClr val="FF0000"/>
              </a:solidFill>
            </a:ln>
            <a:effectLst/>
          </c:spPr>
          <c:marker>
            <c:symbol val="none"/>
          </c:marker>
          <c:cat>
            <c:numRef>
              <c:f>'Dados - Gráficos'!$D$9:$AH$9</c:f>
              <c:numCache>
                <c:formatCode>[$-416]d;@</c:formatCode>
                <c:ptCount val="31"/>
                <c:pt idx="0">
                  <c:v>42430</c:v>
                </c:pt>
                <c:pt idx="1">
                  <c:v>42431</c:v>
                </c:pt>
                <c:pt idx="2">
                  <c:v>42432</c:v>
                </c:pt>
                <c:pt idx="3">
                  <c:v>42433</c:v>
                </c:pt>
                <c:pt idx="4">
                  <c:v>42434</c:v>
                </c:pt>
                <c:pt idx="5">
                  <c:v>42435</c:v>
                </c:pt>
                <c:pt idx="6">
                  <c:v>42436</c:v>
                </c:pt>
                <c:pt idx="7">
                  <c:v>42437</c:v>
                </c:pt>
                <c:pt idx="8">
                  <c:v>42438</c:v>
                </c:pt>
                <c:pt idx="9">
                  <c:v>42439</c:v>
                </c:pt>
                <c:pt idx="10">
                  <c:v>42440</c:v>
                </c:pt>
                <c:pt idx="11">
                  <c:v>42441</c:v>
                </c:pt>
                <c:pt idx="12">
                  <c:v>42442</c:v>
                </c:pt>
                <c:pt idx="13">
                  <c:v>42443</c:v>
                </c:pt>
                <c:pt idx="14">
                  <c:v>42444</c:v>
                </c:pt>
                <c:pt idx="15">
                  <c:v>42445</c:v>
                </c:pt>
                <c:pt idx="16">
                  <c:v>42446</c:v>
                </c:pt>
                <c:pt idx="17">
                  <c:v>42447</c:v>
                </c:pt>
                <c:pt idx="18">
                  <c:v>42448</c:v>
                </c:pt>
                <c:pt idx="19">
                  <c:v>42449</c:v>
                </c:pt>
                <c:pt idx="20">
                  <c:v>42450</c:v>
                </c:pt>
                <c:pt idx="21">
                  <c:v>42451</c:v>
                </c:pt>
                <c:pt idx="22">
                  <c:v>42452</c:v>
                </c:pt>
                <c:pt idx="23">
                  <c:v>42453</c:v>
                </c:pt>
                <c:pt idx="24">
                  <c:v>42454</c:v>
                </c:pt>
                <c:pt idx="25">
                  <c:v>42455</c:v>
                </c:pt>
                <c:pt idx="26">
                  <c:v>42456</c:v>
                </c:pt>
                <c:pt idx="27">
                  <c:v>42457</c:v>
                </c:pt>
                <c:pt idx="28">
                  <c:v>42458</c:v>
                </c:pt>
                <c:pt idx="29">
                  <c:v>42459</c:v>
                </c:pt>
                <c:pt idx="30">
                  <c:v>42460</c:v>
                </c:pt>
              </c:numCache>
            </c:numRef>
          </c:cat>
          <c:val>
            <c:numRef>
              <c:f>'Dados - Gráficos'!$D$11:$AH$11</c:f>
              <c:numCache>
                <c:formatCode>#,##0.00</c:formatCode>
                <c:ptCount val="31"/>
                <c:pt idx="0">
                  <c:v>609.1711955461559</c:v>
                </c:pt>
                <c:pt idx="1">
                  <c:v>607.60365288144885</c:v>
                </c:pt>
                <c:pt idx="2">
                  <c:v>563.59187806467389</c:v>
                </c:pt>
                <c:pt idx="3">
                  <c:v>476.8344205833875</c:v>
                </c:pt>
                <c:pt idx="4">
                  <c:v>147.52988078992908</c:v>
                </c:pt>
                <c:pt idx="5">
                  <c:v>56.069795314521464</c:v>
                </c:pt>
                <c:pt idx="6">
                  <c:v>609.17119554615579</c:v>
                </c:pt>
                <c:pt idx="7">
                  <c:v>536.76338709325535</c:v>
                </c:pt>
                <c:pt idx="8">
                  <c:v>535.38216697603207</c:v>
                </c:pt>
                <c:pt idx="9">
                  <c:v>496.60175599245355</c:v>
                </c:pt>
                <c:pt idx="10">
                  <c:v>420.15653488920793</c:v>
                </c:pt>
                <c:pt idx="11">
                  <c:v>129.99406257098136</c:v>
                </c:pt>
                <c:pt idx="12">
                  <c:v>49.405181116065656</c:v>
                </c:pt>
                <c:pt idx="13">
                  <c:v>563.59187806467378</c:v>
                </c:pt>
                <c:pt idx="14">
                  <c:v>496.60175599245355</c:v>
                </c:pt>
                <c:pt idx="15">
                  <c:v>495.32388132343101</c:v>
                </c:pt>
                <c:pt idx="16">
                  <c:v>459.44509253933649</c:v>
                </c:pt>
                <c:pt idx="17">
                  <c:v>388.71964451151183</c:v>
                </c:pt>
                <c:pt idx="18">
                  <c:v>120.26766596531411</c:v>
                </c:pt>
                <c:pt idx="19">
                  <c:v>45.708593930421785</c:v>
                </c:pt>
                <c:pt idx="20">
                  <c:v>563.59187806467378</c:v>
                </c:pt>
                <c:pt idx="21">
                  <c:v>496.60175599245355</c:v>
                </c:pt>
                <c:pt idx="22">
                  <c:v>495.32388132343101</c:v>
                </c:pt>
                <c:pt idx="23">
                  <c:v>459.44509253933649</c:v>
                </c:pt>
                <c:pt idx="24">
                  <c:v>388.71964451151183</c:v>
                </c:pt>
                <c:pt idx="25">
                  <c:v>120.26766596531411</c:v>
                </c:pt>
                <c:pt idx="26">
                  <c:v>45.708593930421785</c:v>
                </c:pt>
                <c:pt idx="27">
                  <c:v>476.83442058338744</c:v>
                </c:pt>
                <c:pt idx="28">
                  <c:v>420.15653488920793</c:v>
                </c:pt>
                <c:pt idx="29">
                  <c:v>419.07537199262049</c:v>
                </c:pt>
                <c:pt idx="30">
                  <c:v>388.71964451151183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C-D292-4115-8B77-F477B981D6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4065880"/>
        <c:axId val="166176264"/>
      </c:lineChart>
      <c:dateAx>
        <c:axId val="174065880"/>
        <c:scaling>
          <c:orientation val="minMax"/>
        </c:scaling>
        <c:delete val="0"/>
        <c:axPos val="b"/>
        <c:numFmt formatCode="[$-416]d;@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66176264"/>
        <c:crosses val="autoZero"/>
        <c:auto val="1"/>
        <c:lblOffset val="100"/>
        <c:baseTimeUnit val="days"/>
      </c:dateAx>
      <c:valAx>
        <c:axId val="166176264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174065880"/>
        <c:crosses val="autoZero"/>
        <c:crossBetween val="between"/>
      </c:valAx>
      <c:spPr>
        <a:noFill/>
        <a:ln>
          <a:noFill/>
        </a:ln>
        <a:effectLst/>
      </c:spPr>
    </c:plotArea>
    <c:plotVisOnly val="0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pt-BR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3200968655044549E-2"/>
          <c:y val="0.1152471147111666"/>
          <c:w val="0.94864560982860335"/>
          <c:h val="0.75295003854531117"/>
        </c:manualLayout>
      </c:layout>
      <c:barChart>
        <c:barDir val="col"/>
        <c:grouping val="clustered"/>
        <c:varyColors val="0"/>
        <c:ser>
          <c:idx val="1"/>
          <c:order val="0"/>
          <c:tx>
            <c:v>Total de Chamados</c:v>
          </c:tx>
          <c:spPr>
            <a:solidFill>
              <a:schemeClr val="accent1"/>
            </a:solidFill>
            <a:ln w="19050" cap="flat" cmpd="sng" algn="ctr">
              <a:solidFill>
                <a:schemeClr val="lt1"/>
              </a:solidFill>
              <a:prstDash val="solid"/>
              <a:miter lim="800000"/>
            </a:ln>
            <a:effectLst/>
          </c:spPr>
          <c:invertIfNegative val="0"/>
          <c:dLbls>
            <c:dLbl>
              <c:idx val="20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0-5C0E-4098-B79F-99F7E41EA417}"/>
                </c:ext>
                <c:ext xmlns:c15="http://schemas.microsoft.com/office/drawing/2012/chart" uri="{CE6537A1-D6FC-4f65-9D91-7224C49458BB}"/>
              </c:extLst>
            </c:dLbl>
            <c:dLbl>
              <c:idx val="21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5C0E-4098-B79F-99F7E41EA417}"/>
                </c:ext>
                <c:ext xmlns:c15="http://schemas.microsoft.com/office/drawing/2012/chart" uri="{CE6537A1-D6FC-4f65-9D91-7224C49458BB}"/>
              </c:extLst>
            </c:dLbl>
            <c:dLbl>
              <c:idx val="22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2-5C0E-4098-B79F-99F7E41EA417}"/>
                </c:ext>
                <c:ext xmlns:c15="http://schemas.microsoft.com/office/drawing/2012/chart" uri="{CE6537A1-D6FC-4f65-9D91-7224C49458BB}"/>
              </c:extLst>
            </c:dLbl>
            <c:dLbl>
              <c:idx val="23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5C0E-4098-B79F-99F7E41EA417}"/>
                </c:ext>
                <c:ext xmlns:c15="http://schemas.microsoft.com/office/drawing/2012/chart" uri="{CE6537A1-D6FC-4f65-9D91-7224C49458BB}"/>
              </c:extLst>
            </c:dLbl>
            <c:dLbl>
              <c:idx val="24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4-5C0E-4098-B79F-99F7E41EA417}"/>
                </c:ext>
                <c:ext xmlns:c15="http://schemas.microsoft.com/office/drawing/2012/chart" uri="{CE6537A1-D6FC-4f65-9D91-7224C49458BB}"/>
              </c:extLst>
            </c:dLbl>
            <c:dLbl>
              <c:idx val="25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5-5C0E-4098-B79F-99F7E41EA417}"/>
                </c:ext>
                <c:ext xmlns:c15="http://schemas.microsoft.com/office/drawing/2012/chart" uri="{CE6537A1-D6FC-4f65-9D91-7224C49458BB}"/>
              </c:extLst>
            </c:dLbl>
            <c:dLbl>
              <c:idx val="26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6-5C0E-4098-B79F-99F7E41EA417}"/>
                </c:ext>
                <c:ext xmlns:c15="http://schemas.microsoft.com/office/drawing/2012/chart" uri="{CE6537A1-D6FC-4f65-9D91-7224C49458BB}"/>
              </c:extLst>
            </c:dLbl>
            <c:dLbl>
              <c:idx val="27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7-5C0E-4098-B79F-99F7E41EA417}"/>
                </c:ext>
                <c:ext xmlns:c15="http://schemas.microsoft.com/office/drawing/2012/chart" uri="{CE6537A1-D6FC-4f65-9D91-7224C49458BB}"/>
              </c:extLst>
            </c:dLbl>
            <c:dLbl>
              <c:idx val="28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8-5C0E-4098-B79F-99F7E41EA417}"/>
                </c:ext>
                <c:ext xmlns:c15="http://schemas.microsoft.com/office/drawing/2012/chart" uri="{CE6537A1-D6FC-4f65-9D91-7224C49458BB}"/>
              </c:extLst>
            </c:dLbl>
            <c:dLbl>
              <c:idx val="29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9-5C0E-4098-B79F-99F7E41EA417}"/>
                </c:ext>
                <c:ext xmlns:c15="http://schemas.microsoft.com/office/drawing/2012/chart" uri="{CE6537A1-D6FC-4f65-9D91-7224C49458BB}"/>
              </c:extLst>
            </c:dLbl>
            <c:dLbl>
              <c:idx val="30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A-5C0E-4098-B79F-99F7E41EA417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numRef>
              <c:f>'Dados - Gráficos'!$D$9:$AH$9</c:f>
              <c:numCache>
                <c:formatCode>[$-416]d;@</c:formatCode>
                <c:ptCount val="31"/>
                <c:pt idx="0">
                  <c:v>42430</c:v>
                </c:pt>
                <c:pt idx="1">
                  <c:v>42431</c:v>
                </c:pt>
                <c:pt idx="2">
                  <c:v>42432</c:v>
                </c:pt>
                <c:pt idx="3">
                  <c:v>42433</c:v>
                </c:pt>
                <c:pt idx="4">
                  <c:v>42434</c:v>
                </c:pt>
                <c:pt idx="5">
                  <c:v>42435</c:v>
                </c:pt>
                <c:pt idx="6">
                  <c:v>42436</c:v>
                </c:pt>
                <c:pt idx="7">
                  <c:v>42437</c:v>
                </c:pt>
                <c:pt idx="8">
                  <c:v>42438</c:v>
                </c:pt>
                <c:pt idx="9">
                  <c:v>42439</c:v>
                </c:pt>
                <c:pt idx="10">
                  <c:v>42440</c:v>
                </c:pt>
                <c:pt idx="11">
                  <c:v>42441</c:v>
                </c:pt>
                <c:pt idx="12">
                  <c:v>42442</c:v>
                </c:pt>
                <c:pt idx="13">
                  <c:v>42443</c:v>
                </c:pt>
                <c:pt idx="14">
                  <c:v>42444</c:v>
                </c:pt>
                <c:pt idx="15">
                  <c:v>42445</c:v>
                </c:pt>
                <c:pt idx="16">
                  <c:v>42446</c:v>
                </c:pt>
                <c:pt idx="17">
                  <c:v>42447</c:v>
                </c:pt>
                <c:pt idx="18">
                  <c:v>42448</c:v>
                </c:pt>
                <c:pt idx="19">
                  <c:v>42449</c:v>
                </c:pt>
                <c:pt idx="20">
                  <c:v>42450</c:v>
                </c:pt>
                <c:pt idx="21">
                  <c:v>42451</c:v>
                </c:pt>
                <c:pt idx="22">
                  <c:v>42452</c:v>
                </c:pt>
                <c:pt idx="23">
                  <c:v>42453</c:v>
                </c:pt>
                <c:pt idx="24">
                  <c:v>42454</c:v>
                </c:pt>
                <c:pt idx="25">
                  <c:v>42455</c:v>
                </c:pt>
                <c:pt idx="26">
                  <c:v>42456</c:v>
                </c:pt>
                <c:pt idx="27">
                  <c:v>42457</c:v>
                </c:pt>
                <c:pt idx="28">
                  <c:v>42458</c:v>
                </c:pt>
                <c:pt idx="29">
                  <c:v>42459</c:v>
                </c:pt>
                <c:pt idx="30">
                  <c:v>42460</c:v>
                </c:pt>
              </c:numCache>
            </c:numRef>
          </c:cat>
          <c:val>
            <c:numRef>
              <c:f>'Dados - Gráficos'!$D$6:$AH$6</c:f>
              <c:numCache>
                <c:formatCode>#,##0</c:formatCode>
                <c:ptCount val="31"/>
                <c:pt idx="0">
                  <c:v>574</c:v>
                </c:pt>
                <c:pt idx="1">
                  <c:v>470</c:v>
                </c:pt>
                <c:pt idx="2">
                  <c:v>392</c:v>
                </c:pt>
                <c:pt idx="3">
                  <c:v>377</c:v>
                </c:pt>
                <c:pt idx="4">
                  <c:v>79</c:v>
                </c:pt>
                <c:pt idx="5">
                  <c:v>40</c:v>
                </c:pt>
                <c:pt idx="6">
                  <c:v>548</c:v>
                </c:pt>
                <c:pt idx="7">
                  <c:v>389</c:v>
                </c:pt>
                <c:pt idx="8">
                  <c:v>407</c:v>
                </c:pt>
                <c:pt idx="9">
                  <c:v>364</c:v>
                </c:pt>
                <c:pt idx="10">
                  <c:v>317</c:v>
                </c:pt>
                <c:pt idx="11">
                  <c:v>100</c:v>
                </c:pt>
                <c:pt idx="12">
                  <c:v>39</c:v>
                </c:pt>
                <c:pt idx="13">
                  <c:v>478</c:v>
                </c:pt>
                <c:pt idx="14">
                  <c:v>397</c:v>
                </c:pt>
                <c:pt idx="15">
                  <c:v>328</c:v>
                </c:pt>
                <c:pt idx="16">
                  <c:v>320</c:v>
                </c:pt>
                <c:pt idx="17">
                  <c:v>276</c:v>
                </c:pt>
                <c:pt idx="18">
                  <c:v>114</c:v>
                </c:pt>
                <c:pt idx="19">
                  <c:v>51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B-5C0E-4098-B79F-99F7E41EA4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2"/>
        <c:overlap val="100"/>
        <c:axId val="166301008"/>
        <c:axId val="166335280"/>
      </c:barChart>
      <c:lineChart>
        <c:grouping val="standard"/>
        <c:varyColors val="0"/>
        <c:ser>
          <c:idx val="0"/>
          <c:order val="1"/>
          <c:tx>
            <c:v>Meta</c:v>
          </c:tx>
          <c:spPr>
            <a:ln>
              <a:solidFill>
                <a:srgbClr val="FF0000"/>
              </a:solidFill>
            </a:ln>
            <a:effectLst/>
          </c:spPr>
          <c:marker>
            <c:symbol val="none"/>
          </c:marker>
          <c:cat>
            <c:numRef>
              <c:f>'Dados - Gráficos'!$D$9:$AH$9</c:f>
              <c:numCache>
                <c:formatCode>[$-416]d;@</c:formatCode>
                <c:ptCount val="31"/>
                <c:pt idx="0">
                  <c:v>42430</c:v>
                </c:pt>
                <c:pt idx="1">
                  <c:v>42431</c:v>
                </c:pt>
                <c:pt idx="2">
                  <c:v>42432</c:v>
                </c:pt>
                <c:pt idx="3">
                  <c:v>42433</c:v>
                </c:pt>
                <c:pt idx="4">
                  <c:v>42434</c:v>
                </c:pt>
                <c:pt idx="5">
                  <c:v>42435</c:v>
                </c:pt>
                <c:pt idx="6">
                  <c:v>42436</c:v>
                </c:pt>
                <c:pt idx="7">
                  <c:v>42437</c:v>
                </c:pt>
                <c:pt idx="8">
                  <c:v>42438</c:v>
                </c:pt>
                <c:pt idx="9">
                  <c:v>42439</c:v>
                </c:pt>
                <c:pt idx="10">
                  <c:v>42440</c:v>
                </c:pt>
                <c:pt idx="11">
                  <c:v>42441</c:v>
                </c:pt>
                <c:pt idx="12">
                  <c:v>42442</c:v>
                </c:pt>
                <c:pt idx="13">
                  <c:v>42443</c:v>
                </c:pt>
                <c:pt idx="14">
                  <c:v>42444</c:v>
                </c:pt>
                <c:pt idx="15">
                  <c:v>42445</c:v>
                </c:pt>
                <c:pt idx="16">
                  <c:v>42446</c:v>
                </c:pt>
                <c:pt idx="17">
                  <c:v>42447</c:v>
                </c:pt>
                <c:pt idx="18">
                  <c:v>42448</c:v>
                </c:pt>
                <c:pt idx="19">
                  <c:v>42449</c:v>
                </c:pt>
                <c:pt idx="20">
                  <c:v>42450</c:v>
                </c:pt>
                <c:pt idx="21">
                  <c:v>42451</c:v>
                </c:pt>
                <c:pt idx="22">
                  <c:v>42452</c:v>
                </c:pt>
                <c:pt idx="23">
                  <c:v>42453</c:v>
                </c:pt>
                <c:pt idx="24">
                  <c:v>42454</c:v>
                </c:pt>
                <c:pt idx="25">
                  <c:v>42455</c:v>
                </c:pt>
                <c:pt idx="26">
                  <c:v>42456</c:v>
                </c:pt>
                <c:pt idx="27">
                  <c:v>42457</c:v>
                </c:pt>
                <c:pt idx="28">
                  <c:v>42458</c:v>
                </c:pt>
                <c:pt idx="29">
                  <c:v>42459</c:v>
                </c:pt>
                <c:pt idx="30">
                  <c:v>42460</c:v>
                </c:pt>
              </c:numCache>
            </c:numRef>
          </c:cat>
          <c:val>
            <c:numRef>
              <c:f>'Dados - Gráficos'!$D$12:$AH$12</c:f>
              <c:numCache>
                <c:formatCode>#,##0.00</c:formatCode>
                <c:ptCount val="31"/>
                <c:pt idx="0">
                  <c:v>407.30605968415819</c:v>
                </c:pt>
                <c:pt idx="1">
                  <c:v>390.79192858550493</c:v>
                </c:pt>
                <c:pt idx="2">
                  <c:v>370.83469679446841</c:v>
                </c:pt>
                <c:pt idx="3">
                  <c:v>302.80157755793164</c:v>
                </c:pt>
                <c:pt idx="4">
                  <c:v>112.66590598965367</c:v>
                </c:pt>
                <c:pt idx="5">
                  <c:v>51.391465890017457</c:v>
                </c:pt>
                <c:pt idx="6">
                  <c:v>407.30605968415824</c:v>
                </c:pt>
                <c:pt idx="7">
                  <c:v>357.64551330067394</c:v>
                </c:pt>
                <c:pt idx="8">
                  <c:v>343.14485770504547</c:v>
                </c:pt>
                <c:pt idx="9">
                  <c:v>325.62089939835937</c:v>
                </c:pt>
                <c:pt idx="10">
                  <c:v>265.88267731134948</c:v>
                </c:pt>
                <c:pt idx="11">
                  <c:v>98.929183156275968</c:v>
                </c:pt>
                <c:pt idx="12">
                  <c:v>45.125592316897809</c:v>
                </c:pt>
                <c:pt idx="13">
                  <c:v>390.79192858550493</c:v>
                </c:pt>
                <c:pt idx="14">
                  <c:v>343.14485770504547</c:v>
                </c:pt>
                <c:pt idx="15">
                  <c:v>329.23212787636561</c:v>
                </c:pt>
                <c:pt idx="16">
                  <c:v>312.41867445406143</c:v>
                </c:pt>
                <c:pt idx="17">
                  <c:v>255.10252492818736</c:v>
                </c:pt>
                <c:pt idx="18">
                  <c:v>94.918122035819565</c:v>
                </c:pt>
                <c:pt idx="19">
                  <c:v>43.295985490022957</c:v>
                </c:pt>
                <c:pt idx="20">
                  <c:v>370.83469679446847</c:v>
                </c:pt>
                <c:pt idx="21">
                  <c:v>325.62089939835937</c:v>
                </c:pt>
                <c:pt idx="22">
                  <c:v>312.41867445406149</c:v>
                </c:pt>
                <c:pt idx="23">
                  <c:v>296.46386206963967</c:v>
                </c:pt>
                <c:pt idx="24">
                  <c:v>242.07477320645097</c:v>
                </c:pt>
                <c:pt idx="25">
                  <c:v>90.070777901831732</c:v>
                </c:pt>
                <c:pt idx="26">
                  <c:v>41.084916235923245</c:v>
                </c:pt>
                <c:pt idx="27">
                  <c:v>302.80157755793169</c:v>
                </c:pt>
                <c:pt idx="28">
                  <c:v>265.88267731134948</c:v>
                </c:pt>
                <c:pt idx="29">
                  <c:v>255.10252492818739</c:v>
                </c:pt>
                <c:pt idx="30">
                  <c:v>242.07477320645097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C-5C0E-4098-B79F-99F7E41EA4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6301008"/>
        <c:axId val="166335280"/>
      </c:lineChart>
      <c:dateAx>
        <c:axId val="166301008"/>
        <c:scaling>
          <c:orientation val="minMax"/>
        </c:scaling>
        <c:delete val="0"/>
        <c:axPos val="b"/>
        <c:numFmt formatCode="[$-416]d;@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66335280"/>
        <c:crosses val="autoZero"/>
        <c:auto val="1"/>
        <c:lblOffset val="100"/>
        <c:baseTimeUnit val="days"/>
      </c:dateAx>
      <c:valAx>
        <c:axId val="166335280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166301008"/>
        <c:crosses val="autoZero"/>
        <c:crossBetween val="between"/>
      </c:valAx>
      <c:spPr>
        <a:noFill/>
        <a:ln>
          <a:noFill/>
        </a:ln>
        <a:effectLst/>
      </c:spPr>
    </c:plotArea>
    <c:plotVisOnly val="0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pt-BR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[Report_Semana_G_Problemas_V1_18032016.xlsx]Plan6!Tabela dinâmica4</c:name>
    <c:fmtId val="-1"/>
  </c:pivotSource>
  <c:chart>
    <c:title>
      <c:tx>
        <c:rich>
          <a:bodyPr/>
          <a:lstStyle/>
          <a:p>
            <a:pPr>
              <a:defRPr/>
            </a:pPr>
            <a:r>
              <a:rPr lang="en-US"/>
              <a:t>Status - Problemas</a:t>
            </a:r>
          </a:p>
        </c:rich>
      </c:tx>
      <c:layout>
        <c:manualLayout>
          <c:xMode val="edge"/>
          <c:yMode val="edge"/>
          <c:x val="0.18429155730533683"/>
          <c:y val="2.7777777777777776E-2"/>
        </c:manualLayout>
      </c:layout>
      <c:overlay val="0"/>
    </c:title>
    <c:autoTitleDeleted val="0"/>
    <c:pivotFmts>
      <c:pivotFmt>
        <c:idx val="0"/>
        <c:marker>
          <c:symbol val="none"/>
        </c:marker>
        <c:dLbl>
          <c:idx val="0"/>
          <c:spPr/>
          <c:txPr>
            <a:bodyPr/>
            <a:lstStyle/>
            <a:p>
              <a:pPr>
                <a:defRPr/>
              </a:pPr>
              <a:endParaRPr lang="pt-BR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marker>
          <c:symbol val="none"/>
        </c:marker>
        <c:dLbl>
          <c:idx val="0"/>
          <c:spPr/>
          <c:txPr>
            <a:bodyPr/>
            <a:lstStyle/>
            <a:p>
              <a:pPr>
                <a:defRPr/>
              </a:pPr>
              <a:endParaRPr lang="pt-BR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marker>
          <c:symbol val="none"/>
        </c:marker>
        <c:dLbl>
          <c:idx val="0"/>
          <c:spPr/>
          <c:txPr>
            <a:bodyPr/>
            <a:lstStyle/>
            <a:p>
              <a:pPr>
                <a:defRPr/>
              </a:pPr>
              <a:endParaRPr lang="pt-BR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30"/>
      <c:rotY val="0"/>
      <c:rAngAx val="0"/>
    </c:view3D>
    <c:floor>
      <c:thickness val="0"/>
    </c:floor>
    <c:sideWall>
      <c:thickness val="0"/>
    </c:sideWall>
    <c:backWall>
      <c:thickness val="0"/>
    </c:backWall>
    <c:plotArea>
      <c:layout/>
      <c:pie3DChart>
        <c:varyColors val="1"/>
        <c:ser>
          <c:idx val="0"/>
          <c:order val="0"/>
          <c:tx>
            <c:strRef>
              <c:f>Plan6!$F$1</c:f>
              <c:strCache>
                <c:ptCount val="1"/>
                <c:pt idx="0">
                  <c:v>Total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/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Plan6!$E$2:$E$6</c:f>
              <c:strCache>
                <c:ptCount val="4"/>
                <c:pt idx="0">
                  <c:v>Andamento</c:v>
                </c:pt>
                <c:pt idx="1">
                  <c:v>Homologação</c:v>
                </c:pt>
                <c:pt idx="2">
                  <c:v>Registrado</c:v>
                </c:pt>
                <c:pt idx="3">
                  <c:v>Risco a ser mitigado</c:v>
                </c:pt>
              </c:strCache>
            </c:strRef>
          </c:cat>
          <c:val>
            <c:numRef>
              <c:f>Plan6!$F$2:$F$6</c:f>
              <c:numCache>
                <c:formatCode>General</c:formatCode>
                <c:ptCount val="4"/>
                <c:pt idx="0">
                  <c:v>17</c:v>
                </c:pt>
                <c:pt idx="1">
                  <c:v>2</c:v>
                </c:pt>
                <c:pt idx="2">
                  <c:v>2</c:v>
                </c:pt>
                <c:pt idx="3">
                  <c:v>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</c:plotArea>
    <c:legend>
      <c:legendPos val="r"/>
      <c:layout/>
      <c:overlay val="0"/>
    </c:legend>
    <c:plotVisOnly val="1"/>
    <c:dispBlanksAs val="gap"/>
    <c:showDLblsOverMax val="0"/>
  </c:chart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TMEF!$B$10</c:f>
              <c:strCache>
                <c:ptCount val="1"/>
                <c:pt idx="0">
                  <c:v>Alto Impacto(Muito alto + Critico)</c:v>
                </c:pt>
              </c:strCache>
            </c:strRef>
          </c:tx>
          <c:spPr>
            <a:gradFill>
              <a:gsLst>
                <a:gs pos="0">
                  <a:srgbClr val="184E82"/>
                </a:gs>
                <a:gs pos="50000">
                  <a:schemeClr val="tx2">
                    <a:lumMod val="60000"/>
                    <a:lumOff val="40000"/>
                  </a:schemeClr>
                </a:gs>
                <a:gs pos="100000">
                  <a:srgbClr val="184E82"/>
                </a:gs>
              </a:gsLst>
              <a:lin ang="0" scaled="1"/>
            </a:gra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>
                    <a:solidFill>
                      <a:srgbClr val="184E82"/>
                    </a:solidFill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numRef>
              <c:f>TMEF!$K$6:$Q$6</c:f>
              <c:numCache>
                <c:formatCode>mmm\-yy</c:formatCode>
                <c:ptCount val="7"/>
                <c:pt idx="0">
                  <c:v>42248</c:v>
                </c:pt>
                <c:pt idx="1">
                  <c:v>42278</c:v>
                </c:pt>
                <c:pt idx="2">
                  <c:v>42309</c:v>
                </c:pt>
                <c:pt idx="3">
                  <c:v>42339</c:v>
                </c:pt>
                <c:pt idx="4">
                  <c:v>42370</c:v>
                </c:pt>
                <c:pt idx="5">
                  <c:v>42401</c:v>
                </c:pt>
                <c:pt idx="6">
                  <c:v>42430</c:v>
                </c:pt>
              </c:numCache>
            </c:numRef>
          </c:cat>
          <c:val>
            <c:numRef>
              <c:f>TMEF!$K$10:$Q$10</c:f>
              <c:numCache>
                <c:formatCode>[h]:mm:ss;@</c:formatCode>
                <c:ptCount val="7"/>
                <c:pt idx="0">
                  <c:v>2.2795632152319799E-2</c:v>
                </c:pt>
                <c:pt idx="1">
                  <c:v>2.4695234553098275E-2</c:v>
                </c:pt>
                <c:pt idx="2">
                  <c:v>7.222725076411364E-2</c:v>
                </c:pt>
                <c:pt idx="3">
                  <c:v>0.1018928449770841</c:v>
                </c:pt>
                <c:pt idx="4">
                  <c:v>0.14826388888888889</c:v>
                </c:pt>
                <c:pt idx="5">
                  <c:v>0.14141203703703703</c:v>
                </c:pt>
                <c:pt idx="6">
                  <c:v>0.17199074074074075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62CB-4E12-B928-110A004CDB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axId val="173935392"/>
        <c:axId val="173976616"/>
      </c:barChart>
      <c:dateAx>
        <c:axId val="173935392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184E82"/>
                </a:solidFill>
              </a:defRPr>
            </a:pPr>
            <a:endParaRPr lang="pt-BR"/>
          </a:p>
        </c:txPr>
        <c:crossAx val="173976616"/>
        <c:crosses val="autoZero"/>
        <c:auto val="1"/>
        <c:lblOffset val="100"/>
        <c:baseTimeUnit val="months"/>
      </c:dateAx>
      <c:valAx>
        <c:axId val="173976616"/>
        <c:scaling>
          <c:orientation val="minMax"/>
        </c:scaling>
        <c:delete val="1"/>
        <c:axPos val="l"/>
        <c:numFmt formatCode="[h]:mm:ss;@" sourceLinked="1"/>
        <c:majorTickMark val="out"/>
        <c:minorTickMark val="none"/>
        <c:tickLblPos val="nextTo"/>
        <c:crossAx val="173935392"/>
        <c:crosses val="autoZero"/>
        <c:crossBetween val="between"/>
      </c:valAx>
      <c:spPr>
        <a:ln>
          <a:noFill/>
        </a:ln>
      </c:spPr>
    </c:plotArea>
    <c:plotVisOnly val="1"/>
    <c:dispBlanksAs val="gap"/>
    <c:showDLblsOverMax val="0"/>
  </c:chart>
  <c:spPr>
    <a:ln>
      <a:noFill/>
    </a:ln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gradFill flip="none" rotWithShape="1">
              <a:gsLst>
                <a:gs pos="0">
                  <a:srgbClr val="184E82"/>
                </a:gs>
                <a:gs pos="50000">
                  <a:srgbClr val="44546A">
                    <a:lumMod val="60000"/>
                    <a:lumOff val="40000"/>
                  </a:srgbClr>
                </a:gs>
                <a:gs pos="100000">
                  <a:srgbClr val="184E82"/>
                </a:gs>
              </a:gsLst>
              <a:lin ang="0" scaled="1"/>
              <a:tileRect/>
            </a:gra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rgbClr val="184E82"/>
                    </a:solidFill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numRef>
              <c:f>TMEF!$P$6:$Q$6</c:f>
              <c:numCache>
                <c:formatCode>mmm\-yy</c:formatCode>
                <c:ptCount val="2"/>
                <c:pt idx="0">
                  <c:v>42401</c:v>
                </c:pt>
                <c:pt idx="1">
                  <c:v>42430</c:v>
                </c:pt>
              </c:numCache>
            </c:numRef>
          </c:cat>
          <c:val>
            <c:numRef>
              <c:f>TMEF!$P$14:$Q$14</c:f>
              <c:numCache>
                <c:formatCode>[h]:mm:ss;@</c:formatCode>
                <c:ptCount val="2"/>
                <c:pt idx="0">
                  <c:v>0.27598379629629627</c:v>
                </c:pt>
                <c:pt idx="1">
                  <c:v>0.30798611111111113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51D8-4460-AFAA-27497C5650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axId val="163187216"/>
        <c:axId val="163187608"/>
      </c:barChart>
      <c:dateAx>
        <c:axId val="163187216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4E82"/>
                </a:solidFill>
              </a:defRPr>
            </a:pPr>
            <a:endParaRPr lang="pt-BR"/>
          </a:p>
        </c:txPr>
        <c:crossAx val="163187608"/>
        <c:crosses val="autoZero"/>
        <c:auto val="1"/>
        <c:lblOffset val="100"/>
        <c:baseTimeUnit val="months"/>
      </c:dateAx>
      <c:valAx>
        <c:axId val="163187608"/>
        <c:scaling>
          <c:orientation val="minMax"/>
        </c:scaling>
        <c:delete val="1"/>
        <c:axPos val="l"/>
        <c:numFmt formatCode="[h]:mm:ss;@" sourceLinked="1"/>
        <c:majorTickMark val="out"/>
        <c:minorTickMark val="none"/>
        <c:tickLblPos val="nextTo"/>
        <c:crossAx val="163187216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ln>
      <a:noFill/>
    </a:ln>
  </c:spPr>
  <c:externalData r:id="rId2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gradFill flip="none" rotWithShape="1">
              <a:gsLst>
                <a:gs pos="0">
                  <a:srgbClr val="184E82"/>
                </a:gs>
                <a:gs pos="50000">
                  <a:srgbClr val="44546A">
                    <a:lumMod val="60000"/>
                    <a:lumOff val="40000"/>
                  </a:srgbClr>
                </a:gs>
                <a:gs pos="100000">
                  <a:srgbClr val="184E82"/>
                </a:gs>
              </a:gsLst>
              <a:lin ang="0" scaled="1"/>
              <a:tileRect/>
            </a:gra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rgbClr val="184E82"/>
                    </a:solidFill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numRef>
              <c:f>TMEF!$P$6:$Q$6</c:f>
              <c:numCache>
                <c:formatCode>mmm\-yy</c:formatCode>
                <c:ptCount val="2"/>
                <c:pt idx="0">
                  <c:v>42401</c:v>
                </c:pt>
                <c:pt idx="1">
                  <c:v>42430</c:v>
                </c:pt>
              </c:numCache>
            </c:numRef>
          </c:cat>
          <c:val>
            <c:numRef>
              <c:f>TMEF!$P$15:$Q$15</c:f>
              <c:numCache>
                <c:formatCode>[h]:mm:ss;@</c:formatCode>
                <c:ptCount val="2"/>
                <c:pt idx="0">
                  <c:v>0.36337962962962966</c:v>
                </c:pt>
                <c:pt idx="1">
                  <c:v>0.50582175925925921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E234-4C0B-B70B-0B77E8C4919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axId val="174046432"/>
        <c:axId val="174046824"/>
      </c:barChart>
      <c:dateAx>
        <c:axId val="174046432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4E82"/>
                </a:solidFill>
              </a:defRPr>
            </a:pPr>
            <a:endParaRPr lang="pt-BR"/>
          </a:p>
        </c:txPr>
        <c:crossAx val="174046824"/>
        <c:crosses val="autoZero"/>
        <c:auto val="1"/>
        <c:lblOffset val="100"/>
        <c:baseTimeUnit val="months"/>
      </c:dateAx>
      <c:valAx>
        <c:axId val="174046824"/>
        <c:scaling>
          <c:orientation val="minMax"/>
        </c:scaling>
        <c:delete val="1"/>
        <c:axPos val="l"/>
        <c:numFmt formatCode="[h]:mm:ss;@" sourceLinked="1"/>
        <c:majorTickMark val="out"/>
        <c:minorTickMark val="none"/>
        <c:tickLblPos val="nextTo"/>
        <c:crossAx val="174046432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ln>
      <a:noFill/>
    </a:ln>
  </c:spPr>
  <c:externalData r:id="rId2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gradFill flip="none" rotWithShape="1">
              <a:gsLst>
                <a:gs pos="0">
                  <a:srgbClr val="184E82"/>
                </a:gs>
                <a:gs pos="50000">
                  <a:srgbClr val="44546A">
                    <a:lumMod val="60000"/>
                    <a:lumOff val="40000"/>
                  </a:srgbClr>
                </a:gs>
                <a:gs pos="100000">
                  <a:srgbClr val="184E82"/>
                </a:gs>
              </a:gsLst>
              <a:lin ang="0" scaled="1"/>
              <a:tileRect/>
            </a:gra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rgbClr val="184E82"/>
                    </a:solidFill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numRef>
              <c:f>TMEF!$P$6:$Q$6</c:f>
              <c:numCache>
                <c:formatCode>mmm\-yy</c:formatCode>
                <c:ptCount val="2"/>
                <c:pt idx="0">
                  <c:v>42401</c:v>
                </c:pt>
                <c:pt idx="1">
                  <c:v>42430</c:v>
                </c:pt>
              </c:numCache>
            </c:numRef>
          </c:cat>
          <c:val>
            <c:numRef>
              <c:f>TMEF!$P$16:$Q$16</c:f>
              <c:numCache>
                <c:formatCode>[h]:mm:ss;@</c:formatCode>
                <c:ptCount val="2"/>
                <c:pt idx="0">
                  <c:v>1.4329282407407407</c:v>
                </c:pt>
                <c:pt idx="1">
                  <c:v>1.3913657407407409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8DA7-4828-A1E5-10173E5899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axId val="174047608"/>
        <c:axId val="174048000"/>
      </c:barChart>
      <c:dateAx>
        <c:axId val="174047608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4E82"/>
                </a:solidFill>
              </a:defRPr>
            </a:pPr>
            <a:endParaRPr lang="pt-BR"/>
          </a:p>
        </c:txPr>
        <c:crossAx val="174048000"/>
        <c:crosses val="autoZero"/>
        <c:auto val="1"/>
        <c:lblOffset val="100"/>
        <c:baseTimeUnit val="months"/>
      </c:dateAx>
      <c:valAx>
        <c:axId val="174048000"/>
        <c:scaling>
          <c:orientation val="minMax"/>
        </c:scaling>
        <c:delete val="1"/>
        <c:axPos val="l"/>
        <c:numFmt formatCode="[h]:mm:ss;@" sourceLinked="1"/>
        <c:majorTickMark val="out"/>
        <c:minorTickMark val="none"/>
        <c:tickLblPos val="nextTo"/>
        <c:crossAx val="174047608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ln>
      <a:noFill/>
    </a:ln>
  </c:spPr>
  <c:externalData r:id="rId2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TMR!$B$4</c:f>
              <c:strCache>
                <c:ptCount val="1"/>
                <c:pt idx="0">
                  <c:v>Tempo Médio de Resolução</c:v>
                </c:pt>
              </c:strCache>
            </c:strRef>
          </c:tx>
          <c:spPr>
            <a:gradFill>
              <a:gsLst>
                <a:gs pos="0">
                  <a:srgbClr val="184E82"/>
                </a:gs>
                <a:gs pos="50000">
                  <a:schemeClr val="tx2">
                    <a:lumMod val="60000"/>
                    <a:lumOff val="40000"/>
                  </a:schemeClr>
                </a:gs>
                <a:gs pos="100000">
                  <a:srgbClr val="184E82"/>
                </a:gs>
              </a:gsLst>
              <a:lin ang="0" scaled="1"/>
            </a:gra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>
                    <a:solidFill>
                      <a:srgbClr val="184E82"/>
                    </a:solidFill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numRef>
              <c:f>TMR!$K$6:$Q$6</c:f>
              <c:numCache>
                <c:formatCode>mmm\-yy</c:formatCode>
                <c:ptCount val="7"/>
                <c:pt idx="0">
                  <c:v>42248</c:v>
                </c:pt>
                <c:pt idx="1">
                  <c:v>42278</c:v>
                </c:pt>
                <c:pt idx="2">
                  <c:v>42309</c:v>
                </c:pt>
                <c:pt idx="3">
                  <c:v>42339</c:v>
                </c:pt>
                <c:pt idx="4">
                  <c:v>42370</c:v>
                </c:pt>
                <c:pt idx="5">
                  <c:v>42401</c:v>
                </c:pt>
                <c:pt idx="6">
                  <c:v>42430</c:v>
                </c:pt>
              </c:numCache>
            </c:numRef>
          </c:cat>
          <c:val>
            <c:numRef>
              <c:f>TMR!$K$10:$Q$10</c:f>
              <c:numCache>
                <c:formatCode>[h]:mm:ss;@</c:formatCode>
                <c:ptCount val="7"/>
                <c:pt idx="0">
                  <c:v>1.4335257060713684</c:v>
                </c:pt>
                <c:pt idx="1">
                  <c:v>0.78462119193533908</c:v>
                </c:pt>
                <c:pt idx="2">
                  <c:v>0.69037553937432616</c:v>
                </c:pt>
                <c:pt idx="3">
                  <c:v>0.98089464882943078</c:v>
                </c:pt>
                <c:pt idx="4">
                  <c:v>0.86340277777777785</c:v>
                </c:pt>
                <c:pt idx="5">
                  <c:v>0.67074074074074075</c:v>
                </c:pt>
                <c:pt idx="6">
                  <c:v>0.49285879629629631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FDD6-4950-95F0-E0C77E295C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axId val="174049176"/>
        <c:axId val="174049568"/>
      </c:barChart>
      <c:dateAx>
        <c:axId val="174049176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184E82"/>
                </a:solidFill>
              </a:defRPr>
            </a:pPr>
            <a:endParaRPr lang="pt-BR"/>
          </a:p>
        </c:txPr>
        <c:crossAx val="174049568"/>
        <c:crosses val="autoZero"/>
        <c:auto val="1"/>
        <c:lblOffset val="100"/>
        <c:baseTimeUnit val="months"/>
      </c:dateAx>
      <c:valAx>
        <c:axId val="174049568"/>
        <c:scaling>
          <c:orientation val="minMax"/>
        </c:scaling>
        <c:delete val="1"/>
        <c:axPos val="l"/>
        <c:numFmt formatCode="[h]:mm:ss;@" sourceLinked="1"/>
        <c:majorTickMark val="out"/>
        <c:minorTickMark val="none"/>
        <c:tickLblPos val="nextTo"/>
        <c:crossAx val="174049176"/>
        <c:crosses val="autoZero"/>
        <c:crossBetween val="between"/>
      </c:valAx>
      <c:spPr>
        <a:ln>
          <a:noFill/>
        </a:ln>
      </c:spPr>
    </c:plotArea>
    <c:plotVisOnly val="1"/>
    <c:dispBlanksAs val="gap"/>
    <c:showDLblsOverMax val="0"/>
  </c:chart>
  <c:spPr>
    <a:ln>
      <a:noFill/>
    </a:ln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5.7918739635157548E-2"/>
          <c:y val="9.9218749999999994E-2"/>
          <c:w val="0.88416252072968493"/>
          <c:h val="0.6025555555555555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TMR!$B$14</c:f>
              <c:strCache>
                <c:ptCount val="1"/>
                <c:pt idx="0">
                  <c:v>TI Contax (Muito alto + Critico)</c:v>
                </c:pt>
              </c:strCache>
            </c:strRef>
          </c:tx>
          <c:spPr>
            <a:gradFill>
              <a:gsLst>
                <a:gs pos="0">
                  <a:srgbClr val="184E82"/>
                </a:gs>
                <a:gs pos="50000">
                  <a:srgbClr val="44546A">
                    <a:lumMod val="60000"/>
                    <a:lumOff val="40000"/>
                  </a:srgbClr>
                </a:gs>
                <a:gs pos="100000">
                  <a:srgbClr val="184E82"/>
                </a:gs>
              </a:gsLst>
              <a:lin ang="0" scaled="1"/>
            </a:gra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rgbClr val="184E82"/>
                    </a:solidFill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numRef>
              <c:f>TMR!$P$6:$Q$6</c:f>
              <c:numCache>
                <c:formatCode>mmm\-yy</c:formatCode>
                <c:ptCount val="2"/>
                <c:pt idx="0">
                  <c:v>42401</c:v>
                </c:pt>
                <c:pt idx="1">
                  <c:v>42430</c:v>
                </c:pt>
              </c:numCache>
            </c:numRef>
          </c:cat>
          <c:val>
            <c:numRef>
              <c:f>TMR!$P$14:$Q$14</c:f>
              <c:numCache>
                <c:formatCode>[h]:mm:ss;@</c:formatCode>
                <c:ptCount val="2"/>
                <c:pt idx="0">
                  <c:v>0.38315972222222222</c:v>
                </c:pt>
                <c:pt idx="1">
                  <c:v>0.22383101851851853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C2BB-47EA-A91D-D4A60A63D3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6"/>
        <c:axId val="174130208"/>
        <c:axId val="174130600"/>
      </c:barChart>
      <c:dateAx>
        <c:axId val="174130208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4E82"/>
                </a:solidFill>
              </a:defRPr>
            </a:pPr>
            <a:endParaRPr lang="pt-BR"/>
          </a:p>
        </c:txPr>
        <c:crossAx val="174130600"/>
        <c:crosses val="autoZero"/>
        <c:auto val="1"/>
        <c:lblOffset val="100"/>
        <c:baseTimeUnit val="months"/>
      </c:dateAx>
      <c:valAx>
        <c:axId val="174130600"/>
        <c:scaling>
          <c:orientation val="minMax"/>
        </c:scaling>
        <c:delete val="1"/>
        <c:axPos val="l"/>
        <c:numFmt formatCode="[h]:mm:ss;@" sourceLinked="1"/>
        <c:majorTickMark val="out"/>
        <c:minorTickMark val="none"/>
        <c:tickLblPos val="nextTo"/>
        <c:crossAx val="174130208"/>
        <c:crosses val="autoZero"/>
        <c:crossBetween val="between"/>
      </c:valAx>
    </c:plotArea>
    <c:plotVisOnly val="1"/>
    <c:dispBlanksAs val="gap"/>
    <c:showDLblsOverMax val="0"/>
  </c:chart>
  <c:spPr>
    <a:ln>
      <a:noFill/>
    </a:ln>
  </c:spPr>
  <c:externalData r:id="rId2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5.7918739635157548E-2"/>
          <c:y val="9.9218749999999994E-2"/>
          <c:w val="0.88416252072968493"/>
          <c:h val="0.6025555555555555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TMR!$B$15</c:f>
              <c:strCache>
                <c:ptCount val="1"/>
                <c:pt idx="0">
                  <c:v>Suporte Cliente</c:v>
                </c:pt>
              </c:strCache>
            </c:strRef>
          </c:tx>
          <c:spPr>
            <a:gradFill>
              <a:gsLst>
                <a:gs pos="0">
                  <a:srgbClr val="184E82"/>
                </a:gs>
                <a:gs pos="50000">
                  <a:srgbClr val="44546A">
                    <a:lumMod val="60000"/>
                    <a:lumOff val="40000"/>
                  </a:srgbClr>
                </a:gs>
                <a:gs pos="100000">
                  <a:srgbClr val="184E82"/>
                </a:gs>
              </a:gsLst>
              <a:lin ang="0" scaled="1"/>
            </a:gra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rgbClr val="184E82"/>
                    </a:solidFill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numRef>
              <c:f>TMR!$P$6:$Q$6</c:f>
              <c:numCache>
                <c:formatCode>mmm\-yy</c:formatCode>
                <c:ptCount val="2"/>
                <c:pt idx="0">
                  <c:v>42401</c:v>
                </c:pt>
                <c:pt idx="1">
                  <c:v>42430</c:v>
                </c:pt>
              </c:numCache>
            </c:numRef>
          </c:cat>
          <c:val>
            <c:numRef>
              <c:f>TMR!$P$15:$Q$15</c:f>
              <c:numCache>
                <c:formatCode>[h]:mm:ss;@</c:formatCode>
                <c:ptCount val="2"/>
                <c:pt idx="0">
                  <c:v>0.89218750000000002</c:v>
                </c:pt>
                <c:pt idx="1">
                  <c:v>0.75486111111111109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61C8-49D5-95E4-50E374F821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6"/>
        <c:axId val="174131384"/>
        <c:axId val="174131776"/>
      </c:barChart>
      <c:dateAx>
        <c:axId val="174131384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4E82"/>
                </a:solidFill>
              </a:defRPr>
            </a:pPr>
            <a:endParaRPr lang="pt-BR"/>
          </a:p>
        </c:txPr>
        <c:crossAx val="174131776"/>
        <c:crosses val="autoZero"/>
        <c:auto val="1"/>
        <c:lblOffset val="100"/>
        <c:baseTimeUnit val="months"/>
      </c:dateAx>
      <c:valAx>
        <c:axId val="174131776"/>
        <c:scaling>
          <c:orientation val="minMax"/>
        </c:scaling>
        <c:delete val="1"/>
        <c:axPos val="l"/>
        <c:numFmt formatCode="[h]:mm:ss;@" sourceLinked="1"/>
        <c:majorTickMark val="out"/>
        <c:minorTickMark val="none"/>
        <c:tickLblPos val="nextTo"/>
        <c:crossAx val="174131384"/>
        <c:crosses val="autoZero"/>
        <c:crossBetween val="between"/>
      </c:valAx>
    </c:plotArea>
    <c:plotVisOnly val="1"/>
    <c:dispBlanksAs val="gap"/>
    <c:showDLblsOverMax val="0"/>
  </c:chart>
  <c:spPr>
    <a:noFill/>
    <a:ln>
      <a:noFill/>
    </a:ln>
  </c:spPr>
  <c:externalData r:id="rId2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5.7918739635157548E-2"/>
          <c:y val="9.9218749999999994E-2"/>
          <c:w val="0.88416252072968493"/>
          <c:h val="0.6025555555555555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TMR!$B$16</c:f>
              <c:strCache>
                <c:ptCount val="1"/>
                <c:pt idx="0">
                  <c:v>Fornecedor</c:v>
                </c:pt>
              </c:strCache>
            </c:strRef>
          </c:tx>
          <c:spPr>
            <a:gradFill>
              <a:gsLst>
                <a:gs pos="0">
                  <a:srgbClr val="184E82"/>
                </a:gs>
                <a:gs pos="50000">
                  <a:srgbClr val="44546A">
                    <a:lumMod val="60000"/>
                    <a:lumOff val="40000"/>
                  </a:srgbClr>
                </a:gs>
                <a:gs pos="100000">
                  <a:srgbClr val="184E82"/>
                </a:gs>
              </a:gsLst>
              <a:lin ang="0" scaled="1"/>
            </a:gradFill>
          </c:spPr>
          <c:invertIfNegative val="0"/>
          <c:dPt>
            <c:idx val="0"/>
            <c:invertIfNegative val="0"/>
            <c:bubble3D val="0"/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rgbClr val="184E82"/>
                    </a:solidFill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numRef>
              <c:f>TMR!$P$6:$Q$6</c:f>
              <c:numCache>
                <c:formatCode>mmm\-yy</c:formatCode>
                <c:ptCount val="2"/>
                <c:pt idx="0">
                  <c:v>42401</c:v>
                </c:pt>
                <c:pt idx="1">
                  <c:v>42430</c:v>
                </c:pt>
              </c:numCache>
            </c:numRef>
          </c:cat>
          <c:val>
            <c:numRef>
              <c:f>TMR!$P$16:$Q$16</c:f>
              <c:numCache>
                <c:formatCode>[h]:mm:ss;@</c:formatCode>
                <c:ptCount val="2"/>
                <c:pt idx="0">
                  <c:v>1.3088657407407407</c:v>
                </c:pt>
                <c:pt idx="1">
                  <c:v>1.0537384259259259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603F-432A-87BE-17D820923B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6"/>
        <c:axId val="174132560"/>
        <c:axId val="174132952"/>
      </c:barChart>
      <c:dateAx>
        <c:axId val="174132560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4E82"/>
                </a:solidFill>
              </a:defRPr>
            </a:pPr>
            <a:endParaRPr lang="pt-BR"/>
          </a:p>
        </c:txPr>
        <c:crossAx val="174132952"/>
        <c:crosses val="autoZero"/>
        <c:auto val="1"/>
        <c:lblOffset val="100"/>
        <c:baseTimeUnit val="months"/>
      </c:dateAx>
      <c:valAx>
        <c:axId val="174132952"/>
        <c:scaling>
          <c:orientation val="minMax"/>
        </c:scaling>
        <c:delete val="1"/>
        <c:axPos val="l"/>
        <c:numFmt formatCode="[h]:mm:ss;@" sourceLinked="1"/>
        <c:majorTickMark val="out"/>
        <c:minorTickMark val="none"/>
        <c:tickLblPos val="nextTo"/>
        <c:crossAx val="174132560"/>
        <c:crosses val="autoZero"/>
        <c:crossBetween val="between"/>
      </c:valAx>
    </c:plotArea>
    <c:plotVisOnly val="1"/>
    <c:dispBlanksAs val="gap"/>
    <c:showDLblsOverMax val="0"/>
  </c:chart>
  <c:spPr>
    <a:ln>
      <a:noFill/>
    </a:ln>
  </c:spPr>
  <c:externalData r:id="rId2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Evolução!$E$9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tx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Evolução!$D$10:$D$12</c:f>
              <c:strCache>
                <c:ptCount val="3"/>
                <c:pt idx="0">
                  <c:v>Janeiro</c:v>
                </c:pt>
                <c:pt idx="1">
                  <c:v>Fevereiro</c:v>
                </c:pt>
                <c:pt idx="2">
                  <c:v>Março</c:v>
                </c:pt>
              </c:strCache>
            </c:strRef>
          </c:cat>
          <c:val>
            <c:numRef>
              <c:f>Evolução!$E$10:$E$12</c:f>
              <c:numCache>
                <c:formatCode>General</c:formatCode>
                <c:ptCount val="3"/>
                <c:pt idx="0">
                  <c:v>3987</c:v>
                </c:pt>
                <c:pt idx="1">
                  <c:v>4127</c:v>
                </c:pt>
                <c:pt idx="2">
                  <c:v>4024</c:v>
                </c:pt>
              </c:numCache>
            </c:numRef>
          </c:val>
        </c:ser>
        <c:ser>
          <c:idx val="1"/>
          <c:order val="1"/>
          <c:tx>
            <c:strRef>
              <c:f>Evolução!$F$9</c:f>
              <c:strCache>
                <c:ptCount val="1"/>
                <c:pt idx="0">
                  <c:v>BACKUP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Evolução!$D$10:$D$12</c:f>
              <c:strCache>
                <c:ptCount val="3"/>
                <c:pt idx="0">
                  <c:v>Janeiro</c:v>
                </c:pt>
                <c:pt idx="1">
                  <c:v>Fevereiro</c:v>
                </c:pt>
                <c:pt idx="2">
                  <c:v>Março</c:v>
                </c:pt>
              </c:strCache>
            </c:strRef>
          </c:cat>
          <c:val>
            <c:numRef>
              <c:f>Evolução!$F$10:$F$12</c:f>
              <c:numCache>
                <c:formatCode>General</c:formatCode>
                <c:ptCount val="3"/>
                <c:pt idx="0">
                  <c:v>1827</c:v>
                </c:pt>
                <c:pt idx="1">
                  <c:v>1915</c:v>
                </c:pt>
                <c:pt idx="2">
                  <c:v>2327</c:v>
                </c:pt>
              </c:numCache>
            </c:numRef>
          </c:val>
        </c:ser>
        <c:ser>
          <c:idx val="2"/>
          <c:order val="2"/>
          <c:tx>
            <c:strRef>
              <c:f>Evolução!$G$9</c:f>
              <c:strCache>
                <c:ptCount val="1"/>
                <c:pt idx="0">
                  <c:v>PENDENTE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Evolução!$D$10:$D$12</c:f>
              <c:strCache>
                <c:ptCount val="3"/>
                <c:pt idx="0">
                  <c:v>Janeiro</c:v>
                </c:pt>
                <c:pt idx="1">
                  <c:v>Fevereiro</c:v>
                </c:pt>
                <c:pt idx="2">
                  <c:v>Março</c:v>
                </c:pt>
              </c:strCache>
            </c:strRef>
          </c:cat>
          <c:val>
            <c:numRef>
              <c:f>Evolução!$G$10:$G$12</c:f>
              <c:numCache>
                <c:formatCode>General</c:formatCode>
                <c:ptCount val="3"/>
                <c:pt idx="0">
                  <c:v>2160</c:v>
                </c:pt>
                <c:pt idx="1">
                  <c:v>2212</c:v>
                </c:pt>
                <c:pt idx="2">
                  <c:v>1697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5"/>
        <c:overlap val="-70"/>
        <c:axId val="174316488"/>
        <c:axId val="174316880"/>
      </c:barChart>
      <c:catAx>
        <c:axId val="1743164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74316880"/>
        <c:crosses val="autoZero"/>
        <c:auto val="1"/>
        <c:lblAlgn val="ctr"/>
        <c:lblOffset val="100"/>
        <c:noMultiLvlLbl val="0"/>
      </c:catAx>
      <c:valAx>
        <c:axId val="174316880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tx1">
                      <a:lumMod val="5000"/>
                      <a:lumOff val="95000"/>
                    </a:schemeClr>
                  </a:gs>
                  <a:gs pos="0">
                    <a:schemeClr val="tx1">
                      <a:lumMod val="25000"/>
                      <a:lumOff val="7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743164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tx1">
                <a:lumMod val="5000"/>
                <a:lumOff val="95000"/>
              </a:schemeClr>
            </a:gs>
            <a:gs pos="0">
              <a:schemeClr val="tx1">
                <a:lumMod val="25000"/>
                <a:lumOff val="7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tx1">
                <a:lumMod val="5000"/>
                <a:lumOff val="95000"/>
              </a:schemeClr>
            </a:gs>
            <a:gs pos="0">
              <a:schemeClr val="tx1">
                <a:lumMod val="25000"/>
                <a:lumOff val="7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00" b="1" kern="1200" cap="all" spc="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B0D43F-B80B-40D7-B843-4AC81DACC905}" type="datetimeFigureOut">
              <a:rPr lang="pt-BR" smtClean="0"/>
              <a:t>22/03/2016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7626FD-18EF-494C-A467-3D85C3950BD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0951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11839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07445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791793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065067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360337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401833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890201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107950" y="733425"/>
            <a:ext cx="6508750" cy="3665538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>
                <a:solidFill>
                  <a:prstClr val="black"/>
                </a:solidFill>
                <a:latin typeface="Calibri"/>
              </a:rPr>
              <a:pPr/>
              <a:t>8</a:t>
            </a:fld>
            <a:endParaRPr lang="pt-BR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944836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107950" y="733425"/>
            <a:ext cx="6508750" cy="3665538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>
                <a:solidFill>
                  <a:prstClr val="black"/>
                </a:solidFill>
                <a:latin typeface="Calibri"/>
              </a:rPr>
              <a:pPr/>
              <a:t>9</a:t>
            </a:fld>
            <a:endParaRPr lang="pt-BR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922308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8965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>
                <a:solidFill>
                  <a:prstClr val="black"/>
                </a:solidFill>
              </a:rPr>
              <a:pPr/>
              <a:t>10</a:t>
            </a:fld>
            <a:endParaRPr lang="pt-BR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35204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8965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>
                <a:solidFill>
                  <a:prstClr val="black"/>
                </a:solidFill>
              </a:rPr>
              <a:pPr/>
              <a:t>11</a:t>
            </a:fld>
            <a:endParaRPr lang="pt-BR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28751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8965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>
                <a:solidFill>
                  <a:prstClr val="black"/>
                </a:solidFill>
              </a:rPr>
              <a:pPr/>
              <a:t>12</a:t>
            </a:fld>
            <a:endParaRPr lang="pt-BR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25713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8965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>
                <a:solidFill>
                  <a:prstClr val="black"/>
                </a:solidFill>
              </a:rPr>
              <a:pPr/>
              <a:t>13</a:t>
            </a:fld>
            <a:endParaRPr lang="pt-BR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78226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54770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95569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1239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9777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22998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6363" y="731838"/>
            <a:ext cx="6511925" cy="36671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F479F4-2A97-4F4C-BA5E-8E7B892BE339}" type="slidenum">
              <a:rPr lang="pt-BR" smtClean="0">
                <a:solidFill>
                  <a:prstClr val="black"/>
                </a:solidFill>
              </a:rPr>
              <a:pPr/>
              <a:t>21</a:t>
            </a:fld>
            <a:endParaRPr lang="pt-BR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794993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723261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Contrato vai</a:t>
            </a:r>
            <a:r>
              <a:rPr lang="pt-BR" baseline="0" dirty="0" smtClean="0"/>
              <a:t> até Março do BTCC da Oi – Adolpho e </a:t>
            </a:r>
            <a:r>
              <a:rPr lang="pt-BR" baseline="0" dirty="0" err="1" smtClean="0"/>
              <a:t>Koreeda</a:t>
            </a:r>
            <a:r>
              <a:rPr lang="pt-BR" baseline="0" dirty="0" smtClean="0"/>
              <a:t> cientes –</a:t>
            </a:r>
            <a:r>
              <a:rPr lang="pt-BR" baseline="0" dirty="0" err="1" smtClean="0"/>
              <a:t>Boarim</a:t>
            </a:r>
            <a:r>
              <a:rPr lang="pt-BR" baseline="0" dirty="0" smtClean="0"/>
              <a:t> sugere congelar a </a:t>
            </a:r>
            <a:r>
              <a:rPr lang="pt-BR" baseline="0" dirty="0" err="1" smtClean="0"/>
              <a:t>Interlalização</a:t>
            </a:r>
            <a:endParaRPr lang="pt-BR" baseline="0" dirty="0" smtClean="0"/>
          </a:p>
          <a:p>
            <a:r>
              <a:rPr lang="pt-BR" baseline="0" dirty="0" smtClean="0"/>
              <a:t>MPLS - Fortaleza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944024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nos informou que existe um alinhamento em andamento para que as multas aplicadas pelos clientes a Contax não serão mais discriminadas separadamente no faturamento. O valor a ser faturado virá consolidado. A partir de Março alguns clientes já entrarão neste novo modelo e de forma gradativa será feito para o demais. Desta forma, perderemos a visibilidade de quanto estamos sendo impactados financeiramente decorrente de multas. 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66674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842552"/>
            <a:ext cx="6858000" cy="1792358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2704030"/>
            <a:ext cx="6858000" cy="1242971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3/22/2016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829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3/22/2016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106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283491"/>
            <a:ext cx="7886700" cy="214153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3445285"/>
            <a:ext cx="7886700" cy="112618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3/22/2016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464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28650" y="1370486"/>
            <a:ext cx="3886200" cy="3266526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29150" y="1370486"/>
            <a:ext cx="3886200" cy="3266526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3/22/2016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221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274098"/>
            <a:ext cx="7886700" cy="99509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9842" y="1262040"/>
            <a:ext cx="3868340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29842" y="1880546"/>
            <a:ext cx="3868340" cy="2766000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29150" y="1262040"/>
            <a:ext cx="3887391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29150" y="1880546"/>
            <a:ext cx="3887391" cy="2766000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3/22/2016</a:t>
            </a:fld>
            <a:endParaRPr lang="en-US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108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3/22/2016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559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3/22/2016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958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3/22/2016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632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3/22/2016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529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3/22/2016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717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274097"/>
            <a:ext cx="1971675" cy="436291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274097"/>
            <a:ext cx="5800725" cy="436291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3/22/2016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63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91090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3148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9956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0693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vmlDrawing" Target="../drawings/vmlDrawing1.vml"/><Relationship Id="rId7" Type="http://schemas.openxmlformats.org/officeDocument/2006/relationships/image" Target="../media/image2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tags" Target="../tags/tag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vmlDrawing" Target="../drawings/vmlDrawing2.vml"/><Relationship Id="rId7" Type="http://schemas.openxmlformats.org/officeDocument/2006/relationships/image" Target="../media/image3.emf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2.bin"/><Relationship Id="rId4" Type="http://schemas.openxmlformats.org/officeDocument/2006/relationships/tags" Target="../tags/tag2.xml"/><Relationship Id="rId9" Type="http://schemas.openxmlformats.org/officeDocument/2006/relationships/image" Target="../media/image5.jp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vmlDrawing" Target="../drawings/vmlDrawing3.vml"/><Relationship Id="rId7" Type="http://schemas.openxmlformats.org/officeDocument/2006/relationships/image" Target="../media/image6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3.bin"/><Relationship Id="rId4" Type="http://schemas.openxmlformats.org/officeDocument/2006/relationships/tags" Target="../tags/tag3.xml"/><Relationship Id="rId9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628650" y="274098"/>
            <a:ext cx="7886700" cy="9950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8650" y="1370486"/>
            <a:ext cx="7886700" cy="32665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6286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A96241-9EE8-3241-9C65-A8F2A1D83BB2}" type="datetimeFigureOut">
              <a:rPr lang="en-US" smtClean="0"/>
              <a:t>3/22/2016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028950" y="4771678"/>
            <a:ext cx="30861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4579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142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9" r:id="rId12"/>
  </p:sldLayoutIdLst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1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14" descr="t02-02.jpg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8263"/>
          </a:xfrm>
          <a:prstGeom prst="rect">
            <a:avLst/>
          </a:prstGeom>
        </p:spPr>
      </p:pic>
      <p:pic>
        <p:nvPicPr>
          <p:cNvPr id="7" name="Picture 10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381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5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9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7062980" y="289005"/>
            <a:ext cx="1603348" cy="291323"/>
          </a:xfrm>
          <a:prstGeom prst="rect">
            <a:avLst/>
          </a:prstGeom>
        </p:spPr>
      </p:pic>
      <p:pic>
        <p:nvPicPr>
          <p:cNvPr id="7" name="Picture 2"/>
          <p:cNvPicPr>
            <a:picLocks noChangeAspect="1" noChangeArrowheads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" descr="t03-02.jpg"/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421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9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interna_img-3.png"/>
          <p:cNvPicPr/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182"/>
          <a:stretch>
            <a:fillRect/>
          </a:stretch>
        </p:blipFill>
        <p:spPr>
          <a:xfrm>
            <a:off x="1" y="-4669"/>
            <a:ext cx="3640873" cy="5157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image5.png"/>
          <p:cNvPicPr/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8118917" y="4410609"/>
            <a:ext cx="1043999" cy="770734"/>
          </a:xfrm>
          <a:prstGeom prst="rect">
            <a:avLst/>
          </a:prstGeom>
          <a:ln w="12700">
            <a:miter lim="400000"/>
          </a:ln>
        </p:spPr>
      </p:pic>
      <p:pic>
        <p:nvPicPr>
          <p:cNvPr id="10" name="Picture 11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296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emf"/><Relationship Id="rId5" Type="http://schemas.openxmlformats.org/officeDocument/2006/relationships/image" Target="../media/image10.emf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emf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5.xml"/><Relationship Id="rId3" Type="http://schemas.openxmlformats.org/officeDocument/2006/relationships/image" Target="../media/image13.emf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11" Type="http://schemas.openxmlformats.org/officeDocument/2006/relationships/image" Target="../media/image3.emf"/><Relationship Id="rId5" Type="http://schemas.openxmlformats.org/officeDocument/2006/relationships/chart" Target="../charts/chart3.xml"/><Relationship Id="rId10" Type="http://schemas.openxmlformats.org/officeDocument/2006/relationships/slide" Target="slide7.xml"/><Relationship Id="rId4" Type="http://schemas.openxmlformats.org/officeDocument/2006/relationships/image" Target="../media/image4.png"/><Relationship Id="rId9" Type="http://schemas.openxmlformats.org/officeDocument/2006/relationships/slide" Target="slide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chart" Target="../charts/chart4.xml"/><Relationship Id="rId7" Type="http://schemas.openxmlformats.org/officeDocument/2006/relationships/slide" Target="slide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chart" Target="../charts/chart5.xml"/><Relationship Id="rId7" Type="http://schemas.openxmlformats.org/officeDocument/2006/relationships/slide" Target="slide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chart" Target="../charts/chart6.xml"/><Relationship Id="rId7" Type="http://schemas.openxmlformats.org/officeDocument/2006/relationships/slide" Target="slide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7" Type="http://schemas.openxmlformats.org/officeDocument/2006/relationships/image" Target="../media/image3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hyperlink" Target="Report_Semana_G_Problemas_V1_21032016.xlsx" TargetMode="External"/><Relationship Id="rId4" Type="http://schemas.openxmlformats.org/officeDocument/2006/relationships/hyperlink" Target="#Previsao!A1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7" Type="http://schemas.openxmlformats.org/officeDocument/2006/relationships/image" Target="../media/image3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14.emf"/><Relationship Id="rId4" Type="http://schemas.openxmlformats.org/officeDocument/2006/relationships/chart" Target="../charts/char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0.xml"/><Relationship Id="rId3" Type="http://schemas.openxmlformats.org/officeDocument/2006/relationships/image" Target="../media/image4.png"/><Relationship Id="rId7" Type="http://schemas.openxmlformats.org/officeDocument/2006/relationships/chart" Target="../charts/chart9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chart" Target="../charts/chart8.xml"/><Relationship Id="rId5" Type="http://schemas.openxmlformats.org/officeDocument/2006/relationships/image" Target="../media/image3.emf"/><Relationship Id="rId4" Type="http://schemas.openxmlformats.org/officeDocument/2006/relationships/image" Target="../media/image12.png"/><Relationship Id="rId9" Type="http://schemas.openxmlformats.org/officeDocument/2006/relationships/chart" Target="../charts/chart1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4.xml"/><Relationship Id="rId3" Type="http://schemas.openxmlformats.org/officeDocument/2006/relationships/image" Target="../media/image4.png"/><Relationship Id="rId7" Type="http://schemas.openxmlformats.org/officeDocument/2006/relationships/chart" Target="../charts/chart1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chart" Target="../charts/chart12.xml"/><Relationship Id="rId5" Type="http://schemas.openxmlformats.org/officeDocument/2006/relationships/image" Target="../media/image3.emf"/><Relationship Id="rId4" Type="http://schemas.openxmlformats.org/officeDocument/2006/relationships/image" Target="../media/image12.png"/><Relationship Id="rId9" Type="http://schemas.openxmlformats.org/officeDocument/2006/relationships/chart" Target="../charts/chart1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3" Type="http://schemas.openxmlformats.org/officeDocument/2006/relationships/image" Target="../media/image4.png"/><Relationship Id="rId7" Type="http://schemas.openxmlformats.org/officeDocument/2006/relationships/image" Target="../media/image16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emf"/><Relationship Id="rId5" Type="http://schemas.openxmlformats.org/officeDocument/2006/relationships/image" Target="../media/image3.emf"/><Relationship Id="rId4" Type="http://schemas.openxmlformats.org/officeDocument/2006/relationships/image" Target="../media/image12.png"/><Relationship Id="rId9" Type="http://schemas.openxmlformats.org/officeDocument/2006/relationships/image" Target="../media/image18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emf"/><Relationship Id="rId3" Type="http://schemas.openxmlformats.org/officeDocument/2006/relationships/image" Target="../media/image4.png"/><Relationship Id="rId7" Type="http://schemas.openxmlformats.org/officeDocument/2006/relationships/image" Target="../media/image20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emf"/><Relationship Id="rId5" Type="http://schemas.openxmlformats.org/officeDocument/2006/relationships/image" Target="../media/image3.emf"/><Relationship Id="rId10" Type="http://schemas.openxmlformats.org/officeDocument/2006/relationships/image" Target="../media/image18.emf"/><Relationship Id="rId4" Type="http://schemas.openxmlformats.org/officeDocument/2006/relationships/image" Target="../media/image12.png"/><Relationship Id="rId9" Type="http://schemas.openxmlformats.org/officeDocument/2006/relationships/image" Target="../media/image22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jpg"/><Relationship Id="rId4" Type="http://schemas.openxmlformats.org/officeDocument/2006/relationships/image" Target="../media/image3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png"/><Relationship Id="rId5" Type="http://schemas.openxmlformats.org/officeDocument/2006/relationships/image" Target="../media/image5.jpg"/><Relationship Id="rId4" Type="http://schemas.openxmlformats.org/officeDocument/2006/relationships/image" Target="../media/image3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.png"/><Relationship Id="rId5" Type="http://schemas.openxmlformats.org/officeDocument/2006/relationships/image" Target="../media/image5.jpg"/><Relationship Id="rId4" Type="http://schemas.openxmlformats.org/officeDocument/2006/relationships/image" Target="../media/image3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5.png"/><Relationship Id="rId5" Type="http://schemas.openxmlformats.org/officeDocument/2006/relationships/image" Target="../media/image5.jpg"/><Relationship Id="rId4" Type="http://schemas.openxmlformats.org/officeDocument/2006/relationships/image" Target="../media/image3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6.png"/><Relationship Id="rId5" Type="http://schemas.openxmlformats.org/officeDocument/2006/relationships/image" Target="../media/image5.jpg"/><Relationship Id="rId4" Type="http://schemas.openxmlformats.org/officeDocument/2006/relationships/image" Target="../media/image3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cid:image001.png@01D18363.7F0044A0" TargetMode="Externa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5" Type="http://schemas.openxmlformats.org/officeDocument/2006/relationships/image" Target="cid:image004.png@01D18397.3F7B98A0" TargetMode="External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6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emf"/><Relationship Id="rId4" Type="http://schemas.openxmlformats.org/officeDocument/2006/relationships/image" Target="../media/image5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jpg"/><Relationship Id="rId4" Type="http://schemas.openxmlformats.org/officeDocument/2006/relationships/image" Target="../media/image3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6.png"/><Relationship Id="rId5" Type="http://schemas.openxmlformats.org/officeDocument/2006/relationships/image" Target="../media/image5.jpg"/><Relationship Id="rId4" Type="http://schemas.openxmlformats.org/officeDocument/2006/relationships/image" Target="../media/image3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2.jpg"/><Relationship Id="rId4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fachada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7" y="3239"/>
            <a:ext cx="9144000" cy="5145024"/>
          </a:xfrm>
          <a:prstGeom prst="rect">
            <a:avLst/>
          </a:prstGeom>
        </p:spPr>
      </p:pic>
      <p:pic>
        <p:nvPicPr>
          <p:cNvPr id="10" name="Picture 9" descr="meia_bolinha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1466" y="4354709"/>
            <a:ext cx="1635846" cy="80436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00329" y="3208"/>
            <a:ext cx="3345084" cy="122185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99711" y="325132"/>
            <a:ext cx="1744578" cy="422254"/>
          </a:xfrm>
          <a:prstGeom prst="rect">
            <a:avLst/>
          </a:prstGeom>
        </p:spPr>
      </p:pic>
      <p:sp>
        <p:nvSpPr>
          <p:cNvPr id="11" name="Title 1"/>
          <p:cNvSpPr txBox="1">
            <a:spLocks/>
          </p:cNvSpPr>
          <p:nvPr/>
        </p:nvSpPr>
        <p:spPr>
          <a:xfrm>
            <a:off x="0" y="292955"/>
            <a:ext cx="3942260" cy="17575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70000"/>
              </a:lnSpc>
            </a:pPr>
            <a:r>
              <a:rPr lang="en-US" sz="3000" b="1" dirty="0" smtClean="0">
                <a:solidFill>
                  <a:srgbClr val="19345B"/>
                </a:solidFill>
                <a:latin typeface="Arial"/>
                <a:cs typeface="Arial"/>
              </a:rPr>
              <a:t>Contact Center</a:t>
            </a:r>
            <a:r>
              <a:rPr lang="en-US" sz="3000" b="1" dirty="0" smtClean="0">
                <a:solidFill>
                  <a:srgbClr val="FF0000"/>
                </a:solidFill>
                <a:latin typeface="Arial"/>
                <a:cs typeface="Arial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lang="en-US" sz="2200" b="1" dirty="0" err="1" smtClean="0">
                <a:solidFill>
                  <a:srgbClr val="FF0000"/>
                </a:solidFill>
                <a:latin typeface="Arial"/>
                <a:cs typeface="Arial"/>
              </a:rPr>
              <a:t>Estabilidade</a:t>
            </a:r>
            <a:r>
              <a:rPr lang="en-US" sz="2200" b="1" dirty="0" smtClean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2200" b="1" dirty="0" err="1" smtClean="0">
                <a:solidFill>
                  <a:srgbClr val="FF0000"/>
                </a:solidFill>
                <a:latin typeface="Arial"/>
                <a:cs typeface="Arial"/>
              </a:rPr>
              <a:t>Operacional</a:t>
            </a:r>
            <a:endParaRPr lang="en-US" sz="2200" b="1" dirty="0" smtClean="0">
              <a:solidFill>
                <a:srgbClr val="FF0000"/>
              </a:solidFill>
              <a:latin typeface="Arial"/>
              <a:cs typeface="Arial"/>
            </a:endParaRPr>
          </a:p>
          <a:p>
            <a:pPr algn="l">
              <a:lnSpc>
                <a:spcPct val="110000"/>
              </a:lnSpc>
            </a:pPr>
            <a:r>
              <a:rPr lang="en-US" sz="2200" b="1" dirty="0" smtClean="0">
                <a:solidFill>
                  <a:srgbClr val="FF0000"/>
                </a:solidFill>
                <a:latin typeface="Arial"/>
                <a:cs typeface="Arial"/>
              </a:rPr>
              <a:t>22.Março.2016</a:t>
            </a:r>
            <a:endParaRPr lang="en-US" sz="2200" b="1" dirty="0">
              <a:solidFill>
                <a:srgbClr val="FF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0842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interna_img-3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292" cy="5148264"/>
          </a:xfrm>
          <a:prstGeom prst="rect">
            <a:avLst/>
          </a:prstGeom>
          <a:ln w="12700">
            <a:miter lim="400000"/>
          </a:ln>
        </p:spPr>
      </p:pic>
      <p:sp>
        <p:nvSpPr>
          <p:cNvPr id="114" name="Shape 114"/>
          <p:cNvSpPr/>
          <p:nvPr/>
        </p:nvSpPr>
        <p:spPr>
          <a:xfrm>
            <a:off x="2669861" y="503053"/>
            <a:ext cx="1409769" cy="858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3000" b="1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pt-BR" sz="3000" b="1" dirty="0" smtClean="0">
                <a:solidFill>
                  <a:srgbClr val="1F497D"/>
                </a:solidFill>
              </a:rPr>
              <a:t>Índice</a:t>
            </a:r>
            <a:endParaRPr sz="3000" b="1" dirty="0">
              <a:solidFill>
                <a:srgbClr val="1F497D"/>
              </a:solidFill>
            </a:endParaRPr>
          </a:p>
        </p:txBody>
      </p:sp>
      <p:pic>
        <p:nvPicPr>
          <p:cNvPr id="116" name="image5.png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860" y="4531179"/>
            <a:ext cx="1248721" cy="614581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2625970" y="1276051"/>
            <a:ext cx="6515322" cy="317862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1. Indicadores – Incidentes de Alto Impacto </a:t>
            </a:r>
          </a:p>
          <a:p>
            <a:pPr algn="l">
              <a:buClr>
                <a:srgbClr val="800000"/>
              </a:buClr>
            </a:pP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2. Indicadores – Total de Incidentes</a:t>
            </a:r>
          </a:p>
          <a:p>
            <a:pPr algn="l">
              <a:buClr>
                <a:srgbClr val="800000"/>
              </a:buClr>
            </a:pP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3. Gestão </a:t>
            </a: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de </a:t>
            </a: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problemas – </a:t>
            </a:r>
            <a:r>
              <a:rPr lang="pt-BR" sz="1400" b="1" dirty="0" err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Dashboard</a:t>
            </a: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e Indicadores</a:t>
            </a:r>
          </a:p>
          <a:p>
            <a:pPr algn="l">
              <a:buClr>
                <a:srgbClr val="800000"/>
              </a:buClr>
            </a:pP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4</a:t>
            </a: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</a:t>
            </a: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Tempo médio entre falhas</a:t>
            </a:r>
          </a:p>
          <a:p>
            <a:pPr algn="l">
              <a:buClr>
                <a:srgbClr val="800000"/>
              </a:buClr>
            </a:pP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5. </a:t>
            </a: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Incidentes </a:t>
            </a: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resolvidos de </a:t>
            </a: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Alto </a:t>
            </a: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Impacto</a:t>
            </a:r>
          </a:p>
          <a:p>
            <a:pPr algn="l"/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</a:t>
            </a: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Projetos Estruturantes e Especiais</a:t>
            </a:r>
            <a:endParaRPr lang="pt-BR" sz="14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algn="l"/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7</a:t>
            </a: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</a:t>
            </a: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Alinhamento</a:t>
            </a:r>
          </a:p>
          <a:p>
            <a:pPr algn="l"/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68750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734184" y="153259"/>
            <a:ext cx="6254098" cy="5604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indent="-514350" algn="l">
              <a:buClr>
                <a:srgbClr val="800000"/>
              </a:buClr>
              <a:buAutoNum type="arabicPeriod"/>
            </a:pP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Indicadores</a:t>
            </a:r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: Incidentes Alto 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Impacto</a:t>
            </a:r>
          </a:p>
          <a:p>
            <a:pPr marL="342900" indent="-342900" algn="l">
              <a:buClr>
                <a:srgbClr val="800000"/>
              </a:buClr>
              <a:buAutoNum type="arabicPeriod"/>
            </a:pPr>
            <a:endParaRPr lang="pt-BR" sz="18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3" name="Gráfico 22"/>
          <p:cNvGraphicFramePr/>
          <p:nvPr>
            <p:extLst/>
          </p:nvPr>
        </p:nvGraphicFramePr>
        <p:xfrm>
          <a:off x="1" y="795528"/>
          <a:ext cx="4284000" cy="226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7" name="Gráfico 26"/>
          <p:cNvGraphicFramePr/>
          <p:nvPr>
            <p:extLst/>
          </p:nvPr>
        </p:nvGraphicFramePr>
        <p:xfrm>
          <a:off x="4532563" y="802692"/>
          <a:ext cx="4284000" cy="226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17" name="Imagem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7919" y="2822883"/>
            <a:ext cx="247650" cy="17621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3" name="CaixaDeTexto 2"/>
          <p:cNvSpPr txBox="1"/>
          <p:nvPr/>
        </p:nvSpPr>
        <p:spPr>
          <a:xfrm>
            <a:off x="1" y="4848225"/>
            <a:ext cx="5871160" cy="246221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just"/>
            <a:r>
              <a:rPr lang="pt-BR" sz="1000" dirty="0">
                <a:solidFill>
                  <a:schemeClr val="bg1">
                    <a:lumMod val="65000"/>
                  </a:schemeClr>
                </a:solidFill>
              </a:rPr>
              <a:t>Informações retiradas dos indicadores de SLA e </a:t>
            </a:r>
            <a:r>
              <a:rPr lang="pt-BR" sz="1000" dirty="0" err="1">
                <a:solidFill>
                  <a:schemeClr val="bg1">
                    <a:lumMod val="65000"/>
                  </a:schemeClr>
                </a:solidFill>
              </a:rPr>
              <a:t>tProcess</a:t>
            </a:r>
            <a:r>
              <a:rPr lang="pt-BR" sz="1000" dirty="0">
                <a:solidFill>
                  <a:schemeClr val="bg1">
                    <a:lumMod val="65000"/>
                  </a:schemeClr>
                </a:solidFill>
              </a:rPr>
              <a:t>! referentes ao período de 01/03 a 20/03.</a:t>
            </a:r>
            <a:endParaRPr lang="pt-BR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2436"/>
            <a:ext cx="786452" cy="774259"/>
          </a:xfrm>
          <a:prstGeom prst="rect">
            <a:avLst/>
          </a:prstGeom>
        </p:spPr>
      </p:pic>
      <p:sp>
        <p:nvSpPr>
          <p:cNvPr id="35" name="CaixaDeTexto 34"/>
          <p:cNvSpPr txBox="1"/>
          <p:nvPr/>
        </p:nvSpPr>
        <p:spPr>
          <a:xfrm>
            <a:off x="514848" y="2325894"/>
            <a:ext cx="684782" cy="26161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chemeClr val="accent2"/>
                </a:solidFill>
              </a:rPr>
              <a:t>-80,3%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1307813" y="2325894"/>
            <a:ext cx="684782" cy="26161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chemeClr val="accent2"/>
                </a:solidFill>
              </a:rPr>
              <a:t>-28,6%</a:t>
            </a:r>
          </a:p>
        </p:txBody>
      </p:sp>
      <p:sp>
        <p:nvSpPr>
          <p:cNvPr id="37" name="CaixaDeTexto 36"/>
          <p:cNvSpPr txBox="1"/>
          <p:nvPr/>
        </p:nvSpPr>
        <p:spPr>
          <a:xfrm>
            <a:off x="2073857" y="2325894"/>
            <a:ext cx="684782" cy="26161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chemeClr val="accent2"/>
                </a:solidFill>
              </a:rPr>
              <a:t>-2,9%</a:t>
            </a:r>
          </a:p>
        </p:txBody>
      </p:sp>
      <p:sp>
        <p:nvSpPr>
          <p:cNvPr id="38" name="CaixaDeTexto 37"/>
          <p:cNvSpPr txBox="1"/>
          <p:nvPr/>
        </p:nvSpPr>
        <p:spPr>
          <a:xfrm>
            <a:off x="5075343" y="2300742"/>
            <a:ext cx="684782" cy="26161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chemeClr val="accent2"/>
                </a:solidFill>
              </a:rPr>
              <a:t>-80,3%</a:t>
            </a:r>
          </a:p>
        </p:txBody>
      </p:sp>
      <p:sp>
        <p:nvSpPr>
          <p:cNvPr id="39" name="CaixaDeTexto 38"/>
          <p:cNvSpPr txBox="1"/>
          <p:nvPr/>
        </p:nvSpPr>
        <p:spPr>
          <a:xfrm>
            <a:off x="5871161" y="2300742"/>
            <a:ext cx="684782" cy="26161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chemeClr val="accent2"/>
                </a:solidFill>
              </a:rPr>
              <a:t>-28,6%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6642177" y="2300742"/>
            <a:ext cx="684782" cy="26161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chemeClr val="accent2"/>
                </a:solidFill>
              </a:rPr>
              <a:t>+3,8%</a:t>
            </a:r>
          </a:p>
        </p:txBody>
      </p:sp>
      <p:grpSp>
        <p:nvGrpSpPr>
          <p:cNvPr id="9" name="Agrupar 8"/>
          <p:cNvGrpSpPr/>
          <p:nvPr/>
        </p:nvGrpSpPr>
        <p:grpSpPr>
          <a:xfrm>
            <a:off x="2430842" y="3509170"/>
            <a:ext cx="4140000" cy="972000"/>
            <a:chOff x="225224" y="3577590"/>
            <a:chExt cx="3878145" cy="987777"/>
          </a:xfrm>
        </p:grpSpPr>
        <p:sp>
          <p:nvSpPr>
            <p:cNvPr id="33" name="Retângulo de cantos arredondados 32"/>
            <p:cNvSpPr/>
            <p:nvPr/>
          </p:nvSpPr>
          <p:spPr>
            <a:xfrm>
              <a:off x="225224" y="3577590"/>
              <a:ext cx="3878145" cy="987777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b="1" dirty="0"/>
                <a:t>Redução Consolidada</a:t>
              </a:r>
              <a:br>
                <a:rPr lang="pt-BR" sz="1600" b="1" dirty="0"/>
              </a:br>
              <a:r>
                <a:rPr lang="pt-BR" sz="1600" b="1" dirty="0"/>
                <a:t> Agosto-15 a Fevereiro-16</a:t>
              </a:r>
            </a:p>
          </p:txBody>
        </p:sp>
        <p:sp>
          <p:nvSpPr>
            <p:cNvPr id="22" name="Retângulo de cantos arredondados 32"/>
            <p:cNvSpPr/>
            <p:nvPr/>
          </p:nvSpPr>
          <p:spPr>
            <a:xfrm>
              <a:off x="2758639" y="3706013"/>
              <a:ext cx="1207571" cy="709702"/>
            </a:xfrm>
            <a:prstGeom prst="roundRect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400" b="1" dirty="0"/>
                <a:t>-</a:t>
              </a:r>
              <a:r>
                <a:rPr lang="pt-BR" sz="2000" b="1" dirty="0"/>
                <a:t> 86,35%</a:t>
              </a:r>
            </a:p>
          </p:txBody>
        </p:sp>
      </p:grpSp>
      <p:pic>
        <p:nvPicPr>
          <p:cNvPr id="21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364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263" y="2953720"/>
            <a:ext cx="5847023" cy="1443469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42608" y="271638"/>
            <a:ext cx="184731" cy="461665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none" rtlCol="0">
            <a:spAutoFit/>
          </a:bodyPr>
          <a:lstStyle/>
          <a:p>
            <a:endParaRPr lang="pt-BR" sz="2400" dirty="0"/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758032" y="69812"/>
            <a:ext cx="6254098" cy="5604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2. Indicadores: Total de Incidentes</a:t>
            </a:r>
            <a:endParaRPr lang="pt-BR" sz="20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92175" y="4377863"/>
            <a:ext cx="955343" cy="763945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3" name="Gráfico 22"/>
          <p:cNvGraphicFramePr/>
          <p:nvPr>
            <p:extLst/>
          </p:nvPr>
        </p:nvGraphicFramePr>
        <p:xfrm>
          <a:off x="251073" y="75284"/>
          <a:ext cx="5875578" cy="30007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4" name="CaixaDeTexto 23"/>
          <p:cNvSpPr txBox="1"/>
          <p:nvPr/>
        </p:nvSpPr>
        <p:spPr>
          <a:xfrm>
            <a:off x="1078166" y="2185598"/>
            <a:ext cx="703482" cy="276999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chemeClr val="accent2"/>
                </a:solidFill>
              </a:rPr>
              <a:t>-20,13%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2131278" y="2198042"/>
            <a:ext cx="732185" cy="276999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chemeClr val="accent2"/>
                </a:solidFill>
              </a:rPr>
              <a:t>+11,67%</a:t>
            </a:r>
          </a:p>
        </p:txBody>
      </p:sp>
      <p:pic>
        <p:nvPicPr>
          <p:cNvPr id="17" name="Imagem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1436" y="2794393"/>
            <a:ext cx="247650" cy="17621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18" name="CaixaDeTexto 17"/>
          <p:cNvSpPr txBox="1"/>
          <p:nvPr/>
        </p:nvSpPr>
        <p:spPr>
          <a:xfrm>
            <a:off x="3239176" y="2198042"/>
            <a:ext cx="732185" cy="276999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chemeClr val="accent2"/>
                </a:solidFill>
              </a:rPr>
              <a:t>-9,18%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518" y="4819735"/>
            <a:ext cx="5948978" cy="26161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just"/>
            <a:r>
              <a:rPr lang="pt-BR" sz="1100" dirty="0">
                <a:solidFill>
                  <a:schemeClr val="bg1">
                    <a:lumMod val="65000"/>
                  </a:schemeClr>
                </a:solidFill>
              </a:rPr>
              <a:t>Informações retiradas dos indicadores de SLA e </a:t>
            </a:r>
            <a:r>
              <a:rPr lang="pt-BR" sz="1100" dirty="0" err="1">
                <a:solidFill>
                  <a:schemeClr val="bg1">
                    <a:lumMod val="65000"/>
                  </a:schemeClr>
                </a:solidFill>
              </a:rPr>
              <a:t>tProcess</a:t>
            </a:r>
            <a:r>
              <a:rPr lang="pt-BR" sz="1100" dirty="0">
                <a:solidFill>
                  <a:schemeClr val="bg1">
                    <a:lumMod val="65000"/>
                  </a:schemeClr>
                </a:solidFill>
              </a:rPr>
              <a:t>! referentes ao período de 01/03 a 20/03.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2436"/>
            <a:ext cx="786452" cy="774259"/>
          </a:xfrm>
          <a:prstGeom prst="rect">
            <a:avLst/>
          </a:prstGeom>
        </p:spPr>
      </p:pic>
      <p:sp>
        <p:nvSpPr>
          <p:cNvPr id="22" name="Retângulo 21"/>
          <p:cNvSpPr/>
          <p:nvPr/>
        </p:nvSpPr>
        <p:spPr>
          <a:xfrm>
            <a:off x="6232760" y="1499186"/>
            <a:ext cx="2541202" cy="3147242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Catálogo de Serviços;</a:t>
            </a:r>
          </a:p>
          <a:p>
            <a:pPr marL="171450" lvl="1" indent="-171450">
              <a:spcBef>
                <a:spcPts val="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Ação de Investigação dos Ofensores junto aos Sites;</a:t>
            </a:r>
          </a:p>
          <a:p>
            <a:pPr marL="171450" lvl="1" indent="-171450">
              <a:spcBef>
                <a:spcPts val="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Gestão de Problemas;</a:t>
            </a:r>
          </a:p>
          <a:p>
            <a:pPr marL="171450" lvl="1" indent="-171450">
              <a:spcBef>
                <a:spcPts val="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Projetos de Estabilização;</a:t>
            </a:r>
          </a:p>
          <a:p>
            <a:pPr marL="171450" lvl="1" indent="-171450">
              <a:spcBef>
                <a:spcPts val="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GEROT Diária de Incidentes;</a:t>
            </a:r>
          </a:p>
          <a:p>
            <a:pPr marL="171450" lvl="1" indent="-171450">
              <a:spcBef>
                <a:spcPts val="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Gestão de Vulnerabilidades;</a:t>
            </a:r>
          </a:p>
          <a:p>
            <a:pPr marL="171450" lvl="1" indent="-171450">
              <a:spcBef>
                <a:spcPts val="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Política de Mudanças (Mudança Técnica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).</a:t>
            </a:r>
          </a:p>
          <a:p>
            <a:pPr marL="171450" lvl="1" indent="-171450">
              <a:spcBef>
                <a:spcPts val="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2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Gerot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sites para médio e baixo impacto (em planejamento).</a:t>
            </a: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1" name="Retângulo de cantos arredondados 14"/>
          <p:cNvSpPr/>
          <p:nvPr/>
        </p:nvSpPr>
        <p:spPr>
          <a:xfrm>
            <a:off x="6238115" y="1330154"/>
            <a:ext cx="2535847" cy="398839"/>
          </a:xfrm>
          <a:prstGeom prst="roundRect">
            <a:avLst/>
          </a:prstGeom>
          <a:solidFill>
            <a:srgbClr val="00B05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Ações</a:t>
            </a:r>
            <a:endParaRPr lang="pt-BR" sz="1200" i="1" dirty="0"/>
          </a:p>
        </p:txBody>
      </p:sp>
      <p:sp>
        <p:nvSpPr>
          <p:cNvPr id="28" name="Retângulo Arredondado 27">
            <a:hlinkClick r:id="rId8" action="ppaction://hlinksldjump"/>
          </p:cNvPr>
          <p:cNvSpPr/>
          <p:nvPr/>
        </p:nvSpPr>
        <p:spPr>
          <a:xfrm rot="5400000">
            <a:off x="837335" y="3187580"/>
            <a:ext cx="232618" cy="95252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pt-BR" i="1" dirty="0">
                <a:solidFill>
                  <a:schemeClr val="tx1"/>
                </a:solidFill>
              </a:rPr>
              <a:t>Alto</a:t>
            </a:r>
          </a:p>
        </p:txBody>
      </p:sp>
      <p:sp>
        <p:nvSpPr>
          <p:cNvPr id="29" name="Retângulo Arredondado 28">
            <a:hlinkClick r:id="rId9" action="ppaction://hlinksldjump"/>
          </p:cNvPr>
          <p:cNvSpPr/>
          <p:nvPr/>
        </p:nvSpPr>
        <p:spPr>
          <a:xfrm rot="5400000">
            <a:off x="837335" y="3472491"/>
            <a:ext cx="232618" cy="95252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pt-BR" i="1" dirty="0">
                <a:solidFill>
                  <a:schemeClr val="tx1"/>
                </a:solidFill>
              </a:rPr>
              <a:t>Médio</a:t>
            </a:r>
          </a:p>
        </p:txBody>
      </p:sp>
      <p:sp>
        <p:nvSpPr>
          <p:cNvPr id="30" name="Retângulo Arredondado 29">
            <a:hlinkClick r:id="rId10" action="ppaction://hlinksldjump"/>
          </p:cNvPr>
          <p:cNvSpPr/>
          <p:nvPr/>
        </p:nvSpPr>
        <p:spPr>
          <a:xfrm rot="5400000">
            <a:off x="837335" y="3763258"/>
            <a:ext cx="232618" cy="95252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pt-BR" i="1" dirty="0">
                <a:solidFill>
                  <a:schemeClr val="tx1"/>
                </a:solidFill>
              </a:rPr>
              <a:t>Baixo</a:t>
            </a:r>
          </a:p>
        </p:txBody>
      </p:sp>
      <p:pic>
        <p:nvPicPr>
          <p:cNvPr id="26" name="Picture 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698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Gráfico 17"/>
          <p:cNvGraphicFramePr>
            <a:graphicFrameLocks noGrp="1"/>
          </p:cNvGraphicFramePr>
          <p:nvPr>
            <p:extLst/>
          </p:nvPr>
        </p:nvGraphicFramePr>
        <p:xfrm>
          <a:off x="1" y="493482"/>
          <a:ext cx="7232400" cy="4600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2" name="Agrupar 1"/>
          <p:cNvGrpSpPr/>
          <p:nvPr/>
        </p:nvGrpSpPr>
        <p:grpSpPr>
          <a:xfrm>
            <a:off x="1" y="108241"/>
            <a:ext cx="9144000" cy="5049962"/>
            <a:chOff x="1" y="98302"/>
            <a:chExt cx="9144000" cy="5049962"/>
          </a:xfrm>
        </p:grpSpPr>
        <p:sp>
          <p:nvSpPr>
            <p:cNvPr id="6" name="CaixaDeTexto 5"/>
            <p:cNvSpPr txBox="1"/>
            <p:nvPr/>
          </p:nvSpPr>
          <p:spPr>
            <a:xfrm>
              <a:off x="2039091" y="300128"/>
              <a:ext cx="184731" cy="46166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none" rtlCol="0">
              <a:spAutoFit/>
            </a:bodyPr>
            <a:lstStyle/>
            <a:p>
              <a:endParaRPr lang="pt-BR" sz="2400" dirty="0"/>
            </a:p>
          </p:txBody>
        </p:sp>
        <p:sp>
          <p:nvSpPr>
            <p:cNvPr id="20" name="Title 1"/>
            <p:cNvSpPr txBox="1">
              <a:spLocks/>
            </p:cNvSpPr>
            <p:nvPr/>
          </p:nvSpPr>
          <p:spPr>
            <a:xfrm>
              <a:off x="754515" y="98302"/>
              <a:ext cx="6254098" cy="560400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vert="horz" lIns="91440" tIns="45720" rIns="91440" bIns="45720" rtlCol="0" anchor="ctr">
              <a:normAutofit fontScale="77500" lnSpcReduction="20000"/>
            </a:bodyPr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buClr>
                  <a:srgbClr val="800000"/>
                </a:buClr>
              </a:pPr>
              <a:r>
                <a:rPr lang="pt-BR" sz="3200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2</a:t>
              </a:r>
              <a:r>
                <a:rPr lang="pt-BR" sz="3200" b="1" dirty="0" smtClean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. </a:t>
              </a:r>
              <a:r>
                <a:rPr lang="pt-BR" sz="3200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Indicadores: Total de Incidentes Alto</a:t>
              </a:r>
              <a:endParaRPr lang="pt-BR" sz="20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1026" name="Picture 2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780" t="78172" r="18395" b="12686"/>
            <a:stretch/>
          </p:blipFill>
          <p:spPr bwMode="auto">
            <a:xfrm>
              <a:off x="8188658" y="4384319"/>
              <a:ext cx="955343" cy="763945"/>
            </a:xfrm>
            <a:prstGeom prst="rect">
              <a:avLst/>
            </a:prstGeom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" name="Imagem 16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87919" y="2822883"/>
              <a:ext cx="247650" cy="1762125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sp>
          <p:nvSpPr>
            <p:cNvPr id="3" name="CaixaDeTexto 2"/>
            <p:cNvSpPr txBox="1"/>
            <p:nvPr/>
          </p:nvSpPr>
          <p:spPr>
            <a:xfrm>
              <a:off x="1" y="4848225"/>
              <a:ext cx="5948978" cy="261610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square" rtlCol="0">
              <a:spAutoFit/>
            </a:bodyPr>
            <a:lstStyle/>
            <a:p>
              <a:pPr algn="just"/>
              <a:r>
                <a:rPr lang="pt-BR" sz="1100" dirty="0">
                  <a:solidFill>
                    <a:schemeClr val="bg1">
                      <a:lumMod val="65000"/>
                    </a:schemeClr>
                  </a:solidFill>
                </a:rPr>
                <a:t>Informações retiradas dos indicadores de SLA e </a:t>
              </a:r>
              <a:r>
                <a:rPr lang="pt-BR" sz="1100" dirty="0" err="1">
                  <a:solidFill>
                    <a:schemeClr val="bg1">
                      <a:lumMod val="65000"/>
                    </a:schemeClr>
                  </a:solidFill>
                </a:rPr>
                <a:t>tProcess</a:t>
              </a:r>
              <a:r>
                <a:rPr lang="pt-BR" sz="1100" dirty="0">
                  <a:solidFill>
                    <a:schemeClr val="bg1">
                      <a:lumMod val="65000"/>
                    </a:schemeClr>
                  </a:solidFill>
                </a:rPr>
                <a:t>! referentes ao período de 01 a 20/03.</a:t>
              </a:r>
            </a:p>
          </p:txBody>
        </p:sp>
      </p:grpSp>
      <p:pic>
        <p:nvPicPr>
          <p:cNvPr id="4" name="Imagem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2436"/>
            <a:ext cx="786452" cy="774259"/>
          </a:xfrm>
          <a:prstGeom prst="rect">
            <a:avLst/>
          </a:prstGeom>
        </p:spPr>
      </p:pic>
      <p:sp>
        <p:nvSpPr>
          <p:cNvPr id="13" name="Retângulo de cantos arredondados 12"/>
          <p:cNvSpPr>
            <a:spLocks noChangeAspect="1"/>
          </p:cNvSpPr>
          <p:nvPr/>
        </p:nvSpPr>
        <p:spPr>
          <a:xfrm>
            <a:off x="7527600" y="740192"/>
            <a:ext cx="1440000" cy="352000"/>
          </a:xfrm>
          <a:prstGeom prst="roundRect">
            <a:avLst/>
          </a:prstGeom>
          <a:solidFill>
            <a:srgbClr val="92D050"/>
          </a:solidFill>
          <a:scene3d>
            <a:camera prst="orthographicFront"/>
            <a:lightRig rig="flood" dir="t"/>
          </a:scene3d>
          <a:sp3d prstMaterial="matte">
            <a:bevelT w="114300" prst="artDeco"/>
            <a:bevelB w="165100" prst="coolSlan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/>
              <a:t>Meta 250</a:t>
            </a:r>
          </a:p>
        </p:txBody>
      </p:sp>
      <p:sp>
        <p:nvSpPr>
          <p:cNvPr id="14" name="Retângulo de cantos arredondados 12"/>
          <p:cNvSpPr>
            <a:spLocks noChangeAspect="1"/>
          </p:cNvSpPr>
          <p:nvPr/>
        </p:nvSpPr>
        <p:spPr>
          <a:xfrm>
            <a:off x="7527600" y="1186770"/>
            <a:ext cx="1440000" cy="352000"/>
          </a:xfrm>
          <a:prstGeom prst="roundRect">
            <a:avLst/>
          </a:prstGeom>
          <a:solidFill>
            <a:srgbClr val="0070C0"/>
          </a:solidFill>
          <a:scene3d>
            <a:camera prst="orthographicFront"/>
            <a:lightRig rig="flood" dir="t"/>
          </a:scene3d>
          <a:sp3d prstMaterial="matte">
            <a:bevelT w="114300" prst="artDeco"/>
            <a:bevelB w="165100" prst="coolSlan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/>
              <a:t>Atual 114</a:t>
            </a:r>
          </a:p>
        </p:txBody>
      </p:sp>
      <p:sp>
        <p:nvSpPr>
          <p:cNvPr id="16" name="Seta para Baixo 15">
            <a:hlinkClick r:id="rId7" action="ppaction://hlinksldjump"/>
          </p:cNvPr>
          <p:cNvSpPr/>
          <p:nvPr/>
        </p:nvSpPr>
        <p:spPr>
          <a:xfrm rot="5400000">
            <a:off x="7597154" y="4368352"/>
            <a:ext cx="499334" cy="952525"/>
          </a:xfrm>
          <a:prstGeom prst="downArrow">
            <a:avLst>
              <a:gd name="adj1" fmla="val 50000"/>
              <a:gd name="adj2" fmla="val 64978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pt-BR" sz="1400" b="1" dirty="0"/>
              <a:t>Voltar</a:t>
            </a:r>
            <a:endParaRPr lang="pt-BR" b="1" dirty="0"/>
          </a:p>
        </p:txBody>
      </p:sp>
      <p:pic>
        <p:nvPicPr>
          <p:cNvPr id="15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192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Gráfico 17"/>
          <p:cNvGraphicFramePr>
            <a:graphicFrameLocks noGrp="1"/>
          </p:cNvGraphicFramePr>
          <p:nvPr>
            <p:extLst/>
          </p:nvPr>
        </p:nvGraphicFramePr>
        <p:xfrm>
          <a:off x="10944" y="537181"/>
          <a:ext cx="7232400" cy="4600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2" name="Agrupar 1"/>
          <p:cNvGrpSpPr/>
          <p:nvPr/>
        </p:nvGrpSpPr>
        <p:grpSpPr>
          <a:xfrm>
            <a:off x="1" y="108241"/>
            <a:ext cx="9144000" cy="5049962"/>
            <a:chOff x="1" y="98302"/>
            <a:chExt cx="9144000" cy="5049962"/>
          </a:xfrm>
        </p:grpSpPr>
        <p:sp>
          <p:nvSpPr>
            <p:cNvPr id="6" name="CaixaDeTexto 5"/>
            <p:cNvSpPr txBox="1"/>
            <p:nvPr/>
          </p:nvSpPr>
          <p:spPr>
            <a:xfrm>
              <a:off x="2039091" y="300128"/>
              <a:ext cx="184731" cy="46166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none" rtlCol="0">
              <a:spAutoFit/>
            </a:bodyPr>
            <a:lstStyle/>
            <a:p>
              <a:endParaRPr lang="pt-BR" sz="2400" dirty="0"/>
            </a:p>
          </p:txBody>
        </p:sp>
        <p:sp>
          <p:nvSpPr>
            <p:cNvPr id="20" name="Title 1"/>
            <p:cNvSpPr txBox="1">
              <a:spLocks/>
            </p:cNvSpPr>
            <p:nvPr/>
          </p:nvSpPr>
          <p:spPr>
            <a:xfrm>
              <a:off x="754515" y="98302"/>
              <a:ext cx="6254098" cy="560400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vert="horz" lIns="91440" tIns="45720" rIns="91440" bIns="45720" rtlCol="0" anchor="ctr">
              <a:normAutofit fontScale="70000" lnSpcReduction="20000"/>
            </a:bodyPr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buClr>
                  <a:srgbClr val="800000"/>
                </a:buClr>
              </a:pPr>
              <a:r>
                <a:rPr lang="pt-BR" sz="3200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2</a:t>
              </a:r>
              <a:r>
                <a:rPr lang="pt-BR" sz="3200" b="1" dirty="0" smtClean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. </a:t>
              </a:r>
              <a:r>
                <a:rPr lang="pt-BR" sz="3200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Indicadores: Total de Incidentes Médio</a:t>
              </a:r>
              <a:endParaRPr lang="pt-BR" sz="20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1026" name="Picture 2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780" t="78172" r="18395" b="12686"/>
            <a:stretch/>
          </p:blipFill>
          <p:spPr bwMode="auto">
            <a:xfrm>
              <a:off x="8188658" y="4384319"/>
              <a:ext cx="955343" cy="763945"/>
            </a:xfrm>
            <a:prstGeom prst="rect">
              <a:avLst/>
            </a:prstGeom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" name="Imagem 16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87919" y="2822883"/>
              <a:ext cx="247650" cy="1762125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sp>
          <p:nvSpPr>
            <p:cNvPr id="3" name="CaixaDeTexto 2"/>
            <p:cNvSpPr txBox="1"/>
            <p:nvPr/>
          </p:nvSpPr>
          <p:spPr>
            <a:xfrm>
              <a:off x="1" y="4848225"/>
              <a:ext cx="5948978" cy="261610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square" rtlCol="0">
              <a:spAutoFit/>
            </a:bodyPr>
            <a:lstStyle/>
            <a:p>
              <a:pPr algn="just"/>
              <a:r>
                <a:rPr lang="pt-BR" sz="1100" dirty="0">
                  <a:solidFill>
                    <a:schemeClr val="bg1">
                      <a:lumMod val="65000"/>
                    </a:schemeClr>
                  </a:solidFill>
                </a:rPr>
                <a:t>Informações retiradas dos indicadores de SLA e </a:t>
              </a:r>
              <a:r>
                <a:rPr lang="pt-BR" sz="1100" dirty="0" err="1">
                  <a:solidFill>
                    <a:schemeClr val="bg1">
                      <a:lumMod val="65000"/>
                    </a:schemeClr>
                  </a:solidFill>
                </a:rPr>
                <a:t>tProcess</a:t>
              </a:r>
              <a:r>
                <a:rPr lang="pt-BR" sz="1100" dirty="0">
                  <a:solidFill>
                    <a:schemeClr val="bg1">
                      <a:lumMod val="65000"/>
                    </a:schemeClr>
                  </a:solidFill>
                </a:rPr>
                <a:t>! referentes ao período de 01 a 20/03.</a:t>
              </a:r>
            </a:p>
          </p:txBody>
        </p:sp>
      </p:grpSp>
      <p:pic>
        <p:nvPicPr>
          <p:cNvPr id="4" name="Imagem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2436"/>
            <a:ext cx="786452" cy="774259"/>
          </a:xfrm>
          <a:prstGeom prst="rect">
            <a:avLst/>
          </a:prstGeom>
        </p:spPr>
      </p:pic>
      <p:sp>
        <p:nvSpPr>
          <p:cNvPr id="13" name="Retângulo de cantos arredondados 12"/>
          <p:cNvSpPr>
            <a:spLocks noChangeAspect="1"/>
          </p:cNvSpPr>
          <p:nvPr/>
        </p:nvSpPr>
        <p:spPr>
          <a:xfrm>
            <a:off x="7525761" y="714053"/>
            <a:ext cx="1440000" cy="352000"/>
          </a:xfrm>
          <a:prstGeom prst="roundRect">
            <a:avLst/>
          </a:prstGeom>
          <a:solidFill>
            <a:srgbClr val="92D050"/>
          </a:solidFill>
          <a:scene3d>
            <a:camera prst="orthographicFront"/>
            <a:lightRig rig="flood" dir="t"/>
          </a:scene3d>
          <a:sp3d prstMaterial="matte">
            <a:bevelT w="114300" prst="artDeco"/>
            <a:bevelB w="165100" prst="coolSlan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/>
              <a:t>Meta 11.402</a:t>
            </a:r>
          </a:p>
        </p:txBody>
      </p:sp>
      <p:sp>
        <p:nvSpPr>
          <p:cNvPr id="12" name="Retângulo de cantos arredondados 12"/>
          <p:cNvSpPr>
            <a:spLocks noChangeAspect="1"/>
          </p:cNvSpPr>
          <p:nvPr/>
        </p:nvSpPr>
        <p:spPr>
          <a:xfrm>
            <a:off x="7525761" y="1199778"/>
            <a:ext cx="1440000" cy="352000"/>
          </a:xfrm>
          <a:prstGeom prst="roundRect">
            <a:avLst/>
          </a:prstGeom>
          <a:solidFill>
            <a:srgbClr val="0070C0"/>
          </a:solidFill>
          <a:scene3d>
            <a:camera prst="orthographicFront"/>
            <a:lightRig rig="flood" dir="t"/>
          </a:scene3d>
          <a:sp3d prstMaterial="matte">
            <a:bevelT w="114300" prst="artDeco"/>
            <a:bevelB w="165100" prst="coolSlan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/>
              <a:t>Atual 8.045</a:t>
            </a:r>
          </a:p>
        </p:txBody>
      </p:sp>
      <p:sp>
        <p:nvSpPr>
          <p:cNvPr id="15" name="Seta para Baixo 14">
            <a:hlinkClick r:id="rId7" action="ppaction://hlinksldjump"/>
          </p:cNvPr>
          <p:cNvSpPr/>
          <p:nvPr/>
        </p:nvSpPr>
        <p:spPr>
          <a:xfrm rot="5400000">
            <a:off x="7597154" y="4368352"/>
            <a:ext cx="499334" cy="952525"/>
          </a:xfrm>
          <a:prstGeom prst="downArrow">
            <a:avLst>
              <a:gd name="adj1" fmla="val 50000"/>
              <a:gd name="adj2" fmla="val 64978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pt-BR" sz="1400" b="1" dirty="0"/>
              <a:t>Voltar</a:t>
            </a:r>
            <a:endParaRPr lang="pt-BR" b="1" dirty="0"/>
          </a:p>
        </p:txBody>
      </p:sp>
      <p:pic>
        <p:nvPicPr>
          <p:cNvPr id="14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157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Gráfico 20"/>
          <p:cNvGraphicFramePr>
            <a:graphicFrameLocks noGrp="1"/>
          </p:cNvGraphicFramePr>
          <p:nvPr>
            <p:extLst/>
          </p:nvPr>
        </p:nvGraphicFramePr>
        <p:xfrm>
          <a:off x="0" y="514885"/>
          <a:ext cx="7232400" cy="4600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2" name="Agrupar 1"/>
          <p:cNvGrpSpPr/>
          <p:nvPr/>
        </p:nvGrpSpPr>
        <p:grpSpPr>
          <a:xfrm>
            <a:off x="1" y="148921"/>
            <a:ext cx="9144000" cy="5049962"/>
            <a:chOff x="1" y="98302"/>
            <a:chExt cx="9144000" cy="5049962"/>
          </a:xfrm>
        </p:grpSpPr>
        <p:sp>
          <p:nvSpPr>
            <p:cNvPr id="6" name="CaixaDeTexto 5"/>
            <p:cNvSpPr txBox="1"/>
            <p:nvPr/>
          </p:nvSpPr>
          <p:spPr>
            <a:xfrm>
              <a:off x="2039091" y="300128"/>
              <a:ext cx="184731" cy="46166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none" rtlCol="0">
              <a:spAutoFit/>
            </a:bodyPr>
            <a:lstStyle/>
            <a:p>
              <a:endParaRPr lang="pt-BR" sz="2400" dirty="0"/>
            </a:p>
          </p:txBody>
        </p:sp>
        <p:sp>
          <p:nvSpPr>
            <p:cNvPr id="20" name="Title 1"/>
            <p:cNvSpPr txBox="1">
              <a:spLocks/>
            </p:cNvSpPr>
            <p:nvPr/>
          </p:nvSpPr>
          <p:spPr>
            <a:xfrm>
              <a:off x="754515" y="98302"/>
              <a:ext cx="6254098" cy="560400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vert="horz" lIns="91440" tIns="45720" rIns="91440" bIns="45720" rtlCol="0" anchor="ctr">
              <a:normAutofit fontScale="70000" lnSpcReduction="20000"/>
            </a:bodyPr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buClr>
                  <a:srgbClr val="800000"/>
                </a:buClr>
              </a:pPr>
              <a:r>
                <a:rPr lang="pt-BR" sz="3200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2</a:t>
              </a:r>
              <a:r>
                <a:rPr lang="pt-BR" sz="3200" b="1" dirty="0" smtClean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. </a:t>
              </a:r>
              <a:r>
                <a:rPr lang="pt-BR" sz="3200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Indicadores: Total de Incidentes Baixo</a:t>
              </a:r>
            </a:p>
          </p:txBody>
        </p:sp>
        <p:pic>
          <p:nvPicPr>
            <p:cNvPr id="1026" name="Picture 2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780" t="78172" r="18395" b="12686"/>
            <a:stretch/>
          </p:blipFill>
          <p:spPr bwMode="auto">
            <a:xfrm>
              <a:off x="8188658" y="4384319"/>
              <a:ext cx="955343" cy="763945"/>
            </a:xfrm>
            <a:prstGeom prst="rect">
              <a:avLst/>
            </a:prstGeom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" name="Imagem 16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87919" y="2822883"/>
              <a:ext cx="247650" cy="1762125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sp>
          <p:nvSpPr>
            <p:cNvPr id="3" name="CaixaDeTexto 2"/>
            <p:cNvSpPr txBox="1"/>
            <p:nvPr/>
          </p:nvSpPr>
          <p:spPr>
            <a:xfrm>
              <a:off x="1" y="4848225"/>
              <a:ext cx="5948978" cy="261610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square" rtlCol="0">
              <a:spAutoFit/>
            </a:bodyPr>
            <a:lstStyle/>
            <a:p>
              <a:pPr algn="just"/>
              <a:r>
                <a:rPr lang="pt-BR" sz="1100" dirty="0">
                  <a:solidFill>
                    <a:schemeClr val="bg1">
                      <a:lumMod val="65000"/>
                    </a:schemeClr>
                  </a:solidFill>
                </a:rPr>
                <a:t>Informações retiradas dos indicadores de SLA e </a:t>
              </a:r>
              <a:r>
                <a:rPr lang="pt-BR" sz="1100" dirty="0" err="1">
                  <a:solidFill>
                    <a:schemeClr val="bg1">
                      <a:lumMod val="65000"/>
                    </a:schemeClr>
                  </a:solidFill>
                </a:rPr>
                <a:t>tProcess</a:t>
              </a:r>
              <a:r>
                <a:rPr lang="pt-BR" sz="1100" dirty="0">
                  <a:solidFill>
                    <a:schemeClr val="bg1">
                      <a:lumMod val="65000"/>
                    </a:schemeClr>
                  </a:solidFill>
                </a:rPr>
                <a:t>! referentes ao período de 01 a 20/03.</a:t>
              </a:r>
            </a:p>
          </p:txBody>
        </p:sp>
      </p:grpSp>
      <p:pic>
        <p:nvPicPr>
          <p:cNvPr id="4" name="Imagem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2436"/>
            <a:ext cx="786452" cy="774259"/>
          </a:xfrm>
          <a:prstGeom prst="rect">
            <a:avLst/>
          </a:prstGeom>
        </p:spPr>
      </p:pic>
      <p:sp>
        <p:nvSpPr>
          <p:cNvPr id="14" name="Retângulo de cantos arredondados 12"/>
          <p:cNvSpPr>
            <a:spLocks noChangeAspect="1"/>
          </p:cNvSpPr>
          <p:nvPr/>
        </p:nvSpPr>
        <p:spPr>
          <a:xfrm>
            <a:off x="7525761" y="714053"/>
            <a:ext cx="1440000" cy="352000"/>
          </a:xfrm>
          <a:prstGeom prst="roundRect">
            <a:avLst/>
          </a:prstGeom>
          <a:solidFill>
            <a:srgbClr val="92D050"/>
          </a:solidFill>
          <a:scene3d>
            <a:camera prst="orthographicFront"/>
            <a:lightRig rig="flood" dir="t"/>
          </a:scene3d>
          <a:sp3d prstMaterial="matte">
            <a:bevelT w="114300" prst="artDeco"/>
            <a:bevelB w="165100" prst="coolSlan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/>
              <a:t>Meta 7.594</a:t>
            </a:r>
          </a:p>
        </p:txBody>
      </p:sp>
      <p:sp>
        <p:nvSpPr>
          <p:cNvPr id="15" name="Retângulo de cantos arredondados 12"/>
          <p:cNvSpPr>
            <a:spLocks noChangeAspect="1"/>
          </p:cNvSpPr>
          <p:nvPr/>
        </p:nvSpPr>
        <p:spPr>
          <a:xfrm>
            <a:off x="7525761" y="1199778"/>
            <a:ext cx="1440000" cy="352000"/>
          </a:xfrm>
          <a:prstGeom prst="roundRect">
            <a:avLst/>
          </a:prstGeom>
          <a:solidFill>
            <a:srgbClr val="0070C0"/>
          </a:solidFill>
          <a:scene3d>
            <a:camera prst="orthographicFront"/>
            <a:lightRig rig="flood" dir="t"/>
          </a:scene3d>
          <a:sp3d prstMaterial="matte">
            <a:bevelT w="114300" prst="artDeco"/>
            <a:bevelB w="165100" prst="coolSlan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/>
              <a:t>Atual 2.877</a:t>
            </a:r>
          </a:p>
        </p:txBody>
      </p:sp>
      <p:sp>
        <p:nvSpPr>
          <p:cNvPr id="16" name="Seta para Baixo 15">
            <a:hlinkClick r:id="rId7" action="ppaction://hlinksldjump"/>
          </p:cNvPr>
          <p:cNvSpPr/>
          <p:nvPr/>
        </p:nvSpPr>
        <p:spPr>
          <a:xfrm rot="5400000">
            <a:off x="7597154" y="4368352"/>
            <a:ext cx="499334" cy="952525"/>
          </a:xfrm>
          <a:prstGeom prst="downArrow">
            <a:avLst>
              <a:gd name="adj1" fmla="val 50000"/>
              <a:gd name="adj2" fmla="val 64978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pt-BR" sz="1400" b="1" dirty="0"/>
              <a:t>Voltar</a:t>
            </a:r>
            <a:endParaRPr lang="pt-BR" b="1" dirty="0"/>
          </a:p>
        </p:txBody>
      </p:sp>
      <p:pic>
        <p:nvPicPr>
          <p:cNvPr id="19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887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5810"/>
            <a:ext cx="592520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670560" y="300127"/>
            <a:ext cx="184731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43220"/>
            <a:endParaRPr lang="pt-BR" sz="135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Retângulo de cantos arredondados 10"/>
          <p:cNvSpPr/>
          <p:nvPr/>
        </p:nvSpPr>
        <p:spPr>
          <a:xfrm>
            <a:off x="1547058" y="1502434"/>
            <a:ext cx="1787591" cy="100105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826" b="1" dirty="0" err="1"/>
              <a:t>Qtde</a:t>
            </a:r>
            <a:r>
              <a:rPr lang="pt-BR" sz="826" b="1" dirty="0"/>
              <a:t>  de problemas em aberto:</a:t>
            </a:r>
          </a:p>
          <a:p>
            <a:pPr algn="ctr"/>
            <a:r>
              <a:rPr lang="pt-BR" sz="1501" b="1" dirty="0"/>
              <a:t>24</a:t>
            </a:r>
          </a:p>
        </p:txBody>
      </p:sp>
      <p:sp>
        <p:nvSpPr>
          <p:cNvPr id="12" name="Retângulo de cantos arredondados 11"/>
          <p:cNvSpPr/>
          <p:nvPr/>
        </p:nvSpPr>
        <p:spPr>
          <a:xfrm>
            <a:off x="3449055" y="1480984"/>
            <a:ext cx="1129758" cy="1036803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826" b="1" dirty="0"/>
              <a:t>Erros conhecidos</a:t>
            </a:r>
          </a:p>
          <a:p>
            <a:pPr algn="ctr"/>
            <a:r>
              <a:rPr lang="pt-BR" sz="1501" dirty="0"/>
              <a:t>20</a:t>
            </a:r>
          </a:p>
          <a:p>
            <a:pPr algn="ctr"/>
            <a:r>
              <a:rPr lang="pt-BR" sz="1501" dirty="0"/>
              <a:t>84%</a:t>
            </a:r>
          </a:p>
        </p:txBody>
      </p:sp>
      <p:sp>
        <p:nvSpPr>
          <p:cNvPr id="13" name="Retângulo de cantos arredondados 12"/>
          <p:cNvSpPr/>
          <p:nvPr/>
        </p:nvSpPr>
        <p:spPr>
          <a:xfrm>
            <a:off x="4686068" y="1495284"/>
            <a:ext cx="1129758" cy="1036803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826" b="1" dirty="0"/>
              <a:t>NÃO Possuem erros conhecidos </a:t>
            </a:r>
          </a:p>
          <a:p>
            <a:pPr algn="ctr"/>
            <a:r>
              <a:rPr lang="pt-BR" sz="1501" dirty="0"/>
              <a:t>4</a:t>
            </a:r>
          </a:p>
          <a:p>
            <a:pPr algn="ctr"/>
            <a:r>
              <a:rPr lang="pt-BR" sz="1501" dirty="0"/>
              <a:t>16%</a:t>
            </a:r>
          </a:p>
        </p:txBody>
      </p:sp>
      <p:sp>
        <p:nvSpPr>
          <p:cNvPr id="14" name="Retângulo de cantos arredondados 13"/>
          <p:cNvSpPr/>
          <p:nvPr/>
        </p:nvSpPr>
        <p:spPr>
          <a:xfrm>
            <a:off x="1547059" y="2703696"/>
            <a:ext cx="4325971" cy="214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826"/>
              <a:t>Relaciona-se ou gerou projetos estruturantes</a:t>
            </a: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1539908" y="2939658"/>
            <a:ext cx="4325971" cy="729337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402"/>
              <a:t>6</a:t>
            </a:r>
            <a:endParaRPr lang="pt-BR" sz="826"/>
          </a:p>
          <a:p>
            <a:pPr algn="ctr"/>
            <a:r>
              <a:rPr lang="pt-BR" sz="826"/>
              <a:t>Back up | Projeto Gravação |Projeto Oi X Contax | MPLS | Vulnerabilidades| Aspect 7.3 </a:t>
            </a:r>
          </a:p>
        </p:txBody>
      </p:sp>
      <p:sp>
        <p:nvSpPr>
          <p:cNvPr id="16" name="Retângulo de cantos arredondados 15">
            <a:hlinkClick r:id="rId4"/>
          </p:cNvPr>
          <p:cNvSpPr/>
          <p:nvPr/>
        </p:nvSpPr>
        <p:spPr>
          <a:xfrm>
            <a:off x="1547058" y="894653"/>
            <a:ext cx="4247317" cy="529127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826" dirty="0"/>
              <a:t>Previsão de resolução  para próxima semana</a:t>
            </a:r>
          </a:p>
          <a:p>
            <a:pPr algn="ctr"/>
            <a:r>
              <a:rPr lang="pt-BR" sz="1201" dirty="0"/>
              <a:t>5tickets </a:t>
            </a:r>
            <a:endParaRPr lang="pt-BR" sz="826" dirty="0"/>
          </a:p>
        </p:txBody>
      </p:sp>
      <p:sp>
        <p:nvSpPr>
          <p:cNvPr id="17" name="Retângulo de cantos arredondados 16"/>
          <p:cNvSpPr/>
          <p:nvPr/>
        </p:nvSpPr>
        <p:spPr>
          <a:xfrm>
            <a:off x="6234825" y="916557"/>
            <a:ext cx="1680335" cy="729337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402" dirty="0"/>
              <a:t>50%</a:t>
            </a:r>
            <a:endParaRPr lang="pt-BR" sz="826" dirty="0"/>
          </a:p>
          <a:p>
            <a:pPr algn="ctr"/>
            <a:r>
              <a:rPr lang="pt-BR" sz="826" dirty="0"/>
              <a:t>Média de evolução da fila de problemas</a:t>
            </a:r>
          </a:p>
        </p:txBody>
      </p:sp>
      <p:sp>
        <p:nvSpPr>
          <p:cNvPr id="18" name="Retângulo de cantos arredondados 17"/>
          <p:cNvSpPr/>
          <p:nvPr/>
        </p:nvSpPr>
        <p:spPr>
          <a:xfrm>
            <a:off x="6234825" y="1695708"/>
            <a:ext cx="1680335" cy="729337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402" dirty="0"/>
              <a:t>12 </a:t>
            </a:r>
            <a:r>
              <a:rPr lang="pt-BR" sz="2402" dirty="0" err="1"/>
              <a:t>dd</a:t>
            </a:r>
            <a:endParaRPr lang="pt-BR" sz="826" dirty="0"/>
          </a:p>
          <a:p>
            <a:pPr algn="ctr"/>
            <a:r>
              <a:rPr lang="pt-BR" sz="826" dirty="0"/>
              <a:t>Tempo médio para RCA</a:t>
            </a:r>
          </a:p>
        </p:txBody>
      </p:sp>
      <p:sp>
        <p:nvSpPr>
          <p:cNvPr id="19" name="Retângulo de cantos arredondados 18"/>
          <p:cNvSpPr/>
          <p:nvPr/>
        </p:nvSpPr>
        <p:spPr>
          <a:xfrm>
            <a:off x="6234825" y="2484937"/>
            <a:ext cx="1680335" cy="729337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402" dirty="0"/>
              <a:t>22 </a:t>
            </a:r>
            <a:r>
              <a:rPr lang="pt-BR" sz="2402" dirty="0" err="1"/>
              <a:t>dd</a:t>
            </a:r>
            <a:endParaRPr lang="pt-BR" sz="826" dirty="0"/>
          </a:p>
          <a:p>
            <a:pPr algn="ctr"/>
            <a:r>
              <a:rPr lang="pt-BR" sz="826" dirty="0"/>
              <a:t>Tempo médio de vida</a:t>
            </a:r>
          </a:p>
        </p:txBody>
      </p:sp>
      <p:sp>
        <p:nvSpPr>
          <p:cNvPr id="21" name="Retângulo de cantos arredondados 20"/>
          <p:cNvSpPr/>
          <p:nvPr/>
        </p:nvSpPr>
        <p:spPr>
          <a:xfrm>
            <a:off x="1518500" y="3754799"/>
            <a:ext cx="1816149" cy="1036803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826" b="1" dirty="0"/>
              <a:t>Ticket mais velho</a:t>
            </a:r>
          </a:p>
          <a:p>
            <a:pPr algn="ctr"/>
            <a:r>
              <a:rPr lang="pt-BR" sz="1501" dirty="0"/>
              <a:t>133 </a:t>
            </a:r>
            <a:r>
              <a:rPr lang="pt-BR" sz="1501" dirty="0" err="1"/>
              <a:t>dd</a:t>
            </a:r>
            <a:endParaRPr lang="pt-BR" sz="1501" dirty="0"/>
          </a:p>
          <a:p>
            <a:pPr algn="ctr"/>
            <a:r>
              <a:rPr lang="pt-BR" sz="1501" dirty="0"/>
              <a:t>(t-</a:t>
            </a:r>
            <a:r>
              <a:rPr lang="pt-BR" sz="1501" dirty="0" err="1"/>
              <a:t>Collect</a:t>
            </a:r>
            <a:r>
              <a:rPr lang="pt-BR" sz="1501" dirty="0"/>
              <a:t>)</a:t>
            </a:r>
          </a:p>
        </p:txBody>
      </p:sp>
      <p:sp>
        <p:nvSpPr>
          <p:cNvPr id="22" name="Retângulo de cantos arredondados 21"/>
          <p:cNvSpPr/>
          <p:nvPr/>
        </p:nvSpPr>
        <p:spPr>
          <a:xfrm>
            <a:off x="4686068" y="3754799"/>
            <a:ext cx="1129758" cy="1036803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826" b="1" dirty="0"/>
              <a:t>Demanda $ para solução</a:t>
            </a:r>
          </a:p>
          <a:p>
            <a:pPr algn="ctr"/>
            <a:r>
              <a:rPr lang="pt-BR" sz="1501" dirty="0"/>
              <a:t>10</a:t>
            </a:r>
          </a:p>
          <a:p>
            <a:pPr algn="ctr"/>
            <a:r>
              <a:rPr lang="pt-BR" sz="1501" dirty="0"/>
              <a:t>42%</a:t>
            </a:r>
          </a:p>
        </p:txBody>
      </p:sp>
      <p:sp>
        <p:nvSpPr>
          <p:cNvPr id="23" name="Retângulo de cantos arredondados 22"/>
          <p:cNvSpPr/>
          <p:nvPr/>
        </p:nvSpPr>
        <p:spPr>
          <a:xfrm>
            <a:off x="3449055" y="3757702"/>
            <a:ext cx="1129758" cy="1036803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826" b="1" dirty="0"/>
              <a:t>Não demandam $ para solução</a:t>
            </a:r>
          </a:p>
          <a:p>
            <a:pPr algn="ctr"/>
            <a:r>
              <a:rPr lang="pt-BR" sz="1501" dirty="0"/>
              <a:t>10</a:t>
            </a:r>
          </a:p>
          <a:p>
            <a:pPr algn="ctr"/>
            <a:r>
              <a:rPr lang="pt-BR" sz="1501" dirty="0"/>
              <a:t>42%</a:t>
            </a:r>
          </a:p>
        </p:txBody>
      </p:sp>
      <p:sp>
        <p:nvSpPr>
          <p:cNvPr id="24" name="Retângulo de cantos arredondados 23"/>
          <p:cNvSpPr/>
          <p:nvPr/>
        </p:nvSpPr>
        <p:spPr>
          <a:xfrm>
            <a:off x="6810942" y="3525315"/>
            <a:ext cx="813413" cy="632808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826" b="1" dirty="0"/>
              <a:t>Sem provisão</a:t>
            </a:r>
          </a:p>
          <a:p>
            <a:pPr algn="ctr"/>
            <a:r>
              <a:rPr lang="pt-BR" sz="1501" dirty="0"/>
              <a:t>6</a:t>
            </a:r>
          </a:p>
          <a:p>
            <a:pPr algn="ctr"/>
            <a:r>
              <a:rPr lang="pt-BR" sz="1501" dirty="0"/>
              <a:t>60%</a:t>
            </a:r>
          </a:p>
        </p:txBody>
      </p:sp>
      <p:sp>
        <p:nvSpPr>
          <p:cNvPr id="25" name="Retângulo de cantos arredondados 24"/>
          <p:cNvSpPr/>
          <p:nvPr/>
        </p:nvSpPr>
        <p:spPr>
          <a:xfrm>
            <a:off x="6810942" y="4276103"/>
            <a:ext cx="813413" cy="632808"/>
          </a:xfrm>
          <a:prstGeom prst="roundRect">
            <a:avLst/>
          </a:prstGeom>
          <a:solidFill>
            <a:srgbClr val="28AB2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826" b="1" dirty="0"/>
              <a:t>Provisionado</a:t>
            </a:r>
          </a:p>
          <a:p>
            <a:pPr algn="ctr"/>
            <a:r>
              <a:rPr lang="pt-BR" sz="1501" dirty="0"/>
              <a:t>4</a:t>
            </a:r>
          </a:p>
          <a:p>
            <a:pPr algn="ctr"/>
            <a:r>
              <a:rPr lang="pt-BR" sz="1501" dirty="0"/>
              <a:t>40%</a:t>
            </a:r>
          </a:p>
        </p:txBody>
      </p:sp>
      <p:cxnSp>
        <p:nvCxnSpPr>
          <p:cNvPr id="3" name="Conector de seta reta 2"/>
          <p:cNvCxnSpPr>
            <a:endCxn id="24" idx="1"/>
          </p:cNvCxnSpPr>
          <p:nvPr/>
        </p:nvCxnSpPr>
        <p:spPr>
          <a:xfrm flipV="1">
            <a:off x="5815826" y="3841720"/>
            <a:ext cx="995116" cy="31640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de seta reta 25"/>
          <p:cNvCxnSpPr/>
          <p:nvPr/>
        </p:nvCxnSpPr>
        <p:spPr>
          <a:xfrm>
            <a:off x="5794375" y="4158124"/>
            <a:ext cx="995116" cy="28020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itle 1"/>
          <p:cNvSpPr txBox="1">
            <a:spLocks/>
          </p:cNvSpPr>
          <p:nvPr/>
        </p:nvSpPr>
        <p:spPr>
          <a:xfrm>
            <a:off x="1319630" y="-47433"/>
            <a:ext cx="6562970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2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3</a:t>
            </a:r>
            <a:r>
              <a:rPr lang="pt-BR" sz="2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Gestão de Problemas - </a:t>
            </a:r>
            <a:r>
              <a:rPr lang="pt-BR" sz="2400" b="1" dirty="0" err="1">
                <a:solidFill>
                  <a:srgbClr val="5B9BD5">
                    <a:lumMod val="50000"/>
                  </a:srgbClr>
                </a:solidFill>
                <a:latin typeface="Arial" pitchFamily="34" charset="0"/>
                <a:cs typeface="Arial" pitchFamily="34" charset="0"/>
              </a:rPr>
              <a:t>Dashboard</a:t>
            </a:r>
            <a:endParaRPr lang="pt-BR" sz="16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28" name="Picture 2">
            <a:hlinkClick r:id="rId5" action="ppaction://hlinkfile"/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51627" y="4402670"/>
            <a:ext cx="992374" cy="763238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18455" y="48461"/>
            <a:ext cx="1866343" cy="338794"/>
          </a:xfrm>
          <a:prstGeom prst="rect">
            <a:avLst/>
          </a:prstGeom>
        </p:spPr>
      </p:pic>
      <p:cxnSp>
        <p:nvCxnSpPr>
          <p:cNvPr id="4" name="Conector de seta reta 3"/>
          <p:cNvCxnSpPr>
            <a:stCxn id="12" idx="2"/>
            <a:endCxn id="23" idx="0"/>
          </p:cNvCxnSpPr>
          <p:nvPr/>
        </p:nvCxnSpPr>
        <p:spPr>
          <a:xfrm>
            <a:off x="4013934" y="2517787"/>
            <a:ext cx="0" cy="1239915"/>
          </a:xfrm>
          <a:prstGeom prst="straightConnector1">
            <a:avLst/>
          </a:prstGeom>
          <a:ln w="28575">
            <a:prstDash val="soli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Conector de seta reta 29"/>
          <p:cNvCxnSpPr>
            <a:stCxn id="12" idx="2"/>
            <a:endCxn id="22" idx="0"/>
          </p:cNvCxnSpPr>
          <p:nvPr/>
        </p:nvCxnSpPr>
        <p:spPr>
          <a:xfrm>
            <a:off x="4013934" y="2517787"/>
            <a:ext cx="1237013" cy="1237012"/>
          </a:xfrm>
          <a:prstGeom prst="straightConnector1">
            <a:avLst/>
          </a:prstGeom>
          <a:ln w="28575">
            <a:prstDash val="soli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5387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-20707"/>
            <a:ext cx="592520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670560" y="300127"/>
            <a:ext cx="184731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43220"/>
            <a:endParaRPr lang="pt-BR" sz="1351" dirty="0">
              <a:solidFill>
                <a:prstClr val="black"/>
              </a:solidFill>
              <a:latin typeface="Calibri"/>
            </a:endParaRPr>
          </a:p>
        </p:txBody>
      </p:sp>
      <p:graphicFrame>
        <p:nvGraphicFramePr>
          <p:cNvPr id="9" name="Gráfico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16939357"/>
              </p:ext>
            </p:extLst>
          </p:nvPr>
        </p:nvGraphicFramePr>
        <p:xfrm>
          <a:off x="591878" y="843743"/>
          <a:ext cx="4194633" cy="2479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Tabela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7653280"/>
              </p:ext>
            </p:extLst>
          </p:nvPr>
        </p:nvGraphicFramePr>
        <p:xfrm>
          <a:off x="1494263" y="2656360"/>
          <a:ext cx="1669115" cy="237283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69115"/>
              </a:tblGrid>
              <a:tr h="669836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u="sng" strike="noStrike" dirty="0" err="1">
                          <a:effectLst/>
                          <a:latin typeface="+mn-lt"/>
                        </a:rPr>
                        <a:t>By</a:t>
                      </a:r>
                      <a:r>
                        <a:rPr lang="pt-BR" sz="1000" b="1" u="sng" strike="noStrike" dirty="0">
                          <a:effectLst/>
                          <a:latin typeface="+mn-lt"/>
                        </a:rPr>
                        <a:t> Contax| Módulo </a:t>
                      </a:r>
                      <a:r>
                        <a:rPr lang="pt-BR" sz="1000" u="none" strike="noStrike" dirty="0">
                          <a:effectLst/>
                          <a:latin typeface="+mn-lt"/>
                        </a:rPr>
                        <a:t>Financeiro New Age | Vulnerabilidade de suporte especializado 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50" marR="7150" marT="7150" marB="0" anchor="ctr"/>
                </a:tc>
              </a:tr>
              <a:tr h="1033167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u="sng" strike="noStrike" dirty="0" err="1">
                          <a:effectLst/>
                          <a:latin typeface="+mn-lt"/>
                        </a:rPr>
                        <a:t>Webchat</a:t>
                      </a:r>
                      <a:r>
                        <a:rPr lang="pt-BR" sz="1000" b="1" u="sng" strike="noStrike" dirty="0">
                          <a:effectLst/>
                          <a:latin typeface="+mn-lt"/>
                        </a:rPr>
                        <a:t> </a:t>
                      </a:r>
                      <a:r>
                        <a:rPr lang="pt-BR" sz="1000" b="1" u="sng" strike="noStrike" dirty="0" err="1">
                          <a:effectLst/>
                          <a:latin typeface="+mn-lt"/>
                        </a:rPr>
                        <a:t>Genesys</a:t>
                      </a:r>
                      <a:r>
                        <a:rPr lang="pt-BR" sz="1000" b="1" u="sng" strike="noStrike" dirty="0">
                          <a:effectLst/>
                          <a:latin typeface="+mn-lt"/>
                        </a:rPr>
                        <a:t> </a:t>
                      </a:r>
                      <a:r>
                        <a:rPr lang="pt-BR" sz="1000" u="none" strike="noStrike" dirty="0">
                          <a:effectLst/>
                          <a:latin typeface="+mn-lt"/>
                        </a:rPr>
                        <a:t>|Pernambuco |Site Oi Chat R1 e R2 indisponíveis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50" marR="7150" marT="7150" marB="0" anchor="ctr"/>
                </a:tc>
              </a:tr>
              <a:tr h="669836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u="sng" strike="noStrike" dirty="0">
                          <a:effectLst/>
                          <a:latin typeface="+mn-lt"/>
                        </a:rPr>
                        <a:t>DNK URA |</a:t>
                      </a:r>
                      <a:r>
                        <a:rPr lang="pt-BR" sz="1000" b="1" u="sng" strike="noStrike" dirty="0" err="1">
                          <a:effectLst/>
                          <a:latin typeface="+mn-lt"/>
                        </a:rPr>
                        <a:t>Cielo</a:t>
                      </a:r>
                      <a:r>
                        <a:rPr lang="pt-BR" sz="1000" b="1" u="sng" strike="noStrike" dirty="0">
                          <a:effectLst/>
                          <a:latin typeface="+mn-lt"/>
                        </a:rPr>
                        <a:t> | Fidelidade </a:t>
                      </a:r>
                      <a:r>
                        <a:rPr lang="pt-BR" sz="1000" u="none" strike="noStrike" dirty="0">
                          <a:effectLst/>
                          <a:latin typeface="+mn-lt"/>
                        </a:rPr>
                        <a:t>|Ligação ficando muda/presa durante navegação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50" marR="7150" marT="7150" marB="0" anchor="ctr"/>
                </a:tc>
              </a:tr>
            </a:tbl>
          </a:graphicData>
        </a:graphic>
      </p:graphicFrame>
      <p:pic>
        <p:nvPicPr>
          <p:cNvPr id="1362945" name="Picture 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9214" y="1144058"/>
            <a:ext cx="2840732" cy="37847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2" name="Conector angulado 11"/>
          <p:cNvCxnSpPr>
            <a:stCxn id="7" idx="3"/>
          </p:cNvCxnSpPr>
          <p:nvPr/>
        </p:nvCxnSpPr>
        <p:spPr>
          <a:xfrm flipV="1">
            <a:off x="3163378" y="2273817"/>
            <a:ext cx="746290" cy="1568962"/>
          </a:xfrm>
          <a:prstGeom prst="bentConnector2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1"/>
          <p:cNvSpPr txBox="1">
            <a:spLocks/>
          </p:cNvSpPr>
          <p:nvPr/>
        </p:nvSpPr>
        <p:spPr>
          <a:xfrm>
            <a:off x="1266298" y="121014"/>
            <a:ext cx="6562970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2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3</a:t>
            </a:r>
            <a:r>
              <a:rPr lang="pt-BR" sz="2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Gestão de Problemas - Indicadores</a:t>
            </a:r>
            <a:endParaRPr lang="pt-BR" sz="16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51627" y="4402670"/>
            <a:ext cx="992374" cy="763238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18455" y="48461"/>
            <a:ext cx="1866343" cy="338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3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/>
          <p:cNvGrpSpPr/>
          <p:nvPr/>
        </p:nvGrpSpPr>
        <p:grpSpPr>
          <a:xfrm>
            <a:off x="-1" y="-18157"/>
            <a:ext cx="9144002" cy="5184065"/>
            <a:chOff x="-1" y="12500"/>
            <a:chExt cx="9144002" cy="5184065"/>
          </a:xfrm>
        </p:grpSpPr>
        <p:grpSp>
          <p:nvGrpSpPr>
            <p:cNvPr id="2" name="Agrupar 1"/>
            <p:cNvGrpSpPr/>
            <p:nvPr/>
          </p:nvGrpSpPr>
          <p:grpSpPr>
            <a:xfrm>
              <a:off x="1763688" y="309780"/>
              <a:ext cx="7380313" cy="4886785"/>
              <a:chOff x="2039091" y="300128"/>
              <a:chExt cx="7104910" cy="4891310"/>
            </a:xfrm>
          </p:grpSpPr>
          <p:sp>
            <p:nvSpPr>
              <p:cNvPr id="6" name="CaixaDeTexto 5"/>
              <p:cNvSpPr txBox="1"/>
              <p:nvPr/>
            </p:nvSpPr>
            <p:spPr>
              <a:xfrm>
                <a:off x="2039091" y="300128"/>
                <a:ext cx="184731" cy="462093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114300" prst="artDeco"/>
                <a:bevelB/>
              </a:sp3d>
            </p:spPr>
            <p:txBody>
              <a:bodyPr wrap="none" rtlCol="0">
                <a:spAutoFit/>
              </a:bodyPr>
              <a:lstStyle/>
              <a:p>
                <a:endParaRPr lang="pt-BR" sz="2400" dirty="0">
                  <a:solidFill>
                    <a:prstClr val="black"/>
                  </a:solidFill>
                </a:endParaRPr>
              </a:p>
            </p:txBody>
          </p:sp>
          <p:pic>
            <p:nvPicPr>
              <p:cNvPr id="1026" name="Picture 2"/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6780" t="78172" r="18395" b="12686"/>
              <a:stretch/>
            </p:blipFill>
            <p:spPr bwMode="auto">
              <a:xfrm>
                <a:off x="8188658" y="4427493"/>
                <a:ext cx="955343" cy="763945"/>
              </a:xfrm>
              <a:prstGeom prst="rect">
                <a:avLst/>
              </a:prstGeom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4" name="Imagem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1" y="12500"/>
              <a:ext cx="928369" cy="913131"/>
            </a:xfrm>
            <a:prstGeom prst="rect">
              <a:avLst/>
            </a:prstGeom>
          </p:spPr>
        </p:pic>
        <p:pic>
          <p:nvPicPr>
            <p:cNvPr id="26" name="Picture 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020272" y="201819"/>
              <a:ext cx="1866343" cy="338794"/>
            </a:xfrm>
            <a:prstGeom prst="rect">
              <a:avLst/>
            </a:prstGeom>
          </p:spPr>
        </p:pic>
      </p:grpSp>
      <p:sp>
        <p:nvSpPr>
          <p:cNvPr id="22" name="CaixaDeTexto 5"/>
          <p:cNvSpPr txBox="1"/>
          <p:nvPr/>
        </p:nvSpPr>
        <p:spPr>
          <a:xfrm>
            <a:off x="153583" y="1195055"/>
            <a:ext cx="5923342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pt-BR" sz="1400" b="1" dirty="0">
                <a:solidFill>
                  <a:srgbClr val="184E82"/>
                </a:solidFill>
                <a:latin typeface="Calibri"/>
              </a:rPr>
              <a:t>Incidentes Alto Impacto</a:t>
            </a:r>
          </a:p>
          <a:p>
            <a:pPr algn="ctr">
              <a:defRPr/>
            </a:pPr>
            <a:r>
              <a:rPr lang="pt-BR" sz="1400" b="1" dirty="0">
                <a:solidFill>
                  <a:srgbClr val="184E82"/>
                </a:solidFill>
                <a:latin typeface="Calibri"/>
              </a:rPr>
              <a:t>Tempo médio entre falhas em h:m:s</a:t>
            </a:r>
          </a:p>
        </p:txBody>
      </p:sp>
      <p:sp>
        <p:nvSpPr>
          <p:cNvPr id="24" name="CaixaDeTexto 14"/>
          <p:cNvSpPr txBox="1">
            <a:spLocks noChangeArrowheads="1"/>
          </p:cNvSpPr>
          <p:nvPr/>
        </p:nvSpPr>
        <p:spPr bwMode="auto">
          <a:xfrm>
            <a:off x="6540777" y="714603"/>
            <a:ext cx="2098146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pt-BR" sz="1200" dirty="0">
                <a:solidFill>
                  <a:srgbClr val="184E82"/>
                </a:solidFill>
              </a:rPr>
              <a:t>Responsabilidade da TI Contax</a:t>
            </a:r>
          </a:p>
        </p:txBody>
      </p:sp>
      <p:sp>
        <p:nvSpPr>
          <p:cNvPr id="25" name="CaixaDeTexto 15"/>
          <p:cNvSpPr txBox="1">
            <a:spLocks noChangeArrowheads="1"/>
          </p:cNvSpPr>
          <p:nvPr/>
        </p:nvSpPr>
        <p:spPr bwMode="auto">
          <a:xfrm>
            <a:off x="6275665" y="2005687"/>
            <a:ext cx="2685520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pt-BR" sz="1200" dirty="0">
                <a:solidFill>
                  <a:srgbClr val="184E82"/>
                </a:solidFill>
              </a:rPr>
              <a:t>Responsabilidade do Suporte do Cliente</a:t>
            </a:r>
          </a:p>
        </p:txBody>
      </p:sp>
      <p:sp>
        <p:nvSpPr>
          <p:cNvPr id="27" name="CaixaDeTexto 16"/>
          <p:cNvSpPr txBox="1">
            <a:spLocks noChangeArrowheads="1"/>
          </p:cNvSpPr>
          <p:nvPr/>
        </p:nvSpPr>
        <p:spPr bwMode="auto">
          <a:xfrm>
            <a:off x="6289953" y="3455075"/>
            <a:ext cx="2709333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pt-BR" sz="1200">
                <a:solidFill>
                  <a:srgbClr val="184E82"/>
                </a:solidFill>
              </a:rPr>
              <a:t>Responsabilidade do Fornecedor Contax</a:t>
            </a:r>
          </a:p>
        </p:txBody>
      </p:sp>
      <p:sp>
        <p:nvSpPr>
          <p:cNvPr id="30" name="CaixaDeTexto 17"/>
          <p:cNvSpPr txBox="1">
            <a:spLocks noChangeArrowheads="1"/>
          </p:cNvSpPr>
          <p:nvPr/>
        </p:nvSpPr>
        <p:spPr bwMode="auto">
          <a:xfrm>
            <a:off x="179512" y="4309215"/>
            <a:ext cx="5400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pt-BR" sz="1200" dirty="0">
                <a:solidFill>
                  <a:srgbClr val="184E82"/>
                </a:solidFill>
              </a:rPr>
              <a:t>O cálculo foi realizado considerando </a:t>
            </a:r>
            <a:r>
              <a:rPr lang="pt-BR" sz="1200" b="1" dirty="0">
                <a:solidFill>
                  <a:srgbClr val="184E82"/>
                </a:solidFill>
              </a:rPr>
              <a:t>todos</a:t>
            </a:r>
            <a:r>
              <a:rPr lang="pt-BR" sz="1200" dirty="0">
                <a:solidFill>
                  <a:srgbClr val="184E82"/>
                </a:solidFill>
              </a:rPr>
              <a:t> os chamados de Incidentes Alto Impacto (Críticos + Alto impacto)</a:t>
            </a:r>
          </a:p>
        </p:txBody>
      </p:sp>
      <p:sp>
        <p:nvSpPr>
          <p:cNvPr id="31" name="CaixaDeTexto 5"/>
          <p:cNvSpPr txBox="1"/>
          <p:nvPr/>
        </p:nvSpPr>
        <p:spPr>
          <a:xfrm>
            <a:off x="484767" y="252939"/>
            <a:ext cx="5923342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pt-BR" sz="2400" b="1" dirty="0" smtClean="0">
                <a:solidFill>
                  <a:srgbClr val="184E82"/>
                </a:solidFill>
                <a:latin typeface="Calibri"/>
              </a:rPr>
              <a:t>4. Tempo </a:t>
            </a:r>
            <a:r>
              <a:rPr lang="pt-BR" sz="2400" b="1" dirty="0">
                <a:solidFill>
                  <a:srgbClr val="184E82"/>
                </a:solidFill>
                <a:latin typeface="Calibri"/>
              </a:rPr>
              <a:t>médio entre falhas</a:t>
            </a:r>
          </a:p>
        </p:txBody>
      </p:sp>
      <p:graphicFrame>
        <p:nvGraphicFramePr>
          <p:cNvPr id="18" name="Gráfico 17"/>
          <p:cNvGraphicFramePr>
            <a:graphicFrameLocks/>
          </p:cNvGraphicFramePr>
          <p:nvPr>
            <p:extLst/>
          </p:nvPr>
        </p:nvGraphicFramePr>
        <p:xfrm>
          <a:off x="35496" y="1494011"/>
          <a:ext cx="5828400" cy="2336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9" name="Gráfico 18"/>
          <p:cNvGraphicFramePr>
            <a:graphicFrameLocks/>
          </p:cNvGraphicFramePr>
          <p:nvPr>
            <p:extLst/>
          </p:nvPr>
        </p:nvGraphicFramePr>
        <p:xfrm>
          <a:off x="6349683" y="918075"/>
          <a:ext cx="2536933" cy="115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1" name="Gráfico 20"/>
          <p:cNvGraphicFramePr>
            <a:graphicFrameLocks/>
          </p:cNvGraphicFramePr>
          <p:nvPr>
            <p:extLst/>
          </p:nvPr>
        </p:nvGraphicFramePr>
        <p:xfrm>
          <a:off x="6376152" y="2214091"/>
          <a:ext cx="2536933" cy="115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33" name="Gráfico 32"/>
          <p:cNvGraphicFramePr>
            <a:graphicFrameLocks/>
          </p:cNvGraphicFramePr>
          <p:nvPr>
            <p:extLst/>
          </p:nvPr>
        </p:nvGraphicFramePr>
        <p:xfrm>
          <a:off x="6349683" y="3654251"/>
          <a:ext cx="2536933" cy="115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186559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/>
          <p:cNvGrpSpPr/>
          <p:nvPr/>
        </p:nvGrpSpPr>
        <p:grpSpPr>
          <a:xfrm>
            <a:off x="-1" y="-18157"/>
            <a:ext cx="9144002" cy="5170656"/>
            <a:chOff x="-1" y="12500"/>
            <a:chExt cx="9144002" cy="5170656"/>
          </a:xfrm>
        </p:grpSpPr>
        <p:grpSp>
          <p:nvGrpSpPr>
            <p:cNvPr id="2" name="Agrupar 1"/>
            <p:cNvGrpSpPr/>
            <p:nvPr/>
          </p:nvGrpSpPr>
          <p:grpSpPr>
            <a:xfrm>
              <a:off x="1763688" y="309780"/>
              <a:ext cx="7380313" cy="4873376"/>
              <a:chOff x="2039091" y="300128"/>
              <a:chExt cx="7104910" cy="4877889"/>
            </a:xfrm>
          </p:grpSpPr>
          <p:sp>
            <p:nvSpPr>
              <p:cNvPr id="6" name="CaixaDeTexto 5"/>
              <p:cNvSpPr txBox="1"/>
              <p:nvPr/>
            </p:nvSpPr>
            <p:spPr>
              <a:xfrm>
                <a:off x="2039091" y="300128"/>
                <a:ext cx="184731" cy="462093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114300" prst="artDeco"/>
                <a:bevelB/>
              </a:sp3d>
            </p:spPr>
            <p:txBody>
              <a:bodyPr wrap="none" rtlCol="0">
                <a:spAutoFit/>
              </a:bodyPr>
              <a:lstStyle/>
              <a:p>
                <a:endParaRPr lang="pt-BR" sz="2400" dirty="0">
                  <a:solidFill>
                    <a:prstClr val="black"/>
                  </a:solidFill>
                </a:endParaRPr>
              </a:p>
            </p:txBody>
          </p:sp>
          <p:pic>
            <p:nvPicPr>
              <p:cNvPr id="1026" name="Picture 2"/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6780" t="78172" r="18395" b="12686"/>
              <a:stretch/>
            </p:blipFill>
            <p:spPr bwMode="auto">
              <a:xfrm>
                <a:off x="8188658" y="4414072"/>
                <a:ext cx="955343" cy="763945"/>
              </a:xfrm>
              <a:prstGeom prst="rect">
                <a:avLst/>
              </a:prstGeom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4" name="Imagem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1" y="12500"/>
              <a:ext cx="928369" cy="913131"/>
            </a:xfrm>
            <a:prstGeom prst="rect">
              <a:avLst/>
            </a:prstGeom>
          </p:spPr>
        </p:pic>
        <p:pic>
          <p:nvPicPr>
            <p:cNvPr id="26" name="Picture 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020272" y="201819"/>
              <a:ext cx="1866343" cy="338794"/>
            </a:xfrm>
            <a:prstGeom prst="rect">
              <a:avLst/>
            </a:prstGeom>
          </p:spPr>
        </p:pic>
      </p:grpSp>
      <p:sp>
        <p:nvSpPr>
          <p:cNvPr id="24" name="CaixaDeTexto 14"/>
          <p:cNvSpPr txBox="1">
            <a:spLocks noChangeArrowheads="1"/>
          </p:cNvSpPr>
          <p:nvPr/>
        </p:nvSpPr>
        <p:spPr bwMode="auto">
          <a:xfrm>
            <a:off x="6540777" y="714603"/>
            <a:ext cx="2098146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pt-BR" sz="1200" dirty="0">
                <a:solidFill>
                  <a:srgbClr val="184E82"/>
                </a:solidFill>
              </a:rPr>
              <a:t>Responsabilidade da TI Contax</a:t>
            </a:r>
          </a:p>
        </p:txBody>
      </p:sp>
      <p:sp>
        <p:nvSpPr>
          <p:cNvPr id="25" name="CaixaDeTexto 15"/>
          <p:cNvSpPr txBox="1">
            <a:spLocks noChangeArrowheads="1"/>
          </p:cNvSpPr>
          <p:nvPr/>
        </p:nvSpPr>
        <p:spPr bwMode="auto">
          <a:xfrm>
            <a:off x="6275665" y="2005687"/>
            <a:ext cx="2685520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pt-BR" sz="1200" dirty="0">
                <a:solidFill>
                  <a:srgbClr val="184E82"/>
                </a:solidFill>
              </a:rPr>
              <a:t>Responsabilidade do Suporte do Cliente</a:t>
            </a:r>
          </a:p>
        </p:txBody>
      </p:sp>
      <p:sp>
        <p:nvSpPr>
          <p:cNvPr id="27" name="CaixaDeTexto 16"/>
          <p:cNvSpPr txBox="1">
            <a:spLocks noChangeArrowheads="1"/>
          </p:cNvSpPr>
          <p:nvPr/>
        </p:nvSpPr>
        <p:spPr bwMode="auto">
          <a:xfrm>
            <a:off x="6289953" y="3455075"/>
            <a:ext cx="2709333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pt-BR" sz="1200">
                <a:solidFill>
                  <a:srgbClr val="184E82"/>
                </a:solidFill>
              </a:rPr>
              <a:t>Responsabilidade do Fornecedor Contax</a:t>
            </a:r>
          </a:p>
        </p:txBody>
      </p:sp>
      <p:sp>
        <p:nvSpPr>
          <p:cNvPr id="31" name="CaixaDeTexto 5"/>
          <p:cNvSpPr txBox="1"/>
          <p:nvPr/>
        </p:nvSpPr>
        <p:spPr>
          <a:xfrm>
            <a:off x="484767" y="252939"/>
            <a:ext cx="5923342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pt-BR" sz="2400" b="1" dirty="0" smtClean="0">
                <a:solidFill>
                  <a:srgbClr val="184E82"/>
                </a:solidFill>
                <a:latin typeface="Calibri"/>
              </a:rPr>
              <a:t>4. Tempo </a:t>
            </a:r>
            <a:r>
              <a:rPr lang="pt-BR" sz="2400" b="1" dirty="0">
                <a:solidFill>
                  <a:srgbClr val="184E82"/>
                </a:solidFill>
                <a:latin typeface="Calibri"/>
              </a:rPr>
              <a:t>médio de Recuperação</a:t>
            </a:r>
          </a:p>
        </p:txBody>
      </p:sp>
      <p:sp>
        <p:nvSpPr>
          <p:cNvPr id="19" name="CaixaDeTexto 5"/>
          <p:cNvSpPr txBox="1"/>
          <p:nvPr/>
        </p:nvSpPr>
        <p:spPr>
          <a:xfrm>
            <a:off x="1043608" y="1205979"/>
            <a:ext cx="43396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pt-BR" sz="1400" b="1" dirty="0">
                <a:solidFill>
                  <a:srgbClr val="184E82"/>
                </a:solidFill>
              </a:rPr>
              <a:t>Incidentes Alto Impacto</a:t>
            </a:r>
          </a:p>
          <a:p>
            <a:pPr algn="ctr">
              <a:defRPr/>
            </a:pPr>
            <a:r>
              <a:rPr lang="pt-BR" sz="1400" b="1" dirty="0">
                <a:solidFill>
                  <a:srgbClr val="184E82"/>
                </a:solidFill>
              </a:rPr>
              <a:t>Tempo médio de recuperação em h:m:s</a:t>
            </a:r>
          </a:p>
        </p:txBody>
      </p:sp>
      <p:sp>
        <p:nvSpPr>
          <p:cNvPr id="20" name="CaixaDeTexto 17"/>
          <p:cNvSpPr txBox="1">
            <a:spLocks noChangeArrowheads="1"/>
          </p:cNvSpPr>
          <p:nvPr/>
        </p:nvSpPr>
        <p:spPr bwMode="auto">
          <a:xfrm>
            <a:off x="179512" y="4309215"/>
            <a:ext cx="5400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pt-BR" sz="1200" dirty="0">
                <a:solidFill>
                  <a:srgbClr val="184E82"/>
                </a:solidFill>
              </a:rPr>
              <a:t>O cálculo foi realizado considerando </a:t>
            </a:r>
            <a:r>
              <a:rPr lang="pt-BR" sz="1200" b="1" dirty="0">
                <a:solidFill>
                  <a:srgbClr val="184E82"/>
                </a:solidFill>
              </a:rPr>
              <a:t>todos</a:t>
            </a:r>
            <a:r>
              <a:rPr lang="pt-BR" sz="1200" dirty="0">
                <a:solidFill>
                  <a:srgbClr val="184E82"/>
                </a:solidFill>
              </a:rPr>
              <a:t> os chamados de Incidentes Alto Impacto (Críticos + Alto impacto)</a:t>
            </a:r>
          </a:p>
        </p:txBody>
      </p:sp>
      <p:graphicFrame>
        <p:nvGraphicFramePr>
          <p:cNvPr id="22" name="Gráfico 21"/>
          <p:cNvGraphicFramePr>
            <a:graphicFrameLocks/>
          </p:cNvGraphicFramePr>
          <p:nvPr>
            <p:extLst/>
          </p:nvPr>
        </p:nvGraphicFramePr>
        <p:xfrm>
          <a:off x="183760" y="1605883"/>
          <a:ext cx="5828400" cy="2336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23" name="Gráfico 22"/>
          <p:cNvGraphicFramePr>
            <a:graphicFrameLocks/>
          </p:cNvGraphicFramePr>
          <p:nvPr>
            <p:extLst/>
          </p:nvPr>
        </p:nvGraphicFramePr>
        <p:xfrm>
          <a:off x="6168243" y="986917"/>
          <a:ext cx="2792942" cy="8671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8" name="Gráfico 27"/>
          <p:cNvGraphicFramePr>
            <a:graphicFrameLocks/>
          </p:cNvGraphicFramePr>
          <p:nvPr>
            <p:extLst/>
          </p:nvPr>
        </p:nvGraphicFramePr>
        <p:xfrm>
          <a:off x="6168243" y="2286100"/>
          <a:ext cx="2783418" cy="8671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9" name="Gráfico 28"/>
          <p:cNvGraphicFramePr>
            <a:graphicFrameLocks/>
          </p:cNvGraphicFramePr>
          <p:nvPr>
            <p:extLst/>
          </p:nvPr>
        </p:nvGraphicFramePr>
        <p:xfrm>
          <a:off x="6168245" y="3726260"/>
          <a:ext cx="2783417" cy="8671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1169607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/>
          <p:cNvGrpSpPr/>
          <p:nvPr/>
        </p:nvGrpSpPr>
        <p:grpSpPr>
          <a:xfrm>
            <a:off x="-1" y="-18157"/>
            <a:ext cx="9144002" cy="5140931"/>
            <a:chOff x="-1" y="12500"/>
            <a:chExt cx="9144002" cy="5140931"/>
          </a:xfrm>
        </p:grpSpPr>
        <p:grpSp>
          <p:nvGrpSpPr>
            <p:cNvPr id="2" name="Agrupar 1"/>
            <p:cNvGrpSpPr/>
            <p:nvPr/>
          </p:nvGrpSpPr>
          <p:grpSpPr>
            <a:xfrm>
              <a:off x="1763688" y="309780"/>
              <a:ext cx="7380313" cy="4843651"/>
              <a:chOff x="2039091" y="300128"/>
              <a:chExt cx="7104910" cy="4848136"/>
            </a:xfrm>
          </p:grpSpPr>
          <p:sp>
            <p:nvSpPr>
              <p:cNvPr id="6" name="CaixaDeTexto 5"/>
              <p:cNvSpPr txBox="1"/>
              <p:nvPr/>
            </p:nvSpPr>
            <p:spPr>
              <a:xfrm>
                <a:off x="2039091" y="300128"/>
                <a:ext cx="184731" cy="462093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114300" prst="artDeco"/>
                <a:bevelB/>
              </a:sp3d>
            </p:spPr>
            <p:txBody>
              <a:bodyPr wrap="none" rtlCol="0">
                <a:spAutoFit/>
              </a:bodyPr>
              <a:lstStyle/>
              <a:p>
                <a:endParaRPr lang="pt-BR" sz="2400" dirty="0">
                  <a:solidFill>
                    <a:prstClr val="black"/>
                  </a:solidFill>
                </a:endParaRPr>
              </a:p>
            </p:txBody>
          </p:sp>
          <p:pic>
            <p:nvPicPr>
              <p:cNvPr id="1026" name="Picture 2"/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6780" t="78172" r="18395" b="12686"/>
              <a:stretch/>
            </p:blipFill>
            <p:spPr bwMode="auto">
              <a:xfrm>
                <a:off x="8188658" y="4384319"/>
                <a:ext cx="955343" cy="763945"/>
              </a:xfrm>
              <a:prstGeom prst="rect">
                <a:avLst/>
              </a:prstGeom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4" name="Imagem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1" y="12500"/>
              <a:ext cx="928369" cy="913131"/>
            </a:xfrm>
            <a:prstGeom prst="rect">
              <a:avLst/>
            </a:prstGeom>
          </p:spPr>
        </p:pic>
        <p:pic>
          <p:nvPicPr>
            <p:cNvPr id="26" name="Picture 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020272" y="201819"/>
              <a:ext cx="1866343" cy="338794"/>
            </a:xfrm>
            <a:prstGeom prst="rect">
              <a:avLst/>
            </a:prstGeom>
          </p:spPr>
        </p:pic>
      </p:grpSp>
      <p:sp>
        <p:nvSpPr>
          <p:cNvPr id="31" name="CaixaDeTexto 5"/>
          <p:cNvSpPr txBox="1"/>
          <p:nvPr/>
        </p:nvSpPr>
        <p:spPr>
          <a:xfrm>
            <a:off x="1475656" y="-130815"/>
            <a:ext cx="5085516" cy="10772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400" b="1" dirty="0" smtClean="0">
                <a:solidFill>
                  <a:srgbClr val="184E82"/>
                </a:solidFill>
              </a:rPr>
              <a:t>5. Incidentes </a:t>
            </a:r>
            <a:r>
              <a:rPr lang="pt-BR" sz="2400" b="1" dirty="0">
                <a:solidFill>
                  <a:srgbClr val="184E82"/>
                </a:solidFill>
              </a:rPr>
              <a:t>Resolvidos de Alto Impacto</a:t>
            </a:r>
          </a:p>
          <a:p>
            <a:pPr algn="ctr"/>
            <a:r>
              <a:rPr lang="pt-BR" sz="1600" dirty="0">
                <a:solidFill>
                  <a:srgbClr val="184E82"/>
                </a:solidFill>
              </a:rPr>
              <a:t>De 01 a 20 de março de 2016</a:t>
            </a:r>
          </a:p>
        </p:txBody>
      </p:sp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1129" y="2769243"/>
            <a:ext cx="2700000" cy="1943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3898" y="2769244"/>
            <a:ext cx="2700000" cy="1257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4446" y="1044820"/>
            <a:ext cx="3190875" cy="981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20" name="Conector angulado 19"/>
          <p:cNvCxnSpPr>
            <a:stCxn id="1028" idx="2"/>
          </p:cNvCxnSpPr>
          <p:nvPr/>
        </p:nvCxnSpPr>
        <p:spPr>
          <a:xfrm rot="5400000">
            <a:off x="2637449" y="836808"/>
            <a:ext cx="743349" cy="3121523"/>
          </a:xfrm>
          <a:prstGeom prst="bentConnector3">
            <a:avLst/>
          </a:prstGeom>
          <a:ln>
            <a:solidFill>
              <a:srgbClr val="184E8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angulado 21"/>
          <p:cNvCxnSpPr>
            <a:stCxn id="1028" idx="2"/>
            <a:endCxn id="1027" idx="0"/>
          </p:cNvCxnSpPr>
          <p:nvPr/>
        </p:nvCxnSpPr>
        <p:spPr>
          <a:xfrm rot="16200000" flipH="1">
            <a:off x="5750217" y="845561"/>
            <a:ext cx="743349" cy="3104015"/>
          </a:xfrm>
          <a:prstGeom prst="bentConnector3">
            <a:avLst/>
          </a:prstGeom>
          <a:ln>
            <a:solidFill>
              <a:srgbClr val="184E8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/>
          <p:cNvCxnSpPr>
            <a:stCxn id="1028" idx="2"/>
            <a:endCxn id="16" idx="0"/>
          </p:cNvCxnSpPr>
          <p:nvPr/>
        </p:nvCxnSpPr>
        <p:spPr>
          <a:xfrm flipH="1">
            <a:off x="4561129" y="2025895"/>
            <a:ext cx="8754" cy="743349"/>
          </a:xfrm>
          <a:prstGeom prst="straightConnector1">
            <a:avLst/>
          </a:prstGeom>
          <a:ln>
            <a:solidFill>
              <a:srgbClr val="184E8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66" y="2769243"/>
            <a:ext cx="2700943" cy="164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46472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/>
          <p:cNvGrpSpPr/>
          <p:nvPr/>
        </p:nvGrpSpPr>
        <p:grpSpPr>
          <a:xfrm>
            <a:off x="-1" y="-18157"/>
            <a:ext cx="9144002" cy="5140931"/>
            <a:chOff x="-1" y="12500"/>
            <a:chExt cx="9144002" cy="5140931"/>
          </a:xfrm>
        </p:grpSpPr>
        <p:grpSp>
          <p:nvGrpSpPr>
            <p:cNvPr id="2" name="Agrupar 1"/>
            <p:cNvGrpSpPr/>
            <p:nvPr/>
          </p:nvGrpSpPr>
          <p:grpSpPr>
            <a:xfrm>
              <a:off x="1763688" y="309780"/>
              <a:ext cx="7380313" cy="4843651"/>
              <a:chOff x="2039091" y="300128"/>
              <a:chExt cx="7104910" cy="4848136"/>
            </a:xfrm>
          </p:grpSpPr>
          <p:sp>
            <p:nvSpPr>
              <p:cNvPr id="6" name="CaixaDeTexto 5"/>
              <p:cNvSpPr txBox="1"/>
              <p:nvPr/>
            </p:nvSpPr>
            <p:spPr>
              <a:xfrm>
                <a:off x="2039091" y="300128"/>
                <a:ext cx="184731" cy="462093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114300" prst="artDeco"/>
                <a:bevelB/>
              </a:sp3d>
            </p:spPr>
            <p:txBody>
              <a:bodyPr wrap="none" rtlCol="0">
                <a:spAutoFit/>
              </a:bodyPr>
              <a:lstStyle/>
              <a:p>
                <a:endParaRPr lang="pt-BR" sz="2400" dirty="0">
                  <a:solidFill>
                    <a:prstClr val="black"/>
                  </a:solidFill>
                </a:endParaRPr>
              </a:p>
            </p:txBody>
          </p:sp>
          <p:pic>
            <p:nvPicPr>
              <p:cNvPr id="1026" name="Picture 2"/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6780" t="78172" r="18395" b="12686"/>
              <a:stretch/>
            </p:blipFill>
            <p:spPr bwMode="auto">
              <a:xfrm>
                <a:off x="8188658" y="4384319"/>
                <a:ext cx="955343" cy="763945"/>
              </a:xfrm>
              <a:prstGeom prst="rect">
                <a:avLst/>
              </a:prstGeom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4" name="Imagem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1" y="12500"/>
              <a:ext cx="928369" cy="913131"/>
            </a:xfrm>
            <a:prstGeom prst="rect">
              <a:avLst/>
            </a:prstGeom>
          </p:spPr>
        </p:pic>
        <p:pic>
          <p:nvPicPr>
            <p:cNvPr id="26" name="Picture 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020272" y="201819"/>
              <a:ext cx="1866343" cy="338794"/>
            </a:xfrm>
            <a:prstGeom prst="rect">
              <a:avLst/>
            </a:prstGeom>
          </p:spPr>
        </p:pic>
      </p:grpSp>
      <p:sp>
        <p:nvSpPr>
          <p:cNvPr id="9" name="CaixaDeTexto 5"/>
          <p:cNvSpPr txBox="1"/>
          <p:nvPr/>
        </p:nvSpPr>
        <p:spPr>
          <a:xfrm>
            <a:off x="1523218" y="-145885"/>
            <a:ext cx="5065006" cy="10772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400" b="1" dirty="0" smtClean="0">
                <a:solidFill>
                  <a:srgbClr val="184E82"/>
                </a:solidFill>
              </a:rPr>
              <a:t>5. Incidentes </a:t>
            </a:r>
            <a:r>
              <a:rPr lang="pt-BR" sz="2400" b="1" dirty="0">
                <a:solidFill>
                  <a:srgbClr val="184E82"/>
                </a:solidFill>
              </a:rPr>
              <a:t>Resolvidos de Alto Impacto</a:t>
            </a:r>
          </a:p>
          <a:p>
            <a:pPr algn="ctr"/>
            <a:r>
              <a:rPr lang="pt-BR" sz="1600" dirty="0">
                <a:solidFill>
                  <a:srgbClr val="184E82"/>
                </a:solidFill>
              </a:rPr>
              <a:t>De 01 a 20 de março de 2016</a:t>
            </a:r>
            <a:endParaRPr lang="pt-BR" sz="1600" b="1" dirty="0">
              <a:solidFill>
                <a:srgbClr val="184E82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008" y="2635085"/>
            <a:ext cx="1578956" cy="2459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4918" y="2635086"/>
            <a:ext cx="1544023" cy="1606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893" y="2635086"/>
            <a:ext cx="1921296" cy="10200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2142" y="2635085"/>
            <a:ext cx="1725673" cy="8733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ector angulado 14"/>
          <p:cNvCxnSpPr>
            <a:endCxn id="2050" idx="0"/>
          </p:cNvCxnSpPr>
          <p:nvPr/>
        </p:nvCxnSpPr>
        <p:spPr>
          <a:xfrm rot="5400000">
            <a:off x="2668525" y="727414"/>
            <a:ext cx="403635" cy="3411709"/>
          </a:xfrm>
          <a:prstGeom prst="bentConnector3">
            <a:avLst/>
          </a:prstGeom>
          <a:ln>
            <a:solidFill>
              <a:srgbClr val="184E8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angulado 16"/>
          <p:cNvCxnSpPr>
            <a:endCxn id="2055" idx="0"/>
          </p:cNvCxnSpPr>
          <p:nvPr/>
        </p:nvCxnSpPr>
        <p:spPr>
          <a:xfrm rot="16200000" flipH="1">
            <a:off x="5978770" y="828876"/>
            <a:ext cx="403635" cy="3208783"/>
          </a:xfrm>
          <a:prstGeom prst="bentConnector3">
            <a:avLst/>
          </a:prstGeom>
          <a:ln>
            <a:solidFill>
              <a:srgbClr val="184E8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angulado 18"/>
          <p:cNvCxnSpPr>
            <a:endCxn id="2051" idx="0"/>
          </p:cNvCxnSpPr>
          <p:nvPr/>
        </p:nvCxnSpPr>
        <p:spPr>
          <a:xfrm rot="5400000">
            <a:off x="3699746" y="1758634"/>
            <a:ext cx="403635" cy="1349266"/>
          </a:xfrm>
          <a:prstGeom prst="bentConnector3">
            <a:avLst/>
          </a:prstGeom>
          <a:ln>
            <a:solidFill>
              <a:srgbClr val="184E8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angulado 20"/>
          <p:cNvCxnSpPr>
            <a:endCxn id="2054" idx="0"/>
          </p:cNvCxnSpPr>
          <p:nvPr/>
        </p:nvCxnSpPr>
        <p:spPr>
          <a:xfrm rot="16200000" flipH="1">
            <a:off x="4816552" y="1991094"/>
            <a:ext cx="403635" cy="884346"/>
          </a:xfrm>
          <a:prstGeom prst="bentConnector3">
            <a:avLst/>
          </a:prstGeom>
          <a:ln>
            <a:solidFill>
              <a:srgbClr val="184E8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Picture 5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2734" y="924339"/>
            <a:ext cx="2151851" cy="13135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57503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Projeto: </a:t>
            </a:r>
            <a:r>
              <a:rPr lang="pt-BR" sz="2800" b="1" dirty="0" err="1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Aspect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7.3 (infra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) System 1</a:t>
            </a:r>
            <a:endParaRPr lang="pt-BR" sz="28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221121" y="2081341"/>
            <a:ext cx="2716382" cy="2844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Último Status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 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Finalização Validação da Plataforma pela </a:t>
            </a:r>
            <a:r>
              <a:rPr lang="pt-BR" sz="12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Aspect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221121" y="879118"/>
            <a:ext cx="2868782" cy="978810"/>
          </a:xfrm>
          <a:prstGeom prst="roundRect">
            <a:avLst/>
          </a:prstGeom>
          <a:solidFill>
            <a:srgbClr val="FFC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Projeto: </a:t>
            </a:r>
            <a:r>
              <a:rPr lang="pt-BR" sz="1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</a:t>
            </a:r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t-BR" sz="1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Aspect</a:t>
            </a:r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7.3 (infra)</a:t>
            </a:r>
            <a:endParaRPr lang="pt-BR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t-BR" sz="1200" i="1" dirty="0" smtClean="0"/>
              <a:t>Data Inicio: 14-10-2015</a:t>
            </a:r>
          </a:p>
          <a:p>
            <a:r>
              <a:rPr lang="pt-BR" sz="1200" i="1" dirty="0" smtClean="0"/>
              <a:t>Data Conclusão: 31-03-2016</a:t>
            </a:r>
          </a:p>
          <a:p>
            <a:r>
              <a:rPr lang="pt-BR" sz="1200" i="1" dirty="0" smtClean="0"/>
              <a:t>Progresso: 75%</a:t>
            </a:r>
          </a:p>
          <a:p>
            <a:r>
              <a:rPr lang="pt-BR" sz="1200" i="1" dirty="0" smtClean="0"/>
              <a:t>PM</a:t>
            </a:r>
            <a:r>
              <a:rPr lang="pt-BR" sz="1200" i="1" dirty="0"/>
              <a:t>: Luiz </a:t>
            </a:r>
            <a:r>
              <a:rPr lang="pt-BR" sz="1200" i="1" dirty="0" smtClean="0"/>
              <a:t>Washington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3112569" y="2081340"/>
            <a:ext cx="2716382" cy="2844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Objetivos alcançados na última </a:t>
            </a: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semana</a:t>
            </a:r>
            <a:endParaRPr lang="pt-BR" sz="14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pt-BR" sz="12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Gmud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realizada com sucesso para upgrade na versão de VMW.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Gmud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planejada para esta semana de incremento de memória.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Hoje vamos realizar uma reunião para </a:t>
            </a:r>
            <a:r>
              <a:rPr lang="pt-BR" sz="1200" u="sng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estimar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datas de migração do polo BH, Santander e novas operações.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pt-BR" sz="1200" dirty="0">
              <a:solidFill>
                <a:schemeClr val="tx1"/>
              </a:solidFill>
            </a:endParaRPr>
          </a:p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endParaRPr lang="pt-BR" sz="14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6004018" y="2081341"/>
            <a:ext cx="2700000" cy="2844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Riscos/Problemas/Observações</a:t>
            </a:r>
            <a:endParaRPr lang="pt-BR" sz="12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r>
              <a:rPr lang="pt-BR" sz="12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Obs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: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 </a:t>
            </a:r>
            <a:r>
              <a:rPr lang="pt-BR" sz="12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Aspect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vai realizar treinamento de 2 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elementos do CSE, 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sem custos.</a:t>
            </a: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" name="Retângulo de cantos arredondados 17"/>
          <p:cNvSpPr/>
          <p:nvPr/>
        </p:nvSpPr>
        <p:spPr>
          <a:xfrm>
            <a:off x="3089903" y="923882"/>
            <a:ext cx="5630497" cy="934045"/>
          </a:xfrm>
          <a:prstGeom prst="roundRect">
            <a:avLst/>
          </a:prstGeom>
          <a:solidFill>
            <a:schemeClr val="accent1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Descritivo: </a:t>
            </a:r>
            <a:r>
              <a:rPr lang="pt-BR" sz="1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Este projeto tem como escopo, preparar/adequar toda  </a:t>
            </a:r>
            <a:r>
              <a:rPr lang="pt-BR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infra de HW </a:t>
            </a:r>
            <a:r>
              <a:rPr lang="pt-BR" sz="1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para </a:t>
            </a:r>
            <a:r>
              <a:rPr lang="pt-BR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instalar a versão 7.3 do </a:t>
            </a:r>
            <a:r>
              <a:rPr lang="pt-BR" sz="1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Aspect</a:t>
            </a:r>
            <a:r>
              <a:rPr lang="pt-BR" sz="1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para 2000 </a:t>
            </a:r>
            <a:r>
              <a:rPr lang="pt-BR" sz="1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PAs</a:t>
            </a:r>
            <a:r>
              <a:rPr lang="pt-BR" sz="1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  <a:endParaRPr lang="pt-BR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24" name="Group 34"/>
          <p:cNvGrpSpPr>
            <a:grpSpLocks/>
          </p:cNvGrpSpPr>
          <p:nvPr/>
        </p:nvGrpSpPr>
        <p:grpSpPr bwMode="auto">
          <a:xfrm>
            <a:off x="2592250" y="1478345"/>
            <a:ext cx="274638" cy="274638"/>
            <a:chOff x="0" y="0"/>
            <a:chExt cx="173" cy="173"/>
          </a:xfrm>
        </p:grpSpPr>
        <p:sp>
          <p:nvSpPr>
            <p:cNvPr id="25" name="Arc 35"/>
            <p:cNvSpPr>
              <a:spLocks/>
            </p:cNvSpPr>
            <p:nvPr/>
          </p:nvSpPr>
          <p:spPr bwMode="auto">
            <a:xfrm>
              <a:off x="86" y="0"/>
              <a:ext cx="62" cy="86"/>
            </a:xfrm>
            <a:custGeom>
              <a:avLst/>
              <a:gdLst>
                <a:gd name="G0" fmla="+- 58 0 0"/>
                <a:gd name="G1" fmla="+- 21600 0 0"/>
                <a:gd name="G2" fmla="+- 21600 0 0"/>
                <a:gd name="T0" fmla="*/ 0 w 15318"/>
                <a:gd name="T1" fmla="*/ 1 h 21600"/>
                <a:gd name="T2" fmla="*/ 15318 w 15318"/>
                <a:gd name="T3" fmla="*/ 6314 h 21600"/>
                <a:gd name="T4" fmla="*/ 58 w 15318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18" h="21600" fill="none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</a:path>
                <a:path w="15318" h="21600" stroke="0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  <a:lnTo>
                    <a:pt x="58" y="2160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6" name="Arc 36"/>
            <p:cNvSpPr>
              <a:spLocks/>
            </p:cNvSpPr>
            <p:nvPr/>
          </p:nvSpPr>
          <p:spPr bwMode="auto">
            <a:xfrm>
              <a:off x="86" y="87"/>
              <a:ext cx="87" cy="61"/>
            </a:xfrm>
            <a:custGeom>
              <a:avLst/>
              <a:gdLst>
                <a:gd name="G0" fmla="+- 0 0 0"/>
                <a:gd name="G1" fmla="+- 29 0 0"/>
                <a:gd name="G2" fmla="+- 21600 0 0"/>
                <a:gd name="T0" fmla="*/ 21599 w 21600"/>
                <a:gd name="T1" fmla="*/ 0 h 15266"/>
                <a:gd name="T2" fmla="*/ 15309 w 21600"/>
                <a:gd name="T3" fmla="*/ 15266 h 15266"/>
                <a:gd name="T4" fmla="*/ 0 w 21600"/>
                <a:gd name="T5" fmla="*/ 29 h 15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266" fill="none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</a:path>
                <a:path w="21600" h="15266" stroke="0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  <a:lnTo>
                    <a:pt x="0" y="2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7" name="Arc 37"/>
            <p:cNvSpPr>
              <a:spLocks/>
            </p:cNvSpPr>
            <p:nvPr/>
          </p:nvSpPr>
          <p:spPr bwMode="auto">
            <a:xfrm>
              <a:off x="86" y="87"/>
              <a:ext cx="62" cy="86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15386 w 15386"/>
                <a:gd name="T1" fmla="*/ 15159 h 21599"/>
                <a:gd name="T2" fmla="*/ 28 w 15386"/>
                <a:gd name="T3" fmla="*/ 21599 h 21599"/>
                <a:gd name="T4" fmla="*/ 0 w 15386"/>
                <a:gd name="T5" fmla="*/ 0 h 21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86" h="21599" fill="none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</a:path>
                <a:path w="15386" h="21599" stroke="0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8" name="Arc 38"/>
            <p:cNvSpPr>
              <a:spLocks/>
            </p:cNvSpPr>
            <p:nvPr/>
          </p:nvSpPr>
          <p:spPr bwMode="auto">
            <a:xfrm flipH="1">
              <a:off x="0" y="87"/>
              <a:ext cx="87" cy="61"/>
            </a:xfrm>
            <a:custGeom>
              <a:avLst/>
              <a:gdLst>
                <a:gd name="G0" fmla="+- 0 0 0"/>
                <a:gd name="G1" fmla="+- 29 0 0"/>
                <a:gd name="G2" fmla="+- 21600 0 0"/>
                <a:gd name="T0" fmla="*/ 21599 w 21600"/>
                <a:gd name="T1" fmla="*/ 0 h 15266"/>
                <a:gd name="T2" fmla="*/ 15309 w 21600"/>
                <a:gd name="T3" fmla="*/ 15266 h 15266"/>
                <a:gd name="T4" fmla="*/ 0 w 21600"/>
                <a:gd name="T5" fmla="*/ 29 h 15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266" fill="none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</a:path>
                <a:path w="21600" h="15266" stroke="0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  <a:lnTo>
                    <a:pt x="0" y="2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9" name="Arc 39"/>
            <p:cNvSpPr>
              <a:spLocks/>
            </p:cNvSpPr>
            <p:nvPr/>
          </p:nvSpPr>
          <p:spPr bwMode="auto">
            <a:xfrm flipH="1">
              <a:off x="25" y="87"/>
              <a:ext cx="62" cy="86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15386 w 15386"/>
                <a:gd name="T1" fmla="*/ 15159 h 21599"/>
                <a:gd name="T2" fmla="*/ 28 w 15386"/>
                <a:gd name="T3" fmla="*/ 21599 h 21599"/>
                <a:gd name="T4" fmla="*/ 0 w 15386"/>
                <a:gd name="T5" fmla="*/ 0 h 21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86" h="21599" fill="none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</a:path>
                <a:path w="15386" h="21599" stroke="0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30" name="Oval 40"/>
            <p:cNvSpPr>
              <a:spLocks noChangeArrowheads="1"/>
            </p:cNvSpPr>
            <p:nvPr/>
          </p:nvSpPr>
          <p:spPr bwMode="auto">
            <a:xfrm>
              <a:off x="0" y="0"/>
              <a:ext cx="173" cy="173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31" name="Arc 41"/>
            <p:cNvSpPr>
              <a:spLocks/>
            </p:cNvSpPr>
            <p:nvPr/>
          </p:nvSpPr>
          <p:spPr bwMode="auto">
            <a:xfrm>
              <a:off x="86" y="25"/>
              <a:ext cx="87" cy="62"/>
            </a:xfrm>
            <a:custGeom>
              <a:avLst/>
              <a:gdLst>
                <a:gd name="G0" fmla="+- 0 0 0"/>
                <a:gd name="G1" fmla="+- 15382 0 0"/>
                <a:gd name="G2" fmla="+- 21600 0 0"/>
                <a:gd name="T0" fmla="*/ 15163 w 21600"/>
                <a:gd name="T1" fmla="*/ 0 h 15382"/>
                <a:gd name="T2" fmla="*/ 21600 w 21600"/>
                <a:gd name="T3" fmla="*/ 15382 h 15382"/>
                <a:gd name="T4" fmla="*/ 0 w 21600"/>
                <a:gd name="T5" fmla="*/ 15382 h 15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382" fill="none" extrusionOk="0">
                  <a:moveTo>
                    <a:pt x="15163" y="-1"/>
                  </a:moveTo>
                  <a:cubicBezTo>
                    <a:pt x="19281" y="4058"/>
                    <a:pt x="21600" y="9599"/>
                    <a:pt x="21600" y="15382"/>
                  </a:cubicBezTo>
                </a:path>
                <a:path w="21600" h="15382" stroke="0" extrusionOk="0">
                  <a:moveTo>
                    <a:pt x="15163" y="-1"/>
                  </a:moveTo>
                  <a:cubicBezTo>
                    <a:pt x="19281" y="4058"/>
                    <a:pt x="21600" y="9599"/>
                    <a:pt x="21600" y="15382"/>
                  </a:cubicBezTo>
                  <a:lnTo>
                    <a:pt x="0" y="1538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931038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1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Projeto: Gravação (Nice) TAM e VIVO </a:t>
            </a:r>
            <a:endParaRPr lang="pt-BR" sz="28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221121" y="2081342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Último Status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 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Roberto 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Elias acordou com a TAM a entrega para a 3° semana de Abril 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158943" y="860528"/>
            <a:ext cx="3064339" cy="997400"/>
          </a:xfrm>
          <a:prstGeom prst="roundRect">
            <a:avLst/>
          </a:prstGeom>
          <a:solidFill>
            <a:srgbClr val="FFC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Projeto: </a:t>
            </a:r>
            <a:r>
              <a:rPr lang="pt-BR" sz="1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Gravacao</a:t>
            </a:r>
            <a:r>
              <a:rPr lang="pt-B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(NICE) TAM e </a:t>
            </a:r>
            <a:r>
              <a:rPr lang="pt-B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VIVO </a:t>
            </a:r>
          </a:p>
          <a:p>
            <a:r>
              <a:rPr lang="pt-BR" sz="1200" i="1" dirty="0" smtClean="0"/>
              <a:t>Data Inicio: 14-10-2015</a:t>
            </a:r>
          </a:p>
          <a:p>
            <a:r>
              <a:rPr lang="pt-BR" sz="1200" i="1" dirty="0" smtClean="0"/>
              <a:t>Data Conclusão:</a:t>
            </a:r>
            <a:r>
              <a:rPr lang="pt-BR" sz="1200" i="1" strike="sngStrike" dirty="0" smtClean="0"/>
              <a:t> 25-03-2016 </a:t>
            </a:r>
            <a:r>
              <a:rPr lang="pt-BR" sz="1200" i="1" dirty="0" smtClean="0"/>
              <a:t>25-04-2016</a:t>
            </a:r>
          </a:p>
          <a:p>
            <a:r>
              <a:rPr lang="pt-BR" sz="1200" i="1" dirty="0" smtClean="0"/>
              <a:t>Progresso: 26%</a:t>
            </a:r>
          </a:p>
          <a:p>
            <a:r>
              <a:rPr lang="pt-BR" sz="1200" i="1" dirty="0" smtClean="0"/>
              <a:t>PM</a:t>
            </a:r>
            <a:r>
              <a:rPr lang="pt-BR" sz="1200" i="1" dirty="0"/>
              <a:t>: </a:t>
            </a:r>
            <a:r>
              <a:rPr lang="pt-BR" sz="1200" i="1" dirty="0" smtClean="0"/>
              <a:t>Thiago Augusto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3112569" y="2081341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Objetivos alcançados na última </a:t>
            </a: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semana</a:t>
            </a:r>
            <a:endParaRPr lang="pt-BR" sz="14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Aguardamos a entrega dos 12 HDs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6004018" y="2081342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Riscos/Problemas/Observações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Processo de compras demorado. 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rgbClr val="FF0000"/>
                </a:solidFill>
              </a:rPr>
              <a:t>SC 775 </a:t>
            </a:r>
            <a:r>
              <a:rPr lang="pt-BR" sz="1200" dirty="0" smtClean="0">
                <a:solidFill>
                  <a:srgbClr val="FF0000"/>
                </a:solidFill>
              </a:rPr>
              <a:t>-  </a:t>
            </a:r>
            <a:r>
              <a:rPr lang="pt-BR" sz="1200" dirty="0">
                <a:solidFill>
                  <a:srgbClr val="FF0000"/>
                </a:solidFill>
              </a:rPr>
              <a:t>A equipe de suprimentos/</a:t>
            </a:r>
            <a:r>
              <a:rPr lang="pt-BR" sz="1200" dirty="0" err="1">
                <a:solidFill>
                  <a:srgbClr val="FF0000"/>
                </a:solidFill>
              </a:rPr>
              <a:t>Aquanima</a:t>
            </a:r>
            <a:r>
              <a:rPr lang="pt-BR" sz="1200" dirty="0">
                <a:solidFill>
                  <a:srgbClr val="FF0000"/>
                </a:solidFill>
              </a:rPr>
              <a:t>  </a:t>
            </a:r>
            <a:r>
              <a:rPr lang="pt-BR" sz="1200" dirty="0" smtClean="0">
                <a:solidFill>
                  <a:srgbClr val="FF0000"/>
                </a:solidFill>
              </a:rPr>
              <a:t>nova entrega </a:t>
            </a:r>
            <a:r>
              <a:rPr lang="pt-BR" sz="1200" dirty="0">
                <a:solidFill>
                  <a:srgbClr val="FF0000"/>
                </a:solidFill>
              </a:rPr>
              <a:t>estimada para a 1° semana de Abril</a:t>
            </a:r>
            <a:r>
              <a:rPr lang="pt-BR" sz="1200" dirty="0" smtClean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18" name="Retângulo de cantos arredondados 17"/>
          <p:cNvSpPr/>
          <p:nvPr/>
        </p:nvSpPr>
        <p:spPr>
          <a:xfrm>
            <a:off x="3382225" y="874284"/>
            <a:ext cx="5338175" cy="983644"/>
          </a:xfrm>
          <a:prstGeom prst="roundRect">
            <a:avLst/>
          </a:prstGeom>
          <a:solidFill>
            <a:schemeClr val="accent1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Descritivo: </a:t>
            </a:r>
            <a:r>
              <a:rPr lang="pt-BR" sz="1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Este projeto tem como escopo, adequar infra </a:t>
            </a:r>
            <a:r>
              <a:rPr lang="pt-BR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 HW </a:t>
            </a:r>
            <a:r>
              <a:rPr lang="pt-BR" sz="1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para instalar 3K </a:t>
            </a:r>
            <a:r>
              <a:rPr lang="pt-BR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licenças de gravação </a:t>
            </a:r>
            <a:r>
              <a:rPr lang="pt-BR" sz="1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atualmente sem uso. </a:t>
            </a:r>
            <a:endParaRPr lang="pt-BR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72503" y="1511828"/>
            <a:ext cx="280440" cy="28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482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1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Projeto: Monitoração Dell – Open Manager</a:t>
            </a:r>
            <a:endParaRPr lang="pt-BR" sz="28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221121" y="2081342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Último Status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 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Em execução o cadastramento de </a:t>
            </a:r>
            <a:r>
              <a:rPr lang="pt-BR" sz="12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vlans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de servidores (Total).</a:t>
            </a: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158943" y="776935"/>
            <a:ext cx="3064339" cy="1178343"/>
          </a:xfrm>
          <a:prstGeom prst="roundRect">
            <a:avLst/>
          </a:prstGeom>
          <a:solidFill>
            <a:srgbClr val="00B05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Projeto: Monitoração </a:t>
            </a:r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(Dell-Open Manager)</a:t>
            </a:r>
            <a:endParaRPr lang="pt-BR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t-BR" sz="1200" i="1" dirty="0" smtClean="0"/>
              <a:t>Data Inicio: 14-10-2015</a:t>
            </a:r>
          </a:p>
          <a:p>
            <a:r>
              <a:rPr lang="pt-BR" sz="1200" i="1" dirty="0" smtClean="0"/>
              <a:t>Data Conclusão: 22-04-2016</a:t>
            </a:r>
          </a:p>
          <a:p>
            <a:r>
              <a:rPr lang="pt-BR" sz="1200" i="1" dirty="0" smtClean="0"/>
              <a:t>Progresso: 75%</a:t>
            </a:r>
          </a:p>
          <a:p>
            <a:r>
              <a:rPr lang="pt-BR" sz="1200" i="1" dirty="0" smtClean="0"/>
              <a:t>PM</a:t>
            </a:r>
            <a:r>
              <a:rPr lang="pt-BR" sz="1200" i="1" dirty="0"/>
              <a:t>: </a:t>
            </a:r>
            <a:r>
              <a:rPr lang="pt-BR" sz="1200" i="1" dirty="0" smtClean="0"/>
              <a:t>Júlio Cesar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3112569" y="2081341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Objetivos alcançados </a:t>
            </a: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nas últimas duas semanas</a:t>
            </a:r>
            <a:endParaRPr lang="pt-BR" sz="14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Homologação do SW.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Aceitação das regras de liberação por SI.</a:t>
            </a:r>
            <a:endParaRPr lang="pt-BR" sz="14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6004018" y="2081342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Riscos/Problemas/Observações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Servidores sem </a:t>
            </a:r>
            <a:r>
              <a:rPr lang="pt-BR" sz="12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client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OMSE.</a:t>
            </a:r>
          </a:p>
        </p:txBody>
      </p:sp>
      <p:sp>
        <p:nvSpPr>
          <p:cNvPr id="18" name="Retângulo de cantos arredondados 17"/>
          <p:cNvSpPr/>
          <p:nvPr/>
        </p:nvSpPr>
        <p:spPr>
          <a:xfrm>
            <a:off x="3382225" y="776936"/>
            <a:ext cx="5338175" cy="1080992"/>
          </a:xfrm>
          <a:prstGeom prst="roundRect">
            <a:avLst/>
          </a:prstGeom>
          <a:solidFill>
            <a:schemeClr val="accent1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Descritivo:  </a:t>
            </a:r>
            <a:r>
              <a:rPr lang="pt-BR" sz="1400" dirty="0"/>
              <a:t>M</a:t>
            </a:r>
            <a:r>
              <a:rPr lang="pt-BR" sz="1400" dirty="0" smtClean="0"/>
              <a:t>onitoração </a:t>
            </a:r>
            <a:r>
              <a:rPr lang="pt-BR" sz="1400" dirty="0"/>
              <a:t>pró ativa de </a:t>
            </a:r>
            <a:r>
              <a:rPr lang="pt-BR" sz="1400" dirty="0" smtClean="0"/>
              <a:t>hardware para eliminar </a:t>
            </a:r>
            <a:r>
              <a:rPr lang="pt-BR" sz="1400" dirty="0"/>
              <a:t>a possibilidade de perda de dados por falta de visibilidade do </a:t>
            </a:r>
            <a:r>
              <a:rPr lang="pt-BR" sz="1400" dirty="0" smtClean="0"/>
              <a:t>ambiente. </a:t>
            </a:r>
            <a:endParaRPr lang="pt-BR" sz="1400" dirty="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03609" y="1548974"/>
            <a:ext cx="280440" cy="28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34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1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Projeto: Monitoração </a:t>
            </a:r>
            <a:r>
              <a:rPr lang="pt-BR" sz="2800" b="1" dirty="0" err="1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Zabbix</a:t>
            </a:r>
            <a:endParaRPr lang="pt-BR" sz="28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221121" y="2081342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Último Status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 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itchFamily="2" charset="2"/>
              <a:buChar char="ü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Agendado o treinamento e a Consultoria:</a:t>
            </a:r>
          </a:p>
          <a:p>
            <a:pPr marL="628650" lvl="2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Treinamento: 11 a 15/04</a:t>
            </a:r>
          </a:p>
          <a:p>
            <a:pPr marL="628650" lvl="2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Consultoria: 18 a 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23/04</a:t>
            </a: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158943" y="776935"/>
            <a:ext cx="3064339" cy="1080993"/>
          </a:xfrm>
          <a:prstGeom prst="roundRect">
            <a:avLst/>
          </a:prstGeom>
          <a:solidFill>
            <a:srgbClr val="00B05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Projeto: Monitoração </a:t>
            </a:r>
            <a:r>
              <a:rPr lang="pt-BR" sz="1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Zabbix</a:t>
            </a:r>
            <a:endParaRPr lang="pt-BR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t-BR" sz="1200" i="1" dirty="0" smtClean="0"/>
              <a:t>Data Inicio: 19-10-2015</a:t>
            </a:r>
          </a:p>
          <a:p>
            <a:r>
              <a:rPr lang="pt-BR" sz="1200" i="1" dirty="0" smtClean="0"/>
              <a:t>Data Conclusão: 23-04-2016</a:t>
            </a:r>
          </a:p>
          <a:p>
            <a:r>
              <a:rPr lang="pt-BR" sz="1200" i="1" dirty="0" smtClean="0"/>
              <a:t>Progresso: 49%</a:t>
            </a:r>
          </a:p>
          <a:p>
            <a:r>
              <a:rPr lang="pt-BR" sz="1200" i="1" dirty="0" smtClean="0"/>
              <a:t>PM</a:t>
            </a:r>
            <a:r>
              <a:rPr lang="pt-BR" sz="1200" i="1" dirty="0"/>
              <a:t>: </a:t>
            </a:r>
            <a:r>
              <a:rPr lang="pt-BR" sz="1200" i="1" dirty="0" smtClean="0"/>
              <a:t>Júlio Cesar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3112569" y="2081341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Objetivos alcançados na última </a:t>
            </a: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semana</a:t>
            </a:r>
            <a:endParaRPr lang="pt-BR" sz="14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Geração de pedido </a:t>
            </a:r>
            <a:endParaRPr lang="pt-BR" sz="14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6004018" y="2081342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Riscos/Problemas/Observações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N/A.</a:t>
            </a:r>
          </a:p>
        </p:txBody>
      </p:sp>
      <p:sp>
        <p:nvSpPr>
          <p:cNvPr id="18" name="Retângulo de cantos arredondados 17"/>
          <p:cNvSpPr/>
          <p:nvPr/>
        </p:nvSpPr>
        <p:spPr>
          <a:xfrm>
            <a:off x="3382225" y="776936"/>
            <a:ext cx="5338175" cy="1080992"/>
          </a:xfrm>
          <a:prstGeom prst="roundRect">
            <a:avLst/>
          </a:prstGeom>
          <a:solidFill>
            <a:schemeClr val="accent1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Descritivo:  </a:t>
            </a:r>
            <a:r>
              <a:rPr lang="pt-BR" sz="1400" dirty="0"/>
              <a:t>M</a:t>
            </a:r>
            <a:r>
              <a:rPr lang="pt-BR" sz="1400" dirty="0" smtClean="0"/>
              <a:t>onitoração </a:t>
            </a:r>
            <a:r>
              <a:rPr lang="pt-BR" sz="1400" dirty="0"/>
              <a:t>pró </a:t>
            </a:r>
            <a:r>
              <a:rPr lang="pt-BR" sz="1400" dirty="0" smtClean="0"/>
              <a:t>ativa, que elimina </a:t>
            </a:r>
            <a:r>
              <a:rPr lang="pt-BR" sz="1400" dirty="0"/>
              <a:t>a possibilidade de perda de dados por falta de visibilidade do </a:t>
            </a:r>
            <a:r>
              <a:rPr lang="pt-BR" sz="1400" dirty="0" smtClean="0"/>
              <a:t>ambiente. </a:t>
            </a:r>
            <a:endParaRPr lang="pt-BR" sz="1400" dirty="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82094" y="1548974"/>
            <a:ext cx="280440" cy="28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753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1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Projeto: </a:t>
            </a:r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Redundância links MPLS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221121" y="2081342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Último Status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 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ncontramos 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uma </a:t>
            </a:r>
            <a:r>
              <a:rPr lang="pt-BR" sz="1200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inconsistência no roteamento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pt-BR" sz="1200" u="sng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no </a:t>
            </a:r>
            <a:r>
              <a:rPr lang="pt-BR" sz="1200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acesso do Site JP com o Site </a:t>
            </a:r>
            <a:r>
              <a:rPr lang="pt-BR" sz="1200" u="sng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Niterói. 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rata-se 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 um problema que pode afetar não somente o Site JP,  mas também outros Sites que usem links da 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OI.  Estamos analisando a situação para programar GMUD corretiva. </a:t>
            </a: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16000" lvl="1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158943" y="776935"/>
            <a:ext cx="3064339" cy="1080993"/>
          </a:xfrm>
          <a:prstGeom prst="roundRect">
            <a:avLst/>
          </a:prstGeom>
          <a:solidFill>
            <a:srgbClr val="FFC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Projeto: </a:t>
            </a:r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Redundância links MPLS</a:t>
            </a:r>
            <a:endParaRPr lang="pt-BR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t-BR" sz="1200" i="1" dirty="0" smtClean="0"/>
              <a:t>Data Inicio: 01-12-2015</a:t>
            </a:r>
          </a:p>
          <a:p>
            <a:r>
              <a:rPr lang="pt-BR" sz="1200" i="1" dirty="0" smtClean="0"/>
              <a:t>Data Conclusão: </a:t>
            </a:r>
            <a:r>
              <a:rPr lang="pt-BR" sz="1200" i="1" strike="sngStrike" dirty="0" smtClean="0"/>
              <a:t>11-04-2016</a:t>
            </a:r>
            <a:r>
              <a:rPr lang="pt-BR" sz="1200" i="1" dirty="0" smtClean="0"/>
              <a:t>  31-06-2016</a:t>
            </a:r>
          </a:p>
          <a:p>
            <a:r>
              <a:rPr lang="pt-BR" sz="1200" i="1" dirty="0" smtClean="0"/>
              <a:t>Progresso: 27%</a:t>
            </a:r>
          </a:p>
          <a:p>
            <a:r>
              <a:rPr lang="pt-BR" sz="1200" i="1" dirty="0" smtClean="0"/>
              <a:t>PM: </a:t>
            </a:r>
            <a:r>
              <a:rPr lang="pt-BR" sz="1200" i="1" dirty="0" err="1" smtClean="0"/>
              <a:t>Luis</a:t>
            </a:r>
            <a:r>
              <a:rPr lang="pt-BR" sz="1200" i="1" dirty="0" smtClean="0"/>
              <a:t> Marçal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3112569" y="2081341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Objetivos alcançados na última </a:t>
            </a: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semana</a:t>
            </a:r>
            <a:endParaRPr lang="pt-BR" sz="14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Teste de 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redundância de MPLS realizado com sucesso 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no sites  </a:t>
            </a: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Aurora.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6004018" y="2081342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Riscos/Problemas/Observações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Foi detectado 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que a banda 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contratada </a:t>
            </a:r>
            <a:r>
              <a:rPr lang="pt-BR" sz="1200" dirty="0" smtClean="0">
                <a:solidFill>
                  <a:srgbClr val="FF0000"/>
                </a:solidFill>
              </a:rPr>
              <a:t>(</a:t>
            </a:r>
            <a:r>
              <a:rPr lang="pt-BR" sz="1200" dirty="0">
                <a:solidFill>
                  <a:srgbClr val="FF0000"/>
                </a:solidFill>
              </a:rPr>
              <a:t>25-06-2015</a:t>
            </a:r>
            <a:r>
              <a:rPr lang="pt-BR" sz="1200" dirty="0" smtClean="0">
                <a:solidFill>
                  <a:srgbClr val="FF0000"/>
                </a:solidFill>
              </a:rPr>
              <a:t>) 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para o link MPLS VIVO no Site Navegante é de 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400MB. 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Atualmente os equipamentos estão configurados 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para 100MB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" name="Retângulo de cantos arredondados 17"/>
          <p:cNvSpPr/>
          <p:nvPr/>
        </p:nvSpPr>
        <p:spPr>
          <a:xfrm>
            <a:off x="3382225" y="776936"/>
            <a:ext cx="5338175" cy="1080992"/>
          </a:xfrm>
          <a:prstGeom prst="roundRect">
            <a:avLst/>
          </a:prstGeom>
          <a:solidFill>
            <a:schemeClr val="accent1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Descritivo:  </a:t>
            </a:r>
            <a:r>
              <a:rPr lang="pt-BR" sz="1400" dirty="0" smtClean="0"/>
              <a:t>Para </a:t>
            </a:r>
            <a:r>
              <a:rPr lang="pt-BR" sz="1400" dirty="0"/>
              <a:t>dar </a:t>
            </a:r>
            <a:r>
              <a:rPr lang="pt-BR" sz="1400" b="1" dirty="0"/>
              <a:t>resposta imediata </a:t>
            </a:r>
            <a:r>
              <a:rPr lang="pt-BR" sz="1400" dirty="0"/>
              <a:t>a situações recorrentes de incidentes, relacionados com a perda de </a:t>
            </a:r>
            <a:r>
              <a:rPr lang="pt-BR" sz="1400" b="1" dirty="0"/>
              <a:t>Links </a:t>
            </a:r>
            <a:r>
              <a:rPr lang="pt-BR" sz="1400" dirty="0"/>
              <a:t>que interligam os sites da Contax, </a:t>
            </a:r>
            <a:r>
              <a:rPr lang="pt-BR" sz="1400" dirty="0" smtClean="0"/>
              <a:t>este projeto visa, </a:t>
            </a:r>
            <a:r>
              <a:rPr lang="pt-BR" sz="1400" b="1" dirty="0" smtClean="0"/>
              <a:t>Garantir </a:t>
            </a:r>
            <a:r>
              <a:rPr lang="pt-BR" sz="1400" b="1" dirty="0"/>
              <a:t>e documentar a funcionalidade da </a:t>
            </a:r>
            <a:r>
              <a:rPr lang="pt-BR" sz="1400" b="1" dirty="0" smtClean="0"/>
              <a:t>contingência e </a:t>
            </a:r>
            <a:r>
              <a:rPr lang="pt-BR" sz="1400" dirty="0"/>
              <a:t>v</a:t>
            </a:r>
            <a:r>
              <a:rPr lang="pt-BR" sz="1400" dirty="0" smtClean="0"/>
              <a:t>alidar </a:t>
            </a:r>
            <a:r>
              <a:rPr lang="pt-BR" sz="1400" dirty="0"/>
              <a:t>caminhos possíveis e documentar </a:t>
            </a:r>
            <a:r>
              <a:rPr lang="pt-BR" sz="1400" dirty="0" smtClean="0"/>
              <a:t>ações. </a:t>
            </a:r>
            <a:endParaRPr lang="pt-BR" sz="1400" dirty="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82094" y="1512748"/>
            <a:ext cx="280440" cy="28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682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1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552411" y="109829"/>
            <a:ext cx="4186529" cy="644129"/>
          </a:xfrm>
          <a:prstGeom prst="rect">
            <a:avLst/>
          </a:prstGeom>
        </p:spPr>
        <p:txBody>
          <a:bodyPr vert="horz" lIns="68644" tIns="34322" rIns="68644" bIns="34322" rtlCol="0" anchor="ctr">
            <a:normAutofit fontScale="92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252" b="1" dirty="0" smtClean="0">
                <a:solidFill>
                  <a:schemeClr val="tx2"/>
                </a:solidFill>
                <a:latin typeface="Arial"/>
                <a:cs typeface="Arial"/>
              </a:rPr>
              <a:t>6. </a:t>
            </a:r>
            <a:r>
              <a:rPr lang="en-US" sz="2252" b="1" dirty="0" err="1" smtClean="0">
                <a:solidFill>
                  <a:schemeClr val="tx2"/>
                </a:solidFill>
                <a:latin typeface="Arial"/>
                <a:cs typeface="Arial"/>
              </a:rPr>
              <a:t>Visão</a:t>
            </a:r>
            <a:r>
              <a:rPr lang="en-US" sz="2252" b="1" dirty="0" smtClean="0">
                <a:solidFill>
                  <a:schemeClr val="tx2"/>
                </a:solidFill>
                <a:latin typeface="Arial"/>
                <a:cs typeface="Arial"/>
              </a:rPr>
              <a:t> </a:t>
            </a:r>
            <a:r>
              <a:rPr lang="en-US" sz="2252" b="1" dirty="0">
                <a:solidFill>
                  <a:schemeClr val="tx2"/>
                </a:solidFill>
                <a:latin typeface="Arial"/>
                <a:cs typeface="Arial"/>
              </a:rPr>
              <a:t>Macro - </a:t>
            </a:r>
            <a:r>
              <a:rPr lang="en-US" sz="2252" b="1" dirty="0" err="1">
                <a:solidFill>
                  <a:schemeClr val="tx2"/>
                </a:solidFill>
                <a:latin typeface="Arial"/>
                <a:cs typeface="Arial"/>
              </a:rPr>
              <a:t>Cenário</a:t>
            </a:r>
            <a:r>
              <a:rPr lang="en-US" sz="2252" b="1" dirty="0">
                <a:solidFill>
                  <a:schemeClr val="tx2"/>
                </a:solidFill>
                <a:latin typeface="Arial"/>
                <a:cs typeface="Arial"/>
              </a:rPr>
              <a:t> </a:t>
            </a:r>
            <a:r>
              <a:rPr lang="en-US" sz="2252" b="1" dirty="0" err="1">
                <a:solidFill>
                  <a:schemeClr val="tx2"/>
                </a:solidFill>
                <a:latin typeface="Arial"/>
                <a:cs typeface="Arial"/>
              </a:rPr>
              <a:t>Atual</a:t>
            </a:r>
            <a:endParaRPr lang="en-US" sz="2252" b="1" dirty="0">
              <a:solidFill>
                <a:schemeClr val="tx2"/>
              </a:solidFill>
              <a:latin typeface="Arial"/>
              <a:cs typeface="Arial"/>
            </a:endParaRPr>
          </a:p>
        </p:txBody>
      </p:sp>
      <p:graphicFrame>
        <p:nvGraphicFramePr>
          <p:cNvPr id="3" name="Tabela 2"/>
          <p:cNvGraphicFramePr>
            <a:graphicFrameLocks noGrp="1"/>
          </p:cNvGraphicFramePr>
          <p:nvPr>
            <p:extLst/>
          </p:nvPr>
        </p:nvGraphicFramePr>
        <p:xfrm>
          <a:off x="1351776" y="3883849"/>
          <a:ext cx="6177915" cy="80849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80543"/>
                <a:gridCol w="2161758"/>
                <a:gridCol w="2035614"/>
              </a:tblGrid>
              <a:tr h="80849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4024</a:t>
                      </a:r>
                      <a:br>
                        <a:rPr lang="pt-BR" sz="14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pt-BR" sz="14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servidores mapeados</a:t>
                      </a:r>
                    </a:p>
                  </a:txBody>
                  <a:tcPr marL="29631" marR="29631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2327</a:t>
                      </a:r>
                    </a:p>
                    <a:p>
                      <a:pPr algn="ctr"/>
                      <a:r>
                        <a:rPr lang="pt-BR" sz="14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servidores incluídos</a:t>
                      </a:r>
                      <a:endParaRPr lang="pt-BR" sz="14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9631" marR="29631" marT="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1697</a:t>
                      </a:r>
                      <a:br>
                        <a:rPr lang="pt-BR" sz="14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pt-BR" sz="14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servidores pendentes de backup</a:t>
                      </a:r>
                      <a:endParaRPr lang="pt-BR" sz="14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9631" marR="29631" marT="0" marB="0" anchor="ctr"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pic>
        <p:nvPicPr>
          <p:cNvPr id="1362946" name="Imagem 4" descr="Descrição: Descrição: Cenário atual"/>
          <p:cNvPicPr>
            <a:picLocks noChangeAspect="1" noChangeArrowheads="1"/>
          </p:cNvPicPr>
          <p:nvPr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7156" y="643127"/>
            <a:ext cx="6377698" cy="323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62945" name="Gráfico 1" descr="cid:image004.png@01D18397.3F7B98A0"/>
          <p:cNvPicPr>
            <a:picLocks noChangeAspect="1" noChangeArrowheads="1"/>
          </p:cNvPicPr>
          <p:nvPr/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8874" y="997249"/>
            <a:ext cx="6220817" cy="2695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1483043" y="2554708"/>
            <a:ext cx="138693" cy="2771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644" tIns="34322" rIns="68644" bIns="34322" numCol="1" anchor="ctr" anchorCtr="0" compatLnSpc="1">
            <a:prstTxWarp prst="textNoShape">
              <a:avLst/>
            </a:prstTxWarp>
            <a:spAutoFit/>
          </a:bodyPr>
          <a:lstStyle/>
          <a:p>
            <a:pPr defTabSz="686440" fontAlgn="base">
              <a:spcBef>
                <a:spcPct val="0"/>
              </a:spcBef>
              <a:spcAft>
                <a:spcPct val="0"/>
              </a:spcAft>
            </a:pPr>
            <a:endParaRPr lang="pt-BR" sz="1351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483043" y="2988375"/>
            <a:ext cx="167483" cy="19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644" tIns="34322" rIns="68644" bIns="34322" numCol="1" anchor="ctr" anchorCtr="0" compatLnSpc="1">
            <a:prstTxWarp prst="textNoShape">
              <a:avLst/>
            </a:prstTxWarp>
            <a:spAutoFit/>
          </a:bodyPr>
          <a:lstStyle/>
          <a:p>
            <a:pPr defTabSz="686440" fontAlgn="base">
              <a:spcBef>
                <a:spcPct val="0"/>
              </a:spcBef>
              <a:spcAft>
                <a:spcPct val="0"/>
              </a:spcAft>
            </a:pPr>
            <a:r>
              <a:rPr lang="pt-BR" sz="826">
                <a:solidFill>
                  <a:srgbClr val="44546A"/>
                </a:solidFill>
                <a:latin typeface="Arial" pitchFamily="34" charset="0"/>
                <a:ea typeface="Calibri" pitchFamily="34" charset="0"/>
                <a:cs typeface="Times New Roman" pitchFamily="18" charset="0"/>
              </a:rPr>
              <a:t> </a:t>
            </a:r>
            <a:endParaRPr lang="pt-BR" sz="1351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9544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455586" y="58937"/>
            <a:ext cx="6393701" cy="644129"/>
          </a:xfrm>
          <a:prstGeom prst="rect">
            <a:avLst/>
          </a:prstGeom>
        </p:spPr>
        <p:txBody>
          <a:bodyPr vert="horz" lIns="68644" tIns="34322" rIns="68644" bIns="34322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252" b="1" dirty="0" smtClean="0">
                <a:solidFill>
                  <a:schemeClr val="tx2"/>
                </a:solidFill>
                <a:latin typeface="Arial"/>
                <a:cs typeface="Arial"/>
              </a:rPr>
              <a:t>6. Report </a:t>
            </a:r>
            <a:r>
              <a:rPr lang="en-US" sz="2252" b="1" dirty="0">
                <a:solidFill>
                  <a:schemeClr val="tx2"/>
                </a:solidFill>
                <a:latin typeface="Arial"/>
                <a:cs typeface="Arial"/>
              </a:rPr>
              <a:t>- Site a Site</a:t>
            </a:r>
          </a:p>
        </p:txBody>
      </p:sp>
      <p:pic>
        <p:nvPicPr>
          <p:cNvPr id="1364993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5586" y="579250"/>
            <a:ext cx="6229347" cy="41950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85837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/>
          <p:cNvSpPr/>
          <p:nvPr/>
        </p:nvSpPr>
        <p:spPr>
          <a:xfrm>
            <a:off x="1429868" y="427353"/>
            <a:ext cx="3548979" cy="45050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68644" tIns="34322" rIns="68644" bIns="34322">
            <a:spAutoFit/>
          </a:bodyPr>
          <a:lstStyle/>
          <a:p>
            <a:r>
              <a:rPr lang="pt-BR" sz="2477" b="1" dirty="0" smtClean="0">
                <a:ln w="12700">
                  <a:noFill/>
                  <a:prstDash val="solid"/>
                </a:ln>
                <a:solidFill>
                  <a:schemeClr val="tx1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6. Evolução</a:t>
            </a:r>
            <a:endParaRPr lang="pt-BR" sz="2402" b="1" dirty="0">
              <a:ln w="12700">
                <a:noFill/>
                <a:prstDash val="solid"/>
              </a:ln>
              <a:solidFill>
                <a:schemeClr val="tx1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graphicFrame>
        <p:nvGraphicFramePr>
          <p:cNvPr id="17" name="Gráfico 16"/>
          <p:cNvGraphicFramePr>
            <a:graphicFrameLocks/>
          </p:cNvGraphicFramePr>
          <p:nvPr>
            <p:extLst/>
          </p:nvPr>
        </p:nvGraphicFramePr>
        <p:xfrm>
          <a:off x="1429867" y="877892"/>
          <a:ext cx="6313463" cy="38173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0178263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1552411" y="109829"/>
            <a:ext cx="5449569" cy="644129"/>
          </a:xfrm>
          <a:prstGeom prst="rect">
            <a:avLst/>
          </a:prstGeom>
        </p:spPr>
        <p:txBody>
          <a:bodyPr vert="horz" lIns="68644" tIns="34322" rIns="68644" bIns="34322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252" b="1" dirty="0" smtClean="0">
                <a:solidFill>
                  <a:schemeClr val="tx2"/>
                </a:solidFill>
                <a:latin typeface="Arial"/>
                <a:cs typeface="Arial"/>
              </a:rPr>
              <a:t>6. </a:t>
            </a:r>
            <a:r>
              <a:rPr lang="en-US" sz="2252" b="1" dirty="0" err="1" smtClean="0">
                <a:solidFill>
                  <a:schemeClr val="tx2"/>
                </a:solidFill>
                <a:latin typeface="Arial"/>
                <a:cs typeface="Arial"/>
              </a:rPr>
              <a:t>Detalhamento</a:t>
            </a:r>
            <a:r>
              <a:rPr lang="en-US" sz="2252" b="1" dirty="0" smtClean="0">
                <a:solidFill>
                  <a:schemeClr val="tx2"/>
                </a:solidFill>
                <a:latin typeface="Arial"/>
                <a:cs typeface="Arial"/>
              </a:rPr>
              <a:t> </a:t>
            </a:r>
            <a:r>
              <a:rPr lang="en-US" sz="2252" b="1" dirty="0">
                <a:solidFill>
                  <a:schemeClr val="tx2"/>
                </a:solidFill>
                <a:latin typeface="Arial"/>
                <a:cs typeface="Arial"/>
              </a:rPr>
              <a:t>- </a:t>
            </a:r>
            <a:r>
              <a:rPr lang="en-US" sz="2252" b="1" dirty="0" err="1">
                <a:solidFill>
                  <a:schemeClr val="tx2"/>
                </a:solidFill>
                <a:latin typeface="Arial"/>
                <a:cs typeface="Arial"/>
              </a:rPr>
              <a:t>Ofensores</a:t>
            </a:r>
            <a:endParaRPr lang="en-US" sz="2252" b="1" dirty="0">
              <a:solidFill>
                <a:schemeClr val="tx2"/>
              </a:solidFill>
              <a:latin typeface="Arial"/>
              <a:cs typeface="Arial"/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1303750" y="1045015"/>
            <a:ext cx="6577482" cy="36963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976" b="1" dirty="0"/>
              <a:t>RJ</a:t>
            </a:r>
          </a:p>
          <a:p>
            <a:pPr marL="471762" lvl="1" indent="-128708">
              <a:buFont typeface="Arial" pitchFamily="34" charset="0"/>
              <a:buChar char="•"/>
            </a:pPr>
            <a:r>
              <a:rPr lang="pt-BR" sz="976" dirty="0"/>
              <a:t>SC 246 aberta para transporte do robô de Alegria para Engenho de dentro  - Aguardando aprovação do </a:t>
            </a:r>
            <a:r>
              <a:rPr lang="pt-BR" sz="976" dirty="0" err="1"/>
              <a:t>Bourboun</a:t>
            </a:r>
            <a:endParaRPr lang="pt-BR" sz="976" dirty="0"/>
          </a:p>
          <a:p>
            <a:pPr marL="471762" lvl="1" indent="-128708">
              <a:buFont typeface="Arial" pitchFamily="34" charset="0"/>
              <a:buChar char="•"/>
            </a:pPr>
            <a:r>
              <a:rPr lang="pt-BR" sz="976" dirty="0"/>
              <a:t>SC 245 aberta para aquisição de fitas para backup da regional</a:t>
            </a:r>
          </a:p>
          <a:p>
            <a:pPr marL="471762" lvl="1" indent="-128708">
              <a:buFont typeface="Arial" pitchFamily="34" charset="0"/>
              <a:buChar char="•"/>
            </a:pPr>
            <a:r>
              <a:rPr lang="pt-BR" sz="976" dirty="0"/>
              <a:t>Reparo de três robôs da Mackenzie parados</a:t>
            </a:r>
          </a:p>
          <a:p>
            <a:pPr marL="814816" lvl="2" indent="-128708">
              <a:buFont typeface="Arial" pitchFamily="34" charset="0"/>
              <a:buChar char="•"/>
            </a:pPr>
            <a:r>
              <a:rPr lang="pt-BR" sz="976" dirty="0"/>
              <a:t>2 x TL 2000  -  Necessário um servidor para plugar os robôs afim de realizar os testes solicitados,  então gerar o orçamento  junto a DELL</a:t>
            </a:r>
          </a:p>
          <a:p>
            <a:pPr marL="814816" lvl="2" indent="-128708">
              <a:buFont typeface="Arial" pitchFamily="34" charset="0"/>
              <a:buChar char="•"/>
            </a:pPr>
            <a:r>
              <a:rPr lang="pt-BR" sz="976" dirty="0"/>
              <a:t>TL 4000 – Magazine travada pelo braço, realizando os testes junto a DELL antes da visita técnica</a:t>
            </a:r>
          </a:p>
          <a:p>
            <a:pPr marL="471762" lvl="1" indent="-128708">
              <a:buFont typeface="Arial" pitchFamily="34" charset="0"/>
              <a:buChar char="•"/>
            </a:pPr>
            <a:r>
              <a:rPr lang="pt-BR" sz="976" dirty="0"/>
              <a:t>Troca do robô do site de São Cristóvão pelo robô do site Mauá </a:t>
            </a:r>
          </a:p>
          <a:p>
            <a:pPr lvl="0"/>
            <a:r>
              <a:rPr lang="pt-BR" sz="976" b="1" dirty="0"/>
              <a:t>SP</a:t>
            </a:r>
          </a:p>
          <a:p>
            <a:pPr marL="471762" lvl="1" indent="-128708">
              <a:buFont typeface="Arial" pitchFamily="34" charset="0"/>
              <a:buChar char="•"/>
            </a:pPr>
            <a:r>
              <a:rPr lang="pt-BR" sz="976" dirty="0"/>
              <a:t>Falta de fita na regional SP</a:t>
            </a:r>
          </a:p>
          <a:p>
            <a:pPr marL="471762" lvl="1" indent="-128708">
              <a:buFont typeface="Arial" pitchFamily="34" charset="0"/>
              <a:buChar char="•"/>
            </a:pPr>
            <a:r>
              <a:rPr lang="pt-BR" sz="976" dirty="0"/>
              <a:t>Reparo de robô no site Alegria, enviado o orçamento ao site para aprovação do custo</a:t>
            </a:r>
          </a:p>
          <a:p>
            <a:pPr marL="471762" lvl="1" indent="-128708">
              <a:buFont typeface="Arial" pitchFamily="34" charset="0"/>
              <a:buChar char="•"/>
            </a:pPr>
            <a:r>
              <a:rPr lang="pt-BR" sz="976" dirty="0"/>
              <a:t>Robô no site Lapa sem magazine, porém instalado e sem uso.</a:t>
            </a:r>
          </a:p>
          <a:p>
            <a:r>
              <a:rPr lang="pt-BR" sz="976" dirty="0"/>
              <a:t> </a:t>
            </a:r>
          </a:p>
          <a:p>
            <a:pPr lvl="0"/>
            <a:r>
              <a:rPr lang="pt-BR" sz="976" b="1" dirty="0"/>
              <a:t>Engenharia</a:t>
            </a:r>
          </a:p>
          <a:p>
            <a:pPr marL="471762" lvl="1" indent="-128708">
              <a:buFont typeface="Arial" pitchFamily="34" charset="0"/>
              <a:buChar char="•"/>
            </a:pPr>
            <a:r>
              <a:rPr lang="pt-BR" sz="976" dirty="0"/>
              <a:t>Sem prioridade nas criações de rede de backup nos Data Centers</a:t>
            </a:r>
          </a:p>
          <a:p>
            <a:pPr marL="471762" lvl="1" indent="-128708">
              <a:buFont typeface="Arial" pitchFamily="34" charset="0"/>
              <a:buChar char="•"/>
            </a:pPr>
            <a:r>
              <a:rPr lang="pt-BR" sz="976" dirty="0"/>
              <a:t>Sem licença do Data </a:t>
            </a:r>
            <a:r>
              <a:rPr lang="pt-BR" sz="976" dirty="0" err="1"/>
              <a:t>Protector</a:t>
            </a:r>
            <a:r>
              <a:rPr lang="pt-BR" sz="976" dirty="0"/>
              <a:t> para inclusões de novos backups.</a:t>
            </a:r>
          </a:p>
          <a:p>
            <a:pPr marL="814816" lvl="2" indent="-128708">
              <a:buFont typeface="Arial" pitchFamily="34" charset="0"/>
              <a:buChar char="•"/>
            </a:pPr>
            <a:r>
              <a:rPr lang="pt-BR" sz="976" dirty="0"/>
              <a:t>Solicitado o orçamento para aumento de licenças para zerar GAP negativo </a:t>
            </a:r>
          </a:p>
          <a:p>
            <a:pPr lvl="0"/>
            <a:r>
              <a:rPr lang="pt-BR" sz="976" b="1" dirty="0"/>
              <a:t>CSE</a:t>
            </a:r>
          </a:p>
          <a:p>
            <a:pPr marL="471762" lvl="1" indent="-128708">
              <a:buFont typeface="Arial" pitchFamily="34" charset="0"/>
              <a:buChar char="•"/>
            </a:pPr>
            <a:r>
              <a:rPr lang="pt-BR" sz="976" dirty="0"/>
              <a:t>Sem acesso a instalação dos agentes, retardando o serviço de inclusão de servidores até o atendimento do chamado.</a:t>
            </a:r>
          </a:p>
          <a:p>
            <a:pPr lvl="0"/>
            <a:r>
              <a:rPr lang="pt-BR" sz="976" b="1" dirty="0"/>
              <a:t>CONTAX </a:t>
            </a:r>
          </a:p>
          <a:p>
            <a:pPr marL="471762" lvl="1" indent="-128708">
              <a:buFont typeface="Arial" pitchFamily="34" charset="0"/>
              <a:buChar char="•"/>
            </a:pPr>
            <a:r>
              <a:rPr lang="pt-BR" sz="976" dirty="0"/>
              <a:t>Equipamentos sem garantia</a:t>
            </a:r>
          </a:p>
          <a:p>
            <a:pPr marL="471762" lvl="1" indent="-128708">
              <a:buFont typeface="Arial" pitchFamily="34" charset="0"/>
              <a:buChar char="•"/>
            </a:pPr>
            <a:r>
              <a:rPr lang="pt-BR" sz="976" dirty="0"/>
              <a:t>Sem local adequado para a armazenar as fitas</a:t>
            </a:r>
          </a:p>
          <a:p>
            <a:pPr marL="471762" lvl="1" indent="-128708">
              <a:buFont typeface="Arial" pitchFamily="34" charset="0"/>
              <a:buChar char="•"/>
            </a:pPr>
            <a:r>
              <a:rPr lang="pt-BR" sz="976" dirty="0"/>
              <a:t>Apenas Mackenzie e São Cristóvão possuem rede de backup apartada sem onerar o site;</a:t>
            </a:r>
          </a:p>
          <a:p>
            <a:pPr marL="471762" lvl="1" indent="-128708">
              <a:buFont typeface="Arial" pitchFamily="34" charset="0"/>
              <a:buChar char="•"/>
            </a:pPr>
            <a:r>
              <a:rPr lang="pt-BR" sz="976" dirty="0"/>
              <a:t>Encontrado 04 robôs no Lapa sem uso, solicitado envio para o Alegria afim de testá-los e  disponibilizar para os sites.</a:t>
            </a:r>
          </a:p>
        </p:txBody>
      </p:sp>
      <p:pic>
        <p:nvPicPr>
          <p:cNvPr id="1363970" name="Imagem 2" descr="Descrição: Descrição: Ofensor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112" y="720448"/>
            <a:ext cx="6978756" cy="2216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77589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511225" y="100125"/>
            <a:ext cx="2001409" cy="644129"/>
          </a:xfrm>
          <a:prstGeom prst="rect">
            <a:avLst/>
          </a:prstGeom>
        </p:spPr>
        <p:txBody>
          <a:bodyPr vert="horz" lIns="68644" tIns="34322" rIns="68644" bIns="34322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252" b="1" dirty="0" smtClean="0">
                <a:solidFill>
                  <a:schemeClr val="tx2"/>
                </a:solidFill>
                <a:latin typeface="Arial"/>
                <a:cs typeface="Arial"/>
              </a:rPr>
              <a:t>6. Time </a:t>
            </a:r>
            <a:r>
              <a:rPr lang="en-US" sz="2252" b="1" dirty="0">
                <a:solidFill>
                  <a:schemeClr val="tx2"/>
                </a:solidFill>
                <a:latin typeface="Arial"/>
                <a:cs typeface="Arial"/>
              </a:rPr>
              <a:t>Line</a:t>
            </a:r>
          </a:p>
        </p:txBody>
      </p:sp>
      <p:pic>
        <p:nvPicPr>
          <p:cNvPr id="13660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7294" y="744254"/>
            <a:ext cx="6572466" cy="3039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43427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Projeto: OCS </a:t>
            </a:r>
            <a:r>
              <a:rPr lang="pt-BR" sz="2800" b="1" dirty="0" err="1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Inventory</a:t>
            </a:r>
            <a:endParaRPr lang="pt-BR" sz="28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221121" y="2081342"/>
            <a:ext cx="2716382" cy="2862798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Último Status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 </a:t>
            </a:r>
          </a:p>
          <a:p>
            <a:pPr marL="216000" lvl="1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strike="sngStrike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Ativos </a:t>
            </a:r>
            <a:r>
              <a:rPr lang="pt-BR" sz="1200" strike="sngStrike" dirty="0">
                <a:solidFill>
                  <a:schemeClr val="tx1">
                    <a:lumMod val="95000"/>
                    <a:lumOff val="5000"/>
                  </a:schemeClr>
                </a:solidFill>
              </a:rPr>
              <a:t>cadastrados no OCS: </a:t>
            </a:r>
            <a:r>
              <a:rPr lang="pt-BR" sz="1200" strike="sngStrike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4.001/6.476 (08/03/2016).</a:t>
            </a:r>
          </a:p>
          <a:p>
            <a:pPr marL="216000" lvl="1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Ativos cadastrados no OCS: 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4.344/6.476 (21/03/2016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).</a:t>
            </a:r>
          </a:p>
          <a:p>
            <a:pPr marL="216000" lvl="1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Evolução de </a:t>
            </a:r>
            <a:r>
              <a:rPr lang="pt-BR" sz="1200" strike="sngStrike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(220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) 344 media de 34 por dia.</a:t>
            </a:r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158943" y="776935"/>
            <a:ext cx="3064339" cy="1080993"/>
          </a:xfrm>
          <a:prstGeom prst="roundRect">
            <a:avLst/>
          </a:prstGeom>
          <a:solidFill>
            <a:srgbClr val="FFFF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Projeto: OCS </a:t>
            </a:r>
            <a:r>
              <a:rPr lang="pt-BR" sz="1400" b="1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Inventory</a:t>
            </a:r>
            <a:endParaRPr lang="pt-BR" sz="1400" b="1" dirty="0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t-BR" sz="1200" i="1" dirty="0" smtClean="0">
                <a:solidFill>
                  <a:schemeClr val="tx1"/>
                </a:solidFill>
              </a:rPr>
              <a:t>Data Inicio: </a:t>
            </a:r>
            <a:r>
              <a:rPr lang="pt-BR" sz="1200" i="1" dirty="0">
                <a:solidFill>
                  <a:schemeClr val="tx1"/>
                </a:solidFill>
              </a:rPr>
              <a:t>0</a:t>
            </a:r>
            <a:r>
              <a:rPr lang="pt-BR" sz="1200" i="1" dirty="0" smtClean="0">
                <a:solidFill>
                  <a:schemeClr val="tx1"/>
                </a:solidFill>
              </a:rPr>
              <a:t>4-12-2015</a:t>
            </a:r>
          </a:p>
          <a:p>
            <a:r>
              <a:rPr lang="pt-BR" sz="1200" i="1" dirty="0" smtClean="0">
                <a:solidFill>
                  <a:schemeClr val="tx1"/>
                </a:solidFill>
              </a:rPr>
              <a:t>Data Conclusão: 14-04-2016</a:t>
            </a:r>
            <a:r>
              <a:rPr lang="pt-BR" sz="1200" i="1" strike="sngStrike" dirty="0" smtClean="0">
                <a:solidFill>
                  <a:schemeClr val="tx1"/>
                </a:solidFill>
              </a:rPr>
              <a:t> </a:t>
            </a:r>
          </a:p>
          <a:p>
            <a:r>
              <a:rPr lang="pt-BR" sz="1200" i="1" dirty="0" smtClean="0">
                <a:solidFill>
                  <a:schemeClr val="tx1"/>
                </a:solidFill>
              </a:rPr>
              <a:t>Progresso: 73%</a:t>
            </a:r>
          </a:p>
          <a:p>
            <a:r>
              <a:rPr lang="pt-BR" sz="1200" i="1" dirty="0" smtClean="0">
                <a:solidFill>
                  <a:schemeClr val="tx1"/>
                </a:solidFill>
              </a:rPr>
              <a:t>PM: Thiago Augusto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3112569" y="2081341"/>
            <a:ext cx="2716382" cy="286279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Objetivos alcançados na última </a:t>
            </a: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semana</a:t>
            </a:r>
            <a:endParaRPr lang="pt-BR" sz="14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Customização para alocar informações dos contratos de manutenção  dos servidores.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Customização para alocar a certidão de nascimento dos equipamentos.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6004018" y="2081342"/>
            <a:ext cx="2799740" cy="2862798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Riscos/Problemas/Observações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Velocidade de evolução da instalação é afetada de acordo com instabilidade do ambiente.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Conflitos entre prioridades do gestor de projetos (pré-vendas </a:t>
            </a:r>
            <a:r>
              <a:rPr lang="pt-BR" sz="12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Contact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Center/IT e Estabilidade operacional).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Tivemos incidentes de alto impacto que nos afetou a produtividade.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Tivemos a ausência por 03 dias do recurso que está dedicado ao projeto.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" name="Retângulo de cantos arredondados 17"/>
          <p:cNvSpPr/>
          <p:nvPr/>
        </p:nvSpPr>
        <p:spPr>
          <a:xfrm>
            <a:off x="3382225" y="776936"/>
            <a:ext cx="5338175" cy="1080992"/>
          </a:xfrm>
          <a:prstGeom prst="roundRect">
            <a:avLst/>
          </a:prstGeom>
          <a:solidFill>
            <a:schemeClr val="accent1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Descritivo:  </a:t>
            </a:r>
            <a:r>
              <a:rPr lang="pt-BR" sz="1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</a:t>
            </a:r>
            <a:r>
              <a:rPr lang="pt-BR" sz="1400" dirty="0" smtClean="0"/>
              <a:t> OCS </a:t>
            </a:r>
            <a:r>
              <a:rPr lang="pt-BR" sz="1400" dirty="0"/>
              <a:t>é uma ferramenta de </a:t>
            </a:r>
            <a:r>
              <a:rPr lang="pt-BR" sz="1400" dirty="0" smtClean="0"/>
              <a:t>Inventário de servidores para auxiliar a </a:t>
            </a:r>
            <a:r>
              <a:rPr lang="pt-BR" sz="1400" dirty="0"/>
              <a:t>equipe de Controle de Ativos</a:t>
            </a:r>
            <a:r>
              <a:rPr lang="pt-BR" sz="1400" dirty="0" smtClean="0"/>
              <a:t>. </a:t>
            </a:r>
            <a:endParaRPr lang="pt-BR" sz="1400" dirty="0"/>
          </a:p>
        </p:txBody>
      </p:sp>
      <p:grpSp>
        <p:nvGrpSpPr>
          <p:cNvPr id="14" name="Group 27"/>
          <p:cNvGrpSpPr>
            <a:grpSpLocks/>
          </p:cNvGrpSpPr>
          <p:nvPr/>
        </p:nvGrpSpPr>
        <p:grpSpPr bwMode="auto">
          <a:xfrm>
            <a:off x="2904282" y="1528044"/>
            <a:ext cx="274637" cy="274638"/>
            <a:chOff x="0" y="0"/>
            <a:chExt cx="173" cy="173"/>
          </a:xfrm>
        </p:grpSpPr>
        <p:sp>
          <p:nvSpPr>
            <p:cNvPr id="19" name="Oval 28"/>
            <p:cNvSpPr>
              <a:spLocks noChangeArrowheads="1"/>
            </p:cNvSpPr>
            <p:nvPr/>
          </p:nvSpPr>
          <p:spPr bwMode="auto">
            <a:xfrm>
              <a:off x="0" y="0"/>
              <a:ext cx="173" cy="173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0" name="Arc 29"/>
            <p:cNvSpPr>
              <a:spLocks/>
            </p:cNvSpPr>
            <p:nvPr/>
          </p:nvSpPr>
          <p:spPr bwMode="auto">
            <a:xfrm>
              <a:off x="86" y="0"/>
              <a:ext cx="62" cy="86"/>
            </a:xfrm>
            <a:custGeom>
              <a:avLst/>
              <a:gdLst>
                <a:gd name="G0" fmla="+- 58 0 0"/>
                <a:gd name="G1" fmla="+- 21600 0 0"/>
                <a:gd name="G2" fmla="+- 21600 0 0"/>
                <a:gd name="T0" fmla="*/ 0 w 15318"/>
                <a:gd name="T1" fmla="*/ 1 h 21600"/>
                <a:gd name="T2" fmla="*/ 15318 w 15318"/>
                <a:gd name="T3" fmla="*/ 6314 h 21600"/>
                <a:gd name="T4" fmla="*/ 58 w 15318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18" h="21600" fill="none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</a:path>
                <a:path w="15318" h="21600" stroke="0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  <a:lnTo>
                    <a:pt x="58" y="2160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1" name="Arc 30"/>
            <p:cNvSpPr>
              <a:spLocks/>
            </p:cNvSpPr>
            <p:nvPr/>
          </p:nvSpPr>
          <p:spPr bwMode="auto">
            <a:xfrm>
              <a:off x="86" y="25"/>
              <a:ext cx="87" cy="62"/>
            </a:xfrm>
            <a:custGeom>
              <a:avLst/>
              <a:gdLst>
                <a:gd name="G0" fmla="+- 0 0 0"/>
                <a:gd name="G1" fmla="+- 15382 0 0"/>
                <a:gd name="G2" fmla="+- 21600 0 0"/>
                <a:gd name="T0" fmla="*/ 15163 w 21600"/>
                <a:gd name="T1" fmla="*/ 0 h 15382"/>
                <a:gd name="T2" fmla="*/ 21600 w 21600"/>
                <a:gd name="T3" fmla="*/ 15382 h 15382"/>
                <a:gd name="T4" fmla="*/ 0 w 21600"/>
                <a:gd name="T5" fmla="*/ 15382 h 15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382" fill="none" extrusionOk="0">
                  <a:moveTo>
                    <a:pt x="15163" y="-1"/>
                  </a:moveTo>
                  <a:cubicBezTo>
                    <a:pt x="19281" y="4058"/>
                    <a:pt x="21600" y="9599"/>
                    <a:pt x="21600" y="15382"/>
                  </a:cubicBezTo>
                </a:path>
                <a:path w="21600" h="15382" stroke="0" extrusionOk="0">
                  <a:moveTo>
                    <a:pt x="15163" y="-1"/>
                  </a:moveTo>
                  <a:cubicBezTo>
                    <a:pt x="19281" y="4058"/>
                    <a:pt x="21600" y="9599"/>
                    <a:pt x="21600" y="15382"/>
                  </a:cubicBezTo>
                  <a:lnTo>
                    <a:pt x="0" y="1538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2" name="Arc 31"/>
            <p:cNvSpPr>
              <a:spLocks/>
            </p:cNvSpPr>
            <p:nvPr/>
          </p:nvSpPr>
          <p:spPr bwMode="auto">
            <a:xfrm>
              <a:off x="86" y="87"/>
              <a:ext cx="87" cy="61"/>
            </a:xfrm>
            <a:custGeom>
              <a:avLst/>
              <a:gdLst>
                <a:gd name="G0" fmla="+- 0 0 0"/>
                <a:gd name="G1" fmla="+- 29 0 0"/>
                <a:gd name="G2" fmla="+- 21600 0 0"/>
                <a:gd name="T0" fmla="*/ 21599 w 21600"/>
                <a:gd name="T1" fmla="*/ 0 h 15266"/>
                <a:gd name="T2" fmla="*/ 15309 w 21600"/>
                <a:gd name="T3" fmla="*/ 15266 h 15266"/>
                <a:gd name="T4" fmla="*/ 0 w 21600"/>
                <a:gd name="T5" fmla="*/ 29 h 15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266" fill="none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</a:path>
                <a:path w="21600" h="15266" stroke="0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  <a:lnTo>
                    <a:pt x="0" y="2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3" name="Arc 32"/>
            <p:cNvSpPr>
              <a:spLocks/>
            </p:cNvSpPr>
            <p:nvPr/>
          </p:nvSpPr>
          <p:spPr bwMode="auto">
            <a:xfrm>
              <a:off x="86" y="87"/>
              <a:ext cx="62" cy="86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15386 w 15386"/>
                <a:gd name="T1" fmla="*/ 15159 h 21599"/>
                <a:gd name="T2" fmla="*/ 28 w 15386"/>
                <a:gd name="T3" fmla="*/ 21599 h 21599"/>
                <a:gd name="T4" fmla="*/ 0 w 15386"/>
                <a:gd name="T5" fmla="*/ 0 h 21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86" h="21599" fill="none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</a:path>
                <a:path w="15386" h="21599" stroke="0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4" name="Arc 33"/>
            <p:cNvSpPr>
              <a:spLocks/>
            </p:cNvSpPr>
            <p:nvPr/>
          </p:nvSpPr>
          <p:spPr bwMode="auto">
            <a:xfrm flipH="1">
              <a:off x="25" y="87"/>
              <a:ext cx="62" cy="86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15386 w 15386"/>
                <a:gd name="T1" fmla="*/ 15159 h 21599"/>
                <a:gd name="T2" fmla="*/ 28 w 15386"/>
                <a:gd name="T3" fmla="*/ 21599 h 21599"/>
                <a:gd name="T4" fmla="*/ 0 w 15386"/>
                <a:gd name="T5" fmla="*/ 0 h 21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86" h="21599" fill="none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</a:path>
                <a:path w="15386" h="21599" stroke="0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</p:grpSp>
      <p:pic>
        <p:nvPicPr>
          <p:cNvPr id="25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pic>
        <p:nvPicPr>
          <p:cNvPr id="27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205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1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Projeto: </a:t>
            </a:r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Ura Internalização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221121" y="2081342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Último Status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 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 equipe do José Carlos será responsável pelo suporte deste ambiente.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pt-BR" sz="1200" dirty="0">
                <a:solidFill>
                  <a:srgbClr val="00B050"/>
                </a:solidFill>
              </a:rPr>
              <a:t>SC 784 e 785 - Processo Concluído. </a:t>
            </a: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158943" y="776935"/>
            <a:ext cx="3064339" cy="1080993"/>
          </a:xfrm>
          <a:prstGeom prst="roundRect">
            <a:avLst/>
          </a:prstGeom>
          <a:solidFill>
            <a:srgbClr val="00B05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Projeto: </a:t>
            </a:r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Ura Internalização</a:t>
            </a:r>
            <a:endParaRPr lang="pt-BR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t-BR" sz="1200" i="1" dirty="0" smtClean="0"/>
              <a:t>Data Inicio: 20-10-2015</a:t>
            </a:r>
          </a:p>
          <a:p>
            <a:r>
              <a:rPr lang="pt-BR" sz="1200" i="1" dirty="0" smtClean="0"/>
              <a:t>Data Conclusão: 06-06-2016</a:t>
            </a:r>
          </a:p>
          <a:p>
            <a:r>
              <a:rPr lang="pt-BR" sz="1200" i="1" dirty="0" smtClean="0"/>
              <a:t>Progresso: 20%</a:t>
            </a:r>
          </a:p>
          <a:p>
            <a:r>
              <a:rPr lang="pt-BR" sz="1200" i="1" dirty="0" smtClean="0"/>
              <a:t>PM</a:t>
            </a:r>
            <a:r>
              <a:rPr lang="pt-BR" sz="1200" i="1" dirty="0"/>
              <a:t>: </a:t>
            </a:r>
            <a:r>
              <a:rPr lang="pt-BR" sz="1200" i="1" dirty="0" err="1" smtClean="0"/>
              <a:t>Luis</a:t>
            </a:r>
            <a:r>
              <a:rPr lang="pt-BR" sz="1200" i="1" dirty="0" smtClean="0"/>
              <a:t> Marçal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3165435" y="2054536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Objetivos alcançados na última </a:t>
            </a: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semana</a:t>
            </a:r>
            <a:endParaRPr lang="pt-BR" sz="14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Inicio 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da passagem de “testemunho” da equipa do </a:t>
            </a:r>
            <a:r>
              <a:rPr lang="pt-BR" sz="12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Boarim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para José Carlos.</a:t>
            </a: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6004018" y="2081342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Riscos/Problemas/Observações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pt-BR" sz="12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Obs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: Projeto esteve parado até definição de nova </a:t>
            </a:r>
            <a:r>
              <a:rPr lang="pt-BR" sz="12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estragia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. O cronograma terá de ser atualizado.</a:t>
            </a: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" name="Retângulo de cantos arredondados 17"/>
          <p:cNvSpPr/>
          <p:nvPr/>
        </p:nvSpPr>
        <p:spPr>
          <a:xfrm>
            <a:off x="3382225" y="776936"/>
            <a:ext cx="5338175" cy="1080992"/>
          </a:xfrm>
          <a:prstGeom prst="roundRect">
            <a:avLst/>
          </a:prstGeom>
          <a:solidFill>
            <a:schemeClr val="accent1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Descritivo:  </a:t>
            </a:r>
            <a:r>
              <a:rPr lang="pt-BR" sz="1400" dirty="0"/>
              <a:t>M</a:t>
            </a:r>
            <a:r>
              <a:rPr lang="pt-BR" sz="1400" dirty="0" smtClean="0"/>
              <a:t>onitoração </a:t>
            </a:r>
            <a:r>
              <a:rPr lang="pt-BR" sz="1400" dirty="0"/>
              <a:t>pró ativa de </a:t>
            </a:r>
            <a:r>
              <a:rPr lang="pt-BR" sz="1400" dirty="0" smtClean="0"/>
              <a:t>hardware e elimina </a:t>
            </a:r>
            <a:r>
              <a:rPr lang="pt-BR" sz="1400" dirty="0"/>
              <a:t>a possibilidade de perda de dados por falta de visibilidade do </a:t>
            </a:r>
            <a:r>
              <a:rPr lang="pt-BR" sz="1400" dirty="0" smtClean="0"/>
              <a:t>ambiente. </a:t>
            </a:r>
            <a:endParaRPr lang="pt-BR" sz="1400" dirty="0"/>
          </a:p>
        </p:txBody>
      </p:sp>
      <p:grpSp>
        <p:nvGrpSpPr>
          <p:cNvPr id="13" name="Group 16"/>
          <p:cNvGrpSpPr>
            <a:grpSpLocks/>
          </p:cNvGrpSpPr>
          <p:nvPr/>
        </p:nvGrpSpPr>
        <p:grpSpPr bwMode="auto">
          <a:xfrm>
            <a:off x="2890797" y="1499802"/>
            <a:ext cx="274638" cy="274638"/>
            <a:chOff x="0" y="0"/>
            <a:chExt cx="173" cy="173"/>
          </a:xfrm>
        </p:grpSpPr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0" y="0"/>
              <a:ext cx="173" cy="173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19" name="Arc 18"/>
            <p:cNvSpPr>
              <a:spLocks/>
            </p:cNvSpPr>
            <p:nvPr/>
          </p:nvSpPr>
          <p:spPr bwMode="auto">
            <a:xfrm>
              <a:off x="86" y="0"/>
              <a:ext cx="62" cy="86"/>
            </a:xfrm>
            <a:custGeom>
              <a:avLst/>
              <a:gdLst>
                <a:gd name="G0" fmla="+- 58 0 0"/>
                <a:gd name="G1" fmla="+- 21600 0 0"/>
                <a:gd name="G2" fmla="+- 21600 0 0"/>
                <a:gd name="T0" fmla="*/ 0 w 15318"/>
                <a:gd name="T1" fmla="*/ 1 h 21600"/>
                <a:gd name="T2" fmla="*/ 15318 w 15318"/>
                <a:gd name="T3" fmla="*/ 6314 h 21600"/>
                <a:gd name="T4" fmla="*/ 58 w 15318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18" h="21600" fill="none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</a:path>
                <a:path w="15318" h="21600" stroke="0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  <a:lnTo>
                    <a:pt x="58" y="2160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0" name="Arc 19"/>
            <p:cNvSpPr>
              <a:spLocks/>
            </p:cNvSpPr>
            <p:nvPr/>
          </p:nvSpPr>
          <p:spPr bwMode="auto">
            <a:xfrm>
              <a:off x="86" y="25"/>
              <a:ext cx="87" cy="62"/>
            </a:xfrm>
            <a:custGeom>
              <a:avLst/>
              <a:gdLst>
                <a:gd name="G0" fmla="+- 0 0 0"/>
                <a:gd name="G1" fmla="+- 15382 0 0"/>
                <a:gd name="G2" fmla="+- 21600 0 0"/>
                <a:gd name="T0" fmla="*/ 15163 w 21600"/>
                <a:gd name="T1" fmla="*/ 0 h 15382"/>
                <a:gd name="T2" fmla="*/ 21600 w 21600"/>
                <a:gd name="T3" fmla="*/ 15382 h 15382"/>
                <a:gd name="T4" fmla="*/ 0 w 21600"/>
                <a:gd name="T5" fmla="*/ 15382 h 15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382" fill="none" extrusionOk="0">
                  <a:moveTo>
                    <a:pt x="15163" y="-1"/>
                  </a:moveTo>
                  <a:cubicBezTo>
                    <a:pt x="19281" y="4058"/>
                    <a:pt x="21600" y="9599"/>
                    <a:pt x="21600" y="15382"/>
                  </a:cubicBezTo>
                </a:path>
                <a:path w="21600" h="15382" stroke="0" extrusionOk="0">
                  <a:moveTo>
                    <a:pt x="15163" y="-1"/>
                  </a:moveTo>
                  <a:cubicBezTo>
                    <a:pt x="19281" y="4058"/>
                    <a:pt x="21600" y="9599"/>
                    <a:pt x="21600" y="15382"/>
                  </a:cubicBezTo>
                  <a:lnTo>
                    <a:pt x="0" y="1538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1" name="Arc 20"/>
            <p:cNvSpPr>
              <a:spLocks/>
            </p:cNvSpPr>
            <p:nvPr/>
          </p:nvSpPr>
          <p:spPr bwMode="auto">
            <a:xfrm>
              <a:off x="86" y="87"/>
              <a:ext cx="87" cy="61"/>
            </a:xfrm>
            <a:custGeom>
              <a:avLst/>
              <a:gdLst>
                <a:gd name="G0" fmla="+- 0 0 0"/>
                <a:gd name="G1" fmla="+- 29 0 0"/>
                <a:gd name="G2" fmla="+- 21600 0 0"/>
                <a:gd name="T0" fmla="*/ 21599 w 21600"/>
                <a:gd name="T1" fmla="*/ 0 h 15266"/>
                <a:gd name="T2" fmla="*/ 15309 w 21600"/>
                <a:gd name="T3" fmla="*/ 15266 h 15266"/>
                <a:gd name="T4" fmla="*/ 0 w 21600"/>
                <a:gd name="T5" fmla="*/ 29 h 15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266" fill="none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</a:path>
                <a:path w="21600" h="15266" stroke="0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  <a:lnTo>
                    <a:pt x="0" y="2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391538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1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Projeto: Qualidade em Gravação</a:t>
            </a:r>
            <a:endParaRPr lang="pt-BR" sz="28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221121" y="1986751"/>
            <a:ext cx="2716382" cy="2551766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Último Status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pt-BR" sz="1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Realização de reuniões semanais </a:t>
            </a:r>
            <a:r>
              <a:rPr lang="pt-BR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com a equipe de projeto.</a:t>
            </a: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 </a:t>
            </a: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158943" y="776935"/>
            <a:ext cx="3064339" cy="1080993"/>
          </a:xfrm>
          <a:prstGeom prst="roundRect">
            <a:avLst/>
          </a:prstGeom>
          <a:solidFill>
            <a:srgbClr val="00B05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Projeto:  </a:t>
            </a:r>
            <a:r>
              <a:rPr lang="pt-B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Qualidade em Gravação</a:t>
            </a:r>
            <a:endParaRPr lang="pt-BR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Inicio: 24-02-2016</a:t>
            </a:r>
          </a:p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Conclusão: </a:t>
            </a:r>
            <a:r>
              <a:rPr lang="pt-B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23-05-2016</a:t>
            </a:r>
            <a:endParaRPr lang="pt-BR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Progresso: 4</a:t>
            </a:r>
            <a:r>
              <a:rPr lang="pt-B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1%</a:t>
            </a:r>
            <a:endParaRPr lang="pt-BR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PM: </a:t>
            </a:r>
            <a:r>
              <a:rPr lang="pt-BR" sz="1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Luis</a:t>
            </a:r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Marçal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3112569" y="1986750"/>
            <a:ext cx="2716382" cy="2551766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Objetivos alcançados na última </a:t>
            </a: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semana</a:t>
            </a:r>
            <a:endParaRPr lang="pt-BR" sz="14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pt-BR" sz="1200" dirty="0" smtClean="0">
                <a:solidFill>
                  <a:schemeClr val="tx1"/>
                </a:solidFill>
              </a:rPr>
              <a:t>1ª </a:t>
            </a:r>
            <a:r>
              <a:rPr lang="pt-BR" sz="1200" dirty="0">
                <a:solidFill>
                  <a:schemeClr val="tx1"/>
                </a:solidFill>
              </a:rPr>
              <a:t>publicação do </a:t>
            </a:r>
            <a:r>
              <a:rPr lang="pt-BR" sz="1200" dirty="0" err="1">
                <a:solidFill>
                  <a:schemeClr val="tx1"/>
                </a:solidFill>
              </a:rPr>
              <a:t>Dashboard</a:t>
            </a:r>
            <a:r>
              <a:rPr lang="pt-BR" sz="1200" dirty="0">
                <a:solidFill>
                  <a:schemeClr val="tx1"/>
                </a:solidFill>
              </a:rPr>
              <a:t> de </a:t>
            </a:r>
            <a:r>
              <a:rPr lang="pt-BR" sz="1200" dirty="0" err="1">
                <a:solidFill>
                  <a:schemeClr val="tx1"/>
                </a:solidFill>
              </a:rPr>
              <a:t>Retrieval</a:t>
            </a:r>
            <a:r>
              <a:rPr lang="pt-BR" sz="1200" dirty="0"/>
              <a:t> </a:t>
            </a:r>
            <a:r>
              <a:rPr lang="pt-BR" sz="1200" dirty="0" smtClean="0"/>
              <a:t>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Desenvolver 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ferramenta para registro de 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resgates.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Análise para realização de Merge 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 APP PAINEL 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de produção 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 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CSE. </a:t>
            </a:r>
            <a:endParaRPr lang="pt-BR" sz="1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Ø"/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6120750" y="1986751"/>
            <a:ext cx="2716382" cy="255176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Riscos/Problemas/Observações</a:t>
            </a:r>
          </a:p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r>
              <a:rPr lang="pt-BR" sz="12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Obs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: Entendimento de todos os contratos poderá ser mais “complicado” que o esperado.</a:t>
            </a: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" name="Retângulo de cantos arredondados 17"/>
          <p:cNvSpPr/>
          <p:nvPr/>
        </p:nvSpPr>
        <p:spPr>
          <a:xfrm>
            <a:off x="3382225" y="776936"/>
            <a:ext cx="5338175" cy="1080992"/>
          </a:xfrm>
          <a:prstGeom prst="roundRect">
            <a:avLst/>
          </a:prstGeom>
          <a:solidFill>
            <a:schemeClr val="accent1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Descritivo: </a:t>
            </a:r>
            <a:r>
              <a:rPr lang="pt-BR" sz="1400" dirty="0"/>
              <a:t>Este projeto tem como escopo, executar um plano de ação para eliminar multas (de gravação) nos clientes Contax.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82094" y="1501679"/>
            <a:ext cx="280440" cy="28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48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1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656" y="3888759"/>
            <a:ext cx="1524000" cy="1143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8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Alinhamento</a:t>
            </a:r>
            <a:endParaRPr lang="pt-BR" sz="18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743" y="1885837"/>
            <a:ext cx="2015419" cy="151156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1" name="Imagem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6162" y="1885837"/>
            <a:ext cx="2574943" cy="193120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2" name="Imagem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3596" y="1346058"/>
            <a:ext cx="3218155" cy="241361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181886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7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0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14506</TotalTime>
  <Words>1703</Words>
  <Application>Microsoft Office PowerPoint</Application>
  <PresentationFormat>Personalizar</PresentationFormat>
  <Paragraphs>314</Paragraphs>
  <Slides>27</Slides>
  <Notes>22</Notes>
  <HiddenSlides>3</HiddenSlides>
  <MMClips>0</MMClips>
  <ScaleCrop>false</ScaleCrop>
  <HeadingPairs>
    <vt:vector size="8" baseType="variant">
      <vt:variant>
        <vt:lpstr>Fontes usadas</vt:lpstr>
      </vt:variant>
      <vt:variant>
        <vt:i4>5</vt:i4>
      </vt:variant>
      <vt:variant>
        <vt:lpstr>Tema</vt:lpstr>
      </vt:variant>
      <vt:variant>
        <vt:i4>4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27</vt:i4>
      </vt:variant>
    </vt:vector>
  </HeadingPairs>
  <TitlesOfParts>
    <vt:vector size="37" baseType="lpstr">
      <vt:lpstr>Arial</vt:lpstr>
      <vt:lpstr>Calibri</vt:lpstr>
      <vt:lpstr>Calibri Light</vt:lpstr>
      <vt:lpstr>Times New Roman</vt:lpstr>
      <vt:lpstr>Wingdings</vt:lpstr>
      <vt:lpstr>Tema do Office</vt:lpstr>
      <vt:lpstr>5_Tema do Office</vt:lpstr>
      <vt:lpstr>7_Tema do Office</vt:lpstr>
      <vt:lpstr>10_Tema do Office</vt:lpstr>
      <vt:lpstr>Slide do think-cell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Home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Gustavo Nitzsche</dc:creator>
  <cp:lastModifiedBy>Luis Marcal</cp:lastModifiedBy>
  <cp:revision>1214</cp:revision>
  <dcterms:created xsi:type="dcterms:W3CDTF">2015-08-20T14:57:26Z</dcterms:created>
  <dcterms:modified xsi:type="dcterms:W3CDTF">2016-03-22T13:32:58Z</dcterms:modified>
</cp:coreProperties>
</file>