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27"/>
  </p:notesMasterIdLst>
  <p:sldIdLst>
    <p:sldId id="262" r:id="rId5"/>
    <p:sldId id="279" r:id="rId6"/>
    <p:sldId id="284" r:id="rId7"/>
    <p:sldId id="295" r:id="rId8"/>
    <p:sldId id="288" r:id="rId9"/>
    <p:sldId id="287" r:id="rId10"/>
    <p:sldId id="289" r:id="rId11"/>
    <p:sldId id="290" r:id="rId12"/>
    <p:sldId id="291" r:id="rId13"/>
    <p:sldId id="292" r:id="rId14"/>
    <p:sldId id="294" r:id="rId15"/>
    <p:sldId id="296" r:id="rId16"/>
    <p:sldId id="297" r:id="rId17"/>
    <p:sldId id="298" r:id="rId18"/>
    <p:sldId id="299" r:id="rId19"/>
    <p:sldId id="301" r:id="rId20"/>
    <p:sldId id="300" r:id="rId21"/>
    <p:sldId id="302" r:id="rId22"/>
    <p:sldId id="303" r:id="rId23"/>
    <p:sldId id="304" r:id="rId24"/>
    <p:sldId id="305" r:id="rId25"/>
    <p:sldId id="286" r:id="rId2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00"/>
    <a:srgbClr val="FFFFFF"/>
    <a:srgbClr val="EAEAEA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2" autoAdjust="0"/>
    <p:restoredTop sz="93809" autoAdjust="0"/>
  </p:normalViewPr>
  <p:slideViewPr>
    <p:cSldViewPr snapToGrid="0" snapToObjects="1">
      <p:cViewPr varScale="1">
        <p:scale>
          <a:sx n="85" d="100"/>
          <a:sy n="85" d="100"/>
        </p:scale>
        <p:origin x="476" y="5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04/05/2016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583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878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39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138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055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722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952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168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062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522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63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381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387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402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046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501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612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343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48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5/4/2016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5/4/2016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5/4/2016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5/4/2016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5/4/2016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5/4/2016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5/4/2016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de Melhoria Contínua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maio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152985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2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51075" y="767635"/>
            <a:ext cx="851577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O Projeto de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Catálogo de Serviços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Classificação de Chamados – O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menu da TI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Qualidade no registro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de Incidentes – Exemplos de chamados errados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Resolução de Chamados –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Precisão no Diagnóstico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Ofertas de Serviços –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Requisições de Serviços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Gestão da Rotina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Metas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Melhoria Contínua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 – Redução de MTBF e MTTR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Mudança Técnica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 sobre todas as Mudanças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b="1" i="1" dirty="0" err="1">
                <a:solidFill>
                  <a:schemeClr val="accent5">
                    <a:lumMod val="75000"/>
                  </a:schemeClr>
                </a:solidFill>
              </a:rPr>
              <a:t>Transition</a:t>
            </a:r>
            <a:r>
              <a:rPr lang="pt-BR" sz="20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000" b="1" i="1" dirty="0" err="1">
                <a:solidFill>
                  <a:schemeClr val="accent5">
                    <a:lumMod val="75000"/>
                  </a:schemeClr>
                </a:solidFill>
              </a:rPr>
              <a:t>to</a:t>
            </a:r>
            <a:r>
              <a:rPr lang="pt-BR" sz="20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000" b="1" i="1" dirty="0" err="1">
                <a:solidFill>
                  <a:schemeClr val="accent5">
                    <a:lumMod val="75000"/>
                  </a:schemeClr>
                </a:solidFill>
              </a:rPr>
              <a:t>Run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 – Qualidade nas Implantações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O projeto de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3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1075" y="767635"/>
            <a:ext cx="8654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A Contax quer melhorar continuamente a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qualidade dos serviços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6068495" y="2465881"/>
            <a:ext cx="2794571" cy="24662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Automação do Registro Rápido de Mudanças Técnicas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Divulgação da Politica para mudanças não registradas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Criação de indicadores para gerenciamento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Reforço da equipe GMUD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Definição de ritos diferentes para mudanças diferentes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Projeto </a:t>
            </a:r>
            <a:r>
              <a:rPr lang="pt-BR" sz="1200" i="1" dirty="0" err="1">
                <a:solidFill>
                  <a:schemeClr val="tx1"/>
                </a:solidFill>
              </a:rPr>
              <a:t>Transition</a:t>
            </a:r>
            <a:r>
              <a:rPr lang="pt-BR" sz="1200" i="1" dirty="0">
                <a:solidFill>
                  <a:schemeClr val="tx1"/>
                </a:solidFill>
              </a:rPr>
              <a:t> </a:t>
            </a:r>
            <a:r>
              <a:rPr lang="pt-BR" sz="1200" i="1" dirty="0" err="1">
                <a:solidFill>
                  <a:schemeClr val="tx1"/>
                </a:solidFill>
              </a:rPr>
              <a:t>to</a:t>
            </a:r>
            <a:r>
              <a:rPr lang="pt-BR" sz="1200" i="1" dirty="0">
                <a:solidFill>
                  <a:schemeClr val="tx1"/>
                </a:solidFill>
              </a:rPr>
              <a:t> </a:t>
            </a:r>
            <a:r>
              <a:rPr lang="pt-BR" sz="1200" i="1" dirty="0" err="1">
                <a:solidFill>
                  <a:schemeClr val="tx1"/>
                </a:solidFill>
              </a:rPr>
              <a:t>Run</a:t>
            </a:r>
            <a:r>
              <a:rPr lang="pt-BR" sz="1200" i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(2016)</a:t>
            </a:r>
          </a:p>
        </p:txBody>
      </p:sp>
      <p:sp>
        <p:nvSpPr>
          <p:cNvPr id="12" name="Retângulo de cantos arredondados 8"/>
          <p:cNvSpPr/>
          <p:nvPr/>
        </p:nvSpPr>
        <p:spPr>
          <a:xfrm>
            <a:off x="6052593" y="1787471"/>
            <a:ext cx="2816462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Mudanças</a:t>
            </a:r>
            <a:b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/>
              <a:t>Garantia do Controle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144847" y="2264225"/>
            <a:ext cx="2716304" cy="24690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definido e implantado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Gestor nomeado e treinado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Sintomas identificados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Problemas em Serviços e Clientes priorizados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Soluções de Contorno e Definitivas identificadas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Investigação permanente estabelecida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Base de Erros Conhecidos em desenvolvimento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revisado e melhorado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Novos indicadores definidos e em produção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Classificação por Sintomas definida e em implementação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Prioridades e escaladas redefinidas, com foco nas operações de negócios (GUT)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Revisão da qualidade dos registros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Reclassificação dos registros efetuados</a:t>
            </a:r>
          </a:p>
        </p:txBody>
      </p:sp>
      <p:sp>
        <p:nvSpPr>
          <p:cNvPr id="15" name="Retângulo de cantos arredondados 13"/>
          <p:cNvSpPr/>
          <p:nvPr/>
        </p:nvSpPr>
        <p:spPr>
          <a:xfrm>
            <a:off x="3144846" y="1597530"/>
            <a:ext cx="2716305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Problemas</a:t>
            </a:r>
            <a:b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Eliminar Incidentes</a:t>
            </a:r>
          </a:p>
        </p:txBody>
      </p:sp>
      <p:sp>
        <p:nvSpPr>
          <p:cNvPr id="16" name="Retângulo de cantos arredondados 14"/>
          <p:cNvSpPr/>
          <p:nvPr/>
        </p:nvSpPr>
        <p:spPr>
          <a:xfrm>
            <a:off x="221121" y="1404920"/>
            <a:ext cx="2716382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de Incidentes</a:t>
            </a:r>
          </a:p>
          <a:p>
            <a:pPr algn="ctr"/>
            <a:r>
              <a:rPr lang="pt-BR" sz="1600" i="1" dirty="0"/>
              <a:t>Reduzir Prazos de Solução</a:t>
            </a:r>
          </a:p>
        </p:txBody>
      </p: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Catálogo de Serviços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maio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764" y="1297455"/>
            <a:ext cx="3665873" cy="36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7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63" y="699623"/>
            <a:ext cx="7446073" cy="44179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O “menu” da TI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o Explicativo Retangular com Cantos Arredondados 11"/>
          <p:cNvSpPr/>
          <p:nvPr/>
        </p:nvSpPr>
        <p:spPr>
          <a:xfrm>
            <a:off x="5653856" y="1077324"/>
            <a:ext cx="943141" cy="569340"/>
          </a:xfrm>
          <a:prstGeom prst="wedgeRoundRectCallout">
            <a:avLst>
              <a:gd name="adj1" fmla="val -88886"/>
              <a:gd name="adj2" fmla="val 83599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Selecionara OPERAÇÃO</a:t>
            </a:r>
          </a:p>
        </p:txBody>
      </p:sp>
      <p:sp>
        <p:nvSpPr>
          <p:cNvPr id="13" name="Texto Explicativo Retangular com Cantos Arredondados 12"/>
          <p:cNvSpPr/>
          <p:nvPr/>
        </p:nvSpPr>
        <p:spPr>
          <a:xfrm>
            <a:off x="73487" y="2245149"/>
            <a:ext cx="943141" cy="569340"/>
          </a:xfrm>
          <a:prstGeom prst="wedgeRoundRectCallout">
            <a:avLst>
              <a:gd name="adj1" fmla="val 66058"/>
              <a:gd name="adj2" fmla="val -74370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Selecionar o SERVIÇO</a:t>
            </a:r>
          </a:p>
        </p:txBody>
      </p:sp>
      <p:sp>
        <p:nvSpPr>
          <p:cNvPr id="14" name="Texto Explicativo Retangular com Cantos Arredondados 13"/>
          <p:cNvSpPr/>
          <p:nvPr/>
        </p:nvSpPr>
        <p:spPr>
          <a:xfrm>
            <a:off x="7035207" y="2623935"/>
            <a:ext cx="943141" cy="569340"/>
          </a:xfrm>
          <a:prstGeom prst="wedgeRoundRectCallout">
            <a:avLst>
              <a:gd name="adj1" fmla="val -117636"/>
              <a:gd name="adj2" fmla="val -11508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Selecionar o TIPO e o SINTOMA</a:t>
            </a:r>
          </a:p>
        </p:txBody>
      </p:sp>
      <p:sp>
        <p:nvSpPr>
          <p:cNvPr id="15" name="Texto Explicativo Retangular com Cantos Arredondados 14"/>
          <p:cNvSpPr/>
          <p:nvPr/>
        </p:nvSpPr>
        <p:spPr>
          <a:xfrm>
            <a:off x="6092066" y="3925503"/>
            <a:ext cx="943141" cy="569340"/>
          </a:xfrm>
          <a:prstGeom prst="wedgeRoundRectCallout">
            <a:avLst>
              <a:gd name="adj1" fmla="val -151794"/>
              <a:gd name="adj2" fmla="val -67640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Detalhar o Incidente (</a:t>
            </a:r>
            <a:r>
              <a:rPr lang="pt-BR" sz="1200" i="1" dirty="0"/>
              <a:t>SCRIPT</a:t>
            </a:r>
            <a:r>
              <a:rPr lang="pt-BR" sz="1200" dirty="0"/>
              <a:t>)</a:t>
            </a:r>
          </a:p>
        </p:txBody>
      </p:sp>
      <p:sp>
        <p:nvSpPr>
          <p:cNvPr id="16" name="Texto Explicativo Retangular com Cantos Arredondados 15"/>
          <p:cNvSpPr/>
          <p:nvPr/>
        </p:nvSpPr>
        <p:spPr>
          <a:xfrm>
            <a:off x="730612" y="3256118"/>
            <a:ext cx="943141" cy="569340"/>
          </a:xfrm>
          <a:prstGeom prst="wedgeRoundRectCallout">
            <a:avLst>
              <a:gd name="adj1" fmla="val 84263"/>
              <a:gd name="adj2" fmla="val -143329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Selecionar o IMPACTO</a:t>
            </a:r>
          </a:p>
        </p:txBody>
      </p:sp>
      <p:sp>
        <p:nvSpPr>
          <p:cNvPr id="18" name="Texto Explicativo Retangular com Cantos Arredondados 17"/>
          <p:cNvSpPr/>
          <p:nvPr/>
        </p:nvSpPr>
        <p:spPr>
          <a:xfrm>
            <a:off x="73486" y="1296611"/>
            <a:ext cx="943141" cy="569340"/>
          </a:xfrm>
          <a:prstGeom prst="wedgeRoundRectCallout">
            <a:avLst>
              <a:gd name="adj1" fmla="val 119382"/>
              <a:gd name="adj2" fmla="val 4876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Selecionar o CLIENTE</a:t>
            </a:r>
          </a:p>
        </p:txBody>
      </p:sp>
      <p:sp>
        <p:nvSpPr>
          <p:cNvPr id="19" name="Texto Explicativo Retangular com Cantos Arredondados 18"/>
          <p:cNvSpPr/>
          <p:nvPr/>
        </p:nvSpPr>
        <p:spPr>
          <a:xfrm>
            <a:off x="1138879" y="4262322"/>
            <a:ext cx="943141" cy="569340"/>
          </a:xfrm>
          <a:prstGeom prst="wedgeRoundRectCallout">
            <a:avLst>
              <a:gd name="adj1" fmla="val 98667"/>
              <a:gd name="adj2" fmla="val 5549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Anexar </a:t>
            </a:r>
            <a:r>
              <a:rPr lang="pt-BR" sz="1100" dirty="0"/>
              <a:t>EVIDÊNCIAS</a:t>
            </a:r>
          </a:p>
        </p:txBody>
      </p:sp>
    </p:spTree>
    <p:extLst>
      <p:ext uri="{BB962C8B-B14F-4D97-AF65-F5344CB8AC3E}">
        <p14:creationId xmlns:p14="http://schemas.microsoft.com/office/powerpoint/2010/main" val="277094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O “menu” da TI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1075" y="767635"/>
            <a:ext cx="85157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Objetivos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Identificar e gerenciar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sintomas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 e impacto nos Serviços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Facilitar um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registro intuitivo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 de incidentes e requisições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</a:rPr>
              <a:t>Viabilizar a produção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indicadores para gerenciamento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3" y="2305615"/>
            <a:ext cx="8294772" cy="2153387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773620" y="4004784"/>
            <a:ext cx="5115911" cy="330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4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4" y="257994"/>
            <a:ext cx="7110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Erros podem ser evitados?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7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69" y="719659"/>
            <a:ext cx="7335180" cy="4315233"/>
          </a:xfrm>
          <a:prstGeom prst="rect">
            <a:avLst/>
          </a:prstGeom>
        </p:spPr>
      </p:pic>
      <p:sp>
        <p:nvSpPr>
          <p:cNvPr id="10" name="Explosão 1 9"/>
          <p:cNvSpPr/>
          <p:nvPr/>
        </p:nvSpPr>
        <p:spPr>
          <a:xfrm>
            <a:off x="5370374" y="973690"/>
            <a:ext cx="3641697" cy="2905977"/>
          </a:xfrm>
          <a:prstGeom prst="irregularSeal1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600" b="1" dirty="0"/>
          </a:p>
          <a:p>
            <a:pPr algn="ctr"/>
            <a:r>
              <a:rPr lang="pt-BR" sz="1600" b="1" dirty="0">
                <a:solidFill>
                  <a:schemeClr val="accent5">
                    <a:lumMod val="75000"/>
                  </a:schemeClr>
                </a:solidFill>
              </a:rPr>
              <a:t>O que causa isso?</a:t>
            </a:r>
          </a:p>
          <a:p>
            <a:pPr algn="ctr"/>
            <a:endParaRPr lang="pt-BR" sz="8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pt-BR" sz="1600" b="1" dirty="0">
                <a:solidFill>
                  <a:schemeClr val="accent5">
                    <a:lumMod val="75000"/>
                  </a:schemeClr>
                </a:solidFill>
              </a:rPr>
              <a:t>Desatenção? Desídia?</a:t>
            </a:r>
          </a:p>
          <a:p>
            <a:pPr algn="ctr"/>
            <a:r>
              <a:rPr lang="pt-BR" sz="1600" b="1" dirty="0">
                <a:solidFill>
                  <a:schemeClr val="accent5">
                    <a:lumMod val="75000"/>
                  </a:schemeClr>
                </a:solidFill>
              </a:rPr>
              <a:t>“</a:t>
            </a:r>
            <a:r>
              <a:rPr lang="pt-BR" sz="1600" b="1" i="1" dirty="0">
                <a:solidFill>
                  <a:schemeClr val="accent5">
                    <a:lumMod val="75000"/>
                  </a:schemeClr>
                </a:solidFill>
              </a:rPr>
              <a:t>Dane-se</a:t>
            </a:r>
            <a:r>
              <a:rPr lang="pt-BR" sz="1600" b="1" dirty="0">
                <a:solidFill>
                  <a:schemeClr val="accent5">
                    <a:lumMod val="75000"/>
                  </a:schemeClr>
                </a:solidFill>
              </a:rPr>
              <a:t>” ligado?</a:t>
            </a:r>
          </a:p>
        </p:txBody>
      </p:sp>
    </p:spTree>
    <p:extLst>
      <p:ext uri="{BB962C8B-B14F-4D97-AF65-F5344CB8AC3E}">
        <p14:creationId xmlns:p14="http://schemas.microsoft.com/office/powerpoint/2010/main" val="64536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4" y="257994"/>
            <a:ext cx="7126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Erros podem ser evitados?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57" y="1087001"/>
            <a:ext cx="7056086" cy="3749887"/>
          </a:xfrm>
          <a:prstGeom prst="rect">
            <a:avLst/>
          </a:prstGeom>
        </p:spPr>
      </p:pic>
      <p:sp>
        <p:nvSpPr>
          <p:cNvPr id="4" name="Texto Explicativo em Nuvem 3"/>
          <p:cNvSpPr/>
          <p:nvPr/>
        </p:nvSpPr>
        <p:spPr>
          <a:xfrm>
            <a:off x="4404360" y="2534914"/>
            <a:ext cx="2255520" cy="1493520"/>
          </a:xfrm>
          <a:prstGeom prst="cloudCallout">
            <a:avLst>
              <a:gd name="adj1" fmla="val -87836"/>
              <a:gd name="adj2" fmla="val -232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  <a:p>
            <a:pPr algn="ctr"/>
            <a:r>
              <a:rPr lang="pt-BR" b="1" dirty="0"/>
              <a:t>Como você gerencia esse tipo de atitude?</a:t>
            </a:r>
          </a:p>
        </p:txBody>
      </p:sp>
    </p:spTree>
    <p:extLst>
      <p:ext uri="{BB962C8B-B14F-4D97-AF65-F5344CB8AC3E}">
        <p14:creationId xmlns:p14="http://schemas.microsoft.com/office/powerpoint/2010/main" val="131597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4" y="257994"/>
            <a:ext cx="7126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Erros podem ser evitados?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" y="823527"/>
            <a:ext cx="6369084" cy="4170155"/>
          </a:xfrm>
          <a:prstGeom prst="rect">
            <a:avLst/>
          </a:prstGeom>
        </p:spPr>
      </p:pic>
      <p:sp>
        <p:nvSpPr>
          <p:cNvPr id="7" name="Texto Explicativo em Elipse 6"/>
          <p:cNvSpPr/>
          <p:nvPr/>
        </p:nvSpPr>
        <p:spPr>
          <a:xfrm>
            <a:off x="5044440" y="2156460"/>
            <a:ext cx="3634740" cy="2529840"/>
          </a:xfrm>
          <a:prstGeom prst="wedgeEllipseCallout">
            <a:avLst>
              <a:gd name="adj1" fmla="val -88236"/>
              <a:gd name="adj2" fmla="val -57078"/>
            </a:avLst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200" b="1" i="1" dirty="0"/>
              <a:t>RESET</a:t>
            </a:r>
          </a:p>
          <a:p>
            <a:pPr algn="ctr"/>
            <a:r>
              <a:rPr lang="pt-BR" sz="2800" dirty="0"/>
              <a:t>é </a:t>
            </a:r>
            <a:r>
              <a:rPr lang="pt-BR" sz="3200" dirty="0"/>
              <a:t>“solução permanente”</a:t>
            </a:r>
            <a:r>
              <a:rPr lang="pt-BR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03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O “menu” da TI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10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50" y="845821"/>
            <a:ext cx="8078901" cy="4542165"/>
          </a:xfrm>
          <a:prstGeom prst="rect">
            <a:avLst/>
          </a:prstGeom>
        </p:spPr>
      </p:pic>
      <p:sp>
        <p:nvSpPr>
          <p:cNvPr id="4" name="Canto Dobrado 3"/>
          <p:cNvSpPr/>
          <p:nvPr/>
        </p:nvSpPr>
        <p:spPr>
          <a:xfrm>
            <a:off x="7048944" y="2438723"/>
            <a:ext cx="1699260" cy="1356360"/>
          </a:xfrm>
          <a:prstGeom prst="foldedCorne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pt-BR" dirty="0"/>
            </a:br>
            <a:r>
              <a:rPr lang="pt-BR" dirty="0"/>
              <a:t>Chamado não é alternativa para e-mail!</a:t>
            </a:r>
          </a:p>
        </p:txBody>
      </p:sp>
    </p:spTree>
    <p:extLst>
      <p:ext uri="{BB962C8B-B14F-4D97-AF65-F5344CB8AC3E}">
        <p14:creationId xmlns:p14="http://schemas.microsoft.com/office/powerpoint/2010/main" val="133751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Catálogo de Serviços – Requisições de Serviços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3" y="1575105"/>
            <a:ext cx="3810000" cy="266700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4454922" y="1181094"/>
            <a:ext cx="42532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 evolução do Catálogo de Serviços deve identificar as OFERTAS DE SERVIÇOS, isto é, as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requisições por serviços padrão 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que são fornecidos pela TI sem a necessidade de abertura de uma GMUD, através da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execução de workflows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endParaRPr lang="pt-BR" sz="2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Isto nos dará agilidade na realização de nossas atividades.</a:t>
            </a:r>
          </a:p>
        </p:txBody>
      </p:sp>
    </p:spTree>
    <p:extLst>
      <p:ext uri="{BB962C8B-B14F-4D97-AF65-F5344CB8AC3E}">
        <p14:creationId xmlns:p14="http://schemas.microsoft.com/office/powerpoint/2010/main" val="3319040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da Rotina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maio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551" y="1499246"/>
            <a:ext cx="4136570" cy="301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7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da Rotina – Melhoria Contínua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806395" y="1255124"/>
            <a:ext cx="33922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 Gestão da Rotina visa transformar a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busca pela melhoria em hábito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endParaRPr lang="pt-BR" sz="2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Definir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metas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SMART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 é o principal objetivo para se atingir melhorias contínuas e sustentáveis para a qualidade de serviços.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240" y="960576"/>
            <a:ext cx="3077197" cy="372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91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da Rotina – Melhoria Contínua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51075" y="761450"/>
            <a:ext cx="873388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Nossa meta é SMART:</a:t>
            </a: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pt-BR" sz="2600" b="1" dirty="0">
                <a:solidFill>
                  <a:schemeClr val="accent5">
                    <a:lumMod val="75000"/>
                  </a:schemeClr>
                </a:solidFill>
              </a:rPr>
              <a:t>Reduzir, no próximo mês, 10% da média dos últimos 3 meses.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925" y="1255444"/>
            <a:ext cx="6086181" cy="342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38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da Rotina – Melhoria Contínua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6211" y="2251165"/>
            <a:ext cx="87338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Toda </a:t>
            </a:r>
          </a:p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contribuição</a:t>
            </a:r>
          </a:p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é</a:t>
            </a:r>
          </a:p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Decisiva!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144" y="936215"/>
            <a:ext cx="7141121" cy="4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da Rotina – Melhoria Contínua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51075" y="761450"/>
            <a:ext cx="87338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O rotina é diária!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48" y="1234128"/>
            <a:ext cx="5940336" cy="381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0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da Rotina – Melhoria Contínua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66552" y="2833796"/>
            <a:ext cx="943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MTBSI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65" y="2209736"/>
            <a:ext cx="8638781" cy="293852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231" y="868681"/>
            <a:ext cx="4163726" cy="1473232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8015303" y="2830784"/>
            <a:ext cx="943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MTTR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1075" y="899265"/>
            <a:ext cx="4405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 redução total dos incidentes define a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CONFIABILIDADE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, medida pela frequência (MTBSI) e pela duração (MTTR) das falhas.</a:t>
            </a:r>
          </a:p>
        </p:txBody>
      </p:sp>
      <p:sp>
        <p:nvSpPr>
          <p:cNvPr id="6" name="Seta para a Direita 5"/>
          <p:cNvSpPr/>
          <p:nvPr/>
        </p:nvSpPr>
        <p:spPr>
          <a:xfrm rot="20484472">
            <a:off x="577465" y="4022456"/>
            <a:ext cx="3552669" cy="22465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 para a Direita 13"/>
          <p:cNvSpPr/>
          <p:nvPr/>
        </p:nvSpPr>
        <p:spPr>
          <a:xfrm rot="825279">
            <a:off x="5086721" y="4054437"/>
            <a:ext cx="3552669" cy="22465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602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Relacionadas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maio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grpSp>
        <p:nvGrpSpPr>
          <p:cNvPr id="16" name="Agrupar 15"/>
          <p:cNvGrpSpPr/>
          <p:nvPr/>
        </p:nvGrpSpPr>
        <p:grpSpPr>
          <a:xfrm>
            <a:off x="630840" y="1499246"/>
            <a:ext cx="7884862" cy="2178836"/>
            <a:chOff x="630840" y="1499246"/>
            <a:chExt cx="7884862" cy="2178836"/>
          </a:xfrm>
        </p:grpSpPr>
        <p:grpSp>
          <p:nvGrpSpPr>
            <p:cNvPr id="12" name="Agrupar 11"/>
            <p:cNvGrpSpPr/>
            <p:nvPr/>
          </p:nvGrpSpPr>
          <p:grpSpPr>
            <a:xfrm>
              <a:off x="630840" y="1499246"/>
              <a:ext cx="7836935" cy="1840282"/>
              <a:chOff x="630840" y="1499246"/>
              <a:chExt cx="7836935" cy="1840282"/>
            </a:xfrm>
          </p:grpSpPr>
          <p:pic>
            <p:nvPicPr>
              <p:cNvPr id="5" name="Imagem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840" y="1516732"/>
                <a:ext cx="2627854" cy="1822796"/>
              </a:xfrm>
              <a:prstGeom prst="rect">
                <a:avLst/>
              </a:prstGeom>
            </p:spPr>
          </p:pic>
          <p:pic>
            <p:nvPicPr>
              <p:cNvPr id="8" name="Imagem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0719" y="1514007"/>
                <a:ext cx="2732060" cy="1816778"/>
              </a:xfrm>
              <a:prstGeom prst="rect">
                <a:avLst/>
              </a:prstGeom>
            </p:spPr>
          </p:pic>
          <p:pic>
            <p:nvPicPr>
              <p:cNvPr id="11" name="Imagem 1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85823" y="1499246"/>
                <a:ext cx="2581952" cy="1840282"/>
              </a:xfrm>
              <a:prstGeom prst="rect">
                <a:avLst/>
              </a:prstGeom>
            </p:spPr>
          </p:pic>
        </p:grpSp>
        <p:sp>
          <p:nvSpPr>
            <p:cNvPr id="13" name="CaixaDeTexto 12"/>
            <p:cNvSpPr txBox="1"/>
            <p:nvPr/>
          </p:nvSpPr>
          <p:spPr>
            <a:xfrm>
              <a:off x="630840" y="3339528"/>
              <a:ext cx="2629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Gestão de Problemas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3251129" y="3339528"/>
              <a:ext cx="2629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Gestão de Mudanças</a:t>
              </a:r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5885823" y="3339528"/>
              <a:ext cx="2629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Transition</a:t>
              </a:r>
              <a:r>
                <a:rPr lang="pt-BR" sz="1600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pt-BR" sz="1600" b="1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to</a:t>
              </a:r>
              <a:r>
                <a:rPr lang="pt-BR" sz="1600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pt-BR" sz="1600" b="1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Run</a:t>
              </a:r>
              <a:endPara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62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2205" y="3388408"/>
            <a:ext cx="4458087" cy="6225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de Problemas – Identificando Causas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19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51075" y="761450"/>
            <a:ext cx="87338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 redução da quantidade total de incidentes depende criticamente da identificação e eliminação de suas causas. O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GERENCIAMENTO DE PROBLEMAS 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tem sido um instrumento decisivo para determinar soluções definitivas, através de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projetos estruturantes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34641" y="3884922"/>
            <a:ext cx="4890132" cy="677942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453" y="2113339"/>
            <a:ext cx="3582341" cy="167276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79707" y="4438063"/>
            <a:ext cx="4458087" cy="62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59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Gestão de Mudanças – Mudança Técnica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20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1075" y="3788004"/>
            <a:ext cx="87338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Uma Política a ser publicada em breve determinando que </a:t>
            </a:r>
            <a:r>
              <a:rPr lang="pt-BR" sz="2200" u="sng" dirty="0">
                <a:solidFill>
                  <a:schemeClr val="accent5">
                    <a:lumMod val="75000"/>
                  </a:schemeClr>
                </a:solidFill>
              </a:rPr>
              <a:t>toda e qualquer mudança deve ser registrada e aprovada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 e, para tanto, um registro simplificado de mudança já está disponível: a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MUDANÇA TÉCNICA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. Use-a!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498" y="972476"/>
            <a:ext cx="4318624" cy="2563265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151075" y="1361279"/>
            <a:ext cx="421958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 redução da quantidade total de incidentes depende também da intensificação do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controle sobre as mudanças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 que realizamos nos componentes e no ambiente.</a:t>
            </a:r>
            <a:endParaRPr lang="pt-BR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979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i="1" dirty="0" err="1">
                <a:solidFill>
                  <a:schemeClr val="accent5">
                    <a:lumMod val="75000"/>
                  </a:schemeClr>
                </a:solidFill>
              </a:rPr>
              <a:t>Transition</a:t>
            </a:r>
            <a:r>
              <a:rPr lang="pt-BR" sz="2400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5">
                    <a:lumMod val="75000"/>
                  </a:schemeClr>
                </a:solidFill>
              </a:rPr>
              <a:t>to</a:t>
            </a:r>
            <a:r>
              <a:rPr lang="pt-BR" sz="2400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5">
                    <a:lumMod val="75000"/>
                  </a:schemeClr>
                </a:solidFill>
              </a:rPr>
              <a:t>Run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 – Melhorias nas Implantações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1075" y="4238830"/>
            <a:ext cx="8733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Ajustes para </a:t>
            </a:r>
            <a:r>
              <a:rPr lang="pt-BR" sz="2200" b="1" dirty="0">
                <a:solidFill>
                  <a:schemeClr val="accent5">
                    <a:lumMod val="75000"/>
                  </a:schemeClr>
                </a:solidFill>
              </a:rPr>
              <a:t>antecipar informações sobre Demandas e Projetos</a:t>
            </a:r>
            <a:r>
              <a:rPr lang="pt-BR" sz="2200" dirty="0">
                <a:solidFill>
                  <a:schemeClr val="accent5">
                    <a:lumMod val="75000"/>
                  </a:schemeClr>
                </a:solidFill>
              </a:rPr>
              <a:t> estão em execução e em breve produzirá um controle mais efetivo sobre mudanças.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57" y="817094"/>
            <a:ext cx="7270487" cy="376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33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316002" y="3797601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Obrigado!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0" y="3963"/>
            <a:ext cx="468173" cy="336498"/>
          </a:xfrm>
        </p:spPr>
        <p:txBody>
          <a:bodyPr/>
          <a:lstStyle/>
          <a:p>
            <a:fld id="{2088DD49-D405-3D4F-92A5-BAA19C6BFE1F}" type="slidenum">
              <a:rPr lang="en-US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" y="672985"/>
            <a:ext cx="9139277" cy="223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6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13807</TotalTime>
  <Words>817</Words>
  <Application>Microsoft Office PowerPoint</Application>
  <PresentationFormat>Personalizar</PresentationFormat>
  <Paragraphs>179</Paragraphs>
  <Slides>22</Slides>
  <Notes>22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</dc:creator>
  <cp:lastModifiedBy>Chacon Consultoria Ilimitada</cp:lastModifiedBy>
  <cp:revision>876</cp:revision>
  <dcterms:created xsi:type="dcterms:W3CDTF">2015-08-20T14:57:26Z</dcterms:created>
  <dcterms:modified xsi:type="dcterms:W3CDTF">2016-05-05T02:30:23Z</dcterms:modified>
</cp:coreProperties>
</file>