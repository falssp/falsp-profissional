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Default Extension="vml" ContentType="application/vnd.openxmlformats-officedocument.vmlDrawing"/>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slideLayouts/slideLayout14.xml" ContentType="application/vnd.openxmlformats-officedocument.presentationml.slideLayout+xml"/>
  <Override PartName="/ppt/theme/theme3.xml" ContentType="application/vnd.openxmlformats-officedocument.theme+xml"/>
  <Override PartName="/ppt/tags/tag2.xml" ContentType="application/vnd.openxmlformats-officedocument.presentationml.tags+xml"/>
  <Override PartName="/ppt/slideLayouts/slideLayout15.xml" ContentType="application/vnd.openxmlformats-officedocument.presentationml.slideLayout+xml"/>
  <Override PartName="/ppt/theme/theme4.xml" ContentType="application/vnd.openxmlformats-officedocument.theme+xml"/>
  <Override PartName="/ppt/tags/tag3.xml" ContentType="application/vnd.openxmlformats-officedocument.presentationml.tags+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ppt/drawings/drawing1.xml" ContentType="application/vnd.openxmlformats-officedocument.drawingml.chartshapes+xml"/>
  <Override PartName="/ppt/notesSlides/notesSlide4.xml" ContentType="application/vnd.openxmlformats-officedocument.presentationml.notesSlide+xml"/>
  <Override PartName="/ppt/charts/chart4.xml" ContentType="application/vnd.openxmlformats-officedocument.drawingml.chart+xml"/>
  <Override PartName="/ppt/notesSlides/notesSlide5.xml" ContentType="application/vnd.openxmlformats-officedocument.presentationml.notesSlide+xml"/>
  <Override PartName="/ppt/charts/chart5.xml" ContentType="application/vnd.openxmlformats-officedocument.drawingml.chart+xml"/>
  <Override PartName="/ppt/notesSlides/notesSlide6.xml" ContentType="application/vnd.openxmlformats-officedocument.presentationml.notesSlide+xml"/>
  <Override PartName="/ppt/charts/chart6.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7.xml" ContentType="application/vnd.openxmlformats-officedocument.drawingml.chart+xml"/>
  <Override PartName="/ppt/charts/chart8.xml" ContentType="application/vnd.openxmlformats-officedocument.drawingml.chart+xml"/>
  <Override PartName="/ppt/notesSlides/notesSlide9.xml" ContentType="application/vnd.openxmlformats-officedocument.presentationml.notesSlide+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notesSlides/notesSlide10.xml" ContentType="application/vnd.openxmlformats-officedocument.presentationml.notesSlide+xml"/>
  <Override PartName="/ppt/charts/chart12.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rts/chart13.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73" r:id="rId2"/>
    <p:sldMasterId id="2147483675" r:id="rId3"/>
    <p:sldMasterId id="2147483677" r:id="rId4"/>
  </p:sldMasterIdLst>
  <p:notesMasterIdLst>
    <p:notesMasterId r:id="rId35"/>
  </p:notesMasterIdLst>
  <p:sldIdLst>
    <p:sldId id="600" r:id="rId5"/>
    <p:sldId id="265" r:id="rId6"/>
    <p:sldId id="603" r:id="rId7"/>
    <p:sldId id="604" r:id="rId8"/>
    <p:sldId id="605" r:id="rId9"/>
    <p:sldId id="606" r:id="rId10"/>
    <p:sldId id="607" r:id="rId11"/>
    <p:sldId id="623" r:id="rId12"/>
    <p:sldId id="608" r:id="rId13"/>
    <p:sldId id="609" r:id="rId14"/>
    <p:sldId id="610" r:id="rId15"/>
    <p:sldId id="611" r:id="rId16"/>
    <p:sldId id="619" r:id="rId17"/>
    <p:sldId id="621" r:id="rId18"/>
    <p:sldId id="532" r:id="rId19"/>
    <p:sldId id="533" r:id="rId20"/>
    <p:sldId id="461" r:id="rId21"/>
    <p:sldId id="614" r:id="rId22"/>
    <p:sldId id="622" r:id="rId23"/>
    <p:sldId id="464" r:id="rId24"/>
    <p:sldId id="490" r:id="rId25"/>
    <p:sldId id="602" r:id="rId26"/>
    <p:sldId id="411" r:id="rId27"/>
    <p:sldId id="601" r:id="rId28"/>
    <p:sldId id="612" r:id="rId29"/>
    <p:sldId id="613" r:id="rId30"/>
    <p:sldId id="615" r:id="rId31"/>
    <p:sldId id="616" r:id="rId32"/>
    <p:sldId id="617" r:id="rId33"/>
    <p:sldId id="618" r:id="rId34"/>
  </p:sldIdLst>
  <p:sldSz cx="9144000" cy="514826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83" userDrawn="1">
          <p15:clr>
            <a:srgbClr val="A4A3A4"/>
          </p15:clr>
        </p15:guide>
        <p15:guide id="2" pos="61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 initials="a" lastIdx="1" clrIdx="0">
    <p:extLst>
      <p:ext uri="{19B8F6BF-5375-455C-9EA6-DF929625EA0E}">
        <p15:presenceInfo xmlns:p15="http://schemas.microsoft.com/office/powerpoint/2012/main" userId="adm" providerId="None"/>
      </p:ext>
    </p:extLst>
  </p:cmAuthor>
  <p:cmAuthor id="2" name="Luis Marcal" initials="LM" lastIdx="0" clrIdx="1">
    <p:extLst>
      <p:ext uri="{19B8F6BF-5375-455C-9EA6-DF929625EA0E}">
        <p15:presenceInfo xmlns:p15="http://schemas.microsoft.com/office/powerpoint/2012/main" userId="Luis Marcal"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CCCC00"/>
    <a:srgbClr val="19345B"/>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35" autoAdjust="0"/>
    <p:restoredTop sz="88220" autoAdjust="0"/>
  </p:normalViewPr>
  <p:slideViewPr>
    <p:cSldViewPr snapToGrid="0" snapToObjects="1">
      <p:cViewPr varScale="1">
        <p:scale>
          <a:sx n="86" d="100"/>
          <a:sy n="86" d="100"/>
        </p:scale>
        <p:origin x="930" y="84"/>
      </p:cViewPr>
      <p:guideLst>
        <p:guide orient="horz" pos="2483"/>
        <p:guide pos="612"/>
      </p:guideLst>
    </p:cSldViewPr>
  </p:slid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3" Type="http://schemas.openxmlformats.org/officeDocument/2006/relationships/slideMaster" Target="slideMasters/slideMaster3.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1.xml"/><Relationship Id="rId1" Type="http://schemas.microsoft.com/office/2011/relationships/chartStyle" Target="style1.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chartUserShapes" Target="../drawings/drawing1.xml"/></Relationships>
</file>

<file path=ppt/charts/_rels/chart4.xml.rels><?xml version="1.0" encoding="UTF-8" standalone="yes"?>
<Relationships xmlns="http://schemas.openxmlformats.org/package/2006/relationships"><Relationship Id="rId1" Type="http://schemas.openxmlformats.org/officeDocument/2006/relationships/oleObject" Target="file:///\\10.100.10.211\GEQ_Medicao%20e%20Analise\02.%20Relatorios\Estabilidade%20Operacional\Abril\Comparativo%20AI%20-%2027-04-16.xlsm"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file:///\\10.100.10.211\GEQ_Medicao%20e%20Analise\02.%20Relatorios\Estabilidade%20Operacional\Abril\Comparativo%20AI%20-%2027-04-16.xlsm" TargetMode="External"/></Relationships>
</file>

<file path=ppt/charts/_rels/chart6.xml.rels><?xml version="1.0" encoding="UTF-8" standalone="yes"?>
<Relationships xmlns="http://schemas.openxmlformats.org/package/2006/relationships"><Relationship Id="rId1" Type="http://schemas.openxmlformats.org/officeDocument/2006/relationships/oleObject" Target="file:///\\10.100.10.211\GEQ_Medicao%20e%20Analise\02.%20Relatorios\Estabilidade%20Operacional\Abril\Comparativo%20AI%20-%2027-04-16.xlsm" TargetMode="External"/></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2.xml.rels><?xml version="1.0" encoding="UTF-8" standalone="yes"?>
<Relationships xmlns="http://schemas.openxmlformats.org/package/2006/relationships"><Relationship Id="rId3" Type="http://schemas.openxmlformats.org/officeDocument/2006/relationships/oleObject" Target="file:///C:\Roberto%20Contax\CSC%20ADM%20Processos\Apresentacao%20Comite%20Estabilizacao\Analise%20Alto%20Impacto%2018_04_2016\Alto%20Impacto%2018_04_2016.xlsx" TargetMode="External"/><Relationship Id="rId2" Type="http://schemas.microsoft.com/office/2011/relationships/chartColorStyle" Target="colors3.xml"/><Relationship Id="rId1" Type="http://schemas.microsoft.com/office/2011/relationships/chartStyle" Target="style3.xml"/></Relationships>
</file>

<file path=ppt/charts/_rels/chart13.xml.rels><?xml version="1.0" encoding="UTF-8" standalone="yes"?>
<Relationships xmlns="http://schemas.openxmlformats.org/package/2006/relationships"><Relationship Id="rId3" Type="http://schemas.openxmlformats.org/officeDocument/2006/relationships/oleObject" Target="file:///\\10.100.10.211\GEQ_Medicao%20e%20Analise\02.%20Relatorios\Estabilidade%20Operacional\Abril\Alto%20Impacto%20Natureza%20de%20marco%202016%20v1_0.xlsx"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a:defRPr sz="1500" b="1" i="0" u="none" strike="noStrike" kern="1200" spc="0" baseline="0">
                <a:solidFill>
                  <a:schemeClr val="tx1">
                    <a:lumMod val="65000"/>
                    <a:lumOff val="35000"/>
                  </a:schemeClr>
                </a:solidFill>
                <a:latin typeface="+mn-lt"/>
                <a:ea typeface="+mn-ea"/>
                <a:cs typeface="+mn-cs"/>
              </a:defRPr>
            </a:pPr>
            <a:r>
              <a:rPr lang="pt-BR" sz="1500" b="1" dirty="0"/>
              <a:t>Volume</a:t>
            </a:r>
            <a:r>
              <a:rPr lang="pt-BR" sz="1500" b="1" baseline="0" dirty="0"/>
              <a:t> de </a:t>
            </a:r>
            <a:r>
              <a:rPr lang="pt-BR" sz="1500" b="1" dirty="0"/>
              <a:t>Incidentes Alto Impacto</a:t>
            </a:r>
          </a:p>
        </c:rich>
      </c:tx>
      <c:layout>
        <c:manualLayout>
          <c:xMode val="edge"/>
          <c:yMode val="edge"/>
          <c:x val="0.1763608431509571"/>
          <c:y val="1.5304370398211066E-3"/>
        </c:manualLayout>
      </c:layout>
      <c:overlay val="0"/>
      <c:spPr>
        <a:noFill/>
        <a:ln>
          <a:noFill/>
        </a:ln>
        <a:effectLst/>
      </c:spPr>
    </c:title>
    <c:autoTitleDeleted val="0"/>
    <c:plotArea>
      <c:layout>
        <c:manualLayout>
          <c:layoutTarget val="inner"/>
          <c:xMode val="edge"/>
          <c:yMode val="edge"/>
          <c:x val="0"/>
          <c:y val="0.21105009973328545"/>
          <c:w val="1"/>
          <c:h val="0.58094719439387965"/>
        </c:manualLayout>
      </c:layout>
      <c:barChart>
        <c:barDir val="col"/>
        <c:grouping val="stacked"/>
        <c:varyColors val="0"/>
        <c:ser>
          <c:idx val="0"/>
          <c:order val="0"/>
          <c:tx>
            <c:strRef>
              <c:f>Plan1!$B$1</c:f>
              <c:strCache>
                <c:ptCount val="1"/>
                <c:pt idx="0">
                  <c:v>Incidentes</c:v>
                </c:pt>
              </c:strCache>
            </c:strRef>
          </c:tx>
          <c:spPr>
            <a:solidFill>
              <a:schemeClr val="tx2"/>
            </a:solidFill>
            <a:ln>
              <a:noFill/>
            </a:ln>
            <a:effectLst/>
            <a:scene3d>
              <a:camera prst="orthographicFront"/>
              <a:lightRig rig="threePt" dir="t"/>
            </a:scene3d>
            <a:sp3d>
              <a:bevelT w="165100" prst="coolSlant"/>
            </a:sp3d>
          </c:spPr>
          <c:invertIfNegative val="0"/>
          <c:dPt>
            <c:idx val="3"/>
            <c:invertIfNegative val="0"/>
            <c:bubble3D val="0"/>
            <c:extLst xmlns:c16r2="http://schemas.microsoft.com/office/drawing/2015/06/chart">
              <c:ext xmlns:c16="http://schemas.microsoft.com/office/drawing/2014/chart" uri="{C3380CC4-5D6E-409C-BE32-E72D297353CC}">
                <c16:uniqueId val="{00000001-3AF3-47B6-B362-8D75B94687B9}"/>
              </c:ext>
            </c:extLst>
          </c:dPt>
          <c:dPt>
            <c:idx val="4"/>
            <c:invertIfNegative val="0"/>
            <c:bubble3D val="0"/>
            <c:extLst xmlns:c16r2="http://schemas.microsoft.com/office/drawing/2015/06/chart">
              <c:ext xmlns:c16="http://schemas.microsoft.com/office/drawing/2014/chart" uri="{C3380CC4-5D6E-409C-BE32-E72D297353CC}">
                <c16:uniqueId val="{00000003-3AF3-47B6-B362-8D75B94687B9}"/>
              </c:ext>
            </c:extLst>
          </c:dPt>
          <c:dPt>
            <c:idx val="5"/>
            <c:invertIfNegative val="0"/>
            <c:bubble3D val="0"/>
            <c:spPr>
              <a:solidFill>
                <a:srgbClr val="00B050"/>
              </a:solidFill>
              <a:ln>
                <a:noFill/>
              </a:ln>
              <a:effectLst/>
              <a:scene3d>
                <a:camera prst="orthographicFront"/>
                <a:lightRig rig="threePt" dir="t"/>
              </a:scene3d>
              <a:sp3d>
                <a:bevelT w="165100" prst="coolSlant"/>
              </a:sp3d>
            </c:spPr>
            <c:extLst xmlns:c16r2="http://schemas.microsoft.com/office/drawing/2015/06/chart">
              <c:ext xmlns:c16="http://schemas.microsoft.com/office/drawing/2014/chart" uri="{C3380CC4-5D6E-409C-BE32-E72D297353CC}">
                <c16:uniqueId val="{00000005-A68B-42D7-9922-1033F30CA165}"/>
              </c:ext>
            </c:extLst>
          </c:dPt>
          <c:dLbls>
            <c:dLbl>
              <c:idx val="0"/>
              <c:layout>
                <c:manualLayout>
                  <c:x val="5.5830416969469136E-6"/>
                  <c:y val="-0.31989958293466131"/>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6-A342-4057-BDFD-D4272EDC6324}"/>
                </c:ext>
                <c:ext xmlns:c15="http://schemas.microsoft.com/office/drawing/2012/chart" uri="{CE6537A1-D6FC-4f65-9D91-7224C49458BB}">
                  <c15:layout/>
                </c:ext>
              </c:extLst>
            </c:dLbl>
            <c:dLbl>
              <c:idx val="1"/>
              <c:layout>
                <c:manualLayout>
                  <c:x val="5.9401031800599621E-3"/>
                  <c:y val="-0.1247614952267788"/>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7-A342-4057-BDFD-D4272EDC6324}"/>
                </c:ext>
                <c:ext xmlns:c15="http://schemas.microsoft.com/office/drawing/2012/chart" uri="{CE6537A1-D6FC-4f65-9D91-7224C49458BB}">
                  <c15:layout/>
                </c:ext>
              </c:extLst>
            </c:dLbl>
            <c:dLbl>
              <c:idx val="2"/>
              <c:layout>
                <c:manualLayout>
                  <c:x val="-5.9401031800599075E-3"/>
                  <c:y val="-0.13610344933830426"/>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8-A342-4057-BDFD-D4272EDC6324}"/>
                </c:ext>
                <c:ext xmlns:c15="http://schemas.microsoft.com/office/drawing/2012/chart" uri="{CE6537A1-D6FC-4f65-9D91-7224C49458BB}">
                  <c15:layout/>
                </c:ext>
              </c:extLst>
            </c:dLbl>
            <c:dLbl>
              <c:idx val="3"/>
              <c:layout>
                <c:manualLayout>
                  <c:x val="-8.9101547700900525E-3"/>
                  <c:y val="-0.14177442639406682"/>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1-3AF3-47B6-B362-8D75B94687B9}"/>
                </c:ext>
                <c:ext xmlns:c15="http://schemas.microsoft.com/office/drawing/2012/chart" uri="{CE6537A1-D6FC-4f65-9D91-7224C49458BB}">
                  <c15:layout/>
                </c:ext>
              </c:extLst>
            </c:dLbl>
            <c:dLbl>
              <c:idx val="4"/>
              <c:layout>
                <c:manualLayout>
                  <c:x val="2.9700515900298722E-3"/>
                  <c:y val="-0.14744540344982948"/>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3-3AF3-47B6-B362-8D75B94687B9}"/>
                </c:ext>
                <c:ext xmlns:c15="http://schemas.microsoft.com/office/drawing/2012/chart" uri="{CE6537A1-D6FC-4f65-9D91-7224C49458BB}">
                  <c15:layout/>
                </c:ext>
              </c:extLst>
            </c:dLbl>
            <c:dLbl>
              <c:idx val="5"/>
              <c:layout>
                <c:manualLayout>
                  <c:x val="-1.0346095036632915E-16"/>
                  <c:y val="-6.7195767195767295E-2"/>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5-A68B-42D7-9922-1033F30CA165}"/>
                </c:ext>
                <c:ext xmlns:c15="http://schemas.microsoft.com/office/drawing/2012/chart" uri="{CE6537A1-D6FC-4f65-9D91-7224C49458BB}">
                  <c15:layout/>
                </c:ext>
              </c:extLst>
            </c:dLbl>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75000"/>
                        <a:lumOff val="25000"/>
                      </a:schemeClr>
                    </a:solidFill>
                    <a:latin typeface="+mn-lt"/>
                    <a:ea typeface="+mn-ea"/>
                    <a:cs typeface="+mn-cs"/>
                  </a:defRPr>
                </a:pPr>
                <a:endParaRPr lang="pt-BR"/>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0"/>
              </c:ext>
            </c:extLst>
          </c:dLbls>
          <c:cat>
            <c:strRef>
              <c:f>Plan1!$A$2:$A$7</c:f>
              <c:strCache>
                <c:ptCount val="6"/>
                <c:pt idx="0">
                  <c:v>Ago</c:v>
                </c:pt>
                <c:pt idx="1">
                  <c:v>Dez</c:v>
                </c:pt>
                <c:pt idx="2">
                  <c:v>Jan</c:v>
                </c:pt>
                <c:pt idx="3">
                  <c:v>Fev</c:v>
                </c:pt>
                <c:pt idx="4">
                  <c:v>Mar</c:v>
                </c:pt>
                <c:pt idx="5">
                  <c:v>Abr</c:v>
                </c:pt>
              </c:strCache>
            </c:strRef>
          </c:cat>
          <c:val>
            <c:numRef>
              <c:f>Plan1!$B$2:$B$7</c:f>
              <c:numCache>
                <c:formatCode>#,##0</c:formatCode>
                <c:ptCount val="6"/>
                <c:pt idx="0">
                  <c:v>1494</c:v>
                </c:pt>
                <c:pt idx="1">
                  <c:v>294</c:v>
                </c:pt>
                <c:pt idx="2">
                  <c:v>210</c:v>
                </c:pt>
                <c:pt idx="3">
                  <c:v>204</c:v>
                </c:pt>
                <c:pt idx="4">
                  <c:v>180</c:v>
                </c:pt>
                <c:pt idx="5">
                  <c:v>146</c:v>
                </c:pt>
              </c:numCache>
            </c:numRef>
          </c:val>
          <c:extLst xmlns:c16r2="http://schemas.microsoft.com/office/drawing/2015/06/chart">
            <c:ext xmlns:c16="http://schemas.microsoft.com/office/drawing/2014/chart" uri="{C3380CC4-5D6E-409C-BE32-E72D297353CC}">
              <c16:uniqueId val="{00000007-3AF3-47B6-B362-8D75B94687B9}"/>
            </c:ext>
          </c:extLst>
        </c:ser>
        <c:dLbls>
          <c:dLblPos val="ctr"/>
          <c:showLegendKey val="0"/>
          <c:showVal val="1"/>
          <c:showCatName val="0"/>
          <c:showSerName val="0"/>
          <c:showPercent val="0"/>
          <c:showBubbleSize val="0"/>
        </c:dLbls>
        <c:gapWidth val="219"/>
        <c:overlap val="100"/>
        <c:axId val="228796672"/>
        <c:axId val="228788440"/>
      </c:barChart>
      <c:catAx>
        <c:axId val="2287966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pt-BR"/>
          </a:p>
        </c:txPr>
        <c:crossAx val="228788440"/>
        <c:crosses val="autoZero"/>
        <c:auto val="1"/>
        <c:lblAlgn val="ctr"/>
        <c:lblOffset val="100"/>
        <c:noMultiLvlLbl val="0"/>
      </c:catAx>
      <c:valAx>
        <c:axId val="228788440"/>
        <c:scaling>
          <c:orientation val="minMax"/>
        </c:scaling>
        <c:delete val="1"/>
        <c:axPos val="l"/>
        <c:numFmt formatCode="#,##0" sourceLinked="1"/>
        <c:majorTickMark val="none"/>
        <c:minorTickMark val="none"/>
        <c:tickLblPos val="nextTo"/>
        <c:crossAx val="228796672"/>
        <c:crosses val="autoZero"/>
        <c:crossBetween val="between"/>
      </c:valAx>
    </c:plotArea>
    <c:plotVisOnly val="1"/>
    <c:dispBlanksAs val="gap"/>
    <c:showDLblsOverMax val="0"/>
  </c:chart>
  <c:spPr>
    <a:noFill/>
    <a:ln>
      <a:noFill/>
    </a:ln>
    <a:effectLst/>
  </c:spPr>
  <c:txPr>
    <a:bodyPr/>
    <a:lstStyle/>
    <a:p>
      <a:pPr>
        <a:defRPr/>
      </a:pPr>
      <a:endParaRPr lang="pt-B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a:defRPr sz="1500" b="1" i="0" u="none" strike="noStrike" kern="1200" spc="0" baseline="0">
                <a:solidFill>
                  <a:schemeClr val="tx1">
                    <a:lumMod val="65000"/>
                    <a:lumOff val="35000"/>
                  </a:schemeClr>
                </a:solidFill>
                <a:latin typeface="+mn-lt"/>
                <a:ea typeface="+mn-ea"/>
                <a:cs typeface="+mn-cs"/>
              </a:defRPr>
            </a:pPr>
            <a:r>
              <a:rPr lang="pt-BR" sz="1500" b="1" dirty="0"/>
              <a:t>Média diária de Incidentes Alto Impacto</a:t>
            </a:r>
          </a:p>
        </c:rich>
      </c:tx>
      <c:layout>
        <c:manualLayout>
          <c:xMode val="edge"/>
          <c:yMode val="edge"/>
          <c:x val="0.1585050000070585"/>
          <c:y val="0"/>
        </c:manualLayout>
      </c:layout>
      <c:overlay val="0"/>
      <c:spPr>
        <a:noFill/>
        <a:ln>
          <a:noFill/>
        </a:ln>
        <a:effectLst/>
      </c:spPr>
      <c:txPr>
        <a:bodyPr rot="0" spcFirstLastPara="1" vertOverflow="ellipsis" vert="horz" wrap="square" anchor="ctr" anchorCtr="1"/>
        <a:lstStyle/>
        <a:p>
          <a:pPr algn="ctr">
            <a:defRPr sz="1500" b="1" i="0" u="none" strike="noStrike" kern="1200" spc="0" baseline="0">
              <a:solidFill>
                <a:schemeClr val="tx1">
                  <a:lumMod val="65000"/>
                  <a:lumOff val="35000"/>
                </a:schemeClr>
              </a:solidFill>
              <a:latin typeface="+mn-lt"/>
              <a:ea typeface="+mn-ea"/>
              <a:cs typeface="+mn-cs"/>
            </a:defRPr>
          </a:pPr>
          <a:endParaRPr lang="pt-BR"/>
        </a:p>
      </c:txPr>
    </c:title>
    <c:autoTitleDeleted val="0"/>
    <c:plotArea>
      <c:layout>
        <c:manualLayout>
          <c:layoutTarget val="inner"/>
          <c:xMode val="edge"/>
          <c:yMode val="edge"/>
          <c:x val="2.7352474322057077E-2"/>
          <c:y val="0.19970809412273891"/>
          <c:w val="0.97264752567693746"/>
          <c:h val="0.58094719439387965"/>
        </c:manualLayout>
      </c:layout>
      <c:barChart>
        <c:barDir val="col"/>
        <c:grouping val="stacked"/>
        <c:varyColors val="0"/>
        <c:ser>
          <c:idx val="0"/>
          <c:order val="0"/>
          <c:tx>
            <c:strRef>
              <c:f>Plan1!$B$1</c:f>
              <c:strCache>
                <c:ptCount val="1"/>
                <c:pt idx="0">
                  <c:v>Incidentes</c:v>
                </c:pt>
              </c:strCache>
            </c:strRef>
          </c:tx>
          <c:spPr>
            <a:solidFill>
              <a:schemeClr val="tx2"/>
            </a:solidFill>
            <a:ln>
              <a:noFill/>
            </a:ln>
            <a:effectLst/>
            <a:scene3d>
              <a:camera prst="orthographicFront"/>
              <a:lightRig rig="threePt" dir="t"/>
            </a:scene3d>
            <a:sp3d>
              <a:bevelT/>
            </a:sp3d>
          </c:spPr>
          <c:invertIfNegative val="0"/>
          <c:dPt>
            <c:idx val="3"/>
            <c:invertIfNegative val="0"/>
            <c:bubble3D val="0"/>
            <c:extLst xmlns:c16r2="http://schemas.microsoft.com/office/drawing/2015/06/chart">
              <c:ext xmlns:c16="http://schemas.microsoft.com/office/drawing/2014/chart" uri="{C3380CC4-5D6E-409C-BE32-E72D297353CC}">
                <c16:uniqueId val="{00000001-852E-40EC-BB07-F4FF4F71836A}"/>
              </c:ext>
            </c:extLst>
          </c:dPt>
          <c:dPt>
            <c:idx val="4"/>
            <c:invertIfNegative val="0"/>
            <c:bubble3D val="0"/>
            <c:extLst xmlns:c16r2="http://schemas.microsoft.com/office/drawing/2015/06/chart">
              <c:ext xmlns:c16="http://schemas.microsoft.com/office/drawing/2014/chart" uri="{C3380CC4-5D6E-409C-BE32-E72D297353CC}">
                <c16:uniqueId val="{00000003-852E-40EC-BB07-F4FF4F71836A}"/>
              </c:ext>
            </c:extLst>
          </c:dPt>
          <c:dPt>
            <c:idx val="5"/>
            <c:invertIfNegative val="0"/>
            <c:bubble3D val="0"/>
            <c:spPr>
              <a:solidFill>
                <a:srgbClr val="00B050"/>
              </a:solidFill>
              <a:ln>
                <a:noFill/>
              </a:ln>
              <a:effectLst/>
              <a:scene3d>
                <a:camera prst="orthographicFront"/>
                <a:lightRig rig="threePt" dir="t"/>
              </a:scene3d>
              <a:sp3d>
                <a:bevelT/>
              </a:sp3d>
            </c:spPr>
            <c:extLst xmlns:c16r2="http://schemas.microsoft.com/office/drawing/2015/06/chart">
              <c:ext xmlns:c16="http://schemas.microsoft.com/office/drawing/2014/chart" uri="{C3380CC4-5D6E-409C-BE32-E72D297353CC}">
                <c16:uniqueId val="{00000005-5CA6-4A76-8126-37E9773D9510}"/>
              </c:ext>
            </c:extLst>
          </c:dPt>
          <c:dLbls>
            <c:dLbl>
              <c:idx val="0"/>
              <c:layout>
                <c:manualLayout>
                  <c:x val="-2.9880988961915756E-3"/>
                  <c:y val="-0.32997223950626908"/>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6-1336-4DE1-AAF2-45A9A199F5C6}"/>
                </c:ext>
                <c:ext xmlns:c15="http://schemas.microsoft.com/office/drawing/2012/chart" uri="{CE6537A1-D6FC-4f65-9D91-7224C49458BB}">
                  <c15:layout/>
                </c:ext>
              </c:extLst>
            </c:dLbl>
            <c:dLbl>
              <c:idx val="1"/>
              <c:layout>
                <c:manualLayout>
                  <c:x val="-8.9642966885746869E-3"/>
                  <c:y val="-0.16498611975313454"/>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7-1336-4DE1-AAF2-45A9A199F5C6}"/>
                </c:ext>
                <c:ext xmlns:c15="http://schemas.microsoft.com/office/drawing/2012/chart" uri="{CE6537A1-D6FC-4f65-9D91-7224C49458BB}">
                  <c15:layout/>
                </c:ext>
              </c:extLst>
            </c:dLbl>
            <c:dLbl>
              <c:idx val="2"/>
              <c:layout>
                <c:manualLayout>
                  <c:x val="-2.9880988961916168E-3"/>
                  <c:y val="-0.17636447283955761"/>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8-1336-4DE1-AAF2-45A9A199F5C6}"/>
                </c:ext>
                <c:ext xmlns:c15="http://schemas.microsoft.com/office/drawing/2012/chart" uri="{CE6537A1-D6FC-4f65-9D91-7224C49458BB}">
                  <c15:layout/>
                </c:ext>
              </c:extLst>
            </c:dLbl>
            <c:dLbl>
              <c:idx val="3"/>
              <c:layout>
                <c:manualLayout>
                  <c:x val="-2.9880988961915622E-3"/>
                  <c:y val="-0.16498611975313465"/>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1-852E-40EC-BB07-F4FF4F71836A}"/>
                </c:ext>
                <c:ext xmlns:c15="http://schemas.microsoft.com/office/drawing/2012/chart" uri="{CE6537A1-D6FC-4f65-9D91-7224C49458BB}">
                  <c15:layout/>
                </c:ext>
              </c:extLst>
            </c:dLbl>
            <c:dLbl>
              <c:idx val="4"/>
              <c:layout>
                <c:manualLayout>
                  <c:x val="-1.0956236051995256E-16"/>
                  <c:y val="-0.17067529629634617"/>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3-852E-40EC-BB07-F4FF4F71836A}"/>
                </c:ext>
                <c:ext xmlns:c15="http://schemas.microsoft.com/office/drawing/2012/chart" uri="{CE6537A1-D6FC-4f65-9D91-7224C49458BB}">
                  <c15:layout/>
                </c:ext>
              </c:extLst>
            </c:dLbl>
            <c:dLbl>
              <c:idx val="5"/>
              <c:layout>
                <c:manualLayout>
                  <c:x val="-2.9645191409897291E-3"/>
                  <c:y val="-9.1282502131690424E-2"/>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5-5CA6-4A76-8126-37E9773D9510}"/>
                </c:ext>
                <c:ext xmlns:c15="http://schemas.microsoft.com/office/drawing/2012/chart" uri="{CE6537A1-D6FC-4f65-9D91-7224C49458BB}">
                  <c15:layout/>
                </c:ext>
              </c:extLst>
            </c:dLbl>
            <c:spPr>
              <a:noFill/>
              <a:ln>
                <a:noFill/>
              </a:ln>
              <a:effectLst/>
            </c:spPr>
            <c:txPr>
              <a:bodyPr rot="0" spcFirstLastPara="1" vertOverflow="ellipsis" vert="horz" wrap="square" lIns="38100" tIns="19050" rIns="38100" bIns="19050" anchor="t" anchorCtr="0">
                <a:spAutoFit/>
              </a:bodyPr>
              <a:lstStyle/>
              <a:p>
                <a:pPr>
                  <a:defRPr sz="1197" b="1" i="0" u="none" strike="noStrike" kern="1200" baseline="0">
                    <a:solidFill>
                      <a:schemeClr val="tx1">
                        <a:lumMod val="75000"/>
                        <a:lumOff val="25000"/>
                      </a:schemeClr>
                    </a:solidFill>
                    <a:latin typeface="+mn-lt"/>
                    <a:ea typeface="+mn-ea"/>
                    <a:cs typeface="+mn-cs"/>
                  </a:defRPr>
                </a:pPr>
                <a:endParaRPr lang="pt-BR"/>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0"/>
              </c:ext>
            </c:extLst>
          </c:dLbls>
          <c:cat>
            <c:strRef>
              <c:f>Plan1!$A$2:$A$7</c:f>
              <c:strCache>
                <c:ptCount val="6"/>
                <c:pt idx="0">
                  <c:v>Ago</c:v>
                </c:pt>
                <c:pt idx="1">
                  <c:v>Dez</c:v>
                </c:pt>
                <c:pt idx="2">
                  <c:v>Jan</c:v>
                </c:pt>
                <c:pt idx="3">
                  <c:v>Fev</c:v>
                </c:pt>
                <c:pt idx="4">
                  <c:v>Mar</c:v>
                </c:pt>
                <c:pt idx="5">
                  <c:v>Abr</c:v>
                </c:pt>
              </c:strCache>
            </c:strRef>
          </c:cat>
          <c:val>
            <c:numRef>
              <c:f>Plan1!$B$2:$B$7</c:f>
              <c:numCache>
                <c:formatCode>#,##0.00</c:formatCode>
                <c:ptCount val="6"/>
                <c:pt idx="0">
                  <c:v>48.19</c:v>
                </c:pt>
                <c:pt idx="1">
                  <c:v>9.48</c:v>
                </c:pt>
                <c:pt idx="2">
                  <c:v>6.77</c:v>
                </c:pt>
                <c:pt idx="3">
                  <c:v>7.03</c:v>
                </c:pt>
                <c:pt idx="4">
                  <c:v>5.806451612903226</c:v>
                </c:pt>
                <c:pt idx="5">
                  <c:v>4.8600000000000003</c:v>
                </c:pt>
              </c:numCache>
            </c:numRef>
          </c:val>
          <c:extLst xmlns:c16r2="http://schemas.microsoft.com/office/drawing/2015/06/chart">
            <c:ext xmlns:c16="http://schemas.microsoft.com/office/drawing/2014/chart" uri="{C3380CC4-5D6E-409C-BE32-E72D297353CC}">
              <c16:uniqueId val="{00000007-852E-40EC-BB07-F4FF4F71836A}"/>
            </c:ext>
          </c:extLst>
        </c:ser>
        <c:dLbls>
          <c:dLblPos val="ctr"/>
          <c:showLegendKey val="0"/>
          <c:showVal val="1"/>
          <c:showCatName val="0"/>
          <c:showSerName val="0"/>
          <c:showPercent val="0"/>
          <c:showBubbleSize val="0"/>
        </c:dLbls>
        <c:gapWidth val="219"/>
        <c:overlap val="100"/>
        <c:axId val="228798632"/>
        <c:axId val="228799416"/>
      </c:barChart>
      <c:catAx>
        <c:axId val="2287986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pt-BR"/>
          </a:p>
        </c:txPr>
        <c:crossAx val="228799416"/>
        <c:crosses val="autoZero"/>
        <c:auto val="1"/>
        <c:lblAlgn val="ctr"/>
        <c:lblOffset val="100"/>
        <c:noMultiLvlLbl val="0"/>
      </c:catAx>
      <c:valAx>
        <c:axId val="228799416"/>
        <c:scaling>
          <c:orientation val="minMax"/>
        </c:scaling>
        <c:delete val="1"/>
        <c:axPos val="l"/>
        <c:numFmt formatCode="#,##0.00" sourceLinked="1"/>
        <c:majorTickMark val="none"/>
        <c:minorTickMark val="none"/>
        <c:tickLblPos val="nextTo"/>
        <c:crossAx val="228798632"/>
        <c:crosses val="autoZero"/>
        <c:crossBetween val="between"/>
      </c:valAx>
      <c:spPr>
        <a:noFill/>
        <a:ln w="25400">
          <a:noFill/>
        </a:ln>
        <a:effectLst/>
      </c:spPr>
    </c:plotArea>
    <c:plotVisOnly val="1"/>
    <c:dispBlanksAs val="gap"/>
    <c:showDLblsOverMax val="0"/>
  </c:chart>
  <c:spPr>
    <a:noFill/>
    <a:ln>
      <a:noFill/>
    </a:ln>
    <a:effectLst/>
  </c:spPr>
  <c:txPr>
    <a:bodyPr/>
    <a:lstStyle/>
    <a:p>
      <a:pPr>
        <a:defRPr/>
      </a:pPr>
      <a:endParaRPr lang="pt-B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4382486517836682E-2"/>
          <c:y val="0.21105009973328545"/>
          <c:w val="0.90799622273489888"/>
          <c:h val="0.58094719439387965"/>
        </c:manualLayout>
      </c:layout>
      <c:barChart>
        <c:barDir val="col"/>
        <c:grouping val="stacked"/>
        <c:varyColors val="0"/>
        <c:ser>
          <c:idx val="0"/>
          <c:order val="0"/>
          <c:tx>
            <c:strRef>
              <c:f>Plan1!$B$1</c:f>
              <c:strCache>
                <c:ptCount val="1"/>
                <c:pt idx="0">
                  <c:v>Incidentes</c:v>
                </c:pt>
              </c:strCache>
            </c:strRef>
          </c:tx>
          <c:spPr>
            <a:solidFill>
              <a:schemeClr val="tx2"/>
            </a:solidFill>
            <a:ln>
              <a:noFill/>
            </a:ln>
            <a:effectLst/>
            <a:scene3d>
              <a:camera prst="orthographicFront"/>
              <a:lightRig rig="threePt" dir="t"/>
            </a:scene3d>
            <a:sp3d>
              <a:bevelT w="165100" prst="coolSlant"/>
            </a:sp3d>
          </c:spPr>
          <c:invertIfNegative val="0"/>
          <c:dPt>
            <c:idx val="3"/>
            <c:invertIfNegative val="0"/>
            <c:bubble3D val="0"/>
            <c:extLst xmlns:c16r2="http://schemas.microsoft.com/office/drawing/2015/06/chart">
              <c:ext xmlns:c16="http://schemas.microsoft.com/office/drawing/2014/chart" uri="{C3380CC4-5D6E-409C-BE32-E72D297353CC}">
                <c16:uniqueId val="{00000001-3AF3-47B6-B362-8D75B94687B9}"/>
              </c:ext>
            </c:extLst>
          </c:dPt>
          <c:dPt>
            <c:idx val="4"/>
            <c:invertIfNegative val="0"/>
            <c:bubble3D val="0"/>
            <c:extLst xmlns:c16r2="http://schemas.microsoft.com/office/drawing/2015/06/chart">
              <c:ext xmlns:c16="http://schemas.microsoft.com/office/drawing/2014/chart" uri="{C3380CC4-5D6E-409C-BE32-E72D297353CC}">
                <c16:uniqueId val="{00000003-3AF3-47B6-B362-8D75B94687B9}"/>
              </c:ext>
            </c:extLst>
          </c:dPt>
          <c:dPt>
            <c:idx val="5"/>
            <c:invertIfNegative val="0"/>
            <c:bubble3D val="0"/>
            <c:spPr>
              <a:solidFill>
                <a:srgbClr val="00B050"/>
              </a:solidFill>
              <a:ln>
                <a:noFill/>
              </a:ln>
              <a:effectLst/>
              <a:scene3d>
                <a:camera prst="orthographicFront"/>
                <a:lightRig rig="threePt" dir="t"/>
              </a:scene3d>
              <a:sp3d>
                <a:bevelT w="165100" prst="coolSlant"/>
              </a:sp3d>
            </c:spPr>
            <c:extLst xmlns:c16r2="http://schemas.microsoft.com/office/drawing/2015/06/chart">
              <c:ext xmlns:c16="http://schemas.microsoft.com/office/drawing/2014/chart" uri="{C3380CC4-5D6E-409C-BE32-E72D297353CC}">
                <c16:uniqueId val="{00000005-B343-4B87-A407-FBF943380C67}"/>
              </c:ext>
            </c:extLst>
          </c:dPt>
          <c:dLbls>
            <c:dLbl>
              <c:idx val="0"/>
              <c:layout>
                <c:manualLayout>
                  <c:x val="-5.9400113486707184E-3"/>
                  <c:y val="-0.29867281704296733"/>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6-B343-4B87-A407-FBF943380C67}"/>
                </c:ext>
                <c:ext xmlns:c15="http://schemas.microsoft.com/office/drawing/2012/chart" uri="{CE6537A1-D6FC-4f65-9D91-7224C49458BB}">
                  <c15:layout/>
                </c:ext>
              </c:extLst>
            </c:dLbl>
            <c:dLbl>
              <c:idx val="1"/>
              <c:layout>
                <c:manualLayout>
                  <c:x val="5.5555324682596465E-3"/>
                  <c:y val="-0.29147915127361201"/>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7-B343-4B87-A407-FBF943380C67}"/>
                </c:ext>
                <c:ext xmlns:c15="http://schemas.microsoft.com/office/drawing/2012/chart" uri="{CE6537A1-D6FC-4f65-9D91-7224C49458BB}">
                  <c15:layout/>
                </c:ext>
              </c:extLst>
            </c:dLbl>
            <c:dLbl>
              <c:idx val="2"/>
              <c:layout>
                <c:manualLayout>
                  <c:x val="8.5255551212713165E-3"/>
                  <c:y val="-0.29373817410777242"/>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8-B343-4B87-A407-FBF943380C67}"/>
                </c:ext>
                <c:ext xmlns:c15="http://schemas.microsoft.com/office/drawing/2012/chart" uri="{CE6537A1-D6FC-4f65-9D91-7224C49458BB}">
                  <c15:layout/>
                </c:ext>
              </c:extLst>
            </c:dLbl>
            <c:dLbl>
              <c:idx val="3"/>
              <c:layout>
                <c:manualLayout>
                  <c:x val="-5.7477888871415453E-3"/>
                  <c:y val="-0.29006858771988747"/>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1-3AF3-47B6-B362-8D75B94687B9}"/>
                </c:ext>
                <c:ext xmlns:c15="http://schemas.microsoft.com/office/drawing/2012/chart" uri="{CE6537A1-D6FC-4f65-9D91-7224C49458BB}">
                  <c15:layout/>
                </c:ext>
              </c:extLst>
            </c:dLbl>
            <c:dLbl>
              <c:idx val="4"/>
              <c:layout>
                <c:manualLayout>
                  <c:x val="-1.9296824925137694E-3"/>
                  <c:y val="-0.25393129547132892"/>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3-3AF3-47B6-B362-8D75B94687B9}"/>
                </c:ext>
                <c:ext xmlns:c15="http://schemas.microsoft.com/office/drawing/2012/chart" uri="{CE6537A1-D6FC-4f65-9D91-7224C49458BB}">
                  <c15:layout/>
                </c:ext>
              </c:extLst>
            </c:dLbl>
            <c:dLbl>
              <c:idx val="5"/>
              <c:layout>
                <c:manualLayout>
                  <c:x val="4.0550904098286163E-3"/>
                  <c:y val="-0.20929807864057223"/>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5-B343-4B87-A407-FBF943380C67}"/>
                </c:ext>
                <c:ext xmlns:c15="http://schemas.microsoft.com/office/drawing/2012/chart" uri="{CE6537A1-D6FC-4f65-9D91-7224C49458BB}">
                  <c15:layout/>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75000"/>
                        <a:lumOff val="25000"/>
                      </a:schemeClr>
                    </a:solidFill>
                    <a:latin typeface="+mn-lt"/>
                    <a:ea typeface="+mn-ea"/>
                    <a:cs typeface="+mn-cs"/>
                  </a:defRPr>
                </a:pPr>
                <a:endParaRPr lang="pt-BR"/>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0"/>
              </c:ext>
            </c:extLst>
          </c:dLbls>
          <c:cat>
            <c:strRef>
              <c:f>Plan1!$A$2:$A$7</c:f>
              <c:strCache>
                <c:ptCount val="6"/>
                <c:pt idx="0">
                  <c:v>Agosto</c:v>
                </c:pt>
                <c:pt idx="1">
                  <c:v>Dezembro</c:v>
                </c:pt>
                <c:pt idx="2">
                  <c:v>Janeiro</c:v>
                </c:pt>
                <c:pt idx="3">
                  <c:v>Fevereiro</c:v>
                </c:pt>
                <c:pt idx="4">
                  <c:v>Março</c:v>
                </c:pt>
                <c:pt idx="5">
                  <c:v>Abril</c:v>
                </c:pt>
              </c:strCache>
            </c:strRef>
          </c:cat>
          <c:val>
            <c:numRef>
              <c:f>Plan1!$B$2:$B$7</c:f>
              <c:numCache>
                <c:formatCode>#,##0</c:formatCode>
                <c:ptCount val="6"/>
                <c:pt idx="0">
                  <c:v>24272</c:v>
                </c:pt>
                <c:pt idx="1">
                  <c:v>19386</c:v>
                </c:pt>
                <c:pt idx="2">
                  <c:v>21648</c:v>
                </c:pt>
                <c:pt idx="3">
                  <c:v>19660</c:v>
                </c:pt>
                <c:pt idx="4">
                  <c:v>21144</c:v>
                </c:pt>
                <c:pt idx="5">
                  <c:v>16624</c:v>
                </c:pt>
              </c:numCache>
            </c:numRef>
          </c:val>
          <c:extLst xmlns:c16r2="http://schemas.microsoft.com/office/drawing/2015/06/chart">
            <c:ext xmlns:c16="http://schemas.microsoft.com/office/drawing/2014/chart" uri="{C3380CC4-5D6E-409C-BE32-E72D297353CC}">
              <c16:uniqueId val="{00000007-3AF3-47B6-B362-8D75B94687B9}"/>
            </c:ext>
          </c:extLst>
        </c:ser>
        <c:dLbls>
          <c:dLblPos val="ctr"/>
          <c:showLegendKey val="0"/>
          <c:showVal val="1"/>
          <c:showCatName val="0"/>
          <c:showSerName val="0"/>
          <c:showPercent val="0"/>
          <c:showBubbleSize val="0"/>
        </c:dLbls>
        <c:gapWidth val="219"/>
        <c:overlap val="100"/>
        <c:axId val="228787656"/>
        <c:axId val="228793928"/>
      </c:barChart>
      <c:catAx>
        <c:axId val="2287876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pt-BR"/>
          </a:p>
        </c:txPr>
        <c:crossAx val="228793928"/>
        <c:crosses val="autoZero"/>
        <c:auto val="1"/>
        <c:lblAlgn val="ctr"/>
        <c:lblOffset val="100"/>
        <c:noMultiLvlLbl val="0"/>
      </c:catAx>
      <c:valAx>
        <c:axId val="228793928"/>
        <c:scaling>
          <c:orientation val="minMax"/>
        </c:scaling>
        <c:delete val="1"/>
        <c:axPos val="l"/>
        <c:numFmt formatCode="#,##0" sourceLinked="1"/>
        <c:majorTickMark val="none"/>
        <c:minorTickMark val="none"/>
        <c:tickLblPos val="nextTo"/>
        <c:crossAx val="228787656"/>
        <c:crosses val="autoZero"/>
        <c:crossBetween val="between"/>
      </c:valAx>
      <c:spPr>
        <a:noFill/>
        <a:ln w="25400">
          <a:noFill/>
        </a:ln>
        <a:effectLst/>
      </c:spPr>
    </c:plotArea>
    <c:plotVisOnly val="1"/>
    <c:dispBlanksAs val="gap"/>
    <c:showDLblsOverMax val="0"/>
  </c:chart>
  <c:spPr>
    <a:noFill/>
    <a:ln>
      <a:noFill/>
    </a:ln>
    <a:effectLst/>
  </c:spPr>
  <c:txPr>
    <a:bodyPr/>
    <a:lstStyle/>
    <a:p>
      <a:pPr>
        <a:defRPr/>
      </a:pPr>
      <a:endParaRPr lang="pt-BR"/>
    </a:p>
  </c:txPr>
  <c:externalData r:id="rId3">
    <c:autoUpdate val="0"/>
  </c:externalData>
  <c:userShapes r:id="rId4"/>
</c:chartSpace>
</file>

<file path=ppt/charts/chart4.xml><?xml version="1.0" encoding="utf-8"?>
<c:chartSpace xmlns:c="http://schemas.openxmlformats.org/drawingml/2006/chart" xmlns:a="http://schemas.openxmlformats.org/drawingml/2006/main" xmlns:r="http://schemas.openxmlformats.org/officeDocument/2006/relationships">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3200968655044549E-2"/>
          <c:y val="0.1152471147111666"/>
          <c:w val="0.94158558494854694"/>
          <c:h val="0.75295003854531117"/>
        </c:manualLayout>
      </c:layout>
      <c:barChart>
        <c:barDir val="col"/>
        <c:grouping val="clustered"/>
        <c:varyColors val="0"/>
        <c:ser>
          <c:idx val="1"/>
          <c:order val="0"/>
          <c:tx>
            <c:v>Total de Chamados</c:v>
          </c:tx>
          <c:spPr>
            <a:solidFill>
              <a:schemeClr val="accent1"/>
            </a:solidFill>
            <a:ln w="19050" cap="flat" cmpd="sng" algn="ctr">
              <a:solidFill>
                <a:schemeClr val="lt1"/>
              </a:solidFill>
              <a:prstDash val="solid"/>
              <a:miter lim="800000"/>
            </a:ln>
            <a:effectLst/>
          </c:spPr>
          <c:invertIfNegative val="0"/>
          <c:dLbls>
            <c:dLbl>
              <c:idx val="25"/>
              <c:delete val="1"/>
              <c:extLst xmlns:c16r2="http://schemas.microsoft.com/office/drawing/2015/06/chart">
                <c:ext xmlns:c16="http://schemas.microsoft.com/office/drawing/2014/chart" uri="{C3380CC4-5D6E-409C-BE32-E72D297353CC}">
                  <c16:uniqueId val="{00000000-4453-44CB-95FD-C725C218449D}"/>
                </c:ext>
                <c:ext xmlns:c15="http://schemas.microsoft.com/office/drawing/2012/chart" uri="{CE6537A1-D6FC-4f65-9D91-7224C49458BB}"/>
              </c:extLst>
            </c:dLbl>
            <c:dLbl>
              <c:idx val="26"/>
              <c:delete val="1"/>
              <c:extLst xmlns:c16r2="http://schemas.microsoft.com/office/drawing/2015/06/chart">
                <c:ext xmlns:c16="http://schemas.microsoft.com/office/drawing/2014/chart" uri="{C3380CC4-5D6E-409C-BE32-E72D297353CC}">
                  <c16:uniqueId val="{00000002-51BD-4525-98ED-AF2575181242}"/>
                </c:ext>
                <c:ext xmlns:c15="http://schemas.microsoft.com/office/drawing/2012/chart" uri="{CE6537A1-D6FC-4f65-9D91-7224C49458BB}"/>
              </c:extLst>
            </c:dLbl>
            <c:dLbl>
              <c:idx val="27"/>
              <c:delete val="1"/>
              <c:extLst xmlns:c16r2="http://schemas.microsoft.com/office/drawing/2015/06/chart">
                <c:ext xmlns:c16="http://schemas.microsoft.com/office/drawing/2014/chart" uri="{C3380CC4-5D6E-409C-BE32-E72D297353CC}">
                  <c16:uniqueId val="{00000018-1E5E-4BC4-A52B-E0FB30941BB5}"/>
                </c:ext>
                <c:ext xmlns:c15="http://schemas.microsoft.com/office/drawing/2012/chart" uri="{CE6537A1-D6FC-4f65-9D91-7224C49458BB}"/>
              </c:extLst>
            </c:dLbl>
            <c:dLbl>
              <c:idx val="28"/>
              <c:delete val="1"/>
              <c:extLst xmlns:c16r2="http://schemas.microsoft.com/office/drawing/2015/06/chart">
                <c:ext xmlns:c16="http://schemas.microsoft.com/office/drawing/2014/chart" uri="{C3380CC4-5D6E-409C-BE32-E72D297353CC}">
                  <c16:uniqueId val="{00000019-1E5E-4BC4-A52B-E0FB30941BB5}"/>
                </c:ext>
                <c:ext xmlns:c15="http://schemas.microsoft.com/office/drawing/2012/chart" uri="{CE6537A1-D6FC-4f65-9D91-7224C49458BB}"/>
              </c:extLst>
            </c:dLbl>
            <c:dLbl>
              <c:idx val="29"/>
              <c:delete val="1"/>
              <c:extLst xmlns:c16r2="http://schemas.microsoft.com/office/drawing/2015/06/chart">
                <c:ext xmlns:c16="http://schemas.microsoft.com/office/drawing/2014/chart" uri="{C3380CC4-5D6E-409C-BE32-E72D297353CC}">
                  <c16:uniqueId val="{0000001A-1E5E-4BC4-A52B-E0FB30941BB5}"/>
                </c:ext>
                <c:ext xmlns:c15="http://schemas.microsoft.com/office/drawing/2012/chart" uri="{CE6537A1-D6FC-4f65-9D91-7224C49458BB}"/>
              </c:extLst>
            </c:dLbl>
            <c:spPr>
              <a:noFill/>
              <a:ln>
                <a:noFill/>
              </a:ln>
              <a:effectLst/>
            </c:spPr>
            <c:dLblPos val="outEnd"/>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ext>
            </c:extLst>
          </c:dLbls>
          <c:cat>
            <c:numRef>
              <c:f>'[Comparativo AI - 27-04-16.xlsm]Dados - Gráficos'!$D$9:$AH$9</c:f>
              <c:numCache>
                <c:formatCode>[$-416]d;@</c:formatCode>
                <c:ptCount val="31"/>
                <c:pt idx="0">
                  <c:v>42430</c:v>
                </c:pt>
                <c:pt idx="1">
                  <c:v>42431</c:v>
                </c:pt>
                <c:pt idx="2">
                  <c:v>42432</c:v>
                </c:pt>
                <c:pt idx="3">
                  <c:v>42433</c:v>
                </c:pt>
                <c:pt idx="4">
                  <c:v>42434</c:v>
                </c:pt>
                <c:pt idx="5">
                  <c:v>42435</c:v>
                </c:pt>
                <c:pt idx="6">
                  <c:v>42436</c:v>
                </c:pt>
                <c:pt idx="7">
                  <c:v>42437</c:v>
                </c:pt>
                <c:pt idx="8">
                  <c:v>42438</c:v>
                </c:pt>
                <c:pt idx="9">
                  <c:v>42439</c:v>
                </c:pt>
                <c:pt idx="10">
                  <c:v>42440</c:v>
                </c:pt>
                <c:pt idx="11">
                  <c:v>42441</c:v>
                </c:pt>
                <c:pt idx="12">
                  <c:v>42442</c:v>
                </c:pt>
                <c:pt idx="13">
                  <c:v>42443</c:v>
                </c:pt>
                <c:pt idx="14">
                  <c:v>42444</c:v>
                </c:pt>
                <c:pt idx="15">
                  <c:v>42445</c:v>
                </c:pt>
                <c:pt idx="16">
                  <c:v>42446</c:v>
                </c:pt>
                <c:pt idx="17">
                  <c:v>42447</c:v>
                </c:pt>
                <c:pt idx="18">
                  <c:v>42448</c:v>
                </c:pt>
                <c:pt idx="19">
                  <c:v>42449</c:v>
                </c:pt>
                <c:pt idx="20">
                  <c:v>42450</c:v>
                </c:pt>
                <c:pt idx="21">
                  <c:v>42451</c:v>
                </c:pt>
                <c:pt idx="22">
                  <c:v>42452</c:v>
                </c:pt>
                <c:pt idx="23">
                  <c:v>42453</c:v>
                </c:pt>
                <c:pt idx="24">
                  <c:v>42454</c:v>
                </c:pt>
                <c:pt idx="25">
                  <c:v>42455</c:v>
                </c:pt>
                <c:pt idx="26">
                  <c:v>42456</c:v>
                </c:pt>
                <c:pt idx="27">
                  <c:v>42457</c:v>
                </c:pt>
                <c:pt idx="28">
                  <c:v>42458</c:v>
                </c:pt>
                <c:pt idx="29">
                  <c:v>42459</c:v>
                </c:pt>
                <c:pt idx="30">
                  <c:v>42460</c:v>
                </c:pt>
              </c:numCache>
            </c:numRef>
          </c:cat>
          <c:val>
            <c:numRef>
              <c:f>'[Comparativo AI - 27-04-16.xlsm]Dados - Gráficos'!$D$4:$AH$4</c:f>
              <c:numCache>
                <c:formatCode>#,##0</c:formatCode>
                <c:ptCount val="31"/>
                <c:pt idx="0">
                  <c:v>6</c:v>
                </c:pt>
                <c:pt idx="1">
                  <c:v>6</c:v>
                </c:pt>
                <c:pt idx="2">
                  <c:v>2</c:v>
                </c:pt>
                <c:pt idx="3">
                  <c:v>7</c:v>
                </c:pt>
                <c:pt idx="4">
                  <c:v>12</c:v>
                </c:pt>
                <c:pt idx="5">
                  <c:v>4</c:v>
                </c:pt>
                <c:pt idx="6">
                  <c:v>3</c:v>
                </c:pt>
                <c:pt idx="7">
                  <c:v>7</c:v>
                </c:pt>
                <c:pt idx="8">
                  <c:v>4</c:v>
                </c:pt>
                <c:pt idx="9">
                  <c:v>1</c:v>
                </c:pt>
                <c:pt idx="10">
                  <c:v>13</c:v>
                </c:pt>
                <c:pt idx="11">
                  <c:v>9</c:v>
                </c:pt>
                <c:pt idx="12">
                  <c:v>6</c:v>
                </c:pt>
                <c:pt idx="13">
                  <c:v>11</c:v>
                </c:pt>
                <c:pt idx="14">
                  <c:v>9</c:v>
                </c:pt>
                <c:pt idx="15">
                  <c:v>0</c:v>
                </c:pt>
                <c:pt idx="16">
                  <c:v>0</c:v>
                </c:pt>
                <c:pt idx="17">
                  <c:v>6</c:v>
                </c:pt>
                <c:pt idx="18">
                  <c:v>7</c:v>
                </c:pt>
                <c:pt idx="19">
                  <c:v>13</c:v>
                </c:pt>
                <c:pt idx="20">
                  <c:v>6</c:v>
                </c:pt>
                <c:pt idx="21">
                  <c:v>8</c:v>
                </c:pt>
                <c:pt idx="22">
                  <c:v>1</c:v>
                </c:pt>
                <c:pt idx="23">
                  <c:v>0</c:v>
                </c:pt>
                <c:pt idx="24">
                  <c:v>5</c:v>
                </c:pt>
                <c:pt idx="25">
                  <c:v>0</c:v>
                </c:pt>
                <c:pt idx="26">
                  <c:v>0</c:v>
                </c:pt>
                <c:pt idx="27">
                  <c:v>0</c:v>
                </c:pt>
                <c:pt idx="28">
                  <c:v>0</c:v>
                </c:pt>
                <c:pt idx="29">
                  <c:v>0</c:v>
                </c:pt>
              </c:numCache>
            </c:numRef>
          </c:val>
          <c:extLst xmlns:c16r2="http://schemas.microsoft.com/office/drawing/2015/06/chart">
            <c:ext xmlns:c16="http://schemas.microsoft.com/office/drawing/2014/chart" uri="{C3380CC4-5D6E-409C-BE32-E72D297353CC}">
              <c16:uniqueId val="{00000000-00F7-4F23-A6C5-BA2B88BE7D37}"/>
            </c:ext>
          </c:extLst>
        </c:ser>
        <c:dLbls>
          <c:showLegendKey val="0"/>
          <c:showVal val="0"/>
          <c:showCatName val="0"/>
          <c:showSerName val="0"/>
          <c:showPercent val="0"/>
          <c:showBubbleSize val="0"/>
        </c:dLbls>
        <c:gapWidth val="102"/>
        <c:overlap val="100"/>
        <c:axId val="228789616"/>
        <c:axId val="228797456"/>
      </c:barChart>
      <c:lineChart>
        <c:grouping val="standard"/>
        <c:varyColors val="0"/>
        <c:ser>
          <c:idx val="0"/>
          <c:order val="1"/>
          <c:tx>
            <c:v>Meta</c:v>
          </c:tx>
          <c:spPr>
            <a:ln w="19050">
              <a:solidFill>
                <a:srgbClr val="FF0000"/>
              </a:solidFill>
            </a:ln>
            <a:effectLst/>
          </c:spPr>
          <c:marker>
            <c:symbol val="none"/>
          </c:marker>
          <c:cat>
            <c:numRef>
              <c:f>'[Comparativo AI - 27-04-16.xlsm]Dados - Gráficos'!$D$9:$AH$9</c:f>
              <c:numCache>
                <c:formatCode>[$-416]d;@</c:formatCode>
                <c:ptCount val="31"/>
                <c:pt idx="0">
                  <c:v>42430</c:v>
                </c:pt>
                <c:pt idx="1">
                  <c:v>42431</c:v>
                </c:pt>
                <c:pt idx="2">
                  <c:v>42432</c:v>
                </c:pt>
                <c:pt idx="3">
                  <c:v>42433</c:v>
                </c:pt>
                <c:pt idx="4">
                  <c:v>42434</c:v>
                </c:pt>
                <c:pt idx="5">
                  <c:v>42435</c:v>
                </c:pt>
                <c:pt idx="6">
                  <c:v>42436</c:v>
                </c:pt>
                <c:pt idx="7">
                  <c:v>42437</c:v>
                </c:pt>
                <c:pt idx="8">
                  <c:v>42438</c:v>
                </c:pt>
                <c:pt idx="9">
                  <c:v>42439</c:v>
                </c:pt>
                <c:pt idx="10">
                  <c:v>42440</c:v>
                </c:pt>
                <c:pt idx="11">
                  <c:v>42441</c:v>
                </c:pt>
                <c:pt idx="12">
                  <c:v>42442</c:v>
                </c:pt>
                <c:pt idx="13">
                  <c:v>42443</c:v>
                </c:pt>
                <c:pt idx="14">
                  <c:v>42444</c:v>
                </c:pt>
                <c:pt idx="15">
                  <c:v>42445</c:v>
                </c:pt>
                <c:pt idx="16">
                  <c:v>42446</c:v>
                </c:pt>
                <c:pt idx="17">
                  <c:v>42447</c:v>
                </c:pt>
                <c:pt idx="18">
                  <c:v>42448</c:v>
                </c:pt>
                <c:pt idx="19">
                  <c:v>42449</c:v>
                </c:pt>
                <c:pt idx="20">
                  <c:v>42450</c:v>
                </c:pt>
                <c:pt idx="21">
                  <c:v>42451</c:v>
                </c:pt>
                <c:pt idx="22">
                  <c:v>42452</c:v>
                </c:pt>
                <c:pt idx="23">
                  <c:v>42453</c:v>
                </c:pt>
                <c:pt idx="24">
                  <c:v>42454</c:v>
                </c:pt>
                <c:pt idx="25">
                  <c:v>42455</c:v>
                </c:pt>
                <c:pt idx="26">
                  <c:v>42456</c:v>
                </c:pt>
                <c:pt idx="27">
                  <c:v>42457</c:v>
                </c:pt>
                <c:pt idx="28">
                  <c:v>42458</c:v>
                </c:pt>
                <c:pt idx="29">
                  <c:v>42459</c:v>
                </c:pt>
                <c:pt idx="30">
                  <c:v>42460</c:v>
                </c:pt>
              </c:numCache>
            </c:numRef>
          </c:cat>
          <c:val>
            <c:numRef>
              <c:f>'[Comparativo AI - 27-04-16.xlsm]Dados - Gráficos'!$D$10:$AH$10</c:f>
              <c:numCache>
                <c:formatCode>#,##0.00</c:formatCode>
                <c:ptCount val="31"/>
                <c:pt idx="0">
                  <c:v>10.734094616639478</c:v>
                </c:pt>
                <c:pt idx="1">
                  <c:v>5.213703099510604</c:v>
                </c:pt>
                <c:pt idx="2">
                  <c:v>0.92006525285481233</c:v>
                </c:pt>
                <c:pt idx="3">
                  <c:v>7.0538336052202286</c:v>
                </c:pt>
                <c:pt idx="4">
                  <c:v>7.0538336052202286</c:v>
                </c:pt>
                <c:pt idx="5">
                  <c:v>7.9738988580750414</c:v>
                </c:pt>
                <c:pt idx="6">
                  <c:v>11.34747145187602</c:v>
                </c:pt>
                <c:pt idx="7">
                  <c:v>10.734094616639478</c:v>
                </c:pt>
                <c:pt idx="8">
                  <c:v>5.213703099510604</c:v>
                </c:pt>
                <c:pt idx="9">
                  <c:v>0.92006525285481233</c:v>
                </c:pt>
                <c:pt idx="10">
                  <c:v>7.0538336052202286</c:v>
                </c:pt>
                <c:pt idx="11">
                  <c:v>5.213703099510604</c:v>
                </c:pt>
                <c:pt idx="12">
                  <c:v>7.6672104404567696</c:v>
                </c:pt>
                <c:pt idx="13">
                  <c:v>7.9738988580750414</c:v>
                </c:pt>
                <c:pt idx="14">
                  <c:v>5.5203915171288749</c:v>
                </c:pt>
                <c:pt idx="15">
                  <c:v>2.1468189233278956</c:v>
                </c:pt>
                <c:pt idx="16">
                  <c:v>1.8401305057096247</c:v>
                </c:pt>
                <c:pt idx="17">
                  <c:v>7.9738988580750414</c:v>
                </c:pt>
                <c:pt idx="18">
                  <c:v>11.04078303425775</c:v>
                </c:pt>
                <c:pt idx="19">
                  <c:v>7.0538336052202286</c:v>
                </c:pt>
                <c:pt idx="20">
                  <c:v>8.5872756933115824</c:v>
                </c:pt>
                <c:pt idx="21">
                  <c:v>6.4404567699836868</c:v>
                </c:pt>
                <c:pt idx="22">
                  <c:v>3.0668841761827079</c:v>
                </c:pt>
                <c:pt idx="23">
                  <c:v>1.2267536704730833</c:v>
                </c:pt>
                <c:pt idx="24">
                  <c:v>7.0538336052202286</c:v>
                </c:pt>
                <c:pt idx="25">
                  <c:v>7.9738988580750414</c:v>
                </c:pt>
                <c:pt idx="26">
                  <c:v>6.4404567699836868</c:v>
                </c:pt>
                <c:pt idx="27">
                  <c:v>7.3605220228384987</c:v>
                </c:pt>
                <c:pt idx="28">
                  <c:v>6.1337683523654158</c:v>
                </c:pt>
                <c:pt idx="29">
                  <c:v>3.0668841761827079</c:v>
                </c:pt>
              </c:numCache>
            </c:numRef>
          </c:val>
          <c:smooth val="0"/>
          <c:extLst xmlns:c16r2="http://schemas.microsoft.com/office/drawing/2015/06/chart">
            <c:ext xmlns:c16="http://schemas.microsoft.com/office/drawing/2014/chart" uri="{C3380CC4-5D6E-409C-BE32-E72D297353CC}">
              <c16:uniqueId val="{00000001-00F7-4F23-A6C5-BA2B88BE7D37}"/>
            </c:ext>
          </c:extLst>
        </c:ser>
        <c:dLbls>
          <c:showLegendKey val="0"/>
          <c:showVal val="0"/>
          <c:showCatName val="0"/>
          <c:showSerName val="0"/>
          <c:showPercent val="0"/>
          <c:showBubbleSize val="0"/>
        </c:dLbls>
        <c:marker val="1"/>
        <c:smooth val="0"/>
        <c:axId val="228789616"/>
        <c:axId val="228797456"/>
      </c:lineChart>
      <c:dateAx>
        <c:axId val="228789616"/>
        <c:scaling>
          <c:orientation val="minMax"/>
        </c:scaling>
        <c:delete val="0"/>
        <c:axPos val="b"/>
        <c:numFmt formatCode="[$-416]d;@"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t-BR"/>
          </a:p>
        </c:txPr>
        <c:crossAx val="228797456"/>
        <c:crosses val="autoZero"/>
        <c:auto val="1"/>
        <c:lblOffset val="100"/>
        <c:baseTimeUnit val="days"/>
      </c:dateAx>
      <c:valAx>
        <c:axId val="228797456"/>
        <c:scaling>
          <c:orientation val="minMax"/>
        </c:scaling>
        <c:delete val="1"/>
        <c:axPos val="l"/>
        <c:numFmt formatCode="#,##0" sourceLinked="1"/>
        <c:majorTickMark val="none"/>
        <c:minorTickMark val="none"/>
        <c:tickLblPos val="nextTo"/>
        <c:crossAx val="228789616"/>
        <c:crosses val="autoZero"/>
        <c:crossBetween val="between"/>
      </c:valAx>
      <c:spPr>
        <a:noFill/>
        <a:ln>
          <a:noFill/>
        </a:ln>
        <a:effectLst/>
      </c:spPr>
    </c:plotArea>
    <c:plotVisOnly val="0"/>
    <c:dispBlanksAs val="gap"/>
    <c:showDLblsOverMax val="0"/>
  </c:chart>
  <c:spPr>
    <a:solidFill>
      <a:schemeClr val="bg1"/>
    </a:solidFill>
    <a:ln w="9525" cap="flat" cmpd="sng" algn="ctr">
      <a:noFill/>
      <a:round/>
    </a:ln>
    <a:effectLst/>
  </c:spPr>
  <c:txPr>
    <a:bodyPr/>
    <a:lstStyle/>
    <a:p>
      <a:pPr>
        <a:defRPr/>
      </a:pPr>
      <a:endParaRPr lang="pt-B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3200968655044549E-2"/>
          <c:y val="0.1152471147111666"/>
          <c:w val="0.94864560982860335"/>
          <c:h val="0.75295003854531117"/>
        </c:manualLayout>
      </c:layout>
      <c:barChart>
        <c:barDir val="col"/>
        <c:grouping val="clustered"/>
        <c:varyColors val="0"/>
        <c:ser>
          <c:idx val="1"/>
          <c:order val="0"/>
          <c:tx>
            <c:v>Total de Chamados</c:v>
          </c:tx>
          <c:spPr>
            <a:solidFill>
              <a:schemeClr val="accent1"/>
            </a:solidFill>
            <a:ln w="19050" cap="flat" cmpd="sng" algn="ctr">
              <a:solidFill>
                <a:schemeClr val="lt1"/>
              </a:solidFill>
              <a:prstDash val="solid"/>
              <a:miter lim="800000"/>
            </a:ln>
            <a:effectLst/>
          </c:spPr>
          <c:invertIfNegative val="0"/>
          <c:dLbls>
            <c:dLbl>
              <c:idx val="25"/>
              <c:delete val="1"/>
              <c:extLst xmlns:c16r2="http://schemas.microsoft.com/office/drawing/2015/06/chart">
                <c:ext xmlns:c16="http://schemas.microsoft.com/office/drawing/2014/chart" uri="{C3380CC4-5D6E-409C-BE32-E72D297353CC}">
                  <c16:uniqueId val="{00000000-C20D-4ABC-A3B1-976C16CB76FE}"/>
                </c:ext>
                <c:ext xmlns:c15="http://schemas.microsoft.com/office/drawing/2012/chart" uri="{CE6537A1-D6FC-4f65-9D91-7224C49458BB}"/>
              </c:extLst>
            </c:dLbl>
            <c:dLbl>
              <c:idx val="26"/>
              <c:delete val="1"/>
              <c:extLst xmlns:c16r2="http://schemas.microsoft.com/office/drawing/2015/06/chart">
                <c:ext xmlns:c16="http://schemas.microsoft.com/office/drawing/2014/chart" uri="{C3380CC4-5D6E-409C-BE32-E72D297353CC}">
                  <c16:uniqueId val="{0000001A-1655-4BD4-AF07-111D513ADE1F}"/>
                </c:ext>
                <c:ext xmlns:c15="http://schemas.microsoft.com/office/drawing/2012/chart" uri="{CE6537A1-D6FC-4f65-9D91-7224C49458BB}"/>
              </c:extLst>
            </c:dLbl>
            <c:dLbl>
              <c:idx val="27"/>
              <c:delete val="1"/>
              <c:extLst xmlns:c16r2="http://schemas.microsoft.com/office/drawing/2015/06/chart">
                <c:ext xmlns:c16="http://schemas.microsoft.com/office/drawing/2014/chart" uri="{C3380CC4-5D6E-409C-BE32-E72D297353CC}">
                  <c16:uniqueId val="{0000001B-1655-4BD4-AF07-111D513ADE1F}"/>
                </c:ext>
                <c:ext xmlns:c15="http://schemas.microsoft.com/office/drawing/2012/chart" uri="{CE6537A1-D6FC-4f65-9D91-7224C49458BB}"/>
              </c:extLst>
            </c:dLbl>
            <c:dLbl>
              <c:idx val="28"/>
              <c:delete val="1"/>
              <c:extLst xmlns:c16r2="http://schemas.microsoft.com/office/drawing/2015/06/chart">
                <c:ext xmlns:c16="http://schemas.microsoft.com/office/drawing/2014/chart" uri="{C3380CC4-5D6E-409C-BE32-E72D297353CC}">
                  <c16:uniqueId val="{0000001C-1655-4BD4-AF07-111D513ADE1F}"/>
                </c:ext>
                <c:ext xmlns:c15="http://schemas.microsoft.com/office/drawing/2012/chart" uri="{CE6537A1-D6FC-4f65-9D91-7224C49458BB}"/>
              </c:extLst>
            </c:dLbl>
            <c:dLbl>
              <c:idx val="29"/>
              <c:delete val="1"/>
              <c:extLst xmlns:c16r2="http://schemas.microsoft.com/office/drawing/2015/06/chart">
                <c:ext xmlns:c16="http://schemas.microsoft.com/office/drawing/2014/chart" uri="{C3380CC4-5D6E-409C-BE32-E72D297353CC}">
                  <c16:uniqueId val="{0000001D-1655-4BD4-AF07-111D513ADE1F}"/>
                </c:ext>
                <c:ext xmlns:c15="http://schemas.microsoft.com/office/drawing/2012/chart" uri="{CE6537A1-D6FC-4f65-9D91-7224C49458BB}"/>
              </c:extLst>
            </c:dLbl>
            <c:spPr>
              <a:noFill/>
              <a:ln>
                <a:noFill/>
              </a:ln>
              <a:effectLst/>
            </c:spPr>
            <c:dLblPos val="outEnd"/>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ext>
            </c:extLst>
          </c:dLbls>
          <c:cat>
            <c:numRef>
              <c:f>'[Comparativo AI - 27-04-16.xlsm]Dados - Gráficos'!$D$9:$AH$9</c:f>
              <c:numCache>
                <c:formatCode>[$-416]d;@</c:formatCode>
                <c:ptCount val="31"/>
                <c:pt idx="0">
                  <c:v>42430</c:v>
                </c:pt>
                <c:pt idx="1">
                  <c:v>42431</c:v>
                </c:pt>
                <c:pt idx="2">
                  <c:v>42432</c:v>
                </c:pt>
                <c:pt idx="3">
                  <c:v>42433</c:v>
                </c:pt>
                <c:pt idx="4">
                  <c:v>42434</c:v>
                </c:pt>
                <c:pt idx="5">
                  <c:v>42435</c:v>
                </c:pt>
                <c:pt idx="6">
                  <c:v>42436</c:v>
                </c:pt>
                <c:pt idx="7">
                  <c:v>42437</c:v>
                </c:pt>
                <c:pt idx="8">
                  <c:v>42438</c:v>
                </c:pt>
                <c:pt idx="9">
                  <c:v>42439</c:v>
                </c:pt>
                <c:pt idx="10">
                  <c:v>42440</c:v>
                </c:pt>
                <c:pt idx="11">
                  <c:v>42441</c:v>
                </c:pt>
                <c:pt idx="12">
                  <c:v>42442</c:v>
                </c:pt>
                <c:pt idx="13">
                  <c:v>42443</c:v>
                </c:pt>
                <c:pt idx="14">
                  <c:v>42444</c:v>
                </c:pt>
                <c:pt idx="15">
                  <c:v>42445</c:v>
                </c:pt>
                <c:pt idx="16">
                  <c:v>42446</c:v>
                </c:pt>
                <c:pt idx="17">
                  <c:v>42447</c:v>
                </c:pt>
                <c:pt idx="18">
                  <c:v>42448</c:v>
                </c:pt>
                <c:pt idx="19">
                  <c:v>42449</c:v>
                </c:pt>
                <c:pt idx="20">
                  <c:v>42450</c:v>
                </c:pt>
                <c:pt idx="21">
                  <c:v>42451</c:v>
                </c:pt>
                <c:pt idx="22">
                  <c:v>42452</c:v>
                </c:pt>
                <c:pt idx="23">
                  <c:v>42453</c:v>
                </c:pt>
                <c:pt idx="24">
                  <c:v>42454</c:v>
                </c:pt>
                <c:pt idx="25">
                  <c:v>42455</c:v>
                </c:pt>
                <c:pt idx="26">
                  <c:v>42456</c:v>
                </c:pt>
                <c:pt idx="27">
                  <c:v>42457</c:v>
                </c:pt>
                <c:pt idx="28">
                  <c:v>42458</c:v>
                </c:pt>
                <c:pt idx="29">
                  <c:v>42459</c:v>
                </c:pt>
                <c:pt idx="30">
                  <c:v>42460</c:v>
                </c:pt>
              </c:numCache>
            </c:numRef>
          </c:cat>
          <c:val>
            <c:numRef>
              <c:f>'[Comparativo AI - 27-04-16.xlsm]Dados - Gráficos'!$D$5:$AH$5</c:f>
              <c:numCache>
                <c:formatCode>#,##0</c:formatCode>
                <c:ptCount val="31"/>
                <c:pt idx="0">
                  <c:v>541</c:v>
                </c:pt>
                <c:pt idx="1">
                  <c:v>121</c:v>
                </c:pt>
                <c:pt idx="2">
                  <c:v>44</c:v>
                </c:pt>
                <c:pt idx="3">
                  <c:v>586</c:v>
                </c:pt>
                <c:pt idx="4">
                  <c:v>548</c:v>
                </c:pt>
                <c:pt idx="5">
                  <c:v>433</c:v>
                </c:pt>
                <c:pt idx="6">
                  <c:v>503</c:v>
                </c:pt>
                <c:pt idx="7">
                  <c:v>484</c:v>
                </c:pt>
                <c:pt idx="8">
                  <c:v>115</c:v>
                </c:pt>
                <c:pt idx="9">
                  <c:v>34</c:v>
                </c:pt>
                <c:pt idx="10">
                  <c:v>523</c:v>
                </c:pt>
                <c:pt idx="11">
                  <c:v>568</c:v>
                </c:pt>
                <c:pt idx="12">
                  <c:v>568</c:v>
                </c:pt>
                <c:pt idx="13">
                  <c:v>484</c:v>
                </c:pt>
                <c:pt idx="14">
                  <c:v>395</c:v>
                </c:pt>
                <c:pt idx="15">
                  <c:v>102</c:v>
                </c:pt>
                <c:pt idx="16">
                  <c:v>20</c:v>
                </c:pt>
                <c:pt idx="17">
                  <c:v>532</c:v>
                </c:pt>
                <c:pt idx="18">
                  <c:v>469</c:v>
                </c:pt>
                <c:pt idx="19">
                  <c:v>382</c:v>
                </c:pt>
                <c:pt idx="20">
                  <c:v>108</c:v>
                </c:pt>
                <c:pt idx="21">
                  <c:v>408</c:v>
                </c:pt>
                <c:pt idx="22">
                  <c:v>99</c:v>
                </c:pt>
                <c:pt idx="23">
                  <c:v>27</c:v>
                </c:pt>
                <c:pt idx="24">
                  <c:v>570</c:v>
                </c:pt>
                <c:pt idx="25">
                  <c:v>0</c:v>
                </c:pt>
                <c:pt idx="26">
                  <c:v>0</c:v>
                </c:pt>
                <c:pt idx="27">
                  <c:v>0</c:v>
                </c:pt>
                <c:pt idx="28">
                  <c:v>0</c:v>
                </c:pt>
                <c:pt idx="29">
                  <c:v>0</c:v>
                </c:pt>
              </c:numCache>
            </c:numRef>
          </c:val>
          <c:extLst xmlns:c16r2="http://schemas.microsoft.com/office/drawing/2015/06/chart">
            <c:ext xmlns:c16="http://schemas.microsoft.com/office/drawing/2014/chart" uri="{C3380CC4-5D6E-409C-BE32-E72D297353CC}">
              <c16:uniqueId val="{0000001A-A827-4AA2-80E9-C1D14CAA4031}"/>
            </c:ext>
          </c:extLst>
        </c:ser>
        <c:dLbls>
          <c:showLegendKey val="0"/>
          <c:showVal val="0"/>
          <c:showCatName val="0"/>
          <c:showSerName val="0"/>
          <c:showPercent val="0"/>
          <c:showBubbleSize val="0"/>
        </c:dLbls>
        <c:gapWidth val="102"/>
        <c:overlap val="100"/>
        <c:axId val="228799024"/>
        <c:axId val="228793144"/>
      </c:barChart>
      <c:lineChart>
        <c:grouping val="standard"/>
        <c:varyColors val="0"/>
        <c:ser>
          <c:idx val="0"/>
          <c:order val="1"/>
          <c:tx>
            <c:v>Meta</c:v>
          </c:tx>
          <c:spPr>
            <a:ln w="19050">
              <a:solidFill>
                <a:srgbClr val="FF0000"/>
              </a:solidFill>
            </a:ln>
            <a:effectLst/>
          </c:spPr>
          <c:marker>
            <c:symbol val="none"/>
          </c:marker>
          <c:cat>
            <c:numRef>
              <c:f>'[Comparativo AI - 27-04-16.xlsm]Dados - Gráficos'!$D$9:$AH$9</c:f>
              <c:numCache>
                <c:formatCode>[$-416]d;@</c:formatCode>
                <c:ptCount val="31"/>
                <c:pt idx="0">
                  <c:v>42430</c:v>
                </c:pt>
                <c:pt idx="1">
                  <c:v>42431</c:v>
                </c:pt>
                <c:pt idx="2">
                  <c:v>42432</c:v>
                </c:pt>
                <c:pt idx="3">
                  <c:v>42433</c:v>
                </c:pt>
                <c:pt idx="4">
                  <c:v>42434</c:v>
                </c:pt>
                <c:pt idx="5">
                  <c:v>42435</c:v>
                </c:pt>
                <c:pt idx="6">
                  <c:v>42436</c:v>
                </c:pt>
                <c:pt idx="7">
                  <c:v>42437</c:v>
                </c:pt>
                <c:pt idx="8">
                  <c:v>42438</c:v>
                </c:pt>
                <c:pt idx="9">
                  <c:v>42439</c:v>
                </c:pt>
                <c:pt idx="10">
                  <c:v>42440</c:v>
                </c:pt>
                <c:pt idx="11">
                  <c:v>42441</c:v>
                </c:pt>
                <c:pt idx="12">
                  <c:v>42442</c:v>
                </c:pt>
                <c:pt idx="13">
                  <c:v>42443</c:v>
                </c:pt>
                <c:pt idx="14">
                  <c:v>42444</c:v>
                </c:pt>
                <c:pt idx="15">
                  <c:v>42445</c:v>
                </c:pt>
                <c:pt idx="16">
                  <c:v>42446</c:v>
                </c:pt>
                <c:pt idx="17">
                  <c:v>42447</c:v>
                </c:pt>
                <c:pt idx="18">
                  <c:v>42448</c:v>
                </c:pt>
                <c:pt idx="19">
                  <c:v>42449</c:v>
                </c:pt>
                <c:pt idx="20">
                  <c:v>42450</c:v>
                </c:pt>
                <c:pt idx="21">
                  <c:v>42451</c:v>
                </c:pt>
                <c:pt idx="22">
                  <c:v>42452</c:v>
                </c:pt>
                <c:pt idx="23">
                  <c:v>42453</c:v>
                </c:pt>
                <c:pt idx="24">
                  <c:v>42454</c:v>
                </c:pt>
                <c:pt idx="25">
                  <c:v>42455</c:v>
                </c:pt>
                <c:pt idx="26">
                  <c:v>42456</c:v>
                </c:pt>
                <c:pt idx="27">
                  <c:v>42457</c:v>
                </c:pt>
                <c:pt idx="28">
                  <c:v>42458</c:v>
                </c:pt>
                <c:pt idx="29">
                  <c:v>42459</c:v>
                </c:pt>
                <c:pt idx="30">
                  <c:v>42460</c:v>
                </c:pt>
              </c:numCache>
            </c:numRef>
          </c:cat>
          <c:val>
            <c:numRef>
              <c:f>'[Comparativo AI - 27-04-16.xlsm]Dados - Gráficos'!$D$11:$AH$11</c:f>
              <c:numCache>
                <c:formatCode>#,##0.00</c:formatCode>
                <c:ptCount val="31"/>
                <c:pt idx="0">
                  <c:v>482.2818585474152</c:v>
                </c:pt>
                <c:pt idx="1">
                  <c:v>121.29766888677449</c:v>
                </c:pt>
                <c:pt idx="2">
                  <c:v>62.539565493181094</c:v>
                </c:pt>
                <c:pt idx="3">
                  <c:v>609.68804313352371</c:v>
                </c:pt>
                <c:pt idx="4">
                  <c:v>605.32481763399937</c:v>
                </c:pt>
                <c:pt idx="5">
                  <c:v>599.79806533460192</c:v>
                </c:pt>
                <c:pt idx="6">
                  <c:v>483.7362670472566</c:v>
                </c:pt>
                <c:pt idx="7">
                  <c:v>482.2818585474152</c:v>
                </c:pt>
                <c:pt idx="8">
                  <c:v>121.29766888677449</c:v>
                </c:pt>
                <c:pt idx="9">
                  <c:v>62.539565493181094</c:v>
                </c:pt>
                <c:pt idx="10">
                  <c:v>423.81463685378998</c:v>
                </c:pt>
                <c:pt idx="11">
                  <c:v>340.91335236282907</c:v>
                </c:pt>
                <c:pt idx="12">
                  <c:v>494.49888994608307</c:v>
                </c:pt>
                <c:pt idx="13">
                  <c:v>475.8824611481129</c:v>
                </c:pt>
                <c:pt idx="14">
                  <c:v>450.5757532508722</c:v>
                </c:pt>
                <c:pt idx="15">
                  <c:v>121.58855058674281</c:v>
                </c:pt>
                <c:pt idx="16">
                  <c:v>30.833460196638129</c:v>
                </c:pt>
                <c:pt idx="17">
                  <c:v>569.25548683793215</c:v>
                </c:pt>
                <c:pt idx="18">
                  <c:v>494.20800824611473</c:v>
                </c:pt>
                <c:pt idx="19">
                  <c:v>437.77695845226776</c:v>
                </c:pt>
                <c:pt idx="20">
                  <c:v>481.11833174754207</c:v>
                </c:pt>
                <c:pt idx="21">
                  <c:v>396.47175705677142</c:v>
                </c:pt>
                <c:pt idx="22">
                  <c:v>117.8070884871551</c:v>
                </c:pt>
                <c:pt idx="23">
                  <c:v>43.923136695210914</c:v>
                </c:pt>
                <c:pt idx="24">
                  <c:v>563.14697113859825</c:v>
                </c:pt>
                <c:pt idx="25">
                  <c:v>547.730241040279</c:v>
                </c:pt>
                <c:pt idx="26">
                  <c:v>433.41373295274349</c:v>
                </c:pt>
                <c:pt idx="27">
                  <c:v>496.24418014589276</c:v>
                </c:pt>
                <c:pt idx="28">
                  <c:v>336.84100856327308</c:v>
                </c:pt>
                <c:pt idx="29">
                  <c:v>118.97061528702822</c:v>
                </c:pt>
              </c:numCache>
            </c:numRef>
          </c:val>
          <c:smooth val="0"/>
          <c:extLst xmlns:c16r2="http://schemas.microsoft.com/office/drawing/2015/06/chart">
            <c:ext xmlns:c16="http://schemas.microsoft.com/office/drawing/2014/chart" uri="{C3380CC4-5D6E-409C-BE32-E72D297353CC}">
              <c16:uniqueId val="{0000001C-A827-4AA2-80E9-C1D14CAA4031}"/>
            </c:ext>
          </c:extLst>
        </c:ser>
        <c:dLbls>
          <c:showLegendKey val="0"/>
          <c:showVal val="0"/>
          <c:showCatName val="0"/>
          <c:showSerName val="0"/>
          <c:showPercent val="0"/>
          <c:showBubbleSize val="0"/>
        </c:dLbls>
        <c:marker val="1"/>
        <c:smooth val="0"/>
        <c:axId val="228799024"/>
        <c:axId val="228793144"/>
      </c:lineChart>
      <c:dateAx>
        <c:axId val="228799024"/>
        <c:scaling>
          <c:orientation val="minMax"/>
        </c:scaling>
        <c:delete val="0"/>
        <c:axPos val="b"/>
        <c:numFmt formatCode="[$-416]d;@"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t-BR"/>
          </a:p>
        </c:txPr>
        <c:crossAx val="228793144"/>
        <c:crosses val="autoZero"/>
        <c:auto val="1"/>
        <c:lblOffset val="100"/>
        <c:baseTimeUnit val="days"/>
      </c:dateAx>
      <c:valAx>
        <c:axId val="228793144"/>
        <c:scaling>
          <c:orientation val="minMax"/>
        </c:scaling>
        <c:delete val="1"/>
        <c:axPos val="l"/>
        <c:numFmt formatCode="#,##0" sourceLinked="1"/>
        <c:majorTickMark val="none"/>
        <c:minorTickMark val="none"/>
        <c:tickLblPos val="nextTo"/>
        <c:crossAx val="228799024"/>
        <c:crosses val="autoZero"/>
        <c:crossBetween val="between"/>
      </c:valAx>
      <c:spPr>
        <a:noFill/>
        <a:ln>
          <a:noFill/>
        </a:ln>
        <a:effectLst/>
      </c:spPr>
    </c:plotArea>
    <c:plotVisOnly val="0"/>
    <c:dispBlanksAs val="gap"/>
    <c:showDLblsOverMax val="0"/>
  </c:chart>
  <c:spPr>
    <a:solidFill>
      <a:schemeClr val="bg1"/>
    </a:solidFill>
    <a:ln w="9525" cap="flat" cmpd="sng" algn="ctr">
      <a:noFill/>
      <a:round/>
    </a:ln>
    <a:effectLst/>
  </c:spPr>
  <c:txPr>
    <a:bodyPr/>
    <a:lstStyle/>
    <a:p>
      <a:pPr>
        <a:defRPr/>
      </a:pPr>
      <a:endParaRPr lang="pt-B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3200968655044549E-2"/>
          <c:y val="0.1152471147111666"/>
          <c:w val="0.94864560982860335"/>
          <c:h val="0.75295003854531117"/>
        </c:manualLayout>
      </c:layout>
      <c:barChart>
        <c:barDir val="col"/>
        <c:grouping val="clustered"/>
        <c:varyColors val="0"/>
        <c:ser>
          <c:idx val="1"/>
          <c:order val="0"/>
          <c:tx>
            <c:v>Total de Chamados</c:v>
          </c:tx>
          <c:spPr>
            <a:solidFill>
              <a:schemeClr val="accent1"/>
            </a:solidFill>
            <a:ln w="19050" cap="flat" cmpd="sng" algn="ctr">
              <a:solidFill>
                <a:schemeClr val="lt1"/>
              </a:solidFill>
              <a:prstDash val="solid"/>
              <a:miter lim="800000"/>
            </a:ln>
            <a:effectLst/>
          </c:spPr>
          <c:invertIfNegative val="0"/>
          <c:dLbls>
            <c:dLbl>
              <c:idx val="25"/>
              <c:delete val="1"/>
              <c:extLst xmlns:c16r2="http://schemas.microsoft.com/office/drawing/2015/06/chart">
                <c:ext xmlns:c16="http://schemas.microsoft.com/office/drawing/2014/chart" uri="{C3380CC4-5D6E-409C-BE32-E72D297353CC}">
                  <c16:uniqueId val="{00000000-3FB6-4EBB-8F0E-B60053668E3D}"/>
                </c:ext>
                <c:ext xmlns:c15="http://schemas.microsoft.com/office/drawing/2012/chart" uri="{CE6537A1-D6FC-4f65-9D91-7224C49458BB}"/>
              </c:extLst>
            </c:dLbl>
            <c:dLbl>
              <c:idx val="26"/>
              <c:delete val="1"/>
              <c:extLst xmlns:c16r2="http://schemas.microsoft.com/office/drawing/2015/06/chart">
                <c:ext xmlns:c16="http://schemas.microsoft.com/office/drawing/2014/chart" uri="{C3380CC4-5D6E-409C-BE32-E72D297353CC}">
                  <c16:uniqueId val="{0000001A-1936-4A8D-BE59-659F419EE3CB}"/>
                </c:ext>
                <c:ext xmlns:c15="http://schemas.microsoft.com/office/drawing/2012/chart" uri="{CE6537A1-D6FC-4f65-9D91-7224C49458BB}"/>
              </c:extLst>
            </c:dLbl>
            <c:dLbl>
              <c:idx val="27"/>
              <c:delete val="1"/>
              <c:extLst xmlns:c16r2="http://schemas.microsoft.com/office/drawing/2015/06/chart">
                <c:ext xmlns:c16="http://schemas.microsoft.com/office/drawing/2014/chart" uri="{C3380CC4-5D6E-409C-BE32-E72D297353CC}">
                  <c16:uniqueId val="{0000001B-1936-4A8D-BE59-659F419EE3CB}"/>
                </c:ext>
                <c:ext xmlns:c15="http://schemas.microsoft.com/office/drawing/2012/chart" uri="{CE6537A1-D6FC-4f65-9D91-7224C49458BB}"/>
              </c:extLst>
            </c:dLbl>
            <c:dLbl>
              <c:idx val="28"/>
              <c:delete val="1"/>
              <c:extLst xmlns:c16r2="http://schemas.microsoft.com/office/drawing/2015/06/chart">
                <c:ext xmlns:c16="http://schemas.microsoft.com/office/drawing/2014/chart" uri="{C3380CC4-5D6E-409C-BE32-E72D297353CC}">
                  <c16:uniqueId val="{0000001C-1936-4A8D-BE59-659F419EE3CB}"/>
                </c:ext>
                <c:ext xmlns:c15="http://schemas.microsoft.com/office/drawing/2012/chart" uri="{CE6537A1-D6FC-4f65-9D91-7224C49458BB}"/>
              </c:extLst>
            </c:dLbl>
            <c:dLbl>
              <c:idx val="29"/>
              <c:delete val="1"/>
              <c:extLst xmlns:c16r2="http://schemas.microsoft.com/office/drawing/2015/06/chart">
                <c:ext xmlns:c16="http://schemas.microsoft.com/office/drawing/2014/chart" uri="{C3380CC4-5D6E-409C-BE32-E72D297353CC}">
                  <c16:uniqueId val="{0000001D-1936-4A8D-BE59-659F419EE3CB}"/>
                </c:ext>
                <c:ext xmlns:c15="http://schemas.microsoft.com/office/drawing/2012/chart" uri="{CE6537A1-D6FC-4f65-9D91-7224C49458BB}"/>
              </c:extLst>
            </c:dLbl>
            <c:spPr>
              <a:noFill/>
              <a:ln>
                <a:noFill/>
              </a:ln>
              <a:effectLst/>
            </c:spPr>
            <c:dLblPos val="outEnd"/>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ext>
            </c:extLst>
          </c:dLbls>
          <c:cat>
            <c:numRef>
              <c:f>'[Comparativo AI - 27-04-16.xlsm]Dados - Gráficos'!$D$9:$AH$9</c:f>
              <c:numCache>
                <c:formatCode>[$-416]d;@</c:formatCode>
                <c:ptCount val="31"/>
                <c:pt idx="0">
                  <c:v>42430</c:v>
                </c:pt>
                <c:pt idx="1">
                  <c:v>42431</c:v>
                </c:pt>
                <c:pt idx="2">
                  <c:v>42432</c:v>
                </c:pt>
                <c:pt idx="3">
                  <c:v>42433</c:v>
                </c:pt>
                <c:pt idx="4">
                  <c:v>42434</c:v>
                </c:pt>
                <c:pt idx="5">
                  <c:v>42435</c:v>
                </c:pt>
                <c:pt idx="6">
                  <c:v>42436</c:v>
                </c:pt>
                <c:pt idx="7">
                  <c:v>42437</c:v>
                </c:pt>
                <c:pt idx="8">
                  <c:v>42438</c:v>
                </c:pt>
                <c:pt idx="9">
                  <c:v>42439</c:v>
                </c:pt>
                <c:pt idx="10">
                  <c:v>42440</c:v>
                </c:pt>
                <c:pt idx="11">
                  <c:v>42441</c:v>
                </c:pt>
                <c:pt idx="12">
                  <c:v>42442</c:v>
                </c:pt>
                <c:pt idx="13">
                  <c:v>42443</c:v>
                </c:pt>
                <c:pt idx="14">
                  <c:v>42444</c:v>
                </c:pt>
                <c:pt idx="15">
                  <c:v>42445</c:v>
                </c:pt>
                <c:pt idx="16">
                  <c:v>42446</c:v>
                </c:pt>
                <c:pt idx="17">
                  <c:v>42447</c:v>
                </c:pt>
                <c:pt idx="18">
                  <c:v>42448</c:v>
                </c:pt>
                <c:pt idx="19">
                  <c:v>42449</c:v>
                </c:pt>
                <c:pt idx="20">
                  <c:v>42450</c:v>
                </c:pt>
                <c:pt idx="21">
                  <c:v>42451</c:v>
                </c:pt>
                <c:pt idx="22">
                  <c:v>42452</c:v>
                </c:pt>
                <c:pt idx="23">
                  <c:v>42453</c:v>
                </c:pt>
                <c:pt idx="24">
                  <c:v>42454</c:v>
                </c:pt>
                <c:pt idx="25">
                  <c:v>42455</c:v>
                </c:pt>
                <c:pt idx="26">
                  <c:v>42456</c:v>
                </c:pt>
                <c:pt idx="27">
                  <c:v>42457</c:v>
                </c:pt>
                <c:pt idx="28">
                  <c:v>42458</c:v>
                </c:pt>
                <c:pt idx="29">
                  <c:v>42459</c:v>
                </c:pt>
                <c:pt idx="30">
                  <c:v>42460</c:v>
                </c:pt>
              </c:numCache>
            </c:numRef>
          </c:cat>
          <c:val>
            <c:numRef>
              <c:f>'[Comparativo AI - 27-04-16.xlsm]Dados - Gráficos'!$D$6:$AH$6</c:f>
              <c:numCache>
                <c:formatCode>#,##0</c:formatCode>
                <c:ptCount val="31"/>
                <c:pt idx="0">
                  <c:v>497</c:v>
                </c:pt>
                <c:pt idx="1">
                  <c:v>153</c:v>
                </c:pt>
                <c:pt idx="2">
                  <c:v>40</c:v>
                </c:pt>
                <c:pt idx="3">
                  <c:v>582</c:v>
                </c:pt>
                <c:pt idx="4">
                  <c:v>489</c:v>
                </c:pt>
                <c:pt idx="5">
                  <c:v>443</c:v>
                </c:pt>
                <c:pt idx="6">
                  <c:v>426</c:v>
                </c:pt>
                <c:pt idx="7">
                  <c:v>407</c:v>
                </c:pt>
                <c:pt idx="8">
                  <c:v>108</c:v>
                </c:pt>
                <c:pt idx="9">
                  <c:v>51</c:v>
                </c:pt>
                <c:pt idx="10">
                  <c:v>554</c:v>
                </c:pt>
                <c:pt idx="11">
                  <c:v>515</c:v>
                </c:pt>
                <c:pt idx="12">
                  <c:v>447</c:v>
                </c:pt>
                <c:pt idx="13">
                  <c:v>380</c:v>
                </c:pt>
                <c:pt idx="14">
                  <c:v>334</c:v>
                </c:pt>
                <c:pt idx="15">
                  <c:v>87</c:v>
                </c:pt>
                <c:pt idx="16">
                  <c:v>34</c:v>
                </c:pt>
                <c:pt idx="17">
                  <c:v>446</c:v>
                </c:pt>
                <c:pt idx="18">
                  <c:v>436</c:v>
                </c:pt>
                <c:pt idx="19">
                  <c:v>370</c:v>
                </c:pt>
                <c:pt idx="20">
                  <c:v>90</c:v>
                </c:pt>
                <c:pt idx="21">
                  <c:v>285</c:v>
                </c:pt>
                <c:pt idx="22">
                  <c:v>152</c:v>
                </c:pt>
                <c:pt idx="23">
                  <c:v>43</c:v>
                </c:pt>
                <c:pt idx="24">
                  <c:v>445</c:v>
                </c:pt>
                <c:pt idx="25">
                  <c:v>0</c:v>
                </c:pt>
                <c:pt idx="26">
                  <c:v>0</c:v>
                </c:pt>
                <c:pt idx="27">
                  <c:v>0</c:v>
                </c:pt>
                <c:pt idx="28">
                  <c:v>0</c:v>
                </c:pt>
                <c:pt idx="29">
                  <c:v>0</c:v>
                </c:pt>
              </c:numCache>
            </c:numRef>
          </c:val>
          <c:extLst xmlns:c16r2="http://schemas.microsoft.com/office/drawing/2015/06/chart">
            <c:ext xmlns:c16="http://schemas.microsoft.com/office/drawing/2014/chart" uri="{C3380CC4-5D6E-409C-BE32-E72D297353CC}">
              <c16:uniqueId val="{0000001A-DFE8-4CB0-B98D-4A089B75678D}"/>
            </c:ext>
          </c:extLst>
        </c:ser>
        <c:dLbls>
          <c:showLegendKey val="0"/>
          <c:showVal val="0"/>
          <c:showCatName val="0"/>
          <c:showSerName val="0"/>
          <c:showPercent val="0"/>
          <c:showBubbleSize val="0"/>
        </c:dLbls>
        <c:gapWidth val="102"/>
        <c:overlap val="100"/>
        <c:axId val="228794320"/>
        <c:axId val="228790400"/>
      </c:barChart>
      <c:lineChart>
        <c:grouping val="standard"/>
        <c:varyColors val="0"/>
        <c:ser>
          <c:idx val="0"/>
          <c:order val="1"/>
          <c:tx>
            <c:v>Meta</c:v>
          </c:tx>
          <c:spPr>
            <a:ln>
              <a:solidFill>
                <a:srgbClr val="FF0000"/>
              </a:solidFill>
            </a:ln>
            <a:effectLst/>
          </c:spPr>
          <c:marker>
            <c:symbol val="none"/>
          </c:marker>
          <c:cat>
            <c:numRef>
              <c:f>'[Comparativo AI - 27-04-16.xlsm]Dados - Gráficos'!$D$9:$AH$9</c:f>
              <c:numCache>
                <c:formatCode>[$-416]d;@</c:formatCode>
                <c:ptCount val="31"/>
                <c:pt idx="0">
                  <c:v>42430</c:v>
                </c:pt>
                <c:pt idx="1">
                  <c:v>42431</c:v>
                </c:pt>
                <c:pt idx="2">
                  <c:v>42432</c:v>
                </c:pt>
                <c:pt idx="3">
                  <c:v>42433</c:v>
                </c:pt>
                <c:pt idx="4">
                  <c:v>42434</c:v>
                </c:pt>
                <c:pt idx="5">
                  <c:v>42435</c:v>
                </c:pt>
                <c:pt idx="6">
                  <c:v>42436</c:v>
                </c:pt>
                <c:pt idx="7">
                  <c:v>42437</c:v>
                </c:pt>
                <c:pt idx="8">
                  <c:v>42438</c:v>
                </c:pt>
                <c:pt idx="9">
                  <c:v>42439</c:v>
                </c:pt>
                <c:pt idx="10">
                  <c:v>42440</c:v>
                </c:pt>
                <c:pt idx="11">
                  <c:v>42441</c:v>
                </c:pt>
                <c:pt idx="12">
                  <c:v>42442</c:v>
                </c:pt>
                <c:pt idx="13">
                  <c:v>42443</c:v>
                </c:pt>
                <c:pt idx="14">
                  <c:v>42444</c:v>
                </c:pt>
                <c:pt idx="15">
                  <c:v>42445</c:v>
                </c:pt>
                <c:pt idx="16">
                  <c:v>42446</c:v>
                </c:pt>
                <c:pt idx="17">
                  <c:v>42447</c:v>
                </c:pt>
                <c:pt idx="18">
                  <c:v>42448</c:v>
                </c:pt>
                <c:pt idx="19">
                  <c:v>42449</c:v>
                </c:pt>
                <c:pt idx="20">
                  <c:v>42450</c:v>
                </c:pt>
                <c:pt idx="21">
                  <c:v>42451</c:v>
                </c:pt>
                <c:pt idx="22">
                  <c:v>42452</c:v>
                </c:pt>
                <c:pt idx="23">
                  <c:v>42453</c:v>
                </c:pt>
                <c:pt idx="24">
                  <c:v>42454</c:v>
                </c:pt>
                <c:pt idx="25">
                  <c:v>42455</c:v>
                </c:pt>
                <c:pt idx="26">
                  <c:v>42456</c:v>
                </c:pt>
                <c:pt idx="27">
                  <c:v>42457</c:v>
                </c:pt>
                <c:pt idx="28">
                  <c:v>42458</c:v>
                </c:pt>
                <c:pt idx="29">
                  <c:v>42459</c:v>
                </c:pt>
                <c:pt idx="30">
                  <c:v>42460</c:v>
                </c:pt>
              </c:numCache>
            </c:numRef>
          </c:cat>
          <c:val>
            <c:numRef>
              <c:f>'[Comparativo AI - 27-04-16.xlsm]Dados - Gráficos'!$D$12:$AH$12</c:f>
              <c:numCache>
                <c:formatCode>#,##0.00</c:formatCode>
                <c:ptCount val="31"/>
                <c:pt idx="0">
                  <c:v>327.48035686335885</c:v>
                </c:pt>
                <c:pt idx="1">
                  <c:v>92.688636719361412</c:v>
                </c:pt>
                <c:pt idx="2">
                  <c:v>42.689403662544997</c:v>
                </c:pt>
                <c:pt idx="3">
                  <c:v>415.49070277038663</c:v>
                </c:pt>
                <c:pt idx="4">
                  <c:v>509.34891219283134</c:v>
                </c:pt>
                <c:pt idx="5">
                  <c:v>411.39719830959467</c:v>
                </c:pt>
                <c:pt idx="6">
                  <c:v>376.60241039286279</c:v>
                </c:pt>
                <c:pt idx="7">
                  <c:v>327.48035686335885</c:v>
                </c:pt>
                <c:pt idx="8">
                  <c:v>92.688636719361412</c:v>
                </c:pt>
                <c:pt idx="9">
                  <c:v>42.689403662544997</c:v>
                </c:pt>
                <c:pt idx="10">
                  <c:v>323.386852402567</c:v>
                </c:pt>
                <c:pt idx="11">
                  <c:v>261.10710596337452</c:v>
                </c:pt>
                <c:pt idx="12">
                  <c:v>344.14676788229769</c:v>
                </c:pt>
                <c:pt idx="13">
                  <c:v>317.5389888871498</c:v>
                </c:pt>
                <c:pt idx="14">
                  <c:v>267.53975583033338</c:v>
                </c:pt>
                <c:pt idx="15">
                  <c:v>79.238550633902008</c:v>
                </c:pt>
                <c:pt idx="16">
                  <c:v>35.671967444044455</c:v>
                </c:pt>
                <c:pt idx="17">
                  <c:v>385.66659884175925</c:v>
                </c:pt>
                <c:pt idx="18">
                  <c:v>304.38129597746132</c:v>
                </c:pt>
                <c:pt idx="19">
                  <c:v>278.06591015808419</c:v>
                </c:pt>
                <c:pt idx="20">
                  <c:v>288.29967131006413</c:v>
                </c:pt>
                <c:pt idx="21">
                  <c:v>255.55163562372826</c:v>
                </c:pt>
                <c:pt idx="22">
                  <c:v>97.951713883236792</c:v>
                </c:pt>
                <c:pt idx="23">
                  <c:v>37.718719674440443</c:v>
                </c:pt>
                <c:pt idx="24">
                  <c:v>343.85437470652693</c:v>
                </c:pt>
                <c:pt idx="25">
                  <c:v>306.72044138362816</c:v>
                </c:pt>
                <c:pt idx="26">
                  <c:v>299.70300516512754</c:v>
                </c:pt>
                <c:pt idx="27">
                  <c:v>282.15941461887621</c:v>
                </c:pt>
                <c:pt idx="28">
                  <c:v>225.43513851933014</c:v>
                </c:pt>
                <c:pt idx="29">
                  <c:v>99.706072937861947</c:v>
                </c:pt>
              </c:numCache>
            </c:numRef>
          </c:val>
          <c:smooth val="0"/>
          <c:extLst xmlns:c16r2="http://schemas.microsoft.com/office/drawing/2015/06/chart">
            <c:ext xmlns:c16="http://schemas.microsoft.com/office/drawing/2014/chart" uri="{C3380CC4-5D6E-409C-BE32-E72D297353CC}">
              <c16:uniqueId val="{0000001C-DFE8-4CB0-B98D-4A089B75678D}"/>
            </c:ext>
          </c:extLst>
        </c:ser>
        <c:dLbls>
          <c:showLegendKey val="0"/>
          <c:showVal val="0"/>
          <c:showCatName val="0"/>
          <c:showSerName val="0"/>
          <c:showPercent val="0"/>
          <c:showBubbleSize val="0"/>
        </c:dLbls>
        <c:marker val="1"/>
        <c:smooth val="0"/>
        <c:axId val="228794320"/>
        <c:axId val="228790400"/>
      </c:lineChart>
      <c:dateAx>
        <c:axId val="228794320"/>
        <c:scaling>
          <c:orientation val="minMax"/>
        </c:scaling>
        <c:delete val="0"/>
        <c:axPos val="b"/>
        <c:numFmt formatCode="[$-416]d;@"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pt-BR"/>
          </a:p>
        </c:txPr>
        <c:crossAx val="228790400"/>
        <c:crosses val="autoZero"/>
        <c:auto val="1"/>
        <c:lblOffset val="100"/>
        <c:baseTimeUnit val="days"/>
      </c:dateAx>
      <c:valAx>
        <c:axId val="228790400"/>
        <c:scaling>
          <c:orientation val="minMax"/>
        </c:scaling>
        <c:delete val="1"/>
        <c:axPos val="l"/>
        <c:numFmt formatCode="#,##0" sourceLinked="1"/>
        <c:majorTickMark val="none"/>
        <c:minorTickMark val="none"/>
        <c:tickLblPos val="nextTo"/>
        <c:crossAx val="228794320"/>
        <c:crosses val="autoZero"/>
        <c:crossBetween val="between"/>
      </c:valAx>
      <c:spPr>
        <a:noFill/>
        <a:ln>
          <a:noFill/>
        </a:ln>
        <a:effectLst/>
      </c:spPr>
    </c:plotArea>
    <c:plotVisOnly val="0"/>
    <c:dispBlanksAs val="gap"/>
    <c:showDLblsOverMax val="0"/>
  </c:chart>
  <c:spPr>
    <a:solidFill>
      <a:schemeClr val="bg1"/>
    </a:solidFill>
    <a:ln w="9525" cap="flat" cmpd="sng" algn="ctr">
      <a:noFill/>
      <a:round/>
    </a:ln>
    <a:effectLst/>
  </c:spPr>
  <c:txPr>
    <a:bodyPr/>
    <a:lstStyle/>
    <a:p>
      <a:pPr>
        <a:defRPr/>
      </a:pPr>
      <a:endParaRPr lang="pt-B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21105009973328545"/>
          <c:w val="1"/>
          <c:h val="0.67605210952913253"/>
        </c:manualLayout>
      </c:layout>
      <c:barChart>
        <c:barDir val="col"/>
        <c:grouping val="stacked"/>
        <c:varyColors val="0"/>
        <c:ser>
          <c:idx val="0"/>
          <c:order val="0"/>
          <c:tx>
            <c:strRef>
              <c:f>Plan1!$B$1</c:f>
              <c:strCache>
                <c:ptCount val="1"/>
                <c:pt idx="0">
                  <c:v>TMEF</c:v>
                </c:pt>
              </c:strCache>
            </c:strRef>
          </c:tx>
          <c:spPr>
            <a:gradFill flip="none" rotWithShape="1">
              <a:gsLst>
                <a:gs pos="0">
                  <a:srgbClr val="19345B"/>
                </a:gs>
                <a:gs pos="50000">
                  <a:schemeClr val="accent1">
                    <a:lumMod val="75000"/>
                  </a:schemeClr>
                </a:gs>
                <a:gs pos="100000">
                  <a:srgbClr val="19345B"/>
                </a:gs>
              </a:gsLst>
              <a:lin ang="10800000" scaled="1"/>
              <a:tileRect/>
            </a:gradFill>
            <a:ln w="6350" cap="flat" cmpd="sng" algn="ctr">
              <a:solidFill>
                <a:schemeClr val="accent1"/>
              </a:solidFill>
              <a:prstDash val="solid"/>
              <a:miter lim="800000"/>
            </a:ln>
            <a:effectLst/>
          </c:spPr>
          <c:invertIfNegative val="0"/>
          <c:dPt>
            <c:idx val="3"/>
            <c:invertIfNegative val="0"/>
            <c:bubble3D val="0"/>
            <c:extLst xmlns:c16r2="http://schemas.microsoft.com/office/drawing/2015/06/chart">
              <c:ext xmlns:c16="http://schemas.microsoft.com/office/drawing/2014/chart" uri="{C3380CC4-5D6E-409C-BE32-E72D297353CC}">
                <c16:uniqueId val="{00000001-3AF3-47B6-B362-8D75B94687B9}"/>
              </c:ext>
            </c:extLst>
          </c:dPt>
          <c:dPt>
            <c:idx val="4"/>
            <c:invertIfNegative val="0"/>
            <c:bubble3D val="0"/>
            <c:extLst xmlns:c16r2="http://schemas.microsoft.com/office/drawing/2015/06/chart">
              <c:ext xmlns:c16="http://schemas.microsoft.com/office/drawing/2014/chart" uri="{C3380CC4-5D6E-409C-BE32-E72D297353CC}">
                <c16:uniqueId val="{00000003-3AF3-47B6-B362-8D75B94687B9}"/>
              </c:ext>
            </c:extLst>
          </c:dPt>
          <c:dPt>
            <c:idx val="5"/>
            <c:invertIfNegative val="0"/>
            <c:bubble3D val="0"/>
            <c:extLst xmlns:c16r2="http://schemas.microsoft.com/office/drawing/2015/06/chart">
              <c:ext xmlns:c16="http://schemas.microsoft.com/office/drawing/2014/chart" uri="{C3380CC4-5D6E-409C-BE32-E72D297353CC}">
                <c16:uniqueId val="{00000005-A68B-42D7-9922-1033F30CA165}"/>
              </c:ext>
            </c:extLst>
          </c:dPt>
          <c:dLbls>
            <c:dLbl>
              <c:idx val="0"/>
              <c:layout>
                <c:manualLayout>
                  <c:x val="1.0010967670332088E-2"/>
                  <c:y val="-7.320345890070569E-2"/>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3-36DD-4399-B820-4554E2117214}"/>
                </c:ext>
                <c:ext xmlns:c15="http://schemas.microsoft.com/office/drawing/2012/chart" uri="{CE6537A1-D6FC-4f65-9D91-7224C49458BB}">
                  <c15:layout/>
                </c:ext>
              </c:extLst>
            </c:dLbl>
            <c:dLbl>
              <c:idx val="1"/>
              <c:layout>
                <c:manualLayout>
                  <c:x val="-2.1518540112448913E-4"/>
                  <c:y val="-0.16017124308839367"/>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4-36DD-4399-B820-4554E2117214}"/>
                </c:ext>
                <c:ext xmlns:c15="http://schemas.microsoft.com/office/drawing/2012/chart" uri="{CE6537A1-D6FC-4f65-9D91-7224C49458BB}">
                  <c15:layout/>
                </c:ext>
              </c:extLst>
            </c:dLbl>
            <c:dLbl>
              <c:idx val="2"/>
              <c:layout>
                <c:manualLayout>
                  <c:x val="6.3700209902695891E-3"/>
                  <c:y val="-0.22664214047733475"/>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5-36DD-4399-B820-4554E2117214}"/>
                </c:ext>
                <c:ext xmlns:c15="http://schemas.microsoft.com/office/drawing/2012/chart" uri="{CE6537A1-D6FC-4f65-9D91-7224C49458BB}">
                  <c15:layout/>
                </c:ext>
              </c:extLst>
            </c:dLbl>
            <c:dLbl>
              <c:idx val="3"/>
              <c:layout>
                <c:manualLayout>
                  <c:x val="-2.7550031817390954E-3"/>
                  <c:y val="-0.29118166853426974"/>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1-3AF3-47B6-B362-8D75B94687B9}"/>
                </c:ext>
                <c:ext xmlns:c15="http://schemas.microsoft.com/office/drawing/2012/chart" uri="{CE6537A1-D6FC-4f65-9D91-7224C49458BB}">
                  <c15:layout/>
                </c:ext>
              </c:extLst>
            </c:dLbl>
            <c:dLbl>
              <c:idx val="4"/>
              <c:layout>
                <c:manualLayout>
                  <c:x val="-1.0759270056224456E-4"/>
                  <c:y val="-0.28082259858697561"/>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3-3AF3-47B6-B362-8D75B94687B9}"/>
                </c:ext>
                <c:ext xmlns:c15="http://schemas.microsoft.com/office/drawing/2012/chart" uri="{CE6537A1-D6FC-4f65-9D91-7224C49458BB}">
                  <c15:layout/>
                </c:ext>
              </c:extLst>
            </c:dLbl>
            <c:dLbl>
              <c:idx val="5"/>
              <c:layout>
                <c:manualLayout>
                  <c:x val="3.0775389575235491E-3"/>
                  <c:y val="-0.3217118726453565"/>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5-A68B-42D7-9922-1033F30CA165}"/>
                </c:ext>
                <c:ext xmlns:c15="http://schemas.microsoft.com/office/drawing/2012/chart" uri="{CE6537A1-D6FC-4f65-9D91-7224C49458BB}">
                  <c15:layout/>
                </c:ext>
              </c:extLst>
            </c:dLbl>
            <c:dLbl>
              <c:idx val="6"/>
              <c:layout>
                <c:manualLayout>
                  <c:x val="0"/>
                  <c:y val="-0.31557499254547261"/>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6-36DD-4399-B820-4554E2117214}"/>
                </c:ext>
                <c:ext xmlns:c15="http://schemas.microsoft.com/office/drawing/2012/chart" uri="{CE6537A1-D6FC-4f65-9D91-7224C49458BB}">
                  <c15:layout/>
                </c:ext>
              </c:extLst>
            </c:dLbl>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rgbClr val="19345B"/>
                    </a:solidFill>
                    <a:latin typeface="+mn-lt"/>
                    <a:ea typeface="+mn-ea"/>
                    <a:cs typeface="+mn-cs"/>
                  </a:defRPr>
                </a:pPr>
                <a:endParaRPr lang="pt-BR"/>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0"/>
              </c:ext>
            </c:extLst>
          </c:dLbls>
          <c:cat>
            <c:numRef>
              <c:f>Plan1!$A$3:$A$9</c:f>
              <c:numCache>
                <c:formatCode>mmm\-yy</c:formatCode>
                <c:ptCount val="7"/>
                <c:pt idx="0">
                  <c:v>42278</c:v>
                </c:pt>
                <c:pt idx="1">
                  <c:v>42309</c:v>
                </c:pt>
                <c:pt idx="2">
                  <c:v>42339</c:v>
                </c:pt>
                <c:pt idx="3">
                  <c:v>42370</c:v>
                </c:pt>
                <c:pt idx="4">
                  <c:v>42401</c:v>
                </c:pt>
                <c:pt idx="5">
                  <c:v>42430</c:v>
                </c:pt>
                <c:pt idx="6">
                  <c:v>42461</c:v>
                </c:pt>
              </c:numCache>
            </c:numRef>
          </c:cat>
          <c:val>
            <c:numRef>
              <c:f>Plan1!$B$3:$B$9</c:f>
              <c:numCache>
                <c:formatCode>h:mm:ss;@</c:formatCode>
                <c:ptCount val="7"/>
                <c:pt idx="0">
                  <c:v>2.4699074074074078E-2</c:v>
                </c:pt>
                <c:pt idx="1">
                  <c:v>7.2222222222222229E-2</c:v>
                </c:pt>
                <c:pt idx="2">
                  <c:v>0.10189814814814814</c:v>
                </c:pt>
                <c:pt idx="3">
                  <c:v>0.14826388888888889</c:v>
                </c:pt>
                <c:pt idx="4">
                  <c:v>0.14141203703703703</c:v>
                </c:pt>
                <c:pt idx="5">
                  <c:v>0.1721412037037037</c:v>
                </c:pt>
                <c:pt idx="6">
                  <c:v>0.17060185185185184</c:v>
                </c:pt>
              </c:numCache>
            </c:numRef>
          </c:val>
          <c:extLst xmlns:c16r2="http://schemas.microsoft.com/office/drawing/2015/06/chart">
            <c:ext xmlns:c16="http://schemas.microsoft.com/office/drawing/2014/chart" uri="{C3380CC4-5D6E-409C-BE32-E72D297353CC}">
              <c16:uniqueId val="{00000007-3AF3-47B6-B362-8D75B94687B9}"/>
            </c:ext>
          </c:extLst>
        </c:ser>
        <c:dLbls>
          <c:dLblPos val="ctr"/>
          <c:showLegendKey val="0"/>
          <c:showVal val="1"/>
          <c:showCatName val="0"/>
          <c:showSerName val="0"/>
          <c:showPercent val="0"/>
          <c:showBubbleSize val="0"/>
        </c:dLbls>
        <c:gapWidth val="53"/>
        <c:overlap val="100"/>
        <c:axId val="228799808"/>
        <c:axId val="228800200"/>
      </c:barChart>
      <c:dateAx>
        <c:axId val="228799808"/>
        <c:scaling>
          <c:orientation val="minMax"/>
        </c:scaling>
        <c:delete val="0"/>
        <c:axPos val="b"/>
        <c:numFmt formatCode="mmm\-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baseline="0">
                <a:solidFill>
                  <a:srgbClr val="19345B"/>
                </a:solidFill>
                <a:latin typeface="+mn-lt"/>
                <a:ea typeface="+mn-ea"/>
                <a:cs typeface="+mn-cs"/>
              </a:defRPr>
            </a:pPr>
            <a:endParaRPr lang="pt-BR"/>
          </a:p>
        </c:txPr>
        <c:crossAx val="228800200"/>
        <c:crosses val="autoZero"/>
        <c:auto val="1"/>
        <c:lblOffset val="100"/>
        <c:baseTimeUnit val="months"/>
      </c:dateAx>
      <c:valAx>
        <c:axId val="228800200"/>
        <c:scaling>
          <c:orientation val="minMax"/>
        </c:scaling>
        <c:delete val="1"/>
        <c:axPos val="l"/>
        <c:numFmt formatCode="h:mm:ss;@" sourceLinked="1"/>
        <c:majorTickMark val="none"/>
        <c:minorTickMark val="none"/>
        <c:tickLblPos val="nextTo"/>
        <c:crossAx val="228799808"/>
        <c:crosses val="autoZero"/>
        <c:crossBetween val="between"/>
      </c:valAx>
    </c:plotArea>
    <c:plotVisOnly val="1"/>
    <c:dispBlanksAs val="gap"/>
    <c:showDLblsOverMax val="0"/>
  </c:chart>
  <c:spPr>
    <a:noFill/>
    <a:ln>
      <a:noFill/>
    </a:ln>
    <a:effectLst/>
  </c:spPr>
  <c:txPr>
    <a:bodyPr/>
    <a:lstStyle/>
    <a:p>
      <a:pPr>
        <a:defRPr/>
      </a:pPr>
      <a:endParaRPr lang="pt-BR"/>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21105009973328545"/>
          <c:w val="1"/>
          <c:h val="0.67605210952913253"/>
        </c:manualLayout>
      </c:layout>
      <c:barChart>
        <c:barDir val="col"/>
        <c:grouping val="stacked"/>
        <c:varyColors val="0"/>
        <c:ser>
          <c:idx val="0"/>
          <c:order val="0"/>
          <c:tx>
            <c:strRef>
              <c:f>Plan1!$B$1</c:f>
              <c:strCache>
                <c:ptCount val="1"/>
                <c:pt idx="0">
                  <c:v>TMR</c:v>
                </c:pt>
              </c:strCache>
            </c:strRef>
          </c:tx>
          <c:spPr>
            <a:gradFill flip="none" rotWithShape="1">
              <a:gsLst>
                <a:gs pos="0">
                  <a:srgbClr val="19345B"/>
                </a:gs>
                <a:gs pos="50000">
                  <a:schemeClr val="accent1">
                    <a:lumMod val="75000"/>
                  </a:schemeClr>
                </a:gs>
                <a:gs pos="100000">
                  <a:srgbClr val="19345B"/>
                </a:gs>
              </a:gsLst>
              <a:lin ang="10800000" scaled="1"/>
              <a:tileRect/>
            </a:gradFill>
            <a:ln w="6350" cap="flat" cmpd="sng" algn="ctr">
              <a:solidFill>
                <a:schemeClr val="accent1"/>
              </a:solidFill>
              <a:prstDash val="solid"/>
              <a:miter lim="800000"/>
            </a:ln>
            <a:effectLst/>
          </c:spPr>
          <c:invertIfNegative val="0"/>
          <c:dPt>
            <c:idx val="3"/>
            <c:invertIfNegative val="0"/>
            <c:bubble3D val="0"/>
            <c:extLst xmlns:c16r2="http://schemas.microsoft.com/office/drawing/2015/06/chart">
              <c:ext xmlns:c16="http://schemas.microsoft.com/office/drawing/2014/chart" uri="{C3380CC4-5D6E-409C-BE32-E72D297353CC}">
                <c16:uniqueId val="{00000001-3AF3-47B6-B362-8D75B94687B9}"/>
              </c:ext>
            </c:extLst>
          </c:dPt>
          <c:dPt>
            <c:idx val="4"/>
            <c:invertIfNegative val="0"/>
            <c:bubble3D val="0"/>
            <c:extLst xmlns:c16r2="http://schemas.microsoft.com/office/drawing/2015/06/chart">
              <c:ext xmlns:c16="http://schemas.microsoft.com/office/drawing/2014/chart" uri="{C3380CC4-5D6E-409C-BE32-E72D297353CC}">
                <c16:uniqueId val="{00000003-3AF3-47B6-B362-8D75B94687B9}"/>
              </c:ext>
            </c:extLst>
          </c:dPt>
          <c:dPt>
            <c:idx val="5"/>
            <c:invertIfNegative val="0"/>
            <c:bubble3D val="0"/>
            <c:extLst xmlns:c16r2="http://schemas.microsoft.com/office/drawing/2015/06/chart">
              <c:ext xmlns:c16="http://schemas.microsoft.com/office/drawing/2014/chart" uri="{C3380CC4-5D6E-409C-BE32-E72D297353CC}">
                <c16:uniqueId val="{00000005-A68B-42D7-9922-1033F30CA165}"/>
              </c:ext>
            </c:extLst>
          </c:dPt>
          <c:dLbls>
            <c:dLbl>
              <c:idx val="0"/>
              <c:layout>
                <c:manualLayout>
                  <c:x val="7.781084718589354E-4"/>
                  <c:y val="-0.25909043873467735"/>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3-6F55-4766-B697-438142CEE7C1}"/>
                </c:ext>
                <c:ext xmlns:c15="http://schemas.microsoft.com/office/drawing/2012/chart" uri="{CE6537A1-D6FC-4f65-9D91-7224C49458BB}">
                  <c15:layout/>
                </c:ext>
              </c:extLst>
            </c:dLbl>
            <c:dLbl>
              <c:idx val="1"/>
              <c:layout>
                <c:manualLayout>
                  <c:x val="-2.1518540112448913E-4"/>
                  <c:y val="-0.24230720005228382"/>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4-6F55-4766-B697-438142CEE7C1}"/>
                </c:ext>
                <c:ext xmlns:c15="http://schemas.microsoft.com/office/drawing/2012/chart" uri="{CE6537A1-D6FC-4f65-9D91-7224C49458BB}">
                  <c15:layout/>
                </c:ext>
              </c:extLst>
            </c:dLbl>
            <c:dLbl>
              <c:idx val="2"/>
              <c:layout>
                <c:manualLayout>
                  <c:x val="6.3700209902696455E-3"/>
                  <c:y val="-0.32174693275131289"/>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5-6F55-4766-B697-438142CEE7C1}"/>
                </c:ext>
                <c:ext xmlns:c15="http://schemas.microsoft.com/office/drawing/2012/chart" uri="{CE6537A1-D6FC-4f65-9D91-7224C49458BB}">
                  <c15:layout/>
                </c:ext>
              </c:extLst>
            </c:dLbl>
            <c:dLbl>
              <c:idx val="3"/>
              <c:layout>
                <c:manualLayout>
                  <c:x val="-2.7550031817390954E-3"/>
                  <c:y val="-0.29118166853426974"/>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1-3AF3-47B6-B362-8D75B94687B9}"/>
                </c:ext>
                <c:ext xmlns:c15="http://schemas.microsoft.com/office/drawing/2012/chart" uri="{CE6537A1-D6FC-4f65-9D91-7224C49458BB}">
                  <c15:layout/>
                </c:ext>
              </c:extLst>
            </c:dLbl>
            <c:dLbl>
              <c:idx val="4"/>
              <c:layout>
                <c:manualLayout>
                  <c:x val="2.9699462569614172E-3"/>
                  <c:y val="-0.23759314755334923"/>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3-3AF3-47B6-B362-8D75B94687B9}"/>
                </c:ext>
                <c:ext xmlns:c15="http://schemas.microsoft.com/office/drawing/2012/chart" uri="{CE6537A1-D6FC-4f65-9D91-7224C49458BB}">
                  <c15:layout/>
                </c:ext>
              </c:extLst>
            </c:dLbl>
            <c:dLbl>
              <c:idx val="5"/>
              <c:layout>
                <c:manualLayout>
                  <c:x val="-6.1550779150473236E-3"/>
                  <c:y val="-0.17905468423438942"/>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5-A68B-42D7-9922-1033F30CA165}"/>
                </c:ext>
                <c:ext xmlns:c15="http://schemas.microsoft.com/office/drawing/2012/chart" uri="{CE6537A1-D6FC-4f65-9D91-7224C49458BB}">
                  <c15:layout/>
                </c:ext>
              </c:extLst>
            </c:dLbl>
            <c:dLbl>
              <c:idx val="6"/>
              <c:layout>
                <c:manualLayout>
                  <c:x val="3.0775389575235491E-3"/>
                  <c:y val="-0.17291780413450547"/>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6-6F55-4766-B697-438142CEE7C1}"/>
                </c:ext>
                <c:ext xmlns:c15="http://schemas.microsoft.com/office/drawing/2012/chart" uri="{CE6537A1-D6FC-4f65-9D91-7224C49458BB}">
                  <c15:layout/>
                </c:ext>
              </c:extLst>
            </c:dLbl>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rgbClr val="19345B"/>
                    </a:solidFill>
                    <a:latin typeface="+mn-lt"/>
                    <a:ea typeface="+mn-ea"/>
                    <a:cs typeface="+mn-cs"/>
                  </a:defRPr>
                </a:pPr>
                <a:endParaRPr lang="pt-BR"/>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0"/>
              </c:ext>
            </c:extLst>
          </c:dLbls>
          <c:cat>
            <c:numRef>
              <c:f>Plan1!$A$3:$A$9</c:f>
              <c:numCache>
                <c:formatCode>mmm\-yy</c:formatCode>
                <c:ptCount val="7"/>
                <c:pt idx="0">
                  <c:v>42278</c:v>
                </c:pt>
                <c:pt idx="1">
                  <c:v>42309</c:v>
                </c:pt>
                <c:pt idx="2">
                  <c:v>42339</c:v>
                </c:pt>
                <c:pt idx="3">
                  <c:v>42370</c:v>
                </c:pt>
                <c:pt idx="4">
                  <c:v>42401</c:v>
                </c:pt>
                <c:pt idx="5">
                  <c:v>42430</c:v>
                </c:pt>
                <c:pt idx="6">
                  <c:v>42461</c:v>
                </c:pt>
              </c:numCache>
            </c:numRef>
          </c:cat>
          <c:val>
            <c:numRef>
              <c:f>Plan1!$B$3:$B$9</c:f>
              <c:numCache>
                <c:formatCode>[h]:mm:ss;@</c:formatCode>
                <c:ptCount val="7"/>
                <c:pt idx="0">
                  <c:v>0.78461805555555564</c:v>
                </c:pt>
                <c:pt idx="1">
                  <c:v>0.69037037037037041</c:v>
                </c:pt>
                <c:pt idx="2">
                  <c:v>0.98089120370370375</c:v>
                </c:pt>
                <c:pt idx="3">
                  <c:v>0.86340277777777785</c:v>
                </c:pt>
                <c:pt idx="4">
                  <c:v>0.67074074074074075</c:v>
                </c:pt>
                <c:pt idx="5">
                  <c:v>0.48246527777777781</c:v>
                </c:pt>
                <c:pt idx="6">
                  <c:v>0.47392361111111114</c:v>
                </c:pt>
              </c:numCache>
            </c:numRef>
          </c:val>
          <c:extLst xmlns:c16r2="http://schemas.microsoft.com/office/drawing/2015/06/chart">
            <c:ext xmlns:c16="http://schemas.microsoft.com/office/drawing/2014/chart" uri="{C3380CC4-5D6E-409C-BE32-E72D297353CC}">
              <c16:uniqueId val="{00000007-3AF3-47B6-B362-8D75B94687B9}"/>
            </c:ext>
          </c:extLst>
        </c:ser>
        <c:dLbls>
          <c:dLblPos val="ctr"/>
          <c:showLegendKey val="0"/>
          <c:showVal val="1"/>
          <c:showCatName val="0"/>
          <c:showSerName val="0"/>
          <c:showPercent val="0"/>
          <c:showBubbleSize val="0"/>
        </c:dLbls>
        <c:gapWidth val="53"/>
        <c:overlap val="100"/>
        <c:axId val="270661048"/>
        <c:axId val="270664576"/>
      </c:barChart>
      <c:dateAx>
        <c:axId val="270661048"/>
        <c:scaling>
          <c:orientation val="minMax"/>
        </c:scaling>
        <c:delete val="0"/>
        <c:axPos val="b"/>
        <c:numFmt formatCode="mmm\-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baseline="0">
                <a:solidFill>
                  <a:srgbClr val="19345B"/>
                </a:solidFill>
                <a:latin typeface="+mn-lt"/>
                <a:ea typeface="+mn-ea"/>
                <a:cs typeface="+mn-cs"/>
              </a:defRPr>
            </a:pPr>
            <a:endParaRPr lang="pt-BR"/>
          </a:p>
        </c:txPr>
        <c:crossAx val="270664576"/>
        <c:crosses val="autoZero"/>
        <c:auto val="1"/>
        <c:lblOffset val="100"/>
        <c:baseTimeUnit val="months"/>
      </c:dateAx>
      <c:valAx>
        <c:axId val="270664576"/>
        <c:scaling>
          <c:orientation val="minMax"/>
        </c:scaling>
        <c:delete val="1"/>
        <c:axPos val="l"/>
        <c:numFmt formatCode="[h]:mm:ss;@" sourceLinked="1"/>
        <c:majorTickMark val="none"/>
        <c:minorTickMark val="none"/>
        <c:tickLblPos val="nextTo"/>
        <c:crossAx val="270661048"/>
        <c:crosses val="autoZero"/>
        <c:crossBetween val="between"/>
      </c:valAx>
    </c:plotArea>
    <c:plotVisOnly val="1"/>
    <c:dispBlanksAs val="gap"/>
    <c:showDLblsOverMax val="0"/>
  </c:chart>
  <c:spPr>
    <a:noFill/>
    <a:ln>
      <a:noFill/>
    </a:ln>
    <a:effectLst/>
  </c:spPr>
  <c:txPr>
    <a:bodyPr/>
    <a:lstStyle/>
    <a:p>
      <a:pPr>
        <a:defRPr/>
      </a:pPr>
      <a:endParaRPr lang="pt-BR"/>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21105009973328545"/>
          <c:w val="1"/>
          <c:h val="0.67605210952913253"/>
        </c:manualLayout>
      </c:layout>
      <c:barChart>
        <c:barDir val="col"/>
        <c:grouping val="stacked"/>
        <c:varyColors val="0"/>
        <c:ser>
          <c:idx val="0"/>
          <c:order val="0"/>
          <c:tx>
            <c:strRef>
              <c:f>Plan1!$B$1</c:f>
              <c:strCache>
                <c:ptCount val="1"/>
                <c:pt idx="0">
                  <c:v>TMR</c:v>
                </c:pt>
              </c:strCache>
            </c:strRef>
          </c:tx>
          <c:spPr>
            <a:gradFill flip="none" rotWithShape="1">
              <a:gsLst>
                <a:gs pos="0">
                  <a:srgbClr val="19345B"/>
                </a:gs>
                <a:gs pos="50000">
                  <a:schemeClr val="accent1">
                    <a:lumMod val="75000"/>
                  </a:schemeClr>
                </a:gs>
                <a:gs pos="100000">
                  <a:srgbClr val="19345B"/>
                </a:gs>
              </a:gsLst>
              <a:lin ang="10800000" scaled="1"/>
              <a:tileRect/>
            </a:gradFill>
            <a:ln w="6350" cap="flat" cmpd="sng" algn="ctr">
              <a:solidFill>
                <a:schemeClr val="accent1"/>
              </a:solidFill>
              <a:prstDash val="solid"/>
              <a:miter lim="800000"/>
            </a:ln>
            <a:effectLst/>
          </c:spPr>
          <c:invertIfNegative val="0"/>
          <c:dLbls>
            <c:dLbl>
              <c:idx val="0"/>
              <c:layout>
                <c:manualLayout>
                  <c:x val="-1.0992825939948674E-3"/>
                  <c:y val="-0.36616622428666223"/>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0-6953-4D1E-8B0C-11C5046B233E}"/>
                </c:ext>
                <c:ext xmlns:c15="http://schemas.microsoft.com/office/drawing/2012/chart" uri="{CE6537A1-D6FC-4f65-9D91-7224C49458BB}">
                  <c15:layout/>
                </c:ext>
              </c:extLst>
            </c:dLbl>
            <c:dLbl>
              <c:idx val="1"/>
              <c:layout>
                <c:manualLayout>
                  <c:x val="1.3295291063435343E-2"/>
                  <c:y val="-0.229335072691078"/>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1-6953-4D1E-8B0C-11C5046B233E}"/>
                </c:ext>
                <c:ext xmlns:c15="http://schemas.microsoft.com/office/drawing/2012/chart" uri="{CE6537A1-D6FC-4f65-9D91-7224C49458BB}">
                  <c15:layout/>
                </c:ext>
              </c:extLst>
            </c:dLbl>
            <c:dLbl>
              <c:idx val="2"/>
              <c:layout>
                <c:manualLayout>
                  <c:x val="6.3700209902695891E-3"/>
                  <c:y val="-0.22664214047733475"/>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2-6953-4D1E-8B0C-11C5046B233E}"/>
                </c:ext>
                <c:ext xmlns:c15="http://schemas.microsoft.com/office/drawing/2012/chart" uri="{CE6537A1-D6FC-4f65-9D91-7224C49458BB}"/>
              </c:extLst>
            </c:dLbl>
            <c:dLbl>
              <c:idx val="3"/>
              <c:layout>
                <c:manualLayout>
                  <c:x val="-2.7550031817390954E-3"/>
                  <c:y val="-0.29118166853426974"/>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3-6953-4D1E-8B0C-11C5046B233E}"/>
                </c:ext>
                <c:ext xmlns:c15="http://schemas.microsoft.com/office/drawing/2012/chart" uri="{CE6537A1-D6FC-4f65-9D91-7224C49458BB}"/>
              </c:extLst>
            </c:dLbl>
            <c:dLbl>
              <c:idx val="4"/>
              <c:layout>
                <c:manualLayout>
                  <c:x val="-1.0759270056224456E-4"/>
                  <c:y val="-0.28082259858697561"/>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4-6953-4D1E-8B0C-11C5046B233E}"/>
                </c:ext>
                <c:ext xmlns:c15="http://schemas.microsoft.com/office/drawing/2012/chart" uri="{CE6537A1-D6FC-4f65-9D91-7224C49458BB}"/>
              </c:extLst>
            </c:dLbl>
            <c:dLbl>
              <c:idx val="5"/>
              <c:layout>
                <c:manualLayout>
                  <c:x val="3.0775389575235491E-3"/>
                  <c:y val="-0.3217118726453565"/>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5-6953-4D1E-8B0C-11C5046B233E}"/>
                </c:ext>
                <c:ext xmlns:c15="http://schemas.microsoft.com/office/drawing/2012/chart" uri="{CE6537A1-D6FC-4f65-9D91-7224C49458BB}"/>
              </c:extLst>
            </c:dLbl>
            <c:dLbl>
              <c:idx val="6"/>
              <c:layout>
                <c:manualLayout>
                  <c:x val="3.0775389575236618E-3"/>
                  <c:y val="-0.28099143171857155"/>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6-6953-4D1E-8B0C-11C5046B233E}"/>
                </c:ext>
                <c:ext xmlns:c15="http://schemas.microsoft.com/office/drawing/2012/chart" uri="{CE6537A1-D6FC-4f65-9D91-7224C49458BB}"/>
              </c:extLst>
            </c:dLbl>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rgbClr val="19345B"/>
                    </a:solidFill>
                    <a:latin typeface="+mn-lt"/>
                    <a:ea typeface="+mn-ea"/>
                    <a:cs typeface="+mn-cs"/>
                  </a:defRPr>
                </a:pPr>
                <a:endParaRPr lang="pt-BR"/>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0"/>
              </c:ext>
            </c:extLst>
          </c:dLbls>
          <c:cat>
            <c:numRef>
              <c:f>Plan1!$A$2:$A$3</c:f>
              <c:numCache>
                <c:formatCode>mmm\-yy</c:formatCode>
                <c:ptCount val="2"/>
                <c:pt idx="0">
                  <c:v>42430</c:v>
                </c:pt>
                <c:pt idx="1">
                  <c:v>42461</c:v>
                </c:pt>
              </c:numCache>
            </c:numRef>
          </c:cat>
          <c:val>
            <c:numRef>
              <c:f>Plan1!$B$2:$B$3</c:f>
              <c:numCache>
                <c:formatCode>h:mm:ss;@</c:formatCode>
                <c:ptCount val="2"/>
                <c:pt idx="0">
                  <c:v>0.36401620370370374</c:v>
                </c:pt>
                <c:pt idx="1">
                  <c:v>0.21989583333333332</c:v>
                </c:pt>
              </c:numCache>
            </c:numRef>
          </c:val>
          <c:extLst xmlns:c16r2="http://schemas.microsoft.com/office/drawing/2015/06/chart">
            <c:ext xmlns:c16="http://schemas.microsoft.com/office/drawing/2014/chart" uri="{C3380CC4-5D6E-409C-BE32-E72D297353CC}">
              <c16:uniqueId val="{00000007-3AF3-47B6-B362-8D75B94687B9}"/>
            </c:ext>
          </c:extLst>
        </c:ser>
        <c:dLbls>
          <c:dLblPos val="ctr"/>
          <c:showLegendKey val="0"/>
          <c:showVal val="1"/>
          <c:showCatName val="0"/>
          <c:showSerName val="0"/>
          <c:showPercent val="0"/>
          <c:showBubbleSize val="0"/>
        </c:dLbls>
        <c:gapWidth val="53"/>
        <c:overlap val="100"/>
        <c:axId val="228792360"/>
        <c:axId val="270659872"/>
      </c:barChart>
      <c:dateAx>
        <c:axId val="228792360"/>
        <c:scaling>
          <c:orientation val="minMax"/>
        </c:scaling>
        <c:delete val="0"/>
        <c:axPos val="b"/>
        <c:numFmt formatCode="mmm\-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baseline="0">
                <a:solidFill>
                  <a:srgbClr val="19345B"/>
                </a:solidFill>
                <a:latin typeface="+mn-lt"/>
                <a:ea typeface="+mn-ea"/>
                <a:cs typeface="+mn-cs"/>
              </a:defRPr>
            </a:pPr>
            <a:endParaRPr lang="pt-BR"/>
          </a:p>
        </c:txPr>
        <c:crossAx val="270659872"/>
        <c:crosses val="autoZero"/>
        <c:auto val="1"/>
        <c:lblOffset val="100"/>
        <c:baseTimeUnit val="months"/>
      </c:dateAx>
      <c:valAx>
        <c:axId val="270659872"/>
        <c:scaling>
          <c:orientation val="minMax"/>
        </c:scaling>
        <c:delete val="1"/>
        <c:axPos val="l"/>
        <c:numFmt formatCode="h:mm:ss;@" sourceLinked="1"/>
        <c:majorTickMark val="none"/>
        <c:minorTickMark val="none"/>
        <c:tickLblPos val="nextTo"/>
        <c:crossAx val="228792360"/>
        <c:crosses val="autoZero"/>
        <c:crossBetween val="between"/>
      </c:valAx>
    </c:plotArea>
    <c:plotVisOnly val="1"/>
    <c:dispBlanksAs val="gap"/>
    <c:showDLblsOverMax val="0"/>
  </c:chart>
  <c:spPr>
    <a:noFill/>
    <a:ln>
      <a:noFill/>
    </a:ln>
    <a:effectLst/>
  </c:spPr>
  <c:txPr>
    <a:bodyPr/>
    <a:lstStyle/>
    <a:p>
      <a:pPr>
        <a:defRPr/>
      </a:pPr>
      <a:endParaRPr lang="pt-BR"/>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21105009973328545"/>
          <c:w val="1"/>
          <c:h val="0.67605210952913253"/>
        </c:manualLayout>
      </c:layout>
      <c:barChart>
        <c:barDir val="col"/>
        <c:grouping val="stacked"/>
        <c:varyColors val="0"/>
        <c:ser>
          <c:idx val="0"/>
          <c:order val="0"/>
          <c:tx>
            <c:strRef>
              <c:f>Plan1!$B$1</c:f>
              <c:strCache>
                <c:ptCount val="1"/>
                <c:pt idx="0">
                  <c:v>TMR</c:v>
                </c:pt>
              </c:strCache>
            </c:strRef>
          </c:tx>
          <c:spPr>
            <a:gradFill flip="none" rotWithShape="1">
              <a:gsLst>
                <a:gs pos="0">
                  <a:srgbClr val="19345B"/>
                </a:gs>
                <a:gs pos="50000">
                  <a:schemeClr val="accent1">
                    <a:lumMod val="75000"/>
                  </a:schemeClr>
                </a:gs>
                <a:gs pos="100000">
                  <a:srgbClr val="19345B"/>
                </a:gs>
              </a:gsLst>
              <a:lin ang="10800000" scaled="1"/>
              <a:tileRect/>
            </a:gradFill>
            <a:ln w="6350" cap="flat" cmpd="sng" algn="ctr">
              <a:solidFill>
                <a:schemeClr val="accent1"/>
              </a:solidFill>
              <a:prstDash val="solid"/>
              <a:miter lim="800000"/>
            </a:ln>
            <a:effectLst/>
          </c:spPr>
          <c:invertIfNegative val="0"/>
          <c:dLbls>
            <c:dLbl>
              <c:idx val="0"/>
              <c:layout>
                <c:manualLayout>
                  <c:x val="3.4042299685002552E-3"/>
                  <c:y val="-0.29700245654956997"/>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0-92F9-4F56-8F34-29794BF960B2}"/>
                </c:ext>
                <c:ext xmlns:c15="http://schemas.microsoft.com/office/drawing/2012/chart" uri="{CE6537A1-D6FC-4f65-9D91-7224C49458BB}">
                  <c15:layout/>
                </c:ext>
              </c:extLst>
            </c:dLbl>
            <c:dLbl>
              <c:idx val="1"/>
              <c:layout>
                <c:manualLayout>
                  <c:x val="4.288265938445222E-3"/>
                  <c:y val="-0.35170173868747195"/>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1-92F9-4F56-8F34-29794BF960B2}"/>
                </c:ext>
                <c:ext xmlns:c15="http://schemas.microsoft.com/office/drawing/2012/chart" uri="{CE6537A1-D6FC-4f65-9D91-7224C49458BB}">
                  <c15:layout/>
                </c:ext>
              </c:extLst>
            </c:dLbl>
            <c:dLbl>
              <c:idx val="2"/>
              <c:layout>
                <c:manualLayout>
                  <c:x val="6.3700209902695891E-3"/>
                  <c:y val="-0.22664214047733475"/>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2-92F9-4F56-8F34-29794BF960B2}"/>
                </c:ext>
                <c:ext xmlns:c15="http://schemas.microsoft.com/office/drawing/2012/chart" uri="{CE6537A1-D6FC-4f65-9D91-7224C49458BB}"/>
              </c:extLst>
            </c:dLbl>
            <c:dLbl>
              <c:idx val="3"/>
              <c:layout>
                <c:manualLayout>
                  <c:x val="-2.7550031817390954E-3"/>
                  <c:y val="-0.29118166853426974"/>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3-92F9-4F56-8F34-29794BF960B2}"/>
                </c:ext>
                <c:ext xmlns:c15="http://schemas.microsoft.com/office/drawing/2012/chart" uri="{CE6537A1-D6FC-4f65-9D91-7224C49458BB}"/>
              </c:extLst>
            </c:dLbl>
            <c:dLbl>
              <c:idx val="4"/>
              <c:layout>
                <c:manualLayout>
                  <c:x val="-1.0759270056224456E-4"/>
                  <c:y val="-0.28082259858697561"/>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4-92F9-4F56-8F34-29794BF960B2}"/>
                </c:ext>
                <c:ext xmlns:c15="http://schemas.microsoft.com/office/drawing/2012/chart" uri="{CE6537A1-D6FC-4f65-9D91-7224C49458BB}"/>
              </c:extLst>
            </c:dLbl>
            <c:dLbl>
              <c:idx val="5"/>
              <c:layout>
                <c:manualLayout>
                  <c:x val="3.0775389575235491E-3"/>
                  <c:y val="-0.3217118726453565"/>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5-92F9-4F56-8F34-29794BF960B2}"/>
                </c:ext>
                <c:ext xmlns:c15="http://schemas.microsoft.com/office/drawing/2012/chart" uri="{CE6537A1-D6FC-4f65-9D91-7224C49458BB}"/>
              </c:extLst>
            </c:dLbl>
            <c:dLbl>
              <c:idx val="6"/>
              <c:layout>
                <c:manualLayout>
                  <c:x val="3.0775389575236618E-3"/>
                  <c:y val="-0.28099143171857155"/>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6-92F9-4F56-8F34-29794BF960B2}"/>
                </c:ext>
                <c:ext xmlns:c15="http://schemas.microsoft.com/office/drawing/2012/chart" uri="{CE6537A1-D6FC-4f65-9D91-7224C49458BB}"/>
              </c:extLst>
            </c:dLbl>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rgbClr val="19345B"/>
                    </a:solidFill>
                    <a:latin typeface="+mn-lt"/>
                    <a:ea typeface="+mn-ea"/>
                    <a:cs typeface="+mn-cs"/>
                  </a:defRPr>
                </a:pPr>
                <a:endParaRPr lang="pt-BR"/>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0"/>
              </c:ext>
            </c:extLst>
          </c:dLbls>
          <c:cat>
            <c:numRef>
              <c:f>Plan1!$A$2:$A$3</c:f>
              <c:numCache>
                <c:formatCode>mmm\-yy</c:formatCode>
                <c:ptCount val="2"/>
                <c:pt idx="0">
                  <c:v>42430</c:v>
                </c:pt>
                <c:pt idx="1">
                  <c:v>42461</c:v>
                </c:pt>
              </c:numCache>
            </c:numRef>
          </c:cat>
          <c:val>
            <c:numRef>
              <c:f>Plan1!$B$2:$B$3</c:f>
              <c:numCache>
                <c:formatCode>h:mm:ss;@</c:formatCode>
                <c:ptCount val="2"/>
                <c:pt idx="0">
                  <c:v>0.59055555555555561</c:v>
                </c:pt>
                <c:pt idx="1">
                  <c:v>0.71956018518518527</c:v>
                </c:pt>
              </c:numCache>
            </c:numRef>
          </c:val>
          <c:extLst xmlns:c16r2="http://schemas.microsoft.com/office/drawing/2015/06/chart">
            <c:ext xmlns:c16="http://schemas.microsoft.com/office/drawing/2014/chart" uri="{C3380CC4-5D6E-409C-BE32-E72D297353CC}">
              <c16:uniqueId val="{00000007-3AF3-47B6-B362-8D75B94687B9}"/>
            </c:ext>
          </c:extLst>
        </c:ser>
        <c:dLbls>
          <c:dLblPos val="ctr"/>
          <c:showLegendKey val="0"/>
          <c:showVal val="1"/>
          <c:showCatName val="0"/>
          <c:showSerName val="0"/>
          <c:showPercent val="0"/>
          <c:showBubbleSize val="0"/>
        </c:dLbls>
        <c:gapWidth val="53"/>
        <c:overlap val="100"/>
        <c:axId val="270659088"/>
        <c:axId val="270657912"/>
      </c:barChart>
      <c:dateAx>
        <c:axId val="270659088"/>
        <c:scaling>
          <c:orientation val="minMax"/>
        </c:scaling>
        <c:delete val="0"/>
        <c:axPos val="b"/>
        <c:numFmt formatCode="mmm\-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baseline="0">
                <a:solidFill>
                  <a:srgbClr val="19345B"/>
                </a:solidFill>
                <a:latin typeface="+mn-lt"/>
                <a:ea typeface="+mn-ea"/>
                <a:cs typeface="+mn-cs"/>
              </a:defRPr>
            </a:pPr>
            <a:endParaRPr lang="pt-BR"/>
          </a:p>
        </c:txPr>
        <c:crossAx val="270657912"/>
        <c:crosses val="autoZero"/>
        <c:auto val="1"/>
        <c:lblOffset val="100"/>
        <c:baseTimeUnit val="months"/>
      </c:dateAx>
      <c:valAx>
        <c:axId val="270657912"/>
        <c:scaling>
          <c:orientation val="minMax"/>
        </c:scaling>
        <c:delete val="1"/>
        <c:axPos val="l"/>
        <c:numFmt formatCode="h:mm:ss;@" sourceLinked="1"/>
        <c:majorTickMark val="none"/>
        <c:minorTickMark val="none"/>
        <c:tickLblPos val="nextTo"/>
        <c:crossAx val="270659088"/>
        <c:crosses val="autoZero"/>
        <c:crossBetween val="between"/>
      </c:valAx>
    </c:plotArea>
    <c:plotVisOnly val="1"/>
    <c:dispBlanksAs val="gap"/>
    <c:showDLblsOverMax val="0"/>
  </c:chart>
  <c:spPr>
    <a:noFill/>
    <a:ln>
      <a:noFill/>
    </a:ln>
    <a:effectLst/>
  </c:spPr>
  <c:txPr>
    <a:bodyPr/>
    <a:lstStyle/>
    <a:p>
      <a:pPr>
        <a:defRPr/>
      </a:pPr>
      <a:endParaRPr lang="pt-BR"/>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21105009973328545"/>
          <c:w val="1"/>
          <c:h val="0.67605210952913253"/>
        </c:manualLayout>
      </c:layout>
      <c:barChart>
        <c:barDir val="col"/>
        <c:grouping val="stacked"/>
        <c:varyColors val="0"/>
        <c:ser>
          <c:idx val="0"/>
          <c:order val="0"/>
          <c:tx>
            <c:strRef>
              <c:f>Plan1!$B$1</c:f>
              <c:strCache>
                <c:ptCount val="1"/>
                <c:pt idx="0">
                  <c:v>TMR</c:v>
                </c:pt>
              </c:strCache>
            </c:strRef>
          </c:tx>
          <c:spPr>
            <a:gradFill flip="none" rotWithShape="1">
              <a:gsLst>
                <a:gs pos="0">
                  <a:srgbClr val="19345B"/>
                </a:gs>
                <a:gs pos="50000">
                  <a:schemeClr val="accent1">
                    <a:lumMod val="75000"/>
                  </a:schemeClr>
                </a:gs>
                <a:gs pos="100000">
                  <a:srgbClr val="19345B"/>
                </a:gs>
              </a:gsLst>
              <a:lin ang="10800000" scaled="1"/>
              <a:tileRect/>
            </a:gradFill>
            <a:ln w="6350" cap="flat" cmpd="sng" algn="ctr">
              <a:solidFill>
                <a:schemeClr val="accent1"/>
              </a:solidFill>
              <a:prstDash val="solid"/>
              <a:miter lim="800000"/>
            </a:ln>
            <a:effectLst/>
          </c:spPr>
          <c:invertIfNegative val="0"/>
          <c:dLbls>
            <c:dLbl>
              <c:idx val="0"/>
              <c:layout>
                <c:manualLayout>
                  <c:x val="-1.0992825939948468E-3"/>
                  <c:y val="-0.18527637020503643"/>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0-8635-4D7F-B8B7-BCC36E7D6D61}"/>
                </c:ext>
                <c:ext xmlns:c15="http://schemas.microsoft.com/office/drawing/2012/chart" uri="{CE6537A1-D6FC-4f65-9D91-7224C49458BB}">
                  <c15:layout/>
                </c:ext>
              </c:extLst>
            </c:dLbl>
            <c:dLbl>
              <c:idx val="1"/>
              <c:layout>
                <c:manualLayout>
                  <c:x val="-1.3725784311535269E-2"/>
                  <c:y val="-0.34106157795607034"/>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1-8635-4D7F-B8B7-BCC36E7D6D61}"/>
                </c:ext>
                <c:ext xmlns:c15="http://schemas.microsoft.com/office/drawing/2012/chart" uri="{CE6537A1-D6FC-4f65-9D91-7224C49458BB}">
                  <c15:layout/>
                </c:ext>
              </c:extLst>
            </c:dLbl>
            <c:dLbl>
              <c:idx val="2"/>
              <c:layout>
                <c:manualLayout>
                  <c:x val="6.3700209902695891E-3"/>
                  <c:y val="-0.22664214047733475"/>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2-8635-4D7F-B8B7-BCC36E7D6D61}"/>
                </c:ext>
                <c:ext xmlns:c15="http://schemas.microsoft.com/office/drawing/2012/chart" uri="{CE6537A1-D6FC-4f65-9D91-7224C49458BB}"/>
              </c:extLst>
            </c:dLbl>
            <c:dLbl>
              <c:idx val="3"/>
              <c:layout>
                <c:manualLayout>
                  <c:x val="-2.7550031817390954E-3"/>
                  <c:y val="-0.29118166853426974"/>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3-8635-4D7F-B8B7-BCC36E7D6D61}"/>
                </c:ext>
                <c:ext xmlns:c15="http://schemas.microsoft.com/office/drawing/2012/chart" uri="{CE6537A1-D6FC-4f65-9D91-7224C49458BB}"/>
              </c:extLst>
            </c:dLbl>
            <c:dLbl>
              <c:idx val="4"/>
              <c:layout>
                <c:manualLayout>
                  <c:x val="-1.0759270056224456E-4"/>
                  <c:y val="-0.28082259858697561"/>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4-8635-4D7F-B8B7-BCC36E7D6D61}"/>
                </c:ext>
                <c:ext xmlns:c15="http://schemas.microsoft.com/office/drawing/2012/chart" uri="{CE6537A1-D6FC-4f65-9D91-7224C49458BB}"/>
              </c:extLst>
            </c:dLbl>
            <c:dLbl>
              <c:idx val="5"/>
              <c:layout>
                <c:manualLayout>
                  <c:x val="3.0775389575235491E-3"/>
                  <c:y val="-0.3217118726453565"/>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5-8635-4D7F-B8B7-BCC36E7D6D61}"/>
                </c:ext>
                <c:ext xmlns:c15="http://schemas.microsoft.com/office/drawing/2012/chart" uri="{CE6537A1-D6FC-4f65-9D91-7224C49458BB}"/>
              </c:extLst>
            </c:dLbl>
            <c:dLbl>
              <c:idx val="6"/>
              <c:layout>
                <c:manualLayout>
                  <c:x val="3.0775389575236618E-3"/>
                  <c:y val="-0.28099143171857155"/>
                </c:manualLayout>
              </c:layout>
              <c:dLblPos val="ct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6-8635-4D7F-B8B7-BCC36E7D6D61}"/>
                </c:ext>
                <c:ext xmlns:c15="http://schemas.microsoft.com/office/drawing/2012/chart" uri="{CE6537A1-D6FC-4f65-9D91-7224C49458BB}"/>
              </c:extLst>
            </c:dLbl>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rgbClr val="19345B"/>
                    </a:solidFill>
                    <a:latin typeface="+mn-lt"/>
                    <a:ea typeface="+mn-ea"/>
                    <a:cs typeface="+mn-cs"/>
                  </a:defRPr>
                </a:pPr>
                <a:endParaRPr lang="pt-BR"/>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0"/>
              </c:ext>
            </c:extLst>
          </c:dLbls>
          <c:cat>
            <c:numRef>
              <c:f>Plan1!$A$2:$A$3</c:f>
              <c:numCache>
                <c:formatCode>mmm\-yy</c:formatCode>
                <c:ptCount val="2"/>
                <c:pt idx="0">
                  <c:v>42430</c:v>
                </c:pt>
                <c:pt idx="1">
                  <c:v>42461</c:v>
                </c:pt>
              </c:numCache>
            </c:numRef>
          </c:cat>
          <c:val>
            <c:numRef>
              <c:f>Plan1!$B$2:$B$3</c:f>
              <c:numCache>
                <c:formatCode>h:mm:ss;@</c:formatCode>
                <c:ptCount val="2"/>
                <c:pt idx="0">
                  <c:v>0.81133101851851841</c:v>
                </c:pt>
                <c:pt idx="1">
                  <c:v>0.96134259259259258</c:v>
                </c:pt>
              </c:numCache>
            </c:numRef>
          </c:val>
          <c:extLst xmlns:c16r2="http://schemas.microsoft.com/office/drawing/2015/06/chart">
            <c:ext xmlns:c16="http://schemas.microsoft.com/office/drawing/2014/chart" uri="{C3380CC4-5D6E-409C-BE32-E72D297353CC}">
              <c16:uniqueId val="{00000007-3AF3-47B6-B362-8D75B94687B9}"/>
            </c:ext>
          </c:extLst>
        </c:ser>
        <c:dLbls>
          <c:dLblPos val="ctr"/>
          <c:showLegendKey val="0"/>
          <c:showVal val="1"/>
          <c:showCatName val="0"/>
          <c:showSerName val="0"/>
          <c:showPercent val="0"/>
          <c:showBubbleSize val="0"/>
        </c:dLbls>
        <c:gapWidth val="53"/>
        <c:overlap val="100"/>
        <c:axId val="270661832"/>
        <c:axId val="270660656"/>
      </c:barChart>
      <c:dateAx>
        <c:axId val="270661832"/>
        <c:scaling>
          <c:orientation val="minMax"/>
        </c:scaling>
        <c:delete val="0"/>
        <c:axPos val="b"/>
        <c:numFmt formatCode="mmm\-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baseline="0">
                <a:solidFill>
                  <a:srgbClr val="19345B"/>
                </a:solidFill>
                <a:latin typeface="+mn-lt"/>
                <a:ea typeface="+mn-ea"/>
                <a:cs typeface="+mn-cs"/>
              </a:defRPr>
            </a:pPr>
            <a:endParaRPr lang="pt-BR"/>
          </a:p>
        </c:txPr>
        <c:crossAx val="270660656"/>
        <c:crosses val="autoZero"/>
        <c:auto val="1"/>
        <c:lblOffset val="100"/>
        <c:baseTimeUnit val="months"/>
      </c:dateAx>
      <c:valAx>
        <c:axId val="270660656"/>
        <c:scaling>
          <c:orientation val="minMax"/>
        </c:scaling>
        <c:delete val="1"/>
        <c:axPos val="l"/>
        <c:numFmt formatCode="h:mm:ss;@" sourceLinked="1"/>
        <c:majorTickMark val="none"/>
        <c:minorTickMark val="none"/>
        <c:tickLblPos val="nextTo"/>
        <c:crossAx val="270661832"/>
        <c:crosses val="autoZero"/>
        <c:crossBetween val="between"/>
      </c:valAx>
    </c:plotArea>
    <c:plotVisOnly val="1"/>
    <c:dispBlanksAs val="gap"/>
    <c:showDLblsOverMax val="0"/>
  </c:chart>
  <c:spPr>
    <a:noFill/>
    <a:ln>
      <a:noFill/>
    </a:ln>
    <a:effectLst/>
  </c:spPr>
  <c:txPr>
    <a:bodyPr/>
    <a:lstStyle/>
    <a:p>
      <a:pPr>
        <a:defRPr/>
      </a:pPr>
      <a:endParaRPr lang="pt-BR"/>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dPt>
            <c:idx val="0"/>
            <c:bubble3D val="0"/>
            <c:spPr>
              <a:solidFill>
                <a:srgbClr val="184E82"/>
              </a:solidFill>
              <a:ln w="19050">
                <a:solidFill>
                  <a:schemeClr val="lt1"/>
                </a:solidFill>
              </a:ln>
              <a:effectLst/>
            </c:spPr>
            <c:extLst xmlns:c16r2="http://schemas.microsoft.com/office/drawing/2015/06/chart">
              <c:ext xmlns:c16="http://schemas.microsoft.com/office/drawing/2014/chart" uri="{C3380CC4-5D6E-409C-BE32-E72D297353CC}">
                <c16:uniqueId val="{00000001-E884-4FB2-AAA1-BE1D72C3E416}"/>
              </c:ext>
            </c:extLst>
          </c:dPt>
          <c:dPt>
            <c:idx val="1"/>
            <c:bubble3D val="0"/>
            <c:spPr>
              <a:solidFill>
                <a:srgbClr val="D71920"/>
              </a:solidFill>
              <a:ln w="19050">
                <a:solidFill>
                  <a:schemeClr val="lt1"/>
                </a:solidFill>
              </a:ln>
              <a:effectLst/>
            </c:spPr>
            <c:extLst xmlns:c16r2="http://schemas.microsoft.com/office/drawing/2015/06/chart">
              <c:ext xmlns:c16="http://schemas.microsoft.com/office/drawing/2014/chart" uri="{C3380CC4-5D6E-409C-BE32-E72D297353CC}">
                <c16:uniqueId val="{00000003-E884-4FB2-AAA1-BE1D72C3E416}"/>
              </c:ext>
            </c:extLst>
          </c:dPt>
          <c:dPt>
            <c:idx val="2"/>
            <c:bubble3D val="0"/>
            <c:spPr>
              <a:solidFill>
                <a:srgbClr val="939597"/>
              </a:solidFill>
              <a:ln w="19050">
                <a:solidFill>
                  <a:schemeClr val="lt1"/>
                </a:solidFill>
              </a:ln>
              <a:effectLst/>
            </c:spPr>
            <c:extLst xmlns:c16r2="http://schemas.microsoft.com/office/drawing/2015/06/chart">
              <c:ext xmlns:c16="http://schemas.microsoft.com/office/drawing/2014/chart" uri="{C3380CC4-5D6E-409C-BE32-E72D297353CC}">
                <c16:uniqueId val="{00000005-E884-4FB2-AAA1-BE1D72C3E416}"/>
              </c:ext>
            </c:extLst>
          </c:dPt>
          <c:dLbls>
            <c:dLbl>
              <c:idx val="0"/>
              <c:layout>
                <c:manualLayout>
                  <c:x val="0.21095763631955644"/>
                  <c:y val="5.0955505561804774E-2"/>
                </c:manualLayout>
              </c:layout>
              <c:showLegendKey val="0"/>
              <c:showVal val="1"/>
              <c:showCatName val="1"/>
              <c:showSerName val="0"/>
              <c:showPercent val="1"/>
              <c:showBubbleSize val="0"/>
              <c:extLst xmlns:c16r2="http://schemas.microsoft.com/office/drawing/2015/06/chart">
                <c:ext xmlns:c16="http://schemas.microsoft.com/office/drawing/2014/chart" uri="{C3380CC4-5D6E-409C-BE32-E72D297353CC}">
                  <c16:uniqueId val="{00000001-E884-4FB2-AAA1-BE1D72C3E416}"/>
                </c:ext>
                <c:ext xmlns:c15="http://schemas.microsoft.com/office/drawing/2012/chart" uri="{CE6537A1-D6FC-4f65-9D91-7224C49458BB}">
                  <c15:layout/>
                </c:ext>
              </c:extLst>
            </c:dLbl>
            <c:dLbl>
              <c:idx val="1"/>
              <c:layout>
                <c:manualLayout>
                  <c:x val="-0.22586893505781666"/>
                  <c:y val="5.5886764154480691E-3"/>
                </c:manualLayout>
              </c:layout>
              <c:showLegendKey val="0"/>
              <c:showVal val="1"/>
              <c:showCatName val="1"/>
              <c:showSerName val="0"/>
              <c:showPercent val="1"/>
              <c:showBubbleSize val="0"/>
              <c:extLst xmlns:c16r2="http://schemas.microsoft.com/office/drawing/2015/06/chart">
                <c:ext xmlns:c16="http://schemas.microsoft.com/office/drawing/2014/chart" uri="{C3380CC4-5D6E-409C-BE32-E72D297353CC}">
                  <c16:uniqueId val="{00000003-E884-4FB2-AAA1-BE1D72C3E416}"/>
                </c:ext>
                <c:ext xmlns:c15="http://schemas.microsoft.com/office/drawing/2012/chart" uri="{CE6537A1-D6FC-4f65-9D91-7224C49458BB}">
                  <c15:layout/>
                </c:ext>
              </c:extLst>
            </c:dLbl>
            <c:dLbl>
              <c:idx val="2"/>
              <c:layout>
                <c:manualLayout>
                  <c:x val="2.0645388635712526E-3"/>
                  <c:y val="-0.13802850784867995"/>
                </c:manualLayout>
              </c:layout>
              <c:showLegendKey val="0"/>
              <c:showVal val="1"/>
              <c:showCatName val="1"/>
              <c:showSerName val="0"/>
              <c:showPercent val="1"/>
              <c:showBubbleSize val="0"/>
              <c:extLst xmlns:c16r2="http://schemas.microsoft.com/office/drawing/2015/06/chart">
                <c:ext xmlns:c16="http://schemas.microsoft.com/office/drawing/2014/chart" uri="{C3380CC4-5D6E-409C-BE32-E72D297353CC}">
                  <c16:uniqueId val="{00000005-E884-4FB2-AAA1-BE1D72C3E416}"/>
                </c:ext>
                <c:ext xmlns:c15="http://schemas.microsoft.com/office/drawing/2012/chart" uri="{CE6537A1-D6FC-4f65-9D91-7224C49458BB}">
                  <c15:layout>
                    <c:manualLayout>
                      <c:w val="0.20038388505320598"/>
                      <c:h val="0.14285720013632444"/>
                    </c:manualLayout>
                  </c15:layout>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bg1">
                        <a:lumMod val="95000"/>
                      </a:schemeClr>
                    </a:solidFill>
                    <a:latin typeface="+mn-lt"/>
                    <a:ea typeface="+mn-ea"/>
                    <a:cs typeface="+mn-cs"/>
                  </a:defRPr>
                </a:pPr>
                <a:endParaRPr lang="pt-BR"/>
              </a:p>
            </c:txPr>
            <c:showLegendKey val="0"/>
            <c:showVal val="1"/>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xmlns:c16r2="http://schemas.microsoft.com/office/drawing/2015/06/chart">
              <c:ext xmlns:c15="http://schemas.microsoft.com/office/drawing/2012/chart" uri="{CE6537A1-D6FC-4f65-9D91-7224C49458BB}"/>
            </c:extLst>
          </c:dLbls>
          <c:cat>
            <c:strRef>
              <c:f>Plan5!$B$3:$B$5</c:f>
              <c:strCache>
                <c:ptCount val="3"/>
                <c:pt idx="0">
                  <c:v>Contax</c:v>
                </c:pt>
                <c:pt idx="1">
                  <c:v>Suporte Cliente</c:v>
                </c:pt>
                <c:pt idx="2">
                  <c:v>Fornecedor Contax</c:v>
                </c:pt>
              </c:strCache>
            </c:strRef>
          </c:cat>
          <c:val>
            <c:numRef>
              <c:f>Plan5!$C$3:$C$5</c:f>
              <c:numCache>
                <c:formatCode>General</c:formatCode>
                <c:ptCount val="3"/>
                <c:pt idx="0">
                  <c:v>70</c:v>
                </c:pt>
                <c:pt idx="1">
                  <c:v>57</c:v>
                </c:pt>
                <c:pt idx="2">
                  <c:v>19</c:v>
                </c:pt>
              </c:numCache>
            </c:numRef>
          </c:val>
          <c:extLst xmlns:c16r2="http://schemas.microsoft.com/office/drawing/2015/06/chart">
            <c:ext xmlns:c16="http://schemas.microsoft.com/office/drawing/2014/chart" uri="{C3380CC4-5D6E-409C-BE32-E72D297353CC}">
              <c16:uniqueId val="{00000006-E884-4FB2-AAA1-BE1D72C3E416}"/>
            </c:ext>
          </c:extLst>
        </c:ser>
        <c:dLbls>
          <c:showLegendKey val="0"/>
          <c:showVal val="0"/>
          <c:showCatName val="0"/>
          <c:showSerName val="0"/>
          <c:showPercent val="0"/>
          <c:showBubbleSize val="0"/>
          <c:showLeaderLines val="1"/>
        </c:dLbls>
        <c:firstSliceAng val="203"/>
      </c:pieChart>
      <c:spPr>
        <a:noFill/>
        <a:ln>
          <a:noFill/>
        </a:ln>
        <a:effectLst/>
      </c:spPr>
    </c:plotArea>
    <c:plotVisOnly val="1"/>
    <c:dispBlanksAs val="gap"/>
    <c:showDLblsOverMax val="0"/>
  </c:chart>
  <c:spPr>
    <a:noFill/>
    <a:ln>
      <a:noFill/>
    </a:ln>
    <a:effectLst/>
  </c:spPr>
  <c:txPr>
    <a:bodyPr/>
    <a:lstStyle/>
    <a:p>
      <a:pPr>
        <a:defRPr/>
      </a:pPr>
      <a:endParaRPr lang="pt-BR"/>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lang val="pt-B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4116456601044356"/>
          <c:y val="0.11154145760264045"/>
          <c:w val="0.59193711972290242"/>
          <c:h val="0.88837499284738619"/>
        </c:manualLayout>
      </c:layout>
      <c:pieChart>
        <c:varyColors val="1"/>
        <c:ser>
          <c:idx val="0"/>
          <c:order val="0"/>
          <c:spPr>
            <a:scene3d>
              <a:camera prst="orthographicFront"/>
              <a:lightRig rig="threePt" dir="t"/>
            </a:scene3d>
            <a:sp3d>
              <a:bevelT/>
            </a:sp3d>
          </c:spPr>
          <c:explosion val="1"/>
          <c:dPt>
            <c:idx val="0"/>
            <c:bubble3D val="0"/>
            <c:spPr>
              <a:solidFill>
                <a:srgbClr val="184E82"/>
              </a:solidFill>
              <a:ln w="19050">
                <a:solidFill>
                  <a:schemeClr val="lt1"/>
                </a:solidFill>
              </a:ln>
              <a:effectLst/>
              <a:scene3d>
                <a:camera prst="orthographicFront"/>
                <a:lightRig rig="threePt" dir="t"/>
              </a:scene3d>
              <a:sp3d>
                <a:bevelT/>
              </a:sp3d>
            </c:spPr>
            <c:extLst xmlns:c16r2="http://schemas.microsoft.com/office/drawing/2015/06/chart">
              <c:ext xmlns:c16="http://schemas.microsoft.com/office/drawing/2014/chart" uri="{C3380CC4-5D6E-409C-BE32-E72D297353CC}">
                <c16:uniqueId val="{00000001-0779-44A1-B776-7698C72316C7}"/>
              </c:ext>
            </c:extLst>
          </c:dPt>
          <c:dPt>
            <c:idx val="1"/>
            <c:bubble3D val="0"/>
            <c:spPr>
              <a:solidFill>
                <a:srgbClr val="D71920"/>
              </a:solidFill>
              <a:ln w="19050">
                <a:solidFill>
                  <a:schemeClr val="lt1"/>
                </a:solidFill>
              </a:ln>
              <a:effectLst/>
              <a:scene3d>
                <a:camera prst="orthographicFront"/>
                <a:lightRig rig="threePt" dir="t"/>
              </a:scene3d>
              <a:sp3d>
                <a:bevelT/>
              </a:sp3d>
            </c:spPr>
            <c:extLst xmlns:c16r2="http://schemas.microsoft.com/office/drawing/2015/06/chart">
              <c:ext xmlns:c16="http://schemas.microsoft.com/office/drawing/2014/chart" uri="{C3380CC4-5D6E-409C-BE32-E72D297353CC}">
                <c16:uniqueId val="{00000003-0779-44A1-B776-7698C72316C7}"/>
              </c:ext>
            </c:extLst>
          </c:dPt>
          <c:dPt>
            <c:idx val="2"/>
            <c:bubble3D val="0"/>
            <c:spPr>
              <a:solidFill>
                <a:srgbClr val="939597"/>
              </a:solidFill>
              <a:ln w="19050">
                <a:solidFill>
                  <a:schemeClr val="lt1"/>
                </a:solidFill>
              </a:ln>
              <a:effectLst/>
              <a:scene3d>
                <a:camera prst="orthographicFront"/>
                <a:lightRig rig="threePt" dir="t"/>
              </a:scene3d>
              <a:sp3d>
                <a:bevelT/>
              </a:sp3d>
            </c:spPr>
            <c:extLst xmlns:c16r2="http://schemas.microsoft.com/office/drawing/2015/06/chart">
              <c:ext xmlns:c16="http://schemas.microsoft.com/office/drawing/2014/chart" uri="{C3380CC4-5D6E-409C-BE32-E72D297353CC}">
                <c16:uniqueId val="{00000005-0779-44A1-B776-7698C72316C7}"/>
              </c:ext>
            </c:extLst>
          </c:dPt>
          <c:dLbls>
            <c:dLbl>
              <c:idx val="0"/>
              <c:layout>
                <c:manualLayout>
                  <c:x val="0.25070900299641852"/>
                  <c:y val="0.13868901559804303"/>
                </c:manualLayout>
              </c:layout>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bg1"/>
                      </a:solidFill>
                      <a:latin typeface="+mn-lt"/>
                      <a:ea typeface="+mn-ea"/>
                      <a:cs typeface="+mn-cs"/>
                    </a:defRPr>
                  </a:pPr>
                  <a:endParaRPr lang="pt-BR"/>
                </a:p>
              </c:txPr>
              <c:showLegendKey val="0"/>
              <c:showVal val="1"/>
              <c:showCatName val="1"/>
              <c:showSerName val="0"/>
              <c:showPercent val="1"/>
              <c:showBubbleSize val="0"/>
              <c:extLst xmlns:c16r2="http://schemas.microsoft.com/office/drawing/2015/06/chart">
                <c:ext xmlns:c16="http://schemas.microsoft.com/office/drawing/2014/chart" uri="{C3380CC4-5D6E-409C-BE32-E72D297353CC}">
                  <c16:uniqueId val="{00000001-0779-44A1-B776-7698C72316C7}"/>
                </c:ext>
                <c:ext xmlns:c15="http://schemas.microsoft.com/office/drawing/2012/chart" uri="{CE6537A1-D6FC-4f65-9D91-7224C49458BB}">
                  <c15:layout>
                    <c:manualLayout>
                      <c:w val="0.17833437813846981"/>
                      <c:h val="0.23131447536844874"/>
                    </c:manualLayout>
                  </c15:layout>
                </c:ext>
              </c:extLst>
            </c:dLbl>
            <c:dLbl>
              <c:idx val="1"/>
              <c:layout>
                <c:manualLayout>
                  <c:x val="-0.22816008341142344"/>
                  <c:y val="-1.7876784060955369E-2"/>
                </c:manualLayout>
              </c:layout>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bg1"/>
                      </a:solidFill>
                      <a:latin typeface="+mn-lt"/>
                      <a:ea typeface="+mn-ea"/>
                      <a:cs typeface="+mn-cs"/>
                    </a:defRPr>
                  </a:pPr>
                  <a:endParaRPr lang="pt-BR"/>
                </a:p>
              </c:txPr>
              <c:showLegendKey val="0"/>
              <c:showVal val="1"/>
              <c:showCatName val="1"/>
              <c:showSerName val="0"/>
              <c:showPercent val="1"/>
              <c:showBubbleSize val="0"/>
              <c:extLst xmlns:c16r2="http://schemas.microsoft.com/office/drawing/2015/06/chart">
                <c:ext xmlns:c16="http://schemas.microsoft.com/office/drawing/2014/chart" uri="{C3380CC4-5D6E-409C-BE32-E72D297353CC}">
                  <c16:uniqueId val="{00000003-0779-44A1-B776-7698C72316C7}"/>
                </c:ext>
                <c:ext xmlns:c15="http://schemas.microsoft.com/office/drawing/2012/chart" uri="{CE6537A1-D6FC-4f65-9D91-7224C49458BB}">
                  <c15:layout>
                    <c:manualLayout>
                      <c:w val="0.20454788048058284"/>
                      <c:h val="0.23131447536844874"/>
                    </c:manualLayout>
                  </c15:layout>
                </c:ext>
              </c:extLst>
            </c:dLbl>
            <c:dLbl>
              <c:idx val="2"/>
              <c:layout>
                <c:manualLayout>
                  <c:x val="-7.9513307554265489E-3"/>
                  <c:y val="-5.9510859941412475E-2"/>
                </c:manualLayout>
              </c:layout>
              <c:showLegendKey val="0"/>
              <c:showVal val="1"/>
              <c:showCatName val="1"/>
              <c:showSerName val="0"/>
              <c:showPercent val="1"/>
              <c:showBubbleSize val="0"/>
              <c:extLst xmlns:c16r2="http://schemas.microsoft.com/office/drawing/2015/06/chart">
                <c:ext xmlns:c16="http://schemas.microsoft.com/office/drawing/2014/chart" uri="{C3380CC4-5D6E-409C-BE32-E72D297353CC}">
                  <c16:uniqueId val="{00000005-0779-44A1-B776-7698C72316C7}"/>
                </c:ext>
                <c:ext xmlns:c15="http://schemas.microsoft.com/office/drawing/2012/chart" uri="{CE6537A1-D6FC-4f65-9D91-7224C49458BB}">
                  <c15:layout/>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pt-BR"/>
              </a:p>
            </c:txPr>
            <c:showLegendKey val="0"/>
            <c:showVal val="1"/>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xmlns:c16r2="http://schemas.microsoft.com/office/drawing/2015/06/chart">
              <c:ext xmlns:c15="http://schemas.microsoft.com/office/drawing/2012/chart" uri="{CE6537A1-D6FC-4f65-9D91-7224C49458BB}"/>
            </c:extLst>
          </c:dLbls>
          <c:cat>
            <c:strRef>
              <c:f>Responsavel!$B$5:$B$7</c:f>
              <c:strCache>
                <c:ptCount val="3"/>
                <c:pt idx="0">
                  <c:v>TI Contax</c:v>
                </c:pt>
                <c:pt idx="1">
                  <c:v>Suporte Cliente</c:v>
                </c:pt>
                <c:pt idx="2">
                  <c:v>Fornecedor Contax</c:v>
                </c:pt>
              </c:strCache>
            </c:strRef>
          </c:cat>
          <c:val>
            <c:numRef>
              <c:f>Responsavel!$C$5:$C$7</c:f>
              <c:numCache>
                <c:formatCode>General</c:formatCode>
                <c:ptCount val="3"/>
                <c:pt idx="0">
                  <c:v>94</c:v>
                </c:pt>
                <c:pt idx="1">
                  <c:v>68</c:v>
                </c:pt>
                <c:pt idx="2">
                  <c:v>18</c:v>
                </c:pt>
              </c:numCache>
            </c:numRef>
          </c:val>
          <c:extLst xmlns:c16r2="http://schemas.microsoft.com/office/drawing/2015/06/chart">
            <c:ext xmlns:c16="http://schemas.microsoft.com/office/drawing/2014/chart" uri="{C3380CC4-5D6E-409C-BE32-E72D297353CC}">
              <c16:uniqueId val="{00000006-0779-44A1-B776-7698C72316C7}"/>
            </c:ext>
          </c:extLst>
        </c:ser>
        <c:dLbls>
          <c:showLegendKey val="0"/>
          <c:showVal val="0"/>
          <c:showCatName val="0"/>
          <c:showSerName val="0"/>
          <c:showPercent val="0"/>
          <c:showBubbleSize val="0"/>
          <c:showLeaderLines val="1"/>
        </c:dLbls>
        <c:firstSliceAng val="198"/>
      </c:pieChart>
      <c:spPr>
        <a:noFill/>
        <a:ln>
          <a:noFill/>
        </a:ln>
        <a:effectLst/>
      </c:spPr>
    </c:plotArea>
    <c:plotVisOnly val="1"/>
    <c:dispBlanksAs val="gap"/>
    <c:showDLblsOverMax val="0"/>
  </c:chart>
  <c:spPr>
    <a:noFill/>
    <a:ln>
      <a:noFill/>
    </a:ln>
    <a:effectLst/>
  </c:spPr>
  <c:txPr>
    <a:bodyPr/>
    <a:lstStyle/>
    <a:p>
      <a:pPr>
        <a:defRPr/>
      </a:pPr>
      <a:endParaRPr lang="pt-B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emf"/></Relationships>
</file>

<file path=ppt/drawings/drawing1.xml><?xml version="1.0" encoding="utf-8"?>
<c:userShapes xmlns:c="http://schemas.openxmlformats.org/drawingml/2006/chart">
  <cdr:relSizeAnchor xmlns:cdr="http://schemas.openxmlformats.org/drawingml/2006/chartDrawing">
    <cdr:from>
      <cdr:x>0.56871</cdr:x>
      <cdr:y>0.7074</cdr:y>
    </cdr:from>
    <cdr:to>
      <cdr:x>0.69332</cdr:x>
      <cdr:y>0.79971</cdr:y>
    </cdr:to>
    <cdr:sp macro="" textlink="">
      <cdr:nvSpPr>
        <cdr:cNvPr id="2" name="CaixaDeTexto 17"/>
        <cdr:cNvSpPr txBox="1"/>
      </cdr:nvSpPr>
      <cdr:spPr>
        <a:xfrm xmlns:a="http://schemas.openxmlformats.org/drawingml/2006/main">
          <a:off x="3341487" y="2122758"/>
          <a:ext cx="732185" cy="276999"/>
        </a:xfrm>
        <a:prstGeom xmlns:a="http://schemas.openxmlformats.org/drawingml/2006/main" prst="rect">
          <a:avLst/>
        </a:prstGeom>
        <a:noFill xmlns:a="http://schemas.openxmlformats.org/drawingml/2006/main"/>
        <a:scene3d xmlns:a="http://schemas.openxmlformats.org/drawingml/2006/main">
          <a:camera prst="orthographicFront"/>
          <a:lightRig rig="threePt" dir="t"/>
        </a:scene3d>
        <a:sp3d xmlns:a="http://schemas.openxmlformats.org/drawingml/2006/main">
          <a:bevelT w="114300" prst="artDeco"/>
          <a:bevelB/>
        </a:sp3d>
      </cdr:spPr>
      <cdr:txBody>
        <a:bodyPr xmlns:a="http://schemas.openxmlformats.org/drawingml/2006/main" wrap="square" rtlCol="0">
          <a:spAutoFit/>
        </a:bodyPr>
        <a:lstStyle xmlns:a="http://schemas.openxmlformats.org/drawingml/2006/main">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xmlns:a="http://schemas.openxmlformats.org/drawingml/2006/main">
          <a:pPr algn="ctr"/>
          <a:r>
            <a:rPr lang="pt-BR" sz="1200" b="1" dirty="0">
              <a:solidFill>
                <a:schemeClr val="accent2"/>
              </a:solidFill>
            </a:rPr>
            <a:t>+7,55%</a:t>
          </a: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B0D43F-B80B-40D7-B843-4AC81DACC905}" type="datetimeFigureOut">
              <a:rPr lang="pt-BR" smtClean="0"/>
              <a:t>28/04/2016</a:t>
            </a:fld>
            <a:endParaRPr lang="pt-BR"/>
          </a:p>
        </p:txBody>
      </p:sp>
      <p:sp>
        <p:nvSpPr>
          <p:cNvPr id="4" name="Espaço Reservado para Imagem de Slide 3"/>
          <p:cNvSpPr>
            <a:spLocks noGrp="1" noRot="1" noChangeAspect="1"/>
          </p:cNvSpPr>
          <p:nvPr>
            <p:ph type="sldImg" idx="2"/>
          </p:nvPr>
        </p:nvSpPr>
        <p:spPr>
          <a:xfrm>
            <a:off x="688975" y="1143000"/>
            <a:ext cx="548005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7626FD-18EF-494C-A467-3D85C3950BD0}" type="slidenum">
              <a:rPr lang="pt-BR" smtClean="0"/>
              <a:t>‹nº›</a:t>
            </a:fld>
            <a:endParaRPr lang="pt-BR"/>
          </a:p>
        </p:txBody>
      </p:sp>
    </p:spTree>
    <p:extLst>
      <p:ext uri="{BB962C8B-B14F-4D97-AF65-F5344CB8AC3E}">
        <p14:creationId xmlns:p14="http://schemas.microsoft.com/office/powerpoint/2010/main" val="1880951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9E7626FD-18EF-494C-A467-3D85C3950BD0}" type="slidenum">
              <a:rPr lang="pt-BR" smtClean="0"/>
              <a:t>2</a:t>
            </a:fld>
            <a:endParaRPr lang="pt-BR"/>
          </a:p>
        </p:txBody>
      </p:sp>
    </p:spTree>
    <p:extLst>
      <p:ext uri="{BB962C8B-B14F-4D97-AF65-F5344CB8AC3E}">
        <p14:creationId xmlns:p14="http://schemas.microsoft.com/office/powerpoint/2010/main" val="19007445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9E7626FD-18EF-494C-A467-3D85C3950BD0}" type="slidenum">
              <a:rPr lang="pt-BR" smtClean="0"/>
              <a:t>3</a:t>
            </a:fld>
            <a:endParaRPr lang="pt-BR" dirty="0"/>
          </a:p>
        </p:txBody>
      </p:sp>
    </p:spTree>
    <p:extLst>
      <p:ext uri="{BB962C8B-B14F-4D97-AF65-F5344CB8AC3E}">
        <p14:creationId xmlns:p14="http://schemas.microsoft.com/office/powerpoint/2010/main" val="3246189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9E7626FD-18EF-494C-A467-3D85C3950BD0}" type="slidenum">
              <a:rPr lang="pt-BR" smtClean="0"/>
              <a:t>4</a:t>
            </a:fld>
            <a:endParaRPr lang="pt-BR" dirty="0"/>
          </a:p>
        </p:txBody>
      </p:sp>
    </p:spTree>
    <p:extLst>
      <p:ext uri="{BB962C8B-B14F-4D97-AF65-F5344CB8AC3E}">
        <p14:creationId xmlns:p14="http://schemas.microsoft.com/office/powerpoint/2010/main" val="4597663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9E7626FD-18EF-494C-A467-3D85C3950BD0}" type="slidenum">
              <a:rPr lang="pt-BR" smtClean="0"/>
              <a:t>5</a:t>
            </a:fld>
            <a:endParaRPr lang="pt-BR" dirty="0"/>
          </a:p>
        </p:txBody>
      </p:sp>
    </p:spTree>
    <p:extLst>
      <p:ext uri="{BB962C8B-B14F-4D97-AF65-F5344CB8AC3E}">
        <p14:creationId xmlns:p14="http://schemas.microsoft.com/office/powerpoint/2010/main" val="9806031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9E7626FD-18EF-494C-A467-3D85C3950BD0}" type="slidenum">
              <a:rPr lang="pt-BR" smtClean="0"/>
              <a:t>6</a:t>
            </a:fld>
            <a:endParaRPr lang="pt-BR" dirty="0"/>
          </a:p>
        </p:txBody>
      </p:sp>
    </p:spTree>
    <p:extLst>
      <p:ext uri="{BB962C8B-B14F-4D97-AF65-F5344CB8AC3E}">
        <p14:creationId xmlns:p14="http://schemas.microsoft.com/office/powerpoint/2010/main" val="18075272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9E7626FD-18EF-494C-A467-3D85C3950BD0}" type="slidenum">
              <a:rPr lang="pt-BR" smtClean="0"/>
              <a:t>7</a:t>
            </a:fld>
            <a:endParaRPr lang="pt-BR" dirty="0"/>
          </a:p>
        </p:txBody>
      </p:sp>
    </p:spTree>
    <p:extLst>
      <p:ext uri="{BB962C8B-B14F-4D97-AF65-F5344CB8AC3E}">
        <p14:creationId xmlns:p14="http://schemas.microsoft.com/office/powerpoint/2010/main" val="34401139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107950" y="733425"/>
            <a:ext cx="6508750" cy="3665538"/>
          </a:xfrm>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9E7626FD-18EF-494C-A467-3D85C3950BD0}" type="slidenum">
              <a:rPr lang="pt-BR" smtClean="0">
                <a:solidFill>
                  <a:prstClr val="black"/>
                </a:solidFill>
                <a:latin typeface="Calibri"/>
              </a:rPr>
              <a:pPr/>
              <a:t>8</a:t>
            </a:fld>
            <a:endParaRPr lang="pt-BR">
              <a:solidFill>
                <a:prstClr val="black"/>
              </a:solidFill>
              <a:latin typeface="Calibri"/>
            </a:endParaRPr>
          </a:p>
        </p:txBody>
      </p:sp>
    </p:spTree>
    <p:extLst>
      <p:ext uri="{BB962C8B-B14F-4D97-AF65-F5344CB8AC3E}">
        <p14:creationId xmlns:p14="http://schemas.microsoft.com/office/powerpoint/2010/main" val="36341737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384175" y="685800"/>
            <a:ext cx="6089650" cy="3429000"/>
          </a:xfrm>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9E7626FD-18EF-494C-A467-3D85C3950BD0}" type="slidenum">
              <a:rPr lang="pt-BR" smtClean="0">
                <a:solidFill>
                  <a:prstClr val="black"/>
                </a:solidFill>
              </a:rPr>
              <a:pPr/>
              <a:t>9</a:t>
            </a:fld>
            <a:endParaRPr lang="pt-BR" dirty="0">
              <a:solidFill>
                <a:prstClr val="black"/>
              </a:solidFill>
            </a:endParaRPr>
          </a:p>
        </p:txBody>
      </p:sp>
    </p:spTree>
    <p:extLst>
      <p:ext uri="{BB962C8B-B14F-4D97-AF65-F5344CB8AC3E}">
        <p14:creationId xmlns:p14="http://schemas.microsoft.com/office/powerpoint/2010/main" val="28179931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384175" y="685800"/>
            <a:ext cx="6089650" cy="3429000"/>
          </a:xfrm>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9E7626FD-18EF-494C-A467-3D85C3950BD0}" type="slidenum">
              <a:rPr lang="pt-BR" smtClean="0">
                <a:solidFill>
                  <a:prstClr val="black"/>
                </a:solidFill>
              </a:rPr>
              <a:pPr/>
              <a:t>10</a:t>
            </a:fld>
            <a:endParaRPr lang="pt-BR" dirty="0">
              <a:solidFill>
                <a:prstClr val="black"/>
              </a:solidFill>
            </a:endParaRPr>
          </a:p>
        </p:txBody>
      </p:sp>
    </p:spTree>
    <p:extLst>
      <p:ext uri="{BB962C8B-B14F-4D97-AF65-F5344CB8AC3E}">
        <p14:creationId xmlns:p14="http://schemas.microsoft.com/office/powerpoint/2010/main" val="32376084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384175" y="685800"/>
            <a:ext cx="6089650" cy="3429000"/>
          </a:xfrm>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9E7626FD-18EF-494C-A467-3D85C3950BD0}" type="slidenum">
              <a:rPr lang="pt-BR" smtClean="0">
                <a:solidFill>
                  <a:prstClr val="black"/>
                </a:solidFill>
              </a:rPr>
              <a:pPr/>
              <a:t>11</a:t>
            </a:fld>
            <a:endParaRPr lang="pt-BR" dirty="0">
              <a:solidFill>
                <a:prstClr val="black"/>
              </a:solidFill>
            </a:endParaRPr>
          </a:p>
        </p:txBody>
      </p:sp>
    </p:spTree>
    <p:extLst>
      <p:ext uri="{BB962C8B-B14F-4D97-AF65-F5344CB8AC3E}">
        <p14:creationId xmlns:p14="http://schemas.microsoft.com/office/powerpoint/2010/main" val="12316597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384175" y="685800"/>
            <a:ext cx="6089650" cy="3429000"/>
          </a:xfrm>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9E7626FD-18EF-494C-A467-3D85C3950BD0}" type="slidenum">
              <a:rPr lang="pt-BR" smtClean="0">
                <a:solidFill>
                  <a:prstClr val="black"/>
                </a:solidFill>
              </a:rPr>
              <a:pPr/>
              <a:t>12</a:t>
            </a:fld>
            <a:endParaRPr lang="pt-BR" dirty="0">
              <a:solidFill>
                <a:prstClr val="black"/>
              </a:solidFill>
            </a:endParaRPr>
          </a:p>
        </p:txBody>
      </p:sp>
    </p:spTree>
    <p:extLst>
      <p:ext uri="{BB962C8B-B14F-4D97-AF65-F5344CB8AC3E}">
        <p14:creationId xmlns:p14="http://schemas.microsoft.com/office/powerpoint/2010/main" val="15314227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9E7626FD-18EF-494C-A467-3D85C3950BD0}" type="slidenum">
              <a:rPr lang="pt-BR" smtClean="0"/>
              <a:t>13</a:t>
            </a:fld>
            <a:endParaRPr lang="pt-BR"/>
          </a:p>
        </p:txBody>
      </p:sp>
    </p:spTree>
    <p:extLst>
      <p:ext uri="{BB962C8B-B14F-4D97-AF65-F5344CB8AC3E}">
        <p14:creationId xmlns:p14="http://schemas.microsoft.com/office/powerpoint/2010/main" val="14487966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9E7626FD-18EF-494C-A467-3D85C3950BD0}" type="slidenum">
              <a:rPr lang="pt-BR" smtClean="0"/>
              <a:t>14</a:t>
            </a:fld>
            <a:endParaRPr lang="pt-BR"/>
          </a:p>
        </p:txBody>
      </p:sp>
    </p:spTree>
    <p:extLst>
      <p:ext uri="{BB962C8B-B14F-4D97-AF65-F5344CB8AC3E}">
        <p14:creationId xmlns:p14="http://schemas.microsoft.com/office/powerpoint/2010/main" val="13289992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9E7626FD-18EF-494C-A467-3D85C3950BD0}" type="slidenum">
              <a:rPr lang="pt-BR" smtClean="0"/>
              <a:t>15</a:t>
            </a:fld>
            <a:endParaRPr lang="pt-BR"/>
          </a:p>
        </p:txBody>
      </p:sp>
    </p:spTree>
    <p:extLst>
      <p:ext uri="{BB962C8B-B14F-4D97-AF65-F5344CB8AC3E}">
        <p14:creationId xmlns:p14="http://schemas.microsoft.com/office/powerpoint/2010/main" val="2671239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9E7626FD-18EF-494C-A467-3D85C3950BD0}" type="slidenum">
              <a:rPr lang="pt-BR" smtClean="0"/>
              <a:t>16</a:t>
            </a:fld>
            <a:endParaRPr lang="pt-BR"/>
          </a:p>
        </p:txBody>
      </p:sp>
    </p:spTree>
    <p:extLst>
      <p:ext uri="{BB962C8B-B14F-4D97-AF65-F5344CB8AC3E}">
        <p14:creationId xmlns:p14="http://schemas.microsoft.com/office/powerpoint/2010/main" val="2379777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9E7626FD-18EF-494C-A467-3D85C3950BD0}" type="slidenum">
              <a:rPr lang="pt-BR" smtClean="0"/>
              <a:t>17</a:t>
            </a:fld>
            <a:endParaRPr lang="pt-BR"/>
          </a:p>
        </p:txBody>
      </p:sp>
    </p:spTree>
    <p:extLst>
      <p:ext uri="{BB962C8B-B14F-4D97-AF65-F5344CB8AC3E}">
        <p14:creationId xmlns:p14="http://schemas.microsoft.com/office/powerpoint/2010/main" val="9222998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9E7626FD-18EF-494C-A467-3D85C3950BD0}" type="slidenum">
              <a:rPr lang="pt-BR" smtClean="0"/>
              <a:t>18</a:t>
            </a:fld>
            <a:endParaRPr lang="pt-BR"/>
          </a:p>
        </p:txBody>
      </p:sp>
    </p:spTree>
    <p:extLst>
      <p:ext uri="{BB962C8B-B14F-4D97-AF65-F5344CB8AC3E}">
        <p14:creationId xmlns:p14="http://schemas.microsoft.com/office/powerpoint/2010/main" val="7268552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9E7626FD-18EF-494C-A467-3D85C3950BD0}" type="slidenum">
              <a:rPr lang="pt-BR" smtClean="0"/>
              <a:t>19</a:t>
            </a:fld>
            <a:endParaRPr lang="pt-BR"/>
          </a:p>
        </p:txBody>
      </p:sp>
    </p:spTree>
    <p:extLst>
      <p:ext uri="{BB962C8B-B14F-4D97-AF65-F5344CB8AC3E}">
        <p14:creationId xmlns:p14="http://schemas.microsoft.com/office/powerpoint/2010/main" val="3966724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9E7626FD-18EF-494C-A467-3D85C3950BD0}" type="slidenum">
              <a:rPr lang="pt-BR" smtClean="0"/>
              <a:t>20</a:t>
            </a:fld>
            <a:endParaRPr lang="pt-BR"/>
          </a:p>
        </p:txBody>
      </p:sp>
    </p:spTree>
    <p:extLst>
      <p:ext uri="{BB962C8B-B14F-4D97-AF65-F5344CB8AC3E}">
        <p14:creationId xmlns:p14="http://schemas.microsoft.com/office/powerpoint/2010/main" val="25694402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9E7626FD-18EF-494C-A467-3D85C3950BD0}" type="slidenum">
              <a:rPr lang="pt-BR" smtClean="0"/>
              <a:t>21</a:t>
            </a:fld>
            <a:endParaRPr lang="pt-BR"/>
          </a:p>
        </p:txBody>
      </p:sp>
    </p:spTree>
    <p:extLst>
      <p:ext uri="{BB962C8B-B14F-4D97-AF65-F5344CB8AC3E}">
        <p14:creationId xmlns:p14="http://schemas.microsoft.com/office/powerpoint/2010/main" val="29966674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9E7626FD-18EF-494C-A467-3D85C3950BD0}" type="slidenum">
              <a:rPr lang="pt-BR" smtClean="0"/>
              <a:t>22</a:t>
            </a:fld>
            <a:endParaRPr lang="pt-BR"/>
          </a:p>
        </p:txBody>
      </p:sp>
    </p:spTree>
    <p:extLst>
      <p:ext uri="{BB962C8B-B14F-4D97-AF65-F5344CB8AC3E}">
        <p14:creationId xmlns:p14="http://schemas.microsoft.com/office/powerpoint/2010/main" val="39510075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384175" y="685800"/>
            <a:ext cx="6089650" cy="3429000"/>
          </a:xfrm>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9E7626FD-18EF-494C-A467-3D85C3950BD0}" type="slidenum">
              <a:rPr lang="pt-BR" smtClean="0">
                <a:solidFill>
                  <a:prstClr val="black"/>
                </a:solidFill>
              </a:rPr>
              <a:pPr/>
              <a:t>24</a:t>
            </a:fld>
            <a:endParaRPr lang="pt-BR" dirty="0">
              <a:solidFill>
                <a:prstClr val="black"/>
              </a:solidFill>
            </a:endParaRPr>
          </a:p>
        </p:txBody>
      </p:sp>
    </p:spTree>
    <p:extLst>
      <p:ext uri="{BB962C8B-B14F-4D97-AF65-F5344CB8AC3E}">
        <p14:creationId xmlns:p14="http://schemas.microsoft.com/office/powerpoint/2010/main" val="149843668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384175" y="685800"/>
            <a:ext cx="6089650" cy="3429000"/>
          </a:xfrm>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9E7626FD-18EF-494C-A467-3D85C3950BD0}" type="slidenum">
              <a:rPr lang="pt-BR" smtClean="0">
                <a:solidFill>
                  <a:prstClr val="black"/>
                </a:solidFill>
              </a:rPr>
              <a:pPr/>
              <a:t>25</a:t>
            </a:fld>
            <a:endParaRPr lang="pt-BR" dirty="0">
              <a:solidFill>
                <a:prstClr val="black"/>
              </a:solidFill>
            </a:endParaRPr>
          </a:p>
        </p:txBody>
      </p:sp>
    </p:spTree>
    <p:extLst>
      <p:ext uri="{BB962C8B-B14F-4D97-AF65-F5344CB8AC3E}">
        <p14:creationId xmlns:p14="http://schemas.microsoft.com/office/powerpoint/2010/main" val="356964997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a:xfrm>
            <a:off x="384175" y="685800"/>
            <a:ext cx="6089650" cy="3429000"/>
          </a:xfrm>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9E7626FD-18EF-494C-A467-3D85C3950BD0}" type="slidenum">
              <a:rPr lang="pt-BR" smtClean="0">
                <a:solidFill>
                  <a:prstClr val="black"/>
                </a:solidFill>
              </a:rPr>
              <a:pPr/>
              <a:t>26</a:t>
            </a:fld>
            <a:endParaRPr lang="pt-BR" dirty="0">
              <a:solidFill>
                <a:prstClr val="black"/>
              </a:solidFill>
            </a:endParaRPr>
          </a:p>
        </p:txBody>
      </p:sp>
    </p:spTree>
    <p:extLst>
      <p:ext uri="{BB962C8B-B14F-4D97-AF65-F5344CB8AC3E}">
        <p14:creationId xmlns:p14="http://schemas.microsoft.com/office/powerpoint/2010/main" val="33728087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143000" y="842552"/>
            <a:ext cx="6858000" cy="1792358"/>
          </a:xfrm>
        </p:spPr>
        <p:txBody>
          <a:bodyPr anchor="b"/>
          <a:lstStyle>
            <a:lvl1pPr algn="ctr">
              <a:defRPr sz="4500"/>
            </a:lvl1pPr>
          </a:lstStyle>
          <a:p>
            <a:r>
              <a:rPr lang="pt-BR" smtClean="0"/>
              <a:t>Clique para editar o título mestre</a:t>
            </a:r>
            <a:endParaRPr lang="pt-BR"/>
          </a:p>
        </p:txBody>
      </p:sp>
      <p:sp>
        <p:nvSpPr>
          <p:cNvPr id="3" name="Subtítulo 2"/>
          <p:cNvSpPr>
            <a:spLocks noGrp="1"/>
          </p:cNvSpPr>
          <p:nvPr>
            <p:ph type="subTitle" idx="1"/>
          </p:nvPr>
        </p:nvSpPr>
        <p:spPr>
          <a:xfrm>
            <a:off x="1143000" y="2704030"/>
            <a:ext cx="6858000" cy="1242971"/>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pt-BR" smtClean="0"/>
              <a:t>Clique para editar o estilo do subtítulo mestre</a:t>
            </a:r>
            <a:endParaRPr lang="pt-BR"/>
          </a:p>
        </p:txBody>
      </p:sp>
      <p:sp>
        <p:nvSpPr>
          <p:cNvPr id="4" name="Espaço Reservado para Data 3"/>
          <p:cNvSpPr>
            <a:spLocks noGrp="1"/>
          </p:cNvSpPr>
          <p:nvPr>
            <p:ph type="dt" sz="half" idx="10"/>
          </p:nvPr>
        </p:nvSpPr>
        <p:spPr/>
        <p:txBody>
          <a:bodyPr/>
          <a:lstStyle/>
          <a:p>
            <a:fld id="{15A96241-9EE8-3241-9C65-A8F2A1D83BB2}" type="datetimeFigureOut">
              <a:rPr lang="en-US" smtClean="0"/>
              <a:t>4/28/2016</a:t>
            </a:fld>
            <a:endParaRPr lang="en-US"/>
          </a:p>
        </p:txBody>
      </p:sp>
      <p:sp>
        <p:nvSpPr>
          <p:cNvPr id="5" name="Espaço Reservado para Rodapé 4"/>
          <p:cNvSpPr>
            <a:spLocks noGrp="1"/>
          </p:cNvSpPr>
          <p:nvPr>
            <p:ph type="ftr" sz="quarter" idx="11"/>
          </p:nvPr>
        </p:nvSpPr>
        <p:spPr/>
        <p:txBody>
          <a:bodyPr/>
          <a:lstStyle/>
          <a:p>
            <a:endParaRPr lang="en-US"/>
          </a:p>
        </p:txBody>
      </p:sp>
      <p:sp>
        <p:nvSpPr>
          <p:cNvPr id="6" name="Espaço Reservado para Número de Slide 5"/>
          <p:cNvSpPr>
            <a:spLocks noGrp="1"/>
          </p:cNvSpPr>
          <p:nvPr>
            <p:ph type="sldNum" sz="quarter" idx="12"/>
          </p:nvPr>
        </p:nvSpPr>
        <p:spPr/>
        <p:txBody>
          <a:bodyPr/>
          <a:lstStyle/>
          <a:p>
            <a:fld id="{2088DD49-D405-3D4F-92A5-BAA19C6BFE1F}" type="slidenum">
              <a:rPr lang="en-US" smtClean="0"/>
              <a:t>‹nº›</a:t>
            </a:fld>
            <a:endParaRPr lang="en-US"/>
          </a:p>
        </p:txBody>
      </p:sp>
    </p:spTree>
    <p:extLst>
      <p:ext uri="{BB962C8B-B14F-4D97-AF65-F5344CB8AC3E}">
        <p14:creationId xmlns:p14="http://schemas.microsoft.com/office/powerpoint/2010/main" val="4129829308"/>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Conteúdo 2"/>
          <p:cNvSpPr>
            <a:spLocks noGrp="1"/>
          </p:cNvSpPr>
          <p:nvPr>
            <p:ph idx="1"/>
          </p:nvPr>
        </p:nvSpPr>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15A96241-9EE8-3241-9C65-A8F2A1D83BB2}" type="datetimeFigureOut">
              <a:rPr lang="en-US" smtClean="0"/>
              <a:t>4/28/2016</a:t>
            </a:fld>
            <a:endParaRPr lang="en-US"/>
          </a:p>
        </p:txBody>
      </p:sp>
      <p:sp>
        <p:nvSpPr>
          <p:cNvPr id="5" name="Espaço Reservado para Rodapé 4"/>
          <p:cNvSpPr>
            <a:spLocks noGrp="1"/>
          </p:cNvSpPr>
          <p:nvPr>
            <p:ph type="ftr" sz="quarter" idx="11"/>
          </p:nvPr>
        </p:nvSpPr>
        <p:spPr/>
        <p:txBody>
          <a:bodyPr/>
          <a:lstStyle/>
          <a:p>
            <a:endParaRPr lang="en-US"/>
          </a:p>
        </p:txBody>
      </p:sp>
      <p:sp>
        <p:nvSpPr>
          <p:cNvPr id="6" name="Espaço Reservado para Número de Slide 5"/>
          <p:cNvSpPr>
            <a:spLocks noGrp="1"/>
          </p:cNvSpPr>
          <p:nvPr>
            <p:ph type="sldNum" sz="quarter" idx="12"/>
          </p:nvPr>
        </p:nvSpPr>
        <p:spPr/>
        <p:txBody>
          <a:bodyPr/>
          <a:lstStyle/>
          <a:p>
            <a:fld id="{2088DD49-D405-3D4F-92A5-BAA19C6BFE1F}" type="slidenum">
              <a:rPr lang="en-US" smtClean="0"/>
              <a:t>‹nº›</a:t>
            </a:fld>
            <a:endParaRPr lang="en-US"/>
          </a:p>
        </p:txBody>
      </p:sp>
    </p:spTree>
    <p:extLst>
      <p:ext uri="{BB962C8B-B14F-4D97-AF65-F5344CB8AC3E}">
        <p14:creationId xmlns:p14="http://schemas.microsoft.com/office/powerpoint/2010/main" val="717106955"/>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623888" y="1283491"/>
            <a:ext cx="7886700" cy="2141534"/>
          </a:xfrm>
        </p:spPr>
        <p:txBody>
          <a:bodyPr anchor="b"/>
          <a:lstStyle>
            <a:lvl1pPr>
              <a:defRPr sz="4500"/>
            </a:lvl1pPr>
          </a:lstStyle>
          <a:p>
            <a:r>
              <a:rPr lang="pt-BR" smtClean="0"/>
              <a:t>Clique para editar o título mestre</a:t>
            </a:r>
            <a:endParaRPr lang="pt-BR"/>
          </a:p>
        </p:txBody>
      </p:sp>
      <p:sp>
        <p:nvSpPr>
          <p:cNvPr id="3" name="Espaço Reservado para Texto 2"/>
          <p:cNvSpPr>
            <a:spLocks noGrp="1"/>
          </p:cNvSpPr>
          <p:nvPr>
            <p:ph type="body" idx="1"/>
          </p:nvPr>
        </p:nvSpPr>
        <p:spPr>
          <a:xfrm>
            <a:off x="623888" y="3445285"/>
            <a:ext cx="7886700" cy="1126182"/>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pt-BR" smtClean="0"/>
              <a:t>Clique para editar o texto mestre</a:t>
            </a:r>
          </a:p>
        </p:txBody>
      </p:sp>
      <p:sp>
        <p:nvSpPr>
          <p:cNvPr id="4" name="Espaço Reservado para Data 3"/>
          <p:cNvSpPr>
            <a:spLocks noGrp="1"/>
          </p:cNvSpPr>
          <p:nvPr>
            <p:ph type="dt" sz="half" idx="10"/>
          </p:nvPr>
        </p:nvSpPr>
        <p:spPr/>
        <p:txBody>
          <a:bodyPr/>
          <a:lstStyle/>
          <a:p>
            <a:fld id="{15A96241-9EE8-3241-9C65-A8F2A1D83BB2}" type="datetimeFigureOut">
              <a:rPr lang="en-US" smtClean="0"/>
              <a:t>4/28/2016</a:t>
            </a:fld>
            <a:endParaRPr lang="en-US"/>
          </a:p>
        </p:txBody>
      </p:sp>
      <p:sp>
        <p:nvSpPr>
          <p:cNvPr id="5" name="Espaço Reservado para Rodapé 4"/>
          <p:cNvSpPr>
            <a:spLocks noGrp="1"/>
          </p:cNvSpPr>
          <p:nvPr>
            <p:ph type="ftr" sz="quarter" idx="11"/>
          </p:nvPr>
        </p:nvSpPr>
        <p:spPr/>
        <p:txBody>
          <a:bodyPr/>
          <a:lstStyle/>
          <a:p>
            <a:endParaRPr lang="en-US"/>
          </a:p>
        </p:txBody>
      </p:sp>
      <p:sp>
        <p:nvSpPr>
          <p:cNvPr id="6" name="Espaço Reservado para Número de Slide 5"/>
          <p:cNvSpPr>
            <a:spLocks noGrp="1"/>
          </p:cNvSpPr>
          <p:nvPr>
            <p:ph type="sldNum" sz="quarter" idx="12"/>
          </p:nvPr>
        </p:nvSpPr>
        <p:spPr/>
        <p:txBody>
          <a:bodyPr/>
          <a:lstStyle/>
          <a:p>
            <a:fld id="{2088DD49-D405-3D4F-92A5-BAA19C6BFE1F}" type="slidenum">
              <a:rPr lang="en-US" smtClean="0"/>
              <a:t>‹nº›</a:t>
            </a:fld>
            <a:endParaRPr lang="en-US"/>
          </a:p>
        </p:txBody>
      </p:sp>
    </p:spTree>
    <p:extLst>
      <p:ext uri="{BB962C8B-B14F-4D97-AF65-F5344CB8AC3E}">
        <p14:creationId xmlns:p14="http://schemas.microsoft.com/office/powerpoint/2010/main" val="2878464889"/>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Conteúdo 2"/>
          <p:cNvSpPr>
            <a:spLocks noGrp="1"/>
          </p:cNvSpPr>
          <p:nvPr>
            <p:ph sz="half" idx="1"/>
          </p:nvPr>
        </p:nvSpPr>
        <p:spPr>
          <a:xfrm>
            <a:off x="628650" y="1370486"/>
            <a:ext cx="3886200" cy="3266526"/>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Conteúdo 3"/>
          <p:cNvSpPr>
            <a:spLocks noGrp="1"/>
          </p:cNvSpPr>
          <p:nvPr>
            <p:ph sz="half" idx="2"/>
          </p:nvPr>
        </p:nvSpPr>
        <p:spPr>
          <a:xfrm>
            <a:off x="4629150" y="1370486"/>
            <a:ext cx="3886200" cy="3266526"/>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5" name="Espaço Reservado para Data 4"/>
          <p:cNvSpPr>
            <a:spLocks noGrp="1"/>
          </p:cNvSpPr>
          <p:nvPr>
            <p:ph type="dt" sz="half" idx="10"/>
          </p:nvPr>
        </p:nvSpPr>
        <p:spPr/>
        <p:txBody>
          <a:bodyPr/>
          <a:lstStyle/>
          <a:p>
            <a:fld id="{15A96241-9EE8-3241-9C65-A8F2A1D83BB2}" type="datetimeFigureOut">
              <a:rPr lang="en-US" smtClean="0"/>
              <a:t>4/28/2016</a:t>
            </a:fld>
            <a:endParaRPr lang="en-US"/>
          </a:p>
        </p:txBody>
      </p:sp>
      <p:sp>
        <p:nvSpPr>
          <p:cNvPr id="6" name="Espaço Reservado para Rodapé 5"/>
          <p:cNvSpPr>
            <a:spLocks noGrp="1"/>
          </p:cNvSpPr>
          <p:nvPr>
            <p:ph type="ftr" sz="quarter" idx="11"/>
          </p:nvPr>
        </p:nvSpPr>
        <p:spPr/>
        <p:txBody>
          <a:bodyPr/>
          <a:lstStyle/>
          <a:p>
            <a:endParaRPr lang="en-US"/>
          </a:p>
        </p:txBody>
      </p:sp>
      <p:sp>
        <p:nvSpPr>
          <p:cNvPr id="7" name="Espaço Reservado para Número de Slide 6"/>
          <p:cNvSpPr>
            <a:spLocks noGrp="1"/>
          </p:cNvSpPr>
          <p:nvPr>
            <p:ph type="sldNum" sz="quarter" idx="12"/>
          </p:nvPr>
        </p:nvSpPr>
        <p:spPr/>
        <p:txBody>
          <a:bodyPr/>
          <a:lstStyle/>
          <a:p>
            <a:fld id="{2088DD49-D405-3D4F-92A5-BAA19C6BFE1F}" type="slidenum">
              <a:rPr lang="en-US" smtClean="0"/>
              <a:t>‹nº›</a:t>
            </a:fld>
            <a:endParaRPr lang="en-US"/>
          </a:p>
        </p:txBody>
      </p:sp>
    </p:spTree>
    <p:extLst>
      <p:ext uri="{BB962C8B-B14F-4D97-AF65-F5344CB8AC3E}">
        <p14:creationId xmlns:p14="http://schemas.microsoft.com/office/powerpoint/2010/main" val="3077221514"/>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a:xfrm>
            <a:off x="629841" y="274098"/>
            <a:ext cx="7886700" cy="995093"/>
          </a:xfrm>
        </p:spPr>
        <p:txBody>
          <a:bodyPr/>
          <a:lstStyle/>
          <a:p>
            <a:r>
              <a:rPr lang="pt-BR" smtClean="0"/>
              <a:t>Clique para editar o título mestre</a:t>
            </a:r>
            <a:endParaRPr lang="pt-BR"/>
          </a:p>
        </p:txBody>
      </p:sp>
      <p:sp>
        <p:nvSpPr>
          <p:cNvPr id="3" name="Espaço Reservado para Texto 2"/>
          <p:cNvSpPr>
            <a:spLocks noGrp="1"/>
          </p:cNvSpPr>
          <p:nvPr>
            <p:ph type="body" idx="1"/>
          </p:nvPr>
        </p:nvSpPr>
        <p:spPr>
          <a:xfrm>
            <a:off x="629842" y="1262040"/>
            <a:ext cx="3868340" cy="618506"/>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pt-BR" smtClean="0"/>
              <a:t>Clique para editar o texto mestre</a:t>
            </a:r>
          </a:p>
        </p:txBody>
      </p:sp>
      <p:sp>
        <p:nvSpPr>
          <p:cNvPr id="4" name="Espaço Reservado para Conteúdo 3"/>
          <p:cNvSpPr>
            <a:spLocks noGrp="1"/>
          </p:cNvSpPr>
          <p:nvPr>
            <p:ph sz="half" idx="2"/>
          </p:nvPr>
        </p:nvSpPr>
        <p:spPr>
          <a:xfrm>
            <a:off x="629842" y="1880546"/>
            <a:ext cx="3868340" cy="2766000"/>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5" name="Espaço Reservado para Texto 4"/>
          <p:cNvSpPr>
            <a:spLocks noGrp="1"/>
          </p:cNvSpPr>
          <p:nvPr>
            <p:ph type="body" sz="quarter" idx="3"/>
          </p:nvPr>
        </p:nvSpPr>
        <p:spPr>
          <a:xfrm>
            <a:off x="4629150" y="1262040"/>
            <a:ext cx="3887391" cy="618506"/>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pt-BR" smtClean="0"/>
              <a:t>Clique para editar o texto mestre</a:t>
            </a:r>
          </a:p>
        </p:txBody>
      </p:sp>
      <p:sp>
        <p:nvSpPr>
          <p:cNvPr id="6" name="Espaço Reservado para Conteúdo 5"/>
          <p:cNvSpPr>
            <a:spLocks noGrp="1"/>
          </p:cNvSpPr>
          <p:nvPr>
            <p:ph sz="quarter" idx="4"/>
          </p:nvPr>
        </p:nvSpPr>
        <p:spPr>
          <a:xfrm>
            <a:off x="4629150" y="1880546"/>
            <a:ext cx="3887391" cy="2766000"/>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7" name="Espaço Reservado para Data 6"/>
          <p:cNvSpPr>
            <a:spLocks noGrp="1"/>
          </p:cNvSpPr>
          <p:nvPr>
            <p:ph type="dt" sz="half" idx="10"/>
          </p:nvPr>
        </p:nvSpPr>
        <p:spPr/>
        <p:txBody>
          <a:bodyPr/>
          <a:lstStyle/>
          <a:p>
            <a:fld id="{15A96241-9EE8-3241-9C65-A8F2A1D83BB2}" type="datetimeFigureOut">
              <a:rPr lang="en-US" smtClean="0"/>
              <a:t>4/28/2016</a:t>
            </a:fld>
            <a:endParaRPr lang="en-US"/>
          </a:p>
        </p:txBody>
      </p:sp>
      <p:sp>
        <p:nvSpPr>
          <p:cNvPr id="8" name="Espaço Reservado para Rodapé 7"/>
          <p:cNvSpPr>
            <a:spLocks noGrp="1"/>
          </p:cNvSpPr>
          <p:nvPr>
            <p:ph type="ftr" sz="quarter" idx="11"/>
          </p:nvPr>
        </p:nvSpPr>
        <p:spPr/>
        <p:txBody>
          <a:bodyPr/>
          <a:lstStyle/>
          <a:p>
            <a:endParaRPr lang="en-US"/>
          </a:p>
        </p:txBody>
      </p:sp>
      <p:sp>
        <p:nvSpPr>
          <p:cNvPr id="9" name="Espaço Reservado para Número de Slide 8"/>
          <p:cNvSpPr>
            <a:spLocks noGrp="1"/>
          </p:cNvSpPr>
          <p:nvPr>
            <p:ph type="sldNum" sz="quarter" idx="12"/>
          </p:nvPr>
        </p:nvSpPr>
        <p:spPr/>
        <p:txBody>
          <a:bodyPr/>
          <a:lstStyle/>
          <a:p>
            <a:fld id="{2088DD49-D405-3D4F-92A5-BAA19C6BFE1F}" type="slidenum">
              <a:rPr lang="en-US" smtClean="0"/>
              <a:t>‹nº›</a:t>
            </a:fld>
            <a:endParaRPr lang="en-US"/>
          </a:p>
        </p:txBody>
      </p:sp>
    </p:spTree>
    <p:extLst>
      <p:ext uri="{BB962C8B-B14F-4D97-AF65-F5344CB8AC3E}">
        <p14:creationId xmlns:p14="http://schemas.microsoft.com/office/powerpoint/2010/main" val="1541108507"/>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Data 2"/>
          <p:cNvSpPr>
            <a:spLocks noGrp="1"/>
          </p:cNvSpPr>
          <p:nvPr>
            <p:ph type="dt" sz="half" idx="10"/>
          </p:nvPr>
        </p:nvSpPr>
        <p:spPr/>
        <p:txBody>
          <a:bodyPr/>
          <a:lstStyle/>
          <a:p>
            <a:fld id="{15A96241-9EE8-3241-9C65-A8F2A1D83BB2}" type="datetimeFigureOut">
              <a:rPr lang="en-US" smtClean="0"/>
              <a:t>4/28/2016</a:t>
            </a:fld>
            <a:endParaRPr lang="en-US"/>
          </a:p>
        </p:txBody>
      </p:sp>
      <p:sp>
        <p:nvSpPr>
          <p:cNvPr id="4" name="Espaço Reservado para Rodapé 3"/>
          <p:cNvSpPr>
            <a:spLocks noGrp="1"/>
          </p:cNvSpPr>
          <p:nvPr>
            <p:ph type="ftr" sz="quarter" idx="11"/>
          </p:nvPr>
        </p:nvSpPr>
        <p:spPr/>
        <p:txBody>
          <a:bodyPr/>
          <a:lstStyle/>
          <a:p>
            <a:endParaRPr lang="en-US"/>
          </a:p>
        </p:txBody>
      </p:sp>
      <p:sp>
        <p:nvSpPr>
          <p:cNvPr id="5" name="Espaço Reservado para Número de Slide 4"/>
          <p:cNvSpPr>
            <a:spLocks noGrp="1"/>
          </p:cNvSpPr>
          <p:nvPr>
            <p:ph type="sldNum" sz="quarter" idx="12"/>
          </p:nvPr>
        </p:nvSpPr>
        <p:spPr/>
        <p:txBody>
          <a:bodyPr/>
          <a:lstStyle/>
          <a:p>
            <a:fld id="{2088DD49-D405-3D4F-92A5-BAA19C6BFE1F}" type="slidenum">
              <a:rPr lang="en-US" smtClean="0"/>
              <a:t>‹nº›</a:t>
            </a:fld>
            <a:endParaRPr lang="en-US"/>
          </a:p>
        </p:txBody>
      </p:sp>
    </p:spTree>
    <p:extLst>
      <p:ext uri="{BB962C8B-B14F-4D97-AF65-F5344CB8AC3E}">
        <p14:creationId xmlns:p14="http://schemas.microsoft.com/office/powerpoint/2010/main" val="3934559617"/>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15A96241-9EE8-3241-9C65-A8F2A1D83BB2}" type="datetimeFigureOut">
              <a:rPr lang="en-US" smtClean="0"/>
              <a:t>4/28/2016</a:t>
            </a:fld>
            <a:endParaRPr lang="en-US"/>
          </a:p>
        </p:txBody>
      </p:sp>
      <p:sp>
        <p:nvSpPr>
          <p:cNvPr id="3" name="Espaço Reservado para Rodapé 2"/>
          <p:cNvSpPr>
            <a:spLocks noGrp="1"/>
          </p:cNvSpPr>
          <p:nvPr>
            <p:ph type="ftr" sz="quarter" idx="11"/>
          </p:nvPr>
        </p:nvSpPr>
        <p:spPr/>
        <p:txBody>
          <a:bodyPr/>
          <a:lstStyle/>
          <a:p>
            <a:endParaRPr lang="en-US"/>
          </a:p>
        </p:txBody>
      </p:sp>
      <p:sp>
        <p:nvSpPr>
          <p:cNvPr id="4" name="Espaço Reservado para Número de Slide 3"/>
          <p:cNvSpPr>
            <a:spLocks noGrp="1"/>
          </p:cNvSpPr>
          <p:nvPr>
            <p:ph type="sldNum" sz="quarter" idx="12"/>
          </p:nvPr>
        </p:nvSpPr>
        <p:spPr/>
        <p:txBody>
          <a:bodyPr/>
          <a:lstStyle/>
          <a:p>
            <a:fld id="{2088DD49-D405-3D4F-92A5-BAA19C6BFE1F}" type="slidenum">
              <a:rPr lang="en-US" smtClean="0"/>
              <a:t>‹nº›</a:t>
            </a:fld>
            <a:endParaRPr lang="en-US"/>
          </a:p>
        </p:txBody>
      </p:sp>
    </p:spTree>
    <p:extLst>
      <p:ext uri="{BB962C8B-B14F-4D97-AF65-F5344CB8AC3E}">
        <p14:creationId xmlns:p14="http://schemas.microsoft.com/office/powerpoint/2010/main" val="3974958239"/>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629841" y="343218"/>
            <a:ext cx="2949178" cy="1201261"/>
          </a:xfrm>
        </p:spPr>
        <p:txBody>
          <a:bodyPr anchor="b"/>
          <a:lstStyle>
            <a:lvl1pPr>
              <a:defRPr sz="2400"/>
            </a:lvl1pPr>
          </a:lstStyle>
          <a:p>
            <a:r>
              <a:rPr lang="pt-BR" smtClean="0"/>
              <a:t>Clique para editar o título mestre</a:t>
            </a:r>
            <a:endParaRPr lang="pt-BR"/>
          </a:p>
        </p:txBody>
      </p:sp>
      <p:sp>
        <p:nvSpPr>
          <p:cNvPr id="3" name="Espaço Reservado para Conteúdo 2"/>
          <p:cNvSpPr>
            <a:spLocks noGrp="1"/>
          </p:cNvSpPr>
          <p:nvPr>
            <p:ph idx="1"/>
          </p:nvPr>
        </p:nvSpPr>
        <p:spPr>
          <a:xfrm>
            <a:off x="3887391" y="741255"/>
            <a:ext cx="4629150" cy="3658604"/>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Texto 3"/>
          <p:cNvSpPr>
            <a:spLocks noGrp="1"/>
          </p:cNvSpPr>
          <p:nvPr>
            <p:ph type="body" sz="half" idx="2"/>
          </p:nvPr>
        </p:nvSpPr>
        <p:spPr>
          <a:xfrm>
            <a:off x="629841" y="1544479"/>
            <a:ext cx="2949178" cy="286133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pt-BR" smtClean="0"/>
              <a:t>Clique para editar o texto mestre</a:t>
            </a:r>
          </a:p>
        </p:txBody>
      </p:sp>
      <p:sp>
        <p:nvSpPr>
          <p:cNvPr id="5" name="Espaço Reservado para Data 4"/>
          <p:cNvSpPr>
            <a:spLocks noGrp="1"/>
          </p:cNvSpPr>
          <p:nvPr>
            <p:ph type="dt" sz="half" idx="10"/>
          </p:nvPr>
        </p:nvSpPr>
        <p:spPr/>
        <p:txBody>
          <a:bodyPr/>
          <a:lstStyle/>
          <a:p>
            <a:fld id="{15A96241-9EE8-3241-9C65-A8F2A1D83BB2}" type="datetimeFigureOut">
              <a:rPr lang="en-US" smtClean="0"/>
              <a:t>4/28/2016</a:t>
            </a:fld>
            <a:endParaRPr lang="en-US"/>
          </a:p>
        </p:txBody>
      </p:sp>
      <p:sp>
        <p:nvSpPr>
          <p:cNvPr id="6" name="Espaço Reservado para Rodapé 5"/>
          <p:cNvSpPr>
            <a:spLocks noGrp="1"/>
          </p:cNvSpPr>
          <p:nvPr>
            <p:ph type="ftr" sz="quarter" idx="11"/>
          </p:nvPr>
        </p:nvSpPr>
        <p:spPr/>
        <p:txBody>
          <a:bodyPr/>
          <a:lstStyle/>
          <a:p>
            <a:endParaRPr lang="en-US"/>
          </a:p>
        </p:txBody>
      </p:sp>
      <p:sp>
        <p:nvSpPr>
          <p:cNvPr id="7" name="Espaço Reservado para Número de Slide 6"/>
          <p:cNvSpPr>
            <a:spLocks noGrp="1"/>
          </p:cNvSpPr>
          <p:nvPr>
            <p:ph type="sldNum" sz="quarter" idx="12"/>
          </p:nvPr>
        </p:nvSpPr>
        <p:spPr/>
        <p:txBody>
          <a:bodyPr/>
          <a:lstStyle/>
          <a:p>
            <a:fld id="{2088DD49-D405-3D4F-92A5-BAA19C6BFE1F}" type="slidenum">
              <a:rPr lang="en-US" smtClean="0"/>
              <a:t>‹nº›</a:t>
            </a:fld>
            <a:endParaRPr lang="en-US"/>
          </a:p>
        </p:txBody>
      </p:sp>
    </p:spTree>
    <p:extLst>
      <p:ext uri="{BB962C8B-B14F-4D97-AF65-F5344CB8AC3E}">
        <p14:creationId xmlns:p14="http://schemas.microsoft.com/office/powerpoint/2010/main" val="2698632025"/>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629841" y="343218"/>
            <a:ext cx="2949178" cy="1201261"/>
          </a:xfrm>
        </p:spPr>
        <p:txBody>
          <a:bodyPr anchor="b"/>
          <a:lstStyle>
            <a:lvl1pPr>
              <a:defRPr sz="2400"/>
            </a:lvl1pPr>
          </a:lstStyle>
          <a:p>
            <a:r>
              <a:rPr lang="pt-BR" smtClean="0"/>
              <a:t>Clique para editar o título mestre</a:t>
            </a:r>
            <a:endParaRPr lang="pt-BR"/>
          </a:p>
        </p:txBody>
      </p:sp>
      <p:sp>
        <p:nvSpPr>
          <p:cNvPr id="3" name="Espaço Reservado para Imagem 2"/>
          <p:cNvSpPr>
            <a:spLocks noGrp="1"/>
          </p:cNvSpPr>
          <p:nvPr>
            <p:ph type="pic" idx="1"/>
          </p:nvPr>
        </p:nvSpPr>
        <p:spPr>
          <a:xfrm>
            <a:off x="3887391" y="741255"/>
            <a:ext cx="4629150" cy="3658604"/>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pt-BR"/>
          </a:p>
        </p:txBody>
      </p:sp>
      <p:sp>
        <p:nvSpPr>
          <p:cNvPr id="4" name="Espaço Reservado para Texto 3"/>
          <p:cNvSpPr>
            <a:spLocks noGrp="1"/>
          </p:cNvSpPr>
          <p:nvPr>
            <p:ph type="body" sz="half" idx="2"/>
          </p:nvPr>
        </p:nvSpPr>
        <p:spPr>
          <a:xfrm>
            <a:off x="629841" y="1544479"/>
            <a:ext cx="2949178" cy="286133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pt-BR" smtClean="0"/>
              <a:t>Clique para editar o texto mestre</a:t>
            </a:r>
          </a:p>
        </p:txBody>
      </p:sp>
      <p:sp>
        <p:nvSpPr>
          <p:cNvPr id="5" name="Espaço Reservado para Data 4"/>
          <p:cNvSpPr>
            <a:spLocks noGrp="1"/>
          </p:cNvSpPr>
          <p:nvPr>
            <p:ph type="dt" sz="half" idx="10"/>
          </p:nvPr>
        </p:nvSpPr>
        <p:spPr/>
        <p:txBody>
          <a:bodyPr/>
          <a:lstStyle/>
          <a:p>
            <a:fld id="{15A96241-9EE8-3241-9C65-A8F2A1D83BB2}" type="datetimeFigureOut">
              <a:rPr lang="en-US" smtClean="0"/>
              <a:t>4/28/2016</a:t>
            </a:fld>
            <a:endParaRPr lang="en-US"/>
          </a:p>
        </p:txBody>
      </p:sp>
      <p:sp>
        <p:nvSpPr>
          <p:cNvPr id="6" name="Espaço Reservado para Rodapé 5"/>
          <p:cNvSpPr>
            <a:spLocks noGrp="1"/>
          </p:cNvSpPr>
          <p:nvPr>
            <p:ph type="ftr" sz="quarter" idx="11"/>
          </p:nvPr>
        </p:nvSpPr>
        <p:spPr/>
        <p:txBody>
          <a:bodyPr/>
          <a:lstStyle/>
          <a:p>
            <a:endParaRPr lang="en-US"/>
          </a:p>
        </p:txBody>
      </p:sp>
      <p:sp>
        <p:nvSpPr>
          <p:cNvPr id="7" name="Espaço Reservado para Número de Slide 6"/>
          <p:cNvSpPr>
            <a:spLocks noGrp="1"/>
          </p:cNvSpPr>
          <p:nvPr>
            <p:ph type="sldNum" sz="quarter" idx="12"/>
          </p:nvPr>
        </p:nvSpPr>
        <p:spPr/>
        <p:txBody>
          <a:bodyPr/>
          <a:lstStyle/>
          <a:p>
            <a:fld id="{2088DD49-D405-3D4F-92A5-BAA19C6BFE1F}" type="slidenum">
              <a:rPr lang="en-US" smtClean="0"/>
              <a:t>‹nº›</a:t>
            </a:fld>
            <a:endParaRPr lang="en-US"/>
          </a:p>
        </p:txBody>
      </p:sp>
    </p:spTree>
    <p:extLst>
      <p:ext uri="{BB962C8B-B14F-4D97-AF65-F5344CB8AC3E}">
        <p14:creationId xmlns:p14="http://schemas.microsoft.com/office/powerpoint/2010/main" val="4117529887"/>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Texto Vertical 2"/>
          <p:cNvSpPr>
            <a:spLocks noGrp="1"/>
          </p:cNvSpPr>
          <p:nvPr>
            <p:ph type="body" orient="vert" idx="1"/>
          </p:nvPr>
        </p:nvSpPr>
        <p:spPr/>
        <p:txBody>
          <a:bodyPr vert="eaVert"/>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15A96241-9EE8-3241-9C65-A8F2A1D83BB2}" type="datetimeFigureOut">
              <a:rPr lang="en-US" smtClean="0"/>
              <a:t>4/28/2016</a:t>
            </a:fld>
            <a:endParaRPr lang="en-US"/>
          </a:p>
        </p:txBody>
      </p:sp>
      <p:sp>
        <p:nvSpPr>
          <p:cNvPr id="5" name="Espaço Reservado para Rodapé 4"/>
          <p:cNvSpPr>
            <a:spLocks noGrp="1"/>
          </p:cNvSpPr>
          <p:nvPr>
            <p:ph type="ftr" sz="quarter" idx="11"/>
          </p:nvPr>
        </p:nvSpPr>
        <p:spPr/>
        <p:txBody>
          <a:bodyPr/>
          <a:lstStyle/>
          <a:p>
            <a:endParaRPr lang="en-US"/>
          </a:p>
        </p:txBody>
      </p:sp>
      <p:sp>
        <p:nvSpPr>
          <p:cNvPr id="6" name="Espaço Reservado para Número de Slide 5"/>
          <p:cNvSpPr>
            <a:spLocks noGrp="1"/>
          </p:cNvSpPr>
          <p:nvPr>
            <p:ph type="sldNum" sz="quarter" idx="12"/>
          </p:nvPr>
        </p:nvSpPr>
        <p:spPr/>
        <p:txBody>
          <a:bodyPr/>
          <a:lstStyle/>
          <a:p>
            <a:fld id="{2088DD49-D405-3D4F-92A5-BAA19C6BFE1F}" type="slidenum">
              <a:rPr lang="en-US" smtClean="0"/>
              <a:t>‹nº›</a:t>
            </a:fld>
            <a:endParaRPr lang="en-US"/>
          </a:p>
        </p:txBody>
      </p:sp>
    </p:spTree>
    <p:extLst>
      <p:ext uri="{BB962C8B-B14F-4D97-AF65-F5344CB8AC3E}">
        <p14:creationId xmlns:p14="http://schemas.microsoft.com/office/powerpoint/2010/main" val="2052717037"/>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6543675" y="274097"/>
            <a:ext cx="1971675" cy="4362915"/>
          </a:xfrm>
        </p:spPr>
        <p:txBody>
          <a:bodyPr vert="eaVert"/>
          <a:lstStyle/>
          <a:p>
            <a:r>
              <a:rPr lang="pt-BR" smtClean="0"/>
              <a:t>Clique para editar o título mestre</a:t>
            </a:r>
            <a:endParaRPr lang="pt-BR"/>
          </a:p>
        </p:txBody>
      </p:sp>
      <p:sp>
        <p:nvSpPr>
          <p:cNvPr id="3" name="Espaço Reservado para Texto Vertical 2"/>
          <p:cNvSpPr>
            <a:spLocks noGrp="1"/>
          </p:cNvSpPr>
          <p:nvPr>
            <p:ph type="body" orient="vert" idx="1"/>
          </p:nvPr>
        </p:nvSpPr>
        <p:spPr>
          <a:xfrm>
            <a:off x="628650" y="274097"/>
            <a:ext cx="5800725" cy="4362915"/>
          </a:xfrm>
        </p:spPr>
        <p:txBody>
          <a:bodyPr vert="eaVert"/>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15A96241-9EE8-3241-9C65-A8F2A1D83BB2}" type="datetimeFigureOut">
              <a:rPr lang="en-US" smtClean="0"/>
              <a:t>4/28/2016</a:t>
            </a:fld>
            <a:endParaRPr lang="en-US"/>
          </a:p>
        </p:txBody>
      </p:sp>
      <p:sp>
        <p:nvSpPr>
          <p:cNvPr id="5" name="Espaço Reservado para Rodapé 4"/>
          <p:cNvSpPr>
            <a:spLocks noGrp="1"/>
          </p:cNvSpPr>
          <p:nvPr>
            <p:ph type="ftr" sz="quarter" idx="11"/>
          </p:nvPr>
        </p:nvSpPr>
        <p:spPr/>
        <p:txBody>
          <a:bodyPr/>
          <a:lstStyle/>
          <a:p>
            <a:endParaRPr lang="en-US"/>
          </a:p>
        </p:txBody>
      </p:sp>
      <p:sp>
        <p:nvSpPr>
          <p:cNvPr id="6" name="Espaço Reservado para Número de Slide 5"/>
          <p:cNvSpPr>
            <a:spLocks noGrp="1"/>
          </p:cNvSpPr>
          <p:nvPr>
            <p:ph type="sldNum" sz="quarter" idx="12"/>
          </p:nvPr>
        </p:nvSpPr>
        <p:spPr/>
        <p:txBody>
          <a:bodyPr/>
          <a:lstStyle/>
          <a:p>
            <a:fld id="{2088DD49-D405-3D4F-92A5-BAA19C6BFE1F}" type="slidenum">
              <a:rPr lang="en-US" smtClean="0"/>
              <a:t>‹nº›</a:t>
            </a:fld>
            <a:endParaRPr lang="en-US"/>
          </a:p>
        </p:txBody>
      </p:sp>
    </p:spTree>
    <p:extLst>
      <p:ext uri="{BB962C8B-B14F-4D97-AF65-F5344CB8AC3E}">
        <p14:creationId xmlns:p14="http://schemas.microsoft.com/office/powerpoint/2010/main" val="356763819"/>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7" name="Picture 8"/>
          <p:cNvPicPr>
            <a:picLocks noChangeAspect="1"/>
          </p:cNvPicPr>
          <p:nvPr userDrawn="1"/>
        </p:nvPicPr>
        <p:blipFill>
          <a:blip r:embed="rId2"/>
          <a:stretch>
            <a:fillRect/>
          </a:stretch>
        </p:blipFill>
        <p:spPr>
          <a:xfrm>
            <a:off x="1675508" y="1582714"/>
            <a:ext cx="5886194" cy="1069501"/>
          </a:xfrm>
          <a:prstGeom prst="rect">
            <a:avLst/>
          </a:prstGeom>
        </p:spPr>
      </p:pic>
    </p:spTree>
    <p:extLst>
      <p:ext uri="{BB962C8B-B14F-4D97-AF65-F5344CB8AC3E}">
        <p14:creationId xmlns:p14="http://schemas.microsoft.com/office/powerpoint/2010/main" val="157351810"/>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ayout Personalizado">
    <p:spTree>
      <p:nvGrpSpPr>
        <p:cNvPr id="1" name=""/>
        <p:cNvGrpSpPr/>
        <p:nvPr/>
      </p:nvGrpSpPr>
      <p:grpSpPr>
        <a:xfrm>
          <a:off x="0" y="0"/>
          <a:ext cx="0" cy="0"/>
          <a:chOff x="0" y="0"/>
          <a:chExt cx="0" cy="0"/>
        </a:xfrm>
      </p:grpSpPr>
      <p:sp>
        <p:nvSpPr>
          <p:cNvPr id="2" name="Título 1"/>
          <p:cNvSpPr>
            <a:spLocks noGrp="1"/>
          </p:cNvSpPr>
          <p:nvPr>
            <p:ph type="title"/>
          </p:nvPr>
        </p:nvSpPr>
        <p:spPr>
          <a:xfrm>
            <a:off x="457200" y="206169"/>
            <a:ext cx="8229600" cy="858044"/>
          </a:xfrm>
          <a:prstGeom prst="rect">
            <a:avLst/>
          </a:prstGeom>
        </p:spPr>
        <p:txBody>
          <a:bodyPr/>
          <a:lstStyle/>
          <a:p>
            <a:r>
              <a:rPr lang="pt-BR" smtClean="0"/>
              <a:t>Clique para editar o título mestre</a:t>
            </a:r>
            <a:endParaRPr lang="pt-BR"/>
          </a:p>
        </p:txBody>
      </p:sp>
    </p:spTree>
    <p:extLst>
      <p:ext uri="{BB962C8B-B14F-4D97-AF65-F5344CB8AC3E}">
        <p14:creationId xmlns:p14="http://schemas.microsoft.com/office/powerpoint/2010/main" val="2673148422"/>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ayout Personalizado">
    <p:spTree>
      <p:nvGrpSpPr>
        <p:cNvPr id="1" name=""/>
        <p:cNvGrpSpPr/>
        <p:nvPr/>
      </p:nvGrpSpPr>
      <p:grpSpPr>
        <a:xfrm>
          <a:off x="0" y="0"/>
          <a:ext cx="0" cy="0"/>
          <a:chOff x="0" y="0"/>
          <a:chExt cx="0" cy="0"/>
        </a:xfrm>
      </p:grpSpPr>
      <p:sp>
        <p:nvSpPr>
          <p:cNvPr id="2" name="Título 1"/>
          <p:cNvSpPr>
            <a:spLocks noGrp="1"/>
          </p:cNvSpPr>
          <p:nvPr>
            <p:ph type="title"/>
          </p:nvPr>
        </p:nvSpPr>
        <p:spPr>
          <a:xfrm>
            <a:off x="457200" y="206169"/>
            <a:ext cx="8229600" cy="858044"/>
          </a:xfrm>
          <a:prstGeom prst="rect">
            <a:avLst/>
          </a:prstGeom>
        </p:spPr>
        <p:txBody>
          <a:bodyPr/>
          <a:lstStyle/>
          <a:p>
            <a:r>
              <a:rPr lang="pt-BR" smtClean="0"/>
              <a:t>Clique para editar o título mestre</a:t>
            </a:r>
            <a:endParaRPr lang="pt-BR"/>
          </a:p>
        </p:txBody>
      </p:sp>
    </p:spTree>
    <p:extLst>
      <p:ext uri="{BB962C8B-B14F-4D97-AF65-F5344CB8AC3E}">
        <p14:creationId xmlns:p14="http://schemas.microsoft.com/office/powerpoint/2010/main" val="569956178"/>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ayout Personalizado">
    <p:spTree>
      <p:nvGrpSpPr>
        <p:cNvPr id="1" name=""/>
        <p:cNvGrpSpPr/>
        <p:nvPr/>
      </p:nvGrpSpPr>
      <p:grpSpPr>
        <a:xfrm>
          <a:off x="0" y="0"/>
          <a:ext cx="0" cy="0"/>
          <a:chOff x="0" y="0"/>
          <a:chExt cx="0" cy="0"/>
        </a:xfrm>
      </p:grpSpPr>
      <p:sp>
        <p:nvSpPr>
          <p:cNvPr id="2" name="Título 1"/>
          <p:cNvSpPr>
            <a:spLocks noGrp="1"/>
          </p:cNvSpPr>
          <p:nvPr>
            <p:ph type="title"/>
          </p:nvPr>
        </p:nvSpPr>
        <p:spPr>
          <a:xfrm>
            <a:off x="457200" y="206169"/>
            <a:ext cx="8229600" cy="858044"/>
          </a:xfrm>
          <a:prstGeom prst="rect">
            <a:avLst/>
          </a:prstGeom>
        </p:spPr>
        <p:txBody>
          <a:bodyPr/>
          <a:lstStyle/>
          <a:p>
            <a:r>
              <a:rPr lang="pt-BR" smtClean="0"/>
              <a:t>Clique para editar o título mestre</a:t>
            </a:r>
            <a:endParaRPr lang="pt-BR"/>
          </a:p>
        </p:txBody>
      </p:sp>
    </p:spTree>
    <p:extLst>
      <p:ext uri="{BB962C8B-B14F-4D97-AF65-F5344CB8AC3E}">
        <p14:creationId xmlns:p14="http://schemas.microsoft.com/office/powerpoint/2010/main" val="3460693877"/>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vmlDrawing" Target="../drawings/vmlDrawing1.vml"/><Relationship Id="rId7" Type="http://schemas.openxmlformats.org/officeDocument/2006/relationships/image" Target="../media/image3.jpg"/><Relationship Id="rId2" Type="http://schemas.openxmlformats.org/officeDocument/2006/relationships/theme" Target="../theme/theme2.xml"/><Relationship Id="rId1" Type="http://schemas.openxmlformats.org/officeDocument/2006/relationships/slideLayout" Target="../slideLayouts/slideLayout13.xml"/><Relationship Id="rId6" Type="http://schemas.openxmlformats.org/officeDocument/2006/relationships/image" Target="../media/image2.emf"/><Relationship Id="rId5" Type="http://schemas.openxmlformats.org/officeDocument/2006/relationships/oleObject" Target="../embeddings/oleObject1.bin"/><Relationship Id="rId4" Type="http://schemas.openxmlformats.org/officeDocument/2006/relationships/tags" Target="../tags/tag1.xml"/></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vmlDrawing" Target="../drawings/vmlDrawing2.vml"/><Relationship Id="rId7" Type="http://schemas.openxmlformats.org/officeDocument/2006/relationships/image" Target="../media/image1.emf"/><Relationship Id="rId2" Type="http://schemas.openxmlformats.org/officeDocument/2006/relationships/theme" Target="../theme/theme3.xml"/><Relationship Id="rId1" Type="http://schemas.openxmlformats.org/officeDocument/2006/relationships/slideLayout" Target="../slideLayouts/slideLayout14.xml"/><Relationship Id="rId6" Type="http://schemas.openxmlformats.org/officeDocument/2006/relationships/image" Target="../media/image2.emf"/><Relationship Id="rId5" Type="http://schemas.openxmlformats.org/officeDocument/2006/relationships/oleObject" Target="../embeddings/oleObject2.bin"/><Relationship Id="rId4" Type="http://schemas.openxmlformats.org/officeDocument/2006/relationships/tags" Target="../tags/tag2.xml"/><Relationship Id="rId9" Type="http://schemas.openxmlformats.org/officeDocument/2006/relationships/image" Target="../media/image5.jpg"/></Relationships>
</file>

<file path=ppt/slideMasters/_rels/slideMaster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vmlDrawing" Target="../drawings/vmlDrawing3.vml"/><Relationship Id="rId7" Type="http://schemas.openxmlformats.org/officeDocument/2006/relationships/image" Target="../media/image6.png"/><Relationship Id="rId2" Type="http://schemas.openxmlformats.org/officeDocument/2006/relationships/theme" Target="../theme/theme4.xml"/><Relationship Id="rId1" Type="http://schemas.openxmlformats.org/officeDocument/2006/relationships/slideLayout" Target="../slideLayouts/slideLayout15.xml"/><Relationship Id="rId6" Type="http://schemas.openxmlformats.org/officeDocument/2006/relationships/image" Target="../media/image2.emf"/><Relationship Id="rId5" Type="http://schemas.openxmlformats.org/officeDocument/2006/relationships/oleObject" Target="../embeddings/oleObject3.bin"/><Relationship Id="rId4" Type="http://schemas.openxmlformats.org/officeDocument/2006/relationships/tags" Target="../tags/tag3.xml"/><Relationship Id="rId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628650" y="274098"/>
            <a:ext cx="7886700" cy="995093"/>
          </a:xfrm>
          <a:prstGeom prst="rect">
            <a:avLst/>
          </a:prstGeom>
        </p:spPr>
        <p:txBody>
          <a:bodyPr vert="horz" lIns="91440" tIns="45720" rIns="91440" bIns="45720" rtlCol="0" anchor="ctr">
            <a:normAutofit/>
          </a:bodyPr>
          <a:lstStyle/>
          <a:p>
            <a:r>
              <a:rPr lang="pt-BR" smtClean="0"/>
              <a:t>Clique para editar o título mestre</a:t>
            </a:r>
            <a:endParaRPr lang="pt-BR"/>
          </a:p>
        </p:txBody>
      </p:sp>
      <p:sp>
        <p:nvSpPr>
          <p:cNvPr id="3" name="Espaço Reservado para Texto 2"/>
          <p:cNvSpPr>
            <a:spLocks noGrp="1"/>
          </p:cNvSpPr>
          <p:nvPr>
            <p:ph type="body" idx="1"/>
          </p:nvPr>
        </p:nvSpPr>
        <p:spPr>
          <a:xfrm>
            <a:off x="628650" y="1370486"/>
            <a:ext cx="7886700" cy="3266526"/>
          </a:xfrm>
          <a:prstGeom prst="rect">
            <a:avLst/>
          </a:prstGeom>
        </p:spPr>
        <p:txBody>
          <a:bodyPr vert="horz" lIns="91440" tIns="45720" rIns="91440" bIns="45720" rtlCol="0">
            <a:normAutofit/>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2"/>
          </p:nvPr>
        </p:nvSpPr>
        <p:spPr>
          <a:xfrm>
            <a:off x="628650" y="4771678"/>
            <a:ext cx="2057400" cy="274097"/>
          </a:xfrm>
          <a:prstGeom prst="rect">
            <a:avLst/>
          </a:prstGeom>
        </p:spPr>
        <p:txBody>
          <a:bodyPr vert="horz" lIns="91440" tIns="45720" rIns="91440" bIns="45720" rtlCol="0" anchor="ctr"/>
          <a:lstStyle>
            <a:lvl1pPr algn="l">
              <a:defRPr sz="900">
                <a:solidFill>
                  <a:schemeClr val="tx1">
                    <a:tint val="75000"/>
                  </a:schemeClr>
                </a:solidFill>
              </a:defRPr>
            </a:lvl1pPr>
          </a:lstStyle>
          <a:p>
            <a:fld id="{15A96241-9EE8-3241-9C65-A8F2A1D83BB2}" type="datetimeFigureOut">
              <a:rPr lang="en-US" smtClean="0"/>
              <a:t>4/28/2016</a:t>
            </a:fld>
            <a:endParaRPr lang="en-US"/>
          </a:p>
        </p:txBody>
      </p:sp>
      <p:sp>
        <p:nvSpPr>
          <p:cNvPr id="5" name="Espaço Reservado para Rodapé 4"/>
          <p:cNvSpPr>
            <a:spLocks noGrp="1"/>
          </p:cNvSpPr>
          <p:nvPr>
            <p:ph type="ftr" sz="quarter" idx="3"/>
          </p:nvPr>
        </p:nvSpPr>
        <p:spPr>
          <a:xfrm>
            <a:off x="3028950" y="4771678"/>
            <a:ext cx="3086100" cy="274097"/>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Espaço Reservado para Número de Slide 5"/>
          <p:cNvSpPr>
            <a:spLocks noGrp="1"/>
          </p:cNvSpPr>
          <p:nvPr>
            <p:ph type="sldNum" sz="quarter" idx="4"/>
          </p:nvPr>
        </p:nvSpPr>
        <p:spPr>
          <a:xfrm>
            <a:off x="6457950" y="4771678"/>
            <a:ext cx="2057400" cy="274097"/>
          </a:xfrm>
          <a:prstGeom prst="rect">
            <a:avLst/>
          </a:prstGeom>
        </p:spPr>
        <p:txBody>
          <a:bodyPr vert="horz" lIns="91440" tIns="45720" rIns="91440" bIns="45720" rtlCol="0" anchor="ctr"/>
          <a:lstStyle>
            <a:lvl1pPr algn="r">
              <a:defRPr sz="900">
                <a:solidFill>
                  <a:schemeClr val="tx1">
                    <a:tint val="75000"/>
                  </a:schemeClr>
                </a:solidFill>
              </a:defRPr>
            </a:lvl1pPr>
          </a:lstStyle>
          <a:p>
            <a:fld id="{2088DD49-D405-3D4F-92A5-BAA19C6BFE1F}" type="slidenum">
              <a:rPr lang="en-US" smtClean="0"/>
              <a:t>‹nº›</a:t>
            </a:fld>
            <a:endParaRPr lang="en-US"/>
          </a:p>
        </p:txBody>
      </p:sp>
    </p:spTree>
    <p:extLst>
      <p:ext uri="{BB962C8B-B14F-4D97-AF65-F5344CB8AC3E}">
        <p14:creationId xmlns:p14="http://schemas.microsoft.com/office/powerpoint/2010/main" val="240914215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9" r:id="rId12"/>
  </p:sldLayoutIdLst>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pt-B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Objeto 1" hidden="1"/>
          <p:cNvGraphicFramePr>
            <a:graphicFrameLocks noChangeAspect="1"/>
          </p:cNvGraphicFramePr>
          <p:nvPr userDrawn="1">
            <p:custDataLst>
              <p:tags r:id="rId4"/>
            </p:custDataLst>
            <p:extLst/>
          </p:nvPr>
        </p:nvGraphicFramePr>
        <p:xfrm>
          <a:off x="1589" y="1193"/>
          <a:ext cx="1587" cy="1191"/>
        </p:xfrm>
        <a:graphic>
          <a:graphicData uri="http://schemas.openxmlformats.org/presentationml/2006/ole">
            <mc:AlternateContent xmlns:mc="http://schemas.openxmlformats.org/markup-compatibility/2006">
              <mc:Choice xmlns:v="urn:schemas-microsoft-com:vml" Requires="v">
                <p:oleObj spid="_x0000_s21754" name="Slide do think-cell" r:id="rId5" imgW="270" imgH="270" progId="TCLayout.ActiveDocument.1">
                  <p:embed/>
                </p:oleObj>
              </mc:Choice>
              <mc:Fallback>
                <p:oleObj name="Slide do think-cell" r:id="rId5" imgW="270" imgH="270" progId="TCLayout.ActiveDocument.1">
                  <p:embed/>
                  <p:pic>
                    <p:nvPicPr>
                      <p:cNvPr id="0" name=""/>
                      <p:cNvPicPr/>
                      <p:nvPr/>
                    </p:nvPicPr>
                    <p:blipFill>
                      <a:blip r:embed="rId6"/>
                      <a:stretch>
                        <a:fillRect/>
                      </a:stretch>
                    </p:blipFill>
                    <p:spPr>
                      <a:xfrm>
                        <a:off x="1589" y="1193"/>
                        <a:ext cx="1587" cy="1191"/>
                      </a:xfrm>
                      <a:prstGeom prst="rect">
                        <a:avLst/>
                      </a:prstGeom>
                    </p:spPr>
                  </p:pic>
                </p:oleObj>
              </mc:Fallback>
            </mc:AlternateContent>
          </a:graphicData>
        </a:graphic>
      </p:graphicFrame>
      <p:pic>
        <p:nvPicPr>
          <p:cNvPr id="6" name="Picture 14" descr="t02-02.jpg"/>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0" y="0"/>
            <a:ext cx="9144000" cy="5148263"/>
          </a:xfrm>
          <a:prstGeom prst="rect">
            <a:avLst/>
          </a:prstGeom>
        </p:spPr>
      </p:pic>
      <p:pic>
        <p:nvPicPr>
          <p:cNvPr id="7" name="Picture 10"/>
          <p:cNvPicPr>
            <a:picLocks noChangeAspect="1"/>
          </p:cNvPicPr>
          <p:nvPr userDrawn="1"/>
        </p:nvPicPr>
        <p:blipFill>
          <a:blip r:embed="rId8"/>
          <a:stretch>
            <a:fillRect/>
          </a:stretch>
        </p:blipFill>
        <p:spPr>
          <a:xfrm>
            <a:off x="7021333" y="289005"/>
            <a:ext cx="1603348" cy="291323"/>
          </a:xfrm>
          <a:prstGeom prst="rect">
            <a:avLst/>
          </a:prstGeom>
        </p:spPr>
      </p:pic>
    </p:spTree>
    <p:extLst>
      <p:ext uri="{BB962C8B-B14F-4D97-AF65-F5344CB8AC3E}">
        <p14:creationId xmlns:p14="http://schemas.microsoft.com/office/powerpoint/2010/main" val="1362381218"/>
      </p:ext>
    </p:extLst>
  </p:cSld>
  <p:clrMap bg1="lt1" tx1="dk1" bg2="lt2" tx2="dk2" accent1="accent1" accent2="accent2" accent3="accent3" accent4="accent4" accent5="accent5" accent6="accent6" hlink="hlink" folHlink="folHlink"/>
  <p:sldLayoutIdLst>
    <p:sldLayoutId id="2147483674" r:id="rId1"/>
  </p:sldLayoutIdLst>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hf hdr="0" ftr="0" dt="0"/>
  <p:txStyles>
    <p:titleStyle>
      <a:lvl1pPr algn="ctr" defTabSz="686108" rtl="0" eaLnBrk="1" latinLnBrk="0" hangingPunct="1">
        <a:spcBef>
          <a:spcPct val="0"/>
        </a:spcBef>
        <a:buNone/>
        <a:defRPr sz="3303" kern="1200">
          <a:solidFill>
            <a:schemeClr val="tx1"/>
          </a:solidFill>
          <a:latin typeface="+mj-lt"/>
          <a:ea typeface="+mj-ea"/>
          <a:cs typeface="+mj-cs"/>
        </a:defRPr>
      </a:lvl1pPr>
    </p:titleStyle>
    <p:bodyStyle>
      <a:lvl1pPr marL="257291" indent="-257291" algn="l" defTabSz="686108" rtl="0" eaLnBrk="1" latinLnBrk="0" hangingPunct="1">
        <a:spcBef>
          <a:spcPct val="20000"/>
        </a:spcBef>
        <a:buFont typeface="Arial" pitchFamily="34" charset="0"/>
        <a:buChar char="•"/>
        <a:defRPr sz="2402" kern="1200">
          <a:solidFill>
            <a:schemeClr val="tx1"/>
          </a:solidFill>
          <a:latin typeface="+mn-lt"/>
          <a:ea typeface="+mn-ea"/>
          <a:cs typeface="+mn-cs"/>
        </a:defRPr>
      </a:lvl1pPr>
      <a:lvl2pPr marL="557462" indent="-214409" algn="l" defTabSz="686108" rtl="0" eaLnBrk="1" latinLnBrk="0" hangingPunct="1">
        <a:spcBef>
          <a:spcPct val="20000"/>
        </a:spcBef>
        <a:buFont typeface="Arial" pitchFamily="34" charset="0"/>
        <a:buChar char="–"/>
        <a:defRPr sz="2102" kern="1200">
          <a:solidFill>
            <a:schemeClr val="tx1"/>
          </a:solidFill>
          <a:latin typeface="+mn-lt"/>
          <a:ea typeface="+mn-ea"/>
          <a:cs typeface="+mn-cs"/>
        </a:defRPr>
      </a:lvl2pPr>
      <a:lvl3pPr marL="857634" indent="-171527" algn="l" defTabSz="686108" rtl="0" eaLnBrk="1" latinLnBrk="0" hangingPunct="1">
        <a:spcBef>
          <a:spcPct val="20000"/>
        </a:spcBef>
        <a:buFont typeface="Arial" pitchFamily="34" charset="0"/>
        <a:buChar char="•"/>
        <a:defRPr sz="1802" kern="1200">
          <a:solidFill>
            <a:schemeClr val="tx1"/>
          </a:solidFill>
          <a:latin typeface="+mn-lt"/>
          <a:ea typeface="+mn-ea"/>
          <a:cs typeface="+mn-cs"/>
        </a:defRPr>
      </a:lvl3pPr>
      <a:lvl4pPr marL="1200688" indent="-171527" algn="l" defTabSz="686108" rtl="0" eaLnBrk="1" latinLnBrk="0" hangingPunct="1">
        <a:spcBef>
          <a:spcPct val="20000"/>
        </a:spcBef>
        <a:buFont typeface="Arial" pitchFamily="34" charset="0"/>
        <a:buChar char="–"/>
        <a:defRPr sz="1501" kern="1200">
          <a:solidFill>
            <a:schemeClr val="tx1"/>
          </a:solidFill>
          <a:latin typeface="+mn-lt"/>
          <a:ea typeface="+mn-ea"/>
          <a:cs typeface="+mn-cs"/>
        </a:defRPr>
      </a:lvl4pPr>
      <a:lvl5pPr marL="1543743" indent="-171527" algn="l" defTabSz="686108" rtl="0" eaLnBrk="1" latinLnBrk="0" hangingPunct="1">
        <a:spcBef>
          <a:spcPct val="20000"/>
        </a:spcBef>
        <a:buFont typeface="Arial" pitchFamily="34" charset="0"/>
        <a:buChar char="»"/>
        <a:defRPr sz="1501" kern="1200">
          <a:solidFill>
            <a:schemeClr val="tx1"/>
          </a:solidFill>
          <a:latin typeface="+mn-lt"/>
          <a:ea typeface="+mn-ea"/>
          <a:cs typeface="+mn-cs"/>
        </a:defRPr>
      </a:lvl5pPr>
      <a:lvl6pPr marL="1886798" indent="-171527" algn="l" defTabSz="686108" rtl="0" eaLnBrk="1" latinLnBrk="0" hangingPunct="1">
        <a:spcBef>
          <a:spcPct val="20000"/>
        </a:spcBef>
        <a:buFont typeface="Arial" pitchFamily="34" charset="0"/>
        <a:buChar char="•"/>
        <a:defRPr sz="1501" kern="1200">
          <a:solidFill>
            <a:schemeClr val="tx1"/>
          </a:solidFill>
          <a:latin typeface="+mn-lt"/>
          <a:ea typeface="+mn-ea"/>
          <a:cs typeface="+mn-cs"/>
        </a:defRPr>
      </a:lvl6pPr>
      <a:lvl7pPr marL="2229850" indent="-171527" algn="l" defTabSz="686108" rtl="0" eaLnBrk="1" latinLnBrk="0" hangingPunct="1">
        <a:spcBef>
          <a:spcPct val="20000"/>
        </a:spcBef>
        <a:buFont typeface="Arial" pitchFamily="34" charset="0"/>
        <a:buChar char="•"/>
        <a:defRPr sz="1501" kern="1200">
          <a:solidFill>
            <a:schemeClr val="tx1"/>
          </a:solidFill>
          <a:latin typeface="+mn-lt"/>
          <a:ea typeface="+mn-ea"/>
          <a:cs typeface="+mn-cs"/>
        </a:defRPr>
      </a:lvl7pPr>
      <a:lvl8pPr marL="2572905" indent="-171527" algn="l" defTabSz="686108" rtl="0" eaLnBrk="1" latinLnBrk="0" hangingPunct="1">
        <a:spcBef>
          <a:spcPct val="20000"/>
        </a:spcBef>
        <a:buFont typeface="Arial" pitchFamily="34" charset="0"/>
        <a:buChar char="•"/>
        <a:defRPr sz="1501" kern="1200">
          <a:solidFill>
            <a:schemeClr val="tx1"/>
          </a:solidFill>
          <a:latin typeface="+mn-lt"/>
          <a:ea typeface="+mn-ea"/>
          <a:cs typeface="+mn-cs"/>
        </a:defRPr>
      </a:lvl8pPr>
      <a:lvl9pPr marL="2915959" indent="-171527" algn="l" defTabSz="686108" rtl="0" eaLnBrk="1" latinLnBrk="0" hangingPunct="1">
        <a:spcBef>
          <a:spcPct val="20000"/>
        </a:spcBef>
        <a:buFont typeface="Arial" pitchFamily="34" charset="0"/>
        <a:buChar char="•"/>
        <a:defRPr sz="1501" kern="1200">
          <a:solidFill>
            <a:schemeClr val="tx1"/>
          </a:solidFill>
          <a:latin typeface="+mn-lt"/>
          <a:ea typeface="+mn-ea"/>
          <a:cs typeface="+mn-cs"/>
        </a:defRPr>
      </a:lvl9pPr>
    </p:bodyStyle>
    <p:otherStyle>
      <a:defPPr>
        <a:defRPr lang="pt-BR"/>
      </a:defPPr>
      <a:lvl1pPr marL="0" algn="l" defTabSz="686108" rtl="0" eaLnBrk="1" latinLnBrk="0" hangingPunct="1">
        <a:defRPr sz="1351" kern="1200">
          <a:solidFill>
            <a:schemeClr val="tx1"/>
          </a:solidFill>
          <a:latin typeface="+mn-lt"/>
          <a:ea typeface="+mn-ea"/>
          <a:cs typeface="+mn-cs"/>
        </a:defRPr>
      </a:lvl1pPr>
      <a:lvl2pPr marL="343055" algn="l" defTabSz="686108" rtl="0" eaLnBrk="1" latinLnBrk="0" hangingPunct="1">
        <a:defRPr sz="1351" kern="1200">
          <a:solidFill>
            <a:schemeClr val="tx1"/>
          </a:solidFill>
          <a:latin typeface="+mn-lt"/>
          <a:ea typeface="+mn-ea"/>
          <a:cs typeface="+mn-cs"/>
        </a:defRPr>
      </a:lvl2pPr>
      <a:lvl3pPr marL="686108" algn="l" defTabSz="686108" rtl="0" eaLnBrk="1" latinLnBrk="0" hangingPunct="1">
        <a:defRPr sz="1351" kern="1200">
          <a:solidFill>
            <a:schemeClr val="tx1"/>
          </a:solidFill>
          <a:latin typeface="+mn-lt"/>
          <a:ea typeface="+mn-ea"/>
          <a:cs typeface="+mn-cs"/>
        </a:defRPr>
      </a:lvl3pPr>
      <a:lvl4pPr marL="1029162" algn="l" defTabSz="686108" rtl="0" eaLnBrk="1" latinLnBrk="0" hangingPunct="1">
        <a:defRPr sz="1351" kern="1200">
          <a:solidFill>
            <a:schemeClr val="tx1"/>
          </a:solidFill>
          <a:latin typeface="+mn-lt"/>
          <a:ea typeface="+mn-ea"/>
          <a:cs typeface="+mn-cs"/>
        </a:defRPr>
      </a:lvl4pPr>
      <a:lvl5pPr marL="1372216" algn="l" defTabSz="686108" rtl="0" eaLnBrk="1" latinLnBrk="0" hangingPunct="1">
        <a:defRPr sz="1351" kern="1200">
          <a:solidFill>
            <a:schemeClr val="tx1"/>
          </a:solidFill>
          <a:latin typeface="+mn-lt"/>
          <a:ea typeface="+mn-ea"/>
          <a:cs typeface="+mn-cs"/>
        </a:defRPr>
      </a:lvl5pPr>
      <a:lvl6pPr marL="1715271" algn="l" defTabSz="686108" rtl="0" eaLnBrk="1" latinLnBrk="0" hangingPunct="1">
        <a:defRPr sz="1351" kern="1200">
          <a:solidFill>
            <a:schemeClr val="tx1"/>
          </a:solidFill>
          <a:latin typeface="+mn-lt"/>
          <a:ea typeface="+mn-ea"/>
          <a:cs typeface="+mn-cs"/>
        </a:defRPr>
      </a:lvl6pPr>
      <a:lvl7pPr marL="2058324" algn="l" defTabSz="686108" rtl="0" eaLnBrk="1" latinLnBrk="0" hangingPunct="1">
        <a:defRPr sz="1351" kern="1200">
          <a:solidFill>
            <a:schemeClr val="tx1"/>
          </a:solidFill>
          <a:latin typeface="+mn-lt"/>
          <a:ea typeface="+mn-ea"/>
          <a:cs typeface="+mn-cs"/>
        </a:defRPr>
      </a:lvl7pPr>
      <a:lvl8pPr marL="2401377" algn="l" defTabSz="686108" rtl="0" eaLnBrk="1" latinLnBrk="0" hangingPunct="1">
        <a:defRPr sz="1351" kern="1200">
          <a:solidFill>
            <a:schemeClr val="tx1"/>
          </a:solidFill>
          <a:latin typeface="+mn-lt"/>
          <a:ea typeface="+mn-ea"/>
          <a:cs typeface="+mn-cs"/>
        </a:defRPr>
      </a:lvl8pPr>
      <a:lvl9pPr marL="2744432" algn="l" defTabSz="686108" rtl="0" eaLnBrk="1" latinLnBrk="0" hangingPunct="1">
        <a:defRPr sz="1351"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Objeto 1" hidden="1"/>
          <p:cNvGraphicFramePr>
            <a:graphicFrameLocks noChangeAspect="1"/>
          </p:cNvGraphicFramePr>
          <p:nvPr userDrawn="1">
            <p:custDataLst>
              <p:tags r:id="rId4"/>
            </p:custDataLst>
            <p:extLst/>
          </p:nvPr>
        </p:nvGraphicFramePr>
        <p:xfrm>
          <a:off x="1589" y="1193"/>
          <a:ext cx="1587" cy="1191"/>
        </p:xfrm>
        <a:graphic>
          <a:graphicData uri="http://schemas.openxmlformats.org/presentationml/2006/ole">
            <mc:AlternateContent xmlns:mc="http://schemas.openxmlformats.org/markup-compatibility/2006">
              <mc:Choice xmlns:v="urn:schemas-microsoft-com:vml" Requires="v">
                <p:oleObj spid="_x0000_s22778" name="Slide do think-cell" r:id="rId5" imgW="270" imgH="270" progId="TCLayout.ActiveDocument.1">
                  <p:embed/>
                </p:oleObj>
              </mc:Choice>
              <mc:Fallback>
                <p:oleObj name="Slide do think-cell" r:id="rId5" imgW="270" imgH="270" progId="TCLayout.ActiveDocument.1">
                  <p:embed/>
                  <p:pic>
                    <p:nvPicPr>
                      <p:cNvPr id="0" name=""/>
                      <p:cNvPicPr/>
                      <p:nvPr/>
                    </p:nvPicPr>
                    <p:blipFill>
                      <a:blip r:embed="rId6"/>
                      <a:stretch>
                        <a:fillRect/>
                      </a:stretch>
                    </p:blipFill>
                    <p:spPr>
                      <a:xfrm>
                        <a:off x="1589" y="1193"/>
                        <a:ext cx="1587" cy="1191"/>
                      </a:xfrm>
                      <a:prstGeom prst="rect">
                        <a:avLst/>
                      </a:prstGeom>
                    </p:spPr>
                  </p:pic>
                </p:oleObj>
              </mc:Fallback>
            </mc:AlternateContent>
          </a:graphicData>
        </a:graphic>
      </p:graphicFrame>
      <p:pic>
        <p:nvPicPr>
          <p:cNvPr id="6" name="Picture 9"/>
          <p:cNvPicPr>
            <a:picLocks noChangeAspect="1"/>
          </p:cNvPicPr>
          <p:nvPr userDrawn="1"/>
        </p:nvPicPr>
        <p:blipFill>
          <a:blip r:embed="rId7"/>
          <a:stretch>
            <a:fillRect/>
          </a:stretch>
        </p:blipFill>
        <p:spPr>
          <a:xfrm>
            <a:off x="7062980" y="289005"/>
            <a:ext cx="1603348" cy="291323"/>
          </a:xfrm>
          <a:prstGeom prst="rect">
            <a:avLst/>
          </a:prstGeom>
        </p:spPr>
      </p:pic>
      <p:pic>
        <p:nvPicPr>
          <p:cNvPr id="7" name="Picture 2"/>
          <p:cNvPicPr>
            <a:picLocks noChangeAspect="1" noChangeArrowheads="1"/>
          </p:cNvPicPr>
          <p:nvPr userDrawn="1"/>
        </p:nvPicPr>
        <p:blipFill rotWithShape="1">
          <a:blip r:embed="rId8">
            <a:extLst>
              <a:ext uri="{28A0092B-C50C-407E-A947-70E740481C1C}">
                <a14:useLocalDpi xmlns:a14="http://schemas.microsoft.com/office/drawing/2010/main" val="0"/>
              </a:ext>
            </a:extLst>
          </a:blip>
          <a:srcRect l="76780" t="78172" r="18395" b="12686"/>
          <a:stretch/>
        </p:blipFill>
        <p:spPr bwMode="auto">
          <a:xfrm>
            <a:off x="8188658" y="4384319"/>
            <a:ext cx="955343" cy="7639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1" descr="t03-02.jpg"/>
          <p:cNvPicPr>
            <a:picLocks noChangeAspect="1"/>
          </p:cNvPicPr>
          <p:nvPr userDrawn="1"/>
        </p:nvPicPr>
        <p:blipFill rotWithShape="1">
          <a:blip r:embed="rId9">
            <a:extLst>
              <a:ext uri="{28A0092B-C50C-407E-A947-70E740481C1C}">
                <a14:useLocalDpi xmlns:a14="http://schemas.microsoft.com/office/drawing/2010/main" val="0"/>
              </a:ext>
            </a:extLst>
          </a:blip>
          <a:srcRect r="91368" b="84909"/>
          <a:stretch/>
        </p:blipFill>
        <p:spPr>
          <a:xfrm>
            <a:off x="0" y="0"/>
            <a:ext cx="789296" cy="776935"/>
          </a:xfrm>
          <a:prstGeom prst="rect">
            <a:avLst/>
          </a:prstGeom>
        </p:spPr>
      </p:pic>
    </p:spTree>
    <p:extLst>
      <p:ext uri="{BB962C8B-B14F-4D97-AF65-F5344CB8AC3E}">
        <p14:creationId xmlns:p14="http://schemas.microsoft.com/office/powerpoint/2010/main" val="579421654"/>
      </p:ext>
    </p:extLst>
  </p:cSld>
  <p:clrMap bg1="lt1" tx1="dk1" bg2="lt2" tx2="dk2" accent1="accent1" accent2="accent2" accent3="accent3" accent4="accent4" accent5="accent5" accent6="accent6" hlink="hlink" folHlink="folHlink"/>
  <p:sldLayoutIdLst>
    <p:sldLayoutId id="2147483676" r:id="rId1"/>
  </p:sldLayoutIdLst>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hf hdr="0" ftr="0" dt="0"/>
  <p:txStyles>
    <p:titleStyle>
      <a:lvl1pPr algn="ctr" defTabSz="686108" rtl="0" eaLnBrk="1" latinLnBrk="0" hangingPunct="1">
        <a:spcBef>
          <a:spcPct val="0"/>
        </a:spcBef>
        <a:buNone/>
        <a:defRPr sz="3303" kern="1200">
          <a:solidFill>
            <a:schemeClr val="tx1"/>
          </a:solidFill>
          <a:latin typeface="+mj-lt"/>
          <a:ea typeface="+mj-ea"/>
          <a:cs typeface="+mj-cs"/>
        </a:defRPr>
      </a:lvl1pPr>
    </p:titleStyle>
    <p:bodyStyle>
      <a:lvl1pPr marL="257291" indent="-257291" algn="l" defTabSz="686108" rtl="0" eaLnBrk="1" latinLnBrk="0" hangingPunct="1">
        <a:spcBef>
          <a:spcPct val="20000"/>
        </a:spcBef>
        <a:buFont typeface="Arial" pitchFamily="34" charset="0"/>
        <a:buChar char="•"/>
        <a:defRPr sz="2402" kern="1200">
          <a:solidFill>
            <a:schemeClr val="tx1"/>
          </a:solidFill>
          <a:latin typeface="+mn-lt"/>
          <a:ea typeface="+mn-ea"/>
          <a:cs typeface="+mn-cs"/>
        </a:defRPr>
      </a:lvl1pPr>
      <a:lvl2pPr marL="557462" indent="-214409" algn="l" defTabSz="686108" rtl="0" eaLnBrk="1" latinLnBrk="0" hangingPunct="1">
        <a:spcBef>
          <a:spcPct val="20000"/>
        </a:spcBef>
        <a:buFont typeface="Arial" pitchFamily="34" charset="0"/>
        <a:buChar char="–"/>
        <a:defRPr sz="2102" kern="1200">
          <a:solidFill>
            <a:schemeClr val="tx1"/>
          </a:solidFill>
          <a:latin typeface="+mn-lt"/>
          <a:ea typeface="+mn-ea"/>
          <a:cs typeface="+mn-cs"/>
        </a:defRPr>
      </a:lvl2pPr>
      <a:lvl3pPr marL="857634" indent="-171527" algn="l" defTabSz="686108" rtl="0" eaLnBrk="1" latinLnBrk="0" hangingPunct="1">
        <a:spcBef>
          <a:spcPct val="20000"/>
        </a:spcBef>
        <a:buFont typeface="Arial" pitchFamily="34" charset="0"/>
        <a:buChar char="•"/>
        <a:defRPr sz="1802" kern="1200">
          <a:solidFill>
            <a:schemeClr val="tx1"/>
          </a:solidFill>
          <a:latin typeface="+mn-lt"/>
          <a:ea typeface="+mn-ea"/>
          <a:cs typeface="+mn-cs"/>
        </a:defRPr>
      </a:lvl3pPr>
      <a:lvl4pPr marL="1200688" indent="-171527" algn="l" defTabSz="686108" rtl="0" eaLnBrk="1" latinLnBrk="0" hangingPunct="1">
        <a:spcBef>
          <a:spcPct val="20000"/>
        </a:spcBef>
        <a:buFont typeface="Arial" pitchFamily="34" charset="0"/>
        <a:buChar char="–"/>
        <a:defRPr sz="1501" kern="1200">
          <a:solidFill>
            <a:schemeClr val="tx1"/>
          </a:solidFill>
          <a:latin typeface="+mn-lt"/>
          <a:ea typeface="+mn-ea"/>
          <a:cs typeface="+mn-cs"/>
        </a:defRPr>
      </a:lvl4pPr>
      <a:lvl5pPr marL="1543743" indent="-171527" algn="l" defTabSz="686108" rtl="0" eaLnBrk="1" latinLnBrk="0" hangingPunct="1">
        <a:spcBef>
          <a:spcPct val="20000"/>
        </a:spcBef>
        <a:buFont typeface="Arial" pitchFamily="34" charset="0"/>
        <a:buChar char="»"/>
        <a:defRPr sz="1501" kern="1200">
          <a:solidFill>
            <a:schemeClr val="tx1"/>
          </a:solidFill>
          <a:latin typeface="+mn-lt"/>
          <a:ea typeface="+mn-ea"/>
          <a:cs typeface="+mn-cs"/>
        </a:defRPr>
      </a:lvl5pPr>
      <a:lvl6pPr marL="1886798" indent="-171527" algn="l" defTabSz="686108" rtl="0" eaLnBrk="1" latinLnBrk="0" hangingPunct="1">
        <a:spcBef>
          <a:spcPct val="20000"/>
        </a:spcBef>
        <a:buFont typeface="Arial" pitchFamily="34" charset="0"/>
        <a:buChar char="•"/>
        <a:defRPr sz="1501" kern="1200">
          <a:solidFill>
            <a:schemeClr val="tx1"/>
          </a:solidFill>
          <a:latin typeface="+mn-lt"/>
          <a:ea typeface="+mn-ea"/>
          <a:cs typeface="+mn-cs"/>
        </a:defRPr>
      </a:lvl6pPr>
      <a:lvl7pPr marL="2229850" indent="-171527" algn="l" defTabSz="686108" rtl="0" eaLnBrk="1" latinLnBrk="0" hangingPunct="1">
        <a:spcBef>
          <a:spcPct val="20000"/>
        </a:spcBef>
        <a:buFont typeface="Arial" pitchFamily="34" charset="0"/>
        <a:buChar char="•"/>
        <a:defRPr sz="1501" kern="1200">
          <a:solidFill>
            <a:schemeClr val="tx1"/>
          </a:solidFill>
          <a:latin typeface="+mn-lt"/>
          <a:ea typeface="+mn-ea"/>
          <a:cs typeface="+mn-cs"/>
        </a:defRPr>
      </a:lvl7pPr>
      <a:lvl8pPr marL="2572905" indent="-171527" algn="l" defTabSz="686108" rtl="0" eaLnBrk="1" latinLnBrk="0" hangingPunct="1">
        <a:spcBef>
          <a:spcPct val="20000"/>
        </a:spcBef>
        <a:buFont typeface="Arial" pitchFamily="34" charset="0"/>
        <a:buChar char="•"/>
        <a:defRPr sz="1501" kern="1200">
          <a:solidFill>
            <a:schemeClr val="tx1"/>
          </a:solidFill>
          <a:latin typeface="+mn-lt"/>
          <a:ea typeface="+mn-ea"/>
          <a:cs typeface="+mn-cs"/>
        </a:defRPr>
      </a:lvl8pPr>
      <a:lvl9pPr marL="2915959" indent="-171527" algn="l" defTabSz="686108" rtl="0" eaLnBrk="1" latinLnBrk="0" hangingPunct="1">
        <a:spcBef>
          <a:spcPct val="20000"/>
        </a:spcBef>
        <a:buFont typeface="Arial" pitchFamily="34" charset="0"/>
        <a:buChar char="•"/>
        <a:defRPr sz="1501" kern="1200">
          <a:solidFill>
            <a:schemeClr val="tx1"/>
          </a:solidFill>
          <a:latin typeface="+mn-lt"/>
          <a:ea typeface="+mn-ea"/>
          <a:cs typeface="+mn-cs"/>
        </a:defRPr>
      </a:lvl9pPr>
    </p:bodyStyle>
    <p:otherStyle>
      <a:defPPr>
        <a:defRPr lang="pt-BR"/>
      </a:defPPr>
      <a:lvl1pPr marL="0" algn="l" defTabSz="686108" rtl="0" eaLnBrk="1" latinLnBrk="0" hangingPunct="1">
        <a:defRPr sz="1351" kern="1200">
          <a:solidFill>
            <a:schemeClr val="tx1"/>
          </a:solidFill>
          <a:latin typeface="+mn-lt"/>
          <a:ea typeface="+mn-ea"/>
          <a:cs typeface="+mn-cs"/>
        </a:defRPr>
      </a:lvl1pPr>
      <a:lvl2pPr marL="343055" algn="l" defTabSz="686108" rtl="0" eaLnBrk="1" latinLnBrk="0" hangingPunct="1">
        <a:defRPr sz="1351" kern="1200">
          <a:solidFill>
            <a:schemeClr val="tx1"/>
          </a:solidFill>
          <a:latin typeface="+mn-lt"/>
          <a:ea typeface="+mn-ea"/>
          <a:cs typeface="+mn-cs"/>
        </a:defRPr>
      </a:lvl2pPr>
      <a:lvl3pPr marL="686108" algn="l" defTabSz="686108" rtl="0" eaLnBrk="1" latinLnBrk="0" hangingPunct="1">
        <a:defRPr sz="1351" kern="1200">
          <a:solidFill>
            <a:schemeClr val="tx1"/>
          </a:solidFill>
          <a:latin typeface="+mn-lt"/>
          <a:ea typeface="+mn-ea"/>
          <a:cs typeface="+mn-cs"/>
        </a:defRPr>
      </a:lvl3pPr>
      <a:lvl4pPr marL="1029162" algn="l" defTabSz="686108" rtl="0" eaLnBrk="1" latinLnBrk="0" hangingPunct="1">
        <a:defRPr sz="1351" kern="1200">
          <a:solidFill>
            <a:schemeClr val="tx1"/>
          </a:solidFill>
          <a:latin typeface="+mn-lt"/>
          <a:ea typeface="+mn-ea"/>
          <a:cs typeface="+mn-cs"/>
        </a:defRPr>
      </a:lvl4pPr>
      <a:lvl5pPr marL="1372216" algn="l" defTabSz="686108" rtl="0" eaLnBrk="1" latinLnBrk="0" hangingPunct="1">
        <a:defRPr sz="1351" kern="1200">
          <a:solidFill>
            <a:schemeClr val="tx1"/>
          </a:solidFill>
          <a:latin typeface="+mn-lt"/>
          <a:ea typeface="+mn-ea"/>
          <a:cs typeface="+mn-cs"/>
        </a:defRPr>
      </a:lvl5pPr>
      <a:lvl6pPr marL="1715271" algn="l" defTabSz="686108" rtl="0" eaLnBrk="1" latinLnBrk="0" hangingPunct="1">
        <a:defRPr sz="1351" kern="1200">
          <a:solidFill>
            <a:schemeClr val="tx1"/>
          </a:solidFill>
          <a:latin typeface="+mn-lt"/>
          <a:ea typeface="+mn-ea"/>
          <a:cs typeface="+mn-cs"/>
        </a:defRPr>
      </a:lvl6pPr>
      <a:lvl7pPr marL="2058324" algn="l" defTabSz="686108" rtl="0" eaLnBrk="1" latinLnBrk="0" hangingPunct="1">
        <a:defRPr sz="1351" kern="1200">
          <a:solidFill>
            <a:schemeClr val="tx1"/>
          </a:solidFill>
          <a:latin typeface="+mn-lt"/>
          <a:ea typeface="+mn-ea"/>
          <a:cs typeface="+mn-cs"/>
        </a:defRPr>
      </a:lvl7pPr>
      <a:lvl8pPr marL="2401377" algn="l" defTabSz="686108" rtl="0" eaLnBrk="1" latinLnBrk="0" hangingPunct="1">
        <a:defRPr sz="1351" kern="1200">
          <a:solidFill>
            <a:schemeClr val="tx1"/>
          </a:solidFill>
          <a:latin typeface="+mn-lt"/>
          <a:ea typeface="+mn-ea"/>
          <a:cs typeface="+mn-cs"/>
        </a:defRPr>
      </a:lvl8pPr>
      <a:lvl9pPr marL="2744432" algn="l" defTabSz="686108" rtl="0" eaLnBrk="1" latinLnBrk="0" hangingPunct="1">
        <a:defRPr sz="1351"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Objeto 1" hidden="1"/>
          <p:cNvGraphicFramePr>
            <a:graphicFrameLocks noChangeAspect="1"/>
          </p:cNvGraphicFramePr>
          <p:nvPr userDrawn="1">
            <p:custDataLst>
              <p:tags r:id="rId4"/>
            </p:custDataLst>
            <p:extLst/>
          </p:nvPr>
        </p:nvGraphicFramePr>
        <p:xfrm>
          <a:off x="1589" y="1193"/>
          <a:ext cx="1587" cy="1191"/>
        </p:xfrm>
        <a:graphic>
          <a:graphicData uri="http://schemas.openxmlformats.org/presentationml/2006/ole">
            <mc:AlternateContent xmlns:mc="http://schemas.openxmlformats.org/markup-compatibility/2006">
              <mc:Choice xmlns:v="urn:schemas-microsoft-com:vml" Requires="v">
                <p:oleObj spid="_x0000_s23802" name="Slide do think-cell" r:id="rId5" imgW="270" imgH="270" progId="TCLayout.ActiveDocument.1">
                  <p:embed/>
                </p:oleObj>
              </mc:Choice>
              <mc:Fallback>
                <p:oleObj name="Slide do think-cell" r:id="rId5" imgW="270" imgH="270" progId="TCLayout.ActiveDocument.1">
                  <p:embed/>
                  <p:pic>
                    <p:nvPicPr>
                      <p:cNvPr id="0" name=""/>
                      <p:cNvPicPr/>
                      <p:nvPr/>
                    </p:nvPicPr>
                    <p:blipFill>
                      <a:blip r:embed="rId6"/>
                      <a:stretch>
                        <a:fillRect/>
                      </a:stretch>
                    </p:blipFill>
                    <p:spPr>
                      <a:xfrm>
                        <a:off x="1589" y="1193"/>
                        <a:ext cx="1587" cy="1191"/>
                      </a:xfrm>
                      <a:prstGeom prst="rect">
                        <a:avLst/>
                      </a:prstGeom>
                    </p:spPr>
                  </p:pic>
                </p:oleObj>
              </mc:Fallback>
            </mc:AlternateContent>
          </a:graphicData>
        </a:graphic>
      </p:graphicFrame>
      <p:pic>
        <p:nvPicPr>
          <p:cNvPr id="8" name="interna_img-3.png"/>
          <p:cNvPicPr/>
          <p:nvPr userDrawn="1"/>
        </p:nvPicPr>
        <p:blipFill>
          <a:blip r:embed="rId7">
            <a:extLst>
              <a:ext uri="{28A0092B-C50C-407E-A947-70E740481C1C}">
                <a14:useLocalDpi xmlns:a14="http://schemas.microsoft.com/office/drawing/2010/main" val="0"/>
              </a:ext>
            </a:extLst>
          </a:blip>
          <a:srcRect r="70182"/>
          <a:stretch>
            <a:fillRect/>
          </a:stretch>
        </p:blipFill>
        <p:spPr>
          <a:xfrm>
            <a:off x="1" y="-4669"/>
            <a:ext cx="3640873" cy="5157601"/>
          </a:xfrm>
          <a:prstGeom prst="rect">
            <a:avLst/>
          </a:prstGeom>
          <a:ln w="12700">
            <a:miter lim="400000"/>
          </a:ln>
        </p:spPr>
      </p:pic>
      <p:pic>
        <p:nvPicPr>
          <p:cNvPr id="9" name="image5.png"/>
          <p:cNvPicPr/>
          <p:nvPr userDrawn="1"/>
        </p:nvPicPr>
        <p:blipFill rotWithShape="1">
          <a:blip r:embed="rId8" cstate="print">
            <a:extLst>
              <a:ext uri="{28A0092B-C50C-407E-A947-70E740481C1C}">
                <a14:useLocalDpi xmlns:a14="http://schemas.microsoft.com/office/drawing/2010/main" val="0"/>
              </a:ext>
            </a:extLst>
          </a:blip>
          <a:srcRect r="50000"/>
          <a:stretch/>
        </p:blipFill>
        <p:spPr>
          <a:xfrm>
            <a:off x="8118917" y="4410609"/>
            <a:ext cx="1043999" cy="770734"/>
          </a:xfrm>
          <a:prstGeom prst="rect">
            <a:avLst/>
          </a:prstGeom>
          <a:ln w="12700">
            <a:miter lim="400000"/>
          </a:ln>
        </p:spPr>
      </p:pic>
      <p:pic>
        <p:nvPicPr>
          <p:cNvPr id="10" name="Picture 11"/>
          <p:cNvPicPr>
            <a:picLocks noChangeAspect="1"/>
          </p:cNvPicPr>
          <p:nvPr userDrawn="1"/>
        </p:nvPicPr>
        <p:blipFill>
          <a:blip r:embed="rId9"/>
          <a:stretch>
            <a:fillRect/>
          </a:stretch>
        </p:blipFill>
        <p:spPr>
          <a:xfrm>
            <a:off x="7021333" y="289005"/>
            <a:ext cx="1603348" cy="291323"/>
          </a:xfrm>
          <a:prstGeom prst="rect">
            <a:avLst/>
          </a:prstGeom>
        </p:spPr>
      </p:pic>
    </p:spTree>
    <p:extLst>
      <p:ext uri="{BB962C8B-B14F-4D97-AF65-F5344CB8AC3E}">
        <p14:creationId xmlns:p14="http://schemas.microsoft.com/office/powerpoint/2010/main" val="715296771"/>
      </p:ext>
    </p:extLst>
  </p:cSld>
  <p:clrMap bg1="lt1" tx1="dk1" bg2="lt2" tx2="dk2" accent1="accent1" accent2="accent2" accent3="accent3" accent4="accent4" accent5="accent5" accent6="accent6" hlink="hlink" folHlink="folHlink"/>
  <p:sldLayoutIdLst>
    <p:sldLayoutId id="2147483678" r:id="rId1"/>
  </p:sldLayoutIdLst>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hf hdr="0" ftr="0" dt="0"/>
  <p:txStyles>
    <p:titleStyle>
      <a:lvl1pPr algn="ctr" defTabSz="686108" rtl="0" eaLnBrk="1" latinLnBrk="0" hangingPunct="1">
        <a:spcBef>
          <a:spcPct val="0"/>
        </a:spcBef>
        <a:buNone/>
        <a:defRPr sz="3303" kern="1200">
          <a:solidFill>
            <a:schemeClr val="tx1"/>
          </a:solidFill>
          <a:latin typeface="+mj-lt"/>
          <a:ea typeface="+mj-ea"/>
          <a:cs typeface="+mj-cs"/>
        </a:defRPr>
      </a:lvl1pPr>
    </p:titleStyle>
    <p:bodyStyle>
      <a:lvl1pPr marL="257291" indent="-257291" algn="l" defTabSz="686108" rtl="0" eaLnBrk="1" latinLnBrk="0" hangingPunct="1">
        <a:spcBef>
          <a:spcPct val="20000"/>
        </a:spcBef>
        <a:buFont typeface="Arial" pitchFamily="34" charset="0"/>
        <a:buChar char="•"/>
        <a:defRPr sz="2402" kern="1200">
          <a:solidFill>
            <a:schemeClr val="tx1"/>
          </a:solidFill>
          <a:latin typeface="+mn-lt"/>
          <a:ea typeface="+mn-ea"/>
          <a:cs typeface="+mn-cs"/>
        </a:defRPr>
      </a:lvl1pPr>
      <a:lvl2pPr marL="557462" indent="-214409" algn="l" defTabSz="686108" rtl="0" eaLnBrk="1" latinLnBrk="0" hangingPunct="1">
        <a:spcBef>
          <a:spcPct val="20000"/>
        </a:spcBef>
        <a:buFont typeface="Arial" pitchFamily="34" charset="0"/>
        <a:buChar char="–"/>
        <a:defRPr sz="2102" kern="1200">
          <a:solidFill>
            <a:schemeClr val="tx1"/>
          </a:solidFill>
          <a:latin typeface="+mn-lt"/>
          <a:ea typeface="+mn-ea"/>
          <a:cs typeface="+mn-cs"/>
        </a:defRPr>
      </a:lvl2pPr>
      <a:lvl3pPr marL="857634" indent="-171527" algn="l" defTabSz="686108" rtl="0" eaLnBrk="1" latinLnBrk="0" hangingPunct="1">
        <a:spcBef>
          <a:spcPct val="20000"/>
        </a:spcBef>
        <a:buFont typeface="Arial" pitchFamily="34" charset="0"/>
        <a:buChar char="•"/>
        <a:defRPr sz="1802" kern="1200">
          <a:solidFill>
            <a:schemeClr val="tx1"/>
          </a:solidFill>
          <a:latin typeface="+mn-lt"/>
          <a:ea typeface="+mn-ea"/>
          <a:cs typeface="+mn-cs"/>
        </a:defRPr>
      </a:lvl3pPr>
      <a:lvl4pPr marL="1200688" indent="-171527" algn="l" defTabSz="686108" rtl="0" eaLnBrk="1" latinLnBrk="0" hangingPunct="1">
        <a:spcBef>
          <a:spcPct val="20000"/>
        </a:spcBef>
        <a:buFont typeface="Arial" pitchFamily="34" charset="0"/>
        <a:buChar char="–"/>
        <a:defRPr sz="1501" kern="1200">
          <a:solidFill>
            <a:schemeClr val="tx1"/>
          </a:solidFill>
          <a:latin typeface="+mn-lt"/>
          <a:ea typeface="+mn-ea"/>
          <a:cs typeface="+mn-cs"/>
        </a:defRPr>
      </a:lvl4pPr>
      <a:lvl5pPr marL="1543743" indent="-171527" algn="l" defTabSz="686108" rtl="0" eaLnBrk="1" latinLnBrk="0" hangingPunct="1">
        <a:spcBef>
          <a:spcPct val="20000"/>
        </a:spcBef>
        <a:buFont typeface="Arial" pitchFamily="34" charset="0"/>
        <a:buChar char="»"/>
        <a:defRPr sz="1501" kern="1200">
          <a:solidFill>
            <a:schemeClr val="tx1"/>
          </a:solidFill>
          <a:latin typeface="+mn-lt"/>
          <a:ea typeface="+mn-ea"/>
          <a:cs typeface="+mn-cs"/>
        </a:defRPr>
      </a:lvl5pPr>
      <a:lvl6pPr marL="1886798" indent="-171527" algn="l" defTabSz="686108" rtl="0" eaLnBrk="1" latinLnBrk="0" hangingPunct="1">
        <a:spcBef>
          <a:spcPct val="20000"/>
        </a:spcBef>
        <a:buFont typeface="Arial" pitchFamily="34" charset="0"/>
        <a:buChar char="•"/>
        <a:defRPr sz="1501" kern="1200">
          <a:solidFill>
            <a:schemeClr val="tx1"/>
          </a:solidFill>
          <a:latin typeface="+mn-lt"/>
          <a:ea typeface="+mn-ea"/>
          <a:cs typeface="+mn-cs"/>
        </a:defRPr>
      </a:lvl6pPr>
      <a:lvl7pPr marL="2229850" indent="-171527" algn="l" defTabSz="686108" rtl="0" eaLnBrk="1" latinLnBrk="0" hangingPunct="1">
        <a:spcBef>
          <a:spcPct val="20000"/>
        </a:spcBef>
        <a:buFont typeface="Arial" pitchFamily="34" charset="0"/>
        <a:buChar char="•"/>
        <a:defRPr sz="1501" kern="1200">
          <a:solidFill>
            <a:schemeClr val="tx1"/>
          </a:solidFill>
          <a:latin typeface="+mn-lt"/>
          <a:ea typeface="+mn-ea"/>
          <a:cs typeface="+mn-cs"/>
        </a:defRPr>
      </a:lvl7pPr>
      <a:lvl8pPr marL="2572905" indent="-171527" algn="l" defTabSz="686108" rtl="0" eaLnBrk="1" latinLnBrk="0" hangingPunct="1">
        <a:spcBef>
          <a:spcPct val="20000"/>
        </a:spcBef>
        <a:buFont typeface="Arial" pitchFamily="34" charset="0"/>
        <a:buChar char="•"/>
        <a:defRPr sz="1501" kern="1200">
          <a:solidFill>
            <a:schemeClr val="tx1"/>
          </a:solidFill>
          <a:latin typeface="+mn-lt"/>
          <a:ea typeface="+mn-ea"/>
          <a:cs typeface="+mn-cs"/>
        </a:defRPr>
      </a:lvl8pPr>
      <a:lvl9pPr marL="2915959" indent="-171527" algn="l" defTabSz="686108" rtl="0" eaLnBrk="1" latinLnBrk="0" hangingPunct="1">
        <a:spcBef>
          <a:spcPct val="20000"/>
        </a:spcBef>
        <a:buFont typeface="Arial" pitchFamily="34" charset="0"/>
        <a:buChar char="•"/>
        <a:defRPr sz="1501" kern="1200">
          <a:solidFill>
            <a:schemeClr val="tx1"/>
          </a:solidFill>
          <a:latin typeface="+mn-lt"/>
          <a:ea typeface="+mn-ea"/>
          <a:cs typeface="+mn-cs"/>
        </a:defRPr>
      </a:lvl9pPr>
    </p:bodyStyle>
    <p:otherStyle>
      <a:defPPr>
        <a:defRPr lang="pt-BR"/>
      </a:defPPr>
      <a:lvl1pPr marL="0" algn="l" defTabSz="686108" rtl="0" eaLnBrk="1" latinLnBrk="0" hangingPunct="1">
        <a:defRPr sz="1351" kern="1200">
          <a:solidFill>
            <a:schemeClr val="tx1"/>
          </a:solidFill>
          <a:latin typeface="+mn-lt"/>
          <a:ea typeface="+mn-ea"/>
          <a:cs typeface="+mn-cs"/>
        </a:defRPr>
      </a:lvl1pPr>
      <a:lvl2pPr marL="343055" algn="l" defTabSz="686108" rtl="0" eaLnBrk="1" latinLnBrk="0" hangingPunct="1">
        <a:defRPr sz="1351" kern="1200">
          <a:solidFill>
            <a:schemeClr val="tx1"/>
          </a:solidFill>
          <a:latin typeface="+mn-lt"/>
          <a:ea typeface="+mn-ea"/>
          <a:cs typeface="+mn-cs"/>
        </a:defRPr>
      </a:lvl2pPr>
      <a:lvl3pPr marL="686108" algn="l" defTabSz="686108" rtl="0" eaLnBrk="1" latinLnBrk="0" hangingPunct="1">
        <a:defRPr sz="1351" kern="1200">
          <a:solidFill>
            <a:schemeClr val="tx1"/>
          </a:solidFill>
          <a:latin typeface="+mn-lt"/>
          <a:ea typeface="+mn-ea"/>
          <a:cs typeface="+mn-cs"/>
        </a:defRPr>
      </a:lvl3pPr>
      <a:lvl4pPr marL="1029162" algn="l" defTabSz="686108" rtl="0" eaLnBrk="1" latinLnBrk="0" hangingPunct="1">
        <a:defRPr sz="1351" kern="1200">
          <a:solidFill>
            <a:schemeClr val="tx1"/>
          </a:solidFill>
          <a:latin typeface="+mn-lt"/>
          <a:ea typeface="+mn-ea"/>
          <a:cs typeface="+mn-cs"/>
        </a:defRPr>
      </a:lvl4pPr>
      <a:lvl5pPr marL="1372216" algn="l" defTabSz="686108" rtl="0" eaLnBrk="1" latinLnBrk="0" hangingPunct="1">
        <a:defRPr sz="1351" kern="1200">
          <a:solidFill>
            <a:schemeClr val="tx1"/>
          </a:solidFill>
          <a:latin typeface="+mn-lt"/>
          <a:ea typeface="+mn-ea"/>
          <a:cs typeface="+mn-cs"/>
        </a:defRPr>
      </a:lvl5pPr>
      <a:lvl6pPr marL="1715271" algn="l" defTabSz="686108" rtl="0" eaLnBrk="1" latinLnBrk="0" hangingPunct="1">
        <a:defRPr sz="1351" kern="1200">
          <a:solidFill>
            <a:schemeClr val="tx1"/>
          </a:solidFill>
          <a:latin typeface="+mn-lt"/>
          <a:ea typeface="+mn-ea"/>
          <a:cs typeface="+mn-cs"/>
        </a:defRPr>
      </a:lvl6pPr>
      <a:lvl7pPr marL="2058324" algn="l" defTabSz="686108" rtl="0" eaLnBrk="1" latinLnBrk="0" hangingPunct="1">
        <a:defRPr sz="1351" kern="1200">
          <a:solidFill>
            <a:schemeClr val="tx1"/>
          </a:solidFill>
          <a:latin typeface="+mn-lt"/>
          <a:ea typeface="+mn-ea"/>
          <a:cs typeface="+mn-cs"/>
        </a:defRPr>
      </a:lvl7pPr>
      <a:lvl8pPr marL="2401377" algn="l" defTabSz="686108" rtl="0" eaLnBrk="1" latinLnBrk="0" hangingPunct="1">
        <a:defRPr sz="1351" kern="1200">
          <a:solidFill>
            <a:schemeClr val="tx1"/>
          </a:solidFill>
          <a:latin typeface="+mn-lt"/>
          <a:ea typeface="+mn-ea"/>
          <a:cs typeface="+mn-cs"/>
        </a:defRPr>
      </a:lvl8pPr>
      <a:lvl9pPr marL="2744432" algn="l" defTabSz="686108" rtl="0" eaLnBrk="1" latinLnBrk="0" hangingPunct="1">
        <a:defRPr sz="135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1.emf"/><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image" Target="../media/image4.png"/><Relationship Id="rId7"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chart" Target="../charts/chart2.xml"/><Relationship Id="rId4" Type="http://schemas.openxmlformats.org/officeDocument/2006/relationships/chart" Target="../charts/chart1.xml"/></Relationships>
</file>

<file path=ppt/slides/_rels/slide4.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image" Target="../media/image4.png"/><Relationship Id="rId7" Type="http://schemas.openxmlformats.org/officeDocument/2006/relationships/image" Target="../media/image1.emf"/><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chart" Target="../charts/chart3.xml"/></Relationships>
</file>

<file path=ppt/slides/_rels/slide5.xml.rels><?xml version="1.0" encoding="UTF-8" standalone="yes"?>
<Relationships xmlns="http://schemas.openxmlformats.org/package/2006/relationships"><Relationship Id="rId8" Type="http://schemas.openxmlformats.org/officeDocument/2006/relationships/chart" Target="../charts/chart4.xml"/><Relationship Id="rId3" Type="http://schemas.openxmlformats.org/officeDocument/2006/relationships/image" Target="../media/image4.png"/><Relationship Id="rId7" Type="http://schemas.openxmlformats.org/officeDocument/2006/relationships/image" Target="../media/image1.emf"/><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slide" Target="slide4.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chart" Target="../charts/chart5.xml"/><Relationship Id="rId3" Type="http://schemas.openxmlformats.org/officeDocument/2006/relationships/image" Target="../media/image4.png"/><Relationship Id="rId7" Type="http://schemas.openxmlformats.org/officeDocument/2006/relationships/image" Target="../media/image1.emf"/><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slide" Target="slide4.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8" Type="http://schemas.openxmlformats.org/officeDocument/2006/relationships/chart" Target="../charts/chart6.xml"/><Relationship Id="rId3" Type="http://schemas.openxmlformats.org/officeDocument/2006/relationships/image" Target="../media/image4.png"/><Relationship Id="rId7" Type="http://schemas.openxmlformats.org/officeDocument/2006/relationships/image" Target="../media/image1.emf"/><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slide" Target="slide4.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hyperlink" Target="#Previsao!A1"/></Relationships>
</file>

<file path=ppt/slides/_rels/slide9.xml.rels><?xml version="1.0" encoding="UTF-8" standalone="yes"?>
<Relationships xmlns="http://schemas.openxmlformats.org/package/2006/relationships"><Relationship Id="rId3" Type="http://schemas.openxmlformats.org/officeDocument/2006/relationships/chart" Target="../charts/chart7.xml"/><Relationship Id="rId7" Type="http://schemas.openxmlformats.org/officeDocument/2006/relationships/chart" Target="../charts/chart8.xml"/><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1.emf"/><Relationship Id="rId5" Type="http://schemas.openxmlformats.org/officeDocument/2006/relationships/image" Target="../media/image10.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8" Type="http://schemas.openxmlformats.org/officeDocument/2006/relationships/chart" Target="../charts/chart11.xml"/><Relationship Id="rId3" Type="http://schemas.openxmlformats.org/officeDocument/2006/relationships/image" Target="../media/image4.png"/><Relationship Id="rId7" Type="http://schemas.openxmlformats.org/officeDocument/2006/relationships/chart" Target="../charts/chart10.xml"/><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chart" Target="../charts/chart9.xml"/><Relationship Id="rId5" Type="http://schemas.openxmlformats.org/officeDocument/2006/relationships/image" Target="../media/image1.emf"/><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8" Type="http://schemas.openxmlformats.org/officeDocument/2006/relationships/image" Target="../media/image13.emf"/><Relationship Id="rId3" Type="http://schemas.openxmlformats.org/officeDocument/2006/relationships/image" Target="../media/image4.png"/><Relationship Id="rId7" Type="http://schemas.openxmlformats.org/officeDocument/2006/relationships/image" Target="../media/image12.emf"/><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chart" Target="../charts/chart12.xml"/><Relationship Id="rId5" Type="http://schemas.openxmlformats.org/officeDocument/2006/relationships/image" Target="../media/image1.emf"/><Relationship Id="rId10" Type="http://schemas.openxmlformats.org/officeDocument/2006/relationships/slide" Target="slide25.xml"/><Relationship Id="rId4" Type="http://schemas.openxmlformats.org/officeDocument/2006/relationships/image" Target="../media/image10.png"/><Relationship Id="rId9" Type="http://schemas.openxmlformats.org/officeDocument/2006/relationships/image" Target="../media/image14.emf"/></Relationships>
</file>

<file path=ppt/slides/_rels/slide12.xml.rels><?xml version="1.0" encoding="UTF-8" standalone="yes"?>
<Relationships xmlns="http://schemas.openxmlformats.org/package/2006/relationships"><Relationship Id="rId8" Type="http://schemas.openxmlformats.org/officeDocument/2006/relationships/image" Target="../media/image17.emf"/><Relationship Id="rId3" Type="http://schemas.openxmlformats.org/officeDocument/2006/relationships/image" Target="../media/image4.png"/><Relationship Id="rId7" Type="http://schemas.openxmlformats.org/officeDocument/2006/relationships/image" Target="../media/image16.emf"/><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15.emf"/><Relationship Id="rId11" Type="http://schemas.openxmlformats.org/officeDocument/2006/relationships/slide" Target="slide26.xml"/><Relationship Id="rId5" Type="http://schemas.openxmlformats.org/officeDocument/2006/relationships/image" Target="../media/image1.emf"/><Relationship Id="rId10" Type="http://schemas.openxmlformats.org/officeDocument/2006/relationships/image" Target="../media/image19.emf"/><Relationship Id="rId4" Type="http://schemas.openxmlformats.org/officeDocument/2006/relationships/image" Target="../media/image10.png"/><Relationship Id="rId9" Type="http://schemas.openxmlformats.org/officeDocument/2006/relationships/image" Target="../media/image18.emf"/></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image" Target="../media/image5.jpg"/><Relationship Id="rId4" Type="http://schemas.openxmlformats.org/officeDocument/2006/relationships/image" Target="../media/image1.emf"/></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20.png"/><Relationship Id="rId5" Type="http://schemas.openxmlformats.org/officeDocument/2006/relationships/image" Target="../media/image5.jpg"/><Relationship Id="rId4" Type="http://schemas.openxmlformats.org/officeDocument/2006/relationships/image" Target="../media/image1.emf"/></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21.png"/><Relationship Id="rId5" Type="http://schemas.openxmlformats.org/officeDocument/2006/relationships/image" Target="../media/image5.jpg"/><Relationship Id="rId4" Type="http://schemas.openxmlformats.org/officeDocument/2006/relationships/image" Target="../media/image1.emf"/></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4.xml"/><Relationship Id="rId5" Type="http://schemas.openxmlformats.org/officeDocument/2006/relationships/image" Target="../media/image5.jpg"/><Relationship Id="rId4" Type="http://schemas.openxmlformats.org/officeDocument/2006/relationships/image" Target="../media/image1.emf"/></Relationships>
</file>

<file path=ppt/slides/_rels/slide17.xml.rels><?xml version="1.0" encoding="UTF-8" standalone="yes"?>
<Relationships xmlns="http://schemas.openxmlformats.org/package/2006/relationships"><Relationship Id="rId8" Type="http://schemas.openxmlformats.org/officeDocument/2006/relationships/image" Target="../media/image23.emf"/><Relationship Id="rId3" Type="http://schemas.openxmlformats.org/officeDocument/2006/relationships/image" Target="../media/image4.png"/><Relationship Id="rId7" Type="http://schemas.openxmlformats.org/officeDocument/2006/relationships/slide" Target="slide24.xml"/><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image" Target="../media/image22.png"/><Relationship Id="rId5" Type="http://schemas.openxmlformats.org/officeDocument/2006/relationships/image" Target="../media/image5.jpg"/><Relationship Id="rId4" Type="http://schemas.openxmlformats.org/officeDocument/2006/relationships/image" Target="../media/image1.emf"/></Relationships>
</file>

<file path=ppt/slides/_rels/slide18.xml.rels><?xml version="1.0" encoding="UTF-8" standalone="yes"?>
<Relationships xmlns="http://schemas.openxmlformats.org/package/2006/relationships"><Relationship Id="rId3" Type="http://schemas.openxmlformats.org/officeDocument/2006/relationships/slide" Target="slide27.xml"/><Relationship Id="rId7"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5.jpg"/><Relationship Id="rId5" Type="http://schemas.openxmlformats.org/officeDocument/2006/relationships/image" Target="../media/image1.emf"/><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4.xml"/><Relationship Id="rId5" Type="http://schemas.openxmlformats.org/officeDocument/2006/relationships/image" Target="../media/image1.emf"/><Relationship Id="rId4" Type="http://schemas.openxmlformats.org/officeDocument/2006/relationships/image" Target="../media/image5.jp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4.xml"/><Relationship Id="rId5" Type="http://schemas.openxmlformats.org/officeDocument/2006/relationships/image" Target="../media/image5.jpg"/><Relationship Id="rId4" Type="http://schemas.openxmlformats.org/officeDocument/2006/relationships/image" Target="../media/image1.emf"/></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4.xml"/><Relationship Id="rId5" Type="http://schemas.openxmlformats.org/officeDocument/2006/relationships/image" Target="../media/image5.jpg"/><Relationship Id="rId4" Type="http://schemas.openxmlformats.org/officeDocument/2006/relationships/image" Target="../media/image1.emf"/></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4.xml"/><Relationship Id="rId5" Type="http://schemas.openxmlformats.org/officeDocument/2006/relationships/image" Target="../media/image5.jpg"/><Relationship Id="rId4" Type="http://schemas.openxmlformats.org/officeDocument/2006/relationships/image" Target="../media/image1.emf"/></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emf"/><Relationship Id="rId1" Type="http://schemas.openxmlformats.org/officeDocument/2006/relationships/slideLayout" Target="../slideLayouts/slideLayout4.xml"/><Relationship Id="rId5" Type="http://schemas.openxmlformats.org/officeDocument/2006/relationships/image" Target="../media/image25.jpg"/><Relationship Id="rId4" Type="http://schemas.openxmlformats.org/officeDocument/2006/relationships/image" Target="../media/image5.jpg"/></Relationships>
</file>

<file path=ppt/slides/_rels/slide24.xml.rels><?xml version="1.0" encoding="UTF-8" standalone="yes"?>
<Relationships xmlns="http://schemas.openxmlformats.org/package/2006/relationships"><Relationship Id="rId8" Type="http://schemas.openxmlformats.org/officeDocument/2006/relationships/image" Target="../media/image27.emf"/><Relationship Id="rId3" Type="http://schemas.openxmlformats.org/officeDocument/2006/relationships/image" Target="../media/image4.png"/><Relationship Id="rId7" Type="http://schemas.openxmlformats.org/officeDocument/2006/relationships/image" Target="../media/image26.emf"/><Relationship Id="rId2" Type="http://schemas.openxmlformats.org/officeDocument/2006/relationships/notesSlide" Target="../notesSlides/notesSlide22.xml"/><Relationship Id="rId1" Type="http://schemas.openxmlformats.org/officeDocument/2006/relationships/slideLayout" Target="../slideLayouts/slideLayout4.xml"/><Relationship Id="rId6" Type="http://schemas.openxmlformats.org/officeDocument/2006/relationships/slide" Target="slide17.xml"/><Relationship Id="rId5" Type="http://schemas.openxmlformats.org/officeDocument/2006/relationships/image" Target="../media/image1.emf"/><Relationship Id="rId4" Type="http://schemas.openxmlformats.org/officeDocument/2006/relationships/image" Target="../media/image10.png"/><Relationship Id="rId9" Type="http://schemas.openxmlformats.org/officeDocument/2006/relationships/image" Target="../media/image28.emf"/></Relationships>
</file>

<file path=ppt/slides/_rels/slide25.xml.rels><?xml version="1.0" encoding="UTF-8" standalone="yes"?>
<Relationships xmlns="http://schemas.openxmlformats.org/package/2006/relationships"><Relationship Id="rId8" Type="http://schemas.openxmlformats.org/officeDocument/2006/relationships/image" Target="../media/image30.emf"/><Relationship Id="rId3" Type="http://schemas.openxmlformats.org/officeDocument/2006/relationships/image" Target="../media/image4.png"/><Relationship Id="rId7" Type="http://schemas.openxmlformats.org/officeDocument/2006/relationships/image" Target="../media/image29.emf"/><Relationship Id="rId2" Type="http://schemas.openxmlformats.org/officeDocument/2006/relationships/notesSlide" Target="../notesSlides/notesSlide23.xml"/><Relationship Id="rId1" Type="http://schemas.openxmlformats.org/officeDocument/2006/relationships/slideLayout" Target="../slideLayouts/slideLayout4.xml"/><Relationship Id="rId6" Type="http://schemas.openxmlformats.org/officeDocument/2006/relationships/chart" Target="../charts/chart13.xml"/><Relationship Id="rId11" Type="http://schemas.openxmlformats.org/officeDocument/2006/relationships/image" Target="../media/image32.png"/><Relationship Id="rId5" Type="http://schemas.openxmlformats.org/officeDocument/2006/relationships/image" Target="../media/image1.emf"/><Relationship Id="rId10" Type="http://schemas.openxmlformats.org/officeDocument/2006/relationships/slide" Target="slide11.xml"/><Relationship Id="rId4" Type="http://schemas.openxmlformats.org/officeDocument/2006/relationships/image" Target="../media/image10.png"/><Relationship Id="rId9" Type="http://schemas.openxmlformats.org/officeDocument/2006/relationships/image" Target="../media/image31.emf"/></Relationships>
</file>

<file path=ppt/slides/_rels/slide26.xml.rels><?xml version="1.0" encoding="UTF-8" standalone="yes"?>
<Relationships xmlns="http://schemas.openxmlformats.org/package/2006/relationships"><Relationship Id="rId8" Type="http://schemas.openxmlformats.org/officeDocument/2006/relationships/image" Target="../media/image34.emf"/><Relationship Id="rId3" Type="http://schemas.openxmlformats.org/officeDocument/2006/relationships/image" Target="../media/image4.png"/><Relationship Id="rId7" Type="http://schemas.openxmlformats.org/officeDocument/2006/relationships/image" Target="../media/image33.emf"/><Relationship Id="rId12" Type="http://schemas.openxmlformats.org/officeDocument/2006/relationships/image" Target="../media/image32.png"/><Relationship Id="rId2" Type="http://schemas.openxmlformats.org/officeDocument/2006/relationships/notesSlide" Target="../notesSlides/notesSlide24.xml"/><Relationship Id="rId1" Type="http://schemas.openxmlformats.org/officeDocument/2006/relationships/slideLayout" Target="../slideLayouts/slideLayout4.xml"/><Relationship Id="rId6" Type="http://schemas.openxmlformats.org/officeDocument/2006/relationships/image" Target="../media/image15.emf"/><Relationship Id="rId11" Type="http://schemas.openxmlformats.org/officeDocument/2006/relationships/slide" Target="slide12.xml"/><Relationship Id="rId5" Type="http://schemas.openxmlformats.org/officeDocument/2006/relationships/image" Target="../media/image1.emf"/><Relationship Id="rId10" Type="http://schemas.openxmlformats.org/officeDocument/2006/relationships/image" Target="../media/image36.emf"/><Relationship Id="rId4" Type="http://schemas.openxmlformats.org/officeDocument/2006/relationships/image" Target="../media/image10.png"/><Relationship Id="rId9" Type="http://schemas.openxmlformats.org/officeDocument/2006/relationships/image" Target="../media/image35.emf"/></Relationships>
</file>

<file path=ppt/slides/_rels/slide2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slide" Target="slide18.xml"/><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0" y="3502222"/>
            <a:ext cx="9144000" cy="873740"/>
          </a:xfrm>
          <a:prstGeom prst="rect">
            <a:avLst/>
          </a:prstGeom>
        </p:spPr>
        <p:txBody>
          <a:bodyPr vert="horz" lIns="91431" tIns="45715" rIns="91431" bIns="45715"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2400" b="1" dirty="0" err="1" smtClean="0">
                <a:solidFill>
                  <a:srgbClr val="254061"/>
                </a:solidFill>
                <a:latin typeface="Arial"/>
                <a:cs typeface="Arial"/>
              </a:rPr>
              <a:t>Estabilidade</a:t>
            </a:r>
            <a:r>
              <a:rPr lang="en-US" sz="2400" b="1" dirty="0" smtClean="0">
                <a:solidFill>
                  <a:srgbClr val="254061"/>
                </a:solidFill>
                <a:latin typeface="Arial"/>
                <a:cs typeface="Arial"/>
              </a:rPr>
              <a:t> </a:t>
            </a:r>
            <a:r>
              <a:rPr lang="en-US" sz="2400" b="1" dirty="0" err="1" smtClean="0">
                <a:solidFill>
                  <a:srgbClr val="254061"/>
                </a:solidFill>
                <a:latin typeface="Arial"/>
                <a:cs typeface="Arial"/>
              </a:rPr>
              <a:t>Operacional</a:t>
            </a:r>
            <a:endParaRPr lang="en-US" sz="2400" b="1" dirty="0" smtClean="0">
              <a:solidFill>
                <a:srgbClr val="254061"/>
              </a:solidFill>
              <a:latin typeface="Arial"/>
              <a:cs typeface="Arial"/>
            </a:endParaRPr>
          </a:p>
          <a:p>
            <a:pPr>
              <a:spcBef>
                <a:spcPts val="1200"/>
              </a:spcBef>
            </a:pPr>
            <a:r>
              <a:rPr lang="en-US" sz="2000" dirty="0" smtClean="0">
                <a:solidFill>
                  <a:srgbClr val="254061"/>
                </a:solidFill>
                <a:latin typeface="Arial"/>
                <a:cs typeface="Arial"/>
              </a:rPr>
              <a:t>28 Abril de 2016</a:t>
            </a:r>
          </a:p>
        </p:txBody>
      </p:sp>
    </p:spTree>
    <p:extLst>
      <p:ext uri="{BB962C8B-B14F-4D97-AF65-F5344CB8AC3E}">
        <p14:creationId xmlns:p14="http://schemas.microsoft.com/office/powerpoint/2010/main" val="2857642486"/>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 name="interna_img-3.png"/>
          <p:cNvPicPr/>
          <p:nvPr/>
        </p:nvPicPr>
        <p:blipFill>
          <a:blip r:embed="rId3">
            <a:extLst>
              <a:ext uri="{28A0092B-C50C-407E-A947-70E740481C1C}">
                <a14:useLocalDpi xmlns:a14="http://schemas.microsoft.com/office/drawing/2010/main" val="0"/>
              </a:ext>
            </a:extLst>
          </a:blip>
          <a:stretch>
            <a:fillRect/>
          </a:stretch>
        </p:blipFill>
        <p:spPr>
          <a:xfrm>
            <a:off x="0" y="0"/>
            <a:ext cx="9141292" cy="5148264"/>
          </a:xfrm>
          <a:prstGeom prst="rect">
            <a:avLst/>
          </a:prstGeom>
          <a:ln w="12700">
            <a:miter lim="400000"/>
          </a:ln>
        </p:spPr>
      </p:pic>
      <p:sp>
        <p:nvSpPr>
          <p:cNvPr id="114" name="Shape 114"/>
          <p:cNvSpPr/>
          <p:nvPr/>
        </p:nvSpPr>
        <p:spPr>
          <a:xfrm>
            <a:off x="2669861" y="503053"/>
            <a:ext cx="1409769" cy="858840"/>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ctr">
            <a:normAutofit/>
          </a:bodyPr>
          <a:lstStyle>
            <a:lvl1pPr>
              <a:defRPr sz="3000" b="1">
                <a:solidFill>
                  <a:srgbClr val="1F497D"/>
                </a:solidFill>
                <a:latin typeface="Arial"/>
                <a:ea typeface="Arial"/>
                <a:cs typeface="Arial"/>
                <a:sym typeface="Arial"/>
              </a:defRPr>
            </a:lvl1pPr>
          </a:lstStyle>
          <a:p>
            <a:pPr lvl="0">
              <a:defRPr sz="1800" b="0">
                <a:solidFill>
                  <a:srgbClr val="000000"/>
                </a:solidFill>
              </a:defRPr>
            </a:pPr>
            <a:r>
              <a:rPr lang="pt-BR" sz="3000" b="1" dirty="0" smtClean="0">
                <a:solidFill>
                  <a:srgbClr val="1F497D"/>
                </a:solidFill>
              </a:rPr>
              <a:t>Índice</a:t>
            </a:r>
            <a:endParaRPr sz="3000" b="1" dirty="0">
              <a:solidFill>
                <a:srgbClr val="1F497D"/>
              </a:solidFill>
            </a:endParaRPr>
          </a:p>
        </p:txBody>
      </p:sp>
      <p:pic>
        <p:nvPicPr>
          <p:cNvPr id="116" name="image5.png"/>
          <p:cNvPicPr/>
          <p:nvPr/>
        </p:nvPicPr>
        <p:blipFill>
          <a:blip r:embed="rId4">
            <a:extLst>
              <a:ext uri="{28A0092B-C50C-407E-A947-70E740481C1C}">
                <a14:useLocalDpi xmlns:a14="http://schemas.microsoft.com/office/drawing/2010/main" val="0"/>
              </a:ext>
            </a:extLst>
          </a:blip>
          <a:stretch>
            <a:fillRect/>
          </a:stretch>
        </p:blipFill>
        <p:spPr>
          <a:xfrm>
            <a:off x="8534860" y="4531179"/>
            <a:ext cx="1248721" cy="614581"/>
          </a:xfrm>
          <a:prstGeom prst="rect">
            <a:avLst/>
          </a:prstGeom>
          <a:ln w="12700">
            <a:miter lim="400000"/>
          </a:ln>
        </p:spPr>
      </p:pic>
      <p:pic>
        <p:nvPicPr>
          <p:cNvPr id="8" name="Picture 7"/>
          <p:cNvPicPr>
            <a:picLocks noChangeAspect="1"/>
          </p:cNvPicPr>
          <p:nvPr/>
        </p:nvPicPr>
        <p:blipFill>
          <a:blip r:embed="rId5"/>
          <a:stretch>
            <a:fillRect/>
          </a:stretch>
        </p:blipFill>
        <p:spPr>
          <a:xfrm>
            <a:off x="7331777" y="257994"/>
            <a:ext cx="1473556" cy="356656"/>
          </a:xfrm>
          <a:prstGeom prst="rect">
            <a:avLst/>
          </a:prstGeom>
        </p:spPr>
      </p:pic>
      <p:sp>
        <p:nvSpPr>
          <p:cNvPr id="7" name="Title 1"/>
          <p:cNvSpPr txBox="1">
            <a:spLocks/>
          </p:cNvSpPr>
          <p:nvPr/>
        </p:nvSpPr>
        <p:spPr>
          <a:xfrm>
            <a:off x="2625970" y="1276051"/>
            <a:ext cx="6515322" cy="3178628"/>
          </a:xfrm>
          <a:prstGeom prst="rect">
            <a:avLst/>
          </a:prstGeom>
        </p:spPr>
        <p:txBody>
          <a:bodyPr vert="horz" lIns="91440" tIns="45720" rIns="91440" bIns="45720" rtlCol="0" anchor="t">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buClr>
                <a:srgbClr val="800000"/>
              </a:buClr>
            </a:pPr>
            <a:r>
              <a:rPr lang="pt-BR" sz="1400" b="1" dirty="0" smtClean="0">
                <a:solidFill>
                  <a:schemeClr val="tx2"/>
                </a:solidFill>
                <a:latin typeface="Arial" pitchFamily="34" charset="0"/>
                <a:cs typeface="Arial" pitchFamily="34" charset="0"/>
              </a:rPr>
              <a:t>1. Indicadores – Incidentes de Alto Impacto </a:t>
            </a:r>
          </a:p>
          <a:p>
            <a:pPr algn="l">
              <a:buClr>
                <a:srgbClr val="800000"/>
              </a:buClr>
            </a:pPr>
            <a:r>
              <a:rPr lang="pt-BR" sz="1400" b="1" dirty="0" smtClean="0">
                <a:solidFill>
                  <a:schemeClr val="tx2"/>
                </a:solidFill>
                <a:latin typeface="Arial" pitchFamily="34" charset="0"/>
                <a:cs typeface="Arial" pitchFamily="34" charset="0"/>
              </a:rPr>
              <a:t>2. Indicadores – Total de Incidentes</a:t>
            </a:r>
          </a:p>
          <a:p>
            <a:pPr algn="l">
              <a:buClr>
                <a:srgbClr val="800000"/>
              </a:buClr>
            </a:pPr>
            <a:r>
              <a:rPr lang="pt-BR" sz="1400" b="1" dirty="0" smtClean="0">
                <a:solidFill>
                  <a:schemeClr val="tx2"/>
                </a:solidFill>
                <a:latin typeface="Arial" pitchFamily="34" charset="0"/>
                <a:cs typeface="Arial" pitchFamily="34" charset="0"/>
              </a:rPr>
              <a:t>3. Gestão </a:t>
            </a:r>
            <a:r>
              <a:rPr lang="pt-BR" sz="1400" b="1" dirty="0">
                <a:solidFill>
                  <a:schemeClr val="tx2"/>
                </a:solidFill>
                <a:latin typeface="Arial" pitchFamily="34" charset="0"/>
                <a:cs typeface="Arial" pitchFamily="34" charset="0"/>
              </a:rPr>
              <a:t>de </a:t>
            </a:r>
            <a:r>
              <a:rPr lang="pt-BR" sz="1400" b="1" dirty="0" smtClean="0">
                <a:solidFill>
                  <a:schemeClr val="tx2"/>
                </a:solidFill>
                <a:latin typeface="Arial" pitchFamily="34" charset="0"/>
                <a:cs typeface="Arial" pitchFamily="34" charset="0"/>
              </a:rPr>
              <a:t>problemas – </a:t>
            </a:r>
            <a:r>
              <a:rPr lang="pt-BR" sz="1400" b="1" dirty="0" err="1">
                <a:solidFill>
                  <a:schemeClr val="tx2"/>
                </a:solidFill>
                <a:latin typeface="Arial" pitchFamily="34" charset="0"/>
                <a:cs typeface="Arial" pitchFamily="34" charset="0"/>
              </a:rPr>
              <a:t>Dashboard</a:t>
            </a:r>
            <a:r>
              <a:rPr lang="pt-BR" sz="1400" b="1" dirty="0">
                <a:solidFill>
                  <a:schemeClr val="tx2"/>
                </a:solidFill>
                <a:latin typeface="Arial" pitchFamily="34" charset="0"/>
                <a:cs typeface="Arial" pitchFamily="34" charset="0"/>
              </a:rPr>
              <a:t> e Indicadores</a:t>
            </a:r>
          </a:p>
          <a:p>
            <a:pPr algn="l">
              <a:buClr>
                <a:srgbClr val="800000"/>
              </a:buClr>
            </a:pPr>
            <a:r>
              <a:rPr lang="pt-BR" sz="1400" b="1" dirty="0">
                <a:solidFill>
                  <a:schemeClr val="tx2"/>
                </a:solidFill>
                <a:latin typeface="Arial" pitchFamily="34" charset="0"/>
                <a:cs typeface="Arial" pitchFamily="34" charset="0"/>
              </a:rPr>
              <a:t>4</a:t>
            </a:r>
            <a:r>
              <a:rPr lang="pt-BR" sz="1400" b="1" dirty="0" smtClean="0">
                <a:solidFill>
                  <a:schemeClr val="tx2"/>
                </a:solidFill>
                <a:latin typeface="Arial" pitchFamily="34" charset="0"/>
                <a:cs typeface="Arial" pitchFamily="34" charset="0"/>
              </a:rPr>
              <a:t>. </a:t>
            </a:r>
            <a:r>
              <a:rPr lang="pt-BR" sz="1400" b="1" dirty="0">
                <a:solidFill>
                  <a:schemeClr val="tx2"/>
                </a:solidFill>
                <a:latin typeface="Arial" pitchFamily="34" charset="0"/>
                <a:cs typeface="Arial" pitchFamily="34" charset="0"/>
              </a:rPr>
              <a:t>Tempo médio entre falhas</a:t>
            </a:r>
          </a:p>
          <a:p>
            <a:pPr algn="l">
              <a:buClr>
                <a:srgbClr val="800000"/>
              </a:buClr>
            </a:pPr>
            <a:r>
              <a:rPr lang="pt-BR" sz="1400" b="1" dirty="0" smtClean="0">
                <a:solidFill>
                  <a:schemeClr val="tx2"/>
                </a:solidFill>
                <a:latin typeface="Arial" pitchFamily="34" charset="0"/>
                <a:cs typeface="Arial" pitchFamily="34" charset="0"/>
              </a:rPr>
              <a:t>5. </a:t>
            </a:r>
            <a:r>
              <a:rPr lang="pt-BR" sz="1400" b="1" dirty="0">
                <a:solidFill>
                  <a:schemeClr val="tx2"/>
                </a:solidFill>
                <a:latin typeface="Arial" pitchFamily="34" charset="0"/>
                <a:cs typeface="Arial" pitchFamily="34" charset="0"/>
              </a:rPr>
              <a:t>Incidentes </a:t>
            </a:r>
            <a:r>
              <a:rPr lang="pt-BR" sz="1400" b="1" dirty="0" smtClean="0">
                <a:solidFill>
                  <a:schemeClr val="tx2"/>
                </a:solidFill>
                <a:latin typeface="Arial" pitchFamily="34" charset="0"/>
                <a:cs typeface="Arial" pitchFamily="34" charset="0"/>
              </a:rPr>
              <a:t>resolvidos de </a:t>
            </a:r>
            <a:r>
              <a:rPr lang="pt-BR" sz="1400" b="1" dirty="0">
                <a:solidFill>
                  <a:schemeClr val="tx2"/>
                </a:solidFill>
                <a:latin typeface="Arial" pitchFamily="34" charset="0"/>
                <a:cs typeface="Arial" pitchFamily="34" charset="0"/>
              </a:rPr>
              <a:t>Alto </a:t>
            </a:r>
            <a:r>
              <a:rPr lang="pt-BR" sz="1400" b="1" dirty="0" smtClean="0">
                <a:solidFill>
                  <a:schemeClr val="tx2"/>
                </a:solidFill>
                <a:latin typeface="Arial" pitchFamily="34" charset="0"/>
                <a:cs typeface="Arial" pitchFamily="34" charset="0"/>
              </a:rPr>
              <a:t>Impacto</a:t>
            </a:r>
          </a:p>
          <a:p>
            <a:pPr algn="l"/>
            <a:r>
              <a:rPr lang="pt-BR" sz="1400" b="1" dirty="0">
                <a:solidFill>
                  <a:schemeClr val="tx2"/>
                </a:solidFill>
                <a:latin typeface="Arial" pitchFamily="34" charset="0"/>
                <a:cs typeface="Arial" pitchFamily="34" charset="0"/>
              </a:rPr>
              <a:t>6</a:t>
            </a:r>
            <a:r>
              <a:rPr lang="pt-BR" sz="1400" b="1" dirty="0" smtClean="0">
                <a:solidFill>
                  <a:schemeClr val="tx2"/>
                </a:solidFill>
                <a:latin typeface="Arial" pitchFamily="34" charset="0"/>
                <a:cs typeface="Arial" pitchFamily="34" charset="0"/>
              </a:rPr>
              <a:t>. </a:t>
            </a:r>
            <a:r>
              <a:rPr lang="pt-BR" sz="1400" b="1" dirty="0">
                <a:solidFill>
                  <a:schemeClr val="tx2"/>
                </a:solidFill>
                <a:latin typeface="Arial" pitchFamily="34" charset="0"/>
                <a:cs typeface="Arial" pitchFamily="34" charset="0"/>
              </a:rPr>
              <a:t>Projetos Estruturantes e Especiais</a:t>
            </a:r>
            <a:endParaRPr lang="pt-BR" sz="1400" b="1" dirty="0" smtClean="0">
              <a:solidFill>
                <a:schemeClr val="tx2"/>
              </a:solidFill>
              <a:latin typeface="Arial" pitchFamily="34" charset="0"/>
              <a:cs typeface="Arial" pitchFamily="34" charset="0"/>
            </a:endParaRPr>
          </a:p>
          <a:p>
            <a:pPr algn="l"/>
            <a:r>
              <a:rPr lang="pt-BR" sz="1400" b="1" dirty="0">
                <a:solidFill>
                  <a:schemeClr val="tx2"/>
                </a:solidFill>
                <a:latin typeface="Arial" pitchFamily="34" charset="0"/>
                <a:cs typeface="Arial" pitchFamily="34" charset="0"/>
              </a:rPr>
              <a:t>7</a:t>
            </a:r>
            <a:r>
              <a:rPr lang="pt-BR" sz="1400" b="1" dirty="0" smtClean="0">
                <a:solidFill>
                  <a:schemeClr val="tx2"/>
                </a:solidFill>
                <a:latin typeface="Arial" pitchFamily="34" charset="0"/>
                <a:cs typeface="Arial" pitchFamily="34" charset="0"/>
              </a:rPr>
              <a:t>. </a:t>
            </a:r>
            <a:r>
              <a:rPr lang="pt-BR" sz="1400" b="1" dirty="0">
                <a:solidFill>
                  <a:schemeClr val="tx2"/>
                </a:solidFill>
                <a:latin typeface="Arial" pitchFamily="34" charset="0"/>
                <a:cs typeface="Arial" pitchFamily="34" charset="0"/>
              </a:rPr>
              <a:t>Alinhamento</a:t>
            </a:r>
          </a:p>
          <a:p>
            <a:pPr algn="l"/>
            <a:r>
              <a:rPr lang="pt-BR" sz="1400" b="1" dirty="0" smtClean="0">
                <a:solidFill>
                  <a:schemeClr val="tx2"/>
                </a:solidFill>
                <a:latin typeface="Arial" pitchFamily="34" charset="0"/>
                <a:cs typeface="Arial" pitchFamily="34" charset="0"/>
              </a:rPr>
              <a:t> </a:t>
            </a:r>
          </a:p>
        </p:txBody>
      </p:sp>
    </p:spTree>
    <p:extLst>
      <p:ext uri="{BB962C8B-B14F-4D97-AF65-F5344CB8AC3E}">
        <p14:creationId xmlns:p14="http://schemas.microsoft.com/office/powerpoint/2010/main" val="3268750377"/>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aixaDeTexto 5"/>
          <p:cNvSpPr txBox="1"/>
          <p:nvPr/>
        </p:nvSpPr>
        <p:spPr>
          <a:xfrm>
            <a:off x="2039091" y="300128"/>
            <a:ext cx="184731" cy="369332"/>
          </a:xfrm>
          <a:prstGeom prst="rect">
            <a:avLst/>
          </a:prstGeom>
          <a:noFill/>
          <a:scene3d>
            <a:camera prst="orthographicFront"/>
            <a:lightRig rig="threePt" dir="t"/>
          </a:scene3d>
          <a:sp3d>
            <a:bevelT w="114300" prst="artDeco"/>
            <a:bevelB/>
          </a:sp3d>
        </p:spPr>
        <p:txBody>
          <a:bodyPr wrap="none" rtlCol="0">
            <a:spAutoFit/>
          </a:bodyPr>
          <a:lstStyle/>
          <a:p>
            <a:endParaRPr lang="pt-BR" dirty="0"/>
          </a:p>
        </p:txBody>
      </p:sp>
      <p:sp>
        <p:nvSpPr>
          <p:cNvPr id="20" name="Title 1"/>
          <p:cNvSpPr txBox="1">
            <a:spLocks/>
          </p:cNvSpPr>
          <p:nvPr/>
        </p:nvSpPr>
        <p:spPr>
          <a:xfrm>
            <a:off x="734184" y="153259"/>
            <a:ext cx="6254098" cy="560400"/>
          </a:xfrm>
          <a:prstGeom prst="rect">
            <a:avLst/>
          </a:prstGeom>
          <a:scene3d>
            <a:camera prst="orthographicFront"/>
            <a:lightRig rig="threePt" dir="t"/>
          </a:scene3d>
          <a:sp3d>
            <a:bevelT w="114300" prst="artDeco"/>
            <a:bevelB/>
          </a:sp3d>
        </p:spPr>
        <p:txBody>
          <a:bodyPr vert="horz" lIns="91440" tIns="45720" rIns="91440" bIns="45720" rtlCol="0" anchor="ctr">
            <a:normAutofit fontScale="85000" lnSpcReduction="1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marL="514350" indent="-514350" algn="l">
              <a:buClr>
                <a:srgbClr val="800000"/>
              </a:buClr>
              <a:buAutoNum type="arabicPeriod"/>
            </a:pPr>
            <a:r>
              <a:rPr lang="pt-BR" sz="2800" b="1" dirty="0">
                <a:solidFill>
                  <a:schemeClr val="tx2"/>
                </a:solidFill>
                <a:latin typeface="Arial" pitchFamily="34" charset="0"/>
                <a:cs typeface="Arial" pitchFamily="34" charset="0"/>
              </a:rPr>
              <a:t>Indicadores: Incidentes Alto Impacto</a:t>
            </a:r>
          </a:p>
          <a:p>
            <a:pPr marL="342900" indent="-342900" algn="l">
              <a:buClr>
                <a:srgbClr val="800000"/>
              </a:buClr>
              <a:buAutoNum type="arabicPeriod"/>
            </a:pPr>
            <a:endParaRPr lang="pt-BR" sz="1800" b="1" dirty="0">
              <a:solidFill>
                <a:schemeClr val="tx2"/>
              </a:solidFill>
              <a:latin typeface="Arial" pitchFamily="34" charset="0"/>
              <a:cs typeface="Arial" pitchFamily="34" charset="0"/>
            </a:endParaRPr>
          </a:p>
        </p:txBody>
      </p:sp>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76780" t="78172" r="18395" b="12686"/>
          <a:stretch/>
        </p:blipFill>
        <p:spPr bwMode="auto">
          <a:xfrm>
            <a:off x="8188658" y="4384319"/>
            <a:ext cx="955343" cy="763945"/>
          </a:xfrm>
          <a:prstGeom prst="rect">
            <a:avLst/>
          </a:prstGeom>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23" name="Gráfico 22"/>
          <p:cNvGraphicFramePr/>
          <p:nvPr>
            <p:extLst/>
          </p:nvPr>
        </p:nvGraphicFramePr>
        <p:xfrm>
          <a:off x="84083" y="795527"/>
          <a:ext cx="4298732" cy="2588803"/>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7" name="Gráfico 26"/>
          <p:cNvGraphicFramePr/>
          <p:nvPr>
            <p:extLst/>
          </p:nvPr>
        </p:nvGraphicFramePr>
        <p:xfrm>
          <a:off x="4700003" y="776695"/>
          <a:ext cx="4284000" cy="2643442"/>
        </p:xfrm>
        <a:graphic>
          <a:graphicData uri="http://schemas.openxmlformats.org/drawingml/2006/chart">
            <c:chart xmlns:c="http://schemas.openxmlformats.org/drawingml/2006/chart" xmlns:r="http://schemas.openxmlformats.org/officeDocument/2006/relationships" r:id="rId5"/>
          </a:graphicData>
        </a:graphic>
      </p:graphicFrame>
      <p:pic>
        <p:nvPicPr>
          <p:cNvPr id="17" name="Imagem 1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887919" y="2822883"/>
            <a:ext cx="247650" cy="1762125"/>
          </a:xfrm>
          <a:prstGeom prst="roundRect">
            <a:avLst>
              <a:gd name="adj" fmla="val 8594"/>
            </a:avLst>
          </a:prstGeom>
          <a:solidFill>
            <a:srgbClr val="FFFFFF">
              <a:shade val="85000"/>
            </a:srgbClr>
          </a:solidFill>
          <a:ln>
            <a:noFill/>
          </a:ln>
          <a:effectLst/>
        </p:spPr>
      </p:pic>
      <p:sp>
        <p:nvSpPr>
          <p:cNvPr id="3" name="CaixaDeTexto 2"/>
          <p:cNvSpPr txBox="1"/>
          <p:nvPr/>
        </p:nvSpPr>
        <p:spPr>
          <a:xfrm>
            <a:off x="1" y="4848225"/>
            <a:ext cx="5871160" cy="246221"/>
          </a:xfrm>
          <a:prstGeom prst="rect">
            <a:avLst/>
          </a:prstGeom>
          <a:noFill/>
          <a:scene3d>
            <a:camera prst="orthographicFront"/>
            <a:lightRig rig="threePt" dir="t"/>
          </a:scene3d>
          <a:sp3d>
            <a:bevelT w="114300" prst="artDeco"/>
            <a:bevelB/>
          </a:sp3d>
        </p:spPr>
        <p:txBody>
          <a:bodyPr wrap="square" rtlCol="0">
            <a:spAutoFit/>
          </a:bodyPr>
          <a:lstStyle/>
          <a:p>
            <a:pPr algn="just"/>
            <a:r>
              <a:rPr lang="pt-BR" sz="1000" dirty="0">
                <a:solidFill>
                  <a:schemeClr val="bg1">
                    <a:lumMod val="65000"/>
                  </a:schemeClr>
                </a:solidFill>
              </a:rPr>
              <a:t>Informações retiradas dos indicadores de SLA e </a:t>
            </a:r>
            <a:r>
              <a:rPr lang="pt-BR" sz="1000" dirty="0" err="1">
                <a:solidFill>
                  <a:schemeClr val="bg1">
                    <a:lumMod val="65000"/>
                  </a:schemeClr>
                </a:solidFill>
              </a:rPr>
              <a:t>tProcess</a:t>
            </a:r>
            <a:r>
              <a:rPr lang="pt-BR" sz="1000" dirty="0">
                <a:solidFill>
                  <a:schemeClr val="bg1">
                    <a:lumMod val="65000"/>
                  </a:schemeClr>
                </a:solidFill>
              </a:rPr>
              <a:t>! referentes ao período de 01/04 a 25/04.</a:t>
            </a:r>
            <a:endParaRPr lang="pt-BR" dirty="0">
              <a:solidFill>
                <a:schemeClr val="bg1">
                  <a:lumMod val="65000"/>
                </a:schemeClr>
              </a:solidFill>
            </a:endParaRPr>
          </a:p>
        </p:txBody>
      </p:sp>
      <p:pic>
        <p:nvPicPr>
          <p:cNvPr id="4" name="Imagem 3"/>
          <p:cNvPicPr>
            <a:picLocks noChangeAspect="1"/>
          </p:cNvPicPr>
          <p:nvPr/>
        </p:nvPicPr>
        <p:blipFill>
          <a:blip r:embed="rId7"/>
          <a:stretch>
            <a:fillRect/>
          </a:stretch>
        </p:blipFill>
        <p:spPr>
          <a:xfrm>
            <a:off x="0" y="2436"/>
            <a:ext cx="786452" cy="774259"/>
          </a:xfrm>
          <a:prstGeom prst="rect">
            <a:avLst/>
          </a:prstGeom>
        </p:spPr>
      </p:pic>
      <p:sp>
        <p:nvSpPr>
          <p:cNvPr id="35" name="CaixaDeTexto 34"/>
          <p:cNvSpPr txBox="1"/>
          <p:nvPr/>
        </p:nvSpPr>
        <p:spPr>
          <a:xfrm>
            <a:off x="451788" y="2620174"/>
            <a:ext cx="684782" cy="261610"/>
          </a:xfrm>
          <a:prstGeom prst="rect">
            <a:avLst/>
          </a:prstGeom>
          <a:noFill/>
          <a:scene3d>
            <a:camera prst="orthographicFront"/>
            <a:lightRig rig="threePt" dir="t"/>
          </a:scene3d>
          <a:sp3d>
            <a:bevelT w="114300" prst="artDeco"/>
            <a:bevelB/>
          </a:sp3d>
        </p:spPr>
        <p:txBody>
          <a:bodyPr wrap="square" rtlCol="0">
            <a:spAutoFit/>
          </a:bodyPr>
          <a:lstStyle/>
          <a:p>
            <a:pPr algn="ctr"/>
            <a:r>
              <a:rPr lang="pt-BR" sz="1100" b="1" dirty="0">
                <a:solidFill>
                  <a:schemeClr val="accent2"/>
                </a:solidFill>
              </a:rPr>
              <a:t>-80,3%</a:t>
            </a:r>
          </a:p>
        </p:txBody>
      </p:sp>
      <p:sp>
        <p:nvSpPr>
          <p:cNvPr id="36" name="CaixaDeTexto 35"/>
          <p:cNvSpPr txBox="1"/>
          <p:nvPr/>
        </p:nvSpPr>
        <p:spPr>
          <a:xfrm>
            <a:off x="1171183" y="2620174"/>
            <a:ext cx="684782" cy="261610"/>
          </a:xfrm>
          <a:prstGeom prst="rect">
            <a:avLst/>
          </a:prstGeom>
          <a:noFill/>
          <a:scene3d>
            <a:camera prst="orthographicFront"/>
            <a:lightRig rig="threePt" dir="t"/>
          </a:scene3d>
          <a:sp3d>
            <a:bevelT w="114300" prst="artDeco"/>
            <a:bevelB/>
          </a:sp3d>
        </p:spPr>
        <p:txBody>
          <a:bodyPr wrap="square" rtlCol="0">
            <a:spAutoFit/>
          </a:bodyPr>
          <a:lstStyle/>
          <a:p>
            <a:pPr algn="ctr"/>
            <a:r>
              <a:rPr lang="pt-BR" sz="1100" b="1" dirty="0">
                <a:solidFill>
                  <a:schemeClr val="accent2"/>
                </a:solidFill>
              </a:rPr>
              <a:t>-28,6%</a:t>
            </a:r>
          </a:p>
        </p:txBody>
      </p:sp>
      <p:sp>
        <p:nvSpPr>
          <p:cNvPr id="37" name="CaixaDeTexto 36"/>
          <p:cNvSpPr txBox="1"/>
          <p:nvPr/>
        </p:nvSpPr>
        <p:spPr>
          <a:xfrm>
            <a:off x="1895187" y="2620174"/>
            <a:ext cx="684782" cy="261610"/>
          </a:xfrm>
          <a:prstGeom prst="rect">
            <a:avLst/>
          </a:prstGeom>
          <a:noFill/>
          <a:scene3d>
            <a:camera prst="orthographicFront"/>
            <a:lightRig rig="threePt" dir="t"/>
          </a:scene3d>
          <a:sp3d>
            <a:bevelT w="114300" prst="artDeco"/>
            <a:bevelB/>
          </a:sp3d>
        </p:spPr>
        <p:txBody>
          <a:bodyPr wrap="square" rtlCol="0">
            <a:spAutoFit/>
          </a:bodyPr>
          <a:lstStyle/>
          <a:p>
            <a:pPr algn="ctr"/>
            <a:r>
              <a:rPr lang="pt-BR" sz="1100" b="1" dirty="0">
                <a:solidFill>
                  <a:schemeClr val="accent2"/>
                </a:solidFill>
              </a:rPr>
              <a:t>-2,9%</a:t>
            </a:r>
          </a:p>
        </p:txBody>
      </p:sp>
      <p:sp>
        <p:nvSpPr>
          <p:cNvPr id="38" name="CaixaDeTexto 37"/>
          <p:cNvSpPr txBox="1"/>
          <p:nvPr/>
        </p:nvSpPr>
        <p:spPr>
          <a:xfrm>
            <a:off x="5159423" y="2620174"/>
            <a:ext cx="684782" cy="261610"/>
          </a:xfrm>
          <a:prstGeom prst="rect">
            <a:avLst/>
          </a:prstGeom>
          <a:noFill/>
          <a:scene3d>
            <a:camera prst="orthographicFront"/>
            <a:lightRig rig="threePt" dir="t"/>
          </a:scene3d>
          <a:sp3d>
            <a:bevelT w="114300" prst="artDeco"/>
            <a:bevelB/>
          </a:sp3d>
        </p:spPr>
        <p:txBody>
          <a:bodyPr wrap="square" rtlCol="0">
            <a:spAutoFit/>
          </a:bodyPr>
          <a:lstStyle/>
          <a:p>
            <a:pPr algn="ctr"/>
            <a:r>
              <a:rPr lang="pt-BR" sz="1100" b="1" dirty="0">
                <a:solidFill>
                  <a:schemeClr val="accent2"/>
                </a:solidFill>
              </a:rPr>
              <a:t>-80,3%</a:t>
            </a:r>
          </a:p>
        </p:txBody>
      </p:sp>
      <p:sp>
        <p:nvSpPr>
          <p:cNvPr id="39" name="CaixaDeTexto 38"/>
          <p:cNvSpPr txBox="1"/>
          <p:nvPr/>
        </p:nvSpPr>
        <p:spPr>
          <a:xfrm>
            <a:off x="5860651" y="2620174"/>
            <a:ext cx="684782" cy="261610"/>
          </a:xfrm>
          <a:prstGeom prst="rect">
            <a:avLst/>
          </a:prstGeom>
          <a:noFill/>
          <a:scene3d>
            <a:camera prst="orthographicFront"/>
            <a:lightRig rig="threePt" dir="t"/>
          </a:scene3d>
          <a:sp3d>
            <a:bevelT w="114300" prst="artDeco"/>
            <a:bevelB/>
          </a:sp3d>
        </p:spPr>
        <p:txBody>
          <a:bodyPr wrap="square" rtlCol="0">
            <a:spAutoFit/>
          </a:bodyPr>
          <a:lstStyle/>
          <a:p>
            <a:pPr algn="ctr"/>
            <a:r>
              <a:rPr lang="pt-BR" sz="1100" b="1" dirty="0">
                <a:solidFill>
                  <a:schemeClr val="accent2"/>
                </a:solidFill>
              </a:rPr>
              <a:t>-28,6%</a:t>
            </a:r>
          </a:p>
        </p:txBody>
      </p:sp>
      <p:sp>
        <p:nvSpPr>
          <p:cNvPr id="40" name="CaixaDeTexto 39"/>
          <p:cNvSpPr txBox="1"/>
          <p:nvPr/>
        </p:nvSpPr>
        <p:spPr>
          <a:xfrm>
            <a:off x="6526567" y="2620174"/>
            <a:ext cx="684782" cy="261610"/>
          </a:xfrm>
          <a:prstGeom prst="rect">
            <a:avLst/>
          </a:prstGeom>
          <a:noFill/>
          <a:scene3d>
            <a:camera prst="orthographicFront"/>
            <a:lightRig rig="threePt" dir="t"/>
          </a:scene3d>
          <a:sp3d>
            <a:bevelT w="114300" prst="artDeco"/>
            <a:bevelB/>
          </a:sp3d>
        </p:spPr>
        <p:txBody>
          <a:bodyPr wrap="square" rtlCol="0">
            <a:spAutoFit/>
          </a:bodyPr>
          <a:lstStyle/>
          <a:p>
            <a:pPr algn="ctr"/>
            <a:r>
              <a:rPr lang="pt-BR" sz="1100" b="1" dirty="0">
                <a:solidFill>
                  <a:schemeClr val="accent2"/>
                </a:solidFill>
              </a:rPr>
              <a:t>+3,8%</a:t>
            </a:r>
          </a:p>
        </p:txBody>
      </p:sp>
      <p:grpSp>
        <p:nvGrpSpPr>
          <p:cNvPr id="9" name="Agrupar 8"/>
          <p:cNvGrpSpPr/>
          <p:nvPr/>
        </p:nvGrpSpPr>
        <p:grpSpPr>
          <a:xfrm>
            <a:off x="2430842" y="3509170"/>
            <a:ext cx="4140000" cy="972000"/>
            <a:chOff x="225224" y="3577590"/>
            <a:chExt cx="3878145" cy="987777"/>
          </a:xfrm>
        </p:grpSpPr>
        <p:sp>
          <p:nvSpPr>
            <p:cNvPr id="33" name="Retângulo de cantos arredondados 32"/>
            <p:cNvSpPr/>
            <p:nvPr/>
          </p:nvSpPr>
          <p:spPr>
            <a:xfrm>
              <a:off x="225224" y="3577590"/>
              <a:ext cx="3878145" cy="987777"/>
            </a:xfrm>
            <a:prstGeom prst="roundRect">
              <a:avLst/>
            </a:prstGeom>
            <a:solidFill>
              <a:schemeClr val="accent5">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r>
                <a:rPr lang="pt-BR" sz="1600" b="1" dirty="0"/>
                <a:t>Redução Consolidada</a:t>
              </a:r>
              <a:br>
                <a:rPr lang="pt-BR" sz="1600" b="1" dirty="0"/>
              </a:br>
              <a:r>
                <a:rPr lang="pt-BR" sz="1600" b="1" dirty="0"/>
                <a:t> Agosto-15 a </a:t>
              </a:r>
              <a:r>
                <a:rPr lang="pt-BR" sz="1600" b="1" dirty="0" smtClean="0"/>
                <a:t>25/</a:t>
              </a:r>
              <a:r>
                <a:rPr lang="pt-BR" sz="1600" b="1" dirty="0" err="1" smtClean="0"/>
                <a:t>Abr</a:t>
              </a:r>
              <a:r>
                <a:rPr lang="pt-BR" sz="1600" b="1" dirty="0" smtClean="0"/>
                <a:t>/16</a:t>
              </a:r>
              <a:endParaRPr lang="pt-BR" sz="1600" b="1" dirty="0"/>
            </a:p>
          </p:txBody>
        </p:sp>
        <p:sp>
          <p:nvSpPr>
            <p:cNvPr id="22" name="Retângulo de cantos arredondados 32"/>
            <p:cNvSpPr/>
            <p:nvPr/>
          </p:nvSpPr>
          <p:spPr>
            <a:xfrm>
              <a:off x="2758639" y="3706013"/>
              <a:ext cx="1207571" cy="709702"/>
            </a:xfrm>
            <a:prstGeom prst="roundRect">
              <a:avLst/>
            </a:prstGeom>
            <a:ln>
              <a:solidFill>
                <a:schemeClr val="bg1">
                  <a:lumMod val="95000"/>
                </a:schemeClr>
              </a:solidFill>
            </a:ln>
          </p:spPr>
          <p:style>
            <a:lnRef idx="0">
              <a:schemeClr val="accent5"/>
            </a:lnRef>
            <a:fillRef idx="3">
              <a:schemeClr val="accent5"/>
            </a:fillRef>
            <a:effectRef idx="3">
              <a:schemeClr val="accent5"/>
            </a:effectRef>
            <a:fontRef idx="minor">
              <a:schemeClr val="lt1"/>
            </a:fontRef>
          </p:style>
          <p:txBody>
            <a:bodyPr rtlCol="0" anchor="ctr"/>
            <a:lstStyle/>
            <a:p>
              <a:pPr algn="ctr"/>
              <a:r>
                <a:rPr lang="pt-BR" sz="2400" b="1" dirty="0"/>
                <a:t>-</a:t>
              </a:r>
              <a:r>
                <a:rPr lang="pt-BR" sz="2000" b="1" dirty="0"/>
                <a:t> 90,23%</a:t>
              </a:r>
            </a:p>
          </p:txBody>
        </p:sp>
      </p:grpSp>
      <p:pic>
        <p:nvPicPr>
          <p:cNvPr id="21" name="Picture 7"/>
          <p:cNvPicPr>
            <a:picLocks noChangeAspect="1"/>
          </p:cNvPicPr>
          <p:nvPr/>
        </p:nvPicPr>
        <p:blipFill>
          <a:blip r:embed="rId8"/>
          <a:stretch>
            <a:fillRect/>
          </a:stretch>
        </p:blipFill>
        <p:spPr>
          <a:xfrm>
            <a:off x="7331777" y="257994"/>
            <a:ext cx="1473556" cy="356656"/>
          </a:xfrm>
          <a:prstGeom prst="rect">
            <a:avLst/>
          </a:prstGeom>
        </p:spPr>
      </p:pic>
      <p:sp>
        <p:nvSpPr>
          <p:cNvPr id="24" name="CaixaDeTexto 23"/>
          <p:cNvSpPr txBox="1"/>
          <p:nvPr/>
        </p:nvSpPr>
        <p:spPr>
          <a:xfrm>
            <a:off x="2606249" y="2620174"/>
            <a:ext cx="684782" cy="261610"/>
          </a:xfrm>
          <a:prstGeom prst="rect">
            <a:avLst/>
          </a:prstGeom>
          <a:noFill/>
          <a:scene3d>
            <a:camera prst="orthographicFront"/>
            <a:lightRig rig="threePt" dir="t"/>
          </a:scene3d>
          <a:sp3d>
            <a:bevelT w="114300" prst="artDeco"/>
            <a:bevelB/>
          </a:sp3d>
        </p:spPr>
        <p:txBody>
          <a:bodyPr wrap="square" rtlCol="0">
            <a:spAutoFit/>
          </a:bodyPr>
          <a:lstStyle/>
          <a:p>
            <a:pPr algn="ctr"/>
            <a:r>
              <a:rPr lang="pt-BR" sz="1100" b="1" dirty="0">
                <a:solidFill>
                  <a:schemeClr val="accent2"/>
                </a:solidFill>
              </a:rPr>
              <a:t>-11,8%</a:t>
            </a:r>
          </a:p>
        </p:txBody>
      </p:sp>
      <p:sp>
        <p:nvSpPr>
          <p:cNvPr id="25" name="CaixaDeTexto 24"/>
          <p:cNvSpPr txBox="1"/>
          <p:nvPr/>
        </p:nvSpPr>
        <p:spPr>
          <a:xfrm>
            <a:off x="7257653" y="2620174"/>
            <a:ext cx="684782" cy="261610"/>
          </a:xfrm>
          <a:prstGeom prst="rect">
            <a:avLst/>
          </a:prstGeom>
          <a:noFill/>
          <a:scene3d>
            <a:camera prst="orthographicFront"/>
            <a:lightRig rig="threePt" dir="t"/>
          </a:scene3d>
          <a:sp3d>
            <a:bevelT w="114300" prst="artDeco"/>
            <a:bevelB/>
          </a:sp3d>
        </p:spPr>
        <p:txBody>
          <a:bodyPr wrap="square" rtlCol="0">
            <a:spAutoFit/>
          </a:bodyPr>
          <a:lstStyle/>
          <a:p>
            <a:pPr algn="ctr"/>
            <a:r>
              <a:rPr lang="pt-BR" sz="1100" b="1" dirty="0">
                <a:solidFill>
                  <a:schemeClr val="accent2"/>
                </a:solidFill>
              </a:rPr>
              <a:t>-11,8%</a:t>
            </a:r>
          </a:p>
        </p:txBody>
      </p:sp>
    </p:spTree>
    <p:extLst>
      <p:ext uri="{BB962C8B-B14F-4D97-AF65-F5344CB8AC3E}">
        <p14:creationId xmlns:p14="http://schemas.microsoft.com/office/powerpoint/2010/main" val="632278621"/>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aixaDeTexto 5"/>
          <p:cNvSpPr txBox="1"/>
          <p:nvPr/>
        </p:nvSpPr>
        <p:spPr>
          <a:xfrm>
            <a:off x="2042608" y="271638"/>
            <a:ext cx="184731" cy="461665"/>
          </a:xfrm>
          <a:prstGeom prst="rect">
            <a:avLst/>
          </a:prstGeom>
          <a:noFill/>
          <a:scene3d>
            <a:camera prst="orthographicFront"/>
            <a:lightRig rig="threePt" dir="t"/>
          </a:scene3d>
          <a:sp3d>
            <a:bevelT w="114300" prst="artDeco"/>
            <a:bevelB/>
          </a:sp3d>
        </p:spPr>
        <p:txBody>
          <a:bodyPr wrap="none" rtlCol="0">
            <a:spAutoFit/>
          </a:bodyPr>
          <a:lstStyle/>
          <a:p>
            <a:endParaRPr lang="pt-BR" sz="2400" dirty="0"/>
          </a:p>
        </p:txBody>
      </p:sp>
      <p:sp>
        <p:nvSpPr>
          <p:cNvPr id="20" name="Title 1"/>
          <p:cNvSpPr txBox="1">
            <a:spLocks/>
          </p:cNvSpPr>
          <p:nvPr/>
        </p:nvSpPr>
        <p:spPr>
          <a:xfrm>
            <a:off x="758032" y="69812"/>
            <a:ext cx="6254098" cy="560400"/>
          </a:xfrm>
          <a:prstGeom prst="rect">
            <a:avLst/>
          </a:prstGeom>
          <a:scene3d>
            <a:camera prst="orthographicFront"/>
            <a:lightRig rig="threePt" dir="t"/>
          </a:scene3d>
          <a:sp3d>
            <a:bevelT w="114300" prst="artDeco"/>
            <a:bevelB/>
          </a:sp3d>
        </p:spPr>
        <p:txBody>
          <a:bodyPr vert="horz" lIns="91440" tIns="45720" rIns="91440" bIns="45720" rtlCol="0" anchor="ctr">
            <a:normAutofit fontScale="85000" lnSpcReduction="1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buClr>
                <a:srgbClr val="800000"/>
              </a:buClr>
            </a:pPr>
            <a:r>
              <a:rPr lang="pt-BR" sz="3200" b="1" dirty="0">
                <a:solidFill>
                  <a:schemeClr val="tx2"/>
                </a:solidFill>
                <a:latin typeface="Arial" pitchFamily="34" charset="0"/>
                <a:cs typeface="Arial" pitchFamily="34" charset="0"/>
              </a:rPr>
              <a:t>2. Indicadores: Total de Incidentes</a:t>
            </a:r>
            <a:endParaRPr lang="pt-BR" sz="2000" b="1" dirty="0">
              <a:solidFill>
                <a:schemeClr val="tx2"/>
              </a:solidFill>
              <a:latin typeface="Arial" pitchFamily="34" charset="0"/>
              <a:cs typeface="Arial" pitchFamily="34" charset="0"/>
            </a:endParaRPr>
          </a:p>
        </p:txBody>
      </p:sp>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76780" t="78172" r="18395" b="12686"/>
          <a:stretch/>
        </p:blipFill>
        <p:spPr bwMode="auto">
          <a:xfrm>
            <a:off x="8192175" y="4377863"/>
            <a:ext cx="955343" cy="763945"/>
          </a:xfrm>
          <a:prstGeom prst="rect">
            <a:avLst/>
          </a:prstGeom>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23" name="Gráfico 22"/>
          <p:cNvGraphicFramePr/>
          <p:nvPr>
            <p:extLst/>
          </p:nvPr>
        </p:nvGraphicFramePr>
        <p:xfrm>
          <a:off x="251073" y="75284"/>
          <a:ext cx="5875578" cy="3000792"/>
        </p:xfrm>
        <a:graphic>
          <a:graphicData uri="http://schemas.openxmlformats.org/drawingml/2006/chart">
            <c:chart xmlns:c="http://schemas.openxmlformats.org/drawingml/2006/chart" xmlns:r="http://schemas.openxmlformats.org/officeDocument/2006/relationships" r:id="rId4"/>
          </a:graphicData>
        </a:graphic>
      </p:graphicFrame>
      <p:sp>
        <p:nvSpPr>
          <p:cNvPr id="24" name="CaixaDeTexto 23"/>
          <p:cNvSpPr txBox="1"/>
          <p:nvPr/>
        </p:nvSpPr>
        <p:spPr>
          <a:xfrm>
            <a:off x="953644" y="2185598"/>
            <a:ext cx="703482" cy="276999"/>
          </a:xfrm>
          <a:prstGeom prst="rect">
            <a:avLst/>
          </a:prstGeom>
          <a:noFill/>
          <a:scene3d>
            <a:camera prst="orthographicFront"/>
            <a:lightRig rig="threePt" dir="t"/>
          </a:scene3d>
          <a:sp3d>
            <a:bevelT w="114300" prst="artDeco"/>
            <a:bevelB/>
          </a:sp3d>
        </p:spPr>
        <p:txBody>
          <a:bodyPr wrap="square" rtlCol="0">
            <a:spAutoFit/>
          </a:bodyPr>
          <a:lstStyle/>
          <a:p>
            <a:pPr algn="ctr"/>
            <a:r>
              <a:rPr lang="pt-BR" sz="1200" b="1" dirty="0">
                <a:solidFill>
                  <a:schemeClr val="accent2"/>
                </a:solidFill>
              </a:rPr>
              <a:t>-20,13%</a:t>
            </a:r>
          </a:p>
        </p:txBody>
      </p:sp>
      <p:sp>
        <p:nvSpPr>
          <p:cNvPr id="25" name="CaixaDeTexto 24"/>
          <p:cNvSpPr txBox="1"/>
          <p:nvPr/>
        </p:nvSpPr>
        <p:spPr>
          <a:xfrm>
            <a:off x="1810920" y="2185598"/>
            <a:ext cx="732185" cy="276999"/>
          </a:xfrm>
          <a:prstGeom prst="rect">
            <a:avLst/>
          </a:prstGeom>
          <a:noFill/>
          <a:scene3d>
            <a:camera prst="orthographicFront"/>
            <a:lightRig rig="threePt" dir="t"/>
          </a:scene3d>
          <a:sp3d>
            <a:bevelT w="114300" prst="artDeco"/>
            <a:bevelB/>
          </a:sp3d>
        </p:spPr>
        <p:txBody>
          <a:bodyPr wrap="square" rtlCol="0">
            <a:spAutoFit/>
          </a:bodyPr>
          <a:lstStyle/>
          <a:p>
            <a:pPr algn="ctr"/>
            <a:r>
              <a:rPr lang="pt-BR" sz="1200" b="1" dirty="0">
                <a:solidFill>
                  <a:schemeClr val="accent2"/>
                </a:solidFill>
              </a:rPr>
              <a:t>+11,67%</a:t>
            </a:r>
          </a:p>
        </p:txBody>
      </p:sp>
      <p:pic>
        <p:nvPicPr>
          <p:cNvPr id="17" name="Imagem 1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891436" y="2794393"/>
            <a:ext cx="247650" cy="1762125"/>
          </a:xfrm>
          <a:prstGeom prst="roundRect">
            <a:avLst>
              <a:gd name="adj" fmla="val 8594"/>
            </a:avLst>
          </a:prstGeom>
          <a:solidFill>
            <a:srgbClr val="FFFFFF">
              <a:shade val="85000"/>
            </a:srgbClr>
          </a:solidFill>
          <a:ln>
            <a:noFill/>
          </a:ln>
          <a:effectLst/>
        </p:spPr>
      </p:pic>
      <p:sp>
        <p:nvSpPr>
          <p:cNvPr id="18" name="CaixaDeTexto 17"/>
          <p:cNvSpPr txBox="1"/>
          <p:nvPr/>
        </p:nvSpPr>
        <p:spPr>
          <a:xfrm>
            <a:off x="2692656" y="2185598"/>
            <a:ext cx="732185" cy="276999"/>
          </a:xfrm>
          <a:prstGeom prst="rect">
            <a:avLst/>
          </a:prstGeom>
          <a:noFill/>
          <a:scene3d>
            <a:camera prst="orthographicFront"/>
            <a:lightRig rig="threePt" dir="t"/>
          </a:scene3d>
          <a:sp3d>
            <a:bevelT w="114300" prst="artDeco"/>
            <a:bevelB/>
          </a:sp3d>
        </p:spPr>
        <p:txBody>
          <a:bodyPr wrap="square" rtlCol="0">
            <a:spAutoFit/>
          </a:bodyPr>
          <a:lstStyle/>
          <a:p>
            <a:pPr algn="ctr"/>
            <a:r>
              <a:rPr lang="pt-BR" sz="1200" b="1" dirty="0">
                <a:solidFill>
                  <a:schemeClr val="accent2"/>
                </a:solidFill>
              </a:rPr>
              <a:t>-9,18%</a:t>
            </a:r>
          </a:p>
        </p:txBody>
      </p:sp>
      <p:sp>
        <p:nvSpPr>
          <p:cNvPr id="3" name="CaixaDeTexto 2"/>
          <p:cNvSpPr txBox="1"/>
          <p:nvPr/>
        </p:nvSpPr>
        <p:spPr>
          <a:xfrm>
            <a:off x="3518" y="4819735"/>
            <a:ext cx="5948978" cy="261610"/>
          </a:xfrm>
          <a:prstGeom prst="rect">
            <a:avLst/>
          </a:prstGeom>
          <a:noFill/>
          <a:scene3d>
            <a:camera prst="orthographicFront"/>
            <a:lightRig rig="threePt" dir="t"/>
          </a:scene3d>
          <a:sp3d>
            <a:bevelT w="114300" prst="artDeco"/>
            <a:bevelB/>
          </a:sp3d>
        </p:spPr>
        <p:txBody>
          <a:bodyPr wrap="square" rtlCol="0">
            <a:spAutoFit/>
          </a:bodyPr>
          <a:lstStyle/>
          <a:p>
            <a:pPr algn="just"/>
            <a:r>
              <a:rPr lang="pt-BR" sz="1100" dirty="0">
                <a:solidFill>
                  <a:schemeClr val="bg1">
                    <a:lumMod val="65000"/>
                  </a:schemeClr>
                </a:solidFill>
              </a:rPr>
              <a:t>Informações retiradas dos indicadores de SLA e </a:t>
            </a:r>
            <a:r>
              <a:rPr lang="pt-BR" sz="1100" dirty="0" err="1">
                <a:solidFill>
                  <a:schemeClr val="bg1">
                    <a:lumMod val="65000"/>
                  </a:schemeClr>
                </a:solidFill>
              </a:rPr>
              <a:t>tProcess</a:t>
            </a:r>
            <a:r>
              <a:rPr lang="pt-BR" sz="1100" dirty="0">
                <a:solidFill>
                  <a:schemeClr val="bg1">
                    <a:lumMod val="65000"/>
                  </a:schemeClr>
                </a:solidFill>
              </a:rPr>
              <a:t>! referentes ao período de 01/04 a 25/04.</a:t>
            </a:r>
          </a:p>
        </p:txBody>
      </p:sp>
      <p:pic>
        <p:nvPicPr>
          <p:cNvPr id="4" name="Imagem 3"/>
          <p:cNvPicPr>
            <a:picLocks noChangeAspect="1"/>
          </p:cNvPicPr>
          <p:nvPr/>
        </p:nvPicPr>
        <p:blipFill>
          <a:blip r:embed="rId6"/>
          <a:stretch>
            <a:fillRect/>
          </a:stretch>
        </p:blipFill>
        <p:spPr>
          <a:xfrm>
            <a:off x="0" y="2436"/>
            <a:ext cx="786452" cy="774259"/>
          </a:xfrm>
          <a:prstGeom prst="rect">
            <a:avLst/>
          </a:prstGeom>
        </p:spPr>
      </p:pic>
      <p:sp>
        <p:nvSpPr>
          <p:cNvPr id="22" name="Retângulo 21"/>
          <p:cNvSpPr/>
          <p:nvPr/>
        </p:nvSpPr>
        <p:spPr>
          <a:xfrm>
            <a:off x="6232760" y="1499186"/>
            <a:ext cx="2541202" cy="3147242"/>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0" lvl="1">
              <a:spcBef>
                <a:spcPts val="200"/>
              </a:spcBef>
              <a:spcAft>
                <a:spcPts val="200"/>
              </a:spcAft>
            </a:pPr>
            <a:endParaRPr lang="pt-BR" sz="1600" b="1" dirty="0">
              <a:solidFill>
                <a:schemeClr val="tx1">
                  <a:lumMod val="95000"/>
                  <a:lumOff val="5000"/>
                </a:schemeClr>
              </a:solidFill>
            </a:endParaRPr>
          </a:p>
          <a:p>
            <a:pPr marL="171450" lvl="1" indent="-171450">
              <a:spcBef>
                <a:spcPts val="200"/>
              </a:spcBef>
              <a:spcAft>
                <a:spcPts val="600"/>
              </a:spcAft>
              <a:buFont typeface="Arial" panose="020B0604020202020204" pitchFamily="34" charset="0"/>
              <a:buChar char="•"/>
            </a:pPr>
            <a:r>
              <a:rPr lang="pt-BR" sz="1200" dirty="0">
                <a:solidFill>
                  <a:schemeClr val="tx1">
                    <a:lumMod val="95000"/>
                    <a:lumOff val="5000"/>
                  </a:schemeClr>
                </a:solidFill>
              </a:rPr>
              <a:t>Catálogo de Serviços;</a:t>
            </a:r>
          </a:p>
          <a:p>
            <a:pPr marL="171450" lvl="1" indent="-171450">
              <a:spcBef>
                <a:spcPts val="200"/>
              </a:spcBef>
              <a:spcAft>
                <a:spcPts val="600"/>
              </a:spcAft>
              <a:buFont typeface="Arial" panose="020B0604020202020204" pitchFamily="34" charset="0"/>
              <a:buChar char="•"/>
            </a:pPr>
            <a:r>
              <a:rPr lang="pt-BR" sz="1200" dirty="0">
                <a:solidFill>
                  <a:schemeClr val="tx1">
                    <a:lumMod val="95000"/>
                    <a:lumOff val="5000"/>
                  </a:schemeClr>
                </a:solidFill>
              </a:rPr>
              <a:t>Ação de Investigação dos Ofensores junto aos Sites;</a:t>
            </a:r>
          </a:p>
          <a:p>
            <a:pPr marL="171450" lvl="1" indent="-171450">
              <a:spcBef>
                <a:spcPts val="200"/>
              </a:spcBef>
              <a:spcAft>
                <a:spcPts val="600"/>
              </a:spcAft>
              <a:buFont typeface="Arial" panose="020B0604020202020204" pitchFamily="34" charset="0"/>
              <a:buChar char="•"/>
            </a:pPr>
            <a:r>
              <a:rPr lang="pt-BR" sz="1200" dirty="0">
                <a:solidFill>
                  <a:schemeClr val="tx1">
                    <a:lumMod val="95000"/>
                    <a:lumOff val="5000"/>
                  </a:schemeClr>
                </a:solidFill>
              </a:rPr>
              <a:t>Gestão de Problemas;</a:t>
            </a:r>
          </a:p>
          <a:p>
            <a:pPr marL="171450" lvl="1" indent="-171450">
              <a:spcBef>
                <a:spcPts val="200"/>
              </a:spcBef>
              <a:spcAft>
                <a:spcPts val="600"/>
              </a:spcAft>
              <a:buFont typeface="Arial" panose="020B0604020202020204" pitchFamily="34" charset="0"/>
              <a:buChar char="•"/>
            </a:pPr>
            <a:r>
              <a:rPr lang="pt-BR" sz="1200" dirty="0">
                <a:solidFill>
                  <a:schemeClr val="tx1">
                    <a:lumMod val="95000"/>
                    <a:lumOff val="5000"/>
                  </a:schemeClr>
                </a:solidFill>
              </a:rPr>
              <a:t>Projetos de Estabilização;</a:t>
            </a:r>
          </a:p>
          <a:p>
            <a:pPr marL="171450" lvl="1" indent="-171450">
              <a:spcBef>
                <a:spcPts val="200"/>
              </a:spcBef>
              <a:spcAft>
                <a:spcPts val="600"/>
              </a:spcAft>
              <a:buFont typeface="Arial" panose="020B0604020202020204" pitchFamily="34" charset="0"/>
              <a:buChar char="•"/>
            </a:pPr>
            <a:r>
              <a:rPr lang="pt-BR" sz="1200" dirty="0">
                <a:solidFill>
                  <a:schemeClr val="tx1">
                    <a:lumMod val="95000"/>
                    <a:lumOff val="5000"/>
                  </a:schemeClr>
                </a:solidFill>
              </a:rPr>
              <a:t>GEROT Diária de Incidentes;</a:t>
            </a:r>
          </a:p>
          <a:p>
            <a:pPr marL="171450" lvl="1" indent="-171450">
              <a:spcBef>
                <a:spcPts val="200"/>
              </a:spcBef>
              <a:spcAft>
                <a:spcPts val="600"/>
              </a:spcAft>
              <a:buFont typeface="Arial" panose="020B0604020202020204" pitchFamily="34" charset="0"/>
              <a:buChar char="•"/>
            </a:pPr>
            <a:r>
              <a:rPr lang="pt-BR" sz="1200" dirty="0">
                <a:solidFill>
                  <a:schemeClr val="tx1">
                    <a:lumMod val="95000"/>
                    <a:lumOff val="5000"/>
                  </a:schemeClr>
                </a:solidFill>
              </a:rPr>
              <a:t>Gestão de Vulnerabilidades;</a:t>
            </a:r>
          </a:p>
          <a:p>
            <a:pPr marL="171450" lvl="1" indent="-171450">
              <a:spcBef>
                <a:spcPts val="200"/>
              </a:spcBef>
              <a:spcAft>
                <a:spcPts val="600"/>
              </a:spcAft>
              <a:buFont typeface="Arial" panose="020B0604020202020204" pitchFamily="34" charset="0"/>
              <a:buChar char="•"/>
            </a:pPr>
            <a:r>
              <a:rPr lang="pt-BR" sz="1200" dirty="0">
                <a:solidFill>
                  <a:schemeClr val="tx1">
                    <a:lumMod val="95000"/>
                    <a:lumOff val="5000"/>
                  </a:schemeClr>
                </a:solidFill>
              </a:rPr>
              <a:t>Política de Mudanças (Mudança Técnica).</a:t>
            </a:r>
          </a:p>
          <a:p>
            <a:pPr marL="171450" lvl="1" indent="-171450">
              <a:spcBef>
                <a:spcPts val="200"/>
              </a:spcBef>
              <a:spcAft>
                <a:spcPts val="600"/>
              </a:spcAft>
              <a:buFont typeface="Arial" panose="020B0604020202020204" pitchFamily="34" charset="0"/>
              <a:buChar char="•"/>
            </a:pPr>
            <a:r>
              <a:rPr lang="pt-BR" sz="1200" dirty="0" smtClean="0">
                <a:solidFill>
                  <a:schemeClr val="tx1">
                    <a:lumMod val="95000"/>
                    <a:lumOff val="5000"/>
                  </a:schemeClr>
                </a:solidFill>
              </a:rPr>
              <a:t>GEROT </a:t>
            </a:r>
            <a:r>
              <a:rPr lang="pt-BR" sz="1200" dirty="0">
                <a:solidFill>
                  <a:schemeClr val="tx1">
                    <a:lumMod val="95000"/>
                    <a:lumOff val="5000"/>
                  </a:schemeClr>
                </a:solidFill>
              </a:rPr>
              <a:t>sites para médio e baixo impacto (Implantação)</a:t>
            </a:r>
          </a:p>
        </p:txBody>
      </p:sp>
      <p:sp>
        <p:nvSpPr>
          <p:cNvPr id="21" name="Retângulo de cantos arredondados 14"/>
          <p:cNvSpPr/>
          <p:nvPr/>
        </p:nvSpPr>
        <p:spPr>
          <a:xfrm>
            <a:off x="6238115" y="1330154"/>
            <a:ext cx="2535847" cy="398839"/>
          </a:xfrm>
          <a:prstGeom prst="roundRect">
            <a:avLst/>
          </a:prstGeom>
          <a:solidFill>
            <a:srgbClr val="00B050"/>
          </a:soli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r>
              <a:rPr lang="pt-BR" sz="1400" b="1" dirty="0">
                <a:effectLst>
                  <a:outerShdw blurRad="38100" dist="38100" dir="2700000" algn="tl">
                    <a:srgbClr val="000000">
                      <a:alpha val="43137"/>
                    </a:srgbClr>
                  </a:outerShdw>
                </a:effectLst>
              </a:rPr>
              <a:t>Ações</a:t>
            </a:r>
            <a:endParaRPr lang="pt-BR" sz="1200" i="1" dirty="0"/>
          </a:p>
        </p:txBody>
      </p:sp>
      <p:pic>
        <p:nvPicPr>
          <p:cNvPr id="26" name="Picture 7"/>
          <p:cNvPicPr>
            <a:picLocks noChangeAspect="1"/>
          </p:cNvPicPr>
          <p:nvPr/>
        </p:nvPicPr>
        <p:blipFill>
          <a:blip r:embed="rId7"/>
          <a:stretch>
            <a:fillRect/>
          </a:stretch>
        </p:blipFill>
        <p:spPr>
          <a:xfrm>
            <a:off x="7331777" y="257994"/>
            <a:ext cx="1473556" cy="356656"/>
          </a:xfrm>
          <a:prstGeom prst="rect">
            <a:avLst/>
          </a:prstGeom>
        </p:spPr>
      </p:pic>
      <p:pic>
        <p:nvPicPr>
          <p:cNvPr id="24577" name="Picture 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1073" y="3053425"/>
            <a:ext cx="5701423" cy="1685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56673046"/>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Agrupar 1"/>
          <p:cNvGrpSpPr/>
          <p:nvPr/>
        </p:nvGrpSpPr>
        <p:grpSpPr>
          <a:xfrm>
            <a:off x="1" y="108241"/>
            <a:ext cx="9144000" cy="5049962"/>
            <a:chOff x="1" y="98302"/>
            <a:chExt cx="9144000" cy="5049962"/>
          </a:xfrm>
        </p:grpSpPr>
        <p:sp>
          <p:nvSpPr>
            <p:cNvPr id="6" name="CaixaDeTexto 5"/>
            <p:cNvSpPr txBox="1"/>
            <p:nvPr/>
          </p:nvSpPr>
          <p:spPr>
            <a:xfrm>
              <a:off x="2039091" y="300128"/>
              <a:ext cx="184731" cy="461665"/>
            </a:xfrm>
            <a:prstGeom prst="rect">
              <a:avLst/>
            </a:prstGeom>
            <a:noFill/>
            <a:scene3d>
              <a:camera prst="orthographicFront"/>
              <a:lightRig rig="threePt" dir="t"/>
            </a:scene3d>
            <a:sp3d>
              <a:bevelT w="114300" prst="artDeco"/>
              <a:bevelB/>
            </a:sp3d>
          </p:spPr>
          <p:txBody>
            <a:bodyPr wrap="none" rtlCol="0">
              <a:spAutoFit/>
            </a:bodyPr>
            <a:lstStyle/>
            <a:p>
              <a:endParaRPr lang="pt-BR" sz="2400" dirty="0"/>
            </a:p>
          </p:txBody>
        </p:sp>
        <p:sp>
          <p:nvSpPr>
            <p:cNvPr id="20" name="Title 1"/>
            <p:cNvSpPr txBox="1">
              <a:spLocks/>
            </p:cNvSpPr>
            <p:nvPr/>
          </p:nvSpPr>
          <p:spPr>
            <a:xfrm>
              <a:off x="754515" y="98302"/>
              <a:ext cx="6254098" cy="560400"/>
            </a:xfrm>
            <a:prstGeom prst="rect">
              <a:avLst/>
            </a:prstGeom>
            <a:scene3d>
              <a:camera prst="orthographicFront"/>
              <a:lightRig rig="threePt" dir="t"/>
            </a:scene3d>
            <a:sp3d>
              <a:bevelT w="114300" prst="artDeco"/>
              <a:bevelB/>
            </a:sp3d>
          </p:spPr>
          <p:txBody>
            <a:bodyPr vert="horz" lIns="91440" tIns="45720" rIns="91440" bIns="45720" rtlCol="0" anchor="ctr">
              <a:normAutofit fontScale="775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buClr>
                  <a:srgbClr val="800000"/>
                </a:buClr>
              </a:pPr>
              <a:r>
                <a:rPr lang="pt-BR" sz="3200" b="1" dirty="0">
                  <a:solidFill>
                    <a:schemeClr val="tx2"/>
                  </a:solidFill>
                  <a:latin typeface="Arial" pitchFamily="34" charset="0"/>
                  <a:cs typeface="Arial" pitchFamily="34" charset="0"/>
                </a:rPr>
                <a:t>2. Indicadores: Total de Incidentes Alto</a:t>
              </a:r>
              <a:endParaRPr lang="pt-BR" sz="2000" b="1" dirty="0">
                <a:solidFill>
                  <a:schemeClr val="tx2"/>
                </a:solidFill>
                <a:latin typeface="Arial" pitchFamily="34" charset="0"/>
                <a:cs typeface="Arial" pitchFamily="34" charset="0"/>
              </a:endParaRPr>
            </a:p>
          </p:txBody>
        </p:sp>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76780" t="78172" r="18395" b="12686"/>
            <a:stretch/>
          </p:blipFill>
          <p:spPr bwMode="auto">
            <a:xfrm>
              <a:off x="8188658" y="4384319"/>
              <a:ext cx="955343" cy="763945"/>
            </a:xfrm>
            <a:prstGeom prst="rect">
              <a:avLst/>
            </a:prstGeom>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 name="Imagem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87919" y="2822883"/>
              <a:ext cx="247650" cy="1762125"/>
            </a:xfrm>
            <a:prstGeom prst="roundRect">
              <a:avLst>
                <a:gd name="adj" fmla="val 8594"/>
              </a:avLst>
            </a:prstGeom>
            <a:solidFill>
              <a:srgbClr val="FFFFFF">
                <a:shade val="85000"/>
              </a:srgbClr>
            </a:solidFill>
            <a:ln>
              <a:noFill/>
            </a:ln>
            <a:effectLst/>
          </p:spPr>
        </p:pic>
        <p:sp>
          <p:nvSpPr>
            <p:cNvPr id="3" name="CaixaDeTexto 2"/>
            <p:cNvSpPr txBox="1"/>
            <p:nvPr/>
          </p:nvSpPr>
          <p:spPr>
            <a:xfrm>
              <a:off x="1" y="4848225"/>
              <a:ext cx="5948978" cy="261610"/>
            </a:xfrm>
            <a:prstGeom prst="rect">
              <a:avLst/>
            </a:prstGeom>
            <a:noFill/>
            <a:scene3d>
              <a:camera prst="orthographicFront"/>
              <a:lightRig rig="threePt" dir="t"/>
            </a:scene3d>
            <a:sp3d>
              <a:bevelT w="114300" prst="artDeco"/>
              <a:bevelB/>
            </a:sp3d>
          </p:spPr>
          <p:txBody>
            <a:bodyPr wrap="square" rtlCol="0">
              <a:spAutoFit/>
            </a:bodyPr>
            <a:lstStyle/>
            <a:p>
              <a:pPr algn="just"/>
              <a:r>
                <a:rPr lang="pt-BR" sz="1100" dirty="0">
                  <a:solidFill>
                    <a:schemeClr val="bg1">
                      <a:lumMod val="65000"/>
                    </a:schemeClr>
                  </a:solidFill>
                </a:rPr>
                <a:t>Informações retiradas dos indicadores de SLA e </a:t>
              </a:r>
              <a:r>
                <a:rPr lang="pt-BR" sz="1100" dirty="0" err="1">
                  <a:solidFill>
                    <a:schemeClr val="bg1">
                      <a:lumMod val="65000"/>
                    </a:schemeClr>
                  </a:solidFill>
                </a:rPr>
                <a:t>tProcess</a:t>
              </a:r>
              <a:r>
                <a:rPr lang="pt-BR" sz="1100" dirty="0">
                  <a:solidFill>
                    <a:schemeClr val="bg1">
                      <a:lumMod val="65000"/>
                    </a:schemeClr>
                  </a:solidFill>
                </a:rPr>
                <a:t>! referentes ao período de 01 a 20/03.</a:t>
              </a:r>
            </a:p>
          </p:txBody>
        </p:sp>
      </p:grpSp>
      <p:pic>
        <p:nvPicPr>
          <p:cNvPr id="4" name="Imagem 3"/>
          <p:cNvPicPr>
            <a:picLocks noChangeAspect="1"/>
          </p:cNvPicPr>
          <p:nvPr/>
        </p:nvPicPr>
        <p:blipFill>
          <a:blip r:embed="rId5"/>
          <a:stretch>
            <a:fillRect/>
          </a:stretch>
        </p:blipFill>
        <p:spPr>
          <a:xfrm>
            <a:off x="0" y="2436"/>
            <a:ext cx="786452" cy="774259"/>
          </a:xfrm>
          <a:prstGeom prst="rect">
            <a:avLst/>
          </a:prstGeom>
        </p:spPr>
      </p:pic>
      <p:sp>
        <p:nvSpPr>
          <p:cNvPr id="13" name="Retângulo de cantos arredondados 12"/>
          <p:cNvSpPr>
            <a:spLocks noChangeAspect="1"/>
          </p:cNvSpPr>
          <p:nvPr/>
        </p:nvSpPr>
        <p:spPr>
          <a:xfrm>
            <a:off x="7527600" y="740192"/>
            <a:ext cx="1440000" cy="352000"/>
          </a:xfrm>
          <a:prstGeom prst="roundRect">
            <a:avLst/>
          </a:prstGeom>
          <a:solidFill>
            <a:srgbClr val="92D050"/>
          </a:solidFill>
          <a:scene3d>
            <a:camera prst="orthographicFront"/>
            <a:lightRig rig="flood" dir="t"/>
          </a:scene3d>
          <a:sp3d prstMaterial="matte">
            <a:bevelT w="114300" prst="artDeco"/>
            <a:bevelB w="165100" prst="coolSlant"/>
          </a:sp3d>
        </p:spPr>
        <p:style>
          <a:lnRef idx="1">
            <a:schemeClr val="accent1"/>
          </a:lnRef>
          <a:fillRef idx="3">
            <a:schemeClr val="accent1"/>
          </a:fillRef>
          <a:effectRef idx="2">
            <a:schemeClr val="accent1"/>
          </a:effectRef>
          <a:fontRef idx="minor">
            <a:schemeClr val="lt1"/>
          </a:fontRef>
        </p:style>
        <p:txBody>
          <a:bodyPr rtlCol="0" anchor="ctr"/>
          <a:lstStyle/>
          <a:p>
            <a:pPr algn="ctr"/>
            <a:r>
              <a:rPr lang="pt-BR" sz="1600" b="1" dirty="0"/>
              <a:t>Meta 188</a:t>
            </a:r>
          </a:p>
        </p:txBody>
      </p:sp>
      <p:sp>
        <p:nvSpPr>
          <p:cNvPr id="14" name="Retângulo de cantos arredondados 12"/>
          <p:cNvSpPr>
            <a:spLocks noChangeAspect="1"/>
          </p:cNvSpPr>
          <p:nvPr/>
        </p:nvSpPr>
        <p:spPr>
          <a:xfrm>
            <a:off x="7527600" y="1186770"/>
            <a:ext cx="1440000" cy="352000"/>
          </a:xfrm>
          <a:prstGeom prst="roundRect">
            <a:avLst/>
          </a:prstGeom>
          <a:solidFill>
            <a:srgbClr val="0070C0"/>
          </a:solidFill>
          <a:scene3d>
            <a:camera prst="orthographicFront"/>
            <a:lightRig rig="flood" dir="t"/>
          </a:scene3d>
          <a:sp3d prstMaterial="matte">
            <a:bevelT w="114300" prst="artDeco"/>
            <a:bevelB w="165100" prst="coolSlant"/>
          </a:sp3d>
        </p:spPr>
        <p:style>
          <a:lnRef idx="1">
            <a:schemeClr val="accent1"/>
          </a:lnRef>
          <a:fillRef idx="3">
            <a:schemeClr val="accent1"/>
          </a:fillRef>
          <a:effectRef idx="2">
            <a:schemeClr val="accent1"/>
          </a:effectRef>
          <a:fontRef idx="minor">
            <a:schemeClr val="lt1"/>
          </a:fontRef>
        </p:style>
        <p:txBody>
          <a:bodyPr rtlCol="0" anchor="ctr"/>
          <a:lstStyle/>
          <a:p>
            <a:pPr algn="ctr"/>
            <a:r>
              <a:rPr lang="pt-BR" sz="1600" b="1" dirty="0"/>
              <a:t>Atual 146</a:t>
            </a:r>
          </a:p>
        </p:txBody>
      </p:sp>
      <p:sp>
        <p:nvSpPr>
          <p:cNvPr id="16" name="Seta para Baixo 15">
            <a:hlinkClick r:id="rId6" action="ppaction://hlinksldjump"/>
          </p:cNvPr>
          <p:cNvSpPr/>
          <p:nvPr/>
        </p:nvSpPr>
        <p:spPr>
          <a:xfrm rot="5400000">
            <a:off x="7597154" y="4368352"/>
            <a:ext cx="499334" cy="952525"/>
          </a:xfrm>
          <a:prstGeom prst="downArrow">
            <a:avLst>
              <a:gd name="adj1" fmla="val 50000"/>
              <a:gd name="adj2" fmla="val 64978"/>
            </a:avLst>
          </a:prstGeom>
        </p:spPr>
        <p:style>
          <a:lnRef idx="1">
            <a:schemeClr val="accent3"/>
          </a:lnRef>
          <a:fillRef idx="2">
            <a:schemeClr val="accent3"/>
          </a:fillRef>
          <a:effectRef idx="1">
            <a:schemeClr val="accent3"/>
          </a:effectRef>
          <a:fontRef idx="minor">
            <a:schemeClr val="dk1"/>
          </a:fontRef>
        </p:style>
        <p:txBody>
          <a:bodyPr vert="vert270" rtlCol="0" anchor="ctr"/>
          <a:lstStyle/>
          <a:p>
            <a:pPr algn="ctr"/>
            <a:r>
              <a:rPr lang="pt-BR" sz="1400" b="1" dirty="0"/>
              <a:t>Voltar</a:t>
            </a:r>
            <a:endParaRPr lang="pt-BR" b="1" dirty="0"/>
          </a:p>
        </p:txBody>
      </p:sp>
      <p:pic>
        <p:nvPicPr>
          <p:cNvPr id="15" name="Picture 7"/>
          <p:cNvPicPr>
            <a:picLocks noChangeAspect="1"/>
          </p:cNvPicPr>
          <p:nvPr/>
        </p:nvPicPr>
        <p:blipFill>
          <a:blip r:embed="rId7"/>
          <a:stretch>
            <a:fillRect/>
          </a:stretch>
        </p:blipFill>
        <p:spPr>
          <a:xfrm>
            <a:off x="7331777" y="257994"/>
            <a:ext cx="1473556" cy="356656"/>
          </a:xfrm>
          <a:prstGeom prst="rect">
            <a:avLst/>
          </a:prstGeom>
        </p:spPr>
      </p:pic>
      <p:graphicFrame>
        <p:nvGraphicFramePr>
          <p:cNvPr id="18" name="Gráfico 17"/>
          <p:cNvGraphicFramePr>
            <a:graphicFrameLocks noGrp="1"/>
          </p:cNvGraphicFramePr>
          <p:nvPr>
            <p:extLst/>
          </p:nvPr>
        </p:nvGraphicFramePr>
        <p:xfrm>
          <a:off x="1" y="540900"/>
          <a:ext cx="7187608" cy="4617304"/>
        </p:xfrm>
        <a:graphic>
          <a:graphicData uri="http://schemas.openxmlformats.org/drawingml/2006/chart">
            <c:chart xmlns:c="http://schemas.openxmlformats.org/drawingml/2006/chart" xmlns:r="http://schemas.openxmlformats.org/officeDocument/2006/relationships" r:id="rId8"/>
          </a:graphicData>
        </a:graphic>
      </p:graphicFrame>
    </p:spTree>
    <p:extLst>
      <p:ext uri="{BB962C8B-B14F-4D97-AF65-F5344CB8AC3E}">
        <p14:creationId xmlns:p14="http://schemas.microsoft.com/office/powerpoint/2010/main" val="3194629867"/>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Agrupar 1"/>
          <p:cNvGrpSpPr/>
          <p:nvPr/>
        </p:nvGrpSpPr>
        <p:grpSpPr>
          <a:xfrm>
            <a:off x="1" y="108241"/>
            <a:ext cx="9144000" cy="5049962"/>
            <a:chOff x="1" y="98302"/>
            <a:chExt cx="9144000" cy="5049962"/>
          </a:xfrm>
        </p:grpSpPr>
        <p:sp>
          <p:nvSpPr>
            <p:cNvPr id="6" name="CaixaDeTexto 5"/>
            <p:cNvSpPr txBox="1"/>
            <p:nvPr/>
          </p:nvSpPr>
          <p:spPr>
            <a:xfrm>
              <a:off x="2039091" y="300128"/>
              <a:ext cx="184731" cy="461665"/>
            </a:xfrm>
            <a:prstGeom prst="rect">
              <a:avLst/>
            </a:prstGeom>
            <a:noFill/>
            <a:scene3d>
              <a:camera prst="orthographicFront"/>
              <a:lightRig rig="threePt" dir="t"/>
            </a:scene3d>
            <a:sp3d>
              <a:bevelT w="114300" prst="artDeco"/>
              <a:bevelB/>
            </a:sp3d>
          </p:spPr>
          <p:txBody>
            <a:bodyPr wrap="none" rtlCol="0">
              <a:spAutoFit/>
            </a:bodyPr>
            <a:lstStyle/>
            <a:p>
              <a:endParaRPr lang="pt-BR" sz="2400" dirty="0"/>
            </a:p>
          </p:txBody>
        </p:sp>
        <p:sp>
          <p:nvSpPr>
            <p:cNvPr id="20" name="Title 1"/>
            <p:cNvSpPr txBox="1">
              <a:spLocks/>
            </p:cNvSpPr>
            <p:nvPr/>
          </p:nvSpPr>
          <p:spPr>
            <a:xfrm>
              <a:off x="754515" y="98302"/>
              <a:ext cx="6254098" cy="560400"/>
            </a:xfrm>
            <a:prstGeom prst="rect">
              <a:avLst/>
            </a:prstGeom>
            <a:scene3d>
              <a:camera prst="orthographicFront"/>
              <a:lightRig rig="threePt" dir="t"/>
            </a:scene3d>
            <a:sp3d>
              <a:bevelT w="114300" prst="artDeco"/>
              <a:bevelB/>
            </a:sp3d>
          </p:spPr>
          <p:txBody>
            <a:bodyPr vert="horz" lIns="91440" tIns="45720" rIns="91440" bIns="45720" rtlCol="0" anchor="ctr">
              <a:normAutofit fontScale="700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buClr>
                  <a:srgbClr val="800000"/>
                </a:buClr>
              </a:pPr>
              <a:r>
                <a:rPr lang="pt-BR" sz="3200" b="1" dirty="0">
                  <a:solidFill>
                    <a:schemeClr val="tx2"/>
                  </a:solidFill>
                  <a:latin typeface="Arial" pitchFamily="34" charset="0"/>
                  <a:cs typeface="Arial" pitchFamily="34" charset="0"/>
                </a:rPr>
                <a:t>2. Indicadores: Total de Incidentes Médio</a:t>
              </a:r>
              <a:endParaRPr lang="pt-BR" sz="2000" b="1" dirty="0">
                <a:solidFill>
                  <a:schemeClr val="tx2"/>
                </a:solidFill>
                <a:latin typeface="Arial" pitchFamily="34" charset="0"/>
                <a:cs typeface="Arial" pitchFamily="34" charset="0"/>
              </a:endParaRPr>
            </a:p>
          </p:txBody>
        </p:sp>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76780" t="78172" r="18395" b="12686"/>
            <a:stretch/>
          </p:blipFill>
          <p:spPr bwMode="auto">
            <a:xfrm>
              <a:off x="8188658" y="4384319"/>
              <a:ext cx="955343" cy="763945"/>
            </a:xfrm>
            <a:prstGeom prst="rect">
              <a:avLst/>
            </a:prstGeom>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 name="Imagem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87919" y="2822883"/>
              <a:ext cx="247650" cy="1762125"/>
            </a:xfrm>
            <a:prstGeom prst="roundRect">
              <a:avLst>
                <a:gd name="adj" fmla="val 8594"/>
              </a:avLst>
            </a:prstGeom>
            <a:solidFill>
              <a:srgbClr val="FFFFFF">
                <a:shade val="85000"/>
              </a:srgbClr>
            </a:solidFill>
            <a:ln>
              <a:noFill/>
            </a:ln>
            <a:effectLst/>
          </p:spPr>
        </p:pic>
        <p:sp>
          <p:nvSpPr>
            <p:cNvPr id="3" name="CaixaDeTexto 2"/>
            <p:cNvSpPr txBox="1"/>
            <p:nvPr/>
          </p:nvSpPr>
          <p:spPr>
            <a:xfrm>
              <a:off x="1" y="4848225"/>
              <a:ext cx="5948978" cy="261610"/>
            </a:xfrm>
            <a:prstGeom prst="rect">
              <a:avLst/>
            </a:prstGeom>
            <a:noFill/>
            <a:scene3d>
              <a:camera prst="orthographicFront"/>
              <a:lightRig rig="threePt" dir="t"/>
            </a:scene3d>
            <a:sp3d>
              <a:bevelT w="114300" prst="artDeco"/>
              <a:bevelB/>
            </a:sp3d>
          </p:spPr>
          <p:txBody>
            <a:bodyPr wrap="square" rtlCol="0">
              <a:spAutoFit/>
            </a:bodyPr>
            <a:lstStyle/>
            <a:p>
              <a:pPr algn="just"/>
              <a:r>
                <a:rPr lang="pt-BR" sz="1100" dirty="0">
                  <a:solidFill>
                    <a:schemeClr val="bg1">
                      <a:lumMod val="65000"/>
                    </a:schemeClr>
                  </a:solidFill>
                </a:rPr>
                <a:t>Informações retiradas dos indicadores de SLA e </a:t>
              </a:r>
              <a:r>
                <a:rPr lang="pt-BR" sz="1100" dirty="0" err="1">
                  <a:solidFill>
                    <a:schemeClr val="bg1">
                      <a:lumMod val="65000"/>
                    </a:schemeClr>
                  </a:solidFill>
                </a:rPr>
                <a:t>tProcess</a:t>
              </a:r>
              <a:r>
                <a:rPr lang="pt-BR" sz="1100" dirty="0">
                  <a:solidFill>
                    <a:schemeClr val="bg1">
                      <a:lumMod val="65000"/>
                    </a:schemeClr>
                  </a:solidFill>
                </a:rPr>
                <a:t>! referentes ao período de 01 a 20/03.</a:t>
              </a:r>
            </a:p>
          </p:txBody>
        </p:sp>
      </p:grpSp>
      <p:pic>
        <p:nvPicPr>
          <p:cNvPr id="4" name="Imagem 3"/>
          <p:cNvPicPr>
            <a:picLocks noChangeAspect="1"/>
          </p:cNvPicPr>
          <p:nvPr/>
        </p:nvPicPr>
        <p:blipFill>
          <a:blip r:embed="rId5"/>
          <a:stretch>
            <a:fillRect/>
          </a:stretch>
        </p:blipFill>
        <p:spPr>
          <a:xfrm>
            <a:off x="0" y="2436"/>
            <a:ext cx="786452" cy="774259"/>
          </a:xfrm>
          <a:prstGeom prst="rect">
            <a:avLst/>
          </a:prstGeom>
        </p:spPr>
      </p:pic>
      <p:sp>
        <p:nvSpPr>
          <p:cNvPr id="13" name="Retângulo de cantos arredondados 12"/>
          <p:cNvSpPr>
            <a:spLocks noChangeAspect="1"/>
          </p:cNvSpPr>
          <p:nvPr/>
        </p:nvSpPr>
        <p:spPr>
          <a:xfrm>
            <a:off x="7525761" y="714053"/>
            <a:ext cx="1440000" cy="352000"/>
          </a:xfrm>
          <a:prstGeom prst="roundRect">
            <a:avLst/>
          </a:prstGeom>
          <a:solidFill>
            <a:srgbClr val="92D050"/>
          </a:solidFill>
          <a:scene3d>
            <a:camera prst="orthographicFront"/>
            <a:lightRig rig="flood" dir="t"/>
          </a:scene3d>
          <a:sp3d prstMaterial="matte">
            <a:bevelT w="114300" prst="artDeco"/>
            <a:bevelB w="165100" prst="coolSlant"/>
          </a:sp3d>
        </p:spPr>
        <p:style>
          <a:lnRef idx="1">
            <a:schemeClr val="accent1"/>
          </a:lnRef>
          <a:fillRef idx="3">
            <a:schemeClr val="accent1"/>
          </a:fillRef>
          <a:effectRef idx="2">
            <a:schemeClr val="accent1"/>
          </a:effectRef>
          <a:fontRef idx="minor">
            <a:schemeClr val="lt1"/>
          </a:fontRef>
        </p:style>
        <p:txBody>
          <a:bodyPr rtlCol="0" anchor="ctr"/>
          <a:lstStyle/>
          <a:p>
            <a:pPr algn="ctr"/>
            <a:r>
              <a:rPr lang="pt-BR" sz="1600" b="1" dirty="0"/>
              <a:t>Meta 11.006</a:t>
            </a:r>
          </a:p>
        </p:txBody>
      </p:sp>
      <p:sp>
        <p:nvSpPr>
          <p:cNvPr id="12" name="Retângulo de cantos arredondados 12"/>
          <p:cNvSpPr>
            <a:spLocks noChangeAspect="1"/>
          </p:cNvSpPr>
          <p:nvPr/>
        </p:nvSpPr>
        <p:spPr>
          <a:xfrm>
            <a:off x="7525761" y="1199778"/>
            <a:ext cx="1440000" cy="352000"/>
          </a:xfrm>
          <a:prstGeom prst="roundRect">
            <a:avLst/>
          </a:prstGeom>
          <a:solidFill>
            <a:srgbClr val="0070C0"/>
          </a:solidFill>
          <a:scene3d>
            <a:camera prst="orthographicFront"/>
            <a:lightRig rig="flood" dir="t"/>
          </a:scene3d>
          <a:sp3d prstMaterial="matte">
            <a:bevelT w="114300" prst="artDeco"/>
            <a:bevelB w="165100" prst="coolSlant"/>
          </a:sp3d>
        </p:spPr>
        <p:style>
          <a:lnRef idx="1">
            <a:schemeClr val="accent1"/>
          </a:lnRef>
          <a:fillRef idx="3">
            <a:schemeClr val="accent1"/>
          </a:fillRef>
          <a:effectRef idx="2">
            <a:schemeClr val="accent1"/>
          </a:effectRef>
          <a:fontRef idx="minor">
            <a:schemeClr val="lt1"/>
          </a:fontRef>
        </p:style>
        <p:txBody>
          <a:bodyPr rtlCol="0" anchor="ctr"/>
          <a:lstStyle/>
          <a:p>
            <a:pPr algn="ctr"/>
            <a:r>
              <a:rPr lang="pt-BR" sz="1600" b="1" dirty="0"/>
              <a:t>Atual 8.664</a:t>
            </a:r>
          </a:p>
        </p:txBody>
      </p:sp>
      <p:sp>
        <p:nvSpPr>
          <p:cNvPr id="15" name="Seta para Baixo 14">
            <a:hlinkClick r:id="rId6" action="ppaction://hlinksldjump"/>
          </p:cNvPr>
          <p:cNvSpPr/>
          <p:nvPr/>
        </p:nvSpPr>
        <p:spPr>
          <a:xfrm rot="5400000">
            <a:off x="7597154" y="4368352"/>
            <a:ext cx="499334" cy="952525"/>
          </a:xfrm>
          <a:prstGeom prst="downArrow">
            <a:avLst>
              <a:gd name="adj1" fmla="val 50000"/>
              <a:gd name="adj2" fmla="val 64978"/>
            </a:avLst>
          </a:prstGeom>
        </p:spPr>
        <p:style>
          <a:lnRef idx="1">
            <a:schemeClr val="accent3"/>
          </a:lnRef>
          <a:fillRef idx="2">
            <a:schemeClr val="accent3"/>
          </a:fillRef>
          <a:effectRef idx="1">
            <a:schemeClr val="accent3"/>
          </a:effectRef>
          <a:fontRef idx="minor">
            <a:schemeClr val="dk1"/>
          </a:fontRef>
        </p:style>
        <p:txBody>
          <a:bodyPr vert="vert270" rtlCol="0" anchor="ctr"/>
          <a:lstStyle/>
          <a:p>
            <a:pPr algn="ctr"/>
            <a:r>
              <a:rPr lang="pt-BR" sz="1400" b="1" dirty="0"/>
              <a:t>Voltar</a:t>
            </a:r>
            <a:endParaRPr lang="pt-BR" b="1" dirty="0"/>
          </a:p>
        </p:txBody>
      </p:sp>
      <p:pic>
        <p:nvPicPr>
          <p:cNvPr id="14" name="Picture 7"/>
          <p:cNvPicPr>
            <a:picLocks noChangeAspect="1"/>
          </p:cNvPicPr>
          <p:nvPr/>
        </p:nvPicPr>
        <p:blipFill>
          <a:blip r:embed="rId7"/>
          <a:stretch>
            <a:fillRect/>
          </a:stretch>
        </p:blipFill>
        <p:spPr>
          <a:xfrm>
            <a:off x="7331777" y="257994"/>
            <a:ext cx="1473556" cy="356656"/>
          </a:xfrm>
          <a:prstGeom prst="rect">
            <a:avLst/>
          </a:prstGeom>
        </p:spPr>
      </p:pic>
      <p:graphicFrame>
        <p:nvGraphicFramePr>
          <p:cNvPr id="18" name="Gráfico 17"/>
          <p:cNvGraphicFramePr>
            <a:graphicFrameLocks noGrp="1"/>
          </p:cNvGraphicFramePr>
          <p:nvPr>
            <p:extLst/>
          </p:nvPr>
        </p:nvGraphicFramePr>
        <p:xfrm>
          <a:off x="2" y="540899"/>
          <a:ext cx="7251404" cy="4553383"/>
        </p:xfrm>
        <a:graphic>
          <a:graphicData uri="http://schemas.openxmlformats.org/drawingml/2006/chart">
            <c:chart xmlns:c="http://schemas.openxmlformats.org/drawingml/2006/chart" xmlns:r="http://schemas.openxmlformats.org/officeDocument/2006/relationships" r:id="rId8"/>
          </a:graphicData>
        </a:graphic>
      </p:graphicFrame>
    </p:spTree>
    <p:extLst>
      <p:ext uri="{BB962C8B-B14F-4D97-AF65-F5344CB8AC3E}">
        <p14:creationId xmlns:p14="http://schemas.microsoft.com/office/powerpoint/2010/main" val="1609674528"/>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Agrupar 1"/>
          <p:cNvGrpSpPr/>
          <p:nvPr/>
        </p:nvGrpSpPr>
        <p:grpSpPr>
          <a:xfrm>
            <a:off x="1" y="148921"/>
            <a:ext cx="9144000" cy="5049962"/>
            <a:chOff x="1" y="98302"/>
            <a:chExt cx="9144000" cy="5049962"/>
          </a:xfrm>
        </p:grpSpPr>
        <p:sp>
          <p:nvSpPr>
            <p:cNvPr id="6" name="CaixaDeTexto 5"/>
            <p:cNvSpPr txBox="1"/>
            <p:nvPr/>
          </p:nvSpPr>
          <p:spPr>
            <a:xfrm>
              <a:off x="2039091" y="300128"/>
              <a:ext cx="184731" cy="461665"/>
            </a:xfrm>
            <a:prstGeom prst="rect">
              <a:avLst/>
            </a:prstGeom>
            <a:noFill/>
            <a:scene3d>
              <a:camera prst="orthographicFront"/>
              <a:lightRig rig="threePt" dir="t"/>
            </a:scene3d>
            <a:sp3d>
              <a:bevelT w="114300" prst="artDeco"/>
              <a:bevelB/>
            </a:sp3d>
          </p:spPr>
          <p:txBody>
            <a:bodyPr wrap="none" rtlCol="0">
              <a:spAutoFit/>
            </a:bodyPr>
            <a:lstStyle/>
            <a:p>
              <a:endParaRPr lang="pt-BR" sz="2400" dirty="0"/>
            </a:p>
          </p:txBody>
        </p:sp>
        <p:sp>
          <p:nvSpPr>
            <p:cNvPr id="20" name="Title 1"/>
            <p:cNvSpPr txBox="1">
              <a:spLocks/>
            </p:cNvSpPr>
            <p:nvPr/>
          </p:nvSpPr>
          <p:spPr>
            <a:xfrm>
              <a:off x="754515" y="98302"/>
              <a:ext cx="6254098" cy="560400"/>
            </a:xfrm>
            <a:prstGeom prst="rect">
              <a:avLst/>
            </a:prstGeom>
            <a:scene3d>
              <a:camera prst="orthographicFront"/>
              <a:lightRig rig="threePt" dir="t"/>
            </a:scene3d>
            <a:sp3d>
              <a:bevelT w="114300" prst="artDeco"/>
              <a:bevelB/>
            </a:sp3d>
          </p:spPr>
          <p:txBody>
            <a:bodyPr vert="horz" lIns="91440" tIns="45720" rIns="91440" bIns="45720" rtlCol="0" anchor="ctr">
              <a:normAutofit fontScale="700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buClr>
                  <a:srgbClr val="800000"/>
                </a:buClr>
              </a:pPr>
              <a:r>
                <a:rPr lang="pt-BR" sz="3200" b="1" dirty="0">
                  <a:solidFill>
                    <a:schemeClr val="tx2"/>
                  </a:solidFill>
                  <a:latin typeface="Arial" pitchFamily="34" charset="0"/>
                  <a:cs typeface="Arial" pitchFamily="34" charset="0"/>
                </a:rPr>
                <a:t>2. Indicadores: Total de Incidentes Baixo</a:t>
              </a:r>
            </a:p>
          </p:txBody>
        </p:sp>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76780" t="78172" r="18395" b="12686"/>
            <a:stretch/>
          </p:blipFill>
          <p:spPr bwMode="auto">
            <a:xfrm>
              <a:off x="8188658" y="4384319"/>
              <a:ext cx="955343" cy="763945"/>
            </a:xfrm>
            <a:prstGeom prst="rect">
              <a:avLst/>
            </a:prstGeom>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 name="Imagem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87919" y="2822883"/>
              <a:ext cx="247650" cy="1762125"/>
            </a:xfrm>
            <a:prstGeom prst="roundRect">
              <a:avLst>
                <a:gd name="adj" fmla="val 8594"/>
              </a:avLst>
            </a:prstGeom>
            <a:solidFill>
              <a:srgbClr val="FFFFFF">
                <a:shade val="85000"/>
              </a:srgbClr>
            </a:solidFill>
            <a:ln>
              <a:noFill/>
            </a:ln>
            <a:effectLst/>
          </p:spPr>
        </p:pic>
        <p:sp>
          <p:nvSpPr>
            <p:cNvPr id="3" name="CaixaDeTexto 2"/>
            <p:cNvSpPr txBox="1"/>
            <p:nvPr/>
          </p:nvSpPr>
          <p:spPr>
            <a:xfrm>
              <a:off x="1" y="4848225"/>
              <a:ext cx="5948978" cy="261610"/>
            </a:xfrm>
            <a:prstGeom prst="rect">
              <a:avLst/>
            </a:prstGeom>
            <a:noFill/>
            <a:scene3d>
              <a:camera prst="orthographicFront"/>
              <a:lightRig rig="threePt" dir="t"/>
            </a:scene3d>
            <a:sp3d>
              <a:bevelT w="114300" prst="artDeco"/>
              <a:bevelB/>
            </a:sp3d>
          </p:spPr>
          <p:txBody>
            <a:bodyPr wrap="square" rtlCol="0">
              <a:spAutoFit/>
            </a:bodyPr>
            <a:lstStyle/>
            <a:p>
              <a:pPr algn="just"/>
              <a:r>
                <a:rPr lang="pt-BR" sz="1100" dirty="0">
                  <a:solidFill>
                    <a:schemeClr val="bg1">
                      <a:lumMod val="65000"/>
                    </a:schemeClr>
                  </a:solidFill>
                </a:rPr>
                <a:t>Informações retiradas dos indicadores de SLA e </a:t>
              </a:r>
              <a:r>
                <a:rPr lang="pt-BR" sz="1100" dirty="0" err="1">
                  <a:solidFill>
                    <a:schemeClr val="bg1">
                      <a:lumMod val="65000"/>
                    </a:schemeClr>
                  </a:solidFill>
                </a:rPr>
                <a:t>tProcess</a:t>
              </a:r>
              <a:r>
                <a:rPr lang="pt-BR" sz="1100" dirty="0">
                  <a:solidFill>
                    <a:schemeClr val="bg1">
                      <a:lumMod val="65000"/>
                    </a:schemeClr>
                  </a:solidFill>
                </a:rPr>
                <a:t>! referentes ao período de 01 a 20/03.</a:t>
              </a:r>
            </a:p>
          </p:txBody>
        </p:sp>
      </p:grpSp>
      <p:pic>
        <p:nvPicPr>
          <p:cNvPr id="4" name="Imagem 3"/>
          <p:cNvPicPr>
            <a:picLocks noChangeAspect="1"/>
          </p:cNvPicPr>
          <p:nvPr/>
        </p:nvPicPr>
        <p:blipFill>
          <a:blip r:embed="rId5"/>
          <a:stretch>
            <a:fillRect/>
          </a:stretch>
        </p:blipFill>
        <p:spPr>
          <a:xfrm>
            <a:off x="0" y="2436"/>
            <a:ext cx="786452" cy="774259"/>
          </a:xfrm>
          <a:prstGeom prst="rect">
            <a:avLst/>
          </a:prstGeom>
        </p:spPr>
      </p:pic>
      <p:sp>
        <p:nvSpPr>
          <p:cNvPr id="14" name="Retângulo de cantos arredondados 12"/>
          <p:cNvSpPr>
            <a:spLocks noChangeAspect="1"/>
          </p:cNvSpPr>
          <p:nvPr/>
        </p:nvSpPr>
        <p:spPr>
          <a:xfrm>
            <a:off x="7525761" y="714053"/>
            <a:ext cx="1440000" cy="352000"/>
          </a:xfrm>
          <a:prstGeom prst="roundRect">
            <a:avLst/>
          </a:prstGeom>
          <a:solidFill>
            <a:srgbClr val="92D050"/>
          </a:solidFill>
          <a:scene3d>
            <a:camera prst="orthographicFront"/>
            <a:lightRig rig="flood" dir="t"/>
          </a:scene3d>
          <a:sp3d prstMaterial="matte">
            <a:bevelT w="114300" prst="artDeco"/>
            <a:bevelB w="165100" prst="coolSlant"/>
          </a:sp3d>
        </p:spPr>
        <p:style>
          <a:lnRef idx="1">
            <a:schemeClr val="accent1"/>
          </a:lnRef>
          <a:fillRef idx="3">
            <a:schemeClr val="accent1"/>
          </a:fillRef>
          <a:effectRef idx="2">
            <a:schemeClr val="accent1"/>
          </a:effectRef>
          <a:fontRef idx="minor">
            <a:schemeClr val="lt1"/>
          </a:fontRef>
        </p:style>
        <p:txBody>
          <a:bodyPr rtlCol="0" anchor="ctr"/>
          <a:lstStyle/>
          <a:p>
            <a:pPr algn="ctr"/>
            <a:r>
              <a:rPr lang="pt-BR" sz="1600" b="1" dirty="0"/>
              <a:t>Meta 7.472</a:t>
            </a:r>
          </a:p>
        </p:txBody>
      </p:sp>
      <p:sp>
        <p:nvSpPr>
          <p:cNvPr id="15" name="Retângulo de cantos arredondados 12"/>
          <p:cNvSpPr>
            <a:spLocks noChangeAspect="1"/>
          </p:cNvSpPr>
          <p:nvPr/>
        </p:nvSpPr>
        <p:spPr>
          <a:xfrm>
            <a:off x="7525761" y="1199778"/>
            <a:ext cx="1440000" cy="352000"/>
          </a:xfrm>
          <a:prstGeom prst="roundRect">
            <a:avLst/>
          </a:prstGeom>
          <a:solidFill>
            <a:srgbClr val="0070C0"/>
          </a:solidFill>
          <a:scene3d>
            <a:camera prst="orthographicFront"/>
            <a:lightRig rig="flood" dir="t"/>
          </a:scene3d>
          <a:sp3d prstMaterial="matte">
            <a:bevelT w="114300" prst="artDeco"/>
            <a:bevelB w="165100" prst="coolSlant"/>
          </a:sp3d>
        </p:spPr>
        <p:style>
          <a:lnRef idx="1">
            <a:schemeClr val="accent1"/>
          </a:lnRef>
          <a:fillRef idx="3">
            <a:schemeClr val="accent1"/>
          </a:fillRef>
          <a:effectRef idx="2">
            <a:schemeClr val="accent1"/>
          </a:effectRef>
          <a:fontRef idx="minor">
            <a:schemeClr val="lt1"/>
          </a:fontRef>
        </p:style>
        <p:txBody>
          <a:bodyPr rtlCol="0" anchor="ctr"/>
          <a:lstStyle/>
          <a:p>
            <a:pPr algn="ctr"/>
            <a:r>
              <a:rPr lang="pt-BR" sz="1600" b="1" dirty="0"/>
              <a:t>Atual 7.814</a:t>
            </a:r>
          </a:p>
        </p:txBody>
      </p:sp>
      <p:sp>
        <p:nvSpPr>
          <p:cNvPr id="16" name="Seta para Baixo 15">
            <a:hlinkClick r:id="rId6" action="ppaction://hlinksldjump"/>
          </p:cNvPr>
          <p:cNvSpPr/>
          <p:nvPr/>
        </p:nvSpPr>
        <p:spPr>
          <a:xfrm rot="5400000">
            <a:off x="7597154" y="4368352"/>
            <a:ext cx="499334" cy="952525"/>
          </a:xfrm>
          <a:prstGeom prst="downArrow">
            <a:avLst>
              <a:gd name="adj1" fmla="val 50000"/>
              <a:gd name="adj2" fmla="val 64978"/>
            </a:avLst>
          </a:prstGeom>
        </p:spPr>
        <p:style>
          <a:lnRef idx="1">
            <a:schemeClr val="accent3"/>
          </a:lnRef>
          <a:fillRef idx="2">
            <a:schemeClr val="accent3"/>
          </a:fillRef>
          <a:effectRef idx="1">
            <a:schemeClr val="accent3"/>
          </a:effectRef>
          <a:fontRef idx="minor">
            <a:schemeClr val="dk1"/>
          </a:fontRef>
        </p:style>
        <p:txBody>
          <a:bodyPr vert="vert270" rtlCol="0" anchor="ctr"/>
          <a:lstStyle/>
          <a:p>
            <a:pPr algn="ctr"/>
            <a:r>
              <a:rPr lang="pt-BR" sz="1400" b="1" dirty="0"/>
              <a:t>Voltar</a:t>
            </a:r>
            <a:endParaRPr lang="pt-BR" b="1" dirty="0"/>
          </a:p>
        </p:txBody>
      </p:sp>
      <p:pic>
        <p:nvPicPr>
          <p:cNvPr id="19" name="Picture 7"/>
          <p:cNvPicPr>
            <a:picLocks noChangeAspect="1"/>
          </p:cNvPicPr>
          <p:nvPr/>
        </p:nvPicPr>
        <p:blipFill>
          <a:blip r:embed="rId7"/>
          <a:stretch>
            <a:fillRect/>
          </a:stretch>
        </p:blipFill>
        <p:spPr>
          <a:xfrm>
            <a:off x="7331777" y="257994"/>
            <a:ext cx="1473556" cy="356656"/>
          </a:xfrm>
          <a:prstGeom prst="rect">
            <a:avLst/>
          </a:prstGeom>
        </p:spPr>
      </p:pic>
      <p:graphicFrame>
        <p:nvGraphicFramePr>
          <p:cNvPr id="21" name="Gráfico 20"/>
          <p:cNvGraphicFramePr>
            <a:graphicFrameLocks noGrp="1"/>
          </p:cNvGraphicFramePr>
          <p:nvPr>
            <p:extLst/>
          </p:nvPr>
        </p:nvGraphicFramePr>
        <p:xfrm>
          <a:off x="19177" y="581578"/>
          <a:ext cx="7189697" cy="4566685"/>
        </p:xfrm>
        <a:graphic>
          <a:graphicData uri="http://schemas.openxmlformats.org/drawingml/2006/chart">
            <c:chart xmlns:c="http://schemas.openxmlformats.org/drawingml/2006/chart" xmlns:r="http://schemas.openxmlformats.org/officeDocument/2006/relationships" r:id="rId8"/>
          </a:graphicData>
        </a:graphic>
      </p:graphicFrame>
    </p:spTree>
    <p:extLst>
      <p:ext uri="{BB962C8B-B14F-4D97-AF65-F5344CB8AC3E}">
        <p14:creationId xmlns:p14="http://schemas.microsoft.com/office/powerpoint/2010/main" val="2268431449"/>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1" descr="t03-02.jpg"/>
          <p:cNvPicPr>
            <a:picLocks noChangeAspect="1"/>
          </p:cNvPicPr>
          <p:nvPr/>
        </p:nvPicPr>
        <p:blipFill rotWithShape="1">
          <a:blip r:embed="rId3">
            <a:extLst>
              <a:ext uri="{28A0092B-C50C-407E-A947-70E740481C1C}">
                <a14:useLocalDpi xmlns:a14="http://schemas.microsoft.com/office/drawing/2010/main" val="0"/>
              </a:ext>
            </a:extLst>
          </a:blip>
          <a:srcRect r="91368" b="84909"/>
          <a:stretch/>
        </p:blipFill>
        <p:spPr>
          <a:xfrm>
            <a:off x="1139825" y="5"/>
            <a:ext cx="592520" cy="776935"/>
          </a:xfrm>
          <a:prstGeom prst="rect">
            <a:avLst/>
          </a:prstGeom>
        </p:spPr>
      </p:pic>
      <p:sp>
        <p:nvSpPr>
          <p:cNvPr id="6" name="CaixaDeTexto 5"/>
          <p:cNvSpPr txBox="1"/>
          <p:nvPr/>
        </p:nvSpPr>
        <p:spPr>
          <a:xfrm>
            <a:off x="2670560" y="300127"/>
            <a:ext cx="184731" cy="300210"/>
          </a:xfrm>
          <a:prstGeom prst="rect">
            <a:avLst/>
          </a:prstGeom>
          <a:noFill/>
        </p:spPr>
        <p:txBody>
          <a:bodyPr wrap="none" rtlCol="0">
            <a:spAutoFit/>
          </a:bodyPr>
          <a:lstStyle/>
          <a:p>
            <a:pPr defTabSz="343220"/>
            <a:endParaRPr lang="pt-BR" sz="1351" dirty="0">
              <a:solidFill>
                <a:prstClr val="black"/>
              </a:solidFill>
              <a:latin typeface="Calibri"/>
            </a:endParaRPr>
          </a:p>
        </p:txBody>
      </p:sp>
      <p:sp>
        <p:nvSpPr>
          <p:cNvPr id="20" name="Title 1"/>
          <p:cNvSpPr txBox="1">
            <a:spLocks/>
          </p:cNvSpPr>
          <p:nvPr/>
        </p:nvSpPr>
        <p:spPr>
          <a:xfrm>
            <a:off x="1562210" y="90471"/>
            <a:ext cx="4694917" cy="560400"/>
          </a:xfrm>
          <a:prstGeom prst="rect">
            <a:avLst/>
          </a:prstGeom>
        </p:spPr>
        <p:txBody>
          <a:bodyPr vert="horz" lIns="68644" tIns="34322" rIns="68644" bIns="34322"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buClr>
                <a:srgbClr val="800000"/>
              </a:buClr>
            </a:pPr>
            <a:r>
              <a:rPr lang="pt-BR" sz="2102" b="1" dirty="0" err="1">
                <a:solidFill>
                  <a:srgbClr val="5B9BD5">
                    <a:lumMod val="50000"/>
                  </a:srgbClr>
                </a:solidFill>
                <a:latin typeface="Arial" pitchFamily="34" charset="0"/>
                <a:cs typeface="Arial" pitchFamily="34" charset="0"/>
              </a:rPr>
              <a:t>Dashboard</a:t>
            </a:r>
            <a:r>
              <a:rPr lang="pt-BR" sz="2102" b="1" dirty="0">
                <a:solidFill>
                  <a:srgbClr val="5B9BD5">
                    <a:lumMod val="50000"/>
                  </a:srgbClr>
                </a:solidFill>
                <a:latin typeface="Arial" pitchFamily="34" charset="0"/>
                <a:cs typeface="Arial" pitchFamily="34" charset="0"/>
              </a:rPr>
              <a:t> - Problema</a:t>
            </a:r>
            <a:endParaRPr lang="pt-BR" sz="1351" b="1" dirty="0">
              <a:solidFill>
                <a:srgbClr val="5B9BD5">
                  <a:lumMod val="50000"/>
                </a:srgbClr>
              </a:solidFill>
              <a:latin typeface="Arial" pitchFamily="34" charset="0"/>
              <a:cs typeface="Arial" pitchFamily="34" charset="0"/>
            </a:endParaRPr>
          </a:p>
        </p:txBody>
      </p:sp>
      <p:sp>
        <p:nvSpPr>
          <p:cNvPr id="11" name="Retângulo de cantos arredondados 10"/>
          <p:cNvSpPr/>
          <p:nvPr/>
        </p:nvSpPr>
        <p:spPr>
          <a:xfrm>
            <a:off x="1569360" y="1368622"/>
            <a:ext cx="1787591" cy="100105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pt-BR" sz="826" b="1" dirty="0" err="1"/>
              <a:t>Qtde</a:t>
            </a:r>
            <a:r>
              <a:rPr lang="pt-BR" sz="826" b="1" dirty="0"/>
              <a:t>  de problemas em aberto:</a:t>
            </a:r>
          </a:p>
          <a:p>
            <a:pPr algn="ctr"/>
            <a:r>
              <a:rPr lang="pt-BR" sz="1501" b="1" dirty="0"/>
              <a:t>24</a:t>
            </a:r>
          </a:p>
        </p:txBody>
      </p:sp>
      <p:sp>
        <p:nvSpPr>
          <p:cNvPr id="12" name="Retângulo de cantos arredondados 11"/>
          <p:cNvSpPr/>
          <p:nvPr/>
        </p:nvSpPr>
        <p:spPr>
          <a:xfrm>
            <a:off x="3471357" y="1347172"/>
            <a:ext cx="1129758" cy="1036803"/>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pt-BR" sz="826" b="1" dirty="0"/>
              <a:t>Erros conhecidos</a:t>
            </a:r>
          </a:p>
          <a:p>
            <a:pPr algn="ctr"/>
            <a:r>
              <a:rPr lang="pt-BR" sz="1501" dirty="0"/>
              <a:t>21</a:t>
            </a:r>
          </a:p>
        </p:txBody>
      </p:sp>
      <p:sp>
        <p:nvSpPr>
          <p:cNvPr id="13" name="Retângulo de cantos arredondados 12"/>
          <p:cNvSpPr/>
          <p:nvPr/>
        </p:nvSpPr>
        <p:spPr>
          <a:xfrm>
            <a:off x="4708370" y="1361472"/>
            <a:ext cx="1129758" cy="1036803"/>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pt-BR" sz="826" b="1" dirty="0"/>
              <a:t>NÃO Possuem erros conhecidos </a:t>
            </a:r>
          </a:p>
          <a:p>
            <a:pPr algn="ctr"/>
            <a:r>
              <a:rPr lang="pt-BR" sz="1501" dirty="0"/>
              <a:t>3</a:t>
            </a:r>
          </a:p>
        </p:txBody>
      </p:sp>
      <p:sp>
        <p:nvSpPr>
          <p:cNvPr id="14" name="Retângulo de cantos arredondados 13"/>
          <p:cNvSpPr/>
          <p:nvPr/>
        </p:nvSpPr>
        <p:spPr>
          <a:xfrm>
            <a:off x="1569361" y="2569884"/>
            <a:ext cx="4325971" cy="21451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pt-BR" sz="826"/>
              <a:t>Relaciona-se ou gerou projetos estruturantes</a:t>
            </a:r>
          </a:p>
        </p:txBody>
      </p:sp>
      <p:sp>
        <p:nvSpPr>
          <p:cNvPr id="15" name="Retângulo de cantos arredondados 14"/>
          <p:cNvSpPr/>
          <p:nvPr/>
        </p:nvSpPr>
        <p:spPr>
          <a:xfrm>
            <a:off x="1562210" y="2805846"/>
            <a:ext cx="4325971" cy="729337"/>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pt-BR" sz="2402" dirty="0"/>
              <a:t>6</a:t>
            </a:r>
            <a:endParaRPr lang="pt-BR" sz="826" dirty="0"/>
          </a:p>
          <a:p>
            <a:pPr algn="ctr"/>
            <a:r>
              <a:rPr lang="pt-BR" sz="826" dirty="0"/>
              <a:t>Back </a:t>
            </a:r>
            <a:r>
              <a:rPr lang="pt-BR" sz="826" dirty="0" err="1"/>
              <a:t>up</a:t>
            </a:r>
            <a:r>
              <a:rPr lang="pt-BR" sz="826" dirty="0"/>
              <a:t> | Projeto Gravação |Projeto Oi X Contax | MPLS | Vulnerabilidades| </a:t>
            </a:r>
            <a:r>
              <a:rPr lang="pt-BR" sz="826" dirty="0" err="1"/>
              <a:t>Aspect</a:t>
            </a:r>
            <a:r>
              <a:rPr lang="pt-BR" sz="826" dirty="0"/>
              <a:t> 7.3 </a:t>
            </a:r>
          </a:p>
        </p:txBody>
      </p:sp>
      <p:sp>
        <p:nvSpPr>
          <p:cNvPr id="16" name="Retângulo de cantos arredondados 15">
            <a:hlinkClick r:id="rId4"/>
          </p:cNvPr>
          <p:cNvSpPr/>
          <p:nvPr/>
        </p:nvSpPr>
        <p:spPr>
          <a:xfrm>
            <a:off x="1569360" y="760841"/>
            <a:ext cx="4247317" cy="529127"/>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pt-BR" sz="826" dirty="0"/>
              <a:t>Previsão de resolução  para próxima semana</a:t>
            </a:r>
          </a:p>
          <a:p>
            <a:pPr algn="ctr"/>
            <a:r>
              <a:rPr lang="pt-BR" sz="1201" dirty="0"/>
              <a:t>5tickets </a:t>
            </a:r>
            <a:endParaRPr lang="pt-BR" sz="826" dirty="0"/>
          </a:p>
        </p:txBody>
      </p:sp>
      <p:sp>
        <p:nvSpPr>
          <p:cNvPr id="17" name="Retângulo de cantos arredondados 16"/>
          <p:cNvSpPr/>
          <p:nvPr/>
        </p:nvSpPr>
        <p:spPr>
          <a:xfrm>
            <a:off x="6257127" y="782745"/>
            <a:ext cx="1680335" cy="729337"/>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pt-BR" sz="2402" dirty="0"/>
              <a:t>55%</a:t>
            </a:r>
            <a:endParaRPr lang="pt-BR" sz="826" dirty="0"/>
          </a:p>
          <a:p>
            <a:pPr algn="ctr"/>
            <a:r>
              <a:rPr lang="pt-BR" sz="826" dirty="0"/>
              <a:t>Média de evolução da fila de problemas</a:t>
            </a:r>
          </a:p>
        </p:txBody>
      </p:sp>
      <p:sp>
        <p:nvSpPr>
          <p:cNvPr id="18" name="Retângulo de cantos arredondados 17"/>
          <p:cNvSpPr/>
          <p:nvPr/>
        </p:nvSpPr>
        <p:spPr>
          <a:xfrm>
            <a:off x="6257127" y="1561896"/>
            <a:ext cx="1680335" cy="729337"/>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pt-BR" sz="2402" dirty="0"/>
              <a:t>11 </a:t>
            </a:r>
            <a:r>
              <a:rPr lang="pt-BR" sz="2402" dirty="0" err="1"/>
              <a:t>dd</a:t>
            </a:r>
            <a:endParaRPr lang="pt-BR" sz="826" dirty="0"/>
          </a:p>
          <a:p>
            <a:pPr algn="ctr"/>
            <a:r>
              <a:rPr lang="pt-BR" sz="826" dirty="0"/>
              <a:t>Tempo médio para RCA</a:t>
            </a:r>
          </a:p>
        </p:txBody>
      </p:sp>
      <p:sp>
        <p:nvSpPr>
          <p:cNvPr id="19" name="Retângulo de cantos arredondados 18"/>
          <p:cNvSpPr/>
          <p:nvPr/>
        </p:nvSpPr>
        <p:spPr>
          <a:xfrm>
            <a:off x="6257127" y="2351125"/>
            <a:ext cx="1680335" cy="729337"/>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pt-BR" sz="2402" dirty="0"/>
              <a:t>22 </a:t>
            </a:r>
            <a:r>
              <a:rPr lang="pt-BR" sz="2402" dirty="0" err="1"/>
              <a:t>dd</a:t>
            </a:r>
            <a:endParaRPr lang="pt-BR" sz="826" dirty="0"/>
          </a:p>
          <a:p>
            <a:pPr algn="ctr"/>
            <a:r>
              <a:rPr lang="pt-BR" sz="826" dirty="0"/>
              <a:t>Tempo médio de vida</a:t>
            </a:r>
          </a:p>
        </p:txBody>
      </p:sp>
      <p:sp>
        <p:nvSpPr>
          <p:cNvPr id="21" name="Retângulo de cantos arredondados 20"/>
          <p:cNvSpPr/>
          <p:nvPr/>
        </p:nvSpPr>
        <p:spPr>
          <a:xfrm>
            <a:off x="1540802" y="3620987"/>
            <a:ext cx="1816149" cy="1036803"/>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pt-BR" sz="826" b="1" dirty="0"/>
              <a:t>Ticket mais velho</a:t>
            </a:r>
          </a:p>
          <a:p>
            <a:pPr algn="ctr"/>
            <a:r>
              <a:rPr lang="pt-BR" sz="1501" dirty="0"/>
              <a:t>145</a:t>
            </a:r>
          </a:p>
          <a:p>
            <a:pPr algn="ctr"/>
            <a:r>
              <a:rPr lang="pt-BR" sz="1501" dirty="0"/>
              <a:t>Vulnerabilidade HW</a:t>
            </a:r>
          </a:p>
        </p:txBody>
      </p:sp>
      <p:sp>
        <p:nvSpPr>
          <p:cNvPr id="22" name="Retângulo de cantos arredondados 21"/>
          <p:cNvSpPr/>
          <p:nvPr/>
        </p:nvSpPr>
        <p:spPr>
          <a:xfrm>
            <a:off x="4708370" y="3620987"/>
            <a:ext cx="1129758" cy="1036803"/>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pt-BR" sz="826" b="1" dirty="0"/>
              <a:t>Demanda $ para solução</a:t>
            </a:r>
          </a:p>
          <a:p>
            <a:pPr algn="ctr"/>
            <a:r>
              <a:rPr lang="pt-BR" sz="1501" dirty="0"/>
              <a:t>10</a:t>
            </a:r>
          </a:p>
          <a:p>
            <a:pPr algn="ctr"/>
            <a:r>
              <a:rPr lang="pt-BR" sz="1501" dirty="0"/>
              <a:t>42%</a:t>
            </a:r>
          </a:p>
        </p:txBody>
      </p:sp>
      <p:sp>
        <p:nvSpPr>
          <p:cNvPr id="23" name="Retângulo de cantos arredondados 22"/>
          <p:cNvSpPr/>
          <p:nvPr/>
        </p:nvSpPr>
        <p:spPr>
          <a:xfrm>
            <a:off x="3471357" y="3623890"/>
            <a:ext cx="1129758" cy="1036803"/>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pt-BR" sz="826" b="1" dirty="0"/>
              <a:t>Não demandam $ para solução</a:t>
            </a:r>
          </a:p>
          <a:p>
            <a:pPr algn="ctr"/>
            <a:r>
              <a:rPr lang="pt-BR" sz="1501" dirty="0"/>
              <a:t>10</a:t>
            </a:r>
          </a:p>
          <a:p>
            <a:pPr algn="ctr"/>
            <a:r>
              <a:rPr lang="pt-BR" sz="1501" dirty="0"/>
              <a:t>42%</a:t>
            </a:r>
          </a:p>
        </p:txBody>
      </p:sp>
      <p:sp>
        <p:nvSpPr>
          <p:cNvPr id="24" name="Retângulo de cantos arredondados 23"/>
          <p:cNvSpPr/>
          <p:nvPr/>
        </p:nvSpPr>
        <p:spPr>
          <a:xfrm>
            <a:off x="6833244" y="3391503"/>
            <a:ext cx="813413" cy="632808"/>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pt-BR" sz="826" b="1" dirty="0"/>
              <a:t>Sem provisão</a:t>
            </a:r>
          </a:p>
          <a:p>
            <a:pPr algn="ctr"/>
            <a:r>
              <a:rPr lang="pt-BR" sz="1501" dirty="0"/>
              <a:t>6</a:t>
            </a:r>
          </a:p>
          <a:p>
            <a:pPr algn="ctr"/>
            <a:r>
              <a:rPr lang="pt-BR" sz="1501" dirty="0"/>
              <a:t>60%</a:t>
            </a:r>
          </a:p>
        </p:txBody>
      </p:sp>
      <p:sp>
        <p:nvSpPr>
          <p:cNvPr id="25" name="Retângulo de cantos arredondados 24"/>
          <p:cNvSpPr/>
          <p:nvPr/>
        </p:nvSpPr>
        <p:spPr>
          <a:xfrm>
            <a:off x="6833244" y="4142291"/>
            <a:ext cx="813413" cy="632808"/>
          </a:xfrm>
          <a:prstGeom prst="roundRect">
            <a:avLst/>
          </a:prstGeom>
          <a:solidFill>
            <a:srgbClr val="28AB2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pt-BR" sz="826" b="1" dirty="0"/>
              <a:t>Provisionado</a:t>
            </a:r>
          </a:p>
          <a:p>
            <a:pPr algn="ctr"/>
            <a:r>
              <a:rPr lang="pt-BR" sz="1501" dirty="0"/>
              <a:t>4</a:t>
            </a:r>
          </a:p>
          <a:p>
            <a:pPr algn="ctr"/>
            <a:r>
              <a:rPr lang="pt-BR" sz="1501" dirty="0"/>
              <a:t>40%</a:t>
            </a:r>
          </a:p>
        </p:txBody>
      </p:sp>
      <p:cxnSp>
        <p:nvCxnSpPr>
          <p:cNvPr id="3" name="Conector de seta reta 2"/>
          <p:cNvCxnSpPr>
            <a:endCxn id="24" idx="1"/>
          </p:cNvCxnSpPr>
          <p:nvPr/>
        </p:nvCxnSpPr>
        <p:spPr>
          <a:xfrm flipV="1">
            <a:off x="5838128" y="3707908"/>
            <a:ext cx="995116" cy="31640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Conector de seta reta 25"/>
          <p:cNvCxnSpPr/>
          <p:nvPr/>
        </p:nvCxnSpPr>
        <p:spPr>
          <a:xfrm>
            <a:off x="5816677" y="4024312"/>
            <a:ext cx="995116" cy="28020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2678496"/>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Gráfico 17"/>
          <p:cNvGraphicFramePr/>
          <p:nvPr>
            <p:extLst/>
          </p:nvPr>
        </p:nvGraphicFramePr>
        <p:xfrm>
          <a:off x="231522" y="1238614"/>
          <a:ext cx="4126674" cy="2937812"/>
        </p:xfrm>
        <a:graphic>
          <a:graphicData uri="http://schemas.openxmlformats.org/drawingml/2006/chart">
            <c:chart xmlns:c="http://schemas.openxmlformats.org/drawingml/2006/chart" xmlns:r="http://schemas.openxmlformats.org/officeDocument/2006/relationships" r:id="rId3"/>
          </a:graphicData>
        </a:graphic>
      </p:graphicFrame>
      <p:grpSp>
        <p:nvGrpSpPr>
          <p:cNvPr id="8" name="Grupo 7"/>
          <p:cNvGrpSpPr/>
          <p:nvPr/>
        </p:nvGrpSpPr>
        <p:grpSpPr>
          <a:xfrm>
            <a:off x="-1" y="-18157"/>
            <a:ext cx="9144002" cy="5184065"/>
            <a:chOff x="-1" y="12500"/>
            <a:chExt cx="9144002" cy="5184065"/>
          </a:xfrm>
        </p:grpSpPr>
        <p:grpSp>
          <p:nvGrpSpPr>
            <p:cNvPr id="2" name="Agrupar 1"/>
            <p:cNvGrpSpPr/>
            <p:nvPr/>
          </p:nvGrpSpPr>
          <p:grpSpPr>
            <a:xfrm>
              <a:off x="1763688" y="309780"/>
              <a:ext cx="7380313" cy="4886785"/>
              <a:chOff x="2039091" y="300128"/>
              <a:chExt cx="7104910" cy="4891310"/>
            </a:xfrm>
          </p:grpSpPr>
          <p:pic>
            <p:nvPicPr>
              <p:cNvPr id="1026"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l="76780" t="78172" r="18395" b="12686"/>
              <a:stretch/>
            </p:blipFill>
            <p:spPr bwMode="auto">
              <a:xfrm>
                <a:off x="8188658" y="4427493"/>
                <a:ext cx="955343" cy="763945"/>
              </a:xfrm>
              <a:prstGeom prst="rect">
                <a:avLst/>
              </a:prstGeom>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CaixaDeTexto 5"/>
              <p:cNvSpPr txBox="1"/>
              <p:nvPr/>
            </p:nvSpPr>
            <p:spPr>
              <a:xfrm>
                <a:off x="2039091" y="300128"/>
                <a:ext cx="184731" cy="462093"/>
              </a:xfrm>
              <a:prstGeom prst="rect">
                <a:avLst/>
              </a:prstGeom>
              <a:noFill/>
              <a:scene3d>
                <a:camera prst="orthographicFront"/>
                <a:lightRig rig="threePt" dir="t"/>
              </a:scene3d>
              <a:sp3d>
                <a:bevelT w="114300" prst="artDeco"/>
                <a:bevelB/>
              </a:sp3d>
            </p:spPr>
            <p:txBody>
              <a:bodyPr wrap="none" rtlCol="0">
                <a:spAutoFit/>
              </a:bodyPr>
              <a:lstStyle/>
              <a:p>
                <a:endParaRPr lang="pt-BR" sz="2400" dirty="0">
                  <a:solidFill>
                    <a:prstClr val="black"/>
                  </a:solidFill>
                </a:endParaRPr>
              </a:p>
            </p:txBody>
          </p:sp>
        </p:grpSp>
        <p:pic>
          <p:nvPicPr>
            <p:cNvPr id="4" name="Imagem 3"/>
            <p:cNvPicPr>
              <a:picLocks noChangeAspect="1"/>
            </p:cNvPicPr>
            <p:nvPr/>
          </p:nvPicPr>
          <p:blipFill>
            <a:blip r:embed="rId5"/>
            <a:stretch>
              <a:fillRect/>
            </a:stretch>
          </p:blipFill>
          <p:spPr>
            <a:xfrm>
              <a:off x="-1" y="12500"/>
              <a:ext cx="928369" cy="913131"/>
            </a:xfrm>
            <a:prstGeom prst="rect">
              <a:avLst/>
            </a:prstGeom>
          </p:spPr>
        </p:pic>
        <p:pic>
          <p:nvPicPr>
            <p:cNvPr id="26" name="Picture 9"/>
            <p:cNvPicPr>
              <a:picLocks noChangeAspect="1"/>
            </p:cNvPicPr>
            <p:nvPr/>
          </p:nvPicPr>
          <p:blipFill>
            <a:blip r:embed="rId6"/>
            <a:stretch>
              <a:fillRect/>
            </a:stretch>
          </p:blipFill>
          <p:spPr>
            <a:xfrm>
              <a:off x="7020272" y="201819"/>
              <a:ext cx="1866343" cy="338794"/>
            </a:xfrm>
            <a:prstGeom prst="rect">
              <a:avLst/>
            </a:prstGeom>
          </p:spPr>
        </p:pic>
      </p:grpSp>
      <p:sp>
        <p:nvSpPr>
          <p:cNvPr id="22" name="CaixaDeTexto 5"/>
          <p:cNvSpPr txBox="1"/>
          <p:nvPr/>
        </p:nvSpPr>
        <p:spPr>
          <a:xfrm>
            <a:off x="303928" y="1238614"/>
            <a:ext cx="4002258" cy="523220"/>
          </a:xfrm>
          <a:prstGeom prst="rect">
            <a:avLst/>
          </a:prstGeom>
          <a:noFill/>
        </p:spPr>
        <p:txBody>
          <a:bodyPr wrap="square"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defRPr/>
            </a:pPr>
            <a:r>
              <a:rPr lang="pt-BR" sz="1400" b="1" dirty="0">
                <a:solidFill>
                  <a:srgbClr val="184E82"/>
                </a:solidFill>
                <a:latin typeface="Calibri"/>
              </a:rPr>
              <a:t>Incidentes Alto Impacto</a:t>
            </a:r>
          </a:p>
          <a:p>
            <a:pPr algn="ctr">
              <a:defRPr/>
            </a:pPr>
            <a:r>
              <a:rPr lang="pt-BR" sz="1400" b="1" dirty="0">
                <a:solidFill>
                  <a:srgbClr val="184E82"/>
                </a:solidFill>
                <a:latin typeface="Calibri"/>
              </a:rPr>
              <a:t>Tempo médio entre falhas em h:m:s</a:t>
            </a:r>
          </a:p>
        </p:txBody>
      </p:sp>
      <p:sp>
        <p:nvSpPr>
          <p:cNvPr id="30" name="CaixaDeTexto 17"/>
          <p:cNvSpPr txBox="1">
            <a:spLocks noChangeArrowheads="1"/>
          </p:cNvSpPr>
          <p:nvPr/>
        </p:nvSpPr>
        <p:spPr bwMode="auto">
          <a:xfrm>
            <a:off x="179512" y="4567978"/>
            <a:ext cx="797211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hangingPunct="1"/>
            <a:r>
              <a:rPr lang="pt-BR" sz="1200" dirty="0">
                <a:solidFill>
                  <a:srgbClr val="184E82"/>
                </a:solidFill>
              </a:rPr>
              <a:t>O cálculo foi realizado considerando </a:t>
            </a:r>
            <a:r>
              <a:rPr lang="pt-BR" sz="1200" b="1" dirty="0">
                <a:solidFill>
                  <a:srgbClr val="184E82"/>
                </a:solidFill>
              </a:rPr>
              <a:t>todos</a:t>
            </a:r>
            <a:r>
              <a:rPr lang="pt-BR" sz="1200" dirty="0">
                <a:solidFill>
                  <a:srgbClr val="184E82"/>
                </a:solidFill>
              </a:rPr>
              <a:t> os chamados de Incidentes Alto Impacto (Críticos + Muito Alto)</a:t>
            </a:r>
          </a:p>
        </p:txBody>
      </p:sp>
      <p:sp>
        <p:nvSpPr>
          <p:cNvPr id="31" name="CaixaDeTexto 5"/>
          <p:cNvSpPr txBox="1"/>
          <p:nvPr/>
        </p:nvSpPr>
        <p:spPr>
          <a:xfrm>
            <a:off x="484767" y="252939"/>
            <a:ext cx="5923342" cy="461665"/>
          </a:xfrm>
          <a:prstGeom prst="rect">
            <a:avLst/>
          </a:prstGeom>
          <a:noFill/>
        </p:spPr>
        <p:txBody>
          <a:bodyPr wrap="square"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defRPr/>
            </a:pPr>
            <a:r>
              <a:rPr lang="pt-BR" sz="2400" b="1" dirty="0">
                <a:solidFill>
                  <a:srgbClr val="184E82"/>
                </a:solidFill>
                <a:latin typeface="Calibri"/>
              </a:rPr>
              <a:t>4. Tempo médio entre falhas e resolução</a:t>
            </a:r>
          </a:p>
        </p:txBody>
      </p:sp>
      <p:sp>
        <p:nvSpPr>
          <p:cNvPr id="19" name="CaixaDeTexto 5"/>
          <p:cNvSpPr txBox="1"/>
          <p:nvPr/>
        </p:nvSpPr>
        <p:spPr>
          <a:xfrm>
            <a:off x="4795284" y="1238614"/>
            <a:ext cx="4022656" cy="523220"/>
          </a:xfrm>
          <a:prstGeom prst="rect">
            <a:avLst/>
          </a:prstGeom>
          <a:noFill/>
        </p:spPr>
        <p:txBody>
          <a:bodyPr wrap="square">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defRPr/>
            </a:pPr>
            <a:r>
              <a:rPr lang="pt-BR" sz="1400" b="1" dirty="0">
                <a:solidFill>
                  <a:srgbClr val="184E82"/>
                </a:solidFill>
              </a:rPr>
              <a:t>Incidentes Alto Impacto</a:t>
            </a:r>
          </a:p>
          <a:p>
            <a:pPr algn="ctr">
              <a:defRPr/>
            </a:pPr>
            <a:r>
              <a:rPr lang="pt-BR" sz="1400" b="1" dirty="0">
                <a:solidFill>
                  <a:srgbClr val="184E82"/>
                </a:solidFill>
              </a:rPr>
              <a:t>Tempo médio de resolução em h:m:s</a:t>
            </a:r>
          </a:p>
        </p:txBody>
      </p:sp>
      <p:graphicFrame>
        <p:nvGraphicFramePr>
          <p:cNvPr id="21" name="Gráfico 20"/>
          <p:cNvGraphicFramePr/>
          <p:nvPr>
            <p:extLst/>
          </p:nvPr>
        </p:nvGraphicFramePr>
        <p:xfrm>
          <a:off x="4743275" y="1238614"/>
          <a:ext cx="4126674" cy="2937812"/>
        </p:xfrm>
        <a:graphic>
          <a:graphicData uri="http://schemas.openxmlformats.org/drawingml/2006/chart">
            <c:chart xmlns:c="http://schemas.openxmlformats.org/drawingml/2006/chart" xmlns:r="http://schemas.openxmlformats.org/officeDocument/2006/relationships" r:id="rId7"/>
          </a:graphicData>
        </a:graphic>
      </p:graphicFrame>
      <p:sp>
        <p:nvSpPr>
          <p:cNvPr id="14" name="CaixaDeTexto 13"/>
          <p:cNvSpPr txBox="1"/>
          <p:nvPr/>
        </p:nvSpPr>
        <p:spPr>
          <a:xfrm>
            <a:off x="202809" y="4831458"/>
            <a:ext cx="5948978" cy="261610"/>
          </a:xfrm>
          <a:prstGeom prst="rect">
            <a:avLst/>
          </a:prstGeom>
          <a:noFill/>
          <a:scene3d>
            <a:camera prst="orthographicFront"/>
            <a:lightRig rig="threePt" dir="t"/>
          </a:scene3d>
          <a:sp3d>
            <a:bevelT w="114300" prst="artDeco"/>
            <a:bevelB/>
          </a:sp3d>
        </p:spPr>
        <p:txBody>
          <a:bodyPr wrap="square" rtlCol="0">
            <a:spAutoFit/>
          </a:bodyPr>
          <a:lstStyle/>
          <a:p>
            <a:pPr algn="just"/>
            <a:r>
              <a:rPr lang="pt-BR" sz="1100" dirty="0">
                <a:solidFill>
                  <a:schemeClr val="bg1">
                    <a:lumMod val="65000"/>
                  </a:schemeClr>
                </a:solidFill>
              </a:rPr>
              <a:t>Informações retiradas dos indicadores de SLA e </a:t>
            </a:r>
            <a:r>
              <a:rPr lang="pt-BR" sz="1100" dirty="0" err="1">
                <a:solidFill>
                  <a:schemeClr val="bg1">
                    <a:lumMod val="65000"/>
                  </a:schemeClr>
                </a:solidFill>
              </a:rPr>
              <a:t>tProcess</a:t>
            </a:r>
            <a:r>
              <a:rPr lang="pt-BR" sz="1100" dirty="0">
                <a:solidFill>
                  <a:schemeClr val="bg1">
                    <a:lumMod val="65000"/>
                  </a:schemeClr>
                </a:solidFill>
              </a:rPr>
              <a:t>! referentes ao período de 01/04 a 25/04.</a:t>
            </a:r>
          </a:p>
        </p:txBody>
      </p:sp>
    </p:spTree>
    <p:extLst>
      <p:ext uri="{BB962C8B-B14F-4D97-AF65-F5344CB8AC3E}">
        <p14:creationId xmlns:p14="http://schemas.microsoft.com/office/powerpoint/2010/main" val="551637712"/>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upo 7"/>
          <p:cNvGrpSpPr/>
          <p:nvPr/>
        </p:nvGrpSpPr>
        <p:grpSpPr>
          <a:xfrm>
            <a:off x="-1" y="-18157"/>
            <a:ext cx="9144002" cy="5170656"/>
            <a:chOff x="-1" y="12500"/>
            <a:chExt cx="9144002" cy="5170656"/>
          </a:xfrm>
        </p:grpSpPr>
        <p:grpSp>
          <p:nvGrpSpPr>
            <p:cNvPr id="2" name="Agrupar 1"/>
            <p:cNvGrpSpPr/>
            <p:nvPr/>
          </p:nvGrpSpPr>
          <p:grpSpPr>
            <a:xfrm>
              <a:off x="1763688" y="309780"/>
              <a:ext cx="7380313" cy="4873376"/>
              <a:chOff x="2039091" y="300128"/>
              <a:chExt cx="7104910" cy="4877889"/>
            </a:xfrm>
          </p:grpSpPr>
          <p:sp>
            <p:nvSpPr>
              <p:cNvPr id="6" name="CaixaDeTexto 5"/>
              <p:cNvSpPr txBox="1"/>
              <p:nvPr/>
            </p:nvSpPr>
            <p:spPr>
              <a:xfrm>
                <a:off x="2039091" y="300128"/>
                <a:ext cx="184731" cy="462093"/>
              </a:xfrm>
              <a:prstGeom prst="rect">
                <a:avLst/>
              </a:prstGeom>
              <a:noFill/>
              <a:scene3d>
                <a:camera prst="orthographicFront"/>
                <a:lightRig rig="threePt" dir="t"/>
              </a:scene3d>
              <a:sp3d>
                <a:bevelT w="114300" prst="artDeco"/>
                <a:bevelB/>
              </a:sp3d>
            </p:spPr>
            <p:txBody>
              <a:bodyPr wrap="none" rtlCol="0">
                <a:spAutoFit/>
              </a:bodyPr>
              <a:lstStyle/>
              <a:p>
                <a:endParaRPr lang="pt-BR" sz="2400" dirty="0">
                  <a:solidFill>
                    <a:prstClr val="black"/>
                  </a:solidFill>
                </a:endParaRPr>
              </a:p>
            </p:txBody>
          </p:sp>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76780" t="78172" r="18395" b="12686"/>
              <a:stretch/>
            </p:blipFill>
            <p:spPr bwMode="auto">
              <a:xfrm>
                <a:off x="8188658" y="4414072"/>
                <a:ext cx="955343" cy="763945"/>
              </a:xfrm>
              <a:prstGeom prst="rect">
                <a:avLst/>
              </a:prstGeom>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4" name="Imagem 3"/>
            <p:cNvPicPr>
              <a:picLocks noChangeAspect="1"/>
            </p:cNvPicPr>
            <p:nvPr/>
          </p:nvPicPr>
          <p:blipFill>
            <a:blip r:embed="rId4"/>
            <a:stretch>
              <a:fillRect/>
            </a:stretch>
          </p:blipFill>
          <p:spPr>
            <a:xfrm>
              <a:off x="-1" y="12500"/>
              <a:ext cx="928369" cy="913131"/>
            </a:xfrm>
            <a:prstGeom prst="rect">
              <a:avLst/>
            </a:prstGeom>
          </p:spPr>
        </p:pic>
        <p:pic>
          <p:nvPicPr>
            <p:cNvPr id="26" name="Picture 9"/>
            <p:cNvPicPr>
              <a:picLocks noChangeAspect="1"/>
            </p:cNvPicPr>
            <p:nvPr/>
          </p:nvPicPr>
          <p:blipFill>
            <a:blip r:embed="rId5"/>
            <a:stretch>
              <a:fillRect/>
            </a:stretch>
          </p:blipFill>
          <p:spPr>
            <a:xfrm>
              <a:off x="7020272" y="201819"/>
              <a:ext cx="1866343" cy="338794"/>
            </a:xfrm>
            <a:prstGeom prst="rect">
              <a:avLst/>
            </a:prstGeom>
          </p:spPr>
        </p:pic>
      </p:grpSp>
      <p:sp>
        <p:nvSpPr>
          <p:cNvPr id="31" name="CaixaDeTexto 5"/>
          <p:cNvSpPr txBox="1"/>
          <p:nvPr/>
        </p:nvSpPr>
        <p:spPr>
          <a:xfrm>
            <a:off x="484767" y="252939"/>
            <a:ext cx="5923342" cy="461665"/>
          </a:xfrm>
          <a:prstGeom prst="rect">
            <a:avLst/>
          </a:prstGeom>
          <a:noFill/>
        </p:spPr>
        <p:txBody>
          <a:bodyPr wrap="square"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defRPr/>
            </a:pPr>
            <a:r>
              <a:rPr lang="pt-BR" sz="2400" b="1" dirty="0">
                <a:solidFill>
                  <a:srgbClr val="184E82"/>
                </a:solidFill>
                <a:latin typeface="Calibri"/>
              </a:rPr>
              <a:t>4. Tempo médio de resolução</a:t>
            </a:r>
          </a:p>
        </p:txBody>
      </p:sp>
      <p:graphicFrame>
        <p:nvGraphicFramePr>
          <p:cNvPr id="18" name="Gráfico 17"/>
          <p:cNvGraphicFramePr/>
          <p:nvPr>
            <p:extLst/>
          </p:nvPr>
        </p:nvGraphicFramePr>
        <p:xfrm>
          <a:off x="179512" y="1392502"/>
          <a:ext cx="2820021" cy="2387088"/>
        </p:xfrm>
        <a:graphic>
          <a:graphicData uri="http://schemas.openxmlformats.org/drawingml/2006/chart">
            <c:chart xmlns:c="http://schemas.openxmlformats.org/drawingml/2006/chart" xmlns:r="http://schemas.openxmlformats.org/officeDocument/2006/relationships" r:id="rId6"/>
          </a:graphicData>
        </a:graphic>
      </p:graphicFrame>
      <p:sp>
        <p:nvSpPr>
          <p:cNvPr id="23" name="CaixaDeTexto 5"/>
          <p:cNvSpPr txBox="1"/>
          <p:nvPr/>
        </p:nvSpPr>
        <p:spPr>
          <a:xfrm>
            <a:off x="586127" y="1238614"/>
            <a:ext cx="2001129" cy="307777"/>
          </a:xfrm>
          <a:prstGeom prst="rect">
            <a:avLst/>
          </a:prstGeom>
          <a:noFill/>
        </p:spPr>
        <p:txBody>
          <a:bodyPr wrap="square"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pt-BR" sz="1400" b="1" dirty="0">
                <a:solidFill>
                  <a:srgbClr val="19345B"/>
                </a:solidFill>
              </a:rPr>
              <a:t>Realizado pela TI Contax</a:t>
            </a:r>
          </a:p>
        </p:txBody>
      </p:sp>
      <p:graphicFrame>
        <p:nvGraphicFramePr>
          <p:cNvPr id="28" name="Gráfico 27"/>
          <p:cNvGraphicFramePr/>
          <p:nvPr>
            <p:extLst/>
          </p:nvPr>
        </p:nvGraphicFramePr>
        <p:xfrm>
          <a:off x="3170517" y="1392502"/>
          <a:ext cx="2820021" cy="2387088"/>
        </p:xfrm>
        <a:graphic>
          <a:graphicData uri="http://schemas.openxmlformats.org/drawingml/2006/chart">
            <c:chart xmlns:c="http://schemas.openxmlformats.org/drawingml/2006/chart" xmlns:r="http://schemas.openxmlformats.org/officeDocument/2006/relationships" r:id="rId7"/>
          </a:graphicData>
        </a:graphic>
      </p:graphicFrame>
      <p:sp>
        <p:nvSpPr>
          <p:cNvPr id="29" name="CaixaDeTexto 5"/>
          <p:cNvSpPr txBox="1"/>
          <p:nvPr/>
        </p:nvSpPr>
        <p:spPr>
          <a:xfrm>
            <a:off x="3094075" y="1238614"/>
            <a:ext cx="2486038" cy="307777"/>
          </a:xfrm>
          <a:prstGeom prst="rect">
            <a:avLst/>
          </a:prstGeom>
          <a:noFill/>
        </p:spPr>
        <p:txBody>
          <a:bodyPr wrap="square"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pt-BR" sz="1400" b="1" dirty="0">
                <a:solidFill>
                  <a:srgbClr val="19345B"/>
                </a:solidFill>
              </a:rPr>
              <a:t>Realizado pelo Suporte Cliente</a:t>
            </a:r>
          </a:p>
        </p:txBody>
      </p:sp>
      <p:graphicFrame>
        <p:nvGraphicFramePr>
          <p:cNvPr id="30" name="Gráfico 29"/>
          <p:cNvGraphicFramePr/>
          <p:nvPr>
            <p:extLst/>
          </p:nvPr>
        </p:nvGraphicFramePr>
        <p:xfrm>
          <a:off x="6161522" y="1392502"/>
          <a:ext cx="2820021" cy="2387088"/>
        </p:xfrm>
        <a:graphic>
          <a:graphicData uri="http://schemas.openxmlformats.org/drawingml/2006/chart">
            <c:chart xmlns:c="http://schemas.openxmlformats.org/drawingml/2006/chart" xmlns:r="http://schemas.openxmlformats.org/officeDocument/2006/relationships" r:id="rId8"/>
          </a:graphicData>
        </a:graphic>
      </p:graphicFrame>
      <p:sp>
        <p:nvSpPr>
          <p:cNvPr id="32" name="CaixaDeTexto 5"/>
          <p:cNvSpPr txBox="1"/>
          <p:nvPr/>
        </p:nvSpPr>
        <p:spPr>
          <a:xfrm>
            <a:off x="6273209" y="1238614"/>
            <a:ext cx="2374606" cy="307777"/>
          </a:xfrm>
          <a:prstGeom prst="rect">
            <a:avLst/>
          </a:prstGeom>
          <a:noFill/>
        </p:spPr>
        <p:txBody>
          <a:bodyPr wrap="square"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pt-BR" sz="1400" b="1" dirty="0">
                <a:solidFill>
                  <a:srgbClr val="19345B"/>
                </a:solidFill>
              </a:rPr>
              <a:t>Realizado pelo Fornecedor</a:t>
            </a:r>
          </a:p>
        </p:txBody>
      </p:sp>
      <p:sp>
        <p:nvSpPr>
          <p:cNvPr id="33" name="CaixaDeTexto 17"/>
          <p:cNvSpPr txBox="1">
            <a:spLocks noChangeArrowheads="1"/>
          </p:cNvSpPr>
          <p:nvPr/>
        </p:nvSpPr>
        <p:spPr bwMode="auto">
          <a:xfrm>
            <a:off x="179512" y="4567978"/>
            <a:ext cx="797211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hangingPunct="1"/>
            <a:r>
              <a:rPr lang="pt-BR" sz="1200" dirty="0">
                <a:solidFill>
                  <a:srgbClr val="184E82"/>
                </a:solidFill>
              </a:rPr>
              <a:t>O cálculo foi realizado considerando </a:t>
            </a:r>
            <a:r>
              <a:rPr lang="pt-BR" sz="1200" b="1" dirty="0">
                <a:solidFill>
                  <a:srgbClr val="184E82"/>
                </a:solidFill>
              </a:rPr>
              <a:t>todos</a:t>
            </a:r>
            <a:r>
              <a:rPr lang="pt-BR" sz="1200" dirty="0">
                <a:solidFill>
                  <a:srgbClr val="184E82"/>
                </a:solidFill>
              </a:rPr>
              <a:t> os chamados de Incidentes Alto Impacto (Críticos + Muito Alto)</a:t>
            </a:r>
          </a:p>
        </p:txBody>
      </p:sp>
      <p:sp>
        <p:nvSpPr>
          <p:cNvPr id="16" name="CaixaDeTexto 15"/>
          <p:cNvSpPr txBox="1"/>
          <p:nvPr/>
        </p:nvSpPr>
        <p:spPr>
          <a:xfrm>
            <a:off x="202809" y="4819735"/>
            <a:ext cx="5948978" cy="261610"/>
          </a:xfrm>
          <a:prstGeom prst="rect">
            <a:avLst/>
          </a:prstGeom>
          <a:noFill/>
          <a:scene3d>
            <a:camera prst="orthographicFront"/>
            <a:lightRig rig="threePt" dir="t"/>
          </a:scene3d>
          <a:sp3d>
            <a:bevelT w="114300" prst="artDeco"/>
            <a:bevelB/>
          </a:sp3d>
        </p:spPr>
        <p:txBody>
          <a:bodyPr wrap="square" rtlCol="0">
            <a:spAutoFit/>
          </a:bodyPr>
          <a:lstStyle/>
          <a:p>
            <a:pPr algn="just"/>
            <a:r>
              <a:rPr lang="pt-BR" sz="1100" dirty="0">
                <a:solidFill>
                  <a:schemeClr val="bg1">
                    <a:lumMod val="65000"/>
                  </a:schemeClr>
                </a:solidFill>
              </a:rPr>
              <a:t>Informações retiradas dos indicadores de SLA e </a:t>
            </a:r>
            <a:r>
              <a:rPr lang="pt-BR" sz="1100" dirty="0" err="1">
                <a:solidFill>
                  <a:schemeClr val="bg1">
                    <a:lumMod val="65000"/>
                  </a:schemeClr>
                </a:solidFill>
              </a:rPr>
              <a:t>tProcess</a:t>
            </a:r>
            <a:r>
              <a:rPr lang="pt-BR" sz="1100" dirty="0">
                <a:solidFill>
                  <a:schemeClr val="bg1">
                    <a:lumMod val="65000"/>
                  </a:schemeClr>
                </a:solidFill>
              </a:rPr>
              <a:t>! referentes ao período de 01/04 a 25/04.</a:t>
            </a:r>
          </a:p>
        </p:txBody>
      </p:sp>
    </p:spTree>
    <p:extLst>
      <p:ext uri="{BB962C8B-B14F-4D97-AF65-F5344CB8AC3E}">
        <p14:creationId xmlns:p14="http://schemas.microsoft.com/office/powerpoint/2010/main" val="2227822898"/>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upo 7"/>
          <p:cNvGrpSpPr/>
          <p:nvPr/>
        </p:nvGrpSpPr>
        <p:grpSpPr>
          <a:xfrm>
            <a:off x="-1" y="-18157"/>
            <a:ext cx="9144002" cy="5140931"/>
            <a:chOff x="-1" y="12500"/>
            <a:chExt cx="9144002" cy="5140931"/>
          </a:xfrm>
        </p:grpSpPr>
        <p:grpSp>
          <p:nvGrpSpPr>
            <p:cNvPr id="2" name="Agrupar 1"/>
            <p:cNvGrpSpPr/>
            <p:nvPr/>
          </p:nvGrpSpPr>
          <p:grpSpPr>
            <a:xfrm>
              <a:off x="1763688" y="309780"/>
              <a:ext cx="7380313" cy="4843651"/>
              <a:chOff x="2039091" y="300128"/>
              <a:chExt cx="7104910" cy="4848136"/>
            </a:xfrm>
          </p:grpSpPr>
          <p:sp>
            <p:nvSpPr>
              <p:cNvPr id="6" name="CaixaDeTexto 5"/>
              <p:cNvSpPr txBox="1"/>
              <p:nvPr/>
            </p:nvSpPr>
            <p:spPr>
              <a:xfrm>
                <a:off x="2039091" y="300128"/>
                <a:ext cx="184731" cy="462093"/>
              </a:xfrm>
              <a:prstGeom prst="rect">
                <a:avLst/>
              </a:prstGeom>
              <a:noFill/>
              <a:scene3d>
                <a:camera prst="orthographicFront"/>
                <a:lightRig rig="threePt" dir="t"/>
              </a:scene3d>
              <a:sp3d>
                <a:bevelT w="114300" prst="artDeco"/>
                <a:bevelB/>
              </a:sp3d>
            </p:spPr>
            <p:txBody>
              <a:bodyPr wrap="none" rtlCol="0">
                <a:spAutoFit/>
              </a:bodyPr>
              <a:lstStyle/>
              <a:p>
                <a:endParaRPr lang="pt-BR" sz="2400" dirty="0">
                  <a:solidFill>
                    <a:prstClr val="black"/>
                  </a:solidFill>
                </a:endParaRPr>
              </a:p>
            </p:txBody>
          </p:sp>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76780" t="78172" r="18395" b="12686"/>
              <a:stretch/>
            </p:blipFill>
            <p:spPr bwMode="auto">
              <a:xfrm>
                <a:off x="8188658" y="4384319"/>
                <a:ext cx="955343" cy="763945"/>
              </a:xfrm>
              <a:prstGeom prst="rect">
                <a:avLst/>
              </a:prstGeom>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4" name="Imagem 3"/>
            <p:cNvPicPr>
              <a:picLocks noChangeAspect="1"/>
            </p:cNvPicPr>
            <p:nvPr/>
          </p:nvPicPr>
          <p:blipFill>
            <a:blip r:embed="rId4"/>
            <a:stretch>
              <a:fillRect/>
            </a:stretch>
          </p:blipFill>
          <p:spPr>
            <a:xfrm>
              <a:off x="-1" y="12500"/>
              <a:ext cx="928369" cy="913131"/>
            </a:xfrm>
            <a:prstGeom prst="rect">
              <a:avLst/>
            </a:prstGeom>
          </p:spPr>
        </p:pic>
        <p:pic>
          <p:nvPicPr>
            <p:cNvPr id="26" name="Picture 9"/>
            <p:cNvPicPr>
              <a:picLocks noChangeAspect="1"/>
            </p:cNvPicPr>
            <p:nvPr/>
          </p:nvPicPr>
          <p:blipFill>
            <a:blip r:embed="rId5"/>
            <a:stretch>
              <a:fillRect/>
            </a:stretch>
          </p:blipFill>
          <p:spPr>
            <a:xfrm>
              <a:off x="7020272" y="201819"/>
              <a:ext cx="1866343" cy="338794"/>
            </a:xfrm>
            <a:prstGeom prst="rect">
              <a:avLst/>
            </a:prstGeom>
          </p:spPr>
        </p:pic>
      </p:grpSp>
      <p:sp>
        <p:nvSpPr>
          <p:cNvPr id="31" name="CaixaDeTexto 5"/>
          <p:cNvSpPr txBox="1"/>
          <p:nvPr/>
        </p:nvSpPr>
        <p:spPr>
          <a:xfrm>
            <a:off x="1475656" y="53851"/>
            <a:ext cx="5085516" cy="707886"/>
          </a:xfrm>
          <a:prstGeom prst="rect">
            <a:avLst/>
          </a:prstGeom>
          <a:noFill/>
        </p:spPr>
        <p:txBody>
          <a:bodyPr wrap="square"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pt-BR" sz="2400" b="1" dirty="0">
                <a:solidFill>
                  <a:srgbClr val="184E82"/>
                </a:solidFill>
              </a:rPr>
              <a:t>5. Incidentes de Alto Impacto</a:t>
            </a:r>
          </a:p>
          <a:p>
            <a:pPr algn="ctr"/>
            <a:r>
              <a:rPr lang="pt-BR" sz="1600" dirty="0">
                <a:solidFill>
                  <a:srgbClr val="184E82"/>
                </a:solidFill>
              </a:rPr>
              <a:t>01 a 25 de Abril de 2016</a:t>
            </a:r>
          </a:p>
        </p:txBody>
      </p:sp>
      <p:cxnSp>
        <p:nvCxnSpPr>
          <p:cNvPr id="5" name="Conector Angulado 4"/>
          <p:cNvCxnSpPr/>
          <p:nvPr/>
        </p:nvCxnSpPr>
        <p:spPr>
          <a:xfrm rot="10800000" flipV="1">
            <a:off x="1670343" y="1689903"/>
            <a:ext cx="2018683" cy="1159627"/>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Conector Angulado 8"/>
          <p:cNvCxnSpPr/>
          <p:nvPr/>
        </p:nvCxnSpPr>
        <p:spPr>
          <a:xfrm>
            <a:off x="5461090" y="1689903"/>
            <a:ext cx="2022189" cy="1159628"/>
          </a:xfrm>
          <a:prstGeom prst="bentConnector2">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Conector Angulado 10"/>
          <p:cNvCxnSpPr/>
          <p:nvPr/>
        </p:nvCxnSpPr>
        <p:spPr>
          <a:xfrm rot="16200000" flipH="1">
            <a:off x="4434121" y="2708594"/>
            <a:ext cx="278816" cy="3058"/>
          </a:xfrm>
          <a:prstGeom prst="bentConnector3">
            <a:avLst/>
          </a:prstGeom>
          <a:ln>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graphicFrame>
        <p:nvGraphicFramePr>
          <p:cNvPr id="19" name="Gráfico 18"/>
          <p:cNvGraphicFramePr>
            <a:graphicFrameLocks noChangeAspect="1"/>
          </p:cNvGraphicFramePr>
          <p:nvPr>
            <p:extLst/>
          </p:nvPr>
        </p:nvGraphicFramePr>
        <p:xfrm>
          <a:off x="2437757" y="409543"/>
          <a:ext cx="4279406" cy="2494050"/>
        </p:xfrm>
        <a:graphic>
          <a:graphicData uri="http://schemas.openxmlformats.org/drawingml/2006/chart">
            <c:chart xmlns:c="http://schemas.openxmlformats.org/drawingml/2006/chart" xmlns:r="http://schemas.openxmlformats.org/officeDocument/2006/relationships" r:id="rId6"/>
          </a:graphicData>
        </a:graphic>
      </p:graphicFrame>
      <p:pic>
        <p:nvPicPr>
          <p:cNvPr id="13" name="Imagem 12"/>
          <p:cNvPicPr>
            <a:picLocks noChangeAspect="1"/>
          </p:cNvPicPr>
          <p:nvPr/>
        </p:nvPicPr>
        <p:blipFill>
          <a:blip r:embed="rId7"/>
          <a:stretch>
            <a:fillRect/>
          </a:stretch>
        </p:blipFill>
        <p:spPr>
          <a:xfrm>
            <a:off x="555310" y="2857953"/>
            <a:ext cx="2280176" cy="1696500"/>
          </a:xfrm>
          <a:prstGeom prst="rect">
            <a:avLst/>
          </a:prstGeom>
        </p:spPr>
      </p:pic>
      <p:pic>
        <p:nvPicPr>
          <p:cNvPr id="21" name="Imagem 20"/>
          <p:cNvPicPr>
            <a:picLocks noChangeAspect="1"/>
          </p:cNvPicPr>
          <p:nvPr/>
        </p:nvPicPr>
        <p:blipFill>
          <a:blip r:embed="rId8"/>
          <a:stretch>
            <a:fillRect/>
          </a:stretch>
        </p:blipFill>
        <p:spPr>
          <a:xfrm>
            <a:off x="6294386" y="2857953"/>
            <a:ext cx="2386041" cy="1190813"/>
          </a:xfrm>
          <a:prstGeom prst="rect">
            <a:avLst/>
          </a:prstGeom>
        </p:spPr>
      </p:pic>
      <p:pic>
        <p:nvPicPr>
          <p:cNvPr id="23" name="Imagem 22"/>
          <p:cNvPicPr>
            <a:picLocks noChangeAspect="1"/>
          </p:cNvPicPr>
          <p:nvPr/>
        </p:nvPicPr>
        <p:blipFill>
          <a:blip r:embed="rId9"/>
          <a:stretch>
            <a:fillRect/>
          </a:stretch>
        </p:blipFill>
        <p:spPr>
          <a:xfrm>
            <a:off x="3423768" y="2857953"/>
            <a:ext cx="2296463" cy="1019531"/>
          </a:xfrm>
          <a:prstGeom prst="rect">
            <a:avLst/>
          </a:prstGeom>
        </p:spPr>
      </p:pic>
      <p:sp>
        <p:nvSpPr>
          <p:cNvPr id="30" name="CaixaDeTexto 29"/>
          <p:cNvSpPr txBox="1"/>
          <p:nvPr/>
        </p:nvSpPr>
        <p:spPr>
          <a:xfrm>
            <a:off x="3518" y="4819735"/>
            <a:ext cx="5948978" cy="261610"/>
          </a:xfrm>
          <a:prstGeom prst="rect">
            <a:avLst/>
          </a:prstGeom>
          <a:noFill/>
          <a:scene3d>
            <a:camera prst="orthographicFront"/>
            <a:lightRig rig="threePt" dir="t"/>
          </a:scene3d>
          <a:sp3d>
            <a:bevelT w="114300" prst="artDeco"/>
            <a:bevelB/>
          </a:sp3d>
        </p:spPr>
        <p:txBody>
          <a:bodyPr wrap="square" rtlCol="0">
            <a:spAutoFit/>
          </a:bodyPr>
          <a:lstStyle/>
          <a:p>
            <a:pPr algn="just"/>
            <a:r>
              <a:rPr lang="pt-BR" sz="1100" dirty="0">
                <a:solidFill>
                  <a:schemeClr val="bg1">
                    <a:lumMod val="65000"/>
                  </a:schemeClr>
                </a:solidFill>
              </a:rPr>
              <a:t>Informações retiradas dos indicadores de SLA e </a:t>
            </a:r>
            <a:r>
              <a:rPr lang="pt-BR" sz="1100" dirty="0" err="1">
                <a:solidFill>
                  <a:schemeClr val="bg1">
                    <a:lumMod val="65000"/>
                  </a:schemeClr>
                </a:solidFill>
              </a:rPr>
              <a:t>tProcess</a:t>
            </a:r>
            <a:r>
              <a:rPr lang="pt-BR" sz="1100" dirty="0">
                <a:solidFill>
                  <a:schemeClr val="bg1">
                    <a:lumMod val="65000"/>
                  </a:schemeClr>
                </a:solidFill>
              </a:rPr>
              <a:t>! referentes ao período de 01/04 a 25/04.</a:t>
            </a:r>
          </a:p>
        </p:txBody>
      </p:sp>
      <p:sp>
        <p:nvSpPr>
          <p:cNvPr id="3" name="Fluxograma: Conector 2">
            <a:hlinkClick r:id="rId10" action="ppaction://hlinksldjump"/>
          </p:cNvPr>
          <p:cNvSpPr/>
          <p:nvPr/>
        </p:nvSpPr>
        <p:spPr>
          <a:xfrm>
            <a:off x="7483279" y="4554453"/>
            <a:ext cx="769665" cy="464740"/>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050" dirty="0" smtClean="0"/>
              <a:t>Março</a:t>
            </a:r>
            <a:endParaRPr lang="pt-BR" sz="1050" dirty="0"/>
          </a:p>
        </p:txBody>
      </p:sp>
    </p:spTree>
    <p:extLst>
      <p:ext uri="{BB962C8B-B14F-4D97-AF65-F5344CB8AC3E}">
        <p14:creationId xmlns:p14="http://schemas.microsoft.com/office/powerpoint/2010/main" val="3457433389"/>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upo 7"/>
          <p:cNvGrpSpPr/>
          <p:nvPr/>
        </p:nvGrpSpPr>
        <p:grpSpPr>
          <a:xfrm>
            <a:off x="-1" y="-18157"/>
            <a:ext cx="9144002" cy="5140931"/>
            <a:chOff x="-1" y="12500"/>
            <a:chExt cx="9144002" cy="5140931"/>
          </a:xfrm>
        </p:grpSpPr>
        <p:grpSp>
          <p:nvGrpSpPr>
            <p:cNvPr id="2" name="Agrupar 1"/>
            <p:cNvGrpSpPr/>
            <p:nvPr/>
          </p:nvGrpSpPr>
          <p:grpSpPr>
            <a:xfrm>
              <a:off x="1763688" y="309780"/>
              <a:ext cx="7380313" cy="4843651"/>
              <a:chOff x="2039091" y="300128"/>
              <a:chExt cx="7104910" cy="4848136"/>
            </a:xfrm>
          </p:grpSpPr>
          <p:sp>
            <p:nvSpPr>
              <p:cNvPr id="6" name="CaixaDeTexto 5"/>
              <p:cNvSpPr txBox="1"/>
              <p:nvPr/>
            </p:nvSpPr>
            <p:spPr>
              <a:xfrm>
                <a:off x="2039091" y="300128"/>
                <a:ext cx="184731" cy="462093"/>
              </a:xfrm>
              <a:prstGeom prst="rect">
                <a:avLst/>
              </a:prstGeom>
              <a:noFill/>
              <a:scene3d>
                <a:camera prst="orthographicFront"/>
                <a:lightRig rig="threePt" dir="t"/>
              </a:scene3d>
              <a:sp3d>
                <a:bevelT w="114300" prst="artDeco"/>
                <a:bevelB/>
              </a:sp3d>
            </p:spPr>
            <p:txBody>
              <a:bodyPr wrap="none" rtlCol="0">
                <a:spAutoFit/>
              </a:bodyPr>
              <a:lstStyle/>
              <a:p>
                <a:endParaRPr lang="pt-BR" sz="2400" dirty="0">
                  <a:solidFill>
                    <a:prstClr val="black"/>
                  </a:solidFill>
                </a:endParaRPr>
              </a:p>
            </p:txBody>
          </p:sp>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76780" t="78172" r="18395" b="12686"/>
              <a:stretch/>
            </p:blipFill>
            <p:spPr bwMode="auto">
              <a:xfrm>
                <a:off x="8188658" y="4384319"/>
                <a:ext cx="955343" cy="763945"/>
              </a:xfrm>
              <a:prstGeom prst="rect">
                <a:avLst/>
              </a:prstGeom>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4" name="Imagem 3"/>
            <p:cNvPicPr>
              <a:picLocks noChangeAspect="1"/>
            </p:cNvPicPr>
            <p:nvPr/>
          </p:nvPicPr>
          <p:blipFill>
            <a:blip r:embed="rId4"/>
            <a:stretch>
              <a:fillRect/>
            </a:stretch>
          </p:blipFill>
          <p:spPr>
            <a:xfrm>
              <a:off x="-1" y="12500"/>
              <a:ext cx="928369" cy="913131"/>
            </a:xfrm>
            <a:prstGeom prst="rect">
              <a:avLst/>
            </a:prstGeom>
          </p:spPr>
        </p:pic>
        <p:pic>
          <p:nvPicPr>
            <p:cNvPr id="26" name="Picture 9"/>
            <p:cNvPicPr>
              <a:picLocks noChangeAspect="1"/>
            </p:cNvPicPr>
            <p:nvPr/>
          </p:nvPicPr>
          <p:blipFill>
            <a:blip r:embed="rId5"/>
            <a:stretch>
              <a:fillRect/>
            </a:stretch>
          </p:blipFill>
          <p:spPr>
            <a:xfrm>
              <a:off x="7020272" y="201819"/>
              <a:ext cx="1866343" cy="338794"/>
            </a:xfrm>
            <a:prstGeom prst="rect">
              <a:avLst/>
            </a:prstGeom>
          </p:spPr>
        </p:pic>
      </p:grpSp>
      <p:pic>
        <p:nvPicPr>
          <p:cNvPr id="5" name="Imagem 4"/>
          <p:cNvPicPr>
            <a:picLocks noChangeAspect="1"/>
          </p:cNvPicPr>
          <p:nvPr/>
        </p:nvPicPr>
        <p:blipFill>
          <a:blip r:embed="rId6"/>
          <a:stretch>
            <a:fillRect/>
          </a:stretch>
        </p:blipFill>
        <p:spPr>
          <a:xfrm>
            <a:off x="3178120" y="1255572"/>
            <a:ext cx="2787760" cy="237188"/>
          </a:xfrm>
          <a:prstGeom prst="rect">
            <a:avLst/>
          </a:prstGeom>
        </p:spPr>
      </p:pic>
      <p:sp>
        <p:nvSpPr>
          <p:cNvPr id="20" name="CaixaDeTexto 5"/>
          <p:cNvSpPr txBox="1"/>
          <p:nvPr/>
        </p:nvSpPr>
        <p:spPr>
          <a:xfrm>
            <a:off x="1259086" y="53851"/>
            <a:ext cx="5085516" cy="707886"/>
          </a:xfrm>
          <a:prstGeom prst="rect">
            <a:avLst/>
          </a:prstGeom>
          <a:noFill/>
        </p:spPr>
        <p:txBody>
          <a:bodyPr wrap="square"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pt-BR" sz="2400" b="1" dirty="0">
                <a:solidFill>
                  <a:srgbClr val="184E82"/>
                </a:solidFill>
              </a:rPr>
              <a:t>5. Incidentes de Alto Impacto</a:t>
            </a:r>
          </a:p>
          <a:p>
            <a:pPr algn="ctr"/>
            <a:r>
              <a:rPr lang="pt-BR" sz="1600" dirty="0">
                <a:solidFill>
                  <a:srgbClr val="184E82"/>
                </a:solidFill>
              </a:rPr>
              <a:t>01 a 25 de Abril de 2016</a:t>
            </a:r>
          </a:p>
        </p:txBody>
      </p:sp>
      <p:cxnSp>
        <p:nvCxnSpPr>
          <p:cNvPr id="23" name="Conector Angulado 22"/>
          <p:cNvCxnSpPr>
            <a:stCxn id="5" idx="2"/>
          </p:cNvCxnSpPr>
          <p:nvPr/>
        </p:nvCxnSpPr>
        <p:spPr>
          <a:xfrm rot="16200000" flipH="1">
            <a:off x="5813674" y="251085"/>
            <a:ext cx="934190" cy="3417539"/>
          </a:xfrm>
          <a:prstGeom prst="bentConnector3">
            <a:avLst/>
          </a:prstGeom>
          <a:ln>
            <a:solidFill>
              <a:srgbClr val="19345B"/>
            </a:solidFill>
            <a:tailEnd type="triangle"/>
          </a:ln>
        </p:spPr>
        <p:style>
          <a:lnRef idx="1">
            <a:schemeClr val="accent1"/>
          </a:lnRef>
          <a:fillRef idx="0">
            <a:schemeClr val="accent1"/>
          </a:fillRef>
          <a:effectRef idx="0">
            <a:schemeClr val="accent1"/>
          </a:effectRef>
          <a:fontRef idx="minor">
            <a:schemeClr val="tx1"/>
          </a:fontRef>
        </p:style>
      </p:cxnSp>
      <p:cxnSp>
        <p:nvCxnSpPr>
          <p:cNvPr id="25" name="Conector Angulado 24"/>
          <p:cNvCxnSpPr>
            <a:stCxn id="5" idx="2"/>
          </p:cNvCxnSpPr>
          <p:nvPr/>
        </p:nvCxnSpPr>
        <p:spPr>
          <a:xfrm rot="5400000">
            <a:off x="2440280" y="295230"/>
            <a:ext cx="934190" cy="3329250"/>
          </a:xfrm>
          <a:prstGeom prst="bentConnector3">
            <a:avLst/>
          </a:prstGeom>
          <a:ln>
            <a:solidFill>
              <a:srgbClr val="19345B"/>
            </a:solidFill>
            <a:tailEnd type="triangle"/>
          </a:ln>
        </p:spPr>
        <p:style>
          <a:lnRef idx="1">
            <a:schemeClr val="accent1"/>
          </a:lnRef>
          <a:fillRef idx="0">
            <a:schemeClr val="accent1"/>
          </a:fillRef>
          <a:effectRef idx="0">
            <a:schemeClr val="accent1"/>
          </a:effectRef>
          <a:fontRef idx="minor">
            <a:schemeClr val="tx1"/>
          </a:fontRef>
        </p:style>
      </p:cxnSp>
      <p:cxnSp>
        <p:nvCxnSpPr>
          <p:cNvPr id="28" name="Conector Angulado 27"/>
          <p:cNvCxnSpPr>
            <a:stCxn id="5" idx="2"/>
          </p:cNvCxnSpPr>
          <p:nvPr/>
        </p:nvCxnSpPr>
        <p:spPr>
          <a:xfrm rot="5400000">
            <a:off x="3564745" y="1419695"/>
            <a:ext cx="934190" cy="1080320"/>
          </a:xfrm>
          <a:prstGeom prst="bentConnector3">
            <a:avLst/>
          </a:prstGeom>
          <a:ln>
            <a:solidFill>
              <a:srgbClr val="19345B"/>
            </a:solidFill>
            <a:tailEnd type="triangle"/>
          </a:ln>
        </p:spPr>
        <p:style>
          <a:lnRef idx="1">
            <a:schemeClr val="accent1"/>
          </a:lnRef>
          <a:fillRef idx="0">
            <a:schemeClr val="accent1"/>
          </a:fillRef>
          <a:effectRef idx="0">
            <a:schemeClr val="accent1"/>
          </a:effectRef>
          <a:fontRef idx="minor">
            <a:schemeClr val="tx1"/>
          </a:fontRef>
        </p:style>
      </p:cxnSp>
      <p:cxnSp>
        <p:nvCxnSpPr>
          <p:cNvPr id="30" name="Conector Angulado 29"/>
          <p:cNvCxnSpPr>
            <a:stCxn id="5" idx="2"/>
          </p:cNvCxnSpPr>
          <p:nvPr/>
        </p:nvCxnSpPr>
        <p:spPr>
          <a:xfrm rot="16200000" flipH="1">
            <a:off x="4689210" y="1375550"/>
            <a:ext cx="934190" cy="1168610"/>
          </a:xfrm>
          <a:prstGeom prst="bentConnector3">
            <a:avLst/>
          </a:prstGeom>
          <a:ln>
            <a:solidFill>
              <a:srgbClr val="19345B"/>
            </a:solidFill>
            <a:tailEnd type="triangle"/>
          </a:ln>
        </p:spPr>
        <p:style>
          <a:lnRef idx="1">
            <a:schemeClr val="accent1"/>
          </a:lnRef>
          <a:fillRef idx="0">
            <a:schemeClr val="accent1"/>
          </a:fillRef>
          <a:effectRef idx="0">
            <a:schemeClr val="accent1"/>
          </a:effectRef>
          <a:fontRef idx="minor">
            <a:schemeClr val="tx1"/>
          </a:fontRef>
        </p:style>
      </p:cxnSp>
      <p:pic>
        <p:nvPicPr>
          <p:cNvPr id="7" name="Imagem 6"/>
          <p:cNvPicPr>
            <a:picLocks noChangeAspect="1"/>
          </p:cNvPicPr>
          <p:nvPr/>
        </p:nvPicPr>
        <p:blipFill>
          <a:blip r:embed="rId7"/>
          <a:stretch>
            <a:fillRect/>
          </a:stretch>
        </p:blipFill>
        <p:spPr>
          <a:xfrm>
            <a:off x="167621" y="2439890"/>
            <a:ext cx="2188969" cy="2296800"/>
          </a:xfrm>
          <a:prstGeom prst="rect">
            <a:avLst/>
          </a:prstGeom>
        </p:spPr>
      </p:pic>
      <p:pic>
        <p:nvPicPr>
          <p:cNvPr id="11" name="Imagem 10"/>
          <p:cNvPicPr>
            <a:picLocks noChangeAspect="1"/>
          </p:cNvPicPr>
          <p:nvPr/>
        </p:nvPicPr>
        <p:blipFill>
          <a:blip r:embed="rId8"/>
          <a:stretch>
            <a:fillRect/>
          </a:stretch>
        </p:blipFill>
        <p:spPr>
          <a:xfrm>
            <a:off x="2587852" y="2439890"/>
            <a:ext cx="1824141" cy="835200"/>
          </a:xfrm>
          <a:prstGeom prst="rect">
            <a:avLst/>
          </a:prstGeom>
        </p:spPr>
      </p:pic>
      <p:pic>
        <p:nvPicPr>
          <p:cNvPr id="15" name="Imagem 14"/>
          <p:cNvPicPr>
            <a:picLocks noChangeAspect="1"/>
          </p:cNvPicPr>
          <p:nvPr/>
        </p:nvPicPr>
        <p:blipFill>
          <a:blip r:embed="rId9"/>
          <a:stretch>
            <a:fillRect/>
          </a:stretch>
        </p:blipFill>
        <p:spPr>
          <a:xfrm>
            <a:off x="4797462" y="2439890"/>
            <a:ext cx="1908833" cy="554625"/>
          </a:xfrm>
          <a:prstGeom prst="rect">
            <a:avLst/>
          </a:prstGeom>
        </p:spPr>
      </p:pic>
      <p:pic>
        <p:nvPicPr>
          <p:cNvPr id="17" name="Imagem 16"/>
          <p:cNvPicPr>
            <a:picLocks noChangeAspect="1"/>
          </p:cNvPicPr>
          <p:nvPr/>
        </p:nvPicPr>
        <p:blipFill>
          <a:blip r:embed="rId10"/>
          <a:stretch>
            <a:fillRect/>
          </a:stretch>
        </p:blipFill>
        <p:spPr>
          <a:xfrm>
            <a:off x="7081362" y="2439890"/>
            <a:ext cx="1837170" cy="698175"/>
          </a:xfrm>
          <a:prstGeom prst="rect">
            <a:avLst/>
          </a:prstGeom>
        </p:spPr>
      </p:pic>
      <p:sp>
        <p:nvSpPr>
          <p:cNvPr id="27" name="CaixaDeTexto 26"/>
          <p:cNvSpPr txBox="1"/>
          <p:nvPr/>
        </p:nvSpPr>
        <p:spPr>
          <a:xfrm>
            <a:off x="3518" y="4819735"/>
            <a:ext cx="5948978" cy="261610"/>
          </a:xfrm>
          <a:prstGeom prst="rect">
            <a:avLst/>
          </a:prstGeom>
          <a:noFill/>
          <a:scene3d>
            <a:camera prst="orthographicFront"/>
            <a:lightRig rig="threePt" dir="t"/>
          </a:scene3d>
          <a:sp3d>
            <a:bevelT w="114300" prst="artDeco"/>
            <a:bevelB/>
          </a:sp3d>
        </p:spPr>
        <p:txBody>
          <a:bodyPr wrap="square" rtlCol="0">
            <a:spAutoFit/>
          </a:bodyPr>
          <a:lstStyle/>
          <a:p>
            <a:pPr algn="just"/>
            <a:r>
              <a:rPr lang="pt-BR" sz="1100" dirty="0">
                <a:solidFill>
                  <a:schemeClr val="bg1">
                    <a:lumMod val="65000"/>
                  </a:schemeClr>
                </a:solidFill>
              </a:rPr>
              <a:t>Informações retiradas dos indicadores de SLA e </a:t>
            </a:r>
            <a:r>
              <a:rPr lang="pt-BR" sz="1100" dirty="0" err="1">
                <a:solidFill>
                  <a:schemeClr val="bg1">
                    <a:lumMod val="65000"/>
                  </a:schemeClr>
                </a:solidFill>
              </a:rPr>
              <a:t>tProcess</a:t>
            </a:r>
            <a:r>
              <a:rPr lang="pt-BR" sz="1100" dirty="0">
                <a:solidFill>
                  <a:schemeClr val="bg1">
                    <a:lumMod val="65000"/>
                  </a:schemeClr>
                </a:solidFill>
              </a:rPr>
              <a:t>! referentes ao período de 01/04 a 25/04.</a:t>
            </a:r>
          </a:p>
        </p:txBody>
      </p:sp>
      <p:sp>
        <p:nvSpPr>
          <p:cNvPr id="19" name="Fluxograma: Conector 18">
            <a:hlinkClick r:id="rId11" action="ppaction://hlinksldjump"/>
          </p:cNvPr>
          <p:cNvSpPr/>
          <p:nvPr/>
        </p:nvSpPr>
        <p:spPr>
          <a:xfrm>
            <a:off x="7615114" y="4605453"/>
            <a:ext cx="769665" cy="413739"/>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050" dirty="0" smtClean="0"/>
              <a:t>Março</a:t>
            </a:r>
            <a:endParaRPr lang="pt-BR" sz="1050" dirty="0"/>
          </a:p>
        </p:txBody>
      </p:sp>
    </p:spTree>
    <p:extLst>
      <p:ext uri="{BB962C8B-B14F-4D97-AF65-F5344CB8AC3E}">
        <p14:creationId xmlns:p14="http://schemas.microsoft.com/office/powerpoint/2010/main" val="2439860549"/>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76780" t="78172" r="18395" b="12686"/>
          <a:stretch/>
        </p:blipFill>
        <p:spPr bwMode="auto">
          <a:xfrm>
            <a:off x="8188658" y="4384319"/>
            <a:ext cx="955343" cy="7639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9"/>
          <p:cNvPicPr>
            <a:picLocks noChangeAspect="1"/>
          </p:cNvPicPr>
          <p:nvPr/>
        </p:nvPicPr>
        <p:blipFill>
          <a:blip r:embed="rId4"/>
          <a:stretch>
            <a:fillRect/>
          </a:stretch>
        </p:blipFill>
        <p:spPr>
          <a:xfrm>
            <a:off x="7021333" y="289005"/>
            <a:ext cx="1603348" cy="291323"/>
          </a:xfrm>
          <a:prstGeom prst="rect">
            <a:avLst/>
          </a:prstGeom>
        </p:spPr>
      </p:pic>
      <p:pic>
        <p:nvPicPr>
          <p:cNvPr id="8" name="Picture 1" descr="t03-02.jpg"/>
          <p:cNvPicPr>
            <a:picLocks noChangeAspect="1"/>
          </p:cNvPicPr>
          <p:nvPr/>
        </p:nvPicPr>
        <p:blipFill rotWithShape="1">
          <a:blip r:embed="rId5">
            <a:extLst>
              <a:ext uri="{28A0092B-C50C-407E-A947-70E740481C1C}">
                <a14:useLocalDpi xmlns:a14="http://schemas.microsoft.com/office/drawing/2010/main" val="0"/>
              </a:ext>
            </a:extLst>
          </a:blip>
          <a:srcRect r="91368" b="84909"/>
          <a:stretch/>
        </p:blipFill>
        <p:spPr>
          <a:xfrm>
            <a:off x="0" y="0"/>
            <a:ext cx="789296" cy="776935"/>
          </a:xfrm>
          <a:prstGeom prst="rect">
            <a:avLst/>
          </a:prstGeom>
        </p:spPr>
      </p:pic>
      <p:sp>
        <p:nvSpPr>
          <p:cNvPr id="6" name="CaixaDeTexto 5"/>
          <p:cNvSpPr txBox="1"/>
          <p:nvPr/>
        </p:nvSpPr>
        <p:spPr>
          <a:xfrm>
            <a:off x="2039091" y="300128"/>
            <a:ext cx="184731" cy="369332"/>
          </a:xfrm>
          <a:prstGeom prst="rect">
            <a:avLst/>
          </a:prstGeom>
          <a:noFill/>
        </p:spPr>
        <p:txBody>
          <a:bodyPr wrap="none" rtlCol="0">
            <a:spAutoFit/>
          </a:bodyPr>
          <a:lstStyle/>
          <a:p>
            <a:endParaRPr lang="pt-BR" dirty="0"/>
          </a:p>
        </p:txBody>
      </p:sp>
      <p:sp>
        <p:nvSpPr>
          <p:cNvPr id="9" name="Title 1"/>
          <p:cNvSpPr txBox="1">
            <a:spLocks/>
          </p:cNvSpPr>
          <p:nvPr/>
        </p:nvSpPr>
        <p:spPr>
          <a:xfrm>
            <a:off x="897195" y="237781"/>
            <a:ext cx="6254098" cy="5604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pt-BR" sz="2800" b="1" dirty="0">
                <a:solidFill>
                  <a:schemeClr val="tx2"/>
                </a:solidFill>
                <a:latin typeface="Arial" pitchFamily="34" charset="0"/>
                <a:cs typeface="Arial" pitchFamily="34" charset="0"/>
              </a:rPr>
              <a:t>6</a:t>
            </a:r>
            <a:r>
              <a:rPr lang="pt-BR" sz="2800" b="1" dirty="0" smtClean="0">
                <a:solidFill>
                  <a:schemeClr val="tx2"/>
                </a:solidFill>
                <a:latin typeface="Arial" pitchFamily="34" charset="0"/>
                <a:cs typeface="Arial" pitchFamily="34" charset="0"/>
              </a:rPr>
              <a:t>. Projeto: </a:t>
            </a:r>
            <a:r>
              <a:rPr lang="pt-BR" sz="2800" b="1" dirty="0" err="1" smtClean="0">
                <a:solidFill>
                  <a:schemeClr val="tx2"/>
                </a:solidFill>
                <a:latin typeface="Arial" pitchFamily="34" charset="0"/>
                <a:cs typeface="Arial" pitchFamily="34" charset="0"/>
              </a:rPr>
              <a:t>Aspect</a:t>
            </a:r>
            <a:r>
              <a:rPr lang="pt-BR" sz="2800" b="1" dirty="0" smtClean="0">
                <a:solidFill>
                  <a:schemeClr val="tx2"/>
                </a:solidFill>
                <a:latin typeface="Arial" pitchFamily="34" charset="0"/>
                <a:cs typeface="Arial" pitchFamily="34" charset="0"/>
              </a:rPr>
              <a:t> </a:t>
            </a:r>
            <a:r>
              <a:rPr lang="pt-BR" sz="2800" b="1" dirty="0">
                <a:solidFill>
                  <a:schemeClr val="tx2"/>
                </a:solidFill>
                <a:latin typeface="Arial" pitchFamily="34" charset="0"/>
                <a:cs typeface="Arial" pitchFamily="34" charset="0"/>
              </a:rPr>
              <a:t>7.3 </a:t>
            </a:r>
            <a:r>
              <a:rPr lang="pt-BR" sz="2800" b="1" dirty="0" smtClean="0">
                <a:solidFill>
                  <a:schemeClr val="tx2"/>
                </a:solidFill>
                <a:latin typeface="Arial" pitchFamily="34" charset="0"/>
                <a:cs typeface="Arial" pitchFamily="34" charset="0"/>
              </a:rPr>
              <a:t>System 1</a:t>
            </a:r>
            <a:endParaRPr lang="pt-BR" sz="2800" b="1" dirty="0">
              <a:solidFill>
                <a:schemeClr val="tx2"/>
              </a:solidFill>
              <a:latin typeface="Arial" pitchFamily="34" charset="0"/>
              <a:cs typeface="Arial" pitchFamily="34" charset="0"/>
            </a:endParaRPr>
          </a:p>
        </p:txBody>
      </p:sp>
      <p:sp>
        <p:nvSpPr>
          <p:cNvPr id="12" name="Retângulo 11"/>
          <p:cNvSpPr/>
          <p:nvPr/>
        </p:nvSpPr>
        <p:spPr>
          <a:xfrm>
            <a:off x="221121" y="2081341"/>
            <a:ext cx="2716382" cy="2550036"/>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0" lvl="1" algn="ctr">
              <a:spcBef>
                <a:spcPts val="200"/>
              </a:spcBef>
              <a:spcAft>
                <a:spcPts val="200"/>
              </a:spcAft>
            </a:pPr>
            <a:r>
              <a:rPr lang="pt-BR" sz="1400" b="1" dirty="0">
                <a:solidFill>
                  <a:schemeClr val="tx1">
                    <a:lumMod val="95000"/>
                    <a:lumOff val="5000"/>
                  </a:schemeClr>
                </a:solidFill>
              </a:rPr>
              <a:t>Últimas Realizações</a:t>
            </a:r>
            <a:endParaRPr lang="pt-BR" sz="1200" dirty="0">
              <a:solidFill>
                <a:schemeClr val="tx1">
                  <a:lumMod val="95000"/>
                  <a:lumOff val="5000"/>
                </a:schemeClr>
              </a:solidFill>
            </a:endParaRPr>
          </a:p>
          <a:p>
            <a:pPr marL="171450" lvl="1" indent="-171450">
              <a:spcBef>
                <a:spcPts val="200"/>
              </a:spcBef>
              <a:spcAft>
                <a:spcPts val="200"/>
              </a:spcAft>
              <a:buFont typeface="Arial" panose="020B0604020202020204" pitchFamily="34" charset="0"/>
              <a:buChar char="•"/>
            </a:pPr>
            <a:r>
              <a:rPr lang="pt-BR" sz="1200" dirty="0" smtClean="0">
                <a:solidFill>
                  <a:schemeClr val="tx1">
                    <a:lumMod val="95000"/>
                    <a:lumOff val="5000"/>
                  </a:schemeClr>
                </a:solidFill>
              </a:rPr>
              <a:t>Desenho da arquitetura de utilização de link de dados pela Plataforma.</a:t>
            </a:r>
          </a:p>
          <a:p>
            <a:pPr marL="171450" lvl="1" indent="-171450">
              <a:spcBef>
                <a:spcPts val="200"/>
              </a:spcBef>
              <a:spcAft>
                <a:spcPts val="200"/>
              </a:spcAft>
              <a:buFont typeface="Arial" panose="020B0604020202020204" pitchFamily="34" charset="0"/>
              <a:buChar char="•"/>
            </a:pPr>
            <a:r>
              <a:rPr lang="pt-BR" sz="1200" dirty="0" smtClean="0">
                <a:solidFill>
                  <a:schemeClr val="tx1">
                    <a:lumMod val="95000"/>
                    <a:lumOff val="5000"/>
                  </a:schemeClr>
                </a:solidFill>
              </a:rPr>
              <a:t>Definida a ordem de prioridade de migração das operações.</a:t>
            </a:r>
          </a:p>
          <a:p>
            <a:pPr marL="0" lvl="1">
              <a:spcBef>
                <a:spcPts val="200"/>
              </a:spcBef>
              <a:spcAft>
                <a:spcPts val="200"/>
              </a:spcAft>
            </a:pPr>
            <a:endParaRPr lang="pt-BR" sz="1200" dirty="0" smtClean="0">
              <a:solidFill>
                <a:schemeClr val="tx1">
                  <a:lumMod val="95000"/>
                  <a:lumOff val="5000"/>
                </a:schemeClr>
              </a:solidFill>
            </a:endParaRPr>
          </a:p>
          <a:p>
            <a:pPr marL="0" lvl="1">
              <a:spcBef>
                <a:spcPts val="200"/>
              </a:spcBef>
              <a:spcAft>
                <a:spcPts val="200"/>
              </a:spcAft>
            </a:pPr>
            <a:endParaRPr lang="pt-BR" sz="1200" dirty="0">
              <a:solidFill>
                <a:schemeClr val="tx1">
                  <a:lumMod val="95000"/>
                  <a:lumOff val="5000"/>
                </a:schemeClr>
              </a:solidFill>
            </a:endParaRPr>
          </a:p>
          <a:p>
            <a:pPr marL="171450" lvl="1" indent="-171450">
              <a:spcBef>
                <a:spcPts val="200"/>
              </a:spcBef>
              <a:spcAft>
                <a:spcPts val="200"/>
              </a:spcAft>
              <a:buFont typeface="Arial" panose="020B0604020202020204" pitchFamily="34" charset="0"/>
              <a:buChar char="•"/>
            </a:pPr>
            <a:endParaRPr lang="pt-BR" sz="1200" dirty="0" smtClean="0">
              <a:solidFill>
                <a:schemeClr val="tx1">
                  <a:lumMod val="95000"/>
                  <a:lumOff val="5000"/>
                </a:schemeClr>
              </a:solidFill>
            </a:endParaRPr>
          </a:p>
          <a:p>
            <a:pPr marL="0" lvl="1">
              <a:spcBef>
                <a:spcPts val="200"/>
              </a:spcBef>
              <a:spcAft>
                <a:spcPts val="200"/>
              </a:spcAft>
            </a:pPr>
            <a:endParaRPr lang="pt-BR" sz="1200" dirty="0" smtClean="0">
              <a:solidFill>
                <a:schemeClr val="tx1">
                  <a:lumMod val="95000"/>
                  <a:lumOff val="5000"/>
                </a:schemeClr>
              </a:solidFill>
            </a:endParaRPr>
          </a:p>
          <a:p>
            <a:pPr marL="171450" lvl="1" indent="-171450">
              <a:spcBef>
                <a:spcPts val="200"/>
              </a:spcBef>
              <a:spcAft>
                <a:spcPts val="200"/>
              </a:spcAft>
              <a:buFont typeface="Arial" panose="020B0604020202020204" pitchFamily="34" charset="0"/>
              <a:buChar char="•"/>
            </a:pPr>
            <a:endParaRPr lang="pt-BR" sz="1200" dirty="0" smtClean="0">
              <a:solidFill>
                <a:schemeClr val="tx1">
                  <a:lumMod val="95000"/>
                  <a:lumOff val="5000"/>
                </a:schemeClr>
              </a:solidFill>
            </a:endParaRPr>
          </a:p>
          <a:p>
            <a:pPr marL="171450" lvl="1" indent="-171450">
              <a:spcBef>
                <a:spcPts val="200"/>
              </a:spcBef>
              <a:spcAft>
                <a:spcPts val="200"/>
              </a:spcAft>
              <a:buFont typeface="Arial" panose="020B0604020202020204" pitchFamily="34" charset="0"/>
              <a:buChar char="•"/>
            </a:pPr>
            <a:endParaRPr lang="pt-BR" sz="1200" dirty="0">
              <a:solidFill>
                <a:schemeClr val="tx1">
                  <a:lumMod val="95000"/>
                  <a:lumOff val="5000"/>
                </a:schemeClr>
              </a:solidFill>
            </a:endParaRPr>
          </a:p>
        </p:txBody>
      </p:sp>
      <p:sp>
        <p:nvSpPr>
          <p:cNvPr id="15" name="Retângulo de cantos arredondados 14"/>
          <p:cNvSpPr/>
          <p:nvPr/>
        </p:nvSpPr>
        <p:spPr>
          <a:xfrm>
            <a:off x="221121" y="879118"/>
            <a:ext cx="2868782" cy="978810"/>
          </a:xfrm>
          <a:prstGeom prst="roundRect">
            <a:avLst/>
          </a:prstGeom>
          <a:solidFill>
            <a:srgbClr val="FFC000"/>
          </a:soli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r>
              <a:rPr lang="pt-BR" sz="1400" b="1" dirty="0">
                <a:effectLst>
                  <a:outerShdw blurRad="38100" dist="38100" dir="2700000" algn="tl">
                    <a:srgbClr val="000000">
                      <a:alpha val="43137"/>
                    </a:srgbClr>
                  </a:outerShdw>
                </a:effectLst>
              </a:rPr>
              <a:t>Projeto: </a:t>
            </a:r>
            <a:r>
              <a:rPr lang="pt-BR" sz="1400" b="1" dirty="0" err="1">
                <a:effectLst>
                  <a:outerShdw blurRad="38100" dist="38100" dir="2700000" algn="tl">
                    <a:srgbClr val="000000">
                      <a:alpha val="43137"/>
                    </a:srgbClr>
                  </a:outerShdw>
                </a:effectLst>
              </a:rPr>
              <a:t>Proj</a:t>
            </a:r>
            <a:r>
              <a:rPr lang="pt-BR" sz="1400" b="1" dirty="0">
                <a:effectLst>
                  <a:outerShdw blurRad="38100" dist="38100" dir="2700000" algn="tl">
                    <a:srgbClr val="000000">
                      <a:alpha val="43137"/>
                    </a:srgbClr>
                  </a:outerShdw>
                </a:effectLst>
              </a:rPr>
              <a:t> </a:t>
            </a:r>
            <a:r>
              <a:rPr lang="pt-BR" sz="1400" b="1" dirty="0" err="1">
                <a:effectLst>
                  <a:outerShdw blurRad="38100" dist="38100" dir="2700000" algn="tl">
                    <a:srgbClr val="000000">
                      <a:alpha val="43137"/>
                    </a:srgbClr>
                  </a:outerShdw>
                </a:effectLst>
              </a:rPr>
              <a:t>Aspect</a:t>
            </a:r>
            <a:r>
              <a:rPr lang="pt-BR" sz="1400" b="1" dirty="0">
                <a:effectLst>
                  <a:outerShdw blurRad="38100" dist="38100" dir="2700000" algn="tl">
                    <a:srgbClr val="000000">
                      <a:alpha val="43137"/>
                    </a:srgbClr>
                  </a:outerShdw>
                </a:effectLst>
              </a:rPr>
              <a:t> </a:t>
            </a:r>
            <a:r>
              <a:rPr lang="pt-BR" sz="1400" b="1" dirty="0" smtClean="0">
                <a:effectLst>
                  <a:outerShdw blurRad="38100" dist="38100" dir="2700000" algn="tl">
                    <a:srgbClr val="000000">
                      <a:alpha val="43137"/>
                    </a:srgbClr>
                  </a:outerShdw>
                </a:effectLst>
              </a:rPr>
              <a:t>7.3</a:t>
            </a:r>
          </a:p>
          <a:p>
            <a:r>
              <a:rPr lang="pt-BR" sz="1200" i="1" dirty="0" smtClean="0"/>
              <a:t>Data Inicio: 14-10-2015</a:t>
            </a:r>
          </a:p>
          <a:p>
            <a:r>
              <a:rPr lang="pt-BR" sz="1200" i="1" dirty="0" smtClean="0"/>
              <a:t>Data Conclusão: Plataforma: </a:t>
            </a:r>
            <a:r>
              <a:rPr lang="pt-BR" sz="1200" i="1" dirty="0" smtClean="0"/>
              <a:t>01-05-2017</a:t>
            </a:r>
            <a:endParaRPr lang="pt-BR" sz="1200" i="1" dirty="0" smtClean="0"/>
          </a:p>
          <a:p>
            <a:r>
              <a:rPr lang="pt-BR" sz="1200" i="1" dirty="0" smtClean="0"/>
              <a:t>Progresso: </a:t>
            </a:r>
            <a:r>
              <a:rPr lang="pt-BR" sz="1200" i="1" dirty="0"/>
              <a:t>4</a:t>
            </a:r>
            <a:r>
              <a:rPr lang="pt-BR" sz="1200" i="1" dirty="0" smtClean="0"/>
              <a:t>%</a:t>
            </a:r>
          </a:p>
          <a:p>
            <a:r>
              <a:rPr lang="pt-BR" sz="1200" i="1" dirty="0" smtClean="0"/>
              <a:t>PM</a:t>
            </a:r>
            <a:r>
              <a:rPr lang="pt-BR" sz="1200" i="1" dirty="0"/>
              <a:t>: </a:t>
            </a:r>
            <a:r>
              <a:rPr lang="pt-BR" sz="1200" i="1" dirty="0" smtClean="0"/>
              <a:t>Julio Cesar</a:t>
            </a:r>
          </a:p>
        </p:txBody>
      </p:sp>
      <p:sp>
        <p:nvSpPr>
          <p:cNvPr id="16" name="Retângulo 15"/>
          <p:cNvSpPr/>
          <p:nvPr/>
        </p:nvSpPr>
        <p:spPr>
          <a:xfrm>
            <a:off x="3112569" y="2081340"/>
            <a:ext cx="2716382" cy="2550037"/>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0" lvl="1" algn="ctr">
              <a:spcBef>
                <a:spcPts val="200"/>
              </a:spcBef>
              <a:spcAft>
                <a:spcPts val="200"/>
              </a:spcAft>
            </a:pPr>
            <a:r>
              <a:rPr lang="pt-BR" sz="1400" b="1" dirty="0">
                <a:solidFill>
                  <a:schemeClr val="tx1">
                    <a:lumMod val="95000"/>
                    <a:lumOff val="5000"/>
                  </a:schemeClr>
                </a:solidFill>
              </a:rPr>
              <a:t>Próximas Ações</a:t>
            </a:r>
            <a:endParaRPr lang="pt-BR" sz="1400" dirty="0">
              <a:solidFill>
                <a:schemeClr val="tx1">
                  <a:lumMod val="95000"/>
                  <a:lumOff val="5000"/>
                </a:schemeClr>
              </a:solidFill>
            </a:endParaRPr>
          </a:p>
          <a:p>
            <a:pPr marL="171450" lvl="1" indent="-171450">
              <a:spcBef>
                <a:spcPts val="200"/>
              </a:spcBef>
              <a:spcAft>
                <a:spcPts val="200"/>
              </a:spcAft>
              <a:buFont typeface="Arial" panose="020B0604020202020204" pitchFamily="34" charset="0"/>
              <a:buChar char="•"/>
            </a:pPr>
            <a:r>
              <a:rPr lang="pt-BR" sz="1200" dirty="0" smtClean="0">
                <a:solidFill>
                  <a:schemeClr val="tx1">
                    <a:lumMod val="95000"/>
                    <a:lumOff val="5000"/>
                  </a:schemeClr>
                </a:solidFill>
              </a:rPr>
              <a:t>Estudo de utilização de banda para operações Sites.</a:t>
            </a:r>
          </a:p>
          <a:p>
            <a:pPr marL="171450" lvl="1" indent="-171450">
              <a:spcBef>
                <a:spcPts val="200"/>
              </a:spcBef>
              <a:spcAft>
                <a:spcPts val="200"/>
              </a:spcAft>
              <a:buFont typeface="Arial" panose="020B0604020202020204" pitchFamily="34" charset="0"/>
              <a:buChar char="•"/>
            </a:pPr>
            <a:r>
              <a:rPr lang="pt-BR" sz="1200" dirty="0" smtClean="0">
                <a:solidFill>
                  <a:schemeClr val="tx1">
                    <a:lumMod val="95000"/>
                    <a:lumOff val="5000"/>
                  </a:schemeClr>
                </a:solidFill>
              </a:rPr>
              <a:t>Definição da arquitetura operação BO Anatel.</a:t>
            </a:r>
          </a:p>
          <a:p>
            <a:pPr marL="171450" lvl="1" indent="-171450">
              <a:spcBef>
                <a:spcPts val="200"/>
              </a:spcBef>
              <a:spcAft>
                <a:spcPts val="200"/>
              </a:spcAft>
              <a:buFont typeface="Arial" panose="020B0604020202020204" pitchFamily="34" charset="0"/>
              <a:buChar char="•"/>
            </a:pPr>
            <a:r>
              <a:rPr lang="pt-BR" sz="1200" dirty="0" smtClean="0">
                <a:solidFill>
                  <a:schemeClr val="tx1">
                    <a:lumMod val="95000"/>
                    <a:lumOff val="5000"/>
                  </a:schemeClr>
                </a:solidFill>
              </a:rPr>
              <a:t>Definir plano de migração Santander</a:t>
            </a:r>
          </a:p>
          <a:p>
            <a:pPr marL="171450" lvl="1" indent="-171450">
              <a:spcBef>
                <a:spcPts val="200"/>
              </a:spcBef>
              <a:spcAft>
                <a:spcPts val="200"/>
              </a:spcAft>
              <a:buFont typeface="Arial" panose="020B0604020202020204" pitchFamily="34" charset="0"/>
              <a:buChar char="•"/>
            </a:pPr>
            <a:r>
              <a:rPr lang="pt-BR" sz="1200" dirty="0" smtClean="0">
                <a:solidFill>
                  <a:schemeClr val="tx1">
                    <a:lumMod val="95000"/>
                    <a:lumOff val="5000"/>
                  </a:schemeClr>
                </a:solidFill>
              </a:rPr>
              <a:t>Definição de entrega de links OI.</a:t>
            </a:r>
            <a:endParaRPr lang="pt-BR" sz="1200" dirty="0">
              <a:solidFill>
                <a:schemeClr val="tx1">
                  <a:lumMod val="95000"/>
                  <a:lumOff val="5000"/>
                </a:schemeClr>
              </a:solidFill>
            </a:endParaRPr>
          </a:p>
          <a:p>
            <a:pPr marL="171450" lvl="1" indent="-171450">
              <a:spcBef>
                <a:spcPts val="200"/>
              </a:spcBef>
              <a:spcAft>
                <a:spcPts val="200"/>
              </a:spcAft>
              <a:buFont typeface="Arial" panose="020B0604020202020204" pitchFamily="34" charset="0"/>
              <a:buChar char="•"/>
            </a:pPr>
            <a:endParaRPr lang="pt-BR" sz="1200" dirty="0" smtClean="0">
              <a:solidFill>
                <a:schemeClr val="tx1">
                  <a:lumMod val="95000"/>
                  <a:lumOff val="5000"/>
                </a:schemeClr>
              </a:solidFill>
            </a:endParaRPr>
          </a:p>
          <a:p>
            <a:pPr marL="171450" lvl="1" indent="-171450">
              <a:spcBef>
                <a:spcPts val="200"/>
              </a:spcBef>
              <a:spcAft>
                <a:spcPts val="200"/>
              </a:spcAft>
              <a:buFont typeface="Arial" panose="020B0604020202020204" pitchFamily="34" charset="0"/>
              <a:buChar char="•"/>
            </a:pPr>
            <a:endParaRPr lang="pt-BR" sz="1200" dirty="0" smtClean="0">
              <a:solidFill>
                <a:schemeClr val="tx1">
                  <a:lumMod val="95000"/>
                  <a:lumOff val="5000"/>
                </a:schemeClr>
              </a:solidFill>
            </a:endParaRPr>
          </a:p>
          <a:p>
            <a:pPr marL="171450" lvl="1" indent="-171450">
              <a:spcBef>
                <a:spcPts val="200"/>
              </a:spcBef>
              <a:spcAft>
                <a:spcPts val="200"/>
              </a:spcAft>
              <a:buFont typeface="Arial" panose="020B0604020202020204" pitchFamily="34" charset="0"/>
              <a:buChar char="•"/>
            </a:pPr>
            <a:endParaRPr lang="pt-BR" sz="1200" dirty="0">
              <a:solidFill>
                <a:schemeClr val="tx1"/>
              </a:solidFill>
            </a:endParaRPr>
          </a:p>
          <a:p>
            <a:pPr marL="0" lvl="1" algn="ctr">
              <a:spcBef>
                <a:spcPts val="200"/>
              </a:spcBef>
              <a:spcAft>
                <a:spcPts val="200"/>
              </a:spcAft>
            </a:pPr>
            <a:endParaRPr lang="pt-BR" sz="1400" b="1" dirty="0" smtClean="0">
              <a:solidFill>
                <a:schemeClr val="tx1">
                  <a:lumMod val="95000"/>
                  <a:lumOff val="5000"/>
                </a:schemeClr>
              </a:solidFill>
            </a:endParaRPr>
          </a:p>
        </p:txBody>
      </p:sp>
      <p:sp>
        <p:nvSpPr>
          <p:cNvPr id="17" name="Retângulo 16"/>
          <p:cNvSpPr/>
          <p:nvPr/>
        </p:nvSpPr>
        <p:spPr>
          <a:xfrm>
            <a:off x="6004018" y="2081341"/>
            <a:ext cx="2700000" cy="2550036"/>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0" lvl="1" algn="ctr">
              <a:spcBef>
                <a:spcPts val="200"/>
              </a:spcBef>
              <a:spcAft>
                <a:spcPts val="200"/>
              </a:spcAft>
            </a:pPr>
            <a:r>
              <a:rPr lang="pt-BR" sz="1400" b="1" dirty="0" smtClean="0">
                <a:solidFill>
                  <a:schemeClr val="tx1">
                    <a:lumMod val="95000"/>
                    <a:lumOff val="5000"/>
                  </a:schemeClr>
                </a:solidFill>
              </a:rPr>
              <a:t>Riscos/Problemas/Observações</a:t>
            </a:r>
            <a:endParaRPr lang="pt-BR" sz="1200" b="1" dirty="0" smtClean="0">
              <a:solidFill>
                <a:schemeClr val="tx1">
                  <a:lumMod val="95000"/>
                  <a:lumOff val="5000"/>
                </a:schemeClr>
              </a:solidFill>
            </a:endParaRPr>
          </a:p>
          <a:p>
            <a:pPr marL="0" lvl="1">
              <a:spcBef>
                <a:spcPts val="200"/>
              </a:spcBef>
              <a:spcAft>
                <a:spcPts val="200"/>
              </a:spcAft>
            </a:pPr>
            <a:r>
              <a:rPr lang="pt-BR" sz="1200" dirty="0" smtClean="0">
                <a:solidFill>
                  <a:schemeClr val="tx1">
                    <a:lumMod val="95000"/>
                    <a:lumOff val="5000"/>
                  </a:schemeClr>
                </a:solidFill>
              </a:rPr>
              <a:t>Risco:</a:t>
            </a:r>
          </a:p>
          <a:p>
            <a:pPr marL="171450" lvl="1" indent="-171450">
              <a:spcBef>
                <a:spcPts val="200"/>
              </a:spcBef>
              <a:spcAft>
                <a:spcPts val="200"/>
              </a:spcAft>
              <a:buFont typeface="Arial" panose="020B0604020202020204" pitchFamily="34" charset="0"/>
              <a:buChar char="•"/>
            </a:pPr>
            <a:r>
              <a:rPr lang="pt-BR" sz="1200" dirty="0" smtClean="0">
                <a:solidFill>
                  <a:schemeClr val="tx1">
                    <a:lumMod val="95000"/>
                    <a:lumOff val="5000"/>
                  </a:schemeClr>
                </a:solidFill>
              </a:rPr>
              <a:t>Entrega da OI (E1´s) Polo Prado não pode ser em SIP. Em negociação.</a:t>
            </a:r>
          </a:p>
          <a:p>
            <a:pPr marL="171450" lvl="1" indent="-171450">
              <a:spcBef>
                <a:spcPts val="200"/>
              </a:spcBef>
              <a:spcAft>
                <a:spcPts val="200"/>
              </a:spcAft>
              <a:buFont typeface="Arial" panose="020B0604020202020204" pitchFamily="34" charset="0"/>
              <a:buChar char="•"/>
            </a:pPr>
            <a:r>
              <a:rPr lang="pt-BR" sz="1200" dirty="0" smtClean="0">
                <a:solidFill>
                  <a:schemeClr val="tx1">
                    <a:lumMod val="95000"/>
                    <a:lumOff val="5000"/>
                  </a:schemeClr>
                </a:solidFill>
              </a:rPr>
              <a:t>OI não entrega links do BO Anatel em SP. </a:t>
            </a:r>
          </a:p>
          <a:p>
            <a:pPr marL="171450" lvl="1" indent="-171450">
              <a:spcBef>
                <a:spcPts val="200"/>
              </a:spcBef>
              <a:spcAft>
                <a:spcPts val="200"/>
              </a:spcAft>
              <a:buFont typeface="Arial" panose="020B0604020202020204" pitchFamily="34" charset="0"/>
              <a:buChar char="•"/>
            </a:pPr>
            <a:r>
              <a:rPr lang="pt-BR" altLang="pt-BR" sz="1200" dirty="0">
                <a:solidFill>
                  <a:schemeClr val="tx1">
                    <a:lumMod val="95000"/>
                    <a:lumOff val="5000"/>
                  </a:schemeClr>
                </a:solidFill>
              </a:rPr>
              <a:t>Data de entrega dos links da Oi para implantação da Operação BO Anatel  ainda não confirmada pela </a:t>
            </a:r>
            <a:r>
              <a:rPr lang="pt-BR" altLang="pt-BR" sz="1200" dirty="0" smtClean="0">
                <a:solidFill>
                  <a:schemeClr val="tx1">
                    <a:lumMod val="95000"/>
                    <a:lumOff val="5000"/>
                  </a:schemeClr>
                </a:solidFill>
              </a:rPr>
              <a:t>Oi.</a:t>
            </a:r>
            <a:endParaRPr lang="pt-BR" sz="1200" dirty="0">
              <a:solidFill>
                <a:schemeClr val="tx1">
                  <a:lumMod val="95000"/>
                  <a:lumOff val="5000"/>
                </a:schemeClr>
              </a:solidFill>
            </a:endParaRPr>
          </a:p>
          <a:p>
            <a:pPr marL="171450" lvl="1" indent="-171450">
              <a:spcBef>
                <a:spcPts val="200"/>
              </a:spcBef>
              <a:spcAft>
                <a:spcPts val="200"/>
              </a:spcAft>
              <a:buFont typeface="Arial" panose="020B0604020202020204" pitchFamily="34" charset="0"/>
              <a:buChar char="•"/>
            </a:pPr>
            <a:endParaRPr lang="pt-BR" sz="1200" dirty="0" smtClean="0">
              <a:solidFill>
                <a:schemeClr val="tx1">
                  <a:lumMod val="95000"/>
                  <a:lumOff val="5000"/>
                </a:schemeClr>
              </a:solidFill>
            </a:endParaRPr>
          </a:p>
          <a:p>
            <a:pPr marL="0" lvl="1">
              <a:spcBef>
                <a:spcPts val="200"/>
              </a:spcBef>
              <a:spcAft>
                <a:spcPts val="200"/>
              </a:spcAft>
            </a:pPr>
            <a:endParaRPr lang="pt-BR" sz="1200" dirty="0" smtClean="0">
              <a:solidFill>
                <a:schemeClr val="tx1">
                  <a:lumMod val="95000"/>
                  <a:lumOff val="5000"/>
                </a:schemeClr>
              </a:solidFill>
            </a:endParaRPr>
          </a:p>
        </p:txBody>
      </p:sp>
      <p:sp>
        <p:nvSpPr>
          <p:cNvPr id="18" name="Retângulo de cantos arredondados 17"/>
          <p:cNvSpPr/>
          <p:nvPr/>
        </p:nvSpPr>
        <p:spPr>
          <a:xfrm>
            <a:off x="3129591" y="923882"/>
            <a:ext cx="5630497" cy="934045"/>
          </a:xfrm>
          <a:prstGeom prst="roundRect">
            <a:avLst/>
          </a:prstGeom>
          <a:solidFill>
            <a:schemeClr val="accent1">
              <a:lumMod val="50000"/>
            </a:schemeClr>
          </a:soli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r>
              <a:rPr lang="pt-BR" sz="1400" b="1" dirty="0" smtClean="0">
                <a:effectLst>
                  <a:outerShdw blurRad="38100" dist="38100" dir="2700000" algn="tl">
                    <a:srgbClr val="000000">
                      <a:alpha val="43137"/>
                    </a:srgbClr>
                  </a:outerShdw>
                </a:effectLst>
              </a:rPr>
              <a:t>Descritivo: </a:t>
            </a:r>
            <a:r>
              <a:rPr lang="pt-BR" sz="1400" dirty="0" smtClean="0">
                <a:effectLst>
                  <a:outerShdw blurRad="38100" dist="38100" dir="2700000" algn="tl">
                    <a:srgbClr val="000000">
                      <a:alpha val="43137"/>
                    </a:srgbClr>
                  </a:outerShdw>
                </a:effectLst>
              </a:rPr>
              <a:t>Este projeto tem como escopo, preparar/adequar toda  </a:t>
            </a:r>
            <a:r>
              <a:rPr lang="pt-BR" sz="1400" dirty="0">
                <a:effectLst>
                  <a:outerShdw blurRad="38100" dist="38100" dir="2700000" algn="tl">
                    <a:srgbClr val="000000">
                      <a:alpha val="43137"/>
                    </a:srgbClr>
                  </a:outerShdw>
                </a:effectLst>
              </a:rPr>
              <a:t>a infra de HW </a:t>
            </a:r>
            <a:r>
              <a:rPr lang="pt-BR" sz="1400" dirty="0" smtClean="0">
                <a:effectLst>
                  <a:outerShdw blurRad="38100" dist="38100" dir="2700000" algn="tl">
                    <a:srgbClr val="000000">
                      <a:alpha val="43137"/>
                    </a:srgbClr>
                  </a:outerShdw>
                </a:effectLst>
              </a:rPr>
              <a:t>para </a:t>
            </a:r>
            <a:r>
              <a:rPr lang="pt-BR" sz="1400" dirty="0">
                <a:effectLst>
                  <a:outerShdw blurRad="38100" dist="38100" dir="2700000" algn="tl">
                    <a:srgbClr val="000000">
                      <a:alpha val="43137"/>
                    </a:srgbClr>
                  </a:outerShdw>
                </a:effectLst>
              </a:rPr>
              <a:t>instalar a versão 7.3 do </a:t>
            </a:r>
            <a:r>
              <a:rPr lang="pt-BR" sz="1400" dirty="0" err="1" smtClean="0">
                <a:effectLst>
                  <a:outerShdw blurRad="38100" dist="38100" dir="2700000" algn="tl">
                    <a:srgbClr val="000000">
                      <a:alpha val="43137"/>
                    </a:srgbClr>
                  </a:outerShdw>
                </a:effectLst>
              </a:rPr>
              <a:t>Aspect</a:t>
            </a:r>
            <a:r>
              <a:rPr lang="pt-BR" sz="1400" dirty="0" smtClean="0">
                <a:effectLst>
                  <a:outerShdw blurRad="38100" dist="38100" dir="2700000" algn="tl">
                    <a:srgbClr val="000000">
                      <a:alpha val="43137"/>
                    </a:srgbClr>
                  </a:outerShdw>
                </a:effectLst>
              </a:rPr>
              <a:t> para 2000 </a:t>
            </a:r>
            <a:r>
              <a:rPr lang="pt-BR" sz="1400" dirty="0" err="1" smtClean="0">
                <a:effectLst>
                  <a:outerShdw blurRad="38100" dist="38100" dir="2700000" algn="tl">
                    <a:srgbClr val="000000">
                      <a:alpha val="43137"/>
                    </a:srgbClr>
                  </a:outerShdw>
                </a:effectLst>
              </a:rPr>
              <a:t>PAs</a:t>
            </a:r>
            <a:r>
              <a:rPr lang="pt-BR" sz="1400" dirty="0" smtClean="0">
                <a:effectLst>
                  <a:outerShdw blurRad="38100" dist="38100" dir="2700000" algn="tl">
                    <a:srgbClr val="000000">
                      <a:alpha val="43137"/>
                    </a:srgbClr>
                  </a:outerShdw>
                </a:effectLst>
              </a:rPr>
              <a:t>. E consequentemente migrar as </a:t>
            </a:r>
            <a:r>
              <a:rPr lang="pt-BR" sz="1400" dirty="0" err="1" smtClean="0">
                <a:effectLst>
                  <a:outerShdw blurRad="38100" dist="38100" dir="2700000" algn="tl">
                    <a:srgbClr val="000000">
                      <a:alpha val="43137"/>
                    </a:srgbClr>
                  </a:outerShdw>
                </a:effectLst>
              </a:rPr>
              <a:t>operãções</a:t>
            </a:r>
            <a:r>
              <a:rPr lang="pt-BR" sz="1400" dirty="0" smtClean="0">
                <a:effectLst>
                  <a:outerShdw blurRad="38100" dist="38100" dir="2700000" algn="tl">
                    <a:srgbClr val="000000">
                      <a:alpha val="43137"/>
                    </a:srgbClr>
                  </a:outerShdw>
                </a:effectLst>
              </a:rPr>
              <a:t> críticas para essa plataforma.</a:t>
            </a:r>
            <a:endParaRPr lang="pt-BR" sz="1400" dirty="0">
              <a:effectLst>
                <a:outerShdw blurRad="38100" dist="38100" dir="2700000" algn="tl">
                  <a:srgbClr val="000000">
                    <a:alpha val="43137"/>
                  </a:srgbClr>
                </a:outerShdw>
              </a:effectLst>
            </a:endParaRPr>
          </a:p>
        </p:txBody>
      </p:sp>
      <p:grpSp>
        <p:nvGrpSpPr>
          <p:cNvPr id="20" name="Group 9"/>
          <p:cNvGrpSpPr>
            <a:grpSpLocks/>
          </p:cNvGrpSpPr>
          <p:nvPr/>
        </p:nvGrpSpPr>
        <p:grpSpPr bwMode="auto">
          <a:xfrm>
            <a:off x="2777882" y="1547018"/>
            <a:ext cx="274638" cy="274638"/>
            <a:chOff x="0" y="0"/>
            <a:chExt cx="173" cy="173"/>
          </a:xfrm>
        </p:grpSpPr>
        <p:sp>
          <p:nvSpPr>
            <p:cNvPr id="21" name="Oval 10"/>
            <p:cNvSpPr>
              <a:spLocks noChangeArrowheads="1"/>
            </p:cNvSpPr>
            <p:nvPr/>
          </p:nvSpPr>
          <p:spPr bwMode="auto">
            <a:xfrm>
              <a:off x="0" y="0"/>
              <a:ext cx="173" cy="173"/>
            </a:xfrm>
            <a:prstGeom prst="ellipse">
              <a:avLst/>
            </a:prstGeom>
            <a:noFill/>
            <a:ln w="63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sp>
          <p:nvSpPr>
            <p:cNvPr id="22" name="Arc 11"/>
            <p:cNvSpPr>
              <a:spLocks/>
            </p:cNvSpPr>
            <p:nvPr/>
          </p:nvSpPr>
          <p:spPr bwMode="auto">
            <a:xfrm>
              <a:off x="86" y="0"/>
              <a:ext cx="62" cy="86"/>
            </a:xfrm>
            <a:custGeom>
              <a:avLst/>
              <a:gdLst>
                <a:gd name="G0" fmla="+- 58 0 0"/>
                <a:gd name="G1" fmla="+- 21600 0 0"/>
                <a:gd name="G2" fmla="+- 21600 0 0"/>
                <a:gd name="T0" fmla="*/ 0 w 15318"/>
                <a:gd name="T1" fmla="*/ 1 h 21600"/>
                <a:gd name="T2" fmla="*/ 15318 w 15318"/>
                <a:gd name="T3" fmla="*/ 6314 h 21600"/>
                <a:gd name="T4" fmla="*/ 58 w 15318"/>
                <a:gd name="T5" fmla="*/ 21600 h 21600"/>
              </a:gdLst>
              <a:ahLst/>
              <a:cxnLst>
                <a:cxn ang="0">
                  <a:pos x="T0" y="T1"/>
                </a:cxn>
                <a:cxn ang="0">
                  <a:pos x="T2" y="T3"/>
                </a:cxn>
                <a:cxn ang="0">
                  <a:pos x="T4" y="T5"/>
                </a:cxn>
              </a:cxnLst>
              <a:rect l="0" t="0" r="r" b="b"/>
              <a:pathLst>
                <a:path w="15318" h="21600" fill="none" extrusionOk="0">
                  <a:moveTo>
                    <a:pt x="-1" y="0"/>
                  </a:moveTo>
                  <a:cubicBezTo>
                    <a:pt x="19" y="0"/>
                    <a:pt x="38" y="0"/>
                    <a:pt x="58" y="0"/>
                  </a:cubicBezTo>
                  <a:cubicBezTo>
                    <a:pt x="5780" y="0"/>
                    <a:pt x="11268" y="2270"/>
                    <a:pt x="15318" y="6313"/>
                  </a:cubicBezTo>
                </a:path>
                <a:path w="15318" h="21600" stroke="0" extrusionOk="0">
                  <a:moveTo>
                    <a:pt x="-1" y="0"/>
                  </a:moveTo>
                  <a:cubicBezTo>
                    <a:pt x="19" y="0"/>
                    <a:pt x="38" y="0"/>
                    <a:pt x="58" y="0"/>
                  </a:cubicBezTo>
                  <a:cubicBezTo>
                    <a:pt x="5780" y="0"/>
                    <a:pt x="11268" y="2270"/>
                    <a:pt x="15318" y="6313"/>
                  </a:cubicBezTo>
                  <a:lnTo>
                    <a:pt x="58" y="21600"/>
                  </a:lnTo>
                  <a:close/>
                </a:path>
              </a:pathLst>
            </a:custGeom>
            <a:solidFill>
              <a:srgbClr val="000000"/>
            </a:solidFill>
            <a:ln w="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grpSp>
    </p:spTree>
    <p:extLst>
      <p:ext uri="{BB962C8B-B14F-4D97-AF65-F5344CB8AC3E}">
        <p14:creationId xmlns:p14="http://schemas.microsoft.com/office/powerpoint/2010/main" val="772244031"/>
      </p:ext>
    </p:extLst>
  </p:cSld>
  <p:clrMapOvr>
    <a:masterClrMapping/>
  </p:clrMapOvr>
  <mc:AlternateContent xmlns:mc="http://schemas.openxmlformats.org/markup-compatibility/2006" xmlns:p14="http://schemas.microsoft.com/office/powerpoint/2010/main">
    <mc:Choice Requires="p14">
      <p:transition spd="med">
        <p14:reveal/>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childTnLst>
                                </p:cTn>
                              </p:par>
                              <p:par>
                                <p:cTn id="8" presetID="10" presetClass="entr" presetSubtype="0" fill="hold" grpId="0" nodeType="withEffect">
                                  <p:stCondLst>
                                    <p:cond delay="25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1000"/>
                                        <p:tgtEl>
                                          <p:spTgt spid="16"/>
                                        </p:tgtEl>
                                      </p:cBhvr>
                                    </p:animEffect>
                                  </p:childTnLst>
                                </p:cTn>
                              </p:par>
                              <p:par>
                                <p:cTn id="11" presetID="10" presetClass="entr" presetSubtype="0" fill="hold" grpId="0" nodeType="withEffect">
                                  <p:stCondLst>
                                    <p:cond delay="25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1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76780" t="78172" r="18395" b="12686"/>
          <a:stretch/>
        </p:blipFill>
        <p:spPr bwMode="auto">
          <a:xfrm>
            <a:off x="8188658" y="4384319"/>
            <a:ext cx="955343" cy="7639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9"/>
          <p:cNvPicPr>
            <a:picLocks noChangeAspect="1"/>
          </p:cNvPicPr>
          <p:nvPr/>
        </p:nvPicPr>
        <p:blipFill>
          <a:blip r:embed="rId4"/>
          <a:stretch>
            <a:fillRect/>
          </a:stretch>
        </p:blipFill>
        <p:spPr>
          <a:xfrm>
            <a:off x="7021333" y="289005"/>
            <a:ext cx="1603348" cy="291323"/>
          </a:xfrm>
          <a:prstGeom prst="rect">
            <a:avLst/>
          </a:prstGeom>
        </p:spPr>
      </p:pic>
      <p:pic>
        <p:nvPicPr>
          <p:cNvPr id="8" name="Picture 1" descr="t03-02.jpg"/>
          <p:cNvPicPr>
            <a:picLocks noChangeAspect="1"/>
          </p:cNvPicPr>
          <p:nvPr/>
        </p:nvPicPr>
        <p:blipFill rotWithShape="1">
          <a:blip r:embed="rId5">
            <a:extLst>
              <a:ext uri="{28A0092B-C50C-407E-A947-70E740481C1C}">
                <a14:useLocalDpi xmlns:a14="http://schemas.microsoft.com/office/drawing/2010/main" val="0"/>
              </a:ext>
            </a:extLst>
          </a:blip>
          <a:srcRect r="91368" b="84909"/>
          <a:stretch/>
        </p:blipFill>
        <p:spPr>
          <a:xfrm>
            <a:off x="0" y="0"/>
            <a:ext cx="789296" cy="776935"/>
          </a:xfrm>
          <a:prstGeom prst="rect">
            <a:avLst/>
          </a:prstGeom>
        </p:spPr>
      </p:pic>
      <p:sp>
        <p:nvSpPr>
          <p:cNvPr id="6" name="CaixaDeTexto 5"/>
          <p:cNvSpPr txBox="1"/>
          <p:nvPr/>
        </p:nvSpPr>
        <p:spPr>
          <a:xfrm>
            <a:off x="2039091" y="300128"/>
            <a:ext cx="184731" cy="369332"/>
          </a:xfrm>
          <a:prstGeom prst="rect">
            <a:avLst/>
          </a:prstGeom>
          <a:noFill/>
        </p:spPr>
        <p:txBody>
          <a:bodyPr wrap="none" rtlCol="0">
            <a:spAutoFit/>
          </a:bodyPr>
          <a:lstStyle/>
          <a:p>
            <a:endParaRPr lang="pt-BR" dirty="0"/>
          </a:p>
        </p:txBody>
      </p:sp>
      <p:sp>
        <p:nvSpPr>
          <p:cNvPr id="9" name="Title 1"/>
          <p:cNvSpPr txBox="1">
            <a:spLocks/>
          </p:cNvSpPr>
          <p:nvPr/>
        </p:nvSpPr>
        <p:spPr>
          <a:xfrm>
            <a:off x="562659" y="90471"/>
            <a:ext cx="6254098" cy="560400"/>
          </a:xfrm>
          <a:prstGeom prst="rect">
            <a:avLst/>
          </a:prstGeom>
        </p:spPr>
        <p:txBody>
          <a:bodyPr vert="horz" lIns="91440" tIns="45720" rIns="91440" bIns="45720" rtlCol="0" anchor="ctr">
            <a:normAutofit fontScale="85000" lnSpcReduction="1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pt-BR" sz="2800" b="1" dirty="0">
                <a:solidFill>
                  <a:schemeClr val="tx2"/>
                </a:solidFill>
                <a:latin typeface="Arial" pitchFamily="34" charset="0"/>
                <a:cs typeface="Arial" pitchFamily="34" charset="0"/>
              </a:rPr>
              <a:t>6</a:t>
            </a:r>
            <a:r>
              <a:rPr lang="pt-BR" sz="2800" b="1" dirty="0" smtClean="0">
                <a:solidFill>
                  <a:schemeClr val="tx2"/>
                </a:solidFill>
                <a:latin typeface="Arial" pitchFamily="34" charset="0"/>
                <a:cs typeface="Arial" pitchFamily="34" charset="0"/>
              </a:rPr>
              <a:t>. Projeto: Gravação (Nice) TAM e VIVO </a:t>
            </a:r>
            <a:endParaRPr lang="pt-BR" sz="2800" b="1" dirty="0">
              <a:solidFill>
                <a:schemeClr val="tx2"/>
              </a:solidFill>
              <a:latin typeface="Arial" pitchFamily="34" charset="0"/>
              <a:cs typeface="Arial" pitchFamily="34" charset="0"/>
            </a:endParaRPr>
          </a:p>
        </p:txBody>
      </p:sp>
      <p:sp>
        <p:nvSpPr>
          <p:cNvPr id="12" name="Retângulo 11"/>
          <p:cNvSpPr/>
          <p:nvPr/>
        </p:nvSpPr>
        <p:spPr>
          <a:xfrm>
            <a:off x="221121" y="2081342"/>
            <a:ext cx="2716382" cy="2676638"/>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0" lvl="1" algn="ctr">
              <a:spcBef>
                <a:spcPts val="200"/>
              </a:spcBef>
              <a:spcAft>
                <a:spcPts val="200"/>
              </a:spcAft>
            </a:pPr>
            <a:r>
              <a:rPr lang="pt-BR" sz="1400" b="1" dirty="0" smtClean="0">
                <a:solidFill>
                  <a:schemeClr val="tx1">
                    <a:lumMod val="95000"/>
                    <a:lumOff val="5000"/>
                  </a:schemeClr>
                </a:solidFill>
              </a:rPr>
              <a:t>Último Status</a:t>
            </a:r>
            <a:r>
              <a:rPr lang="pt-BR" sz="1200" dirty="0" smtClean="0">
                <a:solidFill>
                  <a:schemeClr val="tx1">
                    <a:lumMod val="95000"/>
                    <a:lumOff val="5000"/>
                  </a:schemeClr>
                </a:solidFill>
              </a:rPr>
              <a:t>  </a:t>
            </a:r>
          </a:p>
          <a:p>
            <a:pPr marL="171450" lvl="1" indent="-171450">
              <a:spcBef>
                <a:spcPts val="200"/>
              </a:spcBef>
              <a:spcAft>
                <a:spcPts val="200"/>
              </a:spcAft>
              <a:buFont typeface="Arial" panose="020B0604020202020204" pitchFamily="34" charset="0"/>
              <a:buChar char="•"/>
            </a:pPr>
            <a:r>
              <a:rPr lang="pt-BR" sz="1200" dirty="0" smtClean="0">
                <a:solidFill>
                  <a:schemeClr val="tx1">
                    <a:lumMod val="95000"/>
                    <a:lumOff val="5000"/>
                  </a:schemeClr>
                </a:solidFill>
              </a:rPr>
              <a:t>Entrega  agendada P/ 29/04/2016</a:t>
            </a:r>
            <a:endParaRPr lang="pt-BR" sz="1200" dirty="0">
              <a:solidFill>
                <a:schemeClr val="tx1">
                  <a:lumMod val="95000"/>
                  <a:lumOff val="5000"/>
                </a:schemeClr>
              </a:solidFill>
            </a:endParaRPr>
          </a:p>
          <a:p>
            <a:pPr marL="171450" lvl="1" indent="-171450">
              <a:spcBef>
                <a:spcPts val="200"/>
              </a:spcBef>
              <a:spcAft>
                <a:spcPts val="200"/>
              </a:spcAft>
              <a:buFont typeface="Arial" panose="020B0604020202020204" pitchFamily="34" charset="0"/>
              <a:buChar char="•"/>
            </a:pPr>
            <a:endParaRPr lang="pt-BR" sz="1200" dirty="0">
              <a:solidFill>
                <a:schemeClr val="tx1"/>
              </a:solidFill>
            </a:endParaRPr>
          </a:p>
        </p:txBody>
      </p:sp>
      <p:sp>
        <p:nvSpPr>
          <p:cNvPr id="15" name="Retângulo de cantos arredondados 14"/>
          <p:cNvSpPr/>
          <p:nvPr/>
        </p:nvSpPr>
        <p:spPr>
          <a:xfrm>
            <a:off x="158943" y="860528"/>
            <a:ext cx="3064339" cy="997400"/>
          </a:xfrm>
          <a:prstGeom prst="roundRect">
            <a:avLst/>
          </a:prstGeom>
          <a:solidFill>
            <a:srgbClr val="FF0000"/>
          </a:soli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r>
              <a:rPr lang="pt-BR" sz="1400" b="1" dirty="0">
                <a:effectLst>
                  <a:outerShdw blurRad="38100" dist="38100" dir="2700000" algn="tl">
                    <a:srgbClr val="000000">
                      <a:alpha val="43137"/>
                    </a:srgbClr>
                  </a:outerShdw>
                </a:effectLst>
              </a:rPr>
              <a:t>Projeto: </a:t>
            </a:r>
            <a:r>
              <a:rPr lang="pt-BR" sz="1400" b="1" dirty="0" err="1" smtClean="0">
                <a:effectLst>
                  <a:outerShdw blurRad="38100" dist="38100" dir="2700000" algn="tl">
                    <a:srgbClr val="000000">
                      <a:alpha val="43137"/>
                    </a:srgbClr>
                  </a:outerShdw>
                </a:effectLst>
              </a:rPr>
              <a:t>Gravacao</a:t>
            </a:r>
            <a:r>
              <a:rPr lang="pt-BR" sz="1400" b="1" dirty="0" smtClean="0">
                <a:effectLst>
                  <a:outerShdw blurRad="38100" dist="38100" dir="2700000" algn="tl">
                    <a:srgbClr val="000000">
                      <a:alpha val="43137"/>
                    </a:srgbClr>
                  </a:outerShdw>
                </a:effectLst>
              </a:rPr>
              <a:t> </a:t>
            </a:r>
            <a:r>
              <a:rPr lang="pt-BR" sz="1400" b="1" dirty="0">
                <a:effectLst>
                  <a:outerShdw blurRad="38100" dist="38100" dir="2700000" algn="tl">
                    <a:srgbClr val="000000">
                      <a:alpha val="43137"/>
                    </a:srgbClr>
                  </a:outerShdw>
                </a:effectLst>
              </a:rPr>
              <a:t>(NICE) TAM e </a:t>
            </a:r>
            <a:r>
              <a:rPr lang="pt-BR" sz="1400" b="1" dirty="0" smtClean="0">
                <a:effectLst>
                  <a:outerShdw blurRad="38100" dist="38100" dir="2700000" algn="tl">
                    <a:srgbClr val="000000">
                      <a:alpha val="43137"/>
                    </a:srgbClr>
                  </a:outerShdw>
                </a:effectLst>
              </a:rPr>
              <a:t>VIVO </a:t>
            </a:r>
          </a:p>
          <a:p>
            <a:r>
              <a:rPr lang="pt-BR" sz="1200" i="1" dirty="0" smtClean="0"/>
              <a:t>Data Inicio: 14-10-2015</a:t>
            </a:r>
          </a:p>
          <a:p>
            <a:r>
              <a:rPr lang="pt-BR" sz="1200" i="1" dirty="0" smtClean="0"/>
              <a:t>Data Conclusão:</a:t>
            </a:r>
            <a:r>
              <a:rPr lang="pt-BR" sz="1200" i="1" strike="sngStrike" dirty="0" smtClean="0"/>
              <a:t> 25-04-2016 </a:t>
            </a:r>
            <a:r>
              <a:rPr lang="pt-BR" sz="1200" i="1" dirty="0" smtClean="0"/>
              <a:t>13-05-2016</a:t>
            </a:r>
          </a:p>
          <a:p>
            <a:r>
              <a:rPr lang="pt-BR" sz="1200" i="1" dirty="0" smtClean="0"/>
              <a:t>Progresso: 26%</a:t>
            </a:r>
          </a:p>
          <a:p>
            <a:r>
              <a:rPr lang="pt-BR" sz="1200" i="1" dirty="0" smtClean="0"/>
              <a:t>PM</a:t>
            </a:r>
            <a:r>
              <a:rPr lang="pt-BR" sz="1200" i="1" dirty="0"/>
              <a:t>: </a:t>
            </a:r>
            <a:r>
              <a:rPr lang="pt-BR" sz="1200" i="1" dirty="0" smtClean="0"/>
              <a:t>Thiago Augusto</a:t>
            </a:r>
          </a:p>
        </p:txBody>
      </p:sp>
      <p:sp>
        <p:nvSpPr>
          <p:cNvPr id="16" name="Retângulo 15"/>
          <p:cNvSpPr/>
          <p:nvPr/>
        </p:nvSpPr>
        <p:spPr>
          <a:xfrm>
            <a:off x="3112569" y="2081341"/>
            <a:ext cx="2716382" cy="2676639"/>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0" lvl="1" algn="ctr">
              <a:spcBef>
                <a:spcPts val="200"/>
              </a:spcBef>
              <a:spcAft>
                <a:spcPts val="200"/>
              </a:spcAft>
            </a:pPr>
            <a:r>
              <a:rPr lang="pt-BR" sz="1400" b="1" dirty="0">
                <a:solidFill>
                  <a:schemeClr val="tx1">
                    <a:lumMod val="95000"/>
                    <a:lumOff val="5000"/>
                  </a:schemeClr>
                </a:solidFill>
              </a:rPr>
              <a:t>Objetivos alcançados na última </a:t>
            </a:r>
            <a:r>
              <a:rPr lang="pt-BR" sz="1400" b="1" dirty="0" smtClean="0">
                <a:solidFill>
                  <a:schemeClr val="tx1">
                    <a:lumMod val="95000"/>
                    <a:lumOff val="5000"/>
                  </a:schemeClr>
                </a:solidFill>
              </a:rPr>
              <a:t>semana</a:t>
            </a:r>
            <a:endParaRPr lang="pt-BR" sz="1400" dirty="0" smtClean="0">
              <a:solidFill>
                <a:schemeClr val="tx1">
                  <a:lumMod val="95000"/>
                  <a:lumOff val="5000"/>
                </a:schemeClr>
              </a:solidFill>
            </a:endParaRPr>
          </a:p>
          <a:p>
            <a:pPr marL="0" lvl="1">
              <a:spcBef>
                <a:spcPts val="200"/>
              </a:spcBef>
              <a:spcAft>
                <a:spcPts val="200"/>
              </a:spcAft>
            </a:pPr>
            <a:r>
              <a:rPr lang="pt-BR" sz="1200" dirty="0">
                <a:solidFill>
                  <a:schemeClr val="tx1">
                    <a:lumMod val="95000"/>
                    <a:lumOff val="5000"/>
                  </a:schemeClr>
                </a:solidFill>
              </a:rPr>
              <a:t> </a:t>
            </a:r>
          </a:p>
        </p:txBody>
      </p:sp>
      <p:sp>
        <p:nvSpPr>
          <p:cNvPr id="17" name="Retângulo 16"/>
          <p:cNvSpPr/>
          <p:nvPr/>
        </p:nvSpPr>
        <p:spPr>
          <a:xfrm>
            <a:off x="6004018" y="2081342"/>
            <a:ext cx="2716382" cy="2676638"/>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0" lvl="1" algn="ctr">
              <a:spcBef>
                <a:spcPts val="200"/>
              </a:spcBef>
              <a:spcAft>
                <a:spcPts val="200"/>
              </a:spcAft>
            </a:pPr>
            <a:r>
              <a:rPr lang="pt-BR" sz="1400" b="1" dirty="0" smtClean="0">
                <a:solidFill>
                  <a:schemeClr val="tx1">
                    <a:lumMod val="95000"/>
                    <a:lumOff val="5000"/>
                  </a:schemeClr>
                </a:solidFill>
              </a:rPr>
              <a:t>Riscos/Problemas/Observações</a:t>
            </a:r>
          </a:p>
          <a:p>
            <a:pPr marL="0" lvl="1">
              <a:spcBef>
                <a:spcPts val="200"/>
              </a:spcBef>
              <a:spcAft>
                <a:spcPts val="200"/>
              </a:spcAft>
            </a:pPr>
            <a:r>
              <a:rPr lang="pt-BR" sz="1200" b="1" dirty="0" smtClean="0">
                <a:solidFill>
                  <a:srgbClr val="FF0000"/>
                </a:solidFill>
              </a:rPr>
              <a:t>Risco: </a:t>
            </a:r>
          </a:p>
          <a:p>
            <a:pPr marL="285750" lvl="1" indent="-285750">
              <a:spcBef>
                <a:spcPts val="200"/>
              </a:spcBef>
              <a:spcAft>
                <a:spcPts val="200"/>
              </a:spcAft>
              <a:buFont typeface="Arial" panose="020B0604020202020204" pitchFamily="34" charset="0"/>
              <a:buChar char="•"/>
            </a:pPr>
            <a:r>
              <a:rPr lang="pt-BR" sz="1200" dirty="0">
                <a:solidFill>
                  <a:srgbClr val="FF0000"/>
                </a:solidFill>
              </a:rPr>
              <a:t>O fornecedor não confirma entrega dos 12 HDs para esta semana.</a:t>
            </a:r>
          </a:p>
          <a:p>
            <a:pPr marL="285750" lvl="1" indent="-285750">
              <a:spcBef>
                <a:spcPts val="200"/>
              </a:spcBef>
              <a:spcAft>
                <a:spcPts val="200"/>
              </a:spcAft>
              <a:buFont typeface="Arial" panose="020B0604020202020204" pitchFamily="34" charset="0"/>
              <a:buChar char="•"/>
            </a:pPr>
            <a:endParaRPr lang="pt-BR" sz="1200" dirty="0" smtClean="0">
              <a:solidFill>
                <a:schemeClr val="tx1">
                  <a:lumMod val="95000"/>
                  <a:lumOff val="5000"/>
                </a:schemeClr>
              </a:solidFill>
            </a:endParaRPr>
          </a:p>
          <a:p>
            <a:pPr marL="0" lvl="1">
              <a:spcBef>
                <a:spcPts val="200"/>
              </a:spcBef>
              <a:spcAft>
                <a:spcPts val="200"/>
              </a:spcAft>
            </a:pPr>
            <a:r>
              <a:rPr lang="pt-BR" sz="1200" b="1" dirty="0" smtClean="0">
                <a:solidFill>
                  <a:schemeClr val="tx1">
                    <a:lumMod val="95000"/>
                    <a:lumOff val="5000"/>
                  </a:schemeClr>
                </a:solidFill>
              </a:rPr>
              <a:t>Observação:</a:t>
            </a:r>
          </a:p>
          <a:p>
            <a:pPr marL="285750" lvl="1" indent="-285750">
              <a:spcBef>
                <a:spcPts val="200"/>
              </a:spcBef>
              <a:spcAft>
                <a:spcPts val="200"/>
              </a:spcAft>
              <a:buFont typeface="Arial" panose="020B0604020202020204" pitchFamily="34" charset="0"/>
              <a:buChar char="•"/>
            </a:pPr>
            <a:r>
              <a:rPr lang="pt-BR" sz="1200" dirty="0" smtClean="0">
                <a:solidFill>
                  <a:schemeClr val="tx1"/>
                </a:solidFill>
              </a:rPr>
              <a:t>SC </a:t>
            </a:r>
            <a:r>
              <a:rPr lang="pt-BR" sz="1200" dirty="0">
                <a:solidFill>
                  <a:schemeClr val="tx1"/>
                </a:solidFill>
              </a:rPr>
              <a:t>775 </a:t>
            </a:r>
            <a:r>
              <a:rPr lang="pt-BR" sz="1200" dirty="0" smtClean="0">
                <a:solidFill>
                  <a:schemeClr val="tx1"/>
                </a:solidFill>
              </a:rPr>
              <a:t>-  </a:t>
            </a:r>
            <a:r>
              <a:rPr lang="pt-BR" sz="1200" dirty="0">
                <a:solidFill>
                  <a:schemeClr val="tx1"/>
                </a:solidFill>
              </a:rPr>
              <a:t>A equipe de suprimentos/</a:t>
            </a:r>
            <a:r>
              <a:rPr lang="pt-BR" sz="1200" dirty="0" err="1">
                <a:solidFill>
                  <a:schemeClr val="tx1"/>
                </a:solidFill>
              </a:rPr>
              <a:t>Aquanima</a:t>
            </a:r>
            <a:r>
              <a:rPr lang="pt-BR" sz="1200" dirty="0">
                <a:solidFill>
                  <a:schemeClr val="tx1"/>
                </a:solidFill>
              </a:rPr>
              <a:t>  </a:t>
            </a:r>
            <a:r>
              <a:rPr lang="pt-BR" sz="1200" dirty="0" smtClean="0">
                <a:solidFill>
                  <a:schemeClr val="tx1"/>
                </a:solidFill>
              </a:rPr>
              <a:t>nova entrega </a:t>
            </a:r>
            <a:r>
              <a:rPr lang="pt-BR" sz="1200" dirty="0">
                <a:solidFill>
                  <a:schemeClr val="tx1"/>
                </a:solidFill>
              </a:rPr>
              <a:t>estimada para a 1° semana de Abril</a:t>
            </a:r>
            <a:r>
              <a:rPr lang="pt-BR" sz="1200" dirty="0" smtClean="0">
                <a:solidFill>
                  <a:schemeClr val="tx1"/>
                </a:solidFill>
              </a:rPr>
              <a:t>.</a:t>
            </a:r>
          </a:p>
        </p:txBody>
      </p:sp>
      <p:sp>
        <p:nvSpPr>
          <p:cNvPr id="18" name="Retângulo de cantos arredondados 17"/>
          <p:cNvSpPr/>
          <p:nvPr/>
        </p:nvSpPr>
        <p:spPr>
          <a:xfrm>
            <a:off x="3382225" y="874284"/>
            <a:ext cx="5338175" cy="983644"/>
          </a:xfrm>
          <a:prstGeom prst="roundRect">
            <a:avLst/>
          </a:prstGeom>
          <a:solidFill>
            <a:schemeClr val="accent1">
              <a:lumMod val="50000"/>
            </a:schemeClr>
          </a:soli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r>
              <a:rPr lang="pt-BR" sz="1400" b="1" dirty="0" smtClean="0">
                <a:effectLst>
                  <a:outerShdw blurRad="38100" dist="38100" dir="2700000" algn="tl">
                    <a:srgbClr val="000000">
                      <a:alpha val="43137"/>
                    </a:srgbClr>
                  </a:outerShdw>
                </a:effectLst>
              </a:rPr>
              <a:t>Descritivo: </a:t>
            </a:r>
            <a:r>
              <a:rPr lang="pt-BR" sz="1400" dirty="0" smtClean="0">
                <a:effectLst>
                  <a:outerShdw blurRad="38100" dist="38100" dir="2700000" algn="tl">
                    <a:srgbClr val="000000">
                      <a:alpha val="43137"/>
                    </a:srgbClr>
                  </a:outerShdw>
                </a:effectLst>
              </a:rPr>
              <a:t>Este projeto tem como escopo, adequar infra </a:t>
            </a:r>
            <a:r>
              <a:rPr lang="pt-BR" sz="1400" dirty="0">
                <a:effectLst>
                  <a:outerShdw blurRad="38100" dist="38100" dir="2700000" algn="tl">
                    <a:srgbClr val="000000">
                      <a:alpha val="43137"/>
                    </a:srgbClr>
                  </a:outerShdw>
                </a:effectLst>
              </a:rPr>
              <a:t>de HW </a:t>
            </a:r>
            <a:r>
              <a:rPr lang="pt-BR" sz="1400" dirty="0" smtClean="0">
                <a:effectLst>
                  <a:outerShdw blurRad="38100" dist="38100" dir="2700000" algn="tl">
                    <a:srgbClr val="000000">
                      <a:alpha val="43137"/>
                    </a:srgbClr>
                  </a:outerShdw>
                </a:effectLst>
              </a:rPr>
              <a:t>para instalar 3K </a:t>
            </a:r>
            <a:r>
              <a:rPr lang="pt-BR" sz="1400" dirty="0">
                <a:effectLst>
                  <a:outerShdw blurRad="38100" dist="38100" dir="2700000" algn="tl">
                    <a:srgbClr val="000000">
                      <a:alpha val="43137"/>
                    </a:srgbClr>
                  </a:outerShdw>
                </a:effectLst>
              </a:rPr>
              <a:t>licenças de </a:t>
            </a:r>
            <a:r>
              <a:rPr lang="pt-BR" sz="1400" dirty="0" smtClean="0">
                <a:effectLst>
                  <a:outerShdw blurRad="38100" dist="38100" dir="2700000" algn="tl">
                    <a:srgbClr val="000000">
                      <a:alpha val="43137"/>
                    </a:srgbClr>
                  </a:outerShdw>
                </a:effectLst>
              </a:rPr>
              <a:t>gravação, atualmente sem uso. </a:t>
            </a:r>
            <a:endParaRPr lang="pt-BR" sz="1400" dirty="0">
              <a:effectLst>
                <a:outerShdw blurRad="38100" dist="38100" dir="2700000" algn="tl">
                  <a:srgbClr val="000000">
                    <a:alpha val="43137"/>
                  </a:srgbClr>
                </a:outerShdw>
              </a:effectLst>
            </a:endParaRPr>
          </a:p>
        </p:txBody>
      </p:sp>
      <p:pic>
        <p:nvPicPr>
          <p:cNvPr id="3" name="Imagem 2"/>
          <p:cNvPicPr>
            <a:picLocks noChangeAspect="1"/>
          </p:cNvPicPr>
          <p:nvPr/>
        </p:nvPicPr>
        <p:blipFill>
          <a:blip r:embed="rId6"/>
          <a:stretch>
            <a:fillRect/>
          </a:stretch>
        </p:blipFill>
        <p:spPr>
          <a:xfrm>
            <a:off x="2872503" y="1511828"/>
            <a:ext cx="280440" cy="280440"/>
          </a:xfrm>
          <a:prstGeom prst="rect">
            <a:avLst/>
          </a:prstGeom>
        </p:spPr>
      </p:pic>
    </p:spTree>
    <p:extLst>
      <p:ext uri="{BB962C8B-B14F-4D97-AF65-F5344CB8AC3E}">
        <p14:creationId xmlns:p14="http://schemas.microsoft.com/office/powerpoint/2010/main" val="834849516"/>
      </p:ext>
    </p:extLst>
  </p:cSld>
  <p:clrMapOvr>
    <a:masterClrMapping/>
  </p:clrMapOvr>
  <mc:AlternateContent xmlns:mc="http://schemas.openxmlformats.org/markup-compatibility/2006" xmlns:p14="http://schemas.microsoft.com/office/powerpoint/2010/main">
    <mc:Choice Requires="p14">
      <p:transition spd="med">
        <p14:reveal/>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childTnLst>
                                </p:cTn>
                              </p:par>
                              <p:par>
                                <p:cTn id="8" presetID="10" presetClass="entr" presetSubtype="0" fill="hold" grpId="0" nodeType="withEffect">
                                  <p:stCondLst>
                                    <p:cond delay="25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1000"/>
                                        <p:tgtEl>
                                          <p:spTgt spid="16"/>
                                        </p:tgtEl>
                                      </p:cBhvr>
                                    </p:animEffect>
                                  </p:childTnLst>
                                </p:cTn>
                              </p:par>
                              <p:par>
                                <p:cTn id="11" presetID="10" presetClass="entr" presetSubtype="0" fill="hold" grpId="0" nodeType="withEffect">
                                  <p:stCondLst>
                                    <p:cond delay="25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1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76780" t="78172" r="18395" b="12686"/>
          <a:stretch/>
        </p:blipFill>
        <p:spPr bwMode="auto">
          <a:xfrm>
            <a:off x="8188658" y="4384319"/>
            <a:ext cx="955343" cy="7639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9"/>
          <p:cNvPicPr>
            <a:picLocks noChangeAspect="1"/>
          </p:cNvPicPr>
          <p:nvPr/>
        </p:nvPicPr>
        <p:blipFill>
          <a:blip r:embed="rId4"/>
          <a:stretch>
            <a:fillRect/>
          </a:stretch>
        </p:blipFill>
        <p:spPr>
          <a:xfrm>
            <a:off x="7021333" y="289005"/>
            <a:ext cx="1603348" cy="291323"/>
          </a:xfrm>
          <a:prstGeom prst="rect">
            <a:avLst/>
          </a:prstGeom>
        </p:spPr>
      </p:pic>
      <p:pic>
        <p:nvPicPr>
          <p:cNvPr id="8" name="Picture 1" descr="t03-02.jpg"/>
          <p:cNvPicPr>
            <a:picLocks noChangeAspect="1"/>
          </p:cNvPicPr>
          <p:nvPr/>
        </p:nvPicPr>
        <p:blipFill rotWithShape="1">
          <a:blip r:embed="rId5">
            <a:extLst>
              <a:ext uri="{28A0092B-C50C-407E-A947-70E740481C1C}">
                <a14:useLocalDpi xmlns:a14="http://schemas.microsoft.com/office/drawing/2010/main" val="0"/>
              </a:ext>
            </a:extLst>
          </a:blip>
          <a:srcRect r="91368" b="84909"/>
          <a:stretch/>
        </p:blipFill>
        <p:spPr>
          <a:xfrm>
            <a:off x="0" y="0"/>
            <a:ext cx="789296" cy="776935"/>
          </a:xfrm>
          <a:prstGeom prst="rect">
            <a:avLst/>
          </a:prstGeom>
        </p:spPr>
      </p:pic>
      <p:sp>
        <p:nvSpPr>
          <p:cNvPr id="6" name="CaixaDeTexto 5"/>
          <p:cNvSpPr txBox="1"/>
          <p:nvPr/>
        </p:nvSpPr>
        <p:spPr>
          <a:xfrm>
            <a:off x="2039091" y="300128"/>
            <a:ext cx="184731" cy="369332"/>
          </a:xfrm>
          <a:prstGeom prst="rect">
            <a:avLst/>
          </a:prstGeom>
          <a:noFill/>
        </p:spPr>
        <p:txBody>
          <a:bodyPr wrap="none" rtlCol="0">
            <a:spAutoFit/>
          </a:bodyPr>
          <a:lstStyle/>
          <a:p>
            <a:endParaRPr lang="pt-BR" dirty="0"/>
          </a:p>
        </p:txBody>
      </p:sp>
      <p:sp>
        <p:nvSpPr>
          <p:cNvPr id="9" name="Title 1"/>
          <p:cNvSpPr txBox="1">
            <a:spLocks/>
          </p:cNvSpPr>
          <p:nvPr/>
        </p:nvSpPr>
        <p:spPr>
          <a:xfrm>
            <a:off x="562659" y="90471"/>
            <a:ext cx="6254098" cy="560400"/>
          </a:xfrm>
          <a:prstGeom prst="rect">
            <a:avLst/>
          </a:prstGeom>
        </p:spPr>
        <p:txBody>
          <a:bodyPr vert="horz" lIns="91440" tIns="45720" rIns="91440" bIns="45720" rtlCol="0" anchor="ctr">
            <a:normAutofit fontScale="775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pt-BR" sz="2800" b="1" dirty="0">
                <a:solidFill>
                  <a:schemeClr val="tx2"/>
                </a:solidFill>
                <a:latin typeface="Arial" pitchFamily="34" charset="0"/>
                <a:cs typeface="Arial" pitchFamily="34" charset="0"/>
              </a:rPr>
              <a:t>6</a:t>
            </a:r>
            <a:r>
              <a:rPr lang="pt-BR" sz="2800" b="1" dirty="0" smtClean="0">
                <a:solidFill>
                  <a:schemeClr val="tx2"/>
                </a:solidFill>
                <a:latin typeface="Arial" pitchFamily="34" charset="0"/>
                <a:cs typeface="Arial" pitchFamily="34" charset="0"/>
              </a:rPr>
              <a:t>. Projeto: Monitoração Dell – Open Manager</a:t>
            </a:r>
            <a:endParaRPr lang="pt-BR" sz="2800" b="1" dirty="0">
              <a:solidFill>
                <a:schemeClr val="tx2"/>
              </a:solidFill>
              <a:latin typeface="Arial" pitchFamily="34" charset="0"/>
              <a:cs typeface="Arial" pitchFamily="34" charset="0"/>
            </a:endParaRPr>
          </a:p>
        </p:txBody>
      </p:sp>
      <p:sp>
        <p:nvSpPr>
          <p:cNvPr id="12" name="Retângulo 11"/>
          <p:cNvSpPr/>
          <p:nvPr/>
        </p:nvSpPr>
        <p:spPr>
          <a:xfrm>
            <a:off x="221121" y="2081342"/>
            <a:ext cx="2716382" cy="2475419"/>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0" lvl="1" algn="ctr">
              <a:spcBef>
                <a:spcPts val="200"/>
              </a:spcBef>
              <a:spcAft>
                <a:spcPts val="200"/>
              </a:spcAft>
            </a:pPr>
            <a:r>
              <a:rPr lang="pt-BR" sz="1400" b="1" dirty="0" smtClean="0">
                <a:solidFill>
                  <a:schemeClr val="tx1">
                    <a:lumMod val="95000"/>
                    <a:lumOff val="5000"/>
                  </a:schemeClr>
                </a:solidFill>
              </a:rPr>
              <a:t>Últimas Realizações</a:t>
            </a:r>
            <a:endParaRPr lang="pt-BR" sz="1200" dirty="0" smtClean="0">
              <a:solidFill>
                <a:schemeClr val="tx1">
                  <a:lumMod val="95000"/>
                  <a:lumOff val="5000"/>
                </a:schemeClr>
              </a:solidFill>
            </a:endParaRPr>
          </a:p>
          <a:p>
            <a:pPr marL="171450" lvl="1" indent="-171450">
              <a:spcBef>
                <a:spcPts val="200"/>
              </a:spcBef>
              <a:spcAft>
                <a:spcPts val="200"/>
              </a:spcAft>
              <a:buFont typeface="Arial" panose="020B0604020202020204" pitchFamily="34" charset="0"/>
              <a:buChar char="•"/>
            </a:pPr>
            <a:r>
              <a:rPr lang="pt-BR" sz="1200" dirty="0" smtClean="0">
                <a:solidFill>
                  <a:schemeClr val="tx1">
                    <a:lumMod val="95000"/>
                    <a:lumOff val="5000"/>
                  </a:schemeClr>
                </a:solidFill>
              </a:rPr>
              <a:t>Em execução o cadastramento de </a:t>
            </a:r>
            <a:r>
              <a:rPr lang="pt-BR" sz="1200" dirty="0" err="1">
                <a:solidFill>
                  <a:schemeClr val="tx1">
                    <a:lumMod val="95000"/>
                    <a:lumOff val="5000"/>
                  </a:schemeClr>
                </a:solidFill>
              </a:rPr>
              <a:t>V</a:t>
            </a:r>
            <a:r>
              <a:rPr lang="pt-BR" sz="1200" dirty="0" err="1" smtClean="0">
                <a:solidFill>
                  <a:schemeClr val="tx1">
                    <a:lumMod val="95000"/>
                    <a:lumOff val="5000"/>
                  </a:schemeClr>
                </a:solidFill>
              </a:rPr>
              <a:t>lans</a:t>
            </a:r>
            <a:r>
              <a:rPr lang="pt-BR" sz="1200" dirty="0" smtClean="0">
                <a:solidFill>
                  <a:schemeClr val="tx1">
                    <a:lumMod val="95000"/>
                    <a:lumOff val="5000"/>
                  </a:schemeClr>
                </a:solidFill>
              </a:rPr>
              <a:t> de servidores (Total).</a:t>
            </a:r>
          </a:p>
          <a:p>
            <a:pPr marL="171450" lvl="1" indent="-171450">
              <a:spcBef>
                <a:spcPts val="200"/>
              </a:spcBef>
              <a:spcAft>
                <a:spcPts val="200"/>
              </a:spcAft>
              <a:buFont typeface="Arial" panose="020B0604020202020204" pitchFamily="34" charset="0"/>
              <a:buChar char="•"/>
            </a:pPr>
            <a:r>
              <a:rPr lang="pt-BR" sz="1200" b="1" dirty="0">
                <a:solidFill>
                  <a:schemeClr val="tx1">
                    <a:lumMod val="95000"/>
                    <a:lumOff val="5000"/>
                  </a:schemeClr>
                </a:solidFill>
              </a:rPr>
              <a:t>70% dos servidores Dell com monitorização de HW.</a:t>
            </a:r>
            <a:endParaRPr lang="pt-BR" sz="1400" b="1" dirty="0">
              <a:solidFill>
                <a:schemeClr val="tx1">
                  <a:lumMod val="95000"/>
                  <a:lumOff val="5000"/>
                </a:schemeClr>
              </a:solidFill>
            </a:endParaRPr>
          </a:p>
          <a:p>
            <a:pPr marL="171450" lvl="1" indent="-171450">
              <a:spcBef>
                <a:spcPts val="200"/>
              </a:spcBef>
              <a:spcAft>
                <a:spcPts val="200"/>
              </a:spcAft>
              <a:buFont typeface="Arial" panose="020B0604020202020204" pitchFamily="34" charset="0"/>
              <a:buChar char="•"/>
            </a:pPr>
            <a:endParaRPr lang="pt-BR" sz="1200" dirty="0" smtClean="0">
              <a:solidFill>
                <a:schemeClr val="tx1">
                  <a:lumMod val="95000"/>
                  <a:lumOff val="5000"/>
                </a:schemeClr>
              </a:solidFill>
            </a:endParaRPr>
          </a:p>
          <a:p>
            <a:pPr marL="0" lvl="1">
              <a:spcBef>
                <a:spcPts val="200"/>
              </a:spcBef>
              <a:spcAft>
                <a:spcPts val="200"/>
              </a:spcAft>
            </a:pPr>
            <a:endParaRPr lang="pt-BR" sz="1200" dirty="0">
              <a:solidFill>
                <a:schemeClr val="tx1"/>
              </a:solidFill>
            </a:endParaRPr>
          </a:p>
        </p:txBody>
      </p:sp>
      <p:sp>
        <p:nvSpPr>
          <p:cNvPr id="15" name="Retângulo de cantos arredondados 14"/>
          <p:cNvSpPr/>
          <p:nvPr/>
        </p:nvSpPr>
        <p:spPr>
          <a:xfrm>
            <a:off x="158943" y="776935"/>
            <a:ext cx="3064339" cy="1178343"/>
          </a:xfrm>
          <a:prstGeom prst="roundRect">
            <a:avLst/>
          </a:prstGeom>
          <a:solidFill>
            <a:srgbClr val="00B050"/>
          </a:soli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r>
              <a:rPr lang="pt-BR" sz="1400" b="1" dirty="0" smtClean="0">
                <a:effectLst>
                  <a:outerShdw blurRad="38100" dist="38100" dir="2700000" algn="tl">
                    <a:srgbClr val="000000">
                      <a:alpha val="43137"/>
                    </a:srgbClr>
                  </a:outerShdw>
                </a:effectLst>
              </a:rPr>
              <a:t>Projeto: Monitoração </a:t>
            </a:r>
            <a:r>
              <a:rPr lang="pt-BR" sz="1400" b="1" dirty="0">
                <a:effectLst>
                  <a:outerShdw blurRad="38100" dist="38100" dir="2700000" algn="tl">
                    <a:srgbClr val="000000">
                      <a:alpha val="43137"/>
                    </a:srgbClr>
                  </a:outerShdw>
                </a:effectLst>
              </a:rPr>
              <a:t>(Dell-Open Manager)</a:t>
            </a:r>
            <a:endParaRPr lang="pt-BR" sz="1400" b="1" dirty="0" smtClean="0">
              <a:effectLst>
                <a:outerShdw blurRad="38100" dist="38100" dir="2700000" algn="tl">
                  <a:srgbClr val="000000">
                    <a:alpha val="43137"/>
                  </a:srgbClr>
                </a:outerShdw>
              </a:effectLst>
            </a:endParaRPr>
          </a:p>
          <a:p>
            <a:r>
              <a:rPr lang="pt-BR" sz="1200" i="1" dirty="0" smtClean="0"/>
              <a:t>Data Inicio: 14-10-2015</a:t>
            </a:r>
          </a:p>
          <a:p>
            <a:r>
              <a:rPr lang="pt-BR" sz="1200" i="1" dirty="0" smtClean="0"/>
              <a:t>Data Conclusão: 22-04-2016</a:t>
            </a:r>
          </a:p>
          <a:p>
            <a:r>
              <a:rPr lang="pt-BR" sz="1200" i="1" dirty="0" smtClean="0"/>
              <a:t>Progresso: 75%</a:t>
            </a:r>
          </a:p>
          <a:p>
            <a:r>
              <a:rPr lang="pt-BR" sz="1200" i="1" dirty="0" smtClean="0"/>
              <a:t>PM</a:t>
            </a:r>
            <a:r>
              <a:rPr lang="pt-BR" sz="1200" i="1" dirty="0"/>
              <a:t>: </a:t>
            </a:r>
            <a:r>
              <a:rPr lang="pt-BR" sz="1200" i="1" dirty="0" smtClean="0"/>
              <a:t>Júlio Cesar</a:t>
            </a:r>
          </a:p>
        </p:txBody>
      </p:sp>
      <p:sp>
        <p:nvSpPr>
          <p:cNvPr id="16" name="Retângulo 15"/>
          <p:cNvSpPr/>
          <p:nvPr/>
        </p:nvSpPr>
        <p:spPr>
          <a:xfrm>
            <a:off x="3112569" y="2081341"/>
            <a:ext cx="2716382" cy="2475419"/>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0" lvl="1" algn="ctr">
              <a:spcBef>
                <a:spcPts val="200"/>
              </a:spcBef>
              <a:spcAft>
                <a:spcPts val="200"/>
              </a:spcAft>
            </a:pPr>
            <a:r>
              <a:rPr lang="pt-BR" sz="1400" b="1" dirty="0">
                <a:solidFill>
                  <a:schemeClr val="tx1">
                    <a:lumMod val="95000"/>
                    <a:lumOff val="5000"/>
                  </a:schemeClr>
                </a:solidFill>
              </a:rPr>
              <a:t>Próximas Ações</a:t>
            </a:r>
            <a:endParaRPr lang="pt-BR" sz="1400" dirty="0">
              <a:solidFill>
                <a:schemeClr val="tx1">
                  <a:lumMod val="95000"/>
                  <a:lumOff val="5000"/>
                </a:schemeClr>
              </a:solidFill>
            </a:endParaRPr>
          </a:p>
          <a:p>
            <a:pPr marL="171450" lvl="1" indent="-171450">
              <a:spcBef>
                <a:spcPts val="200"/>
              </a:spcBef>
              <a:spcAft>
                <a:spcPts val="200"/>
              </a:spcAft>
              <a:buFont typeface="Arial" panose="020B0604020202020204" pitchFamily="34" charset="0"/>
              <a:buChar char="•"/>
            </a:pPr>
            <a:r>
              <a:rPr lang="pt-BR" sz="1200" dirty="0" smtClean="0">
                <a:solidFill>
                  <a:schemeClr val="tx1">
                    <a:lumMod val="95000"/>
                    <a:lumOff val="5000"/>
                  </a:schemeClr>
                </a:solidFill>
              </a:rPr>
              <a:t>Homologação do SW.</a:t>
            </a:r>
          </a:p>
          <a:p>
            <a:pPr marL="171450" lvl="1" indent="-171450">
              <a:spcBef>
                <a:spcPts val="200"/>
              </a:spcBef>
              <a:spcAft>
                <a:spcPts val="200"/>
              </a:spcAft>
              <a:buFont typeface="Arial" panose="020B0604020202020204" pitchFamily="34" charset="0"/>
              <a:buChar char="•"/>
            </a:pPr>
            <a:r>
              <a:rPr lang="pt-BR" sz="1200" dirty="0" smtClean="0">
                <a:solidFill>
                  <a:schemeClr val="tx1">
                    <a:lumMod val="95000"/>
                    <a:lumOff val="5000"/>
                  </a:schemeClr>
                </a:solidFill>
              </a:rPr>
              <a:t>Aceitação das regras de liberação por SI.</a:t>
            </a:r>
          </a:p>
        </p:txBody>
      </p:sp>
      <p:sp>
        <p:nvSpPr>
          <p:cNvPr id="17" name="Retângulo 16"/>
          <p:cNvSpPr/>
          <p:nvPr/>
        </p:nvSpPr>
        <p:spPr>
          <a:xfrm>
            <a:off x="6004018" y="2081342"/>
            <a:ext cx="2716382" cy="2475419"/>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0" lvl="1" algn="ctr">
              <a:spcBef>
                <a:spcPts val="200"/>
              </a:spcBef>
              <a:spcAft>
                <a:spcPts val="200"/>
              </a:spcAft>
            </a:pPr>
            <a:r>
              <a:rPr lang="pt-BR" sz="1400" b="1" dirty="0" smtClean="0">
                <a:solidFill>
                  <a:schemeClr val="tx1">
                    <a:lumMod val="95000"/>
                    <a:lumOff val="5000"/>
                  </a:schemeClr>
                </a:solidFill>
              </a:rPr>
              <a:t>Riscos/Problemas/Observações</a:t>
            </a:r>
          </a:p>
          <a:p>
            <a:pPr marL="171450" lvl="1" indent="-171450">
              <a:spcBef>
                <a:spcPts val="200"/>
              </a:spcBef>
              <a:spcAft>
                <a:spcPts val="200"/>
              </a:spcAft>
              <a:buFont typeface="Arial" panose="020B0604020202020204" pitchFamily="34" charset="0"/>
              <a:buChar char="•"/>
            </a:pPr>
            <a:r>
              <a:rPr lang="pt-BR" sz="1200" dirty="0" smtClean="0">
                <a:solidFill>
                  <a:schemeClr val="tx1">
                    <a:lumMod val="95000"/>
                    <a:lumOff val="5000"/>
                  </a:schemeClr>
                </a:solidFill>
              </a:rPr>
              <a:t>Servidores sem </a:t>
            </a:r>
            <a:r>
              <a:rPr lang="pt-BR" sz="1200" dirty="0" err="1" smtClean="0">
                <a:solidFill>
                  <a:schemeClr val="tx1">
                    <a:lumMod val="95000"/>
                    <a:lumOff val="5000"/>
                  </a:schemeClr>
                </a:solidFill>
              </a:rPr>
              <a:t>client</a:t>
            </a:r>
            <a:r>
              <a:rPr lang="pt-BR" sz="1200" dirty="0" smtClean="0">
                <a:solidFill>
                  <a:schemeClr val="tx1">
                    <a:lumMod val="95000"/>
                    <a:lumOff val="5000"/>
                  </a:schemeClr>
                </a:solidFill>
              </a:rPr>
              <a:t> OMSE.</a:t>
            </a:r>
          </a:p>
          <a:p>
            <a:pPr marL="171450" lvl="1" indent="-171450">
              <a:spcBef>
                <a:spcPts val="200"/>
              </a:spcBef>
              <a:spcAft>
                <a:spcPts val="200"/>
              </a:spcAft>
              <a:buFont typeface="Arial" panose="020B0604020202020204" pitchFamily="34" charset="0"/>
              <a:buChar char="•"/>
            </a:pPr>
            <a:endParaRPr lang="pt-BR" sz="1200" dirty="0">
              <a:solidFill>
                <a:schemeClr val="tx1">
                  <a:lumMod val="95000"/>
                  <a:lumOff val="5000"/>
                </a:schemeClr>
              </a:solidFill>
            </a:endParaRPr>
          </a:p>
          <a:p>
            <a:pPr marL="171450" lvl="1" indent="-171450">
              <a:spcBef>
                <a:spcPts val="200"/>
              </a:spcBef>
              <a:spcAft>
                <a:spcPts val="200"/>
              </a:spcAft>
              <a:buFont typeface="Arial" panose="020B0604020202020204" pitchFamily="34" charset="0"/>
              <a:buChar char="•"/>
            </a:pPr>
            <a:r>
              <a:rPr lang="pt-BR" sz="1200" b="1" u="sng" dirty="0" smtClean="0">
                <a:solidFill>
                  <a:srgbClr val="FF0000"/>
                </a:solidFill>
              </a:rPr>
              <a:t>Projeto temporariamente parado</a:t>
            </a:r>
            <a:r>
              <a:rPr lang="pt-BR" sz="1200" dirty="0" smtClean="0">
                <a:solidFill>
                  <a:schemeClr val="tx1">
                    <a:lumMod val="95000"/>
                    <a:lumOff val="5000"/>
                  </a:schemeClr>
                </a:solidFill>
              </a:rPr>
              <a:t>. O recurso que dá andamento a este projeto, esta dedicado totalmente ao projeto </a:t>
            </a:r>
            <a:r>
              <a:rPr lang="pt-BR" sz="1200" dirty="0" err="1" smtClean="0">
                <a:solidFill>
                  <a:schemeClr val="tx1">
                    <a:lumMod val="95000"/>
                    <a:lumOff val="5000"/>
                  </a:schemeClr>
                </a:solidFill>
              </a:rPr>
              <a:t>Zabbix</a:t>
            </a:r>
            <a:r>
              <a:rPr lang="pt-BR" sz="1200" dirty="0" smtClean="0">
                <a:solidFill>
                  <a:schemeClr val="tx1">
                    <a:lumMod val="95000"/>
                    <a:lumOff val="5000"/>
                  </a:schemeClr>
                </a:solidFill>
              </a:rPr>
              <a:t>.</a:t>
            </a:r>
          </a:p>
          <a:p>
            <a:pPr marL="0" lvl="1">
              <a:spcBef>
                <a:spcPts val="200"/>
              </a:spcBef>
              <a:spcAft>
                <a:spcPts val="200"/>
              </a:spcAft>
            </a:pPr>
            <a:r>
              <a:rPr lang="pt-BR" sz="1200" dirty="0" smtClean="0">
                <a:solidFill>
                  <a:schemeClr val="tx1">
                    <a:lumMod val="95000"/>
                    <a:lumOff val="5000"/>
                  </a:schemeClr>
                </a:solidFill>
              </a:rPr>
              <a:t> </a:t>
            </a:r>
          </a:p>
        </p:txBody>
      </p:sp>
      <p:sp>
        <p:nvSpPr>
          <p:cNvPr id="18" name="Retângulo de cantos arredondados 17"/>
          <p:cNvSpPr/>
          <p:nvPr/>
        </p:nvSpPr>
        <p:spPr>
          <a:xfrm>
            <a:off x="3382225" y="776936"/>
            <a:ext cx="5338175" cy="1080992"/>
          </a:xfrm>
          <a:prstGeom prst="roundRect">
            <a:avLst/>
          </a:prstGeom>
          <a:solidFill>
            <a:schemeClr val="accent1">
              <a:lumMod val="50000"/>
            </a:schemeClr>
          </a:soli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r>
              <a:rPr lang="pt-BR" sz="1400" b="1" dirty="0" smtClean="0">
                <a:effectLst>
                  <a:outerShdw blurRad="38100" dist="38100" dir="2700000" algn="tl">
                    <a:srgbClr val="000000">
                      <a:alpha val="43137"/>
                    </a:srgbClr>
                  </a:outerShdw>
                </a:effectLst>
              </a:rPr>
              <a:t>Descritivo:  </a:t>
            </a:r>
            <a:r>
              <a:rPr lang="pt-BR" sz="1400" dirty="0"/>
              <a:t>M</a:t>
            </a:r>
            <a:r>
              <a:rPr lang="pt-BR" sz="1400" dirty="0" smtClean="0"/>
              <a:t>onitoração </a:t>
            </a:r>
            <a:r>
              <a:rPr lang="pt-BR" sz="1400" dirty="0"/>
              <a:t>pró ativa de </a:t>
            </a:r>
            <a:r>
              <a:rPr lang="pt-BR" sz="1400" dirty="0" smtClean="0"/>
              <a:t>hardware para eliminar </a:t>
            </a:r>
            <a:r>
              <a:rPr lang="pt-BR" sz="1400" dirty="0"/>
              <a:t>a possibilidade de perda de dados por falta de visibilidade do </a:t>
            </a:r>
            <a:r>
              <a:rPr lang="pt-BR" sz="1400" dirty="0" smtClean="0"/>
              <a:t>ambiente. </a:t>
            </a:r>
            <a:endParaRPr lang="pt-BR" sz="1400" dirty="0"/>
          </a:p>
        </p:txBody>
      </p:sp>
      <p:pic>
        <p:nvPicPr>
          <p:cNvPr id="2" name="Imagem 1"/>
          <p:cNvPicPr>
            <a:picLocks noChangeAspect="1"/>
          </p:cNvPicPr>
          <p:nvPr/>
        </p:nvPicPr>
        <p:blipFill>
          <a:blip r:embed="rId6"/>
          <a:stretch>
            <a:fillRect/>
          </a:stretch>
        </p:blipFill>
        <p:spPr>
          <a:xfrm>
            <a:off x="2903609" y="1548974"/>
            <a:ext cx="280440" cy="280440"/>
          </a:xfrm>
          <a:prstGeom prst="rect">
            <a:avLst/>
          </a:prstGeom>
        </p:spPr>
      </p:pic>
    </p:spTree>
    <p:extLst>
      <p:ext uri="{BB962C8B-B14F-4D97-AF65-F5344CB8AC3E}">
        <p14:creationId xmlns:p14="http://schemas.microsoft.com/office/powerpoint/2010/main" val="335534224"/>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childTnLst>
                                </p:cTn>
                              </p:par>
                              <p:par>
                                <p:cTn id="8" presetID="10" presetClass="entr" presetSubtype="0" fill="hold" grpId="0" nodeType="withEffect">
                                  <p:stCondLst>
                                    <p:cond delay="25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1000"/>
                                        <p:tgtEl>
                                          <p:spTgt spid="16"/>
                                        </p:tgtEl>
                                      </p:cBhvr>
                                    </p:animEffect>
                                  </p:childTnLst>
                                </p:cTn>
                              </p:par>
                              <p:par>
                                <p:cTn id="11" presetID="10" presetClass="entr" presetSubtype="0" fill="hold" grpId="0" nodeType="withEffect">
                                  <p:stCondLst>
                                    <p:cond delay="25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1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76780" t="78172" r="18395" b="12686"/>
          <a:stretch/>
        </p:blipFill>
        <p:spPr bwMode="auto">
          <a:xfrm>
            <a:off x="8188658" y="4384319"/>
            <a:ext cx="955343" cy="7639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9"/>
          <p:cNvPicPr>
            <a:picLocks noChangeAspect="1"/>
          </p:cNvPicPr>
          <p:nvPr/>
        </p:nvPicPr>
        <p:blipFill>
          <a:blip r:embed="rId4"/>
          <a:stretch>
            <a:fillRect/>
          </a:stretch>
        </p:blipFill>
        <p:spPr>
          <a:xfrm>
            <a:off x="7021333" y="289005"/>
            <a:ext cx="1603348" cy="291323"/>
          </a:xfrm>
          <a:prstGeom prst="rect">
            <a:avLst/>
          </a:prstGeom>
        </p:spPr>
      </p:pic>
      <p:pic>
        <p:nvPicPr>
          <p:cNvPr id="8" name="Picture 1" descr="t03-02.jpg"/>
          <p:cNvPicPr>
            <a:picLocks noChangeAspect="1"/>
          </p:cNvPicPr>
          <p:nvPr/>
        </p:nvPicPr>
        <p:blipFill rotWithShape="1">
          <a:blip r:embed="rId5">
            <a:extLst>
              <a:ext uri="{28A0092B-C50C-407E-A947-70E740481C1C}">
                <a14:useLocalDpi xmlns:a14="http://schemas.microsoft.com/office/drawing/2010/main" val="0"/>
              </a:ext>
            </a:extLst>
          </a:blip>
          <a:srcRect r="91368" b="84909"/>
          <a:stretch/>
        </p:blipFill>
        <p:spPr>
          <a:xfrm>
            <a:off x="0" y="0"/>
            <a:ext cx="789296" cy="776935"/>
          </a:xfrm>
          <a:prstGeom prst="rect">
            <a:avLst/>
          </a:prstGeom>
        </p:spPr>
      </p:pic>
      <p:sp>
        <p:nvSpPr>
          <p:cNvPr id="6" name="CaixaDeTexto 5"/>
          <p:cNvSpPr txBox="1"/>
          <p:nvPr/>
        </p:nvSpPr>
        <p:spPr>
          <a:xfrm>
            <a:off x="2039091" y="300128"/>
            <a:ext cx="184731" cy="369332"/>
          </a:xfrm>
          <a:prstGeom prst="rect">
            <a:avLst/>
          </a:prstGeom>
          <a:noFill/>
        </p:spPr>
        <p:txBody>
          <a:bodyPr wrap="none" rtlCol="0">
            <a:spAutoFit/>
          </a:bodyPr>
          <a:lstStyle/>
          <a:p>
            <a:endParaRPr lang="pt-BR" dirty="0"/>
          </a:p>
        </p:txBody>
      </p:sp>
      <p:sp>
        <p:nvSpPr>
          <p:cNvPr id="9" name="Title 1"/>
          <p:cNvSpPr txBox="1">
            <a:spLocks/>
          </p:cNvSpPr>
          <p:nvPr/>
        </p:nvSpPr>
        <p:spPr>
          <a:xfrm>
            <a:off x="562659" y="90471"/>
            <a:ext cx="6254098" cy="5604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pt-BR" sz="2800" b="1" dirty="0">
                <a:solidFill>
                  <a:schemeClr val="tx2"/>
                </a:solidFill>
                <a:latin typeface="Arial" pitchFamily="34" charset="0"/>
                <a:cs typeface="Arial" pitchFamily="34" charset="0"/>
              </a:rPr>
              <a:t>6</a:t>
            </a:r>
            <a:r>
              <a:rPr lang="pt-BR" sz="2800" b="1" dirty="0" smtClean="0">
                <a:solidFill>
                  <a:schemeClr val="tx2"/>
                </a:solidFill>
                <a:latin typeface="Arial" pitchFamily="34" charset="0"/>
                <a:cs typeface="Arial" pitchFamily="34" charset="0"/>
              </a:rPr>
              <a:t>. Projeto: Monitoração </a:t>
            </a:r>
            <a:r>
              <a:rPr lang="pt-BR" sz="2800" b="1" dirty="0" err="1" smtClean="0">
                <a:solidFill>
                  <a:schemeClr val="tx2"/>
                </a:solidFill>
                <a:latin typeface="Arial" pitchFamily="34" charset="0"/>
                <a:cs typeface="Arial" pitchFamily="34" charset="0"/>
              </a:rPr>
              <a:t>Zabbix</a:t>
            </a:r>
            <a:endParaRPr lang="pt-BR" sz="2800" b="1" dirty="0">
              <a:solidFill>
                <a:schemeClr val="tx2"/>
              </a:solidFill>
              <a:latin typeface="Arial" pitchFamily="34" charset="0"/>
              <a:cs typeface="Arial" pitchFamily="34" charset="0"/>
            </a:endParaRPr>
          </a:p>
        </p:txBody>
      </p:sp>
      <p:sp>
        <p:nvSpPr>
          <p:cNvPr id="12" name="Retângulo 11"/>
          <p:cNvSpPr/>
          <p:nvPr/>
        </p:nvSpPr>
        <p:spPr>
          <a:xfrm>
            <a:off x="221121" y="2081342"/>
            <a:ext cx="2716382" cy="2475419"/>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0" lvl="1" algn="ctr">
              <a:spcBef>
                <a:spcPts val="200"/>
              </a:spcBef>
              <a:spcAft>
                <a:spcPts val="200"/>
              </a:spcAft>
            </a:pPr>
            <a:r>
              <a:rPr lang="pt-BR" sz="1400" b="1" dirty="0">
                <a:solidFill>
                  <a:schemeClr val="tx1">
                    <a:lumMod val="95000"/>
                    <a:lumOff val="5000"/>
                  </a:schemeClr>
                </a:solidFill>
              </a:rPr>
              <a:t>Últimas Realizações</a:t>
            </a:r>
            <a:endParaRPr lang="pt-BR" sz="1200" dirty="0">
              <a:solidFill>
                <a:schemeClr val="tx1">
                  <a:lumMod val="95000"/>
                  <a:lumOff val="5000"/>
                </a:schemeClr>
              </a:solidFill>
            </a:endParaRPr>
          </a:p>
          <a:p>
            <a:pPr marL="171450" lvl="1" indent="-171450">
              <a:spcBef>
                <a:spcPts val="200"/>
              </a:spcBef>
              <a:spcAft>
                <a:spcPts val="200"/>
              </a:spcAft>
              <a:buFont typeface="Wingdings" pitchFamily="2" charset="2"/>
              <a:buChar char="ü"/>
            </a:pPr>
            <a:r>
              <a:rPr lang="pt-BR" sz="1400" dirty="0">
                <a:solidFill>
                  <a:schemeClr val="tx1">
                    <a:lumMod val="95000"/>
                    <a:lumOff val="5000"/>
                  </a:schemeClr>
                </a:solidFill>
              </a:rPr>
              <a:t> Treinamento Concluído.</a:t>
            </a:r>
          </a:p>
        </p:txBody>
      </p:sp>
      <p:sp>
        <p:nvSpPr>
          <p:cNvPr id="15" name="Retângulo de cantos arredondados 14"/>
          <p:cNvSpPr/>
          <p:nvPr/>
        </p:nvSpPr>
        <p:spPr>
          <a:xfrm>
            <a:off x="158943" y="776935"/>
            <a:ext cx="3064339" cy="1080993"/>
          </a:xfrm>
          <a:prstGeom prst="roundRect">
            <a:avLst/>
          </a:prstGeom>
          <a:solidFill>
            <a:srgbClr val="00B050"/>
          </a:soli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r>
              <a:rPr lang="pt-BR" sz="1400" b="1" dirty="0" smtClean="0">
                <a:effectLst>
                  <a:outerShdw blurRad="38100" dist="38100" dir="2700000" algn="tl">
                    <a:srgbClr val="000000">
                      <a:alpha val="43137"/>
                    </a:srgbClr>
                  </a:outerShdw>
                </a:effectLst>
              </a:rPr>
              <a:t>Projeto: Monitoração </a:t>
            </a:r>
            <a:r>
              <a:rPr lang="pt-BR" sz="1400" b="1" dirty="0" err="1" smtClean="0">
                <a:effectLst>
                  <a:outerShdw blurRad="38100" dist="38100" dir="2700000" algn="tl">
                    <a:srgbClr val="000000">
                      <a:alpha val="43137"/>
                    </a:srgbClr>
                  </a:outerShdw>
                </a:effectLst>
              </a:rPr>
              <a:t>Zabbix</a:t>
            </a:r>
            <a:endParaRPr lang="pt-BR" sz="1400" b="1" dirty="0" smtClean="0">
              <a:effectLst>
                <a:outerShdw blurRad="38100" dist="38100" dir="2700000" algn="tl">
                  <a:srgbClr val="000000">
                    <a:alpha val="43137"/>
                  </a:srgbClr>
                </a:outerShdw>
              </a:effectLst>
            </a:endParaRPr>
          </a:p>
          <a:p>
            <a:r>
              <a:rPr lang="pt-BR" sz="1200" i="1" dirty="0" smtClean="0"/>
              <a:t>Data Inicio: 19-10-2015</a:t>
            </a:r>
          </a:p>
          <a:p>
            <a:r>
              <a:rPr lang="pt-BR" sz="1200" i="1" dirty="0" smtClean="0"/>
              <a:t>Data Conclusão: 23-04-2016</a:t>
            </a:r>
          </a:p>
          <a:p>
            <a:r>
              <a:rPr lang="pt-BR" sz="1200" b="1" i="1" dirty="0" smtClean="0"/>
              <a:t>Progresso: 100%</a:t>
            </a:r>
          </a:p>
          <a:p>
            <a:r>
              <a:rPr lang="pt-BR" sz="1200" i="1" dirty="0" smtClean="0"/>
              <a:t>PM</a:t>
            </a:r>
            <a:r>
              <a:rPr lang="pt-BR" sz="1200" i="1" dirty="0"/>
              <a:t>: </a:t>
            </a:r>
            <a:r>
              <a:rPr lang="pt-BR" sz="1200" i="1" dirty="0" smtClean="0"/>
              <a:t>Júlio Cesar</a:t>
            </a:r>
          </a:p>
        </p:txBody>
      </p:sp>
      <p:sp>
        <p:nvSpPr>
          <p:cNvPr id="16" name="Retângulo 15"/>
          <p:cNvSpPr/>
          <p:nvPr/>
        </p:nvSpPr>
        <p:spPr>
          <a:xfrm>
            <a:off x="3112569" y="2081341"/>
            <a:ext cx="2716382" cy="2475419"/>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0" lvl="1" algn="ctr">
              <a:spcBef>
                <a:spcPts val="200"/>
              </a:spcBef>
              <a:spcAft>
                <a:spcPts val="200"/>
              </a:spcAft>
            </a:pPr>
            <a:r>
              <a:rPr lang="pt-BR" sz="1400" b="1" dirty="0">
                <a:solidFill>
                  <a:schemeClr val="tx1">
                    <a:lumMod val="95000"/>
                    <a:lumOff val="5000"/>
                  </a:schemeClr>
                </a:solidFill>
              </a:rPr>
              <a:t>Próximas Ações</a:t>
            </a:r>
            <a:endParaRPr lang="pt-BR" sz="1400" dirty="0">
              <a:solidFill>
                <a:schemeClr val="tx1">
                  <a:lumMod val="95000"/>
                  <a:lumOff val="5000"/>
                </a:schemeClr>
              </a:solidFill>
            </a:endParaRPr>
          </a:p>
          <a:p>
            <a:pPr marL="285750" lvl="1" indent="-285750">
              <a:spcBef>
                <a:spcPts val="200"/>
              </a:spcBef>
              <a:spcAft>
                <a:spcPts val="200"/>
              </a:spcAft>
              <a:buFont typeface="Wingdings" panose="05000000000000000000" pitchFamily="2" charset="2"/>
              <a:buChar char="ü"/>
            </a:pPr>
            <a:r>
              <a:rPr lang="pt-BR" sz="1400" dirty="0" smtClean="0">
                <a:solidFill>
                  <a:schemeClr val="tx1">
                    <a:lumMod val="95000"/>
                    <a:lumOff val="5000"/>
                  </a:schemeClr>
                </a:solidFill>
              </a:rPr>
              <a:t>As atividades da equipe de gerenciamento da ferramenta entraram no processo de </a:t>
            </a:r>
            <a:r>
              <a:rPr lang="pt-BR" sz="1400" dirty="0" err="1" smtClean="0">
                <a:solidFill>
                  <a:schemeClr val="tx1">
                    <a:lumMod val="95000"/>
                    <a:lumOff val="5000"/>
                  </a:schemeClr>
                </a:solidFill>
              </a:rPr>
              <a:t>Ongoing</a:t>
            </a:r>
            <a:r>
              <a:rPr lang="pt-BR" sz="1400" dirty="0" smtClean="0">
                <a:solidFill>
                  <a:schemeClr val="tx1">
                    <a:lumMod val="95000"/>
                    <a:lumOff val="5000"/>
                  </a:schemeClr>
                </a:solidFill>
              </a:rPr>
              <a:t>.</a:t>
            </a:r>
          </a:p>
          <a:p>
            <a:pPr marL="0" lvl="1">
              <a:spcBef>
                <a:spcPts val="200"/>
              </a:spcBef>
              <a:spcAft>
                <a:spcPts val="200"/>
              </a:spcAft>
            </a:pPr>
            <a:r>
              <a:rPr lang="pt-BR" sz="1400" dirty="0" smtClean="0">
                <a:solidFill>
                  <a:schemeClr val="tx1">
                    <a:lumMod val="95000"/>
                    <a:lumOff val="5000"/>
                  </a:schemeClr>
                </a:solidFill>
              </a:rPr>
              <a:t> </a:t>
            </a:r>
          </a:p>
        </p:txBody>
      </p:sp>
      <p:sp>
        <p:nvSpPr>
          <p:cNvPr id="17" name="Retângulo 16"/>
          <p:cNvSpPr/>
          <p:nvPr/>
        </p:nvSpPr>
        <p:spPr>
          <a:xfrm>
            <a:off x="6004018" y="2081342"/>
            <a:ext cx="2716382" cy="2475419"/>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0" lvl="1" algn="ctr">
              <a:spcBef>
                <a:spcPts val="200"/>
              </a:spcBef>
              <a:spcAft>
                <a:spcPts val="200"/>
              </a:spcAft>
            </a:pPr>
            <a:r>
              <a:rPr lang="pt-BR" sz="1400" b="1" dirty="0" smtClean="0">
                <a:solidFill>
                  <a:schemeClr val="tx1">
                    <a:lumMod val="95000"/>
                    <a:lumOff val="5000"/>
                  </a:schemeClr>
                </a:solidFill>
              </a:rPr>
              <a:t>Riscos/Problemas/Observações</a:t>
            </a:r>
          </a:p>
          <a:p>
            <a:pPr marL="285750" lvl="1" indent="-285750">
              <a:spcBef>
                <a:spcPts val="200"/>
              </a:spcBef>
              <a:spcAft>
                <a:spcPts val="200"/>
              </a:spcAft>
              <a:buFont typeface="Arial" panose="020B0604020202020204" pitchFamily="34" charset="0"/>
              <a:buChar char="•"/>
            </a:pPr>
            <a:r>
              <a:rPr lang="pt-BR" sz="1200" dirty="0" smtClean="0">
                <a:solidFill>
                  <a:schemeClr val="tx1">
                    <a:lumMod val="95000"/>
                    <a:lumOff val="5000"/>
                  </a:schemeClr>
                </a:solidFill>
              </a:rPr>
              <a:t>N/A.</a:t>
            </a:r>
          </a:p>
        </p:txBody>
      </p:sp>
      <p:sp>
        <p:nvSpPr>
          <p:cNvPr id="18" name="Retângulo de cantos arredondados 17"/>
          <p:cNvSpPr/>
          <p:nvPr/>
        </p:nvSpPr>
        <p:spPr>
          <a:xfrm>
            <a:off x="3382225" y="776936"/>
            <a:ext cx="5338175" cy="1080992"/>
          </a:xfrm>
          <a:prstGeom prst="roundRect">
            <a:avLst/>
          </a:prstGeom>
          <a:solidFill>
            <a:schemeClr val="accent1">
              <a:lumMod val="50000"/>
            </a:schemeClr>
          </a:soli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r>
              <a:rPr lang="pt-BR" sz="1400" b="1" dirty="0" smtClean="0">
                <a:effectLst>
                  <a:outerShdw blurRad="38100" dist="38100" dir="2700000" algn="tl">
                    <a:srgbClr val="000000">
                      <a:alpha val="43137"/>
                    </a:srgbClr>
                  </a:outerShdw>
                </a:effectLst>
              </a:rPr>
              <a:t>Descritivo:  </a:t>
            </a:r>
            <a:r>
              <a:rPr lang="pt-BR" sz="1400" dirty="0"/>
              <a:t>M</a:t>
            </a:r>
            <a:r>
              <a:rPr lang="pt-BR" sz="1400" dirty="0" smtClean="0"/>
              <a:t>onitoração </a:t>
            </a:r>
            <a:r>
              <a:rPr lang="pt-BR" sz="1400" dirty="0"/>
              <a:t>pró </a:t>
            </a:r>
            <a:r>
              <a:rPr lang="pt-BR" sz="1400" dirty="0" smtClean="0"/>
              <a:t>ativa, que elimina </a:t>
            </a:r>
            <a:r>
              <a:rPr lang="pt-BR" sz="1400" dirty="0"/>
              <a:t>a possibilidade de perda de dados por falta de visibilidade do </a:t>
            </a:r>
            <a:r>
              <a:rPr lang="pt-BR" sz="1400" dirty="0" smtClean="0"/>
              <a:t>ambiente. </a:t>
            </a:r>
            <a:endParaRPr lang="pt-BR" sz="1400" dirty="0"/>
          </a:p>
        </p:txBody>
      </p:sp>
      <p:sp>
        <p:nvSpPr>
          <p:cNvPr id="3" name="Pergaminho horizontal 2"/>
          <p:cNvSpPr/>
          <p:nvPr/>
        </p:nvSpPr>
        <p:spPr>
          <a:xfrm>
            <a:off x="2631329" y="3882431"/>
            <a:ext cx="3872562" cy="1003775"/>
          </a:xfrm>
          <a:prstGeom prst="horizontalScroll">
            <a:avLst/>
          </a:prstGeom>
          <a:gradFill flip="none" rotWithShape="1">
            <a:gsLst>
              <a:gs pos="100000">
                <a:srgbClr val="00B050"/>
              </a:gs>
              <a:gs pos="100000">
                <a:schemeClr val="accent1">
                  <a:shade val="100000"/>
                  <a:satMod val="115000"/>
                </a:schemeClr>
              </a:gs>
            </a:gsLst>
            <a:lin ang="189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smtClean="0"/>
              <a:t>Projeto concluído com sucesso!</a:t>
            </a:r>
            <a:endParaRPr lang="pt-BR" dirty="0"/>
          </a:p>
        </p:txBody>
      </p:sp>
      <p:grpSp>
        <p:nvGrpSpPr>
          <p:cNvPr id="14" name="Group 51"/>
          <p:cNvGrpSpPr>
            <a:grpSpLocks/>
          </p:cNvGrpSpPr>
          <p:nvPr/>
        </p:nvGrpSpPr>
        <p:grpSpPr bwMode="auto">
          <a:xfrm>
            <a:off x="2865642" y="1513826"/>
            <a:ext cx="274637" cy="274638"/>
            <a:chOff x="0" y="0"/>
            <a:chExt cx="173" cy="173"/>
          </a:xfrm>
        </p:grpSpPr>
        <p:sp>
          <p:nvSpPr>
            <p:cNvPr id="19" name="Oval 52"/>
            <p:cNvSpPr>
              <a:spLocks noChangeArrowheads="1"/>
            </p:cNvSpPr>
            <p:nvPr/>
          </p:nvSpPr>
          <p:spPr bwMode="auto">
            <a:xfrm>
              <a:off x="0" y="0"/>
              <a:ext cx="173" cy="173"/>
            </a:xfrm>
            <a:prstGeom prst="ellipse">
              <a:avLst/>
            </a:prstGeom>
            <a:noFill/>
            <a:ln w="63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sp>
          <p:nvSpPr>
            <p:cNvPr id="20" name="Arc 53"/>
            <p:cNvSpPr>
              <a:spLocks/>
            </p:cNvSpPr>
            <p:nvPr/>
          </p:nvSpPr>
          <p:spPr bwMode="auto">
            <a:xfrm>
              <a:off x="86" y="0"/>
              <a:ext cx="62" cy="86"/>
            </a:xfrm>
            <a:custGeom>
              <a:avLst/>
              <a:gdLst>
                <a:gd name="G0" fmla="+- 58 0 0"/>
                <a:gd name="G1" fmla="+- 21600 0 0"/>
                <a:gd name="G2" fmla="+- 21600 0 0"/>
                <a:gd name="T0" fmla="*/ 0 w 15318"/>
                <a:gd name="T1" fmla="*/ 1 h 21600"/>
                <a:gd name="T2" fmla="*/ 15318 w 15318"/>
                <a:gd name="T3" fmla="*/ 6314 h 21600"/>
                <a:gd name="T4" fmla="*/ 58 w 15318"/>
                <a:gd name="T5" fmla="*/ 21600 h 21600"/>
              </a:gdLst>
              <a:ahLst/>
              <a:cxnLst>
                <a:cxn ang="0">
                  <a:pos x="T0" y="T1"/>
                </a:cxn>
                <a:cxn ang="0">
                  <a:pos x="T2" y="T3"/>
                </a:cxn>
                <a:cxn ang="0">
                  <a:pos x="T4" y="T5"/>
                </a:cxn>
              </a:cxnLst>
              <a:rect l="0" t="0" r="r" b="b"/>
              <a:pathLst>
                <a:path w="15318" h="21600" fill="none" extrusionOk="0">
                  <a:moveTo>
                    <a:pt x="-1" y="0"/>
                  </a:moveTo>
                  <a:cubicBezTo>
                    <a:pt x="19" y="0"/>
                    <a:pt x="38" y="0"/>
                    <a:pt x="58" y="0"/>
                  </a:cubicBezTo>
                  <a:cubicBezTo>
                    <a:pt x="5780" y="0"/>
                    <a:pt x="11268" y="2270"/>
                    <a:pt x="15318" y="6313"/>
                  </a:cubicBezTo>
                </a:path>
                <a:path w="15318" h="21600" stroke="0" extrusionOk="0">
                  <a:moveTo>
                    <a:pt x="-1" y="0"/>
                  </a:moveTo>
                  <a:cubicBezTo>
                    <a:pt x="19" y="0"/>
                    <a:pt x="38" y="0"/>
                    <a:pt x="58" y="0"/>
                  </a:cubicBezTo>
                  <a:cubicBezTo>
                    <a:pt x="5780" y="0"/>
                    <a:pt x="11268" y="2270"/>
                    <a:pt x="15318" y="6313"/>
                  </a:cubicBezTo>
                  <a:lnTo>
                    <a:pt x="58" y="21600"/>
                  </a:lnTo>
                  <a:close/>
                </a:path>
              </a:pathLst>
            </a:custGeom>
            <a:solidFill>
              <a:srgbClr val="000000"/>
            </a:solidFill>
            <a:ln w="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sp>
          <p:nvSpPr>
            <p:cNvPr id="21" name="Arc 54"/>
            <p:cNvSpPr>
              <a:spLocks/>
            </p:cNvSpPr>
            <p:nvPr/>
          </p:nvSpPr>
          <p:spPr bwMode="auto">
            <a:xfrm>
              <a:off x="86" y="25"/>
              <a:ext cx="87" cy="62"/>
            </a:xfrm>
            <a:custGeom>
              <a:avLst/>
              <a:gdLst>
                <a:gd name="G0" fmla="+- 0 0 0"/>
                <a:gd name="G1" fmla="+- 15382 0 0"/>
                <a:gd name="G2" fmla="+- 21600 0 0"/>
                <a:gd name="T0" fmla="*/ 15163 w 21600"/>
                <a:gd name="T1" fmla="*/ 0 h 15382"/>
                <a:gd name="T2" fmla="*/ 21600 w 21600"/>
                <a:gd name="T3" fmla="*/ 15382 h 15382"/>
                <a:gd name="T4" fmla="*/ 0 w 21600"/>
                <a:gd name="T5" fmla="*/ 15382 h 15382"/>
              </a:gdLst>
              <a:ahLst/>
              <a:cxnLst>
                <a:cxn ang="0">
                  <a:pos x="T0" y="T1"/>
                </a:cxn>
                <a:cxn ang="0">
                  <a:pos x="T2" y="T3"/>
                </a:cxn>
                <a:cxn ang="0">
                  <a:pos x="T4" y="T5"/>
                </a:cxn>
              </a:cxnLst>
              <a:rect l="0" t="0" r="r" b="b"/>
              <a:pathLst>
                <a:path w="21600" h="15382" fill="none" extrusionOk="0">
                  <a:moveTo>
                    <a:pt x="15163" y="-1"/>
                  </a:moveTo>
                  <a:cubicBezTo>
                    <a:pt x="19281" y="4058"/>
                    <a:pt x="21600" y="9599"/>
                    <a:pt x="21600" y="15382"/>
                  </a:cubicBezTo>
                </a:path>
                <a:path w="21600" h="15382" stroke="0" extrusionOk="0">
                  <a:moveTo>
                    <a:pt x="15163" y="-1"/>
                  </a:moveTo>
                  <a:cubicBezTo>
                    <a:pt x="19281" y="4058"/>
                    <a:pt x="21600" y="9599"/>
                    <a:pt x="21600" y="15382"/>
                  </a:cubicBezTo>
                  <a:lnTo>
                    <a:pt x="0" y="15382"/>
                  </a:lnTo>
                  <a:close/>
                </a:path>
              </a:pathLst>
            </a:custGeom>
            <a:solidFill>
              <a:srgbClr val="000000"/>
            </a:solidFill>
            <a:ln w="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sp>
          <p:nvSpPr>
            <p:cNvPr id="22" name="Arc 55"/>
            <p:cNvSpPr>
              <a:spLocks/>
            </p:cNvSpPr>
            <p:nvPr/>
          </p:nvSpPr>
          <p:spPr bwMode="auto">
            <a:xfrm>
              <a:off x="86" y="87"/>
              <a:ext cx="87" cy="61"/>
            </a:xfrm>
            <a:custGeom>
              <a:avLst/>
              <a:gdLst>
                <a:gd name="G0" fmla="+- 0 0 0"/>
                <a:gd name="G1" fmla="+- 29 0 0"/>
                <a:gd name="G2" fmla="+- 21600 0 0"/>
                <a:gd name="T0" fmla="*/ 21599 w 21600"/>
                <a:gd name="T1" fmla="*/ 0 h 15266"/>
                <a:gd name="T2" fmla="*/ 15309 w 21600"/>
                <a:gd name="T3" fmla="*/ 15266 h 15266"/>
                <a:gd name="T4" fmla="*/ 0 w 21600"/>
                <a:gd name="T5" fmla="*/ 29 h 15266"/>
              </a:gdLst>
              <a:ahLst/>
              <a:cxnLst>
                <a:cxn ang="0">
                  <a:pos x="T0" y="T1"/>
                </a:cxn>
                <a:cxn ang="0">
                  <a:pos x="T2" y="T3"/>
                </a:cxn>
                <a:cxn ang="0">
                  <a:pos x="T4" y="T5"/>
                </a:cxn>
              </a:cxnLst>
              <a:rect l="0" t="0" r="r" b="b"/>
              <a:pathLst>
                <a:path w="21600" h="15266" fill="none" extrusionOk="0">
                  <a:moveTo>
                    <a:pt x="21599" y="-1"/>
                  </a:moveTo>
                  <a:cubicBezTo>
                    <a:pt x="21599" y="9"/>
                    <a:pt x="21600" y="19"/>
                    <a:pt x="21600" y="29"/>
                  </a:cubicBezTo>
                  <a:cubicBezTo>
                    <a:pt x="21600" y="5740"/>
                    <a:pt x="19338" y="11218"/>
                    <a:pt x="15309" y="15266"/>
                  </a:cubicBezTo>
                </a:path>
                <a:path w="21600" h="15266" stroke="0" extrusionOk="0">
                  <a:moveTo>
                    <a:pt x="21599" y="-1"/>
                  </a:moveTo>
                  <a:cubicBezTo>
                    <a:pt x="21599" y="9"/>
                    <a:pt x="21600" y="19"/>
                    <a:pt x="21600" y="29"/>
                  </a:cubicBezTo>
                  <a:cubicBezTo>
                    <a:pt x="21600" y="5740"/>
                    <a:pt x="19338" y="11218"/>
                    <a:pt x="15309" y="15266"/>
                  </a:cubicBezTo>
                  <a:lnTo>
                    <a:pt x="0" y="29"/>
                  </a:lnTo>
                  <a:close/>
                </a:path>
              </a:pathLst>
            </a:custGeom>
            <a:solidFill>
              <a:srgbClr val="000000"/>
            </a:solidFill>
            <a:ln w="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sp>
          <p:nvSpPr>
            <p:cNvPr id="23" name="Arc 56"/>
            <p:cNvSpPr>
              <a:spLocks/>
            </p:cNvSpPr>
            <p:nvPr/>
          </p:nvSpPr>
          <p:spPr bwMode="auto">
            <a:xfrm>
              <a:off x="86" y="87"/>
              <a:ext cx="62" cy="86"/>
            </a:xfrm>
            <a:custGeom>
              <a:avLst/>
              <a:gdLst>
                <a:gd name="G0" fmla="+- 0 0 0"/>
                <a:gd name="G1" fmla="+- 0 0 0"/>
                <a:gd name="G2" fmla="+- 21600 0 0"/>
                <a:gd name="T0" fmla="*/ 15386 w 15386"/>
                <a:gd name="T1" fmla="*/ 15159 h 21599"/>
                <a:gd name="T2" fmla="*/ 28 w 15386"/>
                <a:gd name="T3" fmla="*/ 21599 h 21599"/>
                <a:gd name="T4" fmla="*/ 0 w 15386"/>
                <a:gd name="T5" fmla="*/ 0 h 21599"/>
              </a:gdLst>
              <a:ahLst/>
              <a:cxnLst>
                <a:cxn ang="0">
                  <a:pos x="T0" y="T1"/>
                </a:cxn>
                <a:cxn ang="0">
                  <a:pos x="T2" y="T3"/>
                </a:cxn>
                <a:cxn ang="0">
                  <a:pos x="T4" y="T5"/>
                </a:cxn>
              </a:cxnLst>
              <a:rect l="0" t="0" r="r" b="b"/>
              <a:pathLst>
                <a:path w="15386" h="21599" fill="none" extrusionOk="0">
                  <a:moveTo>
                    <a:pt x="15386" y="15159"/>
                  </a:moveTo>
                  <a:cubicBezTo>
                    <a:pt x="11333" y="19273"/>
                    <a:pt x="5802" y="21592"/>
                    <a:pt x="28" y="21599"/>
                  </a:cubicBezTo>
                </a:path>
                <a:path w="15386" h="21599" stroke="0" extrusionOk="0">
                  <a:moveTo>
                    <a:pt x="15386" y="15159"/>
                  </a:moveTo>
                  <a:cubicBezTo>
                    <a:pt x="11333" y="19273"/>
                    <a:pt x="5802" y="21592"/>
                    <a:pt x="28" y="21599"/>
                  </a:cubicBezTo>
                  <a:lnTo>
                    <a:pt x="0" y="0"/>
                  </a:lnTo>
                  <a:close/>
                </a:path>
              </a:pathLst>
            </a:custGeom>
            <a:solidFill>
              <a:srgbClr val="000000"/>
            </a:solidFill>
            <a:ln w="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sp>
          <p:nvSpPr>
            <p:cNvPr id="24" name="Arc 57"/>
            <p:cNvSpPr>
              <a:spLocks/>
            </p:cNvSpPr>
            <p:nvPr/>
          </p:nvSpPr>
          <p:spPr bwMode="auto">
            <a:xfrm flipH="1">
              <a:off x="25" y="0"/>
              <a:ext cx="62" cy="86"/>
            </a:xfrm>
            <a:custGeom>
              <a:avLst/>
              <a:gdLst>
                <a:gd name="G0" fmla="+- 58 0 0"/>
                <a:gd name="G1" fmla="+- 21600 0 0"/>
                <a:gd name="G2" fmla="+- 21600 0 0"/>
                <a:gd name="T0" fmla="*/ 0 w 15318"/>
                <a:gd name="T1" fmla="*/ 1 h 21600"/>
                <a:gd name="T2" fmla="*/ 15318 w 15318"/>
                <a:gd name="T3" fmla="*/ 6314 h 21600"/>
                <a:gd name="T4" fmla="*/ 58 w 15318"/>
                <a:gd name="T5" fmla="*/ 21600 h 21600"/>
              </a:gdLst>
              <a:ahLst/>
              <a:cxnLst>
                <a:cxn ang="0">
                  <a:pos x="T0" y="T1"/>
                </a:cxn>
                <a:cxn ang="0">
                  <a:pos x="T2" y="T3"/>
                </a:cxn>
                <a:cxn ang="0">
                  <a:pos x="T4" y="T5"/>
                </a:cxn>
              </a:cxnLst>
              <a:rect l="0" t="0" r="r" b="b"/>
              <a:pathLst>
                <a:path w="15318" h="21600" fill="none" extrusionOk="0">
                  <a:moveTo>
                    <a:pt x="-1" y="0"/>
                  </a:moveTo>
                  <a:cubicBezTo>
                    <a:pt x="19" y="0"/>
                    <a:pt x="38" y="0"/>
                    <a:pt x="58" y="0"/>
                  </a:cubicBezTo>
                  <a:cubicBezTo>
                    <a:pt x="5780" y="0"/>
                    <a:pt x="11268" y="2270"/>
                    <a:pt x="15318" y="6313"/>
                  </a:cubicBezTo>
                </a:path>
                <a:path w="15318" h="21600" stroke="0" extrusionOk="0">
                  <a:moveTo>
                    <a:pt x="-1" y="0"/>
                  </a:moveTo>
                  <a:cubicBezTo>
                    <a:pt x="19" y="0"/>
                    <a:pt x="38" y="0"/>
                    <a:pt x="58" y="0"/>
                  </a:cubicBezTo>
                  <a:cubicBezTo>
                    <a:pt x="5780" y="0"/>
                    <a:pt x="11268" y="2270"/>
                    <a:pt x="15318" y="6313"/>
                  </a:cubicBezTo>
                  <a:lnTo>
                    <a:pt x="58" y="21600"/>
                  </a:lnTo>
                  <a:close/>
                </a:path>
              </a:pathLst>
            </a:custGeom>
            <a:solidFill>
              <a:srgbClr val="000000"/>
            </a:solidFill>
            <a:ln w="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sp>
          <p:nvSpPr>
            <p:cNvPr id="25" name="Arc 58"/>
            <p:cNvSpPr>
              <a:spLocks/>
            </p:cNvSpPr>
            <p:nvPr/>
          </p:nvSpPr>
          <p:spPr bwMode="auto">
            <a:xfrm flipH="1">
              <a:off x="0" y="25"/>
              <a:ext cx="87" cy="62"/>
            </a:xfrm>
            <a:custGeom>
              <a:avLst/>
              <a:gdLst>
                <a:gd name="G0" fmla="+- 0 0 0"/>
                <a:gd name="G1" fmla="+- 15382 0 0"/>
                <a:gd name="G2" fmla="+- 21600 0 0"/>
                <a:gd name="T0" fmla="*/ 15163 w 21600"/>
                <a:gd name="T1" fmla="*/ 0 h 15382"/>
                <a:gd name="T2" fmla="*/ 21600 w 21600"/>
                <a:gd name="T3" fmla="*/ 15382 h 15382"/>
                <a:gd name="T4" fmla="*/ 0 w 21600"/>
                <a:gd name="T5" fmla="*/ 15382 h 15382"/>
              </a:gdLst>
              <a:ahLst/>
              <a:cxnLst>
                <a:cxn ang="0">
                  <a:pos x="T0" y="T1"/>
                </a:cxn>
                <a:cxn ang="0">
                  <a:pos x="T2" y="T3"/>
                </a:cxn>
                <a:cxn ang="0">
                  <a:pos x="T4" y="T5"/>
                </a:cxn>
              </a:cxnLst>
              <a:rect l="0" t="0" r="r" b="b"/>
              <a:pathLst>
                <a:path w="21600" h="15382" fill="none" extrusionOk="0">
                  <a:moveTo>
                    <a:pt x="15163" y="-1"/>
                  </a:moveTo>
                  <a:cubicBezTo>
                    <a:pt x="19281" y="4058"/>
                    <a:pt x="21600" y="9599"/>
                    <a:pt x="21600" y="15382"/>
                  </a:cubicBezTo>
                </a:path>
                <a:path w="21600" h="15382" stroke="0" extrusionOk="0">
                  <a:moveTo>
                    <a:pt x="15163" y="-1"/>
                  </a:moveTo>
                  <a:cubicBezTo>
                    <a:pt x="19281" y="4058"/>
                    <a:pt x="21600" y="9599"/>
                    <a:pt x="21600" y="15382"/>
                  </a:cubicBezTo>
                  <a:lnTo>
                    <a:pt x="0" y="15382"/>
                  </a:lnTo>
                  <a:close/>
                </a:path>
              </a:pathLst>
            </a:custGeom>
            <a:solidFill>
              <a:srgbClr val="000000"/>
            </a:solidFill>
            <a:ln w="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sp>
          <p:nvSpPr>
            <p:cNvPr id="26" name="Arc 59"/>
            <p:cNvSpPr>
              <a:spLocks/>
            </p:cNvSpPr>
            <p:nvPr/>
          </p:nvSpPr>
          <p:spPr bwMode="auto">
            <a:xfrm flipH="1">
              <a:off x="0" y="87"/>
              <a:ext cx="87" cy="61"/>
            </a:xfrm>
            <a:custGeom>
              <a:avLst/>
              <a:gdLst>
                <a:gd name="G0" fmla="+- 0 0 0"/>
                <a:gd name="G1" fmla="+- 29 0 0"/>
                <a:gd name="G2" fmla="+- 21600 0 0"/>
                <a:gd name="T0" fmla="*/ 21599 w 21600"/>
                <a:gd name="T1" fmla="*/ 0 h 15266"/>
                <a:gd name="T2" fmla="*/ 15309 w 21600"/>
                <a:gd name="T3" fmla="*/ 15266 h 15266"/>
                <a:gd name="T4" fmla="*/ 0 w 21600"/>
                <a:gd name="T5" fmla="*/ 29 h 15266"/>
              </a:gdLst>
              <a:ahLst/>
              <a:cxnLst>
                <a:cxn ang="0">
                  <a:pos x="T0" y="T1"/>
                </a:cxn>
                <a:cxn ang="0">
                  <a:pos x="T2" y="T3"/>
                </a:cxn>
                <a:cxn ang="0">
                  <a:pos x="T4" y="T5"/>
                </a:cxn>
              </a:cxnLst>
              <a:rect l="0" t="0" r="r" b="b"/>
              <a:pathLst>
                <a:path w="21600" h="15266" fill="none" extrusionOk="0">
                  <a:moveTo>
                    <a:pt x="21599" y="-1"/>
                  </a:moveTo>
                  <a:cubicBezTo>
                    <a:pt x="21599" y="9"/>
                    <a:pt x="21600" y="19"/>
                    <a:pt x="21600" y="29"/>
                  </a:cubicBezTo>
                  <a:cubicBezTo>
                    <a:pt x="21600" y="5740"/>
                    <a:pt x="19338" y="11218"/>
                    <a:pt x="15309" y="15266"/>
                  </a:cubicBezTo>
                </a:path>
                <a:path w="21600" h="15266" stroke="0" extrusionOk="0">
                  <a:moveTo>
                    <a:pt x="21599" y="-1"/>
                  </a:moveTo>
                  <a:cubicBezTo>
                    <a:pt x="21599" y="9"/>
                    <a:pt x="21600" y="19"/>
                    <a:pt x="21600" y="29"/>
                  </a:cubicBezTo>
                  <a:cubicBezTo>
                    <a:pt x="21600" y="5740"/>
                    <a:pt x="19338" y="11218"/>
                    <a:pt x="15309" y="15266"/>
                  </a:cubicBezTo>
                  <a:lnTo>
                    <a:pt x="0" y="29"/>
                  </a:lnTo>
                  <a:close/>
                </a:path>
              </a:pathLst>
            </a:custGeom>
            <a:solidFill>
              <a:srgbClr val="000000"/>
            </a:solidFill>
            <a:ln w="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sp>
          <p:nvSpPr>
            <p:cNvPr id="27" name="Arc 60"/>
            <p:cNvSpPr>
              <a:spLocks/>
            </p:cNvSpPr>
            <p:nvPr/>
          </p:nvSpPr>
          <p:spPr bwMode="auto">
            <a:xfrm flipH="1">
              <a:off x="25" y="87"/>
              <a:ext cx="62" cy="86"/>
            </a:xfrm>
            <a:custGeom>
              <a:avLst/>
              <a:gdLst>
                <a:gd name="G0" fmla="+- 0 0 0"/>
                <a:gd name="G1" fmla="+- 0 0 0"/>
                <a:gd name="G2" fmla="+- 21600 0 0"/>
                <a:gd name="T0" fmla="*/ 15386 w 15386"/>
                <a:gd name="T1" fmla="*/ 15159 h 21599"/>
                <a:gd name="T2" fmla="*/ 28 w 15386"/>
                <a:gd name="T3" fmla="*/ 21599 h 21599"/>
                <a:gd name="T4" fmla="*/ 0 w 15386"/>
                <a:gd name="T5" fmla="*/ 0 h 21599"/>
              </a:gdLst>
              <a:ahLst/>
              <a:cxnLst>
                <a:cxn ang="0">
                  <a:pos x="T0" y="T1"/>
                </a:cxn>
                <a:cxn ang="0">
                  <a:pos x="T2" y="T3"/>
                </a:cxn>
                <a:cxn ang="0">
                  <a:pos x="T4" y="T5"/>
                </a:cxn>
              </a:cxnLst>
              <a:rect l="0" t="0" r="r" b="b"/>
              <a:pathLst>
                <a:path w="15386" h="21599" fill="none" extrusionOk="0">
                  <a:moveTo>
                    <a:pt x="15386" y="15159"/>
                  </a:moveTo>
                  <a:cubicBezTo>
                    <a:pt x="11333" y="19273"/>
                    <a:pt x="5802" y="21592"/>
                    <a:pt x="28" y="21599"/>
                  </a:cubicBezTo>
                </a:path>
                <a:path w="15386" h="21599" stroke="0" extrusionOk="0">
                  <a:moveTo>
                    <a:pt x="15386" y="15159"/>
                  </a:moveTo>
                  <a:cubicBezTo>
                    <a:pt x="11333" y="19273"/>
                    <a:pt x="5802" y="21592"/>
                    <a:pt x="28" y="21599"/>
                  </a:cubicBezTo>
                  <a:lnTo>
                    <a:pt x="0" y="0"/>
                  </a:lnTo>
                  <a:close/>
                </a:path>
              </a:pathLst>
            </a:custGeom>
            <a:solidFill>
              <a:srgbClr val="000000"/>
            </a:solidFill>
            <a:ln w="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grpSp>
    </p:spTree>
    <p:extLst>
      <p:ext uri="{BB962C8B-B14F-4D97-AF65-F5344CB8AC3E}">
        <p14:creationId xmlns:p14="http://schemas.microsoft.com/office/powerpoint/2010/main" val="2371753331"/>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childTnLst>
                                </p:cTn>
                              </p:par>
                              <p:par>
                                <p:cTn id="8" presetID="10" presetClass="entr" presetSubtype="0" fill="hold" grpId="0" nodeType="withEffect">
                                  <p:stCondLst>
                                    <p:cond delay="25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1000"/>
                                        <p:tgtEl>
                                          <p:spTgt spid="16"/>
                                        </p:tgtEl>
                                      </p:cBhvr>
                                    </p:animEffect>
                                  </p:childTnLst>
                                </p:cTn>
                              </p:par>
                              <p:par>
                                <p:cTn id="11" presetID="10" presetClass="entr" presetSubtype="0" fill="hold" grpId="0" nodeType="withEffect">
                                  <p:stCondLst>
                                    <p:cond delay="25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1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76780" t="78172" r="18395" b="12686"/>
          <a:stretch/>
        </p:blipFill>
        <p:spPr bwMode="auto">
          <a:xfrm>
            <a:off x="8188658" y="4384319"/>
            <a:ext cx="955343" cy="7639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9"/>
          <p:cNvPicPr>
            <a:picLocks noChangeAspect="1"/>
          </p:cNvPicPr>
          <p:nvPr/>
        </p:nvPicPr>
        <p:blipFill>
          <a:blip r:embed="rId4"/>
          <a:stretch>
            <a:fillRect/>
          </a:stretch>
        </p:blipFill>
        <p:spPr>
          <a:xfrm>
            <a:off x="7021333" y="289005"/>
            <a:ext cx="1603348" cy="291323"/>
          </a:xfrm>
          <a:prstGeom prst="rect">
            <a:avLst/>
          </a:prstGeom>
        </p:spPr>
      </p:pic>
      <p:pic>
        <p:nvPicPr>
          <p:cNvPr id="8" name="Picture 1" descr="t03-02.jpg"/>
          <p:cNvPicPr>
            <a:picLocks noChangeAspect="1"/>
          </p:cNvPicPr>
          <p:nvPr/>
        </p:nvPicPr>
        <p:blipFill rotWithShape="1">
          <a:blip r:embed="rId5">
            <a:extLst>
              <a:ext uri="{28A0092B-C50C-407E-A947-70E740481C1C}">
                <a14:useLocalDpi xmlns:a14="http://schemas.microsoft.com/office/drawing/2010/main" val="0"/>
              </a:ext>
            </a:extLst>
          </a:blip>
          <a:srcRect r="91368" b="84909"/>
          <a:stretch/>
        </p:blipFill>
        <p:spPr>
          <a:xfrm>
            <a:off x="0" y="0"/>
            <a:ext cx="789296" cy="776935"/>
          </a:xfrm>
          <a:prstGeom prst="rect">
            <a:avLst/>
          </a:prstGeom>
        </p:spPr>
      </p:pic>
      <p:sp>
        <p:nvSpPr>
          <p:cNvPr id="6" name="CaixaDeTexto 5"/>
          <p:cNvSpPr txBox="1"/>
          <p:nvPr/>
        </p:nvSpPr>
        <p:spPr>
          <a:xfrm>
            <a:off x="2039091" y="300128"/>
            <a:ext cx="184731" cy="369332"/>
          </a:xfrm>
          <a:prstGeom prst="rect">
            <a:avLst/>
          </a:prstGeom>
          <a:noFill/>
        </p:spPr>
        <p:txBody>
          <a:bodyPr wrap="none" rtlCol="0">
            <a:spAutoFit/>
          </a:bodyPr>
          <a:lstStyle/>
          <a:p>
            <a:endParaRPr lang="pt-BR" dirty="0"/>
          </a:p>
        </p:txBody>
      </p:sp>
      <p:sp>
        <p:nvSpPr>
          <p:cNvPr id="9" name="Title 1"/>
          <p:cNvSpPr txBox="1">
            <a:spLocks/>
          </p:cNvSpPr>
          <p:nvPr/>
        </p:nvSpPr>
        <p:spPr>
          <a:xfrm>
            <a:off x="562659" y="90471"/>
            <a:ext cx="6254098" cy="5604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pt-BR" sz="2800" b="1" dirty="0">
                <a:solidFill>
                  <a:schemeClr val="tx2"/>
                </a:solidFill>
                <a:latin typeface="Arial" pitchFamily="34" charset="0"/>
                <a:cs typeface="Arial" pitchFamily="34" charset="0"/>
              </a:rPr>
              <a:t>6</a:t>
            </a:r>
            <a:r>
              <a:rPr lang="pt-BR" sz="2800" b="1" dirty="0" smtClean="0">
                <a:solidFill>
                  <a:schemeClr val="tx2"/>
                </a:solidFill>
                <a:latin typeface="Arial" pitchFamily="34" charset="0"/>
                <a:cs typeface="Arial" pitchFamily="34" charset="0"/>
              </a:rPr>
              <a:t>. Projeto: </a:t>
            </a:r>
            <a:r>
              <a:rPr lang="pt-BR" sz="2800" b="1" dirty="0">
                <a:solidFill>
                  <a:schemeClr val="tx2"/>
                </a:solidFill>
                <a:latin typeface="Arial" pitchFamily="34" charset="0"/>
                <a:cs typeface="Arial" pitchFamily="34" charset="0"/>
              </a:rPr>
              <a:t>Redundância links MPLS</a:t>
            </a:r>
          </a:p>
        </p:txBody>
      </p:sp>
      <p:sp>
        <p:nvSpPr>
          <p:cNvPr id="12" name="Retângulo 11"/>
          <p:cNvSpPr/>
          <p:nvPr/>
        </p:nvSpPr>
        <p:spPr>
          <a:xfrm>
            <a:off x="158943" y="1940666"/>
            <a:ext cx="2778560" cy="2765149"/>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0" lvl="1" algn="ctr">
              <a:spcBef>
                <a:spcPts val="200"/>
              </a:spcBef>
              <a:spcAft>
                <a:spcPts val="200"/>
              </a:spcAft>
            </a:pPr>
            <a:r>
              <a:rPr lang="pt-BR" sz="1400" b="1" dirty="0">
                <a:solidFill>
                  <a:schemeClr val="tx1">
                    <a:lumMod val="95000"/>
                    <a:lumOff val="5000"/>
                  </a:schemeClr>
                </a:solidFill>
              </a:rPr>
              <a:t>Últimas Realizações</a:t>
            </a:r>
            <a:endParaRPr lang="pt-BR" sz="1200" dirty="0">
              <a:solidFill>
                <a:schemeClr val="tx1">
                  <a:lumMod val="95000"/>
                  <a:lumOff val="5000"/>
                </a:schemeClr>
              </a:solidFill>
            </a:endParaRPr>
          </a:p>
          <a:p>
            <a:pPr marL="171450" lvl="1" indent="-171450">
              <a:spcBef>
                <a:spcPts val="200"/>
              </a:spcBef>
              <a:spcAft>
                <a:spcPts val="200"/>
              </a:spcAft>
              <a:buFont typeface="Arial" panose="020B0604020202020204" pitchFamily="34" charset="0"/>
              <a:buChar char="•"/>
            </a:pPr>
            <a:r>
              <a:rPr lang="pt-BR" sz="1200" dirty="0" smtClean="0">
                <a:solidFill>
                  <a:schemeClr val="tx1">
                    <a:lumMod val="95000"/>
                    <a:lumOff val="5000"/>
                  </a:schemeClr>
                </a:solidFill>
              </a:rPr>
              <a:t>No site de </a:t>
            </a:r>
            <a:r>
              <a:rPr lang="pt-BR" sz="1200" b="1" dirty="0" smtClean="0">
                <a:solidFill>
                  <a:schemeClr val="tx1">
                    <a:lumMod val="95000"/>
                    <a:lumOff val="5000"/>
                  </a:schemeClr>
                </a:solidFill>
              </a:rPr>
              <a:t>João Pessoa </a:t>
            </a:r>
            <a:r>
              <a:rPr lang="pt-BR" sz="1200" dirty="0" smtClean="0">
                <a:solidFill>
                  <a:schemeClr val="tx1">
                    <a:lumMod val="95000"/>
                    <a:lumOff val="5000"/>
                  </a:schemeClr>
                </a:solidFill>
              </a:rPr>
              <a:t>a OI informou que corrigiu a  inconsistência </a:t>
            </a:r>
            <a:r>
              <a:rPr lang="pt-BR" sz="1200" dirty="0">
                <a:solidFill>
                  <a:schemeClr val="tx1">
                    <a:lumMod val="95000"/>
                    <a:lumOff val="5000"/>
                  </a:schemeClr>
                </a:solidFill>
              </a:rPr>
              <a:t>no roteamento no acesso do </a:t>
            </a:r>
            <a:r>
              <a:rPr lang="pt-BR" sz="1200" dirty="0" smtClean="0">
                <a:solidFill>
                  <a:schemeClr val="tx1">
                    <a:lumMod val="95000"/>
                    <a:lumOff val="5000"/>
                  </a:schemeClr>
                </a:solidFill>
              </a:rPr>
              <a:t>Site com </a:t>
            </a:r>
            <a:r>
              <a:rPr lang="pt-BR" sz="1200" dirty="0">
                <a:solidFill>
                  <a:schemeClr val="tx1">
                    <a:lumMod val="95000"/>
                    <a:lumOff val="5000"/>
                  </a:schemeClr>
                </a:solidFill>
              </a:rPr>
              <a:t>o Site Niterói. </a:t>
            </a:r>
            <a:endParaRPr lang="pt-BR" sz="1200" dirty="0" smtClean="0">
              <a:solidFill>
                <a:schemeClr val="tx1">
                  <a:lumMod val="95000"/>
                  <a:lumOff val="5000"/>
                </a:schemeClr>
              </a:solidFill>
            </a:endParaRPr>
          </a:p>
          <a:p>
            <a:pPr marL="171450" lvl="1" indent="-171450">
              <a:spcBef>
                <a:spcPts val="200"/>
              </a:spcBef>
              <a:spcAft>
                <a:spcPts val="200"/>
              </a:spcAft>
              <a:buFont typeface="Arial" panose="020B0604020202020204" pitchFamily="34" charset="0"/>
              <a:buChar char="•"/>
            </a:pPr>
            <a:r>
              <a:rPr lang="pt-BR" sz="1200" dirty="0" smtClean="0">
                <a:solidFill>
                  <a:schemeClr val="tx1">
                    <a:lumMod val="95000"/>
                    <a:lumOff val="5000"/>
                  </a:schemeClr>
                </a:solidFill>
              </a:rPr>
              <a:t>No planejamento, foram detectadas </a:t>
            </a:r>
            <a:r>
              <a:rPr lang="pt-BR" sz="1200" b="1" dirty="0" smtClean="0">
                <a:solidFill>
                  <a:schemeClr val="tx1">
                    <a:lumMod val="95000"/>
                    <a:lumOff val="5000"/>
                  </a:schemeClr>
                </a:solidFill>
              </a:rPr>
              <a:t>pendencias que impedem intervenção</a:t>
            </a:r>
            <a:r>
              <a:rPr lang="pt-BR" sz="1200" dirty="0">
                <a:solidFill>
                  <a:schemeClr val="tx1">
                    <a:lumMod val="95000"/>
                    <a:lumOff val="5000"/>
                  </a:schemeClr>
                </a:solidFill>
              </a:rPr>
              <a:t>:</a:t>
            </a:r>
            <a:r>
              <a:rPr lang="pt-BR" sz="1200" dirty="0" smtClean="0">
                <a:solidFill>
                  <a:schemeClr val="tx1">
                    <a:lumMod val="95000"/>
                    <a:lumOff val="5000"/>
                  </a:schemeClr>
                </a:solidFill>
              </a:rPr>
              <a:t>  </a:t>
            </a:r>
            <a:r>
              <a:rPr lang="pt-BR" sz="1200" u="sng" dirty="0" err="1" smtClean="0">
                <a:solidFill>
                  <a:schemeClr val="tx1">
                    <a:lumMod val="95000"/>
                    <a:lumOff val="5000"/>
                  </a:schemeClr>
                </a:solidFill>
              </a:rPr>
              <a:t>Cabúla</a:t>
            </a:r>
            <a:r>
              <a:rPr lang="pt-BR" sz="1200" u="sng" dirty="0" smtClean="0">
                <a:solidFill>
                  <a:schemeClr val="tx1">
                    <a:lumMod val="95000"/>
                    <a:lumOff val="5000"/>
                  </a:schemeClr>
                </a:solidFill>
              </a:rPr>
              <a:t> e Rio Branco</a:t>
            </a:r>
            <a:r>
              <a:rPr lang="pt-BR" sz="1200" dirty="0" smtClean="0">
                <a:solidFill>
                  <a:schemeClr val="tx1">
                    <a:lumMod val="95000"/>
                    <a:lumOff val="5000"/>
                  </a:schemeClr>
                </a:solidFill>
              </a:rPr>
              <a:t>. </a:t>
            </a:r>
            <a:endParaRPr lang="pt-BR" sz="1200" dirty="0">
              <a:solidFill>
                <a:schemeClr val="tx1">
                  <a:lumMod val="95000"/>
                  <a:lumOff val="5000"/>
                </a:schemeClr>
              </a:solidFill>
            </a:endParaRPr>
          </a:p>
          <a:p>
            <a:pPr marL="216000" lvl="1" indent="-216000">
              <a:spcBef>
                <a:spcPts val="200"/>
              </a:spcBef>
              <a:spcAft>
                <a:spcPts val="200"/>
              </a:spcAft>
              <a:buFont typeface="Arial" panose="020B0604020202020204" pitchFamily="34" charset="0"/>
              <a:buChar char="•"/>
            </a:pPr>
            <a:r>
              <a:rPr lang="pt-BR" sz="1200" b="1" dirty="0" smtClean="0">
                <a:solidFill>
                  <a:schemeClr val="tx1">
                    <a:lumMod val="95000"/>
                    <a:lumOff val="5000"/>
                  </a:schemeClr>
                </a:solidFill>
              </a:rPr>
              <a:t>Sites com pendencias detectadas e resolvidas e </a:t>
            </a:r>
            <a:r>
              <a:rPr lang="pt-BR" sz="1200" dirty="0" smtClean="0">
                <a:solidFill>
                  <a:schemeClr val="tx1">
                    <a:lumMod val="95000"/>
                    <a:lumOff val="5000"/>
                  </a:schemeClr>
                </a:solidFill>
              </a:rPr>
              <a:t>em </a:t>
            </a:r>
            <a:r>
              <a:rPr lang="pt-BR" sz="1200" dirty="0">
                <a:solidFill>
                  <a:schemeClr val="tx1">
                    <a:lumMod val="95000"/>
                    <a:lumOff val="5000"/>
                  </a:schemeClr>
                </a:solidFill>
              </a:rPr>
              <a:t>planejamento para </a:t>
            </a:r>
            <a:r>
              <a:rPr lang="pt-BR" sz="1200" dirty="0" smtClean="0">
                <a:solidFill>
                  <a:schemeClr val="tx1">
                    <a:lumMod val="95000"/>
                    <a:lumOff val="5000"/>
                  </a:schemeClr>
                </a:solidFill>
              </a:rPr>
              <a:t>intervenção: </a:t>
            </a:r>
            <a:r>
              <a:rPr lang="pt-BR" sz="1200" u="sng" dirty="0" smtClean="0">
                <a:solidFill>
                  <a:schemeClr val="tx1">
                    <a:lumMod val="95000"/>
                    <a:lumOff val="5000"/>
                  </a:schemeClr>
                </a:solidFill>
              </a:rPr>
              <a:t>São Cristóvão</a:t>
            </a:r>
            <a:r>
              <a:rPr lang="pt-BR" sz="1200" dirty="0" smtClean="0">
                <a:solidFill>
                  <a:schemeClr val="tx1">
                    <a:lumMod val="95000"/>
                    <a:lumOff val="5000"/>
                  </a:schemeClr>
                </a:solidFill>
              </a:rPr>
              <a:t> (sem autorização), </a:t>
            </a:r>
            <a:r>
              <a:rPr lang="pt-BR" sz="1200" u="sng" dirty="0" smtClean="0">
                <a:solidFill>
                  <a:schemeClr val="tx1"/>
                </a:solidFill>
              </a:rPr>
              <a:t>João Pessoa</a:t>
            </a:r>
            <a:r>
              <a:rPr lang="pt-BR" sz="1200" dirty="0" smtClean="0">
                <a:solidFill>
                  <a:schemeClr val="tx1"/>
                </a:solidFill>
              </a:rPr>
              <a:t>. </a:t>
            </a:r>
            <a:endParaRPr lang="pt-BR" sz="1200" dirty="0">
              <a:solidFill>
                <a:schemeClr val="tx1"/>
              </a:solidFill>
            </a:endParaRPr>
          </a:p>
        </p:txBody>
      </p:sp>
      <p:sp>
        <p:nvSpPr>
          <p:cNvPr id="15" name="Retângulo de cantos arredondados 14"/>
          <p:cNvSpPr/>
          <p:nvPr/>
        </p:nvSpPr>
        <p:spPr>
          <a:xfrm>
            <a:off x="158943" y="694874"/>
            <a:ext cx="3064339" cy="1080993"/>
          </a:xfrm>
          <a:prstGeom prst="roundRect">
            <a:avLst/>
          </a:prstGeom>
          <a:solidFill>
            <a:srgbClr val="00B050"/>
          </a:soli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r>
              <a:rPr lang="pt-BR" sz="1400" b="1" dirty="0" smtClean="0">
                <a:effectLst>
                  <a:outerShdw blurRad="38100" dist="38100" dir="2700000" algn="tl">
                    <a:srgbClr val="000000">
                      <a:alpha val="43137"/>
                    </a:srgbClr>
                  </a:outerShdw>
                </a:effectLst>
              </a:rPr>
              <a:t>Projeto: </a:t>
            </a:r>
            <a:r>
              <a:rPr lang="pt-BR" sz="1400" b="1" dirty="0">
                <a:effectLst>
                  <a:outerShdw blurRad="38100" dist="38100" dir="2700000" algn="tl">
                    <a:srgbClr val="000000">
                      <a:alpha val="43137"/>
                    </a:srgbClr>
                  </a:outerShdw>
                </a:effectLst>
              </a:rPr>
              <a:t>Redundância links MPLS</a:t>
            </a:r>
            <a:endParaRPr lang="pt-BR" sz="1400" b="1" dirty="0" smtClean="0">
              <a:effectLst>
                <a:outerShdw blurRad="38100" dist="38100" dir="2700000" algn="tl">
                  <a:srgbClr val="000000">
                    <a:alpha val="43137"/>
                  </a:srgbClr>
                </a:outerShdw>
              </a:effectLst>
            </a:endParaRPr>
          </a:p>
          <a:p>
            <a:r>
              <a:rPr lang="pt-BR" sz="1200" i="1" dirty="0" smtClean="0"/>
              <a:t>Data Inicio: 01-12-2015</a:t>
            </a:r>
          </a:p>
          <a:p>
            <a:r>
              <a:rPr lang="pt-BR" sz="1200" i="1" dirty="0" smtClean="0"/>
              <a:t>Data Conclusão: 31-06-2016</a:t>
            </a:r>
          </a:p>
          <a:p>
            <a:r>
              <a:rPr lang="pt-BR" sz="1200" i="1" dirty="0" smtClean="0"/>
              <a:t>Progresso: 40%</a:t>
            </a:r>
          </a:p>
          <a:p>
            <a:r>
              <a:rPr lang="pt-BR" sz="1200" i="1" dirty="0" smtClean="0"/>
              <a:t>PM: </a:t>
            </a:r>
            <a:r>
              <a:rPr lang="pt-BR" sz="1200" i="1" dirty="0" err="1" smtClean="0"/>
              <a:t>Luis</a:t>
            </a:r>
            <a:r>
              <a:rPr lang="pt-BR" sz="1200" i="1" dirty="0" smtClean="0"/>
              <a:t> Marçal</a:t>
            </a:r>
          </a:p>
        </p:txBody>
      </p:sp>
      <p:sp>
        <p:nvSpPr>
          <p:cNvPr id="16" name="Retângulo 15"/>
          <p:cNvSpPr/>
          <p:nvPr/>
        </p:nvSpPr>
        <p:spPr>
          <a:xfrm>
            <a:off x="3112569" y="1940665"/>
            <a:ext cx="2716382" cy="2765150"/>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0" lvl="1" algn="ctr">
              <a:spcBef>
                <a:spcPts val="200"/>
              </a:spcBef>
              <a:spcAft>
                <a:spcPts val="200"/>
              </a:spcAft>
            </a:pPr>
            <a:r>
              <a:rPr lang="pt-BR" sz="1400" b="1" dirty="0">
                <a:solidFill>
                  <a:schemeClr val="tx1">
                    <a:lumMod val="95000"/>
                    <a:lumOff val="5000"/>
                  </a:schemeClr>
                </a:solidFill>
              </a:rPr>
              <a:t>Próximas Ações</a:t>
            </a:r>
            <a:endParaRPr lang="pt-BR" sz="1400" dirty="0">
              <a:solidFill>
                <a:schemeClr val="tx1">
                  <a:lumMod val="95000"/>
                  <a:lumOff val="5000"/>
                </a:schemeClr>
              </a:solidFill>
            </a:endParaRPr>
          </a:p>
          <a:p>
            <a:pPr marL="171450" lvl="1" indent="-171450">
              <a:spcBef>
                <a:spcPts val="200"/>
              </a:spcBef>
              <a:spcAft>
                <a:spcPts val="200"/>
              </a:spcAft>
              <a:buFont typeface="Arial" panose="020B0604020202020204" pitchFamily="34" charset="0"/>
              <a:buChar char="•"/>
            </a:pPr>
            <a:r>
              <a:rPr lang="pt-BR" sz="1200" dirty="0" smtClean="0">
                <a:solidFill>
                  <a:schemeClr val="tx1">
                    <a:lumMod val="95000"/>
                    <a:lumOff val="5000"/>
                  </a:schemeClr>
                </a:solidFill>
              </a:rPr>
              <a:t>Alinhar datas e obter acordo com as operações para realização dos testes.</a:t>
            </a:r>
          </a:p>
          <a:p>
            <a:pPr marL="171450" lvl="1" indent="-171450">
              <a:spcBef>
                <a:spcPts val="200"/>
              </a:spcBef>
              <a:spcAft>
                <a:spcPts val="200"/>
              </a:spcAft>
              <a:buFont typeface="Arial" panose="020B0604020202020204" pitchFamily="34" charset="0"/>
              <a:buChar char="•"/>
            </a:pPr>
            <a:r>
              <a:rPr lang="pt-BR" sz="1200" dirty="0">
                <a:solidFill>
                  <a:schemeClr val="tx1">
                    <a:lumMod val="95000"/>
                    <a:lumOff val="5000"/>
                  </a:schemeClr>
                </a:solidFill>
              </a:rPr>
              <a:t>Planejamento de teste </a:t>
            </a:r>
            <a:r>
              <a:rPr lang="pt-BR" sz="1200" b="1" dirty="0" smtClean="0">
                <a:solidFill>
                  <a:schemeClr val="tx1">
                    <a:lumMod val="95000"/>
                    <a:lumOff val="5000"/>
                  </a:schemeClr>
                </a:solidFill>
              </a:rPr>
              <a:t>João Pessoa e Luigi </a:t>
            </a:r>
            <a:r>
              <a:rPr lang="pt-BR" sz="1200" b="1" dirty="0" err="1" smtClean="0">
                <a:solidFill>
                  <a:schemeClr val="tx1">
                    <a:lumMod val="95000"/>
                    <a:lumOff val="5000"/>
                  </a:schemeClr>
                </a:solidFill>
              </a:rPr>
              <a:t>Amoresi</a:t>
            </a:r>
            <a:r>
              <a:rPr lang="pt-BR" sz="1200" b="1" dirty="0" smtClean="0">
                <a:solidFill>
                  <a:schemeClr val="tx1">
                    <a:lumMod val="95000"/>
                    <a:lumOff val="5000"/>
                  </a:schemeClr>
                </a:solidFill>
              </a:rPr>
              <a:t> (</a:t>
            </a:r>
            <a:r>
              <a:rPr lang="pt-BR" sz="1200" dirty="0" smtClean="0">
                <a:solidFill>
                  <a:schemeClr val="tx1">
                    <a:lumMod val="95000"/>
                    <a:lumOff val="5000"/>
                  </a:schemeClr>
                </a:solidFill>
              </a:rPr>
              <a:t>3-Maio), </a:t>
            </a:r>
            <a:r>
              <a:rPr lang="pt-BR" sz="1200" b="1" dirty="0" smtClean="0">
                <a:solidFill>
                  <a:schemeClr val="tx1">
                    <a:lumMod val="95000"/>
                    <a:lumOff val="5000"/>
                  </a:schemeClr>
                </a:solidFill>
              </a:rPr>
              <a:t>Engenho de Dentro</a:t>
            </a:r>
            <a:r>
              <a:rPr lang="pt-BR" sz="1200" dirty="0" smtClean="0">
                <a:solidFill>
                  <a:schemeClr val="tx1">
                    <a:lumMod val="95000"/>
                    <a:lumOff val="5000"/>
                  </a:schemeClr>
                </a:solidFill>
              </a:rPr>
              <a:t> (5 Maio). </a:t>
            </a:r>
            <a:endParaRPr lang="pt-BR" sz="1200" dirty="0">
              <a:solidFill>
                <a:schemeClr val="tx1">
                  <a:lumMod val="95000"/>
                  <a:lumOff val="5000"/>
                </a:schemeClr>
              </a:solidFill>
            </a:endParaRPr>
          </a:p>
        </p:txBody>
      </p:sp>
      <p:sp>
        <p:nvSpPr>
          <p:cNvPr id="17" name="Retângulo 16"/>
          <p:cNvSpPr/>
          <p:nvPr/>
        </p:nvSpPr>
        <p:spPr>
          <a:xfrm>
            <a:off x="6004018" y="1940666"/>
            <a:ext cx="2716382" cy="2765149"/>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0" lvl="1" algn="ctr">
              <a:spcBef>
                <a:spcPts val="200"/>
              </a:spcBef>
              <a:spcAft>
                <a:spcPts val="200"/>
              </a:spcAft>
            </a:pPr>
            <a:r>
              <a:rPr lang="pt-BR" sz="1400" b="1" dirty="0" smtClean="0">
                <a:solidFill>
                  <a:schemeClr val="tx1">
                    <a:lumMod val="95000"/>
                    <a:lumOff val="5000"/>
                  </a:schemeClr>
                </a:solidFill>
              </a:rPr>
              <a:t>Riscos/Problemas/Observações</a:t>
            </a:r>
          </a:p>
          <a:p>
            <a:pPr marL="0" lvl="1">
              <a:spcBef>
                <a:spcPts val="200"/>
              </a:spcBef>
              <a:spcAft>
                <a:spcPts val="200"/>
              </a:spcAft>
            </a:pPr>
            <a:r>
              <a:rPr lang="pt-BR" sz="1200" dirty="0" err="1" smtClean="0">
                <a:solidFill>
                  <a:schemeClr val="tx1">
                    <a:lumMod val="95000"/>
                    <a:lumOff val="5000"/>
                  </a:schemeClr>
                </a:solidFill>
              </a:rPr>
              <a:t>Obs</a:t>
            </a:r>
            <a:r>
              <a:rPr lang="pt-BR" sz="1200" dirty="0" smtClean="0">
                <a:solidFill>
                  <a:schemeClr val="tx1">
                    <a:lumMod val="95000"/>
                    <a:lumOff val="5000"/>
                  </a:schemeClr>
                </a:solidFill>
              </a:rPr>
              <a:t>: </a:t>
            </a:r>
          </a:p>
          <a:p>
            <a:pPr marL="171450" lvl="1" indent="-171450">
              <a:spcBef>
                <a:spcPts val="200"/>
              </a:spcBef>
              <a:spcAft>
                <a:spcPts val="200"/>
              </a:spcAft>
              <a:buFont typeface="Arial" panose="020B0604020202020204" pitchFamily="34" charset="0"/>
              <a:buChar char="•"/>
            </a:pPr>
            <a:r>
              <a:rPr lang="pt-BR" sz="1200" dirty="0" smtClean="0">
                <a:solidFill>
                  <a:schemeClr val="tx1">
                    <a:lumMod val="95000"/>
                    <a:lumOff val="5000"/>
                  </a:schemeClr>
                </a:solidFill>
              </a:rPr>
              <a:t>Foi detectado </a:t>
            </a:r>
            <a:r>
              <a:rPr lang="pt-BR" sz="1200" dirty="0">
                <a:solidFill>
                  <a:schemeClr val="tx1">
                    <a:lumMod val="95000"/>
                    <a:lumOff val="5000"/>
                  </a:schemeClr>
                </a:solidFill>
              </a:rPr>
              <a:t>que a banda </a:t>
            </a:r>
            <a:r>
              <a:rPr lang="pt-BR" sz="1200" dirty="0" smtClean="0">
                <a:solidFill>
                  <a:schemeClr val="tx1">
                    <a:lumMod val="95000"/>
                    <a:lumOff val="5000"/>
                  </a:schemeClr>
                </a:solidFill>
              </a:rPr>
              <a:t>contratada </a:t>
            </a:r>
            <a:r>
              <a:rPr lang="pt-BR" sz="1200" dirty="0" smtClean="0">
                <a:solidFill>
                  <a:srgbClr val="FF0000"/>
                </a:solidFill>
              </a:rPr>
              <a:t>(</a:t>
            </a:r>
            <a:r>
              <a:rPr lang="pt-BR" sz="1200" dirty="0">
                <a:solidFill>
                  <a:srgbClr val="FF0000"/>
                </a:solidFill>
              </a:rPr>
              <a:t>25-06-2015</a:t>
            </a:r>
            <a:r>
              <a:rPr lang="pt-BR" sz="1200" dirty="0" smtClean="0">
                <a:solidFill>
                  <a:srgbClr val="FF0000"/>
                </a:solidFill>
              </a:rPr>
              <a:t>) </a:t>
            </a:r>
            <a:r>
              <a:rPr lang="pt-BR" sz="1200" dirty="0">
                <a:solidFill>
                  <a:schemeClr val="tx1">
                    <a:lumMod val="95000"/>
                    <a:lumOff val="5000"/>
                  </a:schemeClr>
                </a:solidFill>
              </a:rPr>
              <a:t>para o link MPLS VIVO no Site Navegante é de </a:t>
            </a:r>
            <a:r>
              <a:rPr lang="pt-BR" sz="1200" dirty="0" smtClean="0">
                <a:solidFill>
                  <a:schemeClr val="tx1">
                    <a:lumMod val="95000"/>
                    <a:lumOff val="5000"/>
                  </a:schemeClr>
                </a:solidFill>
              </a:rPr>
              <a:t>400MB. </a:t>
            </a:r>
            <a:r>
              <a:rPr lang="pt-BR" sz="1200" dirty="0">
                <a:solidFill>
                  <a:schemeClr val="tx1">
                    <a:lumMod val="95000"/>
                    <a:lumOff val="5000"/>
                  </a:schemeClr>
                </a:solidFill>
              </a:rPr>
              <a:t>Atualmente os equipamentos estão configurados </a:t>
            </a:r>
            <a:r>
              <a:rPr lang="pt-BR" sz="1200" dirty="0" smtClean="0">
                <a:solidFill>
                  <a:schemeClr val="tx1">
                    <a:lumMod val="95000"/>
                    <a:lumOff val="5000"/>
                  </a:schemeClr>
                </a:solidFill>
              </a:rPr>
              <a:t>para 100MB.</a:t>
            </a:r>
          </a:p>
          <a:p>
            <a:pPr marL="285750" lvl="1" indent="-285750">
              <a:spcBef>
                <a:spcPts val="200"/>
              </a:spcBef>
              <a:spcAft>
                <a:spcPts val="200"/>
              </a:spcAft>
              <a:buFont typeface="Arial" panose="020B0604020202020204" pitchFamily="34" charset="0"/>
              <a:buChar char="•"/>
            </a:pPr>
            <a:r>
              <a:rPr lang="pt-BR" sz="1200" dirty="0" smtClean="0">
                <a:solidFill>
                  <a:schemeClr val="tx1">
                    <a:lumMod val="95000"/>
                    <a:lumOff val="5000"/>
                  </a:schemeClr>
                </a:solidFill>
              </a:rPr>
              <a:t>O projeto deverá melhorar o processo de comunicação entre as áreas (RACI).</a:t>
            </a:r>
          </a:p>
          <a:p>
            <a:pPr marL="0" lvl="1">
              <a:spcBef>
                <a:spcPts val="200"/>
              </a:spcBef>
              <a:spcAft>
                <a:spcPts val="200"/>
              </a:spcAft>
            </a:pPr>
            <a:endParaRPr lang="pt-BR" sz="1200" dirty="0" smtClean="0">
              <a:solidFill>
                <a:schemeClr val="tx1">
                  <a:lumMod val="95000"/>
                  <a:lumOff val="5000"/>
                </a:schemeClr>
              </a:solidFill>
            </a:endParaRPr>
          </a:p>
          <a:p>
            <a:pPr marL="0" lvl="1">
              <a:spcBef>
                <a:spcPts val="200"/>
              </a:spcBef>
              <a:spcAft>
                <a:spcPts val="200"/>
              </a:spcAft>
            </a:pPr>
            <a:r>
              <a:rPr lang="pt-BR" sz="1200" b="1" dirty="0" smtClean="0">
                <a:solidFill>
                  <a:srgbClr val="FF0000"/>
                </a:solidFill>
              </a:rPr>
              <a:t>Risco: </a:t>
            </a:r>
            <a:r>
              <a:rPr lang="pt-BR" sz="1200" dirty="0" smtClean="0">
                <a:solidFill>
                  <a:srgbClr val="FF0000"/>
                </a:solidFill>
              </a:rPr>
              <a:t>A OI não fornece previsões de instalação/intervenção.</a:t>
            </a:r>
          </a:p>
          <a:p>
            <a:pPr marL="285750" lvl="1" indent="-285750">
              <a:spcBef>
                <a:spcPts val="200"/>
              </a:spcBef>
              <a:spcAft>
                <a:spcPts val="200"/>
              </a:spcAft>
              <a:buFont typeface="Arial" panose="020B0604020202020204" pitchFamily="34" charset="0"/>
              <a:buChar char="•"/>
            </a:pPr>
            <a:endParaRPr lang="pt-BR" sz="1200" dirty="0" smtClean="0">
              <a:solidFill>
                <a:schemeClr val="tx1">
                  <a:lumMod val="95000"/>
                  <a:lumOff val="5000"/>
                </a:schemeClr>
              </a:solidFill>
            </a:endParaRPr>
          </a:p>
        </p:txBody>
      </p:sp>
      <p:sp>
        <p:nvSpPr>
          <p:cNvPr id="18" name="Retângulo de cantos arredondados 17"/>
          <p:cNvSpPr/>
          <p:nvPr/>
        </p:nvSpPr>
        <p:spPr>
          <a:xfrm>
            <a:off x="3382225" y="694875"/>
            <a:ext cx="5338175" cy="1080992"/>
          </a:xfrm>
          <a:prstGeom prst="roundRect">
            <a:avLst/>
          </a:prstGeom>
          <a:solidFill>
            <a:schemeClr val="accent1">
              <a:lumMod val="50000"/>
            </a:schemeClr>
          </a:soli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r>
              <a:rPr lang="pt-BR" sz="1400" b="1" dirty="0" smtClean="0">
                <a:effectLst>
                  <a:outerShdw blurRad="38100" dist="38100" dir="2700000" algn="tl">
                    <a:srgbClr val="000000">
                      <a:alpha val="43137"/>
                    </a:srgbClr>
                  </a:outerShdw>
                </a:effectLst>
              </a:rPr>
              <a:t>Descritivo:  </a:t>
            </a:r>
            <a:r>
              <a:rPr lang="pt-BR" sz="1400" dirty="0" smtClean="0"/>
              <a:t>Para </a:t>
            </a:r>
            <a:r>
              <a:rPr lang="pt-BR" sz="1400" dirty="0"/>
              <a:t>dar </a:t>
            </a:r>
            <a:r>
              <a:rPr lang="pt-BR" sz="1400" b="1" dirty="0"/>
              <a:t>resposta imediata </a:t>
            </a:r>
            <a:r>
              <a:rPr lang="pt-BR" sz="1400" dirty="0"/>
              <a:t>a situações recorrentes de incidentes, relacionados com a perda de </a:t>
            </a:r>
            <a:r>
              <a:rPr lang="pt-BR" sz="1400" b="1" dirty="0"/>
              <a:t>Links </a:t>
            </a:r>
            <a:r>
              <a:rPr lang="pt-BR" sz="1400" dirty="0"/>
              <a:t>que interligam os sites da Contax, </a:t>
            </a:r>
            <a:r>
              <a:rPr lang="pt-BR" sz="1400" dirty="0" smtClean="0"/>
              <a:t>este projeto visa, </a:t>
            </a:r>
            <a:r>
              <a:rPr lang="pt-BR" sz="1400" b="1" dirty="0" smtClean="0"/>
              <a:t>Garantir </a:t>
            </a:r>
            <a:r>
              <a:rPr lang="pt-BR" sz="1400" b="1" dirty="0"/>
              <a:t>e documentar a funcionalidade da </a:t>
            </a:r>
            <a:r>
              <a:rPr lang="pt-BR" sz="1400" b="1" dirty="0" smtClean="0"/>
              <a:t>contingência e </a:t>
            </a:r>
            <a:r>
              <a:rPr lang="pt-BR" sz="1400" dirty="0"/>
              <a:t>v</a:t>
            </a:r>
            <a:r>
              <a:rPr lang="pt-BR" sz="1400" dirty="0" smtClean="0"/>
              <a:t>alidar </a:t>
            </a:r>
            <a:r>
              <a:rPr lang="pt-BR" sz="1400" dirty="0"/>
              <a:t>caminhos possíveis e documentar </a:t>
            </a:r>
            <a:r>
              <a:rPr lang="pt-BR" sz="1400" dirty="0" smtClean="0"/>
              <a:t>ações. </a:t>
            </a:r>
            <a:endParaRPr lang="pt-BR" sz="1400" dirty="0"/>
          </a:p>
        </p:txBody>
      </p:sp>
      <p:pic>
        <p:nvPicPr>
          <p:cNvPr id="2" name="Imagem 1"/>
          <p:cNvPicPr>
            <a:picLocks noChangeAspect="1"/>
          </p:cNvPicPr>
          <p:nvPr/>
        </p:nvPicPr>
        <p:blipFill>
          <a:blip r:embed="rId6"/>
          <a:stretch>
            <a:fillRect/>
          </a:stretch>
        </p:blipFill>
        <p:spPr>
          <a:xfrm>
            <a:off x="2882094" y="1430687"/>
            <a:ext cx="280440" cy="280440"/>
          </a:xfrm>
          <a:prstGeom prst="rect">
            <a:avLst/>
          </a:prstGeom>
        </p:spPr>
      </p:pic>
      <p:pic>
        <p:nvPicPr>
          <p:cNvPr id="3" name="Imagem 2">
            <a:hlinkClick r:id="rId7" action="ppaction://hlinksldjump"/>
          </p:cNvPr>
          <p:cNvPicPr>
            <a:picLocks noChangeAspect="1"/>
          </p:cNvPicPr>
          <p:nvPr/>
        </p:nvPicPr>
        <p:blipFill>
          <a:blip r:embed="rId8"/>
          <a:stretch>
            <a:fillRect/>
          </a:stretch>
        </p:blipFill>
        <p:spPr>
          <a:xfrm>
            <a:off x="3382226" y="3395631"/>
            <a:ext cx="2198192" cy="988688"/>
          </a:xfrm>
          <a:prstGeom prst="rect">
            <a:avLst/>
          </a:prstGeom>
        </p:spPr>
      </p:pic>
    </p:spTree>
    <p:extLst>
      <p:ext uri="{BB962C8B-B14F-4D97-AF65-F5344CB8AC3E}">
        <p14:creationId xmlns:p14="http://schemas.microsoft.com/office/powerpoint/2010/main" val="1619682626"/>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childTnLst>
                                </p:cTn>
                              </p:par>
                              <p:par>
                                <p:cTn id="8" presetID="10" presetClass="entr" presetSubtype="0" fill="hold" grpId="0" nodeType="withEffect">
                                  <p:stCondLst>
                                    <p:cond delay="25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1000"/>
                                        <p:tgtEl>
                                          <p:spTgt spid="16"/>
                                        </p:tgtEl>
                                      </p:cBhvr>
                                    </p:animEffect>
                                  </p:childTnLst>
                                </p:cTn>
                              </p:par>
                              <p:par>
                                <p:cTn id="11" presetID="10" presetClass="entr" presetSubtype="0" fill="hold" grpId="0" nodeType="withEffect">
                                  <p:stCondLst>
                                    <p:cond delay="25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1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hlinkClick r:id="rId3" action="ppaction://hlinksldjump"/>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6780" t="78172" r="18395" b="12686"/>
          <a:stretch/>
        </p:blipFill>
        <p:spPr bwMode="auto">
          <a:xfrm>
            <a:off x="8188658" y="4384319"/>
            <a:ext cx="955343" cy="7639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9"/>
          <p:cNvPicPr>
            <a:picLocks noChangeAspect="1"/>
          </p:cNvPicPr>
          <p:nvPr/>
        </p:nvPicPr>
        <p:blipFill>
          <a:blip r:embed="rId5"/>
          <a:stretch>
            <a:fillRect/>
          </a:stretch>
        </p:blipFill>
        <p:spPr>
          <a:xfrm>
            <a:off x="7021333" y="289005"/>
            <a:ext cx="1603348" cy="291323"/>
          </a:xfrm>
          <a:prstGeom prst="rect">
            <a:avLst/>
          </a:prstGeom>
        </p:spPr>
      </p:pic>
      <p:pic>
        <p:nvPicPr>
          <p:cNvPr id="8" name="Picture 1" descr="t03-02.jpg"/>
          <p:cNvPicPr>
            <a:picLocks noChangeAspect="1"/>
          </p:cNvPicPr>
          <p:nvPr/>
        </p:nvPicPr>
        <p:blipFill rotWithShape="1">
          <a:blip r:embed="rId6">
            <a:extLst>
              <a:ext uri="{28A0092B-C50C-407E-A947-70E740481C1C}">
                <a14:useLocalDpi xmlns:a14="http://schemas.microsoft.com/office/drawing/2010/main" val="0"/>
              </a:ext>
            </a:extLst>
          </a:blip>
          <a:srcRect r="91368" b="84909"/>
          <a:stretch/>
        </p:blipFill>
        <p:spPr>
          <a:xfrm>
            <a:off x="0" y="0"/>
            <a:ext cx="789296" cy="776935"/>
          </a:xfrm>
          <a:prstGeom prst="rect">
            <a:avLst/>
          </a:prstGeom>
        </p:spPr>
      </p:pic>
      <p:sp>
        <p:nvSpPr>
          <p:cNvPr id="6" name="CaixaDeTexto 5"/>
          <p:cNvSpPr txBox="1"/>
          <p:nvPr/>
        </p:nvSpPr>
        <p:spPr>
          <a:xfrm>
            <a:off x="2039091" y="300128"/>
            <a:ext cx="184731" cy="369332"/>
          </a:xfrm>
          <a:prstGeom prst="rect">
            <a:avLst/>
          </a:prstGeom>
          <a:noFill/>
        </p:spPr>
        <p:txBody>
          <a:bodyPr wrap="none" rtlCol="0">
            <a:spAutoFit/>
          </a:bodyPr>
          <a:lstStyle/>
          <a:p>
            <a:endParaRPr lang="pt-BR" dirty="0"/>
          </a:p>
        </p:txBody>
      </p:sp>
      <p:sp>
        <p:nvSpPr>
          <p:cNvPr id="9" name="Title 1"/>
          <p:cNvSpPr txBox="1">
            <a:spLocks/>
          </p:cNvSpPr>
          <p:nvPr/>
        </p:nvSpPr>
        <p:spPr>
          <a:xfrm>
            <a:off x="562659" y="90471"/>
            <a:ext cx="6254098" cy="560400"/>
          </a:xfrm>
          <a:prstGeom prst="rect">
            <a:avLst/>
          </a:prstGeom>
        </p:spPr>
        <p:txBody>
          <a:bodyPr vert="horz" lIns="91440" tIns="45720" rIns="91440" bIns="45720" rtlCol="0" anchor="ctr">
            <a:normAutofit fontScale="775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pt-BR" sz="2800" b="1" dirty="0">
                <a:solidFill>
                  <a:schemeClr val="tx2"/>
                </a:solidFill>
                <a:latin typeface="Arial" pitchFamily="34" charset="0"/>
                <a:cs typeface="Arial" pitchFamily="34" charset="0"/>
              </a:rPr>
              <a:t>7</a:t>
            </a:r>
            <a:r>
              <a:rPr lang="pt-BR" sz="2800" b="1" dirty="0" smtClean="0">
                <a:solidFill>
                  <a:schemeClr val="tx2"/>
                </a:solidFill>
                <a:latin typeface="Arial" pitchFamily="34" charset="0"/>
                <a:cs typeface="Arial" pitchFamily="34" charset="0"/>
              </a:rPr>
              <a:t>. Projeto: </a:t>
            </a:r>
            <a:r>
              <a:rPr lang="pt-BR" sz="2800" b="1" dirty="0">
                <a:solidFill>
                  <a:schemeClr val="tx2"/>
                </a:solidFill>
                <a:latin typeface="Arial" pitchFamily="34" charset="0"/>
                <a:cs typeface="Arial" pitchFamily="34" charset="0"/>
              </a:rPr>
              <a:t>Backups </a:t>
            </a:r>
            <a:r>
              <a:rPr lang="pt-BR" sz="2800" b="1" dirty="0" smtClean="0">
                <a:solidFill>
                  <a:schemeClr val="tx2"/>
                </a:solidFill>
                <a:latin typeface="Arial" pitchFamily="34" charset="0"/>
                <a:cs typeface="Arial" pitchFamily="34" charset="0"/>
              </a:rPr>
              <a:t>e </a:t>
            </a:r>
            <a:r>
              <a:rPr lang="pt-BR" sz="2800" b="1" dirty="0" err="1" smtClean="0">
                <a:solidFill>
                  <a:schemeClr val="tx2"/>
                </a:solidFill>
                <a:latin typeface="Arial" pitchFamily="34" charset="0"/>
                <a:cs typeface="Arial" pitchFamily="34" charset="0"/>
              </a:rPr>
              <a:t>Restore</a:t>
            </a:r>
            <a:r>
              <a:rPr lang="pt-BR" sz="2800" b="1" dirty="0" smtClean="0">
                <a:solidFill>
                  <a:schemeClr val="tx2"/>
                </a:solidFill>
                <a:latin typeface="Arial" pitchFamily="34" charset="0"/>
                <a:cs typeface="Arial" pitchFamily="34" charset="0"/>
              </a:rPr>
              <a:t> em Produção</a:t>
            </a:r>
            <a:endParaRPr lang="pt-BR" sz="2800" b="1" dirty="0">
              <a:solidFill>
                <a:schemeClr val="tx2"/>
              </a:solidFill>
              <a:latin typeface="Arial" pitchFamily="34" charset="0"/>
              <a:cs typeface="Arial" pitchFamily="34" charset="0"/>
            </a:endParaRPr>
          </a:p>
        </p:txBody>
      </p:sp>
      <p:sp>
        <p:nvSpPr>
          <p:cNvPr id="12" name="Retângulo 11"/>
          <p:cNvSpPr/>
          <p:nvPr/>
        </p:nvSpPr>
        <p:spPr>
          <a:xfrm>
            <a:off x="221121" y="2081342"/>
            <a:ext cx="2716382" cy="2475419"/>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0" lvl="1" algn="ctr">
              <a:spcBef>
                <a:spcPts val="200"/>
              </a:spcBef>
              <a:spcAft>
                <a:spcPts val="200"/>
              </a:spcAft>
            </a:pPr>
            <a:r>
              <a:rPr lang="pt-BR" sz="1400" b="1" dirty="0" smtClean="0">
                <a:solidFill>
                  <a:schemeClr val="tx1">
                    <a:lumMod val="95000"/>
                    <a:lumOff val="5000"/>
                  </a:schemeClr>
                </a:solidFill>
              </a:rPr>
              <a:t>Último Status</a:t>
            </a:r>
            <a:r>
              <a:rPr lang="pt-BR" sz="1200" dirty="0" smtClean="0">
                <a:solidFill>
                  <a:schemeClr val="tx1">
                    <a:lumMod val="95000"/>
                    <a:lumOff val="5000"/>
                  </a:schemeClr>
                </a:solidFill>
              </a:rPr>
              <a:t>  </a:t>
            </a:r>
          </a:p>
          <a:p>
            <a:pPr marL="171450" lvl="1" indent="-171450">
              <a:spcBef>
                <a:spcPts val="200"/>
              </a:spcBef>
              <a:spcAft>
                <a:spcPts val="200"/>
              </a:spcAft>
              <a:buFont typeface="Arial" pitchFamily="34" charset="0"/>
              <a:buChar char="•"/>
            </a:pPr>
            <a:r>
              <a:rPr lang="pt-BR" sz="1200" dirty="0">
                <a:solidFill>
                  <a:schemeClr val="tx1">
                    <a:lumMod val="95000"/>
                    <a:lumOff val="5000"/>
                  </a:schemeClr>
                </a:solidFill>
              </a:rPr>
              <a:t>Escopo do projeto ampliado com </a:t>
            </a:r>
            <a:r>
              <a:rPr lang="pt-BR" sz="1200" dirty="0" err="1">
                <a:solidFill>
                  <a:schemeClr val="tx1">
                    <a:lumMod val="95000"/>
                    <a:lumOff val="5000"/>
                  </a:schemeClr>
                </a:solidFill>
              </a:rPr>
              <a:t>restore</a:t>
            </a:r>
            <a:r>
              <a:rPr lang="pt-BR" sz="1200" dirty="0">
                <a:solidFill>
                  <a:schemeClr val="tx1">
                    <a:lumMod val="95000"/>
                    <a:lumOff val="5000"/>
                  </a:schemeClr>
                </a:solidFill>
              </a:rPr>
              <a:t> para 30 de </a:t>
            </a:r>
            <a:r>
              <a:rPr lang="pt-BR" sz="1200" dirty="0" smtClean="0">
                <a:solidFill>
                  <a:schemeClr val="tx1">
                    <a:lumMod val="95000"/>
                    <a:lumOff val="5000"/>
                  </a:schemeClr>
                </a:solidFill>
              </a:rPr>
              <a:t>maio, devido a falta de insumos (fitas e etiquetas) nos sites assim como equipamentos aguardando reparo</a:t>
            </a:r>
            <a:br>
              <a:rPr lang="pt-BR" sz="1200" dirty="0" smtClean="0">
                <a:solidFill>
                  <a:schemeClr val="tx1">
                    <a:lumMod val="95000"/>
                    <a:lumOff val="5000"/>
                  </a:schemeClr>
                </a:solidFill>
              </a:rPr>
            </a:br>
            <a:endParaRPr lang="pt-BR" sz="1200" dirty="0">
              <a:solidFill>
                <a:schemeClr val="tx1">
                  <a:lumMod val="95000"/>
                  <a:lumOff val="5000"/>
                </a:schemeClr>
              </a:solidFill>
            </a:endParaRPr>
          </a:p>
          <a:p>
            <a:pPr marL="171450" lvl="1" indent="-171450">
              <a:spcBef>
                <a:spcPts val="200"/>
              </a:spcBef>
              <a:spcAft>
                <a:spcPts val="200"/>
              </a:spcAft>
              <a:buFont typeface="Arial" pitchFamily="34" charset="0"/>
              <a:buChar char="•"/>
            </a:pPr>
            <a:r>
              <a:rPr lang="pt-BR" sz="1200" dirty="0" smtClean="0">
                <a:solidFill>
                  <a:schemeClr val="tx1">
                    <a:lumMod val="95000"/>
                    <a:lumOff val="5000"/>
                  </a:schemeClr>
                </a:solidFill>
              </a:rPr>
              <a:t>Liberação </a:t>
            </a:r>
            <a:r>
              <a:rPr lang="pt-BR" sz="1200" dirty="0">
                <a:solidFill>
                  <a:schemeClr val="tx1">
                    <a:lumMod val="95000"/>
                    <a:lumOff val="5000"/>
                  </a:schemeClr>
                </a:solidFill>
              </a:rPr>
              <a:t>de redes em sites pilotos para uso do UDP</a:t>
            </a:r>
          </a:p>
          <a:p>
            <a:pPr marL="171450" lvl="1" indent="-171450">
              <a:spcBef>
                <a:spcPts val="200"/>
              </a:spcBef>
              <a:spcAft>
                <a:spcPts val="200"/>
              </a:spcAft>
              <a:buFont typeface="Wingdings" panose="05000000000000000000" pitchFamily="2" charset="2"/>
              <a:buChar char="ü"/>
            </a:pPr>
            <a:endParaRPr lang="pt-BR" sz="1200" dirty="0">
              <a:solidFill>
                <a:schemeClr val="tx1">
                  <a:lumMod val="95000"/>
                  <a:lumOff val="5000"/>
                </a:schemeClr>
              </a:solidFill>
            </a:endParaRPr>
          </a:p>
          <a:p>
            <a:pPr marL="0" lvl="1">
              <a:spcBef>
                <a:spcPts val="200"/>
              </a:spcBef>
              <a:spcAft>
                <a:spcPts val="200"/>
              </a:spcAft>
            </a:pPr>
            <a:endParaRPr lang="pt-BR" sz="1200" dirty="0" smtClean="0">
              <a:solidFill>
                <a:schemeClr val="tx1">
                  <a:lumMod val="95000"/>
                  <a:lumOff val="5000"/>
                </a:schemeClr>
              </a:solidFill>
            </a:endParaRPr>
          </a:p>
          <a:p>
            <a:pPr marL="0" lvl="1">
              <a:spcBef>
                <a:spcPts val="200"/>
              </a:spcBef>
              <a:spcAft>
                <a:spcPts val="200"/>
              </a:spcAft>
            </a:pPr>
            <a:endParaRPr lang="pt-BR" sz="1200" dirty="0">
              <a:solidFill>
                <a:schemeClr val="tx1"/>
              </a:solidFill>
            </a:endParaRPr>
          </a:p>
        </p:txBody>
      </p:sp>
      <p:sp>
        <p:nvSpPr>
          <p:cNvPr id="15" name="Retângulo de cantos arredondados 14"/>
          <p:cNvSpPr/>
          <p:nvPr/>
        </p:nvSpPr>
        <p:spPr>
          <a:xfrm>
            <a:off x="158943" y="776935"/>
            <a:ext cx="3064339" cy="1178343"/>
          </a:xfrm>
          <a:prstGeom prst="roundRect">
            <a:avLst/>
          </a:prstGeom>
          <a:solidFill>
            <a:schemeClr val="accent4"/>
          </a:soli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r>
              <a:rPr lang="pt-BR" sz="1400" b="1" dirty="0" smtClean="0">
                <a:effectLst>
                  <a:outerShdw blurRad="38100" dist="38100" dir="2700000" algn="tl">
                    <a:srgbClr val="000000">
                      <a:alpha val="43137"/>
                    </a:srgbClr>
                  </a:outerShdw>
                </a:effectLst>
              </a:rPr>
              <a:t>Projeto: Backup &amp; Restore </a:t>
            </a:r>
            <a:r>
              <a:rPr lang="pt-BR" sz="1400" b="1" dirty="0">
                <a:effectLst>
                  <a:outerShdw blurRad="38100" dist="38100" dir="2700000" algn="tl">
                    <a:srgbClr val="000000">
                      <a:alpha val="43137"/>
                    </a:srgbClr>
                  </a:outerShdw>
                </a:effectLst>
              </a:rPr>
              <a:t>Ambiente de Produção</a:t>
            </a:r>
            <a:endParaRPr lang="pt-BR" sz="1400" b="1" dirty="0" smtClean="0">
              <a:effectLst>
                <a:outerShdw blurRad="38100" dist="38100" dir="2700000" algn="tl">
                  <a:srgbClr val="000000">
                    <a:alpha val="43137"/>
                  </a:srgbClr>
                </a:outerShdw>
              </a:effectLst>
            </a:endParaRPr>
          </a:p>
          <a:p>
            <a:r>
              <a:rPr lang="pt-BR" sz="1200" i="1" dirty="0" smtClean="0"/>
              <a:t>Data Inicio: 14-10-2015</a:t>
            </a:r>
          </a:p>
          <a:p>
            <a:r>
              <a:rPr lang="pt-BR" sz="1200" i="1" dirty="0" smtClean="0"/>
              <a:t>Data Conclusão: 30-05-2016</a:t>
            </a:r>
          </a:p>
          <a:p>
            <a:r>
              <a:rPr lang="pt-BR" sz="1200" i="1" dirty="0" smtClean="0"/>
              <a:t>Progresso: 62%</a:t>
            </a:r>
          </a:p>
          <a:p>
            <a:r>
              <a:rPr lang="pt-BR" sz="1200" i="1" dirty="0" smtClean="0"/>
              <a:t>PM: Rafael Alves</a:t>
            </a:r>
          </a:p>
        </p:txBody>
      </p:sp>
      <p:sp>
        <p:nvSpPr>
          <p:cNvPr id="16" name="Retângulo 15"/>
          <p:cNvSpPr/>
          <p:nvPr/>
        </p:nvSpPr>
        <p:spPr>
          <a:xfrm>
            <a:off x="3112569" y="2081341"/>
            <a:ext cx="2716382" cy="2475419"/>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0" lvl="1" algn="ctr">
              <a:spcBef>
                <a:spcPts val="200"/>
              </a:spcBef>
              <a:spcAft>
                <a:spcPts val="200"/>
              </a:spcAft>
            </a:pPr>
            <a:r>
              <a:rPr lang="pt-BR" sz="1400" b="1" dirty="0">
                <a:solidFill>
                  <a:schemeClr val="tx1">
                    <a:lumMod val="95000"/>
                    <a:lumOff val="5000"/>
                  </a:schemeClr>
                </a:solidFill>
              </a:rPr>
              <a:t>Objetivos alcançados na última </a:t>
            </a:r>
            <a:r>
              <a:rPr lang="pt-BR" sz="1400" b="1" dirty="0" smtClean="0">
                <a:solidFill>
                  <a:schemeClr val="tx1">
                    <a:lumMod val="95000"/>
                    <a:lumOff val="5000"/>
                  </a:schemeClr>
                </a:solidFill>
              </a:rPr>
              <a:t>semana</a:t>
            </a:r>
            <a:endParaRPr lang="pt-BR" sz="1400" dirty="0" smtClean="0">
              <a:solidFill>
                <a:schemeClr val="tx1">
                  <a:lumMod val="95000"/>
                  <a:lumOff val="5000"/>
                </a:schemeClr>
              </a:solidFill>
            </a:endParaRPr>
          </a:p>
          <a:p>
            <a:pPr marL="171450" lvl="1" indent="-171450">
              <a:spcBef>
                <a:spcPts val="200"/>
              </a:spcBef>
              <a:spcAft>
                <a:spcPts val="200"/>
              </a:spcAft>
              <a:buFont typeface="Arial" panose="020B0604020202020204" pitchFamily="34" charset="0"/>
              <a:buChar char="•"/>
            </a:pPr>
            <a:r>
              <a:rPr lang="pt-BR" sz="1200" dirty="0">
                <a:solidFill>
                  <a:schemeClr val="tx1">
                    <a:lumMod val="95000"/>
                    <a:lumOff val="5000"/>
                  </a:schemeClr>
                </a:solidFill>
              </a:rPr>
              <a:t>Instalação do piloto do </a:t>
            </a:r>
            <a:r>
              <a:rPr lang="pt-BR" sz="1200" dirty="0" err="1">
                <a:solidFill>
                  <a:schemeClr val="tx1">
                    <a:lumMod val="95000"/>
                    <a:lumOff val="5000"/>
                  </a:schemeClr>
                </a:solidFill>
              </a:rPr>
              <a:t>ArcServe</a:t>
            </a:r>
            <a:r>
              <a:rPr lang="pt-BR" sz="1200" dirty="0">
                <a:solidFill>
                  <a:schemeClr val="tx1">
                    <a:lumMod val="95000"/>
                    <a:lumOff val="5000"/>
                  </a:schemeClr>
                </a:solidFill>
              </a:rPr>
              <a:t> UDP para teste de backup e </a:t>
            </a:r>
            <a:r>
              <a:rPr lang="pt-BR" sz="1200" dirty="0" err="1">
                <a:solidFill>
                  <a:schemeClr val="tx1">
                    <a:lumMod val="95000"/>
                    <a:lumOff val="5000"/>
                  </a:schemeClr>
                </a:solidFill>
              </a:rPr>
              <a:t>restore</a:t>
            </a:r>
            <a:r>
              <a:rPr lang="pt-BR" sz="1200" dirty="0">
                <a:solidFill>
                  <a:schemeClr val="tx1">
                    <a:lumMod val="95000"/>
                    <a:lumOff val="5000"/>
                  </a:schemeClr>
                </a:solidFill>
              </a:rPr>
              <a:t> de ambientes Windows e Linux  (Virtuais e Físicas) – Ambiente Windows Finalizado e Linux em andamento</a:t>
            </a:r>
          </a:p>
          <a:p>
            <a:pPr marL="171450" lvl="1" indent="-171450">
              <a:spcBef>
                <a:spcPts val="200"/>
              </a:spcBef>
              <a:spcAft>
                <a:spcPts val="200"/>
              </a:spcAft>
              <a:buFont typeface="Arial" panose="020B0604020202020204" pitchFamily="34" charset="0"/>
              <a:buChar char="•"/>
            </a:pPr>
            <a:r>
              <a:rPr lang="pt-BR" sz="1200" dirty="0" smtClean="0">
                <a:solidFill>
                  <a:schemeClr val="tx1">
                    <a:lumMod val="95000"/>
                    <a:lumOff val="5000"/>
                  </a:schemeClr>
                </a:solidFill>
              </a:rPr>
              <a:t>Apoio do CSE para instalações dos </a:t>
            </a:r>
            <a:r>
              <a:rPr lang="pt-BR" sz="1200" dirty="0" err="1" smtClean="0">
                <a:solidFill>
                  <a:schemeClr val="tx1">
                    <a:lumMod val="95000"/>
                    <a:lumOff val="5000"/>
                  </a:schemeClr>
                </a:solidFill>
              </a:rPr>
              <a:t>clients</a:t>
            </a:r>
            <a:r>
              <a:rPr lang="pt-BR" sz="1200" dirty="0" smtClean="0">
                <a:solidFill>
                  <a:schemeClr val="tx1">
                    <a:lumMod val="95000"/>
                    <a:lumOff val="5000"/>
                  </a:schemeClr>
                </a:solidFill>
              </a:rPr>
              <a:t> nos servidores Windows e Linux </a:t>
            </a:r>
          </a:p>
          <a:p>
            <a:pPr marL="171450" lvl="1" indent="-171450">
              <a:spcBef>
                <a:spcPts val="200"/>
              </a:spcBef>
              <a:spcAft>
                <a:spcPts val="200"/>
              </a:spcAft>
              <a:buFont typeface="Arial" panose="020B0604020202020204" pitchFamily="34" charset="0"/>
              <a:buChar char="•"/>
            </a:pPr>
            <a:endParaRPr lang="pt-BR" sz="1200" dirty="0">
              <a:solidFill>
                <a:schemeClr val="tx1">
                  <a:lumMod val="95000"/>
                  <a:lumOff val="5000"/>
                </a:schemeClr>
              </a:solidFill>
            </a:endParaRPr>
          </a:p>
        </p:txBody>
      </p:sp>
      <p:sp>
        <p:nvSpPr>
          <p:cNvPr id="17" name="Retângulo 16"/>
          <p:cNvSpPr/>
          <p:nvPr/>
        </p:nvSpPr>
        <p:spPr>
          <a:xfrm>
            <a:off x="6004018" y="2081342"/>
            <a:ext cx="2716382" cy="2475419"/>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0" lvl="1" algn="ctr">
              <a:spcBef>
                <a:spcPts val="200"/>
              </a:spcBef>
              <a:spcAft>
                <a:spcPts val="200"/>
              </a:spcAft>
            </a:pPr>
            <a:r>
              <a:rPr lang="pt-BR" sz="1400" b="1" dirty="0" smtClean="0">
                <a:solidFill>
                  <a:schemeClr val="tx1">
                    <a:lumMod val="95000"/>
                    <a:lumOff val="5000"/>
                  </a:schemeClr>
                </a:solidFill>
              </a:rPr>
              <a:t>Riscos/Problemas/Observações</a:t>
            </a:r>
          </a:p>
          <a:p>
            <a:pPr marL="285750" lvl="1" indent="-285750">
              <a:spcBef>
                <a:spcPts val="200"/>
              </a:spcBef>
              <a:spcAft>
                <a:spcPts val="200"/>
              </a:spcAft>
              <a:buFont typeface="Arial" panose="020B0604020202020204" pitchFamily="34" charset="0"/>
              <a:buChar char="•"/>
            </a:pPr>
            <a:r>
              <a:rPr lang="pt-BR" sz="1200" dirty="0" smtClean="0">
                <a:solidFill>
                  <a:schemeClr val="tx1">
                    <a:lumMod val="95000"/>
                    <a:lumOff val="5000"/>
                  </a:schemeClr>
                </a:solidFill>
              </a:rPr>
              <a:t>Regional SP e RJ com falta de fitas, aguardando compra</a:t>
            </a:r>
          </a:p>
          <a:p>
            <a:pPr marL="285750" lvl="1" indent="-285750">
              <a:spcBef>
                <a:spcPts val="200"/>
              </a:spcBef>
              <a:spcAft>
                <a:spcPts val="200"/>
              </a:spcAft>
              <a:buFont typeface="Arial" panose="020B0604020202020204" pitchFamily="34" charset="0"/>
              <a:buChar char="•"/>
            </a:pPr>
            <a:r>
              <a:rPr lang="pt-BR" sz="1200" dirty="0" smtClean="0">
                <a:solidFill>
                  <a:schemeClr val="tx1">
                    <a:lumMod val="95000"/>
                    <a:lumOff val="5000"/>
                  </a:schemeClr>
                </a:solidFill>
              </a:rPr>
              <a:t>HW de backup (robô) sem garantias e com mais de 5 anos de uso, ocorrendo desgastes por vida útil</a:t>
            </a:r>
          </a:p>
          <a:p>
            <a:pPr marL="285750" lvl="1" indent="-285750">
              <a:spcBef>
                <a:spcPts val="200"/>
              </a:spcBef>
              <a:spcAft>
                <a:spcPts val="200"/>
              </a:spcAft>
              <a:buFont typeface="Arial" panose="020B0604020202020204" pitchFamily="34" charset="0"/>
              <a:buChar char="•"/>
            </a:pPr>
            <a:r>
              <a:rPr lang="pt-BR" sz="1200" dirty="0" smtClean="0">
                <a:solidFill>
                  <a:schemeClr val="tx1">
                    <a:lumMod val="95000"/>
                    <a:lumOff val="5000"/>
                  </a:schemeClr>
                </a:solidFill>
              </a:rPr>
              <a:t>Armazenamento indevido das mídias causando degradação das mesmas.</a:t>
            </a:r>
          </a:p>
          <a:p>
            <a:pPr marL="0" lvl="1">
              <a:spcBef>
                <a:spcPts val="200"/>
              </a:spcBef>
              <a:spcAft>
                <a:spcPts val="200"/>
              </a:spcAft>
            </a:pPr>
            <a:endParaRPr lang="pt-BR" sz="1200" dirty="0" smtClean="0">
              <a:solidFill>
                <a:schemeClr val="tx1">
                  <a:lumMod val="95000"/>
                  <a:lumOff val="5000"/>
                </a:schemeClr>
              </a:solidFill>
            </a:endParaRPr>
          </a:p>
        </p:txBody>
      </p:sp>
      <p:sp>
        <p:nvSpPr>
          <p:cNvPr id="18" name="Retângulo de cantos arredondados 17"/>
          <p:cNvSpPr/>
          <p:nvPr/>
        </p:nvSpPr>
        <p:spPr>
          <a:xfrm>
            <a:off x="3382225" y="776936"/>
            <a:ext cx="5338175" cy="1080992"/>
          </a:xfrm>
          <a:prstGeom prst="roundRect">
            <a:avLst/>
          </a:prstGeom>
          <a:solidFill>
            <a:schemeClr val="accent1">
              <a:lumMod val="50000"/>
            </a:schemeClr>
          </a:soli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r>
              <a:rPr lang="pt-BR" sz="1400" b="1" dirty="0" smtClean="0">
                <a:effectLst>
                  <a:outerShdw blurRad="38100" dist="38100" dir="2700000" algn="tl">
                    <a:srgbClr val="000000">
                      <a:alpha val="43137"/>
                    </a:srgbClr>
                  </a:outerShdw>
                </a:effectLst>
              </a:rPr>
              <a:t>Descritivo:  </a:t>
            </a:r>
            <a:r>
              <a:rPr lang="pt-BR" sz="1400" dirty="0" smtClean="0"/>
              <a:t>Providenciar Backup em todos os equipamentos de produção da Contax. Garantir plano de </a:t>
            </a:r>
            <a:r>
              <a:rPr lang="pt-BR" sz="1400" dirty="0" err="1" smtClean="0"/>
              <a:t>restore</a:t>
            </a:r>
            <a:r>
              <a:rPr lang="pt-BR" sz="1400" dirty="0" smtClean="0"/>
              <a:t> do ambiente. </a:t>
            </a:r>
            <a:endParaRPr lang="pt-BR" sz="1400" dirty="0"/>
          </a:p>
        </p:txBody>
      </p:sp>
      <p:pic>
        <p:nvPicPr>
          <p:cNvPr id="3" name="Imagem 2"/>
          <p:cNvPicPr>
            <a:picLocks noChangeAspect="1"/>
          </p:cNvPicPr>
          <p:nvPr/>
        </p:nvPicPr>
        <p:blipFill>
          <a:blip r:embed="rId7"/>
          <a:stretch>
            <a:fillRect/>
          </a:stretch>
        </p:blipFill>
        <p:spPr>
          <a:xfrm>
            <a:off x="2882094" y="1537397"/>
            <a:ext cx="280440" cy="280440"/>
          </a:xfrm>
          <a:prstGeom prst="rect">
            <a:avLst/>
          </a:prstGeom>
        </p:spPr>
      </p:pic>
    </p:spTree>
    <p:extLst>
      <p:ext uri="{BB962C8B-B14F-4D97-AF65-F5344CB8AC3E}">
        <p14:creationId xmlns:p14="http://schemas.microsoft.com/office/powerpoint/2010/main" val="329716655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childTnLst>
                                </p:cTn>
                              </p:par>
                              <p:par>
                                <p:cTn id="8" presetID="10" presetClass="entr" presetSubtype="0" fill="hold" grpId="0" nodeType="withEffect">
                                  <p:stCondLst>
                                    <p:cond delay="25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1000"/>
                                        <p:tgtEl>
                                          <p:spTgt spid="16"/>
                                        </p:tgtEl>
                                      </p:cBhvr>
                                    </p:animEffect>
                                  </p:childTnLst>
                                </p:cTn>
                              </p:par>
                              <p:par>
                                <p:cTn id="11" presetID="10" presetClass="entr" presetSubtype="0" fill="hold" grpId="0" nodeType="withEffect">
                                  <p:stCondLst>
                                    <p:cond delay="25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1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76780" t="78172" r="18395" b="12686"/>
          <a:stretch/>
        </p:blipFill>
        <p:spPr bwMode="auto">
          <a:xfrm>
            <a:off x="8188658" y="4384319"/>
            <a:ext cx="955343" cy="7639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CaixaDeTexto 5"/>
          <p:cNvSpPr txBox="1"/>
          <p:nvPr/>
        </p:nvSpPr>
        <p:spPr>
          <a:xfrm>
            <a:off x="2039091" y="300128"/>
            <a:ext cx="184731" cy="369332"/>
          </a:xfrm>
          <a:prstGeom prst="rect">
            <a:avLst/>
          </a:prstGeom>
          <a:noFill/>
        </p:spPr>
        <p:txBody>
          <a:bodyPr wrap="none" rtlCol="0">
            <a:spAutoFit/>
          </a:bodyPr>
          <a:lstStyle/>
          <a:p>
            <a:endParaRPr lang="pt-BR" dirty="0"/>
          </a:p>
        </p:txBody>
      </p:sp>
      <p:sp>
        <p:nvSpPr>
          <p:cNvPr id="9" name="Title 1"/>
          <p:cNvSpPr txBox="1">
            <a:spLocks/>
          </p:cNvSpPr>
          <p:nvPr/>
        </p:nvSpPr>
        <p:spPr>
          <a:xfrm>
            <a:off x="562659" y="90471"/>
            <a:ext cx="6254098" cy="5604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pt-BR" sz="2800" b="1" dirty="0">
                <a:solidFill>
                  <a:schemeClr val="tx2"/>
                </a:solidFill>
                <a:latin typeface="Arial" pitchFamily="34" charset="0"/>
                <a:cs typeface="Arial" pitchFamily="34" charset="0"/>
              </a:rPr>
              <a:t>6</a:t>
            </a:r>
            <a:r>
              <a:rPr lang="pt-BR" sz="2800" b="1" dirty="0" smtClean="0">
                <a:solidFill>
                  <a:schemeClr val="tx2"/>
                </a:solidFill>
                <a:latin typeface="Arial" pitchFamily="34" charset="0"/>
                <a:cs typeface="Arial" pitchFamily="34" charset="0"/>
              </a:rPr>
              <a:t>. Projeto: OCS </a:t>
            </a:r>
            <a:r>
              <a:rPr lang="pt-BR" sz="2800" b="1" dirty="0" err="1" smtClean="0">
                <a:solidFill>
                  <a:schemeClr val="tx2"/>
                </a:solidFill>
                <a:latin typeface="Arial" pitchFamily="34" charset="0"/>
                <a:cs typeface="Arial" pitchFamily="34" charset="0"/>
              </a:rPr>
              <a:t>Inventory</a:t>
            </a:r>
            <a:endParaRPr lang="pt-BR" sz="2800" b="1" dirty="0">
              <a:solidFill>
                <a:schemeClr val="tx2"/>
              </a:solidFill>
              <a:latin typeface="Arial" pitchFamily="34" charset="0"/>
              <a:cs typeface="Arial" pitchFamily="34" charset="0"/>
            </a:endParaRPr>
          </a:p>
        </p:txBody>
      </p:sp>
      <p:sp>
        <p:nvSpPr>
          <p:cNvPr id="12" name="Retângulo 11"/>
          <p:cNvSpPr/>
          <p:nvPr/>
        </p:nvSpPr>
        <p:spPr>
          <a:xfrm>
            <a:off x="221121" y="2081341"/>
            <a:ext cx="2716382" cy="2819272"/>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0" lvl="1" algn="ctr">
              <a:spcBef>
                <a:spcPts val="200"/>
              </a:spcBef>
              <a:spcAft>
                <a:spcPts val="200"/>
              </a:spcAft>
            </a:pPr>
            <a:r>
              <a:rPr lang="pt-BR" sz="1400" b="1" dirty="0" smtClean="0">
                <a:solidFill>
                  <a:schemeClr val="tx1">
                    <a:lumMod val="95000"/>
                    <a:lumOff val="5000"/>
                  </a:schemeClr>
                </a:solidFill>
              </a:rPr>
              <a:t>Último Status</a:t>
            </a:r>
            <a:r>
              <a:rPr lang="pt-BR" sz="1200" dirty="0" smtClean="0">
                <a:solidFill>
                  <a:schemeClr val="tx1">
                    <a:lumMod val="95000"/>
                    <a:lumOff val="5000"/>
                  </a:schemeClr>
                </a:solidFill>
              </a:rPr>
              <a:t>  </a:t>
            </a:r>
          </a:p>
          <a:p>
            <a:pPr marL="216000" lvl="1" indent="-216000">
              <a:spcBef>
                <a:spcPts val="200"/>
              </a:spcBef>
              <a:spcAft>
                <a:spcPts val="200"/>
              </a:spcAft>
              <a:buFont typeface="Wingdings" panose="05000000000000000000" pitchFamily="2" charset="2"/>
              <a:buChar char="ü"/>
            </a:pPr>
            <a:r>
              <a:rPr lang="pt-BR" sz="1200" dirty="0" smtClean="0">
                <a:solidFill>
                  <a:schemeClr val="tx1">
                    <a:lumMod val="95000"/>
                    <a:lumOff val="5000"/>
                  </a:schemeClr>
                </a:solidFill>
              </a:rPr>
              <a:t>Servidores </a:t>
            </a:r>
            <a:r>
              <a:rPr lang="pt-BR" sz="1200" dirty="0">
                <a:solidFill>
                  <a:schemeClr val="tx1">
                    <a:lumMod val="95000"/>
                    <a:lumOff val="5000"/>
                  </a:schemeClr>
                </a:solidFill>
              </a:rPr>
              <a:t>cadastrados no OCS: </a:t>
            </a:r>
            <a:r>
              <a:rPr lang="pt-BR" sz="1200" dirty="0" smtClean="0">
                <a:solidFill>
                  <a:schemeClr val="tx1">
                    <a:lumMod val="95000"/>
                    <a:lumOff val="5000"/>
                  </a:schemeClr>
                </a:solidFill>
              </a:rPr>
              <a:t>2.891/3.920 </a:t>
            </a:r>
            <a:r>
              <a:rPr lang="pt-BR" sz="1200" dirty="0">
                <a:solidFill>
                  <a:schemeClr val="tx1">
                    <a:lumMod val="95000"/>
                    <a:lumOff val="5000"/>
                  </a:schemeClr>
                </a:solidFill>
              </a:rPr>
              <a:t>(06/04/2016</a:t>
            </a:r>
            <a:r>
              <a:rPr lang="pt-BR" sz="1200" dirty="0" smtClean="0">
                <a:solidFill>
                  <a:schemeClr val="tx1">
                    <a:lumMod val="95000"/>
                    <a:lumOff val="5000"/>
                  </a:schemeClr>
                </a:solidFill>
              </a:rPr>
              <a:t>)</a:t>
            </a:r>
          </a:p>
          <a:p>
            <a:pPr marL="171450" lvl="1" indent="-171450">
              <a:spcBef>
                <a:spcPts val="200"/>
              </a:spcBef>
              <a:spcAft>
                <a:spcPts val="200"/>
              </a:spcAft>
              <a:buFont typeface="Arial" panose="020B0604020202020204" pitchFamily="34" charset="0"/>
              <a:buChar char="•"/>
            </a:pPr>
            <a:r>
              <a:rPr lang="pt-BR" sz="1200" dirty="0" smtClean="0">
                <a:solidFill>
                  <a:schemeClr val="tx1">
                    <a:lumMod val="95000"/>
                    <a:lumOff val="5000"/>
                  </a:schemeClr>
                </a:solidFill>
              </a:rPr>
              <a:t>Microsoft	(2.525/3.083)		</a:t>
            </a:r>
            <a:r>
              <a:rPr lang="pt-BR" sz="1200" dirty="0" smtClean="0">
                <a:solidFill>
                  <a:srgbClr val="FF0000"/>
                </a:solidFill>
              </a:rPr>
              <a:t>558</a:t>
            </a:r>
          </a:p>
          <a:p>
            <a:pPr marL="628650" lvl="2" indent="-171450">
              <a:spcBef>
                <a:spcPts val="200"/>
              </a:spcBef>
              <a:spcAft>
                <a:spcPts val="200"/>
              </a:spcAft>
              <a:buFont typeface="Arial" panose="020B0604020202020204" pitchFamily="34" charset="0"/>
              <a:buChar char="•"/>
            </a:pPr>
            <a:r>
              <a:rPr lang="pt-BR" sz="800" dirty="0">
                <a:solidFill>
                  <a:schemeClr val="tx1">
                    <a:lumMod val="95000"/>
                    <a:lumOff val="5000"/>
                  </a:schemeClr>
                </a:solidFill>
              </a:rPr>
              <a:t>Agente Instalado - Pendencia de Rede </a:t>
            </a:r>
            <a:r>
              <a:rPr lang="pt-BR" sz="800" dirty="0" smtClean="0">
                <a:solidFill>
                  <a:schemeClr val="tx1">
                    <a:lumMod val="95000"/>
                    <a:lumOff val="5000"/>
                  </a:schemeClr>
                </a:solidFill>
              </a:rPr>
              <a:t>	108</a:t>
            </a:r>
            <a:endParaRPr lang="pt-BR" sz="800" dirty="0">
              <a:solidFill>
                <a:schemeClr val="tx1">
                  <a:lumMod val="95000"/>
                  <a:lumOff val="5000"/>
                </a:schemeClr>
              </a:solidFill>
            </a:endParaRPr>
          </a:p>
          <a:p>
            <a:pPr marL="628650" lvl="2" indent="-171450">
              <a:spcBef>
                <a:spcPts val="200"/>
              </a:spcBef>
              <a:spcAft>
                <a:spcPts val="200"/>
              </a:spcAft>
              <a:buFont typeface="Arial" panose="020B0604020202020204" pitchFamily="34" charset="0"/>
              <a:buChar char="•"/>
            </a:pPr>
            <a:r>
              <a:rPr lang="pt-BR" sz="800" dirty="0">
                <a:solidFill>
                  <a:schemeClr val="tx1">
                    <a:lumMod val="95000"/>
                    <a:lumOff val="5000"/>
                  </a:schemeClr>
                </a:solidFill>
              </a:rPr>
              <a:t>Pendente (Host) </a:t>
            </a:r>
            <a:r>
              <a:rPr lang="pt-BR" sz="800" dirty="0" smtClean="0">
                <a:solidFill>
                  <a:schemeClr val="tx1">
                    <a:lumMod val="95000"/>
                    <a:lumOff val="5000"/>
                  </a:schemeClr>
                </a:solidFill>
              </a:rPr>
              <a:t>			61</a:t>
            </a:r>
            <a:endParaRPr lang="pt-BR" sz="800" dirty="0">
              <a:solidFill>
                <a:schemeClr val="tx1">
                  <a:lumMod val="95000"/>
                  <a:lumOff val="5000"/>
                </a:schemeClr>
              </a:solidFill>
            </a:endParaRPr>
          </a:p>
          <a:p>
            <a:pPr marL="628650" lvl="2" indent="-171450">
              <a:spcBef>
                <a:spcPts val="200"/>
              </a:spcBef>
              <a:spcAft>
                <a:spcPts val="200"/>
              </a:spcAft>
              <a:buFont typeface="Arial" panose="020B0604020202020204" pitchFamily="34" charset="0"/>
              <a:buChar char="•"/>
            </a:pPr>
            <a:r>
              <a:rPr lang="pt-BR" sz="800" dirty="0">
                <a:solidFill>
                  <a:schemeClr val="tx1">
                    <a:lumMod val="95000"/>
                    <a:lumOff val="5000"/>
                  </a:schemeClr>
                </a:solidFill>
              </a:rPr>
              <a:t>Pendente (Host) Cadastro Manual </a:t>
            </a:r>
            <a:r>
              <a:rPr lang="pt-BR" sz="800" dirty="0" smtClean="0">
                <a:solidFill>
                  <a:schemeClr val="tx1">
                    <a:lumMod val="95000"/>
                    <a:lumOff val="5000"/>
                  </a:schemeClr>
                </a:solidFill>
              </a:rPr>
              <a:t>	6</a:t>
            </a:r>
            <a:endParaRPr lang="pt-BR" sz="800" dirty="0">
              <a:solidFill>
                <a:schemeClr val="tx1">
                  <a:lumMod val="95000"/>
                  <a:lumOff val="5000"/>
                </a:schemeClr>
              </a:solidFill>
            </a:endParaRPr>
          </a:p>
          <a:p>
            <a:pPr marL="628650" lvl="2" indent="-171450">
              <a:spcBef>
                <a:spcPts val="200"/>
              </a:spcBef>
              <a:spcAft>
                <a:spcPts val="200"/>
              </a:spcAft>
              <a:buFont typeface="Arial" panose="020B0604020202020204" pitchFamily="34" charset="0"/>
              <a:buChar char="•"/>
            </a:pPr>
            <a:r>
              <a:rPr lang="pt-BR" sz="800" dirty="0">
                <a:solidFill>
                  <a:schemeClr val="tx1">
                    <a:lumMod val="95000"/>
                    <a:lumOff val="5000"/>
                  </a:schemeClr>
                </a:solidFill>
              </a:rPr>
              <a:t>Pendente (Host) </a:t>
            </a:r>
            <a:r>
              <a:rPr lang="pt-BR" sz="800" dirty="0" smtClean="0">
                <a:solidFill>
                  <a:schemeClr val="tx1">
                    <a:lumMod val="95000"/>
                    <a:lumOff val="5000"/>
                  </a:schemeClr>
                </a:solidFill>
              </a:rPr>
              <a:t>Usuário </a:t>
            </a:r>
            <a:r>
              <a:rPr lang="pt-BR" sz="800" dirty="0">
                <a:solidFill>
                  <a:schemeClr val="tx1">
                    <a:lumMod val="95000"/>
                    <a:lumOff val="5000"/>
                  </a:schemeClr>
                </a:solidFill>
              </a:rPr>
              <a:t>e Senha </a:t>
            </a:r>
            <a:r>
              <a:rPr lang="pt-BR" sz="800" dirty="0" smtClean="0">
                <a:solidFill>
                  <a:schemeClr val="tx1">
                    <a:lumMod val="95000"/>
                    <a:lumOff val="5000"/>
                  </a:schemeClr>
                </a:solidFill>
              </a:rPr>
              <a:t>	14</a:t>
            </a:r>
            <a:endParaRPr lang="pt-BR" sz="800" dirty="0">
              <a:solidFill>
                <a:schemeClr val="tx1">
                  <a:lumMod val="95000"/>
                  <a:lumOff val="5000"/>
                </a:schemeClr>
              </a:solidFill>
            </a:endParaRPr>
          </a:p>
          <a:p>
            <a:pPr marL="628650" lvl="2" indent="-171450">
              <a:spcBef>
                <a:spcPts val="200"/>
              </a:spcBef>
              <a:spcAft>
                <a:spcPts val="200"/>
              </a:spcAft>
              <a:buFont typeface="Arial" panose="020B0604020202020204" pitchFamily="34" charset="0"/>
              <a:buChar char="•"/>
            </a:pPr>
            <a:r>
              <a:rPr lang="pt-BR" sz="800" dirty="0">
                <a:solidFill>
                  <a:schemeClr val="tx1">
                    <a:lumMod val="95000"/>
                    <a:lumOff val="5000"/>
                  </a:schemeClr>
                </a:solidFill>
              </a:rPr>
              <a:t>Pendente (Host) Validando Duplicidade 319</a:t>
            </a:r>
          </a:p>
          <a:p>
            <a:pPr marL="171450" lvl="1" indent="-171450">
              <a:spcBef>
                <a:spcPts val="200"/>
              </a:spcBef>
              <a:spcAft>
                <a:spcPts val="200"/>
              </a:spcAft>
              <a:buFont typeface="Arial" panose="020B0604020202020204" pitchFamily="34" charset="0"/>
              <a:buChar char="•"/>
            </a:pPr>
            <a:r>
              <a:rPr lang="pt-BR" sz="1200" dirty="0" smtClean="0">
                <a:solidFill>
                  <a:schemeClr val="tx1">
                    <a:lumMod val="95000"/>
                    <a:lumOff val="5000"/>
                  </a:schemeClr>
                </a:solidFill>
              </a:rPr>
              <a:t>Linux	(366/837)		</a:t>
            </a:r>
            <a:r>
              <a:rPr lang="pt-BR" sz="1200" dirty="0" smtClean="0">
                <a:solidFill>
                  <a:srgbClr val="FF0000"/>
                </a:solidFill>
              </a:rPr>
              <a:t>471</a:t>
            </a:r>
          </a:p>
          <a:p>
            <a:pPr marL="628650" lvl="2" indent="-171450">
              <a:spcBef>
                <a:spcPts val="200"/>
              </a:spcBef>
              <a:spcAft>
                <a:spcPts val="200"/>
              </a:spcAft>
              <a:buFont typeface="Arial" panose="020B0604020202020204" pitchFamily="34" charset="0"/>
              <a:buChar char="•"/>
            </a:pPr>
            <a:r>
              <a:rPr lang="pt-BR" sz="800" dirty="0" smtClean="0">
                <a:solidFill>
                  <a:schemeClr val="tx1">
                    <a:lumMod val="95000"/>
                    <a:lumOff val="5000"/>
                  </a:schemeClr>
                </a:solidFill>
              </a:rPr>
              <a:t>Agente Instalado - Pendencia de Rede	04</a:t>
            </a:r>
          </a:p>
          <a:p>
            <a:pPr marL="628650" lvl="2" indent="-171450">
              <a:spcBef>
                <a:spcPts val="200"/>
              </a:spcBef>
              <a:spcAft>
                <a:spcPts val="200"/>
              </a:spcAft>
              <a:buFont typeface="Arial" panose="020B0604020202020204" pitchFamily="34" charset="0"/>
              <a:buChar char="•"/>
            </a:pPr>
            <a:r>
              <a:rPr lang="pt-BR" sz="800" dirty="0" smtClean="0">
                <a:solidFill>
                  <a:schemeClr val="tx1">
                    <a:lumMod val="95000"/>
                    <a:lumOff val="5000"/>
                  </a:schemeClr>
                </a:solidFill>
              </a:rPr>
              <a:t>Pendente </a:t>
            </a:r>
            <a:r>
              <a:rPr lang="pt-BR" sz="800" dirty="0">
                <a:solidFill>
                  <a:schemeClr val="tx1">
                    <a:lumMod val="95000"/>
                    <a:lumOff val="5000"/>
                  </a:schemeClr>
                </a:solidFill>
              </a:rPr>
              <a:t>(Host)	</a:t>
            </a:r>
            <a:r>
              <a:rPr lang="pt-BR" sz="800" dirty="0" smtClean="0">
                <a:solidFill>
                  <a:schemeClr val="tx1">
                    <a:lumMod val="95000"/>
                    <a:lumOff val="5000"/>
                  </a:schemeClr>
                </a:solidFill>
              </a:rPr>
              <a:t>		301</a:t>
            </a:r>
            <a:endParaRPr lang="pt-BR" sz="800" dirty="0">
              <a:solidFill>
                <a:schemeClr val="tx1">
                  <a:lumMod val="95000"/>
                  <a:lumOff val="5000"/>
                </a:schemeClr>
              </a:solidFill>
            </a:endParaRPr>
          </a:p>
          <a:p>
            <a:pPr marL="628650" lvl="2" indent="-171450">
              <a:spcBef>
                <a:spcPts val="200"/>
              </a:spcBef>
              <a:spcAft>
                <a:spcPts val="200"/>
              </a:spcAft>
              <a:buFont typeface="Arial" panose="020B0604020202020204" pitchFamily="34" charset="0"/>
              <a:buChar char="•"/>
            </a:pPr>
            <a:r>
              <a:rPr lang="pt-BR" sz="800" dirty="0">
                <a:solidFill>
                  <a:schemeClr val="tx1">
                    <a:lumMod val="95000"/>
                    <a:lumOff val="5000"/>
                  </a:schemeClr>
                </a:solidFill>
              </a:rPr>
              <a:t>Pendente (Host) Cadastro Manual	64</a:t>
            </a:r>
          </a:p>
          <a:p>
            <a:pPr marL="628650" lvl="2" indent="-171450">
              <a:spcBef>
                <a:spcPts val="200"/>
              </a:spcBef>
              <a:spcAft>
                <a:spcPts val="200"/>
              </a:spcAft>
              <a:buFont typeface="Arial" panose="020B0604020202020204" pitchFamily="34" charset="0"/>
              <a:buChar char="•"/>
            </a:pPr>
            <a:r>
              <a:rPr lang="pt-BR" sz="800" dirty="0">
                <a:solidFill>
                  <a:schemeClr val="tx1">
                    <a:lumMod val="95000"/>
                    <a:lumOff val="5000"/>
                  </a:schemeClr>
                </a:solidFill>
              </a:rPr>
              <a:t>Pendente (Host) </a:t>
            </a:r>
            <a:r>
              <a:rPr lang="pt-BR" sz="800" dirty="0" smtClean="0">
                <a:solidFill>
                  <a:schemeClr val="tx1">
                    <a:lumMod val="95000"/>
                    <a:lumOff val="5000"/>
                  </a:schemeClr>
                </a:solidFill>
              </a:rPr>
              <a:t>Usuário </a:t>
            </a:r>
            <a:r>
              <a:rPr lang="pt-BR" sz="800" dirty="0">
                <a:solidFill>
                  <a:schemeClr val="tx1">
                    <a:lumMod val="95000"/>
                    <a:lumOff val="5000"/>
                  </a:schemeClr>
                </a:solidFill>
              </a:rPr>
              <a:t>e Senha	102</a:t>
            </a:r>
          </a:p>
          <a:p>
            <a:pPr marL="628650" lvl="2" indent="-171450">
              <a:spcBef>
                <a:spcPts val="200"/>
              </a:spcBef>
              <a:spcAft>
                <a:spcPts val="200"/>
              </a:spcAft>
              <a:buFont typeface="Arial" panose="020B0604020202020204" pitchFamily="34" charset="0"/>
              <a:buChar char="•"/>
            </a:pPr>
            <a:endParaRPr lang="pt-BR" sz="1200" dirty="0" smtClean="0">
              <a:solidFill>
                <a:schemeClr val="tx1"/>
              </a:solidFill>
            </a:endParaRPr>
          </a:p>
          <a:p>
            <a:pPr marL="628650" lvl="2" indent="-171450">
              <a:spcBef>
                <a:spcPts val="200"/>
              </a:spcBef>
              <a:spcAft>
                <a:spcPts val="200"/>
              </a:spcAft>
              <a:buFont typeface="Arial" panose="020B0604020202020204" pitchFamily="34" charset="0"/>
              <a:buChar char="•"/>
            </a:pPr>
            <a:endParaRPr lang="pt-BR" sz="1200" dirty="0">
              <a:solidFill>
                <a:schemeClr val="tx1"/>
              </a:solidFill>
            </a:endParaRPr>
          </a:p>
          <a:p>
            <a:pPr marL="0" lvl="1">
              <a:spcBef>
                <a:spcPts val="200"/>
              </a:spcBef>
              <a:spcAft>
                <a:spcPts val="200"/>
              </a:spcAft>
            </a:pPr>
            <a:endParaRPr lang="pt-BR" sz="1200" dirty="0" smtClean="0">
              <a:solidFill>
                <a:srgbClr val="FF0000"/>
              </a:solidFill>
            </a:endParaRPr>
          </a:p>
        </p:txBody>
      </p:sp>
      <p:sp>
        <p:nvSpPr>
          <p:cNvPr id="15" name="Retângulo de cantos arredondados 14"/>
          <p:cNvSpPr/>
          <p:nvPr/>
        </p:nvSpPr>
        <p:spPr>
          <a:xfrm>
            <a:off x="158943" y="776935"/>
            <a:ext cx="3064339" cy="1080993"/>
          </a:xfrm>
          <a:prstGeom prst="roundRect">
            <a:avLst/>
          </a:prstGeom>
          <a:solidFill>
            <a:srgbClr val="FF0000"/>
          </a:soli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r>
              <a:rPr lang="pt-BR" sz="1400" b="1" dirty="0" smtClean="0">
                <a:solidFill>
                  <a:schemeClr val="bg1"/>
                </a:solidFill>
                <a:effectLst>
                  <a:outerShdw blurRad="38100" dist="38100" dir="2700000" algn="tl">
                    <a:srgbClr val="000000">
                      <a:alpha val="43137"/>
                    </a:srgbClr>
                  </a:outerShdw>
                </a:effectLst>
              </a:rPr>
              <a:t>Projeto: OCS </a:t>
            </a:r>
            <a:r>
              <a:rPr lang="pt-BR" sz="1400" b="1" dirty="0" err="1" smtClean="0">
                <a:solidFill>
                  <a:schemeClr val="bg1"/>
                </a:solidFill>
                <a:effectLst>
                  <a:outerShdw blurRad="38100" dist="38100" dir="2700000" algn="tl">
                    <a:srgbClr val="000000">
                      <a:alpha val="43137"/>
                    </a:srgbClr>
                  </a:outerShdw>
                </a:effectLst>
              </a:rPr>
              <a:t>Inventory</a:t>
            </a:r>
            <a:endParaRPr lang="pt-BR" sz="1400" b="1" dirty="0" smtClean="0">
              <a:solidFill>
                <a:schemeClr val="bg1"/>
              </a:solidFill>
              <a:effectLst>
                <a:outerShdw blurRad="38100" dist="38100" dir="2700000" algn="tl">
                  <a:srgbClr val="000000">
                    <a:alpha val="43137"/>
                  </a:srgbClr>
                </a:outerShdw>
              </a:effectLst>
            </a:endParaRPr>
          </a:p>
          <a:p>
            <a:r>
              <a:rPr lang="pt-BR" sz="1200" i="1" dirty="0" smtClean="0">
                <a:solidFill>
                  <a:schemeClr val="bg1"/>
                </a:solidFill>
              </a:rPr>
              <a:t>Data Inicio: </a:t>
            </a:r>
            <a:r>
              <a:rPr lang="pt-BR" sz="1200" i="1" dirty="0">
                <a:solidFill>
                  <a:schemeClr val="bg1"/>
                </a:solidFill>
              </a:rPr>
              <a:t>0</a:t>
            </a:r>
            <a:r>
              <a:rPr lang="pt-BR" sz="1200" i="1" dirty="0" smtClean="0">
                <a:solidFill>
                  <a:schemeClr val="bg1"/>
                </a:solidFill>
              </a:rPr>
              <a:t>4-12-2015</a:t>
            </a:r>
          </a:p>
          <a:p>
            <a:r>
              <a:rPr lang="pt-BR" sz="1200" i="1" dirty="0" smtClean="0">
                <a:solidFill>
                  <a:schemeClr val="bg1"/>
                </a:solidFill>
              </a:rPr>
              <a:t>Data Conclusão: </a:t>
            </a:r>
            <a:r>
              <a:rPr lang="pt-BR" sz="1200" i="1" strike="sngStrike" dirty="0" smtClean="0">
                <a:solidFill>
                  <a:schemeClr val="bg1"/>
                </a:solidFill>
              </a:rPr>
              <a:t>14-04-2016</a:t>
            </a:r>
            <a:r>
              <a:rPr lang="pt-BR" sz="1200" i="1" dirty="0" smtClean="0">
                <a:solidFill>
                  <a:schemeClr val="bg1"/>
                </a:solidFill>
              </a:rPr>
              <a:t>  24-05-2016</a:t>
            </a:r>
            <a:r>
              <a:rPr lang="pt-BR" sz="1200" i="1" strike="sngStrike" dirty="0" smtClean="0">
                <a:solidFill>
                  <a:schemeClr val="bg1"/>
                </a:solidFill>
              </a:rPr>
              <a:t> </a:t>
            </a:r>
          </a:p>
          <a:p>
            <a:r>
              <a:rPr lang="pt-BR" sz="1200" i="1" dirty="0" smtClean="0">
                <a:solidFill>
                  <a:schemeClr val="bg1"/>
                </a:solidFill>
              </a:rPr>
              <a:t>Progresso: 87%</a:t>
            </a:r>
          </a:p>
          <a:p>
            <a:r>
              <a:rPr lang="pt-BR" sz="1200" i="1" dirty="0" smtClean="0">
                <a:solidFill>
                  <a:schemeClr val="bg1"/>
                </a:solidFill>
              </a:rPr>
              <a:t>PM: Thiago Augusto</a:t>
            </a:r>
          </a:p>
        </p:txBody>
      </p:sp>
      <p:sp>
        <p:nvSpPr>
          <p:cNvPr id="16" name="Retângulo 15"/>
          <p:cNvSpPr/>
          <p:nvPr/>
        </p:nvSpPr>
        <p:spPr>
          <a:xfrm>
            <a:off x="3112569" y="2081341"/>
            <a:ext cx="2716382" cy="2566859"/>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0" lvl="1" algn="ctr">
              <a:spcBef>
                <a:spcPts val="200"/>
              </a:spcBef>
              <a:spcAft>
                <a:spcPts val="200"/>
              </a:spcAft>
            </a:pPr>
            <a:r>
              <a:rPr lang="pt-BR" sz="1400" b="1" dirty="0">
                <a:solidFill>
                  <a:schemeClr val="tx1">
                    <a:lumMod val="95000"/>
                    <a:lumOff val="5000"/>
                  </a:schemeClr>
                </a:solidFill>
              </a:rPr>
              <a:t>Objetivos alcançados na última </a:t>
            </a:r>
            <a:r>
              <a:rPr lang="pt-BR" sz="1400" b="1" dirty="0" smtClean="0">
                <a:solidFill>
                  <a:schemeClr val="tx1">
                    <a:lumMod val="95000"/>
                    <a:lumOff val="5000"/>
                  </a:schemeClr>
                </a:solidFill>
              </a:rPr>
              <a:t>semana</a:t>
            </a:r>
            <a:endParaRPr lang="pt-BR" sz="1400" dirty="0" smtClean="0">
              <a:solidFill>
                <a:schemeClr val="tx1">
                  <a:lumMod val="95000"/>
                  <a:lumOff val="5000"/>
                </a:schemeClr>
              </a:solidFill>
            </a:endParaRPr>
          </a:p>
          <a:p>
            <a:pPr marL="171450" lvl="1" indent="-171450">
              <a:spcBef>
                <a:spcPts val="200"/>
              </a:spcBef>
              <a:spcAft>
                <a:spcPts val="200"/>
              </a:spcAft>
              <a:buFont typeface="Arial" panose="020B0604020202020204" pitchFamily="34" charset="0"/>
              <a:buChar char="•"/>
            </a:pPr>
            <a:r>
              <a:rPr lang="pt-BR" sz="1200" dirty="0" smtClean="0">
                <a:solidFill>
                  <a:schemeClr val="tx1">
                    <a:lumMod val="95000"/>
                    <a:lumOff val="5000"/>
                  </a:schemeClr>
                </a:solidFill>
              </a:rPr>
              <a:t>Equipe de controle de ativos esta utilizando a ferramenta.</a:t>
            </a:r>
          </a:p>
          <a:p>
            <a:pPr marL="171450" lvl="1" indent="-171450">
              <a:spcBef>
                <a:spcPts val="200"/>
              </a:spcBef>
              <a:spcAft>
                <a:spcPts val="200"/>
              </a:spcAft>
              <a:buFont typeface="Arial" panose="020B0604020202020204" pitchFamily="34" charset="0"/>
              <a:buChar char="•"/>
            </a:pPr>
            <a:endParaRPr lang="pt-BR" sz="1200" dirty="0" smtClean="0">
              <a:solidFill>
                <a:schemeClr val="tx1">
                  <a:lumMod val="95000"/>
                  <a:lumOff val="5000"/>
                </a:schemeClr>
              </a:solidFill>
            </a:endParaRPr>
          </a:p>
        </p:txBody>
      </p:sp>
      <p:sp>
        <p:nvSpPr>
          <p:cNvPr id="17" name="Retângulo 16"/>
          <p:cNvSpPr/>
          <p:nvPr/>
        </p:nvSpPr>
        <p:spPr>
          <a:xfrm>
            <a:off x="6004018" y="2081342"/>
            <a:ext cx="2799740" cy="2566858"/>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0" lvl="1" algn="ctr">
              <a:spcBef>
                <a:spcPts val="200"/>
              </a:spcBef>
              <a:spcAft>
                <a:spcPts val="200"/>
              </a:spcAft>
            </a:pPr>
            <a:r>
              <a:rPr lang="pt-BR" sz="1400" b="1" dirty="0" smtClean="0">
                <a:solidFill>
                  <a:schemeClr val="tx1">
                    <a:lumMod val="95000"/>
                    <a:lumOff val="5000"/>
                  </a:schemeClr>
                </a:solidFill>
              </a:rPr>
              <a:t>Riscos/Problemas/Observações</a:t>
            </a:r>
          </a:p>
          <a:p>
            <a:pPr marL="0" lvl="1">
              <a:spcBef>
                <a:spcPts val="200"/>
              </a:spcBef>
              <a:spcAft>
                <a:spcPts val="200"/>
              </a:spcAft>
            </a:pPr>
            <a:endParaRPr lang="pt-BR" sz="1200" dirty="0" smtClean="0">
              <a:solidFill>
                <a:schemeClr val="tx1">
                  <a:lumMod val="95000"/>
                  <a:lumOff val="5000"/>
                </a:schemeClr>
              </a:solidFill>
            </a:endParaRPr>
          </a:p>
          <a:p>
            <a:pPr marL="0" lvl="1">
              <a:spcBef>
                <a:spcPts val="200"/>
              </a:spcBef>
              <a:spcAft>
                <a:spcPts val="200"/>
              </a:spcAft>
            </a:pPr>
            <a:endParaRPr lang="pt-BR" sz="1200" dirty="0" smtClean="0">
              <a:solidFill>
                <a:schemeClr val="tx1">
                  <a:lumMod val="95000"/>
                  <a:lumOff val="5000"/>
                </a:schemeClr>
              </a:solidFill>
            </a:endParaRPr>
          </a:p>
          <a:p>
            <a:pPr marL="285750" lvl="1" indent="-285750">
              <a:spcBef>
                <a:spcPts val="200"/>
              </a:spcBef>
              <a:spcAft>
                <a:spcPts val="200"/>
              </a:spcAft>
              <a:buFont typeface="Arial" panose="020B0604020202020204" pitchFamily="34" charset="0"/>
              <a:buChar char="•"/>
            </a:pPr>
            <a:endParaRPr lang="pt-BR" sz="1200" dirty="0" smtClean="0">
              <a:solidFill>
                <a:schemeClr val="tx1">
                  <a:lumMod val="95000"/>
                  <a:lumOff val="5000"/>
                </a:schemeClr>
              </a:solidFill>
            </a:endParaRPr>
          </a:p>
        </p:txBody>
      </p:sp>
      <p:sp>
        <p:nvSpPr>
          <p:cNvPr id="18" name="Retângulo de cantos arredondados 17"/>
          <p:cNvSpPr/>
          <p:nvPr/>
        </p:nvSpPr>
        <p:spPr>
          <a:xfrm>
            <a:off x="3382225" y="776936"/>
            <a:ext cx="5338175" cy="1080992"/>
          </a:xfrm>
          <a:prstGeom prst="roundRect">
            <a:avLst/>
          </a:prstGeom>
          <a:solidFill>
            <a:schemeClr val="accent1">
              <a:lumMod val="50000"/>
            </a:schemeClr>
          </a:soli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r>
              <a:rPr lang="pt-BR" sz="1400" b="1" dirty="0" smtClean="0">
                <a:effectLst>
                  <a:outerShdw blurRad="38100" dist="38100" dir="2700000" algn="tl">
                    <a:srgbClr val="000000">
                      <a:alpha val="43137"/>
                    </a:srgbClr>
                  </a:outerShdw>
                </a:effectLst>
              </a:rPr>
              <a:t>Descritivo:  </a:t>
            </a:r>
            <a:r>
              <a:rPr lang="pt-BR" sz="1400" dirty="0" smtClean="0">
                <a:effectLst>
                  <a:outerShdw blurRad="38100" dist="38100" dir="2700000" algn="tl">
                    <a:srgbClr val="000000">
                      <a:alpha val="43137"/>
                    </a:srgbClr>
                  </a:outerShdw>
                </a:effectLst>
              </a:rPr>
              <a:t>O</a:t>
            </a:r>
            <a:r>
              <a:rPr lang="pt-BR" sz="1400" dirty="0" smtClean="0"/>
              <a:t> OCS </a:t>
            </a:r>
            <a:r>
              <a:rPr lang="pt-BR" sz="1400" dirty="0"/>
              <a:t>é uma ferramenta de </a:t>
            </a:r>
            <a:r>
              <a:rPr lang="pt-BR" sz="1400" dirty="0" smtClean="0"/>
              <a:t>Inventário de servidores para auxiliar a </a:t>
            </a:r>
            <a:r>
              <a:rPr lang="pt-BR" sz="1400" dirty="0"/>
              <a:t>equipe de Controle de Ativos</a:t>
            </a:r>
            <a:r>
              <a:rPr lang="pt-BR" sz="1400" dirty="0" smtClean="0"/>
              <a:t>. </a:t>
            </a:r>
            <a:endParaRPr lang="pt-BR" sz="1400" dirty="0"/>
          </a:p>
        </p:txBody>
      </p:sp>
      <p:pic>
        <p:nvPicPr>
          <p:cNvPr id="25" name="Picture 1" descr="t03-02.jpg"/>
          <p:cNvPicPr>
            <a:picLocks noChangeAspect="1"/>
          </p:cNvPicPr>
          <p:nvPr/>
        </p:nvPicPr>
        <p:blipFill rotWithShape="1">
          <a:blip r:embed="rId4">
            <a:extLst>
              <a:ext uri="{28A0092B-C50C-407E-A947-70E740481C1C}">
                <a14:useLocalDpi xmlns:a14="http://schemas.microsoft.com/office/drawing/2010/main" val="0"/>
              </a:ext>
            </a:extLst>
          </a:blip>
          <a:srcRect r="91368" b="84909"/>
          <a:stretch/>
        </p:blipFill>
        <p:spPr>
          <a:xfrm>
            <a:off x="0" y="0"/>
            <a:ext cx="789296" cy="776935"/>
          </a:xfrm>
          <a:prstGeom prst="rect">
            <a:avLst/>
          </a:prstGeom>
        </p:spPr>
      </p:pic>
      <p:pic>
        <p:nvPicPr>
          <p:cNvPr id="27" name="Picture 9"/>
          <p:cNvPicPr>
            <a:picLocks noChangeAspect="1"/>
          </p:cNvPicPr>
          <p:nvPr/>
        </p:nvPicPr>
        <p:blipFill>
          <a:blip r:embed="rId5"/>
          <a:stretch>
            <a:fillRect/>
          </a:stretch>
        </p:blipFill>
        <p:spPr>
          <a:xfrm>
            <a:off x="7021333" y="289005"/>
            <a:ext cx="1603348" cy="291323"/>
          </a:xfrm>
          <a:prstGeom prst="rect">
            <a:avLst/>
          </a:prstGeom>
        </p:spPr>
      </p:pic>
      <p:grpSp>
        <p:nvGrpSpPr>
          <p:cNvPr id="28" name="Group 34"/>
          <p:cNvGrpSpPr>
            <a:grpSpLocks/>
          </p:cNvGrpSpPr>
          <p:nvPr/>
        </p:nvGrpSpPr>
        <p:grpSpPr bwMode="auto">
          <a:xfrm>
            <a:off x="2886716" y="1524839"/>
            <a:ext cx="274638" cy="274638"/>
            <a:chOff x="0" y="0"/>
            <a:chExt cx="173" cy="173"/>
          </a:xfrm>
        </p:grpSpPr>
        <p:sp>
          <p:nvSpPr>
            <p:cNvPr id="29" name="Arc 35"/>
            <p:cNvSpPr>
              <a:spLocks/>
            </p:cNvSpPr>
            <p:nvPr/>
          </p:nvSpPr>
          <p:spPr bwMode="auto">
            <a:xfrm>
              <a:off x="86" y="0"/>
              <a:ext cx="62" cy="86"/>
            </a:xfrm>
            <a:custGeom>
              <a:avLst/>
              <a:gdLst>
                <a:gd name="G0" fmla="+- 58 0 0"/>
                <a:gd name="G1" fmla="+- 21600 0 0"/>
                <a:gd name="G2" fmla="+- 21600 0 0"/>
                <a:gd name="T0" fmla="*/ 0 w 15318"/>
                <a:gd name="T1" fmla="*/ 1 h 21600"/>
                <a:gd name="T2" fmla="*/ 15318 w 15318"/>
                <a:gd name="T3" fmla="*/ 6314 h 21600"/>
                <a:gd name="T4" fmla="*/ 58 w 15318"/>
                <a:gd name="T5" fmla="*/ 21600 h 21600"/>
              </a:gdLst>
              <a:ahLst/>
              <a:cxnLst>
                <a:cxn ang="0">
                  <a:pos x="T0" y="T1"/>
                </a:cxn>
                <a:cxn ang="0">
                  <a:pos x="T2" y="T3"/>
                </a:cxn>
                <a:cxn ang="0">
                  <a:pos x="T4" y="T5"/>
                </a:cxn>
              </a:cxnLst>
              <a:rect l="0" t="0" r="r" b="b"/>
              <a:pathLst>
                <a:path w="15318" h="21600" fill="none" extrusionOk="0">
                  <a:moveTo>
                    <a:pt x="-1" y="0"/>
                  </a:moveTo>
                  <a:cubicBezTo>
                    <a:pt x="19" y="0"/>
                    <a:pt x="38" y="0"/>
                    <a:pt x="58" y="0"/>
                  </a:cubicBezTo>
                  <a:cubicBezTo>
                    <a:pt x="5780" y="0"/>
                    <a:pt x="11268" y="2270"/>
                    <a:pt x="15318" y="6313"/>
                  </a:cubicBezTo>
                </a:path>
                <a:path w="15318" h="21600" stroke="0" extrusionOk="0">
                  <a:moveTo>
                    <a:pt x="-1" y="0"/>
                  </a:moveTo>
                  <a:cubicBezTo>
                    <a:pt x="19" y="0"/>
                    <a:pt x="38" y="0"/>
                    <a:pt x="58" y="0"/>
                  </a:cubicBezTo>
                  <a:cubicBezTo>
                    <a:pt x="5780" y="0"/>
                    <a:pt x="11268" y="2270"/>
                    <a:pt x="15318" y="6313"/>
                  </a:cubicBezTo>
                  <a:lnTo>
                    <a:pt x="58" y="21600"/>
                  </a:lnTo>
                  <a:close/>
                </a:path>
              </a:pathLst>
            </a:custGeom>
            <a:solidFill>
              <a:srgbClr val="000000"/>
            </a:solidFill>
            <a:ln w="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sp>
          <p:nvSpPr>
            <p:cNvPr id="30" name="Arc 36"/>
            <p:cNvSpPr>
              <a:spLocks/>
            </p:cNvSpPr>
            <p:nvPr/>
          </p:nvSpPr>
          <p:spPr bwMode="auto">
            <a:xfrm>
              <a:off x="86" y="87"/>
              <a:ext cx="87" cy="61"/>
            </a:xfrm>
            <a:custGeom>
              <a:avLst/>
              <a:gdLst>
                <a:gd name="G0" fmla="+- 0 0 0"/>
                <a:gd name="G1" fmla="+- 29 0 0"/>
                <a:gd name="G2" fmla="+- 21600 0 0"/>
                <a:gd name="T0" fmla="*/ 21599 w 21600"/>
                <a:gd name="T1" fmla="*/ 0 h 15266"/>
                <a:gd name="T2" fmla="*/ 15309 w 21600"/>
                <a:gd name="T3" fmla="*/ 15266 h 15266"/>
                <a:gd name="T4" fmla="*/ 0 w 21600"/>
                <a:gd name="T5" fmla="*/ 29 h 15266"/>
              </a:gdLst>
              <a:ahLst/>
              <a:cxnLst>
                <a:cxn ang="0">
                  <a:pos x="T0" y="T1"/>
                </a:cxn>
                <a:cxn ang="0">
                  <a:pos x="T2" y="T3"/>
                </a:cxn>
                <a:cxn ang="0">
                  <a:pos x="T4" y="T5"/>
                </a:cxn>
              </a:cxnLst>
              <a:rect l="0" t="0" r="r" b="b"/>
              <a:pathLst>
                <a:path w="21600" h="15266" fill="none" extrusionOk="0">
                  <a:moveTo>
                    <a:pt x="21599" y="-1"/>
                  </a:moveTo>
                  <a:cubicBezTo>
                    <a:pt x="21599" y="9"/>
                    <a:pt x="21600" y="19"/>
                    <a:pt x="21600" y="29"/>
                  </a:cubicBezTo>
                  <a:cubicBezTo>
                    <a:pt x="21600" y="5740"/>
                    <a:pt x="19338" y="11218"/>
                    <a:pt x="15309" y="15266"/>
                  </a:cubicBezTo>
                </a:path>
                <a:path w="21600" h="15266" stroke="0" extrusionOk="0">
                  <a:moveTo>
                    <a:pt x="21599" y="-1"/>
                  </a:moveTo>
                  <a:cubicBezTo>
                    <a:pt x="21599" y="9"/>
                    <a:pt x="21600" y="19"/>
                    <a:pt x="21600" y="29"/>
                  </a:cubicBezTo>
                  <a:cubicBezTo>
                    <a:pt x="21600" y="5740"/>
                    <a:pt x="19338" y="11218"/>
                    <a:pt x="15309" y="15266"/>
                  </a:cubicBezTo>
                  <a:lnTo>
                    <a:pt x="0" y="29"/>
                  </a:lnTo>
                  <a:close/>
                </a:path>
              </a:pathLst>
            </a:custGeom>
            <a:solidFill>
              <a:srgbClr val="000000"/>
            </a:solidFill>
            <a:ln w="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sp>
          <p:nvSpPr>
            <p:cNvPr id="31" name="Arc 37"/>
            <p:cNvSpPr>
              <a:spLocks/>
            </p:cNvSpPr>
            <p:nvPr/>
          </p:nvSpPr>
          <p:spPr bwMode="auto">
            <a:xfrm>
              <a:off x="86" y="87"/>
              <a:ext cx="62" cy="86"/>
            </a:xfrm>
            <a:custGeom>
              <a:avLst/>
              <a:gdLst>
                <a:gd name="G0" fmla="+- 0 0 0"/>
                <a:gd name="G1" fmla="+- 0 0 0"/>
                <a:gd name="G2" fmla="+- 21600 0 0"/>
                <a:gd name="T0" fmla="*/ 15386 w 15386"/>
                <a:gd name="T1" fmla="*/ 15159 h 21599"/>
                <a:gd name="T2" fmla="*/ 28 w 15386"/>
                <a:gd name="T3" fmla="*/ 21599 h 21599"/>
                <a:gd name="T4" fmla="*/ 0 w 15386"/>
                <a:gd name="T5" fmla="*/ 0 h 21599"/>
              </a:gdLst>
              <a:ahLst/>
              <a:cxnLst>
                <a:cxn ang="0">
                  <a:pos x="T0" y="T1"/>
                </a:cxn>
                <a:cxn ang="0">
                  <a:pos x="T2" y="T3"/>
                </a:cxn>
                <a:cxn ang="0">
                  <a:pos x="T4" y="T5"/>
                </a:cxn>
              </a:cxnLst>
              <a:rect l="0" t="0" r="r" b="b"/>
              <a:pathLst>
                <a:path w="15386" h="21599" fill="none" extrusionOk="0">
                  <a:moveTo>
                    <a:pt x="15386" y="15159"/>
                  </a:moveTo>
                  <a:cubicBezTo>
                    <a:pt x="11333" y="19273"/>
                    <a:pt x="5802" y="21592"/>
                    <a:pt x="28" y="21599"/>
                  </a:cubicBezTo>
                </a:path>
                <a:path w="15386" h="21599" stroke="0" extrusionOk="0">
                  <a:moveTo>
                    <a:pt x="15386" y="15159"/>
                  </a:moveTo>
                  <a:cubicBezTo>
                    <a:pt x="11333" y="19273"/>
                    <a:pt x="5802" y="21592"/>
                    <a:pt x="28" y="21599"/>
                  </a:cubicBezTo>
                  <a:lnTo>
                    <a:pt x="0" y="0"/>
                  </a:lnTo>
                  <a:close/>
                </a:path>
              </a:pathLst>
            </a:custGeom>
            <a:solidFill>
              <a:srgbClr val="000000"/>
            </a:solidFill>
            <a:ln w="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sp>
          <p:nvSpPr>
            <p:cNvPr id="32" name="Arc 38"/>
            <p:cNvSpPr>
              <a:spLocks/>
            </p:cNvSpPr>
            <p:nvPr/>
          </p:nvSpPr>
          <p:spPr bwMode="auto">
            <a:xfrm flipH="1">
              <a:off x="0" y="87"/>
              <a:ext cx="87" cy="61"/>
            </a:xfrm>
            <a:custGeom>
              <a:avLst/>
              <a:gdLst>
                <a:gd name="G0" fmla="+- 0 0 0"/>
                <a:gd name="G1" fmla="+- 29 0 0"/>
                <a:gd name="G2" fmla="+- 21600 0 0"/>
                <a:gd name="T0" fmla="*/ 21599 w 21600"/>
                <a:gd name="T1" fmla="*/ 0 h 15266"/>
                <a:gd name="T2" fmla="*/ 15309 w 21600"/>
                <a:gd name="T3" fmla="*/ 15266 h 15266"/>
                <a:gd name="T4" fmla="*/ 0 w 21600"/>
                <a:gd name="T5" fmla="*/ 29 h 15266"/>
              </a:gdLst>
              <a:ahLst/>
              <a:cxnLst>
                <a:cxn ang="0">
                  <a:pos x="T0" y="T1"/>
                </a:cxn>
                <a:cxn ang="0">
                  <a:pos x="T2" y="T3"/>
                </a:cxn>
                <a:cxn ang="0">
                  <a:pos x="T4" y="T5"/>
                </a:cxn>
              </a:cxnLst>
              <a:rect l="0" t="0" r="r" b="b"/>
              <a:pathLst>
                <a:path w="21600" h="15266" fill="none" extrusionOk="0">
                  <a:moveTo>
                    <a:pt x="21599" y="-1"/>
                  </a:moveTo>
                  <a:cubicBezTo>
                    <a:pt x="21599" y="9"/>
                    <a:pt x="21600" y="19"/>
                    <a:pt x="21600" y="29"/>
                  </a:cubicBezTo>
                  <a:cubicBezTo>
                    <a:pt x="21600" y="5740"/>
                    <a:pt x="19338" y="11218"/>
                    <a:pt x="15309" y="15266"/>
                  </a:cubicBezTo>
                </a:path>
                <a:path w="21600" h="15266" stroke="0" extrusionOk="0">
                  <a:moveTo>
                    <a:pt x="21599" y="-1"/>
                  </a:moveTo>
                  <a:cubicBezTo>
                    <a:pt x="21599" y="9"/>
                    <a:pt x="21600" y="19"/>
                    <a:pt x="21600" y="29"/>
                  </a:cubicBezTo>
                  <a:cubicBezTo>
                    <a:pt x="21600" y="5740"/>
                    <a:pt x="19338" y="11218"/>
                    <a:pt x="15309" y="15266"/>
                  </a:cubicBezTo>
                  <a:lnTo>
                    <a:pt x="0" y="29"/>
                  </a:lnTo>
                  <a:close/>
                </a:path>
              </a:pathLst>
            </a:custGeom>
            <a:solidFill>
              <a:srgbClr val="000000"/>
            </a:solidFill>
            <a:ln w="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sp>
          <p:nvSpPr>
            <p:cNvPr id="33" name="Arc 39"/>
            <p:cNvSpPr>
              <a:spLocks/>
            </p:cNvSpPr>
            <p:nvPr/>
          </p:nvSpPr>
          <p:spPr bwMode="auto">
            <a:xfrm flipH="1">
              <a:off x="25" y="87"/>
              <a:ext cx="62" cy="86"/>
            </a:xfrm>
            <a:custGeom>
              <a:avLst/>
              <a:gdLst>
                <a:gd name="G0" fmla="+- 0 0 0"/>
                <a:gd name="G1" fmla="+- 0 0 0"/>
                <a:gd name="G2" fmla="+- 21600 0 0"/>
                <a:gd name="T0" fmla="*/ 15386 w 15386"/>
                <a:gd name="T1" fmla="*/ 15159 h 21599"/>
                <a:gd name="T2" fmla="*/ 28 w 15386"/>
                <a:gd name="T3" fmla="*/ 21599 h 21599"/>
                <a:gd name="T4" fmla="*/ 0 w 15386"/>
                <a:gd name="T5" fmla="*/ 0 h 21599"/>
              </a:gdLst>
              <a:ahLst/>
              <a:cxnLst>
                <a:cxn ang="0">
                  <a:pos x="T0" y="T1"/>
                </a:cxn>
                <a:cxn ang="0">
                  <a:pos x="T2" y="T3"/>
                </a:cxn>
                <a:cxn ang="0">
                  <a:pos x="T4" y="T5"/>
                </a:cxn>
              </a:cxnLst>
              <a:rect l="0" t="0" r="r" b="b"/>
              <a:pathLst>
                <a:path w="15386" h="21599" fill="none" extrusionOk="0">
                  <a:moveTo>
                    <a:pt x="15386" y="15159"/>
                  </a:moveTo>
                  <a:cubicBezTo>
                    <a:pt x="11333" y="19273"/>
                    <a:pt x="5802" y="21592"/>
                    <a:pt x="28" y="21599"/>
                  </a:cubicBezTo>
                </a:path>
                <a:path w="15386" h="21599" stroke="0" extrusionOk="0">
                  <a:moveTo>
                    <a:pt x="15386" y="15159"/>
                  </a:moveTo>
                  <a:cubicBezTo>
                    <a:pt x="11333" y="19273"/>
                    <a:pt x="5802" y="21592"/>
                    <a:pt x="28" y="21599"/>
                  </a:cubicBezTo>
                  <a:lnTo>
                    <a:pt x="0" y="0"/>
                  </a:lnTo>
                  <a:close/>
                </a:path>
              </a:pathLst>
            </a:custGeom>
            <a:solidFill>
              <a:srgbClr val="000000"/>
            </a:solidFill>
            <a:ln w="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sp>
          <p:nvSpPr>
            <p:cNvPr id="34" name="Oval 40"/>
            <p:cNvSpPr>
              <a:spLocks noChangeArrowheads="1"/>
            </p:cNvSpPr>
            <p:nvPr/>
          </p:nvSpPr>
          <p:spPr bwMode="auto">
            <a:xfrm>
              <a:off x="0" y="0"/>
              <a:ext cx="173" cy="173"/>
            </a:xfrm>
            <a:prstGeom prst="ellipse">
              <a:avLst/>
            </a:prstGeom>
            <a:noFill/>
            <a:ln w="63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sp>
          <p:nvSpPr>
            <p:cNvPr id="35" name="Arc 41"/>
            <p:cNvSpPr>
              <a:spLocks/>
            </p:cNvSpPr>
            <p:nvPr/>
          </p:nvSpPr>
          <p:spPr bwMode="auto">
            <a:xfrm>
              <a:off x="86" y="25"/>
              <a:ext cx="87" cy="62"/>
            </a:xfrm>
            <a:custGeom>
              <a:avLst/>
              <a:gdLst>
                <a:gd name="G0" fmla="+- 0 0 0"/>
                <a:gd name="G1" fmla="+- 15382 0 0"/>
                <a:gd name="G2" fmla="+- 21600 0 0"/>
                <a:gd name="T0" fmla="*/ 15163 w 21600"/>
                <a:gd name="T1" fmla="*/ 0 h 15382"/>
                <a:gd name="T2" fmla="*/ 21600 w 21600"/>
                <a:gd name="T3" fmla="*/ 15382 h 15382"/>
                <a:gd name="T4" fmla="*/ 0 w 21600"/>
                <a:gd name="T5" fmla="*/ 15382 h 15382"/>
              </a:gdLst>
              <a:ahLst/>
              <a:cxnLst>
                <a:cxn ang="0">
                  <a:pos x="T0" y="T1"/>
                </a:cxn>
                <a:cxn ang="0">
                  <a:pos x="T2" y="T3"/>
                </a:cxn>
                <a:cxn ang="0">
                  <a:pos x="T4" y="T5"/>
                </a:cxn>
              </a:cxnLst>
              <a:rect l="0" t="0" r="r" b="b"/>
              <a:pathLst>
                <a:path w="21600" h="15382" fill="none" extrusionOk="0">
                  <a:moveTo>
                    <a:pt x="15163" y="-1"/>
                  </a:moveTo>
                  <a:cubicBezTo>
                    <a:pt x="19281" y="4058"/>
                    <a:pt x="21600" y="9599"/>
                    <a:pt x="21600" y="15382"/>
                  </a:cubicBezTo>
                </a:path>
                <a:path w="21600" h="15382" stroke="0" extrusionOk="0">
                  <a:moveTo>
                    <a:pt x="15163" y="-1"/>
                  </a:moveTo>
                  <a:cubicBezTo>
                    <a:pt x="19281" y="4058"/>
                    <a:pt x="21600" y="9599"/>
                    <a:pt x="21600" y="15382"/>
                  </a:cubicBezTo>
                  <a:lnTo>
                    <a:pt x="0" y="15382"/>
                  </a:lnTo>
                  <a:close/>
                </a:path>
              </a:pathLst>
            </a:custGeom>
            <a:solidFill>
              <a:srgbClr val="000000"/>
            </a:solidFill>
            <a:ln w="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grpSp>
    </p:spTree>
    <p:extLst>
      <p:ext uri="{BB962C8B-B14F-4D97-AF65-F5344CB8AC3E}">
        <p14:creationId xmlns:p14="http://schemas.microsoft.com/office/powerpoint/2010/main" val="1026861375"/>
      </p:ext>
    </p:extLst>
  </p:cSld>
  <p:clrMapOvr>
    <a:masterClrMapping/>
  </p:clrMapOvr>
  <mc:AlternateContent xmlns:mc="http://schemas.openxmlformats.org/markup-compatibility/2006" xmlns:p14="http://schemas.microsoft.com/office/powerpoint/2010/main">
    <mc:Choice Requires="p14">
      <p:transition spd="slow" p14:dur="20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childTnLst>
                                </p:cTn>
                              </p:par>
                              <p:par>
                                <p:cTn id="8" presetID="10" presetClass="entr" presetSubtype="0" fill="hold" grpId="0" nodeType="withEffect">
                                  <p:stCondLst>
                                    <p:cond delay="25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1000"/>
                                        <p:tgtEl>
                                          <p:spTgt spid="16"/>
                                        </p:tgtEl>
                                      </p:cBhvr>
                                    </p:animEffect>
                                  </p:childTnLst>
                                </p:cTn>
                              </p:par>
                              <p:par>
                                <p:cTn id="11" presetID="10" presetClass="entr" presetSubtype="0" fill="hold" grpId="0" nodeType="withEffect">
                                  <p:stCondLst>
                                    <p:cond delay="25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1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76780" t="78172" r="18395" b="12686"/>
          <a:stretch/>
        </p:blipFill>
        <p:spPr bwMode="auto">
          <a:xfrm>
            <a:off x="8188658" y="4384319"/>
            <a:ext cx="955343" cy="7639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9"/>
          <p:cNvPicPr>
            <a:picLocks noChangeAspect="1"/>
          </p:cNvPicPr>
          <p:nvPr/>
        </p:nvPicPr>
        <p:blipFill>
          <a:blip r:embed="rId4"/>
          <a:stretch>
            <a:fillRect/>
          </a:stretch>
        </p:blipFill>
        <p:spPr>
          <a:xfrm>
            <a:off x="7021333" y="289005"/>
            <a:ext cx="1603348" cy="291323"/>
          </a:xfrm>
          <a:prstGeom prst="rect">
            <a:avLst/>
          </a:prstGeom>
        </p:spPr>
      </p:pic>
      <p:pic>
        <p:nvPicPr>
          <p:cNvPr id="8" name="Picture 1" descr="t03-02.jpg"/>
          <p:cNvPicPr>
            <a:picLocks noChangeAspect="1"/>
          </p:cNvPicPr>
          <p:nvPr/>
        </p:nvPicPr>
        <p:blipFill rotWithShape="1">
          <a:blip r:embed="rId5">
            <a:extLst>
              <a:ext uri="{28A0092B-C50C-407E-A947-70E740481C1C}">
                <a14:useLocalDpi xmlns:a14="http://schemas.microsoft.com/office/drawing/2010/main" val="0"/>
              </a:ext>
            </a:extLst>
          </a:blip>
          <a:srcRect r="91368" b="84909"/>
          <a:stretch/>
        </p:blipFill>
        <p:spPr>
          <a:xfrm>
            <a:off x="0" y="0"/>
            <a:ext cx="789296" cy="776935"/>
          </a:xfrm>
          <a:prstGeom prst="rect">
            <a:avLst/>
          </a:prstGeom>
        </p:spPr>
      </p:pic>
      <p:sp>
        <p:nvSpPr>
          <p:cNvPr id="6" name="CaixaDeTexto 5"/>
          <p:cNvSpPr txBox="1"/>
          <p:nvPr/>
        </p:nvSpPr>
        <p:spPr>
          <a:xfrm>
            <a:off x="2039091" y="300128"/>
            <a:ext cx="184731" cy="369332"/>
          </a:xfrm>
          <a:prstGeom prst="rect">
            <a:avLst/>
          </a:prstGeom>
          <a:noFill/>
        </p:spPr>
        <p:txBody>
          <a:bodyPr wrap="none" rtlCol="0">
            <a:spAutoFit/>
          </a:bodyPr>
          <a:lstStyle/>
          <a:p>
            <a:endParaRPr lang="pt-BR" dirty="0"/>
          </a:p>
        </p:txBody>
      </p:sp>
      <p:sp>
        <p:nvSpPr>
          <p:cNvPr id="9" name="Title 1"/>
          <p:cNvSpPr txBox="1">
            <a:spLocks/>
          </p:cNvSpPr>
          <p:nvPr/>
        </p:nvSpPr>
        <p:spPr>
          <a:xfrm>
            <a:off x="562659" y="90471"/>
            <a:ext cx="6254098" cy="5604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pt-BR" sz="2800" b="1" dirty="0">
                <a:solidFill>
                  <a:schemeClr val="tx2"/>
                </a:solidFill>
                <a:latin typeface="Arial" pitchFamily="34" charset="0"/>
                <a:cs typeface="Arial" pitchFamily="34" charset="0"/>
              </a:rPr>
              <a:t>6</a:t>
            </a:r>
            <a:r>
              <a:rPr lang="pt-BR" sz="2800" b="1" dirty="0" smtClean="0">
                <a:solidFill>
                  <a:schemeClr val="tx2"/>
                </a:solidFill>
                <a:latin typeface="Arial" pitchFamily="34" charset="0"/>
                <a:cs typeface="Arial" pitchFamily="34" charset="0"/>
              </a:rPr>
              <a:t>. Projeto: </a:t>
            </a:r>
            <a:r>
              <a:rPr lang="pt-BR" sz="2800" b="1" dirty="0">
                <a:solidFill>
                  <a:schemeClr val="tx2"/>
                </a:solidFill>
                <a:latin typeface="Arial" pitchFamily="34" charset="0"/>
                <a:cs typeface="Arial" pitchFamily="34" charset="0"/>
              </a:rPr>
              <a:t>Ura Internalização</a:t>
            </a:r>
          </a:p>
        </p:txBody>
      </p:sp>
      <p:sp>
        <p:nvSpPr>
          <p:cNvPr id="12" name="Retângulo 11"/>
          <p:cNvSpPr/>
          <p:nvPr/>
        </p:nvSpPr>
        <p:spPr>
          <a:xfrm>
            <a:off x="221121" y="2081342"/>
            <a:ext cx="2716382" cy="2475419"/>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0" lvl="1" algn="ctr">
              <a:spcBef>
                <a:spcPts val="200"/>
              </a:spcBef>
              <a:spcAft>
                <a:spcPts val="200"/>
              </a:spcAft>
            </a:pPr>
            <a:r>
              <a:rPr lang="pt-BR" sz="1400" b="1" dirty="0">
                <a:solidFill>
                  <a:schemeClr val="tx1">
                    <a:lumMod val="95000"/>
                    <a:lumOff val="5000"/>
                  </a:schemeClr>
                </a:solidFill>
              </a:rPr>
              <a:t>Últimas Realizações</a:t>
            </a:r>
            <a:endParaRPr lang="pt-BR" sz="1200" dirty="0">
              <a:solidFill>
                <a:schemeClr val="tx1">
                  <a:lumMod val="95000"/>
                  <a:lumOff val="5000"/>
                </a:schemeClr>
              </a:solidFill>
            </a:endParaRPr>
          </a:p>
          <a:p>
            <a:pPr marL="285750" lvl="1" indent="-285750">
              <a:spcBef>
                <a:spcPts val="200"/>
              </a:spcBef>
              <a:spcAft>
                <a:spcPts val="200"/>
              </a:spcAft>
              <a:buFont typeface="Wingdings" panose="05000000000000000000" pitchFamily="2" charset="2"/>
              <a:buChar char="Ø"/>
            </a:pPr>
            <a:r>
              <a:rPr lang="pt-BR" sz="1200" dirty="0" smtClean="0">
                <a:solidFill>
                  <a:schemeClr val="tx1">
                    <a:lumMod val="95000"/>
                    <a:lumOff val="5000"/>
                  </a:schemeClr>
                </a:solidFill>
              </a:rPr>
              <a:t>A equipe do José Carlos vai ser responsável pelo suporte deste ambiente.</a:t>
            </a:r>
          </a:p>
          <a:p>
            <a:pPr marL="0" lvl="1">
              <a:spcBef>
                <a:spcPts val="200"/>
              </a:spcBef>
              <a:spcAft>
                <a:spcPts val="200"/>
              </a:spcAft>
            </a:pPr>
            <a:r>
              <a:rPr lang="pt-BR" sz="1200" dirty="0" smtClean="0">
                <a:solidFill>
                  <a:srgbClr val="00B050"/>
                </a:solidFill>
              </a:rPr>
              <a:t> </a:t>
            </a:r>
            <a:endParaRPr lang="pt-BR" sz="1200" dirty="0">
              <a:solidFill>
                <a:srgbClr val="00B050"/>
              </a:solidFill>
            </a:endParaRPr>
          </a:p>
          <a:p>
            <a:pPr marL="0" lvl="1">
              <a:spcBef>
                <a:spcPts val="200"/>
              </a:spcBef>
              <a:spcAft>
                <a:spcPts val="200"/>
              </a:spcAft>
            </a:pPr>
            <a:endParaRPr lang="pt-BR" sz="1200" dirty="0">
              <a:solidFill>
                <a:schemeClr val="tx1">
                  <a:lumMod val="95000"/>
                  <a:lumOff val="5000"/>
                </a:schemeClr>
              </a:solidFill>
            </a:endParaRPr>
          </a:p>
        </p:txBody>
      </p:sp>
      <p:sp>
        <p:nvSpPr>
          <p:cNvPr id="15" name="Retângulo de cantos arredondados 14"/>
          <p:cNvSpPr/>
          <p:nvPr/>
        </p:nvSpPr>
        <p:spPr>
          <a:xfrm>
            <a:off x="158943" y="776935"/>
            <a:ext cx="3064339" cy="1080993"/>
          </a:xfrm>
          <a:prstGeom prst="roundRect">
            <a:avLst/>
          </a:prstGeom>
          <a:solidFill>
            <a:srgbClr val="00B050"/>
          </a:soli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r>
              <a:rPr lang="pt-BR" sz="1400" b="1" dirty="0" smtClean="0">
                <a:effectLst>
                  <a:outerShdw blurRad="38100" dist="38100" dir="2700000" algn="tl">
                    <a:srgbClr val="000000">
                      <a:alpha val="43137"/>
                    </a:srgbClr>
                  </a:outerShdw>
                </a:effectLst>
              </a:rPr>
              <a:t>Projeto: </a:t>
            </a:r>
            <a:r>
              <a:rPr lang="pt-BR" sz="1400" b="1" dirty="0">
                <a:effectLst>
                  <a:outerShdw blurRad="38100" dist="38100" dir="2700000" algn="tl">
                    <a:srgbClr val="000000">
                      <a:alpha val="43137"/>
                    </a:srgbClr>
                  </a:outerShdw>
                </a:effectLst>
              </a:rPr>
              <a:t>Ura Internalização</a:t>
            </a:r>
            <a:endParaRPr lang="pt-BR" sz="1400" b="1" dirty="0" smtClean="0">
              <a:effectLst>
                <a:outerShdw blurRad="38100" dist="38100" dir="2700000" algn="tl">
                  <a:srgbClr val="000000">
                    <a:alpha val="43137"/>
                  </a:srgbClr>
                </a:outerShdw>
              </a:effectLst>
            </a:endParaRPr>
          </a:p>
          <a:p>
            <a:r>
              <a:rPr lang="pt-BR" sz="1200" i="1" dirty="0" smtClean="0"/>
              <a:t>Data Inicio: 11-4-2015</a:t>
            </a:r>
          </a:p>
          <a:p>
            <a:r>
              <a:rPr lang="pt-BR" sz="1200" i="1" dirty="0" smtClean="0"/>
              <a:t>Data Conclusão: 02-09-2016</a:t>
            </a:r>
          </a:p>
          <a:p>
            <a:r>
              <a:rPr lang="pt-BR" sz="1200" i="1" dirty="0" smtClean="0"/>
              <a:t>Progresso: 20%</a:t>
            </a:r>
          </a:p>
          <a:p>
            <a:r>
              <a:rPr lang="pt-BR" sz="1200" i="1" dirty="0" smtClean="0"/>
              <a:t>PM</a:t>
            </a:r>
            <a:r>
              <a:rPr lang="pt-BR" sz="1200" i="1" dirty="0"/>
              <a:t>: </a:t>
            </a:r>
            <a:r>
              <a:rPr lang="pt-BR" sz="1200" i="1" dirty="0" err="1" smtClean="0"/>
              <a:t>Luis</a:t>
            </a:r>
            <a:r>
              <a:rPr lang="pt-BR" sz="1200" i="1" dirty="0" smtClean="0"/>
              <a:t> Marçal</a:t>
            </a:r>
          </a:p>
        </p:txBody>
      </p:sp>
      <p:sp>
        <p:nvSpPr>
          <p:cNvPr id="16" name="Retângulo 15"/>
          <p:cNvSpPr/>
          <p:nvPr/>
        </p:nvSpPr>
        <p:spPr>
          <a:xfrm>
            <a:off x="3165435" y="2054536"/>
            <a:ext cx="2716382" cy="2475419"/>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0" lvl="1" algn="ctr">
              <a:spcBef>
                <a:spcPts val="200"/>
              </a:spcBef>
              <a:spcAft>
                <a:spcPts val="200"/>
              </a:spcAft>
            </a:pPr>
            <a:r>
              <a:rPr lang="pt-BR" sz="1400" b="1" dirty="0">
                <a:solidFill>
                  <a:schemeClr val="tx1">
                    <a:lumMod val="95000"/>
                    <a:lumOff val="5000"/>
                  </a:schemeClr>
                </a:solidFill>
              </a:rPr>
              <a:t>Próximas Ações</a:t>
            </a:r>
            <a:endParaRPr lang="pt-BR" sz="1400" dirty="0">
              <a:solidFill>
                <a:schemeClr val="tx1">
                  <a:lumMod val="95000"/>
                  <a:lumOff val="5000"/>
                </a:schemeClr>
              </a:solidFill>
            </a:endParaRPr>
          </a:p>
          <a:p>
            <a:pPr marL="171450" lvl="1" indent="-171450">
              <a:spcBef>
                <a:spcPts val="200"/>
              </a:spcBef>
              <a:spcAft>
                <a:spcPts val="200"/>
              </a:spcAft>
              <a:buFont typeface="Wingdings" panose="05000000000000000000" pitchFamily="2" charset="2"/>
              <a:buChar char="§"/>
            </a:pPr>
            <a:r>
              <a:rPr lang="pt-BR" sz="1200" dirty="0" smtClean="0">
                <a:solidFill>
                  <a:schemeClr val="tx1">
                    <a:lumMod val="95000"/>
                    <a:lumOff val="5000"/>
                  </a:schemeClr>
                </a:solidFill>
              </a:rPr>
              <a:t>José Carlo e Rivaldo vão definir agenda de treinamentos.</a:t>
            </a:r>
          </a:p>
        </p:txBody>
      </p:sp>
      <p:sp>
        <p:nvSpPr>
          <p:cNvPr id="17" name="Retângulo 16"/>
          <p:cNvSpPr/>
          <p:nvPr/>
        </p:nvSpPr>
        <p:spPr>
          <a:xfrm>
            <a:off x="6004018" y="2081342"/>
            <a:ext cx="2716382" cy="2475419"/>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0" lvl="1" algn="ctr">
              <a:spcBef>
                <a:spcPts val="200"/>
              </a:spcBef>
              <a:spcAft>
                <a:spcPts val="200"/>
              </a:spcAft>
            </a:pPr>
            <a:r>
              <a:rPr lang="pt-BR" sz="1400" b="1" dirty="0" smtClean="0">
                <a:solidFill>
                  <a:schemeClr val="tx1">
                    <a:lumMod val="95000"/>
                    <a:lumOff val="5000"/>
                  </a:schemeClr>
                </a:solidFill>
              </a:rPr>
              <a:t>Riscos/Problemas/Observações</a:t>
            </a:r>
          </a:p>
          <a:p>
            <a:pPr marL="285750" lvl="1" indent="-285750">
              <a:spcBef>
                <a:spcPts val="200"/>
              </a:spcBef>
              <a:spcAft>
                <a:spcPts val="200"/>
              </a:spcAft>
              <a:buFont typeface="Wingdings" panose="05000000000000000000" pitchFamily="2" charset="2"/>
              <a:buChar char="Ø"/>
            </a:pPr>
            <a:r>
              <a:rPr lang="pt-BR" sz="1200" dirty="0" err="1" smtClean="0">
                <a:solidFill>
                  <a:schemeClr val="tx1">
                    <a:lumMod val="95000"/>
                    <a:lumOff val="5000"/>
                  </a:schemeClr>
                </a:solidFill>
              </a:rPr>
              <a:t>Obs</a:t>
            </a:r>
            <a:r>
              <a:rPr lang="pt-BR" sz="1200" dirty="0" smtClean="0">
                <a:solidFill>
                  <a:schemeClr val="tx1">
                    <a:lumMod val="95000"/>
                    <a:lumOff val="5000"/>
                  </a:schemeClr>
                </a:solidFill>
              </a:rPr>
              <a:t>: Projeto esteve parado até definição de nova estratégia. </a:t>
            </a:r>
            <a:r>
              <a:rPr lang="pt-BR" sz="1200" u="sng" dirty="0" smtClean="0">
                <a:solidFill>
                  <a:schemeClr val="tx1">
                    <a:lumMod val="95000"/>
                    <a:lumOff val="5000"/>
                  </a:schemeClr>
                </a:solidFill>
              </a:rPr>
              <a:t>O </a:t>
            </a:r>
            <a:r>
              <a:rPr lang="pt-BR" sz="1200" b="1" u="sng" dirty="0" smtClean="0">
                <a:solidFill>
                  <a:schemeClr val="tx1">
                    <a:lumMod val="95000"/>
                    <a:lumOff val="5000"/>
                  </a:schemeClr>
                </a:solidFill>
              </a:rPr>
              <a:t>cronograma vai ser atualizado </a:t>
            </a:r>
            <a:r>
              <a:rPr lang="pt-BR" sz="1200" u="sng" dirty="0" smtClean="0">
                <a:solidFill>
                  <a:schemeClr val="tx1">
                    <a:lumMod val="95000"/>
                    <a:lumOff val="5000"/>
                  </a:schemeClr>
                </a:solidFill>
              </a:rPr>
              <a:t>quando tivermos datas de treinamento.</a:t>
            </a:r>
            <a:endParaRPr lang="pt-BR" sz="1200" u="sng" dirty="0">
              <a:solidFill>
                <a:schemeClr val="tx1">
                  <a:lumMod val="95000"/>
                  <a:lumOff val="5000"/>
                </a:schemeClr>
              </a:solidFill>
            </a:endParaRPr>
          </a:p>
        </p:txBody>
      </p:sp>
      <p:sp>
        <p:nvSpPr>
          <p:cNvPr id="18" name="Retângulo de cantos arredondados 17"/>
          <p:cNvSpPr/>
          <p:nvPr/>
        </p:nvSpPr>
        <p:spPr>
          <a:xfrm>
            <a:off x="3382225" y="776936"/>
            <a:ext cx="5338175" cy="1080992"/>
          </a:xfrm>
          <a:prstGeom prst="roundRect">
            <a:avLst/>
          </a:prstGeom>
          <a:solidFill>
            <a:schemeClr val="accent1">
              <a:lumMod val="50000"/>
            </a:schemeClr>
          </a:soli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r>
              <a:rPr lang="pt-BR" sz="1400" b="1" dirty="0" smtClean="0">
                <a:effectLst>
                  <a:outerShdw blurRad="38100" dist="38100" dir="2700000" algn="tl">
                    <a:srgbClr val="000000">
                      <a:alpha val="43137"/>
                    </a:srgbClr>
                  </a:outerShdw>
                </a:effectLst>
              </a:rPr>
              <a:t>Descritivo:  </a:t>
            </a:r>
            <a:r>
              <a:rPr lang="pt-BR" sz="1400" dirty="0"/>
              <a:t>M</a:t>
            </a:r>
            <a:r>
              <a:rPr lang="pt-BR" sz="1400" dirty="0" smtClean="0"/>
              <a:t>onitoração </a:t>
            </a:r>
            <a:r>
              <a:rPr lang="pt-BR" sz="1400" dirty="0"/>
              <a:t>pró ativa de </a:t>
            </a:r>
            <a:r>
              <a:rPr lang="pt-BR" sz="1400" dirty="0" smtClean="0"/>
              <a:t>hardware e elimina </a:t>
            </a:r>
            <a:r>
              <a:rPr lang="pt-BR" sz="1400" dirty="0"/>
              <a:t>a possibilidade de perda de dados por falta de visibilidade do </a:t>
            </a:r>
            <a:r>
              <a:rPr lang="pt-BR" sz="1400" dirty="0" smtClean="0"/>
              <a:t>ambiente. </a:t>
            </a:r>
            <a:endParaRPr lang="pt-BR" sz="1400" dirty="0"/>
          </a:p>
        </p:txBody>
      </p:sp>
      <p:grpSp>
        <p:nvGrpSpPr>
          <p:cNvPr id="13" name="Group 16"/>
          <p:cNvGrpSpPr>
            <a:grpSpLocks/>
          </p:cNvGrpSpPr>
          <p:nvPr/>
        </p:nvGrpSpPr>
        <p:grpSpPr bwMode="auto">
          <a:xfrm>
            <a:off x="2890797" y="1499802"/>
            <a:ext cx="274638" cy="274638"/>
            <a:chOff x="0" y="0"/>
            <a:chExt cx="173" cy="173"/>
          </a:xfrm>
        </p:grpSpPr>
        <p:sp>
          <p:nvSpPr>
            <p:cNvPr id="14" name="Oval 17"/>
            <p:cNvSpPr>
              <a:spLocks noChangeArrowheads="1"/>
            </p:cNvSpPr>
            <p:nvPr/>
          </p:nvSpPr>
          <p:spPr bwMode="auto">
            <a:xfrm>
              <a:off x="0" y="0"/>
              <a:ext cx="173" cy="173"/>
            </a:xfrm>
            <a:prstGeom prst="ellipse">
              <a:avLst/>
            </a:prstGeom>
            <a:noFill/>
            <a:ln w="63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sp>
          <p:nvSpPr>
            <p:cNvPr id="19" name="Arc 18"/>
            <p:cNvSpPr>
              <a:spLocks/>
            </p:cNvSpPr>
            <p:nvPr/>
          </p:nvSpPr>
          <p:spPr bwMode="auto">
            <a:xfrm>
              <a:off x="86" y="0"/>
              <a:ext cx="62" cy="86"/>
            </a:xfrm>
            <a:custGeom>
              <a:avLst/>
              <a:gdLst>
                <a:gd name="G0" fmla="+- 58 0 0"/>
                <a:gd name="G1" fmla="+- 21600 0 0"/>
                <a:gd name="G2" fmla="+- 21600 0 0"/>
                <a:gd name="T0" fmla="*/ 0 w 15318"/>
                <a:gd name="T1" fmla="*/ 1 h 21600"/>
                <a:gd name="T2" fmla="*/ 15318 w 15318"/>
                <a:gd name="T3" fmla="*/ 6314 h 21600"/>
                <a:gd name="T4" fmla="*/ 58 w 15318"/>
                <a:gd name="T5" fmla="*/ 21600 h 21600"/>
              </a:gdLst>
              <a:ahLst/>
              <a:cxnLst>
                <a:cxn ang="0">
                  <a:pos x="T0" y="T1"/>
                </a:cxn>
                <a:cxn ang="0">
                  <a:pos x="T2" y="T3"/>
                </a:cxn>
                <a:cxn ang="0">
                  <a:pos x="T4" y="T5"/>
                </a:cxn>
              </a:cxnLst>
              <a:rect l="0" t="0" r="r" b="b"/>
              <a:pathLst>
                <a:path w="15318" h="21600" fill="none" extrusionOk="0">
                  <a:moveTo>
                    <a:pt x="-1" y="0"/>
                  </a:moveTo>
                  <a:cubicBezTo>
                    <a:pt x="19" y="0"/>
                    <a:pt x="38" y="0"/>
                    <a:pt x="58" y="0"/>
                  </a:cubicBezTo>
                  <a:cubicBezTo>
                    <a:pt x="5780" y="0"/>
                    <a:pt x="11268" y="2270"/>
                    <a:pt x="15318" y="6313"/>
                  </a:cubicBezTo>
                </a:path>
                <a:path w="15318" h="21600" stroke="0" extrusionOk="0">
                  <a:moveTo>
                    <a:pt x="-1" y="0"/>
                  </a:moveTo>
                  <a:cubicBezTo>
                    <a:pt x="19" y="0"/>
                    <a:pt x="38" y="0"/>
                    <a:pt x="58" y="0"/>
                  </a:cubicBezTo>
                  <a:cubicBezTo>
                    <a:pt x="5780" y="0"/>
                    <a:pt x="11268" y="2270"/>
                    <a:pt x="15318" y="6313"/>
                  </a:cubicBezTo>
                  <a:lnTo>
                    <a:pt x="58" y="21600"/>
                  </a:lnTo>
                  <a:close/>
                </a:path>
              </a:pathLst>
            </a:custGeom>
            <a:solidFill>
              <a:srgbClr val="000000"/>
            </a:solidFill>
            <a:ln w="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sp>
          <p:nvSpPr>
            <p:cNvPr id="20" name="Arc 19"/>
            <p:cNvSpPr>
              <a:spLocks/>
            </p:cNvSpPr>
            <p:nvPr/>
          </p:nvSpPr>
          <p:spPr bwMode="auto">
            <a:xfrm>
              <a:off x="86" y="25"/>
              <a:ext cx="87" cy="62"/>
            </a:xfrm>
            <a:custGeom>
              <a:avLst/>
              <a:gdLst>
                <a:gd name="G0" fmla="+- 0 0 0"/>
                <a:gd name="G1" fmla="+- 15382 0 0"/>
                <a:gd name="G2" fmla="+- 21600 0 0"/>
                <a:gd name="T0" fmla="*/ 15163 w 21600"/>
                <a:gd name="T1" fmla="*/ 0 h 15382"/>
                <a:gd name="T2" fmla="*/ 21600 w 21600"/>
                <a:gd name="T3" fmla="*/ 15382 h 15382"/>
                <a:gd name="T4" fmla="*/ 0 w 21600"/>
                <a:gd name="T5" fmla="*/ 15382 h 15382"/>
              </a:gdLst>
              <a:ahLst/>
              <a:cxnLst>
                <a:cxn ang="0">
                  <a:pos x="T0" y="T1"/>
                </a:cxn>
                <a:cxn ang="0">
                  <a:pos x="T2" y="T3"/>
                </a:cxn>
                <a:cxn ang="0">
                  <a:pos x="T4" y="T5"/>
                </a:cxn>
              </a:cxnLst>
              <a:rect l="0" t="0" r="r" b="b"/>
              <a:pathLst>
                <a:path w="21600" h="15382" fill="none" extrusionOk="0">
                  <a:moveTo>
                    <a:pt x="15163" y="-1"/>
                  </a:moveTo>
                  <a:cubicBezTo>
                    <a:pt x="19281" y="4058"/>
                    <a:pt x="21600" y="9599"/>
                    <a:pt x="21600" y="15382"/>
                  </a:cubicBezTo>
                </a:path>
                <a:path w="21600" h="15382" stroke="0" extrusionOk="0">
                  <a:moveTo>
                    <a:pt x="15163" y="-1"/>
                  </a:moveTo>
                  <a:cubicBezTo>
                    <a:pt x="19281" y="4058"/>
                    <a:pt x="21600" y="9599"/>
                    <a:pt x="21600" y="15382"/>
                  </a:cubicBezTo>
                  <a:lnTo>
                    <a:pt x="0" y="15382"/>
                  </a:lnTo>
                  <a:close/>
                </a:path>
              </a:pathLst>
            </a:custGeom>
            <a:solidFill>
              <a:srgbClr val="000000"/>
            </a:solidFill>
            <a:ln w="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sp>
          <p:nvSpPr>
            <p:cNvPr id="21" name="Arc 20"/>
            <p:cNvSpPr>
              <a:spLocks/>
            </p:cNvSpPr>
            <p:nvPr/>
          </p:nvSpPr>
          <p:spPr bwMode="auto">
            <a:xfrm>
              <a:off x="86" y="87"/>
              <a:ext cx="87" cy="61"/>
            </a:xfrm>
            <a:custGeom>
              <a:avLst/>
              <a:gdLst>
                <a:gd name="G0" fmla="+- 0 0 0"/>
                <a:gd name="G1" fmla="+- 29 0 0"/>
                <a:gd name="G2" fmla="+- 21600 0 0"/>
                <a:gd name="T0" fmla="*/ 21599 w 21600"/>
                <a:gd name="T1" fmla="*/ 0 h 15266"/>
                <a:gd name="T2" fmla="*/ 15309 w 21600"/>
                <a:gd name="T3" fmla="*/ 15266 h 15266"/>
                <a:gd name="T4" fmla="*/ 0 w 21600"/>
                <a:gd name="T5" fmla="*/ 29 h 15266"/>
              </a:gdLst>
              <a:ahLst/>
              <a:cxnLst>
                <a:cxn ang="0">
                  <a:pos x="T0" y="T1"/>
                </a:cxn>
                <a:cxn ang="0">
                  <a:pos x="T2" y="T3"/>
                </a:cxn>
                <a:cxn ang="0">
                  <a:pos x="T4" y="T5"/>
                </a:cxn>
              </a:cxnLst>
              <a:rect l="0" t="0" r="r" b="b"/>
              <a:pathLst>
                <a:path w="21600" h="15266" fill="none" extrusionOk="0">
                  <a:moveTo>
                    <a:pt x="21599" y="-1"/>
                  </a:moveTo>
                  <a:cubicBezTo>
                    <a:pt x="21599" y="9"/>
                    <a:pt x="21600" y="19"/>
                    <a:pt x="21600" y="29"/>
                  </a:cubicBezTo>
                  <a:cubicBezTo>
                    <a:pt x="21600" y="5740"/>
                    <a:pt x="19338" y="11218"/>
                    <a:pt x="15309" y="15266"/>
                  </a:cubicBezTo>
                </a:path>
                <a:path w="21600" h="15266" stroke="0" extrusionOk="0">
                  <a:moveTo>
                    <a:pt x="21599" y="-1"/>
                  </a:moveTo>
                  <a:cubicBezTo>
                    <a:pt x="21599" y="9"/>
                    <a:pt x="21600" y="19"/>
                    <a:pt x="21600" y="29"/>
                  </a:cubicBezTo>
                  <a:cubicBezTo>
                    <a:pt x="21600" y="5740"/>
                    <a:pt x="19338" y="11218"/>
                    <a:pt x="15309" y="15266"/>
                  </a:cubicBezTo>
                  <a:lnTo>
                    <a:pt x="0" y="29"/>
                  </a:lnTo>
                  <a:close/>
                </a:path>
              </a:pathLst>
            </a:custGeom>
            <a:solidFill>
              <a:srgbClr val="000000"/>
            </a:solidFill>
            <a:ln w="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grpSp>
    </p:spTree>
    <p:extLst>
      <p:ext uri="{BB962C8B-B14F-4D97-AF65-F5344CB8AC3E}">
        <p14:creationId xmlns:p14="http://schemas.microsoft.com/office/powerpoint/2010/main" val="1391538793"/>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childTnLst>
                                </p:cTn>
                              </p:par>
                              <p:par>
                                <p:cTn id="8" presetID="10" presetClass="entr" presetSubtype="0" fill="hold" grpId="0" nodeType="withEffect">
                                  <p:stCondLst>
                                    <p:cond delay="25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1000"/>
                                        <p:tgtEl>
                                          <p:spTgt spid="16"/>
                                        </p:tgtEl>
                                      </p:cBhvr>
                                    </p:animEffect>
                                  </p:childTnLst>
                                </p:cTn>
                              </p:par>
                              <p:par>
                                <p:cTn id="11" presetID="10" presetClass="entr" presetSubtype="0" fill="hold" grpId="0" nodeType="withEffect">
                                  <p:stCondLst>
                                    <p:cond delay="25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1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76780" t="78172" r="18395" b="12686"/>
          <a:stretch/>
        </p:blipFill>
        <p:spPr bwMode="auto">
          <a:xfrm>
            <a:off x="8188658" y="4384319"/>
            <a:ext cx="955343" cy="7639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9"/>
          <p:cNvPicPr>
            <a:picLocks noChangeAspect="1"/>
          </p:cNvPicPr>
          <p:nvPr/>
        </p:nvPicPr>
        <p:blipFill>
          <a:blip r:embed="rId4"/>
          <a:stretch>
            <a:fillRect/>
          </a:stretch>
        </p:blipFill>
        <p:spPr>
          <a:xfrm>
            <a:off x="7021333" y="289005"/>
            <a:ext cx="1603348" cy="291323"/>
          </a:xfrm>
          <a:prstGeom prst="rect">
            <a:avLst/>
          </a:prstGeom>
        </p:spPr>
      </p:pic>
      <p:pic>
        <p:nvPicPr>
          <p:cNvPr id="8" name="Picture 1" descr="t03-02.jpg"/>
          <p:cNvPicPr>
            <a:picLocks noChangeAspect="1"/>
          </p:cNvPicPr>
          <p:nvPr/>
        </p:nvPicPr>
        <p:blipFill rotWithShape="1">
          <a:blip r:embed="rId5">
            <a:extLst>
              <a:ext uri="{28A0092B-C50C-407E-A947-70E740481C1C}">
                <a14:useLocalDpi xmlns:a14="http://schemas.microsoft.com/office/drawing/2010/main" val="0"/>
              </a:ext>
            </a:extLst>
          </a:blip>
          <a:srcRect r="91368" b="84909"/>
          <a:stretch/>
        </p:blipFill>
        <p:spPr>
          <a:xfrm>
            <a:off x="0" y="0"/>
            <a:ext cx="789296" cy="776935"/>
          </a:xfrm>
          <a:prstGeom prst="rect">
            <a:avLst/>
          </a:prstGeom>
        </p:spPr>
      </p:pic>
      <p:sp>
        <p:nvSpPr>
          <p:cNvPr id="6" name="CaixaDeTexto 5"/>
          <p:cNvSpPr txBox="1"/>
          <p:nvPr/>
        </p:nvSpPr>
        <p:spPr>
          <a:xfrm>
            <a:off x="2039091" y="300128"/>
            <a:ext cx="184731" cy="369332"/>
          </a:xfrm>
          <a:prstGeom prst="rect">
            <a:avLst/>
          </a:prstGeom>
          <a:noFill/>
        </p:spPr>
        <p:txBody>
          <a:bodyPr wrap="none" rtlCol="0">
            <a:spAutoFit/>
          </a:bodyPr>
          <a:lstStyle/>
          <a:p>
            <a:endParaRPr lang="pt-BR" dirty="0"/>
          </a:p>
        </p:txBody>
      </p:sp>
      <p:sp>
        <p:nvSpPr>
          <p:cNvPr id="9" name="Title 1"/>
          <p:cNvSpPr txBox="1">
            <a:spLocks/>
          </p:cNvSpPr>
          <p:nvPr/>
        </p:nvSpPr>
        <p:spPr>
          <a:xfrm>
            <a:off x="562659" y="90471"/>
            <a:ext cx="6254098" cy="5604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pt-BR" sz="2800" b="1" dirty="0">
                <a:solidFill>
                  <a:schemeClr val="tx2"/>
                </a:solidFill>
                <a:latin typeface="Arial" pitchFamily="34" charset="0"/>
                <a:cs typeface="Arial" pitchFamily="34" charset="0"/>
              </a:rPr>
              <a:t>6</a:t>
            </a:r>
            <a:r>
              <a:rPr lang="pt-BR" sz="2800" b="1" dirty="0" smtClean="0">
                <a:solidFill>
                  <a:schemeClr val="tx2"/>
                </a:solidFill>
                <a:latin typeface="Arial" pitchFamily="34" charset="0"/>
                <a:cs typeface="Arial" pitchFamily="34" charset="0"/>
              </a:rPr>
              <a:t>. Projeto: Qualidade em Gravação</a:t>
            </a:r>
            <a:endParaRPr lang="pt-BR" sz="2800" b="1" dirty="0">
              <a:solidFill>
                <a:schemeClr val="tx2"/>
              </a:solidFill>
              <a:latin typeface="Arial" pitchFamily="34" charset="0"/>
              <a:cs typeface="Arial" pitchFamily="34" charset="0"/>
            </a:endParaRPr>
          </a:p>
        </p:txBody>
      </p:sp>
      <p:sp>
        <p:nvSpPr>
          <p:cNvPr id="12" name="Retângulo 11"/>
          <p:cNvSpPr/>
          <p:nvPr/>
        </p:nvSpPr>
        <p:spPr>
          <a:xfrm>
            <a:off x="221121" y="1986751"/>
            <a:ext cx="2716382" cy="2551766"/>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0" lvl="1" algn="ctr">
              <a:spcBef>
                <a:spcPts val="200"/>
              </a:spcBef>
              <a:spcAft>
                <a:spcPts val="200"/>
              </a:spcAft>
            </a:pPr>
            <a:r>
              <a:rPr lang="pt-BR" sz="1400" b="1" dirty="0">
                <a:solidFill>
                  <a:schemeClr val="tx1">
                    <a:lumMod val="95000"/>
                    <a:lumOff val="5000"/>
                  </a:schemeClr>
                </a:solidFill>
              </a:rPr>
              <a:t>Últimas Realizações</a:t>
            </a:r>
            <a:endParaRPr lang="pt-BR" sz="1200" dirty="0">
              <a:solidFill>
                <a:schemeClr val="tx1">
                  <a:lumMod val="95000"/>
                  <a:lumOff val="5000"/>
                </a:schemeClr>
              </a:solidFill>
            </a:endParaRPr>
          </a:p>
          <a:p>
            <a:pPr marL="171450" lvl="1" indent="-171450">
              <a:spcBef>
                <a:spcPts val="200"/>
              </a:spcBef>
              <a:spcAft>
                <a:spcPts val="200"/>
              </a:spcAft>
              <a:buFont typeface="Wingdings" panose="05000000000000000000" pitchFamily="2" charset="2"/>
              <a:buChar char="Ø"/>
            </a:pPr>
            <a:r>
              <a:rPr lang="pt-BR" sz="1400" dirty="0">
                <a:solidFill>
                  <a:schemeClr val="tx1"/>
                </a:solidFill>
              </a:rPr>
              <a:t>Novas demandas e oportunidade de melhoria do projeto foram adicionadas. A data estimada de conclusão passou para </a:t>
            </a:r>
            <a:r>
              <a:rPr lang="pt-BR" sz="1400" dirty="0" smtClean="0">
                <a:solidFill>
                  <a:schemeClr val="tx1"/>
                </a:solidFill>
              </a:rPr>
              <a:t>Agosto</a:t>
            </a:r>
            <a:r>
              <a:rPr lang="pt-BR" sz="1400" dirty="0">
                <a:solidFill>
                  <a:schemeClr val="tx1"/>
                </a:solidFill>
              </a:rPr>
              <a:t>.</a:t>
            </a:r>
            <a:endParaRPr lang="pt-BR" sz="1400" dirty="0" smtClean="0">
              <a:solidFill>
                <a:schemeClr val="tx1"/>
              </a:solidFill>
            </a:endParaRPr>
          </a:p>
          <a:p>
            <a:pPr marL="171450" lvl="1" indent="-171450">
              <a:spcBef>
                <a:spcPts val="200"/>
              </a:spcBef>
              <a:spcAft>
                <a:spcPts val="200"/>
              </a:spcAft>
              <a:buFont typeface="Wingdings" panose="05000000000000000000" pitchFamily="2" charset="2"/>
              <a:buChar char="Ø"/>
            </a:pPr>
            <a:r>
              <a:rPr lang="pt-BR" sz="1400" dirty="0" smtClean="0">
                <a:solidFill>
                  <a:schemeClr val="tx1"/>
                </a:solidFill>
              </a:rPr>
              <a:t>Em fase de homologação a APP </a:t>
            </a:r>
            <a:r>
              <a:rPr lang="pt-BR" sz="1400" dirty="0">
                <a:solidFill>
                  <a:schemeClr val="tx1"/>
                </a:solidFill>
              </a:rPr>
              <a:t>PAINEL de produção e </a:t>
            </a:r>
            <a:r>
              <a:rPr lang="pt-BR" sz="1400" dirty="0" smtClean="0">
                <a:solidFill>
                  <a:schemeClr val="tx1"/>
                </a:solidFill>
              </a:rPr>
              <a:t>CSE.</a:t>
            </a:r>
          </a:p>
          <a:p>
            <a:pPr marL="171450" lvl="1" indent="-171450">
              <a:spcBef>
                <a:spcPts val="200"/>
              </a:spcBef>
              <a:spcAft>
                <a:spcPts val="200"/>
              </a:spcAft>
              <a:buFont typeface="Wingdings" panose="05000000000000000000" pitchFamily="2" charset="2"/>
              <a:buChar char="Ø"/>
            </a:pPr>
            <a:r>
              <a:rPr lang="pt-BR" sz="1400" dirty="0" smtClean="0">
                <a:solidFill>
                  <a:schemeClr val="tx1"/>
                </a:solidFill>
              </a:rPr>
              <a:t>Em fase final na interpretação dos </a:t>
            </a:r>
            <a:r>
              <a:rPr lang="pt-BR" sz="1400" b="1" dirty="0" smtClean="0">
                <a:solidFill>
                  <a:schemeClr val="tx1"/>
                </a:solidFill>
              </a:rPr>
              <a:t>contratos</a:t>
            </a:r>
            <a:r>
              <a:rPr lang="pt-BR" sz="1400" dirty="0" smtClean="0">
                <a:solidFill>
                  <a:schemeClr val="tx1"/>
                </a:solidFill>
              </a:rPr>
              <a:t> (</a:t>
            </a:r>
            <a:r>
              <a:rPr lang="pt-BR" sz="1400" dirty="0" err="1" smtClean="0">
                <a:solidFill>
                  <a:schemeClr val="tx1"/>
                </a:solidFill>
              </a:rPr>
              <a:t>SLAs</a:t>
            </a:r>
            <a:r>
              <a:rPr lang="pt-BR" sz="1400" dirty="0">
                <a:solidFill>
                  <a:schemeClr val="tx1"/>
                </a:solidFill>
              </a:rPr>
              <a:t> </a:t>
            </a:r>
            <a:r>
              <a:rPr lang="pt-BR" sz="1400" dirty="0" smtClean="0">
                <a:solidFill>
                  <a:schemeClr val="tx1"/>
                </a:solidFill>
              </a:rPr>
              <a:t>de recuperações de gravação).</a:t>
            </a:r>
          </a:p>
          <a:p>
            <a:pPr marL="0" lvl="1">
              <a:spcBef>
                <a:spcPts val="200"/>
              </a:spcBef>
              <a:spcAft>
                <a:spcPts val="200"/>
              </a:spcAft>
            </a:pPr>
            <a:endParaRPr lang="pt-BR" sz="1200" dirty="0" smtClean="0">
              <a:solidFill>
                <a:schemeClr val="tx1">
                  <a:lumMod val="95000"/>
                  <a:lumOff val="5000"/>
                </a:schemeClr>
              </a:solidFill>
            </a:endParaRPr>
          </a:p>
        </p:txBody>
      </p:sp>
      <p:sp>
        <p:nvSpPr>
          <p:cNvPr id="15" name="Retângulo de cantos arredondados 14"/>
          <p:cNvSpPr/>
          <p:nvPr/>
        </p:nvSpPr>
        <p:spPr>
          <a:xfrm>
            <a:off x="158943" y="776935"/>
            <a:ext cx="3064339" cy="1080993"/>
          </a:xfrm>
          <a:prstGeom prst="roundRect">
            <a:avLst/>
          </a:prstGeom>
          <a:solidFill>
            <a:srgbClr val="00B050"/>
          </a:soli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r>
              <a:rPr lang="pt-BR" sz="1400" b="1" dirty="0">
                <a:effectLst>
                  <a:outerShdw blurRad="38100" dist="38100" dir="2700000" algn="tl">
                    <a:srgbClr val="000000">
                      <a:alpha val="43137"/>
                    </a:srgbClr>
                  </a:outerShdw>
                </a:effectLst>
              </a:rPr>
              <a:t>Projeto:  </a:t>
            </a:r>
            <a:r>
              <a:rPr lang="pt-BR" sz="1400" b="1" dirty="0" smtClean="0">
                <a:effectLst>
                  <a:outerShdw blurRad="38100" dist="38100" dir="2700000" algn="tl">
                    <a:srgbClr val="000000">
                      <a:alpha val="43137"/>
                    </a:srgbClr>
                  </a:outerShdw>
                </a:effectLst>
              </a:rPr>
              <a:t>Qualidade em Gravação</a:t>
            </a:r>
            <a:endParaRPr lang="pt-BR" sz="1400" b="1" dirty="0">
              <a:effectLst>
                <a:outerShdw blurRad="38100" dist="38100" dir="2700000" algn="tl">
                  <a:srgbClr val="000000">
                    <a:alpha val="43137"/>
                  </a:srgbClr>
                </a:outerShdw>
              </a:effectLst>
            </a:endParaRPr>
          </a:p>
          <a:p>
            <a:r>
              <a:rPr lang="pt-BR" sz="1200" dirty="0"/>
              <a:t>Data Inicio: </a:t>
            </a:r>
            <a:r>
              <a:rPr lang="pt-BR" sz="1200" dirty="0" smtClean="0"/>
              <a:t>24-02-2016  </a:t>
            </a:r>
          </a:p>
          <a:p>
            <a:r>
              <a:rPr lang="pt-BR" sz="1200" dirty="0" smtClean="0"/>
              <a:t>Data </a:t>
            </a:r>
            <a:r>
              <a:rPr lang="pt-BR" sz="1200" dirty="0"/>
              <a:t>Conclusão: </a:t>
            </a:r>
            <a:r>
              <a:rPr lang="pt-BR" sz="1200" strike="sngStrike" dirty="0"/>
              <a:t>23-05-2016</a:t>
            </a:r>
            <a:r>
              <a:rPr lang="pt-BR" sz="1200" dirty="0"/>
              <a:t>  </a:t>
            </a:r>
            <a:r>
              <a:rPr lang="pt-BR" sz="1200" dirty="0" smtClean="0"/>
              <a:t>08-08-2016</a:t>
            </a:r>
            <a:endParaRPr lang="pt-BR" sz="1200" dirty="0"/>
          </a:p>
          <a:p>
            <a:r>
              <a:rPr lang="pt-BR" sz="1200" dirty="0"/>
              <a:t>Progresso: </a:t>
            </a:r>
            <a:r>
              <a:rPr lang="pt-BR" sz="1200" dirty="0" smtClean="0"/>
              <a:t>68%</a:t>
            </a:r>
            <a:endParaRPr lang="pt-BR" sz="1200" dirty="0"/>
          </a:p>
          <a:p>
            <a:r>
              <a:rPr lang="pt-BR" sz="1200" dirty="0"/>
              <a:t>PM: </a:t>
            </a:r>
            <a:r>
              <a:rPr lang="pt-BR" sz="1200" dirty="0" err="1"/>
              <a:t>Luis</a:t>
            </a:r>
            <a:r>
              <a:rPr lang="pt-BR" sz="1200" dirty="0"/>
              <a:t> Marçal</a:t>
            </a:r>
          </a:p>
        </p:txBody>
      </p:sp>
      <p:sp>
        <p:nvSpPr>
          <p:cNvPr id="16" name="Retângulo 15"/>
          <p:cNvSpPr/>
          <p:nvPr/>
        </p:nvSpPr>
        <p:spPr>
          <a:xfrm>
            <a:off x="3121682" y="1996691"/>
            <a:ext cx="2910818" cy="2554525"/>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0" lvl="1" algn="ctr">
              <a:spcBef>
                <a:spcPts val="200"/>
              </a:spcBef>
              <a:spcAft>
                <a:spcPts val="200"/>
              </a:spcAft>
            </a:pPr>
            <a:r>
              <a:rPr lang="pt-BR" sz="1400" b="1" dirty="0">
                <a:solidFill>
                  <a:schemeClr val="tx1">
                    <a:lumMod val="95000"/>
                    <a:lumOff val="5000"/>
                  </a:schemeClr>
                </a:solidFill>
              </a:rPr>
              <a:t>Próximas Ações</a:t>
            </a:r>
            <a:endParaRPr lang="pt-BR" sz="1400" dirty="0">
              <a:solidFill>
                <a:schemeClr val="tx1">
                  <a:lumMod val="95000"/>
                  <a:lumOff val="5000"/>
                </a:schemeClr>
              </a:solidFill>
            </a:endParaRPr>
          </a:p>
          <a:p>
            <a:pPr marL="171450" indent="-171450">
              <a:buFont typeface="Wingdings" panose="05000000000000000000" pitchFamily="2" charset="2"/>
              <a:buChar char="Ø"/>
            </a:pPr>
            <a:r>
              <a:rPr lang="pt-BR" sz="1400" dirty="0" smtClean="0">
                <a:solidFill>
                  <a:schemeClr val="tx1"/>
                </a:solidFill>
              </a:rPr>
              <a:t>O </a:t>
            </a:r>
            <a:r>
              <a:rPr lang="pt-BR" sz="1400" dirty="0" err="1" smtClean="0">
                <a:solidFill>
                  <a:schemeClr val="tx1"/>
                </a:solidFill>
              </a:rPr>
              <a:t>Tprocess</a:t>
            </a:r>
            <a:r>
              <a:rPr lang="pt-BR" sz="1400" dirty="0" smtClean="0">
                <a:solidFill>
                  <a:schemeClr val="tx1"/>
                </a:solidFill>
              </a:rPr>
              <a:t> foi selecionado como canal único de chamados para recuperação. </a:t>
            </a:r>
            <a:endParaRPr lang="pt-BR" sz="1400" dirty="0">
              <a:solidFill>
                <a:schemeClr val="tx1"/>
              </a:solidFill>
            </a:endParaRPr>
          </a:p>
          <a:p>
            <a:pPr marL="171450" lvl="1" indent="-171450">
              <a:spcBef>
                <a:spcPts val="200"/>
              </a:spcBef>
              <a:spcAft>
                <a:spcPts val="200"/>
              </a:spcAft>
              <a:buFont typeface="Wingdings" panose="05000000000000000000" pitchFamily="2" charset="2"/>
              <a:buChar char="Ø"/>
            </a:pPr>
            <a:r>
              <a:rPr lang="pt-BR" sz="1400" dirty="0" smtClean="0">
                <a:solidFill>
                  <a:schemeClr val="tx1"/>
                </a:solidFill>
              </a:rPr>
              <a:t>O Bradesco escolhido para  ser o piloto do processo de recuperação de gravações, na nova metodologia.</a:t>
            </a:r>
            <a:endParaRPr lang="pt-BR" sz="1400" dirty="0">
              <a:solidFill>
                <a:schemeClr val="tx1"/>
              </a:solidFill>
            </a:endParaRPr>
          </a:p>
          <a:p>
            <a:endParaRPr lang="pt-BR" sz="1200" dirty="0">
              <a:solidFill>
                <a:schemeClr val="tx1">
                  <a:lumMod val="95000"/>
                  <a:lumOff val="5000"/>
                </a:schemeClr>
              </a:solidFill>
            </a:endParaRPr>
          </a:p>
        </p:txBody>
      </p:sp>
      <p:sp>
        <p:nvSpPr>
          <p:cNvPr id="17" name="Retângulo 16"/>
          <p:cNvSpPr/>
          <p:nvPr/>
        </p:nvSpPr>
        <p:spPr>
          <a:xfrm>
            <a:off x="6225443" y="1986751"/>
            <a:ext cx="2716382" cy="2551765"/>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0" lvl="1" algn="ctr">
              <a:spcBef>
                <a:spcPts val="200"/>
              </a:spcBef>
              <a:spcAft>
                <a:spcPts val="200"/>
              </a:spcAft>
            </a:pPr>
            <a:r>
              <a:rPr lang="pt-BR" sz="1400" b="1" dirty="0" smtClean="0">
                <a:solidFill>
                  <a:schemeClr val="tx1">
                    <a:lumMod val="95000"/>
                    <a:lumOff val="5000"/>
                  </a:schemeClr>
                </a:solidFill>
              </a:rPr>
              <a:t>Riscos/Problemas/Observações</a:t>
            </a:r>
          </a:p>
          <a:p>
            <a:pPr marL="0" lvl="1" algn="ctr">
              <a:spcBef>
                <a:spcPts val="200"/>
              </a:spcBef>
              <a:spcAft>
                <a:spcPts val="200"/>
              </a:spcAft>
            </a:pPr>
            <a:endParaRPr lang="pt-BR" sz="1200" dirty="0" smtClean="0">
              <a:solidFill>
                <a:schemeClr val="tx1">
                  <a:lumMod val="95000"/>
                  <a:lumOff val="5000"/>
                </a:schemeClr>
              </a:solidFill>
            </a:endParaRPr>
          </a:p>
          <a:p>
            <a:pPr marL="0" lvl="1">
              <a:spcBef>
                <a:spcPts val="200"/>
              </a:spcBef>
              <a:spcAft>
                <a:spcPts val="200"/>
              </a:spcAft>
            </a:pPr>
            <a:r>
              <a:rPr lang="pt-BR" sz="1400" dirty="0" err="1">
                <a:solidFill>
                  <a:schemeClr val="tx1"/>
                </a:solidFill>
              </a:rPr>
              <a:t>Obs</a:t>
            </a:r>
            <a:r>
              <a:rPr lang="pt-BR" sz="1400" dirty="0">
                <a:solidFill>
                  <a:schemeClr val="tx1"/>
                </a:solidFill>
              </a:rPr>
              <a:t>: A abrangência e aderência na nova </a:t>
            </a:r>
            <a:r>
              <a:rPr lang="pt-BR" sz="1400" dirty="0" smtClean="0">
                <a:solidFill>
                  <a:schemeClr val="tx1"/>
                </a:solidFill>
              </a:rPr>
              <a:t>metodologia no novo “modus operando” de recuperação </a:t>
            </a:r>
            <a:r>
              <a:rPr lang="pt-BR" sz="1400" dirty="0">
                <a:solidFill>
                  <a:schemeClr val="tx1"/>
                </a:solidFill>
              </a:rPr>
              <a:t>de gravação, poderá ser um desafio para algumas áreas. </a:t>
            </a:r>
          </a:p>
          <a:p>
            <a:pPr marL="0" lvl="1">
              <a:spcBef>
                <a:spcPts val="200"/>
              </a:spcBef>
              <a:spcAft>
                <a:spcPts val="200"/>
              </a:spcAft>
            </a:pPr>
            <a:endParaRPr lang="pt-BR" sz="1200" dirty="0">
              <a:solidFill>
                <a:schemeClr val="tx1">
                  <a:lumMod val="95000"/>
                  <a:lumOff val="5000"/>
                </a:schemeClr>
              </a:solidFill>
            </a:endParaRPr>
          </a:p>
          <a:p>
            <a:pPr marL="0" lvl="1">
              <a:spcBef>
                <a:spcPts val="200"/>
              </a:spcBef>
              <a:spcAft>
                <a:spcPts val="200"/>
              </a:spcAft>
            </a:pPr>
            <a:endParaRPr lang="pt-BR" sz="1200" dirty="0">
              <a:solidFill>
                <a:schemeClr val="tx1">
                  <a:lumMod val="95000"/>
                  <a:lumOff val="5000"/>
                </a:schemeClr>
              </a:solidFill>
            </a:endParaRPr>
          </a:p>
          <a:p>
            <a:pPr marL="0" lvl="1" algn="ctr">
              <a:spcBef>
                <a:spcPts val="200"/>
              </a:spcBef>
              <a:spcAft>
                <a:spcPts val="200"/>
              </a:spcAft>
            </a:pPr>
            <a:endParaRPr lang="pt-BR" sz="1200" dirty="0" smtClean="0">
              <a:solidFill>
                <a:schemeClr val="tx1">
                  <a:lumMod val="95000"/>
                  <a:lumOff val="5000"/>
                </a:schemeClr>
              </a:solidFill>
            </a:endParaRPr>
          </a:p>
        </p:txBody>
      </p:sp>
      <p:sp>
        <p:nvSpPr>
          <p:cNvPr id="18" name="Retângulo de cantos arredondados 17"/>
          <p:cNvSpPr/>
          <p:nvPr/>
        </p:nvSpPr>
        <p:spPr>
          <a:xfrm>
            <a:off x="3382225" y="776936"/>
            <a:ext cx="5559600" cy="1080992"/>
          </a:xfrm>
          <a:prstGeom prst="roundRect">
            <a:avLst/>
          </a:prstGeom>
          <a:solidFill>
            <a:schemeClr val="accent1">
              <a:lumMod val="50000"/>
            </a:schemeClr>
          </a:soli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r>
              <a:rPr lang="pt-BR" sz="1400" b="1" dirty="0" smtClean="0">
                <a:effectLst>
                  <a:outerShdw blurRad="38100" dist="38100" dir="2700000" algn="tl">
                    <a:srgbClr val="000000">
                      <a:alpha val="43137"/>
                    </a:srgbClr>
                  </a:outerShdw>
                </a:effectLst>
              </a:rPr>
              <a:t>Descritivo: </a:t>
            </a:r>
            <a:r>
              <a:rPr lang="pt-BR" sz="1400" dirty="0"/>
              <a:t>Este projeto tem como escopo, executar um plano de ação para eliminar multas (de gravação) nos clientes Contax.</a:t>
            </a:r>
          </a:p>
        </p:txBody>
      </p:sp>
      <p:grpSp>
        <p:nvGrpSpPr>
          <p:cNvPr id="25" name="Group 27"/>
          <p:cNvGrpSpPr>
            <a:grpSpLocks/>
          </p:cNvGrpSpPr>
          <p:nvPr/>
        </p:nvGrpSpPr>
        <p:grpSpPr bwMode="auto">
          <a:xfrm>
            <a:off x="2841062" y="1510383"/>
            <a:ext cx="274637" cy="274638"/>
            <a:chOff x="0" y="0"/>
            <a:chExt cx="173" cy="173"/>
          </a:xfrm>
        </p:grpSpPr>
        <p:sp>
          <p:nvSpPr>
            <p:cNvPr id="26" name="Oval 28"/>
            <p:cNvSpPr>
              <a:spLocks noChangeArrowheads="1"/>
            </p:cNvSpPr>
            <p:nvPr/>
          </p:nvSpPr>
          <p:spPr bwMode="auto">
            <a:xfrm>
              <a:off x="0" y="0"/>
              <a:ext cx="173" cy="173"/>
            </a:xfrm>
            <a:prstGeom prst="ellipse">
              <a:avLst/>
            </a:prstGeom>
            <a:noFill/>
            <a:ln w="63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sp>
          <p:nvSpPr>
            <p:cNvPr id="27" name="Arc 29"/>
            <p:cNvSpPr>
              <a:spLocks/>
            </p:cNvSpPr>
            <p:nvPr/>
          </p:nvSpPr>
          <p:spPr bwMode="auto">
            <a:xfrm>
              <a:off x="86" y="0"/>
              <a:ext cx="62" cy="86"/>
            </a:xfrm>
            <a:custGeom>
              <a:avLst/>
              <a:gdLst>
                <a:gd name="G0" fmla="+- 58 0 0"/>
                <a:gd name="G1" fmla="+- 21600 0 0"/>
                <a:gd name="G2" fmla="+- 21600 0 0"/>
                <a:gd name="T0" fmla="*/ 0 w 15318"/>
                <a:gd name="T1" fmla="*/ 1 h 21600"/>
                <a:gd name="T2" fmla="*/ 15318 w 15318"/>
                <a:gd name="T3" fmla="*/ 6314 h 21600"/>
                <a:gd name="T4" fmla="*/ 58 w 15318"/>
                <a:gd name="T5" fmla="*/ 21600 h 21600"/>
              </a:gdLst>
              <a:ahLst/>
              <a:cxnLst>
                <a:cxn ang="0">
                  <a:pos x="T0" y="T1"/>
                </a:cxn>
                <a:cxn ang="0">
                  <a:pos x="T2" y="T3"/>
                </a:cxn>
                <a:cxn ang="0">
                  <a:pos x="T4" y="T5"/>
                </a:cxn>
              </a:cxnLst>
              <a:rect l="0" t="0" r="r" b="b"/>
              <a:pathLst>
                <a:path w="15318" h="21600" fill="none" extrusionOk="0">
                  <a:moveTo>
                    <a:pt x="-1" y="0"/>
                  </a:moveTo>
                  <a:cubicBezTo>
                    <a:pt x="19" y="0"/>
                    <a:pt x="38" y="0"/>
                    <a:pt x="58" y="0"/>
                  </a:cubicBezTo>
                  <a:cubicBezTo>
                    <a:pt x="5780" y="0"/>
                    <a:pt x="11268" y="2270"/>
                    <a:pt x="15318" y="6313"/>
                  </a:cubicBezTo>
                </a:path>
                <a:path w="15318" h="21600" stroke="0" extrusionOk="0">
                  <a:moveTo>
                    <a:pt x="-1" y="0"/>
                  </a:moveTo>
                  <a:cubicBezTo>
                    <a:pt x="19" y="0"/>
                    <a:pt x="38" y="0"/>
                    <a:pt x="58" y="0"/>
                  </a:cubicBezTo>
                  <a:cubicBezTo>
                    <a:pt x="5780" y="0"/>
                    <a:pt x="11268" y="2270"/>
                    <a:pt x="15318" y="6313"/>
                  </a:cubicBezTo>
                  <a:lnTo>
                    <a:pt x="58" y="21600"/>
                  </a:lnTo>
                  <a:close/>
                </a:path>
              </a:pathLst>
            </a:custGeom>
            <a:solidFill>
              <a:srgbClr val="000000"/>
            </a:solidFill>
            <a:ln w="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sp>
          <p:nvSpPr>
            <p:cNvPr id="28" name="Arc 30"/>
            <p:cNvSpPr>
              <a:spLocks/>
            </p:cNvSpPr>
            <p:nvPr/>
          </p:nvSpPr>
          <p:spPr bwMode="auto">
            <a:xfrm>
              <a:off x="86" y="25"/>
              <a:ext cx="87" cy="62"/>
            </a:xfrm>
            <a:custGeom>
              <a:avLst/>
              <a:gdLst>
                <a:gd name="G0" fmla="+- 0 0 0"/>
                <a:gd name="G1" fmla="+- 15382 0 0"/>
                <a:gd name="G2" fmla="+- 21600 0 0"/>
                <a:gd name="T0" fmla="*/ 15163 w 21600"/>
                <a:gd name="T1" fmla="*/ 0 h 15382"/>
                <a:gd name="T2" fmla="*/ 21600 w 21600"/>
                <a:gd name="T3" fmla="*/ 15382 h 15382"/>
                <a:gd name="T4" fmla="*/ 0 w 21600"/>
                <a:gd name="T5" fmla="*/ 15382 h 15382"/>
              </a:gdLst>
              <a:ahLst/>
              <a:cxnLst>
                <a:cxn ang="0">
                  <a:pos x="T0" y="T1"/>
                </a:cxn>
                <a:cxn ang="0">
                  <a:pos x="T2" y="T3"/>
                </a:cxn>
                <a:cxn ang="0">
                  <a:pos x="T4" y="T5"/>
                </a:cxn>
              </a:cxnLst>
              <a:rect l="0" t="0" r="r" b="b"/>
              <a:pathLst>
                <a:path w="21600" h="15382" fill="none" extrusionOk="0">
                  <a:moveTo>
                    <a:pt x="15163" y="-1"/>
                  </a:moveTo>
                  <a:cubicBezTo>
                    <a:pt x="19281" y="4058"/>
                    <a:pt x="21600" y="9599"/>
                    <a:pt x="21600" y="15382"/>
                  </a:cubicBezTo>
                </a:path>
                <a:path w="21600" h="15382" stroke="0" extrusionOk="0">
                  <a:moveTo>
                    <a:pt x="15163" y="-1"/>
                  </a:moveTo>
                  <a:cubicBezTo>
                    <a:pt x="19281" y="4058"/>
                    <a:pt x="21600" y="9599"/>
                    <a:pt x="21600" y="15382"/>
                  </a:cubicBezTo>
                  <a:lnTo>
                    <a:pt x="0" y="15382"/>
                  </a:lnTo>
                  <a:close/>
                </a:path>
              </a:pathLst>
            </a:custGeom>
            <a:solidFill>
              <a:srgbClr val="000000"/>
            </a:solidFill>
            <a:ln w="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sp>
          <p:nvSpPr>
            <p:cNvPr id="29" name="Arc 31"/>
            <p:cNvSpPr>
              <a:spLocks/>
            </p:cNvSpPr>
            <p:nvPr/>
          </p:nvSpPr>
          <p:spPr bwMode="auto">
            <a:xfrm>
              <a:off x="86" y="87"/>
              <a:ext cx="87" cy="61"/>
            </a:xfrm>
            <a:custGeom>
              <a:avLst/>
              <a:gdLst>
                <a:gd name="G0" fmla="+- 0 0 0"/>
                <a:gd name="G1" fmla="+- 29 0 0"/>
                <a:gd name="G2" fmla="+- 21600 0 0"/>
                <a:gd name="T0" fmla="*/ 21599 w 21600"/>
                <a:gd name="T1" fmla="*/ 0 h 15266"/>
                <a:gd name="T2" fmla="*/ 15309 w 21600"/>
                <a:gd name="T3" fmla="*/ 15266 h 15266"/>
                <a:gd name="T4" fmla="*/ 0 w 21600"/>
                <a:gd name="T5" fmla="*/ 29 h 15266"/>
              </a:gdLst>
              <a:ahLst/>
              <a:cxnLst>
                <a:cxn ang="0">
                  <a:pos x="T0" y="T1"/>
                </a:cxn>
                <a:cxn ang="0">
                  <a:pos x="T2" y="T3"/>
                </a:cxn>
                <a:cxn ang="0">
                  <a:pos x="T4" y="T5"/>
                </a:cxn>
              </a:cxnLst>
              <a:rect l="0" t="0" r="r" b="b"/>
              <a:pathLst>
                <a:path w="21600" h="15266" fill="none" extrusionOk="0">
                  <a:moveTo>
                    <a:pt x="21599" y="-1"/>
                  </a:moveTo>
                  <a:cubicBezTo>
                    <a:pt x="21599" y="9"/>
                    <a:pt x="21600" y="19"/>
                    <a:pt x="21600" y="29"/>
                  </a:cubicBezTo>
                  <a:cubicBezTo>
                    <a:pt x="21600" y="5740"/>
                    <a:pt x="19338" y="11218"/>
                    <a:pt x="15309" y="15266"/>
                  </a:cubicBezTo>
                </a:path>
                <a:path w="21600" h="15266" stroke="0" extrusionOk="0">
                  <a:moveTo>
                    <a:pt x="21599" y="-1"/>
                  </a:moveTo>
                  <a:cubicBezTo>
                    <a:pt x="21599" y="9"/>
                    <a:pt x="21600" y="19"/>
                    <a:pt x="21600" y="29"/>
                  </a:cubicBezTo>
                  <a:cubicBezTo>
                    <a:pt x="21600" y="5740"/>
                    <a:pt x="19338" y="11218"/>
                    <a:pt x="15309" y="15266"/>
                  </a:cubicBezTo>
                  <a:lnTo>
                    <a:pt x="0" y="29"/>
                  </a:lnTo>
                  <a:close/>
                </a:path>
              </a:pathLst>
            </a:custGeom>
            <a:solidFill>
              <a:srgbClr val="000000"/>
            </a:solidFill>
            <a:ln w="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sp>
          <p:nvSpPr>
            <p:cNvPr id="30" name="Arc 32"/>
            <p:cNvSpPr>
              <a:spLocks/>
            </p:cNvSpPr>
            <p:nvPr/>
          </p:nvSpPr>
          <p:spPr bwMode="auto">
            <a:xfrm>
              <a:off x="86" y="87"/>
              <a:ext cx="62" cy="86"/>
            </a:xfrm>
            <a:custGeom>
              <a:avLst/>
              <a:gdLst>
                <a:gd name="G0" fmla="+- 0 0 0"/>
                <a:gd name="G1" fmla="+- 0 0 0"/>
                <a:gd name="G2" fmla="+- 21600 0 0"/>
                <a:gd name="T0" fmla="*/ 15386 w 15386"/>
                <a:gd name="T1" fmla="*/ 15159 h 21599"/>
                <a:gd name="T2" fmla="*/ 28 w 15386"/>
                <a:gd name="T3" fmla="*/ 21599 h 21599"/>
                <a:gd name="T4" fmla="*/ 0 w 15386"/>
                <a:gd name="T5" fmla="*/ 0 h 21599"/>
              </a:gdLst>
              <a:ahLst/>
              <a:cxnLst>
                <a:cxn ang="0">
                  <a:pos x="T0" y="T1"/>
                </a:cxn>
                <a:cxn ang="0">
                  <a:pos x="T2" y="T3"/>
                </a:cxn>
                <a:cxn ang="0">
                  <a:pos x="T4" y="T5"/>
                </a:cxn>
              </a:cxnLst>
              <a:rect l="0" t="0" r="r" b="b"/>
              <a:pathLst>
                <a:path w="15386" h="21599" fill="none" extrusionOk="0">
                  <a:moveTo>
                    <a:pt x="15386" y="15159"/>
                  </a:moveTo>
                  <a:cubicBezTo>
                    <a:pt x="11333" y="19273"/>
                    <a:pt x="5802" y="21592"/>
                    <a:pt x="28" y="21599"/>
                  </a:cubicBezTo>
                </a:path>
                <a:path w="15386" h="21599" stroke="0" extrusionOk="0">
                  <a:moveTo>
                    <a:pt x="15386" y="15159"/>
                  </a:moveTo>
                  <a:cubicBezTo>
                    <a:pt x="11333" y="19273"/>
                    <a:pt x="5802" y="21592"/>
                    <a:pt x="28" y="21599"/>
                  </a:cubicBezTo>
                  <a:lnTo>
                    <a:pt x="0" y="0"/>
                  </a:lnTo>
                  <a:close/>
                </a:path>
              </a:pathLst>
            </a:custGeom>
            <a:solidFill>
              <a:srgbClr val="000000"/>
            </a:solidFill>
            <a:ln w="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sp>
          <p:nvSpPr>
            <p:cNvPr id="31" name="Arc 33"/>
            <p:cNvSpPr>
              <a:spLocks/>
            </p:cNvSpPr>
            <p:nvPr/>
          </p:nvSpPr>
          <p:spPr bwMode="auto">
            <a:xfrm flipH="1">
              <a:off x="25" y="87"/>
              <a:ext cx="62" cy="86"/>
            </a:xfrm>
            <a:custGeom>
              <a:avLst/>
              <a:gdLst>
                <a:gd name="G0" fmla="+- 0 0 0"/>
                <a:gd name="G1" fmla="+- 0 0 0"/>
                <a:gd name="G2" fmla="+- 21600 0 0"/>
                <a:gd name="T0" fmla="*/ 15386 w 15386"/>
                <a:gd name="T1" fmla="*/ 15159 h 21599"/>
                <a:gd name="T2" fmla="*/ 28 w 15386"/>
                <a:gd name="T3" fmla="*/ 21599 h 21599"/>
                <a:gd name="T4" fmla="*/ 0 w 15386"/>
                <a:gd name="T5" fmla="*/ 0 h 21599"/>
              </a:gdLst>
              <a:ahLst/>
              <a:cxnLst>
                <a:cxn ang="0">
                  <a:pos x="T0" y="T1"/>
                </a:cxn>
                <a:cxn ang="0">
                  <a:pos x="T2" y="T3"/>
                </a:cxn>
                <a:cxn ang="0">
                  <a:pos x="T4" y="T5"/>
                </a:cxn>
              </a:cxnLst>
              <a:rect l="0" t="0" r="r" b="b"/>
              <a:pathLst>
                <a:path w="15386" h="21599" fill="none" extrusionOk="0">
                  <a:moveTo>
                    <a:pt x="15386" y="15159"/>
                  </a:moveTo>
                  <a:cubicBezTo>
                    <a:pt x="11333" y="19273"/>
                    <a:pt x="5802" y="21592"/>
                    <a:pt x="28" y="21599"/>
                  </a:cubicBezTo>
                </a:path>
                <a:path w="15386" h="21599" stroke="0" extrusionOk="0">
                  <a:moveTo>
                    <a:pt x="15386" y="15159"/>
                  </a:moveTo>
                  <a:cubicBezTo>
                    <a:pt x="11333" y="19273"/>
                    <a:pt x="5802" y="21592"/>
                    <a:pt x="28" y="21599"/>
                  </a:cubicBezTo>
                  <a:lnTo>
                    <a:pt x="0" y="0"/>
                  </a:lnTo>
                  <a:close/>
                </a:path>
              </a:pathLst>
            </a:custGeom>
            <a:solidFill>
              <a:srgbClr val="000000"/>
            </a:solidFill>
            <a:ln w="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grpSp>
    </p:spTree>
    <p:extLst>
      <p:ext uri="{BB962C8B-B14F-4D97-AF65-F5344CB8AC3E}">
        <p14:creationId xmlns:p14="http://schemas.microsoft.com/office/powerpoint/2010/main" val="236548685"/>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childTnLst>
                                </p:cTn>
                              </p:par>
                              <p:par>
                                <p:cTn id="8" presetID="10" presetClass="entr" presetSubtype="0" fill="hold" grpId="0" nodeType="withEffect">
                                  <p:stCondLst>
                                    <p:cond delay="25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1000"/>
                                        <p:tgtEl>
                                          <p:spTgt spid="16"/>
                                        </p:tgtEl>
                                      </p:cBhvr>
                                    </p:animEffect>
                                  </p:childTnLst>
                                </p:cTn>
                              </p:par>
                              <p:par>
                                <p:cTn id="11" presetID="10" presetClass="entr" presetSubtype="0" fill="hold" grpId="0" nodeType="withEffect">
                                  <p:stCondLst>
                                    <p:cond delay="25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1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76780" t="78172" r="18395" b="12686"/>
          <a:stretch/>
        </p:blipFill>
        <p:spPr bwMode="auto">
          <a:xfrm>
            <a:off x="8188658" y="4384319"/>
            <a:ext cx="955343" cy="7639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9"/>
          <p:cNvPicPr>
            <a:picLocks noChangeAspect="1"/>
          </p:cNvPicPr>
          <p:nvPr/>
        </p:nvPicPr>
        <p:blipFill>
          <a:blip r:embed="rId4"/>
          <a:stretch>
            <a:fillRect/>
          </a:stretch>
        </p:blipFill>
        <p:spPr>
          <a:xfrm>
            <a:off x="7021333" y="289005"/>
            <a:ext cx="1603348" cy="291323"/>
          </a:xfrm>
          <a:prstGeom prst="rect">
            <a:avLst/>
          </a:prstGeom>
        </p:spPr>
      </p:pic>
      <p:pic>
        <p:nvPicPr>
          <p:cNvPr id="8" name="Picture 1" descr="t03-02.jpg"/>
          <p:cNvPicPr>
            <a:picLocks noChangeAspect="1"/>
          </p:cNvPicPr>
          <p:nvPr/>
        </p:nvPicPr>
        <p:blipFill rotWithShape="1">
          <a:blip r:embed="rId5">
            <a:extLst>
              <a:ext uri="{28A0092B-C50C-407E-A947-70E740481C1C}">
                <a14:useLocalDpi xmlns:a14="http://schemas.microsoft.com/office/drawing/2010/main" val="0"/>
              </a:ext>
            </a:extLst>
          </a:blip>
          <a:srcRect r="91368" b="84909"/>
          <a:stretch/>
        </p:blipFill>
        <p:spPr>
          <a:xfrm>
            <a:off x="0" y="0"/>
            <a:ext cx="789296" cy="776935"/>
          </a:xfrm>
          <a:prstGeom prst="rect">
            <a:avLst/>
          </a:prstGeom>
        </p:spPr>
      </p:pic>
      <p:sp>
        <p:nvSpPr>
          <p:cNvPr id="6" name="CaixaDeTexto 5"/>
          <p:cNvSpPr txBox="1"/>
          <p:nvPr/>
        </p:nvSpPr>
        <p:spPr>
          <a:xfrm>
            <a:off x="2039091" y="300128"/>
            <a:ext cx="184731" cy="369332"/>
          </a:xfrm>
          <a:prstGeom prst="rect">
            <a:avLst/>
          </a:prstGeom>
          <a:noFill/>
        </p:spPr>
        <p:txBody>
          <a:bodyPr wrap="none" rtlCol="0">
            <a:spAutoFit/>
          </a:bodyPr>
          <a:lstStyle/>
          <a:p>
            <a:endParaRPr lang="pt-BR" dirty="0"/>
          </a:p>
        </p:txBody>
      </p:sp>
      <p:sp>
        <p:nvSpPr>
          <p:cNvPr id="9" name="Title 1"/>
          <p:cNvSpPr txBox="1">
            <a:spLocks/>
          </p:cNvSpPr>
          <p:nvPr/>
        </p:nvSpPr>
        <p:spPr>
          <a:xfrm>
            <a:off x="562659" y="90471"/>
            <a:ext cx="6254098" cy="560400"/>
          </a:xfrm>
          <a:prstGeom prst="rect">
            <a:avLst/>
          </a:prstGeom>
        </p:spPr>
        <p:txBody>
          <a:bodyPr vert="horz" lIns="91440" tIns="45720" rIns="91440" bIns="45720" rtlCol="0" anchor="ctr">
            <a:normAutofit fontScale="85000" lnSpcReduction="1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pt-BR" sz="2800" b="1" dirty="0">
                <a:solidFill>
                  <a:schemeClr val="tx2"/>
                </a:solidFill>
                <a:latin typeface="Arial" pitchFamily="34" charset="0"/>
                <a:cs typeface="Arial" pitchFamily="34" charset="0"/>
              </a:rPr>
              <a:t>6. Projeto: T2R – Transição de Serviços</a:t>
            </a:r>
          </a:p>
        </p:txBody>
      </p:sp>
      <p:sp>
        <p:nvSpPr>
          <p:cNvPr id="12" name="Retângulo 11"/>
          <p:cNvSpPr/>
          <p:nvPr/>
        </p:nvSpPr>
        <p:spPr>
          <a:xfrm>
            <a:off x="221121" y="2081342"/>
            <a:ext cx="2716382" cy="2475419"/>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0" lvl="1" algn="ctr">
              <a:spcBef>
                <a:spcPts val="200"/>
              </a:spcBef>
              <a:spcAft>
                <a:spcPts val="200"/>
              </a:spcAft>
            </a:pPr>
            <a:r>
              <a:rPr lang="pt-BR" sz="1400" b="1" dirty="0">
                <a:solidFill>
                  <a:schemeClr val="tx1">
                    <a:lumMod val="95000"/>
                    <a:lumOff val="5000"/>
                  </a:schemeClr>
                </a:solidFill>
              </a:rPr>
              <a:t>Últimas Realizações</a:t>
            </a:r>
            <a:endParaRPr lang="pt-BR" sz="1200" dirty="0">
              <a:solidFill>
                <a:schemeClr val="tx1">
                  <a:lumMod val="95000"/>
                  <a:lumOff val="5000"/>
                </a:schemeClr>
              </a:solidFill>
            </a:endParaRPr>
          </a:p>
          <a:p>
            <a:pPr marL="171450" lvl="1" indent="-171450">
              <a:spcBef>
                <a:spcPts val="200"/>
              </a:spcBef>
              <a:spcAft>
                <a:spcPts val="200"/>
              </a:spcAft>
              <a:buFont typeface="Wingdings" panose="05000000000000000000" pitchFamily="2" charset="2"/>
              <a:buChar char="ü"/>
            </a:pPr>
            <a:r>
              <a:rPr lang="pt-BR" sz="1200" dirty="0">
                <a:solidFill>
                  <a:schemeClr val="tx1">
                    <a:lumMod val="95000"/>
                    <a:lumOff val="5000"/>
                  </a:schemeClr>
                </a:solidFill>
              </a:rPr>
              <a:t>Definir Ritos diferentes para Mudanças</a:t>
            </a:r>
          </a:p>
          <a:p>
            <a:pPr marL="171450" lvl="1" indent="-171450">
              <a:spcBef>
                <a:spcPts val="200"/>
              </a:spcBef>
              <a:spcAft>
                <a:spcPts val="200"/>
              </a:spcAft>
              <a:buFont typeface="Wingdings" panose="05000000000000000000" pitchFamily="2" charset="2"/>
              <a:buChar char="ü"/>
            </a:pPr>
            <a:r>
              <a:rPr lang="pt-BR" sz="1200" dirty="0">
                <a:solidFill>
                  <a:schemeClr val="tx1">
                    <a:lumMod val="95000"/>
                    <a:lumOff val="5000"/>
                  </a:schemeClr>
                </a:solidFill>
              </a:rPr>
              <a:t>Definir critérios para qualificação de </a:t>
            </a:r>
            <a:r>
              <a:rPr lang="pt-BR" sz="1200" dirty="0">
                <a:solidFill>
                  <a:schemeClr val="tx1"/>
                </a:solidFill>
              </a:rPr>
              <a:t>solicitações</a:t>
            </a:r>
          </a:p>
          <a:p>
            <a:pPr marL="171450" lvl="1" indent="-171450">
              <a:spcBef>
                <a:spcPts val="200"/>
              </a:spcBef>
              <a:spcAft>
                <a:spcPts val="200"/>
              </a:spcAft>
              <a:buFont typeface="Wingdings" panose="05000000000000000000" pitchFamily="2" charset="2"/>
              <a:buChar char="ü"/>
            </a:pPr>
            <a:r>
              <a:rPr lang="pt-BR" sz="1200" dirty="0">
                <a:solidFill>
                  <a:schemeClr val="tx1"/>
                </a:solidFill>
              </a:rPr>
              <a:t>Desenhar fluxo detalhado das solicitações.</a:t>
            </a:r>
          </a:p>
          <a:p>
            <a:pPr marL="0" lvl="1">
              <a:spcBef>
                <a:spcPts val="200"/>
              </a:spcBef>
              <a:spcAft>
                <a:spcPts val="200"/>
              </a:spcAft>
            </a:pPr>
            <a:endParaRPr lang="pt-BR" sz="1200" dirty="0">
              <a:solidFill>
                <a:schemeClr val="tx1">
                  <a:lumMod val="95000"/>
                  <a:lumOff val="5000"/>
                </a:schemeClr>
              </a:solidFill>
            </a:endParaRPr>
          </a:p>
        </p:txBody>
      </p:sp>
      <p:sp>
        <p:nvSpPr>
          <p:cNvPr id="15" name="Retângulo de cantos arredondados 14"/>
          <p:cNvSpPr/>
          <p:nvPr/>
        </p:nvSpPr>
        <p:spPr>
          <a:xfrm>
            <a:off x="221121" y="776935"/>
            <a:ext cx="3064339" cy="1080993"/>
          </a:xfrm>
          <a:prstGeom prst="roundRect">
            <a:avLst/>
          </a:prstGeom>
          <a:solidFill>
            <a:srgbClr val="00B050"/>
          </a:soli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r>
              <a:rPr lang="pt-BR" sz="1400" b="1" dirty="0">
                <a:effectLst>
                  <a:outerShdw blurRad="38100" dist="38100" dir="2700000" algn="tl">
                    <a:srgbClr val="000000">
                      <a:alpha val="43137"/>
                    </a:srgbClr>
                  </a:outerShdw>
                </a:effectLst>
              </a:rPr>
              <a:t>Projeto: T2R – Transição de Serviços</a:t>
            </a:r>
          </a:p>
          <a:p>
            <a:r>
              <a:rPr lang="pt-BR" sz="1200" i="1" dirty="0"/>
              <a:t>Data Inicio: 22-03-2016</a:t>
            </a:r>
          </a:p>
          <a:p>
            <a:r>
              <a:rPr lang="pt-BR" sz="1200" i="1" dirty="0"/>
              <a:t>Data Conclusão: 22-07-2016</a:t>
            </a:r>
          </a:p>
          <a:p>
            <a:r>
              <a:rPr lang="pt-BR" sz="1200" i="1" dirty="0"/>
              <a:t>Progresso</a:t>
            </a:r>
            <a:r>
              <a:rPr lang="pt-BR" sz="1200" i="1"/>
              <a:t>: 15%</a:t>
            </a:r>
            <a:endParaRPr lang="pt-BR" sz="1200" i="1" dirty="0"/>
          </a:p>
          <a:p>
            <a:r>
              <a:rPr lang="pt-BR" sz="1200" i="1" dirty="0"/>
              <a:t>PM: </a:t>
            </a:r>
            <a:r>
              <a:rPr lang="pt-BR" sz="1200" i="1" dirty="0" err="1"/>
              <a:t>Luis</a:t>
            </a:r>
            <a:r>
              <a:rPr lang="pt-BR" sz="1200" i="1" dirty="0"/>
              <a:t> Marçal</a:t>
            </a:r>
          </a:p>
        </p:txBody>
      </p:sp>
      <p:sp>
        <p:nvSpPr>
          <p:cNvPr id="16" name="Retângulo 15"/>
          <p:cNvSpPr/>
          <p:nvPr/>
        </p:nvSpPr>
        <p:spPr>
          <a:xfrm>
            <a:off x="3112569" y="2081341"/>
            <a:ext cx="2716382" cy="2475419"/>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0" lvl="1" algn="ctr">
              <a:spcBef>
                <a:spcPts val="200"/>
              </a:spcBef>
              <a:spcAft>
                <a:spcPts val="200"/>
              </a:spcAft>
            </a:pPr>
            <a:r>
              <a:rPr lang="pt-BR" sz="1400" b="1" dirty="0">
                <a:solidFill>
                  <a:schemeClr val="tx1">
                    <a:lumMod val="95000"/>
                    <a:lumOff val="5000"/>
                  </a:schemeClr>
                </a:solidFill>
              </a:rPr>
              <a:t>Próximas Ações</a:t>
            </a:r>
            <a:endParaRPr lang="pt-BR" sz="1400" dirty="0">
              <a:solidFill>
                <a:schemeClr val="tx1">
                  <a:lumMod val="95000"/>
                  <a:lumOff val="5000"/>
                </a:schemeClr>
              </a:solidFill>
            </a:endParaRPr>
          </a:p>
          <a:p>
            <a:pPr marL="171450" lvl="1" indent="-171450">
              <a:spcBef>
                <a:spcPts val="200"/>
              </a:spcBef>
              <a:spcAft>
                <a:spcPts val="200"/>
              </a:spcAft>
              <a:buFont typeface="Arial" panose="020B0604020202020204" pitchFamily="34" charset="0"/>
              <a:buChar char="•"/>
            </a:pPr>
            <a:r>
              <a:rPr lang="pt-BR" sz="1200" dirty="0">
                <a:solidFill>
                  <a:schemeClr val="tx1">
                    <a:lumMod val="95000"/>
                    <a:lumOff val="5000"/>
                  </a:schemeClr>
                </a:solidFill>
              </a:rPr>
              <a:t>Levantamento de controles por atividade da T2R.</a:t>
            </a:r>
          </a:p>
          <a:p>
            <a:pPr marL="171450" lvl="1" indent="-171450">
              <a:spcBef>
                <a:spcPts val="200"/>
              </a:spcBef>
              <a:spcAft>
                <a:spcPts val="200"/>
              </a:spcAft>
              <a:buFont typeface="Arial" panose="020B0604020202020204" pitchFamily="34" charset="0"/>
              <a:buChar char="•"/>
            </a:pPr>
            <a:r>
              <a:rPr lang="pt-BR" sz="1200" dirty="0">
                <a:solidFill>
                  <a:schemeClr val="tx1">
                    <a:lumMod val="95000"/>
                    <a:lumOff val="5000"/>
                  </a:schemeClr>
                </a:solidFill>
              </a:rPr>
              <a:t>Início de documentação e padronização dos controles.</a:t>
            </a:r>
          </a:p>
          <a:p>
            <a:pPr marL="171450" lvl="1" indent="-171450">
              <a:spcBef>
                <a:spcPts val="200"/>
              </a:spcBef>
              <a:spcAft>
                <a:spcPts val="200"/>
              </a:spcAft>
              <a:buFont typeface="Arial" panose="020B0604020202020204" pitchFamily="34" charset="0"/>
              <a:buChar char="•"/>
            </a:pPr>
            <a:r>
              <a:rPr lang="pt-BR" sz="1200" dirty="0">
                <a:solidFill>
                  <a:schemeClr val="tx1">
                    <a:lumMod val="95000"/>
                    <a:lumOff val="5000"/>
                  </a:schemeClr>
                </a:solidFill>
              </a:rPr>
              <a:t>Desenho de fluxograma detalhado por processos</a:t>
            </a:r>
            <a:r>
              <a:rPr lang="pt-BR" sz="1200" dirty="0" smtClean="0">
                <a:solidFill>
                  <a:schemeClr val="tx1">
                    <a:lumMod val="95000"/>
                    <a:lumOff val="5000"/>
                  </a:schemeClr>
                </a:solidFill>
              </a:rPr>
              <a:t>.</a:t>
            </a:r>
          </a:p>
          <a:p>
            <a:pPr marL="171450" lvl="1" indent="-171450">
              <a:spcBef>
                <a:spcPts val="200"/>
              </a:spcBef>
              <a:spcAft>
                <a:spcPts val="200"/>
              </a:spcAft>
              <a:buFont typeface="Arial" panose="020B0604020202020204" pitchFamily="34" charset="0"/>
              <a:buChar char="•"/>
            </a:pPr>
            <a:r>
              <a:rPr lang="pt-BR" sz="1200" dirty="0">
                <a:solidFill>
                  <a:schemeClr val="tx1">
                    <a:lumMod val="95000"/>
                    <a:lumOff val="5000"/>
                  </a:schemeClr>
                </a:solidFill>
              </a:rPr>
              <a:t>Definir os pontos de interface entre os processos de Gestão de Demandas e de Gestão de Projetos e o processo de Gestão de Mudanças. </a:t>
            </a:r>
          </a:p>
        </p:txBody>
      </p:sp>
      <p:sp>
        <p:nvSpPr>
          <p:cNvPr id="17" name="Retângulo 16"/>
          <p:cNvSpPr/>
          <p:nvPr/>
        </p:nvSpPr>
        <p:spPr>
          <a:xfrm>
            <a:off x="6004018" y="2081342"/>
            <a:ext cx="2716382" cy="2475419"/>
          </a:xfrm>
          <a:prstGeom prst="rect">
            <a:avLst/>
          </a:prstGeom>
          <a:gradFill flip="none" rotWithShape="1">
            <a:gsLst>
              <a:gs pos="0">
                <a:schemeClr val="bg1">
                  <a:lumMod val="75000"/>
                  <a:tint val="66000"/>
                  <a:satMod val="160000"/>
                </a:schemeClr>
              </a:gs>
              <a:gs pos="50000">
                <a:schemeClr val="bg1">
                  <a:lumMod val="75000"/>
                  <a:tint val="44500"/>
                  <a:satMod val="160000"/>
                </a:schemeClr>
              </a:gs>
              <a:gs pos="100000">
                <a:schemeClr val="bg1">
                  <a:lumMod val="75000"/>
                  <a:tint val="23500"/>
                  <a:satMod val="160000"/>
                </a:schemeClr>
              </a:gs>
            </a:gsLst>
            <a:lin ang="5400000" scaled="1"/>
            <a:tileRect/>
          </a:gra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t"/>
          <a:lstStyle/>
          <a:p>
            <a:pPr marL="0" lvl="1" algn="ctr">
              <a:spcBef>
                <a:spcPts val="200"/>
              </a:spcBef>
              <a:spcAft>
                <a:spcPts val="200"/>
              </a:spcAft>
            </a:pPr>
            <a:r>
              <a:rPr lang="pt-BR" sz="1400" b="1" dirty="0">
                <a:solidFill>
                  <a:schemeClr val="tx1">
                    <a:lumMod val="95000"/>
                    <a:lumOff val="5000"/>
                  </a:schemeClr>
                </a:solidFill>
              </a:rPr>
              <a:t>Riscos/Problemas/Observações</a:t>
            </a:r>
          </a:p>
          <a:p>
            <a:pPr marL="285750" lvl="1" indent="-285750">
              <a:spcBef>
                <a:spcPts val="200"/>
              </a:spcBef>
              <a:spcAft>
                <a:spcPts val="200"/>
              </a:spcAft>
              <a:buFont typeface="Arial" panose="020B0604020202020204" pitchFamily="34" charset="0"/>
              <a:buChar char="•"/>
            </a:pPr>
            <a:r>
              <a:rPr lang="pt-BR" sz="1200" dirty="0" smtClean="0">
                <a:solidFill>
                  <a:schemeClr val="tx1">
                    <a:lumMod val="95000"/>
                    <a:lumOff val="5000"/>
                  </a:schemeClr>
                </a:solidFill>
              </a:rPr>
              <a:t>Necessidades de alteração na ferramenta </a:t>
            </a:r>
            <a:r>
              <a:rPr lang="pt-BR" sz="1200" dirty="0" err="1" smtClean="0">
                <a:solidFill>
                  <a:schemeClr val="tx1">
                    <a:lumMod val="95000"/>
                    <a:lumOff val="5000"/>
                  </a:schemeClr>
                </a:solidFill>
              </a:rPr>
              <a:t>e</a:t>
            </a:r>
            <a:r>
              <a:rPr lang="pt-BR" sz="1200" dirty="0" err="1" smtClean="0">
                <a:solidFill>
                  <a:schemeClr val="tx1">
                    <a:lumMod val="95000"/>
                    <a:lumOff val="5000"/>
                  </a:schemeClr>
                </a:solidFill>
              </a:rPr>
              <a:t>GMUD</a:t>
            </a:r>
            <a:r>
              <a:rPr lang="pt-BR" sz="1200" dirty="0" smtClean="0">
                <a:solidFill>
                  <a:schemeClr val="tx1">
                    <a:lumMod val="95000"/>
                    <a:lumOff val="5000"/>
                  </a:schemeClr>
                </a:solidFill>
              </a:rPr>
              <a:t>.</a:t>
            </a:r>
            <a:endParaRPr lang="pt-BR" sz="1200" dirty="0">
              <a:solidFill>
                <a:schemeClr val="tx1">
                  <a:lumMod val="95000"/>
                  <a:lumOff val="5000"/>
                </a:schemeClr>
              </a:solidFill>
            </a:endParaRPr>
          </a:p>
        </p:txBody>
      </p:sp>
      <p:sp>
        <p:nvSpPr>
          <p:cNvPr id="18" name="Retângulo de cantos arredondados 17"/>
          <p:cNvSpPr/>
          <p:nvPr/>
        </p:nvSpPr>
        <p:spPr>
          <a:xfrm>
            <a:off x="3382225" y="776936"/>
            <a:ext cx="5338175" cy="1080992"/>
          </a:xfrm>
          <a:prstGeom prst="roundRect">
            <a:avLst/>
          </a:prstGeom>
          <a:solidFill>
            <a:schemeClr val="accent1">
              <a:lumMod val="50000"/>
            </a:schemeClr>
          </a:solidFill>
          <a:effectLst>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r>
              <a:rPr lang="pt-BR" sz="1400" b="1" dirty="0">
                <a:effectLst>
                  <a:outerShdw blurRad="38100" dist="38100" dir="2700000" algn="tl">
                    <a:srgbClr val="000000">
                      <a:alpha val="43137"/>
                    </a:srgbClr>
                  </a:outerShdw>
                </a:effectLst>
              </a:rPr>
              <a:t>Descritivo:  </a:t>
            </a:r>
            <a:r>
              <a:rPr lang="pt-BR" sz="1400" dirty="0"/>
              <a:t>Integração entre os processos de gerenciamento de Demandas, Projetos e Mudanças, para controle sobre o desenvolvimento e a implantação de Serviços novos ou alterados. </a:t>
            </a:r>
          </a:p>
        </p:txBody>
      </p:sp>
      <p:grpSp>
        <p:nvGrpSpPr>
          <p:cNvPr id="13" name="Group 9"/>
          <p:cNvGrpSpPr>
            <a:grpSpLocks/>
          </p:cNvGrpSpPr>
          <p:nvPr/>
        </p:nvGrpSpPr>
        <p:grpSpPr bwMode="auto">
          <a:xfrm>
            <a:off x="2957987" y="1524532"/>
            <a:ext cx="274638" cy="274638"/>
            <a:chOff x="0" y="0"/>
            <a:chExt cx="173" cy="173"/>
          </a:xfrm>
        </p:grpSpPr>
        <p:sp>
          <p:nvSpPr>
            <p:cNvPr id="14" name="Oval 10"/>
            <p:cNvSpPr>
              <a:spLocks noChangeArrowheads="1"/>
            </p:cNvSpPr>
            <p:nvPr/>
          </p:nvSpPr>
          <p:spPr bwMode="auto">
            <a:xfrm>
              <a:off x="0" y="0"/>
              <a:ext cx="173" cy="173"/>
            </a:xfrm>
            <a:prstGeom prst="ellipse">
              <a:avLst/>
            </a:prstGeom>
            <a:noFill/>
            <a:ln w="6350">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sp>
          <p:nvSpPr>
            <p:cNvPr id="19" name="Arc 11"/>
            <p:cNvSpPr>
              <a:spLocks/>
            </p:cNvSpPr>
            <p:nvPr/>
          </p:nvSpPr>
          <p:spPr bwMode="auto">
            <a:xfrm>
              <a:off x="86" y="0"/>
              <a:ext cx="62" cy="86"/>
            </a:xfrm>
            <a:custGeom>
              <a:avLst/>
              <a:gdLst>
                <a:gd name="G0" fmla="+- 58 0 0"/>
                <a:gd name="G1" fmla="+- 21600 0 0"/>
                <a:gd name="G2" fmla="+- 21600 0 0"/>
                <a:gd name="T0" fmla="*/ 0 w 15318"/>
                <a:gd name="T1" fmla="*/ 1 h 21600"/>
                <a:gd name="T2" fmla="*/ 15318 w 15318"/>
                <a:gd name="T3" fmla="*/ 6314 h 21600"/>
                <a:gd name="T4" fmla="*/ 58 w 15318"/>
                <a:gd name="T5" fmla="*/ 21600 h 21600"/>
              </a:gdLst>
              <a:ahLst/>
              <a:cxnLst>
                <a:cxn ang="0">
                  <a:pos x="T0" y="T1"/>
                </a:cxn>
                <a:cxn ang="0">
                  <a:pos x="T2" y="T3"/>
                </a:cxn>
                <a:cxn ang="0">
                  <a:pos x="T4" y="T5"/>
                </a:cxn>
              </a:cxnLst>
              <a:rect l="0" t="0" r="r" b="b"/>
              <a:pathLst>
                <a:path w="15318" h="21600" fill="none" extrusionOk="0">
                  <a:moveTo>
                    <a:pt x="-1" y="0"/>
                  </a:moveTo>
                  <a:cubicBezTo>
                    <a:pt x="19" y="0"/>
                    <a:pt x="38" y="0"/>
                    <a:pt x="58" y="0"/>
                  </a:cubicBezTo>
                  <a:cubicBezTo>
                    <a:pt x="5780" y="0"/>
                    <a:pt x="11268" y="2270"/>
                    <a:pt x="15318" y="6313"/>
                  </a:cubicBezTo>
                </a:path>
                <a:path w="15318" h="21600" stroke="0" extrusionOk="0">
                  <a:moveTo>
                    <a:pt x="-1" y="0"/>
                  </a:moveTo>
                  <a:cubicBezTo>
                    <a:pt x="19" y="0"/>
                    <a:pt x="38" y="0"/>
                    <a:pt x="58" y="0"/>
                  </a:cubicBezTo>
                  <a:cubicBezTo>
                    <a:pt x="5780" y="0"/>
                    <a:pt x="11268" y="2270"/>
                    <a:pt x="15318" y="6313"/>
                  </a:cubicBezTo>
                  <a:lnTo>
                    <a:pt x="58" y="21600"/>
                  </a:lnTo>
                  <a:close/>
                </a:path>
              </a:pathLst>
            </a:custGeom>
            <a:solidFill>
              <a:srgbClr val="000000"/>
            </a:solidFill>
            <a:ln w="0">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pt-BR"/>
            </a:p>
          </p:txBody>
        </p:sp>
      </p:grpSp>
    </p:spTree>
    <p:extLst>
      <p:ext uri="{BB962C8B-B14F-4D97-AF65-F5344CB8AC3E}">
        <p14:creationId xmlns:p14="http://schemas.microsoft.com/office/powerpoint/2010/main" val="2432916328"/>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childTnLst>
                                </p:cTn>
                              </p:par>
                              <p:par>
                                <p:cTn id="8" presetID="10" presetClass="entr" presetSubtype="0" fill="hold" grpId="0" nodeType="withEffect">
                                  <p:stCondLst>
                                    <p:cond delay="25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1000"/>
                                        <p:tgtEl>
                                          <p:spTgt spid="16"/>
                                        </p:tgtEl>
                                      </p:cBhvr>
                                    </p:animEffect>
                                  </p:childTnLst>
                                </p:cTn>
                              </p:par>
                              <p:par>
                                <p:cTn id="11" presetID="10" presetClass="entr" presetSubtype="0" fill="hold" grpId="0" nodeType="withEffect">
                                  <p:stCondLst>
                                    <p:cond delay="25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1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2"/>
          <a:stretch>
            <a:fillRect/>
          </a:stretch>
        </p:blipFill>
        <p:spPr>
          <a:xfrm>
            <a:off x="7021333" y="289005"/>
            <a:ext cx="1603348" cy="291323"/>
          </a:xfrm>
          <a:prstGeom prst="rect">
            <a:avLst/>
          </a:prstGeom>
        </p:spPr>
      </p:pic>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76780" t="78172" r="18395" b="12686"/>
          <a:stretch/>
        </p:blipFill>
        <p:spPr bwMode="auto">
          <a:xfrm>
            <a:off x="8188658" y="4384319"/>
            <a:ext cx="955343" cy="7639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1" descr="t03-02.jpg"/>
          <p:cNvPicPr>
            <a:picLocks noChangeAspect="1"/>
          </p:cNvPicPr>
          <p:nvPr/>
        </p:nvPicPr>
        <p:blipFill rotWithShape="1">
          <a:blip r:embed="rId4">
            <a:extLst>
              <a:ext uri="{28A0092B-C50C-407E-A947-70E740481C1C}">
                <a14:useLocalDpi xmlns:a14="http://schemas.microsoft.com/office/drawing/2010/main" val="0"/>
              </a:ext>
            </a:extLst>
          </a:blip>
          <a:srcRect r="91368" b="84909"/>
          <a:stretch/>
        </p:blipFill>
        <p:spPr>
          <a:xfrm>
            <a:off x="0" y="0"/>
            <a:ext cx="789296" cy="776935"/>
          </a:xfrm>
          <a:prstGeom prst="rect">
            <a:avLst/>
          </a:prstGeom>
        </p:spPr>
      </p:pic>
      <p:pic>
        <p:nvPicPr>
          <p:cNvPr id="4" name="Imagem 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7656" y="3888759"/>
            <a:ext cx="1524000" cy="11430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7" name="Title 1"/>
          <p:cNvSpPr txBox="1">
            <a:spLocks/>
          </p:cNvSpPr>
          <p:nvPr/>
        </p:nvSpPr>
        <p:spPr>
          <a:xfrm>
            <a:off x="562659" y="90471"/>
            <a:ext cx="6254098" cy="5604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buClr>
                <a:srgbClr val="800000"/>
              </a:buClr>
            </a:pPr>
            <a:r>
              <a:rPr lang="pt-BR" sz="2800" b="1" dirty="0">
                <a:solidFill>
                  <a:schemeClr val="tx2"/>
                </a:solidFill>
                <a:latin typeface="Arial" pitchFamily="34" charset="0"/>
                <a:cs typeface="Arial" pitchFamily="34" charset="0"/>
              </a:rPr>
              <a:t>7</a:t>
            </a:r>
            <a:r>
              <a:rPr lang="pt-BR" sz="2800" b="1" dirty="0" smtClean="0">
                <a:solidFill>
                  <a:schemeClr val="tx2"/>
                </a:solidFill>
                <a:latin typeface="Arial" pitchFamily="34" charset="0"/>
                <a:cs typeface="Arial" pitchFamily="34" charset="0"/>
              </a:rPr>
              <a:t>. Alinhamento</a:t>
            </a:r>
            <a:endParaRPr lang="pt-BR" sz="1800" b="1" dirty="0" smtClean="0">
              <a:solidFill>
                <a:schemeClr val="tx2"/>
              </a:solidFill>
              <a:latin typeface="Arial" pitchFamily="34" charset="0"/>
              <a:cs typeface="Arial" pitchFamily="34" charset="0"/>
            </a:endParaRPr>
          </a:p>
        </p:txBody>
      </p:sp>
      <p:pic>
        <p:nvPicPr>
          <p:cNvPr id="9" name="Imagem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0743" y="1885837"/>
            <a:ext cx="2015419" cy="151156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1" name="Imagem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46162" y="1885837"/>
            <a:ext cx="2574943" cy="193120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2" name="Imagem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73596" y="1346058"/>
            <a:ext cx="3218155" cy="241361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4181886949"/>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8" name="Grupo 7"/>
          <p:cNvGrpSpPr/>
          <p:nvPr/>
        </p:nvGrpSpPr>
        <p:grpSpPr>
          <a:xfrm>
            <a:off x="0" y="12123"/>
            <a:ext cx="9144002" cy="5140931"/>
            <a:chOff x="-1" y="12500"/>
            <a:chExt cx="9144002" cy="5140931"/>
          </a:xfrm>
        </p:grpSpPr>
        <p:grpSp>
          <p:nvGrpSpPr>
            <p:cNvPr id="2" name="Agrupar 1"/>
            <p:cNvGrpSpPr/>
            <p:nvPr/>
          </p:nvGrpSpPr>
          <p:grpSpPr>
            <a:xfrm>
              <a:off x="1763688" y="309780"/>
              <a:ext cx="7380313" cy="4843651"/>
              <a:chOff x="2039091" y="300128"/>
              <a:chExt cx="7104910" cy="4848136"/>
            </a:xfrm>
          </p:grpSpPr>
          <p:sp>
            <p:nvSpPr>
              <p:cNvPr id="6" name="CaixaDeTexto 5"/>
              <p:cNvSpPr txBox="1"/>
              <p:nvPr/>
            </p:nvSpPr>
            <p:spPr>
              <a:xfrm>
                <a:off x="2039091" y="300128"/>
                <a:ext cx="184731" cy="462093"/>
              </a:xfrm>
              <a:prstGeom prst="rect">
                <a:avLst/>
              </a:prstGeom>
              <a:noFill/>
              <a:scene3d>
                <a:camera prst="orthographicFront"/>
                <a:lightRig rig="threePt" dir="t"/>
              </a:scene3d>
              <a:sp3d>
                <a:bevelT w="114300" prst="artDeco"/>
                <a:bevelB/>
              </a:sp3d>
            </p:spPr>
            <p:txBody>
              <a:bodyPr wrap="none" rtlCol="0">
                <a:spAutoFit/>
              </a:bodyPr>
              <a:lstStyle/>
              <a:p>
                <a:endParaRPr lang="pt-BR" sz="2400" dirty="0">
                  <a:solidFill>
                    <a:prstClr val="black"/>
                  </a:solidFill>
                </a:endParaRPr>
              </a:p>
            </p:txBody>
          </p:sp>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76780" t="78172" r="18395" b="12686"/>
              <a:stretch/>
            </p:blipFill>
            <p:spPr bwMode="auto">
              <a:xfrm>
                <a:off x="8188658" y="4384319"/>
                <a:ext cx="955343" cy="763945"/>
              </a:xfrm>
              <a:prstGeom prst="rect">
                <a:avLst/>
              </a:prstGeom>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4" name="Imagem 3"/>
            <p:cNvPicPr>
              <a:picLocks noChangeAspect="1"/>
            </p:cNvPicPr>
            <p:nvPr/>
          </p:nvPicPr>
          <p:blipFill>
            <a:blip r:embed="rId4"/>
            <a:stretch>
              <a:fillRect/>
            </a:stretch>
          </p:blipFill>
          <p:spPr>
            <a:xfrm>
              <a:off x="-1" y="12500"/>
              <a:ext cx="928369" cy="913131"/>
            </a:xfrm>
            <a:prstGeom prst="rect">
              <a:avLst/>
            </a:prstGeom>
          </p:spPr>
        </p:pic>
        <p:pic>
          <p:nvPicPr>
            <p:cNvPr id="26" name="Picture 9"/>
            <p:cNvPicPr>
              <a:picLocks noChangeAspect="1"/>
            </p:cNvPicPr>
            <p:nvPr/>
          </p:nvPicPr>
          <p:blipFill>
            <a:blip r:embed="rId5"/>
            <a:stretch>
              <a:fillRect/>
            </a:stretch>
          </p:blipFill>
          <p:spPr>
            <a:xfrm>
              <a:off x="7020272" y="201819"/>
              <a:ext cx="1866343" cy="338794"/>
            </a:xfrm>
            <a:prstGeom prst="rect">
              <a:avLst/>
            </a:prstGeom>
          </p:spPr>
        </p:pic>
      </p:grpSp>
      <p:sp>
        <p:nvSpPr>
          <p:cNvPr id="20" name="CaixaDeTexto 5"/>
          <p:cNvSpPr txBox="1"/>
          <p:nvPr/>
        </p:nvSpPr>
        <p:spPr>
          <a:xfrm>
            <a:off x="1259085" y="176961"/>
            <a:ext cx="5761187" cy="461665"/>
          </a:xfrm>
          <a:prstGeom prst="rect">
            <a:avLst/>
          </a:prstGeom>
          <a:noFill/>
        </p:spPr>
        <p:txBody>
          <a:bodyPr wrap="square"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pt-BR" sz="2400" b="1" dirty="0">
                <a:solidFill>
                  <a:schemeClr val="tx2"/>
                </a:solidFill>
                <a:latin typeface="Arial" pitchFamily="34" charset="0"/>
                <a:cs typeface="Arial" pitchFamily="34" charset="0"/>
              </a:rPr>
              <a:t>6. Projeto: Redundância links MPLS</a:t>
            </a:r>
          </a:p>
        </p:txBody>
      </p:sp>
      <p:sp>
        <p:nvSpPr>
          <p:cNvPr id="11" name="Seta para a esquerda 10">
            <a:hlinkClick r:id="rId6" action="ppaction://hlinksldjump"/>
          </p:cNvPr>
          <p:cNvSpPr/>
          <p:nvPr/>
        </p:nvSpPr>
        <p:spPr>
          <a:xfrm>
            <a:off x="93524" y="4686777"/>
            <a:ext cx="1304693" cy="472116"/>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smtClean="0"/>
              <a:t>Voltar</a:t>
            </a:r>
            <a:endParaRPr lang="pt-BR" dirty="0"/>
          </a:p>
        </p:txBody>
      </p:sp>
      <p:pic>
        <p:nvPicPr>
          <p:cNvPr id="12" name="Imagem 11"/>
          <p:cNvPicPr>
            <a:picLocks noChangeAspect="1"/>
          </p:cNvPicPr>
          <p:nvPr/>
        </p:nvPicPr>
        <p:blipFill>
          <a:blip r:embed="rId7"/>
          <a:stretch>
            <a:fillRect/>
          </a:stretch>
        </p:blipFill>
        <p:spPr>
          <a:xfrm>
            <a:off x="5339207" y="838240"/>
            <a:ext cx="2611607" cy="1034327"/>
          </a:xfrm>
          <a:prstGeom prst="rect">
            <a:avLst/>
          </a:prstGeom>
        </p:spPr>
      </p:pic>
      <p:pic>
        <p:nvPicPr>
          <p:cNvPr id="15" name="Imagem 14"/>
          <p:cNvPicPr>
            <a:picLocks noChangeAspect="1"/>
          </p:cNvPicPr>
          <p:nvPr/>
        </p:nvPicPr>
        <p:blipFill>
          <a:blip r:embed="rId8"/>
          <a:stretch>
            <a:fillRect/>
          </a:stretch>
        </p:blipFill>
        <p:spPr>
          <a:xfrm>
            <a:off x="1722094" y="3106509"/>
            <a:ext cx="6228720" cy="1955111"/>
          </a:xfrm>
          <a:prstGeom prst="rect">
            <a:avLst/>
          </a:prstGeom>
        </p:spPr>
      </p:pic>
      <p:pic>
        <p:nvPicPr>
          <p:cNvPr id="7" name="Imagem 6"/>
          <p:cNvPicPr>
            <a:picLocks noChangeAspect="1"/>
          </p:cNvPicPr>
          <p:nvPr/>
        </p:nvPicPr>
        <p:blipFill>
          <a:blip r:embed="rId9"/>
          <a:stretch>
            <a:fillRect/>
          </a:stretch>
        </p:blipFill>
        <p:spPr>
          <a:xfrm>
            <a:off x="1722094" y="937988"/>
            <a:ext cx="3508870" cy="2122610"/>
          </a:xfrm>
          <a:prstGeom prst="rect">
            <a:avLst/>
          </a:prstGeom>
        </p:spPr>
      </p:pic>
    </p:spTree>
    <p:extLst>
      <p:ext uri="{BB962C8B-B14F-4D97-AF65-F5344CB8AC3E}">
        <p14:creationId xmlns:p14="http://schemas.microsoft.com/office/powerpoint/2010/main" val="794322020"/>
      </p:ext>
    </p:extLst>
  </p:cSld>
  <p:clrMapOvr>
    <a:masterClrMapping/>
  </p:clrMapOvr>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8" name="Grupo 7"/>
          <p:cNvGrpSpPr/>
          <p:nvPr/>
        </p:nvGrpSpPr>
        <p:grpSpPr>
          <a:xfrm>
            <a:off x="-1" y="-18157"/>
            <a:ext cx="9144002" cy="5140931"/>
            <a:chOff x="-1" y="12500"/>
            <a:chExt cx="9144002" cy="5140931"/>
          </a:xfrm>
        </p:grpSpPr>
        <p:grpSp>
          <p:nvGrpSpPr>
            <p:cNvPr id="2" name="Agrupar 1"/>
            <p:cNvGrpSpPr/>
            <p:nvPr/>
          </p:nvGrpSpPr>
          <p:grpSpPr>
            <a:xfrm>
              <a:off x="1763688" y="309780"/>
              <a:ext cx="7380313" cy="4843651"/>
              <a:chOff x="2039091" y="300128"/>
              <a:chExt cx="7104910" cy="4848136"/>
            </a:xfrm>
          </p:grpSpPr>
          <p:sp>
            <p:nvSpPr>
              <p:cNvPr id="6" name="CaixaDeTexto 5"/>
              <p:cNvSpPr txBox="1"/>
              <p:nvPr/>
            </p:nvSpPr>
            <p:spPr>
              <a:xfrm>
                <a:off x="2039091" y="300128"/>
                <a:ext cx="184731" cy="462093"/>
              </a:xfrm>
              <a:prstGeom prst="rect">
                <a:avLst/>
              </a:prstGeom>
              <a:noFill/>
              <a:scene3d>
                <a:camera prst="orthographicFront"/>
                <a:lightRig rig="threePt" dir="t"/>
              </a:scene3d>
              <a:sp3d>
                <a:bevelT w="114300" prst="artDeco"/>
                <a:bevelB/>
              </a:sp3d>
            </p:spPr>
            <p:txBody>
              <a:bodyPr wrap="none" rtlCol="0">
                <a:spAutoFit/>
              </a:bodyPr>
              <a:lstStyle/>
              <a:p>
                <a:endParaRPr lang="pt-BR" sz="2400" dirty="0">
                  <a:solidFill>
                    <a:prstClr val="black"/>
                  </a:solidFill>
                </a:endParaRPr>
              </a:p>
            </p:txBody>
          </p:sp>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76780" t="78172" r="18395" b="12686"/>
              <a:stretch/>
            </p:blipFill>
            <p:spPr bwMode="auto">
              <a:xfrm>
                <a:off x="8188658" y="4384319"/>
                <a:ext cx="955343" cy="763945"/>
              </a:xfrm>
              <a:prstGeom prst="rect">
                <a:avLst/>
              </a:prstGeom>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4" name="Imagem 3"/>
            <p:cNvPicPr>
              <a:picLocks noChangeAspect="1"/>
            </p:cNvPicPr>
            <p:nvPr/>
          </p:nvPicPr>
          <p:blipFill>
            <a:blip r:embed="rId4"/>
            <a:stretch>
              <a:fillRect/>
            </a:stretch>
          </p:blipFill>
          <p:spPr>
            <a:xfrm>
              <a:off x="-1" y="12500"/>
              <a:ext cx="928369" cy="913131"/>
            </a:xfrm>
            <a:prstGeom prst="rect">
              <a:avLst/>
            </a:prstGeom>
          </p:spPr>
        </p:pic>
        <p:pic>
          <p:nvPicPr>
            <p:cNvPr id="26" name="Picture 9"/>
            <p:cNvPicPr>
              <a:picLocks noChangeAspect="1"/>
            </p:cNvPicPr>
            <p:nvPr/>
          </p:nvPicPr>
          <p:blipFill>
            <a:blip r:embed="rId5"/>
            <a:stretch>
              <a:fillRect/>
            </a:stretch>
          </p:blipFill>
          <p:spPr>
            <a:xfrm>
              <a:off x="7020272" y="201819"/>
              <a:ext cx="1866343" cy="338794"/>
            </a:xfrm>
            <a:prstGeom prst="rect">
              <a:avLst/>
            </a:prstGeom>
          </p:spPr>
        </p:pic>
      </p:grpSp>
      <p:sp>
        <p:nvSpPr>
          <p:cNvPr id="31" name="CaixaDeTexto 5"/>
          <p:cNvSpPr txBox="1"/>
          <p:nvPr/>
        </p:nvSpPr>
        <p:spPr>
          <a:xfrm>
            <a:off x="1475656" y="53851"/>
            <a:ext cx="5085516" cy="707886"/>
          </a:xfrm>
          <a:prstGeom prst="rect">
            <a:avLst/>
          </a:prstGeom>
          <a:noFill/>
        </p:spPr>
        <p:txBody>
          <a:bodyPr wrap="square"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pt-BR" sz="2400" b="1" dirty="0">
                <a:solidFill>
                  <a:srgbClr val="184E82"/>
                </a:solidFill>
              </a:rPr>
              <a:t>5. Incidentes de Alto Impacto</a:t>
            </a:r>
          </a:p>
          <a:p>
            <a:pPr algn="ctr"/>
            <a:r>
              <a:rPr lang="pt-BR" sz="1600" dirty="0">
                <a:solidFill>
                  <a:srgbClr val="184E82"/>
                </a:solidFill>
              </a:rPr>
              <a:t>Março de 2016</a:t>
            </a:r>
          </a:p>
        </p:txBody>
      </p:sp>
      <p:graphicFrame>
        <p:nvGraphicFramePr>
          <p:cNvPr id="17" name="Gráfico 16"/>
          <p:cNvGraphicFramePr>
            <a:graphicFrameLocks/>
          </p:cNvGraphicFramePr>
          <p:nvPr>
            <p:extLst/>
          </p:nvPr>
        </p:nvGraphicFramePr>
        <p:xfrm>
          <a:off x="2766808" y="594185"/>
          <a:ext cx="3391382" cy="1976530"/>
        </p:xfrm>
        <a:graphic>
          <a:graphicData uri="http://schemas.openxmlformats.org/drawingml/2006/chart">
            <c:chart xmlns:c="http://schemas.openxmlformats.org/drawingml/2006/chart" xmlns:r="http://schemas.openxmlformats.org/officeDocument/2006/relationships" r:id="rId6"/>
          </a:graphicData>
        </a:graphic>
      </p:graphicFrame>
      <p:pic>
        <p:nvPicPr>
          <p:cNvPr id="1025" name="Imagem 1024"/>
          <p:cNvPicPr>
            <a:picLocks noChangeAspect="1"/>
          </p:cNvPicPr>
          <p:nvPr/>
        </p:nvPicPr>
        <p:blipFill>
          <a:blip r:embed="rId7"/>
          <a:stretch>
            <a:fillRect/>
          </a:stretch>
        </p:blipFill>
        <p:spPr>
          <a:xfrm>
            <a:off x="555238" y="2849531"/>
            <a:ext cx="2230208" cy="1604250"/>
          </a:xfrm>
          <a:prstGeom prst="rect">
            <a:avLst/>
          </a:prstGeom>
        </p:spPr>
      </p:pic>
      <p:pic>
        <p:nvPicPr>
          <p:cNvPr id="1031" name="Imagem 1030"/>
          <p:cNvPicPr>
            <a:picLocks noChangeAspect="1"/>
          </p:cNvPicPr>
          <p:nvPr/>
        </p:nvPicPr>
        <p:blipFill>
          <a:blip r:embed="rId8"/>
          <a:stretch>
            <a:fillRect/>
          </a:stretch>
        </p:blipFill>
        <p:spPr>
          <a:xfrm>
            <a:off x="6653434" y="2849531"/>
            <a:ext cx="1659690" cy="2104500"/>
          </a:xfrm>
          <a:prstGeom prst="rect">
            <a:avLst/>
          </a:prstGeom>
        </p:spPr>
      </p:pic>
      <p:pic>
        <p:nvPicPr>
          <p:cNvPr id="1033" name="Imagem 1032"/>
          <p:cNvPicPr>
            <a:picLocks noChangeAspect="1"/>
          </p:cNvPicPr>
          <p:nvPr/>
        </p:nvPicPr>
        <p:blipFill>
          <a:blip r:embed="rId9"/>
          <a:stretch>
            <a:fillRect/>
          </a:stretch>
        </p:blipFill>
        <p:spPr>
          <a:xfrm>
            <a:off x="3689025" y="2849531"/>
            <a:ext cx="1772065" cy="1587000"/>
          </a:xfrm>
          <a:prstGeom prst="rect">
            <a:avLst/>
          </a:prstGeom>
        </p:spPr>
      </p:pic>
      <p:cxnSp>
        <p:nvCxnSpPr>
          <p:cNvPr id="5" name="Conector Angulado 4"/>
          <p:cNvCxnSpPr>
            <a:endCxn id="1025" idx="0"/>
          </p:cNvCxnSpPr>
          <p:nvPr/>
        </p:nvCxnSpPr>
        <p:spPr>
          <a:xfrm rot="10800000" flipV="1">
            <a:off x="1670343" y="1689903"/>
            <a:ext cx="2018683" cy="1159627"/>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Conector Angulado 8"/>
          <p:cNvCxnSpPr>
            <a:endCxn id="1031" idx="0"/>
          </p:cNvCxnSpPr>
          <p:nvPr/>
        </p:nvCxnSpPr>
        <p:spPr>
          <a:xfrm>
            <a:off x="5461090" y="1689903"/>
            <a:ext cx="2022189" cy="1159628"/>
          </a:xfrm>
          <a:prstGeom prst="bentConnector2">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Conector Angulado 10"/>
          <p:cNvCxnSpPr>
            <a:endCxn id="1033" idx="0"/>
          </p:cNvCxnSpPr>
          <p:nvPr/>
        </p:nvCxnSpPr>
        <p:spPr>
          <a:xfrm rot="16200000" flipH="1">
            <a:off x="4434121" y="2708594"/>
            <a:ext cx="278816" cy="3058"/>
          </a:xfrm>
          <a:prstGeom prst="bentConnector3">
            <a:avLst/>
          </a:prstGeom>
          <a:ln>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pic>
        <p:nvPicPr>
          <p:cNvPr id="3" name="Imagem 2">
            <a:hlinkClick r:id="rId10" action="ppaction://hlinksldjump"/>
          </p:cNvPr>
          <p:cNvPicPr>
            <a:picLocks noChangeAspect="1"/>
          </p:cNvPicPr>
          <p:nvPr/>
        </p:nvPicPr>
        <p:blipFill>
          <a:blip r:embed="rId11"/>
          <a:stretch>
            <a:fillRect/>
          </a:stretch>
        </p:blipFill>
        <p:spPr>
          <a:xfrm>
            <a:off x="555238" y="4669078"/>
            <a:ext cx="1322947" cy="536494"/>
          </a:xfrm>
          <a:prstGeom prst="rect">
            <a:avLst/>
          </a:prstGeom>
        </p:spPr>
      </p:pic>
    </p:spTree>
    <p:extLst>
      <p:ext uri="{BB962C8B-B14F-4D97-AF65-F5344CB8AC3E}">
        <p14:creationId xmlns:p14="http://schemas.microsoft.com/office/powerpoint/2010/main" val="433752955"/>
      </p:ext>
    </p:extLst>
  </p:cSld>
  <p:clrMapOvr>
    <a:masterClrMapping/>
  </p:clrMapOvr>
  <mc:AlternateContent xmlns:mc="http://schemas.openxmlformats.org/markup-compatibility/2006">
    <mc:Choice xmlns:p14="http://schemas.microsoft.com/office/powerpoint/2010/main" Requires="p14">
      <p:transition spd="med">
        <p14:reveal/>
      </p:transition>
    </mc:Choice>
    <mc:Fallback>
      <p:transitio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8" name="Grupo 7"/>
          <p:cNvGrpSpPr/>
          <p:nvPr/>
        </p:nvGrpSpPr>
        <p:grpSpPr>
          <a:xfrm>
            <a:off x="-1" y="-18157"/>
            <a:ext cx="9144002" cy="5140931"/>
            <a:chOff x="-1" y="12500"/>
            <a:chExt cx="9144002" cy="5140931"/>
          </a:xfrm>
        </p:grpSpPr>
        <p:grpSp>
          <p:nvGrpSpPr>
            <p:cNvPr id="2" name="Agrupar 1"/>
            <p:cNvGrpSpPr/>
            <p:nvPr/>
          </p:nvGrpSpPr>
          <p:grpSpPr>
            <a:xfrm>
              <a:off x="1763688" y="309780"/>
              <a:ext cx="7380313" cy="4843651"/>
              <a:chOff x="2039091" y="300128"/>
              <a:chExt cx="7104910" cy="4848136"/>
            </a:xfrm>
          </p:grpSpPr>
          <p:sp>
            <p:nvSpPr>
              <p:cNvPr id="6" name="CaixaDeTexto 5"/>
              <p:cNvSpPr txBox="1"/>
              <p:nvPr/>
            </p:nvSpPr>
            <p:spPr>
              <a:xfrm>
                <a:off x="2039091" y="300128"/>
                <a:ext cx="184731" cy="462093"/>
              </a:xfrm>
              <a:prstGeom prst="rect">
                <a:avLst/>
              </a:prstGeom>
              <a:noFill/>
              <a:scene3d>
                <a:camera prst="orthographicFront"/>
                <a:lightRig rig="threePt" dir="t"/>
              </a:scene3d>
              <a:sp3d>
                <a:bevelT w="114300" prst="artDeco"/>
                <a:bevelB/>
              </a:sp3d>
            </p:spPr>
            <p:txBody>
              <a:bodyPr wrap="none" rtlCol="0">
                <a:spAutoFit/>
              </a:bodyPr>
              <a:lstStyle/>
              <a:p>
                <a:endParaRPr lang="pt-BR" sz="2400" dirty="0">
                  <a:solidFill>
                    <a:prstClr val="black"/>
                  </a:solidFill>
                </a:endParaRPr>
              </a:p>
            </p:txBody>
          </p:sp>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76780" t="78172" r="18395" b="12686"/>
              <a:stretch/>
            </p:blipFill>
            <p:spPr bwMode="auto">
              <a:xfrm>
                <a:off x="8188658" y="4384319"/>
                <a:ext cx="955343" cy="763945"/>
              </a:xfrm>
              <a:prstGeom prst="rect">
                <a:avLst/>
              </a:prstGeom>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4" name="Imagem 3"/>
            <p:cNvPicPr>
              <a:picLocks noChangeAspect="1"/>
            </p:cNvPicPr>
            <p:nvPr/>
          </p:nvPicPr>
          <p:blipFill>
            <a:blip r:embed="rId4"/>
            <a:stretch>
              <a:fillRect/>
            </a:stretch>
          </p:blipFill>
          <p:spPr>
            <a:xfrm>
              <a:off x="-1" y="12500"/>
              <a:ext cx="928369" cy="913131"/>
            </a:xfrm>
            <a:prstGeom prst="rect">
              <a:avLst/>
            </a:prstGeom>
          </p:spPr>
        </p:pic>
        <p:pic>
          <p:nvPicPr>
            <p:cNvPr id="26" name="Picture 9"/>
            <p:cNvPicPr>
              <a:picLocks noChangeAspect="1"/>
            </p:cNvPicPr>
            <p:nvPr/>
          </p:nvPicPr>
          <p:blipFill>
            <a:blip r:embed="rId5"/>
            <a:stretch>
              <a:fillRect/>
            </a:stretch>
          </p:blipFill>
          <p:spPr>
            <a:xfrm>
              <a:off x="7020272" y="201819"/>
              <a:ext cx="1866343" cy="338794"/>
            </a:xfrm>
            <a:prstGeom prst="rect">
              <a:avLst/>
            </a:prstGeom>
          </p:spPr>
        </p:pic>
      </p:grpSp>
      <p:pic>
        <p:nvPicPr>
          <p:cNvPr id="5" name="Imagem 4"/>
          <p:cNvPicPr>
            <a:picLocks noChangeAspect="1"/>
          </p:cNvPicPr>
          <p:nvPr/>
        </p:nvPicPr>
        <p:blipFill>
          <a:blip r:embed="rId6"/>
          <a:stretch>
            <a:fillRect/>
          </a:stretch>
        </p:blipFill>
        <p:spPr>
          <a:xfrm>
            <a:off x="3178120" y="1255572"/>
            <a:ext cx="2787760" cy="237188"/>
          </a:xfrm>
          <a:prstGeom prst="rect">
            <a:avLst/>
          </a:prstGeom>
        </p:spPr>
      </p:pic>
      <p:sp>
        <p:nvSpPr>
          <p:cNvPr id="20" name="CaixaDeTexto 5"/>
          <p:cNvSpPr txBox="1"/>
          <p:nvPr/>
        </p:nvSpPr>
        <p:spPr>
          <a:xfrm>
            <a:off x="1259086" y="53851"/>
            <a:ext cx="5085516" cy="707886"/>
          </a:xfrm>
          <a:prstGeom prst="rect">
            <a:avLst/>
          </a:prstGeom>
          <a:noFill/>
        </p:spPr>
        <p:txBody>
          <a:bodyPr wrap="square" anchor="ctr">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a:r>
              <a:rPr lang="pt-BR" sz="2400" b="1" dirty="0">
                <a:solidFill>
                  <a:srgbClr val="184E82"/>
                </a:solidFill>
              </a:rPr>
              <a:t>5. Incidentes de Alto Impacto</a:t>
            </a:r>
          </a:p>
          <a:p>
            <a:pPr algn="ctr"/>
            <a:r>
              <a:rPr lang="pt-BR" sz="1600" dirty="0">
                <a:solidFill>
                  <a:srgbClr val="184E82"/>
                </a:solidFill>
              </a:rPr>
              <a:t>Março de 2016</a:t>
            </a:r>
          </a:p>
        </p:txBody>
      </p:sp>
      <p:pic>
        <p:nvPicPr>
          <p:cNvPr id="10" name="Imagem 9"/>
          <p:cNvPicPr>
            <a:picLocks noChangeAspect="1"/>
          </p:cNvPicPr>
          <p:nvPr/>
        </p:nvPicPr>
        <p:blipFill>
          <a:blip r:embed="rId7"/>
          <a:stretch>
            <a:fillRect/>
          </a:stretch>
        </p:blipFill>
        <p:spPr>
          <a:xfrm>
            <a:off x="244343" y="2426950"/>
            <a:ext cx="1996814" cy="1403719"/>
          </a:xfrm>
          <a:prstGeom prst="rect">
            <a:avLst/>
          </a:prstGeom>
        </p:spPr>
      </p:pic>
      <p:pic>
        <p:nvPicPr>
          <p:cNvPr id="12" name="Imagem 11"/>
          <p:cNvPicPr>
            <a:picLocks noChangeAspect="1"/>
          </p:cNvPicPr>
          <p:nvPr/>
        </p:nvPicPr>
        <p:blipFill>
          <a:blip r:embed="rId8"/>
          <a:stretch>
            <a:fillRect/>
          </a:stretch>
        </p:blipFill>
        <p:spPr>
          <a:xfrm>
            <a:off x="2493273" y="2426950"/>
            <a:ext cx="1996814" cy="2339532"/>
          </a:xfrm>
          <a:prstGeom prst="rect">
            <a:avLst/>
          </a:prstGeom>
        </p:spPr>
      </p:pic>
      <p:pic>
        <p:nvPicPr>
          <p:cNvPr id="14" name="Imagem 13"/>
          <p:cNvPicPr>
            <a:picLocks noChangeAspect="1"/>
          </p:cNvPicPr>
          <p:nvPr/>
        </p:nvPicPr>
        <p:blipFill>
          <a:blip r:embed="rId9"/>
          <a:stretch>
            <a:fillRect/>
          </a:stretch>
        </p:blipFill>
        <p:spPr>
          <a:xfrm>
            <a:off x="4742203" y="2426950"/>
            <a:ext cx="1996814" cy="2181047"/>
          </a:xfrm>
          <a:prstGeom prst="rect">
            <a:avLst/>
          </a:prstGeom>
        </p:spPr>
      </p:pic>
      <p:pic>
        <p:nvPicPr>
          <p:cNvPr id="18" name="Imagem 17"/>
          <p:cNvPicPr>
            <a:picLocks noChangeAspect="1"/>
          </p:cNvPicPr>
          <p:nvPr/>
        </p:nvPicPr>
        <p:blipFill>
          <a:blip r:embed="rId10"/>
          <a:stretch>
            <a:fillRect/>
          </a:stretch>
        </p:blipFill>
        <p:spPr>
          <a:xfrm>
            <a:off x="6991132" y="2426950"/>
            <a:ext cx="1996814" cy="935812"/>
          </a:xfrm>
          <a:prstGeom prst="rect">
            <a:avLst/>
          </a:prstGeom>
        </p:spPr>
      </p:pic>
      <p:cxnSp>
        <p:nvCxnSpPr>
          <p:cNvPr id="23" name="Conector Angulado 22"/>
          <p:cNvCxnSpPr>
            <a:stCxn id="5" idx="2"/>
            <a:endCxn id="18" idx="0"/>
          </p:cNvCxnSpPr>
          <p:nvPr/>
        </p:nvCxnSpPr>
        <p:spPr>
          <a:xfrm rot="16200000" flipH="1">
            <a:off x="5813674" y="251085"/>
            <a:ext cx="934190" cy="3417539"/>
          </a:xfrm>
          <a:prstGeom prst="bentConnector3">
            <a:avLst/>
          </a:prstGeom>
          <a:ln>
            <a:solidFill>
              <a:srgbClr val="19345B"/>
            </a:solidFill>
            <a:tailEnd type="triangle"/>
          </a:ln>
        </p:spPr>
        <p:style>
          <a:lnRef idx="1">
            <a:schemeClr val="accent1"/>
          </a:lnRef>
          <a:fillRef idx="0">
            <a:schemeClr val="accent1"/>
          </a:fillRef>
          <a:effectRef idx="0">
            <a:schemeClr val="accent1"/>
          </a:effectRef>
          <a:fontRef idx="minor">
            <a:schemeClr val="tx1"/>
          </a:fontRef>
        </p:style>
      </p:cxnSp>
      <p:cxnSp>
        <p:nvCxnSpPr>
          <p:cNvPr id="25" name="Conector Angulado 24"/>
          <p:cNvCxnSpPr>
            <a:stCxn id="5" idx="2"/>
            <a:endCxn id="10" idx="0"/>
          </p:cNvCxnSpPr>
          <p:nvPr/>
        </p:nvCxnSpPr>
        <p:spPr>
          <a:xfrm rot="5400000">
            <a:off x="2440280" y="295230"/>
            <a:ext cx="934190" cy="3329250"/>
          </a:xfrm>
          <a:prstGeom prst="bentConnector3">
            <a:avLst/>
          </a:prstGeom>
          <a:ln>
            <a:solidFill>
              <a:srgbClr val="19345B"/>
            </a:solidFill>
            <a:tailEnd type="triangle"/>
          </a:ln>
        </p:spPr>
        <p:style>
          <a:lnRef idx="1">
            <a:schemeClr val="accent1"/>
          </a:lnRef>
          <a:fillRef idx="0">
            <a:schemeClr val="accent1"/>
          </a:fillRef>
          <a:effectRef idx="0">
            <a:schemeClr val="accent1"/>
          </a:effectRef>
          <a:fontRef idx="minor">
            <a:schemeClr val="tx1"/>
          </a:fontRef>
        </p:style>
      </p:cxnSp>
      <p:cxnSp>
        <p:nvCxnSpPr>
          <p:cNvPr id="28" name="Conector Angulado 27"/>
          <p:cNvCxnSpPr>
            <a:stCxn id="5" idx="2"/>
            <a:endCxn id="12" idx="0"/>
          </p:cNvCxnSpPr>
          <p:nvPr/>
        </p:nvCxnSpPr>
        <p:spPr>
          <a:xfrm rot="5400000">
            <a:off x="3564745" y="1419695"/>
            <a:ext cx="934190" cy="1080320"/>
          </a:xfrm>
          <a:prstGeom prst="bentConnector3">
            <a:avLst/>
          </a:prstGeom>
          <a:ln>
            <a:solidFill>
              <a:srgbClr val="19345B"/>
            </a:solidFill>
            <a:tailEnd type="triangle"/>
          </a:ln>
        </p:spPr>
        <p:style>
          <a:lnRef idx="1">
            <a:schemeClr val="accent1"/>
          </a:lnRef>
          <a:fillRef idx="0">
            <a:schemeClr val="accent1"/>
          </a:fillRef>
          <a:effectRef idx="0">
            <a:schemeClr val="accent1"/>
          </a:effectRef>
          <a:fontRef idx="minor">
            <a:schemeClr val="tx1"/>
          </a:fontRef>
        </p:style>
      </p:cxnSp>
      <p:cxnSp>
        <p:nvCxnSpPr>
          <p:cNvPr id="30" name="Conector Angulado 29"/>
          <p:cNvCxnSpPr>
            <a:stCxn id="5" idx="2"/>
            <a:endCxn id="14" idx="0"/>
          </p:cNvCxnSpPr>
          <p:nvPr/>
        </p:nvCxnSpPr>
        <p:spPr>
          <a:xfrm rot="16200000" flipH="1">
            <a:off x="4689210" y="1375550"/>
            <a:ext cx="934190" cy="1168610"/>
          </a:xfrm>
          <a:prstGeom prst="bentConnector3">
            <a:avLst/>
          </a:prstGeom>
          <a:ln>
            <a:solidFill>
              <a:srgbClr val="19345B"/>
            </a:solidFill>
            <a:tailEnd type="triangle"/>
          </a:ln>
        </p:spPr>
        <p:style>
          <a:lnRef idx="1">
            <a:schemeClr val="accent1"/>
          </a:lnRef>
          <a:fillRef idx="0">
            <a:schemeClr val="accent1"/>
          </a:fillRef>
          <a:effectRef idx="0">
            <a:schemeClr val="accent1"/>
          </a:effectRef>
          <a:fontRef idx="minor">
            <a:schemeClr val="tx1"/>
          </a:fontRef>
        </p:style>
      </p:cxnSp>
      <p:pic>
        <p:nvPicPr>
          <p:cNvPr id="3" name="Imagem 2">
            <a:hlinkClick r:id="rId11" action="ppaction://hlinksldjump"/>
          </p:cNvPr>
          <p:cNvPicPr>
            <a:picLocks noChangeAspect="1"/>
          </p:cNvPicPr>
          <p:nvPr/>
        </p:nvPicPr>
        <p:blipFill>
          <a:blip r:embed="rId12"/>
          <a:stretch>
            <a:fillRect/>
          </a:stretch>
        </p:blipFill>
        <p:spPr>
          <a:xfrm>
            <a:off x="244343" y="4603981"/>
            <a:ext cx="1322947" cy="536494"/>
          </a:xfrm>
          <a:prstGeom prst="rect">
            <a:avLst/>
          </a:prstGeom>
        </p:spPr>
      </p:pic>
    </p:spTree>
    <p:extLst>
      <p:ext uri="{BB962C8B-B14F-4D97-AF65-F5344CB8AC3E}">
        <p14:creationId xmlns:p14="http://schemas.microsoft.com/office/powerpoint/2010/main" val="146538692"/>
      </p:ext>
    </p:extLst>
  </p:cSld>
  <p:clrMapOvr>
    <a:masterClrMapping/>
  </p:clrMapOvr>
  <mc:AlternateContent xmlns:mc="http://schemas.openxmlformats.org/markup-compatibility/2006">
    <mc:Choice xmlns:p14="http://schemas.microsoft.com/office/powerpoint/2010/main" Requires="p14">
      <p:transition spd="med">
        <p14:reveal/>
      </p:transition>
    </mc:Choice>
    <mc:Fallback>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1"/>
          <p:cNvSpPr txBox="1">
            <a:spLocks/>
          </p:cNvSpPr>
          <p:nvPr/>
        </p:nvSpPr>
        <p:spPr>
          <a:xfrm>
            <a:off x="2404326" y="894156"/>
            <a:ext cx="4186529" cy="644129"/>
          </a:xfrm>
          <a:prstGeom prst="rect">
            <a:avLst/>
          </a:prstGeom>
        </p:spPr>
        <p:txBody>
          <a:bodyPr vert="horz" lIns="68644" tIns="34322" rIns="68644" bIns="34322"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2252" b="1" dirty="0" err="1">
                <a:solidFill>
                  <a:schemeClr val="tx2"/>
                </a:solidFill>
                <a:latin typeface="Arial"/>
                <a:cs typeface="Arial"/>
              </a:rPr>
              <a:t>Visão</a:t>
            </a:r>
            <a:r>
              <a:rPr lang="en-US" sz="2252" b="1" dirty="0">
                <a:solidFill>
                  <a:schemeClr val="tx2"/>
                </a:solidFill>
                <a:latin typeface="Arial"/>
                <a:cs typeface="Arial"/>
              </a:rPr>
              <a:t> Macro - </a:t>
            </a:r>
            <a:r>
              <a:rPr lang="en-US" sz="2252" b="1" dirty="0" err="1">
                <a:solidFill>
                  <a:schemeClr val="tx2"/>
                </a:solidFill>
                <a:latin typeface="Arial"/>
                <a:cs typeface="Arial"/>
              </a:rPr>
              <a:t>Cenário</a:t>
            </a:r>
            <a:r>
              <a:rPr lang="en-US" sz="2252" b="1" dirty="0">
                <a:solidFill>
                  <a:schemeClr val="tx2"/>
                </a:solidFill>
                <a:latin typeface="Arial"/>
                <a:cs typeface="Arial"/>
              </a:rPr>
              <a:t> </a:t>
            </a:r>
            <a:r>
              <a:rPr lang="en-US" sz="2252" b="1" dirty="0" err="1">
                <a:solidFill>
                  <a:schemeClr val="tx2"/>
                </a:solidFill>
                <a:latin typeface="Arial"/>
                <a:cs typeface="Arial"/>
              </a:rPr>
              <a:t>Atual</a:t>
            </a:r>
            <a:endParaRPr lang="en-US" sz="2252" b="1" dirty="0">
              <a:solidFill>
                <a:schemeClr val="tx2"/>
              </a:solidFill>
              <a:latin typeface="Arial"/>
              <a:cs typeface="Arial"/>
            </a:endParaRPr>
          </a:p>
        </p:txBody>
      </p:sp>
      <p:sp>
        <p:nvSpPr>
          <p:cNvPr id="6" name="Title 1"/>
          <p:cNvSpPr txBox="1">
            <a:spLocks/>
          </p:cNvSpPr>
          <p:nvPr/>
        </p:nvSpPr>
        <p:spPr>
          <a:xfrm>
            <a:off x="562659" y="0"/>
            <a:ext cx="6254098" cy="560400"/>
          </a:xfrm>
          <a:prstGeom prst="rect">
            <a:avLst/>
          </a:prstGeom>
        </p:spPr>
        <p:txBody>
          <a:bodyPr vert="horz" lIns="91440" tIns="45720" rIns="91440" bIns="45720" rtlCol="0" anchor="ctr">
            <a:normAutofit fontScale="775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pt-BR" sz="2800" b="1" dirty="0">
                <a:solidFill>
                  <a:schemeClr val="tx2"/>
                </a:solidFill>
                <a:latin typeface="Arial" pitchFamily="34" charset="0"/>
                <a:cs typeface="Arial" pitchFamily="34" charset="0"/>
              </a:rPr>
              <a:t>7</a:t>
            </a:r>
            <a:r>
              <a:rPr lang="pt-BR" sz="2800" b="1" dirty="0" smtClean="0">
                <a:solidFill>
                  <a:schemeClr val="tx2"/>
                </a:solidFill>
                <a:latin typeface="Arial" pitchFamily="34" charset="0"/>
                <a:cs typeface="Arial" pitchFamily="34" charset="0"/>
              </a:rPr>
              <a:t>. Projeto: </a:t>
            </a:r>
            <a:r>
              <a:rPr lang="pt-BR" sz="2800" b="1" dirty="0">
                <a:solidFill>
                  <a:schemeClr val="tx2"/>
                </a:solidFill>
                <a:latin typeface="Arial" pitchFamily="34" charset="0"/>
                <a:cs typeface="Arial" pitchFamily="34" charset="0"/>
              </a:rPr>
              <a:t>Backups </a:t>
            </a:r>
            <a:r>
              <a:rPr lang="pt-BR" sz="2800" b="1" dirty="0" smtClean="0">
                <a:solidFill>
                  <a:schemeClr val="tx2"/>
                </a:solidFill>
                <a:latin typeface="Arial" pitchFamily="34" charset="0"/>
                <a:cs typeface="Arial" pitchFamily="34" charset="0"/>
              </a:rPr>
              <a:t>e </a:t>
            </a:r>
            <a:r>
              <a:rPr lang="pt-BR" sz="2800" b="1" dirty="0" err="1" smtClean="0">
                <a:solidFill>
                  <a:schemeClr val="tx2"/>
                </a:solidFill>
                <a:latin typeface="Arial" pitchFamily="34" charset="0"/>
                <a:cs typeface="Arial" pitchFamily="34" charset="0"/>
              </a:rPr>
              <a:t>Restore</a:t>
            </a:r>
            <a:r>
              <a:rPr lang="pt-BR" sz="2800" b="1" dirty="0" smtClean="0">
                <a:solidFill>
                  <a:schemeClr val="tx2"/>
                </a:solidFill>
                <a:latin typeface="Arial" pitchFamily="34" charset="0"/>
                <a:cs typeface="Arial" pitchFamily="34" charset="0"/>
              </a:rPr>
              <a:t> em Produção</a:t>
            </a:r>
            <a:endParaRPr lang="pt-BR" sz="2800" b="1" dirty="0">
              <a:solidFill>
                <a:schemeClr val="tx2"/>
              </a:solidFill>
              <a:latin typeface="Arial" pitchFamily="34" charset="0"/>
              <a:cs typeface="Arial" pitchFamily="34" charset="0"/>
            </a:endParaRPr>
          </a:p>
        </p:txBody>
      </p:sp>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4338" y="687388"/>
            <a:ext cx="8315325" cy="3771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53779499"/>
      </p:ext>
    </p:extLst>
  </p:cSld>
  <p:clrMapOvr>
    <a:masterClrMapping/>
  </p:clrMapOvr>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Rectangle 3"/>
          <p:cNvSpPr>
            <a:spLocks noChangeArrowheads="1"/>
          </p:cNvSpPr>
          <p:nvPr/>
        </p:nvSpPr>
        <p:spPr bwMode="auto">
          <a:xfrm>
            <a:off x="0" y="8991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sz="1100" b="0" i="0" u="none" strike="noStrike" cap="none" normalizeH="0" baseline="0" smtClean="0">
                <a:ln>
                  <a:noFill/>
                </a:ln>
                <a:solidFill>
                  <a:srgbClr val="1F497D"/>
                </a:solidFill>
                <a:effectLst/>
                <a:latin typeface="Arial" pitchFamily="34" charset="0"/>
                <a:ea typeface="Calibri" pitchFamily="34" charset="0"/>
                <a:cs typeface="Times New Roman" pitchFamily="18" charset="0"/>
              </a:rPr>
              <a:t>O números de servidores ainda são os da nossa base devido a planilha de CA estar confusa para a atualização e entendimento dos ativos.</a:t>
            </a:r>
            <a:endParaRPr kumimoji="0" lang="pt-BR" sz="1800" b="0" i="0" u="none" strike="noStrike" cap="none" normalizeH="0" baseline="0" smtClean="0">
              <a:ln>
                <a:noFill/>
              </a:ln>
              <a:solidFill>
                <a:schemeClr val="tx1"/>
              </a:solidFill>
              <a:effectLst/>
              <a:latin typeface="Arial" pitchFamily="34" charset="0"/>
              <a:cs typeface="Arial" pitchFamily="34" charset="0"/>
            </a:endParaRPr>
          </a:p>
        </p:txBody>
      </p:sp>
      <p:sp>
        <p:nvSpPr>
          <p:cNvPr id="5" name="CaixaDeTexto 4"/>
          <p:cNvSpPr txBox="1"/>
          <p:nvPr/>
        </p:nvSpPr>
        <p:spPr>
          <a:xfrm>
            <a:off x="5082764" y="180753"/>
            <a:ext cx="3561505" cy="369332"/>
          </a:xfrm>
          <a:prstGeom prst="rect">
            <a:avLst/>
          </a:prstGeom>
          <a:noFill/>
        </p:spPr>
        <p:txBody>
          <a:bodyPr wrap="square" rtlCol="0">
            <a:spAutoFit/>
          </a:bodyPr>
          <a:lstStyle/>
          <a:p>
            <a:r>
              <a:rPr lang="pt-BR" dirty="0" smtClean="0"/>
              <a:t>Visão de backup por site e evolução</a:t>
            </a:r>
            <a:endParaRPr lang="pt-BR" dirty="0"/>
          </a:p>
        </p:txBody>
      </p:sp>
      <p:pic>
        <p:nvPicPr>
          <p:cNvPr id="15362" name="Imagem 3" descr="image00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430" y="154081"/>
            <a:ext cx="4448569" cy="4859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77118" y="1541517"/>
            <a:ext cx="4240757" cy="2747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71968121"/>
      </p:ext>
    </p:extLst>
  </p:cSld>
  <p:clrMapOvr>
    <a:masterClrMapping/>
  </p:clrMapOvr>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1"/>
          <p:cNvSpPr txBox="1">
            <a:spLocks/>
          </p:cNvSpPr>
          <p:nvPr/>
        </p:nvSpPr>
        <p:spPr>
          <a:xfrm>
            <a:off x="1552411" y="109829"/>
            <a:ext cx="5449569" cy="644129"/>
          </a:xfrm>
          <a:prstGeom prst="rect">
            <a:avLst/>
          </a:prstGeom>
        </p:spPr>
        <p:txBody>
          <a:bodyPr vert="horz" lIns="68644" tIns="34322" rIns="68644" bIns="34322"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2252" b="1" dirty="0" err="1">
                <a:solidFill>
                  <a:schemeClr val="tx2"/>
                </a:solidFill>
                <a:latin typeface="Arial"/>
                <a:cs typeface="Arial"/>
              </a:rPr>
              <a:t>Detalhamento</a:t>
            </a:r>
            <a:r>
              <a:rPr lang="en-US" sz="2252" b="1" dirty="0">
                <a:solidFill>
                  <a:schemeClr val="tx2"/>
                </a:solidFill>
                <a:latin typeface="Arial"/>
                <a:cs typeface="Arial"/>
              </a:rPr>
              <a:t> - </a:t>
            </a:r>
            <a:r>
              <a:rPr lang="en-US" sz="2252" b="1" dirty="0" err="1">
                <a:solidFill>
                  <a:schemeClr val="tx2"/>
                </a:solidFill>
                <a:latin typeface="Arial"/>
                <a:cs typeface="Arial"/>
              </a:rPr>
              <a:t>Ofensores</a:t>
            </a:r>
            <a:endParaRPr lang="en-US" sz="2252" b="1" dirty="0">
              <a:solidFill>
                <a:schemeClr val="tx2"/>
              </a:solidFill>
              <a:latin typeface="Arial"/>
              <a:cs typeface="Arial"/>
            </a:endParaRPr>
          </a:p>
        </p:txBody>
      </p:sp>
      <p:graphicFrame>
        <p:nvGraphicFramePr>
          <p:cNvPr id="2" name="Tabela 1"/>
          <p:cNvGraphicFramePr>
            <a:graphicFrameLocks noGrp="1"/>
          </p:cNvGraphicFramePr>
          <p:nvPr>
            <p:extLst/>
          </p:nvPr>
        </p:nvGraphicFramePr>
        <p:xfrm>
          <a:off x="108485" y="623086"/>
          <a:ext cx="8949790" cy="4480711"/>
        </p:xfrm>
        <a:graphic>
          <a:graphicData uri="http://schemas.openxmlformats.org/drawingml/2006/table">
            <a:tbl>
              <a:tblPr firstRow="1" firstCol="1" bandRow="1">
                <a:tableStyleId>{5C22544A-7EE6-4342-B048-85BDC9FD1C3A}</a:tableStyleId>
              </a:tblPr>
              <a:tblGrid>
                <a:gridCol w="3102104"/>
                <a:gridCol w="951761"/>
                <a:gridCol w="1064576"/>
                <a:gridCol w="2948774"/>
                <a:gridCol w="882575"/>
              </a:tblGrid>
              <a:tr h="336452">
                <a:tc>
                  <a:txBody>
                    <a:bodyPr/>
                    <a:lstStyle/>
                    <a:p>
                      <a:pPr algn="ctr">
                        <a:spcAft>
                          <a:spcPts val="0"/>
                        </a:spcAft>
                      </a:pPr>
                      <a:r>
                        <a:rPr lang="pt-BR" sz="800" dirty="0">
                          <a:effectLst/>
                        </a:rPr>
                        <a:t>Assunto</a:t>
                      </a:r>
                      <a:endParaRPr lang="pt-BR" sz="800" dirty="0">
                        <a:effectLst/>
                        <a:latin typeface="Calibri"/>
                        <a:ea typeface="Calibri"/>
                        <a:cs typeface="Times New Roman"/>
                      </a:endParaRPr>
                    </a:p>
                  </a:txBody>
                  <a:tcPr marL="39836" marR="39836" marT="19918" marB="19918" anchor="ctr"/>
                </a:tc>
                <a:tc>
                  <a:txBody>
                    <a:bodyPr/>
                    <a:lstStyle/>
                    <a:p>
                      <a:pPr algn="ctr">
                        <a:spcAft>
                          <a:spcPts val="0"/>
                        </a:spcAft>
                      </a:pPr>
                      <a:r>
                        <a:rPr lang="pt-BR" sz="800">
                          <a:effectLst/>
                        </a:rPr>
                        <a:t>Resp.</a:t>
                      </a:r>
                      <a:endParaRPr lang="pt-BR" sz="800">
                        <a:effectLst/>
                        <a:latin typeface="Calibri"/>
                        <a:ea typeface="Calibri"/>
                        <a:cs typeface="Times New Roman"/>
                      </a:endParaRPr>
                    </a:p>
                  </a:txBody>
                  <a:tcPr marL="39836" marR="39836" marT="19918" marB="19918" anchor="ctr"/>
                </a:tc>
                <a:tc>
                  <a:txBody>
                    <a:bodyPr/>
                    <a:lstStyle/>
                    <a:p>
                      <a:pPr algn="ctr">
                        <a:spcAft>
                          <a:spcPts val="0"/>
                        </a:spcAft>
                      </a:pPr>
                      <a:r>
                        <a:rPr lang="pt-BR" sz="800" dirty="0">
                          <a:effectLst/>
                        </a:rPr>
                        <a:t>Status</a:t>
                      </a:r>
                      <a:endParaRPr lang="pt-BR" sz="800" dirty="0">
                        <a:effectLst/>
                        <a:latin typeface="Calibri"/>
                        <a:ea typeface="Calibri"/>
                        <a:cs typeface="Times New Roman"/>
                      </a:endParaRPr>
                    </a:p>
                  </a:txBody>
                  <a:tcPr marL="39836" marR="39836" marT="19918" marB="19918" anchor="ctr"/>
                </a:tc>
                <a:tc>
                  <a:txBody>
                    <a:bodyPr/>
                    <a:lstStyle/>
                    <a:p>
                      <a:pPr algn="ctr">
                        <a:spcAft>
                          <a:spcPts val="0"/>
                        </a:spcAft>
                      </a:pPr>
                      <a:r>
                        <a:rPr lang="pt-BR" sz="800" dirty="0">
                          <a:effectLst/>
                        </a:rPr>
                        <a:t>Observação</a:t>
                      </a:r>
                      <a:endParaRPr lang="pt-BR" sz="800" dirty="0">
                        <a:effectLst/>
                        <a:latin typeface="Calibri"/>
                        <a:ea typeface="Calibri"/>
                        <a:cs typeface="Times New Roman"/>
                      </a:endParaRPr>
                    </a:p>
                  </a:txBody>
                  <a:tcPr marL="39836" marR="39836" marT="19918" marB="19918" anchor="ctr"/>
                </a:tc>
                <a:tc>
                  <a:txBody>
                    <a:bodyPr/>
                    <a:lstStyle/>
                    <a:p>
                      <a:pPr algn="ctr">
                        <a:spcAft>
                          <a:spcPts val="0"/>
                        </a:spcAft>
                      </a:pPr>
                      <a:r>
                        <a:rPr lang="pt-BR" sz="800">
                          <a:effectLst/>
                        </a:rPr>
                        <a:t>Previsão</a:t>
                      </a:r>
                      <a:endParaRPr lang="pt-BR" sz="800">
                        <a:effectLst/>
                        <a:latin typeface="Calibri"/>
                        <a:ea typeface="Calibri"/>
                        <a:cs typeface="Times New Roman"/>
                      </a:endParaRPr>
                    </a:p>
                  </a:txBody>
                  <a:tcPr marL="39836" marR="39836" marT="19918" marB="19918" anchor="ctr"/>
                </a:tc>
              </a:tr>
              <a:tr h="235263">
                <a:tc>
                  <a:txBody>
                    <a:bodyPr/>
                    <a:lstStyle/>
                    <a:p>
                      <a:pPr algn="ctr" fontAlgn="b">
                        <a:spcAft>
                          <a:spcPts val="0"/>
                        </a:spcAft>
                      </a:pPr>
                      <a:r>
                        <a:rPr lang="pt-BR" sz="800" dirty="0">
                          <a:effectLst/>
                        </a:rPr>
                        <a:t>RJ - Transporte do robô de Alegria para Engenho de Dentro - SC 246</a:t>
                      </a:r>
                      <a:endParaRPr lang="pt-BR" sz="800" dirty="0">
                        <a:effectLst/>
                        <a:latin typeface="Calibri"/>
                        <a:ea typeface="Calibri"/>
                        <a:cs typeface="Times New Roman"/>
                      </a:endParaRPr>
                    </a:p>
                  </a:txBody>
                  <a:tcPr marL="4150" marR="4150" marT="4150" marB="0" anchor="ctr"/>
                </a:tc>
                <a:tc>
                  <a:txBody>
                    <a:bodyPr/>
                    <a:lstStyle/>
                    <a:p>
                      <a:pPr algn="ctr" fontAlgn="b">
                        <a:spcAft>
                          <a:spcPts val="0"/>
                        </a:spcAft>
                      </a:pPr>
                      <a:r>
                        <a:rPr lang="pt-BR" sz="800">
                          <a:effectLst/>
                        </a:rPr>
                        <a:t>Eugenio Silva</a:t>
                      </a:r>
                      <a:endParaRPr lang="pt-BR" sz="800">
                        <a:effectLst/>
                        <a:latin typeface="Calibri"/>
                        <a:ea typeface="Calibri"/>
                        <a:cs typeface="Times New Roman"/>
                      </a:endParaRPr>
                    </a:p>
                  </a:txBody>
                  <a:tcPr marL="4150" marR="4150" marT="4150" marB="0" anchor="ctr"/>
                </a:tc>
                <a:tc>
                  <a:txBody>
                    <a:bodyPr/>
                    <a:lstStyle/>
                    <a:p>
                      <a:pPr algn="ctr" fontAlgn="b">
                        <a:spcAft>
                          <a:spcPts val="0"/>
                        </a:spcAft>
                      </a:pPr>
                      <a:r>
                        <a:rPr lang="pt-BR" sz="800">
                          <a:effectLst/>
                        </a:rPr>
                        <a:t>Aguardando aprovação</a:t>
                      </a:r>
                      <a:endParaRPr lang="pt-BR" sz="800">
                        <a:effectLst/>
                        <a:latin typeface="Calibri"/>
                        <a:ea typeface="Calibri"/>
                        <a:cs typeface="Times New Roman"/>
                      </a:endParaRPr>
                    </a:p>
                  </a:txBody>
                  <a:tcPr marL="4150" marR="4150" marT="4150" marB="0" anchor="ctr"/>
                </a:tc>
                <a:tc>
                  <a:txBody>
                    <a:bodyPr/>
                    <a:lstStyle/>
                    <a:p>
                      <a:pPr algn="ctr" fontAlgn="b">
                        <a:spcAft>
                          <a:spcPts val="0"/>
                        </a:spcAft>
                      </a:pPr>
                      <a:r>
                        <a:rPr lang="pt-BR" sz="800">
                          <a:effectLst/>
                        </a:rPr>
                        <a:t>Aguardando aprovação do Bourboun no FLUIG</a:t>
                      </a:r>
                      <a:endParaRPr lang="pt-BR" sz="800">
                        <a:effectLst/>
                        <a:latin typeface="Calibri"/>
                        <a:ea typeface="Calibri"/>
                        <a:cs typeface="Times New Roman"/>
                      </a:endParaRPr>
                    </a:p>
                  </a:txBody>
                  <a:tcPr marL="4150" marR="4150" marT="4150" marB="0" anchor="ctr"/>
                </a:tc>
                <a:tc>
                  <a:txBody>
                    <a:bodyPr/>
                    <a:lstStyle/>
                    <a:p>
                      <a:pPr algn="ctr" fontAlgn="b">
                        <a:spcAft>
                          <a:spcPts val="0"/>
                        </a:spcAft>
                      </a:pPr>
                      <a:r>
                        <a:rPr lang="pt-BR" sz="800">
                          <a:effectLst/>
                        </a:rPr>
                        <a:t> </a:t>
                      </a:r>
                      <a:endParaRPr lang="pt-BR" sz="800">
                        <a:effectLst/>
                        <a:latin typeface="Calibri"/>
                        <a:ea typeface="Calibri"/>
                        <a:cs typeface="Times New Roman"/>
                      </a:endParaRPr>
                    </a:p>
                  </a:txBody>
                  <a:tcPr marL="4150" marR="4150" marT="4150" marB="0" anchor="ctr"/>
                </a:tc>
              </a:tr>
              <a:tr h="235263">
                <a:tc>
                  <a:txBody>
                    <a:bodyPr/>
                    <a:lstStyle/>
                    <a:p>
                      <a:pPr algn="ctr" fontAlgn="b">
                        <a:spcAft>
                          <a:spcPts val="0"/>
                        </a:spcAft>
                      </a:pPr>
                      <a:r>
                        <a:rPr lang="pt-BR" sz="800" dirty="0">
                          <a:effectLst/>
                        </a:rPr>
                        <a:t>RJ - Compra de fitas para a regional </a:t>
                      </a:r>
                    </a:p>
                    <a:p>
                      <a:pPr algn="ctr" fontAlgn="b">
                        <a:spcAft>
                          <a:spcPts val="0"/>
                        </a:spcAft>
                      </a:pPr>
                      <a:r>
                        <a:rPr lang="pt-BR" sz="800" dirty="0">
                          <a:effectLst/>
                        </a:rPr>
                        <a:t>- SC 245</a:t>
                      </a:r>
                      <a:endParaRPr lang="pt-BR" sz="800" dirty="0">
                        <a:effectLst/>
                        <a:latin typeface="Calibri"/>
                        <a:ea typeface="Calibri"/>
                        <a:cs typeface="Times New Roman"/>
                      </a:endParaRPr>
                    </a:p>
                  </a:txBody>
                  <a:tcPr marL="4150" marR="4150" marT="4150" marB="0" anchor="ctr"/>
                </a:tc>
                <a:tc>
                  <a:txBody>
                    <a:bodyPr/>
                    <a:lstStyle/>
                    <a:p>
                      <a:pPr algn="ctr" fontAlgn="b">
                        <a:spcAft>
                          <a:spcPts val="0"/>
                        </a:spcAft>
                      </a:pPr>
                      <a:r>
                        <a:rPr lang="pt-BR" sz="800">
                          <a:effectLst/>
                        </a:rPr>
                        <a:t>Eugenio Silva</a:t>
                      </a:r>
                      <a:endParaRPr lang="pt-BR" sz="800">
                        <a:effectLst/>
                        <a:latin typeface="Calibri"/>
                        <a:ea typeface="Calibri"/>
                        <a:cs typeface="Times New Roman"/>
                      </a:endParaRPr>
                    </a:p>
                  </a:txBody>
                  <a:tcPr marL="4150" marR="4150" marT="4150" marB="0" anchor="ctr"/>
                </a:tc>
                <a:tc>
                  <a:txBody>
                    <a:bodyPr/>
                    <a:lstStyle/>
                    <a:p>
                      <a:pPr algn="ctr" fontAlgn="b">
                        <a:spcAft>
                          <a:spcPts val="0"/>
                        </a:spcAft>
                      </a:pPr>
                      <a:r>
                        <a:rPr lang="pt-BR" sz="800">
                          <a:effectLst/>
                        </a:rPr>
                        <a:t>Aguardando status</a:t>
                      </a:r>
                      <a:endParaRPr lang="pt-BR" sz="800">
                        <a:effectLst/>
                        <a:latin typeface="Calibri"/>
                        <a:ea typeface="Calibri"/>
                        <a:cs typeface="Times New Roman"/>
                      </a:endParaRPr>
                    </a:p>
                  </a:txBody>
                  <a:tcPr marL="4150" marR="4150" marT="4150" marB="0" anchor="ctr"/>
                </a:tc>
                <a:tc>
                  <a:txBody>
                    <a:bodyPr/>
                    <a:lstStyle/>
                    <a:p>
                      <a:pPr algn="ctr" fontAlgn="b">
                        <a:spcAft>
                          <a:spcPts val="0"/>
                        </a:spcAft>
                      </a:pPr>
                      <a:r>
                        <a:rPr lang="pt-BR" sz="800">
                          <a:effectLst/>
                        </a:rPr>
                        <a:t>Aguardando status sobre as aprovações</a:t>
                      </a:r>
                      <a:endParaRPr lang="pt-BR" sz="800">
                        <a:effectLst/>
                        <a:latin typeface="Calibri"/>
                        <a:ea typeface="Calibri"/>
                        <a:cs typeface="Times New Roman"/>
                      </a:endParaRPr>
                    </a:p>
                  </a:txBody>
                  <a:tcPr marL="4150" marR="4150" marT="4150" marB="0" anchor="ctr"/>
                </a:tc>
                <a:tc>
                  <a:txBody>
                    <a:bodyPr/>
                    <a:lstStyle/>
                    <a:p>
                      <a:pPr algn="ctr" fontAlgn="b">
                        <a:spcAft>
                          <a:spcPts val="0"/>
                        </a:spcAft>
                      </a:pPr>
                      <a:r>
                        <a:rPr lang="pt-BR" sz="800">
                          <a:effectLst/>
                        </a:rPr>
                        <a:t> </a:t>
                      </a:r>
                      <a:endParaRPr lang="pt-BR" sz="800">
                        <a:effectLst/>
                        <a:latin typeface="Calibri"/>
                        <a:ea typeface="Calibri"/>
                        <a:cs typeface="Times New Roman"/>
                      </a:endParaRPr>
                    </a:p>
                  </a:txBody>
                  <a:tcPr marL="4150" marR="4150" marT="4150" marB="0" anchor="ctr"/>
                </a:tc>
              </a:tr>
              <a:tr h="314297">
                <a:tc>
                  <a:txBody>
                    <a:bodyPr/>
                    <a:lstStyle/>
                    <a:p>
                      <a:pPr algn="ctr" fontAlgn="b">
                        <a:spcAft>
                          <a:spcPts val="0"/>
                        </a:spcAft>
                      </a:pPr>
                      <a:r>
                        <a:rPr lang="pt-BR" sz="800" dirty="0">
                          <a:effectLst/>
                        </a:rPr>
                        <a:t>RJ - Manutenção de 02 robôs no site MCK</a:t>
                      </a:r>
                      <a:endParaRPr lang="pt-BR" sz="800" dirty="0">
                        <a:effectLst/>
                        <a:latin typeface="Calibri"/>
                        <a:ea typeface="Calibri"/>
                        <a:cs typeface="Times New Roman"/>
                      </a:endParaRPr>
                    </a:p>
                  </a:txBody>
                  <a:tcPr marL="4150" marR="4150" marT="4150" marB="0" anchor="ctr"/>
                </a:tc>
                <a:tc>
                  <a:txBody>
                    <a:bodyPr/>
                    <a:lstStyle/>
                    <a:p>
                      <a:pPr algn="ctr" fontAlgn="b">
                        <a:spcAft>
                          <a:spcPts val="0"/>
                        </a:spcAft>
                      </a:pPr>
                      <a:r>
                        <a:rPr lang="pt-BR" sz="800" dirty="0">
                          <a:effectLst/>
                        </a:rPr>
                        <a:t>Eugenio Silva</a:t>
                      </a:r>
                      <a:endParaRPr lang="pt-BR" sz="800" dirty="0">
                        <a:effectLst/>
                        <a:latin typeface="Calibri"/>
                        <a:ea typeface="Calibri"/>
                        <a:cs typeface="Times New Roman"/>
                      </a:endParaRPr>
                    </a:p>
                  </a:txBody>
                  <a:tcPr marL="4150" marR="4150" marT="4150" marB="0" anchor="ctr"/>
                </a:tc>
                <a:tc>
                  <a:txBody>
                    <a:bodyPr/>
                    <a:lstStyle/>
                    <a:p>
                      <a:pPr algn="ctr" fontAlgn="b">
                        <a:spcAft>
                          <a:spcPts val="0"/>
                        </a:spcAft>
                      </a:pPr>
                      <a:r>
                        <a:rPr lang="pt-BR" sz="800">
                          <a:effectLst/>
                        </a:rPr>
                        <a:t>Aguardando o site</a:t>
                      </a:r>
                      <a:endParaRPr lang="pt-BR" sz="800">
                        <a:effectLst/>
                        <a:latin typeface="Calibri"/>
                        <a:ea typeface="Calibri"/>
                        <a:cs typeface="Times New Roman"/>
                      </a:endParaRPr>
                    </a:p>
                  </a:txBody>
                  <a:tcPr marL="4150" marR="4150" marT="4150" marB="0" anchor="ctr"/>
                </a:tc>
                <a:tc>
                  <a:txBody>
                    <a:bodyPr/>
                    <a:lstStyle/>
                    <a:p>
                      <a:pPr algn="ctr" fontAlgn="b">
                        <a:spcAft>
                          <a:spcPts val="0"/>
                        </a:spcAft>
                      </a:pPr>
                      <a:r>
                        <a:rPr lang="pt-BR" sz="800">
                          <a:effectLst/>
                        </a:rPr>
                        <a:t>1 – Enviado o orçamento para o Site seguir o fluxo de SC e aprovação.</a:t>
                      </a:r>
                    </a:p>
                    <a:p>
                      <a:pPr algn="ctr" fontAlgn="b">
                        <a:spcAft>
                          <a:spcPts val="0"/>
                        </a:spcAft>
                      </a:pPr>
                      <a:r>
                        <a:rPr lang="pt-BR" sz="800">
                          <a:effectLst/>
                        </a:rPr>
                        <a:t>2 – Dell realizando teste ainda</a:t>
                      </a:r>
                      <a:endParaRPr lang="pt-BR" sz="800">
                        <a:effectLst/>
                        <a:latin typeface="Calibri"/>
                        <a:ea typeface="Calibri"/>
                        <a:cs typeface="Times New Roman"/>
                      </a:endParaRPr>
                    </a:p>
                  </a:txBody>
                  <a:tcPr marL="4150" marR="4150" marT="4150" marB="0" anchor="ctr"/>
                </a:tc>
                <a:tc>
                  <a:txBody>
                    <a:bodyPr/>
                    <a:lstStyle/>
                    <a:p>
                      <a:pPr algn="ctr" fontAlgn="b">
                        <a:spcAft>
                          <a:spcPts val="0"/>
                        </a:spcAft>
                      </a:pPr>
                      <a:r>
                        <a:rPr lang="pt-BR" sz="800">
                          <a:effectLst/>
                        </a:rPr>
                        <a:t>30/04/2016</a:t>
                      </a:r>
                      <a:endParaRPr lang="pt-BR" sz="800">
                        <a:effectLst/>
                        <a:latin typeface="Calibri"/>
                        <a:ea typeface="Calibri"/>
                        <a:cs typeface="Times New Roman"/>
                      </a:endParaRPr>
                    </a:p>
                  </a:txBody>
                  <a:tcPr marL="4150" marR="4150" marT="4150" marB="0" anchor="ctr"/>
                </a:tc>
              </a:tr>
              <a:tr h="323119">
                <a:tc>
                  <a:txBody>
                    <a:bodyPr/>
                    <a:lstStyle/>
                    <a:p>
                      <a:pPr algn="ctr" fontAlgn="b">
                        <a:spcAft>
                          <a:spcPts val="0"/>
                        </a:spcAft>
                      </a:pPr>
                      <a:r>
                        <a:rPr lang="pt-BR" sz="800">
                          <a:effectLst/>
                        </a:rPr>
                        <a:t>RJ - Troca de robôs entre sites</a:t>
                      </a:r>
                      <a:endParaRPr lang="pt-BR" sz="800">
                        <a:effectLst/>
                        <a:latin typeface="Calibri"/>
                        <a:ea typeface="Calibri"/>
                        <a:cs typeface="Times New Roman"/>
                      </a:endParaRPr>
                    </a:p>
                  </a:txBody>
                  <a:tcPr marL="4150" marR="4150" marT="4150" marB="0" anchor="ctr"/>
                </a:tc>
                <a:tc>
                  <a:txBody>
                    <a:bodyPr/>
                    <a:lstStyle/>
                    <a:p>
                      <a:pPr algn="ctr" fontAlgn="b">
                        <a:spcAft>
                          <a:spcPts val="0"/>
                        </a:spcAft>
                      </a:pPr>
                      <a:r>
                        <a:rPr lang="pt-BR" sz="800">
                          <a:effectLst/>
                        </a:rPr>
                        <a:t>Eugenio Silva</a:t>
                      </a:r>
                      <a:endParaRPr lang="pt-BR" sz="800">
                        <a:effectLst/>
                        <a:latin typeface="Calibri"/>
                        <a:ea typeface="Calibri"/>
                        <a:cs typeface="Times New Roman"/>
                      </a:endParaRPr>
                    </a:p>
                  </a:txBody>
                  <a:tcPr marL="4150" marR="4150" marT="4150" marB="0" anchor="ctr"/>
                </a:tc>
                <a:tc>
                  <a:txBody>
                    <a:bodyPr/>
                    <a:lstStyle/>
                    <a:p>
                      <a:pPr algn="ctr" fontAlgn="b">
                        <a:spcAft>
                          <a:spcPts val="0"/>
                        </a:spcAft>
                      </a:pPr>
                      <a:r>
                        <a:rPr lang="pt-BR" sz="800" dirty="0">
                          <a:effectLst/>
                        </a:rPr>
                        <a:t>Aguardando a disponibilidade do site</a:t>
                      </a:r>
                      <a:endParaRPr lang="pt-BR" sz="800" dirty="0">
                        <a:effectLst/>
                        <a:latin typeface="Calibri"/>
                        <a:ea typeface="Calibri"/>
                        <a:cs typeface="Times New Roman"/>
                      </a:endParaRPr>
                    </a:p>
                  </a:txBody>
                  <a:tcPr marL="4150" marR="4150" marT="4150" marB="0" anchor="ctr"/>
                </a:tc>
                <a:tc>
                  <a:txBody>
                    <a:bodyPr/>
                    <a:lstStyle/>
                    <a:p>
                      <a:pPr algn="ctr" fontAlgn="b">
                        <a:spcAft>
                          <a:spcPts val="0"/>
                        </a:spcAft>
                      </a:pPr>
                      <a:r>
                        <a:rPr lang="pt-BR" sz="800">
                          <a:effectLst/>
                        </a:rPr>
                        <a:t>Solicitado a troca de robôs entre os sites São Cristóvão e Mauá</a:t>
                      </a:r>
                      <a:endParaRPr lang="pt-BR" sz="800">
                        <a:effectLst/>
                        <a:latin typeface="Calibri"/>
                        <a:ea typeface="Calibri"/>
                        <a:cs typeface="Times New Roman"/>
                      </a:endParaRPr>
                    </a:p>
                  </a:txBody>
                  <a:tcPr marL="4150" marR="4150" marT="4150" marB="0" anchor="ctr"/>
                </a:tc>
                <a:tc>
                  <a:txBody>
                    <a:bodyPr/>
                    <a:lstStyle/>
                    <a:p>
                      <a:pPr algn="ctr" fontAlgn="b">
                        <a:spcAft>
                          <a:spcPts val="0"/>
                        </a:spcAft>
                      </a:pPr>
                      <a:r>
                        <a:rPr lang="pt-BR" sz="800">
                          <a:effectLst/>
                        </a:rPr>
                        <a:t>30/04/2016</a:t>
                      </a:r>
                      <a:endParaRPr lang="pt-BR" sz="800">
                        <a:effectLst/>
                        <a:latin typeface="Calibri"/>
                        <a:ea typeface="Calibri"/>
                        <a:cs typeface="Times New Roman"/>
                      </a:endParaRPr>
                    </a:p>
                  </a:txBody>
                  <a:tcPr marL="4150" marR="4150" marT="4150" marB="0" anchor="ctr"/>
                </a:tc>
              </a:tr>
              <a:tr h="235263">
                <a:tc>
                  <a:txBody>
                    <a:bodyPr/>
                    <a:lstStyle/>
                    <a:p>
                      <a:pPr algn="ctr">
                        <a:spcAft>
                          <a:spcPts val="0"/>
                        </a:spcAft>
                      </a:pPr>
                      <a:r>
                        <a:rPr lang="pt-BR" sz="800">
                          <a:effectLst/>
                        </a:rPr>
                        <a:t>SP - Compra de fitas para a regional</a:t>
                      </a:r>
                      <a:endParaRPr lang="pt-BR" sz="800">
                        <a:effectLst/>
                        <a:latin typeface="Calibri"/>
                        <a:ea typeface="Calibri"/>
                        <a:cs typeface="Times New Roman"/>
                      </a:endParaRPr>
                    </a:p>
                  </a:txBody>
                  <a:tcPr marL="4150" marR="4150" marT="4150" marB="0" anchor="ctr"/>
                </a:tc>
                <a:tc>
                  <a:txBody>
                    <a:bodyPr/>
                    <a:lstStyle/>
                    <a:p>
                      <a:pPr algn="ctr" fontAlgn="b">
                        <a:spcAft>
                          <a:spcPts val="0"/>
                        </a:spcAft>
                      </a:pPr>
                      <a:r>
                        <a:rPr lang="pt-BR" sz="800">
                          <a:effectLst/>
                        </a:rPr>
                        <a:t>Roberto Elias</a:t>
                      </a:r>
                      <a:endParaRPr lang="pt-BR" sz="800">
                        <a:effectLst/>
                        <a:latin typeface="Calibri"/>
                        <a:ea typeface="Calibri"/>
                        <a:cs typeface="Times New Roman"/>
                      </a:endParaRPr>
                    </a:p>
                  </a:txBody>
                  <a:tcPr marL="4150" marR="4150" marT="4150" marB="0" anchor="ctr"/>
                </a:tc>
                <a:tc>
                  <a:txBody>
                    <a:bodyPr/>
                    <a:lstStyle/>
                    <a:p>
                      <a:pPr algn="ctr" fontAlgn="b">
                        <a:spcAft>
                          <a:spcPts val="0"/>
                        </a:spcAft>
                      </a:pPr>
                      <a:r>
                        <a:rPr lang="pt-BR" sz="800">
                          <a:effectLst/>
                        </a:rPr>
                        <a:t>Aguardando </a:t>
                      </a:r>
                      <a:endParaRPr lang="pt-BR" sz="800">
                        <a:effectLst/>
                        <a:latin typeface="Calibri"/>
                        <a:ea typeface="Calibri"/>
                        <a:cs typeface="Times New Roman"/>
                      </a:endParaRPr>
                    </a:p>
                  </a:txBody>
                  <a:tcPr marL="4150" marR="4150" marT="4150" marB="0" anchor="ctr"/>
                </a:tc>
                <a:tc>
                  <a:txBody>
                    <a:bodyPr/>
                    <a:lstStyle/>
                    <a:p>
                      <a:pPr algn="ctr" fontAlgn="b">
                        <a:spcAft>
                          <a:spcPts val="0"/>
                        </a:spcAft>
                      </a:pPr>
                      <a:r>
                        <a:rPr lang="pt-BR" sz="800" dirty="0">
                          <a:effectLst/>
                        </a:rPr>
                        <a:t>Ainda não informado o número de SC para verificar status e/ou </a:t>
                      </a:r>
                      <a:r>
                        <a:rPr lang="pt-BR" sz="800" dirty="0" err="1">
                          <a:effectLst/>
                        </a:rPr>
                        <a:t>escalation</a:t>
                      </a:r>
                      <a:endParaRPr lang="pt-BR" sz="800" dirty="0">
                        <a:effectLst/>
                        <a:latin typeface="Calibri"/>
                        <a:ea typeface="Calibri"/>
                        <a:cs typeface="Times New Roman"/>
                      </a:endParaRPr>
                    </a:p>
                  </a:txBody>
                  <a:tcPr marL="4150" marR="4150" marT="4150" marB="0" anchor="ctr"/>
                </a:tc>
                <a:tc>
                  <a:txBody>
                    <a:bodyPr/>
                    <a:lstStyle/>
                    <a:p>
                      <a:pPr algn="ctr" fontAlgn="b">
                        <a:spcAft>
                          <a:spcPts val="0"/>
                        </a:spcAft>
                      </a:pPr>
                      <a:r>
                        <a:rPr lang="pt-BR" sz="800">
                          <a:effectLst/>
                        </a:rPr>
                        <a:t> </a:t>
                      </a:r>
                      <a:endParaRPr lang="pt-BR" sz="800">
                        <a:effectLst/>
                        <a:latin typeface="Calibri"/>
                        <a:ea typeface="Calibri"/>
                        <a:cs typeface="Times New Roman"/>
                      </a:endParaRPr>
                    </a:p>
                  </a:txBody>
                  <a:tcPr marL="4150" marR="4150" marT="4150" marB="0" anchor="ctr"/>
                </a:tc>
              </a:tr>
              <a:tr h="235263">
                <a:tc>
                  <a:txBody>
                    <a:bodyPr/>
                    <a:lstStyle/>
                    <a:p>
                      <a:pPr algn="ctr" fontAlgn="b">
                        <a:spcAft>
                          <a:spcPts val="0"/>
                        </a:spcAft>
                      </a:pPr>
                      <a:r>
                        <a:rPr lang="pt-BR" sz="800">
                          <a:effectLst/>
                        </a:rPr>
                        <a:t>SP – Manutenção no robô do site Alegria</a:t>
                      </a:r>
                      <a:endParaRPr lang="pt-BR" sz="800">
                        <a:effectLst/>
                        <a:latin typeface="Calibri"/>
                        <a:ea typeface="Calibri"/>
                        <a:cs typeface="Times New Roman"/>
                      </a:endParaRPr>
                    </a:p>
                  </a:txBody>
                  <a:tcPr marL="4150" marR="4150" marT="4150" marB="0" anchor="ctr"/>
                </a:tc>
                <a:tc>
                  <a:txBody>
                    <a:bodyPr/>
                    <a:lstStyle/>
                    <a:p>
                      <a:pPr algn="ctr" fontAlgn="b">
                        <a:spcAft>
                          <a:spcPts val="0"/>
                        </a:spcAft>
                      </a:pPr>
                      <a:r>
                        <a:rPr lang="pt-BR" sz="800">
                          <a:effectLst/>
                        </a:rPr>
                        <a:t>Roberto Elias</a:t>
                      </a:r>
                      <a:endParaRPr lang="pt-BR" sz="800">
                        <a:effectLst/>
                        <a:latin typeface="Calibri"/>
                        <a:ea typeface="Calibri"/>
                        <a:cs typeface="Times New Roman"/>
                      </a:endParaRPr>
                    </a:p>
                  </a:txBody>
                  <a:tcPr marL="4150" marR="4150" marT="4150" marB="0" anchor="ctr"/>
                </a:tc>
                <a:tc>
                  <a:txBody>
                    <a:bodyPr/>
                    <a:lstStyle/>
                    <a:p>
                      <a:pPr algn="ctr" fontAlgn="b">
                        <a:spcAft>
                          <a:spcPts val="0"/>
                        </a:spcAft>
                      </a:pPr>
                      <a:r>
                        <a:rPr lang="pt-BR" sz="800">
                          <a:effectLst/>
                        </a:rPr>
                        <a:t>Aguardando</a:t>
                      </a:r>
                      <a:endParaRPr lang="pt-BR" sz="800">
                        <a:effectLst/>
                        <a:latin typeface="Calibri"/>
                        <a:ea typeface="Calibri"/>
                        <a:cs typeface="Times New Roman"/>
                      </a:endParaRPr>
                    </a:p>
                  </a:txBody>
                  <a:tcPr marL="4150" marR="4150" marT="4150" marB="0" anchor="ctr"/>
                </a:tc>
                <a:tc>
                  <a:txBody>
                    <a:bodyPr/>
                    <a:lstStyle/>
                    <a:p>
                      <a:pPr algn="ctr" fontAlgn="b">
                        <a:spcAft>
                          <a:spcPts val="0"/>
                        </a:spcAft>
                      </a:pPr>
                      <a:r>
                        <a:rPr lang="pt-BR" sz="800">
                          <a:effectLst/>
                        </a:rPr>
                        <a:t>SC 41435 aguardando aprovação do Koreeda. Enviado e-mail a Mafê </a:t>
                      </a:r>
                      <a:endParaRPr lang="pt-BR" sz="800">
                        <a:effectLst/>
                        <a:latin typeface="Calibri"/>
                        <a:ea typeface="Calibri"/>
                        <a:cs typeface="Times New Roman"/>
                      </a:endParaRPr>
                    </a:p>
                  </a:txBody>
                  <a:tcPr marL="4150" marR="4150" marT="4150" marB="0" anchor="ctr"/>
                </a:tc>
                <a:tc>
                  <a:txBody>
                    <a:bodyPr/>
                    <a:lstStyle/>
                    <a:p>
                      <a:pPr algn="ctr" fontAlgn="b">
                        <a:spcAft>
                          <a:spcPts val="0"/>
                        </a:spcAft>
                      </a:pPr>
                      <a:r>
                        <a:rPr lang="pt-BR" sz="800">
                          <a:effectLst/>
                        </a:rPr>
                        <a:t>30/04/2016</a:t>
                      </a:r>
                      <a:endParaRPr lang="pt-BR" sz="800">
                        <a:effectLst/>
                        <a:latin typeface="Calibri"/>
                        <a:ea typeface="Calibri"/>
                        <a:cs typeface="Times New Roman"/>
                      </a:endParaRPr>
                    </a:p>
                  </a:txBody>
                  <a:tcPr marL="4150" marR="4150" marT="4150" marB="0" anchor="ctr"/>
                </a:tc>
              </a:tr>
              <a:tr h="323119">
                <a:tc>
                  <a:txBody>
                    <a:bodyPr/>
                    <a:lstStyle/>
                    <a:p>
                      <a:pPr algn="ctr" fontAlgn="b">
                        <a:spcAft>
                          <a:spcPts val="0"/>
                        </a:spcAft>
                      </a:pPr>
                      <a:r>
                        <a:rPr lang="pt-BR" sz="800">
                          <a:effectLst/>
                        </a:rPr>
                        <a:t>SP CASEH – Servidor de Backup compartilhado com o NICE</a:t>
                      </a:r>
                      <a:endParaRPr lang="pt-BR" sz="800">
                        <a:effectLst/>
                        <a:latin typeface="Calibri"/>
                        <a:ea typeface="Calibri"/>
                        <a:cs typeface="Times New Roman"/>
                      </a:endParaRPr>
                    </a:p>
                  </a:txBody>
                  <a:tcPr marL="4150" marR="4150" marT="4150" marB="0" anchor="ctr"/>
                </a:tc>
                <a:tc>
                  <a:txBody>
                    <a:bodyPr/>
                    <a:lstStyle/>
                    <a:p>
                      <a:pPr algn="ctr" fontAlgn="b">
                        <a:spcAft>
                          <a:spcPts val="0"/>
                        </a:spcAft>
                      </a:pPr>
                      <a:r>
                        <a:rPr lang="pt-BR" sz="800">
                          <a:effectLst/>
                        </a:rPr>
                        <a:t>Roberto Elias</a:t>
                      </a:r>
                      <a:endParaRPr lang="pt-BR" sz="800">
                        <a:effectLst/>
                        <a:latin typeface="Calibri"/>
                        <a:ea typeface="Calibri"/>
                        <a:cs typeface="Times New Roman"/>
                      </a:endParaRPr>
                    </a:p>
                  </a:txBody>
                  <a:tcPr marL="4150" marR="4150" marT="4150" marB="0" anchor="ctr"/>
                </a:tc>
                <a:tc>
                  <a:txBody>
                    <a:bodyPr/>
                    <a:lstStyle/>
                    <a:p>
                      <a:pPr algn="ctr" fontAlgn="b">
                        <a:spcAft>
                          <a:spcPts val="0"/>
                        </a:spcAft>
                      </a:pPr>
                      <a:r>
                        <a:rPr lang="pt-BR" sz="800">
                          <a:effectLst/>
                        </a:rPr>
                        <a:t>Aguardando</a:t>
                      </a:r>
                      <a:endParaRPr lang="pt-BR" sz="800">
                        <a:effectLst/>
                        <a:latin typeface="Calibri"/>
                        <a:ea typeface="Calibri"/>
                        <a:cs typeface="Times New Roman"/>
                      </a:endParaRPr>
                    </a:p>
                  </a:txBody>
                  <a:tcPr marL="4150" marR="4150" marT="4150" marB="0" anchor="ctr"/>
                </a:tc>
                <a:tc>
                  <a:txBody>
                    <a:bodyPr/>
                    <a:lstStyle/>
                    <a:p>
                      <a:pPr algn="ctr" fontAlgn="b">
                        <a:spcAft>
                          <a:spcPts val="0"/>
                        </a:spcAft>
                      </a:pPr>
                      <a:r>
                        <a:rPr lang="pt-BR" sz="800" dirty="0">
                          <a:effectLst/>
                        </a:rPr>
                        <a:t>Solicitado outro servidor para segregar os serviços afim de não termos dois incidentes com uma queda de servidor.</a:t>
                      </a:r>
                      <a:endParaRPr lang="pt-BR" sz="800" dirty="0">
                        <a:effectLst/>
                        <a:latin typeface="Calibri"/>
                        <a:ea typeface="Calibri"/>
                        <a:cs typeface="Times New Roman"/>
                      </a:endParaRPr>
                    </a:p>
                  </a:txBody>
                  <a:tcPr marL="4150" marR="4150" marT="4150" marB="0" anchor="ctr"/>
                </a:tc>
                <a:tc>
                  <a:txBody>
                    <a:bodyPr/>
                    <a:lstStyle/>
                    <a:p>
                      <a:pPr algn="ctr" fontAlgn="b">
                        <a:spcAft>
                          <a:spcPts val="0"/>
                        </a:spcAft>
                      </a:pPr>
                      <a:r>
                        <a:rPr lang="pt-BR" sz="800">
                          <a:effectLst/>
                        </a:rPr>
                        <a:t>30/04/2016</a:t>
                      </a:r>
                      <a:endParaRPr lang="pt-BR" sz="800">
                        <a:effectLst/>
                        <a:latin typeface="Calibri"/>
                        <a:ea typeface="Calibri"/>
                        <a:cs typeface="Times New Roman"/>
                      </a:endParaRPr>
                    </a:p>
                  </a:txBody>
                  <a:tcPr marL="4150" marR="4150" marT="4150" marB="0" anchor="ctr"/>
                </a:tc>
              </a:tr>
              <a:tr h="852464">
                <a:tc>
                  <a:txBody>
                    <a:bodyPr/>
                    <a:lstStyle/>
                    <a:p>
                      <a:pPr algn="ctr" fontAlgn="b">
                        <a:spcAft>
                          <a:spcPts val="0"/>
                        </a:spcAft>
                      </a:pPr>
                      <a:r>
                        <a:rPr lang="pt-BR" sz="800">
                          <a:effectLst/>
                        </a:rPr>
                        <a:t>BA – Servidor de backup não reconhece robô</a:t>
                      </a:r>
                      <a:endParaRPr lang="pt-BR" sz="800">
                        <a:effectLst/>
                        <a:latin typeface="Calibri"/>
                        <a:ea typeface="Calibri"/>
                        <a:cs typeface="Times New Roman"/>
                      </a:endParaRPr>
                    </a:p>
                  </a:txBody>
                  <a:tcPr marL="4150" marR="4150" marT="4150" marB="0" anchor="ctr"/>
                </a:tc>
                <a:tc>
                  <a:txBody>
                    <a:bodyPr/>
                    <a:lstStyle/>
                    <a:p>
                      <a:pPr algn="ctr" fontAlgn="b">
                        <a:spcAft>
                          <a:spcPts val="0"/>
                        </a:spcAft>
                      </a:pPr>
                      <a:r>
                        <a:rPr lang="pt-BR" sz="800">
                          <a:effectLst/>
                        </a:rPr>
                        <a:t>Alexandre Gustavo</a:t>
                      </a:r>
                      <a:endParaRPr lang="pt-BR" sz="800">
                        <a:effectLst/>
                        <a:latin typeface="Calibri"/>
                        <a:ea typeface="Calibri"/>
                        <a:cs typeface="Times New Roman"/>
                      </a:endParaRPr>
                    </a:p>
                  </a:txBody>
                  <a:tcPr marL="4150" marR="4150" marT="4150" marB="0" anchor="ctr"/>
                </a:tc>
                <a:tc>
                  <a:txBody>
                    <a:bodyPr/>
                    <a:lstStyle/>
                    <a:p>
                      <a:pPr algn="ctr" fontAlgn="b">
                        <a:spcAft>
                          <a:spcPts val="0"/>
                        </a:spcAft>
                      </a:pPr>
                      <a:r>
                        <a:rPr lang="pt-BR" sz="800">
                          <a:effectLst/>
                        </a:rPr>
                        <a:t>Aguardando</a:t>
                      </a:r>
                      <a:endParaRPr lang="pt-BR" sz="800">
                        <a:effectLst/>
                        <a:latin typeface="Calibri"/>
                        <a:ea typeface="Calibri"/>
                        <a:cs typeface="Times New Roman"/>
                      </a:endParaRPr>
                    </a:p>
                  </a:txBody>
                  <a:tcPr marL="4150" marR="4150" marT="4150" marB="0" anchor="ctr"/>
                </a:tc>
                <a:tc>
                  <a:txBody>
                    <a:bodyPr/>
                    <a:lstStyle/>
                    <a:p>
                      <a:pPr algn="ctr" fontAlgn="b">
                        <a:spcAft>
                          <a:spcPts val="0"/>
                        </a:spcAft>
                      </a:pPr>
                      <a:r>
                        <a:rPr lang="pt-BR" sz="800" dirty="0">
                          <a:effectLst/>
                        </a:rPr>
                        <a:t>O robô não é reconhecido pelo servidor que também atua como FSS do site, este cenário impede uma atuação mais incisiva do suporte devido ao incidente que pode ser gerado. Solicitado ao site um novo servidor exclusivo de </a:t>
                      </a:r>
                      <a:r>
                        <a:rPr lang="pt-BR" sz="800" dirty="0" err="1">
                          <a:effectLst/>
                        </a:rPr>
                        <a:t>backip</a:t>
                      </a:r>
                      <a:r>
                        <a:rPr lang="pt-BR" sz="800" dirty="0">
                          <a:effectLst/>
                        </a:rPr>
                        <a:t>, atualmente estamos rodando apenas System </a:t>
                      </a:r>
                      <a:r>
                        <a:rPr lang="pt-BR" sz="800" dirty="0" err="1">
                          <a:effectLst/>
                        </a:rPr>
                        <a:t>States</a:t>
                      </a:r>
                      <a:r>
                        <a:rPr lang="pt-BR" sz="800" dirty="0">
                          <a:effectLst/>
                        </a:rPr>
                        <a:t> dos servidores através de uma TAPE manual.</a:t>
                      </a:r>
                      <a:endParaRPr lang="pt-BR" sz="800" dirty="0">
                        <a:effectLst/>
                        <a:latin typeface="Calibri"/>
                        <a:ea typeface="Calibri"/>
                        <a:cs typeface="Times New Roman"/>
                      </a:endParaRPr>
                    </a:p>
                  </a:txBody>
                  <a:tcPr marL="4150" marR="4150" marT="4150" marB="0" anchor="ctr"/>
                </a:tc>
                <a:tc>
                  <a:txBody>
                    <a:bodyPr/>
                    <a:lstStyle/>
                    <a:p>
                      <a:pPr algn="ctr" fontAlgn="b">
                        <a:spcAft>
                          <a:spcPts val="0"/>
                        </a:spcAft>
                      </a:pPr>
                      <a:r>
                        <a:rPr lang="pt-BR" sz="800">
                          <a:effectLst/>
                        </a:rPr>
                        <a:t>30/04/2016</a:t>
                      </a:r>
                      <a:endParaRPr lang="pt-BR" sz="800">
                        <a:effectLst/>
                        <a:latin typeface="Calibri"/>
                        <a:ea typeface="Calibri"/>
                        <a:cs typeface="Times New Roman"/>
                      </a:endParaRPr>
                    </a:p>
                  </a:txBody>
                  <a:tcPr marL="4150" marR="4150" marT="4150" marB="0" anchor="ctr"/>
                </a:tc>
              </a:tr>
              <a:tr h="323119">
                <a:tc>
                  <a:txBody>
                    <a:bodyPr/>
                    <a:lstStyle/>
                    <a:p>
                      <a:pPr algn="ctr" fontAlgn="b">
                        <a:spcAft>
                          <a:spcPts val="0"/>
                        </a:spcAft>
                      </a:pPr>
                      <a:r>
                        <a:rPr lang="pt-BR" sz="800">
                          <a:effectLst/>
                        </a:rPr>
                        <a:t>DC - GAP de licenças DATA PROTECTOR</a:t>
                      </a:r>
                      <a:endParaRPr lang="pt-BR" sz="800">
                        <a:effectLst/>
                        <a:latin typeface="Calibri"/>
                        <a:ea typeface="Calibri"/>
                        <a:cs typeface="Times New Roman"/>
                      </a:endParaRPr>
                    </a:p>
                  </a:txBody>
                  <a:tcPr marL="4150" marR="4150" marT="4150" marB="0" anchor="ctr"/>
                </a:tc>
                <a:tc>
                  <a:txBody>
                    <a:bodyPr/>
                    <a:lstStyle/>
                    <a:p>
                      <a:pPr algn="ctr" fontAlgn="b">
                        <a:spcAft>
                          <a:spcPts val="0"/>
                        </a:spcAft>
                      </a:pPr>
                      <a:r>
                        <a:rPr lang="pt-BR" sz="800">
                          <a:effectLst/>
                        </a:rPr>
                        <a:t>Rafael Alves</a:t>
                      </a:r>
                      <a:endParaRPr lang="pt-BR" sz="800">
                        <a:effectLst/>
                        <a:latin typeface="Calibri"/>
                        <a:ea typeface="Calibri"/>
                        <a:cs typeface="Times New Roman"/>
                      </a:endParaRPr>
                    </a:p>
                  </a:txBody>
                  <a:tcPr marL="4150" marR="4150" marT="4150" marB="0" anchor="ctr"/>
                </a:tc>
                <a:tc>
                  <a:txBody>
                    <a:bodyPr/>
                    <a:lstStyle/>
                    <a:p>
                      <a:pPr algn="ctr" fontAlgn="b">
                        <a:spcAft>
                          <a:spcPts val="0"/>
                        </a:spcAft>
                      </a:pPr>
                      <a:r>
                        <a:rPr lang="pt-BR" sz="800">
                          <a:effectLst/>
                        </a:rPr>
                        <a:t>Aguardando</a:t>
                      </a:r>
                      <a:endParaRPr lang="pt-BR" sz="800">
                        <a:effectLst/>
                        <a:latin typeface="Calibri"/>
                        <a:ea typeface="Calibri"/>
                        <a:cs typeface="Times New Roman"/>
                      </a:endParaRPr>
                    </a:p>
                  </a:txBody>
                  <a:tcPr marL="4150" marR="4150" marT="4150" marB="0" anchor="ctr"/>
                </a:tc>
                <a:tc>
                  <a:txBody>
                    <a:bodyPr/>
                    <a:lstStyle/>
                    <a:p>
                      <a:pPr algn="ctr" fontAlgn="b">
                        <a:spcAft>
                          <a:spcPts val="0"/>
                        </a:spcAft>
                      </a:pPr>
                      <a:r>
                        <a:rPr lang="pt-BR" sz="800" dirty="0">
                          <a:effectLst/>
                        </a:rPr>
                        <a:t>Valores já enviados pela HP e aprovados pela Engenharia. Enviado o formulário para abertura de SC para o time de FINANCEIRO_TI</a:t>
                      </a:r>
                      <a:endParaRPr lang="pt-BR" sz="800" dirty="0">
                        <a:effectLst/>
                        <a:latin typeface="Calibri"/>
                        <a:ea typeface="Calibri"/>
                        <a:cs typeface="Times New Roman"/>
                      </a:endParaRPr>
                    </a:p>
                  </a:txBody>
                  <a:tcPr marL="4150" marR="4150" marT="4150" marB="0" anchor="ctr"/>
                </a:tc>
                <a:tc>
                  <a:txBody>
                    <a:bodyPr/>
                    <a:lstStyle/>
                    <a:p>
                      <a:pPr algn="ctr" fontAlgn="b">
                        <a:spcAft>
                          <a:spcPts val="0"/>
                        </a:spcAft>
                      </a:pPr>
                      <a:r>
                        <a:rPr lang="pt-BR" sz="800">
                          <a:effectLst/>
                        </a:rPr>
                        <a:t>08/04/2016</a:t>
                      </a:r>
                      <a:endParaRPr lang="pt-BR" sz="800">
                        <a:effectLst/>
                        <a:latin typeface="Calibri"/>
                        <a:ea typeface="Calibri"/>
                        <a:cs typeface="Times New Roman"/>
                      </a:endParaRPr>
                    </a:p>
                  </a:txBody>
                  <a:tcPr marL="4150" marR="4150" marT="4150" marB="0" anchor="ctr"/>
                </a:tc>
              </a:tr>
              <a:tr h="323119">
                <a:tc>
                  <a:txBody>
                    <a:bodyPr/>
                    <a:lstStyle/>
                    <a:p>
                      <a:pPr algn="ctr" fontAlgn="b">
                        <a:spcAft>
                          <a:spcPts val="0"/>
                        </a:spcAft>
                      </a:pPr>
                      <a:r>
                        <a:rPr lang="pt-BR" sz="800">
                          <a:effectLst/>
                        </a:rPr>
                        <a:t>BR - Contrato de suporte ao HW de BKP</a:t>
                      </a:r>
                      <a:endParaRPr lang="pt-BR" sz="800">
                        <a:effectLst/>
                        <a:latin typeface="Calibri"/>
                        <a:ea typeface="Calibri"/>
                        <a:cs typeface="Times New Roman"/>
                      </a:endParaRPr>
                    </a:p>
                  </a:txBody>
                  <a:tcPr marL="4150" marR="4150" marT="4150" marB="0" anchor="ctr"/>
                </a:tc>
                <a:tc>
                  <a:txBody>
                    <a:bodyPr/>
                    <a:lstStyle/>
                    <a:p>
                      <a:pPr algn="ctr" fontAlgn="b">
                        <a:spcAft>
                          <a:spcPts val="0"/>
                        </a:spcAft>
                      </a:pPr>
                      <a:r>
                        <a:rPr lang="pt-BR" sz="800">
                          <a:effectLst/>
                        </a:rPr>
                        <a:t>STUART</a:t>
                      </a:r>
                      <a:endParaRPr lang="pt-BR" sz="800">
                        <a:effectLst/>
                        <a:latin typeface="Calibri"/>
                        <a:ea typeface="Calibri"/>
                        <a:cs typeface="Times New Roman"/>
                      </a:endParaRPr>
                    </a:p>
                  </a:txBody>
                  <a:tcPr marL="4150" marR="4150" marT="4150" marB="0" anchor="ctr"/>
                </a:tc>
                <a:tc>
                  <a:txBody>
                    <a:bodyPr/>
                    <a:lstStyle/>
                    <a:p>
                      <a:pPr algn="ctr" fontAlgn="b">
                        <a:spcAft>
                          <a:spcPts val="0"/>
                        </a:spcAft>
                      </a:pPr>
                      <a:r>
                        <a:rPr lang="pt-BR" sz="800">
                          <a:effectLst/>
                        </a:rPr>
                        <a:t>Aguardando</a:t>
                      </a:r>
                      <a:endParaRPr lang="pt-BR" sz="800">
                        <a:effectLst/>
                        <a:latin typeface="Calibri"/>
                        <a:ea typeface="Calibri"/>
                        <a:cs typeface="Times New Roman"/>
                      </a:endParaRPr>
                    </a:p>
                  </a:txBody>
                  <a:tcPr marL="4150" marR="4150" marT="4150" marB="0" anchor="ctr"/>
                </a:tc>
                <a:tc>
                  <a:txBody>
                    <a:bodyPr/>
                    <a:lstStyle/>
                    <a:p>
                      <a:pPr algn="ctr" fontAlgn="b">
                        <a:spcAft>
                          <a:spcPts val="0"/>
                        </a:spcAft>
                      </a:pPr>
                      <a:r>
                        <a:rPr lang="pt-BR" sz="800" dirty="0">
                          <a:effectLst/>
                        </a:rPr>
                        <a:t>Sem status sobre a renovação de contrato para suporte aos equipamentos de backup, onde a maioria está fora da garantia</a:t>
                      </a:r>
                      <a:endParaRPr lang="pt-BR" sz="800" dirty="0">
                        <a:effectLst/>
                        <a:latin typeface="Calibri"/>
                        <a:ea typeface="Calibri"/>
                        <a:cs typeface="Times New Roman"/>
                      </a:endParaRPr>
                    </a:p>
                  </a:txBody>
                  <a:tcPr marL="4150" marR="4150" marT="4150" marB="0" anchor="ctr"/>
                </a:tc>
                <a:tc>
                  <a:txBody>
                    <a:bodyPr/>
                    <a:lstStyle/>
                    <a:p>
                      <a:pPr algn="ctr" fontAlgn="b">
                        <a:spcAft>
                          <a:spcPts val="0"/>
                        </a:spcAft>
                      </a:pPr>
                      <a:r>
                        <a:rPr lang="pt-BR" sz="800">
                          <a:effectLst/>
                        </a:rPr>
                        <a:t> </a:t>
                      </a:r>
                      <a:endParaRPr lang="pt-BR" sz="800">
                        <a:effectLst/>
                        <a:latin typeface="Calibri"/>
                        <a:ea typeface="Calibri"/>
                        <a:cs typeface="Times New Roman"/>
                      </a:endParaRPr>
                    </a:p>
                  </a:txBody>
                  <a:tcPr marL="4150" marR="4150" marT="4150" marB="0" anchor="ctr"/>
                </a:tc>
              </a:tr>
              <a:tr h="235263">
                <a:tc>
                  <a:txBody>
                    <a:bodyPr/>
                    <a:lstStyle/>
                    <a:p>
                      <a:pPr algn="ctr" fontAlgn="b">
                        <a:spcAft>
                          <a:spcPts val="0"/>
                        </a:spcAft>
                      </a:pPr>
                      <a:r>
                        <a:rPr lang="pt-BR" sz="800">
                          <a:effectLst/>
                        </a:rPr>
                        <a:t>BR - Armazenamento de fita</a:t>
                      </a:r>
                      <a:endParaRPr lang="pt-BR" sz="800">
                        <a:effectLst/>
                        <a:latin typeface="Calibri"/>
                        <a:ea typeface="Calibri"/>
                        <a:cs typeface="Times New Roman"/>
                      </a:endParaRPr>
                    </a:p>
                  </a:txBody>
                  <a:tcPr marL="4150" marR="4150" marT="4150" marB="0" anchor="ctr"/>
                </a:tc>
                <a:tc>
                  <a:txBody>
                    <a:bodyPr/>
                    <a:lstStyle/>
                    <a:p>
                      <a:pPr algn="ctr" fontAlgn="b">
                        <a:spcAft>
                          <a:spcPts val="0"/>
                        </a:spcAft>
                      </a:pPr>
                      <a:r>
                        <a:rPr lang="pt-BR" sz="800">
                          <a:effectLst/>
                        </a:rPr>
                        <a:t>Rafael Alves</a:t>
                      </a:r>
                      <a:endParaRPr lang="pt-BR" sz="800">
                        <a:effectLst/>
                        <a:latin typeface="Calibri"/>
                        <a:ea typeface="Calibri"/>
                        <a:cs typeface="Times New Roman"/>
                      </a:endParaRPr>
                    </a:p>
                  </a:txBody>
                  <a:tcPr marL="4150" marR="4150" marT="4150" marB="0" anchor="ctr"/>
                </a:tc>
                <a:tc>
                  <a:txBody>
                    <a:bodyPr/>
                    <a:lstStyle/>
                    <a:p>
                      <a:pPr algn="ctr" fontAlgn="b">
                        <a:spcAft>
                          <a:spcPts val="0"/>
                        </a:spcAft>
                      </a:pPr>
                      <a:r>
                        <a:rPr lang="pt-BR" sz="800">
                          <a:effectLst/>
                        </a:rPr>
                        <a:t>Aguardando</a:t>
                      </a:r>
                      <a:endParaRPr lang="pt-BR" sz="800">
                        <a:effectLst/>
                        <a:latin typeface="Calibri"/>
                        <a:ea typeface="Calibri"/>
                        <a:cs typeface="Times New Roman"/>
                      </a:endParaRPr>
                    </a:p>
                  </a:txBody>
                  <a:tcPr marL="4150" marR="4150" marT="4150" marB="0" anchor="ctr"/>
                </a:tc>
                <a:tc>
                  <a:txBody>
                    <a:bodyPr/>
                    <a:lstStyle/>
                    <a:p>
                      <a:pPr algn="ctr" fontAlgn="b">
                        <a:spcAft>
                          <a:spcPts val="0"/>
                        </a:spcAft>
                      </a:pPr>
                      <a:r>
                        <a:rPr lang="pt-BR" sz="800">
                          <a:effectLst/>
                        </a:rPr>
                        <a:t>Definindo melhor cenário de custódia e armazenamento de mídias</a:t>
                      </a:r>
                      <a:endParaRPr lang="pt-BR" sz="800">
                        <a:effectLst/>
                        <a:latin typeface="Calibri"/>
                        <a:ea typeface="Calibri"/>
                        <a:cs typeface="Times New Roman"/>
                      </a:endParaRPr>
                    </a:p>
                  </a:txBody>
                  <a:tcPr marL="4150" marR="4150" marT="4150" marB="0" anchor="ctr"/>
                </a:tc>
                <a:tc>
                  <a:txBody>
                    <a:bodyPr/>
                    <a:lstStyle/>
                    <a:p>
                      <a:pPr algn="ctr" fontAlgn="b">
                        <a:spcAft>
                          <a:spcPts val="0"/>
                        </a:spcAft>
                      </a:pPr>
                      <a:r>
                        <a:rPr lang="pt-BR" sz="800">
                          <a:effectLst/>
                        </a:rPr>
                        <a:t> </a:t>
                      </a:r>
                      <a:endParaRPr lang="pt-BR" sz="800">
                        <a:effectLst/>
                        <a:latin typeface="Calibri"/>
                        <a:ea typeface="Calibri"/>
                        <a:cs typeface="Times New Roman"/>
                      </a:endParaRPr>
                    </a:p>
                  </a:txBody>
                  <a:tcPr marL="4150" marR="4150" marT="4150" marB="0" anchor="ctr"/>
                </a:tc>
              </a:tr>
              <a:tr h="235263">
                <a:tc>
                  <a:txBody>
                    <a:bodyPr/>
                    <a:lstStyle/>
                    <a:p>
                      <a:pPr algn="ctr" fontAlgn="b">
                        <a:spcAft>
                          <a:spcPts val="0"/>
                        </a:spcAft>
                      </a:pPr>
                      <a:r>
                        <a:rPr lang="pt-BR" sz="800">
                          <a:effectLst/>
                        </a:rPr>
                        <a:t>SP - Transporte de robôs oriundos do Lapa</a:t>
                      </a:r>
                      <a:endParaRPr lang="pt-BR" sz="800">
                        <a:effectLst/>
                        <a:latin typeface="Calibri"/>
                        <a:ea typeface="Calibri"/>
                        <a:cs typeface="Times New Roman"/>
                      </a:endParaRPr>
                    </a:p>
                  </a:txBody>
                  <a:tcPr marL="4150" marR="4150" marT="4150" marB="0" anchor="ctr"/>
                </a:tc>
                <a:tc>
                  <a:txBody>
                    <a:bodyPr/>
                    <a:lstStyle/>
                    <a:p>
                      <a:pPr algn="ctr" fontAlgn="b">
                        <a:spcAft>
                          <a:spcPts val="0"/>
                        </a:spcAft>
                      </a:pPr>
                      <a:r>
                        <a:rPr lang="pt-BR" sz="800">
                          <a:effectLst/>
                        </a:rPr>
                        <a:t>Backup</a:t>
                      </a:r>
                      <a:endParaRPr lang="pt-BR" sz="800">
                        <a:effectLst/>
                        <a:latin typeface="Calibri"/>
                        <a:ea typeface="Calibri"/>
                        <a:cs typeface="Times New Roman"/>
                      </a:endParaRPr>
                    </a:p>
                  </a:txBody>
                  <a:tcPr marL="4150" marR="4150" marT="4150" marB="0" anchor="ctr"/>
                </a:tc>
                <a:tc>
                  <a:txBody>
                    <a:bodyPr/>
                    <a:lstStyle/>
                    <a:p>
                      <a:pPr algn="ctr" fontAlgn="b">
                        <a:spcAft>
                          <a:spcPts val="0"/>
                        </a:spcAft>
                      </a:pPr>
                      <a:r>
                        <a:rPr lang="pt-BR" sz="800">
                          <a:effectLst/>
                        </a:rPr>
                        <a:t>Robôs em testes</a:t>
                      </a:r>
                      <a:endParaRPr lang="pt-BR" sz="800">
                        <a:effectLst/>
                        <a:latin typeface="Calibri"/>
                        <a:ea typeface="Calibri"/>
                        <a:cs typeface="Times New Roman"/>
                      </a:endParaRPr>
                    </a:p>
                  </a:txBody>
                  <a:tcPr marL="4150" marR="4150" marT="4150" marB="0" anchor="ctr"/>
                </a:tc>
                <a:tc>
                  <a:txBody>
                    <a:bodyPr/>
                    <a:lstStyle/>
                    <a:p>
                      <a:pPr algn="ctr" fontAlgn="b">
                        <a:spcAft>
                          <a:spcPts val="0"/>
                        </a:spcAft>
                      </a:pPr>
                      <a:r>
                        <a:rPr lang="pt-BR" sz="800" dirty="0">
                          <a:effectLst/>
                        </a:rPr>
                        <a:t>Robôs entregues e sendo testados</a:t>
                      </a:r>
                      <a:endParaRPr lang="pt-BR" sz="800" dirty="0">
                        <a:effectLst/>
                        <a:latin typeface="Calibri"/>
                        <a:ea typeface="Calibri"/>
                        <a:cs typeface="Times New Roman"/>
                      </a:endParaRPr>
                    </a:p>
                  </a:txBody>
                  <a:tcPr marL="4150" marR="4150" marT="4150" marB="0" anchor="ctr"/>
                </a:tc>
                <a:tc>
                  <a:txBody>
                    <a:bodyPr/>
                    <a:lstStyle/>
                    <a:p>
                      <a:pPr algn="ctr" fontAlgn="b">
                        <a:spcAft>
                          <a:spcPts val="0"/>
                        </a:spcAft>
                      </a:pPr>
                      <a:r>
                        <a:rPr lang="pt-BR" sz="800" dirty="0">
                          <a:effectLst/>
                        </a:rPr>
                        <a:t>20/05/2016</a:t>
                      </a:r>
                      <a:endParaRPr lang="pt-BR" sz="800" dirty="0">
                        <a:effectLst/>
                        <a:latin typeface="Calibri"/>
                        <a:ea typeface="Calibri"/>
                        <a:cs typeface="Times New Roman"/>
                      </a:endParaRPr>
                    </a:p>
                  </a:txBody>
                  <a:tcPr marL="4150" marR="4150" marT="4150" marB="0" anchor="ctr"/>
                </a:tc>
              </a:tr>
              <a:tr h="235263">
                <a:tc>
                  <a:txBody>
                    <a:bodyPr/>
                    <a:lstStyle/>
                    <a:p>
                      <a:pPr algn="ctr" fontAlgn="b">
                        <a:spcAft>
                          <a:spcPts val="0"/>
                        </a:spcAft>
                      </a:pPr>
                      <a:r>
                        <a:rPr lang="pt-BR" sz="800">
                          <a:effectLst/>
                        </a:rPr>
                        <a:t>BR - Instalação de agentes nos servidores</a:t>
                      </a:r>
                      <a:endParaRPr lang="pt-BR" sz="800">
                        <a:effectLst/>
                        <a:latin typeface="Calibri"/>
                        <a:ea typeface="Calibri"/>
                        <a:cs typeface="Times New Roman"/>
                      </a:endParaRPr>
                    </a:p>
                  </a:txBody>
                  <a:tcPr marL="4150" marR="4150" marT="4150" marB="0" anchor="ctr"/>
                </a:tc>
                <a:tc>
                  <a:txBody>
                    <a:bodyPr/>
                    <a:lstStyle/>
                    <a:p>
                      <a:pPr algn="ctr" fontAlgn="b">
                        <a:spcAft>
                          <a:spcPts val="0"/>
                        </a:spcAft>
                      </a:pPr>
                      <a:r>
                        <a:rPr lang="pt-BR" sz="800">
                          <a:effectLst/>
                        </a:rPr>
                        <a:t>Celio Ricardo</a:t>
                      </a:r>
                      <a:endParaRPr lang="pt-BR" sz="800">
                        <a:effectLst/>
                        <a:latin typeface="Calibri"/>
                        <a:ea typeface="Calibri"/>
                        <a:cs typeface="Times New Roman"/>
                      </a:endParaRPr>
                    </a:p>
                  </a:txBody>
                  <a:tcPr marL="4150" marR="4150" marT="4150" marB="0" anchor="ctr"/>
                </a:tc>
                <a:tc>
                  <a:txBody>
                    <a:bodyPr/>
                    <a:lstStyle/>
                    <a:p>
                      <a:pPr algn="ctr" fontAlgn="b">
                        <a:spcAft>
                          <a:spcPts val="0"/>
                        </a:spcAft>
                      </a:pPr>
                      <a:r>
                        <a:rPr lang="pt-BR" sz="800">
                          <a:effectLst/>
                        </a:rPr>
                        <a:t>Em andamento</a:t>
                      </a:r>
                      <a:endParaRPr lang="pt-BR" sz="800">
                        <a:effectLst/>
                        <a:latin typeface="Calibri"/>
                        <a:ea typeface="Calibri"/>
                        <a:cs typeface="Times New Roman"/>
                      </a:endParaRPr>
                    </a:p>
                  </a:txBody>
                  <a:tcPr marL="4150" marR="4150" marT="4150" marB="0" anchor="ctr"/>
                </a:tc>
                <a:tc>
                  <a:txBody>
                    <a:bodyPr/>
                    <a:lstStyle/>
                    <a:p>
                      <a:pPr algn="ctr" fontAlgn="b">
                        <a:spcAft>
                          <a:spcPts val="0"/>
                        </a:spcAft>
                      </a:pPr>
                      <a:r>
                        <a:rPr lang="pt-BR" sz="800" dirty="0">
                          <a:effectLst/>
                        </a:rPr>
                        <a:t>Disponibilizado um analista do CSE para atender diariamente nossos chamado</a:t>
                      </a:r>
                      <a:endParaRPr lang="pt-BR" sz="800" dirty="0">
                        <a:effectLst/>
                        <a:latin typeface="Calibri"/>
                        <a:ea typeface="Calibri"/>
                        <a:cs typeface="Times New Roman"/>
                      </a:endParaRPr>
                    </a:p>
                  </a:txBody>
                  <a:tcPr marL="4150" marR="4150" marT="4150" marB="0" anchor="ctr"/>
                </a:tc>
                <a:tc>
                  <a:txBody>
                    <a:bodyPr/>
                    <a:lstStyle/>
                    <a:p>
                      <a:pPr algn="ctr" fontAlgn="b">
                        <a:spcAft>
                          <a:spcPts val="0"/>
                        </a:spcAft>
                      </a:pPr>
                      <a:r>
                        <a:rPr lang="pt-BR" sz="800" dirty="0">
                          <a:effectLst/>
                        </a:rPr>
                        <a:t> </a:t>
                      </a:r>
                      <a:endParaRPr lang="pt-BR" sz="800" dirty="0">
                        <a:effectLst/>
                        <a:latin typeface="Calibri"/>
                        <a:ea typeface="Calibri"/>
                        <a:cs typeface="Times New Roman"/>
                      </a:endParaRPr>
                    </a:p>
                  </a:txBody>
                  <a:tcPr marL="4150" marR="4150" marT="4150" marB="0" anchor="ctr"/>
                </a:tc>
              </a:tr>
            </a:tbl>
          </a:graphicData>
        </a:graphic>
      </p:graphicFrame>
    </p:spTree>
    <p:extLst>
      <p:ext uri="{BB962C8B-B14F-4D97-AF65-F5344CB8AC3E}">
        <p14:creationId xmlns:p14="http://schemas.microsoft.com/office/powerpoint/2010/main" val="2491961300"/>
      </p:ext>
    </p:extLst>
  </p:cSld>
  <p:clrMapOvr>
    <a:masterClrMapping/>
  </p:clrMapOvr>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Title 1"/>
          <p:cNvSpPr txBox="1">
            <a:spLocks/>
          </p:cNvSpPr>
          <p:nvPr/>
        </p:nvSpPr>
        <p:spPr>
          <a:xfrm>
            <a:off x="1511225" y="100125"/>
            <a:ext cx="1523161" cy="644129"/>
          </a:xfrm>
          <a:prstGeom prst="rect">
            <a:avLst/>
          </a:prstGeom>
        </p:spPr>
        <p:txBody>
          <a:bodyPr vert="horz" lIns="68644" tIns="34322" rIns="68644" bIns="34322"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r>
              <a:rPr lang="en-US" sz="2252" b="1" dirty="0">
                <a:solidFill>
                  <a:schemeClr val="tx2"/>
                </a:solidFill>
                <a:latin typeface="Arial"/>
                <a:cs typeface="Arial"/>
              </a:rPr>
              <a:t>Time Line</a:t>
            </a:r>
          </a:p>
        </p:txBody>
      </p:sp>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181" y="896655"/>
            <a:ext cx="8932044" cy="3389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Imagem 3">
            <a:hlinkClick r:id="rId3" action="ppaction://hlinksldjump"/>
          </p:cNvPr>
          <p:cNvPicPr>
            <a:picLocks noChangeAspect="1"/>
          </p:cNvPicPr>
          <p:nvPr/>
        </p:nvPicPr>
        <p:blipFill>
          <a:blip r:embed="rId4"/>
          <a:stretch>
            <a:fillRect/>
          </a:stretch>
        </p:blipFill>
        <p:spPr>
          <a:xfrm>
            <a:off x="244343" y="4603981"/>
            <a:ext cx="1322947" cy="536494"/>
          </a:xfrm>
          <a:prstGeom prst="rect">
            <a:avLst/>
          </a:prstGeom>
        </p:spPr>
      </p:pic>
    </p:spTree>
    <p:extLst>
      <p:ext uri="{BB962C8B-B14F-4D97-AF65-F5344CB8AC3E}">
        <p14:creationId xmlns:p14="http://schemas.microsoft.com/office/powerpoint/2010/main" val="1307202568"/>
      </p:ext>
    </p:extLst>
  </p:cSld>
  <p:clrMapOvr>
    <a:masterClrMapping/>
  </p:clrMapOvr>
  <mc:AlternateContent xmlns:mc="http://schemas.openxmlformats.org/markup-compatibility/2006">
    <mc:Choice xmlns:p14="http://schemas.microsoft.com/office/powerpoint/2010/main" Requires="p14">
      <p:transition spd="slow">
        <p14:reveal/>
      </p:transition>
    </mc:Choice>
    <mc:Fallback>
      <p:transition spd="slow">
        <p:fade/>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5_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7_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0_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16602</TotalTime>
  <Words>2454</Words>
  <Application>Microsoft Office PowerPoint</Application>
  <PresentationFormat>Personalizar</PresentationFormat>
  <Paragraphs>452</Paragraphs>
  <Slides>30</Slides>
  <Notes>24</Notes>
  <HiddenSlides>7</HiddenSlides>
  <MMClips>0</MMClips>
  <ScaleCrop>false</ScaleCrop>
  <HeadingPairs>
    <vt:vector size="8" baseType="variant">
      <vt:variant>
        <vt:lpstr>Fontes usadas</vt:lpstr>
      </vt:variant>
      <vt:variant>
        <vt:i4>5</vt:i4>
      </vt:variant>
      <vt:variant>
        <vt:lpstr>Tema</vt:lpstr>
      </vt:variant>
      <vt:variant>
        <vt:i4>4</vt:i4>
      </vt:variant>
      <vt:variant>
        <vt:lpstr>Servidores OLE inseridos</vt:lpstr>
      </vt:variant>
      <vt:variant>
        <vt:i4>1</vt:i4>
      </vt:variant>
      <vt:variant>
        <vt:lpstr>Títulos de slides</vt:lpstr>
      </vt:variant>
      <vt:variant>
        <vt:i4>30</vt:i4>
      </vt:variant>
    </vt:vector>
  </HeadingPairs>
  <TitlesOfParts>
    <vt:vector size="40" baseType="lpstr">
      <vt:lpstr>Arial</vt:lpstr>
      <vt:lpstr>Calibri</vt:lpstr>
      <vt:lpstr>Calibri Light</vt:lpstr>
      <vt:lpstr>Times New Roman</vt:lpstr>
      <vt:lpstr>Wingdings</vt:lpstr>
      <vt:lpstr>Tema do Office</vt:lpstr>
      <vt:lpstr>5_Tema do Office</vt:lpstr>
      <vt:lpstr>7_Tema do Office</vt:lpstr>
      <vt:lpstr>10_Tema do Office</vt:lpstr>
      <vt:lpstr>Slide do think-cell</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Home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Gustavo Nitzsche</dc:creator>
  <cp:lastModifiedBy>Luis Marcal</cp:lastModifiedBy>
  <cp:revision>1374</cp:revision>
  <dcterms:created xsi:type="dcterms:W3CDTF">2015-08-20T14:57:26Z</dcterms:created>
  <dcterms:modified xsi:type="dcterms:W3CDTF">2016-04-28T22:24:40Z</dcterms:modified>
</cp:coreProperties>
</file>