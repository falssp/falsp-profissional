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ags/tag3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1"/>
    <p:sldMasterId id="2147483677" r:id="rId2"/>
    <p:sldMasterId id="2147483679" r:id="rId3"/>
    <p:sldMasterId id="2147483673" r:id="rId4"/>
    <p:sldMasterId id="2147483675" r:id="rId5"/>
  </p:sldMasterIdLst>
  <p:notesMasterIdLst>
    <p:notesMasterId r:id="rId15"/>
  </p:notesMasterIdLst>
  <p:sldIdLst>
    <p:sldId id="313" r:id="rId6"/>
    <p:sldId id="256" r:id="rId7"/>
    <p:sldId id="310" r:id="rId8"/>
    <p:sldId id="316" r:id="rId9"/>
    <p:sldId id="311" r:id="rId10"/>
    <p:sldId id="312" r:id="rId11"/>
    <p:sldId id="317" r:id="rId12"/>
    <p:sldId id="320" r:id="rId13"/>
    <p:sldId id="318" r:id="rId14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06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00"/>
    <a:srgbClr val="FFC2A3"/>
    <a:srgbClr val="FFD0B9"/>
    <a:srgbClr val="000000"/>
    <a:srgbClr val="FFFFFF"/>
    <a:srgbClr val="EAEAEA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9" autoAdjust="0"/>
    <p:restoredTop sz="93809" autoAdjust="0"/>
  </p:normalViewPr>
  <p:slideViewPr>
    <p:cSldViewPr snapToGrid="0" snapToObjects="1">
      <p:cViewPr varScale="1">
        <p:scale>
          <a:sx n="115" d="100"/>
          <a:sy n="115" d="100"/>
        </p:scale>
        <p:origin x="821" y="72"/>
      </p:cViewPr>
      <p:guideLst>
        <p:guide orient="horz" pos="2506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09/08/2016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6776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0711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6422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057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7208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2929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8229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668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09724-C518-4FEF-BA4E-E40E9E2761B0}" type="datetime1">
              <a:rPr lang="en-US" smtClean="0"/>
              <a:t>8/9/2016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-58522" y="-65835"/>
            <a:ext cx="468173" cy="336498"/>
          </a:xfrm>
        </p:spPr>
        <p:txBody>
          <a:bodyPr/>
          <a:lstStyle>
            <a:lvl1pPr>
              <a:defRPr sz="1200" b="1"/>
            </a:lvl1pPr>
          </a:lstStyle>
          <a:p>
            <a:fld id="{2088DD49-D405-3D4F-92A5-BAA19C6BFE1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74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057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1.vml"/><Relationship Id="rId7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Relationship Id="rId9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emf"/><Relationship Id="rId4" Type="http://schemas.openxmlformats.org/officeDocument/2006/relationships/image" Target="../media/image6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vmlDrawing" Target="../drawings/vmlDrawing2.vml"/><Relationship Id="rId7" Type="http://schemas.openxmlformats.org/officeDocument/2006/relationships/image" Target="../media/image7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8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  <p:sp>
        <p:nvSpPr>
          <p:cNvPr id="9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834666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4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05167" y="4376234"/>
            <a:ext cx="1043999" cy="770734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  <p:pic>
        <p:nvPicPr>
          <p:cNvPr id="7" name="Picture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34375"/>
            <a:ext cx="9144001" cy="5204563"/>
          </a:xfrm>
          <a:prstGeom prst="rect">
            <a:avLst/>
          </a:prstGeom>
        </p:spPr>
      </p:pic>
      <p:pic>
        <p:nvPicPr>
          <p:cNvPr id="8" name="Picture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96847" y="-34395"/>
            <a:ext cx="3345084" cy="1221858"/>
          </a:xfrm>
          <a:prstGeom prst="rect">
            <a:avLst/>
          </a:prstGeom>
        </p:spPr>
      </p:pic>
      <p:pic>
        <p:nvPicPr>
          <p:cNvPr id="9" name="Picture 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697100" y="277388"/>
            <a:ext cx="1744578" cy="422254"/>
          </a:xfrm>
          <a:prstGeom prst="rect">
            <a:avLst/>
          </a:prstGeom>
        </p:spPr>
      </p:pic>
      <p:sp>
        <p:nvSpPr>
          <p:cNvPr id="10" name="Subtítulo 2"/>
          <p:cNvSpPr txBox="1">
            <a:spLocks/>
          </p:cNvSpPr>
          <p:nvPr userDrawn="1"/>
        </p:nvSpPr>
        <p:spPr>
          <a:xfrm>
            <a:off x="6901731" y="4890534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1878875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6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  <p:sp>
        <p:nvSpPr>
          <p:cNvPr id="8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0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 userDrawn="1"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91500" y="4386263"/>
            <a:ext cx="952500" cy="762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welinton.silva@contax.com.b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felipe@Chacon-ilimitada.com" TargetMode="External"/><Relationship Id="rId4" Type="http://schemas.openxmlformats.org/officeDocument/2006/relationships/hyperlink" Target="mailto:thomas@Chacon-ilimitada.com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4294967295"/>
          </p:nvPr>
        </p:nvSpPr>
        <p:spPr>
          <a:xfrm>
            <a:off x="0" y="-65088"/>
            <a:ext cx="468313" cy="334963"/>
          </a:xfrm>
        </p:spPr>
        <p:txBody>
          <a:bodyPr/>
          <a:lstStyle/>
          <a:p>
            <a:fld id="{2088DD49-D405-3D4F-92A5-BAA19C6BFE1F}" type="slidenum">
              <a:rPr lang="en-US" smtClean="0"/>
              <a:t>1</a:t>
            </a:fld>
            <a:endParaRPr lang="en-US"/>
          </a:p>
        </p:txBody>
      </p:sp>
      <p:sp>
        <p:nvSpPr>
          <p:cNvPr id="3" name="Retângulo 2"/>
          <p:cNvSpPr/>
          <p:nvPr/>
        </p:nvSpPr>
        <p:spPr>
          <a:xfrm>
            <a:off x="0" y="4541893"/>
            <a:ext cx="9144000" cy="369332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>
              <a:buClr>
                <a:srgbClr val="800000"/>
              </a:buClr>
            </a:pPr>
            <a:r>
              <a:rPr lang="pt-BR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Gerot</a:t>
            </a:r>
            <a:r>
              <a:rPr lang="pt-BR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Transition</a:t>
            </a:r>
            <a:r>
              <a:rPr lang="pt-BR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to</a:t>
            </a:r>
            <a:r>
              <a:rPr lang="pt-BR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Run</a:t>
            </a:r>
            <a:r>
              <a:rPr lang="pt-BR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– T2R</a:t>
            </a:r>
          </a:p>
        </p:txBody>
      </p:sp>
    </p:spTree>
    <p:extLst>
      <p:ext uri="{BB962C8B-B14F-4D97-AF65-F5344CB8AC3E}">
        <p14:creationId xmlns:p14="http://schemas.microsoft.com/office/powerpoint/2010/main" val="1729173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1090519"/>
            <a:ext cx="9144000" cy="3814633"/>
          </a:xfrm>
          <a:prstGeom prst="rect">
            <a:avLst/>
          </a:prstGeom>
        </p:spPr>
        <p:txBody>
          <a:bodyPr vert="horz" lIns="360000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1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Índice</a:t>
            </a:r>
          </a:p>
          <a:p>
            <a:pPr algn="l">
              <a:buClr>
                <a:srgbClr val="800000"/>
              </a:buClr>
            </a:pPr>
            <a:endParaRPr lang="pt-BR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Clr>
                <a:schemeClr val="accent1">
                  <a:lumMod val="50000"/>
                </a:schemeClr>
              </a:buClr>
              <a:buAutoNum type="arabicPeriod"/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Participantes</a:t>
            </a:r>
          </a:p>
          <a:p>
            <a:pPr marL="342900" indent="-342900" algn="l">
              <a:buClr>
                <a:schemeClr val="accent1">
                  <a:lumMod val="50000"/>
                </a:schemeClr>
              </a:buClr>
              <a:buFontTx/>
              <a:buAutoNum type="arabicPeriod"/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Pendências do último comitê</a:t>
            </a:r>
          </a:p>
          <a:p>
            <a:pPr marL="342900" indent="-342900" algn="l">
              <a:buClr>
                <a:schemeClr val="accent1">
                  <a:lumMod val="50000"/>
                </a:schemeClr>
              </a:buClr>
              <a:buAutoNum type="arabicPeriod"/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Evolução do Processo</a:t>
            </a:r>
          </a:p>
          <a:p>
            <a:pPr marL="342900" indent="-342900" algn="l">
              <a:buClr>
                <a:schemeClr val="accent1">
                  <a:lumMod val="50000"/>
                </a:schemeClr>
              </a:buClr>
              <a:buAutoNum type="arabicPeriod"/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Resultados de controles - Último ciclo.</a:t>
            </a:r>
          </a:p>
          <a:p>
            <a:pPr marL="342900" indent="-342900" algn="l">
              <a:buClr>
                <a:schemeClr val="accent1">
                  <a:lumMod val="50000"/>
                </a:schemeClr>
              </a:buClr>
              <a:buAutoNum type="arabicPeriod"/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Novas considerações.</a:t>
            </a:r>
          </a:p>
          <a:p>
            <a:pPr marL="342900" indent="-342900" algn="l">
              <a:buClr>
                <a:schemeClr val="accent1">
                  <a:lumMod val="50000"/>
                </a:schemeClr>
              </a:buClr>
              <a:buFontTx/>
              <a:buAutoNum type="arabicPeriod"/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Definições para próximos comitês</a:t>
            </a:r>
          </a:p>
          <a:p>
            <a:pPr algn="l">
              <a:buClr>
                <a:schemeClr val="accent1">
                  <a:lumMod val="50000"/>
                </a:schemeClr>
              </a:buClr>
            </a:pPr>
            <a:endParaRPr lang="pt-BR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Clr>
                <a:schemeClr val="accent1">
                  <a:lumMod val="50000"/>
                </a:schemeClr>
              </a:buClr>
              <a:buAutoNum type="arabicPeriod"/>
            </a:pPr>
            <a:endParaRPr lang="pt-BR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/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38394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3</a:t>
            </a:fld>
            <a:endParaRPr lang="en-US"/>
          </a:p>
        </p:txBody>
      </p:sp>
      <p:sp>
        <p:nvSpPr>
          <p:cNvPr id="3" name="Retângulo 2"/>
          <p:cNvSpPr/>
          <p:nvPr/>
        </p:nvSpPr>
        <p:spPr>
          <a:xfrm>
            <a:off x="0" y="102414"/>
            <a:ext cx="9144000" cy="369332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>
              <a:buClr>
                <a:srgbClr val="800000"/>
              </a:buClr>
            </a:pPr>
            <a:r>
              <a:rPr lang="pt-BR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Participantes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330128"/>
              </p:ext>
            </p:extLst>
          </p:nvPr>
        </p:nvGraphicFramePr>
        <p:xfrm>
          <a:off x="257406" y="857544"/>
          <a:ext cx="8554758" cy="3211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25527">
                  <a:extLst>
                    <a:ext uri="{9D8B030D-6E8A-4147-A177-3AD203B41FA5}">
                      <a16:colId xmlns:a16="http://schemas.microsoft.com/office/drawing/2014/main" val="3056247857"/>
                    </a:ext>
                  </a:extLst>
                </a:gridCol>
                <a:gridCol w="2256561">
                  <a:extLst>
                    <a:ext uri="{9D8B030D-6E8A-4147-A177-3AD203B41FA5}">
                      <a16:colId xmlns:a16="http://schemas.microsoft.com/office/drawing/2014/main" val="3901145359"/>
                    </a:ext>
                  </a:extLst>
                </a:gridCol>
                <a:gridCol w="1764390">
                  <a:extLst>
                    <a:ext uri="{9D8B030D-6E8A-4147-A177-3AD203B41FA5}">
                      <a16:colId xmlns:a16="http://schemas.microsoft.com/office/drawing/2014/main" val="785046624"/>
                    </a:ext>
                  </a:extLst>
                </a:gridCol>
                <a:gridCol w="2408280">
                  <a:extLst>
                    <a:ext uri="{9D8B030D-6E8A-4147-A177-3AD203B41FA5}">
                      <a16:colId xmlns:a16="http://schemas.microsoft.com/office/drawing/2014/main" val="512640216"/>
                    </a:ext>
                  </a:extLst>
                </a:gridCol>
              </a:tblGrid>
              <a:tr h="187313"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pt-BR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Gerot</a:t>
                      </a:r>
                      <a:r>
                        <a:rPr lang="pt-BR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Gerenciamento de Mudanças </a:t>
                      </a:r>
                      <a:endParaRPr lang="pt-BR" sz="14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Número da Minuta - </a:t>
                      </a:r>
                      <a:r>
                        <a:rPr lang="pt-BR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001</a:t>
                      </a:r>
                      <a:endParaRPr lang="pt-BR" sz="12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277547"/>
                  </a:ext>
                </a:extLst>
              </a:tr>
              <a:tr h="147748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Data: 05/08/2016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Hora: 15:00 às 17:00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Local: Site Alegria – Rua Alegria, 82  – Brás – 2º andar | Sala TI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337616"/>
                  </a:ext>
                </a:extLst>
              </a:tr>
              <a:tr h="187313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pt-BR" sz="1400" u="none" strike="noStrike" dirty="0">
                          <a:effectLst/>
                        </a:rPr>
                        <a:t>Convidados/Participantes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160117"/>
                  </a:ext>
                </a:extLst>
              </a:tr>
              <a:tr h="131331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Nome</a:t>
                      </a:r>
                      <a:endParaRPr lang="pt-BR" sz="12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Departamento</a:t>
                      </a:r>
                      <a:endParaRPr lang="pt-BR" sz="12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Contato</a:t>
                      </a:r>
                      <a:endParaRPr lang="pt-BR" sz="12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E-mail</a:t>
                      </a:r>
                      <a:endParaRPr lang="pt-BR" sz="12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75155"/>
                  </a:ext>
                </a:extLst>
              </a:tr>
              <a:tr h="158692">
                <a:tc>
                  <a:txBody>
                    <a:bodyPr/>
                    <a:lstStyle/>
                    <a:p>
                      <a:pPr algn="l" rtl="0" fontAlgn="b"/>
                      <a:r>
                        <a:rPr lang="pt-BR" sz="1200" b="1" u="none" strike="noStrike" dirty="0">
                          <a:effectLst/>
                        </a:rPr>
                        <a:t> Welinton Silva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666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u="none" strike="noStrike" dirty="0">
                          <a:effectLst/>
                        </a:rPr>
                        <a:t>CSC Gerenciamento</a:t>
                      </a:r>
                      <a:r>
                        <a:rPr lang="pt-BR" sz="1200" u="none" strike="noStrike" baseline="0" dirty="0">
                          <a:effectLst/>
                        </a:rPr>
                        <a:t> de Mudanças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 (11) 94178-4427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b" latinLnBrk="0" hangingPunct="1"/>
                      <a:r>
                        <a:rPr lang="pt-BR" sz="1200" u="sng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welinton.silva@contax.com.br</a:t>
                      </a:r>
                      <a:endParaRPr lang="pt-BR" sz="1200" u="sng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66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580745"/>
                  </a:ext>
                </a:extLst>
              </a:tr>
              <a:tr h="158692">
                <a:tc>
                  <a:txBody>
                    <a:bodyPr/>
                    <a:lstStyle/>
                    <a:p>
                      <a:pPr algn="l" rtl="0" fontAlgn="b"/>
                      <a:r>
                        <a:rPr lang="pt-BR" sz="1200" b="1" u="none" strike="noStrike" dirty="0">
                          <a:effectLst/>
                        </a:rPr>
                        <a:t> Thomas Kiss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666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u="none" strike="noStrike" dirty="0">
                          <a:effectLst/>
                        </a:rPr>
                        <a:t>Consultor</a:t>
                      </a:r>
                      <a:r>
                        <a:rPr lang="pt-BR" sz="1200" u="none" strike="noStrike" baseline="0" dirty="0">
                          <a:effectLst/>
                        </a:rPr>
                        <a:t> Chacon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 (11) 99829-7883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b" latinLnBrk="0" hangingPunct="1"/>
                      <a:r>
                        <a:rPr lang="pt-BR" sz="1200" u="sng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thomas@Chacon-ilimitada.com</a:t>
                      </a:r>
                      <a:endParaRPr lang="pt-BR" sz="1200" u="sng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66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723056"/>
                  </a:ext>
                </a:extLst>
              </a:tr>
              <a:tr h="158692">
                <a:tc>
                  <a:txBody>
                    <a:bodyPr/>
                    <a:lstStyle/>
                    <a:p>
                      <a:pPr algn="l" rtl="0" fontAlgn="b"/>
                      <a:r>
                        <a:rPr lang="pt-BR" sz="1200" b="1" u="none" strike="noStrike" dirty="0">
                          <a:effectLst/>
                        </a:rPr>
                        <a:t> Felipe Lima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666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u="none" strike="noStrike" dirty="0">
                          <a:effectLst/>
                        </a:rPr>
                        <a:t> Consultor</a:t>
                      </a:r>
                      <a:r>
                        <a:rPr lang="pt-BR" sz="1200" u="none" strike="noStrike" baseline="0" dirty="0">
                          <a:effectLst/>
                        </a:rPr>
                        <a:t> Chacon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(11) 99496-7452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b" latinLnBrk="0" hangingPunct="1"/>
                      <a:r>
                        <a:rPr lang="pt-BR" sz="1200" u="sng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felipe@Chacon-ilimitada.com</a:t>
                      </a:r>
                      <a:endParaRPr lang="pt-BR" sz="1200" u="sng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66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371210"/>
                  </a:ext>
                </a:extLst>
              </a:tr>
              <a:tr h="158692">
                <a:tc>
                  <a:txBody>
                    <a:bodyPr/>
                    <a:lstStyle/>
                    <a:p>
                      <a:pPr algn="l" rtl="0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666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b" latinLnBrk="0" hangingPunct="1"/>
                      <a:endParaRPr lang="pt-BR" sz="1200" u="sng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66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731807"/>
                  </a:ext>
                </a:extLst>
              </a:tr>
              <a:tr h="158692">
                <a:tc>
                  <a:txBody>
                    <a:bodyPr/>
                    <a:lstStyle/>
                    <a:p>
                      <a:pPr algn="l" rtl="0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666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 marL="5472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b" latinLnBrk="0" hangingPunct="1"/>
                      <a:endParaRPr lang="pt-BR" sz="1200" u="sng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66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5782"/>
                  </a:ext>
                </a:extLst>
              </a:tr>
              <a:tr h="158692">
                <a:tc>
                  <a:txBody>
                    <a:bodyPr/>
                    <a:lstStyle/>
                    <a:p>
                      <a:pPr algn="l" rtl="0" fontAlgn="b"/>
                      <a:r>
                        <a:rPr lang="pt-BR" sz="1200" b="1" u="none" strike="noStrike" dirty="0">
                          <a:effectLst/>
                        </a:rPr>
                        <a:t> 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666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u="none" strike="noStrike">
                          <a:effectLst/>
                        </a:rPr>
                        <a:t> 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>
                          <a:effectLst/>
                        </a:rPr>
                        <a:t> 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b" latinLnBrk="0" hangingPunct="1"/>
                      <a:endParaRPr lang="pt-BR" sz="1200" u="sng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66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839862"/>
                  </a:ext>
                </a:extLst>
              </a:tr>
              <a:tr h="158692">
                <a:tc>
                  <a:txBody>
                    <a:bodyPr/>
                    <a:lstStyle/>
                    <a:p>
                      <a:pPr algn="l" rtl="0" fontAlgn="b"/>
                      <a:r>
                        <a:rPr lang="pt-BR" sz="1200" b="1" u="none" strike="noStrike" dirty="0">
                          <a:effectLst/>
                        </a:rPr>
                        <a:t> 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666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u="none" strike="noStrike" dirty="0">
                          <a:effectLst/>
                        </a:rPr>
                        <a:t> 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u="none" strike="noStrike" dirty="0">
                          <a:effectLst/>
                        </a:rPr>
                        <a:t> 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b" latinLnBrk="0" hangingPunct="1"/>
                      <a:endParaRPr lang="pt-BR" sz="1200" u="sng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66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150223"/>
                  </a:ext>
                </a:extLst>
              </a:tr>
              <a:tr h="158692">
                <a:tc>
                  <a:txBody>
                    <a:bodyPr/>
                    <a:lstStyle/>
                    <a:p>
                      <a:pPr algn="l" rtl="0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666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 marL="5472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b" latinLnBrk="0" hangingPunct="1"/>
                      <a:endParaRPr lang="pt-BR" sz="1200" u="sng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66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076909"/>
                  </a:ext>
                </a:extLst>
              </a:tr>
              <a:tr h="158692">
                <a:tc>
                  <a:txBody>
                    <a:bodyPr/>
                    <a:lstStyle/>
                    <a:p>
                      <a:pPr algn="l" rtl="0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666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 marL="5472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b" latinLnBrk="0" hangingPunct="1"/>
                      <a:endParaRPr lang="pt-BR" sz="1200" u="sng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66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923613"/>
                  </a:ext>
                </a:extLst>
              </a:tr>
              <a:tr h="158692">
                <a:tc>
                  <a:txBody>
                    <a:bodyPr/>
                    <a:lstStyle/>
                    <a:p>
                      <a:pPr algn="l" rtl="0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666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 marL="5472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b" latinLnBrk="0" hangingPunct="1"/>
                      <a:endParaRPr lang="pt-BR" sz="1200" u="sng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66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865110"/>
                  </a:ext>
                </a:extLst>
              </a:tr>
              <a:tr h="158692">
                <a:tc>
                  <a:txBody>
                    <a:bodyPr/>
                    <a:lstStyle/>
                    <a:p>
                      <a:pPr algn="l" rtl="0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666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 marL="5472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b" latinLnBrk="0" hangingPunct="1"/>
                      <a:endParaRPr lang="pt-BR" sz="1200" u="sng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66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472224"/>
                  </a:ext>
                </a:extLst>
              </a:tr>
              <a:tr h="158692">
                <a:tc>
                  <a:txBody>
                    <a:bodyPr/>
                    <a:lstStyle/>
                    <a:p>
                      <a:pPr algn="l" rtl="0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666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72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 marL="5472" marR="5472" marT="5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b" latinLnBrk="0" hangingPunct="1"/>
                      <a:endParaRPr lang="pt-BR" sz="1200" u="sng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66" marR="5472" marT="54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881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806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895630"/>
              </p:ext>
            </p:extLst>
          </p:nvPr>
        </p:nvGraphicFramePr>
        <p:xfrm>
          <a:off x="94011" y="588630"/>
          <a:ext cx="8763340" cy="4124334"/>
        </p:xfrm>
        <a:graphic>
          <a:graphicData uri="http://schemas.openxmlformats.org/drawingml/2006/table">
            <a:tbl>
              <a:tblPr/>
              <a:tblGrid>
                <a:gridCol w="239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7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6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52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8298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3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Pendências do último Comitê  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24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latin typeface="Verdana"/>
                        </a:rPr>
                        <a:t>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Ações definidas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Responsável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Status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Ultima atualização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68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01</a:t>
                      </a:r>
                    </a:p>
                  </a:txBody>
                  <a:tcPr marL="0" marR="0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0263" marR="70263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kern="1200" baseline="0" dirty="0">
                        <a:solidFill>
                          <a:srgbClr val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026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100" dirty="0">
                        <a:latin typeface="+mj-lt"/>
                      </a:endParaRPr>
                    </a:p>
                  </a:txBody>
                  <a:tcPr marL="7026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kern="1200" baseline="0" dirty="0">
                        <a:solidFill>
                          <a:schemeClr val="tx1"/>
                        </a:solidFill>
                        <a:latin typeface="+mj-lt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0263" marR="46842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68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02</a:t>
                      </a:r>
                    </a:p>
                  </a:txBody>
                  <a:tcPr marL="0" marR="0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0263" marR="70263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kern="1200" baseline="0" dirty="0">
                        <a:solidFill>
                          <a:srgbClr val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026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100" dirty="0">
                        <a:latin typeface="+mj-lt"/>
                      </a:endParaRPr>
                    </a:p>
                  </a:txBody>
                  <a:tcPr marL="7026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kern="1200" baseline="0" dirty="0">
                        <a:solidFill>
                          <a:schemeClr val="tx1"/>
                        </a:solidFill>
                        <a:latin typeface="+mj-lt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0263" marR="46842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963711"/>
                  </a:ext>
                </a:extLst>
              </a:tr>
              <a:tr h="52768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03</a:t>
                      </a:r>
                    </a:p>
                  </a:txBody>
                  <a:tcPr marL="0" marR="0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0263" marR="70263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kern="1200" baseline="0" dirty="0">
                        <a:solidFill>
                          <a:srgbClr val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026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100" dirty="0">
                        <a:latin typeface="+mj-lt"/>
                      </a:endParaRPr>
                    </a:p>
                  </a:txBody>
                  <a:tcPr marL="7026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kern="1200" baseline="0" dirty="0">
                        <a:solidFill>
                          <a:schemeClr val="tx1"/>
                        </a:solidFill>
                        <a:latin typeface="+mj-lt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0263" marR="46842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188769"/>
                  </a:ext>
                </a:extLst>
              </a:tr>
              <a:tr h="52768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04</a:t>
                      </a:r>
                    </a:p>
                  </a:txBody>
                  <a:tcPr marL="0" marR="0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0263" marR="70263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kern="1200" baseline="0" dirty="0">
                        <a:solidFill>
                          <a:srgbClr val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026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100" dirty="0">
                        <a:latin typeface="+mj-lt"/>
                      </a:endParaRPr>
                    </a:p>
                  </a:txBody>
                  <a:tcPr marL="7026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kern="1200" baseline="0" dirty="0">
                        <a:solidFill>
                          <a:schemeClr val="tx1"/>
                        </a:solidFill>
                        <a:latin typeface="+mj-lt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0263" marR="46842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3608337"/>
                  </a:ext>
                </a:extLst>
              </a:tr>
              <a:tr h="52768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05</a:t>
                      </a:r>
                    </a:p>
                  </a:txBody>
                  <a:tcPr marL="0" marR="0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0263" marR="70263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kern="1200" baseline="0" dirty="0">
                        <a:solidFill>
                          <a:srgbClr val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026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100" dirty="0">
                        <a:latin typeface="+mj-lt"/>
                      </a:endParaRPr>
                    </a:p>
                  </a:txBody>
                  <a:tcPr marL="7026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kern="1200" baseline="0" dirty="0">
                        <a:solidFill>
                          <a:schemeClr val="tx1"/>
                        </a:solidFill>
                        <a:latin typeface="+mj-lt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0263" marR="46842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097587"/>
                  </a:ext>
                </a:extLst>
              </a:tr>
              <a:tr h="52768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06</a:t>
                      </a:r>
                    </a:p>
                  </a:txBody>
                  <a:tcPr marL="0" marR="0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0263" marR="70263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kern="1200" baseline="0" dirty="0">
                        <a:solidFill>
                          <a:srgbClr val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026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100" dirty="0">
                        <a:latin typeface="+mj-lt"/>
                      </a:endParaRPr>
                    </a:p>
                  </a:txBody>
                  <a:tcPr marL="7026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kern="1200" baseline="0" dirty="0">
                        <a:solidFill>
                          <a:schemeClr val="tx1"/>
                        </a:solidFill>
                        <a:latin typeface="+mj-lt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0263" marR="46842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9526104"/>
                  </a:ext>
                </a:extLst>
              </a:tr>
              <a:tr h="52768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07</a:t>
                      </a:r>
                    </a:p>
                  </a:txBody>
                  <a:tcPr marL="0" marR="0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0263" marR="70263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kern="1200" baseline="0" dirty="0">
                        <a:solidFill>
                          <a:srgbClr val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026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100" dirty="0">
                        <a:latin typeface="+mj-lt"/>
                      </a:endParaRPr>
                    </a:p>
                  </a:txBody>
                  <a:tcPr marL="7026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48610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kern="1200" baseline="0" dirty="0">
                        <a:solidFill>
                          <a:schemeClr val="tx1"/>
                        </a:solidFill>
                        <a:latin typeface="+mj-lt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0263" marR="46842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995270"/>
                  </a:ext>
                </a:extLst>
              </a:tr>
            </a:tbl>
          </a:graphicData>
        </a:graphic>
      </p:graphicFrame>
      <p:sp>
        <p:nvSpPr>
          <p:cNvPr id="5" name="Retângulo 4"/>
          <p:cNvSpPr/>
          <p:nvPr/>
        </p:nvSpPr>
        <p:spPr>
          <a:xfrm>
            <a:off x="0" y="102414"/>
            <a:ext cx="9144000" cy="369332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>
              <a:buClr>
                <a:srgbClr val="800000"/>
              </a:buClr>
            </a:pPr>
            <a:r>
              <a:rPr lang="pt-BR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Pendências do Último comitê</a:t>
            </a:r>
          </a:p>
        </p:txBody>
      </p:sp>
    </p:spTree>
    <p:extLst>
      <p:ext uri="{BB962C8B-B14F-4D97-AF65-F5344CB8AC3E}">
        <p14:creationId xmlns:p14="http://schemas.microsoft.com/office/powerpoint/2010/main" val="296682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5</a:t>
            </a:fld>
            <a:endParaRPr lang="en-US"/>
          </a:p>
        </p:txBody>
      </p:sp>
      <p:sp>
        <p:nvSpPr>
          <p:cNvPr id="3" name="Retângulo 2"/>
          <p:cNvSpPr/>
          <p:nvPr/>
        </p:nvSpPr>
        <p:spPr>
          <a:xfrm>
            <a:off x="0" y="102414"/>
            <a:ext cx="9144000" cy="369332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>
              <a:buClr>
                <a:srgbClr val="800000"/>
              </a:buClr>
            </a:pPr>
            <a:r>
              <a:rPr lang="pt-BR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Evolução do Processo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4213" y="639995"/>
            <a:ext cx="3736964" cy="221661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71262" y="637605"/>
            <a:ext cx="2545463" cy="221900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2943" y="3000442"/>
            <a:ext cx="2610513" cy="204045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39599" y="3000442"/>
            <a:ext cx="2609453" cy="2039624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25195" y="3000442"/>
            <a:ext cx="2338231" cy="204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89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6</a:t>
            </a:fld>
            <a:endParaRPr lang="en-US"/>
          </a:p>
        </p:txBody>
      </p:sp>
      <p:sp>
        <p:nvSpPr>
          <p:cNvPr id="3" name="Retângulo 2"/>
          <p:cNvSpPr/>
          <p:nvPr/>
        </p:nvSpPr>
        <p:spPr>
          <a:xfrm>
            <a:off x="0" y="102414"/>
            <a:ext cx="9144000" cy="2616101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>
              <a:buClr>
                <a:srgbClr val="800000"/>
              </a:buClr>
            </a:pPr>
            <a:r>
              <a:rPr lang="pt-BR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Resultado de Controles – último Ciclo</a:t>
            </a:r>
          </a:p>
          <a:p>
            <a:pPr>
              <a:buClr>
                <a:srgbClr val="800000"/>
              </a:buClr>
            </a:pPr>
            <a:endParaRPr lang="pt-BR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800000"/>
              </a:buClr>
            </a:pPr>
            <a:endParaRPr lang="pt-BR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spcAft>
                <a:spcPts val="1200"/>
              </a:spcAft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pt-BR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Definido controle para Desvio de Processo por Equipe (mudanças sem registro de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Gmud</a:t>
            </a:r>
            <a:r>
              <a:rPr lang="pt-BR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marL="285750" indent="-285750">
              <a:spcAft>
                <a:spcPts val="1200"/>
              </a:spcAft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pt-BR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Definido Controle para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Gmud</a:t>
            </a:r>
            <a:r>
              <a:rPr lang="pt-BR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com falha por categoria de falha.</a:t>
            </a:r>
          </a:p>
          <a:p>
            <a:pPr marL="285750" indent="-285750">
              <a:spcAft>
                <a:spcPts val="1200"/>
              </a:spcAft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pt-BR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Definido Controle para </a:t>
            </a:r>
            <a:r>
              <a:rPr lang="pt-BR" sz="1400" b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Gmud</a:t>
            </a:r>
            <a:r>
              <a:rPr lang="pt-BR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com falha por equipe.</a:t>
            </a:r>
          </a:p>
          <a:p>
            <a:pPr marL="285750" indent="-285750">
              <a:spcAft>
                <a:spcPts val="1200"/>
              </a:spcAft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pt-BR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Definido controle de requisito por entrega e equipe. </a:t>
            </a:r>
            <a:endParaRPr lang="pt-BR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Clr>
                <a:srgbClr val="800000"/>
              </a:buClr>
              <a:buFontTx/>
              <a:buChar char="-"/>
            </a:pPr>
            <a:endParaRPr lang="pt-BR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049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627153"/>
              </p:ext>
            </p:extLst>
          </p:nvPr>
        </p:nvGraphicFramePr>
        <p:xfrm>
          <a:off x="94010" y="588630"/>
          <a:ext cx="8724869" cy="4124334"/>
        </p:xfrm>
        <a:graphic>
          <a:graphicData uri="http://schemas.openxmlformats.org/drawingml/2006/table">
            <a:tbl>
              <a:tblPr/>
              <a:tblGrid>
                <a:gridCol w="457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1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8298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13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Novas</a:t>
                      </a:r>
                      <a:r>
                        <a:rPr lang="pt-BR" sz="1300" b="1" i="0" u="none" strike="noStrike" baseline="0" dirty="0">
                          <a:solidFill>
                            <a:schemeClr val="bg1"/>
                          </a:solidFill>
                          <a:latin typeface="Verdana"/>
                        </a:rPr>
                        <a:t> considerações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24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FFFFFF"/>
                          </a:solidFill>
                          <a:latin typeface="Verdana"/>
                        </a:rPr>
                        <a:t>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Ações definidas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Responsável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68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01</a:t>
                      </a:r>
                    </a:p>
                  </a:txBody>
                  <a:tcPr marL="0" marR="0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Verificação das</a:t>
                      </a:r>
                      <a:r>
                        <a:rPr lang="pt-BR" sz="11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25 </a:t>
                      </a:r>
                      <a:r>
                        <a:rPr lang="pt-BR" sz="11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Gmuds</a:t>
                      </a:r>
                      <a:r>
                        <a:rPr lang="pt-BR" sz="11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em andamento.</a:t>
                      </a:r>
                      <a:endParaRPr lang="pt-BR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0263" marR="70263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kern="1200" baseline="0" dirty="0">
                          <a:solidFill>
                            <a:srgbClr val="000000"/>
                          </a:solidFill>
                          <a:latin typeface="+mj-lt"/>
                          <a:ea typeface="+mn-ea"/>
                          <a:cs typeface="+mn-cs"/>
                        </a:rPr>
                        <a:t>Felipe Lima</a:t>
                      </a:r>
                    </a:p>
                  </a:txBody>
                  <a:tcPr marL="7026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68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02</a:t>
                      </a:r>
                    </a:p>
                  </a:txBody>
                  <a:tcPr marL="0" marR="0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Verificação de</a:t>
                      </a:r>
                      <a:r>
                        <a:rPr lang="pt-BR" sz="11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57 </a:t>
                      </a:r>
                      <a:r>
                        <a:rPr lang="pt-BR" sz="11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Gmuds</a:t>
                      </a:r>
                      <a:r>
                        <a:rPr lang="pt-BR" sz="11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sem informação de Sucesso</a:t>
                      </a:r>
                      <a:endParaRPr lang="pt-BR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0263" marR="70263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kern="1200" baseline="0" dirty="0">
                          <a:solidFill>
                            <a:srgbClr val="000000"/>
                          </a:solidFill>
                          <a:latin typeface="+mj-lt"/>
                          <a:ea typeface="+mn-ea"/>
                          <a:cs typeface="+mn-cs"/>
                        </a:rPr>
                        <a:t>Welinton Silva</a:t>
                      </a:r>
                    </a:p>
                  </a:txBody>
                  <a:tcPr marL="7026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63711"/>
                  </a:ext>
                </a:extLst>
              </a:tr>
              <a:tr h="52768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03</a:t>
                      </a:r>
                    </a:p>
                  </a:txBody>
                  <a:tcPr marL="0" marR="0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Definido controle para Desvio de Processo por Equipe (mudanças sem registro de </a:t>
                      </a:r>
                      <a:r>
                        <a:rPr lang="pt-BR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Gmud</a:t>
                      </a:r>
                      <a:r>
                        <a:rPr lang="pt-B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0263" marR="70263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kern="1200" baseline="0" dirty="0">
                          <a:solidFill>
                            <a:srgbClr val="000000"/>
                          </a:solidFill>
                          <a:latin typeface="+mj-lt"/>
                          <a:ea typeface="+mn-ea"/>
                          <a:cs typeface="+mn-cs"/>
                        </a:rPr>
                        <a:t>Thomas </a:t>
                      </a:r>
                      <a:r>
                        <a:rPr lang="pt-BR" sz="1100" b="0" i="0" u="none" strike="noStrike" kern="1200" baseline="0" dirty="0" err="1">
                          <a:solidFill>
                            <a:srgbClr val="000000"/>
                          </a:solidFill>
                          <a:latin typeface="+mj-lt"/>
                          <a:ea typeface="+mn-ea"/>
                          <a:cs typeface="+mn-cs"/>
                        </a:rPr>
                        <a:t>kiss</a:t>
                      </a:r>
                      <a:endParaRPr lang="pt-BR" sz="1100" b="0" i="0" u="none" strike="noStrike" kern="1200" baseline="0" dirty="0">
                        <a:solidFill>
                          <a:srgbClr val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026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88769"/>
                  </a:ext>
                </a:extLst>
              </a:tr>
              <a:tr h="52768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04</a:t>
                      </a:r>
                    </a:p>
                  </a:txBody>
                  <a:tcPr marL="0" marR="0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Definido Controle para </a:t>
                      </a:r>
                      <a:r>
                        <a:rPr lang="pt-BR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Gmud</a:t>
                      </a:r>
                      <a:r>
                        <a:rPr lang="pt-B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com falha por categoria de falha.</a:t>
                      </a:r>
                    </a:p>
                  </a:txBody>
                  <a:tcPr marL="70263" marR="70263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kern="1200" baseline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Thomas </a:t>
                      </a:r>
                      <a:r>
                        <a:rPr lang="pt-BR" sz="1100" b="0" i="0" u="none" strike="noStrike" kern="1200" baseline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kiss</a:t>
                      </a:r>
                      <a:endParaRPr lang="pt-BR" sz="1100" b="0" i="0" u="none" strike="noStrike" kern="1200" baseline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026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608337"/>
                  </a:ext>
                </a:extLst>
              </a:tr>
              <a:tr h="52768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05</a:t>
                      </a:r>
                    </a:p>
                  </a:txBody>
                  <a:tcPr marL="0" marR="0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Definido Controle para </a:t>
                      </a:r>
                      <a:r>
                        <a:rPr lang="pt-BR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Gmud</a:t>
                      </a:r>
                      <a:r>
                        <a:rPr lang="pt-B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com falha por equipe.</a:t>
                      </a:r>
                    </a:p>
                  </a:txBody>
                  <a:tcPr marL="70263" marR="70263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kern="1200" baseline="0" dirty="0">
                          <a:solidFill>
                            <a:srgbClr val="000000"/>
                          </a:solidFill>
                          <a:latin typeface="+mj-lt"/>
                          <a:ea typeface="+mn-ea"/>
                          <a:cs typeface="+mn-cs"/>
                        </a:rPr>
                        <a:t>Gerenciamento de Mudanças</a:t>
                      </a:r>
                    </a:p>
                  </a:txBody>
                  <a:tcPr marL="7026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97587"/>
                  </a:ext>
                </a:extLst>
              </a:tr>
              <a:tr h="52768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06</a:t>
                      </a:r>
                    </a:p>
                  </a:txBody>
                  <a:tcPr marL="0" marR="0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Definido controle de requisito por entrega e equipe. </a:t>
                      </a:r>
                    </a:p>
                  </a:txBody>
                  <a:tcPr marL="70263" marR="70263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kern="1200" baseline="0" dirty="0">
                          <a:solidFill>
                            <a:srgbClr val="000000"/>
                          </a:solidFill>
                          <a:latin typeface="+mj-lt"/>
                          <a:ea typeface="+mn-ea"/>
                          <a:cs typeface="+mn-cs"/>
                        </a:rPr>
                        <a:t>Gerenciamento de Mudanças</a:t>
                      </a:r>
                    </a:p>
                  </a:txBody>
                  <a:tcPr marL="7026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526104"/>
                  </a:ext>
                </a:extLst>
              </a:tr>
              <a:tr h="52768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07</a:t>
                      </a:r>
                    </a:p>
                  </a:txBody>
                  <a:tcPr marL="0" marR="0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Criar</a:t>
                      </a:r>
                      <a:r>
                        <a:rPr lang="pt-BR" sz="11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mailbox e assinatura para equipe de Gerenciamento de Mudanças</a:t>
                      </a:r>
                      <a:endParaRPr lang="pt-BR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0263" marR="70263" marT="70263" marB="702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3725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kern="1200" baseline="0" dirty="0">
                          <a:solidFill>
                            <a:srgbClr val="000000"/>
                          </a:solidFill>
                          <a:latin typeface="+mj-lt"/>
                          <a:ea typeface="+mn-ea"/>
                          <a:cs typeface="+mn-cs"/>
                        </a:rPr>
                        <a:t>Welinton Silva</a:t>
                      </a:r>
                    </a:p>
                  </a:txBody>
                  <a:tcPr marL="7026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995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714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Retângulo 2"/>
          <p:cNvSpPr/>
          <p:nvPr/>
        </p:nvSpPr>
        <p:spPr>
          <a:xfrm>
            <a:off x="0" y="102414"/>
            <a:ext cx="9144000" cy="5016758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>
              <a:buClr>
                <a:schemeClr val="accent1">
                  <a:lumMod val="50000"/>
                </a:schemeClr>
              </a:buClr>
            </a:pPr>
            <a:r>
              <a:rPr lang="pt-BR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Definições para próximos comitês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endParaRPr lang="pt-BR" sz="1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Participantes da </a:t>
            </a:r>
            <a:r>
              <a:rPr lang="pt-BR" sz="14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Gerot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endParaRPr lang="pt-BR" sz="1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pt-BR" sz="1200" dirty="0"/>
              <a:t>Daniel Donaire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pt-BR" sz="1200" dirty="0"/>
              <a:t>Celio Andrade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pt-BR" sz="1200" dirty="0"/>
              <a:t>Rafael Silva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pt-BR" sz="1200" dirty="0"/>
              <a:t>Milene Jorge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pt-BR" sz="1200" dirty="0"/>
              <a:t>Cristiane </a:t>
            </a:r>
            <a:r>
              <a:rPr lang="pt-BR" sz="1200" dirty="0" err="1"/>
              <a:t>Sasaki</a:t>
            </a:r>
            <a:endParaRPr lang="pt-BR" sz="1200" dirty="0"/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pt-BR" sz="1200" dirty="0"/>
              <a:t>Adolpho Chacon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pt-BR" sz="1200" dirty="0"/>
              <a:t>Welinton Silva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pt-BR" sz="1200" dirty="0" err="1"/>
              <a:t>Marilice</a:t>
            </a:r>
            <a:r>
              <a:rPr lang="pt-BR" sz="1200" dirty="0"/>
              <a:t> de Oliveira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pt-BR" sz="1200" dirty="0"/>
              <a:t>Gabriela de Breton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pt-BR" sz="1200" dirty="0"/>
              <a:t>Paulo Marques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pt-BR" sz="1200" dirty="0" err="1"/>
              <a:t>Dennys</a:t>
            </a:r>
            <a:r>
              <a:rPr lang="pt-BR" sz="1200" dirty="0"/>
              <a:t> Bruno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pt-BR" sz="1200" dirty="0"/>
              <a:t>Stuart Faria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pt-BR" sz="1200" dirty="0"/>
              <a:t>Roberto </a:t>
            </a:r>
            <a:r>
              <a:rPr lang="pt-BR" sz="1200" dirty="0" err="1"/>
              <a:t>Muto</a:t>
            </a:r>
            <a:endParaRPr lang="pt-BR" sz="1200" dirty="0"/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pt-BR" sz="1200" dirty="0"/>
              <a:t>Rogerio Veloso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pt-BR" sz="1200" dirty="0"/>
              <a:t>Felipe Villa \ Nelson Klaus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pt-BR" sz="1200" dirty="0"/>
              <a:t>Luiz Marçal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pt-BR" sz="1200" dirty="0"/>
              <a:t>Eugênio Silva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pt-BR" sz="1200" dirty="0"/>
              <a:t>Erick </a:t>
            </a:r>
            <a:r>
              <a:rPr lang="pt-BR" sz="1200" dirty="0" err="1"/>
              <a:t>Canneori</a:t>
            </a:r>
            <a:endParaRPr lang="pt-BR" sz="1200" dirty="0"/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pt-BR" sz="1200" dirty="0"/>
              <a:t>Alexandre Gustavo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pt-BR" sz="1200" dirty="0"/>
              <a:t>Marcelo </a:t>
            </a:r>
            <a:r>
              <a:rPr lang="pt-BR" sz="1200" dirty="0" err="1"/>
              <a:t>Rosin</a:t>
            </a:r>
            <a:endParaRPr lang="pt-BR" sz="1200" dirty="0"/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pt-BR" sz="1200" dirty="0"/>
              <a:t>Thomas Kiss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pt-BR" sz="1200" dirty="0"/>
              <a:t>Felipe Lima</a:t>
            </a:r>
          </a:p>
        </p:txBody>
      </p:sp>
    </p:spTree>
    <p:extLst>
      <p:ext uri="{BB962C8B-B14F-4D97-AF65-F5344CB8AC3E}">
        <p14:creationId xmlns:p14="http://schemas.microsoft.com/office/powerpoint/2010/main" val="373275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2194756"/>
            <a:ext cx="9144000" cy="7694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ct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Obrigado! </a:t>
            </a:r>
          </a:p>
        </p:txBody>
      </p:sp>
    </p:spTree>
    <p:extLst>
      <p:ext uri="{BB962C8B-B14F-4D97-AF65-F5344CB8AC3E}">
        <p14:creationId xmlns:p14="http://schemas.microsoft.com/office/powerpoint/2010/main" val="5858620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22528</TotalTime>
  <Words>332</Words>
  <Application>Microsoft Office PowerPoint</Application>
  <PresentationFormat>Personalizar</PresentationFormat>
  <Paragraphs>129</Paragraphs>
  <Slides>9</Slides>
  <Notes>7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5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9" baseType="lpstr">
      <vt:lpstr>Arial</vt:lpstr>
      <vt:lpstr>Calibri</vt:lpstr>
      <vt:lpstr>Verdana</vt:lpstr>
      <vt:lpstr>Wingdings</vt:lpstr>
      <vt:lpstr>Tema do Office</vt:lpstr>
      <vt:lpstr>10_Tema do Office</vt:lpstr>
      <vt:lpstr>Personalizar design</vt:lpstr>
      <vt:lpstr>5_Tema do Office</vt:lpstr>
      <vt:lpstr>7_Tema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Adolpho Chacon;Daniel Donaire - Revisor</dc:creator>
  <cp:lastModifiedBy>Chacon</cp:lastModifiedBy>
  <cp:revision>912</cp:revision>
  <dcterms:created xsi:type="dcterms:W3CDTF">2015-08-20T14:57:26Z</dcterms:created>
  <dcterms:modified xsi:type="dcterms:W3CDTF">2016-08-09T16:21:11Z</dcterms:modified>
</cp:coreProperties>
</file>