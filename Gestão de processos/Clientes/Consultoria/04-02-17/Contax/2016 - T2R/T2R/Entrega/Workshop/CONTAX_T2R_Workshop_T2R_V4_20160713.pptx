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1"/>
    <p:sldMasterId id="2147483677" r:id="rId2"/>
    <p:sldMasterId id="2147483679" r:id="rId3"/>
    <p:sldMasterId id="2147483673" r:id="rId4"/>
    <p:sldMasterId id="2147483675" r:id="rId5"/>
  </p:sldMasterIdLst>
  <p:notesMasterIdLst>
    <p:notesMasterId r:id="rId47"/>
  </p:notesMasterIdLst>
  <p:sldIdLst>
    <p:sldId id="256" r:id="rId6"/>
    <p:sldId id="257" r:id="rId7"/>
    <p:sldId id="258" r:id="rId8"/>
    <p:sldId id="298" r:id="rId9"/>
    <p:sldId id="260" r:id="rId10"/>
    <p:sldId id="259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0" r:id="rId19"/>
    <p:sldId id="271" r:id="rId20"/>
    <p:sldId id="273" r:id="rId21"/>
    <p:sldId id="281" r:id="rId22"/>
    <p:sldId id="277" r:id="rId23"/>
    <p:sldId id="278" r:id="rId24"/>
    <p:sldId id="279" r:id="rId25"/>
    <p:sldId id="274" r:id="rId26"/>
    <p:sldId id="284" r:id="rId27"/>
    <p:sldId id="293" r:id="rId28"/>
    <p:sldId id="287" r:id="rId29"/>
    <p:sldId id="289" r:id="rId30"/>
    <p:sldId id="295" r:id="rId31"/>
    <p:sldId id="291" r:id="rId32"/>
    <p:sldId id="292" r:id="rId33"/>
    <p:sldId id="309" r:id="rId34"/>
    <p:sldId id="296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297" r:id="rId4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C2A3"/>
    <a:srgbClr val="FFD0B9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84" autoAdjust="0"/>
    <p:restoredTop sz="93809" autoAdjust="0"/>
  </p:normalViewPr>
  <p:slideViewPr>
    <p:cSldViewPr snapToGrid="0" snapToObjects="1">
      <p:cViewPr varScale="1">
        <p:scale>
          <a:sx n="108" d="100"/>
          <a:sy n="108" d="100"/>
        </p:scale>
        <p:origin x="62" y="192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chemeClr val="accent4">
            <a:lumMod val="60000"/>
            <a:lumOff val="40000"/>
          </a:schemeClr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>
        <a:solidFill>
          <a:schemeClr val="accent6">
            <a:lumMod val="50000"/>
          </a:schemeClr>
        </a:solidFill>
      </dgm:spPr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chemeClr val="accent4">
            <a:lumMod val="60000"/>
            <a:lumOff val="40000"/>
          </a:schemeClr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>
        <a:solidFill>
          <a:schemeClr val="accent6">
            <a:lumMod val="50000"/>
          </a:schemeClr>
        </a:solidFill>
      </dgm:spPr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13/07/2016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66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05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emf"/><Relationship Id="rId4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8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83466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05167" y="4376234"/>
            <a:ext cx="1043999" cy="77073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4375"/>
            <a:ext cx="9144001" cy="5204563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6847" y="-34395"/>
            <a:ext cx="3345084" cy="1221858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 userDrawn="1"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87887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82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1500" y="4386263"/>
            <a:ext cx="952500" cy="7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18" Type="http://schemas.openxmlformats.org/officeDocument/2006/relationships/image" Target="../media/image13.png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17" Type="http://schemas.openxmlformats.org/officeDocument/2006/relationships/image" Target="../media/image12.png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19" Type="http://schemas.openxmlformats.org/officeDocument/2006/relationships/image" Target="../media/image14.png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1995249"/>
            <a:ext cx="9144000" cy="11387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Workshop T2R</a:t>
            </a:r>
          </a:p>
          <a:p>
            <a:pPr algn="r"/>
            <a:r>
              <a:rPr lang="pt-BR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Transition to Run</a:t>
            </a:r>
          </a:p>
        </p:txBody>
      </p:sp>
    </p:spTree>
    <p:extLst>
      <p:ext uri="{BB962C8B-B14F-4D97-AF65-F5344CB8AC3E}">
        <p14:creationId xmlns:p14="http://schemas.microsoft.com/office/powerpoint/2010/main" val="283839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4307528"/>
            <a:ext cx="9144000" cy="422405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</p:txBody>
      </p:sp>
    </p:spTree>
    <p:extLst>
      <p:ext uri="{BB962C8B-B14F-4D97-AF65-F5344CB8AC3E}">
        <p14:creationId xmlns:p14="http://schemas.microsoft.com/office/powerpoint/2010/main" val="4066639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/>
          <p:cNvSpPr/>
          <p:nvPr/>
        </p:nvSpPr>
        <p:spPr>
          <a:xfrm>
            <a:off x="7193" y="101638"/>
            <a:ext cx="9136807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28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720000" tIns="72000" rIns="72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algn="just">
              <a:lnSpc>
                <a:spcPct val="90000"/>
              </a:lnSpc>
              <a:spcBef>
                <a:spcPts val="43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Visão do Projeto</a:t>
            </a:r>
          </a:p>
          <a:p>
            <a:pPr marL="0" lvl="1" algn="just">
              <a:lnSpc>
                <a:spcPct val="90000"/>
              </a:lnSpc>
              <a:spcBef>
                <a:spcPts val="43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Conceito dos Processos</a:t>
            </a:r>
          </a:p>
          <a:p>
            <a:pPr marL="0" lvl="1" algn="just">
              <a:lnSpc>
                <a:spcPct val="90000"/>
              </a:lnSpc>
              <a:spcBef>
                <a:spcPts val="43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Controle de Requisitos</a:t>
            </a:r>
          </a:p>
          <a:p>
            <a:pPr marL="0" lvl="1" algn="just">
              <a:lnSpc>
                <a:spcPct val="90000"/>
              </a:lnSpc>
              <a:spcBef>
                <a:spcPts val="43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Atividades da T2R</a:t>
            </a:r>
          </a:p>
          <a:p>
            <a:pPr marL="0" lvl="1" algn="just">
              <a:lnSpc>
                <a:spcPct val="90000"/>
              </a:lnSpc>
              <a:spcBef>
                <a:spcPts val="43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Indicadores</a:t>
            </a:r>
          </a:p>
          <a:p>
            <a:pPr marL="0" lvl="1" algn="just">
              <a:lnSpc>
                <a:spcPct val="90000"/>
              </a:lnSpc>
              <a:spcBef>
                <a:spcPts val="43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Automação</a:t>
            </a:r>
          </a:p>
        </p:txBody>
      </p:sp>
    </p:spTree>
    <p:extLst>
      <p:ext uri="{BB962C8B-B14F-4D97-AF65-F5344CB8AC3E}">
        <p14:creationId xmlns:p14="http://schemas.microsoft.com/office/powerpoint/2010/main" val="160663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/>
          <p:cNvGrpSpPr/>
          <p:nvPr/>
        </p:nvGrpSpPr>
        <p:grpSpPr>
          <a:xfrm>
            <a:off x="245598" y="547238"/>
            <a:ext cx="8514839" cy="4809033"/>
            <a:chOff x="245598" y="547238"/>
            <a:chExt cx="8514839" cy="4809033"/>
          </a:xfrm>
        </p:grpSpPr>
        <p:sp>
          <p:nvSpPr>
            <p:cNvPr id="11" name="Triângulo Retângulo 10"/>
            <p:cNvSpPr/>
            <p:nvPr/>
          </p:nvSpPr>
          <p:spPr>
            <a:xfrm>
              <a:off x="245598" y="547238"/>
              <a:ext cx="8514839" cy="4486235"/>
            </a:xfrm>
            <a:prstGeom prst="rtTriangle">
              <a:avLst/>
            </a:prstGeom>
            <a:solidFill>
              <a:schemeClr val="accent4">
                <a:lumMod val="20000"/>
                <a:lumOff val="8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Triângulo Retângulo 9"/>
            <p:cNvSpPr/>
            <p:nvPr/>
          </p:nvSpPr>
          <p:spPr>
            <a:xfrm rot="10800000">
              <a:off x="245598" y="565485"/>
              <a:ext cx="8514839" cy="4486235"/>
            </a:xfrm>
            <a:prstGeom prst="rtTriangle">
              <a:avLst/>
            </a:prstGeom>
            <a:solidFill>
              <a:schemeClr val="accent1">
                <a:lumMod val="75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" name="Seta para Baixo 2"/>
            <p:cNvSpPr/>
            <p:nvPr/>
          </p:nvSpPr>
          <p:spPr>
            <a:xfrm rot="19695576">
              <a:off x="2059007" y="371804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4" name="Diagrama 3"/>
            <p:cNvGraphicFramePr/>
            <p:nvPr>
              <p:extLst/>
            </p:nvPr>
          </p:nvGraphicFramePr>
          <p:xfrm>
            <a:off x="1815642" y="3343711"/>
            <a:ext cx="1693025" cy="2012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5" name="CaixaDeTexto 4"/>
            <p:cNvSpPr txBox="1"/>
            <p:nvPr/>
          </p:nvSpPr>
          <p:spPr>
            <a:xfrm>
              <a:off x="833314" y="1098731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  <p:grpSp>
          <p:nvGrpSpPr>
            <p:cNvPr id="6" name="Agrupar 5"/>
            <p:cNvGrpSpPr/>
            <p:nvPr/>
          </p:nvGrpSpPr>
          <p:grpSpPr>
            <a:xfrm>
              <a:off x="3508667" y="4212548"/>
              <a:ext cx="4851796" cy="635688"/>
              <a:chOff x="3508667" y="4225176"/>
              <a:chExt cx="4851796" cy="635688"/>
            </a:xfrm>
          </p:grpSpPr>
          <p:sp>
            <p:nvSpPr>
              <p:cNvPr id="20" name="Divisa 19"/>
              <p:cNvSpPr/>
              <p:nvPr/>
            </p:nvSpPr>
            <p:spPr>
              <a:xfrm>
                <a:off x="3508667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Iniciação</a:t>
                </a:r>
              </a:p>
            </p:txBody>
          </p:sp>
          <p:sp>
            <p:nvSpPr>
              <p:cNvPr id="21" name="Divisa 20"/>
              <p:cNvSpPr/>
              <p:nvPr/>
            </p:nvSpPr>
            <p:spPr>
              <a:xfrm>
                <a:off x="4721616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Planejamento</a:t>
                </a:r>
              </a:p>
            </p:txBody>
          </p:sp>
          <p:sp>
            <p:nvSpPr>
              <p:cNvPr id="22" name="Divisa 21"/>
              <p:cNvSpPr/>
              <p:nvPr/>
            </p:nvSpPr>
            <p:spPr>
              <a:xfrm>
                <a:off x="5934565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Execução</a:t>
                </a:r>
              </a:p>
            </p:txBody>
          </p:sp>
          <p:sp>
            <p:nvSpPr>
              <p:cNvPr id="23" name="Divisa 22"/>
              <p:cNvSpPr/>
              <p:nvPr/>
            </p:nvSpPr>
            <p:spPr>
              <a:xfrm>
                <a:off x="7147514" y="4225176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Encerramento</a:t>
                </a:r>
              </a:p>
            </p:txBody>
          </p:sp>
          <p:sp>
            <p:nvSpPr>
              <p:cNvPr id="24" name="CaixaDeTexto 23"/>
              <p:cNvSpPr txBox="1"/>
              <p:nvPr/>
            </p:nvSpPr>
            <p:spPr>
              <a:xfrm>
                <a:off x="5247422" y="4553087"/>
                <a:ext cx="167513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Projetos</a:t>
                </a:r>
              </a:p>
            </p:txBody>
          </p:sp>
        </p:grpSp>
        <p:grpSp>
          <p:nvGrpSpPr>
            <p:cNvPr id="7" name="Agrupar 6"/>
            <p:cNvGrpSpPr/>
            <p:nvPr/>
          </p:nvGrpSpPr>
          <p:grpSpPr>
            <a:xfrm>
              <a:off x="6344468" y="1098733"/>
              <a:ext cx="1927292" cy="3104828"/>
              <a:chOff x="6225745" y="1111361"/>
              <a:chExt cx="1927292" cy="3104828"/>
            </a:xfrm>
          </p:grpSpPr>
          <p:sp>
            <p:nvSpPr>
              <p:cNvPr id="17" name="CaixaDeTexto 16"/>
              <p:cNvSpPr txBox="1"/>
              <p:nvPr/>
            </p:nvSpPr>
            <p:spPr>
              <a:xfrm>
                <a:off x="6225745" y="1111361"/>
                <a:ext cx="19272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Mudanças</a:t>
                </a:r>
              </a:p>
            </p:txBody>
          </p:sp>
          <p:graphicFrame>
            <p:nvGraphicFramePr>
              <p:cNvPr id="18" name="Diagrama 17"/>
              <p:cNvGraphicFramePr/>
              <p:nvPr>
                <p:extLst/>
              </p:nvPr>
            </p:nvGraphicFramePr>
            <p:xfrm>
              <a:off x="6468233" y="1503266"/>
              <a:ext cx="1442317" cy="13499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  <p:sp>
            <p:nvSpPr>
              <p:cNvPr id="19" name="Divisa 18"/>
              <p:cNvSpPr/>
              <p:nvPr/>
            </p:nvSpPr>
            <p:spPr>
              <a:xfrm rot="17864150">
                <a:off x="6277815" y="3497493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Abre GMUD</a:t>
                </a:r>
              </a:p>
            </p:txBody>
          </p:sp>
        </p:grpSp>
        <p:sp>
          <p:nvSpPr>
            <p:cNvPr id="8" name="Fluxograma: Operação Manual 7"/>
            <p:cNvSpPr/>
            <p:nvPr/>
          </p:nvSpPr>
          <p:spPr>
            <a:xfrm>
              <a:off x="464629" y="4085759"/>
              <a:ext cx="690832" cy="465481"/>
            </a:xfrm>
            <a:prstGeom prst="flowChartManualOperat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</a:rPr>
                <a:t>Não</a:t>
              </a:r>
            </a:p>
          </p:txBody>
        </p:sp>
        <p:grpSp>
          <p:nvGrpSpPr>
            <p:cNvPr id="9" name="Agrupar 8"/>
            <p:cNvGrpSpPr/>
            <p:nvPr/>
          </p:nvGrpSpPr>
          <p:grpSpPr>
            <a:xfrm>
              <a:off x="581883" y="1098733"/>
              <a:ext cx="2263043" cy="2781639"/>
              <a:chOff x="581883" y="1168005"/>
              <a:chExt cx="2263043" cy="2781639"/>
            </a:xfrm>
          </p:grpSpPr>
          <p:graphicFrame>
            <p:nvGraphicFramePr>
              <p:cNvPr id="15" name="Diagrama 14"/>
              <p:cNvGraphicFramePr/>
              <p:nvPr>
                <p:extLst/>
              </p:nvPr>
            </p:nvGraphicFramePr>
            <p:xfrm>
              <a:off x="581883" y="1168005"/>
              <a:ext cx="2263043" cy="250467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  <p:sp>
            <p:nvSpPr>
              <p:cNvPr id="16" name="Seta para Baixo 15"/>
              <p:cNvSpPr/>
              <p:nvPr/>
            </p:nvSpPr>
            <p:spPr>
              <a:xfrm rot="2039608">
                <a:off x="1086066" y="3785351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" name="Agrupar 11"/>
            <p:cNvGrpSpPr/>
            <p:nvPr/>
          </p:nvGrpSpPr>
          <p:grpSpPr>
            <a:xfrm>
              <a:off x="2813532" y="2348124"/>
              <a:ext cx="3530936" cy="926725"/>
              <a:chOff x="2813532" y="2360752"/>
              <a:chExt cx="3530936" cy="926725"/>
            </a:xfrm>
          </p:grpSpPr>
          <p:sp>
            <p:nvSpPr>
              <p:cNvPr id="13" name="CaixaDeTexto 12"/>
              <p:cNvSpPr txBox="1"/>
              <p:nvPr/>
            </p:nvSpPr>
            <p:spPr>
              <a:xfrm>
                <a:off x="2813532" y="2639448"/>
                <a:ext cx="3530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>
                    <a:solidFill>
                      <a:schemeClr val="accent5">
                        <a:lumMod val="75000"/>
                      </a:schemeClr>
                    </a:solidFill>
                  </a:rPr>
                  <a:t>PROJETOS            MUDANÇAS</a:t>
                </a:r>
              </a:p>
            </p:txBody>
          </p:sp>
          <p:pic>
            <p:nvPicPr>
              <p:cNvPr id="14" name="Imagem 13"/>
              <p:cNvPicPr>
                <a:picLocks noChangeAspect="1"/>
              </p:cNvPicPr>
              <p:nvPr/>
            </p:nvPicPr>
            <p:blipFill>
              <a:blip r:embed="rId17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4271336" y="2360752"/>
                <a:ext cx="463364" cy="926725"/>
              </a:xfrm>
              <a:prstGeom prst="rect">
                <a:avLst/>
              </a:prstGeom>
            </p:spPr>
          </p:pic>
        </p:grpSp>
        <p:sp>
          <p:nvSpPr>
            <p:cNvPr id="25" name="Retângulo 24"/>
            <p:cNvSpPr/>
            <p:nvPr/>
          </p:nvSpPr>
          <p:spPr>
            <a:xfrm>
              <a:off x="3605720" y="2006437"/>
              <a:ext cx="17945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pt-BR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Transition To Run</a:t>
              </a:r>
              <a:endParaRPr lang="pt-BR" dirty="0"/>
            </a:p>
          </p:txBody>
        </p:sp>
      </p:grpSp>
      <p:sp>
        <p:nvSpPr>
          <p:cNvPr id="26" name="Retângulo 25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Situação Atual</a:t>
            </a:r>
            <a:endParaRPr lang="pt-B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11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/>
        </p:nvSpPr>
        <p:spPr>
          <a:xfrm>
            <a:off x="0" y="563881"/>
            <a:ext cx="9144000" cy="458438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Os processos da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considerarão todo o ciclo de vida de uma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desde a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demanda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alteração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ou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novo serviços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por parte das unidades de negócio e atualizações em componentes tecnológicos pelas equipes de TI até sua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utilizando,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quando necessário ao melhor controle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habilidades e técnicas de gerenciamento de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Além disso, oferece métodos ágeis para mudanças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menores garantindo agilidade e controle de toda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demanda técnica e infraestrutura predial.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Transition To Run – T2R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720" y="2125164"/>
            <a:ext cx="2749731" cy="293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0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Proposta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3379" y="624878"/>
            <a:ext cx="8784557" cy="4553772"/>
            <a:chOff x="-33878" y="846548"/>
            <a:chExt cx="8784557" cy="4553772"/>
          </a:xfrm>
        </p:grpSpPr>
        <p:sp>
          <p:nvSpPr>
            <p:cNvPr id="4" name="Seta para Baixo 3"/>
            <p:cNvSpPr/>
            <p:nvPr/>
          </p:nvSpPr>
          <p:spPr>
            <a:xfrm rot="19695576">
              <a:off x="1362117" y="377548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5" name="Diagrama 4"/>
            <p:cNvGraphicFramePr/>
            <p:nvPr>
              <p:extLst>
                <p:ext uri="{D42A27DB-BD31-4B8C-83A1-F6EECF244321}">
                  <p14:modId xmlns:p14="http://schemas.microsoft.com/office/powerpoint/2010/main" val="2485558006"/>
                </p:ext>
              </p:extLst>
            </p:nvPr>
          </p:nvGraphicFramePr>
          <p:xfrm>
            <a:off x="1280081" y="3387760"/>
            <a:ext cx="1693025" cy="2012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6" name="Fluxograma: Operação Manual 5"/>
            <p:cNvSpPr/>
            <p:nvPr/>
          </p:nvSpPr>
          <p:spPr>
            <a:xfrm>
              <a:off x="84954" y="4161300"/>
              <a:ext cx="690832" cy="465481"/>
            </a:xfrm>
            <a:prstGeom prst="flowChartManualOperat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</a:rPr>
                <a:t>Não</a:t>
              </a:r>
            </a:p>
          </p:txBody>
        </p:sp>
        <p:grpSp>
          <p:nvGrpSpPr>
            <p:cNvPr id="7" name="Agrupar 6"/>
            <p:cNvGrpSpPr/>
            <p:nvPr/>
          </p:nvGrpSpPr>
          <p:grpSpPr>
            <a:xfrm>
              <a:off x="-33878" y="1043488"/>
              <a:ext cx="2263043" cy="2894323"/>
              <a:chOff x="-33878" y="1043488"/>
              <a:chExt cx="2263043" cy="2894323"/>
            </a:xfrm>
          </p:grpSpPr>
          <p:sp>
            <p:nvSpPr>
              <p:cNvPr id="36" name="CaixaDeTexto 35"/>
              <p:cNvSpPr txBox="1"/>
              <p:nvPr/>
            </p:nvSpPr>
            <p:spPr>
              <a:xfrm>
                <a:off x="217553" y="1043488"/>
                <a:ext cx="17623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Demandas</a:t>
                </a:r>
              </a:p>
            </p:txBody>
          </p:sp>
          <p:grpSp>
            <p:nvGrpSpPr>
              <p:cNvPr id="37" name="Agrupar 36"/>
              <p:cNvGrpSpPr/>
              <p:nvPr/>
            </p:nvGrpSpPr>
            <p:grpSpPr>
              <a:xfrm>
                <a:off x="-33878" y="1043490"/>
                <a:ext cx="2263043" cy="2894321"/>
                <a:chOff x="-33878" y="1043490"/>
                <a:chExt cx="2263043" cy="2894321"/>
              </a:xfrm>
              <a:noFill/>
            </p:grpSpPr>
            <p:graphicFrame>
              <p:nvGraphicFramePr>
                <p:cNvPr id="38" name="Diagrama 37"/>
                <p:cNvGraphicFramePr/>
                <p:nvPr>
                  <p:extLst>
                    <p:ext uri="{D42A27DB-BD31-4B8C-83A1-F6EECF244321}">
                      <p14:modId xmlns:p14="http://schemas.microsoft.com/office/powerpoint/2010/main" val="3817980388"/>
                    </p:ext>
                  </p:extLst>
                </p:nvPr>
              </p:nvGraphicFramePr>
              <p:xfrm>
                <a:off x="-33878" y="1043490"/>
                <a:ext cx="2263043" cy="2504679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7" r:lo="rId8" r:qs="rId9" r:cs="rId10"/>
                </a:graphicData>
              </a:graphic>
            </p:graphicFrame>
            <p:sp>
              <p:nvSpPr>
                <p:cNvPr id="39" name="Seta para Baixo 38"/>
                <p:cNvSpPr/>
                <p:nvPr/>
              </p:nvSpPr>
              <p:spPr>
                <a:xfrm rot="2039608">
                  <a:off x="487553" y="3773518"/>
                  <a:ext cx="225396" cy="164293"/>
                </a:xfrm>
                <a:prstGeom prst="down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</p:grpSp>
        <p:graphicFrame>
          <p:nvGraphicFramePr>
            <p:cNvPr id="8" name="Diagrama 7"/>
            <p:cNvGraphicFramePr/>
            <p:nvPr>
              <p:extLst>
                <p:ext uri="{D42A27DB-BD31-4B8C-83A1-F6EECF244321}">
                  <p14:modId xmlns:p14="http://schemas.microsoft.com/office/powerpoint/2010/main" val="3653664751"/>
                </p:ext>
              </p:extLst>
            </p:nvPr>
          </p:nvGraphicFramePr>
          <p:xfrm>
            <a:off x="2176371" y="2017039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9" name="Seta para Baixo 8"/>
            <p:cNvSpPr/>
            <p:nvPr/>
          </p:nvSpPr>
          <p:spPr>
            <a:xfrm rot="12341683">
              <a:off x="2621040" y="3519515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3225735" y="1038833"/>
              <a:ext cx="2038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pSp>
          <p:nvGrpSpPr>
            <p:cNvPr id="11" name="Agrupar 10"/>
            <p:cNvGrpSpPr/>
            <p:nvPr/>
          </p:nvGrpSpPr>
          <p:grpSpPr>
            <a:xfrm>
              <a:off x="5556884" y="846548"/>
              <a:ext cx="2335535" cy="1151906"/>
              <a:chOff x="6250304" y="884648"/>
              <a:chExt cx="2335535" cy="1151906"/>
            </a:xfrm>
          </p:grpSpPr>
          <p:sp>
            <p:nvSpPr>
              <p:cNvPr id="32" name="CaixaDeTexto 31"/>
              <p:cNvSpPr txBox="1"/>
              <p:nvPr/>
            </p:nvSpPr>
            <p:spPr>
              <a:xfrm>
                <a:off x="6250304" y="1140909"/>
                <a:ext cx="12654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chemeClr val="accent6">
                        <a:lumMod val="75000"/>
                      </a:schemeClr>
                    </a:solidFill>
                  </a:rPr>
                  <a:t>Mudança Menor</a:t>
                </a:r>
              </a:p>
            </p:txBody>
          </p:sp>
          <p:grpSp>
            <p:nvGrpSpPr>
              <p:cNvPr id="33" name="Agrupar 32"/>
              <p:cNvGrpSpPr/>
              <p:nvPr/>
            </p:nvGrpSpPr>
            <p:grpSpPr>
              <a:xfrm>
                <a:off x="7557040" y="884648"/>
                <a:ext cx="1028799" cy="1151906"/>
                <a:chOff x="7357235" y="928289"/>
                <a:chExt cx="1028799" cy="1151906"/>
              </a:xfrm>
            </p:grpSpPr>
            <p:pic>
              <p:nvPicPr>
                <p:cNvPr id="34" name="Picture 8" descr="https://cdn3.iconfinder.com/data/icons/seo-accessibility-usability-2-1/256/Flow_Diagram-512.png"/>
                <p:cNvPicPr>
                  <a:picLocks noChangeAspect="1" noChangeArrowheads="1"/>
                </p:cNvPicPr>
                <p:nvPr/>
              </p:nvPicPr>
              <p:blipFill>
                <a:blip r:embed="rId17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3068" y="928289"/>
                  <a:ext cx="877135" cy="87713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5" name="CaixaDeTexto 34"/>
                <p:cNvSpPr txBox="1"/>
                <p:nvPr/>
              </p:nvSpPr>
              <p:spPr>
                <a:xfrm>
                  <a:off x="7357235" y="1773813"/>
                  <a:ext cx="1028799" cy="306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Workflow</a:t>
                  </a:r>
                </a:p>
              </p:txBody>
            </p:sp>
          </p:grpSp>
        </p:grpSp>
        <p:grpSp>
          <p:nvGrpSpPr>
            <p:cNvPr id="12" name="Agrupar 11"/>
            <p:cNvGrpSpPr/>
            <p:nvPr/>
          </p:nvGrpSpPr>
          <p:grpSpPr>
            <a:xfrm>
              <a:off x="5409272" y="2282489"/>
              <a:ext cx="2490692" cy="1022005"/>
              <a:chOff x="6102692" y="2320589"/>
              <a:chExt cx="2490692" cy="1022005"/>
            </a:xfrm>
          </p:grpSpPr>
          <p:sp>
            <p:nvSpPr>
              <p:cNvPr id="28" name="CaixaDeTexto 27"/>
              <p:cNvSpPr txBox="1"/>
              <p:nvPr/>
            </p:nvSpPr>
            <p:spPr>
              <a:xfrm>
                <a:off x="6102692" y="2539205"/>
                <a:ext cx="15864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chemeClr val="accent4">
                        <a:lumMod val="75000"/>
                      </a:schemeClr>
                    </a:solidFill>
                  </a:rPr>
                  <a:t>Mudança Significativa</a:t>
                </a:r>
              </a:p>
            </p:txBody>
          </p:sp>
          <p:grpSp>
            <p:nvGrpSpPr>
              <p:cNvPr id="29" name="Agrupar 28"/>
              <p:cNvGrpSpPr/>
              <p:nvPr/>
            </p:nvGrpSpPr>
            <p:grpSpPr>
              <a:xfrm>
                <a:off x="7564585" y="2320589"/>
                <a:ext cx="1028799" cy="1022005"/>
                <a:chOff x="7357235" y="2355115"/>
                <a:chExt cx="1028799" cy="1022005"/>
              </a:xfrm>
            </p:grpSpPr>
            <p:pic>
              <p:nvPicPr>
                <p:cNvPr id="30" name="Picture 4" descr="http://www.ecoleduparc.fr/A21/images/icones/icon_6219_512px.png"/>
                <p:cNvPicPr>
                  <a:picLocks noChangeAspect="1" noChangeArrowheads="1"/>
                </p:cNvPicPr>
                <p:nvPr/>
              </p:nvPicPr>
              <p:blipFill>
                <a:blip r:embed="rId18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3070" y="2355115"/>
                  <a:ext cx="877135" cy="87713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1" name="CaixaDeTexto 30"/>
                <p:cNvSpPr txBox="1"/>
                <p:nvPr/>
              </p:nvSpPr>
              <p:spPr>
                <a:xfrm>
                  <a:off x="7357235" y="3070738"/>
                  <a:ext cx="1028799" cy="306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Comitê</a:t>
                  </a:r>
                </a:p>
              </p:txBody>
            </p:sp>
          </p:grpSp>
        </p:grpSp>
        <p:grpSp>
          <p:nvGrpSpPr>
            <p:cNvPr id="13" name="Agrupar 12"/>
            <p:cNvGrpSpPr/>
            <p:nvPr/>
          </p:nvGrpSpPr>
          <p:grpSpPr>
            <a:xfrm>
              <a:off x="5506135" y="3756711"/>
              <a:ext cx="2827112" cy="1300117"/>
              <a:chOff x="6199555" y="3794811"/>
              <a:chExt cx="2827112" cy="1300117"/>
            </a:xfrm>
          </p:grpSpPr>
          <p:sp>
            <p:nvSpPr>
              <p:cNvPr id="24" name="CaixaDeTexto 23"/>
              <p:cNvSpPr txBox="1"/>
              <p:nvPr/>
            </p:nvSpPr>
            <p:spPr>
              <a:xfrm>
                <a:off x="6199555" y="3996399"/>
                <a:ext cx="13766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rgbClr val="C00000"/>
                    </a:solidFill>
                  </a:rPr>
                  <a:t>Mudança Maior</a:t>
                </a:r>
              </a:p>
            </p:txBody>
          </p:sp>
          <p:grpSp>
            <p:nvGrpSpPr>
              <p:cNvPr id="25" name="Agrupar 24"/>
              <p:cNvGrpSpPr/>
              <p:nvPr/>
            </p:nvGrpSpPr>
            <p:grpSpPr>
              <a:xfrm>
                <a:off x="7131301" y="3794811"/>
                <a:ext cx="1895366" cy="1300117"/>
                <a:chOff x="7016219" y="3737300"/>
                <a:chExt cx="1895366" cy="1300117"/>
              </a:xfrm>
            </p:grpSpPr>
            <p:pic>
              <p:nvPicPr>
                <p:cNvPr id="26" name="Picture 10" descr="https://upload.wikimedia.org/wikipedia/commons/thumb/a/a3/HEB_project_flow_icon_02_charts_and_calendar.svg/1024px-HEB_project_flow_icon_02_charts_and_calendar.svg.png"/>
                <p:cNvPicPr>
                  <a:picLocks noChangeAspect="1" noChangeArrowheads="1"/>
                </p:cNvPicPr>
                <p:nvPr/>
              </p:nvPicPr>
              <p:blipFill>
                <a:blip r:embed="rId19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68782" y="3737300"/>
                  <a:ext cx="990240" cy="9902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7" name="CaixaDeTexto 26"/>
                <p:cNvSpPr txBox="1"/>
                <p:nvPr/>
              </p:nvSpPr>
              <p:spPr>
                <a:xfrm>
                  <a:off x="7016219" y="4698863"/>
                  <a:ext cx="189536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600" b="1" dirty="0">
                      <a:solidFill>
                        <a:srgbClr val="C00000"/>
                      </a:solidFill>
                    </a:rPr>
                    <a:t>Gestão de Projetos</a:t>
                  </a:r>
                </a:p>
              </p:txBody>
            </p:sp>
          </p:grpSp>
        </p:grpSp>
        <p:grpSp>
          <p:nvGrpSpPr>
            <p:cNvPr id="14" name="Agrupar 13"/>
            <p:cNvGrpSpPr/>
            <p:nvPr/>
          </p:nvGrpSpPr>
          <p:grpSpPr>
            <a:xfrm>
              <a:off x="4865706" y="1287776"/>
              <a:ext cx="613659" cy="3091011"/>
              <a:chOff x="5559126" y="1325876"/>
              <a:chExt cx="613659" cy="3091011"/>
            </a:xfrm>
          </p:grpSpPr>
          <p:sp>
            <p:nvSpPr>
              <p:cNvPr id="21" name="Seta Dobrada 20"/>
              <p:cNvSpPr/>
              <p:nvPr/>
            </p:nvSpPr>
            <p:spPr>
              <a:xfrm>
                <a:off x="5559126" y="1325876"/>
                <a:ext cx="537826" cy="883998"/>
              </a:xfrm>
              <a:prstGeom prst="bentArrow">
                <a:avLst>
                  <a:gd name="adj1" fmla="val 25000"/>
                  <a:gd name="adj2" fmla="val 20321"/>
                  <a:gd name="adj3" fmla="val 25000"/>
                  <a:gd name="adj4" fmla="val 48429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2" name="Seta Dobrada 21"/>
              <p:cNvSpPr/>
              <p:nvPr/>
            </p:nvSpPr>
            <p:spPr>
              <a:xfrm flipV="1">
                <a:off x="5559126" y="3514822"/>
                <a:ext cx="537826" cy="902065"/>
              </a:xfrm>
              <a:prstGeom prst="bentArrow">
                <a:avLst>
                  <a:gd name="adj1" fmla="val 25000"/>
                  <a:gd name="adj2" fmla="val 20321"/>
                  <a:gd name="adj3" fmla="val 25000"/>
                  <a:gd name="adj4" fmla="val 48429"/>
                </a:avLst>
              </a:prstGeom>
              <a:solidFill>
                <a:srgbClr val="C0000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Seta para a Direita 22"/>
              <p:cNvSpPr/>
              <p:nvPr/>
            </p:nvSpPr>
            <p:spPr>
              <a:xfrm>
                <a:off x="5559126" y="2709031"/>
                <a:ext cx="613659" cy="267305"/>
              </a:xfrm>
              <a:prstGeom prst="rightArrow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15" name="Retângulo Arredondado 14"/>
            <p:cNvSpPr/>
            <p:nvPr/>
          </p:nvSpPr>
          <p:spPr>
            <a:xfrm>
              <a:off x="3734663" y="2528603"/>
              <a:ext cx="1015068" cy="55727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</a:rPr>
                <a:t>CRITÉRIOS OBJETVOS</a:t>
              </a:r>
            </a:p>
          </p:txBody>
        </p:sp>
        <p:grpSp>
          <p:nvGrpSpPr>
            <p:cNvPr id="16" name="Agrupar 15"/>
            <p:cNvGrpSpPr/>
            <p:nvPr/>
          </p:nvGrpSpPr>
          <p:grpSpPr>
            <a:xfrm>
              <a:off x="7957925" y="846548"/>
              <a:ext cx="792754" cy="4132622"/>
              <a:chOff x="7957925" y="846548"/>
              <a:chExt cx="792754" cy="4132622"/>
            </a:xfrm>
          </p:grpSpPr>
          <p:sp>
            <p:nvSpPr>
              <p:cNvPr id="17" name="Retângulo Arredondado 16"/>
              <p:cNvSpPr/>
              <p:nvPr/>
            </p:nvSpPr>
            <p:spPr>
              <a:xfrm>
                <a:off x="8362123" y="846548"/>
                <a:ext cx="388556" cy="4132622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pt-BR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REVISÃO PÓS-IMPLEMENTAÇÃO</a:t>
                </a:r>
              </a:p>
            </p:txBody>
          </p:sp>
          <p:sp>
            <p:nvSpPr>
              <p:cNvPr id="18" name="Seta para Baixo 17"/>
              <p:cNvSpPr/>
              <p:nvPr/>
            </p:nvSpPr>
            <p:spPr>
              <a:xfrm rot="17535232">
                <a:off x="7927374" y="1819709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9" name="Seta para Baixo 18"/>
              <p:cNvSpPr/>
              <p:nvPr/>
            </p:nvSpPr>
            <p:spPr>
              <a:xfrm rot="13912365">
                <a:off x="7927374" y="3726888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0" name="Seta para Baixo 19"/>
              <p:cNvSpPr/>
              <p:nvPr/>
            </p:nvSpPr>
            <p:spPr>
              <a:xfrm rot="16200000">
                <a:off x="7945574" y="2790807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8529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50535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Toda alteração, inclusão ou remoção de serviço terá controle único e completo através de uma  ferramenta de gerenciamento de serviços disponibilizado para todos os envolvidos em todas as fases do ciclo de vida com as informações necessárias para garantir que a implementação não tenha impacto ou minimizar a possibilidade de ocorrer, assim como o suporte para a operação do serviço em ambiente produtivo.</a:t>
            </a:r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Controle Unificado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98200" y="2578891"/>
            <a:ext cx="3419711" cy="2328823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32" name="Divisa 31"/>
          <p:cNvSpPr/>
          <p:nvPr/>
        </p:nvSpPr>
        <p:spPr>
          <a:xfrm>
            <a:off x="717548" y="3442130"/>
            <a:ext cx="1509486" cy="602343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50000"/>
                  </a:schemeClr>
                </a:solidFill>
              </a:rPr>
              <a:t>Demanda</a:t>
            </a:r>
          </a:p>
        </p:txBody>
      </p:sp>
      <p:sp>
        <p:nvSpPr>
          <p:cNvPr id="33" name="Divisa 32"/>
          <p:cNvSpPr/>
          <p:nvPr/>
        </p:nvSpPr>
        <p:spPr>
          <a:xfrm>
            <a:off x="2815705" y="2839787"/>
            <a:ext cx="1509486" cy="602343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50000"/>
                  </a:schemeClr>
                </a:solidFill>
              </a:rPr>
              <a:t>Projeto</a:t>
            </a:r>
          </a:p>
        </p:txBody>
      </p:sp>
      <p:sp>
        <p:nvSpPr>
          <p:cNvPr id="34" name="Divisa 33"/>
          <p:cNvSpPr/>
          <p:nvPr/>
        </p:nvSpPr>
        <p:spPr>
          <a:xfrm>
            <a:off x="2815705" y="4044473"/>
            <a:ext cx="1509486" cy="602343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50000"/>
                  </a:schemeClr>
                </a:solidFill>
              </a:rPr>
              <a:t>Mudança</a:t>
            </a: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2285998" y="3140960"/>
            <a:ext cx="660043" cy="54712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/>
          <p:nvPr/>
        </p:nvCxnSpPr>
        <p:spPr>
          <a:xfrm>
            <a:off x="2285998" y="3810000"/>
            <a:ext cx="660043" cy="524554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48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Demandas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60126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Gerenciamento de Demandas terá controle de todas as demandas planejadas para entender os padrões de atividade do negócio e influenciar a demanda do cliente por serviços e na provisão de capacidade para atender a estas demandas.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Dentre as responsabilidades de Demandas para a T2R, estão: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Analisar a viabilidade da demanda.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Reprovar quando necessário.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Definir os Pré-Requisitos.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Fazer a triagem de Mudança ou Projeto.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Priorizar ou recusar projetos em comitê.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Gerenciar e revisar projetos pendentes.</a:t>
            </a:r>
          </a:p>
          <a:p>
            <a:pPr algn="l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grpSp>
        <p:nvGrpSpPr>
          <p:cNvPr id="34" name="Agrupar 33"/>
          <p:cNvGrpSpPr/>
          <p:nvPr/>
        </p:nvGrpSpPr>
        <p:grpSpPr>
          <a:xfrm>
            <a:off x="5529764" y="2010920"/>
            <a:ext cx="3126556" cy="3154786"/>
            <a:chOff x="5712644" y="2263882"/>
            <a:chExt cx="2791276" cy="2816479"/>
          </a:xfrm>
        </p:grpSpPr>
        <p:pic>
          <p:nvPicPr>
            <p:cNvPr id="27" name="Imagem 26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12644" y="2263882"/>
              <a:ext cx="2791276" cy="2816479"/>
            </a:xfrm>
            <a:prstGeom prst="rect">
              <a:avLst/>
            </a:prstGeom>
          </p:spPr>
        </p:pic>
        <p:sp>
          <p:nvSpPr>
            <p:cNvPr id="28" name="CaixaDeTexto 27"/>
            <p:cNvSpPr txBox="1"/>
            <p:nvPr/>
          </p:nvSpPr>
          <p:spPr>
            <a:xfrm>
              <a:off x="6128462" y="2411445"/>
              <a:ext cx="1999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400" b="1" dirty="0">
                  <a:solidFill>
                    <a:schemeClr val="tx1">
                      <a:alpha val="70000"/>
                    </a:schemeClr>
                  </a:solidFill>
                </a:rPr>
                <a:t>Análise inicial de escopo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6310466" y="2834893"/>
              <a:ext cx="15953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200" b="1" dirty="0">
                  <a:solidFill>
                    <a:schemeClr val="tx1">
                      <a:alpha val="70000"/>
                    </a:schemeClr>
                  </a:solidFill>
                </a:rPr>
                <a:t>Decisão de Go\ No Go</a:t>
              </a:r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6608528" y="3150599"/>
              <a:ext cx="10809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Definição de </a:t>
              </a:r>
            </a:p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Pré-Requisitos</a:t>
              </a: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6704004" y="352330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Triagem de </a:t>
              </a:r>
            </a:p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Mudança</a:t>
              </a:r>
            </a:p>
          </p:txBody>
        </p:sp>
        <p:sp>
          <p:nvSpPr>
            <p:cNvPr id="32" name="CaixaDeTexto 31"/>
            <p:cNvSpPr txBox="1"/>
            <p:nvPr/>
          </p:nvSpPr>
          <p:spPr>
            <a:xfrm>
              <a:off x="6728049" y="3906253"/>
              <a:ext cx="7745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Priorização</a:t>
              </a:r>
            </a:p>
          </p:txBody>
        </p:sp>
        <p:sp>
          <p:nvSpPr>
            <p:cNvPr id="33" name="CaixaDeTexto 32"/>
            <p:cNvSpPr txBox="1"/>
            <p:nvPr/>
          </p:nvSpPr>
          <p:spPr>
            <a:xfrm>
              <a:off x="6838656" y="4229794"/>
              <a:ext cx="5389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900" b="1" dirty="0">
                  <a:solidFill>
                    <a:schemeClr val="tx1">
                      <a:alpha val="70000"/>
                    </a:schemeClr>
                  </a:solidFill>
                </a:rPr>
                <a:t>Projeto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8545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Projetos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 é um esforço temporário, empreendido a fim de criar um produto, serviço ou resultado único.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Gerenciamento de Projetos é aplicação de conhecimento, habilidades, técnicas e ferramentas às atividades do projeto a fim de alcançar os requisitos do projeto.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 projeto transforma diversas entradas num produto ou serviço único, então um projeto pode ser definido como um PROCESSO.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310" y="2994773"/>
            <a:ext cx="3245506" cy="215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79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55673" y="2955289"/>
            <a:ext cx="3588327" cy="2181139"/>
          </a:xfrm>
          <a:prstGeom prst="rect">
            <a:avLst/>
          </a:prstGeom>
        </p:spPr>
      </p:pic>
      <p:sp>
        <p:nvSpPr>
          <p:cNvPr id="3" name="Subtítulo 2"/>
          <p:cNvSpPr txBox="1">
            <a:spLocks/>
          </p:cNvSpPr>
          <p:nvPr/>
        </p:nvSpPr>
        <p:spPr>
          <a:xfrm>
            <a:off x="0" y="564442"/>
            <a:ext cx="9144000" cy="4571985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Aplicação apropriada e integrada dos processos de gerenciamento compõem 5 grupos de Processos: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Iniciação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Autoriza o início de uma fase ou Projeto e estabelece objetivos</a:t>
            </a:r>
          </a:p>
          <a:p>
            <a:pPr indent="-342900" algn="l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Como atingir os objetivos estabelecidos, qual o caminho a ser seguido e o que deve ser feito para chegar até lá.</a:t>
            </a:r>
          </a:p>
          <a:p>
            <a:pPr indent="-342900" algn="l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Execução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Garantir os recursos necessários e a equipe de projeto para produzir o que foi planejado.</a:t>
            </a:r>
          </a:p>
          <a:p>
            <a:pPr indent="-342900" algn="l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Monitoramento e Controle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Avalia onde estamos, aonde deveríamos estar e define como e o que faremos para voltar ao caminho, evita mudança de rumo e faz as mudanças necessárias.</a:t>
            </a:r>
          </a:p>
          <a:p>
            <a:pPr indent="-342900" algn="l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Encerramento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Formaliza o aceite do Produto do Projeto, toma ações para encerrar administrativamente o Projeto, lições aprendidas e arquivar informações para uso futuro.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Projetos</a:t>
            </a:r>
          </a:p>
        </p:txBody>
      </p:sp>
    </p:spTree>
    <p:extLst>
      <p:ext uri="{BB962C8B-B14F-4D97-AF65-F5344CB8AC3E}">
        <p14:creationId xmlns:p14="http://schemas.microsoft.com/office/powerpoint/2010/main" val="212857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Mudanças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63889"/>
            <a:ext cx="9144000" cy="4584374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Consiste em procedimentos e controles necessários para garantir que as mudanças sejam formalmente requisitadas, aprovadas, planejadas e adequadamente testadas com o objetivo de minimizar ocorrências de erros. 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métodos e procedimentos padronizados estão sendo utilizados de forma eficiente e rápida para lidar com todas as mudanças e garante que os riscos de negócios estão otimizados.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Empresas que investem em Gestão de Mudança garantem 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alta eficiência em seus projetos!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660" y="2734676"/>
            <a:ext cx="2698998" cy="241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0" y="564442"/>
            <a:ext cx="9144000" cy="458381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é qualquer “adição, modificação ou remoção de serviço ou componente de serviço autorizado, planejado ou suportado e sua documentação associada”.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Tipos de Mudanças: </a:t>
            </a:r>
          </a:p>
          <a:p>
            <a:pPr indent="-342900" algn="l" eaLnBrk="0" hangingPunct="0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Planejada: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iniciada por uma requisição do solicitante "Indivíduo ou grupo organizacional" que solicita a mudança.</a:t>
            </a:r>
          </a:p>
          <a:p>
            <a:pPr indent="-342900" algn="l" eaLnBrk="0" hangingPunct="0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Técnica: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para um serviço ou infraestrutura </a:t>
            </a:r>
            <a:r>
              <a:rPr lang="pt-BR" sz="20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pré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-autorizada pelo Gerenciamento de Mudanças com procedimento aceito e</a:t>
            </a:r>
          </a:p>
          <a:p>
            <a:pPr algn="l" eaLnBrk="0" hangingPunct="0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estabelecido para fornecer uma exigência de mudança específica</a:t>
            </a:r>
          </a:p>
          <a:p>
            <a:pPr marL="342900" indent="-342900" algn="l">
              <a:lnSpc>
                <a:spcPct val="90000"/>
              </a:lnSpc>
              <a:buClr>
                <a:srgbClr val="0064A9"/>
              </a:buClr>
              <a:buFont typeface="Wingdings" panose="05000000000000000000" pitchFamily="2" charset="2"/>
              <a:buChar char="ü"/>
              <a:defRPr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Emergenciais: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Algumas vezes é necessária e deve </a:t>
            </a:r>
          </a:p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ser cuidadosamente desenhada e testada antes de ser </a:t>
            </a:r>
          </a:p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implementada, quando possível, ou o impacto pode ser maior </a:t>
            </a:r>
          </a:p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que o “Incidente” original.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578" y="3088599"/>
            <a:ext cx="2066494" cy="2066494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Mudanças</a:t>
            </a:r>
          </a:p>
        </p:txBody>
      </p:sp>
    </p:spTree>
    <p:extLst>
      <p:ext uri="{BB962C8B-B14F-4D97-AF65-F5344CB8AC3E}">
        <p14:creationId xmlns:p14="http://schemas.microsoft.com/office/powerpoint/2010/main" val="480330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080850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Atividades da T2R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12" y="2110740"/>
            <a:ext cx="3676175" cy="245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9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r="12929"/>
          <a:stretch/>
        </p:blipFill>
        <p:spPr>
          <a:xfrm>
            <a:off x="6244585" y="822960"/>
            <a:ext cx="2899415" cy="2679270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Valores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pt-BR" alt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Priorizar propostas de alteração do negócio e do cliente.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Responder as propostas de alteração do negócio e do cliente.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Implementar mudanças que atendem os requerimentos de serviço.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Otimizar custos na implementação de mudanças.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Atender os requisitos de governança, legal, contratual e regulatório.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Reduzir o número de mudanças que falharam e consequentemente, reduzir os casos de interrupção do serviço, defeitos e retrabalho.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Entregar mudança rapidamente para atender os prazos do negócio.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Rastrear mudanças para aprender pelos erros e incidentes passados.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Contribuir para obter uma melhor estimativa de qualidade, tempo e custo da mudança</a:t>
            </a:r>
          </a:p>
        </p:txBody>
      </p:sp>
    </p:spTree>
    <p:extLst>
      <p:ext uri="{BB962C8B-B14F-4D97-AF65-F5344CB8AC3E}">
        <p14:creationId xmlns:p14="http://schemas.microsoft.com/office/powerpoint/2010/main" val="407238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Atividades do Processo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1015547"/>
            <a:ext cx="9144000" cy="4132716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alt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Definição de Gmud / Projeto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dos requisitos de controle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Aprovação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Comitê Consultivo de Mudanças (CCM)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Revisão Pós Implementação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Validação de pendências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92" y="1152347"/>
            <a:ext cx="3567708" cy="356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76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63845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Independente do solicitante da Requisição de Mudança, é preciso registrar, revisar e avaliar todas as requisições de mudança como parte do Gerenciamento de Mudança.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72" y="1630749"/>
            <a:ext cx="6339841" cy="116890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7193" y="1892038"/>
            <a:ext cx="2498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Credenciais para acesso o sistema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6011753" y="3553009"/>
            <a:ext cx="27965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Visualização das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Gmud’s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sob minha responsabilidade e seleção de novo registro.</a:t>
            </a:r>
            <a:endParaRPr lang="pt-BR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82" y="3282108"/>
            <a:ext cx="5209358" cy="146513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67261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1" y="1263737"/>
            <a:ext cx="8771137" cy="3004503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Todos os campos devem ser devidamente preenchidos para que o planejamento seja preciso e riscos possam ser mitigados no planejamento.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-101821" y="4239992"/>
            <a:ext cx="9144000" cy="41147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informações para abertura de Gmud</a:t>
            </a:r>
          </a:p>
        </p:txBody>
      </p:sp>
    </p:spTree>
    <p:extLst>
      <p:ext uri="{BB962C8B-B14F-4D97-AF65-F5344CB8AC3E}">
        <p14:creationId xmlns:p14="http://schemas.microsoft.com/office/powerpoint/2010/main" val="4263568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981" y="674506"/>
            <a:ext cx="6128703" cy="114601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94" y="1954215"/>
            <a:ext cx="6128703" cy="114148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93" y="3240388"/>
            <a:ext cx="8512528" cy="8963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228600" y="924349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dos Sites Impactados pela Gmud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6566597" y="2198017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das Operações Impactadas pela Gmud</a:t>
            </a:r>
            <a:endParaRPr lang="pt-BR" dirty="0"/>
          </a:p>
        </p:txBody>
      </p:sp>
      <p:sp>
        <p:nvSpPr>
          <p:cNvPr id="13" name="Subtítulo 2"/>
          <p:cNvSpPr txBox="1">
            <a:spLocks/>
          </p:cNvSpPr>
          <p:nvPr/>
        </p:nvSpPr>
        <p:spPr>
          <a:xfrm>
            <a:off x="0" y="4136723"/>
            <a:ext cx="9144000" cy="51963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2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Um conjunto de “Dados” gera uma “Informação”. Um conjunto de “Informações” nos permite ter conhecimento. Um conjunto de “Conhecimentos” nos fornece “Sabedoria”. A “Sabedoria” permite a </a:t>
            </a:r>
            <a:r>
              <a:rPr lang="pt-BR" sz="1200" u="sng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Tomada de Decisão</a:t>
            </a:r>
            <a:r>
              <a:rPr lang="pt-BR" sz="12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. (Modelo DICS – Gerenciamento do Conhecimento).</a:t>
            </a:r>
            <a:endParaRPr lang="pt-BR" sz="12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5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41417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Definição de Gmud / Projeto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Critérios devem ser utilizados para definir o nível de controle necessário para garantir a máxima eficiência no planejamento de uma implantação.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76375"/>
              </p:ext>
            </p:extLst>
          </p:nvPr>
        </p:nvGraphicFramePr>
        <p:xfrm>
          <a:off x="971550" y="1600296"/>
          <a:ext cx="6489122" cy="261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4561">
                  <a:extLst>
                    <a:ext uri="{9D8B030D-6E8A-4147-A177-3AD203B41FA5}">
                      <a16:colId xmlns:a16="http://schemas.microsoft.com/office/drawing/2014/main" val="242053376"/>
                    </a:ext>
                  </a:extLst>
                </a:gridCol>
                <a:gridCol w="3244561">
                  <a:extLst>
                    <a:ext uri="{9D8B030D-6E8A-4147-A177-3AD203B41FA5}">
                      <a16:colId xmlns:a16="http://schemas.microsoft.com/office/drawing/2014/main" val="1010042909"/>
                    </a:ext>
                  </a:extLst>
                </a:gridCol>
              </a:tblGrid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Mudança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Projeto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6245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Melhor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controle</a:t>
                      </a:r>
                      <a:r>
                        <a:rPr lang="pt-BR" sz="1400" baseline="0" dirty="0"/>
                        <a:t> de Implantação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/>
                        <a:t>Planejamento mais eficaz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1590996771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Implantação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+ de 1 Implantação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207018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Sem</a:t>
                      </a:r>
                      <a:r>
                        <a:rPr lang="pt-BR" sz="1400" baseline="0" dirty="0"/>
                        <a:t> retorno financeiro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Com retorno financeiro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5834117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Envolvimento </a:t>
                      </a:r>
                      <a:r>
                        <a:rPr lang="pt-BR" sz="1400" baseline="0" dirty="0"/>
                        <a:t>de somente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+</a:t>
                      </a:r>
                      <a:r>
                        <a:rPr lang="pt-BR" sz="1400" baseline="0" dirty="0"/>
                        <a:t> de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454762813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Alteração de Serviço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Inclusão,</a:t>
                      </a:r>
                      <a:r>
                        <a:rPr lang="pt-BR" sz="1400" baseline="0" dirty="0"/>
                        <a:t> alteração e remoção de Serviço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4293718368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561501154"/>
                  </a:ext>
                </a:extLst>
              </a:tr>
            </a:tbl>
          </a:graphicData>
        </a:graphic>
      </p:graphicFrame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850553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dos Requisitos de Controle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0"/>
            <a:ext cx="9144000" cy="1130808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Visando mitigar impactos pós implementação, um controle de requisitos será anexado em todas as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Gmud’s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para controles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pré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 pós implementação. Os controles serão inseridos pelo planejador com revisão de Gerências CSE e CSC, indicadores de performance serão apresentadas nos comitês de Estabilidade Operacional.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" y="1929752"/>
            <a:ext cx="7846695" cy="2598337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707361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3879"/>
            <a:ext cx="9142903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 Risco Associado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Importante: 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Nenhuma Mudança é ausente de Riscos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!!!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Mesmo a mais simples das Mudanças podem causar impactos que parecem completamente fora de proporção para a complexidade ou simplicidade da Mudança.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Nos anos recentes têm ocorrido muitos casos de alta visibilidade e impacto financeiro de grande proporção nos negócios causado pela inclusão, exclusão ou posicionamento errôneo de um “código de software”.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50" y="3193143"/>
            <a:ext cx="3123195" cy="1955120"/>
          </a:xfrm>
          <a:prstGeom prst="rect">
            <a:avLst/>
          </a:prstGeom>
        </p:spPr>
      </p:pic>
      <p:sp>
        <p:nvSpPr>
          <p:cNvPr id="7" name="Retângulo 6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685556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76" y="962293"/>
            <a:ext cx="8628231" cy="3719988"/>
          </a:xfrm>
          <a:prstGeom prst="rect">
            <a:avLst/>
          </a:prstGeom>
        </p:spPr>
      </p:pic>
      <p:sp>
        <p:nvSpPr>
          <p:cNvPr id="6" name="Retângulo 5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001025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sp>
        <p:nvSpPr>
          <p:cNvPr id="6" name="Retângulo 5">
            <a:hlinkClick r:id="rId2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  <p:pic>
        <p:nvPicPr>
          <p:cNvPr id="7" name="Imagem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2240297"/>
            <a:ext cx="603504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456" y="3655092"/>
            <a:ext cx="6050280" cy="119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m 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886" y="825622"/>
            <a:ext cx="6027420" cy="117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tângulo 9"/>
          <p:cNvSpPr/>
          <p:nvPr/>
        </p:nvSpPr>
        <p:spPr>
          <a:xfrm>
            <a:off x="137075" y="1085291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Atividade do Plano de Ação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6294120" y="2370454"/>
            <a:ext cx="23913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Item de Configuração dos Componentes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148505" y="3930096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Recurso do Plano de Comunicação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8371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Aprovação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Níveis diferenciados de aprovação são designados conforme o Tipo de Mudança porém poderão conter particularidades: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Planejada: Gerente do Planejador, Gerente dos Sites Afetados, Gerente de Negócios com Particularidades.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Técnica: Gerenciamento de Mudanças.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Emergencial: Gerente do Processo de Gerenciamento de Mudanças, Diretoria Executiva de TI e Diretoria de Negócios.</a:t>
            </a:r>
          </a:p>
          <a:p>
            <a:pPr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Os riscos dos pré-requisitos não concluídos serão notificados no e-mail de aprovação.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Em caso de reprovação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é Cancelada automaticamente.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4" name="Imagem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893"/>
          <a:stretch/>
        </p:blipFill>
        <p:spPr bwMode="auto">
          <a:xfrm>
            <a:off x="370609" y="3556421"/>
            <a:ext cx="6019800" cy="94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980" y="3556421"/>
            <a:ext cx="1349783" cy="123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81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composto por um grupo de pessoas que suportam a avaliação, priorização, autorização e programação de mudanças. Um comitê consultivo de mudanças é normalmente composto de representantes de todas as áreas do provedor de serviço de TI, negócio e de terceiros, tais como fornecedores.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Membros do CCM receberão previamente a lista das mudanças pré-aprovadas a serem liberadas,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Gmud’s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apontadas pelos membros terão sua implantação discutida em comitê, caso não haja objeção por nenhuma área ela é aprovada automaticamente.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5" name="Imagem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01" y="3450075"/>
            <a:ext cx="7566517" cy="1142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198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principal objetivo do CCM é assegurar: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cumpriu seu objetivo e não afetou ou interrompeu outros serviços.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Recursos utilizados para implementar a mudança estavam conforme planejado.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foi implementada no tempo e custo, assim por diante.</a:t>
            </a:r>
          </a:p>
          <a:p>
            <a:pPr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324" y="3511883"/>
            <a:ext cx="2463738" cy="153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78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Pós Implantação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revisão pós-implementação (RPI) é uma revisão formal de um programa ou projeto.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utilizada para responder a questão: Atingimos o que definimos para fazer em termos de negócio? E, caso negativo, o que deve ser feito?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um grande programa de Mudança, devem haver várias revisões pós-implementação (RPI) ao longo do tempo.</a:t>
            </a:r>
          </a:p>
        </p:txBody>
      </p:sp>
      <p:pic>
        <p:nvPicPr>
          <p:cNvPr id="5" name="Imagem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0"/>
          <a:stretch/>
        </p:blipFill>
        <p:spPr bwMode="auto">
          <a:xfrm>
            <a:off x="1068870" y="3021160"/>
            <a:ext cx="7020646" cy="1908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24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spcBef>
                <a:spcPts val="1000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revisão da Mudança é realizada para confirmar que os objetivos foram alcançados permitindo ao solicitante e partes interessadas a satisfação com o(s) resultado(s). Por exemplo, conferir a documentação da Mudança, linha de base e relatórios de avaliação.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Caso haja pendência de requisitos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permanecerá em aberto por até 10 dias após sua implantação para acompanhamento das pendências e garantia de sua conclusão. Após este período, o Gerente da equipe responsável pela pendência será notificado do encerramento com as pendências não concluídas.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 de Pendências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73756"/>
            <a:ext cx="8016240" cy="11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37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0" y="566872"/>
            <a:ext cx="9192225" cy="4419397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executadas por mês (mudanças encerradas X mês)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tipo (histórico de mudanças anual X tipo)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Natureza (histórico de mudanças anual X natureza)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Etapa (histórico de mudanças anual X Etapa)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encerradas com sucesso (histórico de mudanças anual X sucesso ou não sucesso)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status (histórico de mudanças anual X Status)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clientes (histórico de mudanças anual X top 10 clientes)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Site (histórico de mudanças anual X Site Contax)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Consolidado por Cliente x Sucesso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Total de Mudanças x Projeto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Diretoria X total mês</a:t>
            </a:r>
          </a:p>
        </p:txBody>
      </p:sp>
    </p:spTree>
    <p:extLst>
      <p:ext uri="{BB962C8B-B14F-4D97-AF65-F5344CB8AC3E}">
        <p14:creationId xmlns:p14="http://schemas.microsoft.com/office/powerpoint/2010/main" val="3973697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099" y="2045"/>
            <a:ext cx="4735609" cy="516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3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2" y="810492"/>
            <a:ext cx="1939774" cy="196286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245" y="957462"/>
            <a:ext cx="3688400" cy="1668925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2272145" y="1468758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Abertura de nova Mudança / Projeto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482754" y="2642690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de Mudança ou Projeto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470912" y="3331399"/>
            <a:ext cx="35399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Mudança: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de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4834245" y="3331399"/>
            <a:ext cx="35399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Projetos: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 de TI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Corporativos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de Negócio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63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Dados do Solicitante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34" y="780923"/>
            <a:ext cx="6456018" cy="3130292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339934" y="3971801"/>
            <a:ext cx="6456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Dados do Solicitante será padrão do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tProcess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 sem alterações.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839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Dados da Demanda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04" y="944880"/>
            <a:ext cx="4342342" cy="332541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602146" y="966159"/>
            <a:ext cx="436659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Cliente / Operação Afetada: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permitira seleção múltipla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Previsão de Interrupção: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Sim ou Não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Complexidade: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Alta, Média e Baixa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Risco: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Alto, Médio e Baixo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Data / Hora de execução: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Estimativa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Quantidade de usuários afetados: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0-&gt;10, 10-&gt;100, 100-&gt;1000, Acima de 1000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Classificação: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Novo Serviço, Remoção de Serviço,  Corretiva de Problema, Corretiva de Incidente, Alteração de Serviço, Conformidade Legal, Ocupação Predial.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Benefício da Demanda: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Expansão de Faturamento, Novos Negócios, Eficiência Operacional, Redução de Multas, Adequação Operacional, Mitigação de Riscos.</a:t>
            </a:r>
          </a:p>
        </p:txBody>
      </p:sp>
    </p:spTree>
    <p:extLst>
      <p:ext uri="{BB962C8B-B14F-4D97-AF65-F5344CB8AC3E}">
        <p14:creationId xmlns:p14="http://schemas.microsoft.com/office/powerpoint/2010/main" val="8565920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Registro</a:t>
            </a:r>
          </a:p>
        </p:txBody>
      </p:sp>
      <p:sp>
        <p:nvSpPr>
          <p:cNvPr id="4" name="Retângulo 3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49" y="695727"/>
            <a:ext cx="6441033" cy="42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96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Todas as visões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t="55727"/>
          <a:stretch/>
        </p:blipFill>
        <p:spPr>
          <a:xfrm>
            <a:off x="2280806" y="990601"/>
            <a:ext cx="6613814" cy="3595434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4159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Demandas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90" y="692889"/>
            <a:ext cx="6492961" cy="375178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192" y="4604329"/>
            <a:ext cx="9136807" cy="422405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pPr>
              <a:spcBef>
                <a:spcPts val="1000"/>
              </a:spcBef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Nesta fase será possível alterar uma Mudança para Projeto e um projeto para Mudança.</a:t>
            </a:r>
          </a:p>
        </p:txBody>
      </p:sp>
    </p:spTree>
    <p:extLst>
      <p:ext uri="{BB962C8B-B14F-4D97-AF65-F5344CB8AC3E}">
        <p14:creationId xmlns:p14="http://schemas.microsoft.com/office/powerpoint/2010/main" val="263575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 - Projeto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58" y="706582"/>
            <a:ext cx="6505061" cy="409955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857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624" y="1051735"/>
            <a:ext cx="6522535" cy="36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18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334" y="524043"/>
            <a:ext cx="6245226" cy="451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77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Resolução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664" y="995423"/>
            <a:ext cx="6486268" cy="345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49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2194756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Obrigado! </a:t>
            </a:r>
          </a:p>
        </p:txBody>
      </p:sp>
    </p:spTree>
    <p:extLst>
      <p:ext uri="{BB962C8B-B14F-4D97-AF65-F5344CB8AC3E}">
        <p14:creationId xmlns:p14="http://schemas.microsoft.com/office/powerpoint/2010/main" val="57679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21695</TotalTime>
  <Words>2027</Words>
  <Application>Microsoft Office PowerPoint</Application>
  <PresentationFormat>Personalizar</PresentationFormat>
  <Paragraphs>295</Paragraphs>
  <Slides>41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52" baseType="lpstr">
      <vt:lpstr>Aharoni</vt:lpstr>
      <vt:lpstr>Arial</vt:lpstr>
      <vt:lpstr>Calibri</vt:lpstr>
      <vt:lpstr>Helvetica Neue</vt:lpstr>
      <vt:lpstr>Wingdings</vt:lpstr>
      <vt:lpstr>Tema do Office</vt:lpstr>
      <vt:lpstr>10_Tema do Office</vt:lpstr>
      <vt:lpstr>Personalizar design</vt:lpstr>
      <vt:lpstr>5_Tema do Office</vt:lpstr>
      <vt:lpstr>7_Tema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Contax-br\624088</cp:lastModifiedBy>
  <cp:revision>891</cp:revision>
  <dcterms:created xsi:type="dcterms:W3CDTF">2015-08-20T14:57:26Z</dcterms:created>
  <dcterms:modified xsi:type="dcterms:W3CDTF">2016-07-13T16:10:12Z</dcterms:modified>
</cp:coreProperties>
</file>