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3"/>
  </p:notesMasterIdLst>
  <p:sldIdLst>
    <p:sldId id="262" r:id="rId5"/>
    <p:sldId id="279" r:id="rId6"/>
    <p:sldId id="289" r:id="rId7"/>
    <p:sldId id="288" r:id="rId8"/>
    <p:sldId id="290" r:id="rId9"/>
    <p:sldId id="284" r:id="rId10"/>
    <p:sldId id="293" r:id="rId11"/>
    <p:sldId id="297" r:id="rId12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2A3"/>
    <a:srgbClr val="FFD0B9"/>
    <a:srgbClr val="CCCC00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2" autoAdjust="0"/>
    <p:restoredTop sz="93809" autoAdjust="0"/>
  </p:normalViewPr>
  <p:slideViewPr>
    <p:cSldViewPr snapToGrid="0" snapToObjects="1">
      <p:cViewPr varScale="1">
        <p:scale>
          <a:sx n="110" d="100"/>
          <a:sy n="110" d="100"/>
        </p:scale>
        <p:origin x="379" y="82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13/04/2016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8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48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752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641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556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018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1890-9DBB-4D9A-9877-EA1263EF5060}" type="datetime1">
              <a:rPr lang="en-US" smtClean="0"/>
              <a:t>4/13/2016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9E252-50F1-4CA9-978A-C194736D11C8}" type="datetime1">
              <a:rPr lang="en-US" smtClean="0"/>
              <a:t>4/13/2016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4538-904F-47D6-B8BB-A40D7642A9C9}" type="datetime1">
              <a:rPr lang="en-US" smtClean="0"/>
              <a:t>4/13/2016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CFF4-9122-4E77-8EAA-7D8D74EE6AAC}" type="datetime1">
              <a:rPr lang="en-US" smtClean="0"/>
              <a:t>4/13/2016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EE9C5-7707-4355-A268-84D96F1F4116}" type="datetime1">
              <a:rPr lang="en-US" smtClean="0"/>
              <a:t>4/13/2016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6EB27-11CC-4396-830F-AD8597B0893F}" type="datetime1">
              <a:rPr lang="en-US" smtClean="0"/>
              <a:t>4/13/2016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4/13/2016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EEED-C0F0-4C1D-936B-058735F7D4CC}" type="datetime1">
              <a:rPr lang="en-US" smtClean="0"/>
              <a:t>4/13/2016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E88E-360F-40AA-AA39-C06B94C1A6A6}" type="datetime1">
              <a:rPr lang="en-US" smtClean="0"/>
              <a:t>4/13/2016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C834-7516-448F-8049-788150E7072C}" type="datetime1">
              <a:rPr lang="en-US" smtClean="0"/>
              <a:t>4/13/2016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8BE3-3033-4CC2-A61E-78CE52E3C4B4}" type="datetime1">
              <a:rPr lang="en-US" smtClean="0"/>
              <a:t>4/13/2016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63222-59D6-4BCC-9F9E-FFDE6D534C31}" type="datetime1">
              <a:rPr lang="en-US" smtClean="0"/>
              <a:t>4/13/2016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570130" cy="478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rgbClr val="0070C0"/>
                </a:solidFill>
              </a:defRPr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4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1.emf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19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18" Type="http://schemas.microsoft.com/office/2007/relationships/diagramDrawing" Target="../diagrams/drawing6.xml"/><Relationship Id="rId3" Type="http://schemas.openxmlformats.org/officeDocument/2006/relationships/image" Target="../media/image1.emf"/><Relationship Id="rId21" Type="http://schemas.openxmlformats.org/officeDocument/2006/relationships/image" Target="../media/image13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17" Type="http://schemas.openxmlformats.org/officeDocument/2006/relationships/diagramColors" Target="../diagrams/colors6.xml"/><Relationship Id="rId2" Type="http://schemas.openxmlformats.org/officeDocument/2006/relationships/notesSlide" Target="../notesSlides/notesSlide5.xml"/><Relationship Id="rId16" Type="http://schemas.openxmlformats.org/officeDocument/2006/relationships/diagramQuickStyle" Target="../diagrams/quickStyle6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5" Type="http://schemas.openxmlformats.org/officeDocument/2006/relationships/diagramLayout" Target="../diagrams/layout6.xml"/><Relationship Id="rId10" Type="http://schemas.openxmlformats.org/officeDocument/2006/relationships/diagramLayout" Target="../diagrams/layout5.xml"/><Relationship Id="rId19" Type="http://schemas.openxmlformats.org/officeDocument/2006/relationships/image" Target="../media/image11.png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Relationship Id="rId14" Type="http://schemas.openxmlformats.org/officeDocument/2006/relationships/diagramData" Target="../diagrams/data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.emf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4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T2R – Transition to Run</a:t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março</a:t>
            </a: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Conceitos Fundamentais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250466" y="1059475"/>
            <a:ext cx="8472651" cy="392483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Demandas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: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reconhecimento e priorização de todas os requerimentos por produtos e serviços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para atender </a:t>
            </a:r>
            <a:r>
              <a:rPr lang="pt-BR" sz="2000" u="sng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 com a obtenção de resultados rentáveis (APICS).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: aplicação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conhecimento, habilidades e técnicas para a execução de projetos de forma efetiva e eficaz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. Competência estratégica para as organizações, une resultados dos projetos às </a:t>
            </a:r>
            <a:r>
              <a:rPr lang="pt-BR" sz="2000" u="sng" dirty="0">
                <a:solidFill>
                  <a:srgbClr val="0070C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 (PMI).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Mudanças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: controle efetivo sobre o ciclo de vida da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adição, remoção ou alteração de qualquer coisa que possa causar um efeito em um serviço de TI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, de modo a alinhar os serviços às </a:t>
            </a:r>
            <a:r>
              <a:rPr lang="pt-BR" sz="2000" u="sng" dirty="0">
                <a:solidFill>
                  <a:srgbClr val="C0000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 (ITIL).</a:t>
            </a:r>
          </a:p>
        </p:txBody>
      </p:sp>
    </p:spTree>
    <p:extLst>
      <p:ext uri="{BB962C8B-B14F-4D97-AF65-F5344CB8AC3E}">
        <p14:creationId xmlns:p14="http://schemas.microsoft.com/office/powerpoint/2010/main" val="14043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Situação Atual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2059007" y="3787319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>
              <p:ext uri="{D42A27DB-BD31-4B8C-83A1-F6EECF244321}">
                <p14:modId xmlns:p14="http://schemas.microsoft.com/office/powerpoint/2010/main" val="1199481375"/>
              </p:ext>
            </p:extLst>
          </p:nvPr>
        </p:nvGraphicFramePr>
        <p:xfrm>
          <a:off x="1815642" y="3412983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CaixaDeTexto 16"/>
          <p:cNvSpPr txBox="1"/>
          <p:nvPr/>
        </p:nvSpPr>
        <p:spPr>
          <a:xfrm>
            <a:off x="833314" y="1168003"/>
            <a:ext cx="1762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</a:rPr>
              <a:t>Gestão de Demandas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3508667" y="4281820"/>
            <a:ext cx="4851796" cy="635688"/>
            <a:chOff x="3508667" y="4225176"/>
            <a:chExt cx="4851796" cy="635688"/>
          </a:xfrm>
        </p:grpSpPr>
        <p:sp>
          <p:nvSpPr>
            <p:cNvPr id="19" name="Divisa 18"/>
            <p:cNvSpPr/>
            <p:nvPr/>
          </p:nvSpPr>
          <p:spPr>
            <a:xfrm>
              <a:off x="3508667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Iniciação</a:t>
              </a:r>
            </a:p>
          </p:txBody>
        </p:sp>
        <p:sp>
          <p:nvSpPr>
            <p:cNvPr id="20" name="Divisa 19"/>
            <p:cNvSpPr/>
            <p:nvPr/>
          </p:nvSpPr>
          <p:spPr>
            <a:xfrm>
              <a:off x="4721616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Planejamento</a:t>
              </a:r>
            </a:p>
          </p:txBody>
        </p:sp>
        <p:sp>
          <p:nvSpPr>
            <p:cNvPr id="21" name="Divisa 20"/>
            <p:cNvSpPr/>
            <p:nvPr/>
          </p:nvSpPr>
          <p:spPr>
            <a:xfrm>
              <a:off x="5934565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Execução</a:t>
              </a:r>
            </a:p>
          </p:txBody>
        </p:sp>
        <p:sp>
          <p:nvSpPr>
            <p:cNvPr id="22" name="Divisa 21"/>
            <p:cNvSpPr/>
            <p:nvPr/>
          </p:nvSpPr>
          <p:spPr>
            <a:xfrm>
              <a:off x="7147514" y="4225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Encerramento</a:t>
              </a:r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5247422" y="4553087"/>
              <a:ext cx="167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Projetos</a:t>
              </a:r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6344468" y="1168005"/>
            <a:ext cx="1927292" cy="3104828"/>
            <a:chOff x="6225745" y="1111361"/>
            <a:chExt cx="1927292" cy="3104828"/>
          </a:xfrm>
        </p:grpSpPr>
        <p:sp>
          <p:nvSpPr>
            <p:cNvPr id="25" name="CaixaDeTexto 24"/>
            <p:cNvSpPr txBox="1"/>
            <p:nvPr/>
          </p:nvSpPr>
          <p:spPr>
            <a:xfrm>
              <a:off x="6225745" y="1111361"/>
              <a:ext cx="1927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aphicFrame>
          <p:nvGraphicFramePr>
            <p:cNvPr id="26" name="Diagrama 25"/>
            <p:cNvGraphicFramePr/>
            <p:nvPr>
              <p:extLst>
                <p:ext uri="{D42A27DB-BD31-4B8C-83A1-F6EECF244321}">
                  <p14:modId xmlns:p14="http://schemas.microsoft.com/office/powerpoint/2010/main" val="1391695476"/>
                </p:ext>
              </p:extLst>
            </p:nvPr>
          </p:nvGraphicFramePr>
          <p:xfrm>
            <a:off x="6468233" y="1503266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27" name="Divisa 26"/>
            <p:cNvSpPr/>
            <p:nvPr/>
          </p:nvSpPr>
          <p:spPr>
            <a:xfrm rot="17864150">
              <a:off x="6277815" y="3497493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Abre GMUD</a:t>
              </a:r>
            </a:p>
          </p:txBody>
        </p:sp>
      </p:grpSp>
      <p:sp>
        <p:nvSpPr>
          <p:cNvPr id="29" name="Fluxograma: Operação Manual 28"/>
          <p:cNvSpPr/>
          <p:nvPr/>
        </p:nvSpPr>
        <p:spPr>
          <a:xfrm>
            <a:off x="464629" y="4155031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581883" y="1168005"/>
            <a:ext cx="2263043" cy="2781639"/>
            <a:chOff x="581883" y="1168005"/>
            <a:chExt cx="2263043" cy="2781639"/>
          </a:xfrm>
        </p:grpSpPr>
        <p:graphicFrame>
          <p:nvGraphicFramePr>
            <p:cNvPr id="16" name="Diagrama 15"/>
            <p:cNvGraphicFramePr/>
            <p:nvPr>
              <p:extLst>
                <p:ext uri="{D42A27DB-BD31-4B8C-83A1-F6EECF244321}">
                  <p14:modId xmlns:p14="http://schemas.microsoft.com/office/powerpoint/2010/main" val="4112541409"/>
                </p:ext>
              </p:extLst>
            </p:nvPr>
          </p:nvGraphicFramePr>
          <p:xfrm>
            <a:off x="581883" y="1168005"/>
            <a:ext cx="2263043" cy="25046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sp>
          <p:nvSpPr>
            <p:cNvPr id="30" name="Seta para Baixo 29"/>
            <p:cNvSpPr/>
            <p:nvPr/>
          </p:nvSpPr>
          <p:spPr>
            <a:xfrm rot="2039608">
              <a:off x="1086066" y="3785351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1" name="Triângulo Retângulo 30"/>
          <p:cNvSpPr/>
          <p:nvPr/>
        </p:nvSpPr>
        <p:spPr>
          <a:xfrm rot="10800000">
            <a:off x="245598" y="634757"/>
            <a:ext cx="8514839" cy="4486235"/>
          </a:xfrm>
          <a:prstGeom prst="rtTriangle">
            <a:avLst/>
          </a:prstGeom>
          <a:solidFill>
            <a:schemeClr val="accent1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riângulo Retângulo 31"/>
          <p:cNvSpPr/>
          <p:nvPr/>
        </p:nvSpPr>
        <p:spPr>
          <a:xfrm>
            <a:off x="245598" y="616510"/>
            <a:ext cx="8514839" cy="4486235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/>
          <p:cNvGrpSpPr/>
          <p:nvPr/>
        </p:nvGrpSpPr>
        <p:grpSpPr>
          <a:xfrm>
            <a:off x="2813532" y="2417396"/>
            <a:ext cx="3530936" cy="926725"/>
            <a:chOff x="2813532" y="2360752"/>
            <a:chExt cx="3530936" cy="926725"/>
          </a:xfrm>
        </p:grpSpPr>
        <p:sp>
          <p:nvSpPr>
            <p:cNvPr id="34" name="CaixaDeTexto 33"/>
            <p:cNvSpPr txBox="1"/>
            <p:nvPr/>
          </p:nvSpPr>
          <p:spPr>
            <a:xfrm>
              <a:off x="2813532" y="2639448"/>
              <a:ext cx="353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accent5">
                      <a:lumMod val="75000"/>
                    </a:schemeClr>
                  </a:solidFill>
                </a:rPr>
                <a:t>PROJETOS            MUDANÇAS</a:t>
              </a:r>
            </a:p>
          </p:txBody>
        </p:sp>
        <p:pic>
          <p:nvPicPr>
            <p:cNvPr id="35" name="Imagem 34"/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1336" y="2360752"/>
              <a:ext cx="463364" cy="92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25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Transition to Run – T2R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4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331386" y="1015547"/>
            <a:ext cx="8473947" cy="163859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de vida de uma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por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 negócio até as atualizações em componentes tecnológicos pelas equipes de TI até sua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habilidades e técnicas de gerenciamento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grpSp>
        <p:nvGrpSpPr>
          <p:cNvPr id="12" name="Agrupar 11"/>
          <p:cNvGrpSpPr/>
          <p:nvPr/>
        </p:nvGrpSpPr>
        <p:grpSpPr>
          <a:xfrm>
            <a:off x="38100" y="2835860"/>
            <a:ext cx="8976360" cy="2145801"/>
            <a:chOff x="320039" y="1026318"/>
            <a:chExt cx="10560966" cy="2524602"/>
          </a:xfrm>
        </p:grpSpPr>
        <p:cxnSp>
          <p:nvCxnSpPr>
            <p:cNvPr id="13" name="Conector reto 12"/>
            <p:cNvCxnSpPr/>
            <p:nvPr/>
          </p:nvCxnSpPr>
          <p:spPr>
            <a:xfrm>
              <a:off x="1771763" y="1272540"/>
              <a:ext cx="0" cy="215646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>
              <a:off x="3217488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>
            <a:xfrm>
              <a:off x="4647976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>
              <a:off x="6093699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>
              <a:off x="7533422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>
              <a:off x="8979147" y="1272540"/>
              <a:ext cx="0" cy="144780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Seta para a Direita 18"/>
            <p:cNvSpPr/>
            <p:nvPr/>
          </p:nvSpPr>
          <p:spPr>
            <a:xfrm>
              <a:off x="320040" y="1237303"/>
              <a:ext cx="7157285" cy="78095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Seta para a Direita 19"/>
            <p:cNvSpPr/>
            <p:nvPr/>
          </p:nvSpPr>
          <p:spPr>
            <a:xfrm>
              <a:off x="7589520" y="1237303"/>
              <a:ext cx="1339528" cy="78095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 para a Direita 20"/>
            <p:cNvSpPr/>
            <p:nvPr/>
          </p:nvSpPr>
          <p:spPr>
            <a:xfrm>
              <a:off x="9029247" y="1237303"/>
              <a:ext cx="1339528" cy="78095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Seta para a Direita 21"/>
            <p:cNvSpPr/>
            <p:nvPr/>
          </p:nvSpPr>
          <p:spPr>
            <a:xfrm>
              <a:off x="4647974" y="1897380"/>
              <a:ext cx="4572225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Transição</a:t>
              </a:r>
            </a:p>
          </p:txBody>
        </p:sp>
        <p:sp>
          <p:nvSpPr>
            <p:cNvPr id="23" name="Seta para a Direita 22"/>
            <p:cNvSpPr/>
            <p:nvPr/>
          </p:nvSpPr>
          <p:spPr>
            <a:xfrm>
              <a:off x="320040" y="1310640"/>
              <a:ext cx="1451723" cy="388620"/>
            </a:xfrm>
            <a:prstGeom prst="rightArrow">
              <a:avLst>
                <a:gd name="adj1" fmla="val 50000"/>
                <a:gd name="adj2" fmla="val 97059"/>
              </a:avLst>
            </a:prstGeom>
            <a:solidFill>
              <a:srgbClr val="CCCC00">
                <a:alpha val="50196"/>
              </a:srgbClr>
            </a:solidFill>
            <a:ln>
              <a:solidFill>
                <a:srgbClr val="9966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Estratégia</a:t>
              </a:r>
            </a:p>
          </p:txBody>
        </p:sp>
        <p:sp>
          <p:nvSpPr>
            <p:cNvPr id="24" name="Seta para a Direita 23"/>
            <p:cNvSpPr/>
            <p:nvPr/>
          </p:nvSpPr>
          <p:spPr>
            <a:xfrm>
              <a:off x="1402080" y="1653540"/>
              <a:ext cx="3245895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rgbClr val="FFD0B9"/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Desenho</a:t>
              </a:r>
            </a:p>
          </p:txBody>
        </p:sp>
        <p:sp>
          <p:nvSpPr>
            <p:cNvPr id="25" name="Seta para a Direita 24"/>
            <p:cNvSpPr/>
            <p:nvPr/>
          </p:nvSpPr>
          <p:spPr>
            <a:xfrm>
              <a:off x="320040" y="2270760"/>
              <a:ext cx="7213381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r>
                <a:rPr lang="pt-BR" sz="1200" dirty="0">
                  <a:solidFill>
                    <a:schemeClr val="tx1"/>
                  </a:solidFill>
                </a:rPr>
                <a:t>Envolvimento de transição e operação</a:t>
              </a:r>
            </a:p>
          </p:txBody>
        </p:sp>
        <p:sp>
          <p:nvSpPr>
            <p:cNvPr id="26" name="Seta para a Direita 25"/>
            <p:cNvSpPr/>
            <p:nvPr/>
          </p:nvSpPr>
          <p:spPr>
            <a:xfrm>
              <a:off x="8985140" y="1508760"/>
              <a:ext cx="1560939" cy="388620"/>
            </a:xfrm>
            <a:prstGeom prst="rightArrow">
              <a:avLst>
                <a:gd name="adj1" fmla="val 50000"/>
                <a:gd name="adj2" fmla="val 100980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Melhoria</a:t>
              </a:r>
            </a:p>
          </p:txBody>
        </p:sp>
        <p:sp>
          <p:nvSpPr>
            <p:cNvPr id="27" name="Seta para a Direita 26"/>
            <p:cNvSpPr/>
            <p:nvPr/>
          </p:nvSpPr>
          <p:spPr>
            <a:xfrm>
              <a:off x="320040" y="2481256"/>
              <a:ext cx="10492740" cy="1069664"/>
            </a:xfrm>
            <a:prstGeom prst="rightArrow">
              <a:avLst>
                <a:gd name="adj1" fmla="val 63066"/>
                <a:gd name="adj2" fmla="val 100980"/>
              </a:avLst>
            </a:prstGeom>
            <a:solidFill>
              <a:srgbClr val="FFC2A3">
                <a:alpha val="30196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1882775" algn="l"/>
                </a:tabLst>
              </a:pPr>
              <a:endParaRPr lang="pt-B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Seta para a Direita 27"/>
            <p:cNvSpPr/>
            <p:nvPr/>
          </p:nvSpPr>
          <p:spPr>
            <a:xfrm>
              <a:off x="7577524" y="2270760"/>
              <a:ext cx="2968555" cy="388620"/>
            </a:xfrm>
            <a:prstGeom prst="rightArrow">
              <a:avLst>
                <a:gd name="adj1" fmla="val 50000"/>
                <a:gd name="adj2" fmla="val 97059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Operação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 flipH="1">
              <a:off x="320040" y="2661509"/>
              <a:ext cx="5767657" cy="28968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pt-BR" sz="1000" b="1" dirty="0"/>
                <a:t>Gerenciamento de Mudanças</a:t>
              </a:r>
            </a:p>
          </p:txBody>
        </p:sp>
        <p:sp>
          <p:nvSpPr>
            <p:cNvPr id="30" name="CaixaDeTexto 29"/>
            <p:cNvSpPr txBox="1"/>
            <p:nvPr/>
          </p:nvSpPr>
          <p:spPr>
            <a:xfrm flipH="1">
              <a:off x="477985" y="2957986"/>
              <a:ext cx="1205168" cy="289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 err="1"/>
                <a:t>Gmud</a:t>
              </a:r>
              <a:r>
                <a:rPr lang="pt-BR" sz="1000" dirty="0"/>
                <a:t> Liberada</a:t>
              </a:r>
            </a:p>
          </p:txBody>
        </p:sp>
        <p:sp>
          <p:nvSpPr>
            <p:cNvPr id="31" name="CaixaDeTexto 30"/>
            <p:cNvSpPr txBox="1"/>
            <p:nvPr/>
          </p:nvSpPr>
          <p:spPr>
            <a:xfrm flipH="1">
              <a:off x="1716038" y="2873274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Desenho</a:t>
              </a:r>
            </a:p>
          </p:txBody>
        </p:sp>
        <p:sp>
          <p:nvSpPr>
            <p:cNvPr id="32" name="CaixaDeTexto 31"/>
            <p:cNvSpPr txBox="1"/>
            <p:nvPr/>
          </p:nvSpPr>
          <p:spPr>
            <a:xfrm flipH="1">
              <a:off x="2984551" y="278168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Desenvolvimento</a:t>
              </a:r>
            </a:p>
          </p:txBody>
        </p:sp>
        <p:sp>
          <p:nvSpPr>
            <p:cNvPr id="33" name="CaixaDeTexto 32"/>
            <p:cNvSpPr txBox="1"/>
            <p:nvPr/>
          </p:nvSpPr>
          <p:spPr>
            <a:xfrm flipH="1">
              <a:off x="4382179" y="2790111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Construção e Teste</a:t>
              </a:r>
            </a:p>
          </p:txBody>
        </p:sp>
        <p:sp>
          <p:nvSpPr>
            <p:cNvPr id="34" name="CaixaDeTexto 33"/>
            <p:cNvSpPr txBox="1"/>
            <p:nvPr/>
          </p:nvSpPr>
          <p:spPr>
            <a:xfrm flipH="1">
              <a:off x="5826284" y="279198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Implementação</a:t>
              </a:r>
            </a:p>
          </p:txBody>
        </p:sp>
        <p:sp>
          <p:nvSpPr>
            <p:cNvPr id="35" name="CaixaDeTexto 34"/>
            <p:cNvSpPr txBox="1"/>
            <p:nvPr/>
          </p:nvSpPr>
          <p:spPr>
            <a:xfrm flipH="1">
              <a:off x="7057855" y="2790111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Piloto de SLA</a:t>
              </a:r>
            </a:p>
          </p:txBody>
        </p:sp>
        <p:sp>
          <p:nvSpPr>
            <p:cNvPr id="36" name="CaixaDeTexto 35"/>
            <p:cNvSpPr txBox="1"/>
            <p:nvPr/>
          </p:nvSpPr>
          <p:spPr>
            <a:xfrm flipH="1">
              <a:off x="8289426" y="279198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Autorizada para Aceitação</a:t>
              </a:r>
            </a:p>
          </p:txBody>
        </p:sp>
        <p:sp>
          <p:nvSpPr>
            <p:cNvPr id="37" name="CaixaDeTexto 36"/>
            <p:cNvSpPr txBox="1"/>
            <p:nvPr/>
          </p:nvSpPr>
          <p:spPr>
            <a:xfrm flipH="1">
              <a:off x="9442901" y="2787246"/>
              <a:ext cx="1438104" cy="470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Revisão e Encerramento</a:t>
              </a:r>
            </a:p>
          </p:txBody>
        </p:sp>
        <p:sp>
          <p:nvSpPr>
            <p:cNvPr id="38" name="CaixaDeTexto 37"/>
            <p:cNvSpPr txBox="1"/>
            <p:nvPr/>
          </p:nvSpPr>
          <p:spPr>
            <a:xfrm flipH="1">
              <a:off x="9079347" y="1042047"/>
              <a:ext cx="1169553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Operação assistida</a:t>
              </a:r>
            </a:p>
          </p:txBody>
        </p:sp>
        <p:sp>
          <p:nvSpPr>
            <p:cNvPr id="39" name="CaixaDeTexto 38"/>
            <p:cNvSpPr txBox="1"/>
            <p:nvPr/>
          </p:nvSpPr>
          <p:spPr>
            <a:xfrm flipH="1">
              <a:off x="7458840" y="1042047"/>
              <a:ext cx="1669919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Início do Período de Suporte</a:t>
              </a:r>
            </a:p>
          </p:txBody>
        </p:sp>
        <p:sp>
          <p:nvSpPr>
            <p:cNvPr id="40" name="CaixaDeTexto 39"/>
            <p:cNvSpPr txBox="1"/>
            <p:nvPr/>
          </p:nvSpPr>
          <p:spPr>
            <a:xfrm flipH="1">
              <a:off x="320039" y="1026318"/>
              <a:ext cx="7207384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/>
                <a:t>Desenho e Desenvolvimento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226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T2R - Visão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5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1362117" y="3775487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>
              <p:ext uri="{D42A27DB-BD31-4B8C-83A1-F6EECF244321}">
                <p14:modId xmlns:p14="http://schemas.microsoft.com/office/powerpoint/2010/main" val="2677466656"/>
              </p:ext>
            </p:extLst>
          </p:nvPr>
        </p:nvGraphicFramePr>
        <p:xfrm>
          <a:off x="1280081" y="3387760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9" name="Fluxograma: Operação Manual 28"/>
          <p:cNvSpPr/>
          <p:nvPr/>
        </p:nvSpPr>
        <p:spPr>
          <a:xfrm>
            <a:off x="84954" y="4161300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14336" name="Agrupar 14335"/>
          <p:cNvGrpSpPr/>
          <p:nvPr/>
        </p:nvGrpSpPr>
        <p:grpSpPr>
          <a:xfrm>
            <a:off x="-33878" y="1043488"/>
            <a:ext cx="2263043" cy="2894323"/>
            <a:chOff x="-33878" y="1043488"/>
            <a:chExt cx="2263043" cy="2894323"/>
          </a:xfrm>
        </p:grpSpPr>
        <p:sp>
          <p:nvSpPr>
            <p:cNvPr id="17" name="CaixaDeTexto 16"/>
            <p:cNvSpPr txBox="1"/>
            <p:nvPr/>
          </p:nvSpPr>
          <p:spPr>
            <a:xfrm>
              <a:off x="217553" y="1043488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56" name="Agrupar 55"/>
            <p:cNvGrpSpPr/>
            <p:nvPr/>
          </p:nvGrpSpPr>
          <p:grpSpPr>
            <a:xfrm>
              <a:off x="-33878" y="1043490"/>
              <a:ext cx="2263043" cy="2894321"/>
              <a:chOff x="-33878" y="1043490"/>
              <a:chExt cx="2263043" cy="2894321"/>
            </a:xfrm>
            <a:noFill/>
          </p:grpSpPr>
          <p:graphicFrame>
            <p:nvGraphicFramePr>
              <p:cNvPr id="16" name="Diagrama 15"/>
              <p:cNvGraphicFramePr/>
              <p:nvPr>
                <p:extLst>
                  <p:ext uri="{D42A27DB-BD31-4B8C-83A1-F6EECF244321}">
                    <p14:modId xmlns:p14="http://schemas.microsoft.com/office/powerpoint/2010/main" val="1411755846"/>
                  </p:ext>
                </p:extLst>
              </p:nvPr>
            </p:nvGraphicFramePr>
            <p:xfrm>
              <a:off x="-33878" y="1043490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  <p:sp>
            <p:nvSpPr>
              <p:cNvPr id="30" name="Seta para Baixo 29"/>
              <p:cNvSpPr/>
              <p:nvPr/>
            </p:nvSpPr>
            <p:spPr>
              <a:xfrm rot="2039608">
                <a:off x="487553" y="377351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  <p:graphicFrame>
        <p:nvGraphicFramePr>
          <p:cNvPr id="26" name="Diagrama 25"/>
          <p:cNvGraphicFramePr/>
          <p:nvPr>
            <p:extLst>
              <p:ext uri="{D42A27DB-BD31-4B8C-83A1-F6EECF244321}">
                <p14:modId xmlns:p14="http://schemas.microsoft.com/office/powerpoint/2010/main" val="1032659477"/>
              </p:ext>
            </p:extLst>
          </p:nvPr>
        </p:nvGraphicFramePr>
        <p:xfrm>
          <a:off x="2176371" y="2017039"/>
          <a:ext cx="1442317" cy="1349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36" name="Seta para Baixo 35"/>
          <p:cNvSpPr/>
          <p:nvPr/>
        </p:nvSpPr>
        <p:spPr>
          <a:xfrm rot="12341683">
            <a:off x="2621040" y="3519515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CaixaDeTexto 42"/>
          <p:cNvSpPr txBox="1"/>
          <p:nvPr/>
        </p:nvSpPr>
        <p:spPr>
          <a:xfrm>
            <a:off x="3225735" y="1038833"/>
            <a:ext cx="2038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</a:rPr>
              <a:t>Gestão de Mudanças</a:t>
            </a:r>
          </a:p>
        </p:txBody>
      </p:sp>
      <p:grpSp>
        <p:nvGrpSpPr>
          <p:cNvPr id="59" name="Agrupar 58"/>
          <p:cNvGrpSpPr/>
          <p:nvPr/>
        </p:nvGrpSpPr>
        <p:grpSpPr>
          <a:xfrm>
            <a:off x="5556884" y="846548"/>
            <a:ext cx="2335535" cy="1151906"/>
            <a:chOff x="6250304" y="884648"/>
            <a:chExt cx="2335535" cy="1151906"/>
          </a:xfrm>
        </p:grpSpPr>
        <p:sp>
          <p:nvSpPr>
            <p:cNvPr id="41" name="CaixaDeTexto 40"/>
            <p:cNvSpPr txBox="1"/>
            <p:nvPr/>
          </p:nvSpPr>
          <p:spPr>
            <a:xfrm>
              <a:off x="6250304" y="1140909"/>
              <a:ext cx="12654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6">
                      <a:lumMod val="75000"/>
                    </a:schemeClr>
                  </a:solidFill>
                </a:rPr>
                <a:t>Mudança Menor</a:t>
              </a:r>
            </a:p>
          </p:txBody>
        </p:sp>
        <p:grpSp>
          <p:nvGrpSpPr>
            <p:cNvPr id="46" name="Agrupar 45"/>
            <p:cNvGrpSpPr/>
            <p:nvPr/>
          </p:nvGrpSpPr>
          <p:grpSpPr>
            <a:xfrm>
              <a:off x="7557040" y="884648"/>
              <a:ext cx="1028799" cy="1151906"/>
              <a:chOff x="7357235" y="928289"/>
              <a:chExt cx="1028799" cy="1151906"/>
            </a:xfrm>
          </p:grpSpPr>
          <p:pic>
            <p:nvPicPr>
              <p:cNvPr id="14344" name="Picture 8" descr="https://cdn3.iconfinder.com/data/icons/seo-accessibility-usability-2-1/256/Flow_Diagram-512.png"/>
              <p:cNvPicPr>
                <a:picLocks noChangeAspect="1" noChangeArrowheads="1"/>
              </p:cNvPicPr>
              <p:nvPr/>
            </p:nvPicPr>
            <p:blipFill>
              <a:blip r:embed="rId19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68" y="928289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CaixaDeTexto 50"/>
              <p:cNvSpPr txBox="1"/>
              <p:nvPr/>
            </p:nvSpPr>
            <p:spPr>
              <a:xfrm>
                <a:off x="7357235" y="1773813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Workflow</a:t>
                </a:r>
              </a:p>
            </p:txBody>
          </p:sp>
        </p:grpSp>
      </p:grpSp>
      <p:grpSp>
        <p:nvGrpSpPr>
          <p:cNvPr id="60" name="Agrupar 59"/>
          <p:cNvGrpSpPr/>
          <p:nvPr/>
        </p:nvGrpSpPr>
        <p:grpSpPr>
          <a:xfrm>
            <a:off x="5409272" y="2282489"/>
            <a:ext cx="2490692" cy="1022005"/>
            <a:chOff x="6102692" y="2320589"/>
            <a:chExt cx="2490692" cy="1022005"/>
          </a:xfrm>
        </p:grpSpPr>
        <p:sp>
          <p:nvSpPr>
            <p:cNvPr id="42" name="CaixaDeTexto 41"/>
            <p:cNvSpPr txBox="1"/>
            <p:nvPr/>
          </p:nvSpPr>
          <p:spPr>
            <a:xfrm>
              <a:off x="6102692" y="2539205"/>
              <a:ext cx="1586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4">
                      <a:lumMod val="75000"/>
                    </a:schemeClr>
                  </a:solidFill>
                </a:rPr>
                <a:t>Mudança Significativa</a:t>
              </a:r>
            </a:p>
          </p:txBody>
        </p:sp>
        <p:grpSp>
          <p:nvGrpSpPr>
            <p:cNvPr id="47" name="Agrupar 46"/>
            <p:cNvGrpSpPr/>
            <p:nvPr/>
          </p:nvGrpSpPr>
          <p:grpSpPr>
            <a:xfrm>
              <a:off x="7564585" y="2320589"/>
              <a:ext cx="1028799" cy="1022005"/>
              <a:chOff x="7357235" y="2355115"/>
              <a:chExt cx="1028799" cy="1022005"/>
            </a:xfrm>
          </p:grpSpPr>
          <p:pic>
            <p:nvPicPr>
              <p:cNvPr id="14340" name="Picture 4" descr="http://www.ecoleduparc.fr/A21/images/icones/icon_6219_512px.png"/>
              <p:cNvPicPr>
                <a:picLocks noChangeAspect="1" noChangeArrowheads="1"/>
              </p:cNvPicPr>
              <p:nvPr/>
            </p:nvPicPr>
            <p:blipFill>
              <a:blip r:embed="rId20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70" y="2355115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3" name="CaixaDeTexto 52"/>
              <p:cNvSpPr txBox="1"/>
              <p:nvPr/>
            </p:nvSpPr>
            <p:spPr>
              <a:xfrm>
                <a:off x="7357235" y="3070738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4">
                        <a:lumMod val="75000"/>
                      </a:schemeClr>
                    </a:solidFill>
                  </a:rPr>
                  <a:t>Comitê</a:t>
                </a:r>
              </a:p>
            </p:txBody>
          </p:sp>
        </p:grpSp>
      </p:grpSp>
      <p:grpSp>
        <p:nvGrpSpPr>
          <p:cNvPr id="61" name="Agrupar 60"/>
          <p:cNvGrpSpPr/>
          <p:nvPr/>
        </p:nvGrpSpPr>
        <p:grpSpPr>
          <a:xfrm>
            <a:off x="5506135" y="3756711"/>
            <a:ext cx="2827112" cy="1300117"/>
            <a:chOff x="6199555" y="3794811"/>
            <a:chExt cx="2827112" cy="1300117"/>
          </a:xfrm>
        </p:grpSpPr>
        <p:sp>
          <p:nvSpPr>
            <p:cNvPr id="23" name="CaixaDeTexto 22"/>
            <p:cNvSpPr txBox="1"/>
            <p:nvPr/>
          </p:nvSpPr>
          <p:spPr>
            <a:xfrm>
              <a:off x="6199555" y="3996399"/>
              <a:ext cx="13766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rgbClr val="C00000"/>
                  </a:solidFill>
                </a:rPr>
                <a:t>Mudança Maior</a:t>
              </a:r>
            </a:p>
          </p:txBody>
        </p:sp>
        <p:grpSp>
          <p:nvGrpSpPr>
            <p:cNvPr id="48" name="Agrupar 47"/>
            <p:cNvGrpSpPr/>
            <p:nvPr/>
          </p:nvGrpSpPr>
          <p:grpSpPr>
            <a:xfrm>
              <a:off x="7131301" y="3794811"/>
              <a:ext cx="1895366" cy="1300117"/>
              <a:chOff x="7016219" y="3737300"/>
              <a:chExt cx="1895366" cy="1300117"/>
            </a:xfrm>
          </p:grpSpPr>
          <p:pic>
            <p:nvPicPr>
              <p:cNvPr id="14346" name="Picture 10" descr="https://upload.wikimedia.org/wikipedia/commons/thumb/a/a3/HEB_project_flow_icon_02_charts_and_calendar.svg/1024px-HEB_project_flow_icon_02_charts_and_calendar.svg.png"/>
              <p:cNvPicPr>
                <a:picLocks noChangeAspect="1" noChangeArrowheads="1"/>
              </p:cNvPicPr>
              <p:nvPr/>
            </p:nvPicPr>
            <p:blipFill>
              <a:blip r:embed="rId21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782" y="3737300"/>
                <a:ext cx="990240" cy="9902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CaixaDeTexto 54"/>
              <p:cNvSpPr txBox="1"/>
              <p:nvPr/>
            </p:nvSpPr>
            <p:spPr>
              <a:xfrm>
                <a:off x="7016219" y="4698863"/>
                <a:ext cx="18953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Gestão de Projetos</a:t>
                </a:r>
              </a:p>
            </p:txBody>
          </p:sp>
        </p:grpSp>
      </p:grpSp>
      <p:grpSp>
        <p:nvGrpSpPr>
          <p:cNvPr id="58" name="Agrupar 57"/>
          <p:cNvGrpSpPr/>
          <p:nvPr/>
        </p:nvGrpSpPr>
        <p:grpSpPr>
          <a:xfrm>
            <a:off x="4865706" y="1287776"/>
            <a:ext cx="613659" cy="3091011"/>
            <a:chOff x="5559126" y="1325876"/>
            <a:chExt cx="613659" cy="3091011"/>
          </a:xfrm>
        </p:grpSpPr>
        <p:sp>
          <p:nvSpPr>
            <p:cNvPr id="5" name="Seta Dobrada 4"/>
            <p:cNvSpPr/>
            <p:nvPr/>
          </p:nvSpPr>
          <p:spPr>
            <a:xfrm>
              <a:off x="5559126" y="1325876"/>
              <a:ext cx="537826" cy="883998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Seta Dobrada 37"/>
            <p:cNvSpPr/>
            <p:nvPr/>
          </p:nvSpPr>
          <p:spPr>
            <a:xfrm flipV="1">
              <a:off x="5559126" y="3514822"/>
              <a:ext cx="537826" cy="902065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rgbClr val="C0000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Seta para a Direita 51"/>
            <p:cNvSpPr/>
            <p:nvPr/>
          </p:nvSpPr>
          <p:spPr>
            <a:xfrm>
              <a:off x="5559126" y="2709031"/>
              <a:ext cx="613659" cy="267305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4" name="Retângulo Arredondado 53"/>
          <p:cNvSpPr/>
          <p:nvPr/>
        </p:nvSpPr>
        <p:spPr>
          <a:xfrm>
            <a:off x="3734663" y="2528603"/>
            <a:ext cx="1015068" cy="557277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CRITÉRIOS OBJETVOS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7957925" y="846548"/>
            <a:ext cx="792754" cy="4132622"/>
            <a:chOff x="7957925" y="846548"/>
            <a:chExt cx="792754" cy="4132622"/>
          </a:xfrm>
        </p:grpSpPr>
        <p:sp>
          <p:nvSpPr>
            <p:cNvPr id="39" name="Retângulo Arredondado 38"/>
            <p:cNvSpPr/>
            <p:nvPr/>
          </p:nvSpPr>
          <p:spPr>
            <a:xfrm>
              <a:off x="8362123" y="846548"/>
              <a:ext cx="388556" cy="413262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REVISÃO PÓS-IMPLEMENTAÇÃO</a:t>
              </a:r>
            </a:p>
          </p:txBody>
        </p:sp>
        <p:sp>
          <p:nvSpPr>
            <p:cNvPr id="44" name="Seta para Baixo 43"/>
            <p:cNvSpPr/>
            <p:nvPr/>
          </p:nvSpPr>
          <p:spPr>
            <a:xfrm rot="17535232">
              <a:off x="7927374" y="1819709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5" name="Seta para Baixo 44"/>
            <p:cNvSpPr/>
            <p:nvPr/>
          </p:nvSpPr>
          <p:spPr>
            <a:xfrm rot="13912365">
              <a:off x="7927374" y="3726888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9" name="Seta para Baixo 48"/>
            <p:cNvSpPr/>
            <p:nvPr/>
          </p:nvSpPr>
          <p:spPr>
            <a:xfrm rot="16200000">
              <a:off x="7945574" y="279080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74405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5834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Esboço de </a:t>
            </a:r>
            <a:r>
              <a:rPr lang="pt-BR" sz="2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as-is</a:t>
            </a:r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Projetos X Mudanças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14" name="Conector reto 13"/>
          <p:cNvCxnSpPr/>
          <p:nvPr/>
        </p:nvCxnSpPr>
        <p:spPr>
          <a:xfrm flipV="1">
            <a:off x="0" y="2916383"/>
            <a:ext cx="9144000" cy="1385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51075" y="691951"/>
            <a:ext cx="1929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chemeClr val="bg1">
                    <a:lumMod val="50000"/>
                  </a:schemeClr>
                </a:solidFill>
              </a:rPr>
              <a:t>Gerenciamento de Projetos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51075" y="2985171"/>
            <a:ext cx="2059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Gerenciamento de Mudanças</a:t>
            </a: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542" y="1392323"/>
            <a:ext cx="716815" cy="716815"/>
          </a:xfrm>
          <a:prstGeom prst="rect">
            <a:avLst/>
          </a:prstGeom>
        </p:spPr>
      </p:pic>
      <p:grpSp>
        <p:nvGrpSpPr>
          <p:cNvPr id="30" name="Agrupar 29"/>
          <p:cNvGrpSpPr/>
          <p:nvPr/>
        </p:nvGrpSpPr>
        <p:grpSpPr>
          <a:xfrm>
            <a:off x="187600" y="913232"/>
            <a:ext cx="8686951" cy="2034045"/>
            <a:chOff x="187600" y="913232"/>
            <a:chExt cx="8686951" cy="2034045"/>
          </a:xfrm>
        </p:grpSpPr>
        <p:grpSp>
          <p:nvGrpSpPr>
            <p:cNvPr id="95" name="Agrupar 94"/>
            <p:cNvGrpSpPr/>
            <p:nvPr/>
          </p:nvGrpSpPr>
          <p:grpSpPr>
            <a:xfrm>
              <a:off x="6405601" y="931754"/>
              <a:ext cx="1408257" cy="1890214"/>
              <a:chOff x="992331" y="925224"/>
              <a:chExt cx="1408257" cy="1890214"/>
            </a:xfrm>
          </p:grpSpPr>
          <p:sp>
            <p:nvSpPr>
              <p:cNvPr id="96" name="Retângulo 95"/>
              <p:cNvSpPr/>
              <p:nvPr/>
            </p:nvSpPr>
            <p:spPr>
              <a:xfrm>
                <a:off x="992331" y="925224"/>
                <a:ext cx="14082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Alexandre Anjos</a:t>
                </a:r>
              </a:p>
              <a:p>
                <a:pPr algn="ctr"/>
                <a:r>
                  <a:rPr lang="pt-BR" sz="1200" dirty="0"/>
                  <a:t>Gestor de Filas</a:t>
                </a:r>
              </a:p>
            </p:txBody>
          </p:sp>
          <p:sp>
            <p:nvSpPr>
              <p:cNvPr id="98" name="CaixaDeTexto 97"/>
              <p:cNvSpPr txBox="1"/>
              <p:nvPr/>
            </p:nvSpPr>
            <p:spPr>
              <a:xfrm>
                <a:off x="1124105" y="2107552"/>
                <a:ext cx="11298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Insere projeto na fila do executante conforme prioridade </a:t>
                </a:r>
              </a:p>
            </p:txBody>
          </p:sp>
        </p:grpSp>
        <p:grpSp>
          <p:nvGrpSpPr>
            <p:cNvPr id="4" name="Agrupar 3"/>
            <p:cNvGrpSpPr/>
            <p:nvPr/>
          </p:nvGrpSpPr>
          <p:grpSpPr>
            <a:xfrm>
              <a:off x="187600" y="1134605"/>
              <a:ext cx="894943" cy="1611166"/>
              <a:chOff x="187600" y="961425"/>
              <a:chExt cx="894943" cy="1611166"/>
            </a:xfrm>
          </p:grpSpPr>
          <p:pic>
            <p:nvPicPr>
              <p:cNvPr id="84" name="Imagem 8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519" y="1262073"/>
                <a:ext cx="602673" cy="602673"/>
              </a:xfrm>
              <a:prstGeom prst="rect">
                <a:avLst/>
              </a:prstGeom>
            </p:spPr>
          </p:pic>
          <p:sp>
            <p:nvSpPr>
              <p:cNvPr id="85" name="CaixaDeTexto 84"/>
              <p:cNvSpPr txBox="1"/>
              <p:nvPr/>
            </p:nvSpPr>
            <p:spPr>
              <a:xfrm>
                <a:off x="187600" y="1864705"/>
                <a:ext cx="8949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Registra requisição de serviço no </a:t>
                </a:r>
                <a:r>
                  <a:rPr lang="pt-BR" sz="1000" dirty="0" err="1"/>
                  <a:t>TProcess</a:t>
                </a:r>
                <a:endParaRPr lang="pt-BR" sz="1000" dirty="0"/>
              </a:p>
            </p:txBody>
          </p:sp>
          <p:sp>
            <p:nvSpPr>
              <p:cNvPr id="86" name="Retângulo 85"/>
              <p:cNvSpPr/>
              <p:nvPr/>
            </p:nvSpPr>
            <p:spPr>
              <a:xfrm>
                <a:off x="273988" y="961425"/>
                <a:ext cx="72216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Usuário</a:t>
                </a:r>
              </a:p>
            </p:txBody>
          </p:sp>
        </p:grpSp>
        <p:grpSp>
          <p:nvGrpSpPr>
            <p:cNvPr id="6" name="Agrupar 5"/>
            <p:cNvGrpSpPr/>
            <p:nvPr/>
          </p:nvGrpSpPr>
          <p:grpSpPr>
            <a:xfrm>
              <a:off x="992331" y="980641"/>
              <a:ext cx="1408257" cy="1954050"/>
              <a:chOff x="992331" y="980641"/>
              <a:chExt cx="1408257" cy="1954050"/>
            </a:xfrm>
          </p:grpSpPr>
          <p:sp>
            <p:nvSpPr>
              <p:cNvPr id="67" name="Retângulo 66"/>
              <p:cNvSpPr/>
              <p:nvPr/>
            </p:nvSpPr>
            <p:spPr>
              <a:xfrm>
                <a:off x="992331" y="980641"/>
                <a:ext cx="14082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Bruno Guerra</a:t>
                </a:r>
              </a:p>
              <a:p>
                <a:pPr algn="ctr"/>
                <a:r>
                  <a:rPr lang="pt-BR" sz="1200" dirty="0"/>
                  <a:t>Demandas</a:t>
                </a:r>
              </a:p>
            </p:txBody>
          </p:sp>
          <p:pic>
            <p:nvPicPr>
              <p:cNvPr id="2" name="Imagem 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1742" y="1425379"/>
                <a:ext cx="629434" cy="629434"/>
              </a:xfrm>
              <a:prstGeom prst="rect">
                <a:avLst/>
              </a:prstGeom>
            </p:spPr>
          </p:pic>
          <p:sp>
            <p:nvSpPr>
              <p:cNvPr id="69" name="CaixaDeTexto 68"/>
              <p:cNvSpPr txBox="1"/>
              <p:nvPr/>
            </p:nvSpPr>
            <p:spPr>
              <a:xfrm>
                <a:off x="1124102" y="2072917"/>
                <a:ext cx="112904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Decide entre Projeto ou Requisição com estimativa de Prazo e Custo</a:t>
                </a:r>
              </a:p>
            </p:txBody>
          </p:sp>
        </p:grpSp>
        <p:grpSp>
          <p:nvGrpSpPr>
            <p:cNvPr id="7" name="Agrupar 6"/>
            <p:cNvGrpSpPr/>
            <p:nvPr/>
          </p:nvGrpSpPr>
          <p:grpSpPr>
            <a:xfrm>
              <a:off x="2231797" y="1008225"/>
              <a:ext cx="1059271" cy="1686237"/>
              <a:chOff x="2245656" y="1008225"/>
              <a:chExt cx="1059271" cy="1686237"/>
            </a:xfrm>
          </p:grpSpPr>
          <p:sp>
            <p:nvSpPr>
              <p:cNvPr id="5" name="Retângulo 4"/>
              <p:cNvSpPr/>
              <p:nvPr/>
            </p:nvSpPr>
            <p:spPr>
              <a:xfrm>
                <a:off x="2245656" y="1008225"/>
                <a:ext cx="105927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Comitê de Priorização</a:t>
                </a:r>
              </a:p>
            </p:txBody>
          </p:sp>
          <p:pic>
            <p:nvPicPr>
              <p:cNvPr id="70" name="Imagem 6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8296" y="1425760"/>
                <a:ext cx="708681" cy="708681"/>
              </a:xfrm>
              <a:prstGeom prst="rect">
                <a:avLst/>
              </a:prstGeom>
            </p:spPr>
          </p:pic>
          <p:sp>
            <p:nvSpPr>
              <p:cNvPr id="87" name="CaixaDeTexto 86"/>
              <p:cNvSpPr txBox="1"/>
              <p:nvPr/>
            </p:nvSpPr>
            <p:spPr>
              <a:xfrm>
                <a:off x="2325565" y="2140464"/>
                <a:ext cx="8949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Decide priorizar ou não o Projeto</a:t>
                </a:r>
              </a:p>
            </p:txBody>
          </p:sp>
        </p:grpSp>
        <p:grpSp>
          <p:nvGrpSpPr>
            <p:cNvPr id="88" name="Agrupar 87"/>
            <p:cNvGrpSpPr/>
            <p:nvPr/>
          </p:nvGrpSpPr>
          <p:grpSpPr>
            <a:xfrm>
              <a:off x="4214745" y="978469"/>
              <a:ext cx="1408257" cy="1800162"/>
              <a:chOff x="992331" y="980641"/>
              <a:chExt cx="1408257" cy="1800162"/>
            </a:xfrm>
          </p:grpSpPr>
          <p:sp>
            <p:nvSpPr>
              <p:cNvPr id="89" name="Retângulo 88"/>
              <p:cNvSpPr/>
              <p:nvPr/>
            </p:nvSpPr>
            <p:spPr>
              <a:xfrm>
                <a:off x="992331" y="980641"/>
                <a:ext cx="14082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Bruno Guerra</a:t>
                </a:r>
              </a:p>
              <a:p>
                <a:pPr algn="ctr"/>
                <a:r>
                  <a:rPr lang="pt-BR" sz="1200" dirty="0"/>
                  <a:t>Demandas</a:t>
                </a:r>
              </a:p>
            </p:txBody>
          </p:sp>
          <p:pic>
            <p:nvPicPr>
              <p:cNvPr id="90" name="Imagem 8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1742" y="1425379"/>
                <a:ext cx="629434" cy="629434"/>
              </a:xfrm>
              <a:prstGeom prst="rect">
                <a:avLst/>
              </a:prstGeom>
            </p:spPr>
          </p:pic>
          <p:sp>
            <p:nvSpPr>
              <p:cNvPr id="91" name="CaixaDeTexto 90"/>
              <p:cNvSpPr txBox="1"/>
              <p:nvPr/>
            </p:nvSpPr>
            <p:spPr>
              <a:xfrm>
                <a:off x="1239913" y="2072917"/>
                <a:ext cx="8949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Aloca Projetos aos Líderes de Projetos de TI </a:t>
                </a:r>
              </a:p>
            </p:txBody>
          </p:sp>
        </p:grpSp>
        <p:grpSp>
          <p:nvGrpSpPr>
            <p:cNvPr id="25" name="Agrupar 24"/>
            <p:cNvGrpSpPr/>
            <p:nvPr/>
          </p:nvGrpSpPr>
          <p:grpSpPr>
            <a:xfrm>
              <a:off x="3378610" y="1092114"/>
              <a:ext cx="928588" cy="1542385"/>
              <a:chOff x="2312985" y="1120751"/>
              <a:chExt cx="928588" cy="1542385"/>
            </a:xfrm>
          </p:grpSpPr>
          <p:sp>
            <p:nvSpPr>
              <p:cNvPr id="10" name="Retângulo 9"/>
              <p:cNvSpPr/>
              <p:nvPr/>
            </p:nvSpPr>
            <p:spPr>
              <a:xfrm>
                <a:off x="2312985" y="1120751"/>
                <a:ext cx="92858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BR" sz="1200" dirty="0"/>
                  <a:t>Nara </a:t>
                </a:r>
                <a:r>
                  <a:rPr lang="pt-BR" sz="1200" dirty="0" err="1"/>
                  <a:t>Araujo</a:t>
                </a:r>
                <a:endParaRPr lang="pt-BR" sz="1200" dirty="0"/>
              </a:p>
            </p:txBody>
          </p:sp>
          <p:pic>
            <p:nvPicPr>
              <p:cNvPr id="12" name="Imagem 1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29959" y="1433008"/>
                <a:ext cx="691673" cy="691673"/>
              </a:xfrm>
              <a:prstGeom prst="rect">
                <a:avLst/>
              </a:prstGeom>
            </p:spPr>
          </p:pic>
          <p:sp>
            <p:nvSpPr>
              <p:cNvPr id="92" name="CaixaDeTexto 91"/>
              <p:cNvSpPr txBox="1"/>
              <p:nvPr/>
            </p:nvSpPr>
            <p:spPr>
              <a:xfrm>
                <a:off x="2334326" y="2109138"/>
                <a:ext cx="88116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Decisão de Go ou No-Go do Projeto</a:t>
                </a:r>
              </a:p>
            </p:txBody>
          </p:sp>
        </p:grpSp>
        <p:grpSp>
          <p:nvGrpSpPr>
            <p:cNvPr id="26" name="Agrupar 25"/>
            <p:cNvGrpSpPr/>
            <p:nvPr/>
          </p:nvGrpSpPr>
          <p:grpSpPr>
            <a:xfrm>
              <a:off x="5423835" y="913232"/>
              <a:ext cx="1273981" cy="2034045"/>
              <a:chOff x="5423835" y="913232"/>
              <a:chExt cx="1273981" cy="2034045"/>
            </a:xfrm>
          </p:grpSpPr>
          <p:pic>
            <p:nvPicPr>
              <p:cNvPr id="13" name="Imagem 1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79868" y="1405211"/>
                <a:ext cx="675566" cy="675566"/>
              </a:xfrm>
              <a:prstGeom prst="rect">
                <a:avLst/>
              </a:prstGeom>
            </p:spPr>
          </p:pic>
          <p:sp>
            <p:nvSpPr>
              <p:cNvPr id="93" name="Retângulo 92"/>
              <p:cNvSpPr/>
              <p:nvPr/>
            </p:nvSpPr>
            <p:spPr>
              <a:xfrm>
                <a:off x="5430762" y="913232"/>
                <a:ext cx="11537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Líder de Projetos de TI</a:t>
                </a:r>
              </a:p>
            </p:txBody>
          </p:sp>
          <p:sp>
            <p:nvSpPr>
              <p:cNvPr id="94" name="CaixaDeTexto 93"/>
              <p:cNvSpPr txBox="1"/>
              <p:nvPr/>
            </p:nvSpPr>
            <p:spPr>
              <a:xfrm>
                <a:off x="5423835" y="2085503"/>
                <a:ext cx="1273981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 err="1"/>
                  <a:t>Kickoff</a:t>
                </a:r>
                <a:r>
                  <a:rPr lang="pt-BR" sz="1000" dirty="0"/>
                  <a:t> com Solicitante e Acionamento do Gestor de Filas de Projeto</a:t>
                </a:r>
              </a:p>
            </p:txBody>
          </p:sp>
        </p:grpSp>
        <p:grpSp>
          <p:nvGrpSpPr>
            <p:cNvPr id="29" name="Agrupar 28"/>
            <p:cNvGrpSpPr/>
            <p:nvPr/>
          </p:nvGrpSpPr>
          <p:grpSpPr>
            <a:xfrm>
              <a:off x="7466294" y="1105600"/>
              <a:ext cx="1408257" cy="1764435"/>
              <a:chOff x="7466294" y="1105600"/>
              <a:chExt cx="1408257" cy="1764435"/>
            </a:xfrm>
          </p:grpSpPr>
          <p:pic>
            <p:nvPicPr>
              <p:cNvPr id="99" name="Imagem 9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37526" y="1453468"/>
                <a:ext cx="665536" cy="665536"/>
              </a:xfrm>
              <a:prstGeom prst="rect">
                <a:avLst/>
              </a:prstGeom>
            </p:spPr>
          </p:pic>
          <p:sp>
            <p:nvSpPr>
              <p:cNvPr id="100" name="Retângulo 99"/>
              <p:cNvSpPr/>
              <p:nvPr/>
            </p:nvSpPr>
            <p:spPr>
              <a:xfrm>
                <a:off x="7466294" y="1105600"/>
                <a:ext cx="1408257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Especialistas</a:t>
                </a:r>
              </a:p>
            </p:txBody>
          </p:sp>
          <p:sp>
            <p:nvSpPr>
              <p:cNvPr id="101" name="CaixaDeTexto 100"/>
              <p:cNvSpPr txBox="1"/>
              <p:nvPr/>
            </p:nvSpPr>
            <p:spPr>
              <a:xfrm>
                <a:off x="7587764" y="2162149"/>
                <a:ext cx="1183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Executa as ações planejadas através de requisição de Serviço ou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.</a:t>
                </a:r>
              </a:p>
            </p:txBody>
          </p:sp>
        </p:grpSp>
      </p:grpSp>
      <p:sp>
        <p:nvSpPr>
          <p:cNvPr id="102" name="Seta para a Direita 101"/>
          <p:cNvSpPr/>
          <p:nvPr/>
        </p:nvSpPr>
        <p:spPr>
          <a:xfrm>
            <a:off x="1075989" y="1664576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Seta para a Direita 102"/>
          <p:cNvSpPr/>
          <p:nvPr/>
        </p:nvSpPr>
        <p:spPr>
          <a:xfrm>
            <a:off x="2109523" y="168731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Seta para a Direita 103"/>
          <p:cNvSpPr/>
          <p:nvPr/>
        </p:nvSpPr>
        <p:spPr>
          <a:xfrm>
            <a:off x="3249918" y="1670628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Seta para a Direita 104"/>
          <p:cNvSpPr/>
          <p:nvPr/>
        </p:nvSpPr>
        <p:spPr>
          <a:xfrm>
            <a:off x="4287920" y="166647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Seta para a Direita 105"/>
          <p:cNvSpPr/>
          <p:nvPr/>
        </p:nvSpPr>
        <p:spPr>
          <a:xfrm>
            <a:off x="5422920" y="1675187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" name="Seta para a Direita 106"/>
          <p:cNvSpPr/>
          <p:nvPr/>
        </p:nvSpPr>
        <p:spPr>
          <a:xfrm>
            <a:off x="6431077" y="166647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" name="Seta para a Direita 107"/>
          <p:cNvSpPr/>
          <p:nvPr/>
        </p:nvSpPr>
        <p:spPr>
          <a:xfrm>
            <a:off x="7605713" y="1666473"/>
            <a:ext cx="158473" cy="33817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2" name="Agrupar 21"/>
          <p:cNvGrpSpPr/>
          <p:nvPr/>
        </p:nvGrpSpPr>
        <p:grpSpPr>
          <a:xfrm>
            <a:off x="199146" y="3065776"/>
            <a:ext cx="7493253" cy="2011888"/>
            <a:chOff x="187600" y="3065776"/>
            <a:chExt cx="7493253" cy="2011888"/>
          </a:xfrm>
        </p:grpSpPr>
        <p:grpSp>
          <p:nvGrpSpPr>
            <p:cNvPr id="20" name="Agrupar 19"/>
            <p:cNvGrpSpPr/>
            <p:nvPr/>
          </p:nvGrpSpPr>
          <p:grpSpPr>
            <a:xfrm>
              <a:off x="187600" y="3250230"/>
              <a:ext cx="894943" cy="1575039"/>
              <a:chOff x="162995" y="3176988"/>
              <a:chExt cx="894943" cy="1575039"/>
            </a:xfrm>
          </p:grpSpPr>
          <p:pic>
            <p:nvPicPr>
              <p:cNvPr id="17" name="Imagem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4914" y="3609251"/>
                <a:ext cx="602673" cy="602673"/>
              </a:xfrm>
              <a:prstGeom prst="rect">
                <a:avLst/>
              </a:prstGeom>
            </p:spPr>
          </p:pic>
          <p:sp>
            <p:nvSpPr>
              <p:cNvPr id="18" name="CaixaDeTexto 17"/>
              <p:cNvSpPr txBox="1"/>
              <p:nvPr/>
            </p:nvSpPr>
            <p:spPr>
              <a:xfrm>
                <a:off x="162995" y="4198029"/>
                <a:ext cx="8949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Registra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 no </a:t>
                </a:r>
                <a:r>
                  <a:rPr lang="pt-BR" sz="1000" dirty="0" err="1"/>
                  <a:t>Egmud</a:t>
                </a:r>
                <a:endParaRPr lang="pt-BR" sz="1000" dirty="0"/>
              </a:p>
            </p:txBody>
          </p:sp>
          <p:sp>
            <p:nvSpPr>
              <p:cNvPr id="19" name="Retângulo 18"/>
              <p:cNvSpPr/>
              <p:nvPr/>
            </p:nvSpPr>
            <p:spPr>
              <a:xfrm>
                <a:off x="168033" y="3176988"/>
                <a:ext cx="84508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Usuário Solicitante</a:t>
                </a:r>
              </a:p>
            </p:txBody>
          </p:sp>
        </p:grpSp>
        <p:grpSp>
          <p:nvGrpSpPr>
            <p:cNvPr id="78" name="Agrupar 77"/>
            <p:cNvGrpSpPr/>
            <p:nvPr/>
          </p:nvGrpSpPr>
          <p:grpSpPr>
            <a:xfrm>
              <a:off x="3203347" y="3065776"/>
              <a:ext cx="1290994" cy="1708757"/>
              <a:chOff x="3203347" y="3038068"/>
              <a:chExt cx="1290994" cy="1708757"/>
            </a:xfrm>
          </p:grpSpPr>
          <p:sp>
            <p:nvSpPr>
              <p:cNvPr id="31" name="CaixaDeTexto 30"/>
              <p:cNvSpPr txBox="1"/>
              <p:nvPr/>
            </p:nvSpPr>
            <p:spPr>
              <a:xfrm>
                <a:off x="3397675" y="4346715"/>
                <a:ext cx="8949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Aprovam a </a:t>
                </a:r>
                <a:r>
                  <a:rPr lang="pt-BR" sz="1000" dirty="0" err="1"/>
                  <a:t>Gmud</a:t>
                </a:r>
                <a:endParaRPr lang="pt-BR" sz="1000" dirty="0"/>
              </a:p>
            </p:txBody>
          </p:sp>
          <p:sp>
            <p:nvSpPr>
              <p:cNvPr id="32" name="Retângulo 31"/>
              <p:cNvSpPr/>
              <p:nvPr/>
            </p:nvSpPr>
            <p:spPr>
              <a:xfrm>
                <a:off x="3203347" y="3038068"/>
                <a:ext cx="129099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Gerentes dos especialistas e localidades</a:t>
                </a:r>
              </a:p>
            </p:txBody>
          </p:sp>
          <p:pic>
            <p:nvPicPr>
              <p:cNvPr id="51" name="Imagem 50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55759" y="3599008"/>
                <a:ext cx="805562" cy="805562"/>
              </a:xfrm>
              <a:prstGeom prst="rect">
                <a:avLst/>
              </a:prstGeom>
            </p:spPr>
          </p:pic>
        </p:grpSp>
        <p:grpSp>
          <p:nvGrpSpPr>
            <p:cNvPr id="76" name="Agrupar 75"/>
            <p:cNvGrpSpPr/>
            <p:nvPr/>
          </p:nvGrpSpPr>
          <p:grpSpPr>
            <a:xfrm>
              <a:off x="1195394" y="3366683"/>
              <a:ext cx="999750" cy="1454614"/>
              <a:chOff x="1195394" y="3338975"/>
              <a:chExt cx="999750" cy="1454614"/>
            </a:xfrm>
          </p:grpSpPr>
          <p:sp>
            <p:nvSpPr>
              <p:cNvPr id="23" name="CaixaDeTexto 22"/>
              <p:cNvSpPr txBox="1"/>
              <p:nvPr/>
            </p:nvSpPr>
            <p:spPr>
              <a:xfrm>
                <a:off x="1209401" y="4239591"/>
                <a:ext cx="96092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Realizam o Planejamento da </a:t>
                </a:r>
                <a:r>
                  <a:rPr lang="pt-BR" sz="1000" dirty="0" err="1"/>
                  <a:t>Gmud</a:t>
                </a:r>
                <a:endParaRPr lang="pt-BR" sz="1000" dirty="0"/>
              </a:p>
            </p:txBody>
          </p:sp>
          <p:pic>
            <p:nvPicPr>
              <p:cNvPr id="49" name="Imagem 4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4124" y="3598725"/>
                <a:ext cx="665536" cy="665536"/>
              </a:xfrm>
              <a:prstGeom prst="rect">
                <a:avLst/>
              </a:prstGeom>
            </p:spPr>
          </p:pic>
          <p:sp>
            <p:nvSpPr>
              <p:cNvPr id="52" name="Retângulo 51"/>
              <p:cNvSpPr/>
              <p:nvPr/>
            </p:nvSpPr>
            <p:spPr>
              <a:xfrm>
                <a:off x="1195394" y="3338975"/>
                <a:ext cx="9997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Especialistas</a:t>
                </a:r>
              </a:p>
            </p:txBody>
          </p:sp>
        </p:grpSp>
        <p:grpSp>
          <p:nvGrpSpPr>
            <p:cNvPr id="80" name="Agrupar 79"/>
            <p:cNvGrpSpPr/>
            <p:nvPr/>
          </p:nvGrpSpPr>
          <p:grpSpPr>
            <a:xfrm>
              <a:off x="5512484" y="3349434"/>
              <a:ext cx="999750" cy="1581701"/>
              <a:chOff x="5512484" y="3321726"/>
              <a:chExt cx="999750" cy="1581701"/>
            </a:xfrm>
          </p:grpSpPr>
          <p:sp>
            <p:nvSpPr>
              <p:cNvPr id="24" name="Retângulo 23"/>
              <p:cNvSpPr/>
              <p:nvPr/>
            </p:nvSpPr>
            <p:spPr>
              <a:xfrm>
                <a:off x="5512484" y="3321726"/>
                <a:ext cx="9997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Especialistas</a:t>
                </a:r>
              </a:p>
            </p:txBody>
          </p:sp>
          <p:sp>
            <p:nvSpPr>
              <p:cNvPr id="39" name="CaixaDeTexto 38"/>
              <p:cNvSpPr txBox="1"/>
              <p:nvPr/>
            </p:nvSpPr>
            <p:spPr>
              <a:xfrm>
                <a:off x="5547158" y="4349429"/>
                <a:ext cx="93421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Implementam  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 e fazem a RPI</a:t>
                </a:r>
              </a:p>
            </p:txBody>
          </p:sp>
          <p:pic>
            <p:nvPicPr>
              <p:cNvPr id="53" name="Imagem 5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77048" y="3639623"/>
                <a:ext cx="665536" cy="665536"/>
              </a:xfrm>
              <a:prstGeom prst="rect">
                <a:avLst/>
              </a:prstGeom>
            </p:spPr>
          </p:pic>
        </p:grpSp>
        <p:grpSp>
          <p:nvGrpSpPr>
            <p:cNvPr id="79" name="Agrupar 78"/>
            <p:cNvGrpSpPr/>
            <p:nvPr/>
          </p:nvGrpSpPr>
          <p:grpSpPr>
            <a:xfrm>
              <a:off x="4342618" y="3205986"/>
              <a:ext cx="1189992" cy="1772598"/>
              <a:chOff x="4342618" y="3178278"/>
              <a:chExt cx="1189992" cy="1772598"/>
            </a:xfrm>
          </p:grpSpPr>
          <p:sp>
            <p:nvSpPr>
              <p:cNvPr id="35" name="CaixaDeTexto 34"/>
              <p:cNvSpPr txBox="1"/>
              <p:nvPr/>
            </p:nvSpPr>
            <p:spPr>
              <a:xfrm>
                <a:off x="4482839" y="4396878"/>
                <a:ext cx="89494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Aprova Liberação da </a:t>
                </a:r>
                <a:r>
                  <a:rPr lang="pt-BR" sz="1000" dirty="0" err="1"/>
                  <a:t>Gmud</a:t>
                </a:r>
                <a:endParaRPr lang="pt-BR" sz="1000" dirty="0"/>
              </a:p>
            </p:txBody>
          </p:sp>
          <p:sp>
            <p:nvSpPr>
              <p:cNvPr id="36" name="Retângulo 35"/>
              <p:cNvSpPr/>
              <p:nvPr/>
            </p:nvSpPr>
            <p:spPr>
              <a:xfrm>
                <a:off x="4342618" y="3178278"/>
                <a:ext cx="11899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Comitê de Mudanças</a:t>
                </a:r>
              </a:p>
            </p:txBody>
          </p:sp>
          <p:pic>
            <p:nvPicPr>
              <p:cNvPr id="55" name="Imagem 5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37075" y="3567476"/>
                <a:ext cx="846083" cy="846083"/>
              </a:xfrm>
              <a:prstGeom prst="rect">
                <a:avLst/>
              </a:prstGeom>
            </p:spPr>
          </p:pic>
        </p:grpSp>
        <p:grpSp>
          <p:nvGrpSpPr>
            <p:cNvPr id="77" name="Agrupar 76"/>
            <p:cNvGrpSpPr/>
            <p:nvPr/>
          </p:nvGrpSpPr>
          <p:grpSpPr>
            <a:xfrm>
              <a:off x="2145972" y="3222905"/>
              <a:ext cx="1258640" cy="1854759"/>
              <a:chOff x="2145972" y="3195197"/>
              <a:chExt cx="1258640" cy="1854759"/>
            </a:xfrm>
          </p:grpSpPr>
          <p:sp>
            <p:nvSpPr>
              <p:cNvPr id="27" name="CaixaDeTexto 26"/>
              <p:cNvSpPr txBox="1"/>
              <p:nvPr/>
            </p:nvSpPr>
            <p:spPr>
              <a:xfrm>
                <a:off x="2183878" y="4342070"/>
                <a:ext cx="120072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Valida as informações da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 e envia para aprovação</a:t>
                </a:r>
              </a:p>
            </p:txBody>
          </p:sp>
          <p:sp>
            <p:nvSpPr>
              <p:cNvPr id="28" name="Retângulo 27"/>
              <p:cNvSpPr/>
              <p:nvPr/>
            </p:nvSpPr>
            <p:spPr>
              <a:xfrm>
                <a:off x="2145972" y="3195197"/>
                <a:ext cx="12586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 dirty="0"/>
                  <a:t>Gerenciamento de Mudanças</a:t>
                </a:r>
              </a:p>
            </p:txBody>
          </p:sp>
          <p:grpSp>
            <p:nvGrpSpPr>
              <p:cNvPr id="63" name="Agrupar 62"/>
              <p:cNvGrpSpPr/>
              <p:nvPr/>
            </p:nvGrpSpPr>
            <p:grpSpPr>
              <a:xfrm>
                <a:off x="2379808" y="3581214"/>
                <a:ext cx="860328" cy="777490"/>
                <a:chOff x="2379808" y="3581214"/>
                <a:chExt cx="860328" cy="777490"/>
              </a:xfrm>
            </p:grpSpPr>
            <p:pic>
              <p:nvPicPr>
                <p:cNvPr id="56" name="Imagem 55"/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79808" y="3581214"/>
                  <a:ext cx="687090" cy="687090"/>
                </a:xfrm>
                <a:prstGeom prst="rect">
                  <a:avLst/>
                </a:prstGeom>
              </p:spPr>
            </p:pic>
            <p:pic>
              <p:nvPicPr>
                <p:cNvPr id="57" name="Imagem 56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65190" y="3783758"/>
                  <a:ext cx="574946" cy="57494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1" name="Agrupar 80"/>
            <p:cNvGrpSpPr/>
            <p:nvPr/>
          </p:nvGrpSpPr>
          <p:grpSpPr>
            <a:xfrm>
              <a:off x="6498703" y="3406891"/>
              <a:ext cx="1182150" cy="1379889"/>
              <a:chOff x="6591523" y="3175442"/>
              <a:chExt cx="1182150" cy="1379889"/>
            </a:xfrm>
          </p:grpSpPr>
          <p:sp>
            <p:nvSpPr>
              <p:cNvPr id="43" name="CaixaDeTexto 42"/>
              <p:cNvSpPr txBox="1"/>
              <p:nvPr/>
            </p:nvSpPr>
            <p:spPr>
              <a:xfrm>
                <a:off x="6613953" y="4155221"/>
                <a:ext cx="11597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dirty="0"/>
                  <a:t>Validam e finalizam a </a:t>
                </a:r>
                <a:r>
                  <a:rPr lang="pt-BR" sz="1000" dirty="0" err="1"/>
                  <a:t>Gmud</a:t>
                </a:r>
                <a:r>
                  <a:rPr lang="pt-BR" sz="1000" dirty="0"/>
                  <a:t>.</a:t>
                </a:r>
              </a:p>
            </p:txBody>
          </p:sp>
          <p:sp>
            <p:nvSpPr>
              <p:cNvPr id="44" name="Retângulo 43"/>
              <p:cNvSpPr/>
              <p:nvPr/>
            </p:nvSpPr>
            <p:spPr>
              <a:xfrm>
                <a:off x="6591523" y="3175442"/>
                <a:ext cx="103590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endParaRPr lang="pt-BR" sz="1200" dirty="0"/>
              </a:p>
            </p:txBody>
          </p:sp>
          <p:pic>
            <p:nvPicPr>
              <p:cNvPr id="60" name="Imagem 5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5123" y="3483092"/>
                <a:ext cx="623958" cy="623958"/>
              </a:xfrm>
              <a:prstGeom prst="rect">
                <a:avLst/>
              </a:prstGeom>
            </p:spPr>
          </p:pic>
        </p:grpSp>
        <p:sp>
          <p:nvSpPr>
            <p:cNvPr id="65" name="Seta para a Direita 64"/>
            <p:cNvSpPr/>
            <p:nvPr/>
          </p:nvSpPr>
          <p:spPr>
            <a:xfrm>
              <a:off x="1112188" y="3867345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Seta para a Direita 65"/>
            <p:cNvSpPr/>
            <p:nvPr/>
          </p:nvSpPr>
          <p:spPr>
            <a:xfrm>
              <a:off x="2145722" y="3890082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Seta para a Direita 67"/>
            <p:cNvSpPr/>
            <p:nvPr/>
          </p:nvSpPr>
          <p:spPr>
            <a:xfrm>
              <a:off x="3313825" y="3873397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Seta para a Direita 71"/>
            <p:cNvSpPr/>
            <p:nvPr/>
          </p:nvSpPr>
          <p:spPr>
            <a:xfrm>
              <a:off x="4268703" y="3869242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Seta para a Direita 72"/>
            <p:cNvSpPr/>
            <p:nvPr/>
          </p:nvSpPr>
          <p:spPr>
            <a:xfrm>
              <a:off x="5459119" y="3877956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Seta para a Direita 73"/>
            <p:cNvSpPr/>
            <p:nvPr/>
          </p:nvSpPr>
          <p:spPr>
            <a:xfrm>
              <a:off x="6467276" y="3869242"/>
              <a:ext cx="158473" cy="338170"/>
            </a:xfrm>
            <a:prstGeom prst="rightArrow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5" name="Retângulo 114"/>
            <p:cNvSpPr/>
            <p:nvPr/>
          </p:nvSpPr>
          <p:spPr>
            <a:xfrm>
              <a:off x="6666445" y="3223696"/>
              <a:ext cx="84508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/>
                <a:t>Usuário Solicitante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87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51075" y="257994"/>
            <a:ext cx="713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T2R – Fluxograma </a:t>
            </a:r>
            <a:r>
              <a:rPr lang="pt-BR" sz="2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As-Is</a:t>
            </a:r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Unificado. Projetos e Mudanças.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1017"/>
          <a:stretch/>
        </p:blipFill>
        <p:spPr>
          <a:xfrm>
            <a:off x="151075" y="719659"/>
            <a:ext cx="8769405" cy="442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2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0" y="235003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557836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16838</TotalTime>
  <Words>522</Words>
  <Application>Microsoft Office PowerPoint</Application>
  <PresentationFormat>Personalizar</PresentationFormat>
  <Paragraphs>124</Paragraphs>
  <Slides>8</Slides>
  <Notes>6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8" baseType="lpstr">
      <vt:lpstr>Aharoni</vt:lpstr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Kiss</cp:lastModifiedBy>
  <cp:revision>842</cp:revision>
  <dcterms:created xsi:type="dcterms:W3CDTF">2015-08-20T14:57:26Z</dcterms:created>
  <dcterms:modified xsi:type="dcterms:W3CDTF">2016-04-13T18:37:38Z</dcterms:modified>
</cp:coreProperties>
</file>