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1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36"/>
  </p:notesMasterIdLst>
  <p:sldIdLst>
    <p:sldId id="600" r:id="rId5"/>
    <p:sldId id="265" r:id="rId6"/>
    <p:sldId id="644" r:id="rId7"/>
    <p:sldId id="645" r:id="rId8"/>
    <p:sldId id="646" r:id="rId9"/>
    <p:sldId id="647" r:id="rId10"/>
    <p:sldId id="648" r:id="rId11"/>
    <p:sldId id="657" r:id="rId12"/>
    <p:sldId id="656" r:id="rId13"/>
    <p:sldId id="649" r:id="rId14"/>
    <p:sldId id="650" r:id="rId15"/>
    <p:sldId id="651" r:id="rId16"/>
    <p:sldId id="652" r:id="rId17"/>
    <p:sldId id="653" r:id="rId18"/>
    <p:sldId id="654" r:id="rId19"/>
    <p:sldId id="655" r:id="rId20"/>
    <p:sldId id="643" r:id="rId21"/>
    <p:sldId id="621" r:id="rId22"/>
    <p:sldId id="461" r:id="rId23"/>
    <p:sldId id="664" r:id="rId24"/>
    <p:sldId id="658" r:id="rId25"/>
    <p:sldId id="663" r:id="rId26"/>
    <p:sldId id="532" r:id="rId27"/>
    <p:sldId id="464" r:id="rId28"/>
    <p:sldId id="490" r:id="rId29"/>
    <p:sldId id="642" r:id="rId30"/>
    <p:sldId id="411" r:id="rId31"/>
    <p:sldId id="659" r:id="rId32"/>
    <p:sldId id="660" r:id="rId33"/>
    <p:sldId id="661" r:id="rId34"/>
    <p:sldId id="662" r:id="rId3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" initials="a" lastIdx="1" clrIdx="0">
    <p:extLst>
      <p:ext uri="{19B8F6BF-5375-455C-9EA6-DF929625EA0E}">
        <p15:presenceInfo xmlns:p15="http://schemas.microsoft.com/office/powerpoint/2012/main" userId="adm" providerId="None"/>
      </p:ext>
    </p:extLst>
  </p:cmAuthor>
  <p:cmAuthor id="2" name="Luis Marcal" initials="LM" lastIdx="0" clrIdx="1">
    <p:extLst>
      <p:ext uri="{19B8F6BF-5375-455C-9EA6-DF929625EA0E}">
        <p15:presenceInfo xmlns:p15="http://schemas.microsoft.com/office/powerpoint/2012/main" userId="Luis Marc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95" autoAdjust="0"/>
    <p:restoredTop sz="88220" autoAdjust="0"/>
  </p:normalViewPr>
  <p:slideViewPr>
    <p:cSldViewPr snapToGrid="0" snapToObjects="1">
      <p:cViewPr varScale="1">
        <p:scale>
          <a:sx n="75" d="100"/>
          <a:sy n="75" d="100"/>
        </p:scale>
        <p:origin x="300" y="66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GEQ_Medicao%20e%20Analise\02.%20Relatorios\Estabilidade%20Operacional\Maio\Comparativo%20AI%20-%2011-05-16-unprotected.xlsm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GEQ_Medicao%20e%20Analise\02.%20Relatorios\Estabilidade%20Operacional\Maio\Comparativo%20AI%20-%2011-05-16-unprotected.xlsm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GEQ_Medicao%20e%20Analise\02.%20Relatorios\Estabilidade%20Operacional\Maio\Comparativo%20AI%20-%2011-05-16-unprotected.xlsm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GEQ_Medicao%20e%20Analise\02.%20Relatorios\Estabilidade%20Operacional\Maio\Para%20Tipo%20Sintoma%20Alto%20Impacto%20Natureza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GEQ_Medicao%20e%20Analise\02.%20Relatorios\Estabilidade%20Operacional\Junho\parcial%20ate%20dia%2022%20de%20maio\Natureza%20Alto%20Impacto%20Maio_ate%202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/>
              <a:t>Volume</a:t>
            </a:r>
            <a:r>
              <a:rPr lang="pt-BR" sz="1500" b="1" baseline="0" dirty="0"/>
              <a:t> de </a:t>
            </a:r>
            <a:r>
              <a:rPr lang="pt-BR" sz="1500" b="1" dirty="0"/>
              <a:t>Incidentes Alto Impacto</a:t>
            </a:r>
          </a:p>
        </c:rich>
      </c:tx>
      <c:layout>
        <c:manualLayout>
          <c:xMode val="edge"/>
          <c:yMode val="edge"/>
          <c:x val="0.1763608431509571"/>
          <c:y val="1.5304370398211066E-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"/>
          <c:y val="0.21105009973328545"/>
          <c:w val="1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A68B-42D7-9922-1033F30CA165}"/>
              </c:ext>
            </c:extLst>
          </c:dPt>
          <c:dLbls>
            <c:dLbl>
              <c:idx val="0"/>
              <c:layout>
                <c:manualLayout>
                  <c:x val="5.5830416969469136E-6"/>
                  <c:y val="-0.3198995829346613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A342-4057-BDFD-D4272EDC632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5.9401031800599621E-3"/>
                  <c:y val="-0.124761495226778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A342-4057-BDFD-D4272EDC632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5.9401031800599075E-3"/>
                  <c:y val="-0.1361034493383042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A342-4057-BDFD-D4272EDC6324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8.9101547700900525E-3"/>
                  <c:y val="-0.1417744263940668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F3-47B6-B362-8D75B94687B9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2.9700515900298722E-3"/>
                  <c:y val="-0.1474454034498294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F3-47B6-B362-8D75B94687B9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-1.0346095036632915E-16"/>
                  <c:y val="-6.719576719576729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A68B-42D7-9922-1033F30CA165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</c:v>
                </c:pt>
                <c:pt idx="1">
                  <c:v>Jan</c:v>
                </c:pt>
                <c:pt idx="2">
                  <c:v>Fev</c:v>
                </c:pt>
                <c:pt idx="3">
                  <c:v>Mar</c:v>
                </c:pt>
                <c:pt idx="4">
                  <c:v>Abr</c:v>
                </c:pt>
                <c:pt idx="5">
                  <c:v>Mai</c:v>
                </c:pt>
              </c:strCache>
            </c:strRef>
          </c:cat>
          <c:val>
            <c:numRef>
              <c:f>Plan1!$B$2:$B$7</c:f>
              <c:numCache>
                <c:formatCode>#,##0</c:formatCode>
                <c:ptCount val="6"/>
                <c:pt idx="0">
                  <c:v>1494</c:v>
                </c:pt>
                <c:pt idx="1">
                  <c:v>210</c:v>
                </c:pt>
                <c:pt idx="2">
                  <c:v>204</c:v>
                </c:pt>
                <c:pt idx="3">
                  <c:v>180</c:v>
                </c:pt>
                <c:pt idx="4">
                  <c:v>183</c:v>
                </c:pt>
                <c:pt idx="5">
                  <c:v>133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218812376"/>
        <c:axId val="218813160"/>
      </c:barChart>
      <c:catAx>
        <c:axId val="218812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18813160"/>
        <c:crosses val="autoZero"/>
        <c:auto val="1"/>
        <c:lblAlgn val="ctr"/>
        <c:lblOffset val="100"/>
        <c:noMultiLvlLbl val="0"/>
      </c:catAx>
      <c:valAx>
        <c:axId val="21881316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218812376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/>
              <a:t>Média diária de Incidentes Alto Impacto</a:t>
            </a:r>
          </a:p>
        </c:rich>
      </c:tx>
      <c:layout>
        <c:manualLayout>
          <c:xMode val="edge"/>
          <c:yMode val="edge"/>
          <c:x val="0.158505000007058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7352474322057077E-2"/>
          <c:y val="0.19970809412273891"/>
          <c:w val="0.97264752567693746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852E-40EC-BB07-F4FF4F71836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852E-40EC-BB07-F4FF4F71836A}"/>
              </c:ext>
            </c:extLst>
          </c:dPt>
          <c:dPt>
            <c:idx val="5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A6-4A76-8126-37E9773D9510}"/>
              </c:ext>
            </c:extLst>
          </c:dPt>
          <c:dLbls>
            <c:dLbl>
              <c:idx val="0"/>
              <c:layout>
                <c:manualLayout>
                  <c:x val="-2.9880988961915756E-3"/>
                  <c:y val="-0.3299722395062690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336-4DE1-AAF2-45A9A199F5C6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8.9642966885746869E-3"/>
                  <c:y val="-0.1649861197531345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336-4DE1-AAF2-45A9A199F5C6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2.9880988961916168E-3"/>
                  <c:y val="-0.1763644728395576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1336-4DE1-AAF2-45A9A199F5C6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2.9880988961915622E-3"/>
                  <c:y val="-0.1649861197531346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52E-40EC-BB07-F4FF4F71836A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1.0956236051995256E-16"/>
                  <c:y val="-0.170675296296346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852E-40EC-BB07-F4FF4F71836A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-2.9645191409897291E-3"/>
                  <c:y val="-9.128250213169042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5CA6-4A76-8126-37E9773D9510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t" anchorCtr="0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</c:v>
                </c:pt>
                <c:pt idx="1">
                  <c:v>Jan</c:v>
                </c:pt>
                <c:pt idx="2">
                  <c:v>Fev</c:v>
                </c:pt>
                <c:pt idx="3">
                  <c:v>Mar</c:v>
                </c:pt>
                <c:pt idx="4">
                  <c:v>Abr</c:v>
                </c:pt>
                <c:pt idx="5">
                  <c:v>Mai</c:v>
                </c:pt>
              </c:strCache>
            </c:strRef>
          </c:cat>
          <c:val>
            <c:numRef>
              <c:f>Plan1!$B$2:$B$7</c:f>
              <c:numCache>
                <c:formatCode>#,##0.00</c:formatCode>
                <c:ptCount val="6"/>
                <c:pt idx="0">
                  <c:v>48.19</c:v>
                </c:pt>
                <c:pt idx="1">
                  <c:v>6.77</c:v>
                </c:pt>
                <c:pt idx="2">
                  <c:v>7.03</c:v>
                </c:pt>
                <c:pt idx="3">
                  <c:v>5.806451612903226</c:v>
                </c:pt>
                <c:pt idx="4">
                  <c:v>6.1</c:v>
                </c:pt>
                <c:pt idx="5">
                  <c:v>6.05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852E-40EC-BB07-F4FF4F71836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218816872"/>
        <c:axId val="218816480"/>
      </c:barChart>
      <c:catAx>
        <c:axId val="218816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18816480"/>
        <c:crosses val="autoZero"/>
        <c:auto val="1"/>
        <c:lblAlgn val="ctr"/>
        <c:lblOffset val="100"/>
        <c:noMultiLvlLbl val="0"/>
      </c:catAx>
      <c:valAx>
        <c:axId val="218816480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21881687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382486517836682E-2"/>
          <c:y val="0.21105009973328545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B343-4B87-A407-FBF943380C67}"/>
              </c:ext>
            </c:extLst>
          </c:dPt>
          <c:dLbls>
            <c:dLbl>
              <c:idx val="0"/>
              <c:layout>
                <c:manualLayout>
                  <c:x val="-5.9400113486707184E-3"/>
                  <c:y val="-0.2986728170429673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B343-4B87-A407-FBF943380C67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5.5555324682596465E-3"/>
                  <c:y val="-0.2914791512736120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B343-4B87-A407-FBF943380C67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8.5255551212713165E-3"/>
                  <c:y val="-0.2937381741077724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B343-4B87-A407-FBF943380C67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5.7477888871415453E-3"/>
                  <c:y val="-0.2900685877198874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F3-47B6-B362-8D75B94687B9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1.9296824925137694E-3"/>
                  <c:y val="-0.2539312954713289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F3-47B6-B362-8D75B94687B9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4.0550904098286163E-3"/>
                  <c:y val="-0.2092980786405722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B343-4B87-A407-FBF943380C67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Agosto</c:v>
                </c:pt>
                <c:pt idx="1">
                  <c:v>Janeiro</c:v>
                </c:pt>
                <c:pt idx="2">
                  <c:v>Fevereiro</c:v>
                </c:pt>
                <c:pt idx="3">
                  <c:v>Março</c:v>
                </c:pt>
                <c:pt idx="4">
                  <c:v>Abril</c:v>
                </c:pt>
                <c:pt idx="5">
                  <c:v>Maio</c:v>
                </c:pt>
              </c:strCache>
            </c:strRef>
          </c:cat>
          <c:val>
            <c:numRef>
              <c:f>Plan1!$B$2:$B$7</c:f>
              <c:numCache>
                <c:formatCode>#,##0</c:formatCode>
                <c:ptCount val="6"/>
                <c:pt idx="0">
                  <c:v>24272</c:v>
                </c:pt>
                <c:pt idx="1">
                  <c:v>21648</c:v>
                </c:pt>
                <c:pt idx="2">
                  <c:v>19660</c:v>
                </c:pt>
                <c:pt idx="3">
                  <c:v>21144</c:v>
                </c:pt>
                <c:pt idx="4">
                  <c:v>20388</c:v>
                </c:pt>
                <c:pt idx="5">
                  <c:v>14376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218817656"/>
        <c:axId val="218818048"/>
      </c:barChart>
      <c:catAx>
        <c:axId val="218817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18818048"/>
        <c:crosses val="autoZero"/>
        <c:auto val="1"/>
        <c:lblAlgn val="ctr"/>
        <c:lblOffset val="100"/>
        <c:noMultiLvlLbl val="0"/>
      </c:catAx>
      <c:valAx>
        <c:axId val="21881804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2188176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00968655044549E-2"/>
          <c:y val="0.1152471147111666"/>
          <c:w val="0.94158558494854694"/>
          <c:h val="0.75295003854531117"/>
        </c:manualLayout>
      </c:layout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 w="1905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dLbls>
            <c:dLbl>
              <c:idx val="2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'[Comparativo AI - 11-05-16-unprotected.xlsm]Dados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'[Comparativo AI - 11-05-16-unprotected.xlsm]Dados - Gráficos'!$D$4:$AH$4</c:f>
              <c:numCache>
                <c:formatCode>#,##0</c:formatCode>
                <c:ptCount val="31"/>
                <c:pt idx="0">
                  <c:v>0</c:v>
                </c:pt>
                <c:pt idx="1">
                  <c:v>13</c:v>
                </c:pt>
                <c:pt idx="2">
                  <c:v>5</c:v>
                </c:pt>
                <c:pt idx="3">
                  <c:v>6</c:v>
                </c:pt>
                <c:pt idx="4">
                  <c:v>5</c:v>
                </c:pt>
                <c:pt idx="5">
                  <c:v>9</c:v>
                </c:pt>
                <c:pt idx="6">
                  <c:v>3</c:v>
                </c:pt>
                <c:pt idx="7">
                  <c:v>2</c:v>
                </c:pt>
                <c:pt idx="8">
                  <c:v>9</c:v>
                </c:pt>
                <c:pt idx="9">
                  <c:v>10</c:v>
                </c:pt>
                <c:pt idx="10">
                  <c:v>6</c:v>
                </c:pt>
                <c:pt idx="11">
                  <c:v>7</c:v>
                </c:pt>
                <c:pt idx="12">
                  <c:v>6</c:v>
                </c:pt>
                <c:pt idx="13">
                  <c:v>4</c:v>
                </c:pt>
                <c:pt idx="14">
                  <c:v>3</c:v>
                </c:pt>
                <c:pt idx="15">
                  <c:v>8</c:v>
                </c:pt>
                <c:pt idx="16">
                  <c:v>8</c:v>
                </c:pt>
                <c:pt idx="17">
                  <c:v>5</c:v>
                </c:pt>
                <c:pt idx="18">
                  <c:v>7</c:v>
                </c:pt>
                <c:pt idx="19">
                  <c:v>12</c:v>
                </c:pt>
                <c:pt idx="20">
                  <c:v>1</c:v>
                </c:pt>
                <c:pt idx="21">
                  <c:v>4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0F7-4F23-A6C5-BA2B88BE7D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217008192"/>
        <c:axId val="217011328"/>
      </c:barChart>
      <c:lineChart>
        <c:grouping val="standard"/>
        <c:varyColors val="0"/>
        <c:ser>
          <c:idx val="0"/>
          <c:order val="1"/>
          <c:tx>
            <c:v>Meta</c:v>
          </c:tx>
          <c:spPr>
            <a:ln w="19050">
              <a:solidFill>
                <a:srgbClr val="FF0000"/>
              </a:solidFill>
            </a:ln>
            <a:effectLst/>
          </c:spPr>
          <c:marker>
            <c:symbol val="none"/>
          </c:marker>
          <c:cat>
            <c:numRef>
              <c:f>'[Comparativo AI - 11-05-16-unprotected.xlsm]Dados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'[Comparativo AI - 11-05-16-unprotected.xlsm]Dados - Gráficos'!$D$10:$AH$10</c:f>
              <c:numCache>
                <c:formatCode>#,##0.00</c:formatCode>
                <c:ptCount val="31"/>
                <c:pt idx="0">
                  <c:v>1.2478336221837087</c:v>
                </c:pt>
                <c:pt idx="1">
                  <c:v>9.6707105719237436</c:v>
                </c:pt>
                <c:pt idx="2">
                  <c:v>9.98266897746967</c:v>
                </c:pt>
                <c:pt idx="3">
                  <c:v>7.4870017331022538</c:v>
                </c:pt>
                <c:pt idx="4">
                  <c:v>8.734835355285961</c:v>
                </c:pt>
                <c:pt idx="5">
                  <c:v>8.4228769497400346</c:v>
                </c:pt>
                <c:pt idx="6">
                  <c:v>3.4315424610051992</c:v>
                </c:pt>
                <c:pt idx="7">
                  <c:v>1.2478336221837087</c:v>
                </c:pt>
                <c:pt idx="8">
                  <c:v>8.734835355285961</c:v>
                </c:pt>
                <c:pt idx="9">
                  <c:v>5.9272097053726167</c:v>
                </c:pt>
                <c:pt idx="10">
                  <c:v>7.1750433275563257</c:v>
                </c:pt>
                <c:pt idx="11">
                  <c:v>10.918544194107453</c:v>
                </c:pt>
                <c:pt idx="12">
                  <c:v>7.1750433275563257</c:v>
                </c:pt>
                <c:pt idx="13">
                  <c:v>0.62391681109185437</c:v>
                </c:pt>
                <c:pt idx="14">
                  <c:v>1.2478336221837087</c:v>
                </c:pt>
                <c:pt idx="15">
                  <c:v>9.3587521663778155</c:v>
                </c:pt>
                <c:pt idx="16">
                  <c:v>10.294627383015598</c:v>
                </c:pt>
                <c:pt idx="17">
                  <c:v>9.0467937608318891</c:v>
                </c:pt>
                <c:pt idx="18">
                  <c:v>6.5511265164644712</c:v>
                </c:pt>
                <c:pt idx="19">
                  <c:v>6.5511265164644712</c:v>
                </c:pt>
                <c:pt idx="20">
                  <c:v>1.8717504332755635</c:v>
                </c:pt>
                <c:pt idx="21">
                  <c:v>0.62391681109185437</c:v>
                </c:pt>
                <c:pt idx="22">
                  <c:v>5.3032928942807631</c:v>
                </c:pt>
                <c:pt idx="23">
                  <c:v>6.5511265164644712</c:v>
                </c:pt>
                <c:pt idx="24">
                  <c:v>6.5511265164644712</c:v>
                </c:pt>
                <c:pt idx="25">
                  <c:v>7.1750433275563257</c:v>
                </c:pt>
                <c:pt idx="26">
                  <c:v>6.5511265164644712</c:v>
                </c:pt>
                <c:pt idx="27">
                  <c:v>4.6793760831889077</c:v>
                </c:pt>
                <c:pt idx="28">
                  <c:v>0.93587521663778173</c:v>
                </c:pt>
                <c:pt idx="29">
                  <c:v>2.8076256499133447</c:v>
                </c:pt>
                <c:pt idx="30">
                  <c:v>3.119584055459272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00F7-4F23-A6C5-BA2B88BE7D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7008192"/>
        <c:axId val="217011328"/>
      </c:lineChart>
      <c:dateAx>
        <c:axId val="217008192"/>
        <c:scaling>
          <c:orientation val="minMax"/>
        </c:scaling>
        <c:delete val="0"/>
        <c:axPos val="b"/>
        <c:numFmt formatCode="[$-416]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17011328"/>
        <c:crosses val="autoZero"/>
        <c:auto val="1"/>
        <c:lblOffset val="100"/>
        <c:baseTimeUnit val="days"/>
      </c:dateAx>
      <c:valAx>
        <c:axId val="21701132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217008192"/>
        <c:crosses val="autoZero"/>
        <c:crossBetween val="between"/>
      </c:valAx>
      <c:spPr>
        <a:noFill/>
        <a:ln>
          <a:noFill/>
        </a:ln>
        <a:effectLst/>
      </c:spPr>
    </c:plotArea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00968655044549E-2"/>
          <c:y val="0.1152471147111666"/>
          <c:w val="0.94864560982860335"/>
          <c:h val="0.75295003854531117"/>
        </c:manualLayout>
      </c:layout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 w="1905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dLbls>
            <c:dLbl>
              <c:idx val="2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'[Comparativo AI - 11-05-16-unprotected.xlsm]Dados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'[Comparativo AI - 11-05-16-unprotected.xlsm]Dados - Gráficos'!$D$5:$AH$5</c:f>
              <c:numCache>
                <c:formatCode>#,##0</c:formatCode>
                <c:ptCount val="31"/>
                <c:pt idx="0">
                  <c:v>24</c:v>
                </c:pt>
                <c:pt idx="1">
                  <c:v>576</c:v>
                </c:pt>
                <c:pt idx="2">
                  <c:v>584</c:v>
                </c:pt>
                <c:pt idx="3">
                  <c:v>529</c:v>
                </c:pt>
                <c:pt idx="4">
                  <c:v>461</c:v>
                </c:pt>
                <c:pt idx="5">
                  <c:v>382</c:v>
                </c:pt>
                <c:pt idx="6">
                  <c:v>98</c:v>
                </c:pt>
                <c:pt idx="7">
                  <c:v>29</c:v>
                </c:pt>
                <c:pt idx="8">
                  <c:v>537</c:v>
                </c:pt>
                <c:pt idx="9">
                  <c:v>546</c:v>
                </c:pt>
                <c:pt idx="10">
                  <c:v>527</c:v>
                </c:pt>
                <c:pt idx="11">
                  <c:v>400</c:v>
                </c:pt>
                <c:pt idx="12">
                  <c:v>414</c:v>
                </c:pt>
                <c:pt idx="13">
                  <c:v>111</c:v>
                </c:pt>
                <c:pt idx="14">
                  <c:v>27</c:v>
                </c:pt>
                <c:pt idx="15">
                  <c:v>517</c:v>
                </c:pt>
                <c:pt idx="16">
                  <c:v>518</c:v>
                </c:pt>
                <c:pt idx="17">
                  <c:v>449</c:v>
                </c:pt>
                <c:pt idx="18">
                  <c:v>423</c:v>
                </c:pt>
                <c:pt idx="19">
                  <c:v>400</c:v>
                </c:pt>
                <c:pt idx="20">
                  <c:v>89</c:v>
                </c:pt>
                <c:pt idx="21">
                  <c:v>38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A-A827-4AA2-80E9-C1D14CAA4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217013680"/>
        <c:axId val="217008976"/>
      </c:barChart>
      <c:lineChart>
        <c:grouping val="standard"/>
        <c:varyColors val="0"/>
        <c:ser>
          <c:idx val="0"/>
          <c:order val="1"/>
          <c:tx>
            <c:v>Meta</c:v>
          </c:tx>
          <c:spPr>
            <a:ln w="19050">
              <a:solidFill>
                <a:srgbClr val="FF0000"/>
              </a:solidFill>
            </a:ln>
            <a:effectLst/>
          </c:spPr>
          <c:marker>
            <c:symbol val="none"/>
          </c:marker>
          <c:cat>
            <c:numRef>
              <c:f>'[Comparativo AI - 11-05-16-unprotected.xlsm]Dados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'[Comparativo AI - 11-05-16-unprotected.xlsm]Dados - Gráficos'!$D$11:$AH$11</c:f>
              <c:numCache>
                <c:formatCode>#,##0.00</c:formatCode>
                <c:ptCount val="31"/>
                <c:pt idx="0">
                  <c:v>46.029729081754972</c:v>
                </c:pt>
                <c:pt idx="1">
                  <c:v>488.98705346439704</c:v>
                </c:pt>
                <c:pt idx="2">
                  <c:v>612.57372332773912</c:v>
                </c:pt>
                <c:pt idx="3">
                  <c:v>576.63270198993052</c:v>
                </c:pt>
                <c:pt idx="4">
                  <c:v>514.52409494126107</c:v>
                </c:pt>
                <c:pt idx="5">
                  <c:v>504.43538719731475</c:v>
                </c:pt>
                <c:pt idx="6">
                  <c:v>102.46343802445458</c:v>
                </c:pt>
                <c:pt idx="7">
                  <c:v>46.029729081754972</c:v>
                </c:pt>
                <c:pt idx="8">
                  <c:v>435.07552145768398</c:v>
                </c:pt>
                <c:pt idx="9">
                  <c:v>383.37089426995919</c:v>
                </c:pt>
                <c:pt idx="10">
                  <c:v>550.14984416207153</c:v>
                </c:pt>
                <c:pt idx="11">
                  <c:v>502.54375449532489</c:v>
                </c:pt>
                <c:pt idx="12">
                  <c:v>458.40565811555985</c:v>
                </c:pt>
                <c:pt idx="13">
                  <c:v>113.18269000239751</c:v>
                </c:pt>
                <c:pt idx="14">
                  <c:v>30.896667465835527</c:v>
                </c:pt>
                <c:pt idx="15">
                  <c:v>540.69168065212182</c:v>
                </c:pt>
                <c:pt idx="16">
                  <c:v>500.96739391033321</c:v>
                </c:pt>
                <c:pt idx="17">
                  <c:v>406.38575881083676</c:v>
                </c:pt>
                <c:pt idx="18">
                  <c:v>362.87820666506832</c:v>
                </c:pt>
                <c:pt idx="19">
                  <c:v>382.74035003596259</c:v>
                </c:pt>
                <c:pt idx="20">
                  <c:v>108.13833613042436</c:v>
                </c:pt>
                <c:pt idx="21">
                  <c:v>36.256293454807</c:v>
                </c:pt>
                <c:pt idx="22">
                  <c:v>595.86430112682808</c:v>
                </c:pt>
                <c:pt idx="23">
                  <c:v>479.21361783744902</c:v>
                </c:pt>
                <c:pt idx="24">
                  <c:v>464.39582833852791</c:v>
                </c:pt>
                <c:pt idx="25">
                  <c:v>465.65691680652122</c:v>
                </c:pt>
                <c:pt idx="26">
                  <c:v>329.77463438024455</c:v>
                </c:pt>
                <c:pt idx="27">
                  <c:v>133.67537760728842</c:v>
                </c:pt>
                <c:pt idx="28">
                  <c:v>24.90649724286742</c:v>
                </c:pt>
                <c:pt idx="29">
                  <c:v>190.10908654998804</c:v>
                </c:pt>
                <c:pt idx="30">
                  <c:v>133.04483337329179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1C-A827-4AA2-80E9-C1D14CAA4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7013680"/>
        <c:axId val="217008976"/>
      </c:lineChart>
      <c:dateAx>
        <c:axId val="217013680"/>
        <c:scaling>
          <c:orientation val="minMax"/>
        </c:scaling>
        <c:delete val="0"/>
        <c:axPos val="b"/>
        <c:numFmt formatCode="[$-416]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17008976"/>
        <c:crosses val="autoZero"/>
        <c:auto val="1"/>
        <c:lblOffset val="100"/>
        <c:baseTimeUnit val="days"/>
      </c:dateAx>
      <c:valAx>
        <c:axId val="217008976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217013680"/>
        <c:crosses val="autoZero"/>
        <c:crossBetween val="between"/>
      </c:valAx>
      <c:spPr>
        <a:noFill/>
        <a:ln>
          <a:noFill/>
        </a:ln>
        <a:effectLst/>
      </c:spPr>
    </c:plotArea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00968655044549E-2"/>
          <c:y val="0.1152471147111666"/>
          <c:w val="0.94864560982860335"/>
          <c:h val="0.75295003854531117"/>
        </c:manualLayout>
      </c:layout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 w="1905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dLbls>
            <c:dLbl>
              <c:idx val="2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'[Comparativo AI - 11-05-16-unprotected.xlsm]Dados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'[Comparativo AI - 11-05-16-unprotected.xlsm]Dados - Gráficos'!$D$6:$AH$6</c:f>
              <c:numCache>
                <c:formatCode>#,##0</c:formatCode>
                <c:ptCount val="31"/>
                <c:pt idx="0">
                  <c:v>46</c:v>
                </c:pt>
                <c:pt idx="1">
                  <c:v>661</c:v>
                </c:pt>
                <c:pt idx="2">
                  <c:v>566</c:v>
                </c:pt>
                <c:pt idx="3">
                  <c:v>485</c:v>
                </c:pt>
                <c:pt idx="4">
                  <c:v>389</c:v>
                </c:pt>
                <c:pt idx="5">
                  <c:v>335</c:v>
                </c:pt>
                <c:pt idx="6">
                  <c:v>90</c:v>
                </c:pt>
                <c:pt idx="7">
                  <c:v>24</c:v>
                </c:pt>
                <c:pt idx="8">
                  <c:v>410</c:v>
                </c:pt>
                <c:pt idx="9">
                  <c:v>365</c:v>
                </c:pt>
                <c:pt idx="10">
                  <c:v>381</c:v>
                </c:pt>
                <c:pt idx="11">
                  <c:v>382</c:v>
                </c:pt>
                <c:pt idx="12">
                  <c:v>334</c:v>
                </c:pt>
                <c:pt idx="13">
                  <c:v>86</c:v>
                </c:pt>
                <c:pt idx="14">
                  <c:v>38</c:v>
                </c:pt>
                <c:pt idx="15">
                  <c:v>408</c:v>
                </c:pt>
                <c:pt idx="16">
                  <c:v>439</c:v>
                </c:pt>
                <c:pt idx="17">
                  <c:v>428</c:v>
                </c:pt>
                <c:pt idx="18">
                  <c:v>314</c:v>
                </c:pt>
                <c:pt idx="19">
                  <c:v>265</c:v>
                </c:pt>
                <c:pt idx="20">
                  <c:v>83</c:v>
                </c:pt>
                <c:pt idx="21">
                  <c:v>35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A-DFE8-4CB0-B98D-4A089B7567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217010544"/>
        <c:axId val="217012504"/>
      </c:barChart>
      <c:lineChart>
        <c:grouping val="standard"/>
        <c:varyColors val="0"/>
        <c:ser>
          <c:idx val="0"/>
          <c:order val="1"/>
          <c:tx>
            <c:v>Meta</c:v>
          </c:tx>
          <c:spPr>
            <a:ln>
              <a:solidFill>
                <a:srgbClr val="FF0000"/>
              </a:solidFill>
            </a:ln>
            <a:effectLst/>
          </c:spPr>
          <c:marker>
            <c:symbol val="none"/>
          </c:marker>
          <c:cat>
            <c:numRef>
              <c:f>'[Comparativo AI - 11-05-16-unprotected.xlsm]Dados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'[Comparativo AI - 11-05-16-unprotected.xlsm]Dados - Gráficos'!$D$12:$AH$12</c:f>
              <c:numCache>
                <c:formatCode>#,##0.00</c:formatCode>
                <c:ptCount val="31"/>
                <c:pt idx="0">
                  <c:v>40.012669253305887</c:v>
                </c:pt>
                <c:pt idx="1">
                  <c:v>388.45633066751128</c:v>
                </c:pt>
                <c:pt idx="2">
                  <c:v>521.83189484519755</c:v>
                </c:pt>
                <c:pt idx="3">
                  <c:v>452.14316256235651</c:v>
                </c:pt>
                <c:pt idx="4">
                  <c:v>411.46361548816219</c:v>
                </c:pt>
                <c:pt idx="5">
                  <c:v>362.11465674241828</c:v>
                </c:pt>
                <c:pt idx="6">
                  <c:v>89.695066909494017</c:v>
                </c:pt>
                <c:pt idx="7">
                  <c:v>39.345791432417457</c:v>
                </c:pt>
                <c:pt idx="8">
                  <c:v>414.13112677171586</c:v>
                </c:pt>
                <c:pt idx="9">
                  <c:v>335.77298281732516</c:v>
                </c:pt>
                <c:pt idx="10">
                  <c:v>407.79578747327577</c:v>
                </c:pt>
                <c:pt idx="11">
                  <c:v>374.11845751841003</c:v>
                </c:pt>
                <c:pt idx="12">
                  <c:v>329.43764351888507</c:v>
                </c:pt>
                <c:pt idx="13">
                  <c:v>90.361944730382461</c:v>
                </c:pt>
                <c:pt idx="14">
                  <c:v>40.679547074194311</c:v>
                </c:pt>
                <c:pt idx="15">
                  <c:v>451.47628474146802</c:v>
                </c:pt>
                <c:pt idx="16">
                  <c:v>393.79135323461873</c:v>
                </c:pt>
                <c:pt idx="17">
                  <c:v>338.77393301132315</c:v>
                </c:pt>
                <c:pt idx="18">
                  <c:v>252.41325520627126</c:v>
                </c:pt>
                <c:pt idx="19">
                  <c:v>289.75841317602345</c:v>
                </c:pt>
                <c:pt idx="20">
                  <c:v>127.3736637896904</c:v>
                </c:pt>
                <c:pt idx="21">
                  <c:v>47.681764193522845</c:v>
                </c:pt>
                <c:pt idx="22">
                  <c:v>423.80085517459815</c:v>
                </c:pt>
                <c:pt idx="23">
                  <c:v>364.11529020508357</c:v>
                </c:pt>
                <c:pt idx="24">
                  <c:v>343.77551666798638</c:v>
                </c:pt>
                <c:pt idx="25">
                  <c:v>398.12605907039352</c:v>
                </c:pt>
                <c:pt idx="26">
                  <c:v>275.4205400269222</c:v>
                </c:pt>
                <c:pt idx="27">
                  <c:v>134.37588090901892</c:v>
                </c:pt>
                <c:pt idx="28">
                  <c:v>27.008551745981471</c:v>
                </c:pt>
                <c:pt idx="29">
                  <c:v>130.37461398368833</c:v>
                </c:pt>
                <c:pt idx="30">
                  <c:v>126.37334705835775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1C-DFE8-4CB0-B98D-4A089B7567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7010544"/>
        <c:axId val="217012504"/>
      </c:lineChart>
      <c:dateAx>
        <c:axId val="217010544"/>
        <c:scaling>
          <c:orientation val="minMax"/>
        </c:scaling>
        <c:delete val="0"/>
        <c:axPos val="b"/>
        <c:numFmt formatCode="[$-416]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17012504"/>
        <c:crosses val="autoZero"/>
        <c:auto val="1"/>
        <c:lblOffset val="100"/>
        <c:baseTimeUnit val="days"/>
      </c:dateAx>
      <c:valAx>
        <c:axId val="21701250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217010544"/>
        <c:crosses val="autoZero"/>
        <c:crossBetween val="between"/>
      </c:valAx>
      <c:spPr>
        <a:noFill/>
        <a:ln>
          <a:noFill/>
        </a:ln>
        <a:effectLst/>
      </c:spPr>
    </c:plotArea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21105009973328545"/>
          <c:w val="1"/>
          <c:h val="0.6760521095291325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TMEF</c:v>
                </c:pt>
              </c:strCache>
            </c:strRef>
          </c:tx>
          <c:spPr>
            <a:gradFill flip="none" rotWithShape="1">
              <a:gsLst>
                <a:gs pos="0">
                  <a:srgbClr val="19345B"/>
                </a:gs>
                <a:gs pos="50000">
                  <a:schemeClr val="accent1">
                    <a:lumMod val="75000"/>
                  </a:schemeClr>
                </a:gs>
                <a:gs pos="100000">
                  <a:srgbClr val="19345B"/>
                </a:gs>
              </a:gsLst>
              <a:lin ang="10800000" scaled="1"/>
              <a:tileRect/>
            </a:gra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c:spPr>
          <c:invertIfNegative val="0"/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A68B-42D7-9922-1033F30CA165}"/>
              </c:ext>
            </c:extLst>
          </c:dPt>
          <c:dLbls>
            <c:dLbl>
              <c:idx val="0"/>
              <c:layout>
                <c:manualLayout>
                  <c:x val="1.0010967670332088E-2"/>
                  <c:y val="-7.32034589007056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6DD-4399-B820-4554E211721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2.1518540112448913E-4"/>
                  <c:y val="-0.2034010345113982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36DD-4399-B820-4554E211721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6.3700209902695891E-3"/>
                  <c:y val="-0.2914863170277743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36DD-4399-B820-4554E2117214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3.2253577578456646E-4"/>
                  <c:y val="-0.2825357783275444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F3-47B6-B362-8D75B94687B9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1.0759270056224456E-4"/>
                  <c:y val="-0.3240523900099802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F3-47B6-B362-8D75B94687B9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3.0775389575236618E-3"/>
                  <c:y val="-0.3087433777246467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A68B-42D7-9922-1033F30CA165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0"/>
                  <c:y val="-0.3155749925454726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36DD-4399-B820-4554E211721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rgbClr val="19345B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Plan1!$A$2:$A$8</c:f>
              <c:strCache>
                <c:ptCount val="7"/>
                <c:pt idx="0">
                  <c:v>Set/15</c:v>
                </c:pt>
                <c:pt idx="1">
                  <c:v>Dez/15</c:v>
                </c:pt>
                <c:pt idx="2">
                  <c:v>Jan/16</c:v>
                </c:pt>
                <c:pt idx="3">
                  <c:v>Fev/16</c:v>
                </c:pt>
                <c:pt idx="4">
                  <c:v>Mar/16</c:v>
                </c:pt>
                <c:pt idx="5">
                  <c:v>Abr/16</c:v>
                </c:pt>
                <c:pt idx="6">
                  <c:v>Mai/16</c:v>
                </c:pt>
              </c:strCache>
            </c:strRef>
          </c:cat>
          <c:val>
            <c:numRef>
              <c:f>Plan1!$B$2:$B$8</c:f>
              <c:numCache>
                <c:formatCode>h:mm:ss;@</c:formatCode>
                <c:ptCount val="7"/>
                <c:pt idx="0">
                  <c:v>2.2800925925925929E-2</c:v>
                </c:pt>
                <c:pt idx="1">
                  <c:v>0.10189814814814814</c:v>
                </c:pt>
                <c:pt idx="2">
                  <c:v>0.14826388888888889</c:v>
                </c:pt>
                <c:pt idx="3">
                  <c:v>0.14141203703703703</c:v>
                </c:pt>
                <c:pt idx="4">
                  <c:v>0.1721412037037037</c:v>
                </c:pt>
                <c:pt idx="5">
                  <c:v>0.16126157407407407</c:v>
                </c:pt>
                <c:pt idx="6">
                  <c:v>0.16164351851851852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3"/>
        <c:overlap val="100"/>
        <c:axId val="263631472"/>
        <c:axId val="263629904"/>
      </c:barChart>
      <c:catAx>
        <c:axId val="263631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rgbClr val="19345B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63629904"/>
        <c:crosses val="autoZero"/>
        <c:auto val="1"/>
        <c:lblAlgn val="ctr"/>
        <c:lblOffset val="100"/>
        <c:noMultiLvlLbl val="1"/>
      </c:catAx>
      <c:valAx>
        <c:axId val="263629904"/>
        <c:scaling>
          <c:orientation val="minMax"/>
        </c:scaling>
        <c:delete val="1"/>
        <c:axPos val="l"/>
        <c:numFmt formatCode="h:mm:ss;@" sourceLinked="1"/>
        <c:majorTickMark val="none"/>
        <c:minorTickMark val="none"/>
        <c:tickLblPos val="nextTo"/>
        <c:crossAx val="263631472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21105009973328545"/>
          <c:w val="1"/>
          <c:h val="0.6760521095291325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TMR</c:v>
                </c:pt>
              </c:strCache>
            </c:strRef>
          </c:tx>
          <c:spPr>
            <a:gradFill flip="none" rotWithShape="1">
              <a:gsLst>
                <a:gs pos="0">
                  <a:srgbClr val="19345B"/>
                </a:gs>
                <a:gs pos="50000">
                  <a:schemeClr val="accent1">
                    <a:lumMod val="75000"/>
                  </a:schemeClr>
                </a:gs>
                <a:gs pos="100000">
                  <a:srgbClr val="19345B"/>
                </a:gs>
              </a:gsLst>
              <a:lin ang="10800000" scaled="1"/>
              <a:tileRect/>
            </a:gra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c:spPr>
          <c:invertIfNegative val="0"/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A68B-42D7-9922-1033F30CA165}"/>
              </c:ext>
            </c:extLst>
          </c:dPt>
          <c:dLbls>
            <c:dLbl>
              <c:idx val="0"/>
              <c:layout>
                <c:manualLayout>
                  <c:x val="-2.2994304856647266E-3"/>
                  <c:y val="-0.332580505491842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6F55-4766-B697-438142CEE7C1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2.1518540112448913E-4"/>
                  <c:y val="-0.2423072000522838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6F55-4766-B697-438142CEE7C1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9.4475599477933069E-3"/>
                  <c:y val="-0.2266421404773348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6F55-4766-B697-438142CEE7C1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2.7550031817390954E-3"/>
                  <c:y val="-0.187430986053566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F3-47B6-B362-8D75B94687B9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2.9699462569614172E-3"/>
                  <c:y val="-0.1424883552793711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F3-47B6-B362-8D75B94687B9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-6.1550779150473236E-3"/>
                  <c:y val="-0.1574416606644673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A68B-42D7-9922-1033F30CA165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3.0775389575236618E-3"/>
                  <c:y val="-0.1080736275840658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6F55-4766-B697-438142CEE7C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rgbClr val="19345B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Plan1!$A$2:$A$8</c:f>
              <c:strCache>
                <c:ptCount val="7"/>
                <c:pt idx="0">
                  <c:v>Set/15</c:v>
                </c:pt>
                <c:pt idx="1">
                  <c:v>Dez/15</c:v>
                </c:pt>
                <c:pt idx="2">
                  <c:v>Jan/16</c:v>
                </c:pt>
                <c:pt idx="3">
                  <c:v>fev/16</c:v>
                </c:pt>
                <c:pt idx="4">
                  <c:v>Mar/16</c:v>
                </c:pt>
                <c:pt idx="5">
                  <c:v>Abr/16</c:v>
                </c:pt>
                <c:pt idx="6">
                  <c:v>Mai/16</c:v>
                </c:pt>
              </c:strCache>
            </c:strRef>
          </c:cat>
          <c:val>
            <c:numRef>
              <c:f>Plan1!$B$2:$B$8</c:f>
              <c:numCache>
                <c:formatCode>[h]:mm:ss;@</c:formatCode>
                <c:ptCount val="7"/>
                <c:pt idx="0">
                  <c:v>1.4335300925925925</c:v>
                </c:pt>
                <c:pt idx="1">
                  <c:v>0.98089120370370375</c:v>
                </c:pt>
                <c:pt idx="2">
                  <c:v>0.86340277777777785</c:v>
                </c:pt>
                <c:pt idx="3">
                  <c:v>0.67074074074074075</c:v>
                </c:pt>
                <c:pt idx="4">
                  <c:v>0.48246527777777781</c:v>
                </c:pt>
                <c:pt idx="5">
                  <c:v>0.5274537037037037</c:v>
                </c:pt>
                <c:pt idx="6">
                  <c:v>0.21635416666666665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3"/>
        <c:overlap val="100"/>
        <c:axId val="263625200"/>
        <c:axId val="263627160"/>
      </c:barChart>
      <c:catAx>
        <c:axId val="263625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rgbClr val="19345B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63627160"/>
        <c:crosses val="autoZero"/>
        <c:auto val="1"/>
        <c:lblAlgn val="ctr"/>
        <c:lblOffset val="100"/>
        <c:noMultiLvlLbl val="1"/>
      </c:catAx>
      <c:valAx>
        <c:axId val="263627160"/>
        <c:scaling>
          <c:orientation val="minMax"/>
        </c:scaling>
        <c:delete val="1"/>
        <c:axPos val="l"/>
        <c:numFmt formatCode="[h]:mm:ss;@" sourceLinked="1"/>
        <c:majorTickMark val="none"/>
        <c:minorTickMark val="none"/>
        <c:tickLblPos val="nextTo"/>
        <c:crossAx val="263625200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21105009973328545"/>
          <c:w val="1"/>
          <c:h val="0.6760521095291325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TMR</c:v>
                </c:pt>
              </c:strCache>
            </c:strRef>
          </c:tx>
          <c:spPr>
            <a:gradFill flip="none" rotWithShape="1">
              <a:gsLst>
                <a:gs pos="0">
                  <a:srgbClr val="19345B"/>
                </a:gs>
                <a:gs pos="50000">
                  <a:schemeClr val="accent1">
                    <a:lumMod val="75000"/>
                  </a:schemeClr>
                </a:gs>
                <a:gs pos="100000">
                  <a:srgbClr val="19345B"/>
                </a:gs>
              </a:gsLst>
              <a:lin ang="10800000" scaled="1"/>
              <a:tileRect/>
            </a:gra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c:spPr>
          <c:invertIfNegative val="0"/>
          <c:dLbls>
            <c:dLbl>
              <c:idx val="0"/>
              <c:layout>
                <c:manualLayout>
                  <c:x val="-5.6027951564899692E-3"/>
                  <c:y val="-0.3821270937644527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6953-4D1E-8B0C-11C5046B233E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3295291063435343E-2"/>
                  <c:y val="-0.2931785506022400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6953-4D1E-8B0C-11C5046B233E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2.6368597964339748E-3"/>
                  <c:y val="-0.173439353723029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6953-4D1E-8B0C-11C5046B233E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2.7550031817390954E-3"/>
                  <c:y val="-0.2911816685342697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6953-4D1E-8B0C-11C5046B233E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1.0759270056224456E-4"/>
                  <c:y val="-0.2808225985869756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6953-4D1E-8B0C-11C5046B233E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3.0775389575235491E-3"/>
                  <c:y val="-0.321711872645356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6953-4D1E-8B0C-11C5046B233E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3.0775389575236618E-3"/>
                  <c:y val="-0.2809914317185715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6953-4D1E-8B0C-11C5046B233E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rgbClr val="19345B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Plan1!$A$2:$A$4</c:f>
              <c:numCache>
                <c:formatCode>mmm\-yy</c:formatCode>
                <c:ptCount val="3"/>
                <c:pt idx="0">
                  <c:v>42430</c:v>
                </c:pt>
                <c:pt idx="1">
                  <c:v>42461</c:v>
                </c:pt>
                <c:pt idx="2">
                  <c:v>42491</c:v>
                </c:pt>
              </c:numCache>
            </c:numRef>
          </c:cat>
          <c:val>
            <c:numRef>
              <c:f>Plan1!$B$2:$B$4</c:f>
              <c:numCache>
                <c:formatCode>h:mm:ss;@</c:formatCode>
                <c:ptCount val="3"/>
                <c:pt idx="0">
                  <c:v>0.36401620370370374</c:v>
                </c:pt>
                <c:pt idx="1">
                  <c:v>0.28469907407407408</c:v>
                </c:pt>
                <c:pt idx="2">
                  <c:v>0.14109953703703704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3"/>
        <c:overlap val="100"/>
        <c:axId val="263630296"/>
        <c:axId val="263627552"/>
      </c:barChart>
      <c:dateAx>
        <c:axId val="263630296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rgbClr val="19345B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63627552"/>
        <c:crosses val="autoZero"/>
        <c:auto val="1"/>
        <c:lblOffset val="100"/>
        <c:baseTimeUnit val="months"/>
      </c:dateAx>
      <c:valAx>
        <c:axId val="263627552"/>
        <c:scaling>
          <c:orientation val="minMax"/>
        </c:scaling>
        <c:delete val="1"/>
        <c:axPos val="l"/>
        <c:numFmt formatCode="h:mm:ss;@" sourceLinked="1"/>
        <c:majorTickMark val="none"/>
        <c:minorTickMark val="none"/>
        <c:tickLblPos val="nextTo"/>
        <c:crossAx val="263630296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21105009973328545"/>
          <c:w val="1"/>
          <c:h val="0.6760521095291325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TMR</c:v>
                </c:pt>
              </c:strCache>
            </c:strRef>
          </c:tx>
          <c:spPr>
            <a:gradFill flip="none" rotWithShape="1">
              <a:gsLst>
                <a:gs pos="0">
                  <a:srgbClr val="C00000"/>
                </a:gs>
                <a:gs pos="50000">
                  <a:srgbClr val="E68E8E"/>
                </a:gs>
                <a:gs pos="100000">
                  <a:srgbClr val="C00000"/>
                </a:gs>
              </a:gsLst>
              <a:lin ang="10800000" scaled="1"/>
              <a:tileRect/>
            </a:gradFill>
            <a:ln w="6350" cap="flat" cmpd="sng" algn="ctr">
              <a:noFill/>
              <a:prstDash val="solid"/>
              <a:miter lim="800000"/>
            </a:ln>
            <a:effectLst/>
          </c:spPr>
          <c:invertIfNegative val="0"/>
          <c:dLbls>
            <c:dLbl>
              <c:idx val="0"/>
              <c:layout>
                <c:manualLayout>
                  <c:x val="3.4042299685002344E-3"/>
                  <c:y val="-0.2278395266533953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92F9-4F56-8F34-29794BF960B2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8.7914238936518552E-3"/>
                  <c:y val="-0.3676626081652624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92F9-4F56-8F34-29794BF960B2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1.9880703016041369E-2"/>
                  <c:y val="-0.274525279336161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92F9-4F56-8F34-29794BF960B2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2.7550031817390954E-3"/>
                  <c:y val="-0.2911816685342697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92F9-4F56-8F34-29794BF960B2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1.0759270056224456E-4"/>
                  <c:y val="-0.2808225985869756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92F9-4F56-8F34-29794BF960B2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3.0775389575235491E-3"/>
                  <c:y val="-0.321711872645356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92F9-4F56-8F34-29794BF960B2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3.0775389575236618E-3"/>
                  <c:y val="-0.2809914317185715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92F9-4F56-8F34-29794BF960B2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rgbClr val="19345B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Plan1!$A$2:$A$4</c:f>
              <c:numCache>
                <c:formatCode>mmm\-yy</c:formatCode>
                <c:ptCount val="3"/>
                <c:pt idx="0">
                  <c:v>42430</c:v>
                </c:pt>
                <c:pt idx="1">
                  <c:v>42461</c:v>
                </c:pt>
                <c:pt idx="2">
                  <c:v>42491</c:v>
                </c:pt>
              </c:numCache>
            </c:numRef>
          </c:cat>
          <c:val>
            <c:numRef>
              <c:f>Plan1!$B$2:$B$4</c:f>
              <c:numCache>
                <c:formatCode>[h]:mm:ss;@</c:formatCode>
                <c:ptCount val="3"/>
                <c:pt idx="0" formatCode="h:mm:ss;@">
                  <c:v>0.59055555555555561</c:v>
                </c:pt>
                <c:pt idx="1">
                  <c:v>1.134074074074074</c:v>
                </c:pt>
                <c:pt idx="2" formatCode="h:mm:ss;@">
                  <c:v>0.3870601851851852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3"/>
        <c:overlap val="100"/>
        <c:axId val="263629120"/>
        <c:axId val="263625592"/>
      </c:barChart>
      <c:dateAx>
        <c:axId val="263629120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rgbClr val="19345B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63625592"/>
        <c:crosses val="autoZero"/>
        <c:auto val="1"/>
        <c:lblOffset val="100"/>
        <c:baseTimeUnit val="months"/>
      </c:dateAx>
      <c:valAx>
        <c:axId val="263625592"/>
        <c:scaling>
          <c:orientation val="minMax"/>
        </c:scaling>
        <c:delete val="1"/>
        <c:axPos val="l"/>
        <c:numFmt formatCode="h:mm:ss;@" sourceLinked="1"/>
        <c:majorTickMark val="none"/>
        <c:minorTickMark val="none"/>
        <c:tickLblPos val="nextTo"/>
        <c:crossAx val="263629120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21105009973328545"/>
          <c:w val="1"/>
          <c:h val="0.6760521095291325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TMR</c:v>
                </c:pt>
              </c:strCache>
            </c:strRef>
          </c:tx>
          <c:spPr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50000">
                  <a:schemeClr val="bg1">
                    <a:lumMod val="8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10800000" scaled="1"/>
              <a:tileRect/>
            </a:gradFill>
            <a:ln w="6350" cap="flat" cmpd="sng" algn="ctr">
              <a:noFill/>
              <a:prstDash val="solid"/>
              <a:miter lim="800000"/>
            </a:ln>
            <a:effectLst/>
          </c:spPr>
          <c:invertIfNegative val="0"/>
          <c:dLbls>
            <c:dLbl>
              <c:idx val="0"/>
              <c:layout>
                <c:manualLayout>
                  <c:x val="-5.6031497637783548E-3"/>
                  <c:y val="-0.360846353381190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8635-4D7F-B8B7-BCC36E7D6D61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2.1560123133826563E-4"/>
                  <c:y val="-0.3410615779560703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635-4D7F-B8B7-BCC36E7D6D61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2.6368597964339748E-3"/>
                  <c:y val="-0.1308770351155885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8635-4D7F-B8B7-BCC36E7D6D61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2.7550031817390954E-3"/>
                  <c:y val="-0.2911816685342697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8635-4D7F-B8B7-BCC36E7D6D61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1.0759270056224456E-4"/>
                  <c:y val="-0.2808225985869756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8635-4D7F-B8B7-BCC36E7D6D61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3.0775389575235491E-3"/>
                  <c:y val="-0.321711872645356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8635-4D7F-B8B7-BCC36E7D6D61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3.0775389575236618E-3"/>
                  <c:y val="-0.2809914317185715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8635-4D7F-B8B7-BCC36E7D6D6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rgbClr val="19345B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Plan1!$A$2:$A$4</c:f>
              <c:numCache>
                <c:formatCode>mmm\-yy</c:formatCode>
                <c:ptCount val="3"/>
                <c:pt idx="0">
                  <c:v>42430</c:v>
                </c:pt>
                <c:pt idx="1">
                  <c:v>42461</c:v>
                </c:pt>
                <c:pt idx="2">
                  <c:v>42491</c:v>
                </c:pt>
              </c:numCache>
            </c:numRef>
          </c:cat>
          <c:val>
            <c:numRef>
              <c:f>Plan1!$B$2:$B$4</c:f>
              <c:numCache>
                <c:formatCode>h:mm:ss;@</c:formatCode>
                <c:ptCount val="3"/>
                <c:pt idx="0">
                  <c:v>0.81133101851851841</c:v>
                </c:pt>
                <c:pt idx="1">
                  <c:v>0.76219907407407417</c:v>
                </c:pt>
                <c:pt idx="2">
                  <c:v>0.10099537037037037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3"/>
        <c:overlap val="100"/>
        <c:axId val="263627944"/>
        <c:axId val="263625984"/>
      </c:barChart>
      <c:dateAx>
        <c:axId val="26362794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rgbClr val="19345B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63625984"/>
        <c:crosses val="autoZero"/>
        <c:auto val="1"/>
        <c:lblOffset val="100"/>
        <c:baseTimeUnit val="months"/>
      </c:dateAx>
      <c:valAx>
        <c:axId val="263625984"/>
        <c:scaling>
          <c:orientation val="minMax"/>
        </c:scaling>
        <c:delete val="1"/>
        <c:axPos val="l"/>
        <c:numFmt formatCode="h:mm:ss;@" sourceLinked="1"/>
        <c:majorTickMark val="none"/>
        <c:minorTickMark val="none"/>
        <c:tickLblPos val="nextTo"/>
        <c:crossAx val="26362794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98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'[Natureza Alto Impacto Maio_ate 22.xlsx]Plan5'!$C$23</c:f>
              <c:strCache>
                <c:ptCount val="1"/>
                <c:pt idx="0">
                  <c:v>Contagem de Chave</c:v>
                </c:pt>
              </c:strCache>
            </c:strRef>
          </c:tx>
          <c:explosion val="2"/>
          <c:dPt>
            <c:idx val="0"/>
            <c:bubble3D val="0"/>
            <c:spPr>
              <a:solidFill>
                <a:srgbClr val="184E82"/>
              </a:solidFill>
            </c:spPr>
          </c:dPt>
          <c:dPt>
            <c:idx val="1"/>
            <c:bubble3D val="0"/>
            <c:spPr>
              <a:solidFill>
                <a:srgbClr val="D71920"/>
              </a:solidFill>
            </c:spPr>
          </c:dPt>
          <c:dLbls>
            <c:dLbl>
              <c:idx val="0"/>
              <c:layout>
                <c:manualLayout>
                  <c:x val="0.23067738407699037"/>
                  <c:y val="0.15154053659959171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0.21212860892388452"/>
                  <c:y val="-0.12990777194517353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7.4995625546807158E-3"/>
                  <c:y val="-0.18055555555555555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'[Natureza Alto Impacto Maio_ate 22.xlsx]Plan5'!$B$24:$B$26</c:f>
              <c:strCache>
                <c:ptCount val="3"/>
                <c:pt idx="0">
                  <c:v>Contax</c:v>
                </c:pt>
                <c:pt idx="1">
                  <c:v>Cliente</c:v>
                </c:pt>
                <c:pt idx="2">
                  <c:v>Fornecedor</c:v>
                </c:pt>
              </c:strCache>
            </c:strRef>
          </c:cat>
          <c:val>
            <c:numRef>
              <c:f>'[Natureza Alto Impacto Maio_ate 22.xlsx]Plan5'!$C$24:$C$26</c:f>
              <c:numCache>
                <c:formatCode>General</c:formatCode>
                <c:ptCount val="3"/>
                <c:pt idx="0">
                  <c:v>83</c:v>
                </c:pt>
                <c:pt idx="1">
                  <c:v>42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strRef>
              <c:f>'[Natureza Alto Impacto Maio_ate 22.xlsx]Plan5'!$D$23</c:f>
              <c:strCache>
                <c:ptCount val="1"/>
                <c:pt idx="0">
                  <c:v>%</c:v>
                </c:pt>
              </c:strCache>
            </c:strRef>
          </c:tx>
          <c:cat>
            <c:strRef>
              <c:f>'[Natureza Alto Impacto Maio_ate 22.xlsx]Plan5'!$B$24:$B$26</c:f>
              <c:strCache>
                <c:ptCount val="3"/>
                <c:pt idx="0">
                  <c:v>Contax</c:v>
                </c:pt>
                <c:pt idx="1">
                  <c:v>Cliente</c:v>
                </c:pt>
                <c:pt idx="2">
                  <c:v>Fornecedor</c:v>
                </c:pt>
              </c:strCache>
            </c:strRef>
          </c:cat>
          <c:val>
            <c:numRef>
              <c:f>'[Natureza Alto Impacto Maio_ate 22.xlsx]Plan5'!$D$24:$D$26</c:f>
              <c:numCache>
                <c:formatCode>0.0%</c:formatCode>
                <c:ptCount val="3"/>
                <c:pt idx="0">
                  <c:v>0.62406015037593987</c:v>
                </c:pt>
                <c:pt idx="1">
                  <c:v>0.31578947368421051</c:v>
                </c:pt>
                <c:pt idx="2">
                  <c:v>6.0150375939849621E-2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92"/>
      </c:pieChart>
    </c:plotArea>
    <c:plotVisOnly val="1"/>
    <c:dispBlanksAs val="gap"/>
    <c:showDLblsOverMax val="0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0.56871</cdr:x>
      <cdr:y>0.7074</cdr:y>
    </cdr:from>
    <cdr:to>
      <cdr:x>0.69332</cdr:x>
      <cdr:y>0.79971</cdr:y>
    </cdr:to>
    <cdr:sp macro="" textlink="">
      <cdr:nvSpPr>
        <cdr:cNvPr id="2" name="CaixaDeTexto 17"/>
        <cdr:cNvSpPr txBox="1"/>
      </cdr:nvSpPr>
      <cdr:spPr>
        <a:xfrm xmlns:a="http://schemas.openxmlformats.org/drawingml/2006/main">
          <a:off x="3341487" y="2122758"/>
          <a:ext cx="732185" cy="276999"/>
        </a:xfrm>
        <a:prstGeom xmlns:a="http://schemas.openxmlformats.org/drawingml/2006/main" prst="rect">
          <a:avLst/>
        </a:prstGeom>
        <a:noFill xmlns:a="http://schemas.openxmlformats.org/drawingml/2006/main"/>
        <a:scene3d xmlns:a="http://schemas.openxmlformats.org/drawingml/2006/main">
          <a:camera prst="orthographicFront"/>
          <a:lightRig rig="threePt" dir="t"/>
        </a:scene3d>
        <a:sp3d xmlns:a="http://schemas.openxmlformats.org/drawingml/2006/main">
          <a:bevelT w="114300" prst="artDeco"/>
          <a:bevelB/>
        </a:sp3d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BR" sz="1200" b="1" dirty="0" smtClean="0">
              <a:solidFill>
                <a:schemeClr val="accent2"/>
              </a:solidFill>
            </a:rPr>
            <a:t>-7,55</a:t>
          </a:r>
          <a:r>
            <a:rPr lang="pt-BR" sz="1200" b="1" dirty="0">
              <a:solidFill>
                <a:schemeClr val="accent2"/>
              </a:solidFill>
            </a:rPr>
            <a:t>%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24/05/2016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0744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37706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5245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2918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2954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5247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4579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07950" y="733425"/>
            <a:ext cx="6508750" cy="366553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  <a:latin typeface="Calibri"/>
              </a:rPr>
              <a:pPr/>
              <a:t>9</a:t>
            </a:fld>
            <a:endParaRPr lang="pt-BR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7087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10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963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11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5640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12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8854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13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4194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14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535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15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5663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16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8170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96996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Autorização de Transporte de taxi do</a:t>
            </a:r>
            <a:r>
              <a:rPr lang="pt-BR" baseline="0" dirty="0" smtClean="0"/>
              <a:t> switch Extreme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89992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 de "</a:t>
            </a:r>
            <a:r>
              <a:rPr lang="pt-BR" sz="1200" b="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freeze</a:t>
            </a:r>
            <a:r>
              <a:rPr lang="pt-BR" sz="1200" b="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", não houve intervenção.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2998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20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8838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02006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3235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239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94402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66674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450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5/24/2016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5/24/2016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5/24/2016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5/24/2016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5/24/2016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5/24/2016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5/24/2016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5508" y="1582714"/>
            <a:ext cx="5886194" cy="106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5/24/2016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9" r:id="rId12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9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1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43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emf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4.png"/><Relationship Id="rId7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image" Target="../media/image4.png"/><Relationship Id="rId7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slide" Target="slide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image" Target="../media/image4.png"/><Relationship Id="rId7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slide" Target="slide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4.png"/><Relationship Id="rId7" Type="http://schemas.openxmlformats.org/officeDocument/2006/relationships/image" Target="../media/image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slide" Target="slide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emf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emf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1.xml"/><Relationship Id="rId3" Type="http://schemas.openxmlformats.org/officeDocument/2006/relationships/image" Target="../media/image4.png"/><Relationship Id="rId7" Type="http://schemas.openxmlformats.org/officeDocument/2006/relationships/chart" Target="../charts/chart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9.xml"/><Relationship Id="rId5" Type="http://schemas.openxmlformats.org/officeDocument/2006/relationships/image" Target="../media/image1.emf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image" Target="../media/image16.emf"/><Relationship Id="rId3" Type="http://schemas.openxmlformats.org/officeDocument/2006/relationships/chart" Target="../charts/chart12.xml"/><Relationship Id="rId7" Type="http://schemas.openxmlformats.org/officeDocument/2006/relationships/chart" Target="../charts/chart13.xml"/><Relationship Id="rId12" Type="http://schemas.openxmlformats.org/officeDocument/2006/relationships/slide" Target="slide1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emf"/><Relationship Id="rId11" Type="http://schemas.openxmlformats.org/officeDocument/2006/relationships/image" Target="../media/image15.emf"/><Relationship Id="rId5" Type="http://schemas.openxmlformats.org/officeDocument/2006/relationships/image" Target="../media/image10.png"/><Relationship Id="rId10" Type="http://schemas.openxmlformats.org/officeDocument/2006/relationships/slide" Target="slide15.xml"/><Relationship Id="rId4" Type="http://schemas.openxmlformats.org/officeDocument/2006/relationships/image" Target="../media/image4.png"/><Relationship Id="rId9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image" Target="../media/image4.png"/><Relationship Id="rId7" Type="http://schemas.openxmlformats.org/officeDocument/2006/relationships/image" Target="../media/image1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emf"/><Relationship Id="rId5" Type="http://schemas.openxmlformats.org/officeDocument/2006/relationships/image" Target="../media/image1.emf"/><Relationship Id="rId4" Type="http://schemas.openxmlformats.org/officeDocument/2006/relationships/image" Target="../media/image10.png"/><Relationship Id="rId9" Type="http://schemas.openxmlformats.org/officeDocument/2006/relationships/image" Target="../media/image20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4.png"/><Relationship Id="rId7" Type="http://schemas.openxmlformats.org/officeDocument/2006/relationships/image" Target="../media/image2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emf"/><Relationship Id="rId5" Type="http://schemas.openxmlformats.org/officeDocument/2006/relationships/image" Target="../media/image1.emf"/><Relationship Id="rId10" Type="http://schemas.openxmlformats.org/officeDocument/2006/relationships/slide" Target="slide12.xml"/><Relationship Id="rId4" Type="http://schemas.openxmlformats.org/officeDocument/2006/relationships/image" Target="../media/image10.png"/><Relationship Id="rId9" Type="http://schemas.openxmlformats.org/officeDocument/2006/relationships/image" Target="../media/image24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4.png"/><Relationship Id="rId7" Type="http://schemas.openxmlformats.org/officeDocument/2006/relationships/image" Target="../media/image26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emf"/><Relationship Id="rId5" Type="http://schemas.openxmlformats.org/officeDocument/2006/relationships/image" Target="../media/image1.emf"/><Relationship Id="rId10" Type="http://schemas.openxmlformats.org/officeDocument/2006/relationships/slide" Target="slide12.xml"/><Relationship Id="rId4" Type="http://schemas.openxmlformats.org/officeDocument/2006/relationships/image" Target="../media/image10.png"/><Relationship Id="rId9" Type="http://schemas.openxmlformats.org/officeDocument/2006/relationships/image" Target="../media/image28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4.png"/><Relationship Id="rId7" Type="http://schemas.openxmlformats.org/officeDocument/2006/relationships/image" Target="../media/image30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emf"/><Relationship Id="rId5" Type="http://schemas.openxmlformats.org/officeDocument/2006/relationships/image" Target="../media/image1.emf"/><Relationship Id="rId4" Type="http://schemas.openxmlformats.org/officeDocument/2006/relationships/image" Target="../media/image10.png"/><Relationship Id="rId9" Type="http://schemas.openxmlformats.org/officeDocument/2006/relationships/image" Target="../media/image3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image" Target="../media/image4.png"/><Relationship Id="rId7" Type="http://schemas.openxmlformats.org/officeDocument/2006/relationships/slide" Target="slide2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image" Target="../media/image4.png"/><Relationship Id="rId7" Type="http://schemas.openxmlformats.org/officeDocument/2006/relationships/image" Target="../media/image36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emf"/><Relationship Id="rId5" Type="http://schemas.openxmlformats.org/officeDocument/2006/relationships/image" Target="../media/image1.emf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g"/><Relationship Id="rId5" Type="http://schemas.openxmlformats.org/officeDocument/2006/relationships/image" Target="../media/image1.emf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emf"/><Relationship Id="rId4" Type="http://schemas.openxmlformats.org/officeDocument/2006/relationships/image" Target="../media/image5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jpg"/><Relationship Id="rId4" Type="http://schemas.openxmlformats.org/officeDocument/2006/relationships/image" Target="../media/image5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3502222"/>
            <a:ext cx="9144000" cy="873740"/>
          </a:xfrm>
          <a:prstGeom prst="rect">
            <a:avLst/>
          </a:prstGeom>
        </p:spPr>
        <p:txBody>
          <a:bodyPr vert="horz" lIns="91431" tIns="45715" rIns="91431" bIns="45715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err="1" smtClean="0">
                <a:solidFill>
                  <a:srgbClr val="254061"/>
                </a:solidFill>
                <a:latin typeface="Arial"/>
                <a:cs typeface="Arial"/>
              </a:rPr>
              <a:t>Estabilidade</a:t>
            </a:r>
            <a:r>
              <a:rPr lang="en-US" sz="2400" b="1" dirty="0" smtClean="0">
                <a:solidFill>
                  <a:srgbClr val="254061"/>
                </a:solidFill>
                <a:latin typeface="Arial"/>
                <a:cs typeface="Arial"/>
              </a:rPr>
              <a:t> </a:t>
            </a:r>
            <a:r>
              <a:rPr lang="en-US" sz="2400" b="1" dirty="0" err="1" smtClean="0">
                <a:solidFill>
                  <a:srgbClr val="254061"/>
                </a:solidFill>
                <a:latin typeface="Arial"/>
                <a:cs typeface="Arial"/>
              </a:rPr>
              <a:t>Operacional</a:t>
            </a:r>
            <a:endParaRPr lang="en-US" sz="2400" b="1" dirty="0" smtClean="0">
              <a:solidFill>
                <a:srgbClr val="254061"/>
              </a:solidFill>
              <a:latin typeface="Arial"/>
              <a:cs typeface="Arial"/>
            </a:endParaRPr>
          </a:p>
          <a:p>
            <a:pPr>
              <a:spcBef>
                <a:spcPts val="1200"/>
              </a:spcBef>
            </a:pPr>
            <a:r>
              <a:rPr lang="en-US" sz="2000" dirty="0" smtClean="0">
                <a:solidFill>
                  <a:srgbClr val="254061"/>
                </a:solidFill>
                <a:latin typeface="Arial"/>
                <a:cs typeface="Arial"/>
              </a:rPr>
              <a:t>24 </a:t>
            </a:r>
            <a:r>
              <a:rPr lang="en-US" sz="2000" dirty="0" err="1" smtClean="0">
                <a:solidFill>
                  <a:srgbClr val="254061"/>
                </a:solidFill>
                <a:latin typeface="Arial"/>
                <a:cs typeface="Arial"/>
              </a:rPr>
              <a:t>Maio</a:t>
            </a:r>
            <a:r>
              <a:rPr lang="en-US" sz="2000" dirty="0" smtClean="0">
                <a:solidFill>
                  <a:srgbClr val="254061"/>
                </a:solidFill>
                <a:latin typeface="Arial"/>
                <a:cs typeface="Arial"/>
              </a:rPr>
              <a:t> de 2016</a:t>
            </a:r>
          </a:p>
        </p:txBody>
      </p:sp>
    </p:spTree>
    <p:extLst>
      <p:ext uri="{BB962C8B-B14F-4D97-AF65-F5344CB8AC3E}">
        <p14:creationId xmlns:p14="http://schemas.microsoft.com/office/powerpoint/2010/main" val="285764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2669861" y="503053"/>
            <a:ext cx="140976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 smtClean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625970" y="1276051"/>
            <a:ext cx="6515322" cy="31786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 – Incidentes de Alto Impacto </a:t>
            </a:r>
          </a:p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Indicadores – Total de Incidentes</a:t>
            </a:r>
          </a:p>
          <a:p>
            <a:pPr algn="l">
              <a:buClr>
                <a:srgbClr val="800000"/>
              </a:buClr>
            </a:pPr>
            <a:r>
              <a:rPr lang="pt-PT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3 .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Aprovação Politica de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Mudanças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Gestão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problemas – </a:t>
            </a:r>
            <a:r>
              <a:rPr lang="pt-BR" sz="1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Dashboard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e Indicadores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Tempo médio entre falhas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Incidentes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resolvidos de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Alto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Impacto</a:t>
            </a:r>
          </a:p>
          <a:p>
            <a:pPr algn="l"/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Projetos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Estruturantes</a:t>
            </a:r>
          </a:p>
          <a:p>
            <a:pPr algn="l"/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Alinhamento</a:t>
            </a:r>
          </a:p>
          <a:p>
            <a:pPr algn="l"/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34184" y="153259"/>
            <a:ext cx="6254098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Clr>
                <a:srgbClr val="800000"/>
              </a:buClr>
              <a:buAutoNum type="arabicPeriod"/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Indicadores: Incidentes Alto Impacto</a:t>
            </a:r>
          </a:p>
          <a:p>
            <a:pPr marL="342900" indent="-342900" algn="l">
              <a:buClr>
                <a:srgbClr val="800000"/>
              </a:buClr>
              <a:buAutoNum type="arabicPeriod"/>
            </a:pPr>
            <a:endParaRPr lang="pt-BR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" name="Gráfico 22"/>
          <p:cNvGraphicFramePr/>
          <p:nvPr>
            <p:extLst/>
          </p:nvPr>
        </p:nvGraphicFramePr>
        <p:xfrm>
          <a:off x="84083" y="795527"/>
          <a:ext cx="4298732" cy="25888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Gráfico 26"/>
          <p:cNvGraphicFramePr/>
          <p:nvPr>
            <p:extLst/>
          </p:nvPr>
        </p:nvGraphicFramePr>
        <p:xfrm>
          <a:off x="4607170" y="776695"/>
          <a:ext cx="4376834" cy="26434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7" name="Imagem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919" y="2822883"/>
            <a:ext cx="247650" cy="1762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" name="CaixaDeTexto 2"/>
          <p:cNvSpPr txBox="1"/>
          <p:nvPr/>
        </p:nvSpPr>
        <p:spPr>
          <a:xfrm>
            <a:off x="1" y="4848225"/>
            <a:ext cx="5871160" cy="24622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Informações retiradas dos indicadores de SLA e </a:t>
            </a:r>
            <a:r>
              <a:rPr lang="pt-BR" sz="1000" dirty="0" err="1">
                <a:solidFill>
                  <a:schemeClr val="bg1">
                    <a:lumMod val="65000"/>
                  </a:schemeClr>
                </a:solidFill>
              </a:rPr>
              <a:t>tProcess</a:t>
            </a:r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! referentes ao período de </a:t>
            </a:r>
            <a:r>
              <a:rPr lang="pt-BR" sz="1000" dirty="0" smtClean="0">
                <a:solidFill>
                  <a:schemeClr val="bg1">
                    <a:lumMod val="65000"/>
                  </a:schemeClr>
                </a:solidFill>
              </a:rPr>
              <a:t>01/05 </a:t>
            </a:r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a </a:t>
            </a:r>
            <a:r>
              <a:rPr lang="pt-BR" sz="1000" dirty="0" smtClean="0">
                <a:solidFill>
                  <a:schemeClr val="bg1">
                    <a:lumMod val="65000"/>
                  </a:schemeClr>
                </a:solidFill>
              </a:rPr>
              <a:t>22/05.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35" name="CaixaDeTexto 34"/>
          <p:cNvSpPr txBox="1"/>
          <p:nvPr/>
        </p:nvSpPr>
        <p:spPr>
          <a:xfrm>
            <a:off x="451788" y="262017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 smtClean="0">
                <a:solidFill>
                  <a:schemeClr val="accent2"/>
                </a:solidFill>
              </a:rPr>
              <a:t>-85,9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1171183" y="262017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</a:t>
            </a:r>
            <a:r>
              <a:rPr lang="pt-BR" sz="1100" b="1" dirty="0" smtClean="0">
                <a:solidFill>
                  <a:schemeClr val="accent2"/>
                </a:solidFill>
              </a:rPr>
              <a:t>2,8%</a:t>
            </a:r>
            <a:endParaRPr lang="pt-BR" sz="1100" b="1" dirty="0">
              <a:solidFill>
                <a:schemeClr val="accent2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1895187" y="262017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 smtClean="0">
                <a:solidFill>
                  <a:schemeClr val="accent2"/>
                </a:solidFill>
              </a:rPr>
              <a:t>-11,8%</a:t>
            </a:r>
            <a:endParaRPr lang="pt-BR" sz="1100" b="1" dirty="0">
              <a:solidFill>
                <a:schemeClr val="accent2"/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5095086" y="2602656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 smtClean="0">
                <a:solidFill>
                  <a:schemeClr val="accent2"/>
                </a:solidFill>
              </a:rPr>
              <a:t>-86,0%</a:t>
            </a:r>
            <a:endParaRPr lang="pt-BR" sz="1100" b="1" dirty="0">
              <a:solidFill>
                <a:schemeClr val="accent2"/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5826936" y="2602656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+3,8%</a:t>
            </a:r>
          </a:p>
        </p:txBody>
      </p:sp>
      <p:grpSp>
        <p:nvGrpSpPr>
          <p:cNvPr id="9" name="Agrupar 8"/>
          <p:cNvGrpSpPr/>
          <p:nvPr/>
        </p:nvGrpSpPr>
        <p:grpSpPr>
          <a:xfrm>
            <a:off x="2430842" y="3509170"/>
            <a:ext cx="4140000" cy="972000"/>
            <a:chOff x="225224" y="3577590"/>
            <a:chExt cx="3878145" cy="987777"/>
          </a:xfrm>
        </p:grpSpPr>
        <p:sp>
          <p:nvSpPr>
            <p:cNvPr id="33" name="Retângulo de cantos arredondados 32"/>
            <p:cNvSpPr/>
            <p:nvPr/>
          </p:nvSpPr>
          <p:spPr>
            <a:xfrm>
              <a:off x="225224" y="3577590"/>
              <a:ext cx="3878145" cy="987777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/>
                <a:t>Redução Consolidada</a:t>
              </a:r>
              <a:br>
                <a:rPr lang="pt-BR" sz="1600" b="1" dirty="0"/>
              </a:br>
              <a:r>
                <a:rPr lang="pt-BR" sz="1600" b="1" dirty="0"/>
                <a:t> Agosto-15 </a:t>
              </a:r>
              <a:r>
                <a:rPr lang="pt-BR" sz="1600" b="1" dirty="0" smtClean="0"/>
                <a:t>à Abril-16</a:t>
              </a:r>
              <a:endParaRPr lang="pt-BR" sz="1600" b="1" dirty="0"/>
            </a:p>
          </p:txBody>
        </p:sp>
        <p:sp>
          <p:nvSpPr>
            <p:cNvPr id="22" name="Retângulo de cantos arredondados 32"/>
            <p:cNvSpPr/>
            <p:nvPr/>
          </p:nvSpPr>
          <p:spPr>
            <a:xfrm>
              <a:off x="2758639" y="3706013"/>
              <a:ext cx="1207571" cy="709702"/>
            </a:xfrm>
            <a:prstGeom prst="round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b="1" dirty="0"/>
                <a:t>-</a:t>
              </a:r>
              <a:r>
                <a:rPr lang="pt-BR" sz="2000" b="1" dirty="0"/>
                <a:t> </a:t>
              </a:r>
              <a:r>
                <a:rPr lang="pt-BR" sz="2000" b="1" dirty="0" smtClean="0"/>
                <a:t>87,8%</a:t>
              </a:r>
              <a:endParaRPr lang="pt-BR" sz="2000" b="1" dirty="0"/>
            </a:p>
          </p:txBody>
        </p:sp>
      </p:grpSp>
      <p:pic>
        <p:nvPicPr>
          <p:cNvPr id="21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24" name="CaixaDeTexto 23"/>
          <p:cNvSpPr txBox="1"/>
          <p:nvPr/>
        </p:nvSpPr>
        <p:spPr>
          <a:xfrm>
            <a:off x="2606249" y="262017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 smtClean="0">
                <a:solidFill>
                  <a:schemeClr val="accent2"/>
                </a:solidFill>
              </a:rPr>
              <a:t>1,7%</a:t>
            </a:r>
            <a:endParaRPr lang="pt-BR" sz="1100" b="1" dirty="0">
              <a:solidFill>
                <a:schemeClr val="accent2"/>
              </a:solidFill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6522853" y="2602656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</a:t>
            </a:r>
            <a:r>
              <a:rPr lang="pt-BR" sz="1100" b="1" dirty="0" smtClean="0">
                <a:solidFill>
                  <a:schemeClr val="accent2"/>
                </a:solidFill>
              </a:rPr>
              <a:t>17,4%</a:t>
            </a:r>
            <a:endParaRPr lang="pt-BR" sz="1100" b="1" dirty="0">
              <a:solidFill>
                <a:schemeClr val="accent2"/>
              </a:solidFill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7219358" y="2602656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 smtClean="0">
                <a:solidFill>
                  <a:schemeClr val="accent2"/>
                </a:solidFill>
              </a:rPr>
              <a:t>+5,0%</a:t>
            </a:r>
            <a:endParaRPr lang="pt-BR" sz="11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444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42608" y="271638"/>
            <a:ext cx="184731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sz="24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58032" y="69812"/>
            <a:ext cx="6254098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Indicadores: Total de Incidentes</a:t>
            </a:r>
            <a:endParaRPr lang="pt-BR" sz="20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92175" y="4377863"/>
            <a:ext cx="955343" cy="763945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" name="Gráfico 22"/>
          <p:cNvGraphicFramePr/>
          <p:nvPr>
            <p:extLst/>
          </p:nvPr>
        </p:nvGraphicFramePr>
        <p:xfrm>
          <a:off x="251073" y="75284"/>
          <a:ext cx="5875578" cy="3000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CaixaDeTexto 23"/>
          <p:cNvSpPr txBox="1"/>
          <p:nvPr/>
        </p:nvSpPr>
        <p:spPr>
          <a:xfrm>
            <a:off x="953644" y="2185598"/>
            <a:ext cx="703482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>
                <a:solidFill>
                  <a:schemeClr val="accent2"/>
                </a:solidFill>
              </a:rPr>
              <a:t>-10,8%</a:t>
            </a:r>
            <a:endParaRPr lang="pt-BR" sz="1200" b="1" dirty="0">
              <a:solidFill>
                <a:schemeClr val="accent2"/>
              </a:solidFill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1810920" y="2185598"/>
            <a:ext cx="732185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2"/>
                </a:solidFill>
              </a:rPr>
              <a:t>-</a:t>
            </a:r>
            <a:r>
              <a:rPr lang="pt-BR" sz="1200" b="1" dirty="0" smtClean="0">
                <a:solidFill>
                  <a:schemeClr val="accent2"/>
                </a:solidFill>
              </a:rPr>
              <a:t>9,2%</a:t>
            </a:r>
            <a:endParaRPr lang="pt-BR" sz="1200" b="1" dirty="0">
              <a:solidFill>
                <a:schemeClr val="accent2"/>
              </a:solidFill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436" y="2794393"/>
            <a:ext cx="247650" cy="1762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8" name="CaixaDeTexto 17"/>
          <p:cNvSpPr txBox="1"/>
          <p:nvPr/>
        </p:nvSpPr>
        <p:spPr>
          <a:xfrm>
            <a:off x="2692656" y="2185598"/>
            <a:ext cx="732185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>
                <a:solidFill>
                  <a:schemeClr val="accent2"/>
                </a:solidFill>
              </a:rPr>
              <a:t>+7,5%</a:t>
            </a:r>
            <a:endParaRPr lang="pt-BR" sz="1200" b="1" dirty="0">
              <a:solidFill>
                <a:schemeClr val="accent2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3518" y="4819735"/>
            <a:ext cx="5948978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Informações retiradas dos indicadores de SLA e </a:t>
            </a:r>
            <a:r>
              <a:rPr lang="pt-BR" sz="1100" dirty="0" err="1">
                <a:solidFill>
                  <a:schemeClr val="bg1">
                    <a:lumMod val="65000"/>
                  </a:schemeClr>
                </a:solidFill>
              </a:rPr>
              <a:t>tProcess</a:t>
            </a:r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! referentes ao período de </a:t>
            </a:r>
            <a:r>
              <a:rPr lang="pt-BR" sz="1100" dirty="0" smtClean="0">
                <a:solidFill>
                  <a:schemeClr val="bg1">
                    <a:lumMod val="65000"/>
                  </a:schemeClr>
                </a:solidFill>
              </a:rPr>
              <a:t>01/05 </a:t>
            </a:r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a </a:t>
            </a:r>
            <a:r>
              <a:rPr lang="pt-BR" sz="1100" dirty="0" smtClean="0">
                <a:solidFill>
                  <a:schemeClr val="bg1">
                    <a:lumMod val="65000"/>
                  </a:schemeClr>
                </a:solidFill>
              </a:rPr>
              <a:t>22/05.</a:t>
            </a:r>
            <a:endParaRPr lang="pt-BR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22" name="Retângulo 21"/>
          <p:cNvSpPr/>
          <p:nvPr/>
        </p:nvSpPr>
        <p:spPr>
          <a:xfrm>
            <a:off x="6232760" y="1499186"/>
            <a:ext cx="2541202" cy="31472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Ação de Investigação dos Ofensores junto aos Sites;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Gestão de Problemas;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Projetos de Estabilização;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GEROT Diária de Incidentes;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Gestão de Vulnerabilidades;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Política de Mudanças (Mudança Técnica).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GEROT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sites para médio e baixo impacto (Implantação)</a:t>
            </a:r>
          </a:p>
        </p:txBody>
      </p:sp>
      <p:sp>
        <p:nvSpPr>
          <p:cNvPr id="21" name="Retângulo de cantos arredondados 14"/>
          <p:cNvSpPr/>
          <p:nvPr/>
        </p:nvSpPr>
        <p:spPr>
          <a:xfrm>
            <a:off x="6238115" y="1330154"/>
            <a:ext cx="2535847" cy="398839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Ações</a:t>
            </a:r>
            <a:endParaRPr lang="pt-BR" sz="1200" i="1" dirty="0"/>
          </a:p>
        </p:txBody>
      </p:sp>
      <p:pic>
        <p:nvPicPr>
          <p:cNvPr id="26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91" y="2924356"/>
            <a:ext cx="5787605" cy="1825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4561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75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2. Indicadores: Total de Incidentes Alto</a:t>
              </a:r>
              <a:endPara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a 20/03.</a:t>
              </a: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13" name="Retângulo de cantos arredondados 12"/>
          <p:cNvSpPr>
            <a:spLocks noChangeAspect="1"/>
          </p:cNvSpPr>
          <p:nvPr/>
        </p:nvSpPr>
        <p:spPr>
          <a:xfrm>
            <a:off x="7527600" y="740192"/>
            <a:ext cx="1440000" cy="352000"/>
          </a:xfrm>
          <a:prstGeom prst="roundRect">
            <a:avLst/>
          </a:prstGeom>
          <a:solidFill>
            <a:srgbClr val="92D05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Meta </a:t>
            </a:r>
            <a:r>
              <a:rPr lang="pt-BR" sz="1600" b="1" dirty="0" smtClean="0"/>
              <a:t>180</a:t>
            </a:r>
            <a:endParaRPr lang="pt-BR" sz="1600" b="1" dirty="0"/>
          </a:p>
        </p:txBody>
      </p:sp>
      <p:sp>
        <p:nvSpPr>
          <p:cNvPr id="14" name="Retângulo de cantos arredondados 12"/>
          <p:cNvSpPr>
            <a:spLocks noChangeAspect="1"/>
          </p:cNvSpPr>
          <p:nvPr/>
        </p:nvSpPr>
        <p:spPr>
          <a:xfrm>
            <a:off x="7527600" y="1186770"/>
            <a:ext cx="1440000" cy="352000"/>
          </a:xfrm>
          <a:prstGeom prst="roundRect">
            <a:avLst/>
          </a:prstGeom>
          <a:solidFill>
            <a:srgbClr val="0070C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Atual </a:t>
            </a:r>
            <a:r>
              <a:rPr lang="pt-BR" sz="1600" b="1" dirty="0" smtClean="0"/>
              <a:t>133</a:t>
            </a:r>
            <a:endParaRPr lang="pt-BR" sz="1600" b="1" dirty="0"/>
          </a:p>
        </p:txBody>
      </p:sp>
      <p:sp>
        <p:nvSpPr>
          <p:cNvPr id="16" name="Seta para Baixo 15">
            <a:hlinkClick r:id="rId6" action="ppaction://hlinksldjump"/>
          </p:cNvPr>
          <p:cNvSpPr/>
          <p:nvPr/>
        </p:nvSpPr>
        <p:spPr>
          <a:xfrm rot="5400000">
            <a:off x="7597154" y="4368352"/>
            <a:ext cx="499334" cy="952525"/>
          </a:xfrm>
          <a:prstGeom prst="downArrow">
            <a:avLst>
              <a:gd name="adj1" fmla="val 50000"/>
              <a:gd name="adj2" fmla="val 649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/>
              <a:t>Voltar</a:t>
            </a:r>
            <a:endParaRPr lang="pt-BR" b="1" dirty="0"/>
          </a:p>
        </p:txBody>
      </p:sp>
      <p:pic>
        <p:nvPicPr>
          <p:cNvPr id="15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graphicFrame>
        <p:nvGraphicFramePr>
          <p:cNvPr id="18" name="Gráfico 17"/>
          <p:cNvGraphicFramePr>
            <a:graphicFrameLocks noGrp="1"/>
          </p:cNvGraphicFramePr>
          <p:nvPr>
            <p:extLst/>
          </p:nvPr>
        </p:nvGraphicFramePr>
        <p:xfrm>
          <a:off x="1" y="614650"/>
          <a:ext cx="7331776" cy="45051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4163998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00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2. Indicadores: Total de Incidentes Médio</a:t>
              </a:r>
              <a:endPara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a 20/03.</a:t>
              </a: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13" name="Retângulo de cantos arredondados 12"/>
          <p:cNvSpPr>
            <a:spLocks noChangeAspect="1"/>
          </p:cNvSpPr>
          <p:nvPr/>
        </p:nvSpPr>
        <p:spPr>
          <a:xfrm>
            <a:off x="7525761" y="714053"/>
            <a:ext cx="1440000" cy="352000"/>
          </a:xfrm>
          <a:prstGeom prst="roundRect">
            <a:avLst/>
          </a:prstGeom>
          <a:solidFill>
            <a:srgbClr val="92D05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Meta </a:t>
            </a:r>
            <a:r>
              <a:rPr lang="pt-BR" sz="1600" b="1" dirty="0" smtClean="0"/>
              <a:t>10.520</a:t>
            </a:r>
          </a:p>
        </p:txBody>
      </p:sp>
      <p:sp>
        <p:nvSpPr>
          <p:cNvPr id="12" name="Retângulo de cantos arredondados 12"/>
          <p:cNvSpPr>
            <a:spLocks noChangeAspect="1"/>
          </p:cNvSpPr>
          <p:nvPr/>
        </p:nvSpPr>
        <p:spPr>
          <a:xfrm>
            <a:off x="7525761" y="1199778"/>
            <a:ext cx="1440000" cy="352000"/>
          </a:xfrm>
          <a:prstGeom prst="roundRect">
            <a:avLst/>
          </a:prstGeom>
          <a:solidFill>
            <a:srgbClr val="0070C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Atual </a:t>
            </a:r>
            <a:r>
              <a:rPr lang="pt-BR" sz="1600" b="1" dirty="0" smtClean="0"/>
              <a:t>7.679</a:t>
            </a:r>
            <a:endParaRPr lang="pt-BR" sz="1600" b="1" dirty="0"/>
          </a:p>
        </p:txBody>
      </p:sp>
      <p:sp>
        <p:nvSpPr>
          <p:cNvPr id="15" name="Seta para Baixo 14">
            <a:hlinkClick r:id="rId6" action="ppaction://hlinksldjump"/>
          </p:cNvPr>
          <p:cNvSpPr/>
          <p:nvPr/>
        </p:nvSpPr>
        <p:spPr>
          <a:xfrm rot="5400000">
            <a:off x="7597154" y="4368352"/>
            <a:ext cx="499334" cy="952525"/>
          </a:xfrm>
          <a:prstGeom prst="downArrow">
            <a:avLst>
              <a:gd name="adj1" fmla="val 50000"/>
              <a:gd name="adj2" fmla="val 649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/>
              <a:t>Voltar</a:t>
            </a:r>
            <a:endParaRPr lang="pt-BR" b="1" dirty="0"/>
          </a:p>
        </p:txBody>
      </p:sp>
      <p:pic>
        <p:nvPicPr>
          <p:cNvPr id="14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graphicFrame>
        <p:nvGraphicFramePr>
          <p:cNvPr id="18" name="Gráfico 17"/>
          <p:cNvGraphicFramePr>
            <a:graphicFrameLocks noGrp="1"/>
          </p:cNvGraphicFramePr>
          <p:nvPr>
            <p:extLst/>
          </p:nvPr>
        </p:nvGraphicFramePr>
        <p:xfrm>
          <a:off x="1" y="643711"/>
          <a:ext cx="7331776" cy="4514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135189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1" y="14892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00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2. Indicadores: Total de Incidentes Baixo</a:t>
              </a: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a 20/03.</a:t>
              </a: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14" name="Retângulo de cantos arredondados 12"/>
          <p:cNvSpPr>
            <a:spLocks noChangeAspect="1"/>
          </p:cNvSpPr>
          <p:nvPr/>
        </p:nvSpPr>
        <p:spPr>
          <a:xfrm>
            <a:off x="7525761" y="714053"/>
            <a:ext cx="1440000" cy="352000"/>
          </a:xfrm>
          <a:prstGeom prst="roundRect">
            <a:avLst/>
          </a:prstGeom>
          <a:solidFill>
            <a:srgbClr val="92D05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Meta </a:t>
            </a:r>
            <a:r>
              <a:rPr lang="pt-BR" sz="1600" b="1" dirty="0" smtClean="0"/>
              <a:t>8.442</a:t>
            </a:r>
            <a:endParaRPr lang="pt-BR" sz="1600" b="1" dirty="0"/>
          </a:p>
        </p:txBody>
      </p:sp>
      <p:sp>
        <p:nvSpPr>
          <p:cNvPr id="15" name="Retângulo de cantos arredondados 12"/>
          <p:cNvSpPr>
            <a:spLocks noChangeAspect="1"/>
          </p:cNvSpPr>
          <p:nvPr/>
        </p:nvSpPr>
        <p:spPr>
          <a:xfrm>
            <a:off x="7525761" y="1199778"/>
            <a:ext cx="1440000" cy="352000"/>
          </a:xfrm>
          <a:prstGeom prst="roundRect">
            <a:avLst/>
          </a:prstGeom>
          <a:solidFill>
            <a:srgbClr val="0070C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Atual </a:t>
            </a:r>
            <a:r>
              <a:rPr lang="pt-BR" sz="1600" b="1" dirty="0" smtClean="0"/>
              <a:t>6.564</a:t>
            </a:r>
            <a:endParaRPr lang="pt-BR" sz="1600" b="1" dirty="0"/>
          </a:p>
        </p:txBody>
      </p:sp>
      <p:sp>
        <p:nvSpPr>
          <p:cNvPr id="16" name="Seta para Baixo 15">
            <a:hlinkClick r:id="rId6" action="ppaction://hlinksldjump"/>
          </p:cNvPr>
          <p:cNvSpPr/>
          <p:nvPr/>
        </p:nvSpPr>
        <p:spPr>
          <a:xfrm rot="5400000">
            <a:off x="7597154" y="4368352"/>
            <a:ext cx="499334" cy="952525"/>
          </a:xfrm>
          <a:prstGeom prst="downArrow">
            <a:avLst>
              <a:gd name="adj1" fmla="val 50000"/>
              <a:gd name="adj2" fmla="val 649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/>
              <a:t>Voltar</a:t>
            </a:r>
            <a:endParaRPr lang="pt-BR" b="1" dirty="0"/>
          </a:p>
        </p:txBody>
      </p:sp>
      <p:pic>
        <p:nvPicPr>
          <p:cNvPr id="19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graphicFrame>
        <p:nvGraphicFramePr>
          <p:cNvPr id="21" name="Gráfico 20"/>
          <p:cNvGraphicFramePr>
            <a:graphicFrameLocks noGrp="1"/>
          </p:cNvGraphicFramePr>
          <p:nvPr>
            <p:extLst/>
          </p:nvPr>
        </p:nvGraphicFramePr>
        <p:xfrm>
          <a:off x="1" y="614651"/>
          <a:ext cx="7331776" cy="4533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1755886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19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23" name="CaixaDeTexto 5"/>
          <p:cNvSpPr txBox="1"/>
          <p:nvPr/>
        </p:nvSpPr>
        <p:spPr>
          <a:xfrm>
            <a:off x="786452" y="-22156"/>
            <a:ext cx="592334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3. Aprovação </a:t>
            </a:r>
            <a:r>
              <a: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Politica de </a:t>
            </a:r>
            <a:r>
              <a: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Mudanças</a:t>
            </a:r>
            <a:endParaRPr lang="pt-BR" sz="20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226" y="707182"/>
            <a:ext cx="6163377" cy="4393171"/>
          </a:xfrm>
          <a:prstGeom prst="rect">
            <a:avLst/>
          </a:prstGeom>
        </p:spPr>
      </p:pic>
      <p:sp>
        <p:nvSpPr>
          <p:cNvPr id="24" name="Title 1"/>
          <p:cNvSpPr txBox="1">
            <a:spLocks/>
          </p:cNvSpPr>
          <p:nvPr/>
        </p:nvSpPr>
        <p:spPr>
          <a:xfrm>
            <a:off x="5428936" y="2622094"/>
            <a:ext cx="4803331" cy="56334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pt-BR" sz="2102" b="1" dirty="0" smtClean="0">
                <a:solidFill>
                  <a:srgbClr val="FF0000"/>
                </a:solidFill>
              </a:rPr>
              <a:t>Aguardando  aprovação</a:t>
            </a:r>
            <a:endParaRPr lang="pt-BR" sz="2102" b="1" dirty="0">
              <a:solidFill>
                <a:srgbClr val="FF0000"/>
              </a:solidFill>
            </a:endParaRPr>
          </a:p>
        </p:txBody>
      </p:sp>
      <p:pic>
        <p:nvPicPr>
          <p:cNvPr id="25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51627" y="4402670"/>
            <a:ext cx="992374" cy="76323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3940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-23829"/>
            <a:ext cx="592520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670560" y="300127"/>
            <a:ext cx="184731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3220"/>
            <a:endParaRPr lang="pt-BR" sz="135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1371710" y="-34958"/>
            <a:ext cx="4694917" cy="560400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102" b="1" dirty="0" err="1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Dashboard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- Problema</a:t>
            </a:r>
            <a:endParaRPr lang="pt-BR" sz="1351" b="1" dirty="0">
              <a:solidFill>
                <a:srgbClr val="5B9BD5">
                  <a:lumMod val="50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4610" name="Picture 3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30" y="757890"/>
            <a:ext cx="8849340" cy="4233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0272" y="171162"/>
            <a:ext cx="1866343" cy="33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07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Gráfico 17"/>
          <p:cNvGraphicFramePr/>
          <p:nvPr>
            <p:extLst/>
          </p:nvPr>
        </p:nvGraphicFramePr>
        <p:xfrm>
          <a:off x="231522" y="1238614"/>
          <a:ext cx="4126674" cy="2937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8" name="Grupo 7"/>
          <p:cNvGrpSpPr/>
          <p:nvPr/>
        </p:nvGrpSpPr>
        <p:grpSpPr>
          <a:xfrm>
            <a:off x="-1" y="-18157"/>
            <a:ext cx="9144002" cy="5184065"/>
            <a:chOff x="-1" y="12500"/>
            <a:chExt cx="9144002" cy="5184065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86785"/>
              <a:chOff x="2039091" y="300128"/>
              <a:chExt cx="7104910" cy="4891310"/>
            </a:xfrm>
          </p:grpSpPr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427493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" y="12500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20272" y="201819"/>
              <a:ext cx="1866343" cy="338794"/>
            </a:xfrm>
            <a:prstGeom prst="rect">
              <a:avLst/>
            </a:prstGeom>
          </p:spPr>
        </p:pic>
      </p:grpSp>
      <p:sp>
        <p:nvSpPr>
          <p:cNvPr id="22" name="CaixaDeTexto 5"/>
          <p:cNvSpPr txBox="1"/>
          <p:nvPr/>
        </p:nvSpPr>
        <p:spPr>
          <a:xfrm>
            <a:off x="303928" y="1238614"/>
            <a:ext cx="400225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1400" b="1" dirty="0">
                <a:solidFill>
                  <a:srgbClr val="184E82"/>
                </a:solidFill>
                <a:latin typeface="Calibri"/>
              </a:rPr>
              <a:t>Incidentes Alto Impacto</a:t>
            </a:r>
          </a:p>
          <a:p>
            <a:pPr algn="ctr">
              <a:defRPr/>
            </a:pPr>
            <a:r>
              <a:rPr lang="pt-BR" sz="1400" b="1" dirty="0">
                <a:solidFill>
                  <a:srgbClr val="184E82"/>
                </a:solidFill>
                <a:latin typeface="Calibri"/>
              </a:rPr>
              <a:t>Tempo médio entre falhas em h:m:s</a:t>
            </a:r>
          </a:p>
        </p:txBody>
      </p:sp>
      <p:sp>
        <p:nvSpPr>
          <p:cNvPr id="30" name="CaixaDeTexto 17"/>
          <p:cNvSpPr txBox="1">
            <a:spLocks noChangeArrowheads="1"/>
          </p:cNvSpPr>
          <p:nvPr/>
        </p:nvSpPr>
        <p:spPr bwMode="auto">
          <a:xfrm>
            <a:off x="179512" y="4567978"/>
            <a:ext cx="797211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sz="1200" dirty="0">
                <a:solidFill>
                  <a:srgbClr val="184E82"/>
                </a:solidFill>
              </a:rPr>
              <a:t>O cálculo foi realizado considerando </a:t>
            </a:r>
            <a:r>
              <a:rPr lang="pt-BR" sz="1200" b="1" dirty="0">
                <a:solidFill>
                  <a:srgbClr val="184E82"/>
                </a:solidFill>
              </a:rPr>
              <a:t>todos</a:t>
            </a:r>
            <a:r>
              <a:rPr lang="pt-BR" sz="1200" dirty="0">
                <a:solidFill>
                  <a:srgbClr val="184E82"/>
                </a:solidFill>
              </a:rPr>
              <a:t> os chamados de Incidentes Alto Impacto (Críticos + Muito Alto)</a:t>
            </a:r>
          </a:p>
        </p:txBody>
      </p:sp>
      <p:sp>
        <p:nvSpPr>
          <p:cNvPr id="31" name="CaixaDeTexto 5"/>
          <p:cNvSpPr txBox="1"/>
          <p:nvPr/>
        </p:nvSpPr>
        <p:spPr>
          <a:xfrm>
            <a:off x="484767" y="252939"/>
            <a:ext cx="592334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2400" b="1" dirty="0">
                <a:solidFill>
                  <a:srgbClr val="184E82"/>
                </a:solidFill>
                <a:latin typeface="Calibri"/>
              </a:rPr>
              <a:t>5</a:t>
            </a:r>
            <a:r>
              <a:rPr lang="pt-BR" sz="2400" b="1" dirty="0" smtClean="0">
                <a:solidFill>
                  <a:srgbClr val="184E82"/>
                </a:solidFill>
                <a:latin typeface="Calibri"/>
              </a:rPr>
              <a:t>. </a:t>
            </a:r>
            <a:r>
              <a:rPr lang="pt-BR" sz="2400" b="1" dirty="0">
                <a:solidFill>
                  <a:srgbClr val="184E82"/>
                </a:solidFill>
                <a:latin typeface="Calibri"/>
              </a:rPr>
              <a:t>Tempo médio entre falhas e resolução</a:t>
            </a:r>
          </a:p>
        </p:txBody>
      </p:sp>
      <p:sp>
        <p:nvSpPr>
          <p:cNvPr id="19" name="CaixaDeTexto 5"/>
          <p:cNvSpPr txBox="1"/>
          <p:nvPr/>
        </p:nvSpPr>
        <p:spPr>
          <a:xfrm>
            <a:off x="4795284" y="1238614"/>
            <a:ext cx="4022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1400" b="1" dirty="0">
                <a:solidFill>
                  <a:srgbClr val="184E82"/>
                </a:solidFill>
              </a:rPr>
              <a:t>Incidentes Alto Impacto</a:t>
            </a:r>
          </a:p>
          <a:p>
            <a:pPr algn="ctr">
              <a:defRPr/>
            </a:pPr>
            <a:r>
              <a:rPr lang="pt-BR" sz="1400" b="1" dirty="0">
                <a:solidFill>
                  <a:srgbClr val="184E82"/>
                </a:solidFill>
              </a:rPr>
              <a:t>Tempo médio de resolução em h:m:s</a:t>
            </a:r>
          </a:p>
        </p:txBody>
      </p:sp>
      <p:graphicFrame>
        <p:nvGraphicFramePr>
          <p:cNvPr id="21" name="Gráfico 20"/>
          <p:cNvGraphicFramePr/>
          <p:nvPr>
            <p:extLst/>
          </p:nvPr>
        </p:nvGraphicFramePr>
        <p:xfrm>
          <a:off x="4743275" y="1238614"/>
          <a:ext cx="4126674" cy="2937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4" name="CaixaDeTexto 13"/>
          <p:cNvSpPr txBox="1"/>
          <p:nvPr/>
        </p:nvSpPr>
        <p:spPr>
          <a:xfrm>
            <a:off x="202809" y="4831458"/>
            <a:ext cx="5948978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Informações retiradas dos indicadores de SLA e </a:t>
            </a:r>
            <a:r>
              <a:rPr lang="pt-BR" sz="1100" dirty="0" err="1">
                <a:solidFill>
                  <a:schemeClr val="bg1">
                    <a:lumMod val="65000"/>
                  </a:schemeClr>
                </a:solidFill>
              </a:rPr>
              <a:t>tProcess</a:t>
            </a:r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! referentes ao período de </a:t>
            </a:r>
            <a:r>
              <a:rPr lang="pt-BR" sz="1100" dirty="0" smtClean="0">
                <a:solidFill>
                  <a:schemeClr val="bg1">
                    <a:lumMod val="65000"/>
                  </a:schemeClr>
                </a:solidFill>
              </a:rPr>
              <a:t>01/05 </a:t>
            </a:r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a </a:t>
            </a:r>
            <a:r>
              <a:rPr lang="pt-BR" sz="1100" dirty="0" smtClean="0">
                <a:solidFill>
                  <a:schemeClr val="bg1">
                    <a:lumMod val="65000"/>
                  </a:schemeClr>
                </a:solidFill>
              </a:rPr>
              <a:t>22/05.</a:t>
            </a:r>
            <a:endParaRPr lang="pt-BR" sz="11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66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1" y="-18157"/>
            <a:ext cx="9144002" cy="5170656"/>
            <a:chOff x="-1" y="12500"/>
            <a:chExt cx="9144002" cy="5170656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73376"/>
              <a:chOff x="2039091" y="300128"/>
              <a:chExt cx="7104910" cy="4877889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414072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12500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272" y="201819"/>
              <a:ext cx="1866343" cy="338794"/>
            </a:xfrm>
            <a:prstGeom prst="rect">
              <a:avLst/>
            </a:prstGeom>
          </p:spPr>
        </p:pic>
      </p:grpSp>
      <p:sp>
        <p:nvSpPr>
          <p:cNvPr id="31" name="CaixaDeTexto 5"/>
          <p:cNvSpPr txBox="1"/>
          <p:nvPr/>
        </p:nvSpPr>
        <p:spPr>
          <a:xfrm>
            <a:off x="484767" y="252939"/>
            <a:ext cx="592334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2400" b="1" dirty="0">
                <a:solidFill>
                  <a:srgbClr val="184E82"/>
                </a:solidFill>
                <a:latin typeface="Calibri"/>
              </a:rPr>
              <a:t>5</a:t>
            </a:r>
            <a:r>
              <a:rPr lang="pt-BR" sz="2400" b="1" dirty="0" smtClean="0">
                <a:solidFill>
                  <a:srgbClr val="184E82"/>
                </a:solidFill>
                <a:latin typeface="Calibri"/>
              </a:rPr>
              <a:t>. </a:t>
            </a:r>
            <a:r>
              <a:rPr lang="pt-BR" sz="2400" b="1" dirty="0">
                <a:solidFill>
                  <a:srgbClr val="184E82"/>
                </a:solidFill>
                <a:latin typeface="Calibri"/>
              </a:rPr>
              <a:t>Tempo médio de resolução</a:t>
            </a:r>
          </a:p>
        </p:txBody>
      </p:sp>
      <p:graphicFrame>
        <p:nvGraphicFramePr>
          <p:cNvPr id="18" name="Gráfico 17"/>
          <p:cNvGraphicFramePr/>
          <p:nvPr>
            <p:extLst/>
          </p:nvPr>
        </p:nvGraphicFramePr>
        <p:xfrm>
          <a:off x="179512" y="1392502"/>
          <a:ext cx="2820021" cy="238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3" name="CaixaDeTexto 5"/>
          <p:cNvSpPr txBox="1"/>
          <p:nvPr/>
        </p:nvSpPr>
        <p:spPr>
          <a:xfrm>
            <a:off x="586127" y="1238614"/>
            <a:ext cx="2001129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>
                <a:solidFill>
                  <a:srgbClr val="19345B"/>
                </a:solidFill>
              </a:rPr>
              <a:t>Realizado pela TI Contax</a:t>
            </a:r>
          </a:p>
        </p:txBody>
      </p:sp>
      <p:graphicFrame>
        <p:nvGraphicFramePr>
          <p:cNvPr id="28" name="Gráfico 27"/>
          <p:cNvGraphicFramePr/>
          <p:nvPr>
            <p:extLst/>
          </p:nvPr>
        </p:nvGraphicFramePr>
        <p:xfrm>
          <a:off x="3170517" y="1392502"/>
          <a:ext cx="2820021" cy="238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9" name="CaixaDeTexto 5"/>
          <p:cNvSpPr txBox="1"/>
          <p:nvPr/>
        </p:nvSpPr>
        <p:spPr>
          <a:xfrm>
            <a:off x="3360775" y="1238614"/>
            <a:ext cx="248603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>
                <a:solidFill>
                  <a:srgbClr val="19345B"/>
                </a:solidFill>
              </a:rPr>
              <a:t>Realizado pelo Suporte Cliente</a:t>
            </a:r>
          </a:p>
        </p:txBody>
      </p:sp>
      <p:graphicFrame>
        <p:nvGraphicFramePr>
          <p:cNvPr id="30" name="Gráfico 29"/>
          <p:cNvGraphicFramePr/>
          <p:nvPr>
            <p:extLst/>
          </p:nvPr>
        </p:nvGraphicFramePr>
        <p:xfrm>
          <a:off x="6161522" y="1392502"/>
          <a:ext cx="2820021" cy="238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2" name="CaixaDeTexto 5"/>
          <p:cNvSpPr txBox="1"/>
          <p:nvPr/>
        </p:nvSpPr>
        <p:spPr>
          <a:xfrm>
            <a:off x="6435134" y="1238614"/>
            <a:ext cx="237460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400" b="1" dirty="0">
                <a:solidFill>
                  <a:srgbClr val="19345B"/>
                </a:solidFill>
              </a:rPr>
              <a:t>Realizado pelo Fornecedor</a:t>
            </a:r>
          </a:p>
        </p:txBody>
      </p:sp>
      <p:sp>
        <p:nvSpPr>
          <p:cNvPr id="33" name="CaixaDeTexto 17"/>
          <p:cNvSpPr txBox="1">
            <a:spLocks noChangeArrowheads="1"/>
          </p:cNvSpPr>
          <p:nvPr/>
        </p:nvSpPr>
        <p:spPr bwMode="auto">
          <a:xfrm>
            <a:off x="179512" y="4567978"/>
            <a:ext cx="797211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sz="1200" dirty="0">
                <a:solidFill>
                  <a:srgbClr val="184E82"/>
                </a:solidFill>
              </a:rPr>
              <a:t>O cálculo foi realizado considerando </a:t>
            </a:r>
            <a:r>
              <a:rPr lang="pt-BR" sz="1200" b="1" dirty="0">
                <a:solidFill>
                  <a:srgbClr val="184E82"/>
                </a:solidFill>
              </a:rPr>
              <a:t>todos</a:t>
            </a:r>
            <a:r>
              <a:rPr lang="pt-BR" sz="1200" dirty="0">
                <a:solidFill>
                  <a:srgbClr val="184E82"/>
                </a:solidFill>
              </a:rPr>
              <a:t> os chamados de Incidentes Alto Impacto (Críticos + Muito Alto)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02809" y="4819735"/>
            <a:ext cx="5948978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Informações retiradas dos indicadores de SLA e </a:t>
            </a:r>
            <a:r>
              <a:rPr lang="pt-BR" sz="1100" dirty="0" err="1">
                <a:solidFill>
                  <a:schemeClr val="bg1">
                    <a:lumMod val="65000"/>
                  </a:schemeClr>
                </a:solidFill>
              </a:rPr>
              <a:t>tProcess</a:t>
            </a:r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! referentes ao período de </a:t>
            </a:r>
            <a:r>
              <a:rPr lang="pt-BR" sz="1100" dirty="0" smtClean="0">
                <a:solidFill>
                  <a:schemeClr val="bg1">
                    <a:lumMod val="65000"/>
                  </a:schemeClr>
                </a:solidFill>
              </a:rPr>
              <a:t>01/05 </a:t>
            </a:r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a </a:t>
            </a:r>
            <a:r>
              <a:rPr lang="pt-BR" sz="1100" dirty="0" smtClean="0">
                <a:solidFill>
                  <a:schemeClr val="bg1">
                    <a:lumMod val="65000"/>
                  </a:schemeClr>
                </a:solidFill>
              </a:rPr>
              <a:t>22/05.</a:t>
            </a:r>
            <a:endParaRPr lang="pt-BR" sz="11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448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Gráfico 43"/>
          <p:cNvGraphicFramePr>
            <a:graphicFrameLocks/>
          </p:cNvGraphicFramePr>
          <p:nvPr>
            <p:extLst/>
          </p:nvPr>
        </p:nvGraphicFramePr>
        <p:xfrm>
          <a:off x="2380254" y="509956"/>
          <a:ext cx="4370792" cy="2359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9" name="Conector Angulado 8"/>
          <p:cNvCxnSpPr/>
          <p:nvPr/>
        </p:nvCxnSpPr>
        <p:spPr>
          <a:xfrm>
            <a:off x="5511521" y="1689903"/>
            <a:ext cx="2165419" cy="1283892"/>
          </a:xfrm>
          <a:prstGeom prst="bentConnector2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upo 7"/>
          <p:cNvGrpSpPr/>
          <p:nvPr/>
        </p:nvGrpSpPr>
        <p:grpSpPr>
          <a:xfrm>
            <a:off x="-1" y="-18157"/>
            <a:ext cx="9144002" cy="5140931"/>
            <a:chOff x="-1" y="12500"/>
            <a:chExt cx="9144002" cy="5140931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43651"/>
              <a:chOff x="2039091" y="300128"/>
              <a:chExt cx="7104910" cy="4848136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" y="12500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20272" y="201819"/>
              <a:ext cx="1866343" cy="338794"/>
            </a:xfrm>
            <a:prstGeom prst="rect">
              <a:avLst/>
            </a:prstGeom>
          </p:spPr>
        </p:pic>
      </p:grpSp>
      <p:sp>
        <p:nvSpPr>
          <p:cNvPr id="31" name="CaixaDeTexto 5"/>
          <p:cNvSpPr txBox="1"/>
          <p:nvPr/>
        </p:nvSpPr>
        <p:spPr>
          <a:xfrm>
            <a:off x="1475656" y="53851"/>
            <a:ext cx="5085516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rgbClr val="184E82"/>
                </a:solidFill>
              </a:rPr>
              <a:t>6</a:t>
            </a:r>
            <a:r>
              <a:rPr lang="pt-BR" sz="2400" b="1" dirty="0" smtClean="0">
                <a:solidFill>
                  <a:srgbClr val="184E82"/>
                </a:solidFill>
              </a:rPr>
              <a:t>. </a:t>
            </a:r>
            <a:r>
              <a:rPr lang="pt-BR" sz="2400" b="1" dirty="0">
                <a:solidFill>
                  <a:srgbClr val="184E82"/>
                </a:solidFill>
              </a:rPr>
              <a:t>Incidentes de Alto Impacto</a:t>
            </a:r>
          </a:p>
          <a:p>
            <a:pPr algn="ctr"/>
            <a:r>
              <a:rPr lang="pt-BR" sz="1600" dirty="0">
                <a:solidFill>
                  <a:srgbClr val="184E82"/>
                </a:solidFill>
              </a:rPr>
              <a:t>01 a </a:t>
            </a:r>
            <a:r>
              <a:rPr lang="pt-BR" sz="1600" dirty="0" smtClean="0">
                <a:solidFill>
                  <a:srgbClr val="184E82"/>
                </a:solidFill>
              </a:rPr>
              <a:t>22 </a:t>
            </a:r>
            <a:r>
              <a:rPr lang="pt-BR" sz="1600" dirty="0">
                <a:solidFill>
                  <a:srgbClr val="184E82"/>
                </a:solidFill>
              </a:rPr>
              <a:t>de </a:t>
            </a:r>
            <a:r>
              <a:rPr lang="pt-BR" sz="1600" dirty="0" smtClean="0">
                <a:solidFill>
                  <a:srgbClr val="184E82"/>
                </a:solidFill>
              </a:rPr>
              <a:t>Maio </a:t>
            </a:r>
            <a:r>
              <a:rPr lang="pt-BR" sz="1600" dirty="0">
                <a:solidFill>
                  <a:srgbClr val="184E82"/>
                </a:solidFill>
              </a:rPr>
              <a:t>de 2016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3518" y="4788700"/>
            <a:ext cx="5948978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Informações retiradas dos indicadores de SLA e </a:t>
            </a:r>
            <a:r>
              <a:rPr lang="pt-BR" sz="1100" dirty="0" err="1">
                <a:solidFill>
                  <a:schemeClr val="bg1">
                    <a:lumMod val="65000"/>
                  </a:schemeClr>
                </a:solidFill>
              </a:rPr>
              <a:t>tProcess</a:t>
            </a:r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! referentes ao período de </a:t>
            </a:r>
            <a:r>
              <a:rPr lang="pt-BR" sz="1100" dirty="0" smtClean="0">
                <a:solidFill>
                  <a:schemeClr val="bg1">
                    <a:lumMod val="65000"/>
                  </a:schemeClr>
                </a:solidFill>
              </a:rPr>
              <a:t>01/05 </a:t>
            </a:r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a </a:t>
            </a:r>
            <a:r>
              <a:rPr lang="pt-BR" sz="1100" dirty="0" smtClean="0">
                <a:solidFill>
                  <a:schemeClr val="bg1">
                    <a:lumMod val="65000"/>
                  </a:schemeClr>
                </a:solidFill>
              </a:rPr>
              <a:t>22/05.</a:t>
            </a:r>
            <a:endParaRPr lang="pt-BR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5" name="Conector Angulado 4"/>
          <p:cNvCxnSpPr/>
          <p:nvPr/>
        </p:nvCxnSpPr>
        <p:spPr>
          <a:xfrm rot="10800000" flipV="1">
            <a:off x="1475654" y="1665617"/>
            <a:ext cx="2200996" cy="1308178"/>
          </a:xfrm>
          <a:prstGeom prst="bentConnector2">
            <a:avLst/>
          </a:prstGeom>
          <a:ln w="15875">
            <a:solidFill>
              <a:srgbClr val="19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/>
          <p:nvPr/>
        </p:nvCxnSpPr>
        <p:spPr>
          <a:xfrm>
            <a:off x="4578053" y="2573079"/>
            <a:ext cx="0" cy="400716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Gráfico 16"/>
          <p:cNvGraphicFramePr>
            <a:graphicFrameLocks/>
          </p:cNvGraphicFramePr>
          <p:nvPr>
            <p:extLst/>
          </p:nvPr>
        </p:nvGraphicFramePr>
        <p:xfrm>
          <a:off x="2292053" y="39289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24577" name="Picture 1">
            <a:hlinkClick r:id="rId8" action="ppaction://hlinksldjump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44" y="3032195"/>
            <a:ext cx="2665371" cy="161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8" name="Picture 2">
            <a:hlinkClick r:id="rId10" action="ppaction://hlinksldjump"/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993" y="3032195"/>
            <a:ext cx="2595637" cy="96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9" name="Picture 3">
            <a:hlinkClick r:id="rId12" action="ppaction://hlinksldjump"/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5215" y="3032195"/>
            <a:ext cx="2525904" cy="1455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8246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1" y="-18157"/>
            <a:ext cx="9144002" cy="5140931"/>
            <a:chOff x="-1" y="12500"/>
            <a:chExt cx="9144002" cy="5140931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43651"/>
              <a:chOff x="2039091" y="300128"/>
              <a:chExt cx="7104910" cy="4848136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12500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272" y="201819"/>
              <a:ext cx="1866343" cy="338794"/>
            </a:xfrm>
            <a:prstGeom prst="rect">
              <a:avLst/>
            </a:prstGeom>
          </p:spPr>
        </p:pic>
      </p:grpSp>
      <p:pic>
        <p:nvPicPr>
          <p:cNvPr id="5" name="Imagem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8120" y="841524"/>
            <a:ext cx="2787760" cy="237188"/>
          </a:xfrm>
          <a:prstGeom prst="rect">
            <a:avLst/>
          </a:prstGeom>
        </p:spPr>
      </p:pic>
      <p:sp>
        <p:nvSpPr>
          <p:cNvPr id="20" name="CaixaDeTexto 5"/>
          <p:cNvSpPr txBox="1"/>
          <p:nvPr/>
        </p:nvSpPr>
        <p:spPr>
          <a:xfrm>
            <a:off x="1259086" y="53851"/>
            <a:ext cx="5085516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rgbClr val="184E82"/>
                </a:solidFill>
              </a:rPr>
              <a:t>6</a:t>
            </a:r>
            <a:r>
              <a:rPr lang="pt-BR" sz="2400" b="1" dirty="0" smtClean="0">
                <a:solidFill>
                  <a:srgbClr val="184E82"/>
                </a:solidFill>
              </a:rPr>
              <a:t>. </a:t>
            </a:r>
            <a:r>
              <a:rPr lang="pt-BR" sz="2400" b="1" dirty="0">
                <a:solidFill>
                  <a:srgbClr val="184E82"/>
                </a:solidFill>
              </a:rPr>
              <a:t>Incidentes de Alto Impacto</a:t>
            </a:r>
          </a:p>
          <a:p>
            <a:pPr algn="ctr"/>
            <a:r>
              <a:rPr lang="pt-BR" sz="1600" dirty="0">
                <a:solidFill>
                  <a:srgbClr val="184E82"/>
                </a:solidFill>
              </a:rPr>
              <a:t>01 a </a:t>
            </a:r>
            <a:r>
              <a:rPr lang="pt-BR" sz="1600" dirty="0" smtClean="0">
                <a:solidFill>
                  <a:srgbClr val="184E82"/>
                </a:solidFill>
              </a:rPr>
              <a:t>22 de Maio de </a:t>
            </a:r>
            <a:r>
              <a:rPr lang="pt-BR" sz="1600" dirty="0">
                <a:solidFill>
                  <a:srgbClr val="184E82"/>
                </a:solidFill>
              </a:rPr>
              <a:t>2016</a:t>
            </a:r>
          </a:p>
        </p:txBody>
      </p:sp>
      <p:cxnSp>
        <p:nvCxnSpPr>
          <p:cNvPr id="39" name="Conector angulado 38"/>
          <p:cNvCxnSpPr>
            <a:stCxn id="5" idx="2"/>
          </p:cNvCxnSpPr>
          <p:nvPr/>
        </p:nvCxnSpPr>
        <p:spPr>
          <a:xfrm rot="5400000">
            <a:off x="2488329" y="206533"/>
            <a:ext cx="1211492" cy="2955850"/>
          </a:xfrm>
          <a:prstGeom prst="bentConnector3">
            <a:avLst/>
          </a:prstGeom>
          <a:ln w="15875">
            <a:solidFill>
              <a:srgbClr val="19345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angulado 40"/>
          <p:cNvCxnSpPr>
            <a:stCxn id="5" idx="2"/>
          </p:cNvCxnSpPr>
          <p:nvPr/>
        </p:nvCxnSpPr>
        <p:spPr>
          <a:xfrm rot="16200000" flipH="1">
            <a:off x="5441834" y="208878"/>
            <a:ext cx="1211492" cy="2951160"/>
          </a:xfrm>
          <a:prstGeom prst="bentConnector3">
            <a:avLst/>
          </a:prstGeom>
          <a:ln w="15875">
            <a:solidFill>
              <a:srgbClr val="19345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angulado 43"/>
          <p:cNvCxnSpPr>
            <a:stCxn id="5" idx="2"/>
          </p:cNvCxnSpPr>
          <p:nvPr/>
        </p:nvCxnSpPr>
        <p:spPr>
          <a:xfrm rot="16200000" flipH="1">
            <a:off x="3967360" y="1683352"/>
            <a:ext cx="1211492" cy="2212"/>
          </a:xfrm>
          <a:prstGeom prst="bentConnector3">
            <a:avLst/>
          </a:prstGeom>
          <a:ln w="15875">
            <a:solidFill>
              <a:srgbClr val="19345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01" name="Picture 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224" y="2311673"/>
            <a:ext cx="2595637" cy="113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9838" y="2311673"/>
            <a:ext cx="2665371" cy="270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208" y="2311673"/>
            <a:ext cx="2525904" cy="972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Botão de ação: Voltar ou Anterior 10">
            <a:hlinkClick r:id="" action="ppaction://hlinkshowjump?jump=previousslide" highlightClick="1"/>
          </p:cNvPr>
          <p:cNvSpPr/>
          <p:nvPr/>
        </p:nvSpPr>
        <p:spPr>
          <a:xfrm>
            <a:off x="7538501" y="4741155"/>
            <a:ext cx="648586" cy="27839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9762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1" y="-18157"/>
            <a:ext cx="9144002" cy="5140931"/>
            <a:chOff x="-1" y="12500"/>
            <a:chExt cx="9144002" cy="5140931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43651"/>
              <a:chOff x="2039091" y="300128"/>
              <a:chExt cx="7104910" cy="4848136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12500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272" y="201819"/>
              <a:ext cx="1866343" cy="338794"/>
            </a:xfrm>
            <a:prstGeom prst="rect">
              <a:avLst/>
            </a:prstGeom>
          </p:spPr>
        </p:pic>
      </p:grpSp>
      <p:sp>
        <p:nvSpPr>
          <p:cNvPr id="20" name="CaixaDeTexto 5"/>
          <p:cNvSpPr txBox="1"/>
          <p:nvPr/>
        </p:nvSpPr>
        <p:spPr>
          <a:xfrm>
            <a:off x="1259086" y="53851"/>
            <a:ext cx="5085516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rgbClr val="184E82"/>
                </a:solidFill>
              </a:rPr>
              <a:t>6</a:t>
            </a:r>
            <a:r>
              <a:rPr lang="pt-BR" sz="2400" b="1" dirty="0" smtClean="0">
                <a:solidFill>
                  <a:srgbClr val="184E82"/>
                </a:solidFill>
              </a:rPr>
              <a:t>. </a:t>
            </a:r>
            <a:r>
              <a:rPr lang="pt-BR" sz="2400" b="1" dirty="0">
                <a:solidFill>
                  <a:srgbClr val="184E82"/>
                </a:solidFill>
              </a:rPr>
              <a:t>Incidentes de Alto Impacto</a:t>
            </a:r>
          </a:p>
          <a:p>
            <a:pPr algn="ctr"/>
            <a:r>
              <a:rPr lang="pt-BR" sz="1600" dirty="0">
                <a:solidFill>
                  <a:srgbClr val="184E82"/>
                </a:solidFill>
              </a:rPr>
              <a:t>01 a </a:t>
            </a:r>
            <a:r>
              <a:rPr lang="pt-BR" sz="1600" dirty="0" smtClean="0">
                <a:solidFill>
                  <a:srgbClr val="184E82"/>
                </a:solidFill>
              </a:rPr>
              <a:t>22 de Maio de </a:t>
            </a:r>
            <a:r>
              <a:rPr lang="pt-BR" sz="1600" dirty="0">
                <a:solidFill>
                  <a:srgbClr val="184E82"/>
                </a:solidFill>
              </a:rPr>
              <a:t>2016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518" y="4819735"/>
            <a:ext cx="5948978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Informações retiradas dos indicadores de SLA e </a:t>
            </a:r>
            <a:r>
              <a:rPr lang="pt-BR" sz="1100" dirty="0" err="1">
                <a:solidFill>
                  <a:schemeClr val="bg1">
                    <a:lumMod val="65000"/>
                  </a:schemeClr>
                </a:solidFill>
              </a:rPr>
              <a:t>tProcess</a:t>
            </a:r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! referentes ao período de </a:t>
            </a:r>
            <a:r>
              <a:rPr lang="pt-BR" sz="1100" dirty="0" smtClean="0">
                <a:solidFill>
                  <a:schemeClr val="bg1">
                    <a:lumMod val="65000"/>
                  </a:schemeClr>
                </a:solidFill>
              </a:rPr>
              <a:t>01/05 </a:t>
            </a:r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a </a:t>
            </a:r>
            <a:r>
              <a:rPr lang="pt-BR" sz="1100" dirty="0" smtClean="0">
                <a:solidFill>
                  <a:schemeClr val="bg1">
                    <a:lumMod val="65000"/>
                  </a:schemeClr>
                </a:solidFill>
              </a:rPr>
              <a:t>22/05.</a:t>
            </a:r>
            <a:endParaRPr lang="pt-BR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9" name="Conector angulado 38"/>
          <p:cNvCxnSpPr/>
          <p:nvPr/>
        </p:nvCxnSpPr>
        <p:spPr>
          <a:xfrm rot="5400000">
            <a:off x="2474421" y="602079"/>
            <a:ext cx="1241521" cy="2958062"/>
          </a:xfrm>
          <a:prstGeom prst="bentConnector3">
            <a:avLst>
              <a:gd name="adj1" fmla="val 50000"/>
            </a:avLst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angulado 40"/>
          <p:cNvCxnSpPr/>
          <p:nvPr/>
        </p:nvCxnSpPr>
        <p:spPr>
          <a:xfrm rot="16200000" flipH="1">
            <a:off x="5466793" y="572531"/>
            <a:ext cx="1231396" cy="3016558"/>
          </a:xfrm>
          <a:prstGeom prst="bentConnector3">
            <a:avLst>
              <a:gd name="adj1" fmla="val 50000"/>
            </a:avLst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angulado 43"/>
          <p:cNvCxnSpPr/>
          <p:nvPr/>
        </p:nvCxnSpPr>
        <p:spPr>
          <a:xfrm rot="16200000" flipH="1">
            <a:off x="3954207" y="2082737"/>
            <a:ext cx="1241521" cy="1507"/>
          </a:xfrm>
          <a:prstGeom prst="bentConnector3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651" name="Picture 3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012" y="1225131"/>
            <a:ext cx="2786400" cy="23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795" y="2853622"/>
            <a:ext cx="2398834" cy="1876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93" y="2853622"/>
            <a:ext cx="2273314" cy="595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2733" y="2853622"/>
            <a:ext cx="2336073" cy="742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Botão de ação: Voltar ou Anterior 22">
            <a:hlinkClick r:id="rId10" action="ppaction://hlinksldjump" highlightClick="1"/>
          </p:cNvPr>
          <p:cNvSpPr/>
          <p:nvPr/>
        </p:nvSpPr>
        <p:spPr>
          <a:xfrm>
            <a:off x="7538501" y="4741155"/>
            <a:ext cx="648586" cy="278393"/>
          </a:xfrm>
          <a:prstGeom prst="actionButtonBackPrevious">
            <a:avLst/>
          </a:prstGeom>
          <a:solidFill>
            <a:srgbClr val="D7192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8124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1" y="-18157"/>
            <a:ext cx="9144002" cy="5140931"/>
            <a:chOff x="-1" y="12500"/>
            <a:chExt cx="9144002" cy="5140931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43651"/>
              <a:chOff x="2039091" y="300128"/>
              <a:chExt cx="7104910" cy="4848136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12500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272" y="201819"/>
              <a:ext cx="1866343" cy="338794"/>
            </a:xfrm>
            <a:prstGeom prst="rect">
              <a:avLst/>
            </a:prstGeom>
          </p:spPr>
        </p:pic>
      </p:grpSp>
      <p:sp>
        <p:nvSpPr>
          <p:cNvPr id="20" name="CaixaDeTexto 5"/>
          <p:cNvSpPr txBox="1"/>
          <p:nvPr/>
        </p:nvSpPr>
        <p:spPr>
          <a:xfrm>
            <a:off x="1259086" y="53851"/>
            <a:ext cx="5085516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rgbClr val="184E82"/>
                </a:solidFill>
              </a:rPr>
              <a:t>5. Incidentes de Alto Impacto</a:t>
            </a:r>
          </a:p>
          <a:p>
            <a:pPr algn="ctr"/>
            <a:r>
              <a:rPr lang="pt-BR" sz="1600" dirty="0">
                <a:solidFill>
                  <a:srgbClr val="184E82"/>
                </a:solidFill>
              </a:rPr>
              <a:t>01 a </a:t>
            </a:r>
            <a:r>
              <a:rPr lang="pt-BR" sz="1600" dirty="0" smtClean="0">
                <a:solidFill>
                  <a:srgbClr val="184E82"/>
                </a:solidFill>
              </a:rPr>
              <a:t>22 de Maio de </a:t>
            </a:r>
            <a:r>
              <a:rPr lang="pt-BR" sz="1600" dirty="0">
                <a:solidFill>
                  <a:srgbClr val="184E82"/>
                </a:solidFill>
              </a:rPr>
              <a:t>2016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518" y="4819735"/>
            <a:ext cx="5948978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Informações retiradas dos indicadores de SLA e </a:t>
            </a:r>
            <a:r>
              <a:rPr lang="pt-BR" sz="1100" dirty="0" err="1">
                <a:solidFill>
                  <a:schemeClr val="bg1">
                    <a:lumMod val="65000"/>
                  </a:schemeClr>
                </a:solidFill>
              </a:rPr>
              <a:t>tProcess</a:t>
            </a:r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! referentes ao período de </a:t>
            </a:r>
            <a:r>
              <a:rPr lang="pt-BR" sz="1100" dirty="0" smtClean="0">
                <a:solidFill>
                  <a:schemeClr val="bg1">
                    <a:lumMod val="65000"/>
                  </a:schemeClr>
                </a:solidFill>
              </a:rPr>
              <a:t>01/05 </a:t>
            </a:r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a </a:t>
            </a:r>
            <a:r>
              <a:rPr lang="pt-BR" sz="1100" dirty="0" smtClean="0">
                <a:solidFill>
                  <a:schemeClr val="bg1">
                    <a:lumMod val="65000"/>
                  </a:schemeClr>
                </a:solidFill>
              </a:rPr>
              <a:t>22/05.</a:t>
            </a:r>
            <a:endParaRPr lang="pt-BR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9" name="Conector angulado 38"/>
          <p:cNvCxnSpPr>
            <a:stCxn id="28673" idx="2"/>
          </p:cNvCxnSpPr>
          <p:nvPr/>
        </p:nvCxnSpPr>
        <p:spPr>
          <a:xfrm rot="5400000">
            <a:off x="2442273" y="583314"/>
            <a:ext cx="1235227" cy="2998820"/>
          </a:xfrm>
          <a:prstGeom prst="bentConnector3">
            <a:avLst>
              <a:gd name="adj1" fmla="val 50000"/>
            </a:avLst>
          </a:prstGeom>
          <a:ln w="15875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angulado 40"/>
          <p:cNvCxnSpPr>
            <a:stCxn id="28673" idx="2"/>
          </p:cNvCxnSpPr>
          <p:nvPr/>
        </p:nvCxnSpPr>
        <p:spPr>
          <a:xfrm rot="16200000" flipH="1">
            <a:off x="5452025" y="572382"/>
            <a:ext cx="1235227" cy="3020684"/>
          </a:xfrm>
          <a:prstGeom prst="bentConnector3">
            <a:avLst>
              <a:gd name="adj1" fmla="val 50000"/>
            </a:avLst>
          </a:prstGeom>
          <a:ln w="15875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angulado 43"/>
          <p:cNvCxnSpPr>
            <a:stCxn id="28673" idx="2"/>
          </p:cNvCxnSpPr>
          <p:nvPr/>
        </p:nvCxnSpPr>
        <p:spPr>
          <a:xfrm rot="16200000" flipH="1">
            <a:off x="3942469" y="2081938"/>
            <a:ext cx="1235227" cy="1572"/>
          </a:xfrm>
          <a:prstGeom prst="bentConnector3">
            <a:avLst/>
          </a:prstGeom>
          <a:ln w="15875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673" name="Picture 1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096" y="1227511"/>
            <a:ext cx="2786400" cy="23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49" name="Picture 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693" y="2798838"/>
            <a:ext cx="2665371" cy="98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90" y="2798838"/>
            <a:ext cx="2525904" cy="65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427" y="2798838"/>
            <a:ext cx="2595637" cy="65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Botão de ação: Voltar ou Anterior 22">
            <a:hlinkClick r:id="rId10" action="ppaction://hlinksldjump" highlightClick="1"/>
          </p:cNvPr>
          <p:cNvSpPr/>
          <p:nvPr/>
        </p:nvSpPr>
        <p:spPr>
          <a:xfrm>
            <a:off x="7538501" y="4741155"/>
            <a:ext cx="648586" cy="278393"/>
          </a:xfrm>
          <a:prstGeom prst="actionButtonBackPrevious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870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Angulado 8"/>
          <p:cNvCxnSpPr>
            <a:stCxn id="24577" idx="3"/>
            <a:endCxn id="24580" idx="0"/>
          </p:cNvCxnSpPr>
          <p:nvPr/>
        </p:nvCxnSpPr>
        <p:spPr>
          <a:xfrm>
            <a:off x="5642393" y="2071000"/>
            <a:ext cx="2020011" cy="1208940"/>
          </a:xfrm>
          <a:prstGeom prst="bentConnector2">
            <a:avLst/>
          </a:prstGeom>
          <a:ln w="15875">
            <a:solidFill>
              <a:srgbClr val="19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upo 7"/>
          <p:cNvGrpSpPr/>
          <p:nvPr/>
        </p:nvGrpSpPr>
        <p:grpSpPr>
          <a:xfrm>
            <a:off x="-1" y="-18157"/>
            <a:ext cx="9144002" cy="5140931"/>
            <a:chOff x="-1" y="12500"/>
            <a:chExt cx="9144002" cy="5140931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43651"/>
              <a:chOff x="2039091" y="300128"/>
              <a:chExt cx="7104910" cy="4848136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12500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272" y="201819"/>
              <a:ext cx="1866343" cy="338794"/>
            </a:xfrm>
            <a:prstGeom prst="rect">
              <a:avLst/>
            </a:prstGeom>
          </p:spPr>
        </p:pic>
      </p:grpSp>
      <p:sp>
        <p:nvSpPr>
          <p:cNvPr id="31" name="CaixaDeTexto 5"/>
          <p:cNvSpPr txBox="1"/>
          <p:nvPr/>
        </p:nvSpPr>
        <p:spPr>
          <a:xfrm>
            <a:off x="1475656" y="53851"/>
            <a:ext cx="5085516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rgbClr val="184E82"/>
                </a:solidFill>
              </a:rPr>
              <a:t>6</a:t>
            </a:r>
            <a:r>
              <a:rPr lang="pt-BR" sz="2400" b="1" dirty="0" smtClean="0">
                <a:solidFill>
                  <a:srgbClr val="184E82"/>
                </a:solidFill>
              </a:rPr>
              <a:t>. </a:t>
            </a:r>
            <a:r>
              <a:rPr lang="pt-BR" sz="2400" b="1" dirty="0">
                <a:solidFill>
                  <a:srgbClr val="184E82"/>
                </a:solidFill>
              </a:rPr>
              <a:t>Incidentes de Alto Impacto</a:t>
            </a:r>
          </a:p>
          <a:p>
            <a:pPr algn="ctr"/>
            <a:r>
              <a:rPr lang="pt-BR" sz="1600" dirty="0">
                <a:solidFill>
                  <a:srgbClr val="184E82"/>
                </a:solidFill>
              </a:rPr>
              <a:t>01 a </a:t>
            </a:r>
            <a:r>
              <a:rPr lang="pt-BR" sz="1600" dirty="0" smtClean="0">
                <a:solidFill>
                  <a:srgbClr val="184E82"/>
                </a:solidFill>
              </a:rPr>
              <a:t>22 </a:t>
            </a:r>
            <a:r>
              <a:rPr lang="pt-BR" sz="1600" dirty="0">
                <a:solidFill>
                  <a:srgbClr val="184E82"/>
                </a:solidFill>
              </a:rPr>
              <a:t>de </a:t>
            </a:r>
            <a:r>
              <a:rPr lang="pt-BR" sz="1600" dirty="0" smtClean="0">
                <a:solidFill>
                  <a:srgbClr val="184E82"/>
                </a:solidFill>
              </a:rPr>
              <a:t>Maio </a:t>
            </a:r>
            <a:r>
              <a:rPr lang="pt-BR" sz="1600" dirty="0">
                <a:solidFill>
                  <a:srgbClr val="184E82"/>
                </a:solidFill>
              </a:rPr>
              <a:t>de </a:t>
            </a:r>
            <a:r>
              <a:rPr lang="pt-BR" sz="1600" dirty="0" smtClean="0">
                <a:solidFill>
                  <a:srgbClr val="184E82"/>
                </a:solidFill>
              </a:rPr>
              <a:t>2016 – Por Cliente</a:t>
            </a:r>
            <a:endParaRPr lang="pt-BR" sz="1600" dirty="0">
              <a:solidFill>
                <a:srgbClr val="184E82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3518" y="4788700"/>
            <a:ext cx="5948978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Informações retiradas dos indicadores de SLA e </a:t>
            </a:r>
            <a:r>
              <a:rPr lang="pt-BR" sz="1100" dirty="0" err="1">
                <a:solidFill>
                  <a:schemeClr val="bg1">
                    <a:lumMod val="65000"/>
                  </a:schemeClr>
                </a:solidFill>
              </a:rPr>
              <a:t>tProcess</a:t>
            </a:r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! referentes ao período de </a:t>
            </a:r>
            <a:r>
              <a:rPr lang="pt-BR" sz="1100" dirty="0" smtClean="0">
                <a:solidFill>
                  <a:schemeClr val="bg1">
                    <a:lumMod val="65000"/>
                  </a:schemeClr>
                </a:solidFill>
              </a:rPr>
              <a:t>01/05 </a:t>
            </a:r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a </a:t>
            </a:r>
            <a:r>
              <a:rPr lang="pt-BR" sz="1100" dirty="0" smtClean="0">
                <a:solidFill>
                  <a:schemeClr val="bg1">
                    <a:lumMod val="65000"/>
                  </a:schemeClr>
                </a:solidFill>
              </a:rPr>
              <a:t>22/05.</a:t>
            </a:r>
            <a:endParaRPr lang="pt-BR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5" name="Conector Angulado 4"/>
          <p:cNvCxnSpPr>
            <a:stCxn id="24577" idx="1"/>
            <a:endCxn id="24578" idx="0"/>
          </p:cNvCxnSpPr>
          <p:nvPr/>
        </p:nvCxnSpPr>
        <p:spPr>
          <a:xfrm rot="10800000" flipV="1">
            <a:off x="1470413" y="2071000"/>
            <a:ext cx="2096711" cy="1208940"/>
          </a:xfrm>
          <a:prstGeom prst="bentConnector2">
            <a:avLst/>
          </a:prstGeom>
          <a:ln w="15875">
            <a:solidFill>
              <a:srgbClr val="19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24577" idx="2"/>
            <a:endCxn id="24579" idx="0"/>
          </p:cNvCxnSpPr>
          <p:nvPr/>
        </p:nvCxnSpPr>
        <p:spPr>
          <a:xfrm flipH="1">
            <a:off x="4602729" y="3026226"/>
            <a:ext cx="2029" cy="253714"/>
          </a:xfrm>
          <a:prstGeom prst="straightConnector1">
            <a:avLst/>
          </a:prstGeom>
          <a:ln w="15875">
            <a:solidFill>
              <a:srgbClr val="19345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577" name="Picture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123" y="1115773"/>
            <a:ext cx="2075270" cy="1910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82" y="3279940"/>
            <a:ext cx="2502659" cy="143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518" y="3279940"/>
            <a:ext cx="2448422" cy="80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193" y="3279940"/>
            <a:ext cx="2448422" cy="96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757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-86707"/>
            <a:ext cx="6254098" cy="619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Projeto: T2R – Transição de Serviços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54755" y="2012334"/>
            <a:ext cx="2821854" cy="27425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Elaboração dos fluxogramas detalhados dos processos de GMUD e de Configuração do serviço Gravação.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Elaboração da matriz de papéis e responsabilidades (RACI).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Início de documentação e padronização dos Indicadores (</a:t>
            </a:r>
            <a:r>
              <a:rPr lang="pt-BR" sz="1200" dirty="0" err="1">
                <a:solidFill>
                  <a:schemeClr val="tx1"/>
                </a:solidFill>
              </a:rPr>
              <a:t>checklist</a:t>
            </a:r>
            <a:r>
              <a:rPr lang="pt-BR" sz="1200" dirty="0">
                <a:solidFill>
                  <a:schemeClr val="tx1"/>
                </a:solidFill>
              </a:rPr>
              <a:t> e </a:t>
            </a:r>
            <a:r>
              <a:rPr lang="pt-BR" sz="1200" dirty="0" err="1">
                <a:solidFill>
                  <a:schemeClr val="tx1"/>
                </a:solidFill>
              </a:rPr>
              <a:t>dashboards</a:t>
            </a:r>
            <a:r>
              <a:rPr lang="pt-BR" sz="1200" dirty="0">
                <a:solidFill>
                  <a:schemeClr val="tx1"/>
                </a:solidFill>
              </a:rPr>
              <a:t>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Proposta para desenvolvimento dos módulos de T2R no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tProcess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!, para centralização da automação.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Workshops de conscientização.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54754" y="791106"/>
            <a:ext cx="3028202" cy="10809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T2R – Transição de Serviços</a:t>
            </a:r>
          </a:p>
          <a:p>
            <a:r>
              <a:rPr lang="pt-BR" sz="1200" i="1" dirty="0"/>
              <a:t>Data Inicio: 22-03-2016</a:t>
            </a:r>
          </a:p>
          <a:p>
            <a:r>
              <a:rPr lang="pt-BR" sz="1200" i="1" dirty="0"/>
              <a:t>Data Conclusão: 22-07-2016</a:t>
            </a:r>
          </a:p>
          <a:p>
            <a:r>
              <a:rPr lang="pt-BR" sz="1200" i="1" dirty="0"/>
              <a:t>Progresso: 65%</a:t>
            </a:r>
          </a:p>
          <a:p>
            <a:r>
              <a:rPr lang="pt-BR" sz="1200" i="1" dirty="0"/>
              <a:t>PM: </a:t>
            </a:r>
            <a:r>
              <a:rPr lang="pt-BR" sz="1200" i="1" dirty="0" err="1"/>
              <a:t>Luis</a:t>
            </a:r>
            <a:r>
              <a:rPr lang="pt-BR" sz="1200" i="1" dirty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214721" y="2012334"/>
            <a:ext cx="2701049" cy="27425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Definição da integração (“gatilhos”) entre o processo GMUD e os de Demandas e de Projetos.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Definição de ferramenta para automação dos processos de T2R.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Conclusão da definição de indicadores e de sua automação.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Planejamento da implantação dos novos processos e indicadores, considerando automação, treinamento e piloto.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53882" y="2012334"/>
            <a:ext cx="2623388" cy="27425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Ferramenta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eGEMUD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limita a automação integrada dos processos.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Integração entre os processos de gerenciamento de Demandas, Projetos e Mudanças, para controle sobre o desenvolvimento e a implantação de Serviços novos ou alterados. </a:t>
            </a:r>
          </a:p>
        </p:txBody>
      </p:sp>
      <p:grpSp>
        <p:nvGrpSpPr>
          <p:cNvPr id="20" name="Group 27"/>
          <p:cNvGrpSpPr>
            <a:grpSpLocks/>
          </p:cNvGrpSpPr>
          <p:nvPr/>
        </p:nvGrpSpPr>
        <p:grpSpPr bwMode="auto">
          <a:xfrm>
            <a:off x="2929962" y="1520632"/>
            <a:ext cx="274637" cy="274638"/>
            <a:chOff x="0" y="0"/>
            <a:chExt cx="173" cy="173"/>
          </a:xfrm>
        </p:grpSpPr>
        <p:sp>
          <p:nvSpPr>
            <p:cNvPr id="21" name="Oval 28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2" name="Arc 29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3" name="Arc 30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4" name="Arc 31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5" name="Arc 32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6" name="Arc 33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464158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26971"/>
            <a:ext cx="6003241" cy="489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</a:t>
            </a:r>
            <a:r>
              <a: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Gravação</a:t>
            </a: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(Nice) </a:t>
            </a:r>
            <a:endParaRPr lang="pt-BR" sz="2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1979742"/>
            <a:ext cx="2716382" cy="267663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Recebimento dos 12 HDs.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PT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Solicitação de compra de 5 licenças Win Server 2012 R2 Standard.</a:t>
            </a:r>
            <a:endParaRPr lang="pt-BR" sz="12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Alinhamento das atividades no cronograma, após recebimento dos HDs,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 compra das 5 licenças de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Win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2012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Server R2 Standard e inclusão de novas operações.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860528"/>
            <a:ext cx="3064339" cy="997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Gravacao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(NICE) TAM e 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VIVO </a:t>
            </a:r>
          </a:p>
          <a:p>
            <a:r>
              <a:rPr lang="pt-BR" sz="1200" i="1" dirty="0" smtClean="0"/>
              <a:t>Data Inicio: 02-05-2016</a:t>
            </a:r>
          </a:p>
          <a:p>
            <a:r>
              <a:rPr lang="pt-BR" sz="1200" i="1" dirty="0" smtClean="0"/>
              <a:t>Data Conclusão:</a:t>
            </a:r>
            <a:r>
              <a:rPr lang="pt-BR" sz="1200" i="1" strike="sngStrike" dirty="0" smtClean="0"/>
              <a:t> </a:t>
            </a:r>
            <a:r>
              <a:rPr lang="pt-BR" sz="1200" i="1" dirty="0" smtClean="0"/>
              <a:t>30-06-2016</a:t>
            </a:r>
          </a:p>
          <a:p>
            <a:r>
              <a:rPr lang="pt-BR" sz="1200" i="1" dirty="0" smtClean="0"/>
              <a:t>Progresso: </a:t>
            </a:r>
            <a:r>
              <a:rPr lang="pt-BR" sz="1200" i="1" dirty="0"/>
              <a:t>5</a:t>
            </a:r>
            <a:r>
              <a:rPr lang="pt-BR" sz="1200" i="1" dirty="0" smtClean="0"/>
              <a:t>%</a:t>
            </a:r>
          </a:p>
          <a:p>
            <a:r>
              <a:rPr lang="pt-BR" sz="1200" i="1" dirty="0" smtClean="0"/>
              <a:t>PM</a:t>
            </a:r>
            <a:r>
              <a:rPr lang="pt-BR" sz="1200" i="1" dirty="0"/>
              <a:t>: </a:t>
            </a:r>
            <a:r>
              <a:rPr lang="pt-BR" sz="1200" i="1" dirty="0" smtClean="0"/>
              <a:t>Luis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1979741"/>
            <a:ext cx="2716382" cy="267663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O inicio da migração da Elektro para Nice pendente de liberação de ramais de João Pessoa. Data prevista 31 de Maio.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1979742"/>
            <a:ext cx="2716382" cy="267663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Observação: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Esta implantação irá </a:t>
            </a:r>
            <a:r>
              <a:rPr lang="pt-BR" sz="1200" b="1" dirty="0">
                <a:solidFill>
                  <a:srgbClr val="FF0000"/>
                </a:solidFill>
              </a:rPr>
              <a:t>consumir </a:t>
            </a:r>
            <a:r>
              <a:rPr lang="pt-BR" sz="1200" b="1" dirty="0" smtClean="0">
                <a:solidFill>
                  <a:srgbClr val="FF0000"/>
                </a:solidFill>
              </a:rPr>
              <a:t>todas </a:t>
            </a:r>
            <a:r>
              <a:rPr lang="pt-BR" sz="1200" b="1" dirty="0">
                <a:solidFill>
                  <a:srgbClr val="FF0000"/>
                </a:solidFill>
              </a:rPr>
              <a:t>as </a:t>
            </a:r>
            <a:r>
              <a:rPr lang="pt-BR" sz="1200" b="1" dirty="0" smtClean="0">
                <a:solidFill>
                  <a:srgbClr val="FF0000"/>
                </a:solidFill>
              </a:rPr>
              <a:t>licenças Nice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temos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ter muito cuidado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 estarmos alinhados no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momento de crescer as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operações.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 cronograma vai ser atualização, quando for divulgado a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 encerramento das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(800 PAS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 restantes da Vivo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Hinchan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874284"/>
            <a:ext cx="5338175" cy="983644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Este projeto tem como escopo, adequar infra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HW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 instalar 3K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licenças de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gravação, atualmente sem uso. </a:t>
            </a:r>
            <a:endPara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3" name="Group 9"/>
          <p:cNvGrpSpPr>
            <a:grpSpLocks/>
          </p:cNvGrpSpPr>
          <p:nvPr/>
        </p:nvGrpSpPr>
        <p:grpSpPr bwMode="auto">
          <a:xfrm>
            <a:off x="2914757" y="1517630"/>
            <a:ext cx="274638" cy="274638"/>
            <a:chOff x="0" y="0"/>
            <a:chExt cx="173" cy="173"/>
          </a:xfrm>
        </p:grpSpPr>
        <p:sp>
          <p:nvSpPr>
            <p:cNvPr id="14" name="Oval 1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" name="Arc 11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83484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31650" y="-5486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</a:t>
            </a: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Redundância links MPLS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158943" y="1940666"/>
            <a:ext cx="2778560" cy="276514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Teste executado com sucesso em 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João Pessoa.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São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Cristóvão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Engenho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Dentro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Luigi </a:t>
            </a:r>
            <a:r>
              <a:rPr lang="pt-BR" sz="1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Amorese</a:t>
            </a:r>
            <a:endParaRPr lang="pt-BR" sz="1200" b="1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No planejamento, foram detectadas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pendencias que impedem intervenção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  <a:r>
              <a:rPr lang="pt-BR" sz="1200" u="sng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Cabula e Rio Branco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694874"/>
            <a:ext cx="3064339" cy="10809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Redundância links MPLS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01-12-2015</a:t>
            </a:r>
          </a:p>
          <a:p>
            <a:r>
              <a:rPr lang="pt-BR" sz="1200" i="1" dirty="0" smtClean="0"/>
              <a:t>Data Conclusão: 31-06-2016</a:t>
            </a:r>
          </a:p>
          <a:p>
            <a:r>
              <a:rPr lang="pt-BR" sz="1200" i="1" dirty="0" smtClean="0"/>
              <a:t>Progresso: 44%</a:t>
            </a:r>
          </a:p>
          <a:p>
            <a:r>
              <a:rPr lang="pt-BR" sz="1200" i="1" dirty="0" smtClean="0"/>
              <a:t>PM: </a:t>
            </a:r>
            <a:r>
              <a:rPr lang="pt-BR" sz="1200" i="1" dirty="0" err="1" smtClean="0"/>
              <a:t>Luis</a:t>
            </a:r>
            <a:r>
              <a:rPr lang="pt-BR" sz="1200" i="1" dirty="0" smtClean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1940665"/>
            <a:ext cx="2716382" cy="276515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Alinhar datas e obter acordo com as operações para realização dos testes.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Elaboração de documentação.</a:t>
            </a:r>
            <a:endParaRPr lang="pt-BR" sz="12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1940666"/>
            <a:ext cx="2716382" cy="276514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Obs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Foi detectado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a banda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contratada </a:t>
            </a:r>
            <a:r>
              <a:rPr lang="pt-BR" sz="1200" dirty="0" smtClean="0">
                <a:solidFill>
                  <a:srgbClr val="FF0000"/>
                </a:solidFill>
              </a:rPr>
              <a:t>(</a:t>
            </a:r>
            <a:r>
              <a:rPr lang="pt-BR" sz="1200" dirty="0">
                <a:solidFill>
                  <a:srgbClr val="FF0000"/>
                </a:solidFill>
              </a:rPr>
              <a:t>25-06-2015</a:t>
            </a:r>
            <a:r>
              <a:rPr lang="pt-BR" sz="1200" dirty="0" smtClean="0">
                <a:solidFill>
                  <a:srgbClr val="FF0000"/>
                </a:solidFill>
              </a:rPr>
              <a:t>)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o link MPLS VIVO no Site Navegante é de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400MB.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Atualmente os equipamentos estão configurados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para 100MB.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 projeto deverá melhorar o processo de comunicação entre as áreas (RACI).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b="1" dirty="0" smtClean="0">
                <a:solidFill>
                  <a:srgbClr val="FF0000"/>
                </a:solidFill>
              </a:rPr>
              <a:t>Risco: </a:t>
            </a:r>
            <a:r>
              <a:rPr lang="pt-BR" sz="1200" dirty="0" smtClean="0">
                <a:solidFill>
                  <a:srgbClr val="FF0000"/>
                </a:solidFill>
              </a:rPr>
              <a:t>A OI não fornece previsões de instalação/intervenção.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694875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 smtClean="0"/>
              <a:t>Para </a:t>
            </a:r>
            <a:r>
              <a:rPr lang="pt-BR" sz="1400" dirty="0"/>
              <a:t>dar </a:t>
            </a:r>
            <a:r>
              <a:rPr lang="pt-BR" sz="1400" b="1" dirty="0"/>
              <a:t>resposta imediata </a:t>
            </a:r>
            <a:r>
              <a:rPr lang="pt-BR" sz="1400" dirty="0"/>
              <a:t>a situações recorrentes de incidentes, relacionados com a perda de </a:t>
            </a:r>
            <a:r>
              <a:rPr lang="pt-BR" sz="1400" b="1" dirty="0"/>
              <a:t>Links </a:t>
            </a:r>
            <a:r>
              <a:rPr lang="pt-BR" sz="1400" dirty="0"/>
              <a:t>que interligam os sites da Contax, </a:t>
            </a:r>
            <a:r>
              <a:rPr lang="pt-BR" sz="1400" dirty="0" smtClean="0"/>
              <a:t>este projeto visa, </a:t>
            </a:r>
            <a:r>
              <a:rPr lang="pt-BR" sz="1400" b="1" dirty="0" smtClean="0"/>
              <a:t>Garantir </a:t>
            </a:r>
            <a:r>
              <a:rPr lang="pt-BR" sz="1400" b="1" dirty="0"/>
              <a:t>e documentar a funcionalidade da </a:t>
            </a:r>
            <a:r>
              <a:rPr lang="pt-BR" sz="1400" b="1" dirty="0" smtClean="0"/>
              <a:t>contingência e </a:t>
            </a:r>
            <a:r>
              <a:rPr lang="pt-BR" sz="1400" dirty="0"/>
              <a:t>v</a:t>
            </a:r>
            <a:r>
              <a:rPr lang="pt-BR" sz="1400" dirty="0" smtClean="0"/>
              <a:t>alidar </a:t>
            </a:r>
            <a:r>
              <a:rPr lang="pt-BR" sz="1400" dirty="0"/>
              <a:t>caminhos possíveis e documentar </a:t>
            </a:r>
            <a:r>
              <a:rPr lang="pt-BR" sz="1400" dirty="0" smtClean="0"/>
              <a:t>ações. </a:t>
            </a:r>
            <a:endParaRPr lang="pt-BR" sz="14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2094" y="1430687"/>
            <a:ext cx="280440" cy="280440"/>
          </a:xfrm>
          <a:prstGeom prst="rect">
            <a:avLst/>
          </a:prstGeom>
        </p:spPr>
      </p:pic>
      <p:pic>
        <p:nvPicPr>
          <p:cNvPr id="5" name="Imagem 4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1005" y="3473150"/>
            <a:ext cx="1701989" cy="76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8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0" y="12123"/>
            <a:ext cx="9144002" cy="5140931"/>
            <a:chOff x="-1" y="12500"/>
            <a:chExt cx="9144002" cy="5140931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43651"/>
              <a:chOff x="2039091" y="300128"/>
              <a:chExt cx="7104910" cy="4848136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12500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272" y="201819"/>
              <a:ext cx="1866343" cy="338794"/>
            </a:xfrm>
            <a:prstGeom prst="rect">
              <a:avLst/>
            </a:prstGeom>
          </p:spPr>
        </p:pic>
      </p:grpSp>
      <p:sp>
        <p:nvSpPr>
          <p:cNvPr id="20" name="CaixaDeTexto 5"/>
          <p:cNvSpPr txBox="1"/>
          <p:nvPr/>
        </p:nvSpPr>
        <p:spPr>
          <a:xfrm>
            <a:off x="1259085" y="176961"/>
            <a:ext cx="576118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Projeto: Redundância links MPLS</a:t>
            </a: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2094" y="3106509"/>
            <a:ext cx="6228720" cy="1955111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4211" y="976311"/>
            <a:ext cx="2806603" cy="1890903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2201" y="992547"/>
            <a:ext cx="3015687" cy="172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780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hlinkClick r:id="rId3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Backups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Restore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em Produção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Escopo do projeto ampliado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para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30 de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junho, devido a falta de insumos (fitas e etiquetas) nos sites assim como equipamentos aguardando reparo</a:t>
            </a:r>
            <a:b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Liberação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redes em sites pilotos para uso do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UDP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Instalações dos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clients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junto com as GMUD de WSUS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178343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Backup &amp; Restore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Ambiente de Produção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14-10-2015</a:t>
            </a:r>
          </a:p>
          <a:p>
            <a:r>
              <a:rPr lang="pt-BR" sz="1200" i="1" dirty="0" smtClean="0"/>
              <a:t>Data Conclusão: 30-06-2016</a:t>
            </a:r>
          </a:p>
          <a:p>
            <a:r>
              <a:rPr lang="pt-BR" sz="1200" i="1" dirty="0" smtClean="0"/>
              <a:t>Progresso: 62%</a:t>
            </a:r>
          </a:p>
          <a:p>
            <a:r>
              <a:rPr lang="pt-BR" sz="1200" i="1" dirty="0" smtClean="0"/>
              <a:t>PM: Rafael Alves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Instalação do piloto do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ArcServe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UDP para teste de backup 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restore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 ambientes Windows e Linux  (Virtuais e Físicas) – Ambiente Windows Finalizado e Linux em andamento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Apoio do CSE para instalações dos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clients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nos servidores Windows e Linux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Regional SP e RJ com falta de fitas, aguardando compra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HW de backup (robô) sem garantias e com mais de 5 anos de uso, ocorrendo desgastes por vida útil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Armazenamento indevido das mídias causando degradação das mesmas.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 smtClean="0"/>
              <a:t>Providenciar Backup em todos os equipamentos de produção da Contax. Garantir plano de </a:t>
            </a:r>
            <a:r>
              <a:rPr lang="pt-BR" sz="1400" dirty="0" err="1" smtClean="0"/>
              <a:t>restore</a:t>
            </a:r>
            <a:r>
              <a:rPr lang="pt-BR" sz="1400" dirty="0" smtClean="0"/>
              <a:t> do ambiente. </a:t>
            </a:r>
            <a:endParaRPr lang="pt-BR" sz="1400" dirty="0"/>
          </a:p>
        </p:txBody>
      </p:sp>
      <p:grpSp>
        <p:nvGrpSpPr>
          <p:cNvPr id="13" name="Group 27"/>
          <p:cNvGrpSpPr>
            <a:grpSpLocks/>
          </p:cNvGrpSpPr>
          <p:nvPr/>
        </p:nvGrpSpPr>
        <p:grpSpPr bwMode="auto">
          <a:xfrm>
            <a:off x="2841062" y="1596832"/>
            <a:ext cx="274637" cy="274638"/>
            <a:chOff x="0" y="0"/>
            <a:chExt cx="173" cy="173"/>
          </a:xfrm>
        </p:grpSpPr>
        <p:sp>
          <p:nvSpPr>
            <p:cNvPr id="14" name="Oval 28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" name="Arc 29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0" name="Arc 30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1" name="Arc 31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2" name="Arc 32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3" name="Arc 33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87662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OCS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Inventory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110572" y="1995233"/>
            <a:ext cx="3223281" cy="26246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Servidores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cadastrados no OCS: 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3.716/3.965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Microsoft	(2.903/3.046)		</a:t>
            </a:r>
            <a:r>
              <a:rPr lang="pt-BR" sz="1400" dirty="0" smtClean="0">
                <a:solidFill>
                  <a:srgbClr val="FF0000"/>
                </a:solidFill>
              </a:rPr>
              <a:t>143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Agente Instalado - Pendencia de Rede </a:t>
            </a:r>
            <a:r>
              <a:rPr lang="pt-BR" sz="9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87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Pendente (Host) </a:t>
            </a:r>
            <a:r>
              <a:rPr lang="pt-BR" sz="9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		42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9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Pendente </a:t>
            </a:r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(Host) </a:t>
            </a:r>
            <a:r>
              <a:rPr lang="pt-BR" sz="9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Usuário </a:t>
            </a:r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 Senha </a:t>
            </a:r>
            <a:r>
              <a:rPr lang="pt-BR" sz="9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                  14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2">
              <a:spcBef>
                <a:spcPts val="200"/>
              </a:spcBef>
              <a:spcAft>
                <a:spcPts val="200"/>
              </a:spcAft>
            </a:pP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Linux	(813/919)		</a:t>
            </a:r>
            <a:r>
              <a:rPr lang="pt-BR" sz="1400" dirty="0" smtClean="0">
                <a:solidFill>
                  <a:srgbClr val="FF0000"/>
                </a:solidFill>
              </a:rPr>
              <a:t>106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9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Agente Instalado - Pendencia de Rede	04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9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Pendente </a:t>
            </a:r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(Host) </a:t>
            </a:r>
            <a:r>
              <a:rPr lang="pt-BR" sz="9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Usuário </a:t>
            </a:r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 Senha	</a:t>
            </a:r>
            <a:r>
              <a:rPr lang="pt-BR" sz="9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102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400" dirty="0" smtClean="0">
              <a:solidFill>
                <a:schemeClr val="tx1"/>
              </a:solidFill>
            </a:endParaRP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tx1"/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rgbClr val="FF0000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OCS </a:t>
            </a:r>
            <a:r>
              <a:rPr lang="pt-BR" sz="14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Inventory</a:t>
            </a:r>
            <a:endParaRPr lang="pt-BR" sz="14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>
                <a:solidFill>
                  <a:schemeClr val="bg1"/>
                </a:solidFill>
              </a:rPr>
              <a:t>Data Inicio: </a:t>
            </a:r>
            <a:r>
              <a:rPr lang="pt-BR" sz="1200" i="1" dirty="0">
                <a:solidFill>
                  <a:schemeClr val="bg1"/>
                </a:solidFill>
              </a:rPr>
              <a:t>0</a:t>
            </a:r>
            <a:r>
              <a:rPr lang="pt-BR" sz="1200" i="1" dirty="0" smtClean="0">
                <a:solidFill>
                  <a:schemeClr val="bg1"/>
                </a:solidFill>
              </a:rPr>
              <a:t>4-12-2015</a:t>
            </a:r>
          </a:p>
          <a:p>
            <a:r>
              <a:rPr lang="pt-BR" sz="1200" i="1" dirty="0" smtClean="0">
                <a:solidFill>
                  <a:schemeClr val="bg1"/>
                </a:solidFill>
              </a:rPr>
              <a:t>Data Conclusão: 10-06-2016</a:t>
            </a:r>
            <a:r>
              <a:rPr lang="pt-BR" sz="1200" i="1" strike="sngStrike" dirty="0" smtClean="0">
                <a:solidFill>
                  <a:schemeClr val="bg1"/>
                </a:solidFill>
              </a:rPr>
              <a:t> </a:t>
            </a:r>
          </a:p>
          <a:p>
            <a:r>
              <a:rPr lang="pt-BR" sz="1200" i="1" dirty="0" smtClean="0">
                <a:solidFill>
                  <a:schemeClr val="bg1"/>
                </a:solidFill>
              </a:rPr>
              <a:t>Progresso: 94%</a:t>
            </a:r>
          </a:p>
          <a:p>
            <a:r>
              <a:rPr lang="pt-BR" sz="1200" i="1" dirty="0" smtClean="0">
                <a:solidFill>
                  <a:schemeClr val="bg1"/>
                </a:solidFill>
              </a:rPr>
              <a:t>PM: Thiago Augusto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439885" y="2053020"/>
            <a:ext cx="2716382" cy="256685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Equipe de controle de ativos esta utilizando a ferramenta.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262299" y="2053077"/>
            <a:ext cx="2620663" cy="256685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500737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pt-BR" sz="1400" dirty="0" smtClean="0"/>
              <a:t> OCS </a:t>
            </a:r>
            <a:r>
              <a:rPr lang="pt-BR" sz="1400" dirty="0"/>
              <a:t>é uma ferramenta de </a:t>
            </a:r>
            <a:r>
              <a:rPr lang="pt-BR" sz="1400" dirty="0" smtClean="0"/>
              <a:t>Inventário de servidores para auxiliar a </a:t>
            </a:r>
            <a:r>
              <a:rPr lang="pt-BR" sz="1400" dirty="0"/>
              <a:t>equipe de Controle de Ativos</a:t>
            </a:r>
            <a:r>
              <a:rPr lang="pt-BR" sz="1400" dirty="0" smtClean="0"/>
              <a:t>. </a:t>
            </a:r>
            <a:endParaRPr lang="pt-BR" sz="1400" dirty="0"/>
          </a:p>
        </p:txBody>
      </p:sp>
      <p:pic>
        <p:nvPicPr>
          <p:cNvPr id="25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27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grpSp>
        <p:nvGrpSpPr>
          <p:cNvPr id="20" name="Group 42"/>
          <p:cNvGrpSpPr>
            <a:grpSpLocks/>
          </p:cNvGrpSpPr>
          <p:nvPr/>
        </p:nvGrpSpPr>
        <p:grpSpPr bwMode="auto">
          <a:xfrm>
            <a:off x="2872581" y="1497012"/>
            <a:ext cx="274638" cy="274641"/>
            <a:chOff x="0" y="0"/>
            <a:chExt cx="173" cy="173"/>
          </a:xfrm>
        </p:grpSpPr>
        <p:sp>
          <p:nvSpPr>
            <p:cNvPr id="21" name="Arc 43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2" name="Arc 44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3" name="Arc 45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4" name="Arc 46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6" name="Arc 47"/>
            <p:cNvSpPr>
              <a:spLocks/>
            </p:cNvSpPr>
            <p:nvPr/>
          </p:nvSpPr>
          <p:spPr bwMode="auto">
            <a:xfrm flipH="1">
              <a:off x="0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7" name="Arc 48"/>
            <p:cNvSpPr>
              <a:spLocks/>
            </p:cNvSpPr>
            <p:nvPr/>
          </p:nvSpPr>
          <p:spPr bwMode="auto">
            <a:xfrm flipH="1">
              <a:off x="0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8" name="Arc 49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9" name="Oval 5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8415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Monitoração Dell – Open Manager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 execução o cadastramento de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lans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de servidores (Total).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70% dos servidores Dell com monitorização de HW.</a:t>
            </a: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17834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Monitoração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(Dell-Open Manager)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14-10-2015</a:t>
            </a:r>
          </a:p>
          <a:p>
            <a:r>
              <a:rPr lang="pt-BR" sz="1200" i="1" dirty="0" smtClean="0"/>
              <a:t>Data Conclusão: 22-04-2016</a:t>
            </a:r>
          </a:p>
          <a:p>
            <a:r>
              <a:rPr lang="pt-BR" sz="1200" i="1" dirty="0" smtClean="0"/>
              <a:t>Progresso: 75%</a:t>
            </a:r>
          </a:p>
          <a:p>
            <a:r>
              <a:rPr lang="pt-BR" sz="1200" i="1" dirty="0" smtClean="0"/>
              <a:t>PM</a:t>
            </a:r>
            <a:r>
              <a:rPr lang="pt-BR" sz="1200" i="1" dirty="0"/>
              <a:t>: </a:t>
            </a:r>
            <a:r>
              <a:rPr lang="pt-BR" sz="1200" i="1" dirty="0" smtClean="0"/>
              <a:t>Júlio Cesar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Homologação do SW.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Aceitação das regras de liberação por SI.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Servidores sem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client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OMSE.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u="sng" dirty="0" smtClean="0">
                <a:solidFill>
                  <a:srgbClr val="FF0000"/>
                </a:solidFill>
              </a:rPr>
              <a:t>Projeto temporariamente parado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 O recurso que dá andamento a este projeto, esta dedicado totalmente ao projeto OCS.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M</a:t>
            </a:r>
            <a:r>
              <a:rPr lang="pt-BR" sz="1400" dirty="0" smtClean="0"/>
              <a:t>onitoração </a:t>
            </a:r>
            <a:r>
              <a:rPr lang="pt-BR" sz="1400" dirty="0"/>
              <a:t>pró ativa de </a:t>
            </a:r>
            <a:r>
              <a:rPr lang="pt-BR" sz="1400" dirty="0" smtClean="0"/>
              <a:t>hardware para eliminar </a:t>
            </a:r>
            <a:r>
              <a:rPr lang="pt-BR" sz="1400" dirty="0"/>
              <a:t>a possibilidade de perda de dados por falta de visibilidade do </a:t>
            </a:r>
            <a:r>
              <a:rPr lang="pt-BR" sz="1400" dirty="0" smtClean="0"/>
              <a:t>ambiente. </a:t>
            </a:r>
            <a:endParaRPr lang="pt-BR" sz="14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3609" y="1548974"/>
            <a:ext cx="280440" cy="280440"/>
          </a:xfrm>
          <a:prstGeom prst="rect">
            <a:avLst/>
          </a:prstGeom>
        </p:spPr>
      </p:pic>
      <p:sp>
        <p:nvSpPr>
          <p:cNvPr id="3" name="Estrela de 6 Pontas 2"/>
          <p:cNvSpPr/>
          <p:nvPr/>
        </p:nvSpPr>
        <p:spPr>
          <a:xfrm>
            <a:off x="3032887" y="4009877"/>
            <a:ext cx="2875747" cy="1093766"/>
          </a:xfrm>
          <a:prstGeom prst="star6">
            <a:avLst>
              <a:gd name="adj" fmla="val 24365"/>
              <a:gd name="hf" fmla="val 115470"/>
            </a:avLst>
          </a:prstGeom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Freezing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53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76681" y="-43097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</a:t>
            </a: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Ura Internalização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31619" y="2054536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 equipe do José Carlos vai ser responsável pelo suporte deste ambiente.</a:t>
            </a:r>
          </a:p>
          <a:p>
            <a:pPr lvl="0"/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Treinamento concluído: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 Foundation (2 pessoas)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 8 Deployment (1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pesso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Cronograma atualizado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smtClean="0">
                <a:solidFill>
                  <a:srgbClr val="00B050"/>
                </a:solidFill>
              </a:rPr>
              <a:t> </a:t>
            </a:r>
            <a:endParaRPr lang="pt-BR" sz="1200" dirty="0">
              <a:solidFill>
                <a:srgbClr val="00B050"/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31619" y="776935"/>
            <a:ext cx="3064339" cy="10809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Ura Internalização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14-4-2016</a:t>
            </a:r>
          </a:p>
          <a:p>
            <a:r>
              <a:rPr lang="pt-BR" sz="1200" i="1" dirty="0" smtClean="0"/>
              <a:t>Data Conclusão: 02-09-2016</a:t>
            </a:r>
          </a:p>
          <a:p>
            <a:r>
              <a:rPr lang="pt-BR" sz="1200" i="1" dirty="0" smtClean="0"/>
              <a:t>Progresso: 11%</a:t>
            </a:r>
          </a:p>
          <a:p>
            <a:r>
              <a:rPr lang="pt-BR" sz="1200" i="1" dirty="0" smtClean="0"/>
              <a:t>PM</a:t>
            </a:r>
            <a:r>
              <a:rPr lang="pt-BR" sz="1200" i="1" dirty="0"/>
              <a:t>: </a:t>
            </a:r>
            <a:r>
              <a:rPr lang="pt-BR" sz="1200" i="1" dirty="0" err="1" smtClean="0"/>
              <a:t>Luis</a:t>
            </a:r>
            <a:r>
              <a:rPr lang="pt-BR" sz="1200" i="1" dirty="0" smtClean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25747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José Carlo e Rivaldo vão definir agenda de treinamentos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SIP Server Deployment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8.1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Voice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Foundation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Composer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Voice</a:t>
            </a: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Routing and Solution Reporting 8.1 Deployment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Core Applications Solution (Presales)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endParaRPr lang="pt-BR" sz="1200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 smtClean="0"/>
              <a:t>Capacitação e treinamento interno.</a:t>
            </a:r>
          </a:p>
          <a:p>
            <a:r>
              <a:rPr lang="pt-BR" sz="1400" dirty="0" smtClean="0"/>
              <a:t>O objetivo é não depender de terceiros, e obter prestação de serviço interno com maior qualidade e rapidez, gerando “</a:t>
            </a:r>
            <a:r>
              <a:rPr lang="pt-BR" sz="1400" dirty="0" err="1" smtClean="0"/>
              <a:t>saving</a:t>
            </a:r>
            <a:r>
              <a:rPr lang="pt-BR" sz="1400" dirty="0" smtClean="0"/>
              <a:t>” no investimento de treinamento e certificado. </a:t>
            </a:r>
            <a:endParaRPr lang="pt-BR" sz="1400" dirty="0"/>
          </a:p>
        </p:txBody>
      </p:sp>
      <p:grpSp>
        <p:nvGrpSpPr>
          <p:cNvPr id="22" name="Group 9"/>
          <p:cNvGrpSpPr>
            <a:grpSpLocks/>
          </p:cNvGrpSpPr>
          <p:nvPr/>
        </p:nvGrpSpPr>
        <p:grpSpPr bwMode="auto">
          <a:xfrm>
            <a:off x="2927135" y="1494497"/>
            <a:ext cx="274638" cy="274638"/>
            <a:chOff x="0" y="0"/>
            <a:chExt cx="173" cy="173"/>
          </a:xfrm>
        </p:grpSpPr>
        <p:sp>
          <p:nvSpPr>
            <p:cNvPr id="23" name="Oval 1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4" name="Arc 11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39153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-22487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Qualidade em Gravação</a:t>
            </a:r>
            <a:endParaRPr lang="pt-BR" sz="2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1814445"/>
            <a:ext cx="2716382" cy="279565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 smtClean="0">
                <a:solidFill>
                  <a:schemeClr val="tx1"/>
                </a:solidFill>
              </a:rPr>
              <a:t>Em homologação a </a:t>
            </a:r>
            <a:r>
              <a:rPr lang="pt-BR" sz="1200" b="1" dirty="0">
                <a:solidFill>
                  <a:schemeClr val="tx1"/>
                </a:solidFill>
              </a:rPr>
              <a:t>ferramenta no </a:t>
            </a:r>
            <a:r>
              <a:rPr lang="pt-BR" sz="1200" b="1" dirty="0" err="1">
                <a:solidFill>
                  <a:schemeClr val="tx1"/>
                </a:solidFill>
              </a:rPr>
              <a:t>Tprocess</a:t>
            </a:r>
            <a:r>
              <a:rPr lang="pt-BR" sz="1200" b="1" dirty="0">
                <a:solidFill>
                  <a:schemeClr val="tx1"/>
                </a:solidFill>
              </a:rPr>
              <a:t>, para </a:t>
            </a:r>
            <a:r>
              <a:rPr lang="pt-BR" sz="1200" b="1" dirty="0" smtClean="0">
                <a:solidFill>
                  <a:schemeClr val="tx1"/>
                </a:solidFill>
              </a:rPr>
              <a:t>ser </a:t>
            </a:r>
            <a:r>
              <a:rPr lang="pt-BR" sz="1200" b="1" dirty="0">
                <a:solidFill>
                  <a:schemeClr val="tx1"/>
                </a:solidFill>
              </a:rPr>
              <a:t>o piloto no Bradesco </a:t>
            </a:r>
            <a:r>
              <a:rPr lang="pt-BR" sz="1200" dirty="0">
                <a:solidFill>
                  <a:schemeClr val="tx1"/>
                </a:solidFill>
              </a:rPr>
              <a:t>n</a:t>
            </a:r>
            <a:r>
              <a:rPr lang="pt-BR" sz="1200" dirty="0" smtClean="0">
                <a:solidFill>
                  <a:schemeClr val="tx1"/>
                </a:solidFill>
              </a:rPr>
              <a:t>o </a:t>
            </a:r>
            <a:r>
              <a:rPr lang="pt-BR" sz="1200" dirty="0">
                <a:solidFill>
                  <a:schemeClr val="tx1"/>
                </a:solidFill>
              </a:rPr>
              <a:t>processo de recuperação de gravações, na nova </a:t>
            </a:r>
            <a:r>
              <a:rPr lang="pt-BR" sz="1200" dirty="0" smtClean="0">
                <a:solidFill>
                  <a:schemeClr val="tx1"/>
                </a:solidFill>
              </a:rPr>
              <a:t>metodologia “centralização funcional”.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>
                <a:solidFill>
                  <a:schemeClr val="tx1"/>
                </a:solidFill>
              </a:rPr>
              <a:t>Elaboração da matriz de papéis e responsabilidades </a:t>
            </a:r>
            <a:r>
              <a:rPr lang="pt-BR" sz="1200" b="1" dirty="0">
                <a:solidFill>
                  <a:schemeClr val="tx1"/>
                </a:solidFill>
              </a:rPr>
              <a:t>(RACI</a:t>
            </a:r>
            <a:r>
              <a:rPr lang="pt-BR" sz="1200" b="1" dirty="0" smtClean="0">
                <a:solidFill>
                  <a:schemeClr val="tx1"/>
                </a:solidFill>
              </a:rPr>
              <a:t>) para </a:t>
            </a:r>
            <a:r>
              <a:rPr lang="pt-BR" sz="1200" b="1" dirty="0" err="1" smtClean="0">
                <a:solidFill>
                  <a:schemeClr val="tx1"/>
                </a:solidFill>
              </a:rPr>
              <a:t>gravaç</a:t>
            </a:r>
            <a:r>
              <a:rPr lang="pt-PT" sz="1200" b="1" dirty="0" smtClean="0">
                <a:solidFill>
                  <a:schemeClr val="tx1"/>
                </a:solidFill>
              </a:rPr>
              <a:t>ão</a:t>
            </a:r>
            <a:r>
              <a:rPr lang="pt-BR" sz="1200" dirty="0" smtClean="0">
                <a:solidFill>
                  <a:schemeClr val="tx1"/>
                </a:solidFill>
              </a:rPr>
              <a:t>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u="sng" dirty="0">
                <a:solidFill>
                  <a:schemeClr val="tx1"/>
                </a:solidFill>
              </a:rPr>
              <a:t>Foi implantando </a:t>
            </a:r>
            <a:r>
              <a:rPr lang="pt-BR" sz="1200" b="1" u="sng" dirty="0">
                <a:solidFill>
                  <a:schemeClr val="tx1"/>
                </a:solidFill>
              </a:rPr>
              <a:t>na ferramenta de </a:t>
            </a:r>
            <a:r>
              <a:rPr lang="pt-BR" sz="1200" b="1" u="sng" dirty="0" err="1">
                <a:solidFill>
                  <a:schemeClr val="tx1"/>
                </a:solidFill>
              </a:rPr>
              <a:t>Checklist</a:t>
            </a:r>
            <a:r>
              <a:rPr lang="pt-BR" sz="1200" b="1" u="sng" dirty="0">
                <a:solidFill>
                  <a:schemeClr val="tx1"/>
                </a:solidFill>
              </a:rPr>
              <a:t> Sites </a:t>
            </a:r>
            <a:r>
              <a:rPr lang="pt-BR" sz="1200" b="1" dirty="0" smtClean="0">
                <a:solidFill>
                  <a:schemeClr val="tx1"/>
                </a:solidFill>
              </a:rPr>
              <a:t>- </a:t>
            </a:r>
            <a:r>
              <a:rPr lang="pt-BR" sz="1200" b="1" dirty="0" err="1">
                <a:solidFill>
                  <a:schemeClr val="tx1"/>
                </a:solidFill>
              </a:rPr>
              <a:t>Dashboard</a:t>
            </a:r>
            <a:r>
              <a:rPr lang="pt-BR" sz="1200" b="1" dirty="0">
                <a:solidFill>
                  <a:schemeClr val="tx1"/>
                </a:solidFill>
              </a:rPr>
              <a:t> que mostra um farol dos sites na execução do </a:t>
            </a:r>
            <a:r>
              <a:rPr lang="pt-BR" sz="1200" b="1" dirty="0" err="1">
                <a:solidFill>
                  <a:schemeClr val="tx1"/>
                </a:solidFill>
              </a:rPr>
              <a:t>checklist</a:t>
            </a:r>
            <a:r>
              <a:rPr lang="pt-BR" sz="1200" b="1" dirty="0" smtClean="0">
                <a:solidFill>
                  <a:schemeClr val="tx1"/>
                </a:solidFill>
              </a:rPr>
              <a:t>.</a:t>
            </a:r>
            <a:endParaRPr lang="pt-BR" sz="1200" b="1" dirty="0">
              <a:solidFill>
                <a:schemeClr val="tx1"/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84623" y="635027"/>
            <a:ext cx="3064339" cy="10809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 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Qualidade em Gravação</a:t>
            </a:r>
            <a:endPara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dirty="0"/>
              <a:t>Data Inicio: </a:t>
            </a:r>
            <a:r>
              <a:rPr lang="pt-BR" sz="1200" dirty="0" smtClean="0"/>
              <a:t>24-02-2016  </a:t>
            </a:r>
          </a:p>
          <a:p>
            <a:r>
              <a:rPr lang="pt-BR" sz="1200" dirty="0" smtClean="0"/>
              <a:t>Data </a:t>
            </a:r>
            <a:r>
              <a:rPr lang="pt-BR" sz="1200" dirty="0"/>
              <a:t>Conclusão: </a:t>
            </a:r>
            <a:r>
              <a:rPr lang="pt-BR" sz="1200" dirty="0" smtClean="0"/>
              <a:t>23-08-2016</a:t>
            </a:r>
            <a:endParaRPr lang="pt-BR" sz="1200" dirty="0"/>
          </a:p>
          <a:p>
            <a:r>
              <a:rPr lang="pt-BR" sz="1200" dirty="0"/>
              <a:t>Progresso: </a:t>
            </a:r>
            <a:r>
              <a:rPr lang="pt-BR" sz="1200" dirty="0" smtClean="0"/>
              <a:t>72%</a:t>
            </a:r>
            <a:endParaRPr lang="pt-BR" sz="1200" dirty="0"/>
          </a:p>
          <a:p>
            <a:r>
              <a:rPr lang="pt-BR" sz="1200" dirty="0"/>
              <a:t>PM: </a:t>
            </a:r>
            <a:r>
              <a:rPr lang="pt-BR" sz="1200" dirty="0" err="1"/>
              <a:t>Luis</a:t>
            </a:r>
            <a:r>
              <a:rPr lang="pt-BR" sz="1200" dirty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449" y="1817850"/>
            <a:ext cx="2910818" cy="279225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200" b="1" dirty="0" smtClean="0">
                <a:solidFill>
                  <a:schemeClr val="tx1"/>
                </a:solidFill>
              </a:rPr>
              <a:t>O </a:t>
            </a:r>
            <a:r>
              <a:rPr lang="pt-BR" sz="1200" b="1" dirty="0" err="1" smtClean="0">
                <a:solidFill>
                  <a:schemeClr val="tx1"/>
                </a:solidFill>
              </a:rPr>
              <a:t>Tprocess</a:t>
            </a:r>
            <a:r>
              <a:rPr lang="pt-BR" sz="1200" b="1" dirty="0" smtClean="0">
                <a:solidFill>
                  <a:schemeClr val="tx1"/>
                </a:solidFill>
              </a:rPr>
              <a:t> </a:t>
            </a:r>
            <a:r>
              <a:rPr lang="pt-BR" sz="1200" dirty="0" smtClean="0">
                <a:solidFill>
                  <a:schemeClr val="tx1"/>
                </a:solidFill>
              </a:rPr>
              <a:t>foi selecionado como </a:t>
            </a:r>
            <a:r>
              <a:rPr lang="pt-BR" sz="1200" b="1" dirty="0" smtClean="0">
                <a:solidFill>
                  <a:schemeClr val="tx1"/>
                </a:solidFill>
              </a:rPr>
              <a:t>canal único de entrada </a:t>
            </a:r>
            <a:r>
              <a:rPr lang="pt-BR" sz="1200" dirty="0" smtClean="0">
                <a:solidFill>
                  <a:schemeClr val="tx1"/>
                </a:solidFill>
              </a:rPr>
              <a:t>para chamados para recuperação de gravação. </a:t>
            </a:r>
            <a:endParaRPr lang="pt-BR" sz="1200" dirty="0">
              <a:solidFill>
                <a:schemeClr val="tx1"/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 smtClean="0">
                <a:solidFill>
                  <a:schemeClr val="tx1"/>
                </a:solidFill>
              </a:rPr>
              <a:t>“Piloto” - Implantar a nova metodologia de recuperação de chamados no  Bradesco para avaliar resultados.</a:t>
            </a:r>
            <a:endParaRPr lang="pt-BR" sz="1200" dirty="0">
              <a:solidFill>
                <a:schemeClr val="tx1"/>
              </a:solidFill>
            </a:endParaRPr>
          </a:p>
          <a:p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225443" y="1859071"/>
            <a:ext cx="2716382" cy="275103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err="1">
                <a:solidFill>
                  <a:schemeClr val="tx1"/>
                </a:solidFill>
              </a:rPr>
              <a:t>Obs</a:t>
            </a:r>
            <a:r>
              <a:rPr lang="pt-BR" sz="1200" dirty="0">
                <a:solidFill>
                  <a:schemeClr val="tx1"/>
                </a:solidFill>
              </a:rPr>
              <a:t>: A abrangência e aderência na nova </a:t>
            </a:r>
            <a:r>
              <a:rPr lang="pt-BR" sz="1200" dirty="0" smtClean="0">
                <a:solidFill>
                  <a:schemeClr val="tx1"/>
                </a:solidFill>
              </a:rPr>
              <a:t>metodologia no novo “modus operandi” de recuperação </a:t>
            </a:r>
            <a:r>
              <a:rPr lang="pt-BR" sz="1200" dirty="0">
                <a:solidFill>
                  <a:schemeClr val="tx1"/>
                </a:solidFill>
              </a:rPr>
              <a:t>de gravação, poderá ser um desafio para algumas áreas. 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45800" y="642950"/>
            <a:ext cx="5559600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/>
              <a:t>Este projeto tem como escopo, executar um </a:t>
            </a:r>
            <a:r>
              <a:rPr lang="pt-BR" sz="1400" b="1" dirty="0"/>
              <a:t>plano de ação para eliminar multas (de gravação)</a:t>
            </a:r>
            <a:r>
              <a:rPr lang="pt-BR" sz="1400" dirty="0"/>
              <a:t> nos clientes Contax</a:t>
            </a:r>
            <a:r>
              <a:rPr lang="pt-BR" sz="1400" dirty="0" smtClean="0"/>
              <a:t>.</a:t>
            </a:r>
          </a:p>
          <a:p>
            <a:r>
              <a:rPr lang="pt-BR" sz="1400" dirty="0"/>
              <a:t>Vamos adotar o trabalho baseado em PPT (</a:t>
            </a:r>
            <a:r>
              <a:rPr lang="pt-BR" sz="1400" b="1" dirty="0"/>
              <a:t>Pessoas – Processos – Tecnologia</a:t>
            </a:r>
            <a:r>
              <a:rPr lang="pt-BR" sz="1400" dirty="0" smtClean="0"/>
              <a:t>)</a:t>
            </a:r>
            <a:r>
              <a:rPr lang="pt-BR" sz="1400" dirty="0"/>
              <a:t>.</a:t>
            </a:r>
          </a:p>
        </p:txBody>
      </p:sp>
      <p:grpSp>
        <p:nvGrpSpPr>
          <p:cNvPr id="25" name="Group 27"/>
          <p:cNvGrpSpPr>
            <a:grpSpLocks/>
          </p:cNvGrpSpPr>
          <p:nvPr/>
        </p:nvGrpSpPr>
        <p:grpSpPr bwMode="auto">
          <a:xfrm>
            <a:off x="2841062" y="1317432"/>
            <a:ext cx="274637" cy="274638"/>
            <a:chOff x="0" y="0"/>
            <a:chExt cx="173" cy="173"/>
          </a:xfrm>
        </p:grpSpPr>
        <p:sp>
          <p:nvSpPr>
            <p:cNvPr id="26" name="Oval 28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7" name="Arc 29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8" name="Arc 30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9" name="Arc 31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0" name="Arc 32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1" name="Arc 33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3654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422066" y="4384319"/>
            <a:ext cx="717171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701" y="367383"/>
            <a:ext cx="1203624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592520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670560" y="378505"/>
            <a:ext cx="184731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1351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338816" y="-13616"/>
            <a:ext cx="4694917" cy="560400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102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102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102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Projeto: </a:t>
            </a:r>
            <a:r>
              <a:rPr lang="pt-BR" sz="2102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Aspect</a:t>
            </a:r>
            <a:r>
              <a:rPr lang="pt-BR" sz="2102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7.3 System 1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348626" y="2081342"/>
            <a:ext cx="2627945" cy="26492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150"/>
              </a:spcBef>
              <a:spcAft>
                <a:spcPts val="150"/>
              </a:spcAft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28708" lvl="1" indent="-128708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Estudo de utilização de banda para operações Sites.</a:t>
            </a:r>
          </a:p>
          <a:p>
            <a:pPr marL="128708" lvl="1" indent="-128708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Tarifação do ambiente. (Solução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CPqD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 </a:t>
            </a:r>
          </a:p>
          <a:p>
            <a:pPr marL="128708" lvl="1" indent="-128708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endParaRPr lang="pt-BR" sz="90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28708" lvl="1" indent="-128708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endParaRPr lang="pt-BR" sz="90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150"/>
              </a:spcBef>
              <a:spcAft>
                <a:spcPts val="150"/>
              </a:spcAft>
            </a:pPr>
            <a:endParaRPr lang="pt-BR" sz="90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28708" lvl="1" indent="-128708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endParaRPr lang="pt-BR" sz="90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150"/>
              </a:spcBef>
              <a:spcAft>
                <a:spcPts val="150"/>
              </a:spcAft>
            </a:pPr>
            <a:endParaRPr lang="pt-BR" sz="90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28708" lvl="1" indent="-128708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endParaRPr lang="pt-BR" sz="90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28708" lvl="1" indent="-128708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endParaRPr lang="pt-BR" sz="90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82878" y="803053"/>
            <a:ext cx="2886007" cy="1033593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Aspect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7.3</a:t>
            </a:r>
          </a:p>
          <a:p>
            <a:r>
              <a:rPr lang="pt-BR" sz="1200" i="1" dirty="0"/>
              <a:t>Data Inicio: 14-10-2015</a:t>
            </a:r>
          </a:p>
          <a:p>
            <a:r>
              <a:rPr lang="pt-BR" sz="1200" i="1" dirty="0"/>
              <a:t>Data Conclusão: Plataforma: 05-01-2017</a:t>
            </a:r>
          </a:p>
          <a:p>
            <a:r>
              <a:rPr lang="pt-BR" sz="1200" i="1" dirty="0"/>
              <a:t>Progresso: 4%</a:t>
            </a:r>
          </a:p>
          <a:p>
            <a:r>
              <a:rPr lang="pt-BR" sz="1200" i="1" dirty="0"/>
              <a:t>PM: Julio Cesar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354703" y="2034362"/>
            <a:ext cx="2592969" cy="270837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150"/>
              </a:spcBef>
              <a:spcAft>
                <a:spcPts val="15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28708" lvl="1" indent="-128708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Definição da arquitetura operação BO Anatel.</a:t>
            </a:r>
          </a:p>
          <a:p>
            <a:pPr marL="128708" lvl="1" indent="-128708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Definir plano de migração Santander</a:t>
            </a:r>
          </a:p>
          <a:p>
            <a:pPr marL="128708" lvl="1" indent="-128708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Definição de entrega de links OI.</a:t>
            </a:r>
          </a:p>
          <a:p>
            <a:pPr marL="128708" lvl="1" indent="-128708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Treinamento equipe de planejamento e técnica a ser realizado pela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Aspect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28708" lvl="1" indent="-128708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endParaRPr lang="pt-BR" sz="90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28708" lvl="1" indent="-128708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endParaRPr lang="pt-BR" sz="901" dirty="0">
              <a:solidFill>
                <a:schemeClr val="tx1"/>
              </a:solidFill>
            </a:endParaRPr>
          </a:p>
          <a:p>
            <a:pPr marL="0" lvl="1" algn="ctr">
              <a:spcBef>
                <a:spcPts val="150"/>
              </a:spcBef>
              <a:spcAft>
                <a:spcPts val="150"/>
              </a:spcAft>
            </a:pPr>
            <a:endParaRPr lang="pt-BR" sz="1051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252347" y="2046500"/>
            <a:ext cx="2582215" cy="268410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150"/>
              </a:spcBef>
              <a:spcAft>
                <a:spcPts val="150"/>
              </a:spcAft>
            </a:pPr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150"/>
              </a:spcBef>
              <a:spcAft>
                <a:spcPts val="150"/>
              </a:spcAft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Risco:</a:t>
            </a:r>
          </a:p>
          <a:p>
            <a:pPr marL="128708" lvl="1" indent="-128708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Entrega da OI (E1´s) Polo Prado não pode ser em SIP. Em negociação.</a:t>
            </a:r>
          </a:p>
          <a:p>
            <a:pPr marL="128708" lvl="1" indent="-128708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alt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Aspect não cumpriu a data de </a:t>
            </a:r>
            <a:r>
              <a:rPr lang="pt-BR" alt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implantação 23/05</a:t>
            </a:r>
            <a:r>
              <a:rPr lang="pt-BR" alt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0" lvl="1">
              <a:spcBef>
                <a:spcPts val="150"/>
              </a:spcBef>
              <a:spcAft>
                <a:spcPts val="150"/>
              </a:spcAft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Nova data 24/05.</a:t>
            </a:r>
          </a:p>
          <a:p>
            <a:pPr marL="128708" lvl="1" indent="-128708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endParaRPr lang="pt-BR" sz="90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150"/>
              </a:spcBef>
              <a:spcAft>
                <a:spcPts val="150"/>
              </a:spcAft>
            </a:pPr>
            <a:endParaRPr lang="pt-BR" sz="90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171374" y="803053"/>
            <a:ext cx="5724719" cy="1033593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Este projeto tem como escopo, preparar/adequar toda  a infra de HW para instalar a versão 7.3 do </a:t>
            </a:r>
            <a:r>
              <a:rPr lang="pt-BR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Aspect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 2000 </a:t>
            </a:r>
            <a:r>
              <a:rPr lang="pt-BR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E consequentemente migrar as operações críticas para essa plataforma.</a:t>
            </a:r>
          </a:p>
        </p:txBody>
      </p:sp>
      <p:grpSp>
        <p:nvGrpSpPr>
          <p:cNvPr id="19" name="Group 9"/>
          <p:cNvGrpSpPr>
            <a:grpSpLocks/>
          </p:cNvGrpSpPr>
          <p:nvPr/>
        </p:nvGrpSpPr>
        <p:grpSpPr bwMode="auto">
          <a:xfrm>
            <a:off x="2736731" y="1481949"/>
            <a:ext cx="274638" cy="274638"/>
            <a:chOff x="0" y="0"/>
            <a:chExt cx="173" cy="173"/>
          </a:xfrm>
        </p:grpSpPr>
        <p:sp>
          <p:nvSpPr>
            <p:cNvPr id="23" name="Oval 1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4" name="Arc 11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060521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56" y="3888759"/>
            <a:ext cx="1524000" cy="1143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Alinhamento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43" y="1885837"/>
            <a:ext cx="2015419" cy="15115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162" y="1885837"/>
            <a:ext cx="2574943" cy="19312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596" y="1346058"/>
            <a:ext cx="3218155" cy="24136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8188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04326" y="894156"/>
            <a:ext cx="4186529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Visão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 Macro - </a:t>
            </a:r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Cenário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Atual</a:t>
            </a:r>
            <a:endParaRPr lang="en-US" sz="2252" b="1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62659" y="0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Backups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Restore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em Produção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803" y="1820863"/>
            <a:ext cx="9170786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0458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-76200" y="4991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100" b="0" i="0" u="none" strike="noStrike" cap="none" normalizeH="0" baseline="0" dirty="0" smtClean="0">
                <a:ln>
                  <a:noFill/>
                </a:ln>
                <a:solidFill>
                  <a:srgbClr val="1F497D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O números de servidores ainda são os da nossa base devido a planilha de CA estar confusa para a atualização e entendimento dos ativos.</a:t>
            </a:r>
            <a:endParaRPr kumimoji="0" lang="pt-B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5082764" y="180753"/>
            <a:ext cx="356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Visão de backup por site e evolução</a:t>
            </a:r>
            <a:endParaRPr lang="pt-BR" dirty="0"/>
          </a:p>
        </p:txBody>
      </p:sp>
      <p:pic>
        <p:nvPicPr>
          <p:cNvPr id="3" name="Gráfico 4" descr="image0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3794" y="1226020"/>
            <a:ext cx="3819525" cy="2452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2" name="Picture 2" descr="image0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57150"/>
            <a:ext cx="4600575" cy="4827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545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552411" y="109829"/>
            <a:ext cx="5449569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Detalhamento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 - </a:t>
            </a:r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Ofensores</a:t>
            </a:r>
            <a:endParaRPr lang="en-US" sz="2252" b="1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/>
          </p:nvPr>
        </p:nvGraphicFramePr>
        <p:xfrm>
          <a:off x="114300" y="431895"/>
          <a:ext cx="8934449" cy="46258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6786"/>
                <a:gridCol w="950130"/>
                <a:gridCol w="1062751"/>
                <a:gridCol w="2943720"/>
                <a:gridCol w="881062"/>
              </a:tblGrid>
              <a:tr h="4939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Assunto</a:t>
                      </a:r>
                      <a:endParaRPr lang="pt-BR" sz="7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6027" marR="56027" marT="28014" marB="2801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Resp.</a:t>
                      </a:r>
                      <a:endParaRPr lang="pt-BR" sz="7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6027" marR="56027" marT="28014" marB="2801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Status</a:t>
                      </a:r>
                      <a:endParaRPr lang="pt-BR" sz="7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6027" marR="56027" marT="28014" marB="2801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Observação</a:t>
                      </a:r>
                      <a:endParaRPr lang="pt-BR" sz="7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6027" marR="56027" marT="28014" marB="2801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Previsão</a:t>
                      </a:r>
                      <a:endParaRPr lang="pt-BR" sz="7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6027" marR="56027" marT="28014" marB="28014" anchor="ctr"/>
                </a:tc>
              </a:tr>
              <a:tr h="340906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RJ - Transporte do robô de Alegria para Engenho de Dentro - SC 246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Eugenio Silva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 transporte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Robô enviado, aguardando recebimento do site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18/05/2016 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</a:tr>
              <a:tr h="340906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RJ - Compra de fitas para a regional </a:t>
                      </a:r>
                    </a:p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 SC 245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Eugenio Silva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 status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 status sobre as aprovações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 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</a:tr>
              <a:tr h="340906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RJ - Manutenção de 02 robôs no site MCK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Eugenio Silva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 o site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1 – SC Aberta, aguardando aprovações</a:t>
                      </a:r>
                    </a:p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2 – Dell realizando teste ainda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30/05/2016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</a:tr>
              <a:tr h="468213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RJ - Troca de robôs entre sites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Eugenio Silva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 a disponibilidade do site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Solicitado a troca de robôs entre os sites São Cristóvão e Mauá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30/05/2016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</a:tr>
              <a:tr h="3409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SP - Compra de fitas para a regional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Roberto Elias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 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Apenas chegaram 45 fitas para atender a regional, aguardando o resto do material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30/05/2016 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</a:tr>
              <a:tr h="340906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SP – Manutenção no robô do site Alegria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Roberto Elias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 a Big Blue atuar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30/04/2016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</a:tr>
              <a:tr h="468213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DC - GAP de licenças DATA PROTECTOR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Rafael Alves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Valores já enviados pela HP e aprovados pela Engenharia. Enviado o formulário para abertura de SC para o time de FINANCEIRO_TI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Sem praz0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</a:tr>
              <a:tr h="468213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BR - Contrato de suporte ao HW de BKP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STUART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Sem status sobre a renovação de contrato para suporte aos equipamentos de backup, onde a maioria está fora da garantia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 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</a:tr>
              <a:tr h="340906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BR - Armazenamento de fita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Rafael Alves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Definindo melhor cenário de custódia e armazenamento de mídias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 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</a:tr>
              <a:tr h="340906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SP - Transporte de robôs oriundos do Lapa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Backup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Robôs em testes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Robôs entregues e sendo testados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 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</a:tr>
              <a:tr h="340906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BR - Instalação de agentes nos servidores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Celio Ricardo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Em andamento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Disponibilizado um analista do CSE para atender diariamente nossos chamado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 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836" marR="5836" marT="5836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06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511225" y="100125"/>
            <a:ext cx="1523161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Time Line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1" y="923925"/>
            <a:ext cx="8892188" cy="2930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226" y="4490284"/>
            <a:ext cx="1322947" cy="53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40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18972</TotalTime>
  <Words>2313</Words>
  <Application>Microsoft Office PowerPoint</Application>
  <PresentationFormat>Personalizar</PresentationFormat>
  <Paragraphs>374</Paragraphs>
  <Slides>31</Slides>
  <Notes>25</Notes>
  <HiddenSlides>4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41" baseType="lpstr">
      <vt:lpstr>Arial</vt:lpstr>
      <vt:lpstr>Calibri</vt:lpstr>
      <vt:lpstr>Calibri Light</vt:lpstr>
      <vt:lpstr>Times New Roman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Luis Marçal</cp:lastModifiedBy>
  <cp:revision>1471</cp:revision>
  <dcterms:created xsi:type="dcterms:W3CDTF">2015-08-20T14:57:26Z</dcterms:created>
  <dcterms:modified xsi:type="dcterms:W3CDTF">2016-05-24T23:21:32Z</dcterms:modified>
</cp:coreProperties>
</file>