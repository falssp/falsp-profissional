
<file path=[Content_Types].xml><?xml version="1.0" encoding="utf-8"?>
<Types xmlns="http://schemas.openxmlformats.org/package/2006/content-types"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65" r:id="rId3"/>
    <p:sldId id="296" r:id="rId4"/>
    <p:sldId id="301" r:id="rId5"/>
    <p:sldId id="285" r:id="rId6"/>
    <p:sldId id="302" r:id="rId7"/>
    <p:sldId id="303" r:id="rId8"/>
    <p:sldId id="300" r:id="rId9"/>
    <p:sldId id="298" r:id="rId10"/>
    <p:sldId id="306" r:id="rId11"/>
    <p:sldId id="305" r:id="rId12"/>
    <p:sldId id="293" r:id="rId13"/>
    <p:sldId id="291" r:id="rId14"/>
    <p:sldId id="279" r:id="rId15"/>
    <p:sldId id="304" r:id="rId16"/>
    <p:sldId id="284" r:id="rId17"/>
    <p:sldId id="288" r:id="rId18"/>
    <p:sldId id="276" r:id="rId19"/>
    <p:sldId id="277" r:id="rId20"/>
    <p:sldId id="294" r:id="rId21"/>
    <p:sldId id="280" r:id="rId22"/>
    <p:sldId id="289" r:id="rId23"/>
    <p:sldId id="295" r:id="rId24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70" userDrawn="1">
          <p15:clr>
            <a:srgbClr val="A4A3A4"/>
          </p15:clr>
        </p15:guide>
        <p15:guide id="2" pos="60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1785" autoAdjust="0"/>
  </p:normalViewPr>
  <p:slideViewPr>
    <p:cSldViewPr snapToGrid="0" snapToObjects="1">
      <p:cViewPr>
        <p:scale>
          <a:sx n="98" d="100"/>
          <a:sy n="98" d="100"/>
        </p:scale>
        <p:origin x="492" y="264"/>
      </p:cViewPr>
      <p:guideLst>
        <p:guide orient="horz" pos="2370"/>
        <p:guide pos="60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400" b="1" dirty="0"/>
              <a:t>Quantidade de Incidentes </a:t>
            </a:r>
            <a:r>
              <a:rPr lang="pt-BR" sz="1400" b="1" dirty="0" smtClean="0"/>
              <a:t> </a:t>
            </a:r>
          </a:p>
          <a:p>
            <a:pPr algn="ctr">
              <a:defRPr sz="1400" b="1"/>
            </a:pPr>
            <a:r>
              <a:rPr lang="pt-BR" sz="1400" b="1" dirty="0" smtClean="0"/>
              <a:t>Alto </a:t>
            </a:r>
            <a:r>
              <a:rPr lang="pt-BR" sz="1400" b="1" dirty="0"/>
              <a:t>Impacto</a:t>
            </a:r>
          </a:p>
        </c:rich>
      </c:tx>
      <c:layout>
        <c:manualLayout>
          <c:xMode val="edge"/>
          <c:yMode val="edge"/>
          <c:x val="0.23439559165933119"/>
          <c:y val="3.971134749148837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Quantidade de Incidentes de Alto Impacto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Plan1!$A$2:$A$6</c:f>
              <c:strCache>
                <c:ptCount val="5"/>
                <c:pt idx="0">
                  <c:v>Junho</c:v>
                </c:pt>
                <c:pt idx="1">
                  <c:v>Julho</c:v>
                </c:pt>
                <c:pt idx="2">
                  <c:v>Agosto</c:v>
                </c:pt>
                <c:pt idx="3">
                  <c:v>Setembro</c:v>
                </c:pt>
                <c:pt idx="4">
                  <c:v>Out 
(01 a 08)</c:v>
                </c:pt>
              </c:strCache>
            </c:strRef>
          </c:cat>
          <c:val>
            <c:numRef>
              <c:f>Plan1!$B$2:$B$6</c:f>
              <c:numCache>
                <c:formatCode>#,##0</c:formatCode>
                <c:ptCount val="5"/>
                <c:pt idx="0">
                  <c:v>1648</c:v>
                </c:pt>
                <c:pt idx="1">
                  <c:v>1633</c:v>
                </c:pt>
                <c:pt idx="2">
                  <c:v>1588</c:v>
                </c:pt>
                <c:pt idx="3">
                  <c:v>1443</c:v>
                </c:pt>
                <c:pt idx="4" formatCode="General">
                  <c:v>572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9965536"/>
        <c:axId val="219967104"/>
      </c:barChart>
      <c:catAx>
        <c:axId val="219965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19967104"/>
        <c:crosses val="autoZero"/>
        <c:auto val="1"/>
        <c:lblAlgn val="ctr"/>
        <c:lblOffset val="100"/>
        <c:noMultiLvlLbl val="0"/>
      </c:catAx>
      <c:valAx>
        <c:axId val="219967104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21996553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/>
              <a:t>Probl. Abertos e                    Inc. Associados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Qtd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3">
                  <a:lumMod val="75000"/>
                </a:schemeClr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Plan1!$A$2:$A$3</c:f>
              <c:strCache>
                <c:ptCount val="2"/>
                <c:pt idx="0">
                  <c:v>Inc.</c:v>
                </c:pt>
                <c:pt idx="1">
                  <c:v>Probl.</c:v>
                </c:pt>
              </c:strCache>
            </c:strRef>
          </c:cat>
          <c:val>
            <c:numRef>
              <c:f>Plan1!$B$2:$B$3</c:f>
              <c:numCache>
                <c:formatCode>General</c:formatCode>
                <c:ptCount val="2"/>
                <c:pt idx="0">
                  <c:v>78</c:v>
                </c:pt>
                <c:pt idx="1">
                  <c:v>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573375264"/>
        <c:axId val="378167840"/>
      </c:barChart>
      <c:catAx>
        <c:axId val="5733752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78167840"/>
        <c:crosses val="autoZero"/>
        <c:auto val="1"/>
        <c:lblAlgn val="ctr"/>
        <c:lblOffset val="100"/>
        <c:noMultiLvlLbl val="0"/>
      </c:catAx>
      <c:valAx>
        <c:axId val="37816784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733752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/>
              <a:t>Gestão de Problemas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Gestão de Problemas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Plan1!$A$2:$A$5</c:f>
              <c:strCache>
                <c:ptCount val="4"/>
                <c:pt idx="0">
                  <c:v>Solução 
Definitva</c:v>
                </c:pt>
                <c:pt idx="1">
                  <c:v>Solução 
Contorno</c:v>
                </c:pt>
                <c:pt idx="2">
                  <c:v>Causas mais 
prováveis</c:v>
                </c:pt>
                <c:pt idx="3">
                  <c:v>Possíveis 
Causas</c:v>
                </c:pt>
              </c:strCache>
            </c:strRef>
          </c:cat>
          <c:val>
            <c:numRef>
              <c:f>Plan1!$B$2:$B$5</c:f>
              <c:numCache>
                <c:formatCode>General</c:formatCode>
                <c:ptCount val="4"/>
                <c:pt idx="0">
                  <c:v>19</c:v>
                </c:pt>
                <c:pt idx="1">
                  <c:v>7</c:v>
                </c:pt>
                <c:pt idx="2">
                  <c:v>13</c:v>
                </c:pt>
                <c:pt idx="3">
                  <c:v>40</c:v>
                </c:pt>
              </c:numCache>
            </c:numRef>
          </c:val>
        </c:ser>
        <c:ser>
          <c:idx val="1"/>
          <c:order val="1"/>
          <c:tx>
            <c:strRef>
              <c:f>Plan1!$C$1</c:f>
              <c:strCache>
                <c:ptCount val="1"/>
                <c:pt idx="0">
                  <c:v>Feito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Plan1!$A$2:$A$5</c:f>
              <c:strCache>
                <c:ptCount val="4"/>
                <c:pt idx="0">
                  <c:v>Solução 
Definitva</c:v>
                </c:pt>
                <c:pt idx="1">
                  <c:v>Solução 
Contorno</c:v>
                </c:pt>
                <c:pt idx="2">
                  <c:v>Causas mais 
prováveis</c:v>
                </c:pt>
                <c:pt idx="3">
                  <c:v>Possíveis 
Causas</c:v>
                </c:pt>
              </c:strCache>
            </c:strRef>
          </c:cat>
          <c:val>
            <c:numRef>
              <c:f>Plan1!$C$2:$C$5</c:f>
              <c:numCache>
                <c:formatCode>General</c:formatCode>
                <c:ptCount val="4"/>
                <c:pt idx="1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00143984"/>
        <c:axId val="300143592"/>
      </c:barChart>
      <c:catAx>
        <c:axId val="3001439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00143592"/>
        <c:crosses val="autoZero"/>
        <c:auto val="1"/>
        <c:lblAlgn val="ctr"/>
        <c:lblOffset val="100"/>
        <c:noMultiLvlLbl val="0"/>
      </c:catAx>
      <c:valAx>
        <c:axId val="30014359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001439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13702064448360488"/>
          <c:y val="7.849904065312850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Plan1!$B$1</c:f>
              <c:strCache>
                <c:ptCount val="1"/>
                <c:pt idx="0">
                  <c:v>Solução Contorno</c:v>
                </c:pt>
              </c:strCache>
            </c:strRef>
          </c:tx>
          <c:dPt>
            <c:idx val="0"/>
            <c:bubble3D val="0"/>
            <c:spPr>
              <a:solidFill>
                <a:schemeClr val="bg1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0070C0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Plan1!$A$2:$A$3</c:f>
              <c:strCache>
                <c:ptCount val="2"/>
                <c:pt idx="0">
                  <c:v>Processo</c:v>
                </c:pt>
                <c:pt idx="1">
                  <c:v>Tecnológica</c:v>
                </c:pt>
              </c:strCache>
            </c:strRef>
          </c:cat>
          <c:val>
            <c:numRef>
              <c:f>Plan1!$B$2:$B$3</c:f>
              <c:numCache>
                <c:formatCode>General</c:formatCode>
                <c:ptCount val="2"/>
                <c:pt idx="0">
                  <c:v>3</c:v>
                </c:pt>
                <c:pt idx="1">
                  <c:v>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400" b="1" dirty="0" smtClean="0"/>
              <a:t>Solução Definitiva</a:t>
            </a:r>
            <a:endParaRPr lang="pt-BR" sz="1400" b="1" dirty="0"/>
          </a:p>
        </c:rich>
      </c:tx>
      <c:layout>
        <c:manualLayout>
          <c:xMode val="edge"/>
          <c:yMode val="edge"/>
          <c:x val="0.26262762023985325"/>
          <c:y val="0.1134779059725960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Projeto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Plan1!$A$2:$A$3</c:f>
              <c:strCache>
                <c:ptCount val="2"/>
                <c:pt idx="0">
                  <c:v>Processo</c:v>
                </c:pt>
                <c:pt idx="1">
                  <c:v>Tecnológica</c:v>
                </c:pt>
              </c:strCache>
            </c:strRef>
          </c:cat>
          <c:val>
            <c:numRef>
              <c:f>Plan1!$B$2:$B$3</c:f>
              <c:numCache>
                <c:formatCode>General</c:formatCode>
                <c:ptCount val="2"/>
                <c:pt idx="0">
                  <c:v>3</c:v>
                </c:pt>
                <c:pt idx="1">
                  <c:v>2</c:v>
                </c:pt>
              </c:numCache>
            </c:numRef>
          </c:val>
        </c:ser>
        <c:ser>
          <c:idx val="1"/>
          <c:order val="1"/>
          <c:tx>
            <c:strRef>
              <c:f>Plan1!$C$1</c:f>
              <c:strCache>
                <c:ptCount val="1"/>
                <c:pt idx="0">
                  <c:v>Ongoing</c:v>
                </c:pt>
              </c:strCache>
            </c:strRef>
          </c:tx>
          <c:spPr>
            <a:solidFill>
              <a:schemeClr val="accent3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Plan1!$A$2:$A$3</c:f>
              <c:strCache>
                <c:ptCount val="2"/>
                <c:pt idx="0">
                  <c:v>Processo</c:v>
                </c:pt>
                <c:pt idx="1">
                  <c:v>Tecnológica</c:v>
                </c:pt>
              </c:strCache>
            </c:strRef>
          </c:cat>
          <c:val>
            <c:numRef>
              <c:f>Plan1!$C$2:$C$3</c:f>
              <c:numCache>
                <c:formatCode>General</c:formatCode>
                <c:ptCount val="2"/>
                <c:pt idx="0">
                  <c:v>11</c:v>
                </c:pt>
                <c:pt idx="1">
                  <c:v>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00142416"/>
        <c:axId val="300144376"/>
      </c:barChart>
      <c:catAx>
        <c:axId val="300142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00144376"/>
        <c:crosses val="autoZero"/>
        <c:auto val="1"/>
        <c:lblAlgn val="ctr"/>
        <c:lblOffset val="100"/>
        <c:noMultiLvlLbl val="0"/>
      </c:catAx>
      <c:valAx>
        <c:axId val="3001443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001424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9299"/>
            <a:ext cx="7772400" cy="1103540"/>
          </a:xfrm>
        </p:spPr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7349"/>
            <a:ext cx="6400800" cy="131566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899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30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8236"/>
            <a:ext cx="7772400" cy="102250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2054"/>
            <a:ext cx="7772400" cy="112618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453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2138"/>
            <a:ext cx="4038600" cy="255029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2138"/>
            <a:ext cx="4038600" cy="255029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855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</p:spPr>
        <p:txBody>
          <a:bodyPr/>
          <a:lstStyle>
            <a:lvl1pPr>
              <a:defRPr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2401"/>
            <a:ext cx="4040188" cy="4802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2667"/>
            <a:ext cx="4040188" cy="296621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2401"/>
            <a:ext cx="4041775" cy="4802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2667"/>
            <a:ext cx="4041775" cy="296621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10/8/2015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32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10/8/2015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791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10/8/2015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872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977"/>
            <a:ext cx="3008313" cy="87234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977"/>
            <a:ext cx="5111750" cy="43939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7322"/>
            <a:ext cx="3008313" cy="352155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860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3784"/>
            <a:ext cx="5486400" cy="42544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007"/>
            <a:ext cx="5486400" cy="308895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9231"/>
            <a:ext cx="5486400" cy="60420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18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274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925"/>
            <a:ext cx="2057400" cy="3297510"/>
          </a:xfrm>
        </p:spPr>
        <p:txBody>
          <a:bodyPr vert="eaVert"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925"/>
            <a:ext cx="6019800" cy="3297510"/>
          </a:xfrm>
        </p:spPr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224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1262"/>
            <a:ext cx="8229600" cy="3397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71678"/>
            <a:ext cx="21336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96241-9EE8-3241-9C65-A8F2A1D83BB2}" type="datetimeFigureOut">
              <a:rPr lang="en-US" smtClean="0"/>
              <a:t>10/8/2015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71678"/>
            <a:ext cx="28956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71678"/>
            <a:ext cx="21336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46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4.xml"/><Relationship Id="rId3" Type="http://schemas.openxmlformats.org/officeDocument/2006/relationships/image" Target="../media/image6.png"/><Relationship Id="rId7" Type="http://schemas.openxmlformats.org/officeDocument/2006/relationships/chart" Target="../charts/chart3.xml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7.jpg"/><Relationship Id="rId9" Type="http://schemas.openxmlformats.org/officeDocument/2006/relationships/chart" Target="../charts/char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emf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emf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emf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emf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package" Target="../embeddings/Microsoft_Excel_Worksheet6.xlsx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emf"/><Relationship Id="rId4" Type="http://schemas.openxmlformats.org/officeDocument/2006/relationships/image" Target="../media/image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G"/><Relationship Id="rId4" Type="http://schemas.openxmlformats.org/officeDocument/2006/relationships/image" Target="../media/image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jpg"/><Relationship Id="rId4" Type="http://schemas.openxmlformats.org/officeDocument/2006/relationships/image" Target="../media/image7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emf"/><Relationship Id="rId4" Type="http://schemas.openxmlformats.org/officeDocument/2006/relationships/image" Target="../media/image7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emf"/><Relationship Id="rId4" Type="http://schemas.openxmlformats.org/officeDocument/2006/relationships/image" Target="../media/image7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emf"/><Relationship Id="rId4" Type="http://schemas.openxmlformats.org/officeDocument/2006/relationships/image" Target="../media/image7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emf"/><Relationship Id="rId4" Type="http://schemas.openxmlformats.org/officeDocument/2006/relationships/image" Target="../media/image7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emf"/><Relationship Id="rId4" Type="http://schemas.openxmlformats.org/officeDocument/2006/relationships/image" Target="../media/image7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emf"/><Relationship Id="rId4" Type="http://schemas.openxmlformats.org/officeDocument/2006/relationships/image" Target="../media/image7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emf"/><Relationship Id="rId4" Type="http://schemas.openxmlformats.org/officeDocument/2006/relationships/image" Target="../media/image7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emf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fachad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39"/>
            <a:ext cx="9144000" cy="5145024"/>
          </a:xfrm>
          <a:prstGeom prst="rect">
            <a:avLst/>
          </a:prstGeom>
        </p:spPr>
      </p:pic>
      <p:pic>
        <p:nvPicPr>
          <p:cNvPr id="10" name="Picture 9" descr="meia_bolinha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466" y="4354709"/>
            <a:ext cx="1635846" cy="8043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0329" y="3208"/>
            <a:ext cx="3345084" cy="12218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9711" y="325132"/>
            <a:ext cx="1744578" cy="422254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2900329" y="1968310"/>
            <a:ext cx="3140052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smtClean="0">
                <a:solidFill>
                  <a:srgbClr val="19345B"/>
                </a:solidFill>
                <a:latin typeface="Arial"/>
                <a:cs typeface="Arial"/>
              </a:rPr>
              <a:t>Contact Center</a:t>
            </a:r>
            <a:r>
              <a:rPr lang="en-US" sz="30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</a:p>
          <a:p>
            <a:r>
              <a:rPr lang="en-US" sz="2200" dirty="0" err="1" smtClean="0">
                <a:solidFill>
                  <a:srgbClr val="FF0000"/>
                </a:solidFill>
                <a:latin typeface="Arial"/>
                <a:cs typeface="Arial"/>
              </a:rPr>
              <a:t>Gerenciamento</a:t>
            </a:r>
            <a:r>
              <a:rPr lang="en-US" sz="2200" dirty="0" smtClean="0">
                <a:solidFill>
                  <a:srgbClr val="FF0000"/>
                </a:solidFill>
                <a:latin typeface="Arial"/>
                <a:cs typeface="Arial"/>
              </a:rPr>
              <a:t> de </a:t>
            </a:r>
            <a:r>
              <a:rPr lang="en-US" sz="2200" dirty="0" err="1" smtClean="0">
                <a:solidFill>
                  <a:srgbClr val="FF0000"/>
                </a:solidFill>
                <a:latin typeface="Arial"/>
                <a:cs typeface="Arial"/>
              </a:rPr>
              <a:t>Problemas</a:t>
            </a:r>
            <a:endParaRPr lang="en-US" sz="2200" dirty="0" smtClean="0">
              <a:solidFill>
                <a:srgbClr val="FF0000"/>
              </a:solidFill>
              <a:latin typeface="Arial"/>
              <a:cs typeface="Arial"/>
            </a:endParaRPr>
          </a:p>
          <a:p>
            <a:r>
              <a:rPr lang="en-US" sz="2200" dirty="0" smtClean="0">
                <a:solidFill>
                  <a:srgbClr val="FF0000"/>
                </a:solidFill>
                <a:latin typeface="Arial"/>
                <a:cs typeface="Arial"/>
              </a:rPr>
              <a:t>09 </a:t>
            </a:r>
            <a:r>
              <a:rPr lang="en-US" sz="2200" dirty="0" err="1" smtClean="0">
                <a:solidFill>
                  <a:srgbClr val="FF0000"/>
                </a:solidFill>
                <a:latin typeface="Arial"/>
                <a:cs typeface="Arial"/>
              </a:rPr>
              <a:t>Outubro</a:t>
            </a:r>
            <a:r>
              <a:rPr lang="en-US" sz="2200" dirty="0" smtClean="0">
                <a:solidFill>
                  <a:srgbClr val="FF0000"/>
                </a:solidFill>
                <a:latin typeface="Arial"/>
                <a:cs typeface="Arial"/>
              </a:rPr>
              <a:t> 2015</a:t>
            </a:r>
            <a:endParaRPr lang="en-US" sz="2200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842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331"/>
    </mc:Choice>
    <mc:Fallback xmlns="">
      <p:transition spd="slow" advTm="833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interna_img-3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5959" y="-32183"/>
            <a:ext cx="9141292" cy="5148264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Shape 114"/>
          <p:cNvSpPr/>
          <p:nvPr/>
        </p:nvSpPr>
        <p:spPr>
          <a:xfrm>
            <a:off x="3201223" y="1061209"/>
            <a:ext cx="4800929" cy="858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3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pt-BR" sz="3000" b="1" dirty="0" smtClean="0">
                <a:solidFill>
                  <a:srgbClr val="1F497D"/>
                </a:solidFill>
              </a:rPr>
              <a:t>Índice</a:t>
            </a:r>
            <a:endParaRPr sz="3000" b="1" dirty="0">
              <a:solidFill>
                <a:srgbClr val="1F497D"/>
              </a:solidFill>
            </a:endParaRPr>
          </a:p>
        </p:txBody>
      </p:sp>
      <p:pic>
        <p:nvPicPr>
          <p:cNvPr id="116" name="image5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860" y="4531179"/>
            <a:ext cx="1248721" cy="6145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3033277" y="3013442"/>
            <a:ext cx="5157767" cy="1543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AutoNum type="arabicPeriod"/>
            </a:pPr>
            <a:endParaRPr lang="pt-PT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l">
              <a:buFontTx/>
              <a:buAutoNum type="arabicPeriod"/>
            </a:pP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Indicadores</a:t>
            </a:r>
            <a:endParaRPr lang="pt-BR" sz="1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l">
              <a:buFontTx/>
              <a:buAutoNum type="arabicPeriod"/>
            </a:pP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Status</a:t>
            </a:r>
          </a:p>
          <a:p>
            <a:pPr marL="342900" indent="-342900" algn="l">
              <a:buFontTx/>
              <a:buAutoNum type="arabicPeriod"/>
            </a:pP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Problemas </a:t>
            </a:r>
            <a:r>
              <a:rPr lang="pt-BR" sz="1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– Solução </a:t>
            </a: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Definitiva</a:t>
            </a:r>
          </a:p>
          <a:p>
            <a:pPr marL="342900" indent="-342900" algn="l">
              <a:buFontTx/>
              <a:buAutoNum type="arabicPeriod"/>
            </a:pP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Ações previstas</a:t>
            </a:r>
          </a:p>
          <a:p>
            <a:pPr marL="342900" indent="-342900" algn="l">
              <a:buFontTx/>
              <a:buAutoNum type="arabicPeriod"/>
            </a:pP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Alinhamento</a:t>
            </a:r>
          </a:p>
          <a:p>
            <a:pPr marL="342900" indent="-342900" algn="l">
              <a:buFontTx/>
              <a:buAutoNum type="arabicPeriod"/>
            </a:pP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Fichas técnicas</a:t>
            </a:r>
            <a:endParaRPr lang="pt-PT" sz="1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l"/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l"/>
            <a:endParaRPr lang="pt-BR" sz="12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l"/>
            <a:r>
              <a:rPr 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6875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-174171" y="124059"/>
            <a:ext cx="9012145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Indicadores</a:t>
            </a:r>
            <a:endParaRPr lang="pt-BR" sz="1800" b="1" i="1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Clr>
                <a:srgbClr val="800000"/>
              </a:buClr>
            </a:pPr>
            <a:endParaRPr lang="pt-BR" sz="19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6" name="Gráfico 5"/>
          <p:cNvGraphicFramePr/>
          <p:nvPr>
            <p:extLst/>
          </p:nvPr>
        </p:nvGraphicFramePr>
        <p:xfrm>
          <a:off x="0" y="966889"/>
          <a:ext cx="3431822" cy="2114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8" name="Gráfico 17"/>
          <p:cNvGraphicFramePr/>
          <p:nvPr>
            <p:extLst/>
          </p:nvPr>
        </p:nvGraphicFramePr>
        <p:xfrm>
          <a:off x="135465" y="3102890"/>
          <a:ext cx="2833511" cy="19211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2" name="Gráfico 21"/>
          <p:cNvGraphicFramePr/>
          <p:nvPr>
            <p:extLst>
              <p:ext uri="{D42A27DB-BD31-4B8C-83A1-F6EECF244321}">
                <p14:modId xmlns:p14="http://schemas.microsoft.com/office/powerpoint/2010/main" val="869169607"/>
              </p:ext>
            </p:extLst>
          </p:nvPr>
        </p:nvGraphicFramePr>
        <p:xfrm>
          <a:off x="3605993" y="1410693"/>
          <a:ext cx="3601156" cy="29800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30" name="Gráfico 29"/>
          <p:cNvGraphicFramePr/>
          <p:nvPr>
            <p:extLst/>
          </p:nvPr>
        </p:nvGraphicFramePr>
        <p:xfrm>
          <a:off x="7021333" y="929840"/>
          <a:ext cx="1907822" cy="1941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025" name="Gráfico 1024"/>
          <p:cNvGraphicFramePr/>
          <p:nvPr>
            <p:extLst/>
          </p:nvPr>
        </p:nvGraphicFramePr>
        <p:xfrm>
          <a:off x="6494630" y="2970727"/>
          <a:ext cx="2961227" cy="19025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313136788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121362" y="0"/>
            <a:ext cx="5567904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 Status</a:t>
            </a:r>
            <a:endParaRPr lang="pt-PT" sz="32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tângulo de cantos arredondados 8"/>
          <p:cNvSpPr/>
          <p:nvPr/>
        </p:nvSpPr>
        <p:spPr>
          <a:xfrm>
            <a:off x="896351" y="1451399"/>
            <a:ext cx="7292307" cy="2061848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40000" dist="23000" dir="5400000" rotWithShape="0">
              <a:srgbClr val="000000">
                <a:alpha val="35000"/>
              </a:srgbClr>
            </a:outerShdw>
            <a:softEdge rad="3175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800" dirty="0" smtClean="0"/>
              <a:t>Status dos principais “problemas” identificados</a:t>
            </a:r>
            <a:r>
              <a:rPr lang="pt-BR" dirty="0" smtClean="0"/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742095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121362" y="0"/>
            <a:ext cx="5567904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2.1 . NICE - Gravações </a:t>
            </a:r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&gt;  Não grava &gt; </a:t>
            </a: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Perda </a:t>
            </a:r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 Gravação</a:t>
            </a:r>
            <a:endParaRPr lang="pt-PT" sz="32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4" name="Image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440" y="1172402"/>
            <a:ext cx="8737378" cy="2087461"/>
          </a:xfrm>
          <a:prstGeom prst="rect">
            <a:avLst/>
          </a:prstGeom>
        </p:spPr>
      </p:pic>
      <p:sp>
        <p:nvSpPr>
          <p:cNvPr id="17" name="Retângulo de cantos arredondados 16"/>
          <p:cNvSpPr/>
          <p:nvPr/>
        </p:nvSpPr>
        <p:spPr>
          <a:xfrm>
            <a:off x="1141910" y="3064331"/>
            <a:ext cx="3255106" cy="391064"/>
          </a:xfrm>
          <a:prstGeom prst="roundRect">
            <a:avLst/>
          </a:prstGeom>
          <a:noFill/>
          <a:ln w="444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/>
          <p:cNvSpPr/>
          <p:nvPr/>
        </p:nvSpPr>
        <p:spPr>
          <a:xfrm>
            <a:off x="1506092" y="3545431"/>
            <a:ext cx="2274798" cy="120122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 smtClean="0"/>
              <a:t>Projeto Gravação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201266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2189256" y="19928"/>
            <a:ext cx="480092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Projeto Gravação</a:t>
            </a:r>
            <a:endParaRPr lang="pt-BR" sz="19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265065" y="580328"/>
            <a:ext cx="417507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/>
              <a:t>Problemas: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Perda de gravação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Não grava</a:t>
            </a:r>
            <a:endParaRPr lang="pt-BR" sz="1200" dirty="0"/>
          </a:p>
          <a:p>
            <a:endParaRPr lang="pt-BR" sz="1200" dirty="0" smtClean="0"/>
          </a:p>
          <a:p>
            <a:r>
              <a:rPr lang="pt-BR" sz="1200" b="1" dirty="0" smtClean="0"/>
              <a:t>Efeito: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Perda financeira (Informação disponível R$22M - JAN~JUN)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Perda de credibilidade</a:t>
            </a:r>
          </a:p>
          <a:p>
            <a:endParaRPr lang="pt-BR" sz="1200" dirty="0"/>
          </a:p>
          <a:p>
            <a:r>
              <a:rPr lang="pt-BR" sz="1200" b="1" dirty="0" smtClean="0"/>
              <a:t>Solução definitiva: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Utilizar polo de gravadores Contax 2.0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Dispõe de 3K licenças de gravação (Sem uso)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200TB de </a:t>
            </a:r>
            <a:r>
              <a:rPr lang="pt-BR" sz="1200" dirty="0" err="1" smtClean="0"/>
              <a:t>Storage</a:t>
            </a:r>
            <a:r>
              <a:rPr lang="pt-BR" sz="1200" dirty="0" smtClean="0"/>
              <a:t> centralizado (*3K P.A. em 1 Ano)</a:t>
            </a:r>
          </a:p>
          <a:p>
            <a:pPr lvl="1"/>
            <a:endParaRPr lang="pt-BR" sz="1200" dirty="0" smtClean="0"/>
          </a:p>
          <a:p>
            <a:r>
              <a:rPr lang="pt-BR" sz="1200" b="1" dirty="0" smtClean="0"/>
              <a:t>Investimento P/ 3k P.A.: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Compra de </a:t>
            </a:r>
            <a:r>
              <a:rPr lang="pt-BR" sz="1200" dirty="0" err="1" smtClean="0"/>
              <a:t>loggers</a:t>
            </a:r>
            <a:r>
              <a:rPr lang="pt-BR" sz="1200" dirty="0" smtClean="0"/>
              <a:t> para captura do áudio no site (R$25k P/ 500 P.A.);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Equipamentos de Rede para gravadores (A avaliar);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200" dirty="0"/>
          </a:p>
          <a:p>
            <a:r>
              <a:rPr lang="pt-BR" sz="1200" b="1" dirty="0" smtClean="0"/>
              <a:t>Investimento migrar restante do parque 6.5K P.A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Negociar upgrade e migração das licenças da plataforma obsoleta para o polo Contax 2.0.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Upgrade de </a:t>
            </a:r>
            <a:r>
              <a:rPr lang="pt-BR" sz="1200" dirty="0" err="1" smtClean="0"/>
              <a:t>Storage</a:t>
            </a:r>
            <a:r>
              <a:rPr lang="pt-BR" sz="1200" dirty="0" smtClean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Compra de </a:t>
            </a:r>
            <a:r>
              <a:rPr lang="pt-BR" sz="1200" dirty="0" err="1" smtClean="0"/>
              <a:t>loggers</a:t>
            </a:r>
            <a:r>
              <a:rPr lang="pt-BR" sz="1200" dirty="0" smtClean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Equipamentos de Rede;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2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1200" dirty="0" smtClean="0"/>
          </a:p>
        </p:txBody>
      </p:sp>
      <p:sp>
        <p:nvSpPr>
          <p:cNvPr id="11" name="CaixaDeTexto 10"/>
          <p:cNvSpPr txBox="1"/>
          <p:nvPr/>
        </p:nvSpPr>
        <p:spPr>
          <a:xfrm>
            <a:off x="4705202" y="604903"/>
            <a:ext cx="435125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/>
              <a:t>1.	Prós</a:t>
            </a:r>
          </a:p>
          <a:p>
            <a:endParaRPr lang="pt-BR" sz="1200" b="1" dirty="0" smtClean="0"/>
          </a:p>
          <a:p>
            <a:r>
              <a:rPr lang="pt-BR" sz="1200" b="1" dirty="0" smtClean="0"/>
              <a:t>Soluciona os seguintes problemas: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Perda de gravação por armazenamento obsoleto;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Falta de contrato de manutenção com fornecedor;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Elimina a necessidade de </a:t>
            </a:r>
            <a:r>
              <a:rPr lang="pt-BR" sz="1200" dirty="0" err="1" smtClean="0"/>
              <a:t>retrieval</a:t>
            </a:r>
            <a:r>
              <a:rPr lang="pt-BR" sz="1200" dirty="0" smtClean="0"/>
              <a:t> por fita;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Bugs das plataformas atuais ( 8.x/3.0/3.1/3.4/3.5);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Permite a busca de chamadas por </a:t>
            </a:r>
            <a:r>
              <a:rPr lang="pt-BR" sz="1200" dirty="0" err="1" smtClean="0"/>
              <a:t>login</a:t>
            </a:r>
            <a:r>
              <a:rPr lang="pt-BR" sz="1200" dirty="0" smtClean="0"/>
              <a:t> </a:t>
            </a:r>
            <a:r>
              <a:rPr lang="pt-BR" sz="1200" dirty="0" err="1" smtClean="0"/>
              <a:t>full</a:t>
            </a:r>
            <a:r>
              <a:rPr lang="pt-BR" sz="1200" dirty="0" smtClean="0"/>
              <a:t>;</a:t>
            </a:r>
          </a:p>
          <a:p>
            <a:endParaRPr lang="pt-BR" sz="1200" dirty="0" smtClean="0"/>
          </a:p>
          <a:p>
            <a:r>
              <a:rPr lang="pt-BR" sz="1200" b="1" dirty="0" smtClean="0"/>
              <a:t>Ganhos</a:t>
            </a:r>
            <a:endParaRPr lang="pt-BR" sz="12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Reduz </a:t>
            </a:r>
            <a:r>
              <a:rPr lang="pt-BR" sz="1200" dirty="0"/>
              <a:t>a </a:t>
            </a:r>
            <a:r>
              <a:rPr lang="pt-BR" sz="1200" dirty="0" smtClean="0"/>
              <a:t>carga elétrica </a:t>
            </a:r>
            <a:r>
              <a:rPr lang="pt-BR" sz="1200" dirty="0"/>
              <a:t>no </a:t>
            </a:r>
            <a:r>
              <a:rPr lang="pt-BR" sz="1200" dirty="0" err="1" smtClean="0"/>
              <a:t>DataCenter</a:t>
            </a:r>
            <a:r>
              <a:rPr lang="pt-BR" sz="1200" dirty="0" smtClean="0"/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Gerenciamento centralizado;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Padronização do Parque;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Maior disponibilidade;</a:t>
            </a:r>
            <a:endParaRPr lang="pt-BR" sz="1200" b="1" dirty="0" smtClean="0"/>
          </a:p>
          <a:p>
            <a:pPr marL="228600" indent="-228600">
              <a:buFont typeface="+mj-lt"/>
              <a:buAutoNum type="arabicPeriod"/>
            </a:pPr>
            <a:endParaRPr lang="pt-BR" sz="1200" b="1" dirty="0" smtClean="0"/>
          </a:p>
          <a:p>
            <a:r>
              <a:rPr lang="pt-BR" sz="1200" b="1" dirty="0" smtClean="0"/>
              <a:t>2.	Contras</a:t>
            </a:r>
            <a:endParaRPr lang="pt-BR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Aumenta a necessidade de recursos de rede;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Demanda investimento;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Médio prazo de implementação;</a:t>
            </a:r>
          </a:p>
        </p:txBody>
      </p:sp>
      <p:sp>
        <p:nvSpPr>
          <p:cNvPr id="3" name="Retângulo 2"/>
          <p:cNvSpPr/>
          <p:nvPr/>
        </p:nvSpPr>
        <p:spPr>
          <a:xfrm>
            <a:off x="4698458" y="4880964"/>
            <a:ext cx="606870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100" dirty="0" smtClean="0"/>
              <a:t>*Solução elaborada pelos times Engenharia IT/ CSE / Engenharia 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40417756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/>
          <p:cNvSpPr/>
          <p:nvPr/>
        </p:nvSpPr>
        <p:spPr>
          <a:xfrm>
            <a:off x="4572001" y="2698066"/>
            <a:ext cx="1147864" cy="204280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2100356" y="7228"/>
            <a:ext cx="480092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Topologia Projeto Gravação</a:t>
            </a:r>
            <a:endParaRPr lang="pt-BR" sz="19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0" y="585890"/>
            <a:ext cx="322060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 smtClean="0"/>
              <a:t>Etapas:</a:t>
            </a:r>
          </a:p>
          <a:p>
            <a:endParaRPr lang="pt-BR" sz="1600" b="1" dirty="0" smtClean="0"/>
          </a:p>
          <a:p>
            <a:pPr marL="228600" indent="-228600">
              <a:buFont typeface="+mj-lt"/>
              <a:buAutoNum type="arabicPeriod"/>
            </a:pPr>
            <a:r>
              <a:rPr lang="pt-BR" sz="1600" dirty="0" smtClean="0"/>
              <a:t>Reestruturar Nice Contax 2.0;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600" dirty="0" smtClean="0"/>
              <a:t>Definir clientes/operações;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600" dirty="0" smtClean="0"/>
              <a:t>Avaliar capacidade técnica;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600" dirty="0" smtClean="0"/>
              <a:t>Rede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600" dirty="0" smtClean="0"/>
              <a:t>DAC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600" dirty="0" err="1" smtClean="0"/>
              <a:t>Logins</a:t>
            </a:r>
            <a:endParaRPr lang="pt-BR" sz="1600" dirty="0" smtClean="0"/>
          </a:p>
          <a:p>
            <a:pPr marL="228600" indent="-228600">
              <a:buFont typeface="+mj-lt"/>
              <a:buAutoNum type="arabicPeriod"/>
            </a:pPr>
            <a:r>
              <a:rPr lang="pt-BR" sz="1600" dirty="0" smtClean="0"/>
              <a:t>Elaborar o LLD;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600" dirty="0" smtClean="0"/>
              <a:t>Ciclo de projeto;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600" dirty="0" smtClean="0"/>
              <a:t>Desativar a função de gravar Nice legado;</a:t>
            </a:r>
          </a:p>
          <a:p>
            <a:endParaRPr lang="pt-BR" sz="1200" dirty="0"/>
          </a:p>
          <a:p>
            <a:endParaRPr lang="pt-BR" dirty="0" smtClean="0"/>
          </a:p>
          <a:p>
            <a:r>
              <a:rPr lang="pt-BR" sz="1200" dirty="0" smtClean="0"/>
              <a:t>*Nosso objetivo é que a plataforma  seja implementada em paralelo a  plataforma atual, após todos os Juntos ao cliente e as aeras envolvidas, deste modo será uma transição indolor para o cliente.</a:t>
            </a:r>
          </a:p>
          <a:p>
            <a:pPr marL="228600" indent="-228600">
              <a:buFont typeface="+mj-lt"/>
              <a:buAutoNum type="arabicPeriod"/>
            </a:pPr>
            <a:endParaRPr lang="pt-BR" dirty="0" smtClean="0"/>
          </a:p>
          <a:p>
            <a:pPr marL="228600" indent="-228600">
              <a:buFont typeface="+mj-lt"/>
              <a:buAutoNum type="arabicPeriod"/>
            </a:pPr>
            <a:endParaRPr lang="pt-BR" dirty="0" smtClean="0"/>
          </a:p>
          <a:p>
            <a:endParaRPr lang="pt-BR" sz="1200" b="1" dirty="0" smtClean="0"/>
          </a:p>
          <a:p>
            <a:endParaRPr lang="pt-BR" sz="1200" b="1" dirty="0"/>
          </a:p>
        </p:txBody>
      </p:sp>
      <p:sp>
        <p:nvSpPr>
          <p:cNvPr id="3" name="CaixaDeTexto 2"/>
          <p:cNvSpPr txBox="1"/>
          <p:nvPr/>
        </p:nvSpPr>
        <p:spPr>
          <a:xfrm>
            <a:off x="4440547" y="4653622"/>
            <a:ext cx="1410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Investimento</a:t>
            </a: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0925" y="580328"/>
            <a:ext cx="5203437" cy="454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2058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121361" y="0"/>
            <a:ext cx="5710953" cy="9268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2.2. </a:t>
            </a:r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ASPECT - Aspect Discador | Ligação Muda | Caixa Postal | Número Existente | Queda</a:t>
            </a:r>
            <a:endParaRPr lang="pt-PT" sz="32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031" y="1513412"/>
            <a:ext cx="8516634" cy="968911"/>
          </a:xfrm>
          <a:prstGeom prst="rect">
            <a:avLst/>
          </a:prstGeom>
        </p:spPr>
      </p:pic>
      <p:sp>
        <p:nvSpPr>
          <p:cNvPr id="4" name="Elipse 3"/>
          <p:cNvSpPr/>
          <p:nvPr/>
        </p:nvSpPr>
        <p:spPr>
          <a:xfrm>
            <a:off x="1849348" y="3068869"/>
            <a:ext cx="4017196" cy="138701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 smtClean="0"/>
              <a:t>Implementar Projeto</a:t>
            </a:r>
          </a:p>
          <a:p>
            <a:pPr algn="ctr"/>
            <a:r>
              <a:rPr lang="pt-BR" sz="2400" dirty="0" smtClean="0"/>
              <a:t>ASPECT 7.3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784092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121362" y="0"/>
            <a:ext cx="5567904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2.3. </a:t>
            </a:r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Alta volumetria de incidentes classificados como Alto Impacto </a:t>
            </a:r>
            <a:endParaRPr lang="pt-PT" sz="32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111" y="1135822"/>
            <a:ext cx="8783313" cy="864304"/>
          </a:xfrm>
          <a:prstGeom prst="rect">
            <a:avLst/>
          </a:prstGeom>
        </p:spPr>
      </p:pic>
      <p:sp>
        <p:nvSpPr>
          <p:cNvPr id="3" name="Triângulo isósceles 2"/>
          <p:cNvSpPr/>
          <p:nvPr/>
        </p:nvSpPr>
        <p:spPr>
          <a:xfrm>
            <a:off x="154111" y="2508649"/>
            <a:ext cx="1787703" cy="2124004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/>
          <p:nvPr/>
        </p:nvCxnSpPr>
        <p:spPr>
          <a:xfrm>
            <a:off x="966788" y="2703235"/>
            <a:ext cx="1545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ixaDeTexto 8"/>
          <p:cNvSpPr txBox="1"/>
          <p:nvPr/>
        </p:nvSpPr>
        <p:spPr>
          <a:xfrm>
            <a:off x="1570466" y="2417912"/>
            <a:ext cx="35034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5% Paradas totais</a:t>
            </a:r>
            <a:endParaRPr lang="pt-BR" sz="1200" dirty="0"/>
          </a:p>
        </p:txBody>
      </p:sp>
      <p:cxnSp>
        <p:nvCxnSpPr>
          <p:cNvPr id="12" name="Conector reto 11"/>
          <p:cNvCxnSpPr/>
          <p:nvPr/>
        </p:nvCxnSpPr>
        <p:spPr>
          <a:xfrm>
            <a:off x="882097" y="2900745"/>
            <a:ext cx="32995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1560192" y="2685301"/>
            <a:ext cx="35034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/>
              <a:t>5%  - 15% Indisponibilidade total de ferramentas secundárias</a:t>
            </a:r>
            <a:endParaRPr lang="pt-BR" sz="1100" dirty="0"/>
          </a:p>
        </p:txBody>
      </p:sp>
      <p:sp>
        <p:nvSpPr>
          <p:cNvPr id="13" name="CaixaDeTexto 12"/>
          <p:cNvSpPr txBox="1"/>
          <p:nvPr/>
        </p:nvSpPr>
        <p:spPr>
          <a:xfrm>
            <a:off x="505417" y="3697030"/>
            <a:ext cx="1077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80% Alto Impacto?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168149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121362" y="0"/>
            <a:ext cx="5567904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2.3. </a:t>
            </a:r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Alta volumetria de incidentes classificados como Alto Impacto </a:t>
            </a:r>
            <a:endParaRPr lang="pt-PT" sz="32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2467679"/>
              </p:ext>
            </p:extLst>
          </p:nvPr>
        </p:nvGraphicFramePr>
        <p:xfrm>
          <a:off x="207423" y="776159"/>
          <a:ext cx="5326009" cy="33972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9439"/>
                <a:gridCol w="738963"/>
                <a:gridCol w="350323"/>
                <a:gridCol w="695173"/>
                <a:gridCol w="540082"/>
                <a:gridCol w="350323"/>
                <a:gridCol w="350323"/>
                <a:gridCol w="257269"/>
                <a:gridCol w="394114"/>
              </a:tblGrid>
              <a:tr h="219177"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sng" strike="noStrike">
                          <a:effectLst/>
                        </a:rPr>
                        <a:t>Algorítmos - Variáveis e Constantes</a:t>
                      </a:r>
                      <a:endParaRPr lang="pt-BR" sz="6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GUIA SIMULADOR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09589"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09589"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Criticidade do componente</a:t>
                      </a:r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Fator de Peso ( X 0,7)</a:t>
                      </a:r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C.C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C.S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N.I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V.C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Prioridade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109589"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Crítico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600" u="none" strike="noStrike">
                          <a:effectLst/>
                        </a:rPr>
                        <a:t>5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5,0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5,0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5,0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1,0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16,5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109589"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Muito Alto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600" u="none" strike="noStrike">
                          <a:effectLst/>
                        </a:rPr>
                        <a:t>4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5,0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5,0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0,2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0,0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7,8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109589"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Alto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600" u="none" strike="noStrike">
                          <a:effectLst/>
                        </a:rPr>
                        <a:t>3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2,0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2,0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5,0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0,0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10,5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109589"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Médio 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600" u="none" strike="noStrike">
                          <a:effectLst/>
                        </a:rPr>
                        <a:t>2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0,0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109589"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Baixo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600" u="none" strike="noStrike">
                          <a:effectLst/>
                        </a:rPr>
                        <a:t>1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0,0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109589"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0,0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109589"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Criticidade do sintoma</a:t>
                      </a:r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Fator de Peso ( X1)</a:t>
                      </a:r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0,0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109589"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 dirty="0">
                          <a:effectLst/>
                        </a:rPr>
                        <a:t>Crítico</a:t>
                      </a:r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600" u="none" strike="noStrike">
                          <a:effectLst/>
                        </a:rPr>
                        <a:t>5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0,0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109589"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Muito Alto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600" u="none" strike="noStrike">
                          <a:effectLst/>
                        </a:rPr>
                        <a:t>4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0,0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109589"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Alto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600" u="none" strike="noStrike">
                          <a:effectLst/>
                        </a:rPr>
                        <a:t>3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09589"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Médio 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600" u="none" strike="noStrike">
                          <a:effectLst/>
                        </a:rPr>
                        <a:t>2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09589"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Baixo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600" u="none" strike="noStrike">
                          <a:effectLst/>
                        </a:rPr>
                        <a:t>1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09589"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09589"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09589"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Nível de Impacto</a:t>
                      </a:r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Fator de Peso (X1,5)</a:t>
                      </a:r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09589"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Indisponibilidade total - 90 -100%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5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219177"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Indisponibilidade parcial - Muito Alta- 50% a 90%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4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09589"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Indisponibilidade pacrial Alta /Alta -30% a 50%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3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09589"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Indisponibilidade parcial Alta  - &gt; 20% e &lt; 30%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2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09589"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Indisponibilidade parcial Média - &gt; 15% e 20%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1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09589"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Indisponibilidade parcial Baixa - &gt;10% e &gt; 15%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0.2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09589"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Indisponibilidade parcial/pontual baixa - &lt;10%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0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09589"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09589"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Variável Cliente Impactado (Foco negócio)</a:t>
                      </a:r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Fator de Peso (X 1.5)</a:t>
                      </a:r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09589"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Cliente Alvo - Sim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1.4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09589"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Cliente Alvo - Não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1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>
                          <a:effectLst/>
                        </a:rPr>
                        <a:t> 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 dirty="0">
                          <a:effectLst/>
                        </a:rPr>
                        <a:t> </a:t>
                      </a:r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  <p:sp>
        <p:nvSpPr>
          <p:cNvPr id="6" name="Retângulo 5"/>
          <p:cNvSpPr/>
          <p:nvPr/>
        </p:nvSpPr>
        <p:spPr>
          <a:xfrm>
            <a:off x="3433865" y="1956823"/>
            <a:ext cx="16107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0" cap="none" spc="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Draft</a:t>
            </a:r>
            <a:endParaRPr lang="pt-BR" sz="5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11" name="Objeto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7898543"/>
              </p:ext>
            </p:extLst>
          </p:nvPr>
        </p:nvGraphicFramePr>
        <p:xfrm>
          <a:off x="6689266" y="1956823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Worksheet" showAsIcon="1" r:id="rId6" imgW="914400" imgH="771480" progId="Excel.Sheet.12">
                  <p:embed/>
                </p:oleObj>
              </mc:Choice>
              <mc:Fallback>
                <p:oleObj name="Worksheet" showAsIcon="1" r:id="rId6" imgW="914400" imgH="7714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689266" y="1956823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Elipse 15"/>
          <p:cNvSpPr/>
          <p:nvPr/>
        </p:nvSpPr>
        <p:spPr>
          <a:xfrm>
            <a:off x="2919391" y="3068869"/>
            <a:ext cx="4017196" cy="138701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 smtClean="0"/>
              <a:t>Catálogo de Serviço + Reunião definição GUT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7835782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121361" y="0"/>
            <a:ext cx="5710953" cy="9268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2.4. </a:t>
            </a:r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URA - Santander | Não valida CPF | Não atende</a:t>
            </a:r>
            <a:endParaRPr lang="pt-PT" sz="32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07" y="1167318"/>
            <a:ext cx="9048394" cy="787942"/>
          </a:xfrm>
          <a:prstGeom prst="rect">
            <a:avLst/>
          </a:prstGeom>
        </p:spPr>
      </p:pic>
      <p:sp>
        <p:nvSpPr>
          <p:cNvPr id="9" name="Elipse 8"/>
          <p:cNvSpPr/>
          <p:nvPr/>
        </p:nvSpPr>
        <p:spPr>
          <a:xfrm>
            <a:off x="2201949" y="3083668"/>
            <a:ext cx="4630365" cy="11478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 smtClean="0"/>
              <a:t>Internalizar suporte?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622039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585825" y="151306"/>
            <a:ext cx="6638979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Problemas – Solução Definitiva</a:t>
            </a:r>
          </a:p>
          <a:p>
            <a:pPr>
              <a:buClr>
                <a:srgbClr val="800000"/>
              </a:buClr>
            </a:pPr>
            <a:endParaRPr lang="pt-BR" sz="19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789296" y="969002"/>
            <a:ext cx="80486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b="1" dirty="0" smtClean="0"/>
              <a:t>TI-Contax</a:t>
            </a:r>
          </a:p>
          <a:p>
            <a:pPr algn="just"/>
            <a:r>
              <a:rPr lang="pt-BR" sz="1600" dirty="0" smtClean="0">
                <a:solidFill>
                  <a:srgbClr val="C00000"/>
                </a:solidFill>
              </a:rPr>
              <a:t>Problema </a:t>
            </a:r>
            <a:r>
              <a:rPr lang="pt-BR" sz="1600" dirty="0" err="1" smtClean="0">
                <a:solidFill>
                  <a:srgbClr val="C00000"/>
                </a:solidFill>
              </a:rPr>
              <a:t>XYZ</a:t>
            </a:r>
            <a:r>
              <a:rPr lang="pt-BR" sz="1600" dirty="0" smtClean="0">
                <a:solidFill>
                  <a:srgbClr val="C00000"/>
                </a:solidFill>
              </a:rPr>
              <a:t> : Alto volume de Incidentes de Alto Impacto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 smtClean="0">
                <a:solidFill>
                  <a:srgbClr val="C00000"/>
                </a:solidFill>
              </a:rPr>
              <a:t>Solução definitiva (</a:t>
            </a:r>
            <a:r>
              <a:rPr lang="pt-BR" sz="1600" i="1" dirty="0" err="1" smtClean="0">
                <a:solidFill>
                  <a:srgbClr val="C00000"/>
                </a:solidFill>
              </a:rPr>
              <a:t>OnGoing</a:t>
            </a:r>
            <a:r>
              <a:rPr lang="pt-BR" sz="1600" dirty="0" smtClean="0">
                <a:solidFill>
                  <a:srgbClr val="C00000"/>
                </a:solidFill>
              </a:rPr>
              <a:t>): </a:t>
            </a:r>
            <a:r>
              <a:rPr lang="pt-BR" sz="1600" dirty="0" smtClean="0"/>
              <a:t>Estruturação de Catálogo de Serviços, </a:t>
            </a:r>
            <a:r>
              <a:rPr lang="pt-BR" sz="1600" dirty="0"/>
              <a:t>visando melhorar a qualidade no endereçamento, priorização e tratamento dos incidentes que impactam as Operações Contax</a:t>
            </a:r>
            <a:r>
              <a:rPr lang="pt-BR" sz="1600" dirty="0" smtClean="0"/>
              <a:t>.</a:t>
            </a:r>
            <a:endParaRPr lang="pt-BR" sz="1600" dirty="0"/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4549" y="2374737"/>
            <a:ext cx="3978172" cy="260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17286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272276" y="-65314"/>
            <a:ext cx="6422438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Ações previstas</a:t>
            </a:r>
            <a:endParaRPr lang="pt-PT" sz="32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de cantos arredondados 1"/>
          <p:cNvSpPr/>
          <p:nvPr/>
        </p:nvSpPr>
        <p:spPr>
          <a:xfrm>
            <a:off x="649617" y="858044"/>
            <a:ext cx="6979783" cy="1091094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40000" dist="23000" dir="5400000" rotWithShape="0">
              <a:srgbClr val="000000">
                <a:alpha val="35000"/>
              </a:srgbClr>
            </a:outerShdw>
            <a:softEdge rad="3175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(</a:t>
            </a:r>
            <a:r>
              <a:rPr lang="pt-BR" dirty="0"/>
              <a:t>CSC) Promover uma reunião </a:t>
            </a:r>
            <a:r>
              <a:rPr lang="pt-BR" dirty="0" smtClean="0"/>
              <a:t>até o final do mês com </a:t>
            </a:r>
            <a:r>
              <a:rPr lang="pt-BR" dirty="0"/>
              <a:t>todas as áreas de TI, para apresentar o projeto de “Gerenciamento de Problemas</a:t>
            </a:r>
            <a:r>
              <a:rPr lang="pt-BR" dirty="0" smtClean="0"/>
              <a:t>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9" name="Retângulo de cantos arredondados 8"/>
          <p:cNvSpPr/>
          <p:nvPr/>
        </p:nvSpPr>
        <p:spPr>
          <a:xfrm>
            <a:off x="649617" y="2326931"/>
            <a:ext cx="6979783" cy="1207796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40000" dist="23000" dir="5400000" rotWithShape="0">
              <a:srgbClr val="000000">
                <a:alpha val="35000"/>
              </a:srgbClr>
            </a:outerShdw>
            <a:softEdge rad="3175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Próxima semana, o Chacon vai preparar uma apresentação, direcionada para uma proposta de uma nova dinâmica para gestão de mudanças e projetos.</a:t>
            </a:r>
          </a:p>
        </p:txBody>
      </p:sp>
      <p:sp>
        <p:nvSpPr>
          <p:cNvPr id="11" name="Retângulo de cantos arredondados 10"/>
          <p:cNvSpPr/>
          <p:nvPr/>
        </p:nvSpPr>
        <p:spPr>
          <a:xfrm>
            <a:off x="649617" y="3762375"/>
            <a:ext cx="6979783" cy="942338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40000" dist="23000" dir="5400000" rotWithShape="0">
              <a:srgbClr val="000000">
                <a:alpha val="35000"/>
              </a:srgbClr>
            </a:outerShdw>
            <a:softEdge rad="3175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Definir ritos diferenciados para mudanças.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89928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1198656" y="120965"/>
            <a:ext cx="4800928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Alinhamento</a:t>
            </a:r>
            <a:endParaRPr lang="pt-BR" sz="19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318581"/>
            <a:ext cx="4379232" cy="328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2650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121362" y="0"/>
            <a:ext cx="5567904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Fichas técnicas</a:t>
            </a:r>
            <a:endParaRPr lang="pt-PT" sz="32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163" y="1179318"/>
            <a:ext cx="8721674" cy="278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6092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198656" y="120965"/>
            <a:ext cx="5567904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6.0. </a:t>
            </a: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Problemas</a:t>
            </a:r>
            <a:endParaRPr lang="pt-PT" sz="32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691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465986" y="-277716"/>
            <a:ext cx="6993990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6.1.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&gt;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NICE - Gravações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&gt; Não grava e Perca de Gravação</a:t>
            </a:r>
            <a:endParaRPr lang="pt-PT" sz="1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511" y="580328"/>
            <a:ext cx="6701009" cy="4491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592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210429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337457" y="-277716"/>
            <a:ext cx="7249886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6.2. Aspect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&gt; Discador &gt; ligação muda / caixa postal / número inexistente / queda </a:t>
            </a:r>
            <a:endParaRPr lang="pt-PT" sz="1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957" y="879271"/>
            <a:ext cx="8518086" cy="3389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26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465986" y="-277716"/>
            <a:ext cx="6993990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6.3.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&gt; </a:t>
            </a:r>
            <a:r>
              <a:rPr lang="en-US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Front End &gt; </a:t>
            </a:r>
            <a:r>
              <a:rPr lang="en-US" sz="14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Falha</a:t>
            </a:r>
            <a:r>
              <a:rPr lang="en-US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no Pop-Up/Explore </a:t>
            </a:r>
            <a:endParaRPr lang="pt-PT" sz="1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648" y="972254"/>
            <a:ext cx="7964329" cy="360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696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394648" y="-140017"/>
            <a:ext cx="6993990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6.4.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&gt;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Discador &gt; Não disca (baixa qualidade da voz - </a:t>
            </a:r>
            <a:r>
              <a:rPr lang="pt-BR" sz="14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picotamento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do operador para o cliente)</a:t>
            </a:r>
            <a:endParaRPr lang="pt-PT" sz="1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764" y="1349615"/>
            <a:ext cx="7866910" cy="2770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6872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465986" y="-192220"/>
            <a:ext cx="6993990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6.5.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&gt;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Proxy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&gt;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Lentidão seguida de indisponibilidade total ao acesso aos sistemas da Internet para as operações VIVO SP e PB </a:t>
            </a:r>
            <a:endParaRPr lang="pt-PT" sz="1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4" name="Image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629" y="980121"/>
            <a:ext cx="7996903" cy="363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411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465986" y="-277716"/>
            <a:ext cx="6993990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6.6.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&gt;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URA&gt;Santander | Não valida CPF | Não atende</a:t>
            </a:r>
            <a:endParaRPr lang="pt-PT" sz="1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986" y="1147049"/>
            <a:ext cx="7996903" cy="31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67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465986" y="-277716"/>
            <a:ext cx="6993990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6.7.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&gt;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Alta volumetria de incidentes classificados como Alto Impacto</a:t>
            </a:r>
            <a:endParaRPr lang="pt-PT" sz="1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174" y="1034800"/>
            <a:ext cx="7996903" cy="289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333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3439</TotalTime>
  <Words>758</Words>
  <Application>Microsoft Office PowerPoint</Application>
  <PresentationFormat>Personalizar</PresentationFormat>
  <Paragraphs>382</Paragraphs>
  <Slides>23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7" baseType="lpstr">
      <vt:lpstr>Arial</vt:lpstr>
      <vt:lpstr>Calibri</vt:lpstr>
      <vt:lpstr>Office Theme</vt:lpstr>
      <vt:lpstr>Microsoft Excel Worksheet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Gustavo Nitzsche</dc:creator>
  <cp:lastModifiedBy>Luis Marçal</cp:lastModifiedBy>
  <cp:revision>236</cp:revision>
  <dcterms:created xsi:type="dcterms:W3CDTF">2015-08-20T14:57:26Z</dcterms:created>
  <dcterms:modified xsi:type="dcterms:W3CDTF">2015-10-09T01:37:16Z</dcterms:modified>
</cp:coreProperties>
</file>