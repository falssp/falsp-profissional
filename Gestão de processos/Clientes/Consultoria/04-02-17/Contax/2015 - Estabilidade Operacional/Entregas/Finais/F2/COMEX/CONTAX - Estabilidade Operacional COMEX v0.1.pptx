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slideLayouts/slideLayout13.xml" ContentType="application/vnd.openxmlformats-officedocument.presentationml.slideLayout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slideLayouts/slideLayout14.xml" ContentType="application/vnd.openxmlformats-officedocument.presentationml.slideLayout+xml"/>
  <Override PartName="/ppt/theme/theme4.xml" ContentType="application/vnd.openxmlformats-officedocument.theme+xml"/>
  <Override PartName="/ppt/tags/tag3.xml" ContentType="application/vnd.openxmlformats-officedocument.presentationml.tags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  <p:sldMasterId id="2147483673" r:id="rId2"/>
    <p:sldMasterId id="2147483675" r:id="rId3"/>
    <p:sldMasterId id="2147483677" r:id="rId4"/>
  </p:sldMasterIdLst>
  <p:notesMasterIdLst>
    <p:notesMasterId r:id="rId10"/>
  </p:notesMasterIdLst>
  <p:sldIdLst>
    <p:sldId id="262" r:id="rId5"/>
    <p:sldId id="265" r:id="rId6"/>
    <p:sldId id="266" r:id="rId7"/>
    <p:sldId id="268" r:id="rId8"/>
    <p:sldId id="269" r:id="rId9"/>
  </p:sldIdLst>
  <p:sldSz cx="9144000" cy="51482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47" userDrawn="1">
          <p15:clr>
            <a:srgbClr val="A4A3A4"/>
          </p15:clr>
        </p15:guide>
        <p15:guide id="2" pos="61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CCCC00"/>
    <a:srgbClr val="1934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294" autoAdjust="0"/>
    <p:restoredTop sz="91785" autoAdjust="0"/>
  </p:normalViewPr>
  <p:slideViewPr>
    <p:cSldViewPr snapToGrid="0" snapToObjects="1">
      <p:cViewPr>
        <p:scale>
          <a:sx n="90" d="100"/>
          <a:sy n="90" d="100"/>
        </p:scale>
        <p:origin x="54" y="174"/>
      </p:cViewPr>
      <p:guideLst>
        <p:guide orient="horz" pos="2347"/>
        <p:guide pos="612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B0D43F-B80B-40D7-B843-4AC81DACC905}" type="datetimeFigureOut">
              <a:rPr lang="pt-BR" smtClean="0"/>
              <a:t>30/10/2015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8975" y="1143000"/>
            <a:ext cx="54800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7626FD-18EF-494C-A467-3D85C3950BD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09518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143000" y="842552"/>
            <a:ext cx="6858000" cy="1792358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143000" y="2704030"/>
            <a:ext cx="6858000" cy="1242971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10/30/2015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8293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10/30/2015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1069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3888" y="1283491"/>
            <a:ext cx="7886700" cy="2141534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23888" y="3445285"/>
            <a:ext cx="7886700" cy="1126182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10/30/2015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84648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628650" y="1370486"/>
            <a:ext cx="3886200" cy="3266526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29150" y="1370486"/>
            <a:ext cx="3886200" cy="3266526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10/30/2015</a:t>
            </a:fld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2215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9841" y="274098"/>
            <a:ext cx="7886700" cy="995093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29842" y="1262040"/>
            <a:ext cx="3868340" cy="618506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29842" y="1880546"/>
            <a:ext cx="3868340" cy="2766000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29150" y="1262040"/>
            <a:ext cx="3887391" cy="618506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29150" y="1880546"/>
            <a:ext cx="3887391" cy="2766000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10/30/2015</a:t>
            </a:fld>
            <a:endParaRPr lang="en-US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1085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10/30/2015</a:t>
            </a:fld>
            <a:endParaRPr lang="en-US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5596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10/30/2015</a:t>
            </a:fld>
            <a:endParaRPr lang="en-US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9582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9841" y="343218"/>
            <a:ext cx="2949178" cy="1201261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887391" y="741255"/>
            <a:ext cx="4629150" cy="3658604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29841" y="1544479"/>
            <a:ext cx="2949178" cy="286133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10/30/2015</a:t>
            </a:fld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86320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9841" y="343218"/>
            <a:ext cx="2949178" cy="1201261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3887391" y="741255"/>
            <a:ext cx="4629150" cy="3658604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29841" y="1544479"/>
            <a:ext cx="2949178" cy="286133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10/30/2015</a:t>
            </a:fld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5298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10/30/2015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7170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543675" y="274097"/>
            <a:ext cx="1971675" cy="4362915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628650" y="274097"/>
            <a:ext cx="5800725" cy="4362915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10/30/2015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638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06169"/>
            <a:ext cx="8229600" cy="858044"/>
          </a:xfrm>
          <a:prstGeom prst="rect">
            <a:avLst/>
          </a:prstGeo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7314842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06169"/>
            <a:ext cx="7187609" cy="858044"/>
          </a:xfrm>
          <a:prstGeom prst="rect">
            <a:avLst/>
          </a:prstGeo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6995617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06169"/>
            <a:ext cx="8229600" cy="858044"/>
          </a:xfrm>
          <a:prstGeom prst="rect">
            <a:avLst/>
          </a:prstGeo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6069387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emf"/><Relationship Id="rId3" Type="http://schemas.openxmlformats.org/officeDocument/2006/relationships/vmlDrawing" Target="../drawings/vmlDrawing1.vml"/><Relationship Id="rId7" Type="http://schemas.openxmlformats.org/officeDocument/2006/relationships/image" Target="../media/image2.jp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1.bin"/><Relationship Id="rId4" Type="http://schemas.openxmlformats.org/officeDocument/2006/relationships/tags" Target="../tags/tag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jpg"/><Relationship Id="rId3" Type="http://schemas.openxmlformats.org/officeDocument/2006/relationships/vmlDrawing" Target="../drawings/vmlDrawing2.vml"/><Relationship Id="rId7" Type="http://schemas.openxmlformats.org/officeDocument/2006/relationships/image" Target="../media/image4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2.bin"/><Relationship Id="rId4" Type="http://schemas.openxmlformats.org/officeDocument/2006/relationships/tags" Target="../tags/tag2.xml"/><Relationship Id="rId9" Type="http://schemas.openxmlformats.org/officeDocument/2006/relationships/image" Target="../media/image3.emf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vmlDrawing" Target="../drawings/vmlDrawing3.vml"/><Relationship Id="rId7" Type="http://schemas.openxmlformats.org/officeDocument/2006/relationships/image" Target="../media/image6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3.bin"/><Relationship Id="rId4" Type="http://schemas.openxmlformats.org/officeDocument/2006/relationships/tags" Target="../tags/tag3.xml"/><Relationship Id="rId9" Type="http://schemas.openxmlformats.org/officeDocument/2006/relationships/image" Target="../media/image3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628650" y="274098"/>
            <a:ext cx="7886700" cy="9950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28650" y="1370486"/>
            <a:ext cx="7886700" cy="32665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628650" y="4771678"/>
            <a:ext cx="2057400" cy="2740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A96241-9EE8-3241-9C65-A8F2A1D83BB2}" type="datetimeFigureOut">
              <a:rPr lang="en-US" smtClean="0"/>
              <a:t>10/30/2015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028950" y="4771678"/>
            <a:ext cx="3086100" cy="2740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457950" y="4771678"/>
            <a:ext cx="2057400" cy="2740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91421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4"/>
            </p:custDataLst>
            <p:extLst/>
          </p:nvPr>
        </p:nvGraphicFramePr>
        <p:xfrm>
          <a:off x="1589" y="1193"/>
          <a:ext cx="1587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45" name="Slide do think-cell" r:id="rId5" imgW="270" imgH="270" progId="TCLayout.ActiveDocument.1">
                  <p:embed/>
                </p:oleObj>
              </mc:Choice>
              <mc:Fallback>
                <p:oleObj name="Slide do think-cell" r:id="rId5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9" y="1193"/>
                        <a:ext cx="1587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14" descr="t02-02.jpg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8263"/>
          </a:xfrm>
          <a:prstGeom prst="rect">
            <a:avLst/>
          </a:prstGeom>
        </p:spPr>
      </p:pic>
      <p:pic>
        <p:nvPicPr>
          <p:cNvPr id="7" name="Picture 10"/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23812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defTabSz="686108" rtl="0" eaLnBrk="1" latinLnBrk="0" hangingPunct="1">
        <a:spcBef>
          <a:spcPct val="0"/>
        </a:spcBef>
        <a:buNone/>
        <a:defRPr sz="330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291" indent="-257291" algn="l" defTabSz="686108" rtl="0" eaLnBrk="1" latinLnBrk="0" hangingPunct="1">
        <a:spcBef>
          <a:spcPct val="20000"/>
        </a:spcBef>
        <a:buFont typeface="Arial" pitchFamily="34" charset="0"/>
        <a:buChar char="•"/>
        <a:defRPr sz="2402" kern="1200">
          <a:solidFill>
            <a:schemeClr val="tx1"/>
          </a:solidFill>
          <a:latin typeface="+mn-lt"/>
          <a:ea typeface="+mn-ea"/>
          <a:cs typeface="+mn-cs"/>
        </a:defRPr>
      </a:lvl1pPr>
      <a:lvl2pPr marL="557462" indent="-214409" algn="l" defTabSz="686108" rtl="0" eaLnBrk="1" latinLnBrk="0" hangingPunct="1">
        <a:spcBef>
          <a:spcPct val="20000"/>
        </a:spcBef>
        <a:buFont typeface="Arial" pitchFamily="34" charset="0"/>
        <a:buChar char="–"/>
        <a:defRPr sz="2102" kern="1200">
          <a:solidFill>
            <a:schemeClr val="tx1"/>
          </a:solidFill>
          <a:latin typeface="+mn-lt"/>
          <a:ea typeface="+mn-ea"/>
          <a:cs typeface="+mn-cs"/>
        </a:defRPr>
      </a:lvl2pPr>
      <a:lvl3pPr marL="857634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802" kern="1200">
          <a:solidFill>
            <a:schemeClr val="tx1"/>
          </a:solidFill>
          <a:latin typeface="+mn-lt"/>
          <a:ea typeface="+mn-ea"/>
          <a:cs typeface="+mn-cs"/>
        </a:defRPr>
      </a:lvl3pPr>
      <a:lvl4pPr marL="1200688" indent="-171527" algn="l" defTabSz="686108" rtl="0" eaLnBrk="1" latinLnBrk="0" hangingPunct="1">
        <a:spcBef>
          <a:spcPct val="20000"/>
        </a:spcBef>
        <a:buFont typeface="Arial" pitchFamily="34" charset="0"/>
        <a:buChar char="–"/>
        <a:defRPr sz="1501" kern="1200">
          <a:solidFill>
            <a:schemeClr val="tx1"/>
          </a:solidFill>
          <a:latin typeface="+mn-lt"/>
          <a:ea typeface="+mn-ea"/>
          <a:cs typeface="+mn-cs"/>
        </a:defRPr>
      </a:lvl4pPr>
      <a:lvl5pPr marL="1543743" indent="-171527" algn="l" defTabSz="686108" rtl="0" eaLnBrk="1" latinLnBrk="0" hangingPunct="1">
        <a:spcBef>
          <a:spcPct val="20000"/>
        </a:spcBef>
        <a:buFont typeface="Arial" pitchFamily="34" charset="0"/>
        <a:buChar char="»"/>
        <a:defRPr sz="1501" kern="1200">
          <a:solidFill>
            <a:schemeClr val="tx1"/>
          </a:solidFill>
          <a:latin typeface="+mn-lt"/>
          <a:ea typeface="+mn-ea"/>
          <a:cs typeface="+mn-cs"/>
        </a:defRPr>
      </a:lvl5pPr>
      <a:lvl6pPr marL="1886798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6pPr>
      <a:lvl7pPr marL="2229850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7pPr>
      <a:lvl8pPr marL="2572905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8pPr>
      <a:lvl9pPr marL="2915959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3055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6108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916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2216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5271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8324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1377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443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4"/>
            </p:custDataLst>
            <p:extLst/>
          </p:nvPr>
        </p:nvGraphicFramePr>
        <p:xfrm>
          <a:off x="1589" y="1193"/>
          <a:ext cx="1587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69" name="Slide do think-cell" r:id="rId5" imgW="270" imgH="270" progId="TCLayout.ActiveDocument.1">
                  <p:embed/>
                </p:oleObj>
              </mc:Choice>
              <mc:Fallback>
                <p:oleObj name="Slide do think-cell" r:id="rId5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9" y="1193"/>
                        <a:ext cx="1587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Picture 2"/>
          <p:cNvPicPr>
            <a:picLocks noChangeAspect="1" noChangeArrowheads="1"/>
          </p:cNvPicPr>
          <p:nvPr userDrawn="1"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1" descr="t03-02.jpg"/>
          <p:cNvPicPr>
            <a:picLocks noChangeAspect="1"/>
          </p:cNvPicPr>
          <p:nvPr userDrawn="1"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7331777" y="257994"/>
            <a:ext cx="1473556" cy="356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94216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defTabSz="686108" rtl="0" eaLnBrk="1" latinLnBrk="0" hangingPunct="1">
        <a:spcBef>
          <a:spcPct val="0"/>
        </a:spcBef>
        <a:buNone/>
        <a:defRPr sz="330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291" indent="-257291" algn="l" defTabSz="686108" rtl="0" eaLnBrk="1" latinLnBrk="0" hangingPunct="1">
        <a:spcBef>
          <a:spcPct val="20000"/>
        </a:spcBef>
        <a:buFont typeface="Arial" pitchFamily="34" charset="0"/>
        <a:buChar char="•"/>
        <a:defRPr sz="2402" kern="1200">
          <a:solidFill>
            <a:schemeClr val="tx1"/>
          </a:solidFill>
          <a:latin typeface="+mn-lt"/>
          <a:ea typeface="+mn-ea"/>
          <a:cs typeface="+mn-cs"/>
        </a:defRPr>
      </a:lvl1pPr>
      <a:lvl2pPr marL="557462" indent="-214409" algn="l" defTabSz="686108" rtl="0" eaLnBrk="1" latinLnBrk="0" hangingPunct="1">
        <a:spcBef>
          <a:spcPct val="20000"/>
        </a:spcBef>
        <a:buFont typeface="Arial" pitchFamily="34" charset="0"/>
        <a:buChar char="–"/>
        <a:defRPr sz="2102" kern="1200">
          <a:solidFill>
            <a:schemeClr val="tx1"/>
          </a:solidFill>
          <a:latin typeface="+mn-lt"/>
          <a:ea typeface="+mn-ea"/>
          <a:cs typeface="+mn-cs"/>
        </a:defRPr>
      </a:lvl2pPr>
      <a:lvl3pPr marL="857634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802" kern="1200">
          <a:solidFill>
            <a:schemeClr val="tx1"/>
          </a:solidFill>
          <a:latin typeface="+mn-lt"/>
          <a:ea typeface="+mn-ea"/>
          <a:cs typeface="+mn-cs"/>
        </a:defRPr>
      </a:lvl3pPr>
      <a:lvl4pPr marL="1200688" indent="-171527" algn="l" defTabSz="686108" rtl="0" eaLnBrk="1" latinLnBrk="0" hangingPunct="1">
        <a:spcBef>
          <a:spcPct val="20000"/>
        </a:spcBef>
        <a:buFont typeface="Arial" pitchFamily="34" charset="0"/>
        <a:buChar char="–"/>
        <a:defRPr sz="1501" kern="1200">
          <a:solidFill>
            <a:schemeClr val="tx1"/>
          </a:solidFill>
          <a:latin typeface="+mn-lt"/>
          <a:ea typeface="+mn-ea"/>
          <a:cs typeface="+mn-cs"/>
        </a:defRPr>
      </a:lvl4pPr>
      <a:lvl5pPr marL="1543743" indent="-171527" algn="l" defTabSz="686108" rtl="0" eaLnBrk="1" latinLnBrk="0" hangingPunct="1">
        <a:spcBef>
          <a:spcPct val="20000"/>
        </a:spcBef>
        <a:buFont typeface="Arial" pitchFamily="34" charset="0"/>
        <a:buChar char="»"/>
        <a:defRPr sz="1501" kern="1200">
          <a:solidFill>
            <a:schemeClr val="tx1"/>
          </a:solidFill>
          <a:latin typeface="+mn-lt"/>
          <a:ea typeface="+mn-ea"/>
          <a:cs typeface="+mn-cs"/>
        </a:defRPr>
      </a:lvl5pPr>
      <a:lvl6pPr marL="1886798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6pPr>
      <a:lvl7pPr marL="2229850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7pPr>
      <a:lvl8pPr marL="2572905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8pPr>
      <a:lvl9pPr marL="2915959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3055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6108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916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2216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5271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8324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1377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443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4"/>
            </p:custDataLst>
            <p:extLst/>
          </p:nvPr>
        </p:nvGraphicFramePr>
        <p:xfrm>
          <a:off x="1589" y="1193"/>
          <a:ext cx="1587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92" name="Slide do think-cell" r:id="rId5" imgW="270" imgH="270" progId="TCLayout.ActiveDocument.1">
                  <p:embed/>
                </p:oleObj>
              </mc:Choice>
              <mc:Fallback>
                <p:oleObj name="Slide do think-cell" r:id="rId5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9" y="1193"/>
                        <a:ext cx="1587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interna_img-3.png"/>
          <p:cNvPicPr/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0182"/>
          <a:stretch>
            <a:fillRect/>
          </a:stretch>
        </p:blipFill>
        <p:spPr>
          <a:xfrm>
            <a:off x="1" y="-4669"/>
            <a:ext cx="3640873" cy="5157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image5.png"/>
          <p:cNvPicPr/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8118917" y="4410609"/>
            <a:ext cx="1043999" cy="770734"/>
          </a:xfrm>
          <a:prstGeom prst="rect">
            <a:avLst/>
          </a:prstGeom>
          <a:ln w="12700">
            <a:miter lim="400000"/>
          </a:ln>
        </p:spPr>
      </p:pic>
      <p:pic>
        <p:nvPicPr>
          <p:cNvPr id="10" name="Picture 11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52967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defTabSz="686108" rtl="0" eaLnBrk="1" latinLnBrk="0" hangingPunct="1">
        <a:spcBef>
          <a:spcPct val="0"/>
        </a:spcBef>
        <a:buNone/>
        <a:defRPr sz="330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291" indent="-257291" algn="l" defTabSz="686108" rtl="0" eaLnBrk="1" latinLnBrk="0" hangingPunct="1">
        <a:spcBef>
          <a:spcPct val="20000"/>
        </a:spcBef>
        <a:buFont typeface="Arial" pitchFamily="34" charset="0"/>
        <a:buChar char="•"/>
        <a:defRPr sz="2402" kern="1200">
          <a:solidFill>
            <a:schemeClr val="tx1"/>
          </a:solidFill>
          <a:latin typeface="+mn-lt"/>
          <a:ea typeface="+mn-ea"/>
          <a:cs typeface="+mn-cs"/>
        </a:defRPr>
      </a:lvl1pPr>
      <a:lvl2pPr marL="557462" indent="-214409" algn="l" defTabSz="686108" rtl="0" eaLnBrk="1" latinLnBrk="0" hangingPunct="1">
        <a:spcBef>
          <a:spcPct val="20000"/>
        </a:spcBef>
        <a:buFont typeface="Arial" pitchFamily="34" charset="0"/>
        <a:buChar char="–"/>
        <a:defRPr sz="2102" kern="1200">
          <a:solidFill>
            <a:schemeClr val="tx1"/>
          </a:solidFill>
          <a:latin typeface="+mn-lt"/>
          <a:ea typeface="+mn-ea"/>
          <a:cs typeface="+mn-cs"/>
        </a:defRPr>
      </a:lvl2pPr>
      <a:lvl3pPr marL="857634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802" kern="1200">
          <a:solidFill>
            <a:schemeClr val="tx1"/>
          </a:solidFill>
          <a:latin typeface="+mn-lt"/>
          <a:ea typeface="+mn-ea"/>
          <a:cs typeface="+mn-cs"/>
        </a:defRPr>
      </a:lvl3pPr>
      <a:lvl4pPr marL="1200688" indent="-171527" algn="l" defTabSz="686108" rtl="0" eaLnBrk="1" latinLnBrk="0" hangingPunct="1">
        <a:spcBef>
          <a:spcPct val="20000"/>
        </a:spcBef>
        <a:buFont typeface="Arial" pitchFamily="34" charset="0"/>
        <a:buChar char="–"/>
        <a:defRPr sz="1501" kern="1200">
          <a:solidFill>
            <a:schemeClr val="tx1"/>
          </a:solidFill>
          <a:latin typeface="+mn-lt"/>
          <a:ea typeface="+mn-ea"/>
          <a:cs typeface="+mn-cs"/>
        </a:defRPr>
      </a:lvl4pPr>
      <a:lvl5pPr marL="1543743" indent="-171527" algn="l" defTabSz="686108" rtl="0" eaLnBrk="1" latinLnBrk="0" hangingPunct="1">
        <a:spcBef>
          <a:spcPct val="20000"/>
        </a:spcBef>
        <a:buFont typeface="Arial" pitchFamily="34" charset="0"/>
        <a:buChar char="»"/>
        <a:defRPr sz="1501" kern="1200">
          <a:solidFill>
            <a:schemeClr val="tx1"/>
          </a:solidFill>
          <a:latin typeface="+mn-lt"/>
          <a:ea typeface="+mn-ea"/>
          <a:cs typeface="+mn-cs"/>
        </a:defRPr>
      </a:lvl5pPr>
      <a:lvl6pPr marL="1886798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6pPr>
      <a:lvl7pPr marL="2229850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7pPr>
      <a:lvl8pPr marL="2572905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8pPr>
      <a:lvl9pPr marL="2915959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3055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6108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916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2216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5271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8324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1377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443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emf"/><Relationship Id="rId4" Type="http://schemas.openxmlformats.org/officeDocument/2006/relationships/image" Target="../media/image10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4.png"/><Relationship Id="rId4" Type="http://schemas.openxmlformats.org/officeDocument/2006/relationships/image" Target="../media/image13.gif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fachada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239"/>
            <a:ext cx="9144000" cy="5145024"/>
          </a:xfrm>
          <a:prstGeom prst="rect">
            <a:avLst/>
          </a:prstGeom>
        </p:spPr>
      </p:pic>
      <p:pic>
        <p:nvPicPr>
          <p:cNvPr id="10" name="Picture 9" descr="meia_bolinha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1466" y="4354709"/>
            <a:ext cx="1635846" cy="80436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0329" y="3208"/>
            <a:ext cx="3345084" cy="122185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99711" y="325132"/>
            <a:ext cx="1744578" cy="422254"/>
          </a:xfrm>
          <a:prstGeom prst="rect">
            <a:avLst/>
          </a:prstGeom>
        </p:spPr>
      </p:pic>
      <p:sp>
        <p:nvSpPr>
          <p:cNvPr id="11" name="Title 1"/>
          <p:cNvSpPr txBox="1">
            <a:spLocks/>
          </p:cNvSpPr>
          <p:nvPr/>
        </p:nvSpPr>
        <p:spPr>
          <a:xfrm>
            <a:off x="0" y="292955"/>
            <a:ext cx="3942260" cy="17575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70000"/>
              </a:lnSpc>
            </a:pPr>
            <a:r>
              <a:rPr lang="en-US" sz="3000" b="1" dirty="0" smtClean="0">
                <a:solidFill>
                  <a:srgbClr val="19345B"/>
                </a:solidFill>
                <a:latin typeface="+mn-lt"/>
                <a:cs typeface="Arial"/>
              </a:rPr>
              <a:t>Contact Center</a:t>
            </a:r>
            <a:r>
              <a:rPr lang="en-US" sz="3000" b="1" dirty="0" smtClean="0">
                <a:solidFill>
                  <a:srgbClr val="FF0000"/>
                </a:solidFill>
                <a:latin typeface="+mn-lt"/>
                <a:cs typeface="Arial"/>
              </a:rPr>
              <a:t> </a:t>
            </a:r>
          </a:p>
          <a:p>
            <a:pPr algn="l">
              <a:lnSpc>
                <a:spcPct val="110000"/>
              </a:lnSpc>
            </a:pPr>
            <a:r>
              <a:rPr lang="en-US" sz="2200" b="1" dirty="0" err="1" smtClean="0">
                <a:solidFill>
                  <a:srgbClr val="C00000"/>
                </a:solidFill>
                <a:latin typeface="+mn-lt"/>
                <a:cs typeface="Arial"/>
              </a:rPr>
              <a:t>Estabilidade</a:t>
            </a:r>
            <a:r>
              <a:rPr lang="en-US" sz="2200" b="1" dirty="0" smtClean="0">
                <a:solidFill>
                  <a:srgbClr val="C00000"/>
                </a:solidFill>
                <a:latin typeface="+mn-lt"/>
                <a:cs typeface="Arial"/>
              </a:rPr>
              <a:t> </a:t>
            </a:r>
            <a:r>
              <a:rPr lang="en-US" sz="2200" b="1" dirty="0" err="1" smtClean="0">
                <a:solidFill>
                  <a:srgbClr val="C00000"/>
                </a:solidFill>
                <a:latin typeface="+mn-lt"/>
                <a:cs typeface="Arial"/>
              </a:rPr>
              <a:t>Operacional</a:t>
            </a:r>
            <a:endParaRPr lang="en-US" sz="2200" b="1" dirty="0" smtClean="0">
              <a:solidFill>
                <a:srgbClr val="C00000"/>
              </a:solidFill>
              <a:latin typeface="+mn-lt"/>
              <a:cs typeface="Arial"/>
            </a:endParaRPr>
          </a:p>
          <a:p>
            <a:pPr algn="l">
              <a:lnSpc>
                <a:spcPct val="110000"/>
              </a:lnSpc>
            </a:pPr>
            <a:r>
              <a:rPr lang="en-US" sz="2200" b="1" dirty="0" smtClean="0">
                <a:solidFill>
                  <a:srgbClr val="C00000"/>
                </a:solidFill>
                <a:latin typeface="+mn-lt"/>
                <a:cs typeface="Arial"/>
              </a:rPr>
              <a:t>COMEX</a:t>
            </a:r>
            <a:endParaRPr lang="en-US" sz="2200" b="1" dirty="0">
              <a:solidFill>
                <a:srgbClr val="C00000"/>
              </a:solidFill>
              <a:latin typeface="+mn-lt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08422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 advTm="8331">
        <p14:reveal/>
      </p:transition>
    </mc:Choice>
    <mc:Fallback xmlns="">
      <p:transition spd="slow" advTm="8331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interna_img-3.png"/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0212"/>
          <a:stretch/>
        </p:blipFill>
        <p:spPr>
          <a:xfrm>
            <a:off x="0" y="0"/>
            <a:ext cx="2723024" cy="5148264"/>
          </a:xfrm>
          <a:prstGeom prst="rect">
            <a:avLst/>
          </a:prstGeom>
          <a:ln w="12700">
            <a:miter lim="400000"/>
          </a:ln>
        </p:spPr>
      </p:pic>
      <p:sp>
        <p:nvSpPr>
          <p:cNvPr id="114" name="Shape 114"/>
          <p:cNvSpPr/>
          <p:nvPr/>
        </p:nvSpPr>
        <p:spPr>
          <a:xfrm>
            <a:off x="3033277" y="503053"/>
            <a:ext cx="4800929" cy="8588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3000" b="1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lang="pt-BR" sz="3000" b="1" dirty="0" smtClean="0">
                <a:solidFill>
                  <a:srgbClr val="1F497D"/>
                </a:solidFill>
              </a:rPr>
              <a:t>Índice</a:t>
            </a:r>
            <a:endParaRPr sz="3000" b="1" dirty="0">
              <a:solidFill>
                <a:srgbClr val="1F497D"/>
              </a:solidFill>
            </a:endParaRPr>
          </a:p>
        </p:txBody>
      </p:sp>
      <p:pic>
        <p:nvPicPr>
          <p:cNvPr id="116" name="image5.png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4860" y="4531179"/>
            <a:ext cx="1248721" cy="614581"/>
          </a:xfrm>
          <a:prstGeom prst="rect">
            <a:avLst/>
          </a:prstGeom>
          <a:ln w="12700">
            <a:miter lim="400000"/>
          </a:ln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3033277" y="1276051"/>
            <a:ext cx="5427329" cy="145752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 algn="l">
              <a:buFontTx/>
              <a:buAutoNum type="arabicPeriod"/>
            </a:pPr>
            <a:r>
              <a:rPr lang="pt-BR" sz="18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Estabilidade Operacional: </a:t>
            </a:r>
            <a:r>
              <a:rPr lang="pt-BR" sz="1800" b="1" i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Cenário Anterior</a:t>
            </a:r>
          </a:p>
          <a:p>
            <a:pPr marL="342900" indent="-342900" algn="l">
              <a:buFontTx/>
              <a:buAutoNum type="arabicPeriod"/>
            </a:pPr>
            <a:r>
              <a:rPr lang="pt-BR" sz="18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Estabilidade Operacional: </a:t>
            </a:r>
            <a:r>
              <a:rPr lang="pt-BR" sz="1800" b="1" i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Cenário Atual</a:t>
            </a:r>
          </a:p>
          <a:p>
            <a:pPr marL="342900" indent="-342900" algn="l">
              <a:buFontTx/>
              <a:buAutoNum type="arabicPeriod"/>
            </a:pPr>
            <a:r>
              <a:rPr lang="pt-BR" sz="18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Estabilidade Operacional: </a:t>
            </a:r>
            <a:r>
              <a:rPr lang="pt-BR" sz="1800" b="1" i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Cenário </a:t>
            </a:r>
            <a:r>
              <a:rPr lang="pt-BR" sz="1800" b="1" i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Futuro</a:t>
            </a:r>
            <a:endParaRPr lang="pt-BR" sz="1800" b="1" i="1" dirty="0" smtClean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algn="l"/>
            <a:endParaRPr lang="pt-PT" sz="1800" b="1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algn="l"/>
            <a:endParaRPr lang="pt-BR" sz="1800" b="1" dirty="0" smtClean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algn="l"/>
            <a:endParaRPr lang="pt-BR" sz="1200" b="1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algn="l"/>
            <a:r>
              <a:rPr lang="en-US" sz="1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cs typeface="Arial"/>
              </a:rPr>
              <a:t>. </a:t>
            </a:r>
          </a:p>
        </p:txBody>
      </p:sp>
      <p:pic>
        <p:nvPicPr>
          <p:cNvPr id="9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1777" y="257994"/>
            <a:ext cx="1473556" cy="356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8750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/>
          <p:cNvSpPr/>
          <p:nvPr/>
        </p:nvSpPr>
        <p:spPr>
          <a:xfrm>
            <a:off x="286708" y="1409700"/>
            <a:ext cx="1318695" cy="3585811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pt-BR" sz="1200" dirty="0" smtClean="0"/>
              <a:t>Projeto Site Clean incompleto.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pt-BR" sz="1200" dirty="0"/>
              <a:t>Reduções de </a:t>
            </a:r>
            <a:r>
              <a:rPr lang="pt-BR" sz="1200" dirty="0" err="1"/>
              <a:t>FTEs</a:t>
            </a:r>
            <a:r>
              <a:rPr lang="pt-BR" sz="1200" dirty="0"/>
              <a:t> nos últimos dois anos realizadas de forma desestruturada</a:t>
            </a:r>
            <a:r>
              <a:rPr lang="pt-BR" sz="1200" dirty="0" smtClean="0"/>
              <a:t>.</a:t>
            </a:r>
            <a:endParaRPr lang="pt-BR" sz="1200" dirty="0"/>
          </a:p>
        </p:txBody>
      </p:sp>
      <p:sp>
        <p:nvSpPr>
          <p:cNvPr id="4" name="Retângulo 3"/>
          <p:cNvSpPr/>
          <p:nvPr/>
        </p:nvSpPr>
        <p:spPr>
          <a:xfrm>
            <a:off x="286708" y="780101"/>
            <a:ext cx="1318695" cy="46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FATOS</a:t>
            </a:r>
            <a:endParaRPr lang="pt-BR" sz="1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Retângulo 4"/>
          <p:cNvSpPr/>
          <p:nvPr/>
        </p:nvSpPr>
        <p:spPr>
          <a:xfrm>
            <a:off x="1777017" y="780101"/>
            <a:ext cx="4573638" cy="46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914400">
              <a:spcBef>
                <a:spcPts val="600"/>
              </a:spcBef>
              <a:spcAft>
                <a:spcPts val="600"/>
              </a:spcAft>
            </a:pPr>
            <a:r>
              <a:rPr lang="pt-BR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CONSEQUÊNCIAS</a:t>
            </a:r>
            <a:endParaRPr lang="pt-BR" sz="1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Retângulo 5"/>
          <p:cNvSpPr/>
          <p:nvPr/>
        </p:nvSpPr>
        <p:spPr>
          <a:xfrm>
            <a:off x="1777017" y="1409699"/>
            <a:ext cx="4573638" cy="358581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80000" indent="-216000" defTabSz="9144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1200" dirty="0"/>
              <a:t>Alterações em produção sem registro (Mudanças Invisíveis)</a:t>
            </a:r>
          </a:p>
          <a:p>
            <a:pPr marL="180000" indent="-216000" defTabSz="9144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1200" dirty="0"/>
              <a:t>Processos de Gestão de TI perderam eficiência</a:t>
            </a:r>
          </a:p>
          <a:p>
            <a:pPr marL="180000" indent="-216000" defTabSz="9144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1200" dirty="0" smtClean="0"/>
              <a:t>Demandas e Projetos urgentes prejudicam </a:t>
            </a:r>
            <a:r>
              <a:rPr lang="pt-BR" sz="1200" dirty="0"/>
              <a:t>a </a:t>
            </a:r>
            <a:r>
              <a:rPr lang="pt-BR" sz="1200" dirty="0" smtClean="0"/>
              <a:t>qualidade</a:t>
            </a:r>
            <a:endParaRPr lang="pt-BR" sz="1200" dirty="0"/>
          </a:p>
          <a:p>
            <a:pPr marL="180000" indent="-216000" defTabSz="9144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1200" dirty="0"/>
              <a:t>Inexistência de um processo de Transição para Operação (T2R)</a:t>
            </a:r>
          </a:p>
          <a:p>
            <a:pPr marL="180000" indent="-216000" defTabSz="9144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1200" dirty="0"/>
              <a:t>Ausência de “Dono” (Processos, Contratos, Tecnologias)</a:t>
            </a:r>
          </a:p>
          <a:p>
            <a:pPr marL="180000" indent="-216000" defTabSz="9144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1200" dirty="0"/>
              <a:t>Papéis e Responsabilidades não redefinidos após redução de </a:t>
            </a:r>
            <a:r>
              <a:rPr lang="pt-BR" sz="1200" dirty="0" err="1"/>
              <a:t>FTEs</a:t>
            </a:r>
            <a:endParaRPr lang="pt-BR" sz="1200" dirty="0"/>
          </a:p>
          <a:p>
            <a:pPr marL="180000" indent="-216000" defTabSz="9144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1200" dirty="0"/>
              <a:t>Desalinhamento entre TI e Negócios</a:t>
            </a:r>
          </a:p>
          <a:p>
            <a:pPr marL="180000" indent="-216000" defTabSz="9144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1200" dirty="0"/>
              <a:t>Controles e Indicadores frágeis</a:t>
            </a:r>
          </a:p>
          <a:p>
            <a:pPr marL="180000" indent="-216000" defTabSz="9144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1200" dirty="0"/>
              <a:t>Monitoração </a:t>
            </a:r>
            <a:r>
              <a:rPr lang="pt-BR" sz="1200" dirty="0" smtClean="0"/>
              <a:t>superficial</a:t>
            </a:r>
            <a:endParaRPr lang="pt-BR" sz="1200" dirty="0"/>
          </a:p>
          <a:p>
            <a:pPr marL="180000" indent="-216000" defTabSz="9144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1200" dirty="0"/>
              <a:t>Maturidade atingida no passado foi perdida</a:t>
            </a:r>
          </a:p>
          <a:p>
            <a:pPr marL="180000" indent="-216000" defTabSz="9144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1200" dirty="0"/>
              <a:t>Obsolescência do parque legado</a:t>
            </a:r>
          </a:p>
          <a:p>
            <a:pPr marL="180000" indent="-216000" defTabSz="9144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1200" dirty="0"/>
              <a:t>Baixa automação suprida por capital </a:t>
            </a:r>
            <a:r>
              <a:rPr lang="pt-BR" sz="1200" dirty="0" smtClean="0"/>
              <a:t>humano</a:t>
            </a:r>
          </a:p>
          <a:p>
            <a:pPr marL="180000" indent="-216000" defTabSz="9144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1200" dirty="0" smtClean="0"/>
              <a:t>Atuação segmentada das “</a:t>
            </a:r>
            <a:r>
              <a:rPr lang="pt-BR" sz="1200" dirty="0" err="1" smtClean="0"/>
              <a:t>TIs</a:t>
            </a:r>
            <a:r>
              <a:rPr lang="pt-BR" sz="1200" dirty="0" smtClean="0"/>
              <a:t>”</a:t>
            </a:r>
            <a:endParaRPr lang="pt-BR" sz="1200" dirty="0"/>
          </a:p>
        </p:txBody>
      </p:sp>
      <p:sp>
        <p:nvSpPr>
          <p:cNvPr id="7" name="Retângulo 6"/>
          <p:cNvSpPr/>
          <p:nvPr/>
        </p:nvSpPr>
        <p:spPr>
          <a:xfrm>
            <a:off x="6522269" y="780101"/>
            <a:ext cx="2388708" cy="468000"/>
          </a:xfrm>
          <a:prstGeom prst="rect">
            <a:avLst/>
          </a:prstGeom>
          <a:solidFill>
            <a:srgbClr val="9D0F1D"/>
          </a:soli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txBody>
          <a:bodyPr rtlCol="0" anchor="ctr"/>
          <a:lstStyle/>
          <a:p>
            <a:pPr defTabSz="914400"/>
            <a:r>
              <a:rPr lang="pt-BR" sz="1600" b="1" kern="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RESULTADOS</a:t>
            </a:r>
            <a:endParaRPr lang="pt-BR" sz="1600" b="1" kern="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/>
            </a:endParaRPr>
          </a:p>
        </p:txBody>
      </p:sp>
      <p:sp>
        <p:nvSpPr>
          <p:cNvPr id="9" name="Retângulo 8"/>
          <p:cNvSpPr/>
          <p:nvPr/>
        </p:nvSpPr>
        <p:spPr>
          <a:xfrm>
            <a:off x="6522268" y="1409700"/>
            <a:ext cx="2388709" cy="648000"/>
          </a:xfrm>
          <a:prstGeom prst="rect">
            <a:avLst/>
          </a:prstGeom>
          <a:solidFill>
            <a:srgbClr val="9D0F1D"/>
          </a:soli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2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~ </a:t>
            </a:r>
            <a:r>
              <a:rPr kumimoji="0" lang="pt-BR" sz="28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1.500</a:t>
            </a:r>
            <a:r>
              <a:rPr kumimoji="0" lang="pt-BR" sz="24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2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Incidentes de </a:t>
            </a:r>
            <a:r>
              <a:rPr kumimoji="0" lang="pt-BR" sz="1200" b="1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Alto Impacto </a:t>
            </a:r>
            <a:r>
              <a:rPr kumimoji="0" lang="pt-BR" sz="12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/ mês</a:t>
            </a:r>
          </a:p>
        </p:txBody>
      </p:sp>
      <p:sp>
        <p:nvSpPr>
          <p:cNvPr id="10" name="Retângulo 9"/>
          <p:cNvSpPr/>
          <p:nvPr/>
        </p:nvSpPr>
        <p:spPr>
          <a:xfrm>
            <a:off x="6522267" y="2198795"/>
            <a:ext cx="2388709" cy="648000"/>
          </a:xfrm>
          <a:prstGeom prst="rect">
            <a:avLst/>
          </a:prstGeom>
          <a:solidFill>
            <a:srgbClr val="9D0F1D"/>
          </a:soli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2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~ </a:t>
            </a:r>
            <a:r>
              <a:rPr kumimoji="0" lang="pt-BR" sz="20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27.300</a:t>
            </a:r>
            <a:r>
              <a:rPr kumimoji="0" lang="pt-BR" sz="24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2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Total de Incidentes / mês</a:t>
            </a:r>
          </a:p>
        </p:txBody>
      </p:sp>
      <p:sp>
        <p:nvSpPr>
          <p:cNvPr id="11" name="Retângulo 10"/>
          <p:cNvSpPr/>
          <p:nvPr/>
        </p:nvSpPr>
        <p:spPr>
          <a:xfrm>
            <a:off x="6522268" y="3848985"/>
            <a:ext cx="2388710" cy="1126045"/>
          </a:xfrm>
          <a:prstGeom prst="rect">
            <a:avLst/>
          </a:prstGeom>
          <a:solidFill>
            <a:schemeClr val="bg1"/>
          </a:solidFill>
          <a:ln>
            <a:solidFill>
              <a:srgbClr val="9D0F1D"/>
            </a:solidFill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t"/>
          <a:lstStyle/>
          <a:p>
            <a:pPr marL="72000"/>
            <a:r>
              <a:rPr lang="pt-BR" sz="12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Algumas Operações afetadas</a:t>
            </a:r>
          </a:p>
        </p:txBody>
      </p:sp>
      <p:pic>
        <p:nvPicPr>
          <p:cNvPr id="12" name="Picture 4" descr="http://marcelocabrera.com.br/wp-content/uploads/2010/11/cielo.jp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889" b="28593"/>
          <a:stretch/>
        </p:blipFill>
        <p:spPr bwMode="auto">
          <a:xfrm>
            <a:off x="6651599" y="4505469"/>
            <a:ext cx="819978" cy="2860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6" descr="http://www.altitudesoft.com.br/uploads/images/thumbs/201518/42/santander_logo_7626_north_537x_white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1598" y="4143938"/>
            <a:ext cx="1313927" cy="2593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8" descr="http://seeklogo.com/images/T/TAM_Linhas_A__reas-logo-9A4BCC92EF-seeklogo.com.gif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244" b="30756"/>
          <a:stretch/>
        </p:blipFill>
        <p:spPr bwMode="auto">
          <a:xfrm>
            <a:off x="8087087" y="4240523"/>
            <a:ext cx="702329" cy="2528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2" descr="http://www.mkmservicecom.com.br/images/partners/png/credsystem.png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54" t="31485" r="3352" b="36051"/>
          <a:stretch/>
        </p:blipFill>
        <p:spPr bwMode="auto">
          <a:xfrm>
            <a:off x="7593139" y="4587832"/>
            <a:ext cx="1196277" cy="3108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Retângulo 16"/>
          <p:cNvSpPr/>
          <p:nvPr/>
        </p:nvSpPr>
        <p:spPr>
          <a:xfrm>
            <a:off x="6522267" y="2987890"/>
            <a:ext cx="2388707" cy="720000"/>
          </a:xfrm>
          <a:prstGeom prst="rect">
            <a:avLst/>
          </a:prstGeom>
          <a:solidFill>
            <a:srgbClr val="9D0F1D"/>
          </a:soli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txBody>
          <a:bodyPr rtlCol="0" anchor="ctr"/>
          <a:lstStyle/>
          <a:p>
            <a:pPr marL="7200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2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Danos de Imagem</a:t>
            </a:r>
          </a:p>
          <a:p>
            <a:pPr marL="7200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2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Perdas de Receitas (~XX MM)</a:t>
            </a:r>
          </a:p>
          <a:p>
            <a:pPr marL="7200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2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Multas Contratuais (~XX MM)</a:t>
            </a:r>
          </a:p>
        </p:txBody>
      </p:sp>
      <p:sp>
        <p:nvSpPr>
          <p:cNvPr id="18" name="Shape 114"/>
          <p:cNvSpPr/>
          <p:nvPr/>
        </p:nvSpPr>
        <p:spPr>
          <a:xfrm>
            <a:off x="505215" y="81940"/>
            <a:ext cx="7087924" cy="5239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>
            <a:noAutofit/>
          </a:bodyPr>
          <a:lstStyle>
            <a:lvl1pPr>
              <a:defRPr sz="3000" b="1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lang="pt-BR" sz="2000" b="1" dirty="0" smtClean="0">
                <a:solidFill>
                  <a:srgbClr val="1F497D"/>
                </a:solidFill>
              </a:rPr>
              <a:t>1. Estabilidade Operacional: </a:t>
            </a:r>
            <a:r>
              <a:rPr lang="pt-BR" sz="2000" b="1" i="1" dirty="0" smtClean="0">
                <a:solidFill>
                  <a:srgbClr val="1F497D"/>
                </a:solidFill>
              </a:rPr>
              <a:t>Cenário Anterior</a:t>
            </a:r>
            <a:endParaRPr sz="2000" b="1" i="1" dirty="0">
              <a:solidFill>
                <a:srgbClr val="1F497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29145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/>
          <p:cNvSpPr/>
          <p:nvPr/>
        </p:nvSpPr>
        <p:spPr>
          <a:xfrm>
            <a:off x="288000" y="780101"/>
            <a:ext cx="6048000" cy="4680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914400">
              <a:spcBef>
                <a:spcPts val="600"/>
              </a:spcBef>
              <a:spcAft>
                <a:spcPts val="600"/>
              </a:spcAft>
            </a:pPr>
            <a:r>
              <a:rPr lang="pt-BR" sz="1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AÇÕES ATUAIS SOBRE PROCESSOS E TECNOLOGIA</a:t>
            </a:r>
            <a:endParaRPr lang="pt-BR" sz="1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Retângulo 5"/>
          <p:cNvSpPr/>
          <p:nvPr/>
        </p:nvSpPr>
        <p:spPr>
          <a:xfrm>
            <a:off x="288000" y="1409699"/>
            <a:ext cx="6048000" cy="3585811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80000" indent="-180000" defTabSz="914400">
              <a:spcAft>
                <a:spcPts val="500"/>
              </a:spcAft>
              <a:buFont typeface="Wingdings" panose="05000000000000000000" pitchFamily="2" charset="2"/>
              <a:buChar char="ü"/>
            </a:pPr>
            <a:r>
              <a:rPr lang="pt-BR" sz="1200" dirty="0" smtClean="0"/>
              <a:t>Projeto de Estabilidade Operacional junto a consultoria </a:t>
            </a:r>
            <a:r>
              <a:rPr lang="pt-BR" sz="1200" dirty="0"/>
              <a:t>especializada (Chacon)</a:t>
            </a:r>
          </a:p>
          <a:p>
            <a:pPr marL="180000" indent="-180000" defTabSz="914400">
              <a:spcAft>
                <a:spcPts val="500"/>
              </a:spcAft>
              <a:buFont typeface="Wingdings" panose="05000000000000000000" pitchFamily="2" charset="2"/>
              <a:buChar char="ü"/>
            </a:pPr>
            <a:r>
              <a:rPr lang="pt-BR" sz="1200" dirty="0"/>
              <a:t>Implantação da Gestão de Problemas</a:t>
            </a:r>
          </a:p>
          <a:p>
            <a:pPr marL="180000" indent="-180000" defTabSz="914400">
              <a:spcAft>
                <a:spcPts val="500"/>
              </a:spcAft>
              <a:buFont typeface="Wingdings" panose="05000000000000000000" pitchFamily="2" charset="2"/>
              <a:buChar char="ü"/>
            </a:pPr>
            <a:r>
              <a:rPr lang="pt-BR" sz="1200" dirty="0"/>
              <a:t>Investigação permanente das </a:t>
            </a:r>
            <a:r>
              <a:rPr lang="pt-BR" sz="1200" dirty="0" smtClean="0"/>
              <a:t>causas </a:t>
            </a:r>
            <a:r>
              <a:rPr lang="pt-BR" sz="1200" dirty="0"/>
              <a:t>dos </a:t>
            </a:r>
            <a:r>
              <a:rPr lang="pt-BR" sz="1200" dirty="0" smtClean="0"/>
              <a:t>Incidentes Contax com apoio da TIC</a:t>
            </a:r>
          </a:p>
          <a:p>
            <a:pPr marL="180000" indent="-180000" defTabSz="914400">
              <a:spcAft>
                <a:spcPts val="500"/>
              </a:spcAft>
              <a:buFont typeface="Wingdings" panose="05000000000000000000" pitchFamily="2" charset="2"/>
              <a:buChar char="ü"/>
            </a:pPr>
            <a:r>
              <a:rPr lang="pt-BR" sz="1200" dirty="0" smtClean="0"/>
              <a:t>Revisão </a:t>
            </a:r>
            <a:r>
              <a:rPr lang="pt-BR" sz="1200" dirty="0"/>
              <a:t>do Processo de </a:t>
            </a:r>
            <a:r>
              <a:rPr lang="pt-BR" sz="1200" dirty="0" smtClean="0"/>
              <a:t>Incidentes (Novos Indicadores, Revisão </a:t>
            </a:r>
            <a:r>
              <a:rPr lang="pt-BR" sz="1200" dirty="0"/>
              <a:t>da Matriz de Priorização </a:t>
            </a:r>
            <a:r>
              <a:rPr lang="pt-BR" sz="1200" dirty="0" smtClean="0"/>
              <a:t>de Incidentes, Revisão do Fluxo do processo)</a:t>
            </a:r>
            <a:endParaRPr lang="pt-BR" sz="1200" dirty="0"/>
          </a:p>
          <a:p>
            <a:pPr marL="180000" indent="-180000" defTabSz="914400">
              <a:spcAft>
                <a:spcPts val="500"/>
              </a:spcAft>
              <a:buFont typeface="Wingdings" panose="05000000000000000000" pitchFamily="2" charset="2"/>
              <a:buChar char="ü"/>
            </a:pPr>
            <a:r>
              <a:rPr lang="pt-BR" sz="1200" dirty="0"/>
              <a:t>Redefinição da propriedade dos processos</a:t>
            </a:r>
          </a:p>
          <a:p>
            <a:pPr marL="180000" indent="-180000" defTabSz="914400">
              <a:spcAft>
                <a:spcPts val="500"/>
              </a:spcAft>
              <a:buFont typeface="Wingdings" panose="05000000000000000000" pitchFamily="2" charset="2"/>
              <a:buChar char="q"/>
            </a:pPr>
            <a:r>
              <a:rPr lang="pt-BR" sz="1200" dirty="0" smtClean="0"/>
              <a:t>Automação </a:t>
            </a:r>
            <a:r>
              <a:rPr lang="pt-BR" sz="1200" dirty="0"/>
              <a:t>do Registro de Mudanças </a:t>
            </a:r>
            <a:r>
              <a:rPr lang="pt-BR" sz="1200" dirty="0" smtClean="0"/>
              <a:t>Técnicas</a:t>
            </a:r>
          </a:p>
          <a:p>
            <a:pPr marL="180000" indent="-180000" defTabSz="914400">
              <a:spcAft>
                <a:spcPts val="500"/>
              </a:spcAft>
              <a:buFont typeface="Wingdings" panose="05000000000000000000" pitchFamily="2" charset="2"/>
              <a:buChar char="q"/>
            </a:pPr>
            <a:r>
              <a:rPr lang="pt-BR" sz="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Projeto </a:t>
            </a:r>
            <a:r>
              <a:rPr lang="pt-BR" sz="12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Aspect</a:t>
            </a:r>
            <a:r>
              <a:rPr lang="pt-BR" sz="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7.3 (Fase 1 – Infra):</a:t>
            </a:r>
            <a:r>
              <a:rPr lang="pt-BR" sz="1200" dirty="0"/>
              <a:t> evolução tecnológica, permitindo maior estabilidade evitando multas.</a:t>
            </a:r>
          </a:p>
          <a:p>
            <a:pPr marL="180000" indent="-180000" defTabSz="914400">
              <a:spcAft>
                <a:spcPts val="500"/>
              </a:spcAft>
              <a:buFont typeface="Wingdings" panose="05000000000000000000" pitchFamily="2" charset="2"/>
              <a:buChar char="q"/>
            </a:pPr>
            <a:r>
              <a:rPr lang="pt-BR" sz="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Projeto URA Internalização:</a:t>
            </a:r>
            <a:r>
              <a:rPr lang="pt-BR" sz="1200" dirty="0"/>
              <a:t> internalização do </a:t>
            </a:r>
            <a:r>
              <a:rPr lang="pt-BR" sz="1200" dirty="0" smtClean="0"/>
              <a:t>suporte. </a:t>
            </a:r>
            <a:r>
              <a:rPr lang="pt-BR" sz="1200" dirty="0"/>
              <a:t>Beneficia operações Santander CRC-SAC e TAM.</a:t>
            </a:r>
          </a:p>
          <a:p>
            <a:pPr marL="180000" indent="-180000" defTabSz="914400">
              <a:spcAft>
                <a:spcPts val="500"/>
              </a:spcAft>
              <a:buFont typeface="Wingdings" panose="05000000000000000000" pitchFamily="2" charset="2"/>
              <a:buChar char="q"/>
            </a:pPr>
            <a:r>
              <a:rPr lang="pt-BR" sz="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Projeto Monitoração:</a:t>
            </a:r>
            <a:r>
              <a:rPr lang="pt-BR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t-BR" sz="1200" dirty="0"/>
              <a:t>novas monitorações com visão das operações afetadas (todo Brasil).</a:t>
            </a:r>
          </a:p>
          <a:p>
            <a:pPr marL="180000" indent="-180000" defTabSz="914400">
              <a:spcAft>
                <a:spcPts val="500"/>
              </a:spcAft>
              <a:buFont typeface="Wingdings" panose="05000000000000000000" pitchFamily="2" charset="2"/>
              <a:buChar char="q"/>
            </a:pPr>
            <a:r>
              <a:rPr lang="pt-BR" sz="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Projeto Gravação (NICE):</a:t>
            </a:r>
            <a:r>
              <a:rPr lang="pt-BR" sz="1200" dirty="0"/>
              <a:t> atualização da plataforma. Beneficia operações </a:t>
            </a:r>
            <a:r>
              <a:rPr lang="pt-BR" sz="1200" dirty="0" smtClean="0"/>
              <a:t>Santander</a:t>
            </a:r>
            <a:r>
              <a:rPr lang="pt-BR" sz="1200" dirty="0"/>
              <a:t>, Itaú, Bradesco, Vivo e Oi</a:t>
            </a:r>
            <a:r>
              <a:rPr lang="pt-BR" sz="1200" dirty="0" smtClean="0"/>
              <a:t>.</a:t>
            </a:r>
            <a:endParaRPr lang="pt-BR" sz="1200" dirty="0"/>
          </a:p>
        </p:txBody>
      </p:sp>
      <p:sp>
        <p:nvSpPr>
          <p:cNvPr id="7" name="Retângulo 6"/>
          <p:cNvSpPr/>
          <p:nvPr/>
        </p:nvSpPr>
        <p:spPr>
          <a:xfrm>
            <a:off x="6522269" y="780101"/>
            <a:ext cx="2388708" cy="46800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txBody>
          <a:bodyPr rtlCol="0" anchor="ctr"/>
          <a:lstStyle/>
          <a:p>
            <a:pPr defTabSz="914400"/>
            <a:r>
              <a:rPr lang="pt-BR" sz="1600" b="1" kern="0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RESULTADOS (Out/15)</a:t>
            </a:r>
            <a:endParaRPr lang="pt-BR" sz="1600" b="1" kern="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/>
            </a:endParaRPr>
          </a:p>
        </p:txBody>
      </p:sp>
      <p:sp>
        <p:nvSpPr>
          <p:cNvPr id="9" name="Retângulo 8"/>
          <p:cNvSpPr/>
          <p:nvPr/>
        </p:nvSpPr>
        <p:spPr>
          <a:xfrm>
            <a:off x="6522268" y="1409700"/>
            <a:ext cx="2388709" cy="64800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8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1.089</a:t>
            </a:r>
            <a:r>
              <a:rPr kumimoji="0" lang="pt-BR" sz="24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Incidentes de </a:t>
            </a:r>
            <a:r>
              <a:rPr kumimoji="0" lang="pt-BR" sz="1100" b="1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Alto Impacto</a:t>
            </a:r>
            <a:endParaRPr kumimoji="0" lang="pt-BR" sz="1100" b="0" i="0" u="none" strike="noStrike" kern="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tângulo 9"/>
          <p:cNvSpPr/>
          <p:nvPr/>
        </p:nvSpPr>
        <p:spPr>
          <a:xfrm>
            <a:off x="6522267" y="2198795"/>
            <a:ext cx="2388709" cy="64800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8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27%</a:t>
            </a:r>
            <a:r>
              <a:rPr kumimoji="0" lang="pt-BR" sz="2800" b="0" i="0" u="none" strike="noStrike" kern="0" cap="none" spc="0" normalizeH="0" noProof="0" dirty="0" smtClean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pt-BR" sz="1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</a:rPr>
              <a:t>de </a:t>
            </a:r>
            <a:r>
              <a:rPr lang="pt-BR" sz="1600" b="1" kern="0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R</a:t>
            </a:r>
            <a:r>
              <a:rPr kumimoji="0" lang="pt-BR" sz="1600" b="1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</a:rPr>
              <a:t>EDUÇÃO</a:t>
            </a:r>
            <a:r>
              <a:rPr kumimoji="0" lang="pt-BR" sz="1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</a:rPr>
              <a:t> dos Incidentes</a:t>
            </a:r>
            <a:r>
              <a:rPr lang="pt-BR" sz="1100" kern="0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 de </a:t>
            </a:r>
            <a:r>
              <a:rPr lang="pt-BR" sz="1100" b="1" kern="0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Alto Impacto</a:t>
            </a:r>
            <a:endParaRPr kumimoji="0" lang="pt-BR" sz="1100" b="1" i="0" u="none" strike="noStrike" kern="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</a:endParaRPr>
          </a:p>
        </p:txBody>
      </p:sp>
      <p:sp>
        <p:nvSpPr>
          <p:cNvPr id="18" name="Shape 114"/>
          <p:cNvSpPr/>
          <p:nvPr/>
        </p:nvSpPr>
        <p:spPr>
          <a:xfrm>
            <a:off x="505216" y="81940"/>
            <a:ext cx="6193296" cy="5239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>
            <a:noAutofit/>
          </a:bodyPr>
          <a:lstStyle>
            <a:lvl1pPr>
              <a:defRPr sz="3000" b="1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lang="pt-BR" sz="2000" b="1" dirty="0" smtClean="0">
                <a:solidFill>
                  <a:srgbClr val="1F497D"/>
                </a:solidFill>
              </a:rPr>
              <a:t>2. Estabilidade Operacional: </a:t>
            </a:r>
            <a:r>
              <a:rPr lang="pt-BR" sz="2000" b="1" i="1" dirty="0" smtClean="0">
                <a:solidFill>
                  <a:srgbClr val="1F497D"/>
                </a:solidFill>
              </a:rPr>
              <a:t>Cenário Atual</a:t>
            </a:r>
            <a:endParaRPr sz="2000" b="1" i="1" dirty="0">
              <a:solidFill>
                <a:srgbClr val="1F497D"/>
              </a:solidFill>
            </a:endParaRPr>
          </a:p>
        </p:txBody>
      </p:sp>
      <p:sp>
        <p:nvSpPr>
          <p:cNvPr id="16" name="Retângulo 15"/>
          <p:cNvSpPr/>
          <p:nvPr/>
        </p:nvSpPr>
        <p:spPr>
          <a:xfrm>
            <a:off x="6522266" y="2988528"/>
            <a:ext cx="2388709" cy="2006981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txBody>
          <a:bodyPr rtlCol="0" anchor="t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2000" kern="0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~ </a:t>
            </a:r>
            <a:r>
              <a:rPr kumimoji="0" lang="pt-BR" sz="28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1.85MM$ </a:t>
            </a:r>
            <a:r>
              <a:rPr kumimoji="0" lang="pt-BR" sz="12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</a:rPr>
              <a:t>de</a:t>
            </a:r>
            <a:r>
              <a:rPr kumimoji="0" lang="pt-BR" sz="1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</a:rPr>
              <a:t> </a:t>
            </a:r>
            <a:r>
              <a:rPr lang="pt-BR" sz="1600" b="1" kern="0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PREJUÍZO EVITADO </a:t>
            </a:r>
            <a:r>
              <a:rPr kumimoji="0" lang="pt-BR" sz="12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</a:rPr>
              <a:t>pela</a:t>
            </a:r>
            <a:r>
              <a:rPr kumimoji="0" lang="pt-BR" sz="1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</a:rPr>
              <a:t> </a:t>
            </a:r>
            <a:r>
              <a:rPr kumimoji="0" lang="pt-BR" sz="12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</a:rPr>
              <a:t>redução dos Incidentes</a:t>
            </a:r>
            <a:r>
              <a:rPr lang="pt-BR" sz="1200" kern="0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 de </a:t>
            </a:r>
            <a:r>
              <a:rPr lang="pt-BR" sz="1200" b="1" kern="0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Alto Impacto.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sz="1100" b="1" kern="0" dirty="0" smtClean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100" b="1" kern="0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Base: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000" kern="0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- 411 incidentes alto impacto evitados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000" kern="0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- 90 min de tempo médio por incidente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000" kern="0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- R$ 50,00 de prejuízo por minuto parado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1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100" b="1" i="0" u="none" strike="noStrike" kern="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8358281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/>
          <p:cNvSpPr/>
          <p:nvPr/>
        </p:nvSpPr>
        <p:spPr>
          <a:xfrm>
            <a:off x="288000" y="780101"/>
            <a:ext cx="4443488" cy="46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914400">
              <a:spcBef>
                <a:spcPts val="600"/>
              </a:spcBef>
              <a:spcAft>
                <a:spcPts val="600"/>
              </a:spcAft>
            </a:pPr>
            <a:r>
              <a:rPr lang="pt-BR" sz="1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AÇÕES FUTURAS SOBRE PROCESSOS</a:t>
            </a:r>
            <a:endParaRPr lang="pt-BR" sz="1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Retângulo 5"/>
          <p:cNvSpPr/>
          <p:nvPr/>
        </p:nvSpPr>
        <p:spPr>
          <a:xfrm>
            <a:off x="288001" y="1409699"/>
            <a:ext cx="4443488" cy="358581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16000" indent="-2160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1200" dirty="0">
                <a:solidFill>
                  <a:schemeClr val="bg1"/>
                </a:solidFill>
                <a:latin typeface="Calibri" panose="020F0502020204030204" pitchFamily="34" charset="0"/>
              </a:rPr>
              <a:t>Maior redução dos Incidentes de Alto Impacto </a:t>
            </a:r>
          </a:p>
          <a:p>
            <a:pPr marL="216000" indent="-2160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1200" dirty="0">
                <a:solidFill>
                  <a:schemeClr val="bg1"/>
                </a:solidFill>
                <a:latin typeface="Calibri" panose="020F0502020204030204" pitchFamily="34" charset="0"/>
              </a:rPr>
              <a:t>Ações de conscientização sobre gestão de serviços de TI</a:t>
            </a:r>
          </a:p>
          <a:p>
            <a:pPr marL="216000" indent="-2160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1200" dirty="0" smtClean="0">
                <a:solidFill>
                  <a:schemeClr val="bg1"/>
                </a:solidFill>
                <a:latin typeface="Calibri" panose="020F0502020204030204" pitchFamily="34" charset="0"/>
              </a:rPr>
              <a:t>Revisão </a:t>
            </a:r>
            <a:r>
              <a:rPr lang="pt-BR" sz="1200" dirty="0">
                <a:solidFill>
                  <a:schemeClr val="bg1"/>
                </a:solidFill>
                <a:latin typeface="Calibri" panose="020F0502020204030204" pitchFamily="34" charset="0"/>
              </a:rPr>
              <a:t>da qualidade dos </a:t>
            </a:r>
            <a:r>
              <a:rPr lang="pt-BR" sz="1200" dirty="0" smtClean="0">
                <a:solidFill>
                  <a:schemeClr val="bg1"/>
                </a:solidFill>
                <a:latin typeface="Calibri" panose="020F0502020204030204" pitchFamily="34" charset="0"/>
              </a:rPr>
              <a:t>registros de Incidentes</a:t>
            </a:r>
            <a:endParaRPr lang="pt-BR" sz="1200" dirty="0">
              <a:solidFill>
                <a:schemeClr val="bg1"/>
              </a:solidFill>
              <a:latin typeface="Calibri" panose="020F0502020204030204" pitchFamily="34" charset="0"/>
            </a:endParaRPr>
          </a:p>
          <a:p>
            <a:pPr marL="216000" indent="-2160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1200" dirty="0">
                <a:solidFill>
                  <a:schemeClr val="bg1"/>
                </a:solidFill>
                <a:latin typeface="Calibri" panose="020F0502020204030204" pitchFamily="34" charset="0"/>
              </a:rPr>
              <a:t>Reclassificação dos registros </a:t>
            </a:r>
            <a:r>
              <a:rPr lang="pt-BR" sz="1200" dirty="0" smtClean="0">
                <a:solidFill>
                  <a:schemeClr val="bg1"/>
                </a:solidFill>
                <a:latin typeface="Calibri" panose="020F0502020204030204" pitchFamily="34" charset="0"/>
              </a:rPr>
              <a:t>de Incidentes sobre os novos critérios</a:t>
            </a:r>
          </a:p>
          <a:p>
            <a:pPr marL="216000" indent="-2160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1200" dirty="0" smtClean="0">
                <a:solidFill>
                  <a:schemeClr val="bg1"/>
                </a:solidFill>
                <a:latin typeface="Calibri" panose="020F0502020204030204" pitchFamily="34" charset="0"/>
              </a:rPr>
              <a:t>Elaboração e implantação da nova classificação de Incidentes por sintomas</a:t>
            </a:r>
          </a:p>
          <a:p>
            <a:pPr marL="216000" indent="-2160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1200" dirty="0" smtClean="0">
                <a:solidFill>
                  <a:schemeClr val="bg1"/>
                </a:solidFill>
                <a:latin typeface="Calibri" panose="020F0502020204030204" pitchFamily="34" charset="0"/>
              </a:rPr>
              <a:t>Elaboração de uma política sobre mudanças </a:t>
            </a:r>
            <a:r>
              <a:rPr lang="pt-BR" sz="1200" dirty="0">
                <a:solidFill>
                  <a:schemeClr val="bg1"/>
                </a:solidFill>
                <a:latin typeface="Calibri" panose="020F0502020204030204" pitchFamily="34" charset="0"/>
              </a:rPr>
              <a:t>não registradas </a:t>
            </a:r>
          </a:p>
          <a:p>
            <a:pPr marL="216000" indent="-2160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1200" dirty="0">
                <a:solidFill>
                  <a:schemeClr val="bg1"/>
                </a:solidFill>
                <a:latin typeface="Calibri" panose="020F0502020204030204" pitchFamily="34" charset="0"/>
              </a:rPr>
              <a:t>Definição de rituais diferentes para Mudanças </a:t>
            </a:r>
            <a:r>
              <a:rPr lang="pt-BR" sz="1200" dirty="0" smtClean="0">
                <a:solidFill>
                  <a:schemeClr val="bg1"/>
                </a:solidFill>
                <a:latin typeface="Calibri" panose="020F0502020204030204" pitchFamily="34" charset="0"/>
              </a:rPr>
              <a:t>(diferenciação por </a:t>
            </a:r>
            <a:r>
              <a:rPr lang="pt-BR" sz="1200" dirty="0">
                <a:solidFill>
                  <a:schemeClr val="bg1"/>
                </a:solidFill>
                <a:latin typeface="Calibri" panose="020F0502020204030204" pitchFamily="34" charset="0"/>
              </a:rPr>
              <a:t>complexidade)</a:t>
            </a:r>
          </a:p>
          <a:p>
            <a:pPr marL="216000" indent="-2160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1200" dirty="0" smtClean="0">
                <a:solidFill>
                  <a:schemeClr val="bg1"/>
                </a:solidFill>
                <a:latin typeface="Calibri" panose="020F0502020204030204" pitchFamily="34" charset="0"/>
              </a:rPr>
              <a:t>Criação de novos indicadores </a:t>
            </a:r>
            <a:r>
              <a:rPr lang="pt-BR" sz="1200" dirty="0">
                <a:solidFill>
                  <a:schemeClr val="bg1"/>
                </a:solidFill>
                <a:latin typeface="Calibri" panose="020F0502020204030204" pitchFamily="34" charset="0"/>
              </a:rPr>
              <a:t>para </a:t>
            </a:r>
            <a:r>
              <a:rPr lang="pt-BR" sz="1200" dirty="0" smtClean="0">
                <a:solidFill>
                  <a:schemeClr val="bg1"/>
                </a:solidFill>
                <a:latin typeface="Calibri" panose="020F0502020204030204" pitchFamily="34" charset="0"/>
              </a:rPr>
              <a:t>gerenciamento</a:t>
            </a:r>
            <a:endParaRPr lang="pt-BR" sz="1200" dirty="0">
              <a:solidFill>
                <a:schemeClr val="bg1"/>
              </a:solidFill>
              <a:latin typeface="Calibri" panose="020F0502020204030204" pitchFamily="34" charset="0"/>
            </a:endParaRPr>
          </a:p>
          <a:p>
            <a:pPr marL="216000" indent="-2160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1200" dirty="0" smtClean="0">
                <a:solidFill>
                  <a:schemeClr val="bg1"/>
                </a:solidFill>
                <a:latin typeface="Calibri" panose="020F0502020204030204" pitchFamily="34" charset="0"/>
              </a:rPr>
              <a:t>Revisão completa do </a:t>
            </a:r>
            <a:r>
              <a:rPr lang="pt-BR" sz="1200" dirty="0">
                <a:solidFill>
                  <a:schemeClr val="bg1"/>
                </a:solidFill>
                <a:latin typeface="Calibri" panose="020F0502020204030204" pitchFamily="34" charset="0"/>
              </a:rPr>
              <a:t>processo de </a:t>
            </a:r>
            <a:r>
              <a:rPr lang="pt-BR" sz="1200" dirty="0" smtClean="0">
                <a:solidFill>
                  <a:schemeClr val="bg1"/>
                </a:solidFill>
                <a:latin typeface="Calibri" panose="020F0502020204030204" pitchFamily="34" charset="0"/>
              </a:rPr>
              <a:t>Ger. de Mudanças </a:t>
            </a:r>
            <a:r>
              <a:rPr lang="pt-BR" sz="1200" dirty="0">
                <a:solidFill>
                  <a:schemeClr val="bg1"/>
                </a:solidFill>
                <a:latin typeface="Calibri" panose="020F0502020204030204" pitchFamily="34" charset="0"/>
              </a:rPr>
              <a:t>(2016</a:t>
            </a:r>
            <a:r>
              <a:rPr lang="pt-BR" sz="1200" dirty="0" smtClean="0">
                <a:solidFill>
                  <a:schemeClr val="bg1"/>
                </a:solidFill>
                <a:latin typeface="Calibri" panose="020F0502020204030204" pitchFamily="34" charset="0"/>
              </a:rPr>
              <a:t>)</a:t>
            </a:r>
          </a:p>
          <a:p>
            <a:pPr marL="216000" indent="-2160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1200" dirty="0" smtClean="0">
                <a:solidFill>
                  <a:schemeClr val="bg1"/>
                </a:solidFill>
                <a:latin typeface="Calibri" panose="020F0502020204030204" pitchFamily="34" charset="0"/>
              </a:rPr>
              <a:t>Revisão completa de Papéis e Responsabilidades</a:t>
            </a:r>
          </a:p>
        </p:txBody>
      </p:sp>
      <p:sp>
        <p:nvSpPr>
          <p:cNvPr id="7" name="Retângulo 6"/>
          <p:cNvSpPr/>
          <p:nvPr/>
        </p:nvSpPr>
        <p:spPr>
          <a:xfrm>
            <a:off x="4933507" y="780101"/>
            <a:ext cx="3977470" cy="46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txBody>
          <a:bodyPr rtlCol="0" anchor="ctr"/>
          <a:lstStyle/>
          <a:p>
            <a:pPr defTabSz="914400"/>
            <a:r>
              <a:rPr lang="pt-BR" sz="1600" b="1" kern="0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BENEFÍCIOS</a:t>
            </a:r>
            <a:endParaRPr lang="pt-BR" sz="1600" b="1" kern="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/>
            </a:endParaRPr>
          </a:p>
        </p:txBody>
      </p:sp>
      <p:sp>
        <p:nvSpPr>
          <p:cNvPr id="18" name="Shape 114"/>
          <p:cNvSpPr/>
          <p:nvPr/>
        </p:nvSpPr>
        <p:spPr>
          <a:xfrm>
            <a:off x="505216" y="81940"/>
            <a:ext cx="6193296" cy="5239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>
            <a:noAutofit/>
          </a:bodyPr>
          <a:lstStyle>
            <a:lvl1pPr>
              <a:defRPr sz="3000" b="1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lang="pt-BR" sz="2000" b="1" dirty="0" smtClean="0">
                <a:solidFill>
                  <a:srgbClr val="1F497D"/>
                </a:solidFill>
              </a:rPr>
              <a:t>3. Estabilidade Operacional: </a:t>
            </a:r>
            <a:r>
              <a:rPr lang="pt-BR" sz="2000" b="1" i="1" dirty="0" smtClean="0">
                <a:solidFill>
                  <a:srgbClr val="1F497D"/>
                </a:solidFill>
              </a:rPr>
              <a:t>Cenário Futuro</a:t>
            </a:r>
            <a:endParaRPr sz="2000" b="1" i="1" dirty="0">
              <a:solidFill>
                <a:srgbClr val="1F497D"/>
              </a:solidFill>
            </a:endParaRPr>
          </a:p>
        </p:txBody>
      </p:sp>
      <p:sp>
        <p:nvSpPr>
          <p:cNvPr id="16" name="Retângulo 15"/>
          <p:cNvSpPr/>
          <p:nvPr/>
        </p:nvSpPr>
        <p:spPr>
          <a:xfrm>
            <a:off x="4933507" y="1422338"/>
            <a:ext cx="3977469" cy="3573172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16000" indent="-216000" defTabSz="9144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Melhorar a eficiência operacional</a:t>
            </a:r>
          </a:p>
          <a:p>
            <a:pPr marL="216000" indent="-216000" defTabSz="9144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Eliminar efetivamente as causas </a:t>
            </a:r>
            <a:r>
              <a:rPr lang="pt-BR" sz="1200" dirty="0" smtClean="0">
                <a:solidFill>
                  <a:schemeClr val="bg1"/>
                </a:solidFill>
                <a:latin typeface="Calibri" panose="020F0502020204030204" pitchFamily="34" charset="0"/>
              </a:rPr>
              <a:t>dos incidentes</a:t>
            </a:r>
            <a:endParaRPr lang="pt-BR" sz="1200" dirty="0">
              <a:solidFill>
                <a:schemeClr val="bg1"/>
              </a:solidFill>
              <a:latin typeface="Calibri" panose="020F0502020204030204" pitchFamily="34" charset="0"/>
            </a:endParaRPr>
          </a:p>
          <a:p>
            <a:pPr marL="216000" indent="-216000" defTabSz="9144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Eliminar incidentes recorrentes</a:t>
            </a:r>
          </a:p>
          <a:p>
            <a:pPr marL="216000" indent="-216000" defTabSz="9144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1200" b="1" dirty="0">
                <a:solidFill>
                  <a:schemeClr val="bg1"/>
                </a:solidFill>
                <a:latin typeface="Calibri" panose="020F0502020204030204" pitchFamily="34" charset="0"/>
              </a:rPr>
              <a:t>Reduzir a quantidade de incidentes e prazos </a:t>
            </a:r>
            <a:r>
              <a:rPr lang="pt-BR" sz="1200" dirty="0">
                <a:solidFill>
                  <a:schemeClr val="bg1"/>
                </a:solidFill>
                <a:latin typeface="Calibri" panose="020F0502020204030204" pitchFamily="34" charset="0"/>
              </a:rPr>
              <a:t>de resolução</a:t>
            </a:r>
          </a:p>
          <a:p>
            <a:pPr marL="216000" indent="-216000" defTabSz="9144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Viabilizar </a:t>
            </a:r>
            <a:r>
              <a:rPr lang="pt-BR" sz="1200" b="1" dirty="0">
                <a:solidFill>
                  <a:schemeClr val="bg1"/>
                </a:solidFill>
                <a:latin typeface="Calibri" panose="020F0502020204030204" pitchFamily="34" charset="0"/>
              </a:rPr>
              <a:t>indicadores precisos </a:t>
            </a:r>
            <a:r>
              <a:rPr lang="pt-BR" sz="1200" dirty="0">
                <a:solidFill>
                  <a:schemeClr val="bg1"/>
                </a:solidFill>
                <a:latin typeface="Calibri" panose="020F0502020204030204" pitchFamily="34" charset="0"/>
              </a:rPr>
              <a:t>sobre Clientes e </a:t>
            </a:r>
            <a:r>
              <a:rPr lang="pt-BR" sz="1200" dirty="0" smtClean="0">
                <a:solidFill>
                  <a:schemeClr val="bg1"/>
                </a:solidFill>
                <a:latin typeface="Calibri" panose="020F0502020204030204" pitchFamily="34" charset="0"/>
              </a:rPr>
              <a:t>Operações</a:t>
            </a:r>
            <a:endParaRPr lang="pt-BR" sz="1200" dirty="0">
              <a:solidFill>
                <a:schemeClr val="bg1"/>
              </a:solidFill>
              <a:latin typeface="Calibri" panose="020F0502020204030204" pitchFamily="34" charset="0"/>
            </a:endParaRPr>
          </a:p>
          <a:p>
            <a:pPr marL="216000" indent="-216000" defTabSz="9144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1200" b="1" dirty="0">
                <a:solidFill>
                  <a:schemeClr val="bg1"/>
                </a:solidFill>
                <a:latin typeface="Calibri" panose="020F0502020204030204" pitchFamily="34" charset="0"/>
              </a:rPr>
              <a:t>Eliminar dúvidas sobre responsabilidades </a:t>
            </a:r>
            <a:r>
              <a:rPr lang="pt-BR" sz="1200" dirty="0">
                <a:solidFill>
                  <a:schemeClr val="bg1"/>
                </a:solidFill>
                <a:latin typeface="Calibri" panose="020F0502020204030204" pitchFamily="34" charset="0"/>
              </a:rPr>
              <a:t>pelo </a:t>
            </a:r>
            <a:r>
              <a:rPr lang="pt-BR" sz="1200" dirty="0" smtClean="0">
                <a:solidFill>
                  <a:schemeClr val="bg1"/>
                </a:solidFill>
                <a:latin typeface="Calibri" panose="020F0502020204030204" pitchFamily="34" charset="0"/>
              </a:rPr>
              <a:t>suporte</a:t>
            </a:r>
            <a:endParaRPr lang="pt-BR" sz="1200" dirty="0">
              <a:solidFill>
                <a:schemeClr val="bg1"/>
              </a:solidFill>
              <a:latin typeface="Calibri" panose="020F0502020204030204" pitchFamily="34" charset="0"/>
            </a:endParaRPr>
          </a:p>
          <a:p>
            <a:pPr marL="216000" indent="-216000" defTabSz="9144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1200" dirty="0">
                <a:solidFill>
                  <a:schemeClr val="bg1"/>
                </a:solidFill>
                <a:latin typeface="Calibri" panose="020F0502020204030204" pitchFamily="34" charset="0"/>
              </a:rPr>
              <a:t>Utilizar </a:t>
            </a:r>
            <a:r>
              <a:rPr lang="pt-BR" sz="1200" b="1" dirty="0">
                <a:solidFill>
                  <a:schemeClr val="bg1"/>
                </a:solidFill>
                <a:latin typeface="Calibri" panose="020F0502020204030204" pitchFamily="34" charset="0"/>
              </a:rPr>
              <a:t>critérios objetivos para prioridades</a:t>
            </a:r>
            <a:r>
              <a:rPr lang="pt-BR" sz="1200" dirty="0">
                <a:solidFill>
                  <a:schemeClr val="bg1"/>
                </a:solidFill>
                <a:latin typeface="Calibri" panose="020F0502020204030204" pitchFamily="34" charset="0"/>
              </a:rPr>
              <a:t> e </a:t>
            </a:r>
            <a:r>
              <a:rPr lang="pt-BR" sz="1200" dirty="0" smtClean="0">
                <a:solidFill>
                  <a:schemeClr val="bg1"/>
                </a:solidFill>
                <a:latin typeface="Calibri" panose="020F0502020204030204" pitchFamily="34" charset="0"/>
              </a:rPr>
              <a:t>SLA</a:t>
            </a:r>
            <a:endParaRPr lang="pt-BR" sz="1200" dirty="0">
              <a:solidFill>
                <a:schemeClr val="bg1"/>
              </a:solidFill>
              <a:latin typeface="Calibri" panose="020F0502020204030204" pitchFamily="34" charset="0"/>
            </a:endParaRPr>
          </a:p>
          <a:p>
            <a:pPr marL="216000" indent="-216000" defTabSz="9144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1200" dirty="0" smtClean="0">
                <a:solidFill>
                  <a:schemeClr val="bg1"/>
                </a:solidFill>
                <a:latin typeface="Calibri" panose="020F0502020204030204" pitchFamily="34" charset="0"/>
              </a:rPr>
              <a:t>Viabilizar </a:t>
            </a:r>
            <a:r>
              <a:rPr lang="pt-BR" sz="1200" dirty="0">
                <a:solidFill>
                  <a:schemeClr val="bg1"/>
                </a:solidFill>
                <a:latin typeface="Calibri" panose="020F0502020204030204" pitchFamily="34" charset="0"/>
              </a:rPr>
              <a:t>a </a:t>
            </a:r>
            <a:r>
              <a:rPr lang="pt-BR" sz="1200" b="1" dirty="0">
                <a:solidFill>
                  <a:schemeClr val="bg1"/>
                </a:solidFill>
                <a:latin typeface="Calibri" panose="020F0502020204030204" pitchFamily="34" charset="0"/>
              </a:rPr>
              <a:t>proibição de mudanças sem </a:t>
            </a:r>
            <a:r>
              <a:rPr lang="pt-BR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registro</a:t>
            </a:r>
            <a:endParaRPr lang="pt-BR" sz="1200" b="1" dirty="0">
              <a:solidFill>
                <a:schemeClr val="bg1"/>
              </a:solidFill>
              <a:latin typeface="Calibri" panose="020F0502020204030204" pitchFamily="34" charset="0"/>
            </a:endParaRPr>
          </a:p>
          <a:p>
            <a:pPr marL="216000" indent="-216000" defTabSz="9144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Permitir rastreabilidade </a:t>
            </a:r>
            <a:r>
              <a:rPr lang="pt-BR" sz="1200" dirty="0" smtClean="0">
                <a:solidFill>
                  <a:schemeClr val="bg1"/>
                </a:solidFill>
                <a:latin typeface="Calibri" panose="020F0502020204030204" pitchFamily="34" charset="0"/>
              </a:rPr>
              <a:t>sobre mudanças nos ambientes</a:t>
            </a:r>
            <a:endParaRPr lang="pt-BR" sz="1200" dirty="0">
              <a:solidFill>
                <a:schemeClr val="bg1"/>
              </a:solidFill>
              <a:latin typeface="Calibri" panose="020F0502020204030204" pitchFamily="34" charset="0"/>
            </a:endParaRPr>
          </a:p>
          <a:p>
            <a:pPr marL="216000" indent="-216000" defTabSz="9144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1200" dirty="0" smtClean="0">
                <a:solidFill>
                  <a:schemeClr val="bg1"/>
                </a:solidFill>
                <a:latin typeface="Calibri" panose="020F0502020204030204" pitchFamily="34" charset="0"/>
              </a:rPr>
              <a:t>Produzir </a:t>
            </a:r>
            <a:r>
              <a:rPr lang="pt-BR" sz="1200" b="1" dirty="0">
                <a:solidFill>
                  <a:schemeClr val="bg1"/>
                </a:solidFill>
                <a:latin typeface="Calibri" panose="020F0502020204030204" pitchFamily="34" charset="0"/>
              </a:rPr>
              <a:t>indicadores </a:t>
            </a:r>
            <a:r>
              <a:rPr lang="pt-BR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sobre os processos </a:t>
            </a:r>
            <a:r>
              <a:rPr lang="pt-BR" sz="1200" dirty="0" smtClean="0">
                <a:solidFill>
                  <a:schemeClr val="bg1"/>
                </a:solidFill>
                <a:latin typeface="Calibri" panose="020F0502020204030204" pitchFamily="34" charset="0"/>
              </a:rPr>
              <a:t>de gestão de TI</a:t>
            </a:r>
            <a:endParaRPr lang="pt-BR" sz="1200" dirty="0">
              <a:solidFill>
                <a:schemeClr val="bg1"/>
              </a:solidFill>
              <a:latin typeface="Calibri" panose="020F0502020204030204" pitchFamily="34" charset="0"/>
            </a:endParaRPr>
          </a:p>
          <a:p>
            <a:pPr marL="216000" indent="-216000" defTabSz="9144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1200" dirty="0" smtClean="0">
                <a:solidFill>
                  <a:schemeClr val="bg1"/>
                </a:solidFill>
                <a:latin typeface="Calibri" panose="020F0502020204030204" pitchFamily="34" charset="0"/>
              </a:rPr>
              <a:t>Estabelecer </a:t>
            </a:r>
            <a:r>
              <a:rPr lang="pt-BR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responsabilidade </a:t>
            </a:r>
            <a:r>
              <a:rPr lang="pt-BR" sz="1200" b="1" dirty="0">
                <a:solidFill>
                  <a:schemeClr val="bg1"/>
                </a:solidFill>
                <a:latin typeface="Calibri" panose="020F0502020204030204" pitchFamily="34" charset="0"/>
              </a:rPr>
              <a:t>sobre </a:t>
            </a:r>
            <a:r>
              <a:rPr lang="pt-BR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riscos </a:t>
            </a:r>
            <a:r>
              <a:rPr lang="pt-BR" sz="1200" dirty="0" smtClean="0">
                <a:solidFill>
                  <a:schemeClr val="bg1"/>
                </a:solidFill>
                <a:latin typeface="Calibri" panose="020F0502020204030204" pitchFamily="34" charset="0"/>
              </a:rPr>
              <a:t>aos ambientes</a:t>
            </a:r>
          </a:p>
          <a:p>
            <a:pPr marL="216000" indent="-216000" defTabSz="9144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1200" dirty="0" smtClean="0">
                <a:solidFill>
                  <a:schemeClr val="bg1"/>
                </a:solidFill>
                <a:latin typeface="Calibri" panose="020F0502020204030204" pitchFamily="34" charset="0"/>
              </a:rPr>
              <a:t>Proporcionar </a:t>
            </a:r>
            <a:r>
              <a:rPr lang="pt-BR" sz="1200" dirty="0">
                <a:solidFill>
                  <a:schemeClr val="bg1"/>
                </a:solidFill>
                <a:latin typeface="Calibri" panose="020F0502020204030204" pitchFamily="34" charset="0"/>
              </a:rPr>
              <a:t>a </a:t>
            </a:r>
            <a:r>
              <a:rPr lang="pt-BR" sz="1200" b="1" dirty="0">
                <a:solidFill>
                  <a:schemeClr val="bg1"/>
                </a:solidFill>
                <a:latin typeface="Calibri" panose="020F0502020204030204" pitchFamily="34" charset="0"/>
              </a:rPr>
              <a:t>melhoria </a:t>
            </a:r>
            <a:r>
              <a:rPr lang="pt-BR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contínua</a:t>
            </a:r>
            <a:endParaRPr lang="pt-BR" sz="1200" b="1" dirty="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26247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5_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7_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10_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7003</TotalTime>
  <Words>541</Words>
  <Application>Microsoft Office PowerPoint</Application>
  <PresentationFormat>Personalizar</PresentationFormat>
  <Paragraphs>85</Paragraphs>
  <Slides>5</Slides>
  <Notes>0</Notes>
  <HiddenSlides>0</HiddenSlides>
  <MMClips>0</MMClips>
  <ScaleCrop>false</ScaleCrop>
  <HeadingPairs>
    <vt:vector size="8" baseType="variant">
      <vt:variant>
        <vt:lpstr>Fontes usadas</vt:lpstr>
      </vt:variant>
      <vt:variant>
        <vt:i4>4</vt:i4>
      </vt:variant>
      <vt:variant>
        <vt:lpstr>Tema</vt:lpstr>
      </vt:variant>
      <vt:variant>
        <vt:i4>4</vt:i4>
      </vt:variant>
      <vt:variant>
        <vt:lpstr>Servidores OLE inseridos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14" baseType="lpstr">
      <vt:lpstr>Arial</vt:lpstr>
      <vt:lpstr>Calibri</vt:lpstr>
      <vt:lpstr>Calibri Light</vt:lpstr>
      <vt:lpstr>Wingdings</vt:lpstr>
      <vt:lpstr>Tema do Office</vt:lpstr>
      <vt:lpstr>5_Tema do Office</vt:lpstr>
      <vt:lpstr>7_Tema do Office</vt:lpstr>
      <vt:lpstr>10_Tema do Office</vt:lpstr>
      <vt:lpstr>Slide do think-cell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Gustavo Nitzsche</dc:creator>
  <cp:lastModifiedBy>Sergio Bertasi</cp:lastModifiedBy>
  <cp:revision>567</cp:revision>
  <dcterms:created xsi:type="dcterms:W3CDTF">2015-08-20T14:57:26Z</dcterms:created>
  <dcterms:modified xsi:type="dcterms:W3CDTF">2015-10-30T21:00:41Z</dcterms:modified>
</cp:coreProperties>
</file>