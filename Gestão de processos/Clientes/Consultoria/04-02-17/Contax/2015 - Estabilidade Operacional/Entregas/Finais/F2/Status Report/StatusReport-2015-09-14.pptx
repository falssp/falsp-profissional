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media/image9.jpg" ContentType="image/jpeg"/>
  <Override PartName="/ppt/media/image10.jpg" ContentType="image/jpeg"/>
  <Override PartName="/ppt/media/image11.jpg" ContentType="image/jpeg"/>
  <Override PartName="/ppt/media/image12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77" r:id="rId3"/>
  </p:sldMasterIdLst>
  <p:notesMasterIdLst>
    <p:notesMasterId r:id="rId12"/>
  </p:notesMasterIdLst>
  <p:sldIdLst>
    <p:sldId id="257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9144000" cy="6858000" type="screen4x3"/>
  <p:notesSz cx="6858000" cy="9144000"/>
  <p:defaultTextStyle>
    <a:defPPr>
      <a:defRPr lang="pt-BR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FF66"/>
    <a:srgbClr val="FFFF99"/>
    <a:srgbClr val="FFFFFF"/>
    <a:srgbClr val="FF9900"/>
    <a:srgbClr val="EAEAEA"/>
    <a:srgbClr val="FF7C80"/>
    <a:srgbClr val="FF5050"/>
    <a:srgbClr val="F8F8F8"/>
    <a:srgbClr val="C6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26" autoAdjust="0"/>
    <p:restoredTop sz="94444" autoAdjust="0"/>
  </p:normalViewPr>
  <p:slideViewPr>
    <p:cSldViewPr>
      <p:cViewPr varScale="1">
        <p:scale>
          <a:sx n="73" d="100"/>
          <a:sy n="73" d="100"/>
        </p:scale>
        <p:origin x="1218" y="4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142B-B55F-48BC-9A54-3D8431ABDBD5}" type="datetimeFigureOut">
              <a:rPr lang="pt-BR" smtClean="0"/>
              <a:pPr/>
              <a:t>14/09/2015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96AC3-C339-4514-A84B-08CA4726E2F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8304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9963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1" b="8274"/>
          <a:stretch>
            <a:fillRect/>
          </a:stretch>
        </p:blipFill>
        <p:spPr>
          <a:xfrm>
            <a:off x="0" y="897412"/>
            <a:ext cx="9179390" cy="57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425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69563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2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392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3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00380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1"/>
          <a:lstStyle>
            <a:lvl1pPr>
              <a:buFont typeface="Arial"/>
              <a:buChar char="•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5517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D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5033776" y="2540000"/>
            <a:ext cx="3828638" cy="33289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3865963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87968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Es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973138" y="2540000"/>
            <a:ext cx="4088448" cy="33289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5228454" y="2540000"/>
            <a:ext cx="3531987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512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973137" y="4027488"/>
            <a:ext cx="7787303" cy="1885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1335152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0578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973138" y="4027488"/>
            <a:ext cx="7780749" cy="1885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1325882"/>
          </a:xfrm>
          <a:prstGeom prst="rect">
            <a:avLst/>
          </a:prstGeom>
        </p:spPr>
        <p:txBody>
          <a:bodyPr vert="horz" numCol="2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796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973138" y="4027488"/>
            <a:ext cx="7780749" cy="1885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1335152"/>
          </a:xfrm>
          <a:prstGeom prst="rect">
            <a:avLst/>
          </a:prstGeom>
        </p:spPr>
        <p:txBody>
          <a:bodyPr vert="horz" numCol="3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2052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, Subtitulo e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973138" y="2540172"/>
            <a:ext cx="7780749" cy="3373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080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,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973138" y="1983930"/>
            <a:ext cx="7780749" cy="39295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50001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973138" y="1288627"/>
            <a:ext cx="7780749" cy="46248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275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Maior C\ Titulo,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0" y="1112485"/>
            <a:ext cx="9143999" cy="495982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8469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3128599" y="2623712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pic>
        <p:nvPicPr>
          <p:cNvPr id="3" name="Imagem 2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06" y="6280486"/>
            <a:ext cx="931040" cy="43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640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apa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684" y="-49609"/>
            <a:ext cx="9223373" cy="691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73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45715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5" indent="-342865" algn="l" defTabSz="457154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74" indent="-285722" algn="l" defTabSz="457154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3" indent="-228576" algn="l" defTabSz="457154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36" indent="-228576" algn="l" defTabSz="457154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0" indent="-228576" algn="l" defTabSz="457154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3" indent="-228576" algn="l" defTabSz="45715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6" indent="-228576" algn="l" defTabSz="45715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0" indent="-228576" algn="l" defTabSz="45715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2" indent="-228576" algn="l" defTabSz="45715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6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0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3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6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0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2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6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mplate_Conteudo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2896"/>
            <a:ext cx="9160193" cy="688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7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45713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48" indent="-342848" algn="l" defTabSz="45713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36" indent="-285707" algn="l" defTabSz="45713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24" indent="-228564" algn="l" defTabSz="45713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54" indent="-228564" algn="l" defTabSz="45713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85" indent="-228564" algn="l" defTabSz="45713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15" indent="-228564" algn="l" defTabSz="45713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44" indent="-228564" algn="l" defTabSz="45713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75" indent="-228564" algn="l" defTabSz="45713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03" indent="-228564" algn="l" defTabSz="45713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0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9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9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49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80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8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39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rquivos_antigo-2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16710" y="-1"/>
            <a:ext cx="9160710" cy="6865399"/>
          </a:xfrm>
          <a:prstGeom prst="rect">
            <a:avLst/>
          </a:prstGeom>
        </p:spPr>
      </p:pic>
      <p:pic>
        <p:nvPicPr>
          <p:cNvPr id="4" name="Picture 3" descr="Apresentação-26.jpg"/>
          <p:cNvPicPr>
            <a:picLocks noChangeAspect="1"/>
          </p:cNvPicPr>
          <p:nvPr/>
        </p:nvPicPr>
        <p:blipFill>
          <a:blip r:embed="rId17" cstate="print"/>
          <a:srcRect/>
          <a:stretch>
            <a:fillRect/>
          </a:stretch>
        </p:blipFill>
        <p:spPr>
          <a:xfrm>
            <a:off x="-16710" y="-177350"/>
            <a:ext cx="9160710" cy="715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0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rive.google.com/open?id=0B4_L_V6bc9LQRVRTa2N0N0dwUnc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12793" y="1751183"/>
            <a:ext cx="184698" cy="719903"/>
          </a:xfrm>
          <a:prstGeom prst="rect">
            <a:avLst/>
          </a:prstGeom>
          <a:noFill/>
        </p:spPr>
        <p:txBody>
          <a:bodyPr wrap="none" lIns="91421" tIns="45711" rIns="91421" bIns="45711" rtlCol="0">
            <a:spAutoFit/>
          </a:bodyPr>
          <a:lstStyle/>
          <a:p>
            <a:pPr defTabSz="457106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100" dirty="0">
              <a:solidFill>
                <a:prstClr val="black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12793" y="1751183"/>
            <a:ext cx="184698" cy="719903"/>
          </a:xfrm>
          <a:prstGeom prst="rect">
            <a:avLst/>
          </a:prstGeom>
          <a:noFill/>
        </p:spPr>
        <p:txBody>
          <a:bodyPr wrap="none" lIns="91421" tIns="45711" rIns="91421" bIns="45711" rtlCol="0">
            <a:spAutoFit/>
          </a:bodyPr>
          <a:lstStyle/>
          <a:p>
            <a:pPr defTabSz="457106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100" dirty="0">
              <a:solidFill>
                <a:prstClr val="black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339752" y="2423808"/>
            <a:ext cx="6537206" cy="1077200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pPr algn="r" defTabSz="45710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3200" b="1" dirty="0" smtClean="0">
                <a:solidFill>
                  <a:srgbClr val="4F81BD">
                    <a:lumMod val="75000"/>
                  </a:srgbClr>
                </a:solidFill>
                <a:latin typeface="Arial" pitchFamily="34" charset="0"/>
                <a:cs typeface="Arial" pitchFamily="34" charset="0"/>
                <a:sym typeface="Gill Sans" charset="0"/>
              </a:rPr>
              <a:t>Estabilização do Ambiente</a:t>
            </a:r>
          </a:p>
          <a:p>
            <a:pPr algn="r" defTabSz="457106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200" b="1" dirty="0" smtClean="0">
              <a:solidFill>
                <a:srgbClr val="4F81BD">
                  <a:lumMod val="75000"/>
                </a:srgbClr>
              </a:solidFill>
              <a:latin typeface="Arial" pitchFamily="34" charset="0"/>
              <a:cs typeface="Arial" pitchFamily="34" charset="0"/>
              <a:sym typeface="Gill Sans" charset="0"/>
            </a:endParaRPr>
          </a:p>
          <a:p>
            <a:pPr algn="r" defTabSz="45710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000" b="1" dirty="0" smtClean="0">
                <a:solidFill>
                  <a:srgbClr val="4F81BD">
                    <a:lumMod val="75000"/>
                  </a:srgbClr>
                </a:solidFill>
                <a:latin typeface="Arial" pitchFamily="34" charset="0"/>
                <a:cs typeface="Arial" pitchFamily="34" charset="0"/>
                <a:sym typeface="Gill Sans" charset="0"/>
              </a:rPr>
              <a:t>Status: 14/09/2015</a:t>
            </a:r>
            <a:endParaRPr lang="pt-BR" sz="2000" b="1" dirty="0">
              <a:solidFill>
                <a:srgbClr val="4F81BD">
                  <a:lumMod val="75000"/>
                </a:srgbClr>
              </a:solidFill>
              <a:latin typeface="Arial" pitchFamily="34" charset="0"/>
              <a:cs typeface="Arial" pitchFamily="34" charset="0"/>
              <a:sym typeface="Gill Sans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3933056"/>
            <a:ext cx="936104" cy="40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9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3"/>
          <p:cNvSpPr>
            <a:spLocks noChangeArrowheads="1"/>
          </p:cNvSpPr>
          <p:nvPr/>
        </p:nvSpPr>
        <p:spPr bwMode="auto">
          <a:xfrm>
            <a:off x="873125" y="1439515"/>
            <a:ext cx="6327775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pt-BR" sz="30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Índice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646416"/>
              </p:ext>
            </p:extLst>
          </p:nvPr>
        </p:nvGraphicFramePr>
        <p:xfrm>
          <a:off x="84887" y="1052736"/>
          <a:ext cx="8964489" cy="537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59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Pacotes</a:t>
                      </a:r>
                      <a:endParaRPr lang="pt-BR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Objetivos do Projeto</a:t>
                      </a:r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A.1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Mobilização Inicial</a:t>
                      </a:r>
                      <a:r>
                        <a:rPr lang="pt-BR" sz="1400" baseline="0" dirty="0" smtClean="0"/>
                        <a:t> - alocação dos consultores; ações administrativas; preparação das reuniões de trabalho; planejamento inicial do projeto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B.1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Sanear o backlog para diminuir o volume total de incidentes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C.1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Elaboração do Fluxo de Problemas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Documentar o processo de análise de causa-raiz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Implantação de rotina diária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C.2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Condução</a:t>
                      </a:r>
                      <a:r>
                        <a:rPr lang="pt-BR" sz="1400" baseline="0" dirty="0" smtClean="0"/>
                        <a:t> das reuniões de análise de causa-raiz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Relatório Executivo de cada investigação com lista de participantes e resumo das ações</a:t>
                      </a:r>
                      <a:r>
                        <a:rPr lang="pt-BR" sz="1400" dirty="0" smtClean="0"/>
                        <a:t> 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C.3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Elaboração e implantação da base de erros</a:t>
                      </a:r>
                      <a:r>
                        <a:rPr lang="pt-BR" sz="1400" baseline="0" dirty="0" smtClean="0"/>
                        <a:t> conhecidos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Elaboração do fluxo de gestão da base de erros conhecidos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D.1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Elaboração do fluxo de incidentes de alto impacto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Descrição de papéis e responsabilidades</a:t>
                      </a:r>
                      <a:r>
                        <a:rPr lang="pt-BR" sz="1400" baseline="0" dirty="0" smtClean="0"/>
                        <a:t> da Gestão de Incidentes de alto impacto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Transferência de conhecimento sobre práticas adotadas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Acompanhamento de duas situações com reuniões de RCA com os envolvidos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E.1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Elaboração de indicadores de tempo de resolução de incidentes de alto-impacto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Elaboração dos indicadores de confiabilidade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F.1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Realização de reunião Kick-Off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Realização de 4 workshops conceituais com numero de participantes definido pela Contax.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F.2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Comunicação; transferência de conhecimento aos gestores da Contax (2 turmas)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Losango 3"/>
          <p:cNvSpPr>
            <a:spLocks noChangeAspect="1"/>
          </p:cNvSpPr>
          <p:nvPr/>
        </p:nvSpPr>
        <p:spPr>
          <a:xfrm>
            <a:off x="864000" y="1556792"/>
            <a:ext cx="288000" cy="144016"/>
          </a:xfrm>
          <a:prstGeom prst="diamond">
            <a:avLst/>
          </a:prstGeom>
          <a:solidFill>
            <a:srgbClr val="00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Losango 7"/>
          <p:cNvSpPr>
            <a:spLocks noChangeAspect="1"/>
          </p:cNvSpPr>
          <p:nvPr/>
        </p:nvSpPr>
        <p:spPr>
          <a:xfrm>
            <a:off x="864000" y="2060848"/>
            <a:ext cx="288000" cy="144016"/>
          </a:xfrm>
          <a:prstGeom prst="diamond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Losango 8"/>
          <p:cNvSpPr>
            <a:spLocks noChangeAspect="1"/>
          </p:cNvSpPr>
          <p:nvPr/>
        </p:nvSpPr>
        <p:spPr>
          <a:xfrm>
            <a:off x="864000" y="2395130"/>
            <a:ext cx="288000" cy="144016"/>
          </a:xfrm>
          <a:prstGeom prst="diamond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Losango 9"/>
          <p:cNvSpPr>
            <a:spLocks noChangeAspect="1"/>
          </p:cNvSpPr>
          <p:nvPr/>
        </p:nvSpPr>
        <p:spPr>
          <a:xfrm>
            <a:off x="864000" y="2600439"/>
            <a:ext cx="288000" cy="144016"/>
          </a:xfrm>
          <a:prstGeom prst="diamond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Losango 10"/>
          <p:cNvSpPr>
            <a:spLocks noChangeAspect="1"/>
          </p:cNvSpPr>
          <p:nvPr/>
        </p:nvSpPr>
        <p:spPr>
          <a:xfrm>
            <a:off x="864000" y="2805748"/>
            <a:ext cx="288000" cy="144016"/>
          </a:xfrm>
          <a:prstGeom prst="diamond">
            <a:avLst/>
          </a:prstGeom>
          <a:solidFill>
            <a:srgbClr val="00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Losango 11"/>
          <p:cNvSpPr>
            <a:spLocks noChangeAspect="1"/>
          </p:cNvSpPr>
          <p:nvPr/>
        </p:nvSpPr>
        <p:spPr>
          <a:xfrm>
            <a:off x="864000" y="3140030"/>
            <a:ext cx="288000" cy="144016"/>
          </a:xfrm>
          <a:prstGeom prst="diamond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Losango 12"/>
          <p:cNvSpPr>
            <a:spLocks noChangeAspect="1"/>
          </p:cNvSpPr>
          <p:nvPr/>
        </p:nvSpPr>
        <p:spPr>
          <a:xfrm>
            <a:off x="864000" y="3345339"/>
            <a:ext cx="288000" cy="144016"/>
          </a:xfrm>
          <a:prstGeom prst="diamond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Losango 13"/>
          <p:cNvSpPr>
            <a:spLocks noChangeAspect="1"/>
          </p:cNvSpPr>
          <p:nvPr/>
        </p:nvSpPr>
        <p:spPr>
          <a:xfrm>
            <a:off x="864000" y="3598580"/>
            <a:ext cx="288000" cy="144016"/>
          </a:xfrm>
          <a:prstGeom prst="diamond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Losango 14"/>
          <p:cNvSpPr>
            <a:spLocks noChangeAspect="1"/>
          </p:cNvSpPr>
          <p:nvPr/>
        </p:nvSpPr>
        <p:spPr>
          <a:xfrm>
            <a:off x="864000" y="3834352"/>
            <a:ext cx="288000" cy="144016"/>
          </a:xfrm>
          <a:prstGeom prst="diamond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Losango 15"/>
          <p:cNvSpPr>
            <a:spLocks noChangeAspect="1"/>
          </p:cNvSpPr>
          <p:nvPr/>
        </p:nvSpPr>
        <p:spPr>
          <a:xfrm>
            <a:off x="864000" y="4123151"/>
            <a:ext cx="288000" cy="144016"/>
          </a:xfrm>
          <a:prstGeom prst="diamond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Losango 16"/>
          <p:cNvSpPr>
            <a:spLocks noChangeAspect="1"/>
          </p:cNvSpPr>
          <p:nvPr/>
        </p:nvSpPr>
        <p:spPr>
          <a:xfrm>
            <a:off x="864000" y="4328460"/>
            <a:ext cx="288000" cy="144016"/>
          </a:xfrm>
          <a:prstGeom prst="diamond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Losango 17"/>
          <p:cNvSpPr>
            <a:spLocks noChangeAspect="1"/>
          </p:cNvSpPr>
          <p:nvPr/>
        </p:nvSpPr>
        <p:spPr>
          <a:xfrm>
            <a:off x="864000" y="4581701"/>
            <a:ext cx="288000" cy="144016"/>
          </a:xfrm>
          <a:prstGeom prst="diamond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Losango 18"/>
          <p:cNvSpPr>
            <a:spLocks noChangeAspect="1"/>
          </p:cNvSpPr>
          <p:nvPr/>
        </p:nvSpPr>
        <p:spPr>
          <a:xfrm>
            <a:off x="864000" y="4817473"/>
            <a:ext cx="288000" cy="144016"/>
          </a:xfrm>
          <a:prstGeom prst="diamond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Losango 19"/>
          <p:cNvSpPr>
            <a:spLocks noChangeAspect="1"/>
          </p:cNvSpPr>
          <p:nvPr/>
        </p:nvSpPr>
        <p:spPr>
          <a:xfrm>
            <a:off x="864000" y="6165304"/>
            <a:ext cx="288000" cy="144016"/>
          </a:xfrm>
          <a:prstGeom prst="diamond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Losango 20"/>
          <p:cNvSpPr>
            <a:spLocks noChangeAspect="1"/>
          </p:cNvSpPr>
          <p:nvPr/>
        </p:nvSpPr>
        <p:spPr>
          <a:xfrm>
            <a:off x="864000" y="5072494"/>
            <a:ext cx="288000" cy="144016"/>
          </a:xfrm>
          <a:prstGeom prst="diamond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Losango 21"/>
          <p:cNvSpPr>
            <a:spLocks noChangeAspect="1"/>
          </p:cNvSpPr>
          <p:nvPr/>
        </p:nvSpPr>
        <p:spPr>
          <a:xfrm>
            <a:off x="864000" y="5277803"/>
            <a:ext cx="288000" cy="144016"/>
          </a:xfrm>
          <a:prstGeom prst="diamond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Losango 22"/>
          <p:cNvSpPr>
            <a:spLocks noChangeAspect="1"/>
          </p:cNvSpPr>
          <p:nvPr/>
        </p:nvSpPr>
        <p:spPr>
          <a:xfrm>
            <a:off x="864000" y="5620835"/>
            <a:ext cx="288000" cy="144016"/>
          </a:xfrm>
          <a:prstGeom prst="diamond">
            <a:avLst/>
          </a:prstGeom>
          <a:solidFill>
            <a:srgbClr val="00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Losango 23"/>
          <p:cNvSpPr>
            <a:spLocks noChangeAspect="1"/>
          </p:cNvSpPr>
          <p:nvPr/>
        </p:nvSpPr>
        <p:spPr>
          <a:xfrm>
            <a:off x="864000" y="5826144"/>
            <a:ext cx="288000" cy="144016"/>
          </a:xfrm>
          <a:prstGeom prst="diamond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272" y="6450707"/>
            <a:ext cx="936104" cy="401187"/>
          </a:xfrm>
          <a:prstGeom prst="rect">
            <a:avLst/>
          </a:prstGeom>
        </p:spPr>
      </p:pic>
      <p:grpSp>
        <p:nvGrpSpPr>
          <p:cNvPr id="2" name="Agrupar 1"/>
          <p:cNvGrpSpPr/>
          <p:nvPr/>
        </p:nvGrpSpPr>
        <p:grpSpPr>
          <a:xfrm>
            <a:off x="179512" y="6503599"/>
            <a:ext cx="4032056" cy="290006"/>
            <a:chOff x="179512" y="6503599"/>
            <a:chExt cx="4032056" cy="290006"/>
          </a:xfrm>
        </p:grpSpPr>
        <p:grpSp>
          <p:nvGrpSpPr>
            <p:cNvPr id="57" name="Grupo 56"/>
            <p:cNvGrpSpPr/>
            <p:nvPr/>
          </p:nvGrpSpPr>
          <p:grpSpPr>
            <a:xfrm>
              <a:off x="179512" y="6516606"/>
              <a:ext cx="1098097" cy="276999"/>
              <a:chOff x="1691680" y="6554596"/>
              <a:chExt cx="1098097" cy="276999"/>
            </a:xfrm>
          </p:grpSpPr>
          <p:sp>
            <p:nvSpPr>
              <p:cNvPr id="54" name="Losango 53"/>
              <p:cNvSpPr>
                <a:spLocks noChangeAspect="1"/>
              </p:cNvSpPr>
              <p:nvPr/>
            </p:nvSpPr>
            <p:spPr>
              <a:xfrm>
                <a:off x="1691680" y="6617283"/>
                <a:ext cx="288000" cy="144016"/>
              </a:xfrm>
              <a:prstGeom prst="diamond">
                <a:avLst/>
              </a:prstGeom>
              <a:solidFill>
                <a:srgbClr val="00FF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6" name="CaixaDeTexto 55"/>
              <p:cNvSpPr txBox="1"/>
              <p:nvPr/>
            </p:nvSpPr>
            <p:spPr>
              <a:xfrm>
                <a:off x="1946276" y="6554596"/>
                <a:ext cx="8435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pt-BR" sz="1200" b="0" i="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ahoma"/>
                    <a:cs typeface="Tahoma"/>
                  </a:rPr>
                  <a:t>Concluído</a:t>
                </a:r>
              </a:p>
            </p:txBody>
          </p:sp>
        </p:grpSp>
        <p:grpSp>
          <p:nvGrpSpPr>
            <p:cNvPr id="62" name="Grupo 61"/>
            <p:cNvGrpSpPr/>
            <p:nvPr/>
          </p:nvGrpSpPr>
          <p:grpSpPr>
            <a:xfrm>
              <a:off x="1405905" y="6514320"/>
              <a:ext cx="1508206" cy="276999"/>
              <a:chOff x="3311876" y="6552957"/>
              <a:chExt cx="1508206" cy="276999"/>
            </a:xfrm>
          </p:grpSpPr>
          <p:sp>
            <p:nvSpPr>
              <p:cNvPr id="55" name="Losango 54"/>
              <p:cNvSpPr>
                <a:spLocks noChangeAspect="1"/>
              </p:cNvSpPr>
              <p:nvPr/>
            </p:nvSpPr>
            <p:spPr>
              <a:xfrm>
                <a:off x="3311876" y="6644457"/>
                <a:ext cx="288000" cy="116842"/>
              </a:xfrm>
              <a:prstGeom prst="diamond">
                <a:avLst/>
              </a:prstGeom>
              <a:solidFill>
                <a:srgbClr val="FFFF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9" name="CaixaDeTexto 58"/>
              <p:cNvSpPr txBox="1"/>
              <p:nvPr/>
            </p:nvSpPr>
            <p:spPr>
              <a:xfrm>
                <a:off x="3606288" y="6552957"/>
                <a:ext cx="12137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pt-BR" sz="1200" b="0" i="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ahoma"/>
                    <a:cs typeface="Tahoma"/>
                  </a:rPr>
                  <a:t>Em andamento</a:t>
                </a:r>
              </a:p>
            </p:txBody>
          </p:sp>
        </p:grpSp>
        <p:grpSp>
          <p:nvGrpSpPr>
            <p:cNvPr id="63" name="Grupo 62"/>
            <p:cNvGrpSpPr/>
            <p:nvPr/>
          </p:nvGrpSpPr>
          <p:grpSpPr>
            <a:xfrm>
              <a:off x="2900970" y="6503599"/>
              <a:ext cx="1310598" cy="276999"/>
              <a:chOff x="5220072" y="6538731"/>
              <a:chExt cx="1310598" cy="276999"/>
            </a:xfrm>
          </p:grpSpPr>
          <p:sp>
            <p:nvSpPr>
              <p:cNvPr id="53" name="Losango 52"/>
              <p:cNvSpPr>
                <a:spLocks noChangeAspect="1"/>
              </p:cNvSpPr>
              <p:nvPr/>
            </p:nvSpPr>
            <p:spPr>
              <a:xfrm>
                <a:off x="5220072" y="6605223"/>
                <a:ext cx="288000" cy="144016"/>
              </a:xfrm>
              <a:prstGeom prst="diamond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61" name="CaixaDeTexto 60"/>
              <p:cNvSpPr txBox="1"/>
              <p:nvPr/>
            </p:nvSpPr>
            <p:spPr>
              <a:xfrm>
                <a:off x="5520457" y="6538731"/>
                <a:ext cx="10102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pt-BR" sz="1200" b="0" i="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ahoma"/>
                    <a:cs typeface="Tahoma"/>
                  </a:rPr>
                  <a:t>Não iniciado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" y="1699200"/>
            <a:ext cx="2304000" cy="1584557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2382407" y="1412776"/>
            <a:ext cx="56753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pt-BR" sz="24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R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pt-BR" sz="8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1085803" lvl="2" indent="-171450" algn="just" defTabSz="457200">
              <a:buFont typeface="Arial" panose="020B0604020202020204" pitchFamily="34" charset="0"/>
              <a:buChar char="•"/>
            </a:pPr>
            <a:r>
              <a:rPr lang="pt-BR" sz="24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PDCA;</a:t>
            </a:r>
          </a:p>
          <a:p>
            <a:pPr marL="1085803" lvl="2" indent="-171450" algn="just" defTabSz="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5W2H;</a:t>
            </a:r>
          </a:p>
          <a:p>
            <a:pPr marL="1085803" lvl="2" indent="-171450" algn="just" defTabSz="457200">
              <a:buFont typeface="Arial" panose="020B0604020202020204" pitchFamily="34" charset="0"/>
              <a:buChar char="•"/>
            </a:pPr>
            <a:r>
              <a:rPr lang="pt-BR" sz="24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Quick</a:t>
            </a:r>
            <a:r>
              <a:rPr lang="pt-BR" sz="24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Meetings;</a:t>
            </a:r>
          </a:p>
          <a:p>
            <a:pPr marL="1085803" lvl="2" indent="-171450" algn="just" defTabSz="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Plano de ação caso-a-caso.</a:t>
            </a:r>
            <a:endParaRPr lang="pt-BR" sz="24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237312"/>
            <a:ext cx="936104" cy="401187"/>
          </a:xfrm>
          <a:prstGeom prst="rect">
            <a:avLst/>
          </a:prstGeom>
        </p:spPr>
      </p:pic>
      <p:sp>
        <p:nvSpPr>
          <p:cNvPr id="9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Métodos</a:t>
            </a:r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adotados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37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7" y="1700808"/>
            <a:ext cx="2304256" cy="1728192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73" y="6237312"/>
            <a:ext cx="936104" cy="401187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1259632" y="1048662"/>
            <a:ext cx="7488832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5803" lvl="2" indent="-171450" algn="just" defTabSz="457200">
              <a:buFont typeface="Arial" panose="020B0604020202020204" pitchFamily="34" charset="0"/>
              <a:buChar char="•"/>
            </a:pPr>
            <a:r>
              <a:rPr lang="pt-BR" sz="19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Divulgação do método (PDCA, 5W2H) às áreas da Contax;</a:t>
            </a:r>
          </a:p>
          <a:p>
            <a:pPr marL="1085803" lvl="2" indent="-171450" algn="just" defTabSz="457200">
              <a:buFont typeface="Arial" panose="020B0604020202020204" pitchFamily="34" charset="0"/>
              <a:buChar char="•"/>
            </a:pPr>
            <a:r>
              <a:rPr lang="pt-BR" sz="1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Apresentação do conceito de classificação de incidentes orientada ao serviço;</a:t>
            </a:r>
          </a:p>
          <a:p>
            <a:pPr marL="1085803" lvl="2" indent="-171450" algn="just" defTabSz="457200">
              <a:buFont typeface="Arial" panose="020B0604020202020204" pitchFamily="34" charset="0"/>
              <a:buChar char="•"/>
            </a:pPr>
            <a:r>
              <a:rPr lang="pt-BR" sz="1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Levantamento de Incidentes por data/status;</a:t>
            </a:r>
            <a:endParaRPr lang="pt-BR" sz="19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1085803" lvl="2" indent="-171450" algn="just" defTabSz="457200">
              <a:buFont typeface="Arial" panose="020B0604020202020204" pitchFamily="34" charset="0"/>
              <a:buChar char="•"/>
            </a:pPr>
            <a:r>
              <a:rPr lang="pt-BR" sz="1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Identificação dos Clientes mais importantes:</a:t>
            </a:r>
          </a:p>
          <a:p>
            <a:pPr marL="1542980" lvl="3" indent="-171450" algn="just" defTabSz="457200">
              <a:buFont typeface="Arial" panose="020B0604020202020204" pitchFamily="34" charset="0"/>
              <a:buChar char="•"/>
            </a:pPr>
            <a:r>
              <a:rPr lang="pt-BR" sz="19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Banco Santander;</a:t>
            </a:r>
            <a:endParaRPr lang="pt-BR" sz="190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1542980" lvl="3" indent="-171450" algn="just" defTabSz="457200">
              <a:buFont typeface="Arial" panose="020B0604020202020204" pitchFamily="34" charset="0"/>
              <a:buChar char="•"/>
            </a:pPr>
            <a:r>
              <a:rPr lang="pt-BR" sz="19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Banco Bradesco;</a:t>
            </a:r>
          </a:p>
          <a:p>
            <a:pPr marL="1542980" lvl="3" indent="-171450" algn="just" defTabSz="457200">
              <a:buFont typeface="Arial" panose="020B0604020202020204" pitchFamily="34" charset="0"/>
              <a:buChar char="•"/>
            </a:pPr>
            <a:r>
              <a:rPr lang="pt-BR" sz="19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Cielo</a:t>
            </a:r>
            <a:r>
              <a:rPr lang="pt-BR" sz="1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; e</a:t>
            </a:r>
          </a:p>
          <a:p>
            <a:pPr marL="1542980" lvl="3" indent="-171450" algn="just" defTabSz="457200">
              <a:buFont typeface="Arial" panose="020B0604020202020204" pitchFamily="34" charset="0"/>
              <a:buChar char="•"/>
            </a:pPr>
            <a:r>
              <a:rPr lang="pt-BR" sz="19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  <a:hlinkClick r:id="rId4"/>
              </a:rPr>
              <a:t>Clientes Especiais</a:t>
            </a:r>
            <a:r>
              <a:rPr lang="pt-BR" sz="19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.</a:t>
            </a:r>
          </a:p>
          <a:p>
            <a:pPr marL="1085803" lvl="2" indent="-171450" algn="just" defTabSz="457200">
              <a:buFont typeface="Arial" panose="020B0604020202020204" pitchFamily="34" charset="0"/>
              <a:buChar char="•"/>
            </a:pPr>
            <a:r>
              <a:rPr lang="pt-BR" sz="1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Identificação dos serviços/aplicações críticos:</a:t>
            </a:r>
          </a:p>
          <a:p>
            <a:pPr marL="1542980" lvl="3" indent="-171450" algn="just" defTabSz="457200">
              <a:buFont typeface="Arial" panose="020B0604020202020204" pitchFamily="34" charset="0"/>
              <a:buChar char="•"/>
            </a:pPr>
            <a:r>
              <a:rPr lang="pt-BR" sz="19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Front Fácil;</a:t>
            </a:r>
          </a:p>
          <a:p>
            <a:pPr marL="1542980" lvl="3" indent="-171450" algn="just" defTabSz="457200">
              <a:buFont typeface="Arial" panose="020B0604020202020204" pitchFamily="34" charset="0"/>
              <a:buChar char="•"/>
            </a:pPr>
            <a:r>
              <a:rPr lang="pt-BR" sz="1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URA</a:t>
            </a:r>
            <a:r>
              <a:rPr lang="pt-BR" sz="1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;</a:t>
            </a:r>
          </a:p>
          <a:p>
            <a:pPr marL="1542980" lvl="3" indent="-171450" algn="just" defTabSz="457200">
              <a:buFont typeface="Arial" panose="020B0604020202020204" pitchFamily="34" charset="0"/>
              <a:buChar char="•"/>
            </a:pPr>
            <a:r>
              <a:rPr lang="pt-BR" sz="19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Gravadores</a:t>
            </a:r>
            <a:endParaRPr lang="pt-BR" sz="19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1542980" lvl="3" indent="-171450" algn="just" defTabSz="457200">
              <a:buFont typeface="Arial" panose="020B0604020202020204" pitchFamily="34" charset="0"/>
              <a:buChar char="•"/>
            </a:pPr>
            <a:r>
              <a:rPr lang="pt-BR" sz="1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JIRA BO Anatel;</a:t>
            </a:r>
          </a:p>
          <a:p>
            <a:pPr marL="1542980" lvl="3" indent="-171450" algn="just" defTabSz="457200">
              <a:buFont typeface="Arial" panose="020B0604020202020204" pitchFamily="34" charset="0"/>
              <a:buChar char="•"/>
            </a:pPr>
            <a:r>
              <a:rPr lang="pt-BR" sz="19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tClock</a:t>
            </a:r>
            <a:r>
              <a:rPr lang="pt-BR" sz="19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e </a:t>
            </a:r>
            <a:r>
              <a:rPr lang="pt-BR" sz="19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tControl</a:t>
            </a:r>
            <a:r>
              <a:rPr lang="pt-BR" sz="19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; e</a:t>
            </a:r>
          </a:p>
          <a:p>
            <a:pPr marL="1542980" lvl="3" indent="-171450" algn="just" defTabSz="457200">
              <a:buFont typeface="Arial" panose="020B0604020202020204" pitchFamily="34" charset="0"/>
              <a:buChar char="•"/>
            </a:pPr>
            <a:r>
              <a:rPr lang="pt-BR" sz="1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Televendas</a:t>
            </a:r>
            <a:r>
              <a:rPr lang="pt-BR" sz="1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.</a:t>
            </a:r>
            <a:endParaRPr lang="pt-BR" sz="19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Ações</a:t>
            </a:r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realizadas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40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" y="1699200"/>
            <a:ext cx="2111635" cy="2448272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1259632" y="1268760"/>
            <a:ext cx="748613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5803" lvl="2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Apuração do SLA visão Cliente:</a:t>
            </a:r>
          </a:p>
          <a:p>
            <a:pPr marL="2000156" lvl="4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Responsabilidade Fornecedor;</a:t>
            </a:r>
          </a:p>
          <a:p>
            <a:pPr marL="2000156" lvl="4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Responsabilidade TI Contax; e</a:t>
            </a:r>
          </a:p>
          <a:p>
            <a:pPr marL="2000156" lvl="4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Pendências externas.</a:t>
            </a:r>
            <a:endParaRPr lang="pt-BR" sz="24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1085803" lvl="2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Revisão dos critérios para “Alto Impacto”.</a:t>
            </a:r>
          </a:p>
          <a:p>
            <a:pPr marL="1085803" lvl="2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Análise da documentação do processo de problemas.</a:t>
            </a:r>
            <a:endParaRPr lang="pt-BR" sz="24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1085803" lvl="2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Análise da base completa do </a:t>
            </a:r>
            <a:r>
              <a:rPr lang="pt-BR" sz="2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tProcess</a:t>
            </a: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para saneamento do </a:t>
            </a:r>
            <a:r>
              <a:rPr lang="pt-BR" sz="24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backlog</a:t>
            </a: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(Manter somente 3 meses).</a:t>
            </a:r>
            <a:endParaRPr lang="pt-BR" sz="24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12" y="6309320"/>
            <a:ext cx="936104" cy="401187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Ações</a:t>
            </a:r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em</a:t>
            </a:r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andamento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7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1692000"/>
            <a:ext cx="2318179" cy="172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1079104" y="1196752"/>
            <a:ext cx="806489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5803" lvl="2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Entender o funcionamento da divulgação de informações sobre processos da empresa em função do desnivelamento de conhecimento.</a:t>
            </a:r>
          </a:p>
          <a:p>
            <a:pPr marL="1085803" lvl="2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Buscar entendimento dos contratos de apoio na garantia do SLA.</a:t>
            </a:r>
          </a:p>
          <a:p>
            <a:pPr marL="1085803" lvl="2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Avaliar a possibilidade de adequação nas telas de abertura de incidentes no </a:t>
            </a:r>
            <a:r>
              <a:rPr lang="pt-BR" sz="2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tProcess</a:t>
            </a: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.</a:t>
            </a:r>
          </a:p>
          <a:p>
            <a:pPr marL="1085803" lvl="2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Analisar a documentação do processo de problemas.</a:t>
            </a:r>
            <a:endParaRPr lang="pt-BR" sz="24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1085803" lvl="2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Reunião de análise RCA com o time de aplicações na Alameda Santos.</a:t>
            </a:r>
            <a:endParaRPr lang="pt-BR" sz="24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34" y="6275700"/>
            <a:ext cx="936104" cy="401187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Próximos</a:t>
            </a:r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passos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47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340768"/>
            <a:ext cx="2304000" cy="230400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1547664" y="3501008"/>
            <a:ext cx="759633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5803" lvl="2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Participação nas reuniões diárias mais efetiva.</a:t>
            </a:r>
          </a:p>
          <a:p>
            <a:pPr marL="1085803" lvl="2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Condicionar o compromisso de SLA com SLO.</a:t>
            </a:r>
          </a:p>
          <a:p>
            <a:pPr marL="1085803" lvl="2" indent="-171450" algn="just" defTabSz="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Preenchimento dos chamados sem cuidados junto aos critérios de qualidade.</a:t>
            </a:r>
            <a:endParaRPr lang="pt-BR" sz="24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34" y="6309320"/>
            <a:ext cx="936104" cy="401187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Ponto de </a:t>
            </a:r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atenção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18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1"/>
          </p:nvPr>
        </p:nvSpPr>
        <p:spPr>
          <a:xfrm>
            <a:off x="3128599" y="2623712"/>
            <a:ext cx="2434001" cy="805288"/>
          </a:xfrm>
        </p:spPr>
        <p:txBody>
          <a:bodyPr/>
          <a:lstStyle/>
          <a:p>
            <a:r>
              <a:rPr lang="pt-BR" sz="3200" b="1" i="1" dirty="0"/>
              <a:t>Obrigado!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42391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0" marR="0" indent="0" algn="just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200" b="0" i="0" dirty="0" err="1" smtClean="0">
            <a:solidFill>
              <a:schemeClr val="tx1">
                <a:lumMod val="50000"/>
                <a:lumOff val="50000"/>
              </a:schemeClr>
            </a:solidFill>
            <a:latin typeface="Tahoma"/>
            <a:cs typeface="Tahom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0" marR="0" indent="0" algn="just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200" b="0" i="0" dirty="0" err="1" smtClean="0">
            <a:solidFill>
              <a:schemeClr val="tx1">
                <a:lumMod val="50000"/>
                <a:lumOff val="50000"/>
              </a:schemeClr>
            </a:solidFill>
            <a:latin typeface="Tahoma"/>
            <a:cs typeface="Tahom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20814</TotalTime>
  <Words>427</Words>
  <Application>Microsoft Office PowerPoint</Application>
  <PresentationFormat>Apresentação na tela (4:3)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8</vt:i4>
      </vt:variant>
    </vt:vector>
  </HeadingPairs>
  <TitlesOfParts>
    <vt:vector size="17" baseType="lpstr">
      <vt:lpstr>Arial</vt:lpstr>
      <vt:lpstr>Calibri</vt:lpstr>
      <vt:lpstr>Century Gothic</vt:lpstr>
      <vt:lpstr>Gill Sans</vt:lpstr>
      <vt:lpstr>Tahoma</vt:lpstr>
      <vt:lpstr>Verdana</vt:lpstr>
      <vt:lpstr>Office Theme</vt:lpstr>
      <vt:lpstr>6_Custom Design</vt:lpstr>
      <vt:lpstr>Custom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Rita FRangella</dc:creator>
  <cp:lastModifiedBy>Felipe Lima</cp:lastModifiedBy>
  <cp:revision>1551</cp:revision>
  <dcterms:created xsi:type="dcterms:W3CDTF">2013-08-07T07:52:57Z</dcterms:created>
  <dcterms:modified xsi:type="dcterms:W3CDTF">2015-09-14T20:22:21Z</dcterms:modified>
</cp:coreProperties>
</file>