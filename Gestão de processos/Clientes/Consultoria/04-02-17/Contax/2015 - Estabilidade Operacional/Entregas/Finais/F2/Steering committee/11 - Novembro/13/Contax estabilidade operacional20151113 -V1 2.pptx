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20"/>
  </p:notesMasterIdLst>
  <p:sldIdLst>
    <p:sldId id="262" r:id="rId5"/>
    <p:sldId id="265" r:id="rId6"/>
    <p:sldId id="383" r:id="rId7"/>
    <p:sldId id="388" r:id="rId8"/>
    <p:sldId id="384" r:id="rId9"/>
    <p:sldId id="387" r:id="rId10"/>
    <p:sldId id="308" r:id="rId11"/>
    <p:sldId id="376" r:id="rId12"/>
    <p:sldId id="279" r:id="rId13"/>
    <p:sldId id="377" r:id="rId14"/>
    <p:sldId id="385" r:id="rId15"/>
    <p:sldId id="390" r:id="rId16"/>
    <p:sldId id="391" r:id="rId17"/>
    <p:sldId id="389" r:id="rId18"/>
    <p:sldId id="386" r:id="rId19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1785" autoAdjust="0"/>
  </p:normalViewPr>
  <p:slideViewPr>
    <p:cSldViewPr snapToGrid="0" snapToObjects="1">
      <p:cViewPr varScale="1">
        <p:scale>
          <a:sx n="85" d="100"/>
          <a:sy n="85" d="100"/>
        </p:scale>
        <p:origin x="156" y="60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5_2" csCatId="accent5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AA9C27-7F7C-4B09-BCED-BF508BC90DA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B80EB7-16FD-418E-AF0C-2BF1C0C7FE32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1C05C0-DF08-41CA-87BF-EA4C8DAA6B3B}" type="par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4C37AC-FEB2-4A69-B30F-99BE4C61569B}" type="sib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182E98-898D-46FE-816D-BAEE8C389F03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866E21-1CCC-4ACA-9F28-65F796FDC9EB}" type="par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2B7821-13C7-4559-9FC4-B71D04FE4013}" type="sib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7026BC-3573-4253-96B7-1B1E721FF627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BB01550-4EFF-4722-B6BA-70B13FD52561}" type="parTrans" cxnId="{AB7A0E9E-5187-4B70-AC10-15A723AF9A67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5139FB-7002-4BB7-AC70-39C906B2AF70}" type="sibTrans" cxnId="{AB7A0E9E-5187-4B70-AC10-15A723AF9A67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8AF153-E2D2-4B6E-A8E0-8A49622A86F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Abr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5436196-2CD2-4E5B-9A74-14DFB4DB25FE}" type="parTrans" cxnId="{E8325EA0-80EA-4AAF-A927-53B94BE2297B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C8A3994-7E6D-4CD2-9CDB-816B8919B692}" type="sibTrans" cxnId="{E8325EA0-80EA-4AAF-A927-53B94BE2297B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9AA6A69-93F1-46F0-BD4D-01AD6E659BB4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Mai/16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93EB1BA-9441-4CCD-BBC8-2F2C0EF31C99}" type="parTrans" cxnId="{11F282CE-8B20-41DB-B3D2-BBDEB225E6EE}">
      <dgm:prSet/>
      <dgm:spPr/>
      <dgm:t>
        <a:bodyPr/>
        <a:lstStyle/>
        <a:p>
          <a:endParaRPr lang="pt-BR"/>
        </a:p>
      </dgm:t>
    </dgm:pt>
    <dgm:pt modelId="{7608C961-E789-4C07-9145-7D22B6E42ED2}" type="sibTrans" cxnId="{11F282CE-8B20-41DB-B3D2-BBDEB225E6EE}">
      <dgm:prSet/>
      <dgm:spPr/>
      <dgm:t>
        <a:bodyPr/>
        <a:lstStyle/>
        <a:p>
          <a:endParaRPr lang="pt-BR"/>
        </a:p>
      </dgm:t>
    </dgm:pt>
    <dgm:pt modelId="{9DD43642-6DC5-4CF5-9986-EAE7915422DE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Jun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444D45A-FD0E-40D8-97A6-737E56910C15}" type="parTrans" cxnId="{D5ED4FA5-0C5E-4B52-A693-C5DA64E77BE2}">
      <dgm:prSet/>
      <dgm:spPr/>
      <dgm:t>
        <a:bodyPr/>
        <a:lstStyle/>
        <a:p>
          <a:endParaRPr lang="pt-BR"/>
        </a:p>
      </dgm:t>
    </dgm:pt>
    <dgm:pt modelId="{61EC2C73-63D2-4522-8587-CB1116CCD9BD}" type="sibTrans" cxnId="{D5ED4FA5-0C5E-4B52-A693-C5DA64E77BE2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9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1" presStyleCnt="9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2" presStyleCnt="9" custLinFactNeighborX="2369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C99C8F2-65DF-4C12-857E-4F33C6E8489F}" type="pres">
      <dgm:prSet presAssocID="{FF9A7E47-6DB7-4299-8C3E-F8DCB12443C4}" presName="parTxOnlySpace" presStyleCnt="0"/>
      <dgm:spPr/>
    </dgm:pt>
    <dgm:pt modelId="{0ED638A2-2731-4F05-8F97-E0DD76FAC114}" type="pres">
      <dgm:prSet presAssocID="{03B80EB7-16FD-418E-AF0C-2BF1C0C7FE32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9AE5EF3-D127-4590-BDDB-0BFF6AC94396}" type="pres">
      <dgm:prSet presAssocID="{584C37AC-FEB2-4A69-B30F-99BE4C61569B}" presName="parTxOnlySpace" presStyleCnt="0"/>
      <dgm:spPr/>
    </dgm:pt>
    <dgm:pt modelId="{EFD92505-8603-47C2-A19C-2CA82EDD2289}" type="pres">
      <dgm:prSet presAssocID="{27182E98-898D-46FE-816D-BAEE8C389F03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D9EC18A-334E-41D2-9605-0A1D12C9A2B5}" type="pres">
      <dgm:prSet presAssocID="{382B7821-13C7-4559-9FC4-B71D04FE4013}" presName="parTxOnlySpace" presStyleCnt="0"/>
      <dgm:spPr/>
    </dgm:pt>
    <dgm:pt modelId="{57433A0F-913A-41A6-8D5F-149E6F3EA683}" type="pres">
      <dgm:prSet presAssocID="{6B7026BC-3573-4253-96B7-1B1E721FF627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FBB70ED-6C80-456E-B0A2-AE7563370D9F}" type="pres">
      <dgm:prSet presAssocID="{425139FB-7002-4BB7-AC70-39C906B2AF70}" presName="parTxOnlySpace" presStyleCnt="0"/>
      <dgm:spPr/>
    </dgm:pt>
    <dgm:pt modelId="{0B36DB43-ED41-4399-ADB5-E63CE34A9DFE}" type="pres">
      <dgm:prSet presAssocID="{498AF153-E2D2-4B6E-A8E0-8A49622A86F9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DEE8ED-198F-4612-B329-CA0C0CB6F26A}" type="pres">
      <dgm:prSet presAssocID="{CC8A3994-7E6D-4CD2-9CDB-816B8919B692}" presName="parTxOnlySpace" presStyleCnt="0"/>
      <dgm:spPr/>
    </dgm:pt>
    <dgm:pt modelId="{8B186F95-46D3-40E9-A5D2-B2C191AAB134}" type="pres">
      <dgm:prSet presAssocID="{89AA6A69-93F1-46F0-BD4D-01AD6E659BB4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979CB43-7BE6-4248-B574-030DEE194DD3}" type="pres">
      <dgm:prSet presAssocID="{7608C961-E789-4C07-9145-7D22B6E42ED2}" presName="parTxOnlySpace" presStyleCnt="0"/>
      <dgm:spPr/>
    </dgm:pt>
    <dgm:pt modelId="{11A1877D-E7F1-4429-8D53-C9DA0D6E81FD}" type="pres">
      <dgm:prSet presAssocID="{9DD43642-6DC5-4CF5-9986-EAE7915422DE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10DEC0B9-456D-41E9-A213-AC8669B523F3}" type="presOf" srcId="{27182E98-898D-46FE-816D-BAEE8C389F03}" destId="{EFD92505-8603-47C2-A19C-2CA82EDD2289}" srcOrd="0" destOrd="0" presId="urn:microsoft.com/office/officeart/2005/8/layout/chevron1"/>
    <dgm:cxn modelId="{11F282CE-8B20-41DB-B3D2-BBDEB225E6EE}" srcId="{BBBD8EEE-5EAC-4ACB-A5CB-4EC11AF34169}" destId="{89AA6A69-93F1-46F0-BD4D-01AD6E659BB4}" srcOrd="7" destOrd="0" parTransId="{E93EB1BA-9441-4CCD-BBC8-2F2C0EF31C99}" sibTransId="{7608C961-E789-4C07-9145-7D22B6E42ED2}"/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2DE77799-2E6F-4ACC-961D-1DE286DA4FAA}" type="presOf" srcId="{9DD43642-6DC5-4CF5-9986-EAE7915422DE}" destId="{11A1877D-E7F1-4429-8D53-C9DA0D6E81FD}" srcOrd="0" destOrd="0" presId="urn:microsoft.com/office/officeart/2005/8/layout/chevron1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5F6EF1D6-2FDB-43B5-8252-9473A351CD62}" srcId="{BBBD8EEE-5EAC-4ACB-A5CB-4EC11AF34169}" destId="{A515B516-91D9-41CB-A66B-834065F259B9}" srcOrd="1" destOrd="0" parTransId="{ADFE67F8-D8A1-4A32-9A16-59A09CBF1EA2}" sibTransId="{D69DF602-E0FB-48B6-97F6-1EE3CC37A411}"/>
    <dgm:cxn modelId="{91FC46E3-CAF4-4F32-A898-C25B53CA7D96}" type="presOf" srcId="{03B80EB7-16FD-418E-AF0C-2BF1C0C7FE32}" destId="{0ED638A2-2731-4F05-8F97-E0DD76FAC114}" srcOrd="0" destOrd="0" presId="urn:microsoft.com/office/officeart/2005/8/layout/chevron1"/>
    <dgm:cxn modelId="{14BAF40C-8D04-4D1E-B7D9-9A5E976CE7FF}" srcId="{BBBD8EEE-5EAC-4ACB-A5CB-4EC11AF34169}" destId="{27182E98-898D-46FE-816D-BAEE8C389F03}" srcOrd="4" destOrd="0" parTransId="{D4866E21-1CCC-4ACA-9F28-65F796FDC9EB}" sibTransId="{382B7821-13C7-4559-9FC4-B71D04FE4013}"/>
    <dgm:cxn modelId="{AB7A0E9E-5187-4B70-AC10-15A723AF9A67}" srcId="{BBBD8EEE-5EAC-4ACB-A5CB-4EC11AF34169}" destId="{6B7026BC-3573-4253-96B7-1B1E721FF627}" srcOrd="5" destOrd="0" parTransId="{8BB01550-4EFF-4722-B6BA-70B13FD52561}" sibTransId="{425139FB-7002-4BB7-AC70-39C906B2AF70}"/>
    <dgm:cxn modelId="{D5ED4FA5-0C5E-4B52-A693-C5DA64E77BE2}" srcId="{BBBD8EEE-5EAC-4ACB-A5CB-4EC11AF34169}" destId="{9DD43642-6DC5-4CF5-9986-EAE7915422DE}" srcOrd="8" destOrd="0" parTransId="{9444D45A-FD0E-40D8-97A6-737E56910C15}" sibTransId="{61EC2C73-63D2-4522-8587-CB1116CCD9BD}"/>
    <dgm:cxn modelId="{96808FBD-6D1A-4E6E-AD51-4409DBCC115C}" srcId="{BBBD8EEE-5EAC-4ACB-A5CB-4EC11AF34169}" destId="{03B80EB7-16FD-418E-AF0C-2BF1C0C7FE32}" srcOrd="3" destOrd="0" parTransId="{931C05C0-DF08-41CA-87BF-EA4C8DAA6B3B}" sibTransId="{584C37AC-FEB2-4A69-B30F-99BE4C61569B}"/>
    <dgm:cxn modelId="{0D74E0A5-4D2E-45C2-BA76-A91B586AA026}" type="presOf" srcId="{6B7026BC-3573-4253-96B7-1B1E721FF627}" destId="{57433A0F-913A-41A6-8D5F-149E6F3EA683}" srcOrd="0" destOrd="0" presId="urn:microsoft.com/office/officeart/2005/8/layout/chevron1"/>
    <dgm:cxn modelId="{E8325EA0-80EA-4AAF-A927-53B94BE2297B}" srcId="{BBBD8EEE-5EAC-4ACB-A5CB-4EC11AF34169}" destId="{498AF153-E2D2-4B6E-A8E0-8A49622A86F9}" srcOrd="6" destOrd="0" parTransId="{D5436196-2CD2-4E5B-9A74-14DFB4DB25FE}" sibTransId="{CC8A3994-7E6D-4CD2-9CDB-816B8919B692}"/>
    <dgm:cxn modelId="{EAB4B52D-5F99-4DEA-8754-7EB463DC9904}" type="presOf" srcId="{498AF153-E2D2-4B6E-A8E0-8A49622A86F9}" destId="{0B36DB43-ED41-4399-ADB5-E63CE34A9DFE}" srcOrd="0" destOrd="0" presId="urn:microsoft.com/office/officeart/2005/8/layout/chevron1"/>
    <dgm:cxn modelId="{001D692D-028F-44FD-9898-3146D4F49845}" srcId="{BBBD8EEE-5EAC-4ACB-A5CB-4EC11AF34169}" destId="{57AA9C27-7F7C-4B09-BCED-BF508BC90DA5}" srcOrd="2" destOrd="0" parTransId="{236DD897-94E3-49E1-A1C2-9C7342CFE3CB}" sibTransId="{FF9A7E47-6DB7-4299-8C3E-F8DCB12443C4}"/>
    <dgm:cxn modelId="{E1BF4C15-E41E-4F2D-8F00-83507F1D60B2}" type="presOf" srcId="{89AA6A69-93F1-46F0-BD4D-01AD6E659BB4}" destId="{8B186F95-46D3-40E9-A5D2-B2C191AAB134}" srcOrd="0" destOrd="0" presId="urn:microsoft.com/office/officeart/2005/8/layout/chevron1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E08A8142-75FF-4F46-8D8A-9718CE4F28D7}" type="presParOf" srcId="{F6290B4D-2087-4FCD-891E-E9D7206508DB}" destId="{C5376FE0-79CA-4533-AF28-F8315D09F747}" srcOrd="2" destOrd="0" presId="urn:microsoft.com/office/officeart/2005/8/layout/chevron1"/>
    <dgm:cxn modelId="{8310A572-2292-4991-8E7D-A2A09E78270B}" type="presParOf" srcId="{F6290B4D-2087-4FCD-891E-E9D7206508DB}" destId="{0CEBBDC0-98C9-4B2A-9CED-5552CB570245}" srcOrd="3" destOrd="0" presId="urn:microsoft.com/office/officeart/2005/8/layout/chevron1"/>
    <dgm:cxn modelId="{71CAEFAB-6C51-4453-9234-6D3331B10F58}" type="presParOf" srcId="{F6290B4D-2087-4FCD-891E-E9D7206508DB}" destId="{C4706F8D-485C-4F91-8A83-AAA10BBD4814}" srcOrd="4" destOrd="0" presId="urn:microsoft.com/office/officeart/2005/8/layout/chevron1"/>
    <dgm:cxn modelId="{EA6389DA-235D-4465-919D-BE8933D52EB5}" type="presParOf" srcId="{F6290B4D-2087-4FCD-891E-E9D7206508DB}" destId="{EC99C8F2-65DF-4C12-857E-4F33C6E8489F}" srcOrd="5" destOrd="0" presId="urn:microsoft.com/office/officeart/2005/8/layout/chevron1"/>
    <dgm:cxn modelId="{4F26CEC4-1018-4374-82B7-2CB32DC8FFA0}" type="presParOf" srcId="{F6290B4D-2087-4FCD-891E-E9D7206508DB}" destId="{0ED638A2-2731-4F05-8F97-E0DD76FAC114}" srcOrd="6" destOrd="0" presId="urn:microsoft.com/office/officeart/2005/8/layout/chevron1"/>
    <dgm:cxn modelId="{662BA831-297A-432D-9403-BCC6EC89597A}" type="presParOf" srcId="{F6290B4D-2087-4FCD-891E-E9D7206508DB}" destId="{C9AE5EF3-D127-4590-BDDB-0BFF6AC94396}" srcOrd="7" destOrd="0" presId="urn:microsoft.com/office/officeart/2005/8/layout/chevron1"/>
    <dgm:cxn modelId="{04808758-DDA7-4F99-8269-8E351080B0FD}" type="presParOf" srcId="{F6290B4D-2087-4FCD-891E-E9D7206508DB}" destId="{EFD92505-8603-47C2-A19C-2CA82EDD2289}" srcOrd="8" destOrd="0" presId="urn:microsoft.com/office/officeart/2005/8/layout/chevron1"/>
    <dgm:cxn modelId="{6D184710-8096-444A-8AFC-063A0F7C92CA}" type="presParOf" srcId="{F6290B4D-2087-4FCD-891E-E9D7206508DB}" destId="{5D9EC18A-334E-41D2-9605-0A1D12C9A2B5}" srcOrd="9" destOrd="0" presId="urn:microsoft.com/office/officeart/2005/8/layout/chevron1"/>
    <dgm:cxn modelId="{C59BD991-C758-4196-A7FA-9F61212C5DFA}" type="presParOf" srcId="{F6290B4D-2087-4FCD-891E-E9D7206508DB}" destId="{57433A0F-913A-41A6-8D5F-149E6F3EA683}" srcOrd="10" destOrd="0" presId="urn:microsoft.com/office/officeart/2005/8/layout/chevron1"/>
    <dgm:cxn modelId="{DB375AC5-9660-4551-85D3-1C92DC89CFEE}" type="presParOf" srcId="{F6290B4D-2087-4FCD-891E-E9D7206508DB}" destId="{7FBB70ED-6C80-456E-B0A2-AE7563370D9F}" srcOrd="11" destOrd="0" presId="urn:microsoft.com/office/officeart/2005/8/layout/chevron1"/>
    <dgm:cxn modelId="{F847DF4A-519F-4A79-AC3E-E0A32290487C}" type="presParOf" srcId="{F6290B4D-2087-4FCD-891E-E9D7206508DB}" destId="{0B36DB43-ED41-4399-ADB5-E63CE34A9DFE}" srcOrd="12" destOrd="0" presId="urn:microsoft.com/office/officeart/2005/8/layout/chevron1"/>
    <dgm:cxn modelId="{25711735-FB92-4CCA-902F-016363637DD4}" type="presParOf" srcId="{F6290B4D-2087-4FCD-891E-E9D7206508DB}" destId="{95DEE8ED-198F-4612-B329-CA0C0CB6F26A}" srcOrd="13" destOrd="0" presId="urn:microsoft.com/office/officeart/2005/8/layout/chevron1"/>
    <dgm:cxn modelId="{FF47C65E-2B9A-485B-BF67-9D12E50BD829}" type="presParOf" srcId="{F6290B4D-2087-4FCD-891E-E9D7206508DB}" destId="{8B186F95-46D3-40E9-A5D2-B2C191AAB134}" srcOrd="14" destOrd="0" presId="urn:microsoft.com/office/officeart/2005/8/layout/chevron1"/>
    <dgm:cxn modelId="{88989679-A72C-4ADA-A050-9FD5BE078CFB}" type="presParOf" srcId="{F6290B4D-2087-4FCD-891E-E9D7206508DB}" destId="{7979CB43-7BE6-4248-B574-030DEE194DD3}" srcOrd="15" destOrd="0" presId="urn:microsoft.com/office/officeart/2005/8/layout/chevron1"/>
    <dgm:cxn modelId="{72752BC5-5F58-4371-B2C6-97C54EB3501C}" type="presParOf" srcId="{F6290B4D-2087-4FCD-891E-E9D7206508DB}" destId="{11A1877D-E7F1-4429-8D53-C9DA0D6E81FD}" srcOrd="16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5_2" csCatId="accent5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600" b="1" dirty="0" err="1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6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9E4D5E9-0198-4F5A-B181-426FE5FEBACB}">
      <dgm:prSet phldrT="[Texto]" custT="1"/>
      <dgm:spPr/>
      <dgm:t>
        <a:bodyPr/>
        <a:lstStyle/>
        <a:p>
          <a:r>
            <a:rPr lang="pt-BR" sz="16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C1A38C-E80C-476E-8FBA-57432479DE9D}" type="parTrans" cxnId="{3E0261EB-0392-4569-9E44-0B3135DFDF50}">
      <dgm:prSet/>
      <dgm:spPr/>
      <dgm:t>
        <a:bodyPr/>
        <a:lstStyle/>
        <a:p>
          <a:endParaRPr lang="pt-BR"/>
        </a:p>
      </dgm:t>
    </dgm:pt>
    <dgm:pt modelId="{801A61BA-44A4-4BDE-9C66-B32B356A8C71}" type="sibTrans" cxnId="{3E0261EB-0392-4569-9E44-0B3135DFDF50}">
      <dgm:prSet/>
      <dgm:spPr/>
      <dgm:t>
        <a:bodyPr/>
        <a:lstStyle/>
        <a:p>
          <a:endParaRPr lang="pt-BR"/>
        </a:p>
      </dgm:t>
    </dgm:pt>
    <dgm:pt modelId="{57D6927D-B88C-4E17-91A6-8629BF67F705}">
      <dgm:prSet phldrT="[Texto]" custT="1"/>
      <dgm:spPr/>
      <dgm:t>
        <a:bodyPr/>
        <a:lstStyle/>
        <a:p>
          <a:r>
            <a: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127EC2-E771-420A-B5AA-7486E72D05D2}" type="parTrans" cxnId="{A386CF83-6AAC-4FA1-9064-D54382598C08}">
      <dgm:prSet/>
      <dgm:spPr/>
      <dgm:t>
        <a:bodyPr/>
        <a:lstStyle/>
        <a:p>
          <a:endParaRPr lang="pt-BR"/>
        </a:p>
      </dgm:t>
    </dgm:pt>
    <dgm:pt modelId="{23ADBFAA-E46F-4FCC-AFEA-73901260E650}" type="sibTrans" cxnId="{A386CF83-6AAC-4FA1-9064-D54382598C08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AFE84079-986F-42BC-8242-7E32A54D42EC}" type="pres">
      <dgm:prSet presAssocID="{B9E4D5E9-0198-4F5A-B181-426FE5FEBAC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C1CF39-ABC7-440D-9627-80865B9C51B7}" type="pres">
      <dgm:prSet presAssocID="{801A61BA-44A4-4BDE-9C66-B32B356A8C71}" presName="parTxOnlySpace" presStyleCnt="0"/>
      <dgm:spPr/>
    </dgm:pt>
    <dgm:pt modelId="{A48B9945-BB9D-4368-AFFB-CA46BE58777E}" type="pres">
      <dgm:prSet presAssocID="{57D6927D-B88C-4E17-91A6-8629BF67F705}" presName="parTxOnly" presStyleLbl="node1" presStyleIdx="1" presStyleCnt="4" custLinFactNeighborX="-916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7900CC-6EAB-4E35-9A81-12D2D776E0B7}" type="pres">
      <dgm:prSet presAssocID="{23ADBFAA-E46F-4FCC-AFEA-73901260E650}" presName="parTxOnlySpace" presStyleCnt="0"/>
      <dgm:spPr/>
    </dgm:pt>
    <dgm:pt modelId="{1F8DB603-555B-4871-8676-102FB645DCB1}" type="pres">
      <dgm:prSet presAssocID="{203F4424-6A03-46B4-AA53-F416B555D965}" presName="parTxOnly" presStyleLbl="node1" presStyleIdx="2" presStyleCnt="4" custLinFactNeighborX="90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3" presStyleCnt="4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3725F151-048F-449A-8B7C-B82C1D66F8F2}" type="presOf" srcId="{57D6927D-B88C-4E17-91A6-8629BF67F705}" destId="{A48B9945-BB9D-4368-AFFB-CA46BE58777E}" srcOrd="0" destOrd="0" presId="urn:microsoft.com/office/officeart/2005/8/layout/chevron1"/>
    <dgm:cxn modelId="{E571B03D-2328-4ACD-B4EA-4379E733E602}" srcId="{BBBD8EEE-5EAC-4ACB-A5CB-4EC11AF34169}" destId="{203F4424-6A03-46B4-AA53-F416B555D965}" srcOrd="2" destOrd="0" parTransId="{8D552DC6-4F78-4D4F-A6D8-8A2BDC4A0B4F}" sibTransId="{445F6733-BF21-4D20-9CE6-C6132B8513F4}"/>
    <dgm:cxn modelId="{5F6EF1D6-2FDB-43B5-8252-9473A351CD62}" srcId="{BBBD8EEE-5EAC-4ACB-A5CB-4EC11AF34169}" destId="{A515B516-91D9-41CB-A66B-834065F259B9}" srcOrd="3" destOrd="0" parTransId="{ADFE67F8-D8A1-4A32-9A16-59A09CBF1EA2}" sibTransId="{D69DF602-E0FB-48B6-97F6-1EE3CC37A411}"/>
    <dgm:cxn modelId="{A135EF96-503A-4800-91D4-5BD6C1EAEE14}" type="presOf" srcId="{A515B516-91D9-41CB-A66B-834065F259B9}" destId="{C5376FE0-79CA-4533-AF28-F8315D09F747}" srcOrd="0" destOrd="0" presId="urn:microsoft.com/office/officeart/2005/8/layout/chevron1"/>
    <dgm:cxn modelId="{906E1370-5F1E-46A9-BCBB-AE39B19226C2}" type="presOf" srcId="{B9E4D5E9-0198-4F5A-B181-426FE5FEBACB}" destId="{AFE84079-986F-42BC-8242-7E32A54D42EC}" srcOrd="0" destOrd="0" presId="urn:microsoft.com/office/officeart/2005/8/layout/chevron1"/>
    <dgm:cxn modelId="{A386CF83-6AAC-4FA1-9064-D54382598C08}" srcId="{BBBD8EEE-5EAC-4ACB-A5CB-4EC11AF34169}" destId="{57D6927D-B88C-4E17-91A6-8629BF67F705}" srcOrd="1" destOrd="0" parTransId="{FD127EC2-E771-420A-B5AA-7486E72D05D2}" sibTransId="{23ADBFAA-E46F-4FCC-AFEA-73901260E650}"/>
    <dgm:cxn modelId="{3E9AF04C-80AB-4F20-B6E1-DE8752D470DA}" type="presOf" srcId="{203F4424-6A03-46B4-AA53-F416B555D965}" destId="{1F8DB603-555B-4871-8676-102FB645DCB1}" srcOrd="0" destOrd="0" presId="urn:microsoft.com/office/officeart/2005/8/layout/chevron1"/>
    <dgm:cxn modelId="{3E0261EB-0392-4569-9E44-0B3135DFDF50}" srcId="{BBBD8EEE-5EAC-4ACB-A5CB-4EC11AF34169}" destId="{B9E4D5E9-0198-4F5A-B181-426FE5FEBACB}" srcOrd="0" destOrd="0" parTransId="{F5C1A38C-E80C-476E-8FBA-57432479DE9D}" sibTransId="{801A61BA-44A4-4BDE-9C66-B32B356A8C71}"/>
    <dgm:cxn modelId="{A5AD4B1A-96C0-4CEE-B834-BDC33D583ED5}" type="presOf" srcId="{BBBD8EEE-5EAC-4ACB-A5CB-4EC11AF34169}" destId="{F6290B4D-2087-4FCD-891E-E9D7206508DB}" srcOrd="0" destOrd="0" presId="urn:microsoft.com/office/officeart/2005/8/layout/chevron1"/>
    <dgm:cxn modelId="{B79E97E1-F177-417C-961D-80B4C3711EBC}" type="presParOf" srcId="{F6290B4D-2087-4FCD-891E-E9D7206508DB}" destId="{AFE84079-986F-42BC-8242-7E32A54D42EC}" srcOrd="0" destOrd="0" presId="urn:microsoft.com/office/officeart/2005/8/layout/chevron1"/>
    <dgm:cxn modelId="{190C8408-AD62-40A6-9BA0-6B787A8FF8E6}" type="presParOf" srcId="{F6290B4D-2087-4FCD-891E-E9D7206508DB}" destId="{51C1CF39-ABC7-440D-9627-80865B9C51B7}" srcOrd="1" destOrd="0" presId="urn:microsoft.com/office/officeart/2005/8/layout/chevron1"/>
    <dgm:cxn modelId="{258B1A6D-4AC8-47AC-BE00-E4BEED469B78}" type="presParOf" srcId="{F6290B4D-2087-4FCD-891E-E9D7206508DB}" destId="{A48B9945-BB9D-4368-AFFB-CA46BE58777E}" srcOrd="2" destOrd="0" presId="urn:microsoft.com/office/officeart/2005/8/layout/chevron1"/>
    <dgm:cxn modelId="{17D8759C-36C4-4036-8886-09A1ED0F30B8}" type="presParOf" srcId="{F6290B4D-2087-4FCD-891E-E9D7206508DB}" destId="{957900CC-6EAB-4E35-9A81-12D2D776E0B7}" srcOrd="3" destOrd="0" presId="urn:microsoft.com/office/officeart/2005/8/layout/chevron1"/>
    <dgm:cxn modelId="{9F8BBCEB-C1BB-402D-A16A-00FFACE86F60}" type="presParOf" srcId="{F6290B4D-2087-4FCD-891E-E9D7206508DB}" destId="{1F8DB603-555B-4871-8676-102FB645DCB1}" srcOrd="4" destOrd="0" presId="urn:microsoft.com/office/officeart/2005/8/layout/chevron1"/>
    <dgm:cxn modelId="{EB1D6A5D-9CAD-4398-B19F-16EFF8DE0828}" type="presParOf" srcId="{F6290B4D-2087-4FCD-891E-E9D7206508DB}" destId="{66EADD3B-6234-4DDD-B07D-717D0A04DB9D}" srcOrd="5" destOrd="0" presId="urn:microsoft.com/office/officeart/2005/8/layout/chevron1"/>
    <dgm:cxn modelId="{43A78F43-A5D4-49B6-8D27-E7257E261FDB}" type="presParOf" srcId="{F6290B4D-2087-4FCD-891E-E9D7206508DB}" destId="{C5376FE0-79CA-4533-AF28-F8315D09F747}" srcOrd="6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13/11/2015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7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7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7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SC – Solicitação de Compra</a:t>
            </a:r>
          </a:p>
          <a:p>
            <a:r>
              <a:rPr lang="pt-BR" dirty="0" err="1" smtClean="0"/>
              <a:t>Low</a:t>
            </a:r>
            <a:r>
              <a:rPr lang="pt-BR" dirty="0" smtClean="0"/>
              <a:t> </a:t>
            </a:r>
            <a:r>
              <a:rPr lang="pt-BR" dirty="0" err="1" smtClean="0"/>
              <a:t>Level</a:t>
            </a:r>
            <a:r>
              <a:rPr lang="pt-BR" dirty="0" smtClean="0"/>
              <a:t> Design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701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336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967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 treinamento é necessário para atualização da equipe nas versões utilizadas no Santander e TAM;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-Devido ao alto custo dos treinamentos, solicitamos o mínimo necessário para assumirmos o serviço da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Systems; 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 base na proposta recebida da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estimamos que o treinamento necessário consumirá de 3 a 4 meses;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“GENESYS CORE TECHNICAL PRESALES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Elibrary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não é requisito para absorção dos serviços, mas é necessário para manter a parceria com 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(valor R$ 5.768,00).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163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 treinamento é necessário para atualização da equipe nas versões utilizadas no Santander e TAM;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-Devido ao alto custo dos treinamentos, solicitamos o mínimo necessário para assumirmos o serviço da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Systems; 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-Com base na proposta recebida da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estimamos que o treinamento necessário consumirá de 3 a 4 meses;</a:t>
            </a:r>
          </a:p>
          <a:p>
            <a:pPr lvl="0"/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“GENESYS CORE TECHNICAL PRESALES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Elibrary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não é requisito para absorção dos serviços, mas é necessário para manter a parceria com a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(valor R$ 5.768,00).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16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11/13/2015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2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3.emf"/><Relationship Id="rId7" Type="http://schemas.openxmlformats.org/officeDocument/2006/relationships/slide" Target="slide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3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emf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Data" Target="../diagrams/data1.xml"/><Relationship Id="rId5" Type="http://schemas.openxmlformats.org/officeDocument/2006/relationships/image" Target="../media/image5.jp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3.jpg"/><Relationship Id="rId4" Type="http://schemas.openxmlformats.org/officeDocument/2006/relationships/image" Target="../media/image5.jpg"/><Relationship Id="rId9" Type="http://schemas.microsoft.com/office/2007/relationships/diagramDrawing" Target="../diagrams/drawing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jpg"/><Relationship Id="rId7" Type="http://schemas.openxmlformats.org/officeDocument/2006/relationships/image" Target="../media/image16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slide" Target="slide5.xml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image" Target="../media/image22.png"/><Relationship Id="rId5" Type="http://schemas.openxmlformats.org/officeDocument/2006/relationships/image" Target="../media/image3.emf"/><Relationship Id="rId10" Type="http://schemas.openxmlformats.org/officeDocument/2006/relationships/image" Target="../media/image21.png"/><Relationship Id="rId4" Type="http://schemas.openxmlformats.org/officeDocument/2006/relationships/image" Target="cid:image004.png@01D11D34.C2B10120" TargetMode="Externa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4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5.xml"/><Relationship Id="rId11" Type="http://schemas.openxmlformats.org/officeDocument/2006/relationships/image" Target="../media/image22.png"/><Relationship Id="rId5" Type="http://schemas.openxmlformats.org/officeDocument/2006/relationships/image" Target="../media/image3.emf"/><Relationship Id="rId10" Type="http://schemas.openxmlformats.org/officeDocument/2006/relationships/image" Target="../media/image21.png"/><Relationship Id="rId4" Type="http://schemas.openxmlformats.org/officeDocument/2006/relationships/image" Target="cid:image004.png@01D11D34.C2B10120" TargetMode="Externa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jpg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png"/><Relationship Id="rId11" Type="http://schemas.openxmlformats.org/officeDocument/2006/relationships/oleObject" Target="../embeddings/oleObject5.bin"/><Relationship Id="rId5" Type="http://schemas.openxmlformats.org/officeDocument/2006/relationships/slide" Target="slide4.xml"/><Relationship Id="rId10" Type="http://schemas.openxmlformats.org/officeDocument/2006/relationships/image" Target="../media/image26.wmf"/><Relationship Id="rId4" Type="http://schemas.openxmlformats.org/officeDocument/2006/relationships/image" Target="../media/image3.emf"/><Relationship Id="rId9" Type="http://schemas.openxmlformats.org/officeDocument/2006/relationships/package" Target="../embeddings/Microsoft_Excel_Worksheet1.xls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5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13.Novembro.2015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4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3033277" y="503053"/>
            <a:ext cx="480092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33277" y="1276051"/>
            <a:ext cx="6006551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ts val="2400"/>
              </a:lnSpc>
              <a:buAutoNum type="arabicPeriod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Decisões</a:t>
            </a:r>
          </a:p>
          <a:p>
            <a:pPr algn="l">
              <a:lnSpc>
                <a:spcPts val="2400"/>
              </a:lnSpc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1.1 Pendencias gerais</a:t>
            </a:r>
          </a:p>
          <a:p>
            <a:pPr algn="l">
              <a:lnSpc>
                <a:spcPts val="2400"/>
              </a:lnSpc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1.2 </a:t>
            </a: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Prefeitura da Cidade do Rio de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Janeiro</a:t>
            </a:r>
          </a:p>
          <a:p>
            <a:pPr algn="l">
              <a:lnSpc>
                <a:spcPts val="2400"/>
              </a:lnSpc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1.3 URA Internalização</a:t>
            </a:r>
          </a:p>
          <a:p>
            <a:pPr algn="l">
              <a:lnSpc>
                <a:spcPts val="2400"/>
              </a:lnSpc>
            </a:pP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1.4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Layout Eletrônico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Evolução</a:t>
            </a:r>
            <a:r>
              <a:rPr lang="pt-BR" sz="1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Estruturais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</a:t>
            </a:r>
          </a:p>
          <a:p>
            <a:pPr marL="342900" indent="-342900" algn="l">
              <a:lnSpc>
                <a:spcPts val="2400"/>
              </a:lnSpc>
              <a:buAutoNum type="arabicPeriod" startAt="2"/>
            </a:pPr>
            <a:r>
              <a:rPr lang="pt-BR" sz="1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1.1 Decisões: Pendências Gerais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104174" y="1326972"/>
            <a:ext cx="2835796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200" b="1" u="sng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R$ 87K Projeto Gravação (Nice).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$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22K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Monitoração (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Zabbix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R$ 15K (Ano 2015) Projeto URA – Internalização.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$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72K (Ano 2016) Projeto URA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– Internalização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058886" y="1326972"/>
            <a:ext cx="2867352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R$ 87K Projeto Gravação (Nice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SC em cotação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$ 22K Projeto Monitoração (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Zabbix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cadastro</a:t>
            </a: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cadastrar fornecedor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$ 15K (Ano 2015) URA – Internalização. 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SC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 fase 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aprovação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apresentação do BC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  <a:hlinkClick r:id="rId6" action="ppaction://hlinksldjump"/>
              </a:rPr>
              <a:t>R$ 72K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(Ano 2016) URA – Internalização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 em fase 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aprovação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Falta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apresentação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BC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6076710" y="1326972"/>
            <a:ext cx="2753924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encargo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Projeto Layout Eletrônico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058886" y="788510"/>
            <a:ext cx="2867352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Status do SC- Solicitação de Compras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104173" y="783950"/>
            <a:ext cx="2835796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Acordo do Steearing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6076710" y="788510"/>
            <a:ext cx="2753924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Pendente de decisão do Steearing</a:t>
            </a:r>
          </a:p>
        </p:txBody>
      </p:sp>
    </p:spTree>
    <p:extLst>
      <p:ext uri="{BB962C8B-B14F-4D97-AF65-F5344CB8AC3E}">
        <p14:creationId xmlns:p14="http://schemas.microsoft.com/office/powerpoint/2010/main" val="61638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1.2 Decisões: Prefeitura do Rio de Janeiro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62659" y="1431466"/>
            <a:ext cx="2496225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 algn="just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Inaderência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contratual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Atrasos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ocorridos por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alterações de escopo e priorizações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Concorrência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entre serviços de suporte e desenvolvimento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Gaps de relacionamento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 o cliente.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Perda de histórico.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Possibilidade de multa em ~1MM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562658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289530" y="1431466"/>
            <a:ext cx="2478199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estratégia para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aderência contratual</a:t>
            </a: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Alocação de recursos conforme contrato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histórica disponível.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Estreitar relacionamento e analisar concessões.</a:t>
            </a:r>
          </a:p>
          <a:p>
            <a:pPr marL="673200" lvl="2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(Ex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Novos servidores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673200" lvl="2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Apresentação das réplicas.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6016400" y="1431466"/>
            <a:ext cx="2496227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Call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conference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entre: CSE, Aplicações e Site para entendimento do cenário.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Planilha com respostas para todos os itens elencados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Análise  de insumos internos para realização de troca do servidor / Melhoria query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Endereçamento de 44 itens importantes . Desde Set. 2014 (Eugênio)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289530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Solução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6016401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 em andamento / Agendadas</a:t>
            </a:r>
          </a:p>
        </p:txBody>
      </p:sp>
      <p:sp>
        <p:nvSpPr>
          <p:cNvPr id="19" name="Retângulo de cantos arredondados 18">
            <a:hlinkClick r:id="rId6" action="ppaction://hlinksldjump"/>
          </p:cNvPr>
          <p:cNvSpPr/>
          <p:nvPr/>
        </p:nvSpPr>
        <p:spPr>
          <a:xfrm>
            <a:off x="3289530" y="4278377"/>
            <a:ext cx="5223098" cy="7396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Contax ainda não foi formalmente comunicada. Definir o approach para o assunto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Assunto encaminhado na reunião de Steearing!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3616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1.3 Decisões: URA Internalização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62659" y="1431466"/>
            <a:ext cx="2496225" cy="342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 algn="just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visibilidade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licenciamento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(Produto, Quantidade, Propriedade e Estimativa de Custo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Ausência de estimativa de custo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Suporte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N3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b="1" dirty="0" smtClean="0">
                <a:solidFill>
                  <a:srgbClr val="00B050"/>
                </a:solidFill>
              </a:rPr>
              <a:t>Falta de cotação com outros fornecedores – Renovado contrato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b="1" dirty="0" smtClean="0">
                <a:solidFill>
                  <a:srgbClr val="00B050"/>
                </a:solidFill>
              </a:rPr>
              <a:t>Pacote único de contrato para 3 frentes;</a:t>
            </a:r>
            <a:r>
              <a:rPr lang="pt-BR" sz="1200" b="1" dirty="0">
                <a:solidFill>
                  <a:srgbClr val="00B050"/>
                </a:solidFill>
              </a:rPr>
              <a:t>(</a:t>
            </a:r>
            <a:r>
              <a:rPr lang="pt-BR" sz="1200" b="1" dirty="0" smtClean="0">
                <a:solidFill>
                  <a:srgbClr val="00B050"/>
                </a:solidFill>
              </a:rPr>
              <a:t>Serviços de suporte Santander, Serviços de suporte TAM, Desenvolvimento TAM)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Falta de capacitação interna específica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a versão.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562658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289530" y="1431466"/>
            <a:ext cx="2478199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Receber documentação e informações de licenças (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Information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– Alinhado para workshop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Análise de custo X benefício.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Capacitação e treinamento interno.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6" action="ppaction://hlinksldjump"/>
              </a:rPr>
              <a:t>Investimento 87K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7" action="ppaction://hlinksldjump"/>
              </a:rPr>
              <a:t>.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b="1" dirty="0" smtClean="0">
                <a:solidFill>
                  <a:srgbClr val="00B050"/>
                </a:solidFill>
              </a:rPr>
              <a:t>Divisão do contrato em 3 pacotes independentes.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6016400" y="1431466"/>
            <a:ext cx="2496227" cy="2700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Flexibilidade no gerenciamento dos contratos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673200" lvl="1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Mitigação de riscos de implementação do projeto.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Ganho / otimização de receita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Oportunidade de rentabilizar o projeto através da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oferta do serviço de suporte.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289530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Solução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6016401" y="893004"/>
            <a:ext cx="2496227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</a:p>
        </p:txBody>
      </p:sp>
      <p:sp>
        <p:nvSpPr>
          <p:cNvPr id="19" name="Retângulo de cantos arredondados 18">
            <a:hlinkClick r:id="rId8" action="ppaction://hlinksldjump"/>
          </p:cNvPr>
          <p:cNvSpPr/>
          <p:nvPr/>
        </p:nvSpPr>
        <p:spPr>
          <a:xfrm>
            <a:off x="3289530" y="4278378"/>
            <a:ext cx="5223098" cy="612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da estratégia a ser alinhada. Após renovação do contrato, seguir com a internalização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Trabalha no BC, com os novos dados!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734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06813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8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109394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217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-14516"/>
            <a:ext cx="5098402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1.4 Decisões: Layout Eletrônico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2193" y="1137143"/>
            <a:ext cx="2794571" cy="39278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A</a:t>
            </a:r>
            <a:r>
              <a:rPr lang="pt-BR" sz="1200" b="1" dirty="0" smtClean="0">
                <a:solidFill>
                  <a:schemeClr val="tx1"/>
                </a:solidFill>
              </a:rPr>
              <a:t>locações </a:t>
            </a:r>
            <a:r>
              <a:rPr lang="pt-BR" sz="1200" b="1" dirty="0">
                <a:solidFill>
                  <a:schemeClr val="tx1"/>
                </a:solidFill>
              </a:rPr>
              <a:t>indevidas de </a:t>
            </a:r>
            <a:r>
              <a:rPr lang="pt-BR" sz="1200" b="1" dirty="0" err="1">
                <a:solidFill>
                  <a:schemeClr val="tx1"/>
                </a:solidFill>
              </a:rPr>
              <a:t>PA’s</a:t>
            </a:r>
            <a:r>
              <a:rPr lang="pt-BR" sz="1200" b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a título de contingências operacionais. </a:t>
            </a:r>
            <a:endParaRPr lang="pt-BR" sz="1200" dirty="0" smtClean="0">
              <a:solidFill>
                <a:schemeClr val="tx1"/>
              </a:solidFill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Segmentação da Operação. 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/>
                </a:solidFill>
              </a:rPr>
              <a:t>Dificuldade para gerenciamento das imagens de workstations </a:t>
            </a:r>
            <a:r>
              <a:rPr lang="pt-BR" sz="1200" dirty="0">
                <a:solidFill>
                  <a:schemeClr val="tx1"/>
                </a:solidFill>
              </a:rPr>
              <a:t>no layout estipulado.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Reserva indevida para crescimento </a:t>
            </a:r>
            <a:r>
              <a:rPr lang="pt-BR" sz="1200" b="1" dirty="0" smtClean="0">
                <a:solidFill>
                  <a:schemeClr val="tx1"/>
                </a:solidFill>
              </a:rPr>
              <a:t>– Impacto em projetos de TI.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/>
                </a:solidFill>
              </a:rPr>
              <a:t>Invisibilidade do impacto do incidente</a:t>
            </a:r>
            <a:r>
              <a:rPr lang="pt-BR" sz="1200" dirty="0" smtClean="0">
                <a:solidFill>
                  <a:schemeClr val="tx1"/>
                </a:solidFill>
              </a:rPr>
              <a:t> por reserva inadequada de contingência.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O rateio de custos </a:t>
            </a:r>
            <a:r>
              <a:rPr lang="pt-BR" sz="1200" b="1" dirty="0">
                <a:solidFill>
                  <a:schemeClr val="tx1"/>
                </a:solidFill>
              </a:rPr>
              <a:t>por alocação onera o </a:t>
            </a:r>
            <a:r>
              <a:rPr lang="pt-BR" sz="1200" b="1" dirty="0" smtClean="0">
                <a:solidFill>
                  <a:schemeClr val="tx1"/>
                </a:solidFill>
              </a:rPr>
              <a:t>resultado </a:t>
            </a:r>
            <a:r>
              <a:rPr lang="pt-BR" sz="1200" b="1" dirty="0">
                <a:solidFill>
                  <a:schemeClr val="tx1"/>
                </a:solidFill>
              </a:rPr>
              <a:t>da operação</a:t>
            </a:r>
            <a:r>
              <a:rPr lang="pt-BR" sz="1200" dirty="0">
                <a:solidFill>
                  <a:schemeClr val="tx1"/>
                </a:solidFill>
              </a:rPr>
              <a:t> com alocações </a:t>
            </a:r>
            <a:r>
              <a:rPr lang="pt-BR" sz="1200" dirty="0" smtClean="0">
                <a:solidFill>
                  <a:schemeClr val="tx1"/>
                </a:solidFill>
              </a:rPr>
              <a:t>indevidas, inclusive na composição dos custos de TI.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Esforço desnecessário de TI em </a:t>
            </a:r>
            <a:r>
              <a:rPr lang="pt-BR" sz="1200" b="1" dirty="0" err="1" smtClean="0">
                <a:solidFill>
                  <a:schemeClr val="tx1"/>
                </a:solidFill>
              </a:rPr>
              <a:t>PA´s</a:t>
            </a:r>
            <a:r>
              <a:rPr lang="pt-BR" sz="1200" b="1" dirty="0" smtClean="0">
                <a:solidFill>
                  <a:schemeClr val="tx1"/>
                </a:solidFill>
              </a:rPr>
              <a:t> </a:t>
            </a:r>
            <a:r>
              <a:rPr lang="pt-BR" sz="1200" b="1" dirty="0" err="1" smtClean="0">
                <a:solidFill>
                  <a:schemeClr val="tx1"/>
                </a:solidFill>
              </a:rPr>
              <a:t>desalocadas</a:t>
            </a:r>
            <a:r>
              <a:rPr lang="pt-BR" sz="1200" b="1" dirty="0" smtClean="0">
                <a:solidFill>
                  <a:schemeClr val="tx1"/>
                </a:solidFill>
              </a:rPr>
              <a:t> (Sem receita)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/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82193" y="537537"/>
            <a:ext cx="2779063" cy="624278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051426" y="1154068"/>
            <a:ext cx="2716304" cy="33254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Inicialmente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CAPEX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Avaliação técnica de desempenho 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capacity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da ferramenta “Layout Eletrônico).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Estruturação de um plano de projeto “Cross divisional”  entre TI, Engenharia, Planejamento, BI e operações.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Criação de um plano de atualização mensal dos dados da solução.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das visões (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KPIs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importantes para TI – À demandar para BI.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de um piloto.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5928848" y="1154068"/>
            <a:ext cx="2716382" cy="33254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Composição mais fiel das perdas de receitas geradas por incidentes de TI.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Esforço de suporte inteligente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que geram receita.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Padronização das imagens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de acordo com o layout.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de retrabalho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implementação de projetos.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Coerência na atribuição dos custos  de TI.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Rateio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custo das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através da alocação (classificação 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negócio).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 gerenciamento de ativos.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(HW,SW)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3051425" y="512866"/>
            <a:ext cx="2734333" cy="624278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Solução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908299" y="512866"/>
            <a:ext cx="2716382" cy="624278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3145971" y="4547441"/>
            <a:ext cx="5478710" cy="5175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Avançar ou não avançar no projeto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vançar!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833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/>
          <p:cNvCxnSpPr/>
          <p:nvPr/>
        </p:nvCxnSpPr>
        <p:spPr>
          <a:xfrm>
            <a:off x="1534686" y="1440950"/>
            <a:ext cx="32658" cy="275446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52708" cy="740920"/>
          </a:xfrm>
          <a:prstGeom prst="rect">
            <a:avLst/>
          </a:prstGeom>
        </p:spPr>
      </p:pic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089506933"/>
              </p:ext>
            </p:extLst>
          </p:nvPr>
        </p:nvGraphicFramePr>
        <p:xfrm>
          <a:off x="42581" y="4119580"/>
          <a:ext cx="910141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7" name="Pentágono 16"/>
          <p:cNvSpPr/>
          <p:nvPr/>
        </p:nvSpPr>
        <p:spPr>
          <a:xfrm>
            <a:off x="773795" y="3487394"/>
            <a:ext cx="4663178" cy="470419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b="1" i="1" dirty="0" err="1"/>
              <a:t>Proj</a:t>
            </a:r>
            <a:r>
              <a:rPr lang="pt-BR" sz="1200" b="1" i="1" dirty="0"/>
              <a:t>. </a:t>
            </a:r>
            <a:r>
              <a:rPr lang="pt-BR" sz="1200" b="1" i="1" dirty="0" smtClean="0"/>
              <a:t>Gravação (NICE)</a:t>
            </a:r>
            <a:endParaRPr lang="pt-BR" sz="1200" b="1" i="1" dirty="0"/>
          </a:p>
          <a:p>
            <a:r>
              <a:rPr lang="pt-BR" sz="1200" dirty="0"/>
              <a:t>Beneficiados: Santander, ITAU, Bradesco, VIVO, </a:t>
            </a:r>
            <a:r>
              <a:rPr lang="pt-BR" sz="1200" dirty="0" smtClean="0"/>
              <a:t>OI</a:t>
            </a:r>
            <a:endParaRPr lang="pt-BR" sz="1200" dirty="0"/>
          </a:p>
        </p:txBody>
      </p:sp>
      <p:sp>
        <p:nvSpPr>
          <p:cNvPr id="22" name="Pentágono 21"/>
          <p:cNvSpPr/>
          <p:nvPr/>
        </p:nvSpPr>
        <p:spPr>
          <a:xfrm>
            <a:off x="773795" y="2343866"/>
            <a:ext cx="7589620" cy="446068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200" b="1" dirty="0" smtClean="0">
                <a:solidFill>
                  <a:schemeClr val="tx1"/>
                </a:solidFill>
                <a:cs typeface="Arial" pitchFamily="34" charset="0"/>
              </a:rPr>
              <a:t>   									                 </a:t>
            </a:r>
            <a:r>
              <a:rPr lang="pt-BR" sz="1200" b="1" dirty="0" err="1" smtClean="0">
                <a:solidFill>
                  <a:schemeClr val="tx1"/>
                </a:solidFill>
                <a:cs typeface="Arial" pitchFamily="34" charset="0"/>
              </a:rPr>
              <a:t>Proj</a:t>
            </a:r>
            <a:r>
              <a:rPr lang="pt-BR" sz="1200" b="1" dirty="0" smtClean="0">
                <a:solidFill>
                  <a:schemeClr val="tx1"/>
                </a:solidFill>
                <a:cs typeface="Arial" pitchFamily="34" charset="0"/>
              </a:rPr>
              <a:t>. Ura Internalização:</a:t>
            </a:r>
            <a:r>
              <a:rPr lang="pt-BR" sz="1200" dirty="0" smtClean="0"/>
              <a:t> </a:t>
            </a:r>
            <a:r>
              <a:rPr lang="pt-BR" sz="1200" dirty="0"/>
              <a:t>TAM</a:t>
            </a:r>
          </a:p>
        </p:txBody>
      </p:sp>
      <p:sp>
        <p:nvSpPr>
          <p:cNvPr id="24" name="Pentágono 23"/>
          <p:cNvSpPr/>
          <p:nvPr/>
        </p:nvSpPr>
        <p:spPr>
          <a:xfrm>
            <a:off x="773795" y="1712906"/>
            <a:ext cx="2843107" cy="507510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200" b="1" i="1" dirty="0" err="1"/>
              <a:t>Proj</a:t>
            </a:r>
            <a:r>
              <a:rPr lang="pt-BR" sz="1200" b="1" i="1" dirty="0"/>
              <a:t>. </a:t>
            </a:r>
            <a:r>
              <a:rPr lang="pt-BR" sz="1200" b="1" dirty="0" smtClean="0">
                <a:solidFill>
                  <a:schemeClr val="tx1"/>
                </a:solidFill>
                <a:cs typeface="Arial" pitchFamily="34" charset="0"/>
              </a:rPr>
              <a:t>Aspect 7.3 (1° Fase–Instalar Infra)</a:t>
            </a:r>
          </a:p>
          <a:p>
            <a:pPr>
              <a:buClr>
                <a:srgbClr val="800000"/>
              </a:buClr>
            </a:pPr>
            <a:r>
              <a:rPr lang="pt-BR" sz="1200" dirty="0" smtClean="0"/>
              <a:t>Beneficiados</a:t>
            </a:r>
            <a:r>
              <a:rPr lang="pt-BR" sz="1200" dirty="0"/>
              <a:t>: </a:t>
            </a:r>
            <a:r>
              <a:rPr lang="pt-BR" sz="1200" dirty="0" err="1" smtClean="0"/>
              <a:t>Cielo</a:t>
            </a:r>
            <a:r>
              <a:rPr lang="pt-BR" sz="1200" dirty="0" smtClean="0"/>
              <a:t> /SKY</a:t>
            </a:r>
            <a:endParaRPr lang="pt-BR" sz="1200" dirty="0"/>
          </a:p>
        </p:txBody>
      </p:sp>
      <p:sp>
        <p:nvSpPr>
          <p:cNvPr id="25" name="Pentágono 24"/>
          <p:cNvSpPr/>
          <p:nvPr/>
        </p:nvSpPr>
        <p:spPr>
          <a:xfrm>
            <a:off x="752709" y="2912215"/>
            <a:ext cx="2101702" cy="496293"/>
          </a:xfrm>
          <a:prstGeom prst="homePlate">
            <a:avLst/>
          </a:prstGeom>
          <a:gradFill flip="none" rotWithShape="1">
            <a:gsLst>
              <a:gs pos="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  <a:lin ang="10800000" scaled="1"/>
            <a:tileRect/>
          </a:gradFill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b="1" i="1" dirty="0" err="1"/>
              <a:t>Proj</a:t>
            </a:r>
            <a:r>
              <a:rPr lang="pt-BR" sz="1200" b="1" i="1" dirty="0"/>
              <a:t>. Monitoração</a:t>
            </a:r>
          </a:p>
          <a:p>
            <a:r>
              <a:rPr lang="pt-BR" sz="1200" dirty="0"/>
              <a:t>Beneficiados: </a:t>
            </a:r>
            <a:r>
              <a:rPr lang="pt-BR" sz="1200" dirty="0" smtClean="0"/>
              <a:t>Brasil</a:t>
            </a:r>
            <a:endParaRPr lang="pt-BR" sz="1200" dirty="0"/>
          </a:p>
        </p:txBody>
      </p:sp>
      <p:sp>
        <p:nvSpPr>
          <p:cNvPr id="2" name="Retângulo de cantos arredondados 1"/>
          <p:cNvSpPr/>
          <p:nvPr/>
        </p:nvSpPr>
        <p:spPr>
          <a:xfrm>
            <a:off x="117987" y="2957619"/>
            <a:ext cx="504000" cy="39600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37%</a:t>
            </a:r>
            <a:endPara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117987" y="3524057"/>
            <a:ext cx="504000" cy="39600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endPara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etângulo de cantos arredondados 25"/>
          <p:cNvSpPr/>
          <p:nvPr/>
        </p:nvSpPr>
        <p:spPr>
          <a:xfrm>
            <a:off x="117987" y="2393934"/>
            <a:ext cx="504000" cy="39600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20%</a:t>
            </a:r>
          </a:p>
        </p:txBody>
      </p:sp>
      <p:sp>
        <p:nvSpPr>
          <p:cNvPr id="27" name="Retângulo de cantos arredondados 26"/>
          <p:cNvSpPr/>
          <p:nvPr/>
        </p:nvSpPr>
        <p:spPr>
          <a:xfrm>
            <a:off x="117987" y="1809933"/>
            <a:ext cx="504000" cy="396000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27%</a:t>
            </a:r>
            <a:endParaRPr lang="pt-BR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1043634" y="990850"/>
            <a:ext cx="1095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FF0000"/>
                </a:solidFill>
              </a:rPr>
              <a:t>13/</a:t>
            </a:r>
            <a:r>
              <a:rPr lang="pt-BR" b="1" dirty="0" err="1" smtClean="0">
                <a:solidFill>
                  <a:srgbClr val="FF0000"/>
                </a:solidFill>
              </a:rPr>
              <a:t>Nov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139178" y="3021862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18/Dez</a:t>
            </a:r>
            <a:endParaRPr lang="pt-BR" sz="1200" b="1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2778702" y="1928934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02/Jan</a:t>
            </a:r>
            <a:endParaRPr lang="pt-BR" sz="1200" b="1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4598773" y="3584104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09/Mar</a:t>
            </a:r>
            <a:endParaRPr lang="pt-BR" sz="1200" b="1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7689493" y="2393934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06/</a:t>
            </a:r>
            <a:r>
              <a:rPr lang="pt-BR" sz="1200" b="1" dirty="0" err="1" smtClean="0"/>
              <a:t>Jun</a:t>
            </a:r>
            <a:endParaRPr lang="pt-BR" sz="1200" b="1" dirty="0"/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Evolução: Projetos Estruturais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o Explicativo 1 (Borda e Ênfase) 2"/>
          <p:cNvSpPr/>
          <p:nvPr/>
        </p:nvSpPr>
        <p:spPr>
          <a:xfrm>
            <a:off x="3923775" y="1809933"/>
            <a:ext cx="1513197" cy="481598"/>
          </a:xfrm>
          <a:prstGeom prst="accentBorderCallout1">
            <a:avLst>
              <a:gd name="adj1" fmla="val 18560"/>
              <a:gd name="adj2" fmla="val 958"/>
              <a:gd name="adj3" fmla="val 148070"/>
              <a:gd name="adj4" fmla="val -3513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Pendente Aprovação em BC  (R$ 15K) p 2015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Texto Explicativo 1 (Borda e Ênfase) 42"/>
          <p:cNvSpPr/>
          <p:nvPr/>
        </p:nvSpPr>
        <p:spPr>
          <a:xfrm>
            <a:off x="2992409" y="2912215"/>
            <a:ext cx="1394598" cy="481598"/>
          </a:xfrm>
          <a:prstGeom prst="accentBorderCallout1">
            <a:avLst>
              <a:gd name="adj1" fmla="val 18545"/>
              <a:gd name="adj2" fmla="val -4278"/>
              <a:gd name="adj3" fmla="val 53080"/>
              <a:gd name="adj4" fmla="val -1809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Pendente Aprovação da  SC (R$ 22K)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Texto Explicativo 1 (Borda e Ênfase) 44"/>
          <p:cNvSpPr/>
          <p:nvPr/>
        </p:nvSpPr>
        <p:spPr>
          <a:xfrm>
            <a:off x="5566234" y="3153014"/>
            <a:ext cx="1605128" cy="481598"/>
          </a:xfrm>
          <a:prstGeom prst="accentBorderCallout1">
            <a:avLst>
              <a:gd name="adj1" fmla="val 29584"/>
              <a:gd name="adj2" fmla="val -3516"/>
              <a:gd name="adj3" fmla="val 108993"/>
              <a:gd name="adj4" fmla="val -20533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Elaboração do LLD</a:t>
            </a:r>
          </a:p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Optimização de recursos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Pentágono 29"/>
          <p:cNvSpPr/>
          <p:nvPr/>
        </p:nvSpPr>
        <p:spPr>
          <a:xfrm>
            <a:off x="773795" y="2343866"/>
            <a:ext cx="4534185" cy="446068"/>
          </a:xfrm>
          <a:prstGeom prst="homePlate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3000">
                  <a:schemeClr val="accent2">
                    <a:lumMod val="40000"/>
                    <a:lumOff val="6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10800000" algn="r" rotWithShape="0">
              <a:prstClr val="black">
                <a:alpha val="36000"/>
              </a:prstClr>
            </a:outerShdw>
            <a:softEdge rad="6350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200" b="1" i="1" dirty="0" err="1"/>
              <a:t>Proj</a:t>
            </a:r>
            <a:r>
              <a:rPr lang="pt-BR" sz="1200" b="1" i="1" dirty="0"/>
              <a:t>. </a:t>
            </a:r>
            <a:r>
              <a:rPr lang="pt-BR" sz="1200" b="1" dirty="0">
                <a:solidFill>
                  <a:schemeClr val="tx1"/>
                </a:solidFill>
                <a:cs typeface="Arial" pitchFamily="34" charset="0"/>
              </a:rPr>
              <a:t>Ura </a:t>
            </a:r>
            <a:r>
              <a:rPr lang="pt-BR" sz="1200" b="1" dirty="0" smtClean="0">
                <a:solidFill>
                  <a:schemeClr val="tx1"/>
                </a:solidFill>
                <a:cs typeface="Arial" pitchFamily="34" charset="0"/>
              </a:rPr>
              <a:t>Internalização - </a:t>
            </a:r>
            <a:r>
              <a:rPr lang="pt-BR" sz="1200" dirty="0" smtClean="0"/>
              <a:t>Santander </a:t>
            </a:r>
            <a:r>
              <a:rPr lang="pt-BR" sz="1200" dirty="0"/>
              <a:t>CRC - </a:t>
            </a:r>
            <a:r>
              <a:rPr lang="pt-BR" sz="1200" dirty="0" smtClean="0"/>
              <a:t>SAC</a:t>
            </a:r>
            <a:endParaRPr lang="pt-BR" sz="12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522547" y="2428401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06/Mar</a:t>
            </a:r>
            <a:endParaRPr lang="pt-BR" sz="1200" b="1" dirty="0"/>
          </a:p>
        </p:txBody>
      </p:sp>
      <p:sp>
        <p:nvSpPr>
          <p:cNvPr id="34" name="Texto Explicativo 1 (Borda e Ênfase) 33"/>
          <p:cNvSpPr/>
          <p:nvPr/>
        </p:nvSpPr>
        <p:spPr>
          <a:xfrm>
            <a:off x="5566233" y="1779982"/>
            <a:ext cx="1455099" cy="481598"/>
          </a:xfrm>
          <a:prstGeom prst="accentBorderCallout1">
            <a:avLst>
              <a:gd name="adj1" fmla="val 27822"/>
              <a:gd name="adj2" fmla="val 103307"/>
              <a:gd name="adj3" fmla="val 134177"/>
              <a:gd name="adj4" fmla="val 134385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Pendente Aprovação do BC  (R$ 72K) p 2016</a:t>
            </a:r>
            <a:endParaRPr lang="pt-BR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296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913874" y="580328"/>
            <a:ext cx="7460692" cy="4452969"/>
            <a:chOff x="913874" y="580328"/>
            <a:chExt cx="7460692" cy="4452969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 rotWithShape="1">
            <a:blip r:embed="rId5"/>
            <a:srcRect l="13255" t="17501" r="13699" b="3855"/>
            <a:stretch/>
          </p:blipFill>
          <p:spPr>
            <a:xfrm>
              <a:off x="913874" y="580328"/>
              <a:ext cx="7316252" cy="4428618"/>
            </a:xfrm>
            <a:prstGeom prst="rect">
              <a:avLst/>
            </a:prstGeom>
          </p:spPr>
        </p:pic>
        <p:sp>
          <p:nvSpPr>
            <p:cNvPr id="3" name="Elipse 2"/>
            <p:cNvSpPr/>
            <p:nvPr/>
          </p:nvSpPr>
          <p:spPr>
            <a:xfrm>
              <a:off x="7654525" y="4568546"/>
              <a:ext cx="720041" cy="4647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5797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52708" cy="740920"/>
          </a:xfrm>
          <a:prstGeom prst="rect">
            <a:avLst/>
          </a:prstGeom>
        </p:spPr>
      </p:pic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3217968911"/>
              </p:ext>
            </p:extLst>
          </p:nvPr>
        </p:nvGraphicFramePr>
        <p:xfrm>
          <a:off x="140552" y="2553759"/>
          <a:ext cx="879661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2923754" y="1083158"/>
            <a:ext cx="13059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Coleta primeiros indicadores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Timeline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das atividades -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Milestones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3934230" y="4459454"/>
            <a:ext cx="1262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>
                <a:solidFill>
                  <a:srgbClr val="FF0000"/>
                </a:solidFill>
              </a:rPr>
              <a:t>Kickoff</a:t>
            </a:r>
            <a:endParaRPr lang="pt-BR" dirty="0" smtClean="0">
              <a:solidFill>
                <a:srgbClr val="FF0000"/>
              </a:solidFill>
            </a:endParaRPr>
          </a:p>
          <a:p>
            <a:pPr algn="ctr"/>
            <a:r>
              <a:rPr lang="pt-BR" b="1" dirty="0" smtClean="0">
                <a:solidFill>
                  <a:srgbClr val="FF0000"/>
                </a:solidFill>
              </a:rPr>
              <a:t>CONTAX IT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664570" y="834953"/>
            <a:ext cx="1095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 smtClean="0">
                <a:solidFill>
                  <a:srgbClr val="FF0000"/>
                </a:solidFill>
              </a:rPr>
              <a:t>Kickoff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b="1" dirty="0" smtClean="0">
                <a:solidFill>
                  <a:srgbClr val="FF0000"/>
                </a:solidFill>
              </a:rPr>
              <a:t>CHACON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737896" y="4093860"/>
            <a:ext cx="187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Inicio dos projetos estruturais  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3966333" y="1329362"/>
            <a:ext cx="15050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Recomenda alterações em processos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 rot="20383478">
            <a:off x="6809633" y="1801925"/>
            <a:ext cx="246766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1" cap="none" spc="50" dirty="0" smtClean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Coleta de Benefícios</a:t>
            </a:r>
            <a:endParaRPr lang="pt-BR" sz="5400" b="1" cap="none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17" y="3294248"/>
            <a:ext cx="1219200" cy="1322832"/>
          </a:xfrm>
          <a:prstGeom prst="rect">
            <a:avLst/>
          </a:prstGeom>
        </p:spPr>
      </p:pic>
      <p:sp>
        <p:nvSpPr>
          <p:cNvPr id="13" name="Fluxograma: Decisão 12"/>
          <p:cNvSpPr/>
          <p:nvPr/>
        </p:nvSpPr>
        <p:spPr>
          <a:xfrm>
            <a:off x="2050801" y="2311699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00B05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Fluxograma: Decisão 46"/>
          <p:cNvSpPr/>
          <p:nvPr/>
        </p:nvSpPr>
        <p:spPr>
          <a:xfrm>
            <a:off x="4416937" y="2892499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00B050"/>
              </a:gs>
              <a:gs pos="24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/>
          <p:nvPr/>
        </p:nvCxnSpPr>
        <p:spPr>
          <a:xfrm flipV="1">
            <a:off x="2185575" y="1436914"/>
            <a:ext cx="0" cy="8747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uxograma: Decisão 47"/>
          <p:cNvSpPr/>
          <p:nvPr/>
        </p:nvSpPr>
        <p:spPr>
          <a:xfrm>
            <a:off x="3445210" y="2291050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Fluxograma: Decisão 48"/>
          <p:cNvSpPr/>
          <p:nvPr/>
        </p:nvSpPr>
        <p:spPr>
          <a:xfrm>
            <a:off x="5499153" y="2943394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0" name="Conector reto 49"/>
          <p:cNvCxnSpPr>
            <a:endCxn id="47" idx="2"/>
          </p:cNvCxnSpPr>
          <p:nvPr/>
        </p:nvCxnSpPr>
        <p:spPr>
          <a:xfrm flipV="1">
            <a:off x="4551711" y="3198002"/>
            <a:ext cx="0" cy="13280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/>
          <p:nvPr/>
        </p:nvCxnSpPr>
        <p:spPr>
          <a:xfrm flipV="1">
            <a:off x="5633927" y="3248898"/>
            <a:ext cx="0" cy="8560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48" idx="0"/>
          </p:cNvCxnSpPr>
          <p:nvPr/>
        </p:nvCxnSpPr>
        <p:spPr>
          <a:xfrm flipV="1">
            <a:off x="3579984" y="1776112"/>
            <a:ext cx="0" cy="51493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uxograma: Decisão 52"/>
          <p:cNvSpPr/>
          <p:nvPr/>
        </p:nvSpPr>
        <p:spPr>
          <a:xfrm>
            <a:off x="4405496" y="2300785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/>
          <p:nvPr/>
        </p:nvCxnSpPr>
        <p:spPr>
          <a:xfrm flipV="1">
            <a:off x="4540270" y="2027483"/>
            <a:ext cx="0" cy="284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uxograma: Decisão 54"/>
          <p:cNvSpPr/>
          <p:nvPr/>
        </p:nvSpPr>
        <p:spPr>
          <a:xfrm>
            <a:off x="6172044" y="2872965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6" name="Conector reto 55"/>
          <p:cNvCxnSpPr/>
          <p:nvPr/>
        </p:nvCxnSpPr>
        <p:spPr>
          <a:xfrm flipV="1">
            <a:off x="6300527" y="3224809"/>
            <a:ext cx="0" cy="2477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737740" y="3413870"/>
            <a:ext cx="18816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Procura de novas oportunidade para melhorias estruturais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58" name="Fluxograma: Decisão 57"/>
          <p:cNvSpPr/>
          <p:nvPr/>
        </p:nvSpPr>
        <p:spPr>
          <a:xfrm>
            <a:off x="7098666" y="2460194"/>
            <a:ext cx="473908" cy="573652"/>
          </a:xfrm>
          <a:prstGeom prst="flowChartDecision">
            <a:avLst/>
          </a:prstGeom>
          <a:gradFill flip="none" rotWithShape="1">
            <a:gsLst>
              <a:gs pos="24000">
                <a:srgbClr val="E4B71A"/>
              </a:gs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Fluxograma: Decisão 58"/>
          <p:cNvSpPr/>
          <p:nvPr/>
        </p:nvSpPr>
        <p:spPr>
          <a:xfrm>
            <a:off x="6165753" y="2347583"/>
            <a:ext cx="269548" cy="305503"/>
          </a:xfrm>
          <a:prstGeom prst="flowChartDecision">
            <a:avLst/>
          </a:prstGeom>
          <a:gradFill flip="none" rotWithShape="1">
            <a:gsLst>
              <a:gs pos="0">
                <a:srgbClr val="FFC000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/>
            <a:bevelB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5546981" y="1663492"/>
            <a:ext cx="1551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>
                <a:solidFill>
                  <a:srgbClr val="FF0000"/>
                </a:solidFill>
              </a:rPr>
              <a:t>Monitoração dos processos</a:t>
            </a:r>
            <a:endParaRPr lang="pt-BR" sz="1400" dirty="0">
              <a:solidFill>
                <a:srgbClr val="FF0000"/>
              </a:solidFill>
            </a:endParaRPr>
          </a:p>
        </p:txBody>
      </p:sp>
      <p:cxnSp>
        <p:nvCxnSpPr>
          <p:cNvPr id="61" name="Conector reto 60"/>
          <p:cNvCxnSpPr/>
          <p:nvPr/>
        </p:nvCxnSpPr>
        <p:spPr>
          <a:xfrm flipV="1">
            <a:off x="6300527" y="2105117"/>
            <a:ext cx="0" cy="2715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2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52708" cy="740920"/>
          </a:xfrm>
          <a:prstGeom prst="rect">
            <a:avLst/>
          </a:prstGeom>
        </p:spPr>
      </p:pic>
      <p:sp>
        <p:nvSpPr>
          <p:cNvPr id="33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Opções de estratégia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2" name="Picture 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10" y="1937173"/>
            <a:ext cx="2977486" cy="139728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 descr="http://www.redes.unb.br/sene/wordpress/wp-content/uploads/2013/11/glob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927" y="2171913"/>
            <a:ext cx="1337394" cy="94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658299" y="1191988"/>
            <a:ext cx="31270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Internalizar parte do </a:t>
            </a:r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pacote.</a:t>
            </a:r>
            <a:endParaRPr lang="pt-BR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4968796" y="874121"/>
            <a:ext cx="3127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ct val="0"/>
              </a:spcBef>
            </a:pPr>
            <a:r>
              <a:rPr lang="pt-BR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Capacitar o time para prestar suporte </a:t>
            </a:r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de </a:t>
            </a:r>
            <a:r>
              <a:rPr lang="pt-BR" b="1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serviços </a:t>
            </a:r>
            <a:r>
              <a:rPr lang="pt-BR" b="1" dirty="0" smtClean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rPr>
              <a:t>descobertos.</a:t>
            </a:r>
            <a:endParaRPr lang="pt-BR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15364" name="Picture 4" descr="http://img.ibxk.com.br/2013/10/materias/744437205108221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1" y="2092434"/>
            <a:ext cx="1134050" cy="110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10" y="3753177"/>
            <a:ext cx="5724910" cy="54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56" y="4416357"/>
            <a:ext cx="5572408" cy="33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193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12" descr="cid:image004.png@01D11D34.C2B10120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607" y="529160"/>
            <a:ext cx="6810450" cy="456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tângulo de cantos arredondados 24"/>
          <p:cNvSpPr/>
          <p:nvPr/>
        </p:nvSpPr>
        <p:spPr>
          <a:xfrm>
            <a:off x="7315200" y="3200400"/>
            <a:ext cx="1494263" cy="642076"/>
          </a:xfrm>
          <a:prstGeom prst="roundRect">
            <a:avLst>
              <a:gd name="adj" fmla="val 2417"/>
            </a:avLst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43343"/>
            <a:ext cx="1603348" cy="291323"/>
          </a:xfrm>
          <a:prstGeom prst="rect">
            <a:avLst/>
          </a:prstGeom>
        </p:spPr>
      </p:pic>
      <p:pic>
        <p:nvPicPr>
          <p:cNvPr id="1026" name="Picture 2">
            <a:hlinkClick r:id="rId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-11332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Business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Case :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19" y="869794"/>
            <a:ext cx="2055926" cy="12428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4" y="650871"/>
            <a:ext cx="2073131" cy="438035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20" y="2349688"/>
            <a:ext cx="2055928" cy="129543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14" y="2190654"/>
            <a:ext cx="2073131" cy="359757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64" y="3842476"/>
            <a:ext cx="2104852" cy="1305788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14" y="3652167"/>
            <a:ext cx="2121502" cy="342829"/>
          </a:xfrm>
          <a:prstGeom prst="rect">
            <a:avLst/>
          </a:prstGeom>
        </p:spPr>
      </p:pic>
      <p:sp>
        <p:nvSpPr>
          <p:cNvPr id="28" name="Retângulo de cantos arredondados 27"/>
          <p:cNvSpPr/>
          <p:nvPr/>
        </p:nvSpPr>
        <p:spPr>
          <a:xfrm>
            <a:off x="3464312" y="2175786"/>
            <a:ext cx="2144751" cy="857346"/>
          </a:xfrm>
          <a:prstGeom prst="roundRect">
            <a:avLst>
              <a:gd name="adj" fmla="val 2417"/>
            </a:avLst>
          </a:prstGeom>
          <a:noFill/>
          <a:ln w="444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66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12" descr="cid:image004.png@01D11D34.C2B10120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607" y="529160"/>
            <a:ext cx="6810450" cy="456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tângulo de cantos arredondados 24"/>
          <p:cNvSpPr/>
          <p:nvPr/>
        </p:nvSpPr>
        <p:spPr>
          <a:xfrm>
            <a:off x="7315200" y="3200400"/>
            <a:ext cx="1494263" cy="642076"/>
          </a:xfrm>
          <a:prstGeom prst="roundRect">
            <a:avLst>
              <a:gd name="adj" fmla="val 2417"/>
            </a:avLst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43343"/>
            <a:ext cx="1603348" cy="291323"/>
          </a:xfrm>
          <a:prstGeom prst="rect">
            <a:avLst/>
          </a:prstGeom>
        </p:spPr>
      </p:pic>
      <p:pic>
        <p:nvPicPr>
          <p:cNvPr id="1026" name="Picture 2">
            <a:hlinkClick r:id="rId6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-11332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Business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Case :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19" y="869794"/>
            <a:ext cx="2055926" cy="12428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4" y="650871"/>
            <a:ext cx="2073131" cy="438035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20" y="2349688"/>
            <a:ext cx="2055928" cy="1295431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14" y="2190654"/>
            <a:ext cx="2073131" cy="359757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64" y="3842476"/>
            <a:ext cx="2104852" cy="1305788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14" y="3652167"/>
            <a:ext cx="2121502" cy="342829"/>
          </a:xfrm>
          <a:prstGeom prst="rect">
            <a:avLst/>
          </a:prstGeom>
        </p:spPr>
      </p:pic>
      <p:sp>
        <p:nvSpPr>
          <p:cNvPr id="28" name="Retângulo de cantos arredondados 27"/>
          <p:cNvSpPr/>
          <p:nvPr/>
        </p:nvSpPr>
        <p:spPr>
          <a:xfrm>
            <a:off x="3464312" y="2175786"/>
            <a:ext cx="2144751" cy="857346"/>
          </a:xfrm>
          <a:prstGeom prst="roundRect">
            <a:avLst>
              <a:gd name="adj" fmla="val 2417"/>
            </a:avLst>
          </a:prstGeom>
          <a:noFill/>
          <a:ln w="444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6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783154" y="-6070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Detalhamento – Prefeitura RJ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063101"/>
              </p:ext>
            </p:extLst>
          </p:nvPr>
        </p:nvGraphicFramePr>
        <p:xfrm>
          <a:off x="944689" y="1140432"/>
          <a:ext cx="2032320" cy="1714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Worksheet" showAsIcon="1" r:id="rId9" imgW="914400" imgH="771480" progId="Excel.Sheet.12">
                  <p:embed/>
                </p:oleObj>
              </mc:Choice>
              <mc:Fallback>
                <p:oleObj name="Worksheet" showAsIcon="1" r:id="rId9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4689" y="1140432"/>
                        <a:ext cx="2032320" cy="1714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632922"/>
              </p:ext>
            </p:extLst>
          </p:nvPr>
        </p:nvGraphicFramePr>
        <p:xfrm>
          <a:off x="5270643" y="1140432"/>
          <a:ext cx="1546260" cy="130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Acrobat Document" showAsIcon="1" r:id="rId11" imgW="914400" imgH="771480" progId="AcroExch.Document.11">
                  <p:embed/>
                </p:oleObj>
              </mc:Choice>
              <mc:Fallback>
                <p:oleObj name="Acrobat Document" showAsIcon="1" r:id="rId11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70643" y="1140432"/>
                        <a:ext cx="1546260" cy="13046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543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783154" y="-6070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Decisões: URA Internalização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91170" y="624221"/>
            <a:ext cx="8910348" cy="72853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ustos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treinamentos/certificações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recebidos da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2 recursos (duração 3 a 4 meses) e </a:t>
            </a:r>
            <a:r>
              <a:rPr lang="pt-BR" sz="1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necessários para absorção dos serviços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prestados pela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Information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Systems e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mantermos a parceria na categoria Bronze com a </a:t>
            </a: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7" name="Retângulo de cantos arredondados 16">
            <a:hlinkClick r:id="rId6" action="ppaction://hlinksldjump"/>
          </p:cNvPr>
          <p:cNvSpPr/>
          <p:nvPr/>
        </p:nvSpPr>
        <p:spPr>
          <a:xfrm>
            <a:off x="2861532" y="4581172"/>
            <a:ext cx="2778852" cy="502267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para aprovação: R$ 87K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91170" y="4088864"/>
            <a:ext cx="8910347" cy="28553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Estimamos custo </a:t>
            </a:r>
            <a:r>
              <a:rPr lang="pt-BR" sz="1400" dirty="0">
                <a:solidFill>
                  <a:schemeClr val="tx1"/>
                </a:solidFill>
              </a:rPr>
              <a:t>de </a:t>
            </a:r>
            <a:r>
              <a:rPr lang="pt-BR" sz="1400" b="1" dirty="0">
                <a:solidFill>
                  <a:schemeClr val="tx1"/>
                </a:solidFill>
              </a:rPr>
              <a:t>R$ 12.000,00 com viagens e hospedagens</a:t>
            </a:r>
            <a:r>
              <a:rPr lang="pt-BR" sz="1400" dirty="0">
                <a:solidFill>
                  <a:schemeClr val="tx1"/>
                </a:solidFill>
              </a:rPr>
              <a:t>, para realização </a:t>
            </a:r>
            <a:r>
              <a:rPr lang="pt-BR" sz="1400" dirty="0" smtClean="0">
                <a:solidFill>
                  <a:schemeClr val="tx1"/>
                </a:solidFill>
              </a:rPr>
              <a:t>do treinamento/certificações.</a:t>
            </a:r>
            <a:endParaRPr lang="pt-BR" sz="1400" dirty="0">
              <a:solidFill>
                <a:schemeClr val="tx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6" y="1433383"/>
            <a:ext cx="8989369" cy="259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8146</TotalTime>
  <Words>1166</Words>
  <Application>Microsoft Office PowerPoint</Application>
  <PresentationFormat>Personalizar</PresentationFormat>
  <Paragraphs>201</Paragraphs>
  <Slides>15</Slides>
  <Notes>8</Notes>
  <HiddenSlides>6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Worksheet</vt:lpstr>
      <vt:lpstr>Acrobat Document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673</cp:revision>
  <dcterms:created xsi:type="dcterms:W3CDTF">2015-08-20T14:57:26Z</dcterms:created>
  <dcterms:modified xsi:type="dcterms:W3CDTF">2015-11-13T15:28:29Z</dcterms:modified>
</cp:coreProperties>
</file>