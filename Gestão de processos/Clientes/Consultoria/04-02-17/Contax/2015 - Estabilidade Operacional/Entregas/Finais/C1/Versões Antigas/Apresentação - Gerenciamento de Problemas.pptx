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1" r:id="rId5"/>
  </p:sldMasterIdLst>
  <p:sldIdLst>
    <p:sldId id="270" r:id="rId6"/>
    <p:sldId id="288" r:id="rId7"/>
    <p:sldId id="290" r:id="rId8"/>
    <p:sldId id="298" r:id="rId9"/>
    <p:sldId id="301" r:id="rId10"/>
    <p:sldId id="304" r:id="rId11"/>
    <p:sldId id="300" r:id="rId12"/>
    <p:sldId id="299" r:id="rId13"/>
    <p:sldId id="302" r:id="rId14"/>
    <p:sldId id="303" r:id="rId15"/>
    <p:sldId id="297" r:id="rId16"/>
    <p:sldId id="28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11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45B"/>
    <a:srgbClr val="193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09" autoAdjust="0"/>
    <p:restoredTop sz="99854" autoAdjust="0"/>
  </p:normalViewPr>
  <p:slideViewPr>
    <p:cSldViewPr snapToGrid="0" snapToObjects="1">
      <p:cViewPr varScale="1">
        <p:scale>
          <a:sx n="73" d="100"/>
          <a:sy n="73" d="100"/>
        </p:scale>
        <p:origin x="1692" y="78"/>
      </p:cViewPr>
      <p:guideLst>
        <p:guide orient="horz"/>
        <p:guide pos="11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0C7E4D-A4E8-BF44-B1B2-500D2A97A33A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73305AD-EBDD-564C-9E4A-0F61261509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4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08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350" y="4259569"/>
            <a:ext cx="2476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77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15A96241-9EE8-3241-9C65-A8F2A1D83BB2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06-02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6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4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21333" y="384983"/>
            <a:ext cx="1603348" cy="388071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7" y="5840350"/>
            <a:ext cx="955343" cy="101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1"/>
            <a:ext cx="789296" cy="103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hyperlink" Target="http://tprocess-contax/secure/Dashboard.jspa?selectPageId=11853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 txBox="1">
            <a:spLocks/>
          </p:cNvSpPr>
          <p:nvPr/>
        </p:nvSpPr>
        <p:spPr>
          <a:xfrm>
            <a:off x="814789" y="2672962"/>
            <a:ext cx="4406916" cy="1196726"/>
          </a:xfrm>
          <a:prstGeom prst="rect">
            <a:avLst/>
          </a:prstGeom>
        </p:spPr>
        <p:txBody>
          <a:bodyPr vert="horz"/>
          <a:lstStyle>
            <a:lvl1pPr marL="342900" indent="-342900" algn="r" defTabSz="457200" rtl="0" eaLnBrk="1" latinLnBrk="0" hangingPunct="1">
              <a:spcBef>
                <a:spcPct val="20000"/>
              </a:spcBef>
              <a:buFont typeface="Arial"/>
              <a:buNone/>
              <a:defRPr sz="22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200" b="1" dirty="0" smtClean="0">
                <a:solidFill>
                  <a:schemeClr val="bg1"/>
                </a:solidFill>
              </a:rPr>
              <a:t>Gerenciamento de </a:t>
            </a:r>
            <a:r>
              <a:rPr lang="pt-BR" sz="3200" b="1" dirty="0">
                <a:solidFill>
                  <a:schemeClr val="bg1"/>
                </a:solidFill>
              </a:rPr>
              <a:t>Problemas </a:t>
            </a:r>
            <a:endParaRPr lang="pt-BR" sz="3200" b="1" dirty="0" smtClean="0">
              <a:solidFill>
                <a:schemeClr val="bg1"/>
              </a:solidFill>
            </a:endParaRPr>
          </a:p>
          <a:p>
            <a:pPr algn="l"/>
            <a:r>
              <a:rPr lang="pt-BR" sz="24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(</a:t>
            </a:r>
            <a:r>
              <a:rPr lang="pt-BR" sz="2400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Novo </a:t>
            </a:r>
            <a:r>
              <a:rPr lang="pt-BR" sz="24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Processo)</a:t>
            </a:r>
          </a:p>
        </p:txBody>
      </p:sp>
    </p:spTree>
    <p:extLst>
      <p:ext uri="{BB962C8B-B14F-4D97-AF65-F5344CB8AC3E}">
        <p14:creationId xmlns:p14="http://schemas.microsoft.com/office/powerpoint/2010/main" val="43918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41421" y="1965900"/>
            <a:ext cx="8109284" cy="2717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processo de Gerenciamento de Problemas de TI busca eliminar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e/ou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evitar recorrências dos impactos negativos causados aos negócios da Contax por falhas nos ativos tecnológicos sob responsabilidade da Área de TI.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gestão deste processo busca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identificação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entendimento, tratativa e correção definitiva das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causas raízes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dos denominados “Problemas de TI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”. Sempre com foco na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ou eliminação da ocorrência de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incidentes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TI que estejam causando indisponibilidades, lentidões, inconsistências, entre outros impactos negativos.</a:t>
            </a:r>
            <a:endParaRPr lang="pt-BR" dirty="0">
              <a:solidFill>
                <a:schemeClr val="accent1">
                  <a:lumMod val="50000"/>
                </a:schemeClr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000" dirty="0" smtClean="0">
                <a:solidFill>
                  <a:schemeClr val="tx2"/>
                </a:solidFill>
                <a:latin typeface="Arial"/>
                <a:cs typeface="Arial"/>
              </a:rPr>
              <a:t>Objetivo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4100" name="Picture 4" descr="http://www.jrmcoaching.com.br/wp-content/uploads/2015/03/metas-e-objetivo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5" t="20119"/>
          <a:stretch/>
        </p:blipFill>
        <p:spPr bwMode="auto">
          <a:xfrm>
            <a:off x="5185610" y="4521209"/>
            <a:ext cx="3368842" cy="14009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45185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000" dirty="0" smtClean="0">
                <a:solidFill>
                  <a:schemeClr val="tx2"/>
                </a:solidFill>
                <a:latin typeface="Arial"/>
                <a:cs typeface="Arial"/>
              </a:rPr>
              <a:t>Etapas do Processo</a:t>
            </a:r>
            <a:endParaRPr lang="en-US" sz="20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661381" y="1795374"/>
            <a:ext cx="7996304" cy="3787847"/>
            <a:chOff x="661381" y="1795374"/>
            <a:chExt cx="7996304" cy="3787847"/>
          </a:xfrm>
        </p:grpSpPr>
        <p:sp>
          <p:nvSpPr>
            <p:cNvPr id="5" name="Retângulo 4"/>
            <p:cNvSpPr>
              <a:spLocks noChangeArrowheads="1"/>
            </p:cNvSpPr>
            <p:nvPr/>
          </p:nvSpPr>
          <p:spPr bwMode="auto">
            <a:xfrm>
              <a:off x="3482963" y="1795374"/>
              <a:ext cx="5174722" cy="37878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8373" tIns="39187" rIns="78373" bIns="39187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Detecção e Registro do Problema</a:t>
              </a:r>
              <a:endPara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Categorização do Problema</a:t>
              </a:r>
            </a:p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Atribuição do Dono do Problema</a:t>
              </a:r>
              <a:endPara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Priorização do Problema</a:t>
              </a:r>
              <a:endPara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Investigação e Diagnóstico de Causa Raiz</a:t>
              </a:r>
            </a:p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Resolução do Problema </a:t>
              </a:r>
              <a:r>
                <a:rPr lang="pt-BR" sz="1600" i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(Solução de Contorno ou Solução Definitiva)</a:t>
              </a:r>
              <a:endParaRPr lang="pt-BR" sz="16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677616" lvl="1" indent="-285750" algn="just">
                <a:lnSpc>
                  <a:spcPct val="150000"/>
                </a:lnSpc>
                <a:spcBef>
                  <a:spcPts val="514"/>
                </a:spcBef>
                <a:buFont typeface="Wingdings" pitchFamily="2" charset="2"/>
                <a:buChar char="Ø"/>
              </a:pPr>
              <a:r>
                <a:rPr lang="pt-BR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Atualização da base de conhecimento.</a:t>
              </a:r>
              <a:endPara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Picture 2" descr="http://4.bp.blogspot.com/-VyD3ezEHAII/VPtlHdFFIlI/AAAAAAAAPI0/zBiyJPYu3D8/s1600/gerenciamento-problemas-itil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381" y="2386665"/>
              <a:ext cx="3020763" cy="3020763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  <a:extLst/>
          </p:spPr>
        </p:pic>
      </p:grpSp>
    </p:spTree>
    <p:extLst>
      <p:ext uri="{BB962C8B-B14F-4D97-AF65-F5344CB8AC3E}">
        <p14:creationId xmlns:p14="http://schemas.microsoft.com/office/powerpoint/2010/main" val="192445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000" dirty="0" smtClean="0">
                <a:solidFill>
                  <a:schemeClr val="tx2"/>
                </a:solidFill>
                <a:latin typeface="Arial"/>
                <a:cs typeface="Arial"/>
              </a:rPr>
              <a:t>Categoria dos Problemas</a:t>
            </a:r>
            <a:endParaRPr lang="en-US" sz="20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auto">
          <a:xfrm>
            <a:off x="342720" y="1737885"/>
            <a:ext cx="7477805" cy="4331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8373" tIns="39187" rIns="78373" bIns="39187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Sistemas Aplicativos e Pacotes de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negócio;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Software / Sistemas Operacionais;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Hardware;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Redes de Dados e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Voz;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Storage;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Telecomunicações;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Segurança da Informação;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Infraestrutura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Predial (</a:t>
            </a:r>
            <a:r>
              <a:rPr lang="pt-BR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Facilities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1866" lvl="1" algn="just">
              <a:lnSpc>
                <a:spcPct val="150000"/>
              </a:lnSpc>
              <a:spcBef>
                <a:spcPts val="514"/>
              </a:spcBef>
            </a:pP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https://www.veltec.com.br/sites/default/files/styles/galeria-solucoes/public/galeria/grafico.png?itok=Ls3uY3I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123" y="2923673"/>
            <a:ext cx="33337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80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000" dirty="0" smtClean="0">
                <a:solidFill>
                  <a:schemeClr val="tx2"/>
                </a:solidFill>
                <a:latin typeface="Arial"/>
                <a:cs typeface="Arial"/>
              </a:rPr>
              <a:t>Dinâmica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658863" y="1213904"/>
            <a:ext cx="7979216" cy="5555135"/>
            <a:chOff x="658863" y="1213904"/>
            <a:chExt cx="7979216" cy="5555135"/>
          </a:xfrm>
        </p:grpSpPr>
        <p:grpSp>
          <p:nvGrpSpPr>
            <p:cNvPr id="10" name="Grupo 9"/>
            <p:cNvGrpSpPr/>
            <p:nvPr/>
          </p:nvGrpSpPr>
          <p:grpSpPr>
            <a:xfrm>
              <a:off x="937495" y="1413268"/>
              <a:ext cx="2214984" cy="1587589"/>
              <a:chOff x="408488" y="1450276"/>
              <a:chExt cx="2214984" cy="1587589"/>
            </a:xfrm>
          </p:grpSpPr>
          <p:grpSp>
            <p:nvGrpSpPr>
              <p:cNvPr id="32" name="Grupo 31"/>
              <p:cNvGrpSpPr/>
              <p:nvPr/>
            </p:nvGrpSpPr>
            <p:grpSpPr>
              <a:xfrm>
                <a:off x="408488" y="1547813"/>
                <a:ext cx="1107492" cy="1490052"/>
                <a:chOff x="408487" y="1547813"/>
                <a:chExt cx="1540753" cy="2228842"/>
              </a:xfrm>
            </p:grpSpPr>
            <p:pic>
              <p:nvPicPr>
                <p:cNvPr id="36" name="Picture 2" descr="http://icon-icons.com/icons2/35/PNG/512/admin_person_user_man_2839.png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8740" y="1547813"/>
                  <a:ext cx="1300246" cy="130024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7" name="CaixaDeTexto 36"/>
                <p:cNvSpPr txBox="1"/>
                <p:nvPr/>
              </p:nvSpPr>
              <p:spPr>
                <a:xfrm>
                  <a:off x="408487" y="2878921"/>
                  <a:ext cx="1540753" cy="8977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100" b="1" dirty="0" smtClean="0"/>
                    <a:t>Gestor do Processo de Incidentes</a:t>
                  </a:r>
                  <a:endParaRPr lang="pt-BR" sz="1100" b="1" dirty="0"/>
                </a:p>
              </p:txBody>
            </p:sp>
          </p:grpSp>
          <p:grpSp>
            <p:nvGrpSpPr>
              <p:cNvPr id="33" name="Grupo 32"/>
              <p:cNvGrpSpPr/>
              <p:nvPr/>
            </p:nvGrpSpPr>
            <p:grpSpPr>
              <a:xfrm>
                <a:off x="1515980" y="1450276"/>
                <a:ext cx="1107492" cy="1587588"/>
                <a:chOff x="1515980" y="1450276"/>
                <a:chExt cx="1107492" cy="1587588"/>
              </a:xfrm>
            </p:grpSpPr>
            <p:pic>
              <p:nvPicPr>
                <p:cNvPr id="34" name="Picture 4" descr="http://images.all-free-download.com/images/graphiclarge/veston_user_554.jpg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576014" y="1450276"/>
                  <a:ext cx="987425" cy="9874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5" name="CaixaDeTexto 34"/>
                <p:cNvSpPr txBox="1"/>
                <p:nvPr/>
              </p:nvSpPr>
              <p:spPr>
                <a:xfrm>
                  <a:off x="1515980" y="2437700"/>
                  <a:ext cx="1107492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100" b="1" dirty="0" smtClean="0"/>
                    <a:t>Gestor do Processo de  Problemas</a:t>
                  </a:r>
                  <a:endParaRPr lang="pt-BR" sz="1100" b="1" dirty="0"/>
                </a:p>
              </p:txBody>
            </p:sp>
          </p:grpSp>
        </p:grpSp>
        <p:grpSp>
          <p:nvGrpSpPr>
            <p:cNvPr id="11" name="Grupo 10"/>
            <p:cNvGrpSpPr/>
            <p:nvPr/>
          </p:nvGrpSpPr>
          <p:grpSpPr>
            <a:xfrm>
              <a:off x="2200828" y="4390473"/>
              <a:ext cx="1107492" cy="1587588"/>
              <a:chOff x="815281" y="3618900"/>
              <a:chExt cx="1107492" cy="1587588"/>
            </a:xfrm>
          </p:grpSpPr>
          <p:pic>
            <p:nvPicPr>
              <p:cNvPr id="30" name="Picture 4" descr="http://images.all-free-download.com/images/graphiclarge/veston_user_554.jp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315" y="3618900"/>
                <a:ext cx="987425" cy="9874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" name="CaixaDeTexto 30"/>
              <p:cNvSpPr txBox="1"/>
              <p:nvPr/>
            </p:nvSpPr>
            <p:spPr>
              <a:xfrm>
                <a:off x="815281" y="4606324"/>
                <a:ext cx="1107492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b="1" dirty="0" smtClean="0"/>
                  <a:t>Gestor do Processo de  Problemas</a:t>
                </a:r>
                <a:endParaRPr lang="pt-BR" sz="1100" b="1" dirty="0"/>
              </a:p>
            </p:txBody>
          </p:sp>
        </p:grpSp>
        <p:sp>
          <p:nvSpPr>
            <p:cNvPr id="12" name="CaixaDeTexto 11"/>
            <p:cNvSpPr txBox="1"/>
            <p:nvPr/>
          </p:nvSpPr>
          <p:spPr>
            <a:xfrm>
              <a:off x="694532" y="3021214"/>
              <a:ext cx="2996067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BR" sz="1000" dirty="0" smtClean="0"/>
                <a:t>Identificar incidente </a:t>
              </a:r>
              <a:r>
                <a:rPr lang="pt-BR" sz="1000" dirty="0"/>
                <a:t>Crítico ou Recorrência de </a:t>
              </a:r>
              <a:r>
                <a:rPr lang="pt-BR" sz="1000" dirty="0" smtClean="0"/>
                <a:t>Incidentes.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BR" sz="1000" dirty="0" smtClean="0"/>
                <a:t>Associar incidentes a problemas abertos.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BR" sz="1000" dirty="0" smtClean="0"/>
                <a:t>Elevar a prioridade </a:t>
              </a:r>
              <a:r>
                <a:rPr lang="pt-BR" sz="1000" dirty="0"/>
                <a:t>de </a:t>
              </a:r>
              <a:r>
                <a:rPr lang="pt-BR" sz="1000" i="1" dirty="0"/>
                <a:t>tickets</a:t>
              </a:r>
              <a:r>
                <a:rPr lang="pt-BR" sz="1000" dirty="0"/>
                <a:t> de </a:t>
              </a:r>
              <a:r>
                <a:rPr lang="pt-BR" sz="1000" dirty="0" smtClean="0"/>
                <a:t>Problemas, </a:t>
              </a:r>
              <a:r>
                <a:rPr lang="pt-BR" sz="1000" dirty="0"/>
                <a:t>sempre que houver o aumento significativo de recorrências ou de impactos sobre Incidentes já associados a tickets de Problemas em </a:t>
              </a:r>
              <a:r>
                <a:rPr lang="pt-BR" sz="1000" dirty="0" smtClean="0"/>
                <a:t>aberto.</a:t>
              </a:r>
              <a:endParaRPr lang="pt-BR" dirty="0"/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658863" y="6061153"/>
              <a:ext cx="29221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BR" sz="1000" dirty="0" smtClean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Planejamento </a:t>
              </a:r>
              <a:r>
                <a:rPr lang="pt-BR" sz="1000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de Capacidade, Gerência de Disponibilidade, assim como pelos próprios pontos focais de Problemas de cada equipe de </a:t>
              </a:r>
              <a:r>
                <a:rPr lang="pt-BR" sz="1000" dirty="0" smtClean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TI. (Gerência e Diretoria).</a:t>
              </a:r>
              <a:endParaRPr lang="pt-BR" sz="1000" dirty="0">
                <a:latin typeface="+mj-lt"/>
              </a:endParaRPr>
            </a:p>
          </p:txBody>
        </p:sp>
        <p:grpSp>
          <p:nvGrpSpPr>
            <p:cNvPr id="14" name="Grupo 13"/>
            <p:cNvGrpSpPr/>
            <p:nvPr/>
          </p:nvGrpSpPr>
          <p:grpSpPr>
            <a:xfrm>
              <a:off x="5816087" y="1213904"/>
              <a:ext cx="1107492" cy="1587588"/>
              <a:chOff x="815281" y="3618900"/>
              <a:chExt cx="1107492" cy="1587588"/>
            </a:xfrm>
          </p:grpSpPr>
          <p:pic>
            <p:nvPicPr>
              <p:cNvPr id="28" name="Picture 4" descr="http://images.all-free-download.com/images/graphiclarge/veston_user_554.jp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315" y="3618900"/>
                <a:ext cx="987425" cy="9874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" name="CaixaDeTexto 28"/>
              <p:cNvSpPr txBox="1"/>
              <p:nvPr/>
            </p:nvSpPr>
            <p:spPr>
              <a:xfrm>
                <a:off x="815281" y="4606324"/>
                <a:ext cx="1107492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b="1" dirty="0" smtClean="0"/>
                  <a:t>Gestor do Processo de  Problemas</a:t>
                </a:r>
                <a:endParaRPr lang="pt-BR" sz="1100" b="1" dirty="0"/>
              </a:p>
            </p:txBody>
          </p:sp>
        </p:grpSp>
        <p:sp>
          <p:nvSpPr>
            <p:cNvPr id="15" name="CaixaDeTexto 14"/>
            <p:cNvSpPr txBox="1"/>
            <p:nvPr/>
          </p:nvSpPr>
          <p:spPr>
            <a:xfrm>
              <a:off x="4541166" y="3823967"/>
              <a:ext cx="110749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/>
                <a:t>Dono do Problema</a:t>
              </a:r>
              <a:endParaRPr lang="pt-BR" sz="1100" b="1" dirty="0"/>
            </a:p>
          </p:txBody>
        </p:sp>
        <p:sp>
          <p:nvSpPr>
            <p:cNvPr id="16" name="CaixaDeTexto 15"/>
            <p:cNvSpPr txBox="1"/>
            <p:nvPr/>
          </p:nvSpPr>
          <p:spPr>
            <a:xfrm>
              <a:off x="4337239" y="4181091"/>
              <a:ext cx="15442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G</a:t>
              </a:r>
              <a:r>
                <a:rPr lang="pt-BR" sz="1100" dirty="0" smtClean="0"/>
                <a:t>estor </a:t>
              </a:r>
              <a:r>
                <a:rPr lang="pt-BR" sz="1100" dirty="0"/>
                <a:t>responsável pelos ICs </a:t>
              </a:r>
              <a:r>
                <a:rPr lang="pt-BR" sz="1100" dirty="0" smtClean="0"/>
                <a:t>que </a:t>
              </a:r>
              <a:r>
                <a:rPr lang="pt-BR" sz="1100" dirty="0"/>
                <a:t>causaram os Incidentes</a:t>
              </a:r>
            </a:p>
          </p:txBody>
        </p:sp>
        <p:sp>
          <p:nvSpPr>
            <p:cNvPr id="17" name="CaixaDeTexto 16"/>
            <p:cNvSpPr txBox="1"/>
            <p:nvPr/>
          </p:nvSpPr>
          <p:spPr>
            <a:xfrm>
              <a:off x="1250725" y="4205807"/>
              <a:ext cx="1588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 smtClean="0"/>
                <a:t>Pontual </a:t>
              </a:r>
              <a:endParaRPr lang="pt-BR" b="1" dirty="0"/>
            </a:p>
          </p:txBody>
        </p:sp>
        <p:pic>
          <p:nvPicPr>
            <p:cNvPr id="18" name="Picture 8" descr="http://www.ujaen.es/sci/sau/graficos/user-group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644" y="4558691"/>
              <a:ext cx="1251151" cy="1251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CaixaDeTexto 18"/>
            <p:cNvSpPr txBox="1"/>
            <p:nvPr/>
          </p:nvSpPr>
          <p:spPr>
            <a:xfrm>
              <a:off x="1509331" y="5459319"/>
              <a:ext cx="7376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/>
                <a:t>Pontos Focais</a:t>
              </a:r>
              <a:endParaRPr lang="pt-BR" sz="1100" b="1" dirty="0"/>
            </a:p>
          </p:txBody>
        </p:sp>
        <p:pic>
          <p:nvPicPr>
            <p:cNvPr id="20" name="Picture 10" descr="http://www.mod.gov.eg/mod/images/Doctor03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3468" y="2782069"/>
              <a:ext cx="782888" cy="1066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http://icons.iconseeker.com/png/128/sleek-xp-software/notepad-7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8797" y="1750019"/>
              <a:ext cx="846834" cy="846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Conector angulado 21"/>
            <p:cNvCxnSpPr>
              <a:stCxn id="28" idx="1"/>
              <a:endCxn id="20" idx="0"/>
            </p:cNvCxnSpPr>
            <p:nvPr/>
          </p:nvCxnSpPr>
          <p:spPr>
            <a:xfrm rot="10800000" flipV="1">
              <a:off x="5094913" y="1707617"/>
              <a:ext cx="781209" cy="107445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14" descr="http://www.erasoft.com.br/img/cortes/usuarios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3579" y="4346653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4" name="Conector angulado 23"/>
            <p:cNvCxnSpPr>
              <a:stCxn id="20" idx="3"/>
              <a:endCxn id="23" idx="0"/>
            </p:cNvCxnSpPr>
            <p:nvPr/>
          </p:nvCxnSpPr>
          <p:spPr>
            <a:xfrm>
              <a:off x="5486356" y="3315179"/>
              <a:ext cx="2294473" cy="103147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aixaDeTexto 24"/>
            <p:cNvSpPr txBox="1"/>
            <p:nvPr/>
          </p:nvSpPr>
          <p:spPr>
            <a:xfrm>
              <a:off x="6467468" y="4246126"/>
              <a:ext cx="11404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/>
                <a:t>Áreas solucionadoras </a:t>
              </a:r>
              <a:endParaRPr lang="pt-BR" sz="1200" dirty="0"/>
            </a:p>
          </p:txBody>
        </p:sp>
        <p:pic>
          <p:nvPicPr>
            <p:cNvPr id="26" name="Picture 12" descr="http://icons.iconseeker.com/png/128/sleek-xp-software/notepad-7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8658" y="4679456"/>
              <a:ext cx="846834" cy="846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CaixaDeTexto 26"/>
            <p:cNvSpPr txBox="1"/>
            <p:nvPr/>
          </p:nvSpPr>
          <p:spPr>
            <a:xfrm>
              <a:off x="4703468" y="5789373"/>
              <a:ext cx="2754048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BR" sz="1050" dirty="0" smtClean="0"/>
                <a:t>Registrar todas </a:t>
              </a:r>
              <a:r>
                <a:rPr lang="pt-BR" sz="1050" dirty="0"/>
                <a:t>as atividades necessárias para o tratamento das causas-raízes identificadas no Problema (para aprovação do Gestor de Problemas</a:t>
              </a:r>
              <a:r>
                <a:rPr lang="pt-BR" sz="1050" dirty="0" smtClean="0"/>
                <a:t>).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pt-BR" sz="1050" dirty="0" smtClean="0"/>
                <a:t>Planejar e implementar a solução definitiva.</a:t>
              </a:r>
              <a:endParaRPr lang="pt-BR" sz="1050" dirty="0"/>
            </a:p>
          </p:txBody>
        </p:sp>
      </p:grpSp>
      <p:sp>
        <p:nvSpPr>
          <p:cNvPr id="38" name="CaixaDeTexto 37"/>
          <p:cNvSpPr txBox="1"/>
          <p:nvPr/>
        </p:nvSpPr>
        <p:spPr>
          <a:xfrm>
            <a:off x="3248287" y="1326139"/>
            <a:ext cx="158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/>
              <a:t>Diariamente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6104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pt-BR" sz="2000" dirty="0" smtClean="0">
                <a:solidFill>
                  <a:schemeClr val="tx2"/>
                </a:solidFill>
                <a:latin typeface="Arial"/>
                <a:ea typeface="+mj-ea"/>
                <a:cs typeface="Arial"/>
              </a:rPr>
              <a:t>Investigação </a:t>
            </a:r>
            <a:r>
              <a:rPr lang="pt-BR" sz="2000" dirty="0">
                <a:solidFill>
                  <a:schemeClr val="tx2"/>
                </a:solidFill>
                <a:latin typeface="Arial"/>
                <a:ea typeface="+mj-ea"/>
                <a:cs typeface="Arial"/>
              </a:rPr>
              <a:t>e Diagnóstico de Causa Raiz</a:t>
            </a:r>
          </a:p>
        </p:txBody>
      </p:sp>
      <p:grpSp>
        <p:nvGrpSpPr>
          <p:cNvPr id="39" name="Grupo 38"/>
          <p:cNvGrpSpPr/>
          <p:nvPr/>
        </p:nvGrpSpPr>
        <p:grpSpPr>
          <a:xfrm>
            <a:off x="661381" y="1596095"/>
            <a:ext cx="7474234" cy="4900958"/>
            <a:chOff x="2536658" y="397042"/>
            <a:chExt cx="6158163" cy="5107765"/>
          </a:xfrm>
        </p:grpSpPr>
        <p:cxnSp>
          <p:nvCxnSpPr>
            <p:cNvPr id="40" name="Conector reto 39"/>
            <p:cNvCxnSpPr/>
            <p:nvPr/>
          </p:nvCxnSpPr>
          <p:spPr>
            <a:xfrm>
              <a:off x="5630777" y="1715781"/>
              <a:ext cx="0" cy="36503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 flipH="1">
              <a:off x="2536658" y="3104150"/>
              <a:ext cx="6116051" cy="320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CaixaDeTexto 41"/>
            <p:cNvSpPr txBox="1"/>
            <p:nvPr/>
          </p:nvSpPr>
          <p:spPr>
            <a:xfrm>
              <a:off x="2566733" y="1531115"/>
              <a:ext cx="256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pt-BR" b="1" dirty="0" smtClean="0">
                  <a:solidFill>
                    <a:srgbClr val="002060"/>
                  </a:solidFill>
                </a:rPr>
                <a:t>Volumetria</a:t>
              </a:r>
              <a:endParaRPr lang="pt-BR" b="1" dirty="0">
                <a:solidFill>
                  <a:srgbClr val="002060"/>
                </a:solidFill>
              </a:endParaRPr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2566733" y="1992779"/>
              <a:ext cx="3064044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 smtClean="0"/>
                <a:t>Quantidade de Incidentes (</a:t>
              </a:r>
              <a:r>
                <a:rPr lang="pt-BR" sz="1400" i="1" dirty="0" smtClean="0"/>
                <a:t>Histórico tProcess!</a:t>
              </a:r>
              <a:r>
                <a:rPr lang="pt-BR" sz="1400" dirty="0" smtClean="0"/>
                <a:t>)</a:t>
              </a:r>
            </a:p>
            <a:p>
              <a:r>
                <a:rPr lang="pt-BR" sz="1400" dirty="0" smtClean="0"/>
                <a:t>Data mais recente do(s) último(s) incidente(s)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pt-BR" sz="1400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6087978" y="1623447"/>
              <a:ext cx="256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/>
              <a:r>
                <a:rPr lang="pt-BR" b="1" dirty="0" smtClean="0">
                  <a:solidFill>
                    <a:srgbClr val="002060"/>
                  </a:solidFill>
                </a:rPr>
                <a:t>Impacto</a:t>
              </a:r>
              <a:endParaRPr lang="pt-BR" b="1" dirty="0">
                <a:solidFill>
                  <a:srgbClr val="002060"/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6087978" y="2114509"/>
              <a:ext cx="2564731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 smtClean="0"/>
                <a:t>Cliente(s)</a:t>
              </a:r>
            </a:p>
            <a:p>
              <a:pPr algn="r"/>
              <a:r>
                <a:rPr lang="pt-BR" sz="1400" dirty="0" smtClean="0"/>
                <a:t>Site(s)</a:t>
              </a:r>
            </a:p>
            <a:p>
              <a:pPr algn="r"/>
              <a:r>
                <a:rPr lang="pt-BR" sz="1400" dirty="0" smtClean="0"/>
                <a:t>Período(s) Crítico(s)</a:t>
              </a:r>
            </a:p>
            <a:p>
              <a:pPr algn="r"/>
              <a:r>
                <a:rPr lang="pt-BR" sz="1400" dirty="0" smtClean="0"/>
                <a:t>Dado(s) financeiro(s)</a:t>
              </a:r>
            </a:p>
            <a:p>
              <a:pPr marL="285750" indent="-285750" algn="r">
                <a:buFont typeface="Arial" panose="020B0604020202020204" pitchFamily="34" charset="0"/>
                <a:buChar char="•"/>
              </a:pPr>
              <a:endParaRPr lang="pt-BR" sz="1400" dirty="0"/>
            </a:p>
          </p:txBody>
        </p:sp>
        <p:sp>
          <p:nvSpPr>
            <p:cNvPr id="46" name="CaixaDeTexto 45"/>
            <p:cNvSpPr txBox="1"/>
            <p:nvPr/>
          </p:nvSpPr>
          <p:spPr>
            <a:xfrm>
              <a:off x="2536658" y="397042"/>
              <a:ext cx="523574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i="1" dirty="0" smtClean="0"/>
                <a:t>Componente de TI</a:t>
              </a:r>
            </a:p>
            <a:p>
              <a:r>
                <a:rPr lang="pt-BR" b="1" i="1" dirty="0" smtClean="0"/>
                <a:t>Serviço de TI</a:t>
              </a:r>
            </a:p>
            <a:p>
              <a:r>
                <a:rPr lang="pt-BR" b="1" i="1" dirty="0" smtClean="0"/>
                <a:t>Sintoma</a:t>
              </a:r>
              <a:endParaRPr lang="pt-BR" b="1" i="1" dirty="0"/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2536658" y="3314893"/>
              <a:ext cx="256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pt-BR" b="1" dirty="0" smtClean="0">
                  <a:solidFill>
                    <a:srgbClr val="002060"/>
                  </a:solidFill>
                </a:rPr>
                <a:t>Possíveis Causas</a:t>
              </a:r>
              <a:endParaRPr lang="pt-BR" b="1" dirty="0">
                <a:solidFill>
                  <a:srgbClr val="002060"/>
                </a:solidFill>
              </a:endParaRPr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2536658" y="3776557"/>
              <a:ext cx="309411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 smtClean="0"/>
                <a:t>Listar a(s) possível(</a:t>
              </a:r>
              <a:r>
                <a:rPr lang="pt-BR" sz="1400" dirty="0" err="1" smtClean="0"/>
                <a:t>is</a:t>
              </a:r>
              <a:r>
                <a:rPr lang="pt-BR" sz="1400" dirty="0" smtClean="0"/>
                <a:t>) causa(s)</a:t>
              </a:r>
            </a:p>
            <a:p>
              <a:r>
                <a:rPr lang="pt-BR" sz="1400" dirty="0" smtClean="0"/>
                <a:t>Identificar a(s) causa(s) mais provável(</a:t>
              </a:r>
              <a:r>
                <a:rPr lang="pt-BR" sz="1400" dirty="0" err="1" smtClean="0"/>
                <a:t>is</a:t>
              </a:r>
              <a:r>
                <a:rPr lang="pt-BR" sz="1400" dirty="0" smtClean="0"/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pt-BR" sz="1400" dirty="0"/>
            </a:p>
          </p:txBody>
        </p:sp>
        <p:sp>
          <p:nvSpPr>
            <p:cNvPr id="49" name="CaixaDeTexto 48"/>
            <p:cNvSpPr txBox="1"/>
            <p:nvPr/>
          </p:nvSpPr>
          <p:spPr>
            <a:xfrm>
              <a:off x="6087978" y="3285007"/>
              <a:ext cx="256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/>
              <a:r>
                <a:rPr lang="pt-BR" b="1" dirty="0" smtClean="0">
                  <a:solidFill>
                    <a:srgbClr val="002060"/>
                  </a:solidFill>
                </a:rPr>
                <a:t>Soluções</a:t>
              </a:r>
              <a:endParaRPr lang="pt-BR" b="1" dirty="0">
                <a:solidFill>
                  <a:srgbClr val="002060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6130090" y="3688925"/>
              <a:ext cx="2564731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 smtClean="0">
                  <a:solidFill>
                    <a:srgbClr val="002060"/>
                  </a:solidFill>
                </a:rPr>
                <a:t>Solução de Contorno</a:t>
              </a:r>
            </a:p>
            <a:p>
              <a:pPr algn="r"/>
              <a:r>
                <a:rPr lang="pt-BR" sz="1400" dirty="0" smtClean="0"/>
                <a:t>Listar a(s) solução(</a:t>
              </a:r>
              <a:r>
                <a:rPr lang="pt-BR" sz="1400" dirty="0" err="1" smtClean="0"/>
                <a:t>ões</a:t>
              </a:r>
              <a:r>
                <a:rPr lang="pt-BR" sz="1400" dirty="0" smtClean="0"/>
                <a:t>) de contorno(s) encontrada(s)</a:t>
              </a:r>
              <a:endParaRPr lang="pt-BR" sz="1400" dirty="0"/>
            </a:p>
            <a:p>
              <a:pPr algn="r"/>
              <a:endParaRPr lang="pt-BR" sz="1400" dirty="0" smtClean="0"/>
            </a:p>
            <a:p>
              <a:pPr algn="r"/>
              <a:r>
                <a:rPr lang="pt-BR" sz="1400" dirty="0" smtClean="0">
                  <a:solidFill>
                    <a:srgbClr val="002060"/>
                  </a:solidFill>
                </a:rPr>
                <a:t>Solução Definitiva</a:t>
              </a:r>
              <a:endParaRPr lang="pt-BR" sz="1400" dirty="0" smtClean="0"/>
            </a:p>
            <a:p>
              <a:pPr algn="r"/>
              <a:r>
                <a:rPr lang="pt-BR" sz="1400" dirty="0" smtClean="0"/>
                <a:t>Listar a(s) solução(</a:t>
              </a:r>
              <a:r>
                <a:rPr lang="pt-BR" sz="1400" dirty="0" err="1" smtClean="0"/>
                <a:t>ões</a:t>
              </a:r>
              <a:r>
                <a:rPr lang="pt-BR" sz="1400" dirty="0" smtClean="0"/>
                <a:t>) definitiva(s) encontrada(s)</a:t>
              </a:r>
            </a:p>
            <a:p>
              <a:pPr marL="285750" indent="-285750" algn="r">
                <a:buFont typeface="Arial" panose="020B0604020202020204" pitchFamily="34" charset="0"/>
                <a:buChar char="•"/>
              </a:pP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5027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10" t="1694" r="2425" b="61406"/>
          <a:stretch/>
        </p:blipFill>
        <p:spPr>
          <a:xfrm>
            <a:off x="884143" y="1413719"/>
            <a:ext cx="7375714" cy="4511843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000" dirty="0" smtClean="0">
                <a:solidFill>
                  <a:schemeClr val="tx2"/>
                </a:solidFill>
                <a:latin typeface="Arial"/>
                <a:cs typeface="Arial"/>
              </a:rPr>
              <a:t>Fluxo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475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t="40090" r="2425" b="7547"/>
          <a:stretch/>
        </p:blipFill>
        <p:spPr>
          <a:xfrm>
            <a:off x="709863" y="1239770"/>
            <a:ext cx="7607448" cy="555807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000" dirty="0" smtClean="0">
                <a:solidFill>
                  <a:schemeClr val="tx2"/>
                </a:solidFill>
                <a:latin typeface="Arial"/>
                <a:cs typeface="Arial"/>
              </a:rPr>
              <a:t>Fluxo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168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951" y="4243682"/>
            <a:ext cx="247650" cy="176212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6572" y="1276319"/>
            <a:ext cx="5112402" cy="268728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091" y="1431325"/>
            <a:ext cx="4711793" cy="248415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233" y="4467289"/>
            <a:ext cx="4025846" cy="1266782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3079" y="3963607"/>
            <a:ext cx="4514840" cy="2702600"/>
          </a:xfrm>
          <a:prstGeom prst="rect">
            <a:avLst/>
          </a:prstGeom>
        </p:spPr>
      </p:pic>
      <p:sp>
        <p:nvSpPr>
          <p:cNvPr id="43" name="CaixaDeTexto 42"/>
          <p:cNvSpPr txBox="1"/>
          <p:nvPr/>
        </p:nvSpPr>
        <p:spPr>
          <a:xfrm>
            <a:off x="0" y="6565765"/>
            <a:ext cx="83863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19345B"/>
                </a:solidFill>
              </a:rPr>
              <a:t>Fontes</a:t>
            </a:r>
            <a:r>
              <a:rPr lang="pt-BR" sz="1000" dirty="0" smtClean="0">
                <a:solidFill>
                  <a:srgbClr val="19345B"/>
                </a:solidFill>
              </a:rPr>
              <a:t>: (Relatório</a:t>
            </a:r>
            <a:r>
              <a:rPr lang="pt-BR" sz="1000" dirty="0">
                <a:solidFill>
                  <a:srgbClr val="19345B"/>
                </a:solidFill>
              </a:rPr>
              <a:t>: SLA - Diário – </a:t>
            </a:r>
            <a:r>
              <a:rPr lang="pt-BR" sz="1000" dirty="0" smtClean="0">
                <a:solidFill>
                  <a:srgbClr val="19345B"/>
                </a:solidFill>
              </a:rPr>
              <a:t>Contax) </a:t>
            </a:r>
            <a:r>
              <a:rPr lang="pt-BR" sz="1000" dirty="0">
                <a:solidFill>
                  <a:srgbClr val="19345B"/>
                </a:solidFill>
              </a:rPr>
              <a:t>e </a:t>
            </a:r>
            <a:r>
              <a:rPr lang="pt-BR" sz="1000" dirty="0" smtClean="0">
                <a:solidFill>
                  <a:srgbClr val="19345B"/>
                </a:solidFill>
              </a:rPr>
              <a:t>(</a:t>
            </a:r>
            <a:r>
              <a:rPr lang="pt-BR" sz="1000" dirty="0" smtClean="0">
                <a:solidFill>
                  <a:srgbClr val="19345B"/>
                </a:solidFill>
                <a:hlinkClick r:id="rId7"/>
              </a:rPr>
              <a:t>http</a:t>
            </a:r>
            <a:r>
              <a:rPr lang="pt-BR" sz="1000" dirty="0">
                <a:solidFill>
                  <a:srgbClr val="19345B"/>
                </a:solidFill>
                <a:hlinkClick r:id="rId7"/>
              </a:rPr>
              <a:t>://</a:t>
            </a:r>
            <a:r>
              <a:rPr lang="pt-BR" sz="1000" dirty="0" smtClean="0">
                <a:solidFill>
                  <a:srgbClr val="19345B"/>
                </a:solidFill>
                <a:hlinkClick r:id="rId7"/>
              </a:rPr>
              <a:t>tprocess-contax/secure/Dashboard.jspa?selectPageId=11853</a:t>
            </a:r>
            <a:r>
              <a:rPr lang="pt-BR" sz="1000" dirty="0" smtClean="0">
                <a:solidFill>
                  <a:srgbClr val="19345B"/>
                </a:solidFill>
              </a:rPr>
              <a:t>) – Consulta: 01/12/2015 - Horário: 15:00</a:t>
            </a:r>
            <a:endParaRPr lang="pt-BR" sz="1000" dirty="0">
              <a:solidFill>
                <a:srgbClr val="19345B"/>
              </a:solidFill>
            </a:endParaRPr>
          </a:p>
        </p:txBody>
      </p:sp>
      <p:sp>
        <p:nvSpPr>
          <p:cNvPr id="45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000" dirty="0" smtClean="0">
                <a:solidFill>
                  <a:schemeClr val="tx2"/>
                </a:solidFill>
                <a:latin typeface="Arial"/>
                <a:cs typeface="Arial"/>
              </a:rPr>
              <a:t>Indicadores: Incidentes e Problemas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25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36885" y="1561363"/>
            <a:ext cx="854242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2060"/>
                </a:solidFill>
              </a:rPr>
              <a:t>FCS1</a:t>
            </a:r>
            <a:r>
              <a:rPr lang="pt-BR" dirty="0">
                <a:solidFill>
                  <a:srgbClr val="002060"/>
                </a:solidFill>
              </a:rPr>
              <a:t>: Minimizar o impacto ao negócio dos incidentes que não podem ser prevenidos.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Números de erros conhecidos adicionados a BDEC. (</a:t>
            </a:r>
            <a:r>
              <a:rPr lang="pt-BR" sz="1600" i="1" dirty="0">
                <a:solidFill>
                  <a:schemeClr val="accent5">
                    <a:lumMod val="75000"/>
                  </a:schemeClr>
                </a:solidFill>
              </a:rPr>
              <a:t>Base de dados de erros conhecidos</a:t>
            </a: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Porcentagem de incidentes fechados pela Central de Serviços sem o apoio de outro nível de suporte.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Tempo médio de resolução de incidentes relacionados a problemas.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19345B"/>
                </a:solidFill>
              </a:rPr>
              <a:t>FCS2</a:t>
            </a:r>
            <a:r>
              <a:rPr lang="pt-BR" dirty="0">
                <a:solidFill>
                  <a:srgbClr val="19345B"/>
                </a:solidFill>
              </a:rPr>
              <a:t>: Elevar a qualidade dos serviços de TI através da eliminação de incidentes recorrentes.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Número total de problemas.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Tamanho atual do backlog de problemas para cada serviço e TI.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Número de incidentes recorrentes para cada serviço de TI.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19345B"/>
                </a:solidFill>
              </a:rPr>
              <a:t>FCS3</a:t>
            </a:r>
            <a:r>
              <a:rPr lang="pt-BR" dirty="0">
                <a:solidFill>
                  <a:srgbClr val="19345B"/>
                </a:solidFill>
              </a:rPr>
              <a:t>: Fornecer qualidade e profissionalismo nas atividades de problemas a fim de manter a confiança do negócio na prestação de serviços realizadas por TI.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Número de problemas graves. (</a:t>
            </a:r>
            <a:r>
              <a:rPr lang="pt-BR" sz="1600" i="1" dirty="0">
                <a:solidFill>
                  <a:schemeClr val="accent5">
                    <a:lumMod val="75000"/>
                  </a:schemeClr>
                </a:solidFill>
              </a:rPr>
              <a:t>Abertos, Fechados e Backlog</a:t>
            </a: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Backlog de problemas pendentes e tendências. (</a:t>
            </a:r>
            <a:r>
              <a:rPr lang="pt-BR" sz="1600" i="1" dirty="0">
                <a:solidFill>
                  <a:schemeClr val="accent5">
                    <a:lumMod val="75000"/>
                  </a:schemeClr>
                </a:solidFill>
              </a:rPr>
              <a:t>Reduzindo ou aumentando?</a:t>
            </a: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Percentual de problemas resolvidos. (</a:t>
            </a:r>
            <a:r>
              <a:rPr lang="pt-BR" sz="1600" i="1" dirty="0">
                <a:solidFill>
                  <a:schemeClr val="accent5">
                    <a:lumMod val="75000"/>
                  </a:schemeClr>
                </a:solidFill>
              </a:rPr>
              <a:t>Dentro e fora do prazo</a:t>
            </a: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75000"/>
                  </a:schemeClr>
                </a:solidFill>
              </a:rPr>
              <a:t>Percentual de problemas não resolvidos. </a:t>
            </a:r>
            <a:endParaRPr lang="pt-BR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000" dirty="0" smtClean="0">
                <a:solidFill>
                  <a:schemeClr val="tx2"/>
                </a:solidFill>
                <a:latin typeface="Arial"/>
                <a:cs typeface="Arial"/>
              </a:rPr>
              <a:t>Novos Indicadores</a:t>
            </a:r>
            <a:endParaRPr lang="en-US" sz="20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951" y="4243682"/>
            <a:ext cx="2476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1381" y="220848"/>
            <a:ext cx="564316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Gerenciamento de Problemas</a:t>
            </a:r>
          </a:p>
          <a:p>
            <a:pPr algn="l"/>
            <a:r>
              <a:rPr lang="en-US" sz="2000" dirty="0" smtClean="0">
                <a:solidFill>
                  <a:schemeClr val="tx2"/>
                </a:solidFill>
                <a:latin typeface="Arial"/>
                <a:cs typeface="Arial"/>
              </a:rPr>
              <a:t>Benefícios</a:t>
            </a:r>
            <a:endParaRPr lang="en-US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342720" y="1737885"/>
            <a:ext cx="7477805" cy="2892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8373" tIns="39187" rIns="78373" bIns="39187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significativa da reincidência de incidentes;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Diminuição perceptível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 tempo de resolução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Aumento da estabilidade Operacional;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Maior disponibilidade dos Serviços;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Elevar a satisfação dos clientes internos e externos;</a:t>
            </a:r>
          </a:p>
          <a:p>
            <a:pPr marL="677616" lvl="1" indent="-285750" algn="just">
              <a:lnSpc>
                <a:spcPct val="150000"/>
              </a:lnSpc>
              <a:spcBef>
                <a:spcPts val="514"/>
              </a:spcBef>
              <a:buFont typeface="Wingdings" pitchFamily="2" charset="2"/>
              <a:buChar char="Ø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Diminuição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 risco de perda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contratual.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s://aprender.buzzero.com/buzzers/administracao-cursos/34457/HotSiteImag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38"/>
          <a:stretch/>
        </p:blipFill>
        <p:spPr bwMode="auto">
          <a:xfrm>
            <a:off x="4739606" y="4510161"/>
            <a:ext cx="3526087" cy="22627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190012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561293" y="2983269"/>
            <a:ext cx="2225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i="1" dirty="0">
                <a:solidFill>
                  <a:schemeClr val="tx2">
                    <a:lumMod val="75000"/>
                  </a:schemeClr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43719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B5D3D784E3BA449570ADAAF37FA8B2" ma:contentTypeVersion="0" ma:contentTypeDescription="Crie um novo documento." ma:contentTypeScope="" ma:versionID="704348065d9a17421fec285126e8bba4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FCBB0CFE-F86C-44BA-96EA-0C3DC43577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9C7E2F5D-080C-444C-BD34-4F68389326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C01CA5-A8B7-4410-91AF-052B76957A67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2155</TotalTime>
  <Words>668</Words>
  <Application>Microsoft Office PowerPoint</Application>
  <PresentationFormat>Apresentação na tela (4:3)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</vt:lpstr>
      <vt:lpstr>Calibri</vt:lpstr>
      <vt:lpstr>Tahoma</vt:lpstr>
      <vt:lpstr>Times New Roman</vt:lpstr>
      <vt:lpstr>Verdana</vt:lpstr>
      <vt:lpstr>Wingdings</vt:lpstr>
      <vt:lpstr>Office Theme</vt:lpstr>
      <vt:lpstr>Custom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Chacon Consultoria</dc:creator>
  <cp:lastModifiedBy>Felipe Lima</cp:lastModifiedBy>
  <cp:revision>208</cp:revision>
  <dcterms:created xsi:type="dcterms:W3CDTF">2015-08-23T23:08:42Z</dcterms:created>
  <dcterms:modified xsi:type="dcterms:W3CDTF">2015-12-01T17:13:48Z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0x01010043B5D3D784E3BA449570ADAAF37FA8B2</vt:lpwstr>
  </property>
</Properties>
</file>