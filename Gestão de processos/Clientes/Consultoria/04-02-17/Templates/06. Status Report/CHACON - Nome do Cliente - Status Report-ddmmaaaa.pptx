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0" r:id="rId2"/>
    <p:sldId id="258" r:id="rId3"/>
    <p:sldId id="259" r:id="rId4"/>
    <p:sldId id="261" r:id="rId5"/>
    <p:sldId id="262" r:id="rId6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150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092F00-1693-46F5-ADD3-FC8A61E54BAD}" type="datetimeFigureOut">
              <a:rPr lang="pt-BR" smtClean="0"/>
              <a:t>12/07/2016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935278-10FB-4E53-8578-34F0705BFB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2649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4D4A66-1676-4191-9D94-0EA2519F9BAF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52990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7C3F6-2F14-46D1-AAE1-6802FB7EEC55}" type="datetimeFigureOut">
              <a:rPr lang="pt-BR" smtClean="0"/>
              <a:t>12/07/2016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6517A-2038-47B7-91F6-CB5ACFFF402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3522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7C3F6-2F14-46D1-AAE1-6802FB7EEC55}" type="datetimeFigureOut">
              <a:rPr lang="pt-BR" smtClean="0"/>
              <a:t>12/07/2016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6517A-2038-47B7-91F6-CB5ACFFF402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0339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7C3F6-2F14-46D1-AAE1-6802FB7EEC55}" type="datetimeFigureOut">
              <a:rPr lang="pt-BR" smtClean="0"/>
              <a:t>12/07/2016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6517A-2038-47B7-91F6-CB5ACFFF402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6216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71487" y="1825625"/>
            <a:ext cx="2900363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3486150" y="1825625"/>
            <a:ext cx="2900363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7C3F6-2F14-46D1-AAE1-6802FB7EEC55}" type="datetimeFigureOut">
              <a:rPr lang="pt-BR" smtClean="0"/>
              <a:t>12/07/2016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6517A-2038-47B7-91F6-CB5ACFFF402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14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7C3F6-2F14-46D1-AAE1-6802FB7EEC55}" type="datetimeFigureOut">
              <a:rPr lang="pt-BR" smtClean="0"/>
              <a:t>12/07/2016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6517A-2038-47B7-91F6-CB5ACFFF402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545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7C3F6-2F14-46D1-AAE1-6802FB7EEC55}" type="datetimeFigureOut">
              <a:rPr lang="pt-BR" smtClean="0"/>
              <a:t>12/07/2016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6517A-2038-47B7-91F6-CB5ACFFF402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7954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7C3F6-2F14-46D1-AAE1-6802FB7EEC55}" type="datetimeFigureOut">
              <a:rPr lang="pt-BR" smtClean="0"/>
              <a:t>12/07/2016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6517A-2038-47B7-91F6-CB5ACFFF402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5016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7C3F6-2F14-46D1-AAE1-6802FB7EEC55}" type="datetimeFigureOut">
              <a:rPr lang="pt-BR" smtClean="0"/>
              <a:t>12/07/2016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6517A-2038-47B7-91F6-CB5ACFFF402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3669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7C3F6-2F14-46D1-AAE1-6802FB7EEC55}" type="datetimeFigureOut">
              <a:rPr lang="pt-BR" smtClean="0"/>
              <a:t>12/07/2016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6517A-2038-47B7-91F6-CB5ACFFF402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4883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7C3F6-2F14-46D1-AAE1-6802FB7EEC55}" type="datetimeFigureOut">
              <a:rPr lang="pt-BR" smtClean="0"/>
              <a:t>12/07/2016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6517A-2038-47B7-91F6-CB5ACFFF402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7849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4907757" y="365125"/>
            <a:ext cx="1478756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71488" y="365125"/>
            <a:ext cx="4321969" cy="5811838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7C3F6-2F14-46D1-AAE1-6802FB7EEC55}" type="datetimeFigureOut">
              <a:rPr lang="pt-BR" smtClean="0"/>
              <a:t>12/07/2016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6517A-2038-47B7-91F6-CB5ACFFF402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88837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14021" y="260648"/>
            <a:ext cx="2321753" cy="1080120"/>
          </a:xfrm>
          <a:prstGeom prst="rect">
            <a:avLst/>
          </a:prstGeom>
        </p:spPr>
      </p:pic>
      <p:grpSp>
        <p:nvGrpSpPr>
          <p:cNvPr id="9" name="Group 2"/>
          <p:cNvGrpSpPr>
            <a:grpSpLocks/>
          </p:cNvGrpSpPr>
          <p:nvPr userDrawn="1"/>
        </p:nvGrpSpPr>
        <p:grpSpPr bwMode="auto">
          <a:xfrm>
            <a:off x="2898" y="1556792"/>
            <a:ext cx="9144000" cy="1676400"/>
            <a:chOff x="0" y="2086"/>
            <a:chExt cx="5760" cy="1056"/>
          </a:xfrm>
        </p:grpSpPr>
        <p:sp>
          <p:nvSpPr>
            <p:cNvPr id="10" name="Rectangle 3"/>
            <p:cNvSpPr>
              <a:spLocks noChangeArrowheads="1"/>
            </p:cNvSpPr>
            <p:nvPr/>
          </p:nvSpPr>
          <p:spPr bwMode="gray">
            <a:xfrm>
              <a:off x="0" y="2325"/>
              <a:ext cx="5760" cy="817"/>
            </a:xfrm>
            <a:prstGeom prst="rect">
              <a:avLst/>
            </a:prstGeom>
            <a:gradFill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90000" rIns="72000" bIns="90000" anchor="ctr"/>
            <a:lstStyle>
              <a:lvl1pPr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0" hangingPunct="0"/>
              <a:endParaRPr lang="pt-BR" altLang="pt-BR"/>
            </a:p>
          </p:txBody>
        </p:sp>
        <p:sp>
          <p:nvSpPr>
            <p:cNvPr id="11" name="Rectangle 4"/>
            <p:cNvSpPr>
              <a:spLocks noChangeArrowheads="1"/>
            </p:cNvSpPr>
            <p:nvPr/>
          </p:nvSpPr>
          <p:spPr bwMode="gray">
            <a:xfrm flipV="1">
              <a:off x="0" y="2086"/>
              <a:ext cx="5760" cy="246"/>
            </a:xfrm>
            <a:prstGeom prst="rect">
              <a:avLst/>
            </a:prstGeom>
            <a:gradFill rotWithShape="1">
              <a:gsLst>
                <a:gs pos="0">
                  <a:srgbClr val="DBDBDB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10800000" wrap="none" lIns="90000" tIns="90000" rIns="72000" bIns="90000" anchor="ctr"/>
            <a:lstStyle>
              <a:lvl1pPr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0" hangingPunct="0"/>
              <a:endParaRPr lang="pt-BR" altLang="pt-BR"/>
            </a:p>
          </p:txBody>
        </p:sp>
      </p:grpSp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168128" y="1796151"/>
            <a:ext cx="6807744" cy="912769"/>
          </a:xfrm>
        </p:spPr>
        <p:txBody>
          <a:bodyPr>
            <a:normAutofit/>
          </a:bodyPr>
          <a:lstStyle>
            <a:lvl1pPr algn="ctr">
              <a:defRPr sz="3600" b="0">
                <a:latin typeface="+mj-lt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 dirty="0"/>
              <a:t>Título do Documento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95287" y="2996952"/>
            <a:ext cx="3816424" cy="1027165"/>
          </a:xfrm>
        </p:spPr>
        <p:txBody>
          <a:bodyPr anchor="ctr">
            <a:normAutofit/>
          </a:bodyPr>
          <a:lstStyle>
            <a:lvl1pPr marL="0" indent="0" algn="l">
              <a:buNone/>
              <a:defRPr sz="2800" b="1" i="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/>
              <a:t>Nome do Projeto</a:t>
            </a:r>
          </a:p>
        </p:txBody>
      </p:sp>
      <p:grpSp>
        <p:nvGrpSpPr>
          <p:cNvPr id="22" name="Grupo 21"/>
          <p:cNvGrpSpPr/>
          <p:nvPr userDrawn="1"/>
        </p:nvGrpSpPr>
        <p:grpSpPr>
          <a:xfrm>
            <a:off x="4435040" y="3475969"/>
            <a:ext cx="4745472" cy="3411538"/>
            <a:chOff x="4375820" y="3475969"/>
            <a:chExt cx="4745472" cy="3411538"/>
          </a:xfrm>
        </p:grpSpPr>
        <p:sp>
          <p:nvSpPr>
            <p:cNvPr id="13" name="Freeform 6"/>
            <p:cNvSpPr>
              <a:spLocks/>
            </p:cNvSpPr>
            <p:nvPr/>
          </p:nvSpPr>
          <p:spPr bwMode="auto">
            <a:xfrm>
              <a:off x="7404027" y="3475969"/>
              <a:ext cx="1717265" cy="3411538"/>
            </a:xfrm>
            <a:custGeom>
              <a:avLst/>
              <a:gdLst>
                <a:gd name="T0" fmla="*/ 0 w 719"/>
                <a:gd name="T1" fmla="*/ 1429 h 1429"/>
                <a:gd name="T2" fmla="*/ 31 w 719"/>
                <a:gd name="T3" fmla="*/ 1429 h 1429"/>
                <a:gd name="T4" fmla="*/ 148 w 719"/>
                <a:gd name="T5" fmla="*/ 959 h 1429"/>
                <a:gd name="T6" fmla="*/ 158 w 719"/>
                <a:gd name="T7" fmla="*/ 961 h 1429"/>
                <a:gd name="T8" fmla="*/ 166 w 719"/>
                <a:gd name="T9" fmla="*/ 939 h 1429"/>
                <a:gd name="T10" fmla="*/ 154 w 719"/>
                <a:gd name="T11" fmla="*/ 933 h 1429"/>
                <a:gd name="T12" fmla="*/ 305 w 719"/>
                <a:gd name="T13" fmla="*/ 930 h 1429"/>
                <a:gd name="T14" fmla="*/ 307 w 719"/>
                <a:gd name="T15" fmla="*/ 944 h 1429"/>
                <a:gd name="T16" fmla="*/ 366 w 719"/>
                <a:gd name="T17" fmla="*/ 955 h 1429"/>
                <a:gd name="T18" fmla="*/ 366 w 719"/>
                <a:gd name="T19" fmla="*/ 1427 h 1429"/>
                <a:gd name="T20" fmla="*/ 399 w 719"/>
                <a:gd name="T21" fmla="*/ 1426 h 1429"/>
                <a:gd name="T22" fmla="*/ 399 w 719"/>
                <a:gd name="T23" fmla="*/ 935 h 1429"/>
                <a:gd name="T24" fmla="*/ 430 w 719"/>
                <a:gd name="T25" fmla="*/ 932 h 1429"/>
                <a:gd name="T26" fmla="*/ 461 w 719"/>
                <a:gd name="T27" fmla="*/ 885 h 1429"/>
                <a:gd name="T28" fmla="*/ 465 w 719"/>
                <a:gd name="T29" fmla="*/ 873 h 1429"/>
                <a:gd name="T30" fmla="*/ 543 w 719"/>
                <a:gd name="T31" fmla="*/ 873 h 1429"/>
                <a:gd name="T32" fmla="*/ 689 w 719"/>
                <a:gd name="T33" fmla="*/ 1426 h 1429"/>
                <a:gd name="T34" fmla="*/ 719 w 719"/>
                <a:gd name="T35" fmla="*/ 1427 h 1429"/>
                <a:gd name="T36" fmla="*/ 573 w 719"/>
                <a:gd name="T37" fmla="*/ 868 h 1429"/>
                <a:gd name="T38" fmla="*/ 567 w 719"/>
                <a:gd name="T39" fmla="*/ 847 h 1429"/>
                <a:gd name="T40" fmla="*/ 508 w 719"/>
                <a:gd name="T41" fmla="*/ 610 h 1429"/>
                <a:gd name="T42" fmla="*/ 598 w 719"/>
                <a:gd name="T43" fmla="*/ 37 h 1429"/>
                <a:gd name="T44" fmla="*/ 577 w 719"/>
                <a:gd name="T45" fmla="*/ 1 h 1429"/>
                <a:gd name="T46" fmla="*/ 492 w 719"/>
                <a:gd name="T47" fmla="*/ 10 h 1429"/>
                <a:gd name="T48" fmla="*/ 475 w 719"/>
                <a:gd name="T49" fmla="*/ 13 h 1429"/>
                <a:gd name="T50" fmla="*/ 226 w 719"/>
                <a:gd name="T51" fmla="*/ 47 h 1429"/>
                <a:gd name="T52" fmla="*/ 215 w 719"/>
                <a:gd name="T53" fmla="*/ 49 h 1429"/>
                <a:gd name="T54" fmla="*/ 204 w 719"/>
                <a:gd name="T55" fmla="*/ 53 h 1429"/>
                <a:gd name="T56" fmla="*/ 188 w 719"/>
                <a:gd name="T57" fmla="*/ 53 h 1429"/>
                <a:gd name="T58" fmla="*/ 182 w 719"/>
                <a:gd name="T59" fmla="*/ 58 h 1429"/>
                <a:gd name="T60" fmla="*/ 30 w 719"/>
                <a:gd name="T61" fmla="*/ 888 h 1429"/>
                <a:gd name="T62" fmla="*/ 52 w 719"/>
                <a:gd name="T63" fmla="*/ 930 h 1429"/>
                <a:gd name="T64" fmla="*/ 77 w 719"/>
                <a:gd name="T65" fmla="*/ 927 h 1429"/>
                <a:gd name="T66" fmla="*/ 79 w 719"/>
                <a:gd name="T67" fmla="*/ 935 h 1429"/>
                <a:gd name="T68" fmla="*/ 119 w 719"/>
                <a:gd name="T69" fmla="*/ 950 h 1429"/>
                <a:gd name="T70" fmla="*/ 0 w 719"/>
                <a:gd name="T71" fmla="*/ 1429 h 1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719" h="1429">
                  <a:moveTo>
                    <a:pt x="0" y="1429"/>
                  </a:moveTo>
                  <a:cubicBezTo>
                    <a:pt x="31" y="1429"/>
                    <a:pt x="31" y="1429"/>
                    <a:pt x="31" y="1429"/>
                  </a:cubicBezTo>
                  <a:cubicBezTo>
                    <a:pt x="148" y="959"/>
                    <a:pt x="148" y="959"/>
                    <a:pt x="148" y="959"/>
                  </a:cubicBezTo>
                  <a:cubicBezTo>
                    <a:pt x="158" y="961"/>
                    <a:pt x="158" y="961"/>
                    <a:pt x="158" y="961"/>
                  </a:cubicBezTo>
                  <a:cubicBezTo>
                    <a:pt x="166" y="939"/>
                    <a:pt x="166" y="939"/>
                    <a:pt x="166" y="939"/>
                  </a:cubicBezTo>
                  <a:cubicBezTo>
                    <a:pt x="154" y="933"/>
                    <a:pt x="154" y="933"/>
                    <a:pt x="154" y="933"/>
                  </a:cubicBezTo>
                  <a:cubicBezTo>
                    <a:pt x="305" y="930"/>
                    <a:pt x="305" y="930"/>
                    <a:pt x="305" y="930"/>
                  </a:cubicBezTo>
                  <a:cubicBezTo>
                    <a:pt x="307" y="944"/>
                    <a:pt x="307" y="944"/>
                    <a:pt x="307" y="944"/>
                  </a:cubicBezTo>
                  <a:cubicBezTo>
                    <a:pt x="366" y="955"/>
                    <a:pt x="366" y="955"/>
                    <a:pt x="366" y="955"/>
                  </a:cubicBezTo>
                  <a:cubicBezTo>
                    <a:pt x="366" y="1427"/>
                    <a:pt x="366" y="1427"/>
                    <a:pt x="366" y="1427"/>
                  </a:cubicBezTo>
                  <a:cubicBezTo>
                    <a:pt x="399" y="1426"/>
                    <a:pt x="399" y="1426"/>
                    <a:pt x="399" y="1426"/>
                  </a:cubicBezTo>
                  <a:cubicBezTo>
                    <a:pt x="399" y="935"/>
                    <a:pt x="399" y="935"/>
                    <a:pt x="399" y="935"/>
                  </a:cubicBezTo>
                  <a:cubicBezTo>
                    <a:pt x="430" y="932"/>
                    <a:pt x="430" y="932"/>
                    <a:pt x="430" y="932"/>
                  </a:cubicBezTo>
                  <a:cubicBezTo>
                    <a:pt x="430" y="932"/>
                    <a:pt x="456" y="940"/>
                    <a:pt x="461" y="885"/>
                  </a:cubicBezTo>
                  <a:cubicBezTo>
                    <a:pt x="465" y="878"/>
                    <a:pt x="465" y="873"/>
                    <a:pt x="465" y="873"/>
                  </a:cubicBezTo>
                  <a:cubicBezTo>
                    <a:pt x="543" y="873"/>
                    <a:pt x="543" y="873"/>
                    <a:pt x="543" y="873"/>
                  </a:cubicBezTo>
                  <a:cubicBezTo>
                    <a:pt x="689" y="1426"/>
                    <a:pt x="689" y="1426"/>
                    <a:pt x="689" y="1426"/>
                  </a:cubicBezTo>
                  <a:cubicBezTo>
                    <a:pt x="719" y="1427"/>
                    <a:pt x="719" y="1427"/>
                    <a:pt x="719" y="1427"/>
                  </a:cubicBezTo>
                  <a:cubicBezTo>
                    <a:pt x="573" y="868"/>
                    <a:pt x="573" y="868"/>
                    <a:pt x="573" y="868"/>
                  </a:cubicBezTo>
                  <a:cubicBezTo>
                    <a:pt x="573" y="868"/>
                    <a:pt x="572" y="850"/>
                    <a:pt x="567" y="847"/>
                  </a:cubicBezTo>
                  <a:cubicBezTo>
                    <a:pt x="565" y="832"/>
                    <a:pt x="508" y="610"/>
                    <a:pt x="508" y="610"/>
                  </a:cubicBezTo>
                  <a:cubicBezTo>
                    <a:pt x="598" y="37"/>
                    <a:pt x="598" y="37"/>
                    <a:pt x="598" y="37"/>
                  </a:cubicBezTo>
                  <a:cubicBezTo>
                    <a:pt x="598" y="37"/>
                    <a:pt x="604" y="3"/>
                    <a:pt x="577" y="1"/>
                  </a:cubicBezTo>
                  <a:cubicBezTo>
                    <a:pt x="551" y="0"/>
                    <a:pt x="492" y="10"/>
                    <a:pt x="492" y="10"/>
                  </a:cubicBezTo>
                  <a:cubicBezTo>
                    <a:pt x="492" y="10"/>
                    <a:pt x="487" y="3"/>
                    <a:pt x="475" y="13"/>
                  </a:cubicBezTo>
                  <a:cubicBezTo>
                    <a:pt x="466" y="15"/>
                    <a:pt x="226" y="47"/>
                    <a:pt x="226" y="47"/>
                  </a:cubicBezTo>
                  <a:cubicBezTo>
                    <a:pt x="226" y="47"/>
                    <a:pt x="220" y="48"/>
                    <a:pt x="215" y="49"/>
                  </a:cubicBezTo>
                  <a:cubicBezTo>
                    <a:pt x="210" y="51"/>
                    <a:pt x="204" y="53"/>
                    <a:pt x="204" y="53"/>
                  </a:cubicBezTo>
                  <a:cubicBezTo>
                    <a:pt x="188" y="53"/>
                    <a:pt x="188" y="53"/>
                    <a:pt x="188" y="53"/>
                  </a:cubicBezTo>
                  <a:cubicBezTo>
                    <a:pt x="182" y="58"/>
                    <a:pt x="182" y="58"/>
                    <a:pt x="182" y="58"/>
                  </a:cubicBezTo>
                  <a:cubicBezTo>
                    <a:pt x="30" y="888"/>
                    <a:pt x="30" y="888"/>
                    <a:pt x="30" y="888"/>
                  </a:cubicBezTo>
                  <a:cubicBezTo>
                    <a:pt x="30" y="888"/>
                    <a:pt x="20" y="928"/>
                    <a:pt x="52" y="930"/>
                  </a:cubicBezTo>
                  <a:cubicBezTo>
                    <a:pt x="83" y="931"/>
                    <a:pt x="77" y="927"/>
                    <a:pt x="77" y="927"/>
                  </a:cubicBezTo>
                  <a:cubicBezTo>
                    <a:pt x="79" y="935"/>
                    <a:pt x="79" y="935"/>
                    <a:pt x="79" y="935"/>
                  </a:cubicBezTo>
                  <a:cubicBezTo>
                    <a:pt x="119" y="950"/>
                    <a:pt x="119" y="950"/>
                    <a:pt x="119" y="950"/>
                  </a:cubicBezTo>
                  <a:lnTo>
                    <a:pt x="0" y="1429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Freeform 7"/>
            <p:cNvSpPr>
              <a:spLocks/>
            </p:cNvSpPr>
            <p:nvPr/>
          </p:nvSpPr>
          <p:spPr bwMode="auto">
            <a:xfrm>
              <a:off x="7498027" y="3488099"/>
              <a:ext cx="1291739" cy="1998403"/>
            </a:xfrm>
            <a:custGeom>
              <a:avLst/>
              <a:gdLst>
                <a:gd name="T0" fmla="*/ 130 w 541"/>
                <a:gd name="T1" fmla="*/ 56 h 837"/>
                <a:gd name="T2" fmla="*/ 161 w 541"/>
                <a:gd name="T3" fmla="*/ 51 h 837"/>
                <a:gd name="T4" fmla="*/ 173 w 541"/>
                <a:gd name="T5" fmla="*/ 68 h 837"/>
                <a:gd name="T6" fmla="*/ 479 w 541"/>
                <a:gd name="T7" fmla="*/ 29 h 837"/>
                <a:gd name="T8" fmla="*/ 494 w 541"/>
                <a:gd name="T9" fmla="*/ 13 h 837"/>
                <a:gd name="T10" fmla="*/ 499 w 541"/>
                <a:gd name="T11" fmla="*/ 3 h 837"/>
                <a:gd name="T12" fmla="*/ 541 w 541"/>
                <a:gd name="T13" fmla="*/ 0 h 837"/>
                <a:gd name="T14" fmla="*/ 532 w 541"/>
                <a:gd name="T15" fmla="*/ 51 h 837"/>
                <a:gd name="T16" fmla="*/ 518 w 541"/>
                <a:gd name="T17" fmla="*/ 104 h 837"/>
                <a:gd name="T18" fmla="*/ 510 w 541"/>
                <a:gd name="T19" fmla="*/ 134 h 837"/>
                <a:gd name="T20" fmla="*/ 486 w 541"/>
                <a:gd name="T21" fmla="*/ 247 h 837"/>
                <a:gd name="T22" fmla="*/ 462 w 541"/>
                <a:gd name="T23" fmla="*/ 396 h 837"/>
                <a:gd name="T24" fmla="*/ 455 w 541"/>
                <a:gd name="T25" fmla="*/ 535 h 837"/>
                <a:gd name="T26" fmla="*/ 412 w 541"/>
                <a:gd name="T27" fmla="*/ 818 h 837"/>
                <a:gd name="T28" fmla="*/ 0 w 541"/>
                <a:gd name="T29" fmla="*/ 837 h 837"/>
                <a:gd name="T30" fmla="*/ 14 w 541"/>
                <a:gd name="T31" fmla="*/ 749 h 837"/>
                <a:gd name="T32" fmla="*/ 27 w 541"/>
                <a:gd name="T33" fmla="*/ 685 h 837"/>
                <a:gd name="T34" fmla="*/ 43 w 541"/>
                <a:gd name="T35" fmla="*/ 575 h 837"/>
                <a:gd name="T36" fmla="*/ 58 w 541"/>
                <a:gd name="T37" fmla="*/ 456 h 837"/>
                <a:gd name="T38" fmla="*/ 78 w 541"/>
                <a:gd name="T39" fmla="*/ 342 h 837"/>
                <a:gd name="T40" fmla="*/ 85 w 541"/>
                <a:gd name="T41" fmla="*/ 256 h 837"/>
                <a:gd name="T42" fmla="*/ 99 w 541"/>
                <a:gd name="T43" fmla="*/ 186 h 837"/>
                <a:gd name="T44" fmla="*/ 115 w 541"/>
                <a:gd name="T45" fmla="*/ 134 h 837"/>
                <a:gd name="T46" fmla="*/ 125 w 541"/>
                <a:gd name="T47" fmla="*/ 82 h 837"/>
                <a:gd name="T48" fmla="*/ 130 w 541"/>
                <a:gd name="T49" fmla="*/ 56 h 8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41" h="837">
                  <a:moveTo>
                    <a:pt x="130" y="56"/>
                  </a:moveTo>
                  <a:cubicBezTo>
                    <a:pt x="161" y="51"/>
                    <a:pt x="161" y="51"/>
                    <a:pt x="161" y="51"/>
                  </a:cubicBezTo>
                  <a:cubicBezTo>
                    <a:pt x="161" y="51"/>
                    <a:pt x="146" y="72"/>
                    <a:pt x="173" y="68"/>
                  </a:cubicBezTo>
                  <a:cubicBezTo>
                    <a:pt x="201" y="65"/>
                    <a:pt x="479" y="29"/>
                    <a:pt x="479" y="29"/>
                  </a:cubicBezTo>
                  <a:cubicBezTo>
                    <a:pt x="479" y="29"/>
                    <a:pt x="494" y="22"/>
                    <a:pt x="494" y="13"/>
                  </a:cubicBezTo>
                  <a:cubicBezTo>
                    <a:pt x="494" y="4"/>
                    <a:pt x="499" y="3"/>
                    <a:pt x="499" y="3"/>
                  </a:cubicBezTo>
                  <a:cubicBezTo>
                    <a:pt x="541" y="0"/>
                    <a:pt x="541" y="0"/>
                    <a:pt x="541" y="0"/>
                  </a:cubicBezTo>
                  <a:cubicBezTo>
                    <a:pt x="532" y="51"/>
                    <a:pt x="532" y="51"/>
                    <a:pt x="532" y="51"/>
                  </a:cubicBezTo>
                  <a:cubicBezTo>
                    <a:pt x="532" y="51"/>
                    <a:pt x="518" y="96"/>
                    <a:pt x="518" y="104"/>
                  </a:cubicBezTo>
                  <a:cubicBezTo>
                    <a:pt x="518" y="112"/>
                    <a:pt x="519" y="125"/>
                    <a:pt x="510" y="134"/>
                  </a:cubicBezTo>
                  <a:cubicBezTo>
                    <a:pt x="502" y="143"/>
                    <a:pt x="479" y="212"/>
                    <a:pt x="486" y="247"/>
                  </a:cubicBezTo>
                  <a:cubicBezTo>
                    <a:pt x="494" y="282"/>
                    <a:pt x="461" y="388"/>
                    <a:pt x="462" y="396"/>
                  </a:cubicBezTo>
                  <a:cubicBezTo>
                    <a:pt x="464" y="405"/>
                    <a:pt x="457" y="528"/>
                    <a:pt x="455" y="535"/>
                  </a:cubicBezTo>
                  <a:cubicBezTo>
                    <a:pt x="452" y="541"/>
                    <a:pt x="414" y="806"/>
                    <a:pt x="412" y="818"/>
                  </a:cubicBezTo>
                  <a:cubicBezTo>
                    <a:pt x="409" y="831"/>
                    <a:pt x="0" y="837"/>
                    <a:pt x="0" y="837"/>
                  </a:cubicBezTo>
                  <a:cubicBezTo>
                    <a:pt x="14" y="749"/>
                    <a:pt x="14" y="749"/>
                    <a:pt x="14" y="749"/>
                  </a:cubicBezTo>
                  <a:cubicBezTo>
                    <a:pt x="27" y="685"/>
                    <a:pt x="27" y="685"/>
                    <a:pt x="27" y="685"/>
                  </a:cubicBezTo>
                  <a:cubicBezTo>
                    <a:pt x="27" y="685"/>
                    <a:pt x="38" y="588"/>
                    <a:pt x="43" y="575"/>
                  </a:cubicBezTo>
                  <a:cubicBezTo>
                    <a:pt x="48" y="562"/>
                    <a:pt x="58" y="456"/>
                    <a:pt x="58" y="456"/>
                  </a:cubicBezTo>
                  <a:cubicBezTo>
                    <a:pt x="78" y="342"/>
                    <a:pt x="78" y="342"/>
                    <a:pt x="78" y="342"/>
                  </a:cubicBezTo>
                  <a:cubicBezTo>
                    <a:pt x="78" y="342"/>
                    <a:pt x="81" y="267"/>
                    <a:pt x="85" y="256"/>
                  </a:cubicBezTo>
                  <a:cubicBezTo>
                    <a:pt x="89" y="244"/>
                    <a:pt x="94" y="191"/>
                    <a:pt x="99" y="186"/>
                  </a:cubicBezTo>
                  <a:cubicBezTo>
                    <a:pt x="105" y="181"/>
                    <a:pt x="113" y="138"/>
                    <a:pt x="115" y="134"/>
                  </a:cubicBezTo>
                  <a:cubicBezTo>
                    <a:pt x="118" y="131"/>
                    <a:pt x="123" y="89"/>
                    <a:pt x="125" y="82"/>
                  </a:cubicBezTo>
                  <a:cubicBezTo>
                    <a:pt x="128" y="76"/>
                    <a:pt x="130" y="56"/>
                    <a:pt x="130" y="56"/>
                  </a:cubicBezTo>
                  <a:close/>
                </a:path>
              </a:pathLst>
            </a:custGeom>
            <a:gradFill rotWithShape="1">
              <a:gsLst>
                <a:gs pos="0">
                  <a:srgbClr val="D0D0D0">
                    <a:gamma/>
                    <a:tint val="24314"/>
                    <a:invGamma/>
                  </a:srgbClr>
                </a:gs>
                <a:gs pos="100000">
                  <a:srgbClr val="D0D0D0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Freeform 8"/>
            <p:cNvSpPr>
              <a:spLocks/>
            </p:cNvSpPr>
            <p:nvPr/>
          </p:nvSpPr>
          <p:spPr bwMode="auto">
            <a:xfrm>
              <a:off x="4375820" y="3528532"/>
              <a:ext cx="1193696" cy="3356953"/>
            </a:xfrm>
            <a:custGeom>
              <a:avLst/>
              <a:gdLst>
                <a:gd name="T0" fmla="*/ 474 w 500"/>
                <a:gd name="T1" fmla="*/ 82 h 1406"/>
                <a:gd name="T2" fmla="*/ 456 w 500"/>
                <a:gd name="T3" fmla="*/ 27 h 1406"/>
                <a:gd name="T4" fmla="*/ 407 w 500"/>
                <a:gd name="T5" fmla="*/ 11 h 1406"/>
                <a:gd name="T6" fmla="*/ 372 w 500"/>
                <a:gd name="T7" fmla="*/ 2 h 1406"/>
                <a:gd name="T8" fmla="*/ 337 w 500"/>
                <a:gd name="T9" fmla="*/ 4 h 1406"/>
                <a:gd name="T10" fmla="*/ 289 w 500"/>
                <a:gd name="T11" fmla="*/ 10 h 1406"/>
                <a:gd name="T12" fmla="*/ 266 w 500"/>
                <a:gd name="T13" fmla="*/ 38 h 1406"/>
                <a:gd name="T14" fmla="*/ 243 w 500"/>
                <a:gd name="T15" fmla="*/ 83 h 1406"/>
                <a:gd name="T16" fmla="*/ 226 w 500"/>
                <a:gd name="T17" fmla="*/ 118 h 1406"/>
                <a:gd name="T18" fmla="*/ 239 w 500"/>
                <a:gd name="T19" fmla="*/ 214 h 1406"/>
                <a:gd name="T20" fmla="*/ 231 w 500"/>
                <a:gd name="T21" fmla="*/ 228 h 1406"/>
                <a:gd name="T22" fmla="*/ 203 w 500"/>
                <a:gd name="T23" fmla="*/ 257 h 1406"/>
                <a:gd name="T24" fmla="*/ 137 w 500"/>
                <a:gd name="T25" fmla="*/ 317 h 1406"/>
                <a:gd name="T26" fmla="*/ 79 w 500"/>
                <a:gd name="T27" fmla="*/ 645 h 1406"/>
                <a:gd name="T28" fmla="*/ 75 w 500"/>
                <a:gd name="T29" fmla="*/ 699 h 1406"/>
                <a:gd name="T30" fmla="*/ 56 w 500"/>
                <a:gd name="T31" fmla="*/ 802 h 1406"/>
                <a:gd name="T32" fmla="*/ 49 w 500"/>
                <a:gd name="T33" fmla="*/ 854 h 1406"/>
                <a:gd name="T34" fmla="*/ 41 w 500"/>
                <a:gd name="T35" fmla="*/ 902 h 1406"/>
                <a:gd name="T36" fmla="*/ 19 w 500"/>
                <a:gd name="T37" fmla="*/ 942 h 1406"/>
                <a:gd name="T38" fmla="*/ 0 w 500"/>
                <a:gd name="T39" fmla="*/ 978 h 1406"/>
                <a:gd name="T40" fmla="*/ 15 w 500"/>
                <a:gd name="T41" fmla="*/ 999 h 1406"/>
                <a:gd name="T42" fmla="*/ 60 w 500"/>
                <a:gd name="T43" fmla="*/ 1014 h 1406"/>
                <a:gd name="T44" fmla="*/ 91 w 500"/>
                <a:gd name="T45" fmla="*/ 1003 h 1406"/>
                <a:gd name="T46" fmla="*/ 111 w 500"/>
                <a:gd name="T47" fmla="*/ 986 h 1406"/>
                <a:gd name="T48" fmla="*/ 124 w 500"/>
                <a:gd name="T49" fmla="*/ 1024 h 1406"/>
                <a:gd name="T50" fmla="*/ 152 w 500"/>
                <a:gd name="T51" fmla="*/ 1113 h 1406"/>
                <a:gd name="T52" fmla="*/ 159 w 500"/>
                <a:gd name="T53" fmla="*/ 1322 h 1406"/>
                <a:gd name="T54" fmla="*/ 146 w 500"/>
                <a:gd name="T55" fmla="*/ 1406 h 1406"/>
                <a:gd name="T56" fmla="*/ 500 w 500"/>
                <a:gd name="T57" fmla="*/ 1291 h 1406"/>
                <a:gd name="T58" fmla="*/ 456 w 500"/>
                <a:gd name="T59" fmla="*/ 1136 h 1406"/>
                <a:gd name="T60" fmla="*/ 439 w 500"/>
                <a:gd name="T61" fmla="*/ 1073 h 1406"/>
                <a:gd name="T62" fmla="*/ 432 w 500"/>
                <a:gd name="T63" fmla="*/ 1043 h 1406"/>
                <a:gd name="T64" fmla="*/ 434 w 500"/>
                <a:gd name="T65" fmla="*/ 1032 h 1406"/>
                <a:gd name="T66" fmla="*/ 447 w 500"/>
                <a:gd name="T67" fmla="*/ 994 h 1406"/>
                <a:gd name="T68" fmla="*/ 441 w 500"/>
                <a:gd name="T69" fmla="*/ 819 h 1406"/>
                <a:gd name="T70" fmla="*/ 444 w 500"/>
                <a:gd name="T71" fmla="*/ 707 h 1406"/>
                <a:gd name="T72" fmla="*/ 425 w 500"/>
                <a:gd name="T73" fmla="*/ 570 h 1406"/>
                <a:gd name="T74" fmla="*/ 381 w 500"/>
                <a:gd name="T75" fmla="*/ 450 h 1406"/>
                <a:gd name="T76" fmla="*/ 367 w 500"/>
                <a:gd name="T77" fmla="*/ 373 h 1406"/>
                <a:gd name="T78" fmla="*/ 348 w 500"/>
                <a:gd name="T79" fmla="*/ 322 h 1406"/>
                <a:gd name="T80" fmla="*/ 375 w 500"/>
                <a:gd name="T81" fmla="*/ 275 h 1406"/>
                <a:gd name="T82" fmla="*/ 423 w 500"/>
                <a:gd name="T83" fmla="*/ 252 h 1406"/>
                <a:gd name="T84" fmla="*/ 439 w 500"/>
                <a:gd name="T85" fmla="*/ 203 h 1406"/>
                <a:gd name="T86" fmla="*/ 451 w 500"/>
                <a:gd name="T87" fmla="*/ 194 h 1406"/>
                <a:gd name="T88" fmla="*/ 450 w 500"/>
                <a:gd name="T89" fmla="*/ 159 h 1406"/>
                <a:gd name="T90" fmla="*/ 464 w 500"/>
                <a:gd name="T91" fmla="*/ 141 h 1406"/>
                <a:gd name="T92" fmla="*/ 461 w 500"/>
                <a:gd name="T93" fmla="*/ 108 h 1406"/>
                <a:gd name="T94" fmla="*/ 454 w 500"/>
                <a:gd name="T95" fmla="*/ 84 h 1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500" h="1406">
                  <a:moveTo>
                    <a:pt x="454" y="84"/>
                  </a:moveTo>
                  <a:cubicBezTo>
                    <a:pt x="474" y="82"/>
                    <a:pt x="474" y="82"/>
                    <a:pt x="474" y="82"/>
                  </a:cubicBezTo>
                  <a:cubicBezTo>
                    <a:pt x="474" y="82"/>
                    <a:pt x="479" y="79"/>
                    <a:pt x="474" y="65"/>
                  </a:cubicBezTo>
                  <a:cubicBezTo>
                    <a:pt x="469" y="50"/>
                    <a:pt x="461" y="31"/>
                    <a:pt x="456" y="27"/>
                  </a:cubicBezTo>
                  <a:cubicBezTo>
                    <a:pt x="452" y="24"/>
                    <a:pt x="436" y="16"/>
                    <a:pt x="429" y="16"/>
                  </a:cubicBezTo>
                  <a:cubicBezTo>
                    <a:pt x="421" y="16"/>
                    <a:pt x="410" y="12"/>
                    <a:pt x="407" y="11"/>
                  </a:cubicBezTo>
                  <a:cubicBezTo>
                    <a:pt x="403" y="10"/>
                    <a:pt x="396" y="0"/>
                    <a:pt x="392" y="0"/>
                  </a:cubicBezTo>
                  <a:cubicBezTo>
                    <a:pt x="389" y="0"/>
                    <a:pt x="376" y="0"/>
                    <a:pt x="372" y="2"/>
                  </a:cubicBezTo>
                  <a:cubicBezTo>
                    <a:pt x="368" y="4"/>
                    <a:pt x="349" y="4"/>
                    <a:pt x="349" y="4"/>
                  </a:cubicBezTo>
                  <a:cubicBezTo>
                    <a:pt x="337" y="4"/>
                    <a:pt x="337" y="4"/>
                    <a:pt x="337" y="4"/>
                  </a:cubicBezTo>
                  <a:cubicBezTo>
                    <a:pt x="337" y="4"/>
                    <a:pt x="319" y="1"/>
                    <a:pt x="312" y="4"/>
                  </a:cubicBezTo>
                  <a:cubicBezTo>
                    <a:pt x="305" y="6"/>
                    <a:pt x="292" y="8"/>
                    <a:pt x="289" y="10"/>
                  </a:cubicBezTo>
                  <a:cubicBezTo>
                    <a:pt x="287" y="13"/>
                    <a:pt x="282" y="26"/>
                    <a:pt x="282" y="26"/>
                  </a:cubicBezTo>
                  <a:cubicBezTo>
                    <a:pt x="282" y="26"/>
                    <a:pt x="272" y="36"/>
                    <a:pt x="266" y="38"/>
                  </a:cubicBezTo>
                  <a:cubicBezTo>
                    <a:pt x="261" y="41"/>
                    <a:pt x="254" y="53"/>
                    <a:pt x="251" y="61"/>
                  </a:cubicBezTo>
                  <a:cubicBezTo>
                    <a:pt x="249" y="70"/>
                    <a:pt x="243" y="81"/>
                    <a:pt x="243" y="83"/>
                  </a:cubicBezTo>
                  <a:cubicBezTo>
                    <a:pt x="243" y="86"/>
                    <a:pt x="235" y="98"/>
                    <a:pt x="233" y="103"/>
                  </a:cubicBezTo>
                  <a:cubicBezTo>
                    <a:pt x="230" y="107"/>
                    <a:pt x="225" y="113"/>
                    <a:pt x="226" y="118"/>
                  </a:cubicBezTo>
                  <a:cubicBezTo>
                    <a:pt x="227" y="123"/>
                    <a:pt x="229" y="160"/>
                    <a:pt x="234" y="173"/>
                  </a:cubicBezTo>
                  <a:cubicBezTo>
                    <a:pt x="239" y="187"/>
                    <a:pt x="239" y="206"/>
                    <a:pt x="239" y="214"/>
                  </a:cubicBezTo>
                  <a:cubicBezTo>
                    <a:pt x="239" y="222"/>
                    <a:pt x="235" y="220"/>
                    <a:pt x="235" y="220"/>
                  </a:cubicBezTo>
                  <a:cubicBezTo>
                    <a:pt x="231" y="228"/>
                    <a:pt x="231" y="228"/>
                    <a:pt x="231" y="228"/>
                  </a:cubicBezTo>
                  <a:cubicBezTo>
                    <a:pt x="221" y="228"/>
                    <a:pt x="221" y="228"/>
                    <a:pt x="221" y="228"/>
                  </a:cubicBezTo>
                  <a:cubicBezTo>
                    <a:pt x="203" y="257"/>
                    <a:pt x="203" y="257"/>
                    <a:pt x="203" y="257"/>
                  </a:cubicBezTo>
                  <a:cubicBezTo>
                    <a:pt x="205" y="264"/>
                    <a:pt x="205" y="264"/>
                    <a:pt x="205" y="264"/>
                  </a:cubicBezTo>
                  <a:cubicBezTo>
                    <a:pt x="205" y="264"/>
                    <a:pt x="159" y="293"/>
                    <a:pt x="137" y="317"/>
                  </a:cubicBezTo>
                  <a:cubicBezTo>
                    <a:pt x="115" y="341"/>
                    <a:pt x="93" y="434"/>
                    <a:pt x="96" y="440"/>
                  </a:cubicBezTo>
                  <a:cubicBezTo>
                    <a:pt x="98" y="447"/>
                    <a:pt x="80" y="639"/>
                    <a:pt x="79" y="645"/>
                  </a:cubicBezTo>
                  <a:cubicBezTo>
                    <a:pt x="78" y="652"/>
                    <a:pt x="71" y="660"/>
                    <a:pt x="76" y="672"/>
                  </a:cubicBezTo>
                  <a:cubicBezTo>
                    <a:pt x="81" y="683"/>
                    <a:pt x="75" y="699"/>
                    <a:pt x="75" y="699"/>
                  </a:cubicBezTo>
                  <a:cubicBezTo>
                    <a:pt x="75" y="699"/>
                    <a:pt x="49" y="728"/>
                    <a:pt x="58" y="753"/>
                  </a:cubicBezTo>
                  <a:cubicBezTo>
                    <a:pt x="67" y="777"/>
                    <a:pt x="52" y="789"/>
                    <a:pt x="56" y="802"/>
                  </a:cubicBezTo>
                  <a:cubicBezTo>
                    <a:pt x="60" y="814"/>
                    <a:pt x="63" y="822"/>
                    <a:pt x="60" y="827"/>
                  </a:cubicBezTo>
                  <a:cubicBezTo>
                    <a:pt x="58" y="832"/>
                    <a:pt x="49" y="848"/>
                    <a:pt x="49" y="854"/>
                  </a:cubicBezTo>
                  <a:cubicBezTo>
                    <a:pt x="49" y="860"/>
                    <a:pt x="49" y="883"/>
                    <a:pt x="49" y="883"/>
                  </a:cubicBezTo>
                  <a:cubicBezTo>
                    <a:pt x="49" y="883"/>
                    <a:pt x="42" y="895"/>
                    <a:pt x="41" y="902"/>
                  </a:cubicBezTo>
                  <a:cubicBezTo>
                    <a:pt x="40" y="910"/>
                    <a:pt x="23" y="918"/>
                    <a:pt x="23" y="918"/>
                  </a:cubicBezTo>
                  <a:cubicBezTo>
                    <a:pt x="23" y="918"/>
                    <a:pt x="22" y="937"/>
                    <a:pt x="19" y="942"/>
                  </a:cubicBezTo>
                  <a:cubicBezTo>
                    <a:pt x="16" y="947"/>
                    <a:pt x="12" y="960"/>
                    <a:pt x="8" y="965"/>
                  </a:cubicBezTo>
                  <a:cubicBezTo>
                    <a:pt x="4" y="970"/>
                    <a:pt x="0" y="978"/>
                    <a:pt x="0" y="978"/>
                  </a:cubicBezTo>
                  <a:cubicBezTo>
                    <a:pt x="2" y="995"/>
                    <a:pt x="2" y="995"/>
                    <a:pt x="2" y="995"/>
                  </a:cubicBezTo>
                  <a:cubicBezTo>
                    <a:pt x="15" y="999"/>
                    <a:pt x="15" y="999"/>
                    <a:pt x="15" y="999"/>
                  </a:cubicBezTo>
                  <a:cubicBezTo>
                    <a:pt x="15" y="999"/>
                    <a:pt x="16" y="1008"/>
                    <a:pt x="24" y="1011"/>
                  </a:cubicBezTo>
                  <a:cubicBezTo>
                    <a:pt x="33" y="1014"/>
                    <a:pt x="48" y="1014"/>
                    <a:pt x="60" y="1014"/>
                  </a:cubicBezTo>
                  <a:cubicBezTo>
                    <a:pt x="71" y="1015"/>
                    <a:pt x="73" y="1003"/>
                    <a:pt x="73" y="1003"/>
                  </a:cubicBezTo>
                  <a:cubicBezTo>
                    <a:pt x="73" y="1003"/>
                    <a:pt x="85" y="1006"/>
                    <a:pt x="91" y="1003"/>
                  </a:cubicBezTo>
                  <a:cubicBezTo>
                    <a:pt x="97" y="1001"/>
                    <a:pt x="105" y="997"/>
                    <a:pt x="105" y="997"/>
                  </a:cubicBezTo>
                  <a:cubicBezTo>
                    <a:pt x="111" y="986"/>
                    <a:pt x="111" y="986"/>
                    <a:pt x="111" y="986"/>
                  </a:cubicBezTo>
                  <a:cubicBezTo>
                    <a:pt x="116" y="986"/>
                    <a:pt x="116" y="986"/>
                    <a:pt x="116" y="986"/>
                  </a:cubicBezTo>
                  <a:cubicBezTo>
                    <a:pt x="124" y="1024"/>
                    <a:pt x="124" y="1024"/>
                    <a:pt x="124" y="1024"/>
                  </a:cubicBezTo>
                  <a:cubicBezTo>
                    <a:pt x="138" y="1035"/>
                    <a:pt x="138" y="1035"/>
                    <a:pt x="138" y="1035"/>
                  </a:cubicBezTo>
                  <a:cubicBezTo>
                    <a:pt x="138" y="1035"/>
                    <a:pt x="147" y="1104"/>
                    <a:pt x="152" y="1113"/>
                  </a:cubicBezTo>
                  <a:cubicBezTo>
                    <a:pt x="156" y="1123"/>
                    <a:pt x="150" y="1297"/>
                    <a:pt x="150" y="1297"/>
                  </a:cubicBezTo>
                  <a:cubicBezTo>
                    <a:pt x="150" y="1297"/>
                    <a:pt x="162" y="1316"/>
                    <a:pt x="159" y="1322"/>
                  </a:cubicBezTo>
                  <a:cubicBezTo>
                    <a:pt x="157" y="1328"/>
                    <a:pt x="149" y="1360"/>
                    <a:pt x="149" y="1374"/>
                  </a:cubicBezTo>
                  <a:cubicBezTo>
                    <a:pt x="149" y="1389"/>
                    <a:pt x="146" y="1406"/>
                    <a:pt x="146" y="1406"/>
                  </a:cubicBezTo>
                  <a:cubicBezTo>
                    <a:pt x="499" y="1406"/>
                    <a:pt x="499" y="1406"/>
                    <a:pt x="499" y="1406"/>
                  </a:cubicBezTo>
                  <a:cubicBezTo>
                    <a:pt x="500" y="1291"/>
                    <a:pt x="500" y="1291"/>
                    <a:pt x="500" y="1291"/>
                  </a:cubicBezTo>
                  <a:cubicBezTo>
                    <a:pt x="500" y="1291"/>
                    <a:pt x="480" y="1216"/>
                    <a:pt x="476" y="1212"/>
                  </a:cubicBezTo>
                  <a:cubicBezTo>
                    <a:pt x="472" y="1208"/>
                    <a:pt x="458" y="1144"/>
                    <a:pt x="456" y="1136"/>
                  </a:cubicBezTo>
                  <a:cubicBezTo>
                    <a:pt x="455" y="1128"/>
                    <a:pt x="445" y="1097"/>
                    <a:pt x="445" y="1090"/>
                  </a:cubicBezTo>
                  <a:cubicBezTo>
                    <a:pt x="444" y="1082"/>
                    <a:pt x="442" y="1074"/>
                    <a:pt x="439" y="1073"/>
                  </a:cubicBezTo>
                  <a:cubicBezTo>
                    <a:pt x="435" y="1072"/>
                    <a:pt x="431" y="1068"/>
                    <a:pt x="431" y="1068"/>
                  </a:cubicBezTo>
                  <a:cubicBezTo>
                    <a:pt x="432" y="1043"/>
                    <a:pt x="432" y="1043"/>
                    <a:pt x="432" y="1043"/>
                  </a:cubicBezTo>
                  <a:cubicBezTo>
                    <a:pt x="427" y="1035"/>
                    <a:pt x="427" y="1035"/>
                    <a:pt x="427" y="1035"/>
                  </a:cubicBezTo>
                  <a:cubicBezTo>
                    <a:pt x="427" y="1035"/>
                    <a:pt x="426" y="1025"/>
                    <a:pt x="434" y="1032"/>
                  </a:cubicBezTo>
                  <a:cubicBezTo>
                    <a:pt x="443" y="1039"/>
                    <a:pt x="458" y="1049"/>
                    <a:pt x="458" y="1049"/>
                  </a:cubicBezTo>
                  <a:cubicBezTo>
                    <a:pt x="458" y="1049"/>
                    <a:pt x="448" y="1003"/>
                    <a:pt x="447" y="994"/>
                  </a:cubicBezTo>
                  <a:cubicBezTo>
                    <a:pt x="446" y="985"/>
                    <a:pt x="433" y="859"/>
                    <a:pt x="433" y="851"/>
                  </a:cubicBezTo>
                  <a:cubicBezTo>
                    <a:pt x="433" y="842"/>
                    <a:pt x="440" y="829"/>
                    <a:pt x="441" y="819"/>
                  </a:cubicBezTo>
                  <a:cubicBezTo>
                    <a:pt x="442" y="808"/>
                    <a:pt x="436" y="790"/>
                    <a:pt x="438" y="786"/>
                  </a:cubicBezTo>
                  <a:cubicBezTo>
                    <a:pt x="440" y="781"/>
                    <a:pt x="444" y="707"/>
                    <a:pt x="444" y="707"/>
                  </a:cubicBezTo>
                  <a:cubicBezTo>
                    <a:pt x="460" y="667"/>
                    <a:pt x="460" y="667"/>
                    <a:pt x="460" y="667"/>
                  </a:cubicBezTo>
                  <a:cubicBezTo>
                    <a:pt x="460" y="667"/>
                    <a:pt x="428" y="582"/>
                    <a:pt x="425" y="570"/>
                  </a:cubicBezTo>
                  <a:cubicBezTo>
                    <a:pt x="423" y="558"/>
                    <a:pt x="414" y="539"/>
                    <a:pt x="415" y="529"/>
                  </a:cubicBezTo>
                  <a:cubicBezTo>
                    <a:pt x="416" y="519"/>
                    <a:pt x="386" y="455"/>
                    <a:pt x="381" y="450"/>
                  </a:cubicBezTo>
                  <a:cubicBezTo>
                    <a:pt x="376" y="445"/>
                    <a:pt x="369" y="429"/>
                    <a:pt x="371" y="422"/>
                  </a:cubicBezTo>
                  <a:cubicBezTo>
                    <a:pt x="373" y="414"/>
                    <a:pt x="370" y="379"/>
                    <a:pt x="367" y="373"/>
                  </a:cubicBezTo>
                  <a:cubicBezTo>
                    <a:pt x="364" y="366"/>
                    <a:pt x="352" y="325"/>
                    <a:pt x="352" y="325"/>
                  </a:cubicBezTo>
                  <a:cubicBezTo>
                    <a:pt x="348" y="322"/>
                    <a:pt x="348" y="322"/>
                    <a:pt x="348" y="322"/>
                  </a:cubicBezTo>
                  <a:cubicBezTo>
                    <a:pt x="343" y="305"/>
                    <a:pt x="343" y="305"/>
                    <a:pt x="343" y="305"/>
                  </a:cubicBezTo>
                  <a:cubicBezTo>
                    <a:pt x="343" y="305"/>
                    <a:pt x="373" y="276"/>
                    <a:pt x="375" y="275"/>
                  </a:cubicBezTo>
                  <a:cubicBezTo>
                    <a:pt x="378" y="274"/>
                    <a:pt x="408" y="272"/>
                    <a:pt x="418" y="267"/>
                  </a:cubicBezTo>
                  <a:cubicBezTo>
                    <a:pt x="427" y="262"/>
                    <a:pt x="423" y="252"/>
                    <a:pt x="423" y="252"/>
                  </a:cubicBezTo>
                  <a:cubicBezTo>
                    <a:pt x="423" y="252"/>
                    <a:pt x="434" y="234"/>
                    <a:pt x="438" y="226"/>
                  </a:cubicBezTo>
                  <a:cubicBezTo>
                    <a:pt x="442" y="217"/>
                    <a:pt x="438" y="206"/>
                    <a:pt x="439" y="203"/>
                  </a:cubicBezTo>
                  <a:cubicBezTo>
                    <a:pt x="440" y="200"/>
                    <a:pt x="446" y="194"/>
                    <a:pt x="446" y="194"/>
                  </a:cubicBezTo>
                  <a:cubicBezTo>
                    <a:pt x="451" y="194"/>
                    <a:pt x="451" y="194"/>
                    <a:pt x="451" y="194"/>
                  </a:cubicBezTo>
                  <a:cubicBezTo>
                    <a:pt x="451" y="194"/>
                    <a:pt x="450" y="168"/>
                    <a:pt x="447" y="166"/>
                  </a:cubicBezTo>
                  <a:cubicBezTo>
                    <a:pt x="445" y="163"/>
                    <a:pt x="450" y="159"/>
                    <a:pt x="450" y="159"/>
                  </a:cubicBezTo>
                  <a:cubicBezTo>
                    <a:pt x="455" y="153"/>
                    <a:pt x="455" y="153"/>
                    <a:pt x="455" y="153"/>
                  </a:cubicBezTo>
                  <a:cubicBezTo>
                    <a:pt x="464" y="141"/>
                    <a:pt x="464" y="141"/>
                    <a:pt x="464" y="141"/>
                  </a:cubicBezTo>
                  <a:cubicBezTo>
                    <a:pt x="464" y="141"/>
                    <a:pt x="463" y="131"/>
                    <a:pt x="461" y="130"/>
                  </a:cubicBezTo>
                  <a:cubicBezTo>
                    <a:pt x="460" y="128"/>
                    <a:pt x="461" y="108"/>
                    <a:pt x="461" y="108"/>
                  </a:cubicBezTo>
                  <a:cubicBezTo>
                    <a:pt x="456" y="96"/>
                    <a:pt x="456" y="96"/>
                    <a:pt x="456" y="96"/>
                  </a:cubicBezTo>
                  <a:lnTo>
                    <a:pt x="454" y="84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Freeform 9"/>
            <p:cNvSpPr>
              <a:spLocks/>
            </p:cNvSpPr>
            <p:nvPr/>
          </p:nvSpPr>
          <p:spPr bwMode="auto">
            <a:xfrm>
              <a:off x="4932743" y="4055172"/>
              <a:ext cx="291096" cy="362887"/>
            </a:xfrm>
            <a:custGeom>
              <a:avLst/>
              <a:gdLst>
                <a:gd name="T0" fmla="*/ 6 w 122"/>
                <a:gd name="T1" fmla="*/ 0 h 152"/>
                <a:gd name="T2" fmla="*/ 0 w 122"/>
                <a:gd name="T3" fmla="*/ 15 h 152"/>
                <a:gd name="T4" fmla="*/ 16 w 122"/>
                <a:gd name="T5" fmla="*/ 28 h 152"/>
                <a:gd name="T6" fmla="*/ 47 w 122"/>
                <a:gd name="T7" fmla="*/ 55 h 152"/>
                <a:gd name="T8" fmla="*/ 97 w 122"/>
                <a:gd name="T9" fmla="*/ 123 h 152"/>
                <a:gd name="T10" fmla="*/ 111 w 122"/>
                <a:gd name="T11" fmla="*/ 148 h 152"/>
                <a:gd name="T12" fmla="*/ 122 w 122"/>
                <a:gd name="T13" fmla="*/ 110 h 152"/>
                <a:gd name="T14" fmla="*/ 121 w 122"/>
                <a:gd name="T15" fmla="*/ 103 h 152"/>
                <a:gd name="T16" fmla="*/ 116 w 122"/>
                <a:gd name="T17" fmla="*/ 88 h 152"/>
                <a:gd name="T18" fmla="*/ 85 w 122"/>
                <a:gd name="T19" fmla="*/ 57 h 152"/>
                <a:gd name="T20" fmla="*/ 46 w 122"/>
                <a:gd name="T21" fmla="*/ 29 h 152"/>
                <a:gd name="T22" fmla="*/ 24 w 122"/>
                <a:gd name="T23" fmla="*/ 12 h 152"/>
                <a:gd name="T24" fmla="*/ 10 w 122"/>
                <a:gd name="T25" fmla="*/ 4 h 152"/>
                <a:gd name="T26" fmla="*/ 9 w 122"/>
                <a:gd name="T27" fmla="*/ 0 h 152"/>
                <a:gd name="T28" fmla="*/ 6 w 122"/>
                <a:gd name="T29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2" h="152">
                  <a:moveTo>
                    <a:pt x="6" y="0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8"/>
                    <a:pt x="42" y="48"/>
                    <a:pt x="47" y="55"/>
                  </a:cubicBezTo>
                  <a:cubicBezTo>
                    <a:pt x="52" y="63"/>
                    <a:pt x="94" y="118"/>
                    <a:pt x="97" y="123"/>
                  </a:cubicBezTo>
                  <a:cubicBezTo>
                    <a:pt x="99" y="127"/>
                    <a:pt x="110" y="145"/>
                    <a:pt x="111" y="148"/>
                  </a:cubicBezTo>
                  <a:cubicBezTo>
                    <a:pt x="112" y="152"/>
                    <a:pt x="122" y="113"/>
                    <a:pt x="122" y="110"/>
                  </a:cubicBezTo>
                  <a:cubicBezTo>
                    <a:pt x="122" y="107"/>
                    <a:pt x="121" y="103"/>
                    <a:pt x="121" y="103"/>
                  </a:cubicBezTo>
                  <a:cubicBezTo>
                    <a:pt x="116" y="88"/>
                    <a:pt x="116" y="88"/>
                    <a:pt x="116" y="88"/>
                  </a:cubicBezTo>
                  <a:cubicBezTo>
                    <a:pt x="85" y="57"/>
                    <a:pt x="85" y="57"/>
                    <a:pt x="85" y="57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9" y="0"/>
                    <a:pt x="9" y="0"/>
                    <a:pt x="9" y="0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grpSp>
          <p:nvGrpSpPr>
            <p:cNvPr id="17" name="Group 10"/>
            <p:cNvGrpSpPr>
              <a:grpSpLocks/>
            </p:cNvGrpSpPr>
            <p:nvPr/>
          </p:nvGrpSpPr>
          <p:grpSpPr bwMode="auto">
            <a:xfrm>
              <a:off x="5596806" y="3769109"/>
              <a:ext cx="2462187" cy="3118398"/>
              <a:chOff x="2167" y="872"/>
              <a:chExt cx="2436" cy="3085"/>
            </a:xfrm>
          </p:grpSpPr>
          <p:sp>
            <p:nvSpPr>
              <p:cNvPr id="18" name="Freeform 11"/>
              <p:cNvSpPr>
                <a:spLocks/>
              </p:cNvSpPr>
              <p:nvPr/>
            </p:nvSpPr>
            <p:spPr bwMode="auto">
              <a:xfrm>
                <a:off x="2167" y="872"/>
                <a:ext cx="2436" cy="3085"/>
              </a:xfrm>
              <a:custGeom>
                <a:avLst/>
                <a:gdLst>
                  <a:gd name="T0" fmla="*/ 208 w 2436"/>
                  <a:gd name="T1" fmla="*/ 787 h 3085"/>
                  <a:gd name="T2" fmla="*/ 151 w 2436"/>
                  <a:gd name="T3" fmla="*/ 959 h 3085"/>
                  <a:gd name="T4" fmla="*/ 28 w 2436"/>
                  <a:gd name="T5" fmla="*/ 862 h 3085"/>
                  <a:gd name="T6" fmla="*/ 14 w 2436"/>
                  <a:gd name="T7" fmla="*/ 990 h 3085"/>
                  <a:gd name="T8" fmla="*/ 80 w 2436"/>
                  <a:gd name="T9" fmla="*/ 1153 h 3085"/>
                  <a:gd name="T10" fmla="*/ 43 w 2436"/>
                  <a:gd name="T11" fmla="*/ 1283 h 3085"/>
                  <a:gd name="T12" fmla="*/ 111 w 2436"/>
                  <a:gd name="T13" fmla="*/ 1491 h 3085"/>
                  <a:gd name="T14" fmla="*/ 295 w 2436"/>
                  <a:gd name="T15" fmla="*/ 1476 h 3085"/>
                  <a:gd name="T16" fmla="*/ 395 w 2436"/>
                  <a:gd name="T17" fmla="*/ 1276 h 3085"/>
                  <a:gd name="T18" fmla="*/ 451 w 2436"/>
                  <a:gd name="T19" fmla="*/ 1450 h 3085"/>
                  <a:gd name="T20" fmla="*/ 458 w 2436"/>
                  <a:gd name="T21" fmla="*/ 1651 h 3085"/>
                  <a:gd name="T22" fmla="*/ 463 w 2436"/>
                  <a:gd name="T23" fmla="*/ 1817 h 3085"/>
                  <a:gd name="T24" fmla="*/ 565 w 2436"/>
                  <a:gd name="T25" fmla="*/ 2478 h 3085"/>
                  <a:gd name="T26" fmla="*/ 617 w 2436"/>
                  <a:gd name="T27" fmla="*/ 3083 h 3085"/>
                  <a:gd name="T28" fmla="*/ 919 w 2436"/>
                  <a:gd name="T29" fmla="*/ 2825 h 3085"/>
                  <a:gd name="T30" fmla="*/ 926 w 2436"/>
                  <a:gd name="T31" fmla="*/ 2310 h 3085"/>
                  <a:gd name="T32" fmla="*/ 1007 w 2436"/>
                  <a:gd name="T33" fmla="*/ 2608 h 3085"/>
                  <a:gd name="T34" fmla="*/ 1073 w 2436"/>
                  <a:gd name="T35" fmla="*/ 3080 h 3085"/>
                  <a:gd name="T36" fmla="*/ 1375 w 2436"/>
                  <a:gd name="T37" fmla="*/ 2865 h 3085"/>
                  <a:gd name="T38" fmla="*/ 1347 w 2436"/>
                  <a:gd name="T39" fmla="*/ 2003 h 3085"/>
                  <a:gd name="T40" fmla="*/ 1302 w 2436"/>
                  <a:gd name="T41" fmla="*/ 1398 h 3085"/>
                  <a:gd name="T42" fmla="*/ 1323 w 2436"/>
                  <a:gd name="T43" fmla="*/ 924 h 3085"/>
                  <a:gd name="T44" fmla="*/ 1531 w 2436"/>
                  <a:gd name="T45" fmla="*/ 943 h 3085"/>
                  <a:gd name="T46" fmla="*/ 1727 w 2436"/>
                  <a:gd name="T47" fmla="*/ 898 h 3085"/>
                  <a:gd name="T48" fmla="*/ 2115 w 2436"/>
                  <a:gd name="T49" fmla="*/ 765 h 3085"/>
                  <a:gd name="T50" fmla="*/ 2200 w 2436"/>
                  <a:gd name="T51" fmla="*/ 704 h 3085"/>
                  <a:gd name="T52" fmla="*/ 2219 w 2436"/>
                  <a:gd name="T53" fmla="*/ 633 h 3085"/>
                  <a:gd name="T54" fmla="*/ 2287 w 2436"/>
                  <a:gd name="T55" fmla="*/ 581 h 3085"/>
                  <a:gd name="T56" fmla="*/ 2285 w 2436"/>
                  <a:gd name="T57" fmla="*/ 607 h 3085"/>
                  <a:gd name="T58" fmla="*/ 2356 w 2436"/>
                  <a:gd name="T59" fmla="*/ 581 h 3085"/>
                  <a:gd name="T60" fmla="*/ 2379 w 2436"/>
                  <a:gd name="T61" fmla="*/ 435 h 3085"/>
                  <a:gd name="T62" fmla="*/ 2349 w 2436"/>
                  <a:gd name="T63" fmla="*/ 397 h 3085"/>
                  <a:gd name="T64" fmla="*/ 2436 w 2436"/>
                  <a:gd name="T65" fmla="*/ 345 h 3085"/>
                  <a:gd name="T66" fmla="*/ 2287 w 2436"/>
                  <a:gd name="T67" fmla="*/ 383 h 3085"/>
                  <a:gd name="T68" fmla="*/ 2124 w 2436"/>
                  <a:gd name="T69" fmla="*/ 527 h 3085"/>
                  <a:gd name="T70" fmla="*/ 2020 w 2436"/>
                  <a:gd name="T71" fmla="*/ 553 h 3085"/>
                  <a:gd name="T72" fmla="*/ 1829 w 2436"/>
                  <a:gd name="T73" fmla="*/ 612 h 3085"/>
                  <a:gd name="T74" fmla="*/ 1680 w 2436"/>
                  <a:gd name="T75" fmla="*/ 650 h 3085"/>
                  <a:gd name="T76" fmla="*/ 1585 w 2436"/>
                  <a:gd name="T77" fmla="*/ 671 h 3085"/>
                  <a:gd name="T78" fmla="*/ 1474 w 2436"/>
                  <a:gd name="T79" fmla="*/ 664 h 3085"/>
                  <a:gd name="T80" fmla="*/ 1389 w 2436"/>
                  <a:gd name="T81" fmla="*/ 633 h 3085"/>
                  <a:gd name="T82" fmla="*/ 1290 w 2436"/>
                  <a:gd name="T83" fmla="*/ 546 h 3085"/>
                  <a:gd name="T84" fmla="*/ 1146 w 2436"/>
                  <a:gd name="T85" fmla="*/ 477 h 3085"/>
                  <a:gd name="T86" fmla="*/ 1002 w 2436"/>
                  <a:gd name="T87" fmla="*/ 487 h 3085"/>
                  <a:gd name="T88" fmla="*/ 799 w 2436"/>
                  <a:gd name="T89" fmla="*/ 430 h 3085"/>
                  <a:gd name="T90" fmla="*/ 725 w 2436"/>
                  <a:gd name="T91" fmla="*/ 61 h 3085"/>
                  <a:gd name="T92" fmla="*/ 501 w 2436"/>
                  <a:gd name="T93" fmla="*/ 24 h 3085"/>
                  <a:gd name="T94" fmla="*/ 357 w 2436"/>
                  <a:gd name="T95" fmla="*/ 118 h 3085"/>
                  <a:gd name="T96" fmla="*/ 340 w 2436"/>
                  <a:gd name="T97" fmla="*/ 236 h 3085"/>
                  <a:gd name="T98" fmla="*/ 362 w 2436"/>
                  <a:gd name="T99" fmla="*/ 350 h 3085"/>
                  <a:gd name="T100" fmla="*/ 371 w 2436"/>
                  <a:gd name="T101" fmla="*/ 461 h 3085"/>
                  <a:gd name="T102" fmla="*/ 399 w 2436"/>
                  <a:gd name="T103" fmla="*/ 515 h 3085"/>
                  <a:gd name="T104" fmla="*/ 482 w 2436"/>
                  <a:gd name="T105" fmla="*/ 593 h 30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2436" h="3085">
                    <a:moveTo>
                      <a:pt x="523" y="606"/>
                    </a:moveTo>
                    <a:cubicBezTo>
                      <a:pt x="523" y="606"/>
                      <a:pt x="236" y="765"/>
                      <a:pt x="234" y="772"/>
                    </a:cubicBezTo>
                    <a:cubicBezTo>
                      <a:pt x="232" y="782"/>
                      <a:pt x="206" y="772"/>
                      <a:pt x="208" y="787"/>
                    </a:cubicBezTo>
                    <a:cubicBezTo>
                      <a:pt x="208" y="798"/>
                      <a:pt x="196" y="834"/>
                      <a:pt x="196" y="834"/>
                    </a:cubicBezTo>
                    <a:cubicBezTo>
                      <a:pt x="196" y="834"/>
                      <a:pt x="165" y="834"/>
                      <a:pt x="161" y="843"/>
                    </a:cubicBezTo>
                    <a:cubicBezTo>
                      <a:pt x="156" y="853"/>
                      <a:pt x="146" y="900"/>
                      <a:pt x="151" y="959"/>
                    </a:cubicBezTo>
                    <a:cubicBezTo>
                      <a:pt x="137" y="978"/>
                      <a:pt x="130" y="968"/>
                      <a:pt x="130" y="968"/>
                    </a:cubicBezTo>
                    <a:cubicBezTo>
                      <a:pt x="106" y="964"/>
                      <a:pt x="106" y="964"/>
                      <a:pt x="106" y="964"/>
                    </a:cubicBezTo>
                    <a:cubicBezTo>
                      <a:pt x="106" y="964"/>
                      <a:pt x="35" y="869"/>
                      <a:pt x="28" y="862"/>
                    </a:cubicBezTo>
                    <a:cubicBezTo>
                      <a:pt x="19" y="857"/>
                      <a:pt x="0" y="869"/>
                      <a:pt x="12" y="888"/>
                    </a:cubicBezTo>
                    <a:cubicBezTo>
                      <a:pt x="24" y="909"/>
                      <a:pt x="12" y="865"/>
                      <a:pt x="24" y="933"/>
                    </a:cubicBezTo>
                    <a:cubicBezTo>
                      <a:pt x="24" y="933"/>
                      <a:pt x="7" y="959"/>
                      <a:pt x="14" y="990"/>
                    </a:cubicBezTo>
                    <a:cubicBezTo>
                      <a:pt x="31" y="1023"/>
                      <a:pt x="31" y="1023"/>
                      <a:pt x="31" y="1023"/>
                    </a:cubicBezTo>
                    <a:cubicBezTo>
                      <a:pt x="35" y="1077"/>
                      <a:pt x="35" y="1077"/>
                      <a:pt x="35" y="1077"/>
                    </a:cubicBezTo>
                    <a:cubicBezTo>
                      <a:pt x="35" y="1077"/>
                      <a:pt x="73" y="1143"/>
                      <a:pt x="80" y="1153"/>
                    </a:cubicBezTo>
                    <a:cubicBezTo>
                      <a:pt x="90" y="1162"/>
                      <a:pt x="78" y="1174"/>
                      <a:pt x="78" y="1174"/>
                    </a:cubicBezTo>
                    <a:cubicBezTo>
                      <a:pt x="78" y="1174"/>
                      <a:pt x="52" y="1231"/>
                      <a:pt x="52" y="1243"/>
                    </a:cubicBezTo>
                    <a:cubicBezTo>
                      <a:pt x="54" y="1254"/>
                      <a:pt x="43" y="1283"/>
                      <a:pt x="43" y="1283"/>
                    </a:cubicBezTo>
                    <a:cubicBezTo>
                      <a:pt x="43" y="1283"/>
                      <a:pt x="35" y="1337"/>
                      <a:pt x="40" y="1354"/>
                    </a:cubicBezTo>
                    <a:cubicBezTo>
                      <a:pt x="47" y="1372"/>
                      <a:pt x="54" y="1401"/>
                      <a:pt x="64" y="1417"/>
                    </a:cubicBezTo>
                    <a:cubicBezTo>
                      <a:pt x="71" y="1436"/>
                      <a:pt x="104" y="1481"/>
                      <a:pt x="111" y="1491"/>
                    </a:cubicBezTo>
                    <a:cubicBezTo>
                      <a:pt x="118" y="1502"/>
                      <a:pt x="139" y="1524"/>
                      <a:pt x="146" y="1528"/>
                    </a:cubicBezTo>
                    <a:cubicBezTo>
                      <a:pt x="156" y="1531"/>
                      <a:pt x="203" y="1521"/>
                      <a:pt x="217" y="1517"/>
                    </a:cubicBezTo>
                    <a:cubicBezTo>
                      <a:pt x="232" y="1509"/>
                      <a:pt x="284" y="1483"/>
                      <a:pt x="295" y="1476"/>
                    </a:cubicBezTo>
                    <a:cubicBezTo>
                      <a:pt x="305" y="1467"/>
                      <a:pt x="324" y="1443"/>
                      <a:pt x="328" y="1436"/>
                    </a:cubicBezTo>
                    <a:cubicBezTo>
                      <a:pt x="333" y="1427"/>
                      <a:pt x="333" y="1387"/>
                      <a:pt x="333" y="1387"/>
                    </a:cubicBezTo>
                    <a:cubicBezTo>
                      <a:pt x="333" y="1387"/>
                      <a:pt x="387" y="1283"/>
                      <a:pt x="395" y="1276"/>
                    </a:cubicBezTo>
                    <a:cubicBezTo>
                      <a:pt x="402" y="1271"/>
                      <a:pt x="421" y="1311"/>
                      <a:pt x="425" y="1313"/>
                    </a:cubicBezTo>
                    <a:cubicBezTo>
                      <a:pt x="432" y="1316"/>
                      <a:pt x="428" y="1391"/>
                      <a:pt x="428" y="1391"/>
                    </a:cubicBezTo>
                    <a:cubicBezTo>
                      <a:pt x="428" y="1391"/>
                      <a:pt x="442" y="1439"/>
                      <a:pt x="451" y="1450"/>
                    </a:cubicBezTo>
                    <a:cubicBezTo>
                      <a:pt x="458" y="1460"/>
                      <a:pt x="451" y="1566"/>
                      <a:pt x="456" y="1576"/>
                    </a:cubicBezTo>
                    <a:cubicBezTo>
                      <a:pt x="463" y="1585"/>
                      <a:pt x="475" y="1609"/>
                      <a:pt x="470" y="1618"/>
                    </a:cubicBezTo>
                    <a:cubicBezTo>
                      <a:pt x="463" y="1625"/>
                      <a:pt x="458" y="1651"/>
                      <a:pt x="458" y="1651"/>
                    </a:cubicBezTo>
                    <a:cubicBezTo>
                      <a:pt x="463" y="1710"/>
                      <a:pt x="463" y="1710"/>
                      <a:pt x="463" y="1710"/>
                    </a:cubicBezTo>
                    <a:cubicBezTo>
                      <a:pt x="463" y="1710"/>
                      <a:pt x="473" y="1734"/>
                      <a:pt x="465" y="1741"/>
                    </a:cubicBezTo>
                    <a:cubicBezTo>
                      <a:pt x="461" y="1748"/>
                      <a:pt x="463" y="1817"/>
                      <a:pt x="463" y="1817"/>
                    </a:cubicBezTo>
                    <a:cubicBezTo>
                      <a:pt x="463" y="1817"/>
                      <a:pt x="501" y="2140"/>
                      <a:pt x="503" y="2164"/>
                    </a:cubicBezTo>
                    <a:cubicBezTo>
                      <a:pt x="508" y="2187"/>
                      <a:pt x="517" y="2176"/>
                      <a:pt x="517" y="2176"/>
                    </a:cubicBezTo>
                    <a:cubicBezTo>
                      <a:pt x="517" y="2176"/>
                      <a:pt x="534" y="2341"/>
                      <a:pt x="565" y="2478"/>
                    </a:cubicBezTo>
                    <a:cubicBezTo>
                      <a:pt x="574" y="2542"/>
                      <a:pt x="569" y="2594"/>
                      <a:pt x="584" y="2629"/>
                    </a:cubicBezTo>
                    <a:cubicBezTo>
                      <a:pt x="584" y="2629"/>
                      <a:pt x="610" y="2889"/>
                      <a:pt x="614" y="2901"/>
                    </a:cubicBezTo>
                    <a:cubicBezTo>
                      <a:pt x="617" y="2915"/>
                      <a:pt x="617" y="3083"/>
                      <a:pt x="617" y="3083"/>
                    </a:cubicBezTo>
                    <a:cubicBezTo>
                      <a:pt x="926" y="3080"/>
                      <a:pt x="926" y="3080"/>
                      <a:pt x="926" y="3080"/>
                    </a:cubicBezTo>
                    <a:cubicBezTo>
                      <a:pt x="926" y="3080"/>
                      <a:pt x="917" y="2965"/>
                      <a:pt x="910" y="2953"/>
                    </a:cubicBezTo>
                    <a:cubicBezTo>
                      <a:pt x="900" y="2939"/>
                      <a:pt x="917" y="2868"/>
                      <a:pt x="919" y="2825"/>
                    </a:cubicBezTo>
                    <a:cubicBezTo>
                      <a:pt x="921" y="2785"/>
                      <a:pt x="921" y="2620"/>
                      <a:pt x="917" y="2594"/>
                    </a:cubicBezTo>
                    <a:cubicBezTo>
                      <a:pt x="912" y="2565"/>
                      <a:pt x="910" y="2438"/>
                      <a:pt x="917" y="2412"/>
                    </a:cubicBezTo>
                    <a:cubicBezTo>
                      <a:pt x="924" y="2386"/>
                      <a:pt x="926" y="2310"/>
                      <a:pt x="926" y="2310"/>
                    </a:cubicBezTo>
                    <a:cubicBezTo>
                      <a:pt x="938" y="2313"/>
                      <a:pt x="938" y="2313"/>
                      <a:pt x="938" y="2313"/>
                    </a:cubicBezTo>
                    <a:cubicBezTo>
                      <a:pt x="938" y="2313"/>
                      <a:pt x="971" y="2433"/>
                      <a:pt x="976" y="2445"/>
                    </a:cubicBezTo>
                    <a:cubicBezTo>
                      <a:pt x="978" y="2457"/>
                      <a:pt x="1007" y="2608"/>
                      <a:pt x="1007" y="2608"/>
                    </a:cubicBezTo>
                    <a:cubicBezTo>
                      <a:pt x="1007" y="2608"/>
                      <a:pt x="1040" y="2830"/>
                      <a:pt x="1044" y="2837"/>
                    </a:cubicBezTo>
                    <a:cubicBezTo>
                      <a:pt x="1049" y="2842"/>
                      <a:pt x="1061" y="2948"/>
                      <a:pt x="1070" y="2953"/>
                    </a:cubicBezTo>
                    <a:cubicBezTo>
                      <a:pt x="1080" y="2960"/>
                      <a:pt x="1073" y="3080"/>
                      <a:pt x="1073" y="3080"/>
                    </a:cubicBezTo>
                    <a:cubicBezTo>
                      <a:pt x="1077" y="3085"/>
                      <a:pt x="1077" y="3085"/>
                      <a:pt x="1077" y="3085"/>
                    </a:cubicBezTo>
                    <a:cubicBezTo>
                      <a:pt x="1406" y="3085"/>
                      <a:pt x="1406" y="3085"/>
                      <a:pt x="1406" y="3085"/>
                    </a:cubicBezTo>
                    <a:cubicBezTo>
                      <a:pt x="1406" y="3085"/>
                      <a:pt x="1375" y="2901"/>
                      <a:pt x="1375" y="2865"/>
                    </a:cubicBezTo>
                    <a:cubicBezTo>
                      <a:pt x="1375" y="2832"/>
                      <a:pt x="1326" y="2400"/>
                      <a:pt x="1333" y="2372"/>
                    </a:cubicBezTo>
                    <a:cubicBezTo>
                      <a:pt x="1337" y="2341"/>
                      <a:pt x="1340" y="2152"/>
                      <a:pt x="1340" y="2152"/>
                    </a:cubicBezTo>
                    <a:cubicBezTo>
                      <a:pt x="1340" y="2152"/>
                      <a:pt x="1363" y="2050"/>
                      <a:pt x="1347" y="2003"/>
                    </a:cubicBezTo>
                    <a:cubicBezTo>
                      <a:pt x="1375" y="1984"/>
                      <a:pt x="1451" y="1951"/>
                      <a:pt x="1460" y="1944"/>
                    </a:cubicBezTo>
                    <a:cubicBezTo>
                      <a:pt x="1467" y="1937"/>
                      <a:pt x="1375" y="1668"/>
                      <a:pt x="1370" y="1642"/>
                    </a:cubicBezTo>
                    <a:cubicBezTo>
                      <a:pt x="1363" y="1616"/>
                      <a:pt x="1302" y="1410"/>
                      <a:pt x="1302" y="1398"/>
                    </a:cubicBezTo>
                    <a:cubicBezTo>
                      <a:pt x="1302" y="1387"/>
                      <a:pt x="1274" y="1174"/>
                      <a:pt x="1278" y="1165"/>
                    </a:cubicBezTo>
                    <a:cubicBezTo>
                      <a:pt x="1283" y="1155"/>
                      <a:pt x="1292" y="1004"/>
                      <a:pt x="1297" y="992"/>
                    </a:cubicBezTo>
                    <a:cubicBezTo>
                      <a:pt x="1304" y="983"/>
                      <a:pt x="1323" y="924"/>
                      <a:pt x="1323" y="924"/>
                    </a:cubicBezTo>
                    <a:cubicBezTo>
                      <a:pt x="1425" y="938"/>
                      <a:pt x="1425" y="938"/>
                      <a:pt x="1425" y="938"/>
                    </a:cubicBezTo>
                    <a:cubicBezTo>
                      <a:pt x="1425" y="938"/>
                      <a:pt x="1463" y="952"/>
                      <a:pt x="1474" y="952"/>
                    </a:cubicBezTo>
                    <a:cubicBezTo>
                      <a:pt x="1484" y="952"/>
                      <a:pt x="1519" y="943"/>
                      <a:pt x="1531" y="943"/>
                    </a:cubicBezTo>
                    <a:cubicBezTo>
                      <a:pt x="1543" y="943"/>
                      <a:pt x="1614" y="933"/>
                      <a:pt x="1630" y="928"/>
                    </a:cubicBezTo>
                    <a:cubicBezTo>
                      <a:pt x="1644" y="926"/>
                      <a:pt x="1668" y="931"/>
                      <a:pt x="1682" y="926"/>
                    </a:cubicBezTo>
                    <a:cubicBezTo>
                      <a:pt x="1694" y="919"/>
                      <a:pt x="1713" y="900"/>
                      <a:pt x="1727" y="898"/>
                    </a:cubicBezTo>
                    <a:cubicBezTo>
                      <a:pt x="1741" y="893"/>
                      <a:pt x="1734" y="902"/>
                      <a:pt x="1772" y="895"/>
                    </a:cubicBezTo>
                    <a:cubicBezTo>
                      <a:pt x="1810" y="888"/>
                      <a:pt x="2006" y="801"/>
                      <a:pt x="2018" y="798"/>
                    </a:cubicBezTo>
                    <a:cubicBezTo>
                      <a:pt x="2030" y="794"/>
                      <a:pt x="2093" y="765"/>
                      <a:pt x="2115" y="765"/>
                    </a:cubicBezTo>
                    <a:cubicBezTo>
                      <a:pt x="2138" y="765"/>
                      <a:pt x="2157" y="761"/>
                      <a:pt x="2157" y="761"/>
                    </a:cubicBezTo>
                    <a:cubicBezTo>
                      <a:pt x="2157" y="761"/>
                      <a:pt x="2190" y="746"/>
                      <a:pt x="2186" y="711"/>
                    </a:cubicBezTo>
                    <a:cubicBezTo>
                      <a:pt x="2181" y="678"/>
                      <a:pt x="2200" y="704"/>
                      <a:pt x="2200" y="704"/>
                    </a:cubicBezTo>
                    <a:cubicBezTo>
                      <a:pt x="2188" y="666"/>
                      <a:pt x="2188" y="666"/>
                      <a:pt x="2188" y="666"/>
                    </a:cubicBezTo>
                    <a:cubicBezTo>
                      <a:pt x="2195" y="645"/>
                      <a:pt x="2195" y="645"/>
                      <a:pt x="2195" y="645"/>
                    </a:cubicBezTo>
                    <a:cubicBezTo>
                      <a:pt x="2219" y="633"/>
                      <a:pt x="2219" y="633"/>
                      <a:pt x="2219" y="633"/>
                    </a:cubicBezTo>
                    <a:cubicBezTo>
                      <a:pt x="2228" y="621"/>
                      <a:pt x="2228" y="621"/>
                      <a:pt x="2228" y="621"/>
                    </a:cubicBezTo>
                    <a:cubicBezTo>
                      <a:pt x="2228" y="621"/>
                      <a:pt x="2233" y="621"/>
                      <a:pt x="2245" y="619"/>
                    </a:cubicBezTo>
                    <a:cubicBezTo>
                      <a:pt x="2254" y="619"/>
                      <a:pt x="2280" y="588"/>
                      <a:pt x="2287" y="581"/>
                    </a:cubicBezTo>
                    <a:cubicBezTo>
                      <a:pt x="2297" y="576"/>
                      <a:pt x="2308" y="572"/>
                      <a:pt x="2308" y="572"/>
                    </a:cubicBezTo>
                    <a:cubicBezTo>
                      <a:pt x="2311" y="586"/>
                      <a:pt x="2311" y="586"/>
                      <a:pt x="2311" y="586"/>
                    </a:cubicBezTo>
                    <a:cubicBezTo>
                      <a:pt x="2285" y="607"/>
                      <a:pt x="2285" y="607"/>
                      <a:pt x="2285" y="607"/>
                    </a:cubicBezTo>
                    <a:cubicBezTo>
                      <a:pt x="2285" y="607"/>
                      <a:pt x="2278" y="633"/>
                      <a:pt x="2299" y="633"/>
                    </a:cubicBezTo>
                    <a:cubicBezTo>
                      <a:pt x="2323" y="633"/>
                      <a:pt x="2334" y="609"/>
                      <a:pt x="2334" y="609"/>
                    </a:cubicBezTo>
                    <a:cubicBezTo>
                      <a:pt x="2356" y="581"/>
                      <a:pt x="2356" y="581"/>
                      <a:pt x="2356" y="581"/>
                    </a:cubicBezTo>
                    <a:cubicBezTo>
                      <a:pt x="2377" y="555"/>
                      <a:pt x="2377" y="555"/>
                      <a:pt x="2377" y="555"/>
                    </a:cubicBezTo>
                    <a:cubicBezTo>
                      <a:pt x="2398" y="506"/>
                      <a:pt x="2398" y="506"/>
                      <a:pt x="2398" y="506"/>
                    </a:cubicBezTo>
                    <a:cubicBezTo>
                      <a:pt x="2379" y="435"/>
                      <a:pt x="2379" y="435"/>
                      <a:pt x="2379" y="435"/>
                    </a:cubicBezTo>
                    <a:cubicBezTo>
                      <a:pt x="2379" y="435"/>
                      <a:pt x="2360" y="425"/>
                      <a:pt x="2349" y="425"/>
                    </a:cubicBezTo>
                    <a:cubicBezTo>
                      <a:pt x="2334" y="425"/>
                      <a:pt x="2323" y="420"/>
                      <a:pt x="2323" y="420"/>
                    </a:cubicBezTo>
                    <a:cubicBezTo>
                      <a:pt x="2323" y="420"/>
                      <a:pt x="2344" y="402"/>
                      <a:pt x="2349" y="397"/>
                    </a:cubicBezTo>
                    <a:cubicBezTo>
                      <a:pt x="2356" y="392"/>
                      <a:pt x="2375" y="385"/>
                      <a:pt x="2384" y="380"/>
                    </a:cubicBezTo>
                    <a:cubicBezTo>
                      <a:pt x="2391" y="376"/>
                      <a:pt x="2415" y="364"/>
                      <a:pt x="2415" y="364"/>
                    </a:cubicBezTo>
                    <a:cubicBezTo>
                      <a:pt x="2436" y="345"/>
                      <a:pt x="2436" y="345"/>
                      <a:pt x="2436" y="345"/>
                    </a:cubicBezTo>
                    <a:cubicBezTo>
                      <a:pt x="2436" y="345"/>
                      <a:pt x="2431" y="321"/>
                      <a:pt x="2412" y="326"/>
                    </a:cubicBezTo>
                    <a:cubicBezTo>
                      <a:pt x="2396" y="333"/>
                      <a:pt x="2337" y="354"/>
                      <a:pt x="2337" y="354"/>
                    </a:cubicBezTo>
                    <a:cubicBezTo>
                      <a:pt x="2287" y="383"/>
                      <a:pt x="2287" y="383"/>
                      <a:pt x="2287" y="383"/>
                    </a:cubicBezTo>
                    <a:cubicBezTo>
                      <a:pt x="2219" y="423"/>
                      <a:pt x="2219" y="423"/>
                      <a:pt x="2219" y="423"/>
                    </a:cubicBezTo>
                    <a:cubicBezTo>
                      <a:pt x="2219" y="423"/>
                      <a:pt x="2155" y="489"/>
                      <a:pt x="2150" y="494"/>
                    </a:cubicBezTo>
                    <a:cubicBezTo>
                      <a:pt x="2145" y="501"/>
                      <a:pt x="2131" y="524"/>
                      <a:pt x="2124" y="527"/>
                    </a:cubicBezTo>
                    <a:cubicBezTo>
                      <a:pt x="2115" y="529"/>
                      <a:pt x="2098" y="531"/>
                      <a:pt x="2098" y="531"/>
                    </a:cubicBezTo>
                    <a:cubicBezTo>
                      <a:pt x="2074" y="536"/>
                      <a:pt x="2074" y="536"/>
                      <a:pt x="2074" y="536"/>
                    </a:cubicBezTo>
                    <a:cubicBezTo>
                      <a:pt x="2020" y="553"/>
                      <a:pt x="2020" y="553"/>
                      <a:pt x="2020" y="553"/>
                    </a:cubicBezTo>
                    <a:cubicBezTo>
                      <a:pt x="2020" y="553"/>
                      <a:pt x="1966" y="567"/>
                      <a:pt x="1940" y="581"/>
                    </a:cubicBezTo>
                    <a:cubicBezTo>
                      <a:pt x="1914" y="593"/>
                      <a:pt x="1876" y="607"/>
                      <a:pt x="1876" y="607"/>
                    </a:cubicBezTo>
                    <a:cubicBezTo>
                      <a:pt x="1876" y="607"/>
                      <a:pt x="1876" y="602"/>
                      <a:pt x="1829" y="612"/>
                    </a:cubicBezTo>
                    <a:cubicBezTo>
                      <a:pt x="1782" y="621"/>
                      <a:pt x="1732" y="633"/>
                      <a:pt x="1727" y="635"/>
                    </a:cubicBezTo>
                    <a:cubicBezTo>
                      <a:pt x="1720" y="638"/>
                      <a:pt x="1708" y="647"/>
                      <a:pt x="1704" y="650"/>
                    </a:cubicBezTo>
                    <a:cubicBezTo>
                      <a:pt x="1696" y="652"/>
                      <a:pt x="1696" y="650"/>
                      <a:pt x="1680" y="650"/>
                    </a:cubicBezTo>
                    <a:cubicBezTo>
                      <a:pt x="1661" y="650"/>
                      <a:pt x="1654" y="668"/>
                      <a:pt x="1642" y="671"/>
                    </a:cubicBezTo>
                    <a:cubicBezTo>
                      <a:pt x="1633" y="671"/>
                      <a:pt x="1621" y="671"/>
                      <a:pt x="1611" y="671"/>
                    </a:cubicBezTo>
                    <a:cubicBezTo>
                      <a:pt x="1602" y="671"/>
                      <a:pt x="1585" y="671"/>
                      <a:pt x="1585" y="671"/>
                    </a:cubicBezTo>
                    <a:cubicBezTo>
                      <a:pt x="1585" y="671"/>
                      <a:pt x="1567" y="659"/>
                      <a:pt x="1550" y="657"/>
                    </a:cubicBezTo>
                    <a:cubicBezTo>
                      <a:pt x="1531" y="657"/>
                      <a:pt x="1517" y="652"/>
                      <a:pt x="1505" y="659"/>
                    </a:cubicBezTo>
                    <a:cubicBezTo>
                      <a:pt x="1493" y="668"/>
                      <a:pt x="1481" y="671"/>
                      <a:pt x="1474" y="664"/>
                    </a:cubicBezTo>
                    <a:cubicBezTo>
                      <a:pt x="1465" y="657"/>
                      <a:pt x="1463" y="635"/>
                      <a:pt x="1451" y="635"/>
                    </a:cubicBezTo>
                    <a:cubicBezTo>
                      <a:pt x="1439" y="635"/>
                      <a:pt x="1415" y="645"/>
                      <a:pt x="1415" y="645"/>
                    </a:cubicBezTo>
                    <a:cubicBezTo>
                      <a:pt x="1415" y="645"/>
                      <a:pt x="1396" y="640"/>
                      <a:pt x="1389" y="633"/>
                    </a:cubicBezTo>
                    <a:cubicBezTo>
                      <a:pt x="1385" y="628"/>
                      <a:pt x="1340" y="602"/>
                      <a:pt x="1340" y="602"/>
                    </a:cubicBezTo>
                    <a:cubicBezTo>
                      <a:pt x="1340" y="602"/>
                      <a:pt x="1314" y="581"/>
                      <a:pt x="1300" y="581"/>
                    </a:cubicBezTo>
                    <a:cubicBezTo>
                      <a:pt x="1285" y="581"/>
                      <a:pt x="1283" y="550"/>
                      <a:pt x="1290" y="546"/>
                    </a:cubicBezTo>
                    <a:cubicBezTo>
                      <a:pt x="1297" y="543"/>
                      <a:pt x="1271" y="491"/>
                      <a:pt x="1252" y="487"/>
                    </a:cubicBezTo>
                    <a:cubicBezTo>
                      <a:pt x="1233" y="480"/>
                      <a:pt x="1207" y="477"/>
                      <a:pt x="1203" y="477"/>
                    </a:cubicBezTo>
                    <a:cubicBezTo>
                      <a:pt x="1196" y="477"/>
                      <a:pt x="1162" y="472"/>
                      <a:pt x="1146" y="477"/>
                    </a:cubicBezTo>
                    <a:cubicBezTo>
                      <a:pt x="1129" y="484"/>
                      <a:pt x="1085" y="487"/>
                      <a:pt x="1070" y="489"/>
                    </a:cubicBezTo>
                    <a:cubicBezTo>
                      <a:pt x="1056" y="491"/>
                      <a:pt x="1040" y="498"/>
                      <a:pt x="1028" y="498"/>
                    </a:cubicBezTo>
                    <a:cubicBezTo>
                      <a:pt x="1018" y="498"/>
                      <a:pt x="1014" y="487"/>
                      <a:pt x="1002" y="487"/>
                    </a:cubicBezTo>
                    <a:cubicBezTo>
                      <a:pt x="988" y="487"/>
                      <a:pt x="898" y="491"/>
                      <a:pt x="881" y="491"/>
                    </a:cubicBezTo>
                    <a:cubicBezTo>
                      <a:pt x="865" y="491"/>
                      <a:pt x="851" y="468"/>
                      <a:pt x="832" y="456"/>
                    </a:cubicBezTo>
                    <a:cubicBezTo>
                      <a:pt x="810" y="444"/>
                      <a:pt x="799" y="430"/>
                      <a:pt x="799" y="430"/>
                    </a:cubicBezTo>
                    <a:cubicBezTo>
                      <a:pt x="792" y="406"/>
                      <a:pt x="792" y="406"/>
                      <a:pt x="792" y="406"/>
                    </a:cubicBezTo>
                    <a:cubicBezTo>
                      <a:pt x="801" y="293"/>
                      <a:pt x="801" y="293"/>
                      <a:pt x="801" y="293"/>
                    </a:cubicBezTo>
                    <a:cubicBezTo>
                      <a:pt x="801" y="293"/>
                      <a:pt x="867" y="118"/>
                      <a:pt x="725" y="61"/>
                    </a:cubicBezTo>
                    <a:cubicBezTo>
                      <a:pt x="692" y="54"/>
                      <a:pt x="671" y="26"/>
                      <a:pt x="671" y="26"/>
                    </a:cubicBezTo>
                    <a:cubicBezTo>
                      <a:pt x="671" y="26"/>
                      <a:pt x="617" y="0"/>
                      <a:pt x="581" y="5"/>
                    </a:cubicBezTo>
                    <a:cubicBezTo>
                      <a:pt x="548" y="12"/>
                      <a:pt x="536" y="7"/>
                      <a:pt x="501" y="24"/>
                    </a:cubicBezTo>
                    <a:cubicBezTo>
                      <a:pt x="463" y="40"/>
                      <a:pt x="447" y="43"/>
                      <a:pt x="428" y="50"/>
                    </a:cubicBezTo>
                    <a:cubicBezTo>
                      <a:pt x="411" y="57"/>
                      <a:pt x="385" y="76"/>
                      <a:pt x="385" y="76"/>
                    </a:cubicBezTo>
                    <a:cubicBezTo>
                      <a:pt x="385" y="76"/>
                      <a:pt x="362" y="113"/>
                      <a:pt x="357" y="118"/>
                    </a:cubicBezTo>
                    <a:cubicBezTo>
                      <a:pt x="350" y="120"/>
                      <a:pt x="378" y="130"/>
                      <a:pt x="378" y="130"/>
                    </a:cubicBezTo>
                    <a:cubicBezTo>
                      <a:pt x="378" y="130"/>
                      <a:pt x="362" y="151"/>
                      <a:pt x="350" y="172"/>
                    </a:cubicBezTo>
                    <a:cubicBezTo>
                      <a:pt x="338" y="196"/>
                      <a:pt x="343" y="229"/>
                      <a:pt x="340" y="236"/>
                    </a:cubicBezTo>
                    <a:cubicBezTo>
                      <a:pt x="338" y="246"/>
                      <a:pt x="321" y="262"/>
                      <a:pt x="321" y="269"/>
                    </a:cubicBezTo>
                    <a:cubicBezTo>
                      <a:pt x="324" y="274"/>
                      <a:pt x="362" y="295"/>
                      <a:pt x="362" y="302"/>
                    </a:cubicBezTo>
                    <a:cubicBezTo>
                      <a:pt x="364" y="312"/>
                      <a:pt x="373" y="335"/>
                      <a:pt x="362" y="350"/>
                    </a:cubicBezTo>
                    <a:cubicBezTo>
                      <a:pt x="347" y="364"/>
                      <a:pt x="333" y="402"/>
                      <a:pt x="347" y="413"/>
                    </a:cubicBezTo>
                    <a:cubicBezTo>
                      <a:pt x="364" y="428"/>
                      <a:pt x="373" y="428"/>
                      <a:pt x="373" y="428"/>
                    </a:cubicBezTo>
                    <a:cubicBezTo>
                      <a:pt x="371" y="461"/>
                      <a:pt x="371" y="461"/>
                      <a:pt x="371" y="461"/>
                    </a:cubicBezTo>
                    <a:cubicBezTo>
                      <a:pt x="371" y="461"/>
                      <a:pt x="373" y="477"/>
                      <a:pt x="383" y="480"/>
                    </a:cubicBezTo>
                    <a:cubicBezTo>
                      <a:pt x="390" y="482"/>
                      <a:pt x="371" y="496"/>
                      <a:pt x="378" y="503"/>
                    </a:cubicBezTo>
                    <a:cubicBezTo>
                      <a:pt x="385" y="513"/>
                      <a:pt x="399" y="515"/>
                      <a:pt x="399" y="515"/>
                    </a:cubicBezTo>
                    <a:cubicBezTo>
                      <a:pt x="399" y="515"/>
                      <a:pt x="409" y="531"/>
                      <a:pt x="399" y="543"/>
                    </a:cubicBezTo>
                    <a:cubicBezTo>
                      <a:pt x="387" y="553"/>
                      <a:pt x="401" y="584"/>
                      <a:pt x="427" y="582"/>
                    </a:cubicBezTo>
                    <a:cubicBezTo>
                      <a:pt x="460" y="594"/>
                      <a:pt x="482" y="593"/>
                      <a:pt x="482" y="593"/>
                    </a:cubicBezTo>
                    <a:lnTo>
                      <a:pt x="507" y="592"/>
                    </a:lnTo>
                    <a:cubicBezTo>
                      <a:pt x="507" y="592"/>
                      <a:pt x="523" y="606"/>
                      <a:pt x="523" y="606"/>
                    </a:cubicBezTo>
                    <a:close/>
                  </a:path>
                </a:pathLst>
              </a:custGeom>
              <a:solidFill>
                <a:srgbClr val="002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grpSp>
            <p:nvGrpSpPr>
              <p:cNvPr id="19" name="Group 12"/>
              <p:cNvGrpSpPr>
                <a:grpSpLocks/>
              </p:cNvGrpSpPr>
              <p:nvPr/>
            </p:nvGrpSpPr>
            <p:grpSpPr bwMode="auto">
              <a:xfrm>
                <a:off x="2708" y="1297"/>
                <a:ext cx="326" cy="796"/>
                <a:chOff x="2708" y="1297"/>
                <a:chExt cx="326" cy="796"/>
              </a:xfrm>
            </p:grpSpPr>
            <p:sp>
              <p:nvSpPr>
                <p:cNvPr id="20" name="Freeform 13"/>
                <p:cNvSpPr>
                  <a:spLocks/>
                </p:cNvSpPr>
                <p:nvPr/>
              </p:nvSpPr>
              <p:spPr bwMode="auto">
                <a:xfrm>
                  <a:off x="2829" y="1297"/>
                  <a:ext cx="205" cy="796"/>
                </a:xfrm>
                <a:custGeom>
                  <a:avLst/>
                  <a:gdLst>
                    <a:gd name="T0" fmla="*/ 56 w 87"/>
                    <a:gd name="T1" fmla="*/ 3 h 337"/>
                    <a:gd name="T2" fmla="*/ 7 w 87"/>
                    <a:gd name="T3" fmla="*/ 71 h 337"/>
                    <a:gd name="T4" fmla="*/ 4 w 87"/>
                    <a:gd name="T5" fmla="*/ 77 h 337"/>
                    <a:gd name="T6" fmla="*/ 18 w 87"/>
                    <a:gd name="T7" fmla="*/ 96 h 337"/>
                    <a:gd name="T8" fmla="*/ 5 w 87"/>
                    <a:gd name="T9" fmla="*/ 120 h 337"/>
                    <a:gd name="T10" fmla="*/ 5 w 87"/>
                    <a:gd name="T11" fmla="*/ 127 h 337"/>
                    <a:gd name="T12" fmla="*/ 15 w 87"/>
                    <a:gd name="T13" fmla="*/ 141 h 337"/>
                    <a:gd name="T14" fmla="*/ 33 w 87"/>
                    <a:gd name="T15" fmla="*/ 201 h 337"/>
                    <a:gd name="T16" fmla="*/ 46 w 87"/>
                    <a:gd name="T17" fmla="*/ 313 h 337"/>
                    <a:gd name="T18" fmla="*/ 63 w 87"/>
                    <a:gd name="T19" fmla="*/ 337 h 337"/>
                    <a:gd name="T20" fmla="*/ 84 w 87"/>
                    <a:gd name="T21" fmla="*/ 243 h 337"/>
                    <a:gd name="T22" fmla="*/ 87 w 87"/>
                    <a:gd name="T23" fmla="*/ 155 h 337"/>
                    <a:gd name="T24" fmla="*/ 77 w 87"/>
                    <a:gd name="T25" fmla="*/ 96 h 337"/>
                    <a:gd name="T26" fmla="*/ 70 w 87"/>
                    <a:gd name="T27" fmla="*/ 61 h 337"/>
                    <a:gd name="T28" fmla="*/ 70 w 87"/>
                    <a:gd name="T29" fmla="*/ 40 h 337"/>
                    <a:gd name="T30" fmla="*/ 71 w 87"/>
                    <a:gd name="T31" fmla="*/ 18 h 337"/>
                    <a:gd name="T32" fmla="*/ 71 w 87"/>
                    <a:gd name="T33" fmla="*/ 13 h 337"/>
                    <a:gd name="T34" fmla="*/ 58 w 87"/>
                    <a:gd name="T35" fmla="*/ 0 h 337"/>
                    <a:gd name="T36" fmla="*/ 56 w 87"/>
                    <a:gd name="T37" fmla="*/ 3 h 3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87" h="337">
                      <a:moveTo>
                        <a:pt x="56" y="3"/>
                      </a:moveTo>
                      <a:cubicBezTo>
                        <a:pt x="56" y="3"/>
                        <a:pt x="58" y="42"/>
                        <a:pt x="7" y="71"/>
                      </a:cubicBezTo>
                      <a:cubicBezTo>
                        <a:pt x="0" y="74"/>
                        <a:pt x="4" y="77"/>
                        <a:pt x="4" y="77"/>
                      </a:cubicBezTo>
                      <a:cubicBezTo>
                        <a:pt x="18" y="96"/>
                        <a:pt x="18" y="96"/>
                        <a:pt x="18" y="96"/>
                      </a:cubicBezTo>
                      <a:cubicBezTo>
                        <a:pt x="5" y="120"/>
                        <a:pt x="5" y="120"/>
                        <a:pt x="5" y="120"/>
                      </a:cubicBezTo>
                      <a:cubicBezTo>
                        <a:pt x="5" y="120"/>
                        <a:pt x="7" y="125"/>
                        <a:pt x="5" y="127"/>
                      </a:cubicBezTo>
                      <a:cubicBezTo>
                        <a:pt x="2" y="128"/>
                        <a:pt x="13" y="133"/>
                        <a:pt x="15" y="141"/>
                      </a:cubicBezTo>
                      <a:cubicBezTo>
                        <a:pt x="18" y="149"/>
                        <a:pt x="31" y="168"/>
                        <a:pt x="33" y="201"/>
                      </a:cubicBezTo>
                      <a:cubicBezTo>
                        <a:pt x="39" y="236"/>
                        <a:pt x="46" y="313"/>
                        <a:pt x="46" y="313"/>
                      </a:cubicBezTo>
                      <a:cubicBezTo>
                        <a:pt x="63" y="337"/>
                        <a:pt x="63" y="337"/>
                        <a:pt x="63" y="337"/>
                      </a:cubicBezTo>
                      <a:cubicBezTo>
                        <a:pt x="63" y="337"/>
                        <a:pt x="83" y="246"/>
                        <a:pt x="84" y="243"/>
                      </a:cubicBezTo>
                      <a:cubicBezTo>
                        <a:pt x="85" y="241"/>
                        <a:pt x="87" y="158"/>
                        <a:pt x="87" y="155"/>
                      </a:cubicBezTo>
                      <a:cubicBezTo>
                        <a:pt x="86" y="152"/>
                        <a:pt x="78" y="102"/>
                        <a:pt x="77" y="96"/>
                      </a:cubicBezTo>
                      <a:cubicBezTo>
                        <a:pt x="76" y="91"/>
                        <a:pt x="70" y="63"/>
                        <a:pt x="70" y="61"/>
                      </a:cubicBezTo>
                      <a:cubicBezTo>
                        <a:pt x="70" y="58"/>
                        <a:pt x="69" y="43"/>
                        <a:pt x="70" y="40"/>
                      </a:cubicBezTo>
                      <a:cubicBezTo>
                        <a:pt x="71" y="37"/>
                        <a:pt x="71" y="18"/>
                        <a:pt x="71" y="18"/>
                      </a:cubicBezTo>
                      <a:cubicBezTo>
                        <a:pt x="71" y="13"/>
                        <a:pt x="71" y="13"/>
                        <a:pt x="71" y="13"/>
                      </a:cubicBezTo>
                      <a:cubicBezTo>
                        <a:pt x="58" y="0"/>
                        <a:pt x="58" y="0"/>
                        <a:pt x="58" y="0"/>
                      </a:cubicBezTo>
                      <a:lnTo>
                        <a:pt x="56" y="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1" name="Freeform 14"/>
                <p:cNvSpPr>
                  <a:spLocks/>
                </p:cNvSpPr>
                <p:nvPr/>
              </p:nvSpPr>
              <p:spPr bwMode="auto">
                <a:xfrm>
                  <a:off x="2708" y="1458"/>
                  <a:ext cx="97" cy="279"/>
                </a:xfrm>
                <a:custGeom>
                  <a:avLst/>
                  <a:gdLst>
                    <a:gd name="T0" fmla="*/ 0 w 41"/>
                    <a:gd name="T1" fmla="*/ 0 h 118"/>
                    <a:gd name="T2" fmla="*/ 7 w 41"/>
                    <a:gd name="T3" fmla="*/ 0 h 118"/>
                    <a:gd name="T4" fmla="*/ 17 w 41"/>
                    <a:gd name="T5" fmla="*/ 8 h 118"/>
                    <a:gd name="T6" fmla="*/ 37 w 41"/>
                    <a:gd name="T7" fmla="*/ 12 h 118"/>
                    <a:gd name="T8" fmla="*/ 29 w 41"/>
                    <a:gd name="T9" fmla="*/ 46 h 118"/>
                    <a:gd name="T10" fmla="*/ 37 w 41"/>
                    <a:gd name="T11" fmla="*/ 53 h 118"/>
                    <a:gd name="T12" fmla="*/ 39 w 41"/>
                    <a:gd name="T13" fmla="*/ 63 h 118"/>
                    <a:gd name="T14" fmla="*/ 30 w 41"/>
                    <a:gd name="T15" fmla="*/ 116 h 118"/>
                    <a:gd name="T16" fmla="*/ 8 w 41"/>
                    <a:gd name="T17" fmla="*/ 32 h 118"/>
                    <a:gd name="T18" fmla="*/ 0 w 41"/>
                    <a:gd name="T19" fmla="*/ 0 h 1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41" h="118">
                      <a:moveTo>
                        <a:pt x="0" y="0"/>
                      </a:move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7" y="0"/>
                        <a:pt x="13" y="7"/>
                        <a:pt x="17" y="8"/>
                      </a:cubicBezTo>
                      <a:cubicBezTo>
                        <a:pt x="21" y="9"/>
                        <a:pt x="37" y="12"/>
                        <a:pt x="37" y="12"/>
                      </a:cubicBezTo>
                      <a:cubicBezTo>
                        <a:pt x="37" y="12"/>
                        <a:pt x="26" y="29"/>
                        <a:pt x="29" y="46"/>
                      </a:cubicBezTo>
                      <a:cubicBezTo>
                        <a:pt x="34" y="50"/>
                        <a:pt x="37" y="53"/>
                        <a:pt x="37" y="53"/>
                      </a:cubicBezTo>
                      <a:cubicBezTo>
                        <a:pt x="37" y="53"/>
                        <a:pt x="37" y="63"/>
                        <a:pt x="39" y="63"/>
                      </a:cubicBezTo>
                      <a:cubicBezTo>
                        <a:pt x="41" y="63"/>
                        <a:pt x="32" y="113"/>
                        <a:pt x="30" y="116"/>
                      </a:cubicBezTo>
                      <a:cubicBezTo>
                        <a:pt x="28" y="118"/>
                        <a:pt x="9" y="38"/>
                        <a:pt x="8" y="32"/>
                      </a:cubicBezTo>
                      <a:cubicBezTo>
                        <a:pt x="7" y="26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</p:grpSp>
      </p:grpSp>
      <p:sp>
        <p:nvSpPr>
          <p:cNvPr id="26" name="Espaço Reservado para Imagem 25"/>
          <p:cNvSpPr>
            <a:spLocks noGrp="1"/>
          </p:cNvSpPr>
          <p:nvPr>
            <p:ph type="pic" sz="quarter" idx="12" hasCustomPrompt="1"/>
          </p:nvPr>
        </p:nvSpPr>
        <p:spPr>
          <a:xfrm>
            <a:off x="395536" y="5328308"/>
            <a:ext cx="2520280" cy="1181158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pt-BR" dirty="0"/>
              <a:t>Logo cliente</a:t>
            </a:r>
          </a:p>
        </p:txBody>
      </p:sp>
      <p:sp>
        <p:nvSpPr>
          <p:cNvPr id="28" name="Espaço Reservado para Conteúdo 27"/>
          <p:cNvSpPr>
            <a:spLocks noGrp="1"/>
          </p:cNvSpPr>
          <p:nvPr>
            <p:ph sz="quarter" idx="13" hasCustomPrompt="1"/>
          </p:nvPr>
        </p:nvSpPr>
        <p:spPr>
          <a:xfrm>
            <a:off x="395287" y="4170385"/>
            <a:ext cx="2880000" cy="433387"/>
          </a:xfrm>
        </p:spPr>
        <p:txBody>
          <a:bodyPr vert="horz" lIns="91440" tIns="45720" rIns="91440" bIns="45720" rtlCol="0" anchor="ctr">
            <a:noAutofit/>
          </a:bodyPr>
          <a:lstStyle>
            <a:lvl1pPr marL="342900" indent="-342900">
              <a:buNone/>
              <a:defRPr lang="pt-BR" sz="2000" b="1" i="0" dirty="0" smtClean="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pPr marL="0" lvl="0" indent="0"/>
            <a:r>
              <a:rPr lang="pt-BR" dirty="0"/>
              <a:t>Data</a:t>
            </a:r>
          </a:p>
        </p:txBody>
      </p:sp>
      <p:sp>
        <p:nvSpPr>
          <p:cNvPr id="30" name="Espaço Reservado para Texto 29"/>
          <p:cNvSpPr>
            <a:spLocks noGrp="1"/>
          </p:cNvSpPr>
          <p:nvPr>
            <p:ph type="body" sz="quarter" idx="14" hasCustomPrompt="1"/>
          </p:nvPr>
        </p:nvSpPr>
        <p:spPr>
          <a:xfrm>
            <a:off x="395287" y="4750040"/>
            <a:ext cx="2880000" cy="432000"/>
          </a:xfrm>
        </p:spPr>
        <p:txBody>
          <a:bodyPr vert="horz" lIns="91440" tIns="45720" rIns="91440" bIns="45720" rtlCol="0" anchor="ctr">
            <a:noAutofit/>
          </a:bodyPr>
          <a:lstStyle>
            <a:lvl1pPr marL="342900" indent="-342900">
              <a:buNone/>
              <a:defRPr lang="pt-BR" sz="2000" b="1" i="0" dirty="0" smtClean="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pPr marL="0" lvl="0" indent="0"/>
            <a:r>
              <a:rPr lang="pt-BR" dirty="0"/>
              <a:t>Autor</a:t>
            </a:r>
          </a:p>
        </p:txBody>
      </p:sp>
    </p:spTree>
    <p:extLst>
      <p:ext uri="{BB962C8B-B14F-4D97-AF65-F5344CB8AC3E}">
        <p14:creationId xmlns:p14="http://schemas.microsoft.com/office/powerpoint/2010/main" val="1873255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37C3F6-2F14-46D1-AAE1-6802FB7EEC55}" type="datetimeFigureOut">
              <a:rPr lang="pt-BR" smtClean="0"/>
              <a:t>12/07/2016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86517A-2038-47B7-91F6-CB5ACFFF402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7216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slideLayout" Target="../slideLayouts/slideLayout2.xml"/><Relationship Id="rId3" Type="http://schemas.openxmlformats.org/officeDocument/2006/relationships/tags" Target="../tags/tag3.xml"/><Relationship Id="rId21" Type="http://schemas.openxmlformats.org/officeDocument/2006/relationships/tags" Target="../tags/tag21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/>
          <p:cNvSpPr txBox="1">
            <a:spLocks/>
          </p:cNvSpPr>
          <p:nvPr/>
        </p:nvSpPr>
        <p:spPr>
          <a:xfrm>
            <a:off x="0" y="3445418"/>
            <a:ext cx="9129522" cy="97645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  <a:shade val="30000"/>
                  <a:satMod val="115000"/>
                </a:schemeClr>
              </a:gs>
              <a:gs pos="50000">
                <a:schemeClr val="accent1">
                  <a:lumMod val="50000"/>
                  <a:shade val="67500"/>
                  <a:satMod val="115000"/>
                </a:schemeClr>
              </a:gs>
              <a:gs pos="100000">
                <a:schemeClr val="accent1">
                  <a:lumMod val="50000"/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solidFill>
              <a:schemeClr val="accent1">
                <a:lumMod val="50000"/>
              </a:schemeClr>
            </a:solidFill>
          </a:ln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u="none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pt-BR" sz="43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Nome </a:t>
            </a:r>
            <a:r>
              <a:rPr lang="pt-BR" sz="4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do Projeto</a:t>
            </a:r>
          </a:p>
          <a:p>
            <a:r>
              <a:rPr lang="pt-BR" sz="2200" dirty="0" smtClean="0">
                <a:solidFill>
                  <a:schemeClr val="bg1"/>
                </a:solidFill>
                <a:latin typeface="+mn-lt"/>
              </a:rPr>
              <a:t>Status </a:t>
            </a:r>
            <a:r>
              <a:rPr lang="pt-BR" sz="2200" dirty="0" err="1" smtClean="0">
                <a:solidFill>
                  <a:schemeClr val="bg1"/>
                </a:solidFill>
                <a:latin typeface="+mn-lt"/>
              </a:rPr>
              <a:t>Report</a:t>
            </a:r>
            <a:r>
              <a:rPr lang="pt-BR" sz="2200" dirty="0" smtClean="0">
                <a:solidFill>
                  <a:schemeClr val="bg1"/>
                </a:solidFill>
                <a:latin typeface="+mn-lt"/>
              </a:rPr>
              <a:t> – Executivo</a:t>
            </a:r>
            <a:endParaRPr lang="pt-BR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Subtítulo 2"/>
          <p:cNvSpPr txBox="1">
            <a:spLocks/>
          </p:cNvSpPr>
          <p:nvPr/>
        </p:nvSpPr>
        <p:spPr>
          <a:xfrm>
            <a:off x="-1" y="6411025"/>
            <a:ext cx="9129523" cy="4320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Clr>
                <a:schemeClr val="accent4">
                  <a:lumMod val="75000"/>
                </a:schemeClr>
              </a:buClr>
              <a:buFont typeface="Wingdings" pitchFamily="2" charset="2"/>
              <a:buNone/>
              <a:defRPr sz="2400" b="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Clr>
                <a:schemeClr val="accent4">
                  <a:lumMod val="75000"/>
                </a:schemeClr>
              </a:buClr>
              <a:buSzPct val="130000"/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Clr>
                <a:schemeClr val="accent4">
                  <a:lumMod val="75000"/>
                </a:schemeClr>
              </a:buClr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Clr>
                <a:schemeClr val="accent4">
                  <a:lumMod val="75000"/>
                </a:schemeClr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Clr>
                <a:schemeClr val="accent4">
                  <a:lumMod val="75000"/>
                </a:schemeClr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200" dirty="0" smtClean="0">
                <a:solidFill>
                  <a:schemeClr val="tx1"/>
                </a:solidFill>
              </a:rPr>
              <a:t>99/99/9999</a:t>
            </a:r>
          </a:p>
          <a:p>
            <a:pPr algn="ctr"/>
            <a:r>
              <a:rPr lang="pt-BR" sz="1200" dirty="0" smtClean="0">
                <a:solidFill>
                  <a:schemeClr val="tx1"/>
                </a:solidFill>
              </a:rPr>
              <a:t>versão </a:t>
            </a:r>
            <a:r>
              <a:rPr lang="pt-BR" sz="1200" dirty="0" err="1" smtClean="0">
                <a:solidFill>
                  <a:schemeClr val="tx1"/>
                </a:solidFill>
              </a:rPr>
              <a:t>xx</a:t>
            </a:r>
            <a:endParaRPr lang="pt-BR" sz="1200" dirty="0">
              <a:solidFill>
                <a:schemeClr val="tx1"/>
              </a:solidFill>
            </a:endParaRPr>
          </a:p>
        </p:txBody>
      </p:sp>
      <p:pic>
        <p:nvPicPr>
          <p:cNvPr id="1026" name="Picture 2" descr="http://essenceit.com/sitenovo/wp-content/uploads/2014/01/BI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7437"/>
            <a:ext cx="9129522" cy="3452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/>
          <p:cNvSpPr/>
          <p:nvPr/>
        </p:nvSpPr>
        <p:spPr>
          <a:xfrm>
            <a:off x="0" y="5677469"/>
            <a:ext cx="2442949" cy="1180531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 smtClean="0">
                <a:solidFill>
                  <a:schemeClr val="tx1"/>
                </a:solidFill>
              </a:rPr>
              <a:t>Inserir o logo do cliente</a:t>
            </a:r>
            <a:endParaRPr lang="pt-BR" b="1" dirty="0">
              <a:solidFill>
                <a:schemeClr val="tx1"/>
              </a:solidFill>
            </a:endParaRPr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36497" y="5783881"/>
            <a:ext cx="2321753" cy="108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721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/>
          <p:cNvSpPr txBox="1">
            <a:spLocks/>
          </p:cNvSpPr>
          <p:nvPr/>
        </p:nvSpPr>
        <p:spPr>
          <a:xfrm>
            <a:off x="107504" y="116632"/>
            <a:ext cx="7988424" cy="10081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u="none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pt-BR" sz="3200" dirty="0"/>
          </a:p>
        </p:txBody>
      </p:sp>
      <p:sp>
        <p:nvSpPr>
          <p:cNvPr id="10" name="CaixaDeTexto 9"/>
          <p:cNvSpPr txBox="1"/>
          <p:nvPr/>
        </p:nvSpPr>
        <p:spPr>
          <a:xfrm>
            <a:off x="395536" y="2636912"/>
            <a:ext cx="2856570" cy="338554"/>
          </a:xfrm>
          <a:prstGeom prst="rect">
            <a:avLst/>
          </a:prstGeom>
          <a:noFill/>
          <a:ln w="3175">
            <a:noFill/>
            <a:prstDash val="solid"/>
          </a:ln>
        </p:spPr>
        <p:txBody>
          <a:bodyPr wrap="square" rtlCol="0">
            <a:spAutoFit/>
          </a:bodyPr>
          <a:lstStyle/>
          <a:p>
            <a:r>
              <a:rPr lang="pt-BR" sz="1600" b="1" dirty="0" smtClean="0"/>
              <a:t>Escopo do Projeto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395536" y="4667088"/>
            <a:ext cx="2208497" cy="338554"/>
          </a:xfrm>
          <a:prstGeom prst="rect">
            <a:avLst/>
          </a:prstGeom>
          <a:noFill/>
          <a:ln w="3175">
            <a:noFill/>
            <a:prstDash val="solid"/>
          </a:ln>
        </p:spPr>
        <p:txBody>
          <a:bodyPr wrap="square" rtlCol="0">
            <a:spAutoFit/>
          </a:bodyPr>
          <a:lstStyle/>
          <a:p>
            <a:r>
              <a:rPr lang="pt-BR" sz="1600" b="1" dirty="0" smtClean="0"/>
              <a:t>Fora do Escopo </a:t>
            </a:r>
          </a:p>
        </p:txBody>
      </p:sp>
      <p:sp>
        <p:nvSpPr>
          <p:cNvPr id="12" name="CaixaDeTexto 11"/>
          <p:cNvSpPr txBox="1"/>
          <p:nvPr/>
        </p:nvSpPr>
        <p:spPr>
          <a:xfrm>
            <a:off x="408247" y="1115907"/>
            <a:ext cx="19440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 smtClean="0"/>
              <a:t>Descrição do Projeto</a:t>
            </a:r>
            <a:endParaRPr lang="pt-BR" sz="1600" b="1" dirty="0"/>
          </a:p>
        </p:txBody>
      </p:sp>
      <p:sp>
        <p:nvSpPr>
          <p:cNvPr id="13" name="Retângulo 12"/>
          <p:cNvSpPr/>
          <p:nvPr/>
        </p:nvSpPr>
        <p:spPr>
          <a:xfrm>
            <a:off x="467544" y="1448856"/>
            <a:ext cx="8136024" cy="9720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accent3">
                <a:lumMod val="40000"/>
                <a:lumOff val="60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sz="1400" dirty="0">
              <a:solidFill>
                <a:schemeClr val="tx1"/>
              </a:solidFill>
            </a:endParaRPr>
          </a:p>
        </p:txBody>
      </p:sp>
      <p:sp>
        <p:nvSpPr>
          <p:cNvPr id="14" name="Retângulo 13"/>
          <p:cNvSpPr/>
          <p:nvPr/>
        </p:nvSpPr>
        <p:spPr>
          <a:xfrm>
            <a:off x="467544" y="2969860"/>
            <a:ext cx="8136024" cy="161126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accent3">
                <a:lumMod val="40000"/>
                <a:lumOff val="60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sz="1400" dirty="0">
              <a:solidFill>
                <a:schemeClr val="tx1"/>
              </a:solidFill>
            </a:endParaRPr>
          </a:p>
        </p:txBody>
      </p:sp>
      <p:sp>
        <p:nvSpPr>
          <p:cNvPr id="15" name="Retângulo 14"/>
          <p:cNvSpPr/>
          <p:nvPr/>
        </p:nvSpPr>
        <p:spPr>
          <a:xfrm>
            <a:off x="467544" y="4997008"/>
            <a:ext cx="8136024" cy="102427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accent3">
                <a:lumMod val="40000"/>
                <a:lumOff val="60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sz="1400" dirty="0">
              <a:solidFill>
                <a:schemeClr val="tx1"/>
              </a:solidFill>
            </a:endParaRPr>
          </a:p>
        </p:txBody>
      </p:sp>
      <p:sp>
        <p:nvSpPr>
          <p:cNvPr id="16" name="Text Box 24"/>
          <p:cNvSpPr txBox="1">
            <a:spLocks noChangeArrowheads="1"/>
          </p:cNvSpPr>
          <p:nvPr/>
        </p:nvSpPr>
        <p:spPr bwMode="auto">
          <a:xfrm>
            <a:off x="4913487" y="12218"/>
            <a:ext cx="4212908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/>
            </a:pPr>
            <a:r>
              <a:rPr lang="en-US" sz="1000" b="1" dirty="0" err="1">
                <a:ea typeface="Verdana" pitchFamily="34" charset="0"/>
                <a:cs typeface="Verdana" pitchFamily="34" charset="0"/>
              </a:rPr>
              <a:t>Cliente</a:t>
            </a:r>
            <a:r>
              <a:rPr lang="en-US" sz="1000" dirty="0">
                <a:ea typeface="Verdana" pitchFamily="34" charset="0"/>
                <a:cs typeface="Verdana" pitchFamily="34" charset="0"/>
              </a:rPr>
              <a:t>: </a:t>
            </a:r>
            <a:r>
              <a:rPr lang="en-US" sz="1000" dirty="0" smtClean="0">
                <a:ea typeface="Verdana" pitchFamily="34" charset="0"/>
                <a:cs typeface="Verdana" pitchFamily="34" charset="0"/>
              </a:rPr>
              <a:t>Nome do </a:t>
            </a:r>
            <a:r>
              <a:rPr lang="en-US" sz="1000" dirty="0" err="1" smtClean="0">
                <a:ea typeface="Verdana" pitchFamily="34" charset="0"/>
                <a:cs typeface="Verdana" pitchFamily="34" charset="0"/>
              </a:rPr>
              <a:t>Solicitante</a:t>
            </a:r>
            <a:r>
              <a:rPr lang="en-US" sz="1000" dirty="0" smtClean="0">
                <a:ea typeface="Verdana" pitchFamily="34" charset="0"/>
                <a:cs typeface="Verdana" pitchFamily="34" charset="0"/>
              </a:rPr>
              <a:t> </a:t>
            </a:r>
            <a:r>
              <a:rPr lang="en-US" sz="1000" dirty="0">
                <a:ea typeface="Verdana" pitchFamily="34" charset="0"/>
                <a:cs typeface="Verdana" pitchFamily="34" charset="0"/>
              </a:rPr>
              <a:t>(</a:t>
            </a:r>
            <a:r>
              <a:rPr lang="en-US" sz="1000" dirty="0" err="1" smtClean="0">
                <a:ea typeface="Verdana" pitchFamily="34" charset="0"/>
                <a:cs typeface="Verdana" pitchFamily="34" charset="0"/>
              </a:rPr>
              <a:t>Área</a:t>
            </a:r>
            <a:r>
              <a:rPr lang="en-US" sz="1000" dirty="0" smtClean="0">
                <a:ea typeface="Verdana" pitchFamily="34" charset="0"/>
                <a:cs typeface="Verdana" pitchFamily="34" charset="0"/>
              </a:rPr>
              <a:t>)</a:t>
            </a:r>
          </a:p>
          <a:p>
            <a:pPr algn="r">
              <a:lnSpc>
                <a:spcPts val="1200"/>
              </a:lnSpc>
              <a:defRPr/>
            </a:pPr>
            <a:r>
              <a:rPr lang="en-US" sz="1000" b="1" dirty="0">
                <a:ea typeface="Verdana" pitchFamily="34" charset="0"/>
                <a:cs typeface="Verdana" pitchFamily="34" charset="0"/>
              </a:rPr>
              <a:t> </a:t>
            </a:r>
            <a:r>
              <a:rPr lang="en-US" sz="1000" b="1" dirty="0" smtClean="0">
                <a:ea typeface="Verdana" pitchFamily="34" charset="0"/>
                <a:cs typeface="Verdana" pitchFamily="34" charset="0"/>
              </a:rPr>
              <a:t>                                     	 LP</a:t>
            </a:r>
            <a:r>
              <a:rPr lang="en-US" sz="1000" dirty="0" smtClean="0">
                <a:ea typeface="Verdana" pitchFamily="34" charset="0"/>
                <a:cs typeface="Verdana" pitchFamily="34" charset="0"/>
              </a:rPr>
              <a:t>: Nome do Lider do </a:t>
            </a:r>
            <a:r>
              <a:rPr lang="en-US" sz="1000" dirty="0" err="1" smtClean="0">
                <a:ea typeface="Verdana" pitchFamily="34" charset="0"/>
                <a:cs typeface="Verdana" pitchFamily="34" charset="0"/>
              </a:rPr>
              <a:t>Projeto</a:t>
            </a:r>
            <a:r>
              <a:rPr lang="en-US" sz="1000" dirty="0">
                <a:ea typeface="Verdana" pitchFamily="34" charset="0"/>
                <a:cs typeface="Verdana" pitchFamily="34" charset="0"/>
              </a:rPr>
              <a:t> </a:t>
            </a:r>
            <a:r>
              <a:rPr lang="en-US" sz="1000" dirty="0" smtClean="0">
                <a:ea typeface="Verdana" pitchFamily="34" charset="0"/>
                <a:cs typeface="Verdana" pitchFamily="34" charset="0"/>
              </a:rPr>
              <a:t>                          	                 	</a:t>
            </a:r>
            <a:r>
              <a:rPr lang="en-US" sz="1000" b="1" dirty="0" err="1" smtClean="0">
                <a:ea typeface="Verdana" pitchFamily="34" charset="0"/>
                <a:cs typeface="Verdana" pitchFamily="34" charset="0"/>
              </a:rPr>
              <a:t>Analista</a:t>
            </a:r>
            <a:r>
              <a:rPr lang="en-US" sz="1000" b="1" dirty="0" smtClean="0">
                <a:ea typeface="Verdana" pitchFamily="34" charset="0"/>
                <a:cs typeface="Verdana" pitchFamily="34" charset="0"/>
              </a:rPr>
              <a:t> PMO</a:t>
            </a:r>
            <a:r>
              <a:rPr lang="en-US" sz="1000" dirty="0" smtClean="0">
                <a:ea typeface="Verdana" pitchFamily="34" charset="0"/>
                <a:cs typeface="Verdana" pitchFamily="34" charset="0"/>
              </a:rPr>
              <a:t>: Nome do PMO         	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-5449" y="17760"/>
            <a:ext cx="914944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b="1" dirty="0" smtClean="0">
                <a:latin typeface="+mj-lt"/>
              </a:rPr>
              <a:t>Nome do Projeto</a:t>
            </a:r>
            <a:endParaRPr lang="pt-BR" sz="2200" b="1" dirty="0">
              <a:latin typeface="+mj-lt"/>
            </a:endParaRPr>
          </a:p>
        </p:txBody>
      </p:sp>
      <p:pic>
        <p:nvPicPr>
          <p:cNvPr id="17" name="Imagem 16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4400" y="6264123"/>
            <a:ext cx="1301995" cy="605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190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-5449" y="17760"/>
            <a:ext cx="914944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b="1" dirty="0" smtClean="0">
                <a:latin typeface="+mj-lt"/>
              </a:rPr>
              <a:t>Nome do Projeto</a:t>
            </a:r>
            <a:endParaRPr lang="pt-BR" sz="2200" b="1" dirty="0">
              <a:latin typeface="+mj-lt"/>
            </a:endParaRPr>
          </a:p>
        </p:txBody>
      </p:sp>
      <p:graphicFrame>
        <p:nvGraphicFramePr>
          <p:cNvPr id="6" name="Tabe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2746704"/>
              </p:ext>
            </p:extLst>
          </p:nvPr>
        </p:nvGraphicFramePr>
        <p:xfrm>
          <a:off x="83755" y="800680"/>
          <a:ext cx="8910733" cy="51128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7965"/>
                <a:gridCol w="495912"/>
                <a:gridCol w="495912"/>
                <a:gridCol w="495912"/>
                <a:gridCol w="495912"/>
                <a:gridCol w="495912"/>
                <a:gridCol w="495912"/>
                <a:gridCol w="495912"/>
                <a:gridCol w="495912"/>
                <a:gridCol w="495912"/>
                <a:gridCol w="495912"/>
                <a:gridCol w="495912"/>
                <a:gridCol w="495912"/>
                <a:gridCol w="495912"/>
                <a:gridCol w="495912"/>
              </a:tblGrid>
              <a:tr h="353797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>
                          <a:solidFill>
                            <a:schemeClr val="bg1"/>
                          </a:solidFill>
                        </a:rPr>
                        <a:t>Fases</a:t>
                      </a:r>
                      <a:endParaRPr lang="pt-BR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 smtClean="0"/>
                        <a:t>Mar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 err="1" smtClean="0"/>
                        <a:t>Abr</a:t>
                      </a:r>
                      <a:endParaRPr lang="pt-BR" sz="1100" dirty="0" smtClean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 smtClean="0"/>
                        <a:t>Mai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 err="1" smtClean="0"/>
                        <a:t>Jun</a:t>
                      </a:r>
                      <a:endParaRPr lang="pt-BR" sz="1100" dirty="0" smtClean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 err="1" smtClean="0"/>
                        <a:t>Jul</a:t>
                      </a:r>
                      <a:endParaRPr lang="pt-BR" sz="1100" dirty="0" smtClean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 err="1" smtClean="0"/>
                        <a:t>Ago</a:t>
                      </a:r>
                      <a:endParaRPr lang="pt-BR" sz="1100" dirty="0" smtClean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 smtClean="0"/>
                        <a:t>Set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 smtClean="0"/>
                        <a:t>Out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 err="1" smtClean="0"/>
                        <a:t>Nov</a:t>
                      </a:r>
                      <a:endParaRPr lang="pt-BR" sz="1100" dirty="0" smtClean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 smtClean="0"/>
                        <a:t>Dez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 smtClean="0"/>
                        <a:t>Jan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 err="1" smtClean="0"/>
                        <a:t>Fev</a:t>
                      </a:r>
                      <a:endParaRPr lang="pt-BR" sz="1100" dirty="0" smtClean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 smtClean="0"/>
                        <a:t>Mar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 err="1" smtClean="0"/>
                        <a:t>Abr</a:t>
                      </a:r>
                      <a:endParaRPr lang="pt-BR" sz="1100" dirty="0" smtClean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64453">
                <a:tc>
                  <a:txBody>
                    <a:bodyPr/>
                    <a:lstStyle/>
                    <a:p>
                      <a:pPr algn="l"/>
                      <a:r>
                        <a:rPr lang="pt-BR" sz="1200" b="1" dirty="0" smtClean="0">
                          <a:solidFill>
                            <a:schemeClr val="bg1"/>
                          </a:solidFill>
                        </a:rPr>
                        <a:t>Planejamento</a:t>
                      </a:r>
                      <a:endParaRPr lang="pt-BR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464453">
                <a:tc>
                  <a:txBody>
                    <a:bodyPr/>
                    <a:lstStyle/>
                    <a:p>
                      <a:pPr algn="l"/>
                      <a:r>
                        <a:rPr lang="pt-BR" sz="1200" b="1" u="none" dirty="0" smtClean="0">
                          <a:solidFill>
                            <a:schemeClr val="bg1"/>
                          </a:solidFill>
                        </a:rPr>
                        <a:t>Release 1</a:t>
                      </a:r>
                      <a:r>
                        <a:rPr lang="pt-BR" sz="1200" b="1" u="none" baseline="0" dirty="0" smtClean="0">
                          <a:solidFill>
                            <a:schemeClr val="bg1"/>
                          </a:solidFill>
                        </a:rPr>
                        <a:t> – Nome para o Negócio</a:t>
                      </a:r>
                      <a:endParaRPr lang="pt-BR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464453">
                <a:tc>
                  <a:txBody>
                    <a:bodyPr/>
                    <a:lstStyle/>
                    <a:p>
                      <a:pPr algn="l"/>
                      <a:r>
                        <a:rPr lang="pt-BR" sz="1200" b="0" u="sng" dirty="0" smtClean="0">
                          <a:solidFill>
                            <a:schemeClr val="bg1"/>
                          </a:solidFill>
                        </a:rPr>
                        <a:t>Iteração</a:t>
                      </a:r>
                      <a:r>
                        <a:rPr lang="pt-BR" sz="1200" b="0" u="none" dirty="0" smtClean="0">
                          <a:solidFill>
                            <a:schemeClr val="bg1"/>
                          </a:solidFill>
                        </a:rPr>
                        <a:t> 1 – Nome para</a:t>
                      </a:r>
                      <a:r>
                        <a:rPr lang="pt-BR" sz="1200" b="0" u="none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pt-BR" sz="1200" b="0" u="none" dirty="0" smtClean="0">
                          <a:solidFill>
                            <a:schemeClr val="bg1"/>
                          </a:solidFill>
                        </a:rPr>
                        <a:t>o Negócio</a:t>
                      </a:r>
                      <a:endParaRPr lang="pt-BR" sz="1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579010">
                <a:tc>
                  <a:txBody>
                    <a:bodyPr/>
                    <a:lstStyle/>
                    <a:p>
                      <a:pPr algn="l"/>
                      <a:r>
                        <a:rPr lang="pt-BR" sz="1200" b="0" u="sng" dirty="0" smtClean="0">
                          <a:solidFill>
                            <a:schemeClr val="bg1"/>
                          </a:solidFill>
                        </a:rPr>
                        <a:t>Iteração</a:t>
                      </a:r>
                      <a:r>
                        <a:rPr lang="pt-BR" sz="1200" b="0" u="none" dirty="0" smtClean="0">
                          <a:solidFill>
                            <a:schemeClr val="bg1"/>
                          </a:solidFill>
                        </a:rPr>
                        <a:t> 2 – Nome para</a:t>
                      </a:r>
                      <a:r>
                        <a:rPr lang="pt-BR" sz="1200" b="0" u="none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pt-BR" sz="1200" b="0" u="none" dirty="0" smtClean="0">
                          <a:solidFill>
                            <a:schemeClr val="bg1"/>
                          </a:solidFill>
                        </a:rPr>
                        <a:t>o Negócio</a:t>
                      </a:r>
                      <a:endParaRPr lang="pt-BR" sz="1200" b="0" kern="1200" dirty="0" smtClean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464453">
                <a:tc>
                  <a:txBody>
                    <a:bodyPr/>
                    <a:lstStyle/>
                    <a:p>
                      <a:pPr algn="l"/>
                      <a:r>
                        <a:rPr lang="pt-BR" sz="1200" b="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Homologação</a:t>
                      </a:r>
                      <a:endParaRPr lang="pt-BR" sz="1200" b="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464453">
                <a:tc>
                  <a:txBody>
                    <a:bodyPr/>
                    <a:lstStyle/>
                    <a:p>
                      <a:pPr algn="l"/>
                      <a:r>
                        <a:rPr lang="pt-BR" sz="1200" b="0" u="none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Implantação</a:t>
                      </a:r>
                      <a:endParaRPr lang="pt-BR" sz="1200" b="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464453">
                <a:tc>
                  <a:txBody>
                    <a:bodyPr/>
                    <a:lstStyle/>
                    <a:p>
                      <a:pPr algn="l"/>
                      <a:r>
                        <a:rPr lang="pt-BR" sz="1200" b="1" baseline="0" dirty="0" smtClean="0">
                          <a:solidFill>
                            <a:schemeClr val="bg1"/>
                          </a:solidFill>
                        </a:rPr>
                        <a:t>Release 2 – Nome para o Negócio</a:t>
                      </a:r>
                      <a:endParaRPr lang="pt-BR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464453">
                <a:tc>
                  <a:txBody>
                    <a:bodyPr/>
                    <a:lstStyle/>
                    <a:p>
                      <a:pPr algn="l"/>
                      <a:r>
                        <a:rPr lang="pt-BR" sz="1200" b="0" u="sng" baseline="0" dirty="0" smtClean="0">
                          <a:solidFill>
                            <a:schemeClr val="bg1"/>
                          </a:solidFill>
                        </a:rPr>
                        <a:t>Iteração</a:t>
                      </a:r>
                      <a:r>
                        <a:rPr lang="pt-BR" sz="1200" b="0" baseline="0" dirty="0" smtClean="0">
                          <a:solidFill>
                            <a:schemeClr val="bg1"/>
                          </a:solidFill>
                        </a:rPr>
                        <a:t> 3 – Nome para o Negócio</a:t>
                      </a:r>
                      <a:endParaRPr lang="pt-BR" sz="1200" b="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464453">
                <a:tc>
                  <a:txBody>
                    <a:bodyPr/>
                    <a:lstStyle/>
                    <a:p>
                      <a:pPr algn="l"/>
                      <a:r>
                        <a:rPr lang="pt-BR" sz="1200" b="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Homologação</a:t>
                      </a:r>
                      <a:endParaRPr lang="pt-BR" sz="1200" b="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464453">
                <a:tc>
                  <a:txBody>
                    <a:bodyPr/>
                    <a:lstStyle/>
                    <a:p>
                      <a:pPr algn="l"/>
                      <a:r>
                        <a:rPr lang="pt-BR" sz="1200" b="0" u="none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Implantação</a:t>
                      </a:r>
                      <a:endParaRPr lang="pt-BR" sz="1200" b="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</a:tbl>
          </a:graphicData>
        </a:graphic>
      </p:graphicFrame>
      <p:grpSp>
        <p:nvGrpSpPr>
          <p:cNvPr id="7" name="Grupo 6"/>
          <p:cNvGrpSpPr/>
          <p:nvPr/>
        </p:nvGrpSpPr>
        <p:grpSpPr>
          <a:xfrm>
            <a:off x="2997425" y="6307043"/>
            <a:ext cx="3016677" cy="514029"/>
            <a:chOff x="2771800" y="6307043"/>
            <a:chExt cx="3016677" cy="514029"/>
          </a:xfrm>
        </p:grpSpPr>
        <p:sp>
          <p:nvSpPr>
            <p:cNvPr id="8" name="Diamond 243"/>
            <p:cNvSpPr/>
            <p:nvPr>
              <p:custDataLst>
                <p:tags r:id="rId17"/>
              </p:custDataLst>
            </p:nvPr>
          </p:nvSpPr>
          <p:spPr bwMode="auto">
            <a:xfrm>
              <a:off x="2771800" y="6390176"/>
              <a:ext cx="147734" cy="149408"/>
            </a:xfrm>
            <a:prstGeom prst="diamond">
              <a:avLst/>
            </a:prstGeom>
            <a:solidFill>
              <a:srgbClr val="002060"/>
            </a:solidFill>
            <a:ln w="9525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eaLnBrk="0" hangingPunct="0">
                <a:lnSpc>
                  <a:spcPct val="80000"/>
                </a:lnSpc>
              </a:pPr>
              <a:endParaRPr lang="en-US" sz="1050" b="1" dirty="0" smtClean="0"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  <p:sp>
          <p:nvSpPr>
            <p:cNvPr id="9" name="Diamond 244"/>
            <p:cNvSpPr/>
            <p:nvPr>
              <p:custDataLst>
                <p:tags r:id="rId18"/>
              </p:custDataLst>
            </p:nvPr>
          </p:nvSpPr>
          <p:spPr bwMode="auto">
            <a:xfrm>
              <a:off x="3878926" y="6370717"/>
              <a:ext cx="147734" cy="149408"/>
            </a:xfrm>
            <a:prstGeom prst="diamond">
              <a:avLst/>
            </a:prstGeom>
            <a:solidFill>
              <a:srgbClr val="FF0000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eaLnBrk="0" hangingPunct="0">
                <a:lnSpc>
                  <a:spcPct val="80000"/>
                </a:lnSpc>
              </a:pPr>
              <a:endParaRPr lang="en-US" sz="1050" b="1" dirty="0" smtClean="0"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  <p:sp>
          <p:nvSpPr>
            <p:cNvPr id="10" name="Diamond 245"/>
            <p:cNvSpPr/>
            <p:nvPr>
              <p:custDataLst>
                <p:tags r:id="rId19"/>
              </p:custDataLst>
            </p:nvPr>
          </p:nvSpPr>
          <p:spPr bwMode="auto">
            <a:xfrm>
              <a:off x="2771800" y="6619105"/>
              <a:ext cx="147734" cy="149408"/>
            </a:xfrm>
            <a:prstGeom prst="diamond">
              <a:avLst/>
            </a:prstGeom>
            <a:solidFill>
              <a:srgbClr val="FFFF00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eaLnBrk="0" hangingPunct="0">
                <a:lnSpc>
                  <a:spcPct val="80000"/>
                </a:lnSpc>
              </a:pPr>
              <a:endParaRPr lang="en-US" sz="1050" b="1" dirty="0" smtClean="0"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  <p:sp>
          <p:nvSpPr>
            <p:cNvPr id="11" name="Diamond 246"/>
            <p:cNvSpPr/>
            <p:nvPr>
              <p:custDataLst>
                <p:tags r:id="rId20"/>
              </p:custDataLst>
            </p:nvPr>
          </p:nvSpPr>
          <p:spPr bwMode="auto">
            <a:xfrm>
              <a:off x="3879743" y="6630830"/>
              <a:ext cx="147734" cy="149408"/>
            </a:xfrm>
            <a:prstGeom prst="diamond">
              <a:avLst/>
            </a:prstGeom>
            <a:solidFill>
              <a:srgbClr val="00B050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eaLnBrk="0" hangingPunct="0">
                <a:lnSpc>
                  <a:spcPct val="80000"/>
                </a:lnSpc>
              </a:pPr>
              <a:endParaRPr lang="en-US" sz="1050" b="1" dirty="0" smtClean="0"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  <p:sp>
          <p:nvSpPr>
            <p:cNvPr id="12" name="TextBox 247"/>
            <p:cNvSpPr txBox="1"/>
            <p:nvPr>
              <p:custDataLst>
                <p:tags r:id="rId21"/>
              </p:custDataLst>
            </p:nvPr>
          </p:nvSpPr>
          <p:spPr>
            <a:xfrm>
              <a:off x="2895822" y="6326502"/>
              <a:ext cx="88409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pt-BR" sz="1050" dirty="0" smtClean="0">
                  <a:latin typeface="Verdana" pitchFamily="34" charset="0"/>
                  <a:ea typeface="Verdana" pitchFamily="34" charset="0"/>
                  <a:cs typeface="Verdana" pitchFamily="34" charset="0"/>
                </a:rPr>
                <a:t>Concluído</a:t>
              </a:r>
            </a:p>
          </p:txBody>
        </p:sp>
        <p:sp>
          <p:nvSpPr>
            <p:cNvPr id="13" name="TextBox 248"/>
            <p:cNvSpPr txBox="1"/>
            <p:nvPr>
              <p:custDataLst>
                <p:tags r:id="rId22"/>
              </p:custDataLst>
            </p:nvPr>
          </p:nvSpPr>
          <p:spPr>
            <a:xfrm>
              <a:off x="4002948" y="6307043"/>
              <a:ext cx="896315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pt-BR" sz="1050" dirty="0" smtClean="0">
                  <a:latin typeface="Verdana" pitchFamily="34" charset="0"/>
                  <a:ea typeface="Verdana" pitchFamily="34" charset="0"/>
                  <a:cs typeface="Verdana" pitchFamily="34" charset="0"/>
                </a:rPr>
                <a:t>Atrasado</a:t>
              </a:r>
            </a:p>
          </p:txBody>
        </p:sp>
        <p:sp>
          <p:nvSpPr>
            <p:cNvPr id="14" name="TextBox 249"/>
            <p:cNvSpPr txBox="1"/>
            <p:nvPr>
              <p:custDataLst>
                <p:tags r:id="rId23"/>
              </p:custDataLst>
            </p:nvPr>
          </p:nvSpPr>
          <p:spPr>
            <a:xfrm>
              <a:off x="2895822" y="6567156"/>
              <a:ext cx="88409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pt-BR" sz="1050" dirty="0" smtClean="0">
                  <a:latin typeface="Verdana" pitchFamily="34" charset="0"/>
                  <a:ea typeface="Verdana" pitchFamily="34" charset="0"/>
                  <a:cs typeface="Verdana" pitchFamily="34" charset="0"/>
                </a:rPr>
                <a:t>Com risco</a:t>
              </a:r>
            </a:p>
          </p:txBody>
        </p:sp>
        <p:sp>
          <p:nvSpPr>
            <p:cNvPr id="15" name="TextBox 250"/>
            <p:cNvSpPr txBox="1"/>
            <p:nvPr>
              <p:custDataLst>
                <p:tags r:id="rId24"/>
              </p:custDataLst>
            </p:nvPr>
          </p:nvSpPr>
          <p:spPr>
            <a:xfrm>
              <a:off x="4003766" y="6567156"/>
              <a:ext cx="1543294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pt-BR" sz="1050" dirty="0" smtClean="0">
                  <a:latin typeface="Verdana" pitchFamily="34" charset="0"/>
                  <a:ea typeface="Verdana" pitchFamily="34" charset="0"/>
                  <a:cs typeface="Verdana" pitchFamily="34" charset="0"/>
                </a:rPr>
                <a:t>Conforme planejado</a:t>
              </a:r>
            </a:p>
          </p:txBody>
        </p:sp>
        <p:sp>
          <p:nvSpPr>
            <p:cNvPr id="16" name="TextBox 251"/>
            <p:cNvSpPr txBox="1"/>
            <p:nvPr>
              <p:custDataLst>
                <p:tags r:id="rId25"/>
              </p:custDataLst>
            </p:nvPr>
          </p:nvSpPr>
          <p:spPr>
            <a:xfrm>
              <a:off x="5020611" y="6307043"/>
              <a:ext cx="767866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pt-BR" sz="1050" dirty="0" smtClean="0">
                  <a:latin typeface="Verdana" pitchFamily="34" charset="0"/>
                  <a:ea typeface="Verdana" pitchFamily="34" charset="0"/>
                  <a:cs typeface="Verdana" pitchFamily="34" charset="0"/>
                </a:rPr>
                <a:t>Go Live</a:t>
              </a:r>
            </a:p>
          </p:txBody>
        </p:sp>
        <p:sp>
          <p:nvSpPr>
            <p:cNvPr id="17" name="5-Point Star 252"/>
            <p:cNvSpPr/>
            <p:nvPr/>
          </p:nvSpPr>
          <p:spPr>
            <a:xfrm>
              <a:off x="4959046" y="6395612"/>
              <a:ext cx="107999" cy="108000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</p:grpSp>
      <p:sp>
        <p:nvSpPr>
          <p:cNvPr id="18" name="Rectangle 12"/>
          <p:cNvSpPr>
            <a:spLocks noChangeArrowheads="1"/>
          </p:cNvSpPr>
          <p:nvPr>
            <p:custDataLst>
              <p:tags r:id="rId1"/>
            </p:custDataLst>
          </p:nvPr>
        </p:nvSpPr>
        <p:spPr bwMode="gray">
          <a:xfrm>
            <a:off x="2036708" y="548680"/>
            <a:ext cx="4968000" cy="252000"/>
          </a:xfrm>
          <a:prstGeom prst="rect">
            <a:avLst/>
          </a:prstGeom>
          <a:solidFill>
            <a:schemeClr val="accent1"/>
          </a:solidFill>
          <a:ln w="6350" algn="ctr">
            <a:solidFill>
              <a:schemeClr val="bg1"/>
            </a:solidFill>
            <a:miter lim="800000"/>
            <a:headEnd/>
            <a:tailEnd/>
          </a:ln>
        </p:spPr>
        <p:txBody>
          <a:bodyPr lIns="72000" tIns="72000" rIns="72000" bIns="36000" anchor="ctr"/>
          <a:lstStyle/>
          <a:p>
            <a:pPr algn="ctr">
              <a:spcBef>
                <a:spcPct val="20000"/>
              </a:spcBef>
              <a:buClr>
                <a:schemeClr val="tx2"/>
              </a:buClr>
              <a:buFont typeface="Wingdings" pitchFamily="2" charset="2"/>
              <a:buNone/>
            </a:pPr>
            <a:r>
              <a:rPr lang="pt-BR" sz="1200" b="1" dirty="0" smtClean="0">
                <a:solidFill>
                  <a:schemeClr val="bg1"/>
                </a:solidFill>
                <a:latin typeface="Verdana" pitchFamily="34" charset="0"/>
              </a:rPr>
              <a:t>2016</a:t>
            </a:r>
            <a:endParaRPr lang="en-US" sz="1200" b="1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19" name="Rectangle 12"/>
          <p:cNvSpPr>
            <a:spLocks noChangeArrowheads="1"/>
          </p:cNvSpPr>
          <p:nvPr>
            <p:custDataLst>
              <p:tags r:id="rId2"/>
            </p:custDataLst>
          </p:nvPr>
        </p:nvSpPr>
        <p:spPr bwMode="gray">
          <a:xfrm>
            <a:off x="7008397" y="548680"/>
            <a:ext cx="1980000" cy="252000"/>
          </a:xfrm>
          <a:prstGeom prst="rect">
            <a:avLst/>
          </a:prstGeom>
          <a:solidFill>
            <a:schemeClr val="accent1"/>
          </a:solidFill>
          <a:ln w="6350" algn="ctr">
            <a:solidFill>
              <a:schemeClr val="bg1"/>
            </a:solidFill>
            <a:miter lim="800000"/>
            <a:headEnd/>
            <a:tailEnd/>
          </a:ln>
        </p:spPr>
        <p:txBody>
          <a:bodyPr lIns="72000" tIns="72000" rIns="72000" bIns="36000" anchor="ctr"/>
          <a:lstStyle/>
          <a:p>
            <a:pPr algn="ctr">
              <a:spcBef>
                <a:spcPct val="20000"/>
              </a:spcBef>
              <a:buClr>
                <a:schemeClr val="tx2"/>
              </a:buClr>
              <a:buFont typeface="Wingdings" pitchFamily="2" charset="2"/>
              <a:buNone/>
            </a:pPr>
            <a:r>
              <a:rPr lang="pt-BR" sz="1200" b="1" dirty="0" smtClean="0">
                <a:solidFill>
                  <a:schemeClr val="bg1"/>
                </a:solidFill>
                <a:latin typeface="Verdana" pitchFamily="34" charset="0"/>
              </a:rPr>
              <a:t>2017</a:t>
            </a:r>
            <a:endParaRPr lang="en-US" sz="1200" b="1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20" name="CaixaDeTexto 19"/>
          <p:cNvSpPr txBox="1"/>
          <p:nvPr/>
        </p:nvSpPr>
        <p:spPr>
          <a:xfrm>
            <a:off x="3033937" y="6008571"/>
            <a:ext cx="1368000" cy="307777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 err="1">
                <a:solidFill>
                  <a:schemeClr val="bg1"/>
                </a:solidFill>
              </a:rPr>
              <a:t>d</a:t>
            </a:r>
            <a:r>
              <a:rPr lang="pt-BR" sz="1400" b="1" dirty="0" err="1" smtClean="0">
                <a:solidFill>
                  <a:schemeClr val="bg1"/>
                </a:solidFill>
              </a:rPr>
              <a:t>d</a:t>
            </a:r>
            <a:r>
              <a:rPr lang="pt-BR" sz="1400" b="1" dirty="0" smtClean="0">
                <a:solidFill>
                  <a:schemeClr val="bg1"/>
                </a:solidFill>
              </a:rPr>
              <a:t>/mm/</a:t>
            </a:r>
            <a:r>
              <a:rPr lang="pt-BR" sz="1400" b="1" dirty="0" err="1" smtClean="0">
                <a:solidFill>
                  <a:schemeClr val="bg1"/>
                </a:solidFill>
              </a:rPr>
              <a:t>aaaa</a:t>
            </a:r>
            <a:endParaRPr lang="pt-BR" sz="1400" b="1" dirty="0">
              <a:solidFill>
                <a:schemeClr val="bg1"/>
              </a:solidFill>
            </a:endParaRPr>
          </a:p>
        </p:txBody>
      </p:sp>
      <p:grpSp>
        <p:nvGrpSpPr>
          <p:cNvPr id="21" name="Grupo 20"/>
          <p:cNvGrpSpPr/>
          <p:nvPr/>
        </p:nvGrpSpPr>
        <p:grpSpPr>
          <a:xfrm>
            <a:off x="6109331" y="6125854"/>
            <a:ext cx="1775037" cy="700014"/>
            <a:chOff x="6084168" y="6125854"/>
            <a:chExt cx="1775037" cy="700014"/>
          </a:xfrm>
        </p:grpSpPr>
        <p:sp>
          <p:nvSpPr>
            <p:cNvPr id="22" name="Retângulo 21"/>
            <p:cNvSpPr/>
            <p:nvPr/>
          </p:nvSpPr>
          <p:spPr>
            <a:xfrm>
              <a:off x="6084168" y="6571952"/>
              <a:ext cx="509199" cy="218607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000">
                <a:solidFill>
                  <a:schemeClr val="tx1"/>
                </a:solidFill>
              </a:endParaRPr>
            </a:p>
          </p:txBody>
        </p:sp>
        <p:sp>
          <p:nvSpPr>
            <p:cNvPr id="23" name="Retângulo 22"/>
            <p:cNvSpPr/>
            <p:nvPr/>
          </p:nvSpPr>
          <p:spPr>
            <a:xfrm>
              <a:off x="6084169" y="6365106"/>
              <a:ext cx="509198" cy="193084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000">
                <a:solidFill>
                  <a:schemeClr val="tx1"/>
                </a:solidFill>
              </a:endParaRPr>
            </a:p>
          </p:txBody>
        </p:sp>
        <p:sp>
          <p:nvSpPr>
            <p:cNvPr id="24" name="CaixaDeTexto 23"/>
            <p:cNvSpPr txBox="1"/>
            <p:nvPr/>
          </p:nvSpPr>
          <p:spPr>
            <a:xfrm>
              <a:off x="6543927" y="6342166"/>
              <a:ext cx="1315278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50" b="1" dirty="0" smtClean="0"/>
                <a:t>Previsto</a:t>
              </a:r>
            </a:p>
          </p:txBody>
        </p:sp>
        <p:sp>
          <p:nvSpPr>
            <p:cNvPr id="25" name="CaixaDeTexto 24"/>
            <p:cNvSpPr txBox="1"/>
            <p:nvPr/>
          </p:nvSpPr>
          <p:spPr>
            <a:xfrm>
              <a:off x="6546407" y="6571952"/>
              <a:ext cx="1290214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50" b="1" dirty="0" smtClean="0"/>
                <a:t>Realizado</a:t>
              </a:r>
            </a:p>
          </p:txBody>
        </p:sp>
        <p:sp>
          <p:nvSpPr>
            <p:cNvPr id="26" name="Retângulo 25"/>
            <p:cNvSpPr/>
            <p:nvPr/>
          </p:nvSpPr>
          <p:spPr>
            <a:xfrm>
              <a:off x="6086297" y="6156051"/>
              <a:ext cx="509198" cy="193084"/>
            </a:xfrm>
            <a:prstGeom prst="rect">
              <a:avLst/>
            </a:prstGeom>
            <a:solidFill>
              <a:srgbClr val="9AD35B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pt-BR" sz="1000" b="1">
                <a:solidFill>
                  <a:schemeClr val="tx1"/>
                </a:solidFill>
              </a:endParaRPr>
            </a:p>
          </p:txBody>
        </p:sp>
        <p:sp>
          <p:nvSpPr>
            <p:cNvPr id="27" name="CaixaDeTexto 26"/>
            <p:cNvSpPr txBox="1"/>
            <p:nvPr/>
          </p:nvSpPr>
          <p:spPr>
            <a:xfrm>
              <a:off x="6548887" y="6125854"/>
              <a:ext cx="1310318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50" b="1" dirty="0" smtClean="0"/>
                <a:t>Linha de Base</a:t>
              </a:r>
            </a:p>
          </p:txBody>
        </p:sp>
      </p:grpSp>
      <p:cxnSp>
        <p:nvCxnSpPr>
          <p:cNvPr id="28" name="Conector reto 27"/>
          <p:cNvCxnSpPr/>
          <p:nvPr/>
        </p:nvCxnSpPr>
        <p:spPr>
          <a:xfrm>
            <a:off x="75681" y="4066439"/>
            <a:ext cx="8964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tângulo 28"/>
          <p:cNvSpPr/>
          <p:nvPr/>
        </p:nvSpPr>
        <p:spPr>
          <a:xfrm>
            <a:off x="2760500" y="1744072"/>
            <a:ext cx="5301780" cy="180000"/>
          </a:xfrm>
          <a:prstGeom prst="rect">
            <a:avLst/>
          </a:prstGeom>
          <a:solidFill>
            <a:srgbClr val="9AD35B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 sz="1000" b="1" dirty="0">
              <a:solidFill>
                <a:schemeClr val="tx1"/>
              </a:solidFill>
            </a:endParaRPr>
          </a:p>
        </p:txBody>
      </p:sp>
      <p:sp>
        <p:nvSpPr>
          <p:cNvPr id="30" name="Retângulo 29"/>
          <p:cNvSpPr/>
          <p:nvPr/>
        </p:nvSpPr>
        <p:spPr>
          <a:xfrm>
            <a:off x="2767678" y="1746606"/>
            <a:ext cx="937435" cy="18000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 sz="1000" b="1" dirty="0">
              <a:solidFill>
                <a:schemeClr val="tx1"/>
              </a:solidFill>
            </a:endParaRPr>
          </a:p>
        </p:txBody>
      </p:sp>
      <p:sp>
        <p:nvSpPr>
          <p:cNvPr id="31" name="Retângulo 30"/>
          <p:cNvSpPr/>
          <p:nvPr/>
        </p:nvSpPr>
        <p:spPr>
          <a:xfrm>
            <a:off x="2771800" y="1742399"/>
            <a:ext cx="864000" cy="18420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 sz="1000" b="1" dirty="0">
              <a:solidFill>
                <a:schemeClr val="tx1"/>
              </a:solidFill>
            </a:endParaRPr>
          </a:p>
        </p:txBody>
      </p:sp>
      <p:sp>
        <p:nvSpPr>
          <p:cNvPr id="32" name="Retângulo 31"/>
          <p:cNvSpPr/>
          <p:nvPr/>
        </p:nvSpPr>
        <p:spPr>
          <a:xfrm>
            <a:off x="3807755" y="2194332"/>
            <a:ext cx="1944000" cy="180000"/>
          </a:xfrm>
          <a:prstGeom prst="rect">
            <a:avLst/>
          </a:prstGeom>
          <a:solidFill>
            <a:srgbClr val="9AD35B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 sz="1000" b="1" dirty="0">
              <a:solidFill>
                <a:schemeClr val="tx1"/>
              </a:solidFill>
            </a:endParaRPr>
          </a:p>
        </p:txBody>
      </p:sp>
      <p:sp>
        <p:nvSpPr>
          <p:cNvPr id="33" name="Retângulo 32"/>
          <p:cNvSpPr/>
          <p:nvPr/>
        </p:nvSpPr>
        <p:spPr>
          <a:xfrm>
            <a:off x="5484483" y="2714931"/>
            <a:ext cx="1620000" cy="180000"/>
          </a:xfrm>
          <a:prstGeom prst="rect">
            <a:avLst/>
          </a:prstGeom>
          <a:solidFill>
            <a:srgbClr val="9AD35B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 sz="1000" b="1" dirty="0">
              <a:solidFill>
                <a:schemeClr val="tx1"/>
              </a:solidFill>
            </a:endParaRPr>
          </a:p>
        </p:txBody>
      </p:sp>
      <p:sp>
        <p:nvSpPr>
          <p:cNvPr id="34" name="Retângulo 33"/>
          <p:cNvSpPr/>
          <p:nvPr/>
        </p:nvSpPr>
        <p:spPr>
          <a:xfrm>
            <a:off x="7200376" y="3245420"/>
            <a:ext cx="468000" cy="180000"/>
          </a:xfrm>
          <a:prstGeom prst="rect">
            <a:avLst/>
          </a:prstGeom>
          <a:solidFill>
            <a:srgbClr val="9AD35B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 sz="1000" b="1" dirty="0">
              <a:solidFill>
                <a:schemeClr val="tx1"/>
              </a:solidFill>
            </a:endParaRPr>
          </a:p>
        </p:txBody>
      </p:sp>
      <p:sp>
        <p:nvSpPr>
          <p:cNvPr id="35" name="Retângulo 34"/>
          <p:cNvSpPr/>
          <p:nvPr/>
        </p:nvSpPr>
        <p:spPr>
          <a:xfrm>
            <a:off x="7633525" y="3729694"/>
            <a:ext cx="432000" cy="180000"/>
          </a:xfrm>
          <a:prstGeom prst="rect">
            <a:avLst/>
          </a:prstGeom>
          <a:solidFill>
            <a:srgbClr val="9AD35B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 sz="1000" b="1" dirty="0">
              <a:solidFill>
                <a:schemeClr val="tx1"/>
              </a:solidFill>
            </a:endParaRPr>
          </a:p>
        </p:txBody>
      </p:sp>
      <p:sp>
        <p:nvSpPr>
          <p:cNvPr id="36" name="Diamond 246"/>
          <p:cNvSpPr/>
          <p:nvPr>
            <p:custDataLst>
              <p:tags r:id="rId3"/>
            </p:custDataLst>
          </p:nvPr>
        </p:nvSpPr>
        <p:spPr bwMode="auto">
          <a:xfrm>
            <a:off x="4572000" y="2060718"/>
            <a:ext cx="147736" cy="149408"/>
          </a:xfrm>
          <a:prstGeom prst="diamond">
            <a:avLst/>
          </a:prstGeom>
          <a:solidFill>
            <a:srgbClr val="00B050"/>
          </a:solidFill>
          <a:ln w="9525" cap="flat" cmpd="sng" algn="ctr">
            <a:solidFill>
              <a:schemeClr val="tx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eaLnBrk="0" hangingPunct="0">
              <a:lnSpc>
                <a:spcPct val="80000"/>
              </a:lnSpc>
            </a:pPr>
            <a:endParaRPr lang="en-US" sz="1050" b="1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37" name="CaixaDeTexto 36"/>
          <p:cNvSpPr txBox="1"/>
          <p:nvPr/>
        </p:nvSpPr>
        <p:spPr>
          <a:xfrm>
            <a:off x="7787128" y="3548336"/>
            <a:ext cx="171855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dirty="0" smtClean="0">
                <a:solidFill>
                  <a:schemeClr val="bg2"/>
                </a:solidFill>
              </a:rPr>
              <a:t>Go Live - 99/99/99</a:t>
            </a:r>
            <a:endParaRPr lang="pt-BR" sz="800" dirty="0">
              <a:solidFill>
                <a:schemeClr val="bg2"/>
              </a:solidFill>
            </a:endParaRPr>
          </a:p>
        </p:txBody>
      </p:sp>
      <p:sp>
        <p:nvSpPr>
          <p:cNvPr id="38" name="Diamond 246"/>
          <p:cNvSpPr/>
          <p:nvPr>
            <p:custDataLst>
              <p:tags r:id="rId4"/>
            </p:custDataLst>
          </p:nvPr>
        </p:nvSpPr>
        <p:spPr bwMode="auto">
          <a:xfrm>
            <a:off x="8062280" y="3780851"/>
            <a:ext cx="147736" cy="149408"/>
          </a:xfrm>
          <a:prstGeom prst="diamond">
            <a:avLst/>
          </a:prstGeom>
          <a:solidFill>
            <a:srgbClr val="00B050"/>
          </a:solidFill>
          <a:ln w="9525" cap="flat" cmpd="sng" algn="ctr">
            <a:solidFill>
              <a:schemeClr val="tx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eaLnBrk="0" hangingPunct="0">
              <a:lnSpc>
                <a:spcPct val="80000"/>
              </a:lnSpc>
            </a:pPr>
            <a:endParaRPr lang="en-US" sz="1050" b="1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5731419" y="3421370"/>
            <a:ext cx="25849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dirty="0" smtClean="0"/>
              <a:t>Marco  de Homologação - 99/99/99</a:t>
            </a:r>
            <a:endParaRPr lang="pt-BR" sz="900" dirty="0"/>
          </a:p>
        </p:txBody>
      </p:sp>
      <p:sp>
        <p:nvSpPr>
          <p:cNvPr id="40" name="Diamond 246"/>
          <p:cNvSpPr/>
          <p:nvPr>
            <p:custDataLst>
              <p:tags r:id="rId5"/>
            </p:custDataLst>
          </p:nvPr>
        </p:nvSpPr>
        <p:spPr bwMode="auto">
          <a:xfrm>
            <a:off x="7664624" y="3322144"/>
            <a:ext cx="147736" cy="149408"/>
          </a:xfrm>
          <a:prstGeom prst="diamond">
            <a:avLst/>
          </a:prstGeom>
          <a:solidFill>
            <a:srgbClr val="00B050"/>
          </a:solidFill>
          <a:ln w="9525" cap="flat" cmpd="sng" algn="ctr">
            <a:solidFill>
              <a:schemeClr val="tx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eaLnBrk="0" hangingPunct="0">
              <a:lnSpc>
                <a:spcPct val="80000"/>
              </a:lnSpc>
            </a:pPr>
            <a:endParaRPr lang="en-US" sz="1050" b="1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41" name="CaixaDeTexto 40"/>
          <p:cNvSpPr txBox="1"/>
          <p:nvPr/>
        </p:nvSpPr>
        <p:spPr>
          <a:xfrm>
            <a:off x="5652120" y="2097592"/>
            <a:ext cx="30026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dirty="0" smtClean="0"/>
              <a:t>Marco de Implementação e Testes - 99/99/99</a:t>
            </a:r>
            <a:endParaRPr lang="pt-BR" sz="900" dirty="0"/>
          </a:p>
        </p:txBody>
      </p:sp>
      <p:sp>
        <p:nvSpPr>
          <p:cNvPr id="42" name="Diamond 246"/>
          <p:cNvSpPr/>
          <p:nvPr>
            <p:custDataLst>
              <p:tags r:id="rId6"/>
            </p:custDataLst>
          </p:nvPr>
        </p:nvSpPr>
        <p:spPr bwMode="auto">
          <a:xfrm>
            <a:off x="5652550" y="2269736"/>
            <a:ext cx="147736" cy="149408"/>
          </a:xfrm>
          <a:prstGeom prst="diamond">
            <a:avLst/>
          </a:prstGeom>
          <a:solidFill>
            <a:srgbClr val="00B050"/>
          </a:solidFill>
          <a:ln w="9525" cap="flat" cmpd="sng" algn="ctr">
            <a:solidFill>
              <a:schemeClr val="tx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eaLnBrk="0" hangingPunct="0">
              <a:lnSpc>
                <a:spcPct val="80000"/>
              </a:lnSpc>
            </a:pPr>
            <a:endParaRPr lang="en-US" sz="1050" b="1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43" name="Diamond 246"/>
          <p:cNvSpPr/>
          <p:nvPr>
            <p:custDataLst>
              <p:tags r:id="rId7"/>
            </p:custDataLst>
          </p:nvPr>
        </p:nvSpPr>
        <p:spPr bwMode="auto">
          <a:xfrm>
            <a:off x="4211960" y="2332733"/>
            <a:ext cx="147736" cy="149408"/>
          </a:xfrm>
          <a:prstGeom prst="diamond">
            <a:avLst/>
          </a:prstGeom>
          <a:solidFill>
            <a:srgbClr val="00B050"/>
          </a:solidFill>
          <a:ln w="9525" cap="flat" cmpd="sng" algn="ctr">
            <a:solidFill>
              <a:schemeClr val="tx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eaLnBrk="0" hangingPunct="0">
              <a:lnSpc>
                <a:spcPct val="80000"/>
              </a:lnSpc>
            </a:pPr>
            <a:endParaRPr lang="en-US" sz="1050" b="1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44" name="CaixaDeTexto 43"/>
          <p:cNvSpPr txBox="1"/>
          <p:nvPr/>
        </p:nvSpPr>
        <p:spPr>
          <a:xfrm>
            <a:off x="4293646" y="2374332"/>
            <a:ext cx="19819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dirty="0" smtClean="0"/>
              <a:t>Marco de Requisitos -  99/99/99</a:t>
            </a:r>
            <a:endParaRPr lang="pt-BR" sz="900" dirty="0"/>
          </a:p>
        </p:txBody>
      </p:sp>
      <p:sp>
        <p:nvSpPr>
          <p:cNvPr id="45" name="CaixaDeTexto 44"/>
          <p:cNvSpPr txBox="1"/>
          <p:nvPr/>
        </p:nvSpPr>
        <p:spPr>
          <a:xfrm>
            <a:off x="4658296" y="2006742"/>
            <a:ext cx="251755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dirty="0" smtClean="0"/>
              <a:t>Marco de Análise e Desenho - 99/99/99</a:t>
            </a:r>
            <a:endParaRPr lang="pt-BR" sz="900" dirty="0"/>
          </a:p>
        </p:txBody>
      </p:sp>
      <p:sp>
        <p:nvSpPr>
          <p:cNvPr id="46" name="5-Point Star 252"/>
          <p:cNvSpPr/>
          <p:nvPr/>
        </p:nvSpPr>
        <p:spPr>
          <a:xfrm>
            <a:off x="7777487" y="3699352"/>
            <a:ext cx="98501" cy="99616"/>
          </a:xfrm>
          <a:prstGeom prst="star5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tx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47" name="CaixaDeTexto 46"/>
          <p:cNvSpPr txBox="1"/>
          <p:nvPr/>
        </p:nvSpPr>
        <p:spPr>
          <a:xfrm>
            <a:off x="6786532" y="3882894"/>
            <a:ext cx="26463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dirty="0" smtClean="0">
                <a:solidFill>
                  <a:schemeClr val="bg2"/>
                </a:solidFill>
              </a:rPr>
              <a:t>Marco  de Pós-Implantação - 99/99/99</a:t>
            </a:r>
            <a:endParaRPr lang="pt-BR" sz="800" dirty="0">
              <a:solidFill>
                <a:schemeClr val="bg2"/>
              </a:solidFill>
            </a:endParaRPr>
          </a:p>
        </p:txBody>
      </p:sp>
      <p:sp>
        <p:nvSpPr>
          <p:cNvPr id="48" name="Retângulo 47"/>
          <p:cNvSpPr/>
          <p:nvPr/>
        </p:nvSpPr>
        <p:spPr>
          <a:xfrm>
            <a:off x="2881092" y="4209375"/>
            <a:ext cx="5708211" cy="185143"/>
          </a:xfrm>
          <a:prstGeom prst="rect">
            <a:avLst/>
          </a:prstGeom>
          <a:solidFill>
            <a:srgbClr val="9AD35B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 sz="1000" b="1" dirty="0">
              <a:solidFill>
                <a:schemeClr val="tx1"/>
              </a:solidFill>
            </a:endParaRPr>
          </a:p>
        </p:txBody>
      </p:sp>
      <p:sp>
        <p:nvSpPr>
          <p:cNvPr id="49" name="Retângulo 48"/>
          <p:cNvSpPr/>
          <p:nvPr/>
        </p:nvSpPr>
        <p:spPr>
          <a:xfrm>
            <a:off x="2892824" y="4208120"/>
            <a:ext cx="828000" cy="18000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 sz="1000" b="1" dirty="0">
              <a:solidFill>
                <a:schemeClr val="tx1"/>
              </a:solidFill>
            </a:endParaRPr>
          </a:p>
        </p:txBody>
      </p:sp>
      <p:sp>
        <p:nvSpPr>
          <p:cNvPr id="50" name="Retângulo 49"/>
          <p:cNvSpPr/>
          <p:nvPr/>
        </p:nvSpPr>
        <p:spPr>
          <a:xfrm>
            <a:off x="2892066" y="4202245"/>
            <a:ext cx="828000" cy="180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 sz="1000" b="1" dirty="0">
              <a:solidFill>
                <a:schemeClr val="tx1"/>
              </a:solidFill>
            </a:endParaRPr>
          </a:p>
        </p:txBody>
      </p:sp>
      <p:sp>
        <p:nvSpPr>
          <p:cNvPr id="51" name="Retângulo 50"/>
          <p:cNvSpPr/>
          <p:nvPr/>
        </p:nvSpPr>
        <p:spPr>
          <a:xfrm>
            <a:off x="4849923" y="4669872"/>
            <a:ext cx="1620000" cy="180000"/>
          </a:xfrm>
          <a:prstGeom prst="rect">
            <a:avLst/>
          </a:prstGeom>
          <a:solidFill>
            <a:srgbClr val="9AD35B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 sz="1000" b="1" dirty="0">
              <a:solidFill>
                <a:schemeClr val="tx1"/>
              </a:solidFill>
            </a:endParaRPr>
          </a:p>
        </p:txBody>
      </p:sp>
      <p:sp>
        <p:nvSpPr>
          <p:cNvPr id="52" name="Retângulo 51"/>
          <p:cNvSpPr/>
          <p:nvPr/>
        </p:nvSpPr>
        <p:spPr>
          <a:xfrm>
            <a:off x="6943663" y="5094069"/>
            <a:ext cx="648000" cy="180000"/>
          </a:xfrm>
          <a:prstGeom prst="rect">
            <a:avLst/>
          </a:prstGeom>
          <a:solidFill>
            <a:srgbClr val="9AD35B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 sz="1000" b="1" dirty="0">
              <a:solidFill>
                <a:schemeClr val="tx1"/>
              </a:solidFill>
            </a:endParaRPr>
          </a:p>
        </p:txBody>
      </p:sp>
      <p:sp>
        <p:nvSpPr>
          <p:cNvPr id="53" name="Retângulo 52"/>
          <p:cNvSpPr/>
          <p:nvPr/>
        </p:nvSpPr>
        <p:spPr>
          <a:xfrm>
            <a:off x="7617304" y="5566315"/>
            <a:ext cx="972000" cy="180000"/>
          </a:xfrm>
          <a:prstGeom prst="rect">
            <a:avLst/>
          </a:prstGeom>
          <a:solidFill>
            <a:srgbClr val="9AD35B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 sz="1000" b="1" dirty="0">
              <a:solidFill>
                <a:schemeClr val="tx1"/>
              </a:solidFill>
            </a:endParaRPr>
          </a:p>
        </p:txBody>
      </p:sp>
      <p:sp>
        <p:nvSpPr>
          <p:cNvPr id="54" name="CaixaDeTexto 53"/>
          <p:cNvSpPr txBox="1"/>
          <p:nvPr/>
        </p:nvSpPr>
        <p:spPr>
          <a:xfrm>
            <a:off x="7569588" y="5394482"/>
            <a:ext cx="17185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dirty="0" smtClean="0"/>
              <a:t>Go Live - 99/99/99</a:t>
            </a:r>
            <a:endParaRPr lang="pt-BR" sz="900" dirty="0"/>
          </a:p>
        </p:txBody>
      </p:sp>
      <p:sp>
        <p:nvSpPr>
          <p:cNvPr id="55" name="Diamond 246"/>
          <p:cNvSpPr/>
          <p:nvPr>
            <p:custDataLst>
              <p:tags r:id="rId8"/>
            </p:custDataLst>
          </p:nvPr>
        </p:nvSpPr>
        <p:spPr bwMode="auto">
          <a:xfrm>
            <a:off x="8537253" y="5600772"/>
            <a:ext cx="147736" cy="149408"/>
          </a:xfrm>
          <a:prstGeom prst="diamond">
            <a:avLst/>
          </a:prstGeom>
          <a:solidFill>
            <a:srgbClr val="00B050"/>
          </a:solidFill>
          <a:ln w="9525" cap="flat" cmpd="sng" algn="ctr">
            <a:solidFill>
              <a:schemeClr val="tx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eaLnBrk="0" hangingPunct="0">
              <a:lnSpc>
                <a:spcPct val="80000"/>
              </a:lnSpc>
            </a:pPr>
            <a:endParaRPr lang="en-US" sz="1050" b="1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56" name="CaixaDeTexto 55"/>
          <p:cNvSpPr txBox="1"/>
          <p:nvPr/>
        </p:nvSpPr>
        <p:spPr>
          <a:xfrm>
            <a:off x="5508104" y="5304402"/>
            <a:ext cx="212814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dirty="0" smtClean="0"/>
              <a:t>Marco  de Homologação - 99/99/99</a:t>
            </a:r>
            <a:endParaRPr lang="pt-BR" sz="900" dirty="0"/>
          </a:p>
        </p:txBody>
      </p:sp>
      <p:sp>
        <p:nvSpPr>
          <p:cNvPr id="57" name="Diamond 246"/>
          <p:cNvSpPr/>
          <p:nvPr>
            <p:custDataLst>
              <p:tags r:id="rId9"/>
            </p:custDataLst>
          </p:nvPr>
        </p:nvSpPr>
        <p:spPr bwMode="auto">
          <a:xfrm>
            <a:off x="7551927" y="5220976"/>
            <a:ext cx="147736" cy="149408"/>
          </a:xfrm>
          <a:prstGeom prst="diamond">
            <a:avLst/>
          </a:prstGeom>
          <a:solidFill>
            <a:srgbClr val="00B050"/>
          </a:solidFill>
          <a:ln w="9525" cap="flat" cmpd="sng" algn="ctr">
            <a:solidFill>
              <a:schemeClr val="tx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eaLnBrk="0" hangingPunct="0">
              <a:lnSpc>
                <a:spcPct val="80000"/>
              </a:lnSpc>
            </a:pPr>
            <a:endParaRPr lang="en-US" sz="1050" b="1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58" name="Diamond 246"/>
          <p:cNvSpPr/>
          <p:nvPr>
            <p:custDataLst>
              <p:tags r:id="rId10"/>
            </p:custDataLst>
          </p:nvPr>
        </p:nvSpPr>
        <p:spPr bwMode="auto">
          <a:xfrm>
            <a:off x="6458478" y="4708363"/>
            <a:ext cx="147736" cy="149408"/>
          </a:xfrm>
          <a:prstGeom prst="diamond">
            <a:avLst/>
          </a:prstGeom>
          <a:solidFill>
            <a:srgbClr val="00B050"/>
          </a:solidFill>
          <a:ln w="9525" cap="flat" cmpd="sng" algn="ctr">
            <a:solidFill>
              <a:schemeClr val="tx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eaLnBrk="0" hangingPunct="0">
              <a:lnSpc>
                <a:spcPct val="80000"/>
              </a:lnSpc>
            </a:pPr>
            <a:endParaRPr lang="en-US" sz="1050" b="1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59" name="5-Point Star 252"/>
          <p:cNvSpPr/>
          <p:nvPr/>
        </p:nvSpPr>
        <p:spPr>
          <a:xfrm>
            <a:off x="7856949" y="5577681"/>
            <a:ext cx="98501" cy="99616"/>
          </a:xfrm>
          <a:prstGeom prst="star5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solidFill>
                <a:schemeClr val="tx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60" name="CaixaDeTexto 59"/>
          <p:cNvSpPr txBox="1"/>
          <p:nvPr/>
        </p:nvSpPr>
        <p:spPr>
          <a:xfrm>
            <a:off x="6786532" y="5758035"/>
            <a:ext cx="259812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dirty="0" smtClean="0"/>
              <a:t>Marco  de Pós-Implantação - 99/99/99</a:t>
            </a:r>
            <a:endParaRPr lang="pt-BR" sz="900" dirty="0"/>
          </a:p>
        </p:txBody>
      </p:sp>
      <p:sp>
        <p:nvSpPr>
          <p:cNvPr id="61" name="CaixaDeTexto 60"/>
          <p:cNvSpPr txBox="1"/>
          <p:nvPr/>
        </p:nvSpPr>
        <p:spPr>
          <a:xfrm>
            <a:off x="2323052" y="1670391"/>
            <a:ext cx="51030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900"/>
              </a:lnSpc>
            </a:pPr>
            <a:r>
              <a:rPr lang="pt-BR" sz="900" b="1" dirty="0" smtClean="0"/>
              <a:t>55%</a:t>
            </a:r>
          </a:p>
          <a:p>
            <a:pPr>
              <a:lnSpc>
                <a:spcPts val="900"/>
              </a:lnSpc>
            </a:pPr>
            <a:r>
              <a:rPr lang="pt-BR" sz="900" b="1" dirty="0" smtClean="0"/>
              <a:t>50%</a:t>
            </a:r>
            <a:endParaRPr lang="pt-BR" sz="900" b="1" dirty="0"/>
          </a:p>
        </p:txBody>
      </p:sp>
      <p:sp>
        <p:nvSpPr>
          <p:cNvPr id="62" name="CaixaDeTexto 61"/>
          <p:cNvSpPr txBox="1"/>
          <p:nvPr/>
        </p:nvSpPr>
        <p:spPr>
          <a:xfrm>
            <a:off x="2461227" y="4167112"/>
            <a:ext cx="51030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900"/>
              </a:lnSpc>
            </a:pPr>
            <a:r>
              <a:rPr lang="pt-BR" sz="900" b="1" dirty="0" smtClean="0"/>
              <a:t>63%</a:t>
            </a:r>
          </a:p>
          <a:p>
            <a:pPr>
              <a:lnSpc>
                <a:spcPts val="900"/>
              </a:lnSpc>
            </a:pPr>
            <a:r>
              <a:rPr lang="pt-BR" sz="900" b="1" dirty="0" smtClean="0"/>
              <a:t>63%</a:t>
            </a:r>
            <a:endParaRPr lang="pt-BR" sz="900" b="1" dirty="0"/>
          </a:p>
        </p:txBody>
      </p:sp>
      <p:sp>
        <p:nvSpPr>
          <p:cNvPr id="63" name="CaixaDeTexto 62"/>
          <p:cNvSpPr txBox="1"/>
          <p:nvPr/>
        </p:nvSpPr>
        <p:spPr>
          <a:xfrm>
            <a:off x="3413622" y="2134468"/>
            <a:ext cx="51030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900"/>
              </a:lnSpc>
            </a:pPr>
            <a:r>
              <a:rPr lang="pt-BR" sz="900" b="1" dirty="0" smtClean="0"/>
              <a:t>0%</a:t>
            </a:r>
          </a:p>
          <a:p>
            <a:pPr>
              <a:lnSpc>
                <a:spcPts val="900"/>
              </a:lnSpc>
            </a:pPr>
            <a:r>
              <a:rPr lang="pt-BR" sz="900" b="1" dirty="0"/>
              <a:t>0</a:t>
            </a:r>
            <a:r>
              <a:rPr lang="pt-BR" sz="900" b="1" dirty="0" smtClean="0"/>
              <a:t>%</a:t>
            </a:r>
            <a:endParaRPr lang="pt-BR" sz="900" b="1" dirty="0"/>
          </a:p>
        </p:txBody>
      </p:sp>
      <p:sp>
        <p:nvSpPr>
          <p:cNvPr id="64" name="CaixaDeTexto 63"/>
          <p:cNvSpPr txBox="1"/>
          <p:nvPr/>
        </p:nvSpPr>
        <p:spPr>
          <a:xfrm>
            <a:off x="5129939" y="2641758"/>
            <a:ext cx="51030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900"/>
              </a:lnSpc>
            </a:pPr>
            <a:r>
              <a:rPr lang="pt-BR" sz="900" b="1" dirty="0" smtClean="0"/>
              <a:t>0%</a:t>
            </a:r>
          </a:p>
          <a:p>
            <a:pPr>
              <a:lnSpc>
                <a:spcPts val="900"/>
              </a:lnSpc>
            </a:pPr>
            <a:r>
              <a:rPr lang="pt-BR" sz="900" b="1" dirty="0"/>
              <a:t>0</a:t>
            </a:r>
            <a:r>
              <a:rPr lang="pt-BR" sz="900" b="1" dirty="0" smtClean="0"/>
              <a:t>%</a:t>
            </a:r>
            <a:endParaRPr lang="pt-BR" sz="900" b="1" dirty="0"/>
          </a:p>
        </p:txBody>
      </p:sp>
      <p:sp>
        <p:nvSpPr>
          <p:cNvPr id="65" name="CaixaDeTexto 64"/>
          <p:cNvSpPr txBox="1"/>
          <p:nvPr/>
        </p:nvSpPr>
        <p:spPr>
          <a:xfrm>
            <a:off x="6850198" y="3169787"/>
            <a:ext cx="51030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900"/>
              </a:lnSpc>
            </a:pPr>
            <a:r>
              <a:rPr lang="pt-BR" sz="900" b="1" dirty="0" smtClean="0"/>
              <a:t>0%</a:t>
            </a:r>
          </a:p>
          <a:p>
            <a:pPr>
              <a:lnSpc>
                <a:spcPts val="900"/>
              </a:lnSpc>
            </a:pPr>
            <a:r>
              <a:rPr lang="pt-BR" sz="900" b="1" dirty="0"/>
              <a:t>0</a:t>
            </a:r>
            <a:r>
              <a:rPr lang="pt-BR" sz="900" b="1" dirty="0" smtClean="0"/>
              <a:t>%</a:t>
            </a:r>
            <a:endParaRPr lang="pt-BR" sz="900" b="1" dirty="0"/>
          </a:p>
        </p:txBody>
      </p:sp>
      <p:sp>
        <p:nvSpPr>
          <p:cNvPr id="66" name="CaixaDeTexto 65"/>
          <p:cNvSpPr txBox="1"/>
          <p:nvPr/>
        </p:nvSpPr>
        <p:spPr>
          <a:xfrm>
            <a:off x="7267187" y="3664219"/>
            <a:ext cx="51030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900"/>
              </a:lnSpc>
            </a:pPr>
            <a:r>
              <a:rPr lang="pt-BR" sz="900" b="1" dirty="0" smtClean="0"/>
              <a:t>0%</a:t>
            </a:r>
          </a:p>
          <a:p>
            <a:pPr>
              <a:lnSpc>
                <a:spcPts val="900"/>
              </a:lnSpc>
            </a:pPr>
            <a:r>
              <a:rPr lang="pt-BR" sz="900" b="1" dirty="0"/>
              <a:t>0</a:t>
            </a:r>
            <a:r>
              <a:rPr lang="pt-BR" sz="900" b="1" dirty="0" smtClean="0"/>
              <a:t>%</a:t>
            </a:r>
            <a:endParaRPr lang="pt-BR" sz="900" b="1" dirty="0"/>
          </a:p>
        </p:txBody>
      </p:sp>
      <p:sp>
        <p:nvSpPr>
          <p:cNvPr id="67" name="CaixaDeTexto 66"/>
          <p:cNvSpPr txBox="1"/>
          <p:nvPr/>
        </p:nvSpPr>
        <p:spPr>
          <a:xfrm>
            <a:off x="6551506" y="4613247"/>
            <a:ext cx="253573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dirty="0" smtClean="0"/>
              <a:t>Marco de Implementação e Testes - 99/99/99</a:t>
            </a:r>
            <a:endParaRPr lang="pt-BR" sz="900" dirty="0"/>
          </a:p>
        </p:txBody>
      </p:sp>
      <p:sp>
        <p:nvSpPr>
          <p:cNvPr id="68" name="CaixaDeTexto 67"/>
          <p:cNvSpPr txBox="1"/>
          <p:nvPr/>
        </p:nvSpPr>
        <p:spPr>
          <a:xfrm>
            <a:off x="4510625" y="4602394"/>
            <a:ext cx="51030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900"/>
              </a:lnSpc>
            </a:pPr>
            <a:r>
              <a:rPr lang="pt-BR" sz="900" b="1" dirty="0" smtClean="0"/>
              <a:t>0%</a:t>
            </a:r>
          </a:p>
          <a:p>
            <a:pPr>
              <a:lnSpc>
                <a:spcPts val="900"/>
              </a:lnSpc>
            </a:pPr>
            <a:r>
              <a:rPr lang="pt-BR" sz="900" b="1" dirty="0"/>
              <a:t>0</a:t>
            </a:r>
            <a:r>
              <a:rPr lang="pt-BR" sz="900" b="1" dirty="0" smtClean="0"/>
              <a:t>%</a:t>
            </a:r>
            <a:endParaRPr lang="pt-BR" sz="900" b="1" dirty="0"/>
          </a:p>
        </p:txBody>
      </p:sp>
      <p:sp>
        <p:nvSpPr>
          <p:cNvPr id="69" name="CaixaDeTexto 68"/>
          <p:cNvSpPr txBox="1"/>
          <p:nvPr/>
        </p:nvSpPr>
        <p:spPr>
          <a:xfrm>
            <a:off x="6599781" y="5028785"/>
            <a:ext cx="51030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900"/>
              </a:lnSpc>
            </a:pPr>
            <a:r>
              <a:rPr lang="pt-BR" sz="900" b="1" dirty="0" smtClean="0"/>
              <a:t>0%</a:t>
            </a:r>
          </a:p>
          <a:p>
            <a:pPr>
              <a:lnSpc>
                <a:spcPts val="900"/>
              </a:lnSpc>
            </a:pPr>
            <a:r>
              <a:rPr lang="pt-BR" sz="900" b="1" dirty="0"/>
              <a:t>0</a:t>
            </a:r>
            <a:r>
              <a:rPr lang="pt-BR" sz="900" b="1" dirty="0" smtClean="0"/>
              <a:t>%</a:t>
            </a:r>
            <a:endParaRPr lang="pt-BR" sz="900" b="1" dirty="0"/>
          </a:p>
        </p:txBody>
      </p:sp>
      <p:sp>
        <p:nvSpPr>
          <p:cNvPr id="70" name="CaixaDeTexto 69"/>
          <p:cNvSpPr txBox="1"/>
          <p:nvPr/>
        </p:nvSpPr>
        <p:spPr>
          <a:xfrm>
            <a:off x="7254554" y="5469915"/>
            <a:ext cx="51030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900"/>
              </a:lnSpc>
            </a:pPr>
            <a:r>
              <a:rPr lang="pt-BR" sz="900" b="1" dirty="0" smtClean="0"/>
              <a:t>0%</a:t>
            </a:r>
          </a:p>
          <a:p>
            <a:pPr>
              <a:lnSpc>
                <a:spcPts val="900"/>
              </a:lnSpc>
            </a:pPr>
            <a:r>
              <a:rPr lang="pt-BR" sz="900" b="1" dirty="0"/>
              <a:t>0</a:t>
            </a:r>
            <a:r>
              <a:rPr lang="pt-BR" sz="900" b="1" dirty="0" smtClean="0"/>
              <a:t>%</a:t>
            </a:r>
            <a:endParaRPr lang="pt-BR" sz="900" b="1" dirty="0"/>
          </a:p>
        </p:txBody>
      </p:sp>
      <p:sp>
        <p:nvSpPr>
          <p:cNvPr id="71" name="Diamond 246"/>
          <p:cNvSpPr/>
          <p:nvPr>
            <p:custDataLst>
              <p:tags r:id="rId11"/>
            </p:custDataLst>
          </p:nvPr>
        </p:nvSpPr>
        <p:spPr bwMode="auto">
          <a:xfrm>
            <a:off x="6105838" y="2616756"/>
            <a:ext cx="147736" cy="149408"/>
          </a:xfrm>
          <a:prstGeom prst="diamond">
            <a:avLst/>
          </a:prstGeom>
          <a:solidFill>
            <a:srgbClr val="00B050"/>
          </a:solidFill>
          <a:ln w="9525" cap="flat" cmpd="sng" algn="ctr">
            <a:solidFill>
              <a:schemeClr val="tx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eaLnBrk="0" hangingPunct="0">
              <a:lnSpc>
                <a:spcPct val="80000"/>
              </a:lnSpc>
            </a:pPr>
            <a:endParaRPr lang="en-US" sz="1050" b="1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72" name="CaixaDeTexto 71"/>
          <p:cNvSpPr txBox="1"/>
          <p:nvPr/>
        </p:nvSpPr>
        <p:spPr>
          <a:xfrm>
            <a:off x="7185958" y="2653629"/>
            <a:ext cx="1958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dirty="0" smtClean="0"/>
              <a:t>Marco de Implementação e Testes - 99/99/99</a:t>
            </a:r>
            <a:endParaRPr lang="pt-BR" sz="900" dirty="0"/>
          </a:p>
        </p:txBody>
      </p:sp>
      <p:sp>
        <p:nvSpPr>
          <p:cNvPr id="73" name="Diamond 246"/>
          <p:cNvSpPr/>
          <p:nvPr>
            <p:custDataLst>
              <p:tags r:id="rId12"/>
            </p:custDataLst>
          </p:nvPr>
        </p:nvSpPr>
        <p:spPr bwMode="auto">
          <a:xfrm>
            <a:off x="7186388" y="2825774"/>
            <a:ext cx="147736" cy="149408"/>
          </a:xfrm>
          <a:prstGeom prst="diamond">
            <a:avLst/>
          </a:prstGeom>
          <a:solidFill>
            <a:srgbClr val="00B050"/>
          </a:solidFill>
          <a:ln w="9525" cap="flat" cmpd="sng" algn="ctr">
            <a:solidFill>
              <a:schemeClr val="tx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eaLnBrk="0" hangingPunct="0">
              <a:lnSpc>
                <a:spcPct val="80000"/>
              </a:lnSpc>
            </a:pPr>
            <a:endParaRPr lang="en-US" sz="1050" b="1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74" name="Diamond 246"/>
          <p:cNvSpPr/>
          <p:nvPr>
            <p:custDataLst>
              <p:tags r:id="rId13"/>
            </p:custDataLst>
          </p:nvPr>
        </p:nvSpPr>
        <p:spPr bwMode="auto">
          <a:xfrm>
            <a:off x="5745798" y="2888771"/>
            <a:ext cx="147736" cy="149408"/>
          </a:xfrm>
          <a:prstGeom prst="diamond">
            <a:avLst/>
          </a:prstGeom>
          <a:solidFill>
            <a:srgbClr val="00B050"/>
          </a:solidFill>
          <a:ln w="9525" cap="flat" cmpd="sng" algn="ctr">
            <a:solidFill>
              <a:schemeClr val="tx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eaLnBrk="0" hangingPunct="0">
              <a:lnSpc>
                <a:spcPct val="80000"/>
              </a:lnSpc>
            </a:pPr>
            <a:endParaRPr lang="en-US" sz="1050" b="1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75" name="CaixaDeTexto 74"/>
          <p:cNvSpPr txBox="1"/>
          <p:nvPr/>
        </p:nvSpPr>
        <p:spPr>
          <a:xfrm>
            <a:off x="5827484" y="2930370"/>
            <a:ext cx="19819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dirty="0" smtClean="0"/>
              <a:t>Marco de Requisitos -  99/99/99</a:t>
            </a:r>
            <a:endParaRPr lang="pt-BR" sz="900" dirty="0"/>
          </a:p>
        </p:txBody>
      </p:sp>
      <p:sp>
        <p:nvSpPr>
          <p:cNvPr id="76" name="CaixaDeTexto 75"/>
          <p:cNvSpPr txBox="1"/>
          <p:nvPr/>
        </p:nvSpPr>
        <p:spPr>
          <a:xfrm>
            <a:off x="6192134" y="2509615"/>
            <a:ext cx="251755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dirty="0" smtClean="0"/>
              <a:t>Marco de Análise e Desenho - 99/99/99</a:t>
            </a:r>
            <a:endParaRPr lang="pt-BR" sz="900" dirty="0"/>
          </a:p>
        </p:txBody>
      </p:sp>
      <p:sp>
        <p:nvSpPr>
          <p:cNvPr id="77" name="Diamond 246"/>
          <p:cNvSpPr/>
          <p:nvPr>
            <p:custDataLst>
              <p:tags r:id="rId14"/>
            </p:custDataLst>
          </p:nvPr>
        </p:nvSpPr>
        <p:spPr bwMode="auto">
          <a:xfrm>
            <a:off x="5364088" y="4541003"/>
            <a:ext cx="147736" cy="149408"/>
          </a:xfrm>
          <a:prstGeom prst="diamond">
            <a:avLst/>
          </a:prstGeom>
          <a:solidFill>
            <a:srgbClr val="00B050"/>
          </a:solidFill>
          <a:ln w="9525" cap="flat" cmpd="sng" algn="ctr">
            <a:solidFill>
              <a:schemeClr val="tx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eaLnBrk="0" hangingPunct="0">
              <a:lnSpc>
                <a:spcPct val="80000"/>
              </a:lnSpc>
            </a:pPr>
            <a:endParaRPr lang="en-US" sz="1050" b="1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78" name="Diamond 246"/>
          <p:cNvSpPr/>
          <p:nvPr>
            <p:custDataLst>
              <p:tags r:id="rId15"/>
            </p:custDataLst>
          </p:nvPr>
        </p:nvSpPr>
        <p:spPr bwMode="auto">
          <a:xfrm>
            <a:off x="5004048" y="4813018"/>
            <a:ext cx="147736" cy="149408"/>
          </a:xfrm>
          <a:prstGeom prst="diamond">
            <a:avLst/>
          </a:prstGeom>
          <a:solidFill>
            <a:srgbClr val="00B050"/>
          </a:solidFill>
          <a:ln w="9525" cap="flat" cmpd="sng" algn="ctr">
            <a:solidFill>
              <a:schemeClr val="tx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eaLnBrk="0" hangingPunct="0">
              <a:lnSpc>
                <a:spcPct val="80000"/>
              </a:lnSpc>
            </a:pPr>
            <a:endParaRPr lang="en-US" sz="1050" b="1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79" name="CaixaDeTexto 78"/>
          <p:cNvSpPr txBox="1"/>
          <p:nvPr/>
        </p:nvSpPr>
        <p:spPr>
          <a:xfrm>
            <a:off x="5085734" y="4854617"/>
            <a:ext cx="19819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dirty="0" smtClean="0"/>
              <a:t>Marco de Requisitos -  99/99/99</a:t>
            </a:r>
            <a:endParaRPr lang="pt-BR" sz="900" dirty="0"/>
          </a:p>
        </p:txBody>
      </p:sp>
      <p:sp>
        <p:nvSpPr>
          <p:cNvPr id="80" name="CaixaDeTexto 79"/>
          <p:cNvSpPr txBox="1"/>
          <p:nvPr/>
        </p:nvSpPr>
        <p:spPr>
          <a:xfrm>
            <a:off x="5450384" y="4508293"/>
            <a:ext cx="251755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dirty="0" smtClean="0"/>
              <a:t>Marco de Análise e Desenho - 99/99/99</a:t>
            </a:r>
            <a:endParaRPr lang="pt-BR" sz="900" dirty="0"/>
          </a:p>
        </p:txBody>
      </p:sp>
      <p:cxnSp>
        <p:nvCxnSpPr>
          <p:cNvPr id="81" name="Conector de seta reta 80"/>
          <p:cNvCxnSpPr/>
          <p:nvPr/>
        </p:nvCxnSpPr>
        <p:spPr>
          <a:xfrm>
            <a:off x="3718392" y="1196752"/>
            <a:ext cx="0" cy="4824000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tângulo 81"/>
          <p:cNvSpPr/>
          <p:nvPr/>
        </p:nvSpPr>
        <p:spPr>
          <a:xfrm>
            <a:off x="2201136" y="1270433"/>
            <a:ext cx="559364" cy="182534"/>
          </a:xfrm>
          <a:prstGeom prst="rect">
            <a:avLst/>
          </a:prstGeom>
          <a:solidFill>
            <a:srgbClr val="9AD35B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 sz="1000" b="1" dirty="0">
              <a:solidFill>
                <a:schemeClr val="tx1"/>
              </a:solidFill>
            </a:endParaRPr>
          </a:p>
        </p:txBody>
      </p:sp>
      <p:sp>
        <p:nvSpPr>
          <p:cNvPr id="83" name="Retângulo 82"/>
          <p:cNvSpPr/>
          <p:nvPr/>
        </p:nvSpPr>
        <p:spPr>
          <a:xfrm>
            <a:off x="2208314" y="1272967"/>
            <a:ext cx="563486" cy="180000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 sz="1000" b="1" dirty="0">
              <a:solidFill>
                <a:schemeClr val="tx1"/>
              </a:solidFill>
            </a:endParaRPr>
          </a:p>
        </p:txBody>
      </p:sp>
      <p:sp>
        <p:nvSpPr>
          <p:cNvPr id="84" name="Retângulo 83"/>
          <p:cNvSpPr/>
          <p:nvPr/>
        </p:nvSpPr>
        <p:spPr>
          <a:xfrm>
            <a:off x="2215762" y="1270863"/>
            <a:ext cx="559364" cy="18420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 sz="1000" b="1" dirty="0">
              <a:solidFill>
                <a:schemeClr val="tx1"/>
              </a:solidFill>
            </a:endParaRPr>
          </a:p>
        </p:txBody>
      </p:sp>
      <p:sp>
        <p:nvSpPr>
          <p:cNvPr id="85" name="CaixaDeTexto 84"/>
          <p:cNvSpPr txBox="1"/>
          <p:nvPr/>
        </p:nvSpPr>
        <p:spPr>
          <a:xfrm>
            <a:off x="2731691" y="1196752"/>
            <a:ext cx="59748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900"/>
              </a:lnSpc>
            </a:pPr>
            <a:r>
              <a:rPr lang="pt-BR" sz="900" b="1" dirty="0" smtClean="0"/>
              <a:t>100%</a:t>
            </a:r>
          </a:p>
          <a:p>
            <a:pPr>
              <a:lnSpc>
                <a:spcPts val="900"/>
              </a:lnSpc>
            </a:pPr>
            <a:r>
              <a:rPr lang="pt-BR" sz="900" b="1" dirty="0" smtClean="0"/>
              <a:t>100%</a:t>
            </a:r>
            <a:endParaRPr lang="pt-BR" sz="900" b="1" dirty="0"/>
          </a:p>
        </p:txBody>
      </p:sp>
      <p:sp>
        <p:nvSpPr>
          <p:cNvPr id="86" name="Diamond 246"/>
          <p:cNvSpPr/>
          <p:nvPr>
            <p:custDataLst>
              <p:tags r:id="rId16"/>
            </p:custDataLst>
          </p:nvPr>
        </p:nvSpPr>
        <p:spPr bwMode="auto">
          <a:xfrm>
            <a:off x="2627784" y="1407384"/>
            <a:ext cx="147736" cy="149408"/>
          </a:xfrm>
          <a:prstGeom prst="diamond">
            <a:avLst/>
          </a:prstGeom>
          <a:solidFill>
            <a:schemeClr val="tx2">
              <a:lumMod val="75000"/>
            </a:schemeClr>
          </a:solidFill>
          <a:ln w="9525" cap="flat" cmpd="sng" algn="ctr">
            <a:solidFill>
              <a:schemeClr val="tx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eaLnBrk="0" hangingPunct="0">
              <a:lnSpc>
                <a:spcPct val="80000"/>
              </a:lnSpc>
            </a:pPr>
            <a:endParaRPr lang="en-US" sz="1050" b="1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87" name="CaixaDeTexto 86"/>
          <p:cNvSpPr txBox="1"/>
          <p:nvPr/>
        </p:nvSpPr>
        <p:spPr>
          <a:xfrm>
            <a:off x="2699792" y="1414606"/>
            <a:ext cx="251755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dirty="0" smtClean="0"/>
              <a:t>Kick-off- 99/99/99</a:t>
            </a:r>
            <a:endParaRPr lang="pt-BR" sz="900" dirty="0"/>
          </a:p>
        </p:txBody>
      </p:sp>
      <p:pic>
        <p:nvPicPr>
          <p:cNvPr id="89" name="Imagem 88"/>
          <p:cNvPicPr>
            <a:picLocks noChangeAspect="1"/>
          </p:cNvPicPr>
          <p:nvPr/>
        </p:nvPicPr>
        <p:blipFill>
          <a:blip r:embed="rId2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4400" y="6264123"/>
            <a:ext cx="1301995" cy="605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227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3"/>
          <p:cNvGraphicFramePr>
            <a:graphicFrameLocks noGrp="1"/>
          </p:cNvGraphicFramePr>
          <p:nvPr>
            <p:extLst/>
          </p:nvPr>
        </p:nvGraphicFramePr>
        <p:xfrm>
          <a:off x="3707903" y="1609257"/>
          <a:ext cx="5411170" cy="237487"/>
        </p:xfrm>
        <a:graphic>
          <a:graphicData uri="http://schemas.openxmlformats.org/drawingml/2006/table">
            <a:tbl>
              <a:tblPr firstRow="1" bandRow="1"/>
              <a:tblGrid>
                <a:gridCol w="504057"/>
                <a:gridCol w="1080120"/>
                <a:gridCol w="216024"/>
                <a:gridCol w="2376264"/>
                <a:gridCol w="216024"/>
                <a:gridCol w="855033"/>
                <a:gridCol w="163648"/>
              </a:tblGrid>
              <a:tr h="237487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Custo</a:t>
                      </a:r>
                      <a:endParaRPr lang="pt-BR" sz="900" b="1" i="0" u="none" strike="noStrike" dirty="0" smtClean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455" marR="8455" marT="845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BR" sz="700" b="1" i="0" u="none" strike="noStrike" dirty="0" smtClean="0">
                          <a:solidFill>
                            <a:srgbClr val="1F497D"/>
                          </a:solidFill>
                          <a:effectLst/>
                          <a:latin typeface="+mn-lt"/>
                        </a:rPr>
                        <a:t>Entre 90% e 105%</a:t>
                      </a:r>
                      <a:endParaRPr lang="pt-BR" sz="700" b="1" i="0" u="none" strike="noStrike" dirty="0">
                        <a:solidFill>
                          <a:srgbClr val="1F497D"/>
                        </a:solidFill>
                        <a:effectLst/>
                        <a:latin typeface="+mn-lt"/>
                      </a:endParaRPr>
                    </a:p>
                  </a:txBody>
                  <a:tcPr marL="8455" marR="8455" marT="845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pt-BR" sz="700" b="1" i="0" u="none" strike="noStrike" dirty="0">
                        <a:solidFill>
                          <a:srgbClr val="1F497D"/>
                        </a:solidFill>
                        <a:effectLst/>
                        <a:latin typeface="Verdana"/>
                      </a:endParaRPr>
                    </a:p>
                  </a:txBody>
                  <a:tcPr marL="8455" marR="8455" marT="845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BR" sz="700" b="1" i="0" u="none" strike="noStrike" dirty="0" smtClean="0">
                          <a:solidFill>
                            <a:srgbClr val="1F497D"/>
                          </a:solidFill>
                          <a:effectLst/>
                          <a:latin typeface="+mn-lt"/>
                        </a:rPr>
                        <a:t>Abaixo de 90% ou acima de 105% até</a:t>
                      </a:r>
                      <a:r>
                        <a:rPr lang="pt-BR" sz="700" b="1" i="0" u="none" strike="noStrike" baseline="0" dirty="0" smtClean="0">
                          <a:solidFill>
                            <a:srgbClr val="1F497D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pt-BR" sz="700" b="1" i="0" u="none" strike="noStrike" dirty="0" smtClean="0">
                          <a:solidFill>
                            <a:srgbClr val="1F497D"/>
                          </a:solidFill>
                          <a:effectLst/>
                          <a:latin typeface="+mn-lt"/>
                        </a:rPr>
                        <a:t>110%</a:t>
                      </a:r>
                    </a:p>
                  </a:txBody>
                  <a:tcPr marL="8455" marR="8455" marT="845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pt-BR" sz="700" b="1" i="0" u="none" strike="noStrike" dirty="0">
                        <a:solidFill>
                          <a:srgbClr val="1F497D"/>
                        </a:solidFill>
                        <a:effectLst/>
                        <a:latin typeface="Verdana"/>
                      </a:endParaRPr>
                    </a:p>
                  </a:txBody>
                  <a:tcPr marL="8455" marR="8455" marT="845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700" b="1" i="0" u="none" strike="noStrike" dirty="0" smtClean="0">
                          <a:solidFill>
                            <a:srgbClr val="1F497D"/>
                          </a:solidFill>
                          <a:effectLst/>
                          <a:latin typeface="+mn-lt"/>
                        </a:rPr>
                        <a:t>Acima de 110%</a:t>
                      </a:r>
                      <a:endParaRPr lang="pt-BR" sz="700" b="1" i="0" u="none" strike="noStrike" dirty="0">
                        <a:solidFill>
                          <a:srgbClr val="1F497D"/>
                        </a:solidFill>
                        <a:effectLst/>
                        <a:latin typeface="Verdana"/>
                      </a:endParaRPr>
                    </a:p>
                  </a:txBody>
                  <a:tcPr marL="8455" marR="8455" marT="845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pt-BR" sz="700" b="1" i="0" u="none" strike="noStrike" dirty="0">
                        <a:solidFill>
                          <a:srgbClr val="1F497D"/>
                        </a:solidFill>
                        <a:effectLst/>
                        <a:latin typeface="Verdana"/>
                      </a:endParaRPr>
                    </a:p>
                  </a:txBody>
                  <a:tcPr marL="8455" marR="8455" marT="845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Elipse 4"/>
          <p:cNvSpPr/>
          <p:nvPr/>
        </p:nvSpPr>
        <p:spPr>
          <a:xfrm>
            <a:off x="5346096" y="1688092"/>
            <a:ext cx="90000" cy="90000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6" name="Elipse 5"/>
          <p:cNvSpPr/>
          <p:nvPr/>
        </p:nvSpPr>
        <p:spPr>
          <a:xfrm>
            <a:off x="7916461" y="1686574"/>
            <a:ext cx="90000" cy="90000"/>
          </a:xfrm>
          <a:prstGeom prst="ellipse">
            <a:avLst/>
          </a:prstGeom>
          <a:solidFill>
            <a:srgbClr val="FFFF00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7" name="Elipse 6"/>
          <p:cNvSpPr/>
          <p:nvPr/>
        </p:nvSpPr>
        <p:spPr>
          <a:xfrm>
            <a:off x="8974955" y="1692771"/>
            <a:ext cx="90000" cy="900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graphicFrame>
        <p:nvGraphicFramePr>
          <p:cNvPr id="8" name="Tabela 7"/>
          <p:cNvGraphicFramePr>
            <a:graphicFrameLocks noGrp="1"/>
          </p:cNvGraphicFramePr>
          <p:nvPr>
            <p:extLst/>
          </p:nvPr>
        </p:nvGraphicFramePr>
        <p:xfrm>
          <a:off x="71211" y="1606844"/>
          <a:ext cx="3456672" cy="237487"/>
        </p:xfrm>
        <a:graphic>
          <a:graphicData uri="http://schemas.openxmlformats.org/drawingml/2006/table">
            <a:tbl>
              <a:tblPr firstRow="1" bandRow="1"/>
              <a:tblGrid>
                <a:gridCol w="488821"/>
                <a:gridCol w="526098"/>
                <a:gridCol w="75157"/>
                <a:gridCol w="1352823"/>
                <a:gridCol w="49130"/>
                <a:gridCol w="826725"/>
                <a:gridCol w="137918"/>
              </a:tblGrid>
              <a:tr h="237487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Prazo</a:t>
                      </a:r>
                      <a:endParaRPr lang="pt-BR" sz="900" b="1" i="0" u="none" strike="noStrike" dirty="0" smtClean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455" marR="8455" marT="845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700" b="1" i="0" u="none" strike="noStrike" kern="1200" dirty="0" smtClean="0">
                          <a:solidFill>
                            <a:srgbClr val="1F497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Até 5%</a:t>
                      </a:r>
                      <a:endParaRPr lang="pt-BR" sz="700" b="1" i="0" u="none" strike="noStrike" kern="1200" dirty="0">
                        <a:solidFill>
                          <a:srgbClr val="1F497D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55" marR="8455" marT="845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pt-BR" sz="700" b="1" i="0" u="none" strike="noStrike" dirty="0">
                        <a:solidFill>
                          <a:srgbClr val="1F497D"/>
                        </a:solidFill>
                        <a:effectLst/>
                        <a:latin typeface="Verdana"/>
                      </a:endParaRPr>
                    </a:p>
                  </a:txBody>
                  <a:tcPr marL="8455" marR="8455" marT="845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700" b="1" i="0" u="none" strike="noStrike" dirty="0" smtClean="0">
                          <a:solidFill>
                            <a:srgbClr val="1F497D"/>
                          </a:solidFill>
                          <a:effectLst/>
                          <a:latin typeface="+mn-lt"/>
                        </a:rPr>
                        <a:t>Acima de 5% até 10%</a:t>
                      </a:r>
                      <a:endParaRPr lang="pt-BR" sz="700" b="1" i="0" u="none" strike="noStrike" dirty="0">
                        <a:solidFill>
                          <a:srgbClr val="1F497D"/>
                        </a:solidFill>
                        <a:effectLst/>
                        <a:latin typeface="Verdana"/>
                      </a:endParaRPr>
                    </a:p>
                  </a:txBody>
                  <a:tcPr marL="8455" marR="8455" marT="845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pt-BR" sz="700" b="1" i="0" u="none" strike="noStrike" dirty="0">
                        <a:solidFill>
                          <a:srgbClr val="1F497D"/>
                        </a:solidFill>
                        <a:effectLst/>
                        <a:latin typeface="Verdana"/>
                      </a:endParaRPr>
                    </a:p>
                  </a:txBody>
                  <a:tcPr marL="8455" marR="8455" marT="845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700" b="1" i="0" u="none" strike="noStrike" dirty="0" smtClean="0">
                          <a:solidFill>
                            <a:srgbClr val="1F497D"/>
                          </a:solidFill>
                          <a:effectLst/>
                          <a:latin typeface="+mn-lt"/>
                        </a:rPr>
                        <a:t>  Acima de 10%</a:t>
                      </a:r>
                      <a:endParaRPr lang="pt-BR" sz="700" b="1" i="0" u="none" strike="noStrike" dirty="0">
                        <a:solidFill>
                          <a:srgbClr val="1F497D"/>
                        </a:solidFill>
                        <a:effectLst/>
                        <a:latin typeface="Verdana"/>
                      </a:endParaRPr>
                    </a:p>
                  </a:txBody>
                  <a:tcPr marL="8455" marR="8455" marT="845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pt-BR" sz="700" b="1" i="0" u="none" strike="noStrike" dirty="0">
                        <a:solidFill>
                          <a:srgbClr val="1F497D"/>
                        </a:solidFill>
                        <a:effectLst/>
                        <a:latin typeface="Verdana"/>
                      </a:endParaRPr>
                    </a:p>
                  </a:txBody>
                  <a:tcPr marL="8455" marR="8455" marT="845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9" name="Elipse 8"/>
          <p:cNvSpPr/>
          <p:nvPr/>
        </p:nvSpPr>
        <p:spPr>
          <a:xfrm>
            <a:off x="1064805" y="1685679"/>
            <a:ext cx="90000" cy="90000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0" name="Elipse 9"/>
          <p:cNvSpPr/>
          <p:nvPr/>
        </p:nvSpPr>
        <p:spPr>
          <a:xfrm>
            <a:off x="2472146" y="1683188"/>
            <a:ext cx="90000" cy="99000"/>
          </a:xfrm>
          <a:prstGeom prst="ellipse">
            <a:avLst/>
          </a:prstGeom>
          <a:solidFill>
            <a:srgbClr val="FFFF00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1" name="Elipse 10"/>
          <p:cNvSpPr/>
          <p:nvPr/>
        </p:nvSpPr>
        <p:spPr>
          <a:xfrm>
            <a:off x="3401880" y="1687694"/>
            <a:ext cx="90000" cy="900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graphicFrame>
        <p:nvGraphicFramePr>
          <p:cNvPr id="12" name="Tabela 11"/>
          <p:cNvGraphicFramePr>
            <a:graphicFrameLocks noGrp="1"/>
          </p:cNvGraphicFramePr>
          <p:nvPr>
            <p:extLst/>
          </p:nvPr>
        </p:nvGraphicFramePr>
        <p:xfrm>
          <a:off x="75289" y="620688"/>
          <a:ext cx="9053910" cy="990236"/>
        </p:xfrm>
        <a:graphic>
          <a:graphicData uri="http://schemas.openxmlformats.org/drawingml/2006/table">
            <a:tbl>
              <a:tblPr firstRow="1" bandRow="1"/>
              <a:tblGrid>
                <a:gridCol w="1810782"/>
                <a:gridCol w="1810782"/>
                <a:gridCol w="1810782"/>
                <a:gridCol w="1810782"/>
                <a:gridCol w="1810782"/>
              </a:tblGrid>
              <a:tr h="247559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Início Previsto</a:t>
                      </a:r>
                    </a:p>
                  </a:txBody>
                  <a:tcPr marL="8455" marR="8455" marT="845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5E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Término Previsto</a:t>
                      </a:r>
                    </a:p>
                  </a:txBody>
                  <a:tcPr marL="8455" marR="8455" marT="845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5E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Término Projetado</a:t>
                      </a:r>
                    </a:p>
                  </a:txBody>
                  <a:tcPr marL="8455" marR="8455" marT="845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5E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% Previsto</a:t>
                      </a:r>
                    </a:p>
                  </a:txBody>
                  <a:tcPr marL="8455" marR="8455" marT="845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5E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% Realizado</a:t>
                      </a:r>
                    </a:p>
                  </a:txBody>
                  <a:tcPr marL="8455" marR="8455" marT="845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5E8F"/>
                    </a:solidFill>
                  </a:tcPr>
                </a:tc>
              </a:tr>
              <a:tr h="247559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00" b="1" i="0" u="none" strike="noStrike" dirty="0" smtClean="0">
                          <a:solidFill>
                            <a:srgbClr val="1F497D"/>
                          </a:solidFill>
                          <a:effectLst/>
                          <a:latin typeface="Verdana"/>
                        </a:rPr>
                        <a:t>99/99/9999</a:t>
                      </a:r>
                      <a:endParaRPr lang="pt-BR" sz="1000" b="1" i="0" u="none" strike="noStrike" dirty="0">
                        <a:solidFill>
                          <a:srgbClr val="1F497D"/>
                        </a:solidFill>
                        <a:effectLst/>
                        <a:latin typeface="Verdana"/>
                      </a:endParaRPr>
                    </a:p>
                  </a:txBody>
                  <a:tcPr marL="8455" marR="8455" marT="845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1000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00" b="1" i="0" u="none" strike="noStrike" dirty="0" smtClean="0">
                          <a:solidFill>
                            <a:srgbClr val="1F497D"/>
                          </a:solidFill>
                          <a:effectLst/>
                          <a:latin typeface="Verdana"/>
                        </a:rPr>
                        <a:t>99/99/9999</a:t>
                      </a:r>
                      <a:endParaRPr lang="pt-BR" sz="1000" b="1" i="0" u="none" strike="noStrike" dirty="0">
                        <a:solidFill>
                          <a:srgbClr val="1F497D"/>
                        </a:solidFill>
                        <a:effectLst/>
                        <a:latin typeface="Verdana"/>
                      </a:endParaRPr>
                    </a:p>
                  </a:txBody>
                  <a:tcPr marL="8455" marR="8455" marT="845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1000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00" b="1" i="0" u="none" strike="noStrike" dirty="0" smtClean="0">
                          <a:solidFill>
                            <a:srgbClr val="1F497D"/>
                          </a:solidFill>
                          <a:effectLst/>
                          <a:latin typeface="Verdana"/>
                        </a:rPr>
                        <a:t>99/99/9999</a:t>
                      </a:r>
                      <a:endParaRPr lang="pt-BR" sz="1000" b="1" i="0" u="none" strike="noStrike" dirty="0">
                        <a:solidFill>
                          <a:srgbClr val="1F497D"/>
                        </a:solidFill>
                        <a:effectLst/>
                        <a:latin typeface="Verdana"/>
                      </a:endParaRPr>
                    </a:p>
                  </a:txBody>
                  <a:tcPr marL="8455" marR="8455" marT="845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1000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00" b="1" i="0" u="none" strike="noStrike" dirty="0" smtClean="0">
                          <a:solidFill>
                            <a:srgbClr val="1F497D"/>
                          </a:solidFill>
                          <a:effectLst/>
                          <a:latin typeface="Verdana"/>
                        </a:rPr>
                        <a:t>99%</a:t>
                      </a:r>
                      <a:endParaRPr lang="pt-BR" sz="1000" b="1" i="0" u="none" strike="noStrike" dirty="0">
                        <a:solidFill>
                          <a:srgbClr val="1F497D"/>
                        </a:solidFill>
                        <a:effectLst/>
                        <a:latin typeface="Verdana"/>
                      </a:endParaRPr>
                    </a:p>
                  </a:txBody>
                  <a:tcPr marL="8455" marR="8455" marT="845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1000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00" b="1" i="0" u="none" strike="noStrike" dirty="0" smtClean="0">
                          <a:solidFill>
                            <a:srgbClr val="1F497D"/>
                          </a:solidFill>
                          <a:effectLst/>
                          <a:latin typeface="Verdana"/>
                        </a:rPr>
                        <a:t>99%</a:t>
                      </a:r>
                      <a:endParaRPr lang="pt-BR" sz="1000" b="1" i="0" u="none" strike="noStrike" dirty="0">
                        <a:solidFill>
                          <a:srgbClr val="1F497D"/>
                        </a:solidFill>
                        <a:effectLst/>
                        <a:latin typeface="Verdana"/>
                      </a:endParaRPr>
                    </a:p>
                  </a:txBody>
                  <a:tcPr marL="8455" marR="8455" marT="845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1000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5400000" scaled="0"/>
                    </a:gradFill>
                  </a:tcPr>
                </a:tc>
              </a:tr>
              <a:tr h="247559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Orçamento Total</a:t>
                      </a:r>
                    </a:p>
                  </a:txBody>
                  <a:tcPr marL="8455" marR="8455" marT="845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5E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Estimativa no Término</a:t>
                      </a:r>
                    </a:p>
                  </a:txBody>
                  <a:tcPr marL="8455" marR="8455" marT="845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5E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Custo Previsto</a:t>
                      </a:r>
                    </a:p>
                  </a:txBody>
                  <a:tcPr marL="8455" marR="8455" marT="845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5E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Custo Realizado</a:t>
                      </a:r>
                    </a:p>
                  </a:txBody>
                  <a:tcPr marL="8455" marR="8455" marT="845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5E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SM em aberto</a:t>
                      </a:r>
                    </a:p>
                  </a:txBody>
                  <a:tcPr marL="8455" marR="8455" marT="845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5E8F"/>
                    </a:solidFill>
                  </a:tcPr>
                </a:tc>
              </a:tr>
              <a:tr h="247559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00" b="1" i="0" u="none" strike="noStrike" dirty="0" smtClean="0">
                          <a:solidFill>
                            <a:srgbClr val="1F497D"/>
                          </a:solidFill>
                          <a:effectLst/>
                          <a:latin typeface="+mn-lt"/>
                        </a:rPr>
                        <a:t>R$ 9.999.999</a:t>
                      </a:r>
                      <a:endParaRPr lang="pt-BR" sz="1000" b="1" i="0" u="none" strike="noStrike" dirty="0">
                        <a:solidFill>
                          <a:srgbClr val="1F497D"/>
                        </a:solidFill>
                        <a:effectLst/>
                        <a:latin typeface="+mn-lt"/>
                      </a:endParaRPr>
                    </a:p>
                  </a:txBody>
                  <a:tcPr marL="8455" marR="8455" marT="845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1000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00" b="1" i="0" u="none" strike="noStrike" dirty="0" smtClean="0">
                          <a:solidFill>
                            <a:srgbClr val="1F497D"/>
                          </a:solidFill>
                          <a:effectLst/>
                          <a:latin typeface="+mn-lt"/>
                        </a:rPr>
                        <a:t>R$ 9.999.999</a:t>
                      </a:r>
                      <a:endParaRPr lang="pt-BR" sz="1000" b="1" i="0" u="none" strike="noStrike" dirty="0">
                        <a:solidFill>
                          <a:srgbClr val="1F497D"/>
                        </a:solidFill>
                        <a:effectLst/>
                        <a:latin typeface="+mn-lt"/>
                      </a:endParaRPr>
                    </a:p>
                  </a:txBody>
                  <a:tcPr marL="8455" marR="8455" marT="845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1000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00" b="1" i="0" u="none" strike="noStrike" dirty="0">
                          <a:solidFill>
                            <a:srgbClr val="1F497D"/>
                          </a:solidFill>
                          <a:effectLst/>
                          <a:latin typeface="Verdana"/>
                        </a:rPr>
                        <a:t>R$ </a:t>
                      </a:r>
                      <a:r>
                        <a:rPr lang="pt-BR" sz="1000" b="1" i="0" u="none" strike="noStrike" dirty="0" smtClean="0">
                          <a:solidFill>
                            <a:srgbClr val="1F497D"/>
                          </a:solidFill>
                          <a:effectLst/>
                          <a:latin typeface="Verdana"/>
                        </a:rPr>
                        <a:t>9.999.999</a:t>
                      </a:r>
                      <a:endParaRPr lang="pt-BR" sz="1000" b="1" i="0" u="none" strike="noStrike" dirty="0">
                        <a:solidFill>
                          <a:srgbClr val="1F497D"/>
                        </a:solidFill>
                        <a:effectLst/>
                        <a:latin typeface="Verdana"/>
                      </a:endParaRPr>
                    </a:p>
                  </a:txBody>
                  <a:tcPr marL="8455" marR="8455" marT="845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1000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00" b="1" i="0" u="none" strike="noStrike" dirty="0">
                          <a:solidFill>
                            <a:srgbClr val="1F497D"/>
                          </a:solidFill>
                          <a:effectLst/>
                          <a:latin typeface="Verdana"/>
                        </a:rPr>
                        <a:t>R$ </a:t>
                      </a:r>
                      <a:r>
                        <a:rPr lang="pt-BR" sz="1000" b="1" i="0" u="none" strike="noStrike" dirty="0" smtClean="0">
                          <a:solidFill>
                            <a:srgbClr val="1F497D"/>
                          </a:solidFill>
                          <a:effectLst/>
                          <a:latin typeface="Verdana"/>
                        </a:rPr>
                        <a:t>9.999.999</a:t>
                      </a:r>
                      <a:endParaRPr lang="pt-BR" sz="1000" b="1" i="0" u="none" strike="noStrike" dirty="0">
                        <a:solidFill>
                          <a:srgbClr val="1F497D"/>
                        </a:solidFill>
                        <a:effectLst/>
                        <a:latin typeface="Verdana"/>
                      </a:endParaRPr>
                    </a:p>
                  </a:txBody>
                  <a:tcPr marL="8455" marR="8455" marT="845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1000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00" b="1" i="0" u="none" strike="noStrike" dirty="0">
                          <a:solidFill>
                            <a:srgbClr val="1F497D"/>
                          </a:solidFill>
                          <a:effectLst/>
                          <a:latin typeface="Verdana"/>
                        </a:rPr>
                        <a:t>Sim</a:t>
                      </a:r>
                    </a:p>
                  </a:txBody>
                  <a:tcPr marL="8455" marR="8455" marT="845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1000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5400000" scaled="0"/>
                    </a:gradFill>
                  </a:tcPr>
                </a:tc>
              </a:tr>
            </a:tbl>
          </a:graphicData>
        </a:graphic>
      </p:graphicFrame>
      <p:cxnSp>
        <p:nvCxnSpPr>
          <p:cNvPr id="13" name="Conector reto 12"/>
          <p:cNvCxnSpPr/>
          <p:nvPr/>
        </p:nvCxnSpPr>
        <p:spPr>
          <a:xfrm flipH="1">
            <a:off x="4585855" y="2160566"/>
            <a:ext cx="2000" cy="457200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4"/>
          <p:cNvSpPr>
            <a:spLocks noChangeArrowheads="1"/>
          </p:cNvSpPr>
          <p:nvPr/>
        </p:nvSpPr>
        <p:spPr bwMode="gray">
          <a:xfrm>
            <a:off x="8460504" y="40863"/>
            <a:ext cx="648000" cy="468000"/>
          </a:xfrm>
          <a:prstGeom prst="roundRect">
            <a:avLst/>
          </a:prstGeom>
          <a:solidFill>
            <a:srgbClr val="FF0000"/>
          </a:solidFill>
          <a:ln w="28575" algn="ctr">
            <a:noFill/>
            <a:round/>
            <a:headEnd/>
            <a:tailEnd/>
          </a:ln>
        </p:spPr>
        <p:txBody>
          <a:bodyPr lIns="0" tIns="0" rIns="0" bIns="0" anchor="ctr" anchorCtr="1">
            <a:noAutofit/>
          </a:bodyPr>
          <a:lstStyle/>
          <a:p>
            <a:pPr algn="ctr" eaLnBrk="0" hangingPunct="0">
              <a:lnSpc>
                <a:spcPct val="106000"/>
              </a:lnSpc>
            </a:pPr>
            <a:r>
              <a:rPr lang="pt-BR" sz="800" b="1" dirty="0" smtClean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Crítico</a:t>
            </a:r>
            <a:endParaRPr lang="en-US" sz="800" b="1" dirty="0">
              <a:solidFill>
                <a:schemeClr val="bg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graphicFrame>
        <p:nvGraphicFramePr>
          <p:cNvPr id="17" name="Table 25"/>
          <p:cNvGraphicFramePr>
            <a:graphicFrameLocks noGrp="1"/>
          </p:cNvGraphicFramePr>
          <p:nvPr>
            <p:extLst/>
          </p:nvPr>
        </p:nvGraphicFramePr>
        <p:xfrm>
          <a:off x="92588" y="4437112"/>
          <a:ext cx="4335396" cy="2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5161"/>
                <a:gridCol w="899995"/>
                <a:gridCol w="940531"/>
                <a:gridCol w="1079709"/>
              </a:tblGrid>
              <a:tr h="144016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tx1"/>
                          </a:solidFill>
                        </a:rPr>
                        <a:t>Conforme planejado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tx1"/>
                          </a:solidFill>
                        </a:rPr>
                        <a:t>Com </a:t>
                      </a:r>
                      <a:r>
                        <a:rPr lang="en-US" sz="1000" dirty="0" err="1" smtClean="0">
                          <a:solidFill>
                            <a:schemeClr val="tx1"/>
                          </a:solidFill>
                        </a:rPr>
                        <a:t>risco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 smtClean="0">
                          <a:solidFill>
                            <a:schemeClr val="tx1"/>
                          </a:solidFill>
                        </a:rPr>
                        <a:t>Crítico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tx1"/>
                          </a:solidFill>
                        </a:rPr>
                        <a:t>Concluído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8" name="CaixaDeTexto 17"/>
          <p:cNvSpPr txBox="1"/>
          <p:nvPr/>
        </p:nvSpPr>
        <p:spPr>
          <a:xfrm>
            <a:off x="43405" y="4734402"/>
            <a:ext cx="33764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100" b="1" dirty="0" smtClean="0"/>
              <a:t>Realizações</a:t>
            </a:r>
            <a:endParaRPr lang="pt-BR" sz="1100" b="1" dirty="0"/>
          </a:p>
        </p:txBody>
      </p:sp>
      <p:sp>
        <p:nvSpPr>
          <p:cNvPr id="19" name="CaixaDeTexto 18"/>
          <p:cNvSpPr txBox="1"/>
          <p:nvPr/>
        </p:nvSpPr>
        <p:spPr>
          <a:xfrm>
            <a:off x="-6772" y="4957103"/>
            <a:ext cx="42547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08000">
              <a:lnSpc>
                <a:spcPct val="150000"/>
              </a:lnSpc>
              <a:buClr>
                <a:schemeClr val="accent1">
                  <a:lumMod val="75000"/>
                </a:schemeClr>
              </a:buClr>
              <a:buFont typeface="Arial" pitchFamily="34" charset="0"/>
              <a:buChar char="•"/>
            </a:pPr>
            <a:r>
              <a:rPr lang="pt-BR" sz="900" dirty="0" smtClean="0"/>
              <a:t>Realização. </a:t>
            </a:r>
            <a:r>
              <a:rPr lang="pt-BR" sz="900" b="1" dirty="0" smtClean="0"/>
              <a:t>Início</a:t>
            </a:r>
            <a:r>
              <a:rPr lang="pt-BR" sz="900" dirty="0" smtClean="0"/>
              <a:t>: </a:t>
            </a:r>
            <a:r>
              <a:rPr lang="pt-BR" sz="900" strike="sngStrike" dirty="0" smtClean="0"/>
              <a:t>99/99/99</a:t>
            </a:r>
            <a:r>
              <a:rPr lang="pt-BR" sz="900" dirty="0" smtClean="0"/>
              <a:t> 99/99/99.</a:t>
            </a:r>
            <a:r>
              <a:rPr lang="pt-BR" sz="900" b="1" dirty="0" smtClean="0"/>
              <a:t> Término</a:t>
            </a:r>
            <a:r>
              <a:rPr lang="pt-BR" sz="900" dirty="0" smtClean="0"/>
              <a:t>: </a:t>
            </a:r>
            <a:r>
              <a:rPr lang="pt-BR" sz="900" strike="sngStrike" dirty="0"/>
              <a:t>99/99/99</a:t>
            </a:r>
            <a:r>
              <a:rPr lang="pt-BR" sz="900" dirty="0"/>
              <a:t> 99/99/99.</a:t>
            </a:r>
            <a:r>
              <a:rPr lang="pt-BR" sz="900" b="1" dirty="0"/>
              <a:t> </a:t>
            </a:r>
            <a:r>
              <a:rPr lang="pt-BR" sz="900" b="1" dirty="0" smtClean="0"/>
              <a:t>%Conc.</a:t>
            </a:r>
            <a:r>
              <a:rPr lang="pt-BR" sz="900" dirty="0" smtClean="0"/>
              <a:t>: 99%. </a:t>
            </a:r>
            <a:r>
              <a:rPr lang="pt-BR" sz="900" b="1" dirty="0" smtClean="0"/>
              <a:t>Resp.</a:t>
            </a:r>
            <a:r>
              <a:rPr lang="pt-BR" sz="900" dirty="0" smtClean="0"/>
              <a:t>: nome do responsável.</a:t>
            </a:r>
          </a:p>
          <a:p>
            <a:pPr marL="171450" indent="-108000">
              <a:lnSpc>
                <a:spcPct val="150000"/>
              </a:lnSpc>
              <a:buClr>
                <a:schemeClr val="accent1">
                  <a:lumMod val="75000"/>
                </a:schemeClr>
              </a:buClr>
              <a:buFont typeface="Arial" pitchFamily="34" charset="0"/>
              <a:buChar char="•"/>
            </a:pPr>
            <a:r>
              <a:rPr lang="pt-BR" sz="900" dirty="0" smtClean="0"/>
              <a:t>Realização</a:t>
            </a:r>
            <a:r>
              <a:rPr lang="pt-BR" sz="900" dirty="0"/>
              <a:t>. </a:t>
            </a:r>
            <a:r>
              <a:rPr lang="pt-BR" sz="900" b="1" dirty="0"/>
              <a:t>Início</a:t>
            </a:r>
            <a:r>
              <a:rPr lang="pt-BR" sz="900" dirty="0"/>
              <a:t>: 99/99/99.</a:t>
            </a:r>
            <a:r>
              <a:rPr lang="pt-BR" sz="900" b="1" dirty="0"/>
              <a:t> Término</a:t>
            </a:r>
            <a:r>
              <a:rPr lang="pt-BR" sz="900" dirty="0"/>
              <a:t>: 99/99/99. </a:t>
            </a:r>
            <a:r>
              <a:rPr lang="pt-BR" sz="900" b="1" dirty="0"/>
              <a:t>%Conc.</a:t>
            </a:r>
            <a:r>
              <a:rPr lang="pt-BR" sz="900" dirty="0"/>
              <a:t>: 99%. </a:t>
            </a:r>
            <a:r>
              <a:rPr lang="pt-BR" sz="900" b="1" dirty="0"/>
              <a:t>Resp.</a:t>
            </a:r>
            <a:r>
              <a:rPr lang="pt-BR" sz="900" dirty="0"/>
              <a:t>: nome do responsável</a:t>
            </a:r>
            <a:r>
              <a:rPr lang="pt-BR" sz="900" dirty="0" smtClean="0"/>
              <a:t>.</a:t>
            </a:r>
            <a:endParaRPr lang="pt-BR" sz="900" dirty="0"/>
          </a:p>
        </p:txBody>
      </p:sp>
      <p:graphicFrame>
        <p:nvGraphicFramePr>
          <p:cNvPr id="20" name="Tabela 19"/>
          <p:cNvGraphicFramePr>
            <a:graphicFrameLocks noGrp="1"/>
          </p:cNvGraphicFramePr>
          <p:nvPr>
            <p:extLst/>
          </p:nvPr>
        </p:nvGraphicFramePr>
        <p:xfrm>
          <a:off x="4666159" y="2079088"/>
          <a:ext cx="4427999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036"/>
                <a:gridCol w="1439658"/>
                <a:gridCol w="1349491"/>
                <a:gridCol w="648072"/>
                <a:gridCol w="777742"/>
              </a:tblGrid>
              <a:tr h="244376"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Tp</a:t>
                      </a:r>
                      <a:endParaRPr lang="pt-BR" sz="800" dirty="0"/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Descrição e Impacto</a:t>
                      </a:r>
                      <a:endParaRPr lang="pt-BR" sz="800" dirty="0"/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Ação</a:t>
                      </a:r>
                      <a:r>
                        <a:rPr lang="pt-BR" sz="800" baseline="0" dirty="0" smtClean="0"/>
                        <a:t> e Responsável</a:t>
                      </a:r>
                      <a:endParaRPr lang="pt-BR" sz="800" dirty="0"/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Prazo</a:t>
                      </a:r>
                      <a:endParaRPr lang="pt-BR" sz="800" dirty="0"/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Status</a:t>
                      </a:r>
                      <a:endParaRPr lang="pt-BR" sz="800" dirty="0"/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</a:tr>
              <a:tr h="238298">
                <a:tc>
                  <a:txBody>
                    <a:bodyPr/>
                    <a:lstStyle/>
                    <a:p>
                      <a:pPr algn="ctr"/>
                      <a:r>
                        <a:rPr lang="en-US" sz="750" b="0" dirty="0" smtClean="0">
                          <a:solidFill>
                            <a:schemeClr val="tx1"/>
                          </a:solidFill>
                        </a:rPr>
                        <a:t>R1</a:t>
                      </a:r>
                      <a:endParaRPr lang="pt-BR" sz="75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750" dirty="0" smtClean="0">
                          <a:solidFill>
                            <a:schemeClr val="tx1"/>
                          </a:solidFill>
                        </a:rPr>
                        <a:t>Descrição</a:t>
                      </a:r>
                      <a:r>
                        <a:rPr lang="pt-BR" sz="750" baseline="0" dirty="0" smtClean="0">
                          <a:solidFill>
                            <a:schemeClr val="tx1"/>
                          </a:solidFill>
                        </a:rPr>
                        <a:t> do risco. </a:t>
                      </a:r>
                      <a:r>
                        <a:rPr lang="pt-BR" sz="750" b="1" dirty="0" smtClean="0">
                          <a:solidFill>
                            <a:schemeClr val="tx1"/>
                          </a:solidFill>
                        </a:rPr>
                        <a:t>Impacto</a:t>
                      </a:r>
                      <a:r>
                        <a:rPr lang="pt-BR" sz="750" dirty="0" smtClean="0">
                          <a:solidFill>
                            <a:schemeClr val="tx1"/>
                          </a:solidFill>
                        </a:rPr>
                        <a:t>: Descrição do impacto do risco. </a:t>
                      </a:r>
                      <a:endParaRPr lang="pt-BR" sz="7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50" b="1" dirty="0" err="1" smtClean="0">
                          <a:solidFill>
                            <a:schemeClr val="tx1"/>
                          </a:solidFill>
                        </a:rPr>
                        <a:t>Ação</a:t>
                      </a:r>
                      <a:r>
                        <a:rPr lang="en-US" sz="750" b="1" dirty="0" smtClean="0">
                          <a:solidFill>
                            <a:schemeClr val="tx1"/>
                          </a:solidFill>
                        </a:rPr>
                        <a:t>:</a:t>
                      </a:r>
                      <a:r>
                        <a:rPr lang="en-US" sz="75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750" dirty="0" err="1" smtClean="0">
                          <a:solidFill>
                            <a:schemeClr val="tx1"/>
                          </a:solidFill>
                        </a:rPr>
                        <a:t>Ação</a:t>
                      </a:r>
                      <a:r>
                        <a:rPr lang="en-US" sz="75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750" dirty="0" err="1" smtClean="0">
                          <a:solidFill>
                            <a:schemeClr val="tx1"/>
                          </a:solidFill>
                        </a:rPr>
                        <a:t>para</a:t>
                      </a:r>
                      <a:r>
                        <a:rPr lang="en-US" sz="75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750" dirty="0" err="1" smtClean="0">
                          <a:solidFill>
                            <a:schemeClr val="tx1"/>
                          </a:solidFill>
                        </a:rPr>
                        <a:t>mitigar</a:t>
                      </a:r>
                      <a:r>
                        <a:rPr lang="en-US" sz="75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750" dirty="0" err="1" smtClean="0">
                          <a:solidFill>
                            <a:schemeClr val="tx1"/>
                          </a:solidFill>
                        </a:rPr>
                        <a:t>ou</a:t>
                      </a:r>
                      <a:r>
                        <a:rPr lang="en-US" sz="750" dirty="0" smtClean="0">
                          <a:solidFill>
                            <a:schemeClr val="tx1"/>
                          </a:solidFill>
                        </a:rPr>
                        <a:t> resolver o </a:t>
                      </a:r>
                      <a:r>
                        <a:rPr lang="en-US" sz="750" dirty="0" err="1" smtClean="0">
                          <a:solidFill>
                            <a:schemeClr val="tx1"/>
                          </a:solidFill>
                        </a:rPr>
                        <a:t>risco</a:t>
                      </a:r>
                      <a:r>
                        <a:rPr lang="en-US" sz="75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50" b="1" baseline="0" dirty="0" smtClean="0">
                          <a:solidFill>
                            <a:schemeClr val="tx1"/>
                          </a:solidFill>
                        </a:rPr>
                        <a:t>Resp.:</a:t>
                      </a:r>
                      <a:r>
                        <a:rPr lang="en-US" sz="75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750" baseline="0" dirty="0" err="1" smtClean="0">
                          <a:solidFill>
                            <a:schemeClr val="tx1"/>
                          </a:solidFill>
                        </a:rPr>
                        <a:t>Responsáveis</a:t>
                      </a:r>
                      <a:r>
                        <a:rPr lang="en-US" sz="75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750" baseline="0" dirty="0" err="1" smtClean="0">
                          <a:solidFill>
                            <a:schemeClr val="tx1"/>
                          </a:solidFill>
                        </a:rPr>
                        <a:t>pela</a:t>
                      </a:r>
                      <a:r>
                        <a:rPr lang="en-US" sz="75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750" baseline="0" dirty="0" err="1" smtClean="0">
                          <a:solidFill>
                            <a:schemeClr val="tx1"/>
                          </a:solidFill>
                        </a:rPr>
                        <a:t>execução</a:t>
                      </a:r>
                      <a:r>
                        <a:rPr lang="en-US" sz="750" baseline="0" dirty="0" smtClean="0">
                          <a:solidFill>
                            <a:schemeClr val="tx1"/>
                          </a:solidFill>
                        </a:rPr>
                        <a:t> da </a:t>
                      </a:r>
                      <a:r>
                        <a:rPr lang="en-US" sz="750" baseline="0" dirty="0" err="1" smtClean="0">
                          <a:solidFill>
                            <a:schemeClr val="tx1"/>
                          </a:solidFill>
                        </a:rPr>
                        <a:t>ação</a:t>
                      </a:r>
                      <a:r>
                        <a:rPr lang="en-US" sz="750" baseline="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pt-BR" sz="7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750" dirty="0" smtClean="0">
                          <a:solidFill>
                            <a:schemeClr val="tx1"/>
                          </a:solidFill>
                        </a:rPr>
                        <a:t>99/99/99</a:t>
                      </a:r>
                      <a:endParaRPr lang="pt-BR" sz="7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50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Ativo</a:t>
                      </a:r>
                      <a:r>
                        <a:rPr lang="en-US" sz="750" dirty="0" smtClean="0">
                          <a:solidFill>
                            <a:schemeClr val="tx1"/>
                          </a:solidFill>
                          <a:latin typeface="+mn-lt"/>
                        </a:rPr>
                        <a:t> /</a:t>
                      </a:r>
                      <a:r>
                        <a:rPr lang="en-US" sz="750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Em</a:t>
                      </a:r>
                      <a:r>
                        <a:rPr lang="en-US" sz="750" dirty="0" smtClean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sz="750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Mitigação</a:t>
                      </a:r>
                      <a:r>
                        <a:rPr lang="en-US" sz="750" dirty="0" smtClean="0">
                          <a:solidFill>
                            <a:schemeClr val="tx1"/>
                          </a:solidFill>
                          <a:latin typeface="+mn-lt"/>
                        </a:rPr>
                        <a:t> / </a:t>
                      </a:r>
                      <a:r>
                        <a:rPr lang="en-US" sz="750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Ocorrido</a:t>
                      </a:r>
                      <a:r>
                        <a:rPr lang="en-US" sz="750" dirty="0" smtClean="0">
                          <a:solidFill>
                            <a:schemeClr val="tx1"/>
                          </a:solidFill>
                          <a:latin typeface="+mn-lt"/>
                        </a:rPr>
                        <a:t> / </a:t>
                      </a:r>
                      <a:r>
                        <a:rPr lang="en-US" sz="750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Eliminado</a:t>
                      </a:r>
                      <a:endParaRPr lang="pt-BR" sz="7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238298">
                <a:tc>
                  <a:txBody>
                    <a:bodyPr/>
                    <a:lstStyle/>
                    <a:p>
                      <a:pPr algn="ctr"/>
                      <a:r>
                        <a:rPr lang="pt-BR" sz="750" b="0" dirty="0" smtClean="0">
                          <a:solidFill>
                            <a:schemeClr val="tx1"/>
                          </a:solidFill>
                        </a:rPr>
                        <a:t>P1</a:t>
                      </a:r>
                      <a:endParaRPr lang="pt-BR" sz="75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750" dirty="0" smtClean="0">
                          <a:solidFill>
                            <a:schemeClr val="tx1"/>
                          </a:solidFill>
                        </a:rPr>
                        <a:t>Descrição</a:t>
                      </a:r>
                      <a:r>
                        <a:rPr lang="pt-BR" sz="75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pt-BR" sz="750" dirty="0" smtClean="0">
                          <a:solidFill>
                            <a:schemeClr val="tx1"/>
                          </a:solidFill>
                        </a:rPr>
                        <a:t>do</a:t>
                      </a:r>
                      <a:r>
                        <a:rPr lang="pt-BR" sz="750" baseline="0" dirty="0" smtClean="0">
                          <a:solidFill>
                            <a:schemeClr val="tx1"/>
                          </a:solidFill>
                        </a:rPr>
                        <a:t> problema. </a:t>
                      </a:r>
                      <a:r>
                        <a:rPr lang="pt-BR" sz="750" b="1" baseline="0" dirty="0" smtClean="0">
                          <a:solidFill>
                            <a:schemeClr val="tx1"/>
                          </a:solidFill>
                        </a:rPr>
                        <a:t>Impacto</a:t>
                      </a:r>
                      <a:r>
                        <a:rPr lang="pt-BR" sz="750" baseline="0" dirty="0" smtClean="0">
                          <a:solidFill>
                            <a:schemeClr val="tx1"/>
                          </a:solidFill>
                        </a:rPr>
                        <a:t>: Descrição do impacto do problema.</a:t>
                      </a:r>
                      <a:endParaRPr lang="pt-BR" sz="7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50" b="1" dirty="0" err="1" smtClean="0">
                          <a:solidFill>
                            <a:schemeClr val="tx1"/>
                          </a:solidFill>
                        </a:rPr>
                        <a:t>Ação</a:t>
                      </a:r>
                      <a:r>
                        <a:rPr lang="en-US" sz="750" b="1" dirty="0" smtClean="0">
                          <a:solidFill>
                            <a:schemeClr val="tx1"/>
                          </a:solidFill>
                        </a:rPr>
                        <a:t>:</a:t>
                      </a:r>
                      <a:r>
                        <a:rPr lang="en-US" sz="75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750" dirty="0" err="1" smtClean="0">
                          <a:solidFill>
                            <a:schemeClr val="tx1"/>
                          </a:solidFill>
                        </a:rPr>
                        <a:t>Ação</a:t>
                      </a:r>
                      <a:r>
                        <a:rPr lang="en-US" sz="75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750" dirty="0" err="1" smtClean="0">
                          <a:solidFill>
                            <a:schemeClr val="tx1"/>
                          </a:solidFill>
                        </a:rPr>
                        <a:t>para</a:t>
                      </a:r>
                      <a:r>
                        <a:rPr lang="en-US" sz="750" dirty="0" smtClean="0">
                          <a:solidFill>
                            <a:schemeClr val="tx1"/>
                          </a:solidFill>
                        </a:rPr>
                        <a:t> resolver  o </a:t>
                      </a:r>
                      <a:r>
                        <a:rPr lang="en-US" sz="750" dirty="0" err="1" smtClean="0">
                          <a:solidFill>
                            <a:schemeClr val="tx1"/>
                          </a:solidFill>
                        </a:rPr>
                        <a:t>problema</a:t>
                      </a:r>
                      <a:r>
                        <a:rPr lang="en-US" sz="75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50" b="1" baseline="0" dirty="0" smtClean="0">
                          <a:solidFill>
                            <a:schemeClr val="tx1"/>
                          </a:solidFill>
                        </a:rPr>
                        <a:t>Resp.:</a:t>
                      </a:r>
                      <a:r>
                        <a:rPr lang="en-US" sz="75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750" baseline="0" dirty="0" err="1" smtClean="0">
                          <a:solidFill>
                            <a:schemeClr val="tx1"/>
                          </a:solidFill>
                        </a:rPr>
                        <a:t>Responsáveis</a:t>
                      </a:r>
                      <a:r>
                        <a:rPr lang="en-US" sz="75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750" baseline="0" dirty="0" err="1" smtClean="0">
                          <a:solidFill>
                            <a:schemeClr val="tx1"/>
                          </a:solidFill>
                        </a:rPr>
                        <a:t>pela</a:t>
                      </a:r>
                      <a:r>
                        <a:rPr lang="en-US" sz="75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750" baseline="0" dirty="0" err="1" smtClean="0">
                          <a:solidFill>
                            <a:schemeClr val="tx1"/>
                          </a:solidFill>
                        </a:rPr>
                        <a:t>execução</a:t>
                      </a:r>
                      <a:r>
                        <a:rPr lang="en-US" sz="750" baseline="0" dirty="0" smtClean="0">
                          <a:solidFill>
                            <a:schemeClr val="tx1"/>
                          </a:solidFill>
                        </a:rPr>
                        <a:t> da </a:t>
                      </a:r>
                      <a:r>
                        <a:rPr lang="en-US" sz="750" baseline="0" dirty="0" err="1" smtClean="0">
                          <a:solidFill>
                            <a:schemeClr val="tx1"/>
                          </a:solidFill>
                        </a:rPr>
                        <a:t>ação</a:t>
                      </a:r>
                      <a:r>
                        <a:rPr lang="en-US" sz="750" baseline="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pt-BR" sz="7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750" dirty="0" smtClean="0">
                          <a:solidFill>
                            <a:schemeClr val="tx1"/>
                          </a:solidFill>
                        </a:rPr>
                        <a:t>99/99/99</a:t>
                      </a:r>
                      <a:endParaRPr lang="pt-BR" sz="7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750" dirty="0" smtClean="0">
                          <a:solidFill>
                            <a:schemeClr val="tx1"/>
                          </a:solidFill>
                          <a:latin typeface="+mn-lt"/>
                        </a:rPr>
                        <a:t>Em Andamento / Resolvido</a:t>
                      </a:r>
                      <a:endParaRPr lang="pt-BR" sz="7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238298">
                <a:tc>
                  <a:txBody>
                    <a:bodyPr/>
                    <a:lstStyle/>
                    <a:p>
                      <a:pPr algn="ctr"/>
                      <a:r>
                        <a:rPr lang="pt-BR" sz="750" b="0" dirty="0" smtClean="0">
                          <a:solidFill>
                            <a:schemeClr val="tx1"/>
                          </a:solidFill>
                        </a:rPr>
                        <a:t>M1</a:t>
                      </a:r>
                      <a:endParaRPr lang="pt-BR" sz="75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750" dirty="0" smtClean="0">
                          <a:solidFill>
                            <a:schemeClr val="tx1"/>
                          </a:solidFill>
                        </a:rPr>
                        <a:t>Descrição</a:t>
                      </a:r>
                      <a:r>
                        <a:rPr lang="pt-BR" sz="75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pt-BR" sz="750" dirty="0" smtClean="0">
                          <a:solidFill>
                            <a:schemeClr val="tx1"/>
                          </a:solidFill>
                        </a:rPr>
                        <a:t>da</a:t>
                      </a:r>
                      <a:r>
                        <a:rPr lang="pt-BR" sz="750" baseline="0" dirty="0" smtClean="0">
                          <a:solidFill>
                            <a:schemeClr val="tx1"/>
                          </a:solidFill>
                        </a:rPr>
                        <a:t> mudança. </a:t>
                      </a:r>
                      <a:r>
                        <a:rPr lang="pt-BR" sz="750" b="1" baseline="0" dirty="0" smtClean="0">
                          <a:solidFill>
                            <a:schemeClr val="tx1"/>
                          </a:solidFill>
                        </a:rPr>
                        <a:t>Impacto</a:t>
                      </a:r>
                      <a:r>
                        <a:rPr lang="pt-BR" sz="750" baseline="0" dirty="0" smtClean="0">
                          <a:solidFill>
                            <a:schemeClr val="tx1"/>
                          </a:solidFill>
                        </a:rPr>
                        <a:t>: Descrição do impacto da mudança.</a:t>
                      </a:r>
                      <a:endParaRPr lang="pt-BR" sz="7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50" b="1" dirty="0" err="1" smtClean="0">
                          <a:solidFill>
                            <a:schemeClr val="tx1"/>
                          </a:solidFill>
                        </a:rPr>
                        <a:t>Ação</a:t>
                      </a:r>
                      <a:r>
                        <a:rPr lang="en-US" sz="750" b="1" dirty="0" smtClean="0">
                          <a:solidFill>
                            <a:schemeClr val="tx1"/>
                          </a:solidFill>
                        </a:rPr>
                        <a:t>:</a:t>
                      </a:r>
                      <a:r>
                        <a:rPr lang="en-US" sz="75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750" dirty="0" err="1" smtClean="0">
                          <a:solidFill>
                            <a:schemeClr val="tx1"/>
                          </a:solidFill>
                        </a:rPr>
                        <a:t>Ação</a:t>
                      </a:r>
                      <a:r>
                        <a:rPr lang="en-US" sz="75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750" dirty="0" err="1" smtClean="0">
                          <a:solidFill>
                            <a:schemeClr val="tx1"/>
                          </a:solidFill>
                        </a:rPr>
                        <a:t>associada</a:t>
                      </a:r>
                      <a:r>
                        <a:rPr lang="en-US" sz="750" baseline="0" dirty="0" smtClean="0">
                          <a:solidFill>
                            <a:schemeClr val="tx1"/>
                          </a:solidFill>
                        </a:rPr>
                        <a:t> a </a:t>
                      </a:r>
                      <a:r>
                        <a:rPr lang="en-US" sz="750" dirty="0" err="1" smtClean="0">
                          <a:solidFill>
                            <a:schemeClr val="tx1"/>
                          </a:solidFill>
                        </a:rPr>
                        <a:t>mudança</a:t>
                      </a:r>
                      <a:r>
                        <a:rPr lang="en-US" sz="75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50" b="1" baseline="0" dirty="0" smtClean="0">
                          <a:solidFill>
                            <a:schemeClr val="tx1"/>
                          </a:solidFill>
                        </a:rPr>
                        <a:t>Resp.:</a:t>
                      </a:r>
                      <a:r>
                        <a:rPr lang="en-US" sz="75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750" baseline="0" dirty="0" err="1" smtClean="0">
                          <a:solidFill>
                            <a:schemeClr val="tx1"/>
                          </a:solidFill>
                        </a:rPr>
                        <a:t>Responsáveis</a:t>
                      </a:r>
                      <a:r>
                        <a:rPr lang="en-US" sz="75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750" baseline="0" dirty="0" err="1" smtClean="0">
                          <a:solidFill>
                            <a:schemeClr val="tx1"/>
                          </a:solidFill>
                        </a:rPr>
                        <a:t>pela</a:t>
                      </a:r>
                      <a:r>
                        <a:rPr lang="en-US" sz="75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750" baseline="0" dirty="0" err="1" smtClean="0">
                          <a:solidFill>
                            <a:schemeClr val="tx1"/>
                          </a:solidFill>
                        </a:rPr>
                        <a:t>execução</a:t>
                      </a:r>
                      <a:r>
                        <a:rPr lang="en-US" sz="750" baseline="0" dirty="0" smtClean="0">
                          <a:solidFill>
                            <a:schemeClr val="tx1"/>
                          </a:solidFill>
                        </a:rPr>
                        <a:t> da </a:t>
                      </a:r>
                      <a:r>
                        <a:rPr lang="en-US" sz="750" baseline="0" dirty="0" err="1" smtClean="0">
                          <a:solidFill>
                            <a:schemeClr val="tx1"/>
                          </a:solidFill>
                        </a:rPr>
                        <a:t>ação</a:t>
                      </a:r>
                      <a:r>
                        <a:rPr lang="en-US" sz="750" baseline="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pt-BR" sz="7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750" dirty="0" smtClean="0">
                          <a:solidFill>
                            <a:schemeClr val="tx1"/>
                          </a:solidFill>
                        </a:rPr>
                        <a:t>99/99/99</a:t>
                      </a:r>
                      <a:endParaRPr lang="pt-BR" sz="7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750" dirty="0" smtClean="0">
                          <a:solidFill>
                            <a:schemeClr val="tx1"/>
                          </a:solidFill>
                          <a:latin typeface="+mn-lt"/>
                        </a:rPr>
                        <a:t>Aberta / Aprovada / Reprovada</a:t>
                      </a:r>
                      <a:endParaRPr lang="pt-BR" sz="7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ela 20"/>
          <p:cNvGraphicFramePr>
            <a:graphicFrameLocks noGrp="1"/>
          </p:cNvGraphicFramePr>
          <p:nvPr>
            <p:extLst/>
          </p:nvPr>
        </p:nvGraphicFramePr>
        <p:xfrm>
          <a:off x="50801" y="2079088"/>
          <a:ext cx="4430442" cy="19983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0258"/>
                <a:gridCol w="634433"/>
                <a:gridCol w="677895"/>
                <a:gridCol w="704926"/>
                <a:gridCol w="582930"/>
              </a:tblGrid>
              <a:tr h="319166">
                <a:tc>
                  <a:txBody>
                    <a:bodyPr/>
                    <a:lstStyle/>
                    <a:p>
                      <a:pPr algn="ctr"/>
                      <a:r>
                        <a:rPr lang="pt-BR" sz="800" b="1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Marco e Entrega</a:t>
                      </a:r>
                      <a:endParaRPr lang="pt-BR" sz="800" b="1" kern="1200" baseline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1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Início</a:t>
                      </a:r>
                      <a:endParaRPr lang="pt-BR" sz="800" b="1" kern="1200" baseline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1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Término</a:t>
                      </a:r>
                      <a:endParaRPr lang="pt-BR" sz="800" b="1" kern="1200" baseline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1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Resp.</a:t>
                      </a:r>
                      <a:endParaRPr lang="pt-BR" sz="800" b="1" kern="1200" baseline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1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Status</a:t>
                      </a:r>
                      <a:endParaRPr lang="pt-BR" sz="800" b="1" kern="1200" baseline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</a:tr>
              <a:tr h="2847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9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Planejamento</a:t>
                      </a:r>
                      <a:r>
                        <a:rPr lang="pt-BR" sz="9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– </a:t>
                      </a:r>
                      <a:r>
                        <a:rPr lang="pt-BR" sz="900" b="0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Kick</a:t>
                      </a:r>
                      <a:r>
                        <a:rPr lang="pt-BR" sz="9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-off</a:t>
                      </a:r>
                      <a:endParaRPr lang="pt-BR" sz="900" b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750" dirty="0" smtClean="0">
                          <a:solidFill>
                            <a:schemeClr val="tx1"/>
                          </a:solidFill>
                        </a:rPr>
                        <a:t>99/99/99</a:t>
                      </a:r>
                      <a:endParaRPr lang="pt-BR" sz="7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750" dirty="0" smtClean="0">
                          <a:solidFill>
                            <a:schemeClr val="tx1"/>
                          </a:solidFill>
                        </a:rPr>
                        <a:t>99/99/99</a:t>
                      </a:r>
                      <a:endParaRPr lang="pt-BR" sz="7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7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75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</a:tr>
              <a:tr h="2847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900" b="1" u="none" dirty="0" smtClean="0">
                          <a:solidFill>
                            <a:schemeClr val="tx1"/>
                          </a:solidFill>
                        </a:rPr>
                        <a:t>Release 1 - Iteração 1</a:t>
                      </a:r>
                      <a:r>
                        <a:rPr lang="pt-BR" sz="900" b="0" dirty="0" smtClean="0">
                          <a:solidFill>
                            <a:schemeClr val="tx1"/>
                          </a:solidFill>
                        </a:rPr>
                        <a:t>:</a:t>
                      </a:r>
                      <a:r>
                        <a:rPr lang="pt-BR" sz="900" b="0" baseline="0" dirty="0" smtClean="0">
                          <a:solidFill>
                            <a:schemeClr val="tx1"/>
                          </a:solidFill>
                        </a:rPr>
                        <a:t> nome do marco ou entrega do projeto</a:t>
                      </a:r>
                      <a:endParaRPr lang="pt-BR" sz="9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750" dirty="0" smtClean="0">
                          <a:solidFill>
                            <a:schemeClr val="tx1"/>
                          </a:solidFill>
                        </a:rPr>
                        <a:t>99/99/99</a:t>
                      </a:r>
                      <a:endParaRPr lang="pt-BR" sz="7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750" strike="sngStrike" baseline="0" dirty="0" smtClean="0">
                          <a:solidFill>
                            <a:schemeClr val="tx1"/>
                          </a:solidFill>
                        </a:rPr>
                        <a:t>99/99/99</a:t>
                      </a:r>
                    </a:p>
                    <a:p>
                      <a:pPr algn="ctr"/>
                      <a:r>
                        <a:rPr lang="pt-BR" sz="750" dirty="0" smtClean="0">
                          <a:solidFill>
                            <a:schemeClr val="tx1"/>
                          </a:solidFill>
                        </a:rPr>
                        <a:t>99/99/99</a:t>
                      </a:r>
                      <a:endParaRPr lang="pt-BR" sz="7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750" dirty="0" smtClean="0">
                          <a:solidFill>
                            <a:schemeClr val="tx1"/>
                          </a:solidFill>
                        </a:rPr>
                        <a:t>Nome do resp. pelo marco ou entrega do projeto</a:t>
                      </a:r>
                      <a:endParaRPr lang="pt-BR" sz="7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75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</a:tr>
              <a:tr h="2847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900" b="1" u="none" dirty="0" smtClean="0">
                          <a:solidFill>
                            <a:schemeClr val="tx1"/>
                          </a:solidFill>
                        </a:rPr>
                        <a:t>Release 1 - Iteração 2</a:t>
                      </a:r>
                      <a:r>
                        <a:rPr lang="pt-BR" sz="900" b="0" dirty="0" smtClean="0">
                          <a:solidFill>
                            <a:schemeClr val="tx1"/>
                          </a:solidFill>
                        </a:rPr>
                        <a:t>:</a:t>
                      </a:r>
                      <a:r>
                        <a:rPr lang="pt-BR" sz="900" b="0" baseline="0" dirty="0" smtClean="0">
                          <a:solidFill>
                            <a:schemeClr val="tx1"/>
                          </a:solidFill>
                        </a:rPr>
                        <a:t> nome do marco ou entrega do projeto</a:t>
                      </a:r>
                      <a:endParaRPr lang="pt-BR" sz="9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7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7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7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750" b="1" dirty="0" smtClean="0">
                          <a:solidFill>
                            <a:schemeClr val="tx1"/>
                          </a:solidFill>
                        </a:rPr>
                        <a:t>P1</a:t>
                      </a:r>
                      <a:endParaRPr lang="pt-BR" sz="75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</a:tr>
              <a:tr h="2847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900" b="1" u="none" dirty="0" smtClean="0">
                          <a:solidFill>
                            <a:schemeClr val="tx1"/>
                          </a:solidFill>
                        </a:rPr>
                        <a:t>Release 2 - Iteração 1</a:t>
                      </a:r>
                      <a:r>
                        <a:rPr lang="pt-BR" sz="900" b="0" dirty="0" smtClean="0">
                          <a:solidFill>
                            <a:schemeClr val="tx1"/>
                          </a:solidFill>
                        </a:rPr>
                        <a:t>:</a:t>
                      </a:r>
                      <a:r>
                        <a:rPr lang="pt-BR" sz="900" b="0" baseline="0" dirty="0" smtClean="0">
                          <a:solidFill>
                            <a:schemeClr val="tx1"/>
                          </a:solidFill>
                        </a:rPr>
                        <a:t> nome do marco ou entrega do projeto</a:t>
                      </a:r>
                      <a:endParaRPr lang="pt-BR" sz="90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7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7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7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50" b="1" dirty="0" smtClean="0">
                          <a:solidFill>
                            <a:schemeClr val="tx1"/>
                          </a:solidFill>
                        </a:rPr>
                        <a:t>R1, R2</a:t>
                      </a:r>
                      <a:endParaRPr lang="pt-BR" sz="75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22" name="Elipse 21"/>
          <p:cNvSpPr/>
          <p:nvPr/>
        </p:nvSpPr>
        <p:spPr>
          <a:xfrm>
            <a:off x="7020272" y="1377351"/>
            <a:ext cx="216024" cy="216000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3" name="CaixaDeTexto 22"/>
          <p:cNvSpPr txBox="1"/>
          <p:nvPr/>
        </p:nvSpPr>
        <p:spPr>
          <a:xfrm>
            <a:off x="-13620" y="1836174"/>
            <a:ext cx="4441604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100" b="1" dirty="0" smtClean="0"/>
              <a:t>Principais Marcos e Entregas (1 semana)</a:t>
            </a:r>
            <a:endParaRPr lang="pt-BR" sz="1100" b="1" dirty="0"/>
          </a:p>
        </p:txBody>
      </p:sp>
      <p:sp>
        <p:nvSpPr>
          <p:cNvPr id="24" name="CaixaDeTexto 23"/>
          <p:cNvSpPr txBox="1"/>
          <p:nvPr/>
        </p:nvSpPr>
        <p:spPr>
          <a:xfrm>
            <a:off x="4680012" y="1836174"/>
            <a:ext cx="4356484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100" b="1" dirty="0" smtClean="0"/>
              <a:t>Riscos, Problemas e Mudanças</a:t>
            </a:r>
            <a:endParaRPr lang="pt-BR" sz="1100" b="1" dirty="0"/>
          </a:p>
        </p:txBody>
      </p:sp>
      <p:sp>
        <p:nvSpPr>
          <p:cNvPr id="25" name="Elipse 24"/>
          <p:cNvSpPr/>
          <p:nvPr/>
        </p:nvSpPr>
        <p:spPr>
          <a:xfrm>
            <a:off x="8820472" y="875847"/>
            <a:ext cx="216024" cy="216000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6" name="Elipse 25"/>
          <p:cNvSpPr/>
          <p:nvPr/>
        </p:nvSpPr>
        <p:spPr>
          <a:xfrm>
            <a:off x="3311860" y="1377351"/>
            <a:ext cx="216024" cy="216000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7" name="Elipse 26"/>
          <p:cNvSpPr/>
          <p:nvPr/>
        </p:nvSpPr>
        <p:spPr>
          <a:xfrm>
            <a:off x="8820472" y="1377351"/>
            <a:ext cx="216024" cy="216000"/>
          </a:xfrm>
          <a:prstGeom prst="ellipse">
            <a:avLst/>
          </a:prstGeom>
          <a:solidFill>
            <a:srgbClr val="FFFF00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8" name="Elipse 27"/>
          <p:cNvSpPr/>
          <p:nvPr/>
        </p:nvSpPr>
        <p:spPr>
          <a:xfrm>
            <a:off x="5148064" y="870798"/>
            <a:ext cx="216024" cy="216000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cxnSp>
        <p:nvCxnSpPr>
          <p:cNvPr id="29" name="Conector reto 28"/>
          <p:cNvCxnSpPr/>
          <p:nvPr/>
        </p:nvCxnSpPr>
        <p:spPr>
          <a:xfrm flipH="1">
            <a:off x="35496" y="4680952"/>
            <a:ext cx="9001000" cy="39142"/>
          </a:xfrm>
          <a:prstGeom prst="line">
            <a:avLst/>
          </a:prstGeom>
          <a:ln w="31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CaixaDeTexto 55"/>
          <p:cNvSpPr txBox="1"/>
          <p:nvPr/>
        </p:nvSpPr>
        <p:spPr>
          <a:xfrm>
            <a:off x="4673804" y="4705312"/>
            <a:ext cx="33764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100" b="1" dirty="0" smtClean="0"/>
              <a:t>Próximos Passos</a:t>
            </a:r>
            <a:endParaRPr lang="pt-BR" sz="1100" b="1" dirty="0"/>
          </a:p>
        </p:txBody>
      </p:sp>
      <p:sp>
        <p:nvSpPr>
          <p:cNvPr id="57" name="CaixaDeTexto 56"/>
          <p:cNvSpPr txBox="1"/>
          <p:nvPr/>
        </p:nvSpPr>
        <p:spPr>
          <a:xfrm>
            <a:off x="4623627" y="4959912"/>
            <a:ext cx="425473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08000">
              <a:lnSpc>
                <a:spcPct val="150000"/>
              </a:lnSpc>
              <a:spcBef>
                <a:spcPts val="100"/>
              </a:spcBef>
              <a:spcAft>
                <a:spcPts val="100"/>
              </a:spcAft>
              <a:buClr>
                <a:schemeClr val="accent1">
                  <a:lumMod val="75000"/>
                </a:schemeClr>
              </a:buClr>
              <a:buFont typeface="Arial" pitchFamily="34" charset="0"/>
              <a:buChar char="•"/>
            </a:pPr>
            <a:r>
              <a:rPr lang="pt-BR" sz="900" dirty="0" smtClean="0"/>
              <a:t>Próxima </a:t>
            </a:r>
            <a:r>
              <a:rPr lang="pt-BR" sz="900" dirty="0"/>
              <a:t>atividade. </a:t>
            </a:r>
            <a:r>
              <a:rPr lang="pt-BR" sz="900" b="1" dirty="0"/>
              <a:t>Início</a:t>
            </a:r>
            <a:r>
              <a:rPr lang="pt-BR" sz="900" dirty="0"/>
              <a:t>: 99/99/99.</a:t>
            </a:r>
            <a:r>
              <a:rPr lang="pt-BR" sz="900" b="1" dirty="0"/>
              <a:t> Término</a:t>
            </a:r>
            <a:r>
              <a:rPr lang="pt-BR" sz="900" dirty="0"/>
              <a:t>: 99/99/99. </a:t>
            </a:r>
            <a:r>
              <a:rPr lang="pt-BR" sz="900" b="1" dirty="0"/>
              <a:t>%Conc.</a:t>
            </a:r>
            <a:r>
              <a:rPr lang="pt-BR" sz="900" dirty="0"/>
              <a:t>: 0%. </a:t>
            </a:r>
            <a:r>
              <a:rPr lang="pt-BR" sz="900" b="1" dirty="0"/>
              <a:t>Resp.</a:t>
            </a:r>
            <a:r>
              <a:rPr lang="pt-BR" sz="900" dirty="0"/>
              <a:t>: nome do responsável.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-5449" y="17760"/>
            <a:ext cx="914944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b="1" dirty="0" smtClean="0">
                <a:latin typeface="+mj-lt"/>
              </a:rPr>
              <a:t>Nome do Projeto</a:t>
            </a:r>
            <a:endParaRPr lang="pt-BR" sz="2200" b="1" dirty="0">
              <a:latin typeface="+mj-lt"/>
            </a:endParaRPr>
          </a:p>
        </p:txBody>
      </p:sp>
      <p:pic>
        <p:nvPicPr>
          <p:cNvPr id="31" name="Imagem 30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4400" y="6264123"/>
            <a:ext cx="1301995" cy="605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583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b="1" dirty="0"/>
              <a:t>Obrigado!</a:t>
            </a: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4"/>
          </p:nvPr>
        </p:nvSpPr>
        <p:spPr>
          <a:xfrm>
            <a:off x="395287" y="5085184"/>
            <a:ext cx="3816674" cy="1440160"/>
          </a:xfrm>
          <a:ln>
            <a:solidFill>
              <a:schemeClr val="bg1">
                <a:lumMod val="65000"/>
              </a:schemeClr>
            </a:solidFill>
            <a:prstDash val="sysDash"/>
          </a:ln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pt-BR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Elaborado por:</a:t>
            </a:r>
          </a:p>
          <a:p>
            <a:pPr marL="540000" indent="-288000">
              <a:buFont typeface="Wingdings" panose="05000000000000000000" pitchFamily="2" charset="2"/>
              <a:buChar char="q"/>
            </a:pPr>
            <a:r>
              <a:rPr lang="pt-BR" sz="1800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xx</a:t>
            </a:r>
            <a:endParaRPr lang="pt-BR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540000" indent="-288000">
              <a:buFont typeface="Wingdings" panose="05000000000000000000" pitchFamily="2" charset="2"/>
              <a:buChar char="q"/>
            </a:pPr>
            <a:r>
              <a:rPr lang="pt-BR" sz="1800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xx</a:t>
            </a:r>
            <a:endParaRPr lang="pt-BR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540000" indent="-288000">
              <a:buFont typeface="Wingdings" panose="05000000000000000000" pitchFamily="2" charset="2"/>
              <a:buChar char="q"/>
            </a:pPr>
            <a:r>
              <a:rPr lang="pt-BR" sz="1800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xx</a:t>
            </a:r>
            <a:endParaRPr lang="pt-BR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228060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v57FxnBxUiycjR_pPyxBA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v57FxnBxUiycjR_pPyxB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ZrgsbnskEa0zIeB6rUMb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ZrgsbnskEa0zIeB6rUMbw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ZrgsbnskEa0zIeB6rUMbw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ZrgsbnskEa0zIeB6rUMbw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ZrgsbnskEa0zIeB6rUMbw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ZrgsbnskEa0zIeB6rUMbw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ZrgsbnskEa0zIeB6rUMbw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ZrgsbnskEa0zIeB6rUMbw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ZrgsbnskEa0zIeB6rUMbw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ZrgsbnskEa0zIeB6rUMbw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ZrgsbnskEa0zIeB6rUMbw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ZrgsbnskEa0zIeB6rUMbw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ZrgsbnskEa0zIeB6rUMbw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ZrgsbnskEa0zIeB6rUMb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ZrgsbnskEa0zIeB6rUMbw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ZrgsbnskEa0zIeB6rUMbw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ZrgsbnskEa0zIeB6rUMbw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ZrgsbnskEa0zIeB6rUMbw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Or1L7ej00SYtLy_2G261g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Or1L7ej00SYtLy_2G261g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Or1L7ej00SYtLy_2G261g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Or1L7ej00SYtLy_2G261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Or1L7ej00SYtLy_2G261g"/>
</p:tagLst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605</Words>
  <PresentationFormat>Apresentação na tela (4:3)</PresentationFormat>
  <Paragraphs>171</Paragraphs>
  <Slides>5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2" baseType="lpstr">
      <vt:lpstr>Arial</vt:lpstr>
      <vt:lpstr>Calibri</vt:lpstr>
      <vt:lpstr>Calibri Light</vt:lpstr>
      <vt:lpstr>Segoe UI</vt:lpstr>
      <vt:lpstr>Verdana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Obrigado!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2016-06-30T11:40:54Z</dcterms:created>
  <dcterms:modified xsi:type="dcterms:W3CDTF">2016-07-12T13:20:48Z</dcterms:modified>
</cp:coreProperties>
</file>